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Installations</c:v>
                </c:pt>
              </c:strCache>
            </c:strRef>
          </c:tx>
          <c:dPt>
            <c:idx val="0"/>
            <c:spPr>
              <a:solidFill>
                <a:srgbClr val="3C424B"/>
              </a:solidFill>
            </c:spPr>
          </c:dPt>
          <c:dPt>
            <c:idx val="1"/>
            <c:spPr>
              <a:solidFill>
                <a:srgbClr val="EC7A3C"/>
              </a:solidFill>
            </c:spPr>
          </c:dPt>
          <c:dPt>
            <c:idx val="2"/>
            <c:spPr>
              <a:solidFill>
                <a:srgbClr val="25292F"/>
              </a:solidFill>
              <a:ln w="12700">
                <a:solidFill>
                  <a:srgbClr val="737882"/>
                </a:solidFill>
              </a:ln>
            </c:spPr>
          </c:dPt>
          <c:dPt>
            <c:idx val="3"/>
            <c:spPr>
              <a:solidFill>
                <a:srgbClr val="25292F"/>
              </a:solidFill>
              <a:ln w="12700">
                <a:solidFill>
                  <a:srgbClr val="737882"/>
                </a:solidFill>
              </a:ln>
            </c:spPr>
          </c:dPt>
          <c:cat>
            <c:strRef>
              <c:f>Sheet1!$A$2:$A$5</c:f>
              <c:strCache>
                <c:ptCount val="4"/>
                <c:pt idx="0">
                  <c:v>2024</c:v>
                </c:pt>
                <c:pt idx="1">
                  <c:v>2025</c:v>
                </c:pt>
                <c:pt idx="2">
                  <c:v>2026F</c:v>
                </c:pt>
                <c:pt idx="3">
                  <c:v>2029F</c:v>
                </c:pt>
              </c:strCache>
            </c:strRef>
          </c:cat>
          <c:val>
            <c:numRef>
              <c:f>Sheet1!$B$2:$B$5</c:f>
              <c:numCache>
                <c:formatCode>General</c:formatCode>
                <c:ptCount val="4"/>
                <c:pt idx="0">
                  <c:v>542</c:v>
                </c:pt>
                <c:pt idx="1">
                  <c:v>603</c:v>
                </c:pt>
                <c:pt idx="2">
                  <c:v>655</c:v>
                </c:pt>
                <c:pt idx="3">
                  <c:v>806</c:v>
                </c:pt>
              </c:numCache>
            </c:numRef>
          </c:val>
        </c:ser>
        <c:dLbls>
          <c:txPr>
            <a:bodyPr/>
            <a:lstStyle/>
            <a:p>
              <a:pPr>
                <a:defRPr sz="1200" b="1">
                  <a:solidFill>
                    <a:srgbClr val="F2F2EF"/>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3C424B"/>
            </a:solidFill>
          </a:ln>
        </c:spPr>
        <c:txPr>
          <a:bodyPr/>
          <a:lstStyle/>
          <a:p>
            <a:pPr>
              <a:defRPr sz="1100">
                <a:solidFill>
                  <a:srgbClr val="AEB3BB"/>
                </a:solidFill>
              </a:defRPr>
            </a:pPr>
          </a:p>
        </c:txPr>
        <c:crossAx val="-2113994440"/>
        <c:crosses val="autoZero"/>
        <c:auto val="1"/>
        <c:lblAlgn val="ctr"/>
        <c:lblOffset val="100"/>
        <c:noMultiLvlLbl val="0"/>
      </c:catAx>
      <c:valAx>
        <c:axId val="-2113994440"/>
        <c:scaling>
          <c:max val="950.0"/>
          <c:min val="0.0"/>
        </c:scaling>
        <c:delete/>
        <c:axPos val="l"/>
        <c:majorTickMark val="out"/>
        <c:minorTickMark val="none"/>
        <c:tickLblPos val="nextTo"/>
        <c:crossAx val="-2068027336"/>
        <c:crosses val="autoZero"/>
      </c:valAx>
      <c:spPr>
        <a:noFill/>
        <a:ln>
          <a:noFill/>
        </a:ln>
      </c:spPr>
    </c:plotArea>
    <c:dispBlanksAs val="gap"/>
  </c:chart>
  <c:spPr>
    <a:noFill/>
    <a:ln>
      <a:noFill/>
    </a:ln>
  </c:spPr>
  <c:txPr>
    <a:bodyPr/>
    <a:lstStyle/>
    <a:p>
      <a:pPr>
        <a:defRPr sz="1100">
          <a:solidFill>
            <a:srgbClr val="AEB3BB"/>
          </a:solidFill>
          <a:latin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매출</c:v>
                </c:pt>
              </c:strCache>
            </c:strRef>
          </c:tx>
          <c:spPr>
            <a:solidFill>
              <a:srgbClr val="EC7A3C"/>
            </a:solidFill>
          </c:spPr>
          <c:invertIfNegative val="0"/>
          <c:cat>
            <c:strRef>
              <c:f>Sheet1!$A$2:$A$6</c:f>
              <c:strCache>
                <c:ptCount val="5"/>
                <c:pt idx="0">
                  <c:v>Y1</c:v>
                </c:pt>
                <c:pt idx="1">
                  <c:v>Y2</c:v>
                </c:pt>
                <c:pt idx="2">
                  <c:v>Y3</c:v>
                </c:pt>
                <c:pt idx="3">
                  <c:v>Y4</c:v>
                </c:pt>
                <c:pt idx="4">
                  <c:v>Y5</c:v>
                </c:pt>
              </c:strCache>
            </c:strRef>
          </c:cat>
          <c:val>
            <c:numRef>
              <c:f>Sheet1!$B$2:$B$6</c:f>
              <c:numCache>
                <c:formatCode>General</c:formatCode>
                <c:ptCount val="5"/>
                <c:pt idx="0">
                  <c:v>1.0</c:v>
                </c:pt>
                <c:pt idx="1">
                  <c:v>6.8</c:v>
                </c:pt>
                <c:pt idx="2">
                  <c:v>28.2</c:v>
                </c:pt>
                <c:pt idx="3">
                  <c:v>59.6</c:v>
                </c:pt>
                <c:pt idx="4">
                  <c:v>112.0</c:v>
                </c:pt>
              </c:numCache>
            </c:numRef>
          </c:val>
        </c:ser>
        <c:ser>
          <c:idx val="1"/>
          <c:order val="1"/>
          <c:tx>
            <c:strRef>
              <c:f>Sheet1!$C$1</c:f>
              <c:strCache>
                <c:ptCount val="1"/>
                <c:pt idx="0">
                  <c:v>영업손익</c:v>
                </c:pt>
              </c:strCache>
            </c:strRef>
          </c:tx>
          <c:spPr>
            <a:solidFill>
              <a:srgbClr val="737882"/>
            </a:solidFill>
          </c:spPr>
          <c:invertIfNegative val="0"/>
          <c:cat>
            <c:strRef>
              <c:f>Sheet1!$A$2:$A$6</c:f>
              <c:strCache>
                <c:ptCount val="5"/>
                <c:pt idx="0">
                  <c:v>Y1</c:v>
                </c:pt>
                <c:pt idx="1">
                  <c:v>Y2</c:v>
                </c:pt>
                <c:pt idx="2">
                  <c:v>Y3</c:v>
                </c:pt>
                <c:pt idx="3">
                  <c:v>Y4</c:v>
                </c:pt>
                <c:pt idx="4">
                  <c:v>Y5</c:v>
                </c:pt>
              </c:strCache>
            </c:strRef>
          </c:cat>
          <c:val>
            <c:numRef>
              <c:f>Sheet1!$C$2:$C$6</c:f>
              <c:numCache>
                <c:formatCode>General</c:formatCode>
                <c:ptCount val="5"/>
                <c:pt idx="0">
                  <c:v>-7.6</c:v>
                </c:pt>
                <c:pt idx="1">
                  <c:v>-6.89</c:v>
                </c:pt>
                <c:pt idx="2">
                  <c:v>-2.36</c:v>
                </c:pt>
                <c:pt idx="3">
                  <c:v>4.52</c:v>
                </c:pt>
                <c:pt idx="4">
                  <c:v>17.55</c:v>
                </c:pt>
              </c:numCache>
            </c:numRef>
          </c:val>
        </c:ser>
        <c:dLbls>
          <c:numFmt formatCode="0.0;-0.0" sourceLinked="0"/>
          <c:txPr>
            <a:bodyPr/>
            <a:lstStyle/>
            <a:p>
              <a:pPr>
                <a:defRPr sz="950">
                  <a:solidFill>
                    <a:srgbClr val="F2F2EF"/>
                  </a:solidFill>
                </a:defRPr>
              </a:pPr>
            </a:p>
          </c:txPr>
          <c:dLblPos val="outEnd"/>
          <c:showLegendKey val="0"/>
          <c:showVal val="1"/>
          <c:showCatName val="0"/>
          <c:showSerName val="0"/>
          <c:showPercent val="0"/>
          <c:showBubbleSize val="0"/>
          <c:showLeaderLines val="1"/>
        </c:dLbls>
        <c:gapWidth val="55"/>
        <c:overlap val="-15"/>
        <c:axId val="-2068027336"/>
        <c:axId val="-2113994440"/>
      </c:barChart>
      <c:catAx>
        <c:axId val="-2068027336"/>
        <c:scaling>
          <c:orientation val="minMax"/>
        </c:scaling>
        <c:delete val="0"/>
        <c:axPos val="b"/>
        <c:majorTickMark val="out"/>
        <c:minorTickMark val="none"/>
        <c:tickLblPos val="low"/>
        <c:spPr>
          <a:ln>
            <a:solidFill>
              <a:srgbClr val="3C424B"/>
            </a:solidFill>
          </a:ln>
        </c:spPr>
        <c:txPr>
          <a:bodyPr/>
          <a:lstStyle/>
          <a:p>
            <a:pPr>
              <a:defRPr sz="1000">
                <a:solidFill>
                  <a:srgbClr val="AEB3BB"/>
                </a:solidFill>
              </a:defRPr>
            </a:pPr>
          </a:p>
        </c:txPr>
        <c:crossAx val="-2113994440"/>
        <c:crosses val="autoZero"/>
        <c:auto val="1"/>
        <c:lblAlgn val="ctr"/>
        <c:lblOffset val="100"/>
        <c:noMultiLvlLbl val="0"/>
      </c:catAx>
      <c:valAx>
        <c:axId val="-2113994440"/>
        <c:scaling>
          <c:max val="125.0"/>
          <c:min val="-20.0"/>
        </c:scaling>
        <c:delete/>
        <c:axPos val="l"/>
        <c:majorTickMark val="out"/>
        <c:minorTickMark val="none"/>
        <c:tickLblPos val="nextTo"/>
        <c:crossAx val="-2068027336"/>
        <c:crosses val="autoZero"/>
      </c:valAx>
      <c:spPr>
        <a:noFill/>
        <a:ln>
          <a:noFill/>
        </a:ln>
      </c:spPr>
    </c:plotArea>
    <c:legend>
      <c:legendPos val="t"/>
      <c:overlay val="0"/>
      <c:txPr>
        <a:bodyPr/>
        <a:lstStyle/>
        <a:p>
          <a:pPr>
            <a:defRPr sz="950">
              <a:solidFill>
                <a:srgbClr val="AEB3BB"/>
              </a:solidFill>
            </a:defRPr>
          </a:pPr>
        </a:p>
      </c:txPr>
    </c:legend>
    <c:dispBlanksAs val="gap"/>
  </c:chart>
  <c:spPr>
    <a:noFill/>
    <a:ln>
      <a:noFill/>
    </a:ln>
  </c:spPr>
  <c:txPr>
    <a:bodyPr/>
    <a:lstStyle/>
    <a:p>
      <a:pPr>
        <a:defRPr sz="1000">
          <a:solidFill>
            <a:srgbClr val="AEB3BB"/>
          </a:solidFill>
          <a:latin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저희는 '하나의 손으로 여러 도구를 쓰는 로봇'을 만드는 회사를 창업하려 합니다. 이 자료는 이미 운영 중인 회사의 성장자금 요청이 아니라, 기술 아이디어와 사업기회를 바탕으로 회사를 설립하고 첫 고객을 확보하기 위한 Founding &amp; Seed Investment Proposal입니다. 저희는 사람 손을 가장 닮은 로봇손을 만들려는 것이 아닙니다. 하나의 로봇이 그리퍼를 바꾸지 않고 더 많은 실제 작업을 하게 만드는 것, 즉 Physical AI의 Tool-Use Layer를 만드는 것이 목표입니다. 요청 금액은 Seed 20억원이며, 24개월 안에 상업적 검증까지 가는 계획을 말씀드리겠습니다. 화면의 이미지는 실제 시제품이 아니라 저희가 지향하는 제품 디자인을 보여주는 컨셉 렌더링입니다.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자동화 현장의 진짜 비용은 로봇 가격이 아닙니다. 제품이나 작업이 바뀔 때마다 새 그리퍼, 새 핑거, 새 지그를 만들고, 엔지니어링과 티칭, 검증을 다시 하고, 그 동안 라인이 멈춥니다. 저희는 이것을 '자동화 전환비용'이라고 정의합니다. BCG는 2026년 보고서에서 로봇 시스템 총소유비용의 약 75%가 초기 셋업과 재설계에 묶여 있다고 분석했습니다. 다품종·소량 생산과 서비스 현장으로 갈수록 이 비용 때문에 자동화 자체가 성립하지 않습니다. 저희가 푸는 문제는 '잡기'가 아니라 이 전환비용입니다.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왜 지금인가에 대한 첫 번째 답은 '로봇은 이미 와 있다'입니다. IFR에 따르면 2025년 말 전 세계 공장에서 약 508만 대의 산업용 로봇이 가동 중이고, 2025년 한 해에만 60만 대가 넘게 새로 설치됐습니다. 2029년에는 연 80만 대 수준이 전망됩니다. 한국도 연 3만 대 수준이 설치되는 시장입니다. 모든 로봇 팔은 끝단에 '손'이 필요합니다. 저희는 휴머노이드가 대량 보급되는 미래를 기다리지 않고, 지금 일하고 있는 로봇에 새 손과 새 Skill을 붙여 더 많은 작업을 하게 만드는 것부터 시작합니다. 장기 시장의 상한도 Hand 판매대수가 아니라, Manipulation Layer를 적용할 수 있는 로봇 설치 기반입니다.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2년간 로봇의 두뇌는 VLA와 로봇 파운데이션 모델로, 눈과 연산은 Jetson Thor 같은 엣지 AI로, 몸은 수백만 대의 로봇 팔과 휴머노이드로 빠르게 발전했습니다. 그런데 테슬라의 일론 머스크는 2025년 3분기 실적발표에서 '손과 전완부가 로봇 나머지 전체보다 어렵다'고 말했습니다. NVIDIA가 2026년에 공개한 레퍼런스 휴머노이드도 손은 외부 전문기업의 촉각 핸드를 채택했습니다. 손이 독립적인 부품 레이어로 분리되고 있다는 신호입니다. 저희는 특정 로봇이나 특정 AI 모델에 종속되지 않는 Hand + Skill 레이어를 만듭니다. 자본도 이 영역으로 몰리고 있어, 로보틱스 스타트업 투자는 2025년 150억 달러로 사상 최대를 기록했습니다.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도구를 쓰는 손의 핵심 난제는 하나로 정리됩니다. 물체를 안정적으로 잡으려면 형상 차이와 위치 오차를 흡수하는 '순응성'이 필요하고, 도구로 실제 일을 하려면 토크와 반력, 모멘트를 견디는 '강성'이 필요합니다. 부드럽기만 한 손은 잘 잡지만 드라이버를 돌리면 처지고, 단단한 그리퍼는 힘은 좋지만 형상에 적응하지 못합니다. 저희의 기술 방향은 'Soft to Grasp, Rigid to Work'입니다. 교체형 탄성 접촉면, 하중을 지지하는 경량 골격, 사람용 손잡이를 쥐기 위한 대향 엄지, 작업 순간 관절 강성을 높이거나 잠그는 구조, 그리고 촉각과 손목 6축 힘센서 기반의 미끄러짐·반력 제어입니다. 화면의 구조는 컨셉이며, 구동 방식은 창업 후 3개월 내 비교시험으로 확정합니다.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로봇 연구는 흔히 파지 성공률을 보여줍니다. 하지만 고객은 잡는 것에 돈을 내지 않습니다. 작업이 끝나야 돈을 냅니다. 그래서 저희의 최상위 KPI는 작업 전환 1회당 총비용입니다. 그 아래에 전환시간, 엔지니어링 공수, 픽스처·툴링 비용, 로봇 가동률, 사람 개입시간 같은 상업 KPI가 있고, 기술 KPI는 작업 완료율, 최초 시도 성공률, 도구 토크, 내구성입니다. 파지 성공률이나 위치 정확도는 하위 지표로만 씁니다. 24개월 목표는 승인 작업 완료율 95% 이상, 내구 30만 회, 선정 고객 개입시간 30% 감소이며, 모두 '목표'이고 최초 시도와 재시도를 분리해 신뢰구간과 함께 보고하겠습니다.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저희는 모든 작업에서 시작하지 않습니다. 유연성이 측정 가능한 경제적 가치를 만드는 곳에서 시작합니다. Seed 기간 제품은 SoftHand-4 V1 하나이고, 증명할 핵심 작업은 세 가지입니다. 형상이 다른 용기를 그리퍼 교체 없이 다루는 작업, 스크루드라이버 계열의 저토크 도구 작업, 손잡이와 레버 조작입니다. 집게 같은 단순 관절 도구는 Stretch 목표로, 이후 식품·주방 확장의 다리 역할을 합니다. 5지 핸드는 Seed의 성공조건에서 제외하고 Series A 이후 확장 제품으로 미뤘습니다. 첫 구매자는 로봇 SI, 다품종 제조 라인, 협동로봇 사용 기업입니다.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방식은 새 작업이 생기면 그리퍼, 핑거, 지그를 새로 만들고 엔지니어링·티칭·검증을 거쳐 라인을 멈췄다가 다시 돌립니다. 저희 방식은 같은 손에 새 Tool Skill을 넣고 검증하는 것으로 끝납니다. 고객이 사는 것은 사람 같은 손이 아니라 더 짧고 싼 작업 전환입니다. 이 가치는 주장으로 끝나지 않도록 PoC에서 고객의 현재 Baseline 대비 전환시간, 엔지니어링 공수, 픽스처·툴링 비용, 가동률, 사람 개입시간, 작업 전환 1회당 총비용으로 측정하겠습니다. BCG도 소프트웨어 중심 접근이 셋업·재설계 비용을 최대 절반까지 줄일 수 있다고 봅니다. 아직 고객 인터뷰 결과는 없으며, 창업 후 90일 안에 30개 기업을 인터뷰하겠습니다.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제품은 세 개의 레이어입니다. 1층은 SoftHand-4와 컨트롤러, 로봇 어댑터로 구성된 하드웨어입니다. 이것이 고객 현장에 들어가는 입장권입니다. 2층은 용기 핸들링, 드라이버, 손잡이, 집게처럼 검증된 Tool Skill 패키지입니다. 같은 손에 Skill을 추가하는 방식으로 고객 안에서 매출이 확장됩니다. 3층은 Manipulation Runtime, API, Skill Library, 진단 기능으로 로봇 OEM이 자사 로봇에 통합할 수 있게 하는 플랫폼입니다. 초기에는 하드웨어가 매출을 만들지만, 시간이 갈수록 Skill과 소프트웨어, 데이터, OEM 라이선스 비중이 커지는 구조를 지향합니다. 가격과 마진은 모두 검증 전 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지금 가진 경쟁력처럼 말하지 않겠습니다. 현재 저희의 해자 후보는 하이브리드 기구 구조, 도구 중심 제어, 그리고 현장 통합 노하우입니다. 데이터는 회사가 성장하면서 쌓이는 복리 자산입니다. 배치가 늘면 실제 작업이 늘고, 성공 영상이 아니라 어떤 상황에서 실패했고 어떻게 복구했는지가 쌓입니다. 그 데이터가 Tool Skill을 개선하고, 성공률이 오르면 다시 배치가 늘어납니다. Seed 기간에는 도구·용기 30종 이상, 1만 회 이상의 시간동기화된 시도 데이터를 목표로 인프라를 만들고, 고객 현장 데이터의 활용 범위는 계약으로 명확히 합의하겠습니다.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경쟁을 손가락 수나 자유도 표로 비교하지 않겠습니다. 기존 그리퍼는 정확하고 저렴하지만 작업마다 교체해야 합니다. 적응형 그리퍼와 qbrobotics 같은 소프트 핸드는 다양한 형상을 잘 잡지만 도구를 쥐고 토크를 쓰는 작업에는 한계가 있습니다. Shadow, Allegro, Tesollo, Sharpa 같은 고자유도 핸드는 능력이 크지만 비용과 복잡도, 내구성 때문에 주로 연구와 휴머노이드에 쓰입니다. 저희가 노리는 곳은 산업 현장에 배치 가능한 비용과 내구성으로 여러 사람용 도구 작업을 끝내는 영역입니다. 아직 우위를 증명하지 않았기 때문에 '우리가 낫다'가 아니라 Seed 기간에 무엇을 증명할지, 즉 동일 조건 비교시험, 작업 완료율, 내구성, 총비용을 보여드리겠습니다.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주방 슬라이드는 한 장뿐입니다. 저희는 로봇주방 회사가 아닙니다. 주방은 세 가지 역할을 합니다. 첫째, 사람용 도구를 실제로 쓰는 모습을 가장 강하게 보여주는 플래그십 데모입니다. 둘째, 마른 것과 젖은 것, 단단한 것과 유연한 것, 차가운 것과 뜨거운 것, 단일 도구와 관절 도구, 한 팔과 두 팔 작업이 한 공간에 모인 가장 어려운 시험장입니다. 셋째, 장기적으로 상업주방과 프리미엄 주방으로 갈 수 있는 미래 버티컬입니다. 그래서 Seed 예산 중 주방 쇼케이스에는 5천만원, 전체의 2.5%만 배정했습니다. 이 이미지는 판매 제품이 아니라 플랫폼의 확장 가능성을 보여주는 컨셉 렌더링입니다.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시장 진입은 SI가 이끕니다. 로봇 SI 파트너와 함께 제조 현장 PoC를 하고 레퍼런스 고객을 만듭니다. 국내 100개 기업에 5대씩, 대당 1,500만원이라는 계산은 약 75억원 규모의 초기 접근 기회일 뿐 회사 전체 시장이 아닙니다. 다음 단계에서는 검증된 Use Case를 패키지로 묶어 직판과 파트너로 팔고, 글로벌 산업용·협동·서비스 로봇으로 넓힙니다. 결정적인 단계는 로봇 OEM이 저희 Hand나 SDK를 옵션 또는 표준 모듈로 채택하는 것입니다. 그 순간 판매가 한 고객씩이 아니라 OEM 출하량 기반으로 바뀝니다. 1개의 손으로 10개의 도구, 100개의 작업으로 넓혀가는 것이 저희의 성장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재무는 두 개의 구조로 보시면 됩니다. Base Case는 원본 사업계획의 경영진 추정치로, 직판과 SI 파트너를 통한 핸드와 Tool Skill 판매로 Y5 매출 112억원, Y4에 영업이익 전환을 예상합니다. 이 숫자는 실적이 아니라 가정 기반 추정입니다. 그러나 VC 관점에서 더 중요한 것은 Scale Trigger입니다. 로봇 OEM이 저희 Hand나 SDK를 채택하면 매출이 출하량에 연동됩니다. 예를 들어 2025년 전 세계 신규 산업용 로봇 60만 대 중 1%만 옵션으로 채택해도, 현재 단가 가정으로 연 900억원 규모가 됩니다. 이것은 예측이 아니라 구조를 보여드리기 위한 예시 계산입니다. 매출 구성은 PoC에서 하드웨어, 하드웨어+Skill, 소프트웨어, OEM으로 이동하는 것을 목표로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24개월 계획은 네 개의 질문에 순서대로 답하는 구조입니다. 첫 6개월은 '작동하는가'입니다. 법인 설립과 핵심 인력 합류, SoftHand-4 알파, 대표 작업 3개, 로봇 플랫폼 2종 통합과 반복 실험 로그를 만듭니다. 6~12개월은 '고객이 돈을 내는가'입니다. 유료 PoC를 계약하고 고객 Baseline 대비 전환비용 절감을 측정하며 ToolSkill V1을 냅니다. 12~18개월은 '제품이 되는가'입니다. 설계 동결, BOM, 내구성, 공급사, 제조원가를 검증하고 첫 반복 주문을 목표로 합니다. 마지막 6개월은 '확장 가능한가'입니다. 유료 PoC 5건 이상, 반복 고객 2곳 이상, 매출총이익률 검증, 다수의 Tool Skill, 주방 통합 데모로 Series A를 준비합니다. 각 단계에는 통과 조건이 있고, 미달 시 범위를 줄이거나 방향을 바꾸겠습니다.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투자는 창업 투자이기 때문에 팀이 가장 중요합니다. 이 회사에는 세 가지 역량이 동시에 필요합니다. 손을 설계하고 만드는 메카트로닉스, 도구 조작을 학습시키는 AI, 그리고 고객 현장에 실제로 붙이는 통합 역량입니다. [이 부분은 창업자의 실제 이력으로 채워야 합니다: 대표자의 산업 경력, 로봇·AI·제조 경험, 이 문제를 발견한 계기, 공동창업자, 자기자본 투입, 풀타임 여부, 보유 기술과 특허, 고객 네트워크.] Seed 기간에는 사업·제품 1명, 기구·구동 2명, 제어·임베디드 1명, 비전·조작 AI 2명, 시스템 통합 1명의 핵심 7명을 단계적으로 채용합니다.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요청 금액은 Seed 20억원입니다. 이 돈은 시제품 하나를 만드는 개발비가 아닙니다. 기술 컨셉을 회사로 만드는 자금입니다. 지금 저희는 창업자의 비전, 기술 컨셉, 시장 가설, 초기 아키텍처 단계에 있습니다. 24개월 후에는 핵심 팀, 검증된 제품, 유료 고객과 반복 주문, 제조 경제성, IP, Tool Skill 라이브러리, Manipulation 데이터, 그리고 OEM 논의가 존재하는 회사가 됩니다. 자금의 45%는 핵심 인력, 15%는 시제품과 내구시험, 12.5%는 고객 PoC와 현장 통합에 씁니다. 주방 쇼케이스는 2.5%입니다. 고객 검증에 주방 데모의 5배를 씁니다. 밸류에이션과 지분 조건은 협의하겠습니다.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정리하겠습니다. 저희는 기존 로봇부터 시작해 Physical AI의 Manipulation Layer로 확장하는 Tool-Use Layer 회사를 만들려 합니다. 하나의 손, 여러 도구. 산업용 로봇과 SI 시장에서 SoftHand-4와 Tool Skill로 시작하고, Skill과 데이터를 쌓아 로봇 OEM으로 확장하는 것이 장기 목표입니다. 저희는 완성된 회사의 성장자금을 요청드리는 것이 아닙니다. 이 회사를 지금 시작하기 위한 Seed 투자를 요청드립니다. 20억원으로 24개월 안에 제품과 유료 고객, 반복 구매 가능성을 증명하고 다음 성장 단계로 가겠습니다.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투자자 실사 전에 '무엇이 사실이고 무엇이 가설인지'를 먼저 보여드립니다. 현재 회사에 대해 확인된 사실은 없으며, 모든 수치는 계획·가정입니다.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구동 방식은 확정하지 않았습니다. 전동 텐던을 기준 후보로 유압·공압과 3개월 내 비교시험 후 결정합니다. 하중 설계 예시와 센서 역할 분담을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수치는 제안 목표입니다. 동적 파지·유연체는 Seed 게이트에서 제외한 R&amp;D 트랙으로 분리했습니다.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 계산(75억원)은 Initial Serviceable Opportunity일 뿐이며, 장기 상한은 로봇 설치 기반입니다. 시장조사기관별 EOAT 시장 추정치는 편차가 커 TAM 근거로 쓰지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 Case는 원본 계획값입니다. 주방 셀 매출이 Y5의 45%를 차지하는 점은 포지셔닝과 맞지 않아 Series A 전 파트너 판매 구조로 재모델링할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주방은 가동률에 따라 회수기간이 3~6년으로 길어질 수 있어 초기 매출 엔진이 아닙니다. 설치·안전 조건과 고객 경제성 예시를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인증 취득 전 적합성을 주장하지 않습니다. 출원 후보와 영업비밀 후보, 선행기술 조사 계획을 정리했습니다.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주요 위험과 대응·판정 기준입니다.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열람 기준일 2026-10-06. 가격·원가·성능·고객수·일정·매출은 출처 자료의 수치가 아니라 본 계획의 가정입니다.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pic>
        <p:nvPicPr>
          <p:cNvPr id="2" name="Glow" descr="decorative glow"/>
          <p:cNvPicPr>
            <a:picLocks noChangeAspect="1"/>
          </p:cNvPicPr>
          <p:nvPr/>
        </p:nvPicPr>
        <p:blipFill>
          <a:blip r:embed="rId2"/>
          <a:stretch>
            <a:fillRect/>
          </a:stretch>
        </p:blipFill>
        <p:spPr>
          <a:xfrm>
            <a:off x="4480560" y="-731519"/>
            <a:ext cx="8229600" cy="8229600"/>
          </a:xfrm>
          <a:prstGeom prst="rect">
            <a:avLst/>
          </a:prstGeom>
        </p:spPr>
      </p:pic>
      <p:pic>
        <p:nvPicPr>
          <p:cNvPr id="3" name="HERO 01" descr="Concept rendering: SoftHand on a cobot wrist driving a screw, with mug, tongs and pliers"/>
          <p:cNvPicPr>
            <a:picLocks noChangeAspect="1"/>
          </p:cNvPicPr>
          <p:nvPr/>
        </p:nvPicPr>
        <p:blipFill>
          <a:blip r:embed="rId3"/>
          <a:stretch>
            <a:fillRect/>
          </a:stretch>
        </p:blipFill>
        <p:spPr>
          <a:xfrm>
            <a:off x="4800600" y="1349420"/>
            <a:ext cx="7315200" cy="4067719"/>
          </a:xfrm>
          <a:prstGeom prst="rect">
            <a:avLst/>
          </a:prstGeom>
        </p:spPr>
      </p:pic>
      <p:sp>
        <p:nvSpPr>
          <p:cNvPr id="4" name="Tag CONCEPT RENDERING"/>
          <p:cNvSpPr/>
          <p:nvPr/>
        </p:nvSpPr>
        <p:spPr>
          <a:xfrm>
            <a:off x="10352125" y="5779008"/>
            <a:ext cx="1290929"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CONCEPT RENDERING</a:t>
            </a:r>
          </a:p>
        </p:txBody>
      </p:sp>
      <p:sp>
        <p:nvSpPr>
          <p:cNvPr id="5" name="Company name placeholder"/>
          <p:cNvSpPr/>
          <p:nvPr/>
        </p:nvSpPr>
        <p:spPr>
          <a:xfrm>
            <a:off x="548640" y="457200"/>
            <a:ext cx="2011680" cy="292608"/>
          </a:xfrm>
          <a:prstGeom prst="roundRect">
            <a:avLst>
              <a:gd name="adj" fmla="val 1875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1000" b="0" i="0">
                <a:solidFill>
                  <a:srgbClr val="E8B649"/>
                </a:solidFill>
                <a:latin typeface="Noto Sans KR Medium"/>
                <a:ea typeface="Noto Sans KR Medium"/>
                <a:cs typeface="Noto Sans KR Medium"/>
              </a:rPr>
              <a:t>[회사명 입력 필요]</a:t>
            </a:r>
          </a:p>
        </p:txBody>
      </p:sp>
      <p:sp>
        <p:nvSpPr>
          <p:cNvPr id="6" name="TextBox 5"/>
          <p:cNvSpPr txBox="1"/>
          <p:nvPr/>
        </p:nvSpPr>
        <p:spPr>
          <a:xfrm>
            <a:off x="548640" y="1481328"/>
            <a:ext cx="6035040" cy="274320"/>
          </a:xfrm>
          <a:prstGeom prst="rect">
            <a:avLst/>
          </a:prstGeom>
          <a:noFill/>
        </p:spPr>
        <p:txBody>
          <a:bodyPr wrap="square" lIns="0" rIns="0" tIns="0" bIns="0" anchor="t">
            <a:noAutofit/>
          </a:bodyPr>
          <a:lstStyle/>
          <a:p>
            <a:pPr algn="l">
              <a:lnSpc>
                <a:spcPct val="112000"/>
              </a:lnSpc>
            </a:pPr>
            <a:r>
              <a:rPr sz="1150" b="0" i="0" spc="220">
                <a:solidFill>
                  <a:srgbClr val="EC7A3C"/>
                </a:solidFill>
                <a:latin typeface="Noto Sans KR SemiBold"/>
                <a:ea typeface="Noto Sans KR SemiBold"/>
                <a:cs typeface="Noto Sans KR SemiBold"/>
              </a:rPr>
              <a:t>FOUNDING &amp; SEED INVESTMENT PROPOSAL</a:t>
            </a:r>
          </a:p>
        </p:txBody>
      </p:sp>
      <p:sp>
        <p:nvSpPr>
          <p:cNvPr id="7" name="Title"/>
          <p:cNvSpPr txBox="1"/>
          <p:nvPr/>
        </p:nvSpPr>
        <p:spPr>
          <a:xfrm>
            <a:off x="548640" y="1810512"/>
            <a:ext cx="6035040" cy="1783080"/>
          </a:xfrm>
          <a:prstGeom prst="rect">
            <a:avLst/>
          </a:prstGeom>
          <a:noFill/>
        </p:spPr>
        <p:txBody>
          <a:bodyPr wrap="square" lIns="0" rIns="0" tIns="0" bIns="0" anchor="t">
            <a:noAutofit/>
          </a:bodyPr>
          <a:lstStyle/>
          <a:p>
            <a:pPr algn="l">
              <a:lnSpc>
                <a:spcPct val="98000"/>
              </a:lnSpc>
            </a:pPr>
            <a:r>
              <a:rPr sz="5400" b="0" i="0">
                <a:solidFill>
                  <a:srgbClr val="F2F2EF"/>
                </a:solidFill>
                <a:latin typeface="Noto Sans KR Black"/>
                <a:ea typeface="Noto Sans KR Black"/>
                <a:cs typeface="Noto Sans KR Black"/>
              </a:rPr>
              <a:t>ONE HAND.</a:t>
            </a:r>
          </a:p>
          <a:p>
            <a:pPr algn="l">
              <a:lnSpc>
                <a:spcPct val="98000"/>
              </a:lnSpc>
            </a:pPr>
            <a:r>
              <a:rPr sz="5400" b="0" i="0">
                <a:solidFill>
                  <a:srgbClr val="F2F2EF"/>
                </a:solidFill>
                <a:latin typeface="Noto Sans KR Black"/>
                <a:ea typeface="Noto Sans KR Black"/>
                <a:cs typeface="Noto Sans KR Black"/>
              </a:rPr>
              <a:t>MANY TOOLS.</a:t>
            </a:r>
          </a:p>
        </p:txBody>
      </p:sp>
      <p:sp>
        <p:nvSpPr>
          <p:cNvPr id="8" name="TextBox 7"/>
          <p:cNvSpPr txBox="1"/>
          <p:nvPr/>
        </p:nvSpPr>
        <p:spPr>
          <a:xfrm>
            <a:off x="548640" y="3639312"/>
            <a:ext cx="6217920" cy="365760"/>
          </a:xfrm>
          <a:prstGeom prst="rect">
            <a:avLst/>
          </a:prstGeom>
          <a:noFill/>
        </p:spPr>
        <p:txBody>
          <a:bodyPr wrap="square" lIns="0" rIns="0" tIns="0" bIns="0" anchor="t">
            <a:noAutofit/>
          </a:bodyPr>
          <a:lstStyle/>
          <a:p>
            <a:pPr algn="l">
              <a:lnSpc>
                <a:spcPct val="112000"/>
              </a:lnSpc>
            </a:pPr>
            <a:r>
              <a:rPr sz="1900" b="0" i="0">
                <a:solidFill>
                  <a:srgbClr val="F2F2EF"/>
                </a:solidFill>
                <a:latin typeface="Noto Sans KR Medium"/>
                <a:ea typeface="Noto Sans KR Medium"/>
                <a:cs typeface="Noto Sans KR Medium"/>
              </a:rPr>
              <a:t>Building the Tool-Use Layer for Physical AI</a:t>
            </a:r>
          </a:p>
        </p:txBody>
      </p:sp>
      <p:sp>
        <p:nvSpPr>
          <p:cNvPr id="9" name="TextBox 8"/>
          <p:cNvSpPr txBox="1"/>
          <p:nvPr/>
        </p:nvSpPr>
        <p:spPr>
          <a:xfrm>
            <a:off x="548640" y="4096512"/>
            <a:ext cx="6035040" cy="640080"/>
          </a:xfrm>
          <a:prstGeom prst="rect">
            <a:avLst/>
          </a:prstGeom>
          <a:noFill/>
        </p:spPr>
        <p:txBody>
          <a:bodyPr wrap="square" lIns="0" rIns="0" tIns="0" bIns="0" anchor="t">
            <a:noAutofit/>
          </a:bodyPr>
          <a:lstStyle/>
          <a:p>
            <a:pPr algn="l">
              <a:lnSpc>
                <a:spcPct val="125000"/>
              </a:lnSpc>
            </a:pPr>
            <a:r>
              <a:rPr sz="1350" b="0" i="0">
                <a:solidFill>
                  <a:srgbClr val="AEB3BB"/>
                </a:solidFill>
                <a:latin typeface="Noto Sans KR"/>
                <a:ea typeface="Noto Sans KR"/>
                <a:cs typeface="Noto Sans KR"/>
              </a:rPr>
              <a:t>기존 로봇이 그리퍼 교체 없이 사람의 도구를 사용할 수 있게 만드는</a:t>
            </a:r>
          </a:p>
          <a:p>
            <a:pPr algn="l">
              <a:lnSpc>
                <a:spcPct val="125000"/>
              </a:lnSpc>
            </a:pPr>
            <a:r>
              <a:rPr sz="1350" b="0" i="0">
                <a:solidFill>
                  <a:srgbClr val="F2F2EF"/>
                </a:solidFill>
                <a:latin typeface="Noto Sans KR SemiBold"/>
                <a:ea typeface="Noto Sans KR SemiBold"/>
                <a:cs typeface="Noto Sans KR SemiBold"/>
              </a:rPr>
              <a:t>Soft Robotic Hand + Manipulation Skill Platform</a:t>
            </a:r>
          </a:p>
        </p:txBody>
      </p:sp>
      <p:sp>
        <p:nvSpPr>
          <p:cNvPr id="10" name="TextBox 9"/>
          <p:cNvSpPr txBox="1"/>
          <p:nvPr/>
        </p:nvSpPr>
        <p:spPr>
          <a:xfrm>
            <a:off x="548640" y="5120640"/>
            <a:ext cx="1828800" cy="219456"/>
          </a:xfrm>
          <a:prstGeom prst="rect">
            <a:avLst/>
          </a:prstGeom>
          <a:noFill/>
        </p:spPr>
        <p:txBody>
          <a:bodyPr wrap="square" lIns="0" rIns="0" tIns="0" bIns="0" anchor="t">
            <a:noAutofit/>
          </a:bodyPr>
          <a:lstStyle/>
          <a:p>
            <a:pPr algn="l">
              <a:lnSpc>
                <a:spcPct val="112000"/>
              </a:lnSpc>
            </a:pPr>
            <a:r>
              <a:rPr sz="950" b="0" i="0" spc="150">
                <a:solidFill>
                  <a:srgbClr val="737882"/>
                </a:solidFill>
                <a:latin typeface="Noto Sans KR SemiBold"/>
                <a:ea typeface="Noto Sans KR SemiBold"/>
                <a:cs typeface="Noto Sans KR SemiBold"/>
              </a:rPr>
              <a:t>SEED ASK</a:t>
            </a:r>
          </a:p>
        </p:txBody>
      </p:sp>
      <p:sp>
        <p:nvSpPr>
          <p:cNvPr id="11" name="TextBox 10"/>
          <p:cNvSpPr txBox="1"/>
          <p:nvPr/>
        </p:nvSpPr>
        <p:spPr>
          <a:xfrm>
            <a:off x="548640" y="5340096"/>
            <a:ext cx="1920240" cy="420624"/>
          </a:xfrm>
          <a:prstGeom prst="rect">
            <a:avLst/>
          </a:prstGeom>
          <a:noFill/>
        </p:spPr>
        <p:txBody>
          <a:bodyPr wrap="square" lIns="0" rIns="0" tIns="0" bIns="0" anchor="t">
            <a:noAutofit/>
          </a:bodyPr>
          <a:lstStyle/>
          <a:p>
            <a:pPr algn="l">
              <a:lnSpc>
                <a:spcPct val="112000"/>
              </a:lnSpc>
            </a:pPr>
            <a:r>
              <a:rPr sz="2200" b="0" i="0">
                <a:solidFill>
                  <a:srgbClr val="EC7A3C"/>
                </a:solidFill>
                <a:latin typeface="Noto Sans KR Black"/>
                <a:ea typeface="Noto Sans KR Black"/>
                <a:cs typeface="Noto Sans KR Black"/>
              </a:rPr>
              <a:t>₩2.0B</a:t>
            </a:r>
          </a:p>
        </p:txBody>
      </p:sp>
      <p:sp>
        <p:nvSpPr>
          <p:cNvPr id="12" name="TextBox 11"/>
          <p:cNvSpPr txBox="1"/>
          <p:nvPr/>
        </p:nvSpPr>
        <p:spPr>
          <a:xfrm>
            <a:off x="548640" y="5760720"/>
            <a:ext cx="1920240" cy="219456"/>
          </a:xfrm>
          <a:prstGeom prst="rect">
            <a:avLst/>
          </a:prstGeom>
          <a:noFill/>
        </p:spPr>
        <p:txBody>
          <a:bodyPr wrap="square" lIns="0" rIns="0" tIns="0" bIns="0" anchor="t">
            <a:noAutofit/>
          </a:bodyPr>
          <a:lstStyle/>
          <a:p>
            <a:pPr algn="l">
              <a:lnSpc>
                <a:spcPct val="112000"/>
              </a:lnSpc>
            </a:pPr>
            <a:r>
              <a:rPr sz="1000" b="0" i="0">
                <a:solidFill>
                  <a:srgbClr val="AEB3BB"/>
                </a:solidFill>
                <a:latin typeface="Noto Sans KR"/>
                <a:ea typeface="Noto Sans KR"/>
                <a:cs typeface="Noto Sans KR"/>
              </a:rPr>
              <a:t>Company Creation Capital</a:t>
            </a:r>
          </a:p>
        </p:txBody>
      </p:sp>
      <p:cxnSp>
        <p:nvCxnSpPr>
          <p:cNvPr id="13" name="Connector 12"/>
          <p:cNvCxnSpPr/>
          <p:nvPr/>
        </p:nvCxnSpPr>
        <p:spPr>
          <a:xfrm>
            <a:off x="2450592" y="5138928"/>
            <a:ext cx="0" cy="82296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560320" y="5120640"/>
            <a:ext cx="1828800" cy="219456"/>
          </a:xfrm>
          <a:prstGeom prst="rect">
            <a:avLst/>
          </a:prstGeom>
          <a:noFill/>
        </p:spPr>
        <p:txBody>
          <a:bodyPr wrap="square" lIns="0" rIns="0" tIns="0" bIns="0" anchor="t">
            <a:noAutofit/>
          </a:bodyPr>
          <a:lstStyle/>
          <a:p>
            <a:pPr algn="l">
              <a:lnSpc>
                <a:spcPct val="112000"/>
              </a:lnSpc>
            </a:pPr>
            <a:r>
              <a:rPr sz="950" b="0" i="0" spc="150">
                <a:solidFill>
                  <a:srgbClr val="737882"/>
                </a:solidFill>
                <a:latin typeface="Noto Sans KR SemiBold"/>
                <a:ea typeface="Noto Sans KR SemiBold"/>
                <a:cs typeface="Noto Sans KR SemiBold"/>
              </a:rPr>
              <a:t>TIMELINE</a:t>
            </a:r>
          </a:p>
        </p:txBody>
      </p:sp>
      <p:sp>
        <p:nvSpPr>
          <p:cNvPr id="15" name="TextBox 14"/>
          <p:cNvSpPr txBox="1"/>
          <p:nvPr/>
        </p:nvSpPr>
        <p:spPr>
          <a:xfrm>
            <a:off x="2560320" y="5340096"/>
            <a:ext cx="1920240" cy="420624"/>
          </a:xfrm>
          <a:prstGeom prst="rect">
            <a:avLst/>
          </a:prstGeom>
          <a:noFill/>
        </p:spPr>
        <p:txBody>
          <a:bodyPr wrap="square" lIns="0" rIns="0" tIns="0" bIns="0" anchor="t">
            <a:noAutofit/>
          </a:bodyPr>
          <a:lstStyle/>
          <a:p>
            <a:pPr algn="l">
              <a:lnSpc>
                <a:spcPct val="112000"/>
              </a:lnSpc>
            </a:pPr>
            <a:r>
              <a:rPr sz="2200" b="0" i="0">
                <a:solidFill>
                  <a:srgbClr val="F2F2EF"/>
                </a:solidFill>
                <a:latin typeface="Noto Sans KR Black"/>
                <a:ea typeface="Noto Sans KR Black"/>
                <a:cs typeface="Noto Sans KR Black"/>
              </a:rPr>
              <a:t>24 MONTHS</a:t>
            </a:r>
          </a:p>
        </p:txBody>
      </p:sp>
      <p:sp>
        <p:nvSpPr>
          <p:cNvPr id="16" name="TextBox 15"/>
          <p:cNvSpPr txBox="1"/>
          <p:nvPr/>
        </p:nvSpPr>
        <p:spPr>
          <a:xfrm>
            <a:off x="2560320" y="5760720"/>
            <a:ext cx="1920240" cy="219456"/>
          </a:xfrm>
          <a:prstGeom prst="rect">
            <a:avLst/>
          </a:prstGeom>
          <a:noFill/>
        </p:spPr>
        <p:txBody>
          <a:bodyPr wrap="square" lIns="0" rIns="0" tIns="0" bIns="0" anchor="t">
            <a:noAutofit/>
          </a:bodyPr>
          <a:lstStyle/>
          <a:p>
            <a:pPr algn="l">
              <a:lnSpc>
                <a:spcPct val="112000"/>
              </a:lnSpc>
            </a:pPr>
            <a:r>
              <a:rPr sz="1000" b="0" i="0">
                <a:solidFill>
                  <a:srgbClr val="AEB3BB"/>
                </a:solidFill>
                <a:latin typeface="Noto Sans KR"/>
                <a:ea typeface="Noto Sans KR"/>
                <a:cs typeface="Noto Sans KR"/>
              </a:rPr>
              <a:t>to Commercial Proof</a:t>
            </a:r>
          </a:p>
        </p:txBody>
      </p:sp>
      <p:cxnSp>
        <p:nvCxnSpPr>
          <p:cNvPr id="17" name="Connector 16"/>
          <p:cNvCxnSpPr/>
          <p:nvPr/>
        </p:nvCxnSpPr>
        <p:spPr>
          <a:xfrm>
            <a:off x="4462272" y="5138928"/>
            <a:ext cx="0" cy="82296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72000" y="5120640"/>
            <a:ext cx="1828800" cy="219456"/>
          </a:xfrm>
          <a:prstGeom prst="rect">
            <a:avLst/>
          </a:prstGeom>
          <a:noFill/>
        </p:spPr>
        <p:txBody>
          <a:bodyPr wrap="square" lIns="0" rIns="0" tIns="0" bIns="0" anchor="t">
            <a:noAutofit/>
          </a:bodyPr>
          <a:lstStyle/>
          <a:p>
            <a:pPr algn="l">
              <a:lnSpc>
                <a:spcPct val="112000"/>
              </a:lnSpc>
            </a:pPr>
            <a:r>
              <a:rPr sz="950" b="0" i="0" spc="150">
                <a:solidFill>
                  <a:srgbClr val="737882"/>
                </a:solidFill>
                <a:latin typeface="Noto Sans KR SemiBold"/>
                <a:ea typeface="Noto Sans KR SemiBold"/>
                <a:cs typeface="Noto Sans KR SemiBold"/>
              </a:rPr>
              <a:t>STAGE</a:t>
            </a:r>
          </a:p>
        </p:txBody>
      </p:sp>
      <p:sp>
        <p:nvSpPr>
          <p:cNvPr id="19" name="TextBox 18"/>
          <p:cNvSpPr txBox="1"/>
          <p:nvPr/>
        </p:nvSpPr>
        <p:spPr>
          <a:xfrm>
            <a:off x="4572000" y="5340096"/>
            <a:ext cx="1920240" cy="420624"/>
          </a:xfrm>
          <a:prstGeom prst="rect">
            <a:avLst/>
          </a:prstGeom>
          <a:noFill/>
        </p:spPr>
        <p:txBody>
          <a:bodyPr wrap="square" lIns="0" rIns="0" tIns="0" bIns="0" anchor="t">
            <a:noAutofit/>
          </a:bodyPr>
          <a:lstStyle/>
          <a:p>
            <a:pPr algn="l">
              <a:lnSpc>
                <a:spcPct val="112000"/>
              </a:lnSpc>
            </a:pPr>
            <a:r>
              <a:rPr sz="2200" b="0" i="0">
                <a:solidFill>
                  <a:srgbClr val="F2F2EF"/>
                </a:solidFill>
                <a:latin typeface="Noto Sans KR Black"/>
                <a:ea typeface="Noto Sans KR Black"/>
                <a:cs typeface="Noto Sans KR Black"/>
              </a:rPr>
              <a:t>PRE-SEED</a:t>
            </a:r>
          </a:p>
        </p:txBody>
      </p:sp>
      <p:sp>
        <p:nvSpPr>
          <p:cNvPr id="20" name="TextBox 19"/>
          <p:cNvSpPr txBox="1"/>
          <p:nvPr/>
        </p:nvSpPr>
        <p:spPr>
          <a:xfrm>
            <a:off x="4572000" y="5760720"/>
            <a:ext cx="1920240" cy="219456"/>
          </a:xfrm>
          <a:prstGeom prst="rect">
            <a:avLst/>
          </a:prstGeom>
          <a:noFill/>
        </p:spPr>
        <p:txBody>
          <a:bodyPr wrap="square" lIns="0" rIns="0" tIns="0" bIns="0" anchor="t">
            <a:noAutofit/>
          </a:bodyPr>
          <a:lstStyle/>
          <a:p>
            <a:pPr algn="l">
              <a:lnSpc>
                <a:spcPct val="112000"/>
              </a:lnSpc>
            </a:pPr>
            <a:r>
              <a:rPr sz="1000" b="0" i="0">
                <a:solidFill>
                  <a:srgbClr val="AEB3BB"/>
                </a:solidFill>
                <a:latin typeface="Noto Sans KR"/>
                <a:ea typeface="Noto Sans KR"/>
                <a:cs typeface="Noto Sans KR"/>
              </a:rPr>
              <a:t>Concept → Company</a:t>
            </a:r>
          </a:p>
        </p:txBody>
      </p:sp>
      <p:sp>
        <p:nvSpPr>
          <p:cNvPr id="21" name="TextBox 20"/>
          <p:cNvSpPr txBox="1"/>
          <p:nvPr/>
        </p:nvSpPr>
        <p:spPr>
          <a:xfrm>
            <a:off x="548640" y="6473952"/>
            <a:ext cx="82296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2026.10  ·  Confidential  ·  이미지는 실제 시제품이 아닌 Concept Rendering입니다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02  ·  THE PROBLEM</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EVERY NEW TASK STILL NEEDS A NEW HAND.</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고객의 진짜 비용은 그리퍼 가격이 아니라, 작업이 바뀔 때마다 반복되는 '자동화 전환비용'이다</a:t>
            </a:r>
          </a:p>
        </p:txBody>
      </p:sp>
      <p:sp>
        <p:nvSpPr>
          <p:cNvPr id="6" name="Tag CONCEPT RENDERING"/>
          <p:cNvSpPr/>
          <p:nvPr/>
        </p:nvSpPr>
        <p:spPr>
          <a:xfrm>
            <a:off x="10352125" y="365760"/>
            <a:ext cx="1290929"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CONCEPT RENDERING</a:t>
            </a:r>
          </a:p>
        </p:txBody>
      </p:sp>
      <p:sp>
        <p:nvSpPr>
          <p:cNvPr id="7" name="Card today"/>
          <p:cNvSpPr/>
          <p:nvPr/>
        </p:nvSpPr>
        <p:spPr>
          <a:xfrm>
            <a:off x="548640" y="1847088"/>
            <a:ext cx="5852160" cy="2926080"/>
          </a:xfrm>
          <a:prstGeom prst="roundRect">
            <a:avLst>
              <a:gd name="adj" fmla="val 3750"/>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8" name="TextBox 7"/>
          <p:cNvSpPr txBox="1"/>
          <p:nvPr/>
        </p:nvSpPr>
        <p:spPr>
          <a:xfrm>
            <a:off x="777240" y="1993392"/>
            <a:ext cx="4572000" cy="274320"/>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Black"/>
                <a:ea typeface="Noto Sans KR Black"/>
                <a:cs typeface="Noto Sans KR Black"/>
              </a:rPr>
              <a:t>TODAY</a:t>
            </a:r>
          </a:p>
          <a:p>
            <a:pPr algn="l">
              <a:lnSpc>
                <a:spcPct val="112000"/>
              </a:lnSpc>
            </a:pPr>
            <a:r>
              <a:rPr sz="1200" b="0" i="0">
                <a:solidFill>
                  <a:srgbClr val="AEB3BB"/>
                </a:solidFill>
                <a:latin typeface="Noto Sans KR"/>
                <a:ea typeface="Noto Sans KR"/>
                <a:cs typeface="Noto Sans KR"/>
              </a:rPr>
              <a:t>   작업마다 전용 엔드이펙터·지그</a:t>
            </a:r>
          </a:p>
        </p:txBody>
      </p:sp>
      <p:pic>
        <p:nvPicPr>
          <p:cNvPr id="9" name="HERO 02" descr="Concept rendering of six dedicated end effectors"/>
          <p:cNvPicPr>
            <a:picLocks noChangeAspect="1"/>
          </p:cNvPicPr>
          <p:nvPr/>
        </p:nvPicPr>
        <p:blipFill>
          <a:blip r:embed="rId2"/>
          <a:stretch>
            <a:fillRect/>
          </a:stretch>
        </p:blipFill>
        <p:spPr>
          <a:xfrm>
            <a:off x="2000927" y="2331720"/>
            <a:ext cx="2947585" cy="2057400"/>
          </a:xfrm>
          <a:prstGeom prst="rect">
            <a:avLst/>
          </a:prstGeom>
        </p:spPr>
      </p:pic>
      <p:sp>
        <p:nvSpPr>
          <p:cNvPr id="10" name="TextBox 9"/>
          <p:cNvSpPr txBox="1"/>
          <p:nvPr/>
        </p:nvSpPr>
        <p:spPr>
          <a:xfrm>
            <a:off x="777240" y="4443984"/>
            <a:ext cx="5394960" cy="237744"/>
          </a:xfrm>
          <a:prstGeom prst="rect">
            <a:avLst/>
          </a:prstGeom>
          <a:noFill/>
        </p:spPr>
        <p:txBody>
          <a:bodyPr wrap="square" lIns="0" rIns="0" tIns="0" bIns="0" anchor="t">
            <a:noAutofit/>
          </a:bodyPr>
          <a:lstStyle/>
          <a:p>
            <a:pPr algn="ctr">
              <a:lnSpc>
                <a:spcPct val="112000"/>
              </a:lnSpc>
            </a:pPr>
            <a:r>
              <a:rPr sz="1000" b="0" i="0">
                <a:solidFill>
                  <a:srgbClr val="737882"/>
                </a:solidFill>
                <a:latin typeface="Noto Sans KR"/>
                <a:ea typeface="Noto Sans KR"/>
                <a:cs typeface="Noto Sans KR"/>
              </a:rPr>
              <a:t>Parallel · Vacuum · 3-Jaw · Custom Finger · Magnetic · Jig / Fixture</a:t>
            </a:r>
          </a:p>
        </p:txBody>
      </p:sp>
      <p:sp>
        <p:nvSpPr>
          <p:cNvPr id="11" name="Card stat"/>
          <p:cNvSpPr/>
          <p:nvPr/>
        </p:nvSpPr>
        <p:spPr>
          <a:xfrm>
            <a:off x="6629400" y="1847088"/>
            <a:ext cx="5013655" cy="2926080"/>
          </a:xfrm>
          <a:prstGeom prst="roundRect">
            <a:avLst>
              <a:gd name="adj" fmla="val 3750"/>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2" name="TextBox 11"/>
          <p:cNvSpPr txBox="1"/>
          <p:nvPr/>
        </p:nvSpPr>
        <p:spPr>
          <a:xfrm>
            <a:off x="6903720" y="1965960"/>
            <a:ext cx="4389120" cy="960120"/>
          </a:xfrm>
          <a:prstGeom prst="rect">
            <a:avLst/>
          </a:prstGeom>
          <a:noFill/>
        </p:spPr>
        <p:txBody>
          <a:bodyPr wrap="square" lIns="0" rIns="0" tIns="0" bIns="0" anchor="t">
            <a:noAutofit/>
          </a:bodyPr>
          <a:lstStyle/>
          <a:p>
            <a:pPr algn="l">
              <a:lnSpc>
                <a:spcPct val="112000"/>
              </a:lnSpc>
            </a:pPr>
            <a:r>
              <a:rPr sz="6200" b="0" i="0">
                <a:solidFill>
                  <a:srgbClr val="EC7A3C"/>
                </a:solidFill>
                <a:latin typeface="Noto Sans KR Black"/>
                <a:ea typeface="Noto Sans KR Black"/>
                <a:cs typeface="Noto Sans KR Black"/>
              </a:rPr>
              <a:t>~75%</a:t>
            </a:r>
          </a:p>
        </p:txBody>
      </p:sp>
      <p:sp>
        <p:nvSpPr>
          <p:cNvPr id="13" name="TextBox 12"/>
          <p:cNvSpPr txBox="1"/>
          <p:nvPr/>
        </p:nvSpPr>
        <p:spPr>
          <a:xfrm>
            <a:off x="6903720" y="2999232"/>
            <a:ext cx="4526280" cy="640080"/>
          </a:xfrm>
          <a:prstGeom prst="rect">
            <a:avLst/>
          </a:prstGeom>
          <a:noFill/>
        </p:spPr>
        <p:txBody>
          <a:bodyPr wrap="square" lIns="0" rIns="0" tIns="0" bIns="0" anchor="t">
            <a:noAutofit/>
          </a:bodyPr>
          <a:lstStyle/>
          <a:p>
            <a:pPr algn="l">
              <a:lnSpc>
                <a:spcPct val="120000"/>
              </a:lnSpc>
            </a:pPr>
            <a:r>
              <a:rPr sz="1450" b="0" i="0">
                <a:solidFill>
                  <a:srgbClr val="F2F2EF"/>
                </a:solidFill>
                <a:latin typeface="Noto Sans KR Medium"/>
                <a:ea typeface="Noto Sans KR Medium"/>
                <a:cs typeface="Noto Sans KR Medium"/>
              </a:rPr>
              <a:t>로봇 시스템 총소유비용(TCO) 중 초기 셋업과 재설계(Re-engineering)에 묶인 비중</a:t>
            </a:r>
          </a:p>
        </p:txBody>
      </p:sp>
      <p:sp>
        <p:nvSpPr>
          <p:cNvPr id="14" name="TextBox 13"/>
          <p:cNvSpPr txBox="1"/>
          <p:nvPr/>
        </p:nvSpPr>
        <p:spPr>
          <a:xfrm>
            <a:off x="6903720" y="3703320"/>
            <a:ext cx="4526280" cy="548640"/>
          </a:xfrm>
          <a:prstGeom prst="rect">
            <a:avLst/>
          </a:prstGeom>
          <a:noFill/>
        </p:spPr>
        <p:txBody>
          <a:bodyPr wrap="square" lIns="0" rIns="0" tIns="0" bIns="0" anchor="t">
            <a:noAutofit/>
          </a:bodyPr>
          <a:lstStyle/>
          <a:p>
            <a:pPr algn="l">
              <a:lnSpc>
                <a:spcPct val="120000"/>
              </a:lnSpc>
            </a:pPr>
            <a:r>
              <a:rPr sz="1150" b="0" i="0">
                <a:solidFill>
                  <a:srgbClr val="AEB3BB"/>
                </a:solidFill>
                <a:latin typeface="Noto Sans KR"/>
                <a:ea typeface="Noto Sans KR"/>
                <a:cs typeface="Noto Sans KR"/>
              </a:rPr>
              <a:t>로봇 본체가 아니라 '바뀔 때마다 다시 만드는 비용'이 자동화의 경제성을 결정한다</a:t>
            </a:r>
          </a:p>
        </p:txBody>
      </p:sp>
      <p:sp>
        <p:nvSpPr>
          <p:cNvPr id="15" name="TextBox 14"/>
          <p:cNvSpPr txBox="1"/>
          <p:nvPr/>
        </p:nvSpPr>
        <p:spPr>
          <a:xfrm>
            <a:off x="6903720" y="4407408"/>
            <a:ext cx="4526280" cy="237744"/>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Source: BCG, How Physical AI Is Reshaping Robotics Today (2026.4)</a:t>
            </a:r>
          </a:p>
        </p:txBody>
      </p:sp>
      <p:sp>
        <p:nvSpPr>
          <p:cNvPr id="16" name="TextBox 15"/>
          <p:cNvSpPr txBox="1"/>
          <p:nvPr/>
        </p:nvSpPr>
        <p:spPr>
          <a:xfrm>
            <a:off x="548640" y="5001768"/>
            <a:ext cx="54864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AUTOMATION CHANGEOVER COST</a:t>
            </a:r>
          </a:p>
        </p:txBody>
      </p:sp>
      <p:sp>
        <p:nvSpPr>
          <p:cNvPr id="17" name="Cost cascade 1"/>
          <p:cNvSpPr/>
          <p:nvPr/>
        </p:nvSpPr>
        <p:spPr>
          <a:xfrm>
            <a:off x="548640" y="5303520"/>
            <a:ext cx="1226781"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000" b="0" i="0" spc="30">
                <a:solidFill>
                  <a:srgbClr val="F2F2EF"/>
                </a:solidFill>
                <a:latin typeface="Noto Sans KR SemiBold"/>
                <a:ea typeface="Noto Sans KR SemiBold"/>
                <a:cs typeface="Noto Sans KR SemiBold"/>
              </a:rPr>
              <a:t>NEW PRODUCT
/ NEW TASK</a:t>
            </a:r>
          </a:p>
        </p:txBody>
      </p:sp>
      <p:sp>
        <p:nvSpPr>
          <p:cNvPr id="18" name="Isosceles Triangle 17"/>
          <p:cNvSpPr/>
          <p:nvPr/>
        </p:nvSpPr>
        <p:spPr>
          <a:xfrm rot="5400000">
            <a:off x="1825713" y="55458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9" name="Cost cascade 2"/>
          <p:cNvSpPr/>
          <p:nvPr/>
        </p:nvSpPr>
        <p:spPr>
          <a:xfrm>
            <a:off x="1958301" y="5303520"/>
            <a:ext cx="1226781"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000" b="0" i="0" spc="30">
                <a:solidFill>
                  <a:srgbClr val="F2F2EF"/>
                </a:solidFill>
                <a:latin typeface="Noto Sans KR SemiBold"/>
                <a:ea typeface="Noto Sans KR SemiBold"/>
                <a:cs typeface="Noto Sans KR SemiBold"/>
              </a:rPr>
              <a:t>NEW
GRIPPER</a:t>
            </a:r>
          </a:p>
        </p:txBody>
      </p:sp>
      <p:sp>
        <p:nvSpPr>
          <p:cNvPr id="20" name="Isosceles Triangle 19"/>
          <p:cNvSpPr/>
          <p:nvPr/>
        </p:nvSpPr>
        <p:spPr>
          <a:xfrm rot="5400000">
            <a:off x="3235375" y="55458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1" name="Cost cascade 3"/>
          <p:cNvSpPr/>
          <p:nvPr/>
        </p:nvSpPr>
        <p:spPr>
          <a:xfrm>
            <a:off x="3367963" y="5303520"/>
            <a:ext cx="1226781"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000" b="0" i="0" spc="30">
                <a:solidFill>
                  <a:srgbClr val="F2F2EF"/>
                </a:solidFill>
                <a:latin typeface="Noto Sans KR SemiBold"/>
                <a:ea typeface="Noto Sans KR SemiBold"/>
                <a:cs typeface="Noto Sans KR SemiBold"/>
              </a:rPr>
              <a:t>NEW
FINGER</a:t>
            </a:r>
          </a:p>
        </p:txBody>
      </p:sp>
      <p:sp>
        <p:nvSpPr>
          <p:cNvPr id="22" name="Isosceles Triangle 21"/>
          <p:cNvSpPr/>
          <p:nvPr/>
        </p:nvSpPr>
        <p:spPr>
          <a:xfrm rot="5400000">
            <a:off x="4645037" y="55458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3" name="Cost cascade 4"/>
          <p:cNvSpPr/>
          <p:nvPr/>
        </p:nvSpPr>
        <p:spPr>
          <a:xfrm>
            <a:off x="4777625" y="5303520"/>
            <a:ext cx="1226781"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000" b="0" i="0" spc="30">
                <a:solidFill>
                  <a:srgbClr val="F2F2EF"/>
                </a:solidFill>
                <a:latin typeface="Noto Sans KR SemiBold"/>
                <a:ea typeface="Noto Sans KR SemiBold"/>
                <a:cs typeface="Noto Sans KR SemiBold"/>
              </a:rPr>
              <a:t>NEW
JIG</a:t>
            </a:r>
          </a:p>
        </p:txBody>
      </p:sp>
      <p:sp>
        <p:nvSpPr>
          <p:cNvPr id="24" name="Isosceles Triangle 23"/>
          <p:cNvSpPr/>
          <p:nvPr/>
        </p:nvSpPr>
        <p:spPr>
          <a:xfrm rot="5400000">
            <a:off x="6054699" y="55458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5" name="Cost cascade 5"/>
          <p:cNvSpPr/>
          <p:nvPr/>
        </p:nvSpPr>
        <p:spPr>
          <a:xfrm>
            <a:off x="6187287" y="5303520"/>
            <a:ext cx="1226781"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000" b="0" i="0" spc="30">
                <a:solidFill>
                  <a:srgbClr val="F2F2EF"/>
                </a:solidFill>
                <a:latin typeface="Noto Sans KR SemiBold"/>
                <a:ea typeface="Noto Sans KR SemiBold"/>
                <a:cs typeface="Noto Sans KR SemiBold"/>
              </a:rPr>
              <a:t>ENGINEERING</a:t>
            </a:r>
          </a:p>
        </p:txBody>
      </p:sp>
      <p:sp>
        <p:nvSpPr>
          <p:cNvPr id="26" name="Isosceles Triangle 25"/>
          <p:cNvSpPr/>
          <p:nvPr/>
        </p:nvSpPr>
        <p:spPr>
          <a:xfrm rot="5400000">
            <a:off x="7464361" y="55458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7" name="Cost cascade 6"/>
          <p:cNvSpPr/>
          <p:nvPr/>
        </p:nvSpPr>
        <p:spPr>
          <a:xfrm>
            <a:off x="7596949" y="5303520"/>
            <a:ext cx="1226781"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000" b="0" i="0" spc="30">
                <a:solidFill>
                  <a:srgbClr val="F2F2EF"/>
                </a:solidFill>
                <a:latin typeface="Noto Sans KR SemiBold"/>
                <a:ea typeface="Noto Sans KR SemiBold"/>
                <a:cs typeface="Noto Sans KR SemiBold"/>
              </a:rPr>
              <a:t>TEACHING</a:t>
            </a:r>
          </a:p>
        </p:txBody>
      </p:sp>
      <p:sp>
        <p:nvSpPr>
          <p:cNvPr id="28" name="Isosceles Triangle 27"/>
          <p:cNvSpPr/>
          <p:nvPr/>
        </p:nvSpPr>
        <p:spPr>
          <a:xfrm rot="5400000">
            <a:off x="8874023" y="55458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9" name="Cost cascade 7"/>
          <p:cNvSpPr/>
          <p:nvPr/>
        </p:nvSpPr>
        <p:spPr>
          <a:xfrm>
            <a:off x="9006611" y="5303520"/>
            <a:ext cx="1226781"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000" b="0" i="0" spc="30">
                <a:solidFill>
                  <a:srgbClr val="F2F2EF"/>
                </a:solidFill>
                <a:latin typeface="Noto Sans KR SemiBold"/>
                <a:ea typeface="Noto Sans KR SemiBold"/>
                <a:cs typeface="Noto Sans KR SemiBold"/>
              </a:rPr>
              <a:t>VALIDATION</a:t>
            </a:r>
          </a:p>
        </p:txBody>
      </p:sp>
      <p:sp>
        <p:nvSpPr>
          <p:cNvPr id="30" name="Isosceles Triangle 29"/>
          <p:cNvSpPr/>
          <p:nvPr/>
        </p:nvSpPr>
        <p:spPr>
          <a:xfrm rot="5400000">
            <a:off x="10283685" y="55458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1" name="Cost cascade 8"/>
          <p:cNvSpPr/>
          <p:nvPr/>
        </p:nvSpPr>
        <p:spPr>
          <a:xfrm>
            <a:off x="10416273" y="5303520"/>
            <a:ext cx="1226781" cy="566928"/>
          </a:xfrm>
          <a:prstGeom prst="roundRect">
            <a:avLst>
              <a:gd name="adj" fmla="val 11290"/>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000" b="0" i="0" spc="30">
                <a:solidFill>
                  <a:srgbClr val="EC7A3C"/>
                </a:solidFill>
                <a:latin typeface="Noto Sans KR SemiBold"/>
                <a:ea typeface="Noto Sans KR SemiBold"/>
                <a:cs typeface="Noto Sans KR SemiBold"/>
              </a:rPr>
              <a:t>LINE
DOWNTIME</a:t>
            </a:r>
          </a:p>
        </p:txBody>
      </p:sp>
      <p:sp>
        <p:nvSpPr>
          <p:cNvPr id="32" name="TextBox 31"/>
          <p:cNvSpPr txBox="1"/>
          <p:nvPr/>
        </p:nvSpPr>
        <p:spPr>
          <a:xfrm>
            <a:off x="548640" y="5989320"/>
            <a:ext cx="11094415" cy="274320"/>
          </a:xfrm>
          <a:prstGeom prst="rect">
            <a:avLst/>
          </a:prstGeom>
          <a:noFill/>
        </p:spPr>
        <p:txBody>
          <a:bodyPr wrap="square" lIns="0" rIns="0" tIns="0" bIns="0" anchor="t">
            <a:noAutofit/>
          </a:bodyPr>
          <a:lstStyle/>
          <a:p>
            <a:pPr algn="l">
              <a:lnSpc>
                <a:spcPct val="112000"/>
              </a:lnSpc>
            </a:pPr>
            <a:r>
              <a:rPr sz="1100" b="0" i="0">
                <a:solidFill>
                  <a:srgbClr val="AEB3BB"/>
                </a:solidFill>
                <a:latin typeface="Noto Sans KR"/>
                <a:ea typeface="Noto Sans KR"/>
                <a:cs typeface="Noto Sans KR"/>
              </a:rPr>
              <a:t>제품·작업이 바뀔 때마다 반복된다 → 다품종·소량·서비스 현장일수록 자동화 자체가 성립하지 않는다</a:t>
            </a:r>
          </a:p>
        </p:txBody>
      </p:sp>
      <p:sp>
        <p:nvSpPr>
          <p:cNvPr id="33"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34"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03  ·  WHY NOW — THE INSTALLED BASE</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ROBOTS ARE ALREADY HERE.</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We don't wait for the humanoid future. We upgrade the robots already working today.</a:t>
            </a:r>
          </a:p>
        </p:txBody>
      </p:sp>
      <p:sp>
        <p:nvSpPr>
          <p:cNvPr id="6" name="TextBox 5"/>
          <p:cNvSpPr txBox="1"/>
          <p:nvPr/>
        </p:nvSpPr>
        <p:spPr>
          <a:xfrm>
            <a:off x="548640" y="1828800"/>
            <a:ext cx="4937760" cy="1051560"/>
          </a:xfrm>
          <a:prstGeom prst="rect">
            <a:avLst/>
          </a:prstGeom>
          <a:noFill/>
        </p:spPr>
        <p:txBody>
          <a:bodyPr wrap="square" lIns="0" rIns="0" tIns="0" bIns="0" anchor="t">
            <a:noAutofit/>
          </a:bodyPr>
          <a:lstStyle/>
          <a:p>
            <a:pPr algn="l">
              <a:lnSpc>
                <a:spcPct val="95000"/>
              </a:lnSpc>
            </a:pPr>
            <a:r>
              <a:rPr sz="7200" b="0" i="0">
                <a:solidFill>
                  <a:srgbClr val="F2F2EF"/>
                </a:solidFill>
                <a:latin typeface="Noto Sans KR Black"/>
                <a:ea typeface="Noto Sans KR Black"/>
                <a:cs typeface="Noto Sans KR Black"/>
              </a:rPr>
              <a:t>5.08M</a:t>
            </a:r>
          </a:p>
        </p:txBody>
      </p:sp>
      <p:sp>
        <p:nvSpPr>
          <p:cNvPr id="7" name="TextBox 6"/>
          <p:cNvSpPr txBox="1"/>
          <p:nvPr/>
        </p:nvSpPr>
        <p:spPr>
          <a:xfrm>
            <a:off x="548640" y="2880360"/>
            <a:ext cx="4846320" cy="274320"/>
          </a:xfrm>
          <a:prstGeom prst="rect">
            <a:avLst/>
          </a:prstGeom>
          <a:noFill/>
        </p:spPr>
        <p:txBody>
          <a:bodyPr wrap="square" lIns="0" rIns="0" tIns="0" bIns="0" anchor="t">
            <a:noAutofit/>
          </a:bodyPr>
          <a:lstStyle/>
          <a:p>
            <a:pPr algn="l">
              <a:lnSpc>
                <a:spcPct val="112000"/>
              </a:lnSpc>
            </a:pPr>
            <a:r>
              <a:rPr sz="1350" b="0" i="0">
                <a:solidFill>
                  <a:srgbClr val="AEB3BB"/>
                </a:solidFill>
                <a:latin typeface="Noto Sans KR"/>
                <a:ea typeface="Noto Sans KR"/>
                <a:cs typeface="Noto Sans KR"/>
              </a:rPr>
              <a:t>전 세계 공장에서 가동 중인 산업용 로봇 (2025년 말)</a:t>
            </a:r>
          </a:p>
        </p:txBody>
      </p:sp>
      <p:sp>
        <p:nvSpPr>
          <p:cNvPr id="8" name="TextBox 7"/>
          <p:cNvSpPr txBox="1"/>
          <p:nvPr/>
        </p:nvSpPr>
        <p:spPr>
          <a:xfrm>
            <a:off x="548640" y="3364992"/>
            <a:ext cx="2194560" cy="566928"/>
          </a:xfrm>
          <a:prstGeom prst="rect">
            <a:avLst/>
          </a:prstGeom>
          <a:noFill/>
        </p:spPr>
        <p:txBody>
          <a:bodyPr wrap="square" lIns="0" rIns="0" tIns="0" bIns="0" anchor="t">
            <a:noAutofit/>
          </a:bodyPr>
          <a:lstStyle/>
          <a:p>
            <a:pPr algn="l">
              <a:lnSpc>
                <a:spcPct val="112000"/>
              </a:lnSpc>
            </a:pPr>
            <a:r>
              <a:rPr sz="3400" b="0" i="0">
                <a:solidFill>
                  <a:srgbClr val="EC7A3C"/>
                </a:solidFill>
                <a:latin typeface="Noto Sans KR Black"/>
                <a:ea typeface="Noto Sans KR Black"/>
                <a:cs typeface="Noto Sans KR Black"/>
              </a:rPr>
              <a:t>603K</a:t>
            </a:r>
          </a:p>
        </p:txBody>
      </p:sp>
      <p:sp>
        <p:nvSpPr>
          <p:cNvPr id="9" name="TextBox 8"/>
          <p:cNvSpPr txBox="1"/>
          <p:nvPr/>
        </p:nvSpPr>
        <p:spPr>
          <a:xfrm>
            <a:off x="548640" y="3931920"/>
            <a:ext cx="2194560" cy="457200"/>
          </a:xfrm>
          <a:prstGeom prst="rect">
            <a:avLst/>
          </a:prstGeom>
          <a:noFill/>
        </p:spPr>
        <p:txBody>
          <a:bodyPr wrap="square" lIns="0" rIns="0" tIns="0" bIns="0" anchor="t">
            <a:noAutofit/>
          </a:bodyPr>
          <a:lstStyle/>
          <a:p>
            <a:pPr algn="l">
              <a:lnSpc>
                <a:spcPct val="115000"/>
              </a:lnSpc>
            </a:pPr>
            <a:r>
              <a:rPr sz="1100" b="0" i="0">
                <a:solidFill>
                  <a:srgbClr val="AEB3BB"/>
                </a:solidFill>
                <a:latin typeface="Noto Sans KR"/>
                <a:ea typeface="Noto Sans KR"/>
                <a:cs typeface="Noto Sans KR"/>
              </a:rPr>
              <a:t>2025년 신규 설치</a:t>
            </a:r>
          </a:p>
          <a:p>
            <a:pPr algn="l">
              <a:lnSpc>
                <a:spcPct val="115000"/>
              </a:lnSpc>
            </a:pPr>
            <a:r>
              <a:rPr sz="1100" b="0" i="0">
                <a:solidFill>
                  <a:srgbClr val="AEB3BB"/>
                </a:solidFill>
                <a:latin typeface="Noto Sans KR"/>
                <a:ea typeface="Noto Sans KR"/>
                <a:cs typeface="Noto Sans KR"/>
              </a:rPr>
              <a:t>전년 대비 +11%</a:t>
            </a:r>
          </a:p>
        </p:txBody>
      </p:sp>
      <p:sp>
        <p:nvSpPr>
          <p:cNvPr id="10" name="TextBox 9"/>
          <p:cNvSpPr txBox="1"/>
          <p:nvPr/>
        </p:nvSpPr>
        <p:spPr>
          <a:xfrm>
            <a:off x="2880360" y="3364992"/>
            <a:ext cx="2194560" cy="566928"/>
          </a:xfrm>
          <a:prstGeom prst="rect">
            <a:avLst/>
          </a:prstGeom>
          <a:noFill/>
        </p:spPr>
        <p:txBody>
          <a:bodyPr wrap="square" lIns="0" rIns="0" tIns="0" bIns="0" anchor="t">
            <a:noAutofit/>
          </a:bodyPr>
          <a:lstStyle/>
          <a:p>
            <a:pPr algn="l">
              <a:lnSpc>
                <a:spcPct val="112000"/>
              </a:lnSpc>
            </a:pPr>
            <a:r>
              <a:rPr sz="3400" b="0" i="0">
                <a:solidFill>
                  <a:srgbClr val="F2F2EF"/>
                </a:solidFill>
                <a:latin typeface="Noto Sans KR Black"/>
                <a:ea typeface="Noto Sans KR Black"/>
                <a:cs typeface="Noto Sans KR Black"/>
              </a:rPr>
              <a:t>806K</a:t>
            </a:r>
          </a:p>
        </p:txBody>
      </p:sp>
      <p:sp>
        <p:nvSpPr>
          <p:cNvPr id="11" name="TextBox 10"/>
          <p:cNvSpPr txBox="1"/>
          <p:nvPr/>
        </p:nvSpPr>
        <p:spPr>
          <a:xfrm>
            <a:off x="2880360" y="3931920"/>
            <a:ext cx="2194560" cy="457200"/>
          </a:xfrm>
          <a:prstGeom prst="rect">
            <a:avLst/>
          </a:prstGeom>
          <a:noFill/>
        </p:spPr>
        <p:txBody>
          <a:bodyPr wrap="square" lIns="0" rIns="0" tIns="0" bIns="0" anchor="t">
            <a:noAutofit/>
          </a:bodyPr>
          <a:lstStyle/>
          <a:p>
            <a:pPr algn="l">
              <a:lnSpc>
                <a:spcPct val="115000"/>
              </a:lnSpc>
            </a:pPr>
            <a:r>
              <a:rPr sz="1100" b="0" i="0">
                <a:solidFill>
                  <a:srgbClr val="AEB3BB"/>
                </a:solidFill>
                <a:latin typeface="Noto Sans KR"/>
                <a:ea typeface="Noto Sans KR"/>
                <a:cs typeface="Noto Sans KR"/>
              </a:rPr>
              <a:t>2029년 연간 설치</a:t>
            </a:r>
          </a:p>
          <a:p>
            <a:pPr algn="l">
              <a:lnSpc>
                <a:spcPct val="115000"/>
              </a:lnSpc>
            </a:pPr>
            <a:r>
              <a:rPr sz="1100" b="0" i="0">
                <a:solidFill>
                  <a:srgbClr val="AEB3BB"/>
                </a:solidFill>
                <a:latin typeface="Noto Sans KR"/>
                <a:ea typeface="Noto Sans KR"/>
                <a:cs typeface="Noto Sans KR"/>
              </a:rPr>
              <a:t>전망 (IFR)</a:t>
            </a:r>
          </a:p>
        </p:txBody>
      </p:sp>
      <p:sp>
        <p:nvSpPr>
          <p:cNvPr id="12" name="TextBox 11"/>
          <p:cNvSpPr txBox="1"/>
          <p:nvPr/>
        </p:nvSpPr>
        <p:spPr>
          <a:xfrm>
            <a:off x="548640" y="4645152"/>
            <a:ext cx="4846320" cy="685800"/>
          </a:xfrm>
          <a:prstGeom prst="rect">
            <a:avLst/>
          </a:prstGeom>
          <a:noFill/>
        </p:spPr>
        <p:txBody>
          <a:bodyPr wrap="square" lIns="0" rIns="0" tIns="0" bIns="0" anchor="t">
            <a:noAutofit/>
          </a:bodyPr>
          <a:lstStyle/>
          <a:p>
            <a:pPr algn="l">
              <a:lnSpc>
                <a:spcPct val="130000"/>
              </a:lnSpc>
            </a:pPr>
            <a:r>
              <a:rPr sz="1500" b="0" i="0">
                <a:solidFill>
                  <a:srgbClr val="F2F2EF"/>
                </a:solidFill>
                <a:latin typeface="Noto Sans KR SemiBold"/>
                <a:ea typeface="Noto Sans KR SemiBold"/>
                <a:cs typeface="Noto Sans KR SemiBold"/>
              </a:rPr>
              <a:t>휴머노이드의 미래를 기다리지 않는다.</a:t>
            </a:r>
          </a:p>
          <a:p>
            <a:pPr algn="l">
              <a:lnSpc>
                <a:spcPct val="130000"/>
              </a:lnSpc>
            </a:pPr>
            <a:r>
              <a:rPr sz="1500" b="0" i="0">
                <a:solidFill>
                  <a:srgbClr val="F2F2EF"/>
                </a:solidFill>
                <a:latin typeface="Noto Sans KR SemiBold"/>
                <a:ea typeface="Noto Sans KR SemiBold"/>
                <a:cs typeface="Noto Sans KR SemiBold"/>
              </a:rPr>
              <a:t>지금 일하고 있는 로봇을 업그레이드한다.</a:t>
            </a:r>
          </a:p>
        </p:txBody>
      </p:sp>
      <p:sp>
        <p:nvSpPr>
          <p:cNvPr id="13" name="Chart card"/>
          <p:cNvSpPr/>
          <p:nvPr/>
        </p:nvSpPr>
        <p:spPr>
          <a:xfrm>
            <a:off x="5623560" y="1847088"/>
            <a:ext cx="6019495" cy="3529584"/>
          </a:xfrm>
          <a:prstGeom prst="roundRect">
            <a:avLst>
              <a:gd name="adj" fmla="val 3108"/>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4" name="TextBox 13"/>
          <p:cNvSpPr txBox="1"/>
          <p:nvPr/>
        </p:nvSpPr>
        <p:spPr>
          <a:xfrm>
            <a:off x="5897880" y="1993392"/>
            <a:ext cx="5029200" cy="274320"/>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연간 산업용 로봇 신규 설치 (천 대)</a:t>
            </a:r>
          </a:p>
        </p:txBody>
      </p:sp>
      <p:graphicFrame>
        <p:nvGraphicFramePr>
          <p:cNvPr id="15" name="Chart installations"/>
          <p:cNvGraphicFramePr>
            <a:graphicFrameLocks noGrp="1"/>
          </p:cNvGraphicFramePr>
          <p:nvPr/>
        </p:nvGraphicFramePr>
        <p:xfrm>
          <a:off x="5806440" y="2331720"/>
          <a:ext cx="5669280" cy="2697480"/>
        </p:xfrm>
        <a:graphic>
          <a:graphicData uri="http://schemas.openxmlformats.org/drawingml/2006/chart">
            <c:chart xmlns:c="http://schemas.openxmlformats.org/drawingml/2006/chart" r:id="rId2"/>
          </a:graphicData>
        </a:graphic>
      </p:graphicFrame>
      <p:sp>
        <p:nvSpPr>
          <p:cNvPr id="16" name="TextBox 15"/>
          <p:cNvSpPr txBox="1"/>
          <p:nvPr/>
        </p:nvSpPr>
        <p:spPr>
          <a:xfrm>
            <a:off x="5897880" y="5047488"/>
            <a:ext cx="5486400" cy="237744"/>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Source: IFR World Robotics 2025·2026 (2026.9) · F = IFR 전망 · 한국 2025년 신규 설치 약 3만 대</a:t>
            </a:r>
          </a:p>
        </p:txBody>
      </p:sp>
      <p:sp>
        <p:nvSpPr>
          <p:cNvPr id="17" name="Formula EXISTING ROBOT"/>
          <p:cNvSpPr/>
          <p:nvPr/>
        </p:nvSpPr>
        <p:spPr>
          <a:xfrm>
            <a:off x="856335" y="5559552"/>
            <a:ext cx="2331720" cy="548640"/>
          </a:xfrm>
          <a:prstGeom prst="roundRect">
            <a:avLst>
              <a:gd name="adj" fmla="val 1333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250" b="0" i="0" spc="80">
                <a:solidFill>
                  <a:srgbClr val="F2F2EF"/>
                </a:solidFill>
                <a:latin typeface="Noto Sans KR Black"/>
                <a:ea typeface="Noto Sans KR Black"/>
                <a:cs typeface="Noto Sans KR Black"/>
              </a:rPr>
              <a:t>EXISTING ROBOT</a:t>
            </a:r>
          </a:p>
        </p:txBody>
      </p:sp>
      <p:sp>
        <p:nvSpPr>
          <p:cNvPr id="18" name="TextBox 17"/>
          <p:cNvSpPr txBox="1"/>
          <p:nvPr/>
        </p:nvSpPr>
        <p:spPr>
          <a:xfrm>
            <a:off x="3188055" y="5596128"/>
            <a:ext cx="384048" cy="457200"/>
          </a:xfrm>
          <a:prstGeom prst="rect">
            <a:avLst/>
          </a:prstGeom>
          <a:noFill/>
        </p:spPr>
        <p:txBody>
          <a:bodyPr wrap="square" lIns="0" rIns="0" tIns="0" bIns="0" anchor="ctr">
            <a:noAutofit/>
          </a:bodyPr>
          <a:lstStyle/>
          <a:p>
            <a:pPr algn="ctr">
              <a:lnSpc>
                <a:spcPct val="112000"/>
              </a:lnSpc>
            </a:pPr>
            <a:r>
              <a:rPr sz="2000" b="0" i="0">
                <a:solidFill>
                  <a:srgbClr val="737882"/>
                </a:solidFill>
                <a:latin typeface="Noto Sans KR Black"/>
                <a:ea typeface="Noto Sans KR Black"/>
                <a:cs typeface="Noto Sans KR Black"/>
              </a:rPr>
              <a:t>+</a:t>
            </a:r>
          </a:p>
        </p:txBody>
      </p:sp>
      <p:sp>
        <p:nvSpPr>
          <p:cNvPr id="19" name="Formula NEW HAND"/>
          <p:cNvSpPr/>
          <p:nvPr/>
        </p:nvSpPr>
        <p:spPr>
          <a:xfrm>
            <a:off x="3572103" y="5559552"/>
            <a:ext cx="2331720" cy="548640"/>
          </a:xfrm>
          <a:prstGeom prst="roundRect">
            <a:avLst>
              <a:gd name="adj" fmla="val 1333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250" b="0" i="0" spc="80">
                <a:solidFill>
                  <a:srgbClr val="F2F2EF"/>
                </a:solidFill>
                <a:latin typeface="Noto Sans KR Black"/>
                <a:ea typeface="Noto Sans KR Black"/>
                <a:cs typeface="Noto Sans KR Black"/>
              </a:rPr>
              <a:t>NEW HAND</a:t>
            </a:r>
          </a:p>
        </p:txBody>
      </p:sp>
      <p:sp>
        <p:nvSpPr>
          <p:cNvPr id="20" name="TextBox 19"/>
          <p:cNvSpPr txBox="1"/>
          <p:nvPr/>
        </p:nvSpPr>
        <p:spPr>
          <a:xfrm>
            <a:off x="5903823" y="5596128"/>
            <a:ext cx="384048" cy="457200"/>
          </a:xfrm>
          <a:prstGeom prst="rect">
            <a:avLst/>
          </a:prstGeom>
          <a:noFill/>
        </p:spPr>
        <p:txBody>
          <a:bodyPr wrap="square" lIns="0" rIns="0" tIns="0" bIns="0" anchor="ctr">
            <a:noAutofit/>
          </a:bodyPr>
          <a:lstStyle/>
          <a:p>
            <a:pPr algn="ctr">
              <a:lnSpc>
                <a:spcPct val="112000"/>
              </a:lnSpc>
            </a:pPr>
            <a:r>
              <a:rPr sz="2000" b="0" i="0">
                <a:solidFill>
                  <a:srgbClr val="737882"/>
                </a:solidFill>
                <a:latin typeface="Noto Sans KR Black"/>
                <a:ea typeface="Noto Sans KR Black"/>
                <a:cs typeface="Noto Sans KR Black"/>
              </a:rPr>
              <a:t>+</a:t>
            </a:r>
          </a:p>
        </p:txBody>
      </p:sp>
      <p:sp>
        <p:nvSpPr>
          <p:cNvPr id="21" name="Formula NEW SKILL"/>
          <p:cNvSpPr/>
          <p:nvPr/>
        </p:nvSpPr>
        <p:spPr>
          <a:xfrm>
            <a:off x="6287871" y="5559552"/>
            <a:ext cx="2331720" cy="548640"/>
          </a:xfrm>
          <a:prstGeom prst="roundRect">
            <a:avLst>
              <a:gd name="adj" fmla="val 1333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250" b="0" i="0" spc="80">
                <a:solidFill>
                  <a:srgbClr val="F2F2EF"/>
                </a:solidFill>
                <a:latin typeface="Noto Sans KR Black"/>
                <a:ea typeface="Noto Sans KR Black"/>
                <a:cs typeface="Noto Sans KR Black"/>
              </a:rPr>
              <a:t>NEW SKILL</a:t>
            </a:r>
          </a:p>
        </p:txBody>
      </p:sp>
      <p:sp>
        <p:nvSpPr>
          <p:cNvPr id="22" name="TextBox 21"/>
          <p:cNvSpPr txBox="1"/>
          <p:nvPr/>
        </p:nvSpPr>
        <p:spPr>
          <a:xfrm>
            <a:off x="8619591" y="5596128"/>
            <a:ext cx="384048" cy="457200"/>
          </a:xfrm>
          <a:prstGeom prst="rect">
            <a:avLst/>
          </a:prstGeom>
          <a:noFill/>
        </p:spPr>
        <p:txBody>
          <a:bodyPr wrap="square" lIns="0" rIns="0" tIns="0" bIns="0" anchor="ctr">
            <a:noAutofit/>
          </a:bodyPr>
          <a:lstStyle/>
          <a:p>
            <a:pPr algn="ctr">
              <a:lnSpc>
                <a:spcPct val="112000"/>
              </a:lnSpc>
            </a:pPr>
            <a:r>
              <a:rPr sz="2000" b="0" i="0">
                <a:solidFill>
                  <a:srgbClr val="737882"/>
                </a:solidFill>
                <a:latin typeface="Noto Sans KR Black"/>
                <a:ea typeface="Noto Sans KR Black"/>
                <a:cs typeface="Noto Sans KR Black"/>
              </a:rPr>
              <a:t>=</a:t>
            </a:r>
          </a:p>
        </p:txBody>
      </p:sp>
      <p:sp>
        <p:nvSpPr>
          <p:cNvPr id="23" name="Formula MORE TASKS PER ROBOT"/>
          <p:cNvSpPr/>
          <p:nvPr/>
        </p:nvSpPr>
        <p:spPr>
          <a:xfrm>
            <a:off x="9003639" y="5559552"/>
            <a:ext cx="2331720" cy="548640"/>
          </a:xfrm>
          <a:prstGeom prst="roundRect">
            <a:avLst>
              <a:gd name="adj" fmla="val 13333"/>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1250" b="0" i="0" spc="80">
                <a:solidFill>
                  <a:srgbClr val="EC7A3C"/>
                </a:solidFill>
                <a:latin typeface="Noto Sans KR Black"/>
                <a:ea typeface="Noto Sans KR Black"/>
                <a:cs typeface="Noto Sans KR Black"/>
              </a:rPr>
              <a:t>MORE TASKS PER ROBOT</a:t>
            </a:r>
          </a:p>
        </p:txBody>
      </p:sp>
      <p:sp>
        <p:nvSpPr>
          <p:cNvPr id="24"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25"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04  ·  WHY NOW — THE PHYSICAL AI STACK</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THE MISSING LAYER IS MANIPULATION.</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Brain·Eyes·Body는 빠르게 상용화됐다. 남은 병목은 현실의 도구를 쓰는 '손'이다.</a:t>
            </a:r>
          </a:p>
        </p:txBody>
      </p:sp>
      <p:sp>
        <p:nvSpPr>
          <p:cNvPr id="6" name="Stack BRAIN"/>
          <p:cNvSpPr/>
          <p:nvPr/>
        </p:nvSpPr>
        <p:spPr>
          <a:xfrm>
            <a:off x="548640" y="1828800"/>
            <a:ext cx="6537960" cy="896112"/>
          </a:xfrm>
          <a:prstGeom prst="roundRect">
            <a:avLst>
              <a:gd name="adj" fmla="val 10204"/>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 name="TextBox 6"/>
          <p:cNvSpPr txBox="1"/>
          <p:nvPr/>
        </p:nvSpPr>
        <p:spPr>
          <a:xfrm>
            <a:off x="777240" y="1975104"/>
            <a:ext cx="1554480" cy="384048"/>
          </a:xfrm>
          <a:prstGeom prst="rect">
            <a:avLst/>
          </a:prstGeom>
          <a:noFill/>
        </p:spPr>
        <p:txBody>
          <a:bodyPr wrap="square" lIns="0" rIns="0" tIns="0" bIns="0" anchor="t">
            <a:noAutofit/>
          </a:bodyPr>
          <a:lstStyle/>
          <a:p>
            <a:pPr algn="l">
              <a:lnSpc>
                <a:spcPct val="112000"/>
              </a:lnSpc>
            </a:pPr>
            <a:r>
              <a:rPr sz="1900" b="0" i="0">
                <a:solidFill>
                  <a:srgbClr val="F2F2EF"/>
                </a:solidFill>
                <a:latin typeface="Noto Sans KR Black"/>
                <a:ea typeface="Noto Sans KR Black"/>
                <a:cs typeface="Noto Sans KR Black"/>
              </a:rPr>
              <a:t>BRAIN</a:t>
            </a:r>
          </a:p>
        </p:txBody>
      </p:sp>
      <p:sp>
        <p:nvSpPr>
          <p:cNvPr id="8" name="TextBox 7"/>
          <p:cNvSpPr txBox="1"/>
          <p:nvPr/>
        </p:nvSpPr>
        <p:spPr>
          <a:xfrm>
            <a:off x="777240" y="2359152"/>
            <a:ext cx="1600200" cy="274320"/>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Foundation Models · VLA</a:t>
            </a:r>
          </a:p>
        </p:txBody>
      </p:sp>
      <p:sp>
        <p:nvSpPr>
          <p:cNvPr id="9" name="Tag ACCELERATING"/>
          <p:cNvSpPr/>
          <p:nvPr/>
        </p:nvSpPr>
        <p:spPr>
          <a:xfrm>
            <a:off x="2423160" y="2011680"/>
            <a:ext cx="997305"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ACCELERATING</a:t>
            </a:r>
          </a:p>
        </p:txBody>
      </p:sp>
      <p:sp>
        <p:nvSpPr>
          <p:cNvPr id="10" name="TextBox 9"/>
          <p:cNvSpPr txBox="1"/>
          <p:nvPr/>
        </p:nvSpPr>
        <p:spPr>
          <a:xfrm>
            <a:off x="2423160" y="2286000"/>
            <a:ext cx="4572000" cy="438912"/>
          </a:xfrm>
          <a:prstGeom prst="rect">
            <a:avLst/>
          </a:prstGeom>
          <a:noFill/>
        </p:spPr>
        <p:txBody>
          <a:bodyPr wrap="square" lIns="0" rIns="0" tIns="0" bIns="0" anchor="t">
            <a:noAutofit/>
          </a:bodyPr>
          <a:lstStyle/>
          <a:p>
            <a:pPr algn="l">
              <a:lnSpc>
                <a:spcPct val="115000"/>
              </a:lnSpc>
            </a:pPr>
            <a:r>
              <a:rPr sz="1050" b="0" i="0">
                <a:solidFill>
                  <a:srgbClr val="AEB3BB"/>
                </a:solidFill>
                <a:latin typeface="Noto Sans KR"/>
                <a:ea typeface="Noto Sans KR"/>
                <a:cs typeface="Noto Sans KR"/>
              </a:rPr>
              <a:t>Gemini Robotics 1.5 (2025.9) · NVIDIA Isaac GR00T N1.6 (2026.1)</a:t>
            </a:r>
          </a:p>
          <a:p>
            <a:pPr algn="l">
              <a:lnSpc>
                <a:spcPct val="115000"/>
              </a:lnSpc>
            </a:pPr>
            <a:r>
              <a:rPr sz="1050" b="0" i="0">
                <a:solidFill>
                  <a:srgbClr val="AEB3BB"/>
                </a:solidFill>
                <a:latin typeface="Noto Sans KR"/>
                <a:ea typeface="Noto Sans KR"/>
                <a:cs typeface="Noto Sans KR"/>
              </a:rPr>
              <a:t>Physical Intelligence 기업가치 $5.6B (2025.11)</a:t>
            </a:r>
          </a:p>
        </p:txBody>
      </p:sp>
      <p:sp>
        <p:nvSpPr>
          <p:cNvPr id="11" name="Stack EYES"/>
          <p:cNvSpPr/>
          <p:nvPr/>
        </p:nvSpPr>
        <p:spPr>
          <a:xfrm>
            <a:off x="548640" y="2852928"/>
            <a:ext cx="6537960" cy="896112"/>
          </a:xfrm>
          <a:prstGeom prst="roundRect">
            <a:avLst>
              <a:gd name="adj" fmla="val 10204"/>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2" name="TextBox 11"/>
          <p:cNvSpPr txBox="1"/>
          <p:nvPr/>
        </p:nvSpPr>
        <p:spPr>
          <a:xfrm>
            <a:off x="777240" y="2999232"/>
            <a:ext cx="1554480" cy="384048"/>
          </a:xfrm>
          <a:prstGeom prst="rect">
            <a:avLst/>
          </a:prstGeom>
          <a:noFill/>
        </p:spPr>
        <p:txBody>
          <a:bodyPr wrap="square" lIns="0" rIns="0" tIns="0" bIns="0" anchor="t">
            <a:noAutofit/>
          </a:bodyPr>
          <a:lstStyle/>
          <a:p>
            <a:pPr algn="l">
              <a:lnSpc>
                <a:spcPct val="112000"/>
              </a:lnSpc>
            </a:pPr>
            <a:r>
              <a:rPr sz="1900" b="0" i="0">
                <a:solidFill>
                  <a:srgbClr val="F2F2EF"/>
                </a:solidFill>
                <a:latin typeface="Noto Sans KR Black"/>
                <a:ea typeface="Noto Sans KR Black"/>
                <a:cs typeface="Noto Sans KR Black"/>
              </a:rPr>
              <a:t>EYES</a:t>
            </a:r>
          </a:p>
        </p:txBody>
      </p:sp>
      <p:sp>
        <p:nvSpPr>
          <p:cNvPr id="13" name="TextBox 12"/>
          <p:cNvSpPr txBox="1"/>
          <p:nvPr/>
        </p:nvSpPr>
        <p:spPr>
          <a:xfrm>
            <a:off x="777240" y="3383280"/>
            <a:ext cx="1600200" cy="274320"/>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Vision · Edge Compute</a:t>
            </a:r>
          </a:p>
        </p:txBody>
      </p:sp>
      <p:sp>
        <p:nvSpPr>
          <p:cNvPr id="14" name="Tag READY"/>
          <p:cNvSpPr/>
          <p:nvPr/>
        </p:nvSpPr>
        <p:spPr>
          <a:xfrm>
            <a:off x="2423160" y="3035808"/>
            <a:ext cx="586232"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READY</a:t>
            </a:r>
          </a:p>
        </p:txBody>
      </p:sp>
      <p:sp>
        <p:nvSpPr>
          <p:cNvPr id="15" name="TextBox 14"/>
          <p:cNvSpPr txBox="1"/>
          <p:nvPr/>
        </p:nvSpPr>
        <p:spPr>
          <a:xfrm>
            <a:off x="2423160" y="3310128"/>
            <a:ext cx="4572000" cy="438912"/>
          </a:xfrm>
          <a:prstGeom prst="rect">
            <a:avLst/>
          </a:prstGeom>
          <a:noFill/>
        </p:spPr>
        <p:txBody>
          <a:bodyPr wrap="square" lIns="0" rIns="0" tIns="0" bIns="0" anchor="t">
            <a:noAutofit/>
          </a:bodyPr>
          <a:lstStyle/>
          <a:p>
            <a:pPr algn="l">
              <a:lnSpc>
                <a:spcPct val="115000"/>
              </a:lnSpc>
            </a:pPr>
            <a:r>
              <a:rPr sz="1050" b="0" i="0">
                <a:solidFill>
                  <a:srgbClr val="AEB3BB"/>
                </a:solidFill>
                <a:latin typeface="Noto Sans KR"/>
                <a:ea typeface="Noto Sans KR"/>
                <a:cs typeface="Noto Sans KR"/>
              </a:rPr>
              <a:t>NVIDIA Jetson AGX Thor — 2,070 FP4 TFLOPS,</a:t>
            </a:r>
          </a:p>
          <a:p>
            <a:pPr algn="l">
              <a:lnSpc>
                <a:spcPct val="115000"/>
              </a:lnSpc>
            </a:pPr>
            <a:r>
              <a:rPr sz="1050" b="0" i="0">
                <a:solidFill>
                  <a:srgbClr val="AEB3BB"/>
                </a:solidFill>
                <a:latin typeface="Noto Sans KR"/>
                <a:ea typeface="Noto Sans KR"/>
                <a:cs typeface="Noto Sans KR"/>
              </a:rPr>
              <a:t>이전 세대 대비 AI 연산 7.5배 (2025.8)</a:t>
            </a:r>
          </a:p>
        </p:txBody>
      </p:sp>
      <p:sp>
        <p:nvSpPr>
          <p:cNvPr id="16" name="Stack BODY"/>
          <p:cNvSpPr/>
          <p:nvPr/>
        </p:nvSpPr>
        <p:spPr>
          <a:xfrm>
            <a:off x="548640" y="3877056"/>
            <a:ext cx="6537960" cy="896112"/>
          </a:xfrm>
          <a:prstGeom prst="roundRect">
            <a:avLst>
              <a:gd name="adj" fmla="val 10204"/>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7" name="TextBox 16"/>
          <p:cNvSpPr txBox="1"/>
          <p:nvPr/>
        </p:nvSpPr>
        <p:spPr>
          <a:xfrm>
            <a:off x="777240" y="4023360"/>
            <a:ext cx="1554480" cy="384048"/>
          </a:xfrm>
          <a:prstGeom prst="rect">
            <a:avLst/>
          </a:prstGeom>
          <a:noFill/>
        </p:spPr>
        <p:txBody>
          <a:bodyPr wrap="square" lIns="0" rIns="0" tIns="0" bIns="0" anchor="t">
            <a:noAutofit/>
          </a:bodyPr>
          <a:lstStyle/>
          <a:p>
            <a:pPr algn="l">
              <a:lnSpc>
                <a:spcPct val="112000"/>
              </a:lnSpc>
            </a:pPr>
            <a:r>
              <a:rPr sz="1900" b="0" i="0">
                <a:solidFill>
                  <a:srgbClr val="F2F2EF"/>
                </a:solidFill>
                <a:latin typeface="Noto Sans KR Black"/>
                <a:ea typeface="Noto Sans KR Black"/>
                <a:cs typeface="Noto Sans KR Black"/>
              </a:rPr>
              <a:t>BODY</a:t>
            </a:r>
          </a:p>
        </p:txBody>
      </p:sp>
      <p:sp>
        <p:nvSpPr>
          <p:cNvPr id="18" name="TextBox 17"/>
          <p:cNvSpPr txBox="1"/>
          <p:nvPr/>
        </p:nvSpPr>
        <p:spPr>
          <a:xfrm>
            <a:off x="777240" y="4407408"/>
            <a:ext cx="1600200" cy="274320"/>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Arms · Cobots · Humanoids</a:t>
            </a:r>
          </a:p>
        </p:txBody>
      </p:sp>
      <p:sp>
        <p:nvSpPr>
          <p:cNvPr id="19" name="Tag SCALING"/>
          <p:cNvSpPr/>
          <p:nvPr/>
        </p:nvSpPr>
        <p:spPr>
          <a:xfrm>
            <a:off x="2423160" y="4059936"/>
            <a:ext cx="703681"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SCALING</a:t>
            </a:r>
          </a:p>
        </p:txBody>
      </p:sp>
      <p:sp>
        <p:nvSpPr>
          <p:cNvPr id="20" name="TextBox 19"/>
          <p:cNvSpPr txBox="1"/>
          <p:nvPr/>
        </p:nvSpPr>
        <p:spPr>
          <a:xfrm>
            <a:off x="2423160" y="4334256"/>
            <a:ext cx="4572000" cy="438912"/>
          </a:xfrm>
          <a:prstGeom prst="rect">
            <a:avLst/>
          </a:prstGeom>
          <a:noFill/>
        </p:spPr>
        <p:txBody>
          <a:bodyPr wrap="square" lIns="0" rIns="0" tIns="0" bIns="0" anchor="t">
            <a:noAutofit/>
          </a:bodyPr>
          <a:lstStyle/>
          <a:p>
            <a:pPr algn="l">
              <a:lnSpc>
                <a:spcPct val="115000"/>
              </a:lnSpc>
            </a:pPr>
            <a:r>
              <a:rPr sz="1050" b="0" i="0">
                <a:solidFill>
                  <a:srgbClr val="AEB3BB"/>
                </a:solidFill>
                <a:latin typeface="Noto Sans KR"/>
                <a:ea typeface="Noto Sans KR"/>
                <a:cs typeface="Noto Sans KR"/>
              </a:rPr>
              <a:t>산업용 로봇 가동 508만 대 · 연 60만 대 설치 (IFR 2026)</a:t>
            </a:r>
          </a:p>
          <a:p>
            <a:pPr algn="l">
              <a:lnSpc>
                <a:spcPct val="115000"/>
              </a:lnSpc>
            </a:pPr>
            <a:r>
              <a:rPr sz="1050" b="0" i="0">
                <a:solidFill>
                  <a:srgbClr val="AEB3BB"/>
                </a:solidFill>
                <a:latin typeface="Noto Sans KR"/>
                <a:ea typeface="Noto Sans KR"/>
                <a:cs typeface="Noto Sans KR"/>
              </a:rPr>
              <a:t>Figure 기업가치 $39B (2025.9)</a:t>
            </a:r>
          </a:p>
        </p:txBody>
      </p:sp>
      <p:sp>
        <p:nvSpPr>
          <p:cNvPr id="21" name="Stack HAND"/>
          <p:cNvSpPr/>
          <p:nvPr/>
        </p:nvSpPr>
        <p:spPr>
          <a:xfrm>
            <a:off x="548640" y="4901184"/>
            <a:ext cx="6537960" cy="896112"/>
          </a:xfrm>
          <a:prstGeom prst="roundRect">
            <a:avLst>
              <a:gd name="adj" fmla="val 10204"/>
            </a:avLst>
          </a:prstGeom>
          <a:solidFill>
            <a:srgbClr val="2E1D14"/>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2" name="TextBox 21"/>
          <p:cNvSpPr txBox="1"/>
          <p:nvPr/>
        </p:nvSpPr>
        <p:spPr>
          <a:xfrm>
            <a:off x="777240" y="5047488"/>
            <a:ext cx="1554480" cy="384048"/>
          </a:xfrm>
          <a:prstGeom prst="rect">
            <a:avLst/>
          </a:prstGeom>
          <a:noFill/>
        </p:spPr>
        <p:txBody>
          <a:bodyPr wrap="square" lIns="0" rIns="0" tIns="0" bIns="0" anchor="t">
            <a:noAutofit/>
          </a:bodyPr>
          <a:lstStyle/>
          <a:p>
            <a:pPr algn="l">
              <a:lnSpc>
                <a:spcPct val="112000"/>
              </a:lnSpc>
            </a:pPr>
            <a:r>
              <a:rPr sz="1900" b="0" i="0">
                <a:solidFill>
                  <a:srgbClr val="EC7A3C"/>
                </a:solidFill>
                <a:latin typeface="Noto Sans KR Black"/>
                <a:ea typeface="Noto Sans KR Black"/>
                <a:cs typeface="Noto Sans KR Black"/>
              </a:rPr>
              <a:t>HAND</a:t>
            </a:r>
          </a:p>
        </p:txBody>
      </p:sp>
      <p:sp>
        <p:nvSpPr>
          <p:cNvPr id="23" name="TextBox 22"/>
          <p:cNvSpPr txBox="1"/>
          <p:nvPr/>
        </p:nvSpPr>
        <p:spPr>
          <a:xfrm>
            <a:off x="777240" y="5431536"/>
            <a:ext cx="1600200" cy="274320"/>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Tool-Use Manipulation</a:t>
            </a:r>
          </a:p>
        </p:txBody>
      </p:sp>
      <p:sp>
        <p:nvSpPr>
          <p:cNvPr id="24" name="Tag MISSING LAYER"/>
          <p:cNvSpPr/>
          <p:nvPr/>
        </p:nvSpPr>
        <p:spPr>
          <a:xfrm>
            <a:off x="2423160" y="5084064"/>
            <a:ext cx="1056030" cy="243840"/>
          </a:xfrm>
          <a:prstGeom prst="roundRect">
            <a:avLst>
              <a:gd name="adj" fmla="val 50000"/>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0B0C0E"/>
                </a:solidFill>
                <a:latin typeface="Noto Sans KR SemiBold"/>
                <a:ea typeface="Noto Sans KR SemiBold"/>
                <a:cs typeface="Noto Sans KR SemiBold"/>
              </a:rPr>
              <a:t>MISSING LAYER</a:t>
            </a:r>
          </a:p>
        </p:txBody>
      </p:sp>
      <p:sp>
        <p:nvSpPr>
          <p:cNvPr id="25" name="TextBox 24"/>
          <p:cNvSpPr txBox="1"/>
          <p:nvPr/>
        </p:nvSpPr>
        <p:spPr>
          <a:xfrm>
            <a:off x="2423160" y="5358384"/>
            <a:ext cx="4572000" cy="438912"/>
          </a:xfrm>
          <a:prstGeom prst="rect">
            <a:avLst/>
          </a:prstGeom>
          <a:noFill/>
        </p:spPr>
        <p:txBody>
          <a:bodyPr wrap="square" lIns="0" rIns="0" tIns="0" bIns="0" anchor="t">
            <a:noAutofit/>
          </a:bodyPr>
          <a:lstStyle/>
          <a:p>
            <a:pPr algn="l">
              <a:lnSpc>
                <a:spcPct val="115000"/>
              </a:lnSpc>
            </a:pPr>
            <a:r>
              <a:rPr sz="1050" b="0" i="0">
                <a:solidFill>
                  <a:srgbClr val="F2F2EF"/>
                </a:solidFill>
                <a:latin typeface="Noto Sans KR"/>
                <a:ea typeface="Noto Sans KR"/>
                <a:cs typeface="Noto Sans KR"/>
              </a:rPr>
              <a:t>사람용 도구를 실제로 쓰는 손과 Skill — 가장 어려운 마지막 조각</a:t>
            </a:r>
          </a:p>
          <a:p>
            <a:pPr algn="l">
              <a:lnSpc>
                <a:spcPct val="115000"/>
              </a:lnSpc>
            </a:pPr>
            <a:r>
              <a:rPr sz="1050" b="0" i="0">
                <a:solidFill>
                  <a:srgbClr val="F2F2EF"/>
                </a:solidFill>
                <a:latin typeface="Noto Sans KR"/>
                <a:ea typeface="Noto Sans KR"/>
                <a:cs typeface="Noto Sans KR"/>
              </a:rPr>
              <a:t>WE BUILD THIS LAYER · robot-agnostic · model-agnostic</a:t>
            </a:r>
          </a:p>
        </p:txBody>
      </p:sp>
      <p:sp>
        <p:nvSpPr>
          <p:cNvPr id="26" name="Quote card"/>
          <p:cNvSpPr/>
          <p:nvPr/>
        </p:nvSpPr>
        <p:spPr>
          <a:xfrm>
            <a:off x="7406640" y="1828800"/>
            <a:ext cx="4236415" cy="1901952"/>
          </a:xfrm>
          <a:prstGeom prst="roundRect">
            <a:avLst>
              <a:gd name="adj" fmla="val 5769"/>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7" name="TextBox 26"/>
          <p:cNvSpPr txBox="1"/>
          <p:nvPr/>
        </p:nvSpPr>
        <p:spPr>
          <a:xfrm>
            <a:off x="7662671" y="1874519"/>
            <a:ext cx="548640" cy="548640"/>
          </a:xfrm>
          <a:prstGeom prst="rect">
            <a:avLst/>
          </a:prstGeom>
          <a:noFill/>
        </p:spPr>
        <p:txBody>
          <a:bodyPr wrap="square" lIns="0" rIns="0" tIns="0" bIns="0" anchor="t">
            <a:noAutofit/>
          </a:bodyPr>
          <a:lstStyle/>
          <a:p>
            <a:pPr algn="l">
              <a:lnSpc>
                <a:spcPct val="112000"/>
              </a:lnSpc>
            </a:pPr>
            <a:r>
              <a:rPr sz="4400" b="0" i="0">
                <a:solidFill>
                  <a:srgbClr val="EC7A3C"/>
                </a:solidFill>
                <a:latin typeface="Noto Sans KR Black"/>
                <a:ea typeface="Noto Sans KR Black"/>
                <a:cs typeface="Noto Sans KR Black"/>
              </a:rPr>
              <a:t>“</a:t>
            </a:r>
          </a:p>
        </p:txBody>
      </p:sp>
      <p:sp>
        <p:nvSpPr>
          <p:cNvPr id="28" name="TextBox 27"/>
          <p:cNvSpPr txBox="1"/>
          <p:nvPr/>
        </p:nvSpPr>
        <p:spPr>
          <a:xfrm>
            <a:off x="7662671" y="2377440"/>
            <a:ext cx="3779215" cy="868680"/>
          </a:xfrm>
          <a:prstGeom prst="rect">
            <a:avLst/>
          </a:prstGeom>
          <a:noFill/>
        </p:spPr>
        <p:txBody>
          <a:bodyPr wrap="square" lIns="0" rIns="0" tIns="0" bIns="0" anchor="t">
            <a:noAutofit/>
          </a:bodyPr>
          <a:lstStyle/>
          <a:p>
            <a:pPr algn="l">
              <a:lnSpc>
                <a:spcPct val="122000"/>
              </a:lnSpc>
            </a:pPr>
            <a:r>
              <a:rPr sz="1550" b="0" i="0">
                <a:solidFill>
                  <a:srgbClr val="F2F2EF"/>
                </a:solidFill>
                <a:latin typeface="Noto Sans KR Medium"/>
                <a:ea typeface="Noto Sans KR Medium"/>
                <a:cs typeface="Noto Sans KR Medium"/>
              </a:rPr>
              <a:t>The forearm and hand are more difficult than the entire rest of the robot.</a:t>
            </a:r>
          </a:p>
        </p:txBody>
      </p:sp>
      <p:sp>
        <p:nvSpPr>
          <p:cNvPr id="29" name="TextBox 28"/>
          <p:cNvSpPr txBox="1"/>
          <p:nvPr/>
        </p:nvSpPr>
        <p:spPr>
          <a:xfrm>
            <a:off x="7662671" y="3310128"/>
            <a:ext cx="3779215" cy="274320"/>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 Elon Musk, Tesla Q3 2025 Earnings Call (2025.10)</a:t>
            </a:r>
          </a:p>
        </p:txBody>
      </p:sp>
      <p:sp>
        <p:nvSpPr>
          <p:cNvPr id="30" name="TextBox 29"/>
          <p:cNvSpPr txBox="1"/>
          <p:nvPr/>
        </p:nvSpPr>
        <p:spPr>
          <a:xfrm>
            <a:off x="7406640" y="3913632"/>
            <a:ext cx="1097280" cy="274320"/>
          </a:xfrm>
          <a:prstGeom prst="rect">
            <a:avLst/>
          </a:prstGeom>
          <a:noFill/>
        </p:spPr>
        <p:txBody>
          <a:bodyPr wrap="square" lIns="0" rIns="0" tIns="0" bIns="0" anchor="t">
            <a:noAutofit/>
          </a:bodyPr>
          <a:lstStyle/>
          <a:p>
            <a:pPr algn="l">
              <a:lnSpc>
                <a:spcPct val="112000"/>
              </a:lnSpc>
            </a:pPr>
            <a:r>
              <a:rPr sz="1000" b="0" i="0" spc="80">
                <a:solidFill>
                  <a:srgbClr val="EC7A3C"/>
                </a:solidFill>
                <a:latin typeface="Noto Sans KR SemiBold"/>
                <a:ea typeface="Noto Sans KR SemiBold"/>
                <a:cs typeface="Noto Sans KR SemiBold"/>
              </a:rPr>
              <a:t>NVIDIA</a:t>
            </a:r>
          </a:p>
        </p:txBody>
      </p:sp>
      <p:sp>
        <p:nvSpPr>
          <p:cNvPr id="31" name="TextBox 30"/>
          <p:cNvSpPr txBox="1"/>
          <p:nvPr/>
        </p:nvSpPr>
        <p:spPr>
          <a:xfrm>
            <a:off x="8503919" y="3913632"/>
            <a:ext cx="3139135" cy="731520"/>
          </a:xfrm>
          <a:prstGeom prst="rect">
            <a:avLst/>
          </a:prstGeom>
          <a:noFill/>
        </p:spPr>
        <p:txBody>
          <a:bodyPr wrap="square" lIns="0" rIns="0" tIns="0" bIns="0" anchor="t">
            <a:noAutofit/>
          </a:bodyPr>
          <a:lstStyle/>
          <a:p>
            <a:pPr algn="l">
              <a:lnSpc>
                <a:spcPct val="120000"/>
              </a:lnSpc>
            </a:pPr>
            <a:r>
              <a:rPr sz="1050" b="0" i="0">
                <a:solidFill>
                  <a:srgbClr val="AEB3BB"/>
                </a:solidFill>
                <a:latin typeface="Noto Sans KR"/>
                <a:ea typeface="Noto Sans KR"/>
                <a:cs typeface="Noto Sans KR"/>
              </a:rPr>
              <a:t>Isaac GR00T 레퍼런스 휴머노이드(2026.6)는 외부 촉각 핸드(Sharpa Wave, 22 DoF)를 채택 → 손이 독립 부품 레이어로 분리되는 중</a:t>
            </a:r>
          </a:p>
        </p:txBody>
      </p:sp>
      <p:sp>
        <p:nvSpPr>
          <p:cNvPr id="32" name="TextBox 31"/>
          <p:cNvSpPr txBox="1"/>
          <p:nvPr/>
        </p:nvSpPr>
        <p:spPr>
          <a:xfrm>
            <a:off x="7406640" y="4700016"/>
            <a:ext cx="1097280" cy="274320"/>
          </a:xfrm>
          <a:prstGeom prst="rect">
            <a:avLst/>
          </a:prstGeom>
          <a:noFill/>
        </p:spPr>
        <p:txBody>
          <a:bodyPr wrap="square" lIns="0" rIns="0" tIns="0" bIns="0" anchor="t">
            <a:noAutofit/>
          </a:bodyPr>
          <a:lstStyle/>
          <a:p>
            <a:pPr algn="l">
              <a:lnSpc>
                <a:spcPct val="112000"/>
              </a:lnSpc>
            </a:pPr>
            <a:r>
              <a:rPr sz="1000" b="0" i="0" spc="80">
                <a:solidFill>
                  <a:srgbClr val="EC7A3C"/>
                </a:solidFill>
                <a:latin typeface="Noto Sans KR SemiBold"/>
                <a:ea typeface="Noto Sans KR SemiBold"/>
                <a:cs typeface="Noto Sans KR SemiBold"/>
              </a:rPr>
              <a:t>FIGURE 03</a:t>
            </a:r>
          </a:p>
        </p:txBody>
      </p:sp>
      <p:sp>
        <p:nvSpPr>
          <p:cNvPr id="33" name="TextBox 32"/>
          <p:cNvSpPr txBox="1"/>
          <p:nvPr/>
        </p:nvSpPr>
        <p:spPr>
          <a:xfrm>
            <a:off x="8503919" y="4700016"/>
            <a:ext cx="3139135" cy="731520"/>
          </a:xfrm>
          <a:prstGeom prst="rect">
            <a:avLst/>
          </a:prstGeom>
          <a:noFill/>
        </p:spPr>
        <p:txBody>
          <a:bodyPr wrap="square" lIns="0" rIns="0" tIns="0" bIns="0" anchor="t">
            <a:noAutofit/>
          </a:bodyPr>
          <a:lstStyle/>
          <a:p>
            <a:pPr algn="l">
              <a:lnSpc>
                <a:spcPct val="120000"/>
              </a:lnSpc>
            </a:pPr>
            <a:r>
              <a:rPr sz="1050" b="0" i="0">
                <a:solidFill>
                  <a:srgbClr val="AEB3BB"/>
                </a:solidFill>
                <a:latin typeface="Noto Sans KR"/>
                <a:ea typeface="Noto Sans KR"/>
                <a:cs typeface="Noto Sans KR"/>
              </a:rPr>
              <a:t>3g을 감지하는 촉각 손끝 + 더 부드러운 접촉면(2025.10) → 선두 기업도 '부드러운 접촉 + 촉각'으로 수렴</a:t>
            </a:r>
          </a:p>
        </p:txBody>
      </p:sp>
      <p:sp>
        <p:nvSpPr>
          <p:cNvPr id="34" name="Capital signal"/>
          <p:cNvSpPr/>
          <p:nvPr/>
        </p:nvSpPr>
        <p:spPr>
          <a:xfrm>
            <a:off x="7406640" y="5468112"/>
            <a:ext cx="4236415" cy="603504"/>
          </a:xfrm>
          <a:prstGeom prst="roundRect">
            <a:avLst>
              <a:gd name="adj" fmla="val 12121"/>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5" name="TextBox 34"/>
          <p:cNvSpPr txBox="1"/>
          <p:nvPr/>
        </p:nvSpPr>
        <p:spPr>
          <a:xfrm>
            <a:off x="7589519" y="5513832"/>
            <a:ext cx="3962095" cy="530352"/>
          </a:xfrm>
          <a:prstGeom prst="rect">
            <a:avLst/>
          </a:prstGeom>
          <a:noFill/>
        </p:spPr>
        <p:txBody>
          <a:bodyPr wrap="square" lIns="0" rIns="0" tIns="0" bIns="0" anchor="t">
            <a:noAutofit/>
          </a:bodyPr>
          <a:lstStyle/>
          <a:p>
            <a:pPr algn="l">
              <a:lnSpc>
                <a:spcPct val="115000"/>
              </a:lnSpc>
            </a:pPr>
            <a:r>
              <a:rPr sz="950" b="0" i="0" spc="80">
                <a:solidFill>
                  <a:srgbClr val="EC7A3C"/>
                </a:solidFill>
                <a:latin typeface="Noto Sans KR SemiBold"/>
                <a:ea typeface="Noto Sans KR SemiBold"/>
                <a:cs typeface="Noto Sans KR SemiBold"/>
              </a:rPr>
              <a:t>CAPITAL SIGNAL  </a:t>
            </a:r>
            <a:r>
              <a:rPr sz="1050" b="0" i="0">
                <a:solidFill>
                  <a:srgbClr val="F2F2EF"/>
                </a:solidFill>
                <a:latin typeface="Noto Sans KR"/>
                <a:ea typeface="Noto Sans KR"/>
                <a:cs typeface="Noto Sans KR"/>
              </a:rPr>
              <a:t>로보틱스 스타트업 투자 2025년 $15B(사상 최대) → 2026년 상반기 이미 $18.8B</a:t>
            </a:r>
          </a:p>
          <a:p>
            <a:pPr algn="l">
              <a:lnSpc>
                <a:spcPct val="115000"/>
              </a:lnSpc>
            </a:pPr>
            <a:r>
              <a:rPr sz="900" b="0" i="0">
                <a:solidFill>
                  <a:srgbClr val="737882"/>
                </a:solidFill>
                <a:latin typeface="Noto Sans KR"/>
                <a:ea typeface="Noto Sans KR"/>
                <a:cs typeface="Noto Sans KR"/>
              </a:rPr>
              <a:t>Crunchbase News (2026.6)</a:t>
            </a:r>
          </a:p>
        </p:txBody>
      </p:sp>
      <p:sp>
        <p:nvSpPr>
          <p:cNvPr id="36"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37"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05  ·  CORE TECHNOLOGY</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SOFT TO GRASP. RIGID TO WORK.</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도구 조작의 본질적 난제는 Compliance ↔ Stiffness다. 잡을 때는 부드럽고, 일할 때는 단단해야 한다.</a:t>
            </a:r>
          </a:p>
        </p:txBody>
      </p:sp>
      <p:sp>
        <p:nvSpPr>
          <p:cNvPr id="6" name="Tag CONCEPT RENDERING"/>
          <p:cNvSpPr/>
          <p:nvPr/>
        </p:nvSpPr>
        <p:spPr>
          <a:xfrm>
            <a:off x="10352125" y="365760"/>
            <a:ext cx="1290929"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CONCEPT RENDERING</a:t>
            </a:r>
          </a:p>
        </p:txBody>
      </p:sp>
      <p:sp>
        <p:nvSpPr>
          <p:cNvPr id="7" name="Dilemma COMPLIANCE"/>
          <p:cNvSpPr/>
          <p:nvPr/>
        </p:nvSpPr>
        <p:spPr>
          <a:xfrm>
            <a:off x="548640" y="1847088"/>
            <a:ext cx="3429000" cy="1024128"/>
          </a:xfrm>
          <a:prstGeom prst="roundRect">
            <a:avLst>
              <a:gd name="adj" fmla="val 8928"/>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8" name="TextBox 7"/>
          <p:cNvSpPr txBox="1"/>
          <p:nvPr/>
        </p:nvSpPr>
        <p:spPr>
          <a:xfrm>
            <a:off x="749808" y="1975104"/>
            <a:ext cx="3063240" cy="329184"/>
          </a:xfrm>
          <a:prstGeom prst="rect">
            <a:avLst/>
          </a:prstGeom>
          <a:noFill/>
        </p:spPr>
        <p:txBody>
          <a:bodyPr wrap="square" lIns="0" rIns="0" tIns="0" bIns="0" anchor="t">
            <a:noAutofit/>
          </a:bodyPr>
          <a:lstStyle/>
          <a:p>
            <a:pPr algn="l">
              <a:lnSpc>
                <a:spcPct val="112000"/>
              </a:lnSpc>
            </a:pPr>
            <a:r>
              <a:rPr sz="1600" b="0" i="0">
                <a:solidFill>
                  <a:srgbClr val="F2F2EF"/>
                </a:solidFill>
                <a:latin typeface="Noto Sans KR Black"/>
                <a:ea typeface="Noto Sans KR Black"/>
                <a:cs typeface="Noto Sans KR Black"/>
              </a:rPr>
              <a:t>COMPLIANCE</a:t>
            </a:r>
          </a:p>
        </p:txBody>
      </p:sp>
      <p:sp>
        <p:nvSpPr>
          <p:cNvPr id="9" name="TextBox 8"/>
          <p:cNvSpPr txBox="1"/>
          <p:nvPr/>
        </p:nvSpPr>
        <p:spPr>
          <a:xfrm>
            <a:off x="749808" y="2322576"/>
            <a:ext cx="3063240" cy="502920"/>
          </a:xfrm>
          <a:prstGeom prst="rect">
            <a:avLst/>
          </a:prstGeom>
          <a:noFill/>
        </p:spPr>
        <p:txBody>
          <a:bodyPr wrap="square" lIns="0" rIns="0" tIns="0" bIns="0" anchor="t">
            <a:noAutofit/>
          </a:bodyPr>
          <a:lstStyle/>
          <a:p>
            <a:pPr algn="l">
              <a:lnSpc>
                <a:spcPct val="118000"/>
              </a:lnSpc>
            </a:pPr>
            <a:r>
              <a:rPr sz="1050" b="0" i="0">
                <a:solidFill>
                  <a:srgbClr val="AEB3BB"/>
                </a:solidFill>
                <a:latin typeface="Noto Sans KR"/>
                <a:ea typeface="Noto Sans KR"/>
                <a:cs typeface="Noto Sans KR"/>
              </a:rPr>
              <a:t>형상 차이·위치 오차·미끄러짐을 흡수</a:t>
            </a:r>
          </a:p>
          <a:p>
            <a:pPr algn="l">
              <a:lnSpc>
                <a:spcPct val="118000"/>
              </a:lnSpc>
            </a:pPr>
            <a:r>
              <a:rPr sz="1050" b="0" i="0">
                <a:solidFill>
                  <a:srgbClr val="AEB3BB"/>
                </a:solidFill>
                <a:latin typeface="Noto Sans KR"/>
                <a:ea typeface="Noto Sans KR"/>
                <a:cs typeface="Noto Sans KR"/>
              </a:rPr>
              <a:t>→ 안정적으로 잡기 (Grasp)</a:t>
            </a:r>
          </a:p>
        </p:txBody>
      </p:sp>
      <p:sp>
        <p:nvSpPr>
          <p:cNvPr id="10" name="Dilemma STIFFNESS"/>
          <p:cNvSpPr/>
          <p:nvPr/>
        </p:nvSpPr>
        <p:spPr>
          <a:xfrm>
            <a:off x="548640" y="3145536"/>
            <a:ext cx="3429000" cy="1024128"/>
          </a:xfrm>
          <a:prstGeom prst="roundRect">
            <a:avLst>
              <a:gd name="adj" fmla="val 8928"/>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1" name="TextBox 10"/>
          <p:cNvSpPr txBox="1"/>
          <p:nvPr/>
        </p:nvSpPr>
        <p:spPr>
          <a:xfrm>
            <a:off x="749808" y="3273552"/>
            <a:ext cx="3063240" cy="329184"/>
          </a:xfrm>
          <a:prstGeom prst="rect">
            <a:avLst/>
          </a:prstGeom>
          <a:noFill/>
        </p:spPr>
        <p:txBody>
          <a:bodyPr wrap="square" lIns="0" rIns="0" tIns="0" bIns="0" anchor="t">
            <a:noAutofit/>
          </a:bodyPr>
          <a:lstStyle/>
          <a:p>
            <a:pPr algn="l">
              <a:lnSpc>
                <a:spcPct val="112000"/>
              </a:lnSpc>
            </a:pPr>
            <a:r>
              <a:rPr sz="1600" b="0" i="0">
                <a:solidFill>
                  <a:srgbClr val="F2F2EF"/>
                </a:solidFill>
                <a:latin typeface="Noto Sans KR Black"/>
                <a:ea typeface="Noto Sans KR Black"/>
                <a:cs typeface="Noto Sans KR Black"/>
              </a:rPr>
              <a:t>STIFFNESS</a:t>
            </a:r>
          </a:p>
        </p:txBody>
      </p:sp>
      <p:sp>
        <p:nvSpPr>
          <p:cNvPr id="12" name="TextBox 11"/>
          <p:cNvSpPr txBox="1"/>
          <p:nvPr/>
        </p:nvSpPr>
        <p:spPr>
          <a:xfrm>
            <a:off x="749808" y="3621024"/>
            <a:ext cx="3063240" cy="502920"/>
          </a:xfrm>
          <a:prstGeom prst="rect">
            <a:avLst/>
          </a:prstGeom>
          <a:noFill/>
        </p:spPr>
        <p:txBody>
          <a:bodyPr wrap="square" lIns="0" rIns="0" tIns="0" bIns="0" anchor="t">
            <a:noAutofit/>
          </a:bodyPr>
          <a:lstStyle/>
          <a:p>
            <a:pPr algn="l">
              <a:lnSpc>
                <a:spcPct val="118000"/>
              </a:lnSpc>
            </a:pPr>
            <a:r>
              <a:rPr sz="1050" b="0" i="0">
                <a:solidFill>
                  <a:srgbClr val="AEB3BB"/>
                </a:solidFill>
                <a:latin typeface="Noto Sans KR"/>
                <a:ea typeface="Noto Sans KR"/>
                <a:cs typeface="Noto Sans KR"/>
              </a:rPr>
              <a:t>토크·반력·모멘트를 견딤</a:t>
            </a:r>
          </a:p>
          <a:p>
            <a:pPr algn="l">
              <a:lnSpc>
                <a:spcPct val="118000"/>
              </a:lnSpc>
            </a:pPr>
            <a:r>
              <a:rPr sz="1050" b="0" i="0">
                <a:solidFill>
                  <a:srgbClr val="AEB3BB"/>
                </a:solidFill>
                <a:latin typeface="Noto Sans KR"/>
                <a:ea typeface="Noto Sans KR"/>
                <a:cs typeface="Noto Sans KR"/>
              </a:rPr>
              <a:t>→ 도구로 일하기 (Work)</a:t>
            </a:r>
          </a:p>
        </p:txBody>
      </p:sp>
      <p:sp>
        <p:nvSpPr>
          <p:cNvPr id="13" name="TextBox 12"/>
          <p:cNvSpPr txBox="1"/>
          <p:nvPr/>
        </p:nvSpPr>
        <p:spPr>
          <a:xfrm>
            <a:off x="548640" y="2880360"/>
            <a:ext cx="3429000" cy="274320"/>
          </a:xfrm>
          <a:prstGeom prst="rect">
            <a:avLst/>
          </a:prstGeom>
          <a:noFill/>
        </p:spPr>
        <p:txBody>
          <a:bodyPr wrap="square" lIns="0" rIns="0" tIns="0" bIns="0" anchor="ctr">
            <a:noAutofit/>
          </a:bodyPr>
          <a:lstStyle/>
          <a:p>
            <a:pPr algn="ctr">
              <a:lnSpc>
                <a:spcPct val="112000"/>
              </a:lnSpc>
            </a:pPr>
            <a:r>
              <a:rPr sz="1100" b="0" i="0">
                <a:solidFill>
                  <a:srgbClr val="EC7A3C"/>
                </a:solidFill>
                <a:latin typeface="Noto Sans KR SemiBold"/>
                <a:ea typeface="Noto Sans KR SemiBold"/>
                <a:cs typeface="Noto Sans KR SemiBold"/>
              </a:rPr>
              <a:t>⇅  서로 충돌한다</a:t>
            </a:r>
          </a:p>
        </p:txBody>
      </p:sp>
      <p:sp>
        <p:nvSpPr>
          <p:cNvPr id="14" name="TextBox 13"/>
          <p:cNvSpPr txBox="1"/>
          <p:nvPr/>
        </p:nvSpPr>
        <p:spPr>
          <a:xfrm>
            <a:off x="548640" y="4297680"/>
            <a:ext cx="3429000" cy="566928"/>
          </a:xfrm>
          <a:prstGeom prst="rect">
            <a:avLst/>
          </a:prstGeom>
          <a:noFill/>
        </p:spPr>
        <p:txBody>
          <a:bodyPr wrap="square" lIns="0" rIns="0" tIns="0" bIns="0" anchor="t">
            <a:noAutofit/>
          </a:bodyPr>
          <a:lstStyle/>
          <a:p>
            <a:pPr algn="l">
              <a:lnSpc>
                <a:spcPct val="130000"/>
              </a:lnSpc>
            </a:pPr>
            <a:r>
              <a:rPr sz="1050" b="0" i="0">
                <a:solidFill>
                  <a:srgbClr val="F2F2EF"/>
                </a:solidFill>
                <a:latin typeface="Noto Sans KR SemiBold"/>
                <a:ea typeface="Noto Sans KR SemiBold"/>
                <a:cs typeface="Noto Sans KR SemiBold"/>
              </a:rPr>
              <a:t>Soft-only  </a:t>
            </a:r>
            <a:r>
              <a:rPr sz="1050" b="0" i="0">
                <a:solidFill>
                  <a:srgbClr val="AEB3BB"/>
                </a:solidFill>
                <a:latin typeface="Noto Sans KR"/>
                <a:ea typeface="Noto Sans KR"/>
                <a:cs typeface="Noto Sans KR"/>
              </a:rPr>
              <a:t>잘 잡지만 도구 토크에 처지고 돈다</a:t>
            </a:r>
          </a:p>
          <a:p>
            <a:pPr algn="l">
              <a:lnSpc>
                <a:spcPct val="130000"/>
              </a:lnSpc>
            </a:pPr>
            <a:r>
              <a:rPr sz="1050" b="0" i="0">
                <a:solidFill>
                  <a:srgbClr val="F2F2EF"/>
                </a:solidFill>
                <a:latin typeface="Noto Sans KR SemiBold"/>
                <a:ea typeface="Noto Sans KR SemiBold"/>
                <a:cs typeface="Noto Sans KR SemiBold"/>
              </a:rPr>
              <a:t>Rigid-only  </a:t>
            </a:r>
            <a:r>
              <a:rPr sz="1050" b="0" i="0">
                <a:solidFill>
                  <a:srgbClr val="AEB3BB"/>
                </a:solidFill>
                <a:latin typeface="Noto Sans KR"/>
                <a:ea typeface="Noto Sans KR"/>
                <a:cs typeface="Noto Sans KR"/>
              </a:rPr>
              <a:t>강하지만 형상에 적응하지 못한다</a:t>
            </a:r>
          </a:p>
        </p:txBody>
      </p:sp>
      <p:sp>
        <p:nvSpPr>
          <p:cNvPr id="15" name="Our approach"/>
          <p:cNvSpPr/>
          <p:nvPr/>
        </p:nvSpPr>
        <p:spPr>
          <a:xfrm>
            <a:off x="548640" y="5010912"/>
            <a:ext cx="3429000" cy="960120"/>
          </a:xfrm>
          <a:prstGeom prst="roundRect">
            <a:avLst>
              <a:gd name="adj" fmla="val 9523"/>
            </a:avLst>
          </a:prstGeom>
          <a:solidFill>
            <a:srgbClr val="2E1D14"/>
          </a:solidFill>
          <a:ln w="1587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6" name="TextBox 15"/>
          <p:cNvSpPr txBox="1"/>
          <p:nvPr/>
        </p:nvSpPr>
        <p:spPr>
          <a:xfrm>
            <a:off x="749808" y="5102352"/>
            <a:ext cx="3063240" cy="237744"/>
          </a:xfrm>
          <a:prstGeom prst="rect">
            <a:avLst/>
          </a:prstGeom>
          <a:noFill/>
        </p:spPr>
        <p:txBody>
          <a:bodyPr wrap="square" lIns="0" rIns="0" tIns="0" bIns="0" anchor="t">
            <a:noAutofit/>
          </a:bodyPr>
          <a:lstStyle/>
          <a:p>
            <a:pPr algn="l">
              <a:lnSpc>
                <a:spcPct val="112000"/>
              </a:lnSpc>
            </a:pPr>
            <a:r>
              <a:rPr sz="950" b="0" i="0" spc="120">
                <a:solidFill>
                  <a:srgbClr val="EC7A3C"/>
                </a:solidFill>
                <a:latin typeface="Noto Sans KR SemiBold"/>
                <a:ea typeface="Noto Sans KR SemiBold"/>
                <a:cs typeface="Noto Sans KR SemiBold"/>
              </a:rPr>
              <a:t>OUR APPROACH</a:t>
            </a:r>
          </a:p>
        </p:txBody>
      </p:sp>
      <p:sp>
        <p:nvSpPr>
          <p:cNvPr id="17" name="TextBox 16"/>
          <p:cNvSpPr txBox="1"/>
          <p:nvPr/>
        </p:nvSpPr>
        <p:spPr>
          <a:xfrm>
            <a:off x="749808" y="5358384"/>
            <a:ext cx="3108960" cy="566928"/>
          </a:xfrm>
          <a:prstGeom prst="rect">
            <a:avLst/>
          </a:prstGeom>
          <a:noFill/>
        </p:spPr>
        <p:txBody>
          <a:bodyPr wrap="square" lIns="0" rIns="0" tIns="0" bIns="0" anchor="t">
            <a:noAutofit/>
          </a:bodyPr>
          <a:lstStyle/>
          <a:p>
            <a:pPr algn="l">
              <a:lnSpc>
                <a:spcPct val="112000"/>
              </a:lnSpc>
            </a:pPr>
            <a:r>
              <a:rPr sz="1300" b="0" i="0">
                <a:solidFill>
                  <a:srgbClr val="F2F2EF"/>
                </a:solidFill>
                <a:latin typeface="Noto Sans KR Black"/>
                <a:ea typeface="Noto Sans KR Black"/>
                <a:cs typeface="Noto Sans KR Black"/>
              </a:rPr>
              <a:t>Soft Contact + Rigid Skeleton</a:t>
            </a:r>
          </a:p>
          <a:p>
            <a:pPr algn="l">
              <a:lnSpc>
                <a:spcPct val="112000"/>
              </a:lnSpc>
            </a:pPr>
            <a:r>
              <a:rPr sz="1300" b="0" i="0">
                <a:solidFill>
                  <a:srgbClr val="F2F2EF"/>
                </a:solidFill>
                <a:latin typeface="Noto Sans KR Black"/>
                <a:ea typeface="Noto Sans KR Black"/>
                <a:cs typeface="Noto Sans KR Black"/>
              </a:rPr>
              <a:t>+ Switchable Stiffness</a:t>
            </a:r>
          </a:p>
        </p:txBody>
      </p:sp>
      <p:pic>
        <p:nvPicPr>
          <p:cNvPr id="18" name="Glow" descr="decorative glow"/>
          <p:cNvPicPr>
            <a:picLocks noChangeAspect="1"/>
          </p:cNvPicPr>
          <p:nvPr/>
        </p:nvPicPr>
        <p:blipFill>
          <a:blip r:embed="rId2"/>
          <a:stretch>
            <a:fillRect/>
          </a:stretch>
        </p:blipFill>
        <p:spPr>
          <a:xfrm>
            <a:off x="3428999" y="1600199"/>
            <a:ext cx="4754880" cy="4754880"/>
          </a:xfrm>
          <a:prstGeom prst="rect">
            <a:avLst/>
          </a:prstGeom>
        </p:spPr>
      </p:pic>
      <p:pic>
        <p:nvPicPr>
          <p:cNvPr id="19" name="HERO 03" descr="Concept partial cutaway of SoftHand showing skeleton, pads, locking discs and wrist actuators"/>
          <p:cNvPicPr>
            <a:picLocks noChangeAspect="1"/>
          </p:cNvPicPr>
          <p:nvPr/>
        </p:nvPicPr>
        <p:blipFill>
          <a:blip r:embed="rId3"/>
          <a:stretch>
            <a:fillRect/>
          </a:stretch>
        </p:blipFill>
        <p:spPr>
          <a:xfrm>
            <a:off x="4683575" y="1810512"/>
            <a:ext cx="2245729" cy="4315968"/>
          </a:xfrm>
          <a:prstGeom prst="rect">
            <a:avLst/>
          </a:prstGeom>
        </p:spPr>
      </p:pic>
      <p:cxnSp>
        <p:nvCxnSpPr>
          <p:cNvPr id="20" name="Leader 1"/>
          <p:cNvCxnSpPr/>
          <p:nvPr/>
        </p:nvCxnSpPr>
        <p:spPr>
          <a:xfrm flipH="1">
            <a:off x="5498999" y="2002536"/>
            <a:ext cx="2364841" cy="90240"/>
          </a:xfrm>
          <a:prstGeom prst="line">
            <a:avLst/>
          </a:prstGeom>
          <a:ln w="9525">
            <a:solidFill>
              <a:srgbClr val="737882"/>
            </a:solidFill>
          </a:ln>
        </p:spPr>
        <p:style>
          <a:lnRef idx="2">
            <a:schemeClr val="accent1"/>
          </a:lnRef>
          <a:fillRef idx="0">
            <a:schemeClr val="accent1"/>
          </a:fillRef>
          <a:effectRef idx="1">
            <a:schemeClr val="accent1"/>
          </a:effectRef>
          <a:fontRef idx="minor">
            <a:schemeClr val="tx1"/>
          </a:fontRef>
        </p:style>
      </p:cxnSp>
      <p:sp>
        <p:nvSpPr>
          <p:cNvPr id="21" name="Anchor 1"/>
          <p:cNvSpPr/>
          <p:nvPr/>
        </p:nvSpPr>
        <p:spPr>
          <a:xfrm>
            <a:off x="5457851" y="2051628"/>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2" name="Num 1"/>
          <p:cNvSpPr/>
          <p:nvPr/>
        </p:nvSpPr>
        <p:spPr>
          <a:xfrm>
            <a:off x="7877556" y="1879091"/>
            <a:ext cx="246888" cy="24688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3" name="TextBox 22"/>
          <p:cNvSpPr txBox="1"/>
          <p:nvPr/>
        </p:nvSpPr>
        <p:spPr>
          <a:xfrm>
            <a:off x="7882127" y="1883664"/>
            <a:ext cx="246888" cy="246888"/>
          </a:xfrm>
          <a:prstGeom prst="rect">
            <a:avLst/>
          </a:prstGeom>
          <a:noFill/>
        </p:spPr>
        <p:txBody>
          <a:bodyPr wrap="square" lIns="0" rIns="0" tIns="0" bIns="0" anchor="ctr">
            <a:noAutofit/>
          </a:bodyPr>
          <a:lstStyle/>
          <a:p>
            <a:pPr algn="ctr">
              <a:lnSpc>
                <a:spcPct val="112000"/>
              </a:lnSpc>
            </a:pPr>
            <a:r>
              <a:rPr sz="1000" b="0" i="0">
                <a:solidFill>
                  <a:srgbClr val="0B0C0E"/>
                </a:solidFill>
                <a:latin typeface="Noto Sans KR Black"/>
                <a:ea typeface="Noto Sans KR Black"/>
                <a:cs typeface="Noto Sans KR Black"/>
              </a:rPr>
              <a:t>1</a:t>
            </a:r>
          </a:p>
        </p:txBody>
      </p:sp>
      <p:sp>
        <p:nvSpPr>
          <p:cNvPr id="24" name="TextBox 23"/>
          <p:cNvSpPr txBox="1"/>
          <p:nvPr/>
        </p:nvSpPr>
        <p:spPr>
          <a:xfrm>
            <a:off x="8247888" y="1865376"/>
            <a:ext cx="3383280" cy="274320"/>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Black"/>
                <a:ea typeface="Noto Sans KR Black"/>
                <a:cs typeface="Noto Sans KR Black"/>
              </a:rPr>
              <a:t>SOFT CONTACT SURFACE</a:t>
            </a:r>
          </a:p>
        </p:txBody>
      </p:sp>
      <p:sp>
        <p:nvSpPr>
          <p:cNvPr id="25" name="TextBox 24"/>
          <p:cNvSpPr txBox="1"/>
          <p:nvPr/>
        </p:nvSpPr>
        <p:spPr>
          <a:xfrm>
            <a:off x="8247888" y="2148840"/>
            <a:ext cx="3401568"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교체형 탄성 패드 — 형상 적응·미끄럼 방지, 마모 시 교체</a:t>
            </a:r>
          </a:p>
        </p:txBody>
      </p:sp>
      <p:sp>
        <p:nvSpPr>
          <p:cNvPr id="26" name="Tag CONCEPT"/>
          <p:cNvSpPr/>
          <p:nvPr/>
        </p:nvSpPr>
        <p:spPr>
          <a:xfrm>
            <a:off x="10987735" y="1883664"/>
            <a:ext cx="655320" cy="219456"/>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AEB3BB"/>
                </a:solidFill>
                <a:latin typeface="Noto Sans KR SemiBold"/>
                <a:ea typeface="Noto Sans KR SemiBold"/>
                <a:cs typeface="Noto Sans KR SemiBold"/>
              </a:rPr>
              <a:t>CONCEPT</a:t>
            </a:r>
          </a:p>
        </p:txBody>
      </p:sp>
      <p:cxnSp>
        <p:nvCxnSpPr>
          <p:cNvPr id="27" name="Leader 2"/>
          <p:cNvCxnSpPr/>
          <p:nvPr/>
        </p:nvCxnSpPr>
        <p:spPr>
          <a:xfrm flipH="1" flipV="1">
            <a:off x="6173616" y="2608966"/>
            <a:ext cx="1690224" cy="243962"/>
          </a:xfrm>
          <a:prstGeom prst="line">
            <a:avLst/>
          </a:prstGeom>
          <a:ln w="9525">
            <a:solidFill>
              <a:srgbClr val="737882"/>
            </a:solidFill>
          </a:ln>
        </p:spPr>
        <p:style>
          <a:lnRef idx="2">
            <a:schemeClr val="accent1"/>
          </a:lnRef>
          <a:fillRef idx="0">
            <a:schemeClr val="accent1"/>
          </a:fillRef>
          <a:effectRef idx="1">
            <a:schemeClr val="accent1"/>
          </a:effectRef>
          <a:fontRef idx="minor">
            <a:schemeClr val="tx1"/>
          </a:fontRef>
        </p:style>
      </p:cxnSp>
      <p:sp>
        <p:nvSpPr>
          <p:cNvPr id="28" name="Anchor 2"/>
          <p:cNvSpPr/>
          <p:nvPr/>
        </p:nvSpPr>
        <p:spPr>
          <a:xfrm>
            <a:off x="6132468" y="2567818"/>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9" name="Num 2"/>
          <p:cNvSpPr/>
          <p:nvPr/>
        </p:nvSpPr>
        <p:spPr>
          <a:xfrm>
            <a:off x="7877556" y="2729484"/>
            <a:ext cx="246888" cy="24688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0" name="TextBox 29"/>
          <p:cNvSpPr txBox="1"/>
          <p:nvPr/>
        </p:nvSpPr>
        <p:spPr>
          <a:xfrm>
            <a:off x="7882127" y="2734056"/>
            <a:ext cx="246888" cy="246888"/>
          </a:xfrm>
          <a:prstGeom prst="rect">
            <a:avLst/>
          </a:prstGeom>
          <a:noFill/>
        </p:spPr>
        <p:txBody>
          <a:bodyPr wrap="square" lIns="0" rIns="0" tIns="0" bIns="0" anchor="ctr">
            <a:noAutofit/>
          </a:bodyPr>
          <a:lstStyle/>
          <a:p>
            <a:pPr algn="ctr">
              <a:lnSpc>
                <a:spcPct val="112000"/>
              </a:lnSpc>
            </a:pPr>
            <a:r>
              <a:rPr sz="1000" b="0" i="0">
                <a:solidFill>
                  <a:srgbClr val="0B0C0E"/>
                </a:solidFill>
                <a:latin typeface="Noto Sans KR Black"/>
                <a:ea typeface="Noto Sans KR Black"/>
                <a:cs typeface="Noto Sans KR Black"/>
              </a:rPr>
              <a:t>2</a:t>
            </a:r>
          </a:p>
        </p:txBody>
      </p:sp>
      <p:sp>
        <p:nvSpPr>
          <p:cNvPr id="31" name="TextBox 30"/>
          <p:cNvSpPr txBox="1"/>
          <p:nvPr/>
        </p:nvSpPr>
        <p:spPr>
          <a:xfrm>
            <a:off x="8247888" y="2715768"/>
            <a:ext cx="3383280" cy="274320"/>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Black"/>
                <a:ea typeface="Noto Sans KR Black"/>
                <a:cs typeface="Noto Sans KR Black"/>
              </a:rPr>
              <a:t>LOAD-BEARING SKELETON</a:t>
            </a:r>
          </a:p>
        </p:txBody>
      </p:sp>
      <p:sp>
        <p:nvSpPr>
          <p:cNvPr id="32" name="TextBox 31"/>
          <p:cNvSpPr txBox="1"/>
          <p:nvPr/>
        </p:nvSpPr>
        <p:spPr>
          <a:xfrm>
            <a:off x="8247888" y="2999232"/>
            <a:ext cx="3401568"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경량 강성 골격이 토크·반력·모멘트를 지지</a:t>
            </a:r>
          </a:p>
        </p:txBody>
      </p:sp>
      <p:sp>
        <p:nvSpPr>
          <p:cNvPr id="33" name="Tag CONCEPT"/>
          <p:cNvSpPr/>
          <p:nvPr/>
        </p:nvSpPr>
        <p:spPr>
          <a:xfrm>
            <a:off x="10987735" y="2734056"/>
            <a:ext cx="655320" cy="219456"/>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AEB3BB"/>
                </a:solidFill>
                <a:latin typeface="Noto Sans KR SemiBold"/>
                <a:ea typeface="Noto Sans KR SemiBold"/>
                <a:cs typeface="Noto Sans KR SemiBold"/>
              </a:rPr>
              <a:t>CONCEPT</a:t>
            </a:r>
          </a:p>
        </p:txBody>
      </p:sp>
      <p:cxnSp>
        <p:nvCxnSpPr>
          <p:cNvPr id="34" name="Leader 3"/>
          <p:cNvCxnSpPr/>
          <p:nvPr/>
        </p:nvCxnSpPr>
        <p:spPr>
          <a:xfrm flipH="1">
            <a:off x="6600080" y="3703320"/>
            <a:ext cx="1263760" cy="149939"/>
          </a:xfrm>
          <a:prstGeom prst="line">
            <a:avLst/>
          </a:prstGeom>
          <a:ln w="9525">
            <a:solidFill>
              <a:srgbClr val="737882"/>
            </a:solidFill>
          </a:ln>
        </p:spPr>
        <p:style>
          <a:lnRef idx="2">
            <a:schemeClr val="accent1"/>
          </a:lnRef>
          <a:fillRef idx="0">
            <a:schemeClr val="accent1"/>
          </a:fillRef>
          <a:effectRef idx="1">
            <a:schemeClr val="accent1"/>
          </a:effectRef>
          <a:fontRef idx="minor">
            <a:schemeClr val="tx1"/>
          </a:fontRef>
        </p:style>
      </p:cxnSp>
      <p:sp>
        <p:nvSpPr>
          <p:cNvPr id="35" name="Anchor 3"/>
          <p:cNvSpPr/>
          <p:nvPr/>
        </p:nvSpPr>
        <p:spPr>
          <a:xfrm>
            <a:off x="6558932" y="3812111"/>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6" name="Num 3"/>
          <p:cNvSpPr/>
          <p:nvPr/>
        </p:nvSpPr>
        <p:spPr>
          <a:xfrm>
            <a:off x="7877556" y="3579876"/>
            <a:ext cx="246888" cy="24688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7" name="TextBox 36"/>
          <p:cNvSpPr txBox="1"/>
          <p:nvPr/>
        </p:nvSpPr>
        <p:spPr>
          <a:xfrm>
            <a:off x="7882127" y="3584448"/>
            <a:ext cx="246888" cy="246888"/>
          </a:xfrm>
          <a:prstGeom prst="rect">
            <a:avLst/>
          </a:prstGeom>
          <a:noFill/>
        </p:spPr>
        <p:txBody>
          <a:bodyPr wrap="square" lIns="0" rIns="0" tIns="0" bIns="0" anchor="ctr">
            <a:noAutofit/>
          </a:bodyPr>
          <a:lstStyle/>
          <a:p>
            <a:pPr algn="ctr">
              <a:lnSpc>
                <a:spcPct val="112000"/>
              </a:lnSpc>
            </a:pPr>
            <a:r>
              <a:rPr sz="1000" b="0" i="0">
                <a:solidFill>
                  <a:srgbClr val="0B0C0E"/>
                </a:solidFill>
                <a:latin typeface="Noto Sans KR Black"/>
                <a:ea typeface="Noto Sans KR Black"/>
                <a:cs typeface="Noto Sans KR Black"/>
              </a:rPr>
              <a:t>3</a:t>
            </a:r>
          </a:p>
        </p:txBody>
      </p:sp>
      <p:sp>
        <p:nvSpPr>
          <p:cNvPr id="38" name="TextBox 37"/>
          <p:cNvSpPr txBox="1"/>
          <p:nvPr/>
        </p:nvSpPr>
        <p:spPr>
          <a:xfrm>
            <a:off x="8247888" y="3566160"/>
            <a:ext cx="3383280" cy="274320"/>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Black"/>
                <a:ea typeface="Noto Sans KR Black"/>
                <a:cs typeface="Noto Sans KR Black"/>
              </a:rPr>
              <a:t>OPPOSABLE THUMB</a:t>
            </a:r>
          </a:p>
        </p:txBody>
      </p:sp>
      <p:sp>
        <p:nvSpPr>
          <p:cNvPr id="39" name="TextBox 38"/>
          <p:cNvSpPr txBox="1"/>
          <p:nvPr/>
        </p:nvSpPr>
        <p:spPr>
          <a:xfrm>
            <a:off x="8247888" y="3849624"/>
            <a:ext cx="3401568"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사람용 손잡이·레버·집게를 감싸 쥐는 대향 구조</a:t>
            </a:r>
          </a:p>
        </p:txBody>
      </p:sp>
      <p:sp>
        <p:nvSpPr>
          <p:cNvPr id="40" name="Tag CONCEPT"/>
          <p:cNvSpPr/>
          <p:nvPr/>
        </p:nvSpPr>
        <p:spPr>
          <a:xfrm>
            <a:off x="10987735" y="3584448"/>
            <a:ext cx="655320" cy="219456"/>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AEB3BB"/>
                </a:solidFill>
                <a:latin typeface="Noto Sans KR SemiBold"/>
                <a:ea typeface="Noto Sans KR SemiBold"/>
                <a:cs typeface="Noto Sans KR SemiBold"/>
              </a:rPr>
              <a:t>CONCEPT</a:t>
            </a:r>
          </a:p>
        </p:txBody>
      </p:sp>
      <p:cxnSp>
        <p:nvCxnSpPr>
          <p:cNvPr id="41" name="Leader 4"/>
          <p:cNvCxnSpPr/>
          <p:nvPr/>
        </p:nvCxnSpPr>
        <p:spPr>
          <a:xfrm flipH="1" flipV="1">
            <a:off x="6581890" y="4369881"/>
            <a:ext cx="1281950" cy="183831"/>
          </a:xfrm>
          <a:prstGeom prst="line">
            <a:avLst/>
          </a:prstGeom>
          <a:ln w="9525">
            <a:solidFill>
              <a:srgbClr val="737882"/>
            </a:solidFill>
          </a:ln>
        </p:spPr>
        <p:style>
          <a:lnRef idx="2">
            <a:schemeClr val="accent1"/>
          </a:lnRef>
          <a:fillRef idx="0">
            <a:schemeClr val="accent1"/>
          </a:fillRef>
          <a:effectRef idx="1">
            <a:schemeClr val="accent1"/>
          </a:effectRef>
          <a:fontRef idx="minor">
            <a:schemeClr val="tx1"/>
          </a:fontRef>
        </p:style>
      </p:cxnSp>
      <p:sp>
        <p:nvSpPr>
          <p:cNvPr id="42" name="Anchor 4"/>
          <p:cNvSpPr/>
          <p:nvPr/>
        </p:nvSpPr>
        <p:spPr>
          <a:xfrm>
            <a:off x="6540742" y="4328733"/>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3" name="Num 4"/>
          <p:cNvSpPr/>
          <p:nvPr/>
        </p:nvSpPr>
        <p:spPr>
          <a:xfrm>
            <a:off x="7877556" y="4430268"/>
            <a:ext cx="246888" cy="24688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4" name="TextBox 43"/>
          <p:cNvSpPr txBox="1"/>
          <p:nvPr/>
        </p:nvSpPr>
        <p:spPr>
          <a:xfrm>
            <a:off x="7882127" y="4434840"/>
            <a:ext cx="246888" cy="246888"/>
          </a:xfrm>
          <a:prstGeom prst="rect">
            <a:avLst/>
          </a:prstGeom>
          <a:noFill/>
        </p:spPr>
        <p:txBody>
          <a:bodyPr wrap="square" lIns="0" rIns="0" tIns="0" bIns="0" anchor="ctr">
            <a:noAutofit/>
          </a:bodyPr>
          <a:lstStyle/>
          <a:p>
            <a:pPr algn="ctr">
              <a:lnSpc>
                <a:spcPct val="112000"/>
              </a:lnSpc>
            </a:pPr>
            <a:r>
              <a:rPr sz="1000" b="0" i="0">
                <a:solidFill>
                  <a:srgbClr val="0B0C0E"/>
                </a:solidFill>
                <a:latin typeface="Noto Sans KR Black"/>
                <a:ea typeface="Noto Sans KR Black"/>
                <a:cs typeface="Noto Sans KR Black"/>
              </a:rPr>
              <a:t>4</a:t>
            </a:r>
          </a:p>
        </p:txBody>
      </p:sp>
      <p:sp>
        <p:nvSpPr>
          <p:cNvPr id="45" name="TextBox 44"/>
          <p:cNvSpPr txBox="1"/>
          <p:nvPr/>
        </p:nvSpPr>
        <p:spPr>
          <a:xfrm>
            <a:off x="8247888" y="4416552"/>
            <a:ext cx="3383280" cy="274320"/>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Black"/>
                <a:ea typeface="Noto Sans KR Black"/>
                <a:cs typeface="Noto Sans KR Black"/>
              </a:rPr>
              <a:t>VARIABLE STIFFNESS / LOCKING</a:t>
            </a:r>
          </a:p>
        </p:txBody>
      </p:sp>
      <p:sp>
        <p:nvSpPr>
          <p:cNvPr id="46" name="TextBox 45"/>
          <p:cNvSpPr txBox="1"/>
          <p:nvPr/>
        </p:nvSpPr>
        <p:spPr>
          <a:xfrm>
            <a:off x="8247888" y="4700016"/>
            <a:ext cx="3401568"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작업 순간 관절 강성 상승·잠금 — 구조 비교시험 예정</a:t>
            </a:r>
          </a:p>
        </p:txBody>
      </p:sp>
      <p:sp>
        <p:nvSpPr>
          <p:cNvPr id="47" name="Tag TO BE VALIDATED"/>
          <p:cNvSpPr/>
          <p:nvPr/>
        </p:nvSpPr>
        <p:spPr>
          <a:xfrm>
            <a:off x="10573207" y="4434840"/>
            <a:ext cx="1069848" cy="219456"/>
          </a:xfrm>
          <a:prstGeom prst="roundRect">
            <a:avLst>
              <a:gd name="adj" fmla="val 50000"/>
            </a:avLst>
          </a:prstGeom>
          <a:noFill/>
          <a:ln w="952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EC7A3C"/>
                </a:solidFill>
                <a:latin typeface="Noto Sans KR SemiBold"/>
                <a:ea typeface="Noto Sans KR SemiBold"/>
                <a:cs typeface="Noto Sans KR SemiBold"/>
              </a:rPr>
              <a:t>TO BE VALIDATED</a:t>
            </a:r>
          </a:p>
        </p:txBody>
      </p:sp>
      <p:cxnSp>
        <p:nvCxnSpPr>
          <p:cNvPr id="48" name="Leader 5"/>
          <p:cNvCxnSpPr/>
          <p:nvPr/>
        </p:nvCxnSpPr>
        <p:spPr>
          <a:xfrm flipH="1" flipV="1">
            <a:off x="5863256" y="5342268"/>
            <a:ext cx="2000584" cy="61836"/>
          </a:xfrm>
          <a:prstGeom prst="line">
            <a:avLst/>
          </a:prstGeom>
          <a:ln w="9525">
            <a:solidFill>
              <a:srgbClr val="737882"/>
            </a:solidFill>
          </a:ln>
        </p:spPr>
        <p:style>
          <a:lnRef idx="2">
            <a:schemeClr val="accent1"/>
          </a:lnRef>
          <a:fillRef idx="0">
            <a:schemeClr val="accent1"/>
          </a:fillRef>
          <a:effectRef idx="1">
            <a:schemeClr val="accent1"/>
          </a:effectRef>
          <a:fontRef idx="minor">
            <a:schemeClr val="tx1"/>
          </a:fontRef>
        </p:style>
      </p:cxnSp>
      <p:sp>
        <p:nvSpPr>
          <p:cNvPr id="49" name="Anchor 5"/>
          <p:cNvSpPr/>
          <p:nvPr/>
        </p:nvSpPr>
        <p:spPr>
          <a:xfrm>
            <a:off x="5822108" y="5301120"/>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0" name="Num 5"/>
          <p:cNvSpPr/>
          <p:nvPr/>
        </p:nvSpPr>
        <p:spPr>
          <a:xfrm>
            <a:off x="7877556" y="5280660"/>
            <a:ext cx="246888" cy="24688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1" name="TextBox 50"/>
          <p:cNvSpPr txBox="1"/>
          <p:nvPr/>
        </p:nvSpPr>
        <p:spPr>
          <a:xfrm>
            <a:off x="7882127" y="5285232"/>
            <a:ext cx="246888" cy="246888"/>
          </a:xfrm>
          <a:prstGeom prst="rect">
            <a:avLst/>
          </a:prstGeom>
          <a:noFill/>
        </p:spPr>
        <p:txBody>
          <a:bodyPr wrap="square" lIns="0" rIns="0" tIns="0" bIns="0" anchor="ctr">
            <a:noAutofit/>
          </a:bodyPr>
          <a:lstStyle/>
          <a:p>
            <a:pPr algn="ctr">
              <a:lnSpc>
                <a:spcPct val="112000"/>
              </a:lnSpc>
            </a:pPr>
            <a:r>
              <a:rPr sz="1000" b="0" i="0">
                <a:solidFill>
                  <a:srgbClr val="0B0C0E"/>
                </a:solidFill>
                <a:latin typeface="Noto Sans KR Black"/>
                <a:ea typeface="Noto Sans KR Black"/>
                <a:cs typeface="Noto Sans KR Black"/>
              </a:rPr>
              <a:t>5</a:t>
            </a:r>
          </a:p>
        </p:txBody>
      </p:sp>
      <p:sp>
        <p:nvSpPr>
          <p:cNvPr id="52" name="TextBox 51"/>
          <p:cNvSpPr txBox="1"/>
          <p:nvPr/>
        </p:nvSpPr>
        <p:spPr>
          <a:xfrm>
            <a:off x="8247888" y="5266944"/>
            <a:ext cx="3383280" cy="274320"/>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Black"/>
                <a:ea typeface="Noto Sans KR Black"/>
                <a:cs typeface="Noto Sans KR Black"/>
              </a:rPr>
              <a:t>FORCE &amp; SLIP CONTROL</a:t>
            </a:r>
          </a:p>
        </p:txBody>
      </p:sp>
      <p:sp>
        <p:nvSpPr>
          <p:cNvPr id="53" name="TextBox 52"/>
          <p:cNvSpPr txBox="1"/>
          <p:nvPr/>
        </p:nvSpPr>
        <p:spPr>
          <a:xfrm>
            <a:off x="8247888" y="5550408"/>
            <a:ext cx="3401568"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촉각 + 손목 6축 F/T + 액추에이터로 미끄러짐·반력 제어</a:t>
            </a:r>
          </a:p>
        </p:txBody>
      </p:sp>
      <p:sp>
        <p:nvSpPr>
          <p:cNvPr id="54" name="Tag TARGET"/>
          <p:cNvSpPr/>
          <p:nvPr/>
        </p:nvSpPr>
        <p:spPr>
          <a:xfrm>
            <a:off x="11039551" y="5285232"/>
            <a:ext cx="603504" cy="219456"/>
          </a:xfrm>
          <a:prstGeom prst="roundRect">
            <a:avLst>
              <a:gd name="adj" fmla="val 50000"/>
            </a:avLst>
          </a:prstGeom>
          <a:noFill/>
          <a:ln w="952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EC7A3C"/>
                </a:solidFill>
                <a:latin typeface="Noto Sans KR SemiBold"/>
                <a:ea typeface="Noto Sans KR SemiBold"/>
                <a:cs typeface="Noto Sans KR SemiBold"/>
              </a:rPr>
              <a:t>TARGET</a:t>
            </a:r>
          </a:p>
        </p:txBody>
      </p:sp>
      <p:sp>
        <p:nvSpPr>
          <p:cNvPr id="55" name="TextBox 54"/>
          <p:cNvSpPr txBox="1"/>
          <p:nvPr/>
        </p:nvSpPr>
        <p:spPr>
          <a:xfrm>
            <a:off x="4206240" y="6144768"/>
            <a:ext cx="7406640" cy="237744"/>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a:ea typeface="Noto Sans KR"/>
                <a:cs typeface="Noto Sans KR"/>
              </a:rPr>
              <a:t>구조는 Concept이며 설계 확정 전 · 구동 방식(전동 텐던 / 유압 / 공압)은 창업 후 3개월 내 비교시험으로 결정 — Appendix A2</a:t>
            </a:r>
          </a:p>
        </p:txBody>
      </p:sp>
      <p:sp>
        <p:nvSpPr>
          <p:cNvPr id="56"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57"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06  ·  PERFORMANCE DEFINITION</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WE MEASURE TASKS, NOT GRASPS.</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회사의 성능 기준은 '잘 잡았는가'가 아니라 '실제 작업을 완료했는가'다</a:t>
            </a:r>
          </a:p>
        </p:txBody>
      </p:sp>
      <p:sp>
        <p:nvSpPr>
          <p:cNvPr id="6" name="Tier TASK COMPLETION ECONOMICS"/>
          <p:cNvSpPr/>
          <p:nvPr/>
        </p:nvSpPr>
        <p:spPr>
          <a:xfrm>
            <a:off x="548639" y="1847088"/>
            <a:ext cx="6949440" cy="896112"/>
          </a:xfrm>
          <a:prstGeom prst="roundRect">
            <a:avLst>
              <a:gd name="adj" fmla="val 10204"/>
            </a:avLst>
          </a:prstGeom>
          <a:solidFill>
            <a:srgbClr val="2E1D14"/>
          </a:solidFill>
          <a:ln w="1587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 name="TextBox 6"/>
          <p:cNvSpPr txBox="1"/>
          <p:nvPr/>
        </p:nvSpPr>
        <p:spPr>
          <a:xfrm>
            <a:off x="777239" y="1956816"/>
            <a:ext cx="6492240" cy="292608"/>
          </a:xfrm>
          <a:prstGeom prst="rect">
            <a:avLst/>
          </a:prstGeom>
          <a:noFill/>
        </p:spPr>
        <p:txBody>
          <a:bodyPr wrap="square" lIns="0" rIns="0" tIns="0" bIns="0" anchor="t">
            <a:noAutofit/>
          </a:bodyPr>
          <a:lstStyle/>
          <a:p>
            <a:pPr algn="ctr">
              <a:lnSpc>
                <a:spcPct val="112000"/>
              </a:lnSpc>
            </a:pPr>
            <a:r>
              <a:rPr sz="1300" b="0" i="0" spc="60">
                <a:solidFill>
                  <a:srgbClr val="EC7A3C"/>
                </a:solidFill>
                <a:latin typeface="Noto Sans KR Black"/>
                <a:ea typeface="Noto Sans KR Black"/>
                <a:cs typeface="Noto Sans KR Black"/>
              </a:rPr>
              <a:t>TASK COMPLETION ECONOMICS</a:t>
            </a:r>
          </a:p>
        </p:txBody>
      </p:sp>
      <p:sp>
        <p:nvSpPr>
          <p:cNvPr id="8" name="TextBox 7"/>
          <p:cNvSpPr txBox="1"/>
          <p:nvPr/>
        </p:nvSpPr>
        <p:spPr>
          <a:xfrm>
            <a:off x="777239" y="2276856"/>
            <a:ext cx="6492240" cy="438912"/>
          </a:xfrm>
          <a:prstGeom prst="rect">
            <a:avLst/>
          </a:prstGeom>
          <a:noFill/>
        </p:spPr>
        <p:txBody>
          <a:bodyPr wrap="square" lIns="0" rIns="0" tIns="0" bIns="0" anchor="t">
            <a:noAutofit/>
          </a:bodyPr>
          <a:lstStyle/>
          <a:p>
            <a:pPr algn="ctr">
              <a:lnSpc>
                <a:spcPct val="120000"/>
              </a:lnSpc>
            </a:pPr>
            <a:r>
              <a:rPr sz="1100" b="0" i="0">
                <a:solidFill>
                  <a:srgbClr val="F2F2EF"/>
                </a:solidFill>
                <a:latin typeface="Noto Sans KR"/>
                <a:ea typeface="Noto Sans KR"/>
                <a:cs typeface="Noto Sans KR"/>
              </a:rPr>
              <a:t>최상위 KPI  ·  Total Cost per Task Change (작업 전환 1회당 총비용)</a:t>
            </a:r>
          </a:p>
        </p:txBody>
      </p:sp>
      <p:sp>
        <p:nvSpPr>
          <p:cNvPr id="9" name="Tier COMMERCIAL KPI"/>
          <p:cNvSpPr/>
          <p:nvPr/>
        </p:nvSpPr>
        <p:spPr>
          <a:xfrm>
            <a:off x="868679" y="2862072"/>
            <a:ext cx="6309360" cy="1005840"/>
          </a:xfrm>
          <a:prstGeom prst="roundRect">
            <a:avLst>
              <a:gd name="adj" fmla="val 90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0" name="TextBox 9"/>
          <p:cNvSpPr txBox="1"/>
          <p:nvPr/>
        </p:nvSpPr>
        <p:spPr>
          <a:xfrm>
            <a:off x="1097279" y="2971800"/>
            <a:ext cx="5852160" cy="292608"/>
          </a:xfrm>
          <a:prstGeom prst="rect">
            <a:avLst/>
          </a:prstGeom>
          <a:noFill/>
        </p:spPr>
        <p:txBody>
          <a:bodyPr wrap="square" lIns="0" rIns="0" tIns="0" bIns="0" anchor="t">
            <a:noAutofit/>
          </a:bodyPr>
          <a:lstStyle/>
          <a:p>
            <a:pPr algn="ctr">
              <a:lnSpc>
                <a:spcPct val="112000"/>
              </a:lnSpc>
            </a:pPr>
            <a:r>
              <a:rPr sz="1150" b="0" i="0" spc="60">
                <a:solidFill>
                  <a:srgbClr val="F2F2EF"/>
                </a:solidFill>
                <a:latin typeface="Noto Sans KR Black"/>
                <a:ea typeface="Noto Sans KR Black"/>
                <a:cs typeface="Noto Sans KR Black"/>
              </a:rPr>
              <a:t>COMMERCIAL KPI</a:t>
            </a:r>
          </a:p>
        </p:txBody>
      </p:sp>
      <p:sp>
        <p:nvSpPr>
          <p:cNvPr id="11" name="TextBox 10"/>
          <p:cNvSpPr txBox="1"/>
          <p:nvPr/>
        </p:nvSpPr>
        <p:spPr>
          <a:xfrm>
            <a:off x="1097279" y="3291839"/>
            <a:ext cx="5852160" cy="548640"/>
          </a:xfrm>
          <a:prstGeom prst="rect">
            <a:avLst/>
          </a:prstGeom>
          <a:noFill/>
        </p:spPr>
        <p:txBody>
          <a:bodyPr wrap="square" lIns="0" rIns="0" tIns="0" bIns="0" anchor="t">
            <a:noAutofit/>
          </a:bodyPr>
          <a:lstStyle/>
          <a:p>
            <a:pPr algn="ctr">
              <a:lnSpc>
                <a:spcPct val="120000"/>
              </a:lnSpc>
            </a:pPr>
            <a:r>
              <a:rPr sz="1100" b="0" i="0">
                <a:solidFill>
                  <a:srgbClr val="AEB3BB"/>
                </a:solidFill>
                <a:latin typeface="Noto Sans KR"/>
                <a:ea typeface="Noto Sans KR"/>
                <a:cs typeface="Noto Sans KR"/>
              </a:rPr>
              <a:t>Changeover Time · Engineering Hours · Fixture Cost · Tooling Cost</a:t>
            </a:r>
          </a:p>
          <a:p>
            <a:pPr algn="ctr">
              <a:lnSpc>
                <a:spcPct val="120000"/>
              </a:lnSpc>
            </a:pPr>
            <a:r>
              <a:rPr sz="1100" b="0" i="0">
                <a:solidFill>
                  <a:srgbClr val="AEB3BB"/>
                </a:solidFill>
                <a:latin typeface="Noto Sans KR"/>
                <a:ea typeface="Noto Sans KR"/>
                <a:cs typeface="Noto Sans KR"/>
              </a:rPr>
              <a:t>Robot Utilization · Human Intervention Time</a:t>
            </a:r>
          </a:p>
        </p:txBody>
      </p:sp>
      <p:sp>
        <p:nvSpPr>
          <p:cNvPr id="12" name="Tier TECHNICAL KPI"/>
          <p:cNvSpPr/>
          <p:nvPr/>
        </p:nvSpPr>
        <p:spPr>
          <a:xfrm>
            <a:off x="1188719" y="3986783"/>
            <a:ext cx="5669280" cy="1005840"/>
          </a:xfrm>
          <a:prstGeom prst="roundRect">
            <a:avLst>
              <a:gd name="adj" fmla="val 9090"/>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3" name="TextBox 12"/>
          <p:cNvSpPr txBox="1"/>
          <p:nvPr/>
        </p:nvSpPr>
        <p:spPr>
          <a:xfrm>
            <a:off x="1417319" y="4096511"/>
            <a:ext cx="5212080" cy="292608"/>
          </a:xfrm>
          <a:prstGeom prst="rect">
            <a:avLst/>
          </a:prstGeom>
          <a:noFill/>
        </p:spPr>
        <p:txBody>
          <a:bodyPr wrap="square" lIns="0" rIns="0" tIns="0" bIns="0" anchor="t">
            <a:noAutofit/>
          </a:bodyPr>
          <a:lstStyle/>
          <a:p>
            <a:pPr algn="ctr">
              <a:lnSpc>
                <a:spcPct val="112000"/>
              </a:lnSpc>
            </a:pPr>
            <a:r>
              <a:rPr sz="1150" b="0" i="0" spc="60">
                <a:solidFill>
                  <a:srgbClr val="F2F2EF"/>
                </a:solidFill>
                <a:latin typeface="Noto Sans KR Black"/>
                <a:ea typeface="Noto Sans KR Black"/>
                <a:cs typeface="Noto Sans KR Black"/>
              </a:rPr>
              <a:t>TECHNICAL KPI</a:t>
            </a:r>
          </a:p>
        </p:txBody>
      </p:sp>
      <p:sp>
        <p:nvSpPr>
          <p:cNvPr id="14" name="TextBox 13"/>
          <p:cNvSpPr txBox="1"/>
          <p:nvPr/>
        </p:nvSpPr>
        <p:spPr>
          <a:xfrm>
            <a:off x="1417319" y="4416551"/>
            <a:ext cx="5212080" cy="548640"/>
          </a:xfrm>
          <a:prstGeom prst="rect">
            <a:avLst/>
          </a:prstGeom>
          <a:noFill/>
        </p:spPr>
        <p:txBody>
          <a:bodyPr wrap="square" lIns="0" rIns="0" tIns="0" bIns="0" anchor="t">
            <a:noAutofit/>
          </a:bodyPr>
          <a:lstStyle/>
          <a:p>
            <a:pPr algn="ctr">
              <a:lnSpc>
                <a:spcPct val="120000"/>
              </a:lnSpc>
            </a:pPr>
            <a:r>
              <a:rPr sz="1100" b="0" i="0">
                <a:solidFill>
                  <a:srgbClr val="AEB3BB"/>
                </a:solidFill>
                <a:latin typeface="Noto Sans KR"/>
                <a:ea typeface="Noto Sans KR"/>
                <a:cs typeface="Noto Sans KR"/>
              </a:rPr>
              <a:t>Task Completion Rate · First-Pass Success · Tool Torque</a:t>
            </a:r>
          </a:p>
          <a:p>
            <a:pPr algn="ctr">
              <a:lnSpc>
                <a:spcPct val="120000"/>
              </a:lnSpc>
            </a:pPr>
            <a:r>
              <a:rPr sz="1100" b="0" i="0">
                <a:solidFill>
                  <a:srgbClr val="AEB3BB"/>
                </a:solidFill>
                <a:latin typeface="Noto Sans KR"/>
                <a:ea typeface="Noto Sans KR"/>
                <a:cs typeface="Noto Sans KR"/>
              </a:rPr>
              <a:t>Durability · Human Intervention</a:t>
            </a:r>
          </a:p>
        </p:txBody>
      </p:sp>
      <p:sp>
        <p:nvSpPr>
          <p:cNvPr id="15" name="Tier SUB-METRICS  (보조 지표)"/>
          <p:cNvSpPr/>
          <p:nvPr/>
        </p:nvSpPr>
        <p:spPr>
          <a:xfrm>
            <a:off x="1508759" y="5111496"/>
            <a:ext cx="5029200" cy="731520"/>
          </a:xfrm>
          <a:prstGeom prst="roundRect">
            <a:avLst>
              <a:gd name="adj" fmla="val 12500"/>
            </a:avLst>
          </a:prstGeom>
          <a:noFill/>
          <a:ln w="15875">
            <a:solidFill>
              <a:srgbClr val="3C424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6" name="TextBox 15"/>
          <p:cNvSpPr txBox="1"/>
          <p:nvPr/>
        </p:nvSpPr>
        <p:spPr>
          <a:xfrm>
            <a:off x="1737359" y="5221224"/>
            <a:ext cx="4572000" cy="292608"/>
          </a:xfrm>
          <a:prstGeom prst="rect">
            <a:avLst/>
          </a:prstGeom>
          <a:noFill/>
        </p:spPr>
        <p:txBody>
          <a:bodyPr wrap="square" lIns="0" rIns="0" tIns="0" bIns="0" anchor="t">
            <a:noAutofit/>
          </a:bodyPr>
          <a:lstStyle/>
          <a:p>
            <a:pPr algn="ctr">
              <a:lnSpc>
                <a:spcPct val="112000"/>
              </a:lnSpc>
            </a:pPr>
            <a:r>
              <a:rPr sz="1150" b="0" i="0" spc="60">
                <a:solidFill>
                  <a:srgbClr val="AEB3BB"/>
                </a:solidFill>
                <a:latin typeface="Noto Sans KR Black"/>
                <a:ea typeface="Noto Sans KR Black"/>
                <a:cs typeface="Noto Sans KR Black"/>
              </a:rPr>
              <a:t>SUB-METRICS  (보조 지표)</a:t>
            </a:r>
          </a:p>
        </p:txBody>
      </p:sp>
      <p:sp>
        <p:nvSpPr>
          <p:cNvPr id="17" name="TextBox 16"/>
          <p:cNvSpPr txBox="1"/>
          <p:nvPr/>
        </p:nvSpPr>
        <p:spPr>
          <a:xfrm>
            <a:off x="1737359" y="5541264"/>
            <a:ext cx="4572000" cy="274320"/>
          </a:xfrm>
          <a:prstGeom prst="rect">
            <a:avLst/>
          </a:prstGeom>
          <a:noFill/>
        </p:spPr>
        <p:txBody>
          <a:bodyPr wrap="square" lIns="0" rIns="0" tIns="0" bIns="0" anchor="t">
            <a:noAutofit/>
          </a:bodyPr>
          <a:lstStyle/>
          <a:p>
            <a:pPr algn="ctr">
              <a:lnSpc>
                <a:spcPct val="120000"/>
              </a:lnSpc>
            </a:pPr>
            <a:r>
              <a:rPr sz="1050" b="0" i="0">
                <a:solidFill>
                  <a:srgbClr val="AEB3BB"/>
                </a:solidFill>
                <a:latin typeface="Noto Sans KR"/>
                <a:ea typeface="Noto Sans KR"/>
                <a:cs typeface="Noto Sans KR"/>
              </a:rPr>
              <a:t>Grasp Success · Position Accuracy · Grip Force</a:t>
            </a:r>
          </a:p>
        </p:txBody>
      </p:sp>
      <p:sp>
        <p:nvSpPr>
          <p:cNvPr id="18" name="TextBox 17"/>
          <p:cNvSpPr txBox="1"/>
          <p:nvPr/>
        </p:nvSpPr>
        <p:spPr>
          <a:xfrm>
            <a:off x="548640" y="5870448"/>
            <a:ext cx="6949440" cy="274320"/>
          </a:xfrm>
          <a:prstGeom prst="rect">
            <a:avLst/>
          </a:prstGeom>
          <a:noFill/>
        </p:spPr>
        <p:txBody>
          <a:bodyPr wrap="square" lIns="0" rIns="0" tIns="0" bIns="0" anchor="t">
            <a:noAutofit/>
          </a:bodyPr>
          <a:lstStyle/>
          <a:p>
            <a:pPr algn="ctr">
              <a:lnSpc>
                <a:spcPct val="112000"/>
              </a:lnSpc>
            </a:pPr>
            <a:r>
              <a:rPr sz="1000" b="0" i="0">
                <a:solidFill>
                  <a:srgbClr val="737882"/>
                </a:solidFill>
                <a:latin typeface="Noto Sans KR"/>
                <a:ea typeface="Noto Sans KR"/>
                <a:cs typeface="Noto Sans KR"/>
              </a:rPr>
              <a:t>↑ 위로 갈수록 고객이 돈을 내는 지표  ·  파지 성공률은 보조 지표로만 사용</a:t>
            </a:r>
          </a:p>
        </p:txBody>
      </p:sp>
      <p:sp>
        <p:nvSpPr>
          <p:cNvPr id="19" name="Seed targets card"/>
          <p:cNvSpPr/>
          <p:nvPr/>
        </p:nvSpPr>
        <p:spPr>
          <a:xfrm>
            <a:off x="7818120" y="1847088"/>
            <a:ext cx="3824935" cy="4261104"/>
          </a:xfrm>
          <a:prstGeom prst="roundRect">
            <a:avLst>
              <a:gd name="adj" fmla="val 2868"/>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0" name="TextBox 19"/>
          <p:cNvSpPr txBox="1"/>
          <p:nvPr/>
        </p:nvSpPr>
        <p:spPr>
          <a:xfrm>
            <a:off x="8074152" y="1993392"/>
            <a:ext cx="2560320" cy="274320"/>
          </a:xfrm>
          <a:prstGeom prst="rect">
            <a:avLst/>
          </a:prstGeom>
          <a:noFill/>
        </p:spPr>
        <p:txBody>
          <a:bodyPr wrap="square" lIns="0" rIns="0" tIns="0" bIns="0" anchor="t">
            <a:noAutofit/>
          </a:bodyPr>
          <a:lstStyle/>
          <a:p>
            <a:pPr algn="l">
              <a:lnSpc>
                <a:spcPct val="112000"/>
              </a:lnSpc>
            </a:pPr>
            <a:r>
              <a:rPr sz="1100" b="0" i="0" spc="100">
                <a:solidFill>
                  <a:srgbClr val="F2F2EF"/>
                </a:solidFill>
                <a:latin typeface="Noto Sans KR Black"/>
                <a:ea typeface="Noto Sans KR Black"/>
                <a:cs typeface="Noto Sans KR Black"/>
              </a:rPr>
              <a:t>SEED TARGETS · 24M</a:t>
            </a:r>
          </a:p>
        </p:txBody>
      </p:sp>
      <p:sp>
        <p:nvSpPr>
          <p:cNvPr id="21" name="Tag TARGET"/>
          <p:cNvSpPr/>
          <p:nvPr/>
        </p:nvSpPr>
        <p:spPr>
          <a:xfrm>
            <a:off x="10769498" y="1993392"/>
            <a:ext cx="644956" cy="243840"/>
          </a:xfrm>
          <a:prstGeom prst="roundRect">
            <a:avLst>
              <a:gd name="adj" fmla="val 50000"/>
            </a:avLst>
          </a:prstGeom>
          <a:noFill/>
          <a:ln w="952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EC7A3C"/>
                </a:solidFill>
                <a:latin typeface="Noto Sans KR SemiBold"/>
                <a:ea typeface="Noto Sans KR SemiBold"/>
                <a:cs typeface="Noto Sans KR SemiBold"/>
              </a:rPr>
              <a:t>TARGET</a:t>
            </a:r>
          </a:p>
        </p:txBody>
      </p:sp>
      <p:sp>
        <p:nvSpPr>
          <p:cNvPr id="22" name="Oval 21"/>
          <p:cNvSpPr/>
          <p:nvPr/>
        </p:nvSpPr>
        <p:spPr>
          <a:xfrm>
            <a:off x="8106156" y="2473452"/>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3" name="TextBox 22"/>
          <p:cNvSpPr txBox="1"/>
          <p:nvPr/>
        </p:nvSpPr>
        <p:spPr>
          <a:xfrm>
            <a:off x="8321040" y="2395728"/>
            <a:ext cx="3093415" cy="256032"/>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승인 Task 완료율 ≥ 95%</a:t>
            </a:r>
          </a:p>
        </p:txBody>
      </p:sp>
      <p:sp>
        <p:nvSpPr>
          <p:cNvPr id="24" name="TextBox 23"/>
          <p:cNvSpPr txBox="1"/>
          <p:nvPr/>
        </p:nvSpPr>
        <p:spPr>
          <a:xfrm>
            <a:off x="8321040" y="2660904"/>
            <a:ext cx="3093415" cy="237744"/>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Task A~C · 최초 시도 / 재시도 분리 보고</a:t>
            </a:r>
          </a:p>
        </p:txBody>
      </p:sp>
      <p:sp>
        <p:nvSpPr>
          <p:cNvPr id="25" name="Oval 24"/>
          <p:cNvSpPr/>
          <p:nvPr/>
        </p:nvSpPr>
        <p:spPr>
          <a:xfrm>
            <a:off x="8106156" y="3076956"/>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6" name="TextBox 25"/>
          <p:cNvSpPr txBox="1"/>
          <p:nvPr/>
        </p:nvSpPr>
        <p:spPr>
          <a:xfrm>
            <a:off x="8321040" y="2999232"/>
            <a:ext cx="3093415" cy="256032"/>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저토크 도구 작업 3종</a:t>
            </a:r>
          </a:p>
        </p:txBody>
      </p:sp>
      <p:sp>
        <p:nvSpPr>
          <p:cNvPr id="27" name="TextBox 26"/>
          <p:cNvSpPr txBox="1"/>
          <p:nvPr/>
        </p:nvSpPr>
        <p:spPr>
          <a:xfrm>
            <a:off x="8321040" y="3264408"/>
            <a:ext cx="3093415" cy="237744"/>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토크와 작업시간을 함께 보고</a:t>
            </a:r>
          </a:p>
        </p:txBody>
      </p:sp>
      <p:sp>
        <p:nvSpPr>
          <p:cNvPr id="28" name="Oval 27"/>
          <p:cNvSpPr/>
          <p:nvPr/>
        </p:nvSpPr>
        <p:spPr>
          <a:xfrm>
            <a:off x="8106156" y="3680460"/>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9" name="TextBox 28"/>
          <p:cNvSpPr txBox="1"/>
          <p:nvPr/>
        </p:nvSpPr>
        <p:spPr>
          <a:xfrm>
            <a:off x="8321040" y="3602736"/>
            <a:ext cx="3093415" cy="256032"/>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내구성 30만 회 사이클</a:t>
            </a:r>
          </a:p>
        </p:txBody>
      </p:sp>
      <p:sp>
        <p:nvSpPr>
          <p:cNvPr id="30" name="TextBox 29"/>
          <p:cNvSpPr txBox="1"/>
          <p:nvPr/>
        </p:nvSpPr>
        <p:spPr>
          <a:xfrm>
            <a:off x="8321040" y="3867912"/>
            <a:ext cx="3093415" cy="237744"/>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양산 단계 목표 100만 회</a:t>
            </a:r>
          </a:p>
        </p:txBody>
      </p:sp>
      <p:sp>
        <p:nvSpPr>
          <p:cNvPr id="31" name="Oval 30"/>
          <p:cNvSpPr/>
          <p:nvPr/>
        </p:nvSpPr>
        <p:spPr>
          <a:xfrm>
            <a:off x="8106156" y="4283964"/>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2" name="TextBox 31"/>
          <p:cNvSpPr txBox="1"/>
          <p:nvPr/>
        </p:nvSpPr>
        <p:spPr>
          <a:xfrm>
            <a:off x="8321040" y="4206240"/>
            <a:ext cx="3093415" cy="256032"/>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사람 개입시간 −30%</a:t>
            </a:r>
          </a:p>
        </p:txBody>
      </p:sp>
      <p:sp>
        <p:nvSpPr>
          <p:cNvPr id="33" name="TextBox 32"/>
          <p:cNvSpPr txBox="1"/>
          <p:nvPr/>
        </p:nvSpPr>
        <p:spPr>
          <a:xfrm>
            <a:off x="8321040" y="4471416"/>
            <a:ext cx="3093415" cy="237744"/>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선정 고객 · Baseline 대비</a:t>
            </a:r>
          </a:p>
        </p:txBody>
      </p:sp>
      <p:sp>
        <p:nvSpPr>
          <p:cNvPr id="34" name="Oval 33"/>
          <p:cNvSpPr/>
          <p:nvPr/>
        </p:nvSpPr>
        <p:spPr>
          <a:xfrm>
            <a:off x="8106156" y="4887468"/>
            <a:ext cx="82296" cy="82296"/>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5" name="TextBox 34"/>
          <p:cNvSpPr txBox="1"/>
          <p:nvPr/>
        </p:nvSpPr>
        <p:spPr>
          <a:xfrm>
            <a:off x="8321040" y="4809744"/>
            <a:ext cx="3093415" cy="256032"/>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Changeover Time 단축</a:t>
            </a:r>
          </a:p>
        </p:txBody>
      </p:sp>
      <p:sp>
        <p:nvSpPr>
          <p:cNvPr id="36" name="TextBox 35"/>
          <p:cNvSpPr txBox="1"/>
          <p:nvPr/>
        </p:nvSpPr>
        <p:spPr>
          <a:xfrm>
            <a:off x="8321040" y="5074920"/>
            <a:ext cx="3093415" cy="237744"/>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고객 Baseline 대비 PoC에서 측정</a:t>
            </a:r>
          </a:p>
        </p:txBody>
      </p:sp>
      <p:sp>
        <p:nvSpPr>
          <p:cNvPr id="37" name="Placeholder"/>
          <p:cNvSpPr/>
          <p:nvPr/>
        </p:nvSpPr>
        <p:spPr>
          <a:xfrm>
            <a:off x="8074152" y="5440680"/>
            <a:ext cx="3312871" cy="292608"/>
          </a:xfrm>
          <a:prstGeom prst="roundRect">
            <a:avLst>
              <a:gd name="adj" fmla="val 1875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50" b="0" i="0">
                <a:solidFill>
                  <a:srgbClr val="E8B649"/>
                </a:solidFill>
                <a:latin typeface="Noto Sans KR Medium"/>
                <a:ea typeface="Noto Sans KR Medium"/>
                <a:cs typeface="Noto Sans KR Medium"/>
              </a:rPr>
              <a:t>[고객 Baseline 데이터 필요]</a:t>
            </a:r>
          </a:p>
        </p:txBody>
      </p:sp>
      <p:sp>
        <p:nvSpPr>
          <p:cNvPr id="38" name="TextBox 37"/>
          <p:cNvSpPr txBox="1"/>
          <p:nvPr/>
        </p:nvSpPr>
        <p:spPr>
          <a:xfrm>
            <a:off x="8074152" y="5779008"/>
            <a:ext cx="3367735" cy="274320"/>
          </a:xfrm>
          <a:prstGeom prst="rect">
            <a:avLst/>
          </a:prstGeom>
          <a:noFill/>
        </p:spPr>
        <p:txBody>
          <a:bodyPr wrap="square" lIns="0" rIns="0" tIns="0" bIns="0" anchor="t">
            <a:noAutofit/>
          </a:bodyPr>
          <a:lstStyle/>
          <a:p>
            <a:pPr algn="l">
              <a:lnSpc>
                <a:spcPct val="112000"/>
              </a:lnSpc>
            </a:pPr>
            <a:r>
              <a:rPr sz="900" b="0" i="0">
                <a:solidFill>
                  <a:srgbClr val="737882"/>
                </a:solidFill>
                <a:latin typeface="Noto Sans KR"/>
                <a:ea typeface="Noto Sans KR"/>
                <a:cs typeface="Noto Sans KR"/>
              </a:rPr>
              <a:t>보고 원칙: 시험 횟수·성공 건수·신뢰구간 공개</a:t>
            </a:r>
          </a:p>
        </p:txBody>
      </p:sp>
      <p:sp>
        <p:nvSpPr>
          <p:cNvPr id="39"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40"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07  ·  BEACHHEAD USE CASES</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START WITH 3 PAINFUL TASKS.</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We don't start with every task. We start where flexibility creates measurable economic value.</a:t>
            </a:r>
          </a:p>
        </p:txBody>
      </p:sp>
      <p:sp>
        <p:nvSpPr>
          <p:cNvPr id="6" name="Tag CONCEPT RENDERINGS"/>
          <p:cNvSpPr/>
          <p:nvPr/>
        </p:nvSpPr>
        <p:spPr>
          <a:xfrm>
            <a:off x="10293400" y="365760"/>
            <a:ext cx="1349654"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CONCEPT RENDERINGS</a:t>
            </a:r>
          </a:p>
        </p:txBody>
      </p:sp>
      <p:sp>
        <p:nvSpPr>
          <p:cNvPr id="7" name="Task card 1"/>
          <p:cNvSpPr/>
          <p:nvPr/>
        </p:nvSpPr>
        <p:spPr>
          <a:xfrm>
            <a:off x="548640" y="1847088"/>
            <a:ext cx="2636443" cy="3474720"/>
          </a:xfrm>
          <a:prstGeom prst="roundRect">
            <a:avLst>
              <a:gd name="adj" fmla="val 4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8" name="TextBox 7"/>
          <p:cNvSpPr txBox="1"/>
          <p:nvPr/>
        </p:nvSpPr>
        <p:spPr>
          <a:xfrm>
            <a:off x="731520" y="1965960"/>
            <a:ext cx="2270683" cy="237744"/>
          </a:xfrm>
          <a:prstGeom prst="rect">
            <a:avLst/>
          </a:prstGeom>
          <a:noFill/>
        </p:spPr>
        <p:txBody>
          <a:bodyPr wrap="square" lIns="0" rIns="0" tIns="0" bIns="0" anchor="t">
            <a:noAutofit/>
          </a:bodyPr>
          <a:lstStyle/>
          <a:p>
            <a:pPr algn="l">
              <a:lnSpc>
                <a:spcPct val="112000"/>
              </a:lnSpc>
            </a:pPr>
            <a:r>
              <a:rPr sz="950" b="0" i="0" spc="100">
                <a:solidFill>
                  <a:srgbClr val="EC7A3C"/>
                </a:solidFill>
                <a:latin typeface="Noto Sans KR SemiBold"/>
                <a:ea typeface="Noto Sans KR SemiBold"/>
                <a:cs typeface="Noto Sans KR SemiBold"/>
              </a:rPr>
              <a:t>TASK A · CORE</a:t>
            </a:r>
          </a:p>
        </p:txBody>
      </p:sp>
      <p:pic>
        <p:nvPicPr>
          <p:cNvPr id="9" name="HERO 04 TASK A · CORE" descr="Concept rendering: MULTI-SHAPE CONTAINER&#10;HANDLING"/>
          <p:cNvPicPr>
            <a:picLocks noChangeAspect="1"/>
          </p:cNvPicPr>
          <p:nvPr/>
        </p:nvPicPr>
        <p:blipFill>
          <a:blip r:embed="rId2"/>
          <a:stretch>
            <a:fillRect/>
          </a:stretch>
        </p:blipFill>
        <p:spPr>
          <a:xfrm>
            <a:off x="978248" y="2240280"/>
            <a:ext cx="1777226" cy="1481328"/>
          </a:xfrm>
          <a:prstGeom prst="rect">
            <a:avLst/>
          </a:prstGeom>
        </p:spPr>
      </p:pic>
      <p:sp>
        <p:nvSpPr>
          <p:cNvPr id="10" name="TextBox 9"/>
          <p:cNvSpPr txBox="1"/>
          <p:nvPr/>
        </p:nvSpPr>
        <p:spPr>
          <a:xfrm>
            <a:off x="731520" y="3794760"/>
            <a:ext cx="2316403" cy="512064"/>
          </a:xfrm>
          <a:prstGeom prst="rect">
            <a:avLst/>
          </a:prstGeom>
          <a:noFill/>
        </p:spPr>
        <p:txBody>
          <a:bodyPr wrap="square" lIns="0" rIns="0" tIns="0" bIns="0" anchor="t">
            <a:noAutofit/>
          </a:bodyPr>
          <a:lstStyle/>
          <a:p>
            <a:pPr algn="l">
              <a:lnSpc>
                <a:spcPct val="105000"/>
              </a:lnSpc>
            </a:pPr>
            <a:r>
              <a:rPr sz="1150" b="0" i="0">
                <a:solidFill>
                  <a:srgbClr val="F2F2EF"/>
                </a:solidFill>
                <a:latin typeface="Noto Sans KR Black"/>
                <a:ea typeface="Noto Sans KR Black"/>
                <a:cs typeface="Noto Sans KR Black"/>
              </a:rPr>
              <a:t>MULTI-SHAPE CONTAINER</a:t>
            </a:r>
          </a:p>
          <a:p>
            <a:pPr algn="l">
              <a:lnSpc>
                <a:spcPct val="105000"/>
              </a:lnSpc>
            </a:pPr>
            <a:r>
              <a:rPr sz="1150" b="0" i="0">
                <a:solidFill>
                  <a:srgbClr val="F2F2EF"/>
                </a:solidFill>
                <a:latin typeface="Noto Sans KR Black"/>
                <a:ea typeface="Noto Sans KR Black"/>
                <a:cs typeface="Noto Sans KR Black"/>
              </a:rPr>
              <a:t>HANDLING</a:t>
            </a:r>
          </a:p>
        </p:txBody>
      </p:sp>
      <p:sp>
        <p:nvSpPr>
          <p:cNvPr id="11" name="TextBox 10"/>
          <p:cNvSpPr txBox="1"/>
          <p:nvPr/>
        </p:nvSpPr>
        <p:spPr>
          <a:xfrm>
            <a:off x="731520" y="4334256"/>
            <a:ext cx="2316403"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다품종 용기·병·트레이를</a:t>
            </a:r>
          </a:p>
          <a:p>
            <a:pPr algn="l">
              <a:lnSpc>
                <a:spcPct val="115000"/>
              </a:lnSpc>
            </a:pPr>
            <a:r>
              <a:rPr sz="1000" b="0" i="0">
                <a:solidFill>
                  <a:srgbClr val="AEB3BB"/>
                </a:solidFill>
                <a:latin typeface="Noto Sans KR"/>
                <a:ea typeface="Noto Sans KR"/>
                <a:cs typeface="Noto Sans KR"/>
              </a:rPr>
              <a:t>그리퍼 교체 없이 처리</a:t>
            </a:r>
          </a:p>
        </p:txBody>
      </p:sp>
      <p:sp>
        <p:nvSpPr>
          <p:cNvPr id="12" name="TextBox 11"/>
          <p:cNvSpPr txBox="1"/>
          <p:nvPr/>
        </p:nvSpPr>
        <p:spPr>
          <a:xfrm>
            <a:off x="731520" y="4846320"/>
            <a:ext cx="2316403" cy="411480"/>
          </a:xfrm>
          <a:prstGeom prst="rect">
            <a:avLst/>
          </a:prstGeom>
          <a:noFill/>
        </p:spPr>
        <p:txBody>
          <a:bodyPr wrap="square" lIns="0" rIns="0" tIns="0" bIns="0" anchor="t">
            <a:noAutofit/>
          </a:bodyPr>
          <a:lstStyle/>
          <a:p>
            <a:pPr algn="l">
              <a:lnSpc>
                <a:spcPct val="110000"/>
              </a:lnSpc>
            </a:pPr>
            <a:r>
              <a:rPr sz="850" b="0" i="0" spc="60">
                <a:solidFill>
                  <a:srgbClr val="EC7A3C"/>
                </a:solidFill>
                <a:latin typeface="Noto Sans KR SemiBold"/>
                <a:ea typeface="Noto Sans KR SemiBold"/>
                <a:cs typeface="Noto Sans KR SemiBold"/>
              </a:rPr>
              <a:t>WHY IT PAYS  </a:t>
            </a:r>
          </a:p>
          <a:p>
            <a:pPr algn="l">
              <a:lnSpc>
                <a:spcPct val="110000"/>
              </a:lnSpc>
            </a:pPr>
            <a:r>
              <a:rPr sz="1000" b="0" i="0">
                <a:solidFill>
                  <a:srgbClr val="F2F2EF"/>
                </a:solidFill>
                <a:latin typeface="Noto Sans KR"/>
                <a:ea typeface="Noto Sans KR"/>
                <a:cs typeface="Noto Sans KR"/>
              </a:rPr>
              <a:t>SKU 변경마다 핑거·지그 교체 제거</a:t>
            </a:r>
          </a:p>
        </p:txBody>
      </p:sp>
      <p:sp>
        <p:nvSpPr>
          <p:cNvPr id="13" name="Task card 2"/>
          <p:cNvSpPr/>
          <p:nvPr/>
        </p:nvSpPr>
        <p:spPr>
          <a:xfrm>
            <a:off x="3367963" y="1847088"/>
            <a:ext cx="2636443" cy="3474720"/>
          </a:xfrm>
          <a:prstGeom prst="roundRect">
            <a:avLst>
              <a:gd name="adj" fmla="val 4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4" name="TextBox 13"/>
          <p:cNvSpPr txBox="1"/>
          <p:nvPr/>
        </p:nvSpPr>
        <p:spPr>
          <a:xfrm>
            <a:off x="3550843" y="1965960"/>
            <a:ext cx="2270683" cy="237744"/>
          </a:xfrm>
          <a:prstGeom prst="rect">
            <a:avLst/>
          </a:prstGeom>
          <a:noFill/>
        </p:spPr>
        <p:txBody>
          <a:bodyPr wrap="square" lIns="0" rIns="0" tIns="0" bIns="0" anchor="t">
            <a:noAutofit/>
          </a:bodyPr>
          <a:lstStyle/>
          <a:p>
            <a:pPr algn="l">
              <a:lnSpc>
                <a:spcPct val="112000"/>
              </a:lnSpc>
            </a:pPr>
            <a:r>
              <a:rPr sz="950" b="0" i="0" spc="100">
                <a:solidFill>
                  <a:srgbClr val="EC7A3C"/>
                </a:solidFill>
                <a:latin typeface="Noto Sans KR SemiBold"/>
                <a:ea typeface="Noto Sans KR SemiBold"/>
                <a:cs typeface="Noto Sans KR SemiBold"/>
              </a:rPr>
              <a:t>TASK B · CORE</a:t>
            </a:r>
          </a:p>
        </p:txBody>
      </p:sp>
      <p:pic>
        <p:nvPicPr>
          <p:cNvPr id="15" name="HERO 04 TASK B · CORE" descr="Concept rendering: LOW-TORQUE TOOL&#10;MANIPULATION"/>
          <p:cNvPicPr>
            <a:picLocks noChangeAspect="1"/>
          </p:cNvPicPr>
          <p:nvPr/>
        </p:nvPicPr>
        <p:blipFill>
          <a:blip r:embed="rId3"/>
          <a:stretch>
            <a:fillRect/>
          </a:stretch>
        </p:blipFill>
        <p:spPr>
          <a:xfrm>
            <a:off x="3563967" y="2240280"/>
            <a:ext cx="2244436" cy="1481328"/>
          </a:xfrm>
          <a:prstGeom prst="rect">
            <a:avLst/>
          </a:prstGeom>
        </p:spPr>
      </p:pic>
      <p:sp>
        <p:nvSpPr>
          <p:cNvPr id="16" name="TextBox 15"/>
          <p:cNvSpPr txBox="1"/>
          <p:nvPr/>
        </p:nvSpPr>
        <p:spPr>
          <a:xfrm>
            <a:off x="3550843" y="3794760"/>
            <a:ext cx="2316403" cy="512064"/>
          </a:xfrm>
          <a:prstGeom prst="rect">
            <a:avLst/>
          </a:prstGeom>
          <a:noFill/>
        </p:spPr>
        <p:txBody>
          <a:bodyPr wrap="square" lIns="0" rIns="0" tIns="0" bIns="0" anchor="t">
            <a:noAutofit/>
          </a:bodyPr>
          <a:lstStyle/>
          <a:p>
            <a:pPr algn="l">
              <a:lnSpc>
                <a:spcPct val="105000"/>
              </a:lnSpc>
            </a:pPr>
            <a:r>
              <a:rPr sz="1150" b="0" i="0">
                <a:solidFill>
                  <a:srgbClr val="F2F2EF"/>
                </a:solidFill>
                <a:latin typeface="Noto Sans KR Black"/>
                <a:ea typeface="Noto Sans KR Black"/>
                <a:cs typeface="Noto Sans KR Black"/>
              </a:rPr>
              <a:t>LOW-TORQUE TOOL</a:t>
            </a:r>
          </a:p>
          <a:p>
            <a:pPr algn="l">
              <a:lnSpc>
                <a:spcPct val="105000"/>
              </a:lnSpc>
            </a:pPr>
            <a:r>
              <a:rPr sz="1150" b="0" i="0">
                <a:solidFill>
                  <a:srgbClr val="F2F2EF"/>
                </a:solidFill>
                <a:latin typeface="Noto Sans KR Black"/>
                <a:ea typeface="Noto Sans KR Black"/>
                <a:cs typeface="Noto Sans KR Black"/>
              </a:rPr>
              <a:t>MANIPULATION</a:t>
            </a:r>
          </a:p>
        </p:txBody>
      </p:sp>
      <p:sp>
        <p:nvSpPr>
          <p:cNvPr id="17" name="TextBox 16"/>
          <p:cNvSpPr txBox="1"/>
          <p:nvPr/>
        </p:nvSpPr>
        <p:spPr>
          <a:xfrm>
            <a:off x="3550843" y="4334256"/>
            <a:ext cx="2316403"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스크루드라이버 계열</a:t>
            </a:r>
          </a:p>
          <a:p>
            <a:pPr algn="l">
              <a:lnSpc>
                <a:spcPct val="115000"/>
              </a:lnSpc>
            </a:pPr>
            <a:r>
              <a:rPr sz="1000" b="0" i="0">
                <a:solidFill>
                  <a:srgbClr val="AEB3BB"/>
                </a:solidFill>
                <a:latin typeface="Noto Sans KR"/>
                <a:ea typeface="Noto Sans KR"/>
                <a:cs typeface="Noto Sans KR"/>
              </a:rPr>
              <a:t>저토크 체결 작업</a:t>
            </a:r>
          </a:p>
        </p:txBody>
      </p:sp>
      <p:sp>
        <p:nvSpPr>
          <p:cNvPr id="18" name="TextBox 17"/>
          <p:cNvSpPr txBox="1"/>
          <p:nvPr/>
        </p:nvSpPr>
        <p:spPr>
          <a:xfrm>
            <a:off x="3550843" y="4846320"/>
            <a:ext cx="2316403" cy="411480"/>
          </a:xfrm>
          <a:prstGeom prst="rect">
            <a:avLst/>
          </a:prstGeom>
          <a:noFill/>
        </p:spPr>
        <p:txBody>
          <a:bodyPr wrap="square" lIns="0" rIns="0" tIns="0" bIns="0" anchor="t">
            <a:noAutofit/>
          </a:bodyPr>
          <a:lstStyle/>
          <a:p>
            <a:pPr algn="l">
              <a:lnSpc>
                <a:spcPct val="110000"/>
              </a:lnSpc>
            </a:pPr>
            <a:r>
              <a:rPr sz="850" b="0" i="0" spc="60">
                <a:solidFill>
                  <a:srgbClr val="EC7A3C"/>
                </a:solidFill>
                <a:latin typeface="Noto Sans KR SemiBold"/>
                <a:ea typeface="Noto Sans KR SemiBold"/>
                <a:cs typeface="Noto Sans KR SemiBold"/>
              </a:rPr>
              <a:t>WHY IT PAYS  </a:t>
            </a:r>
          </a:p>
          <a:p>
            <a:pPr algn="l">
              <a:lnSpc>
                <a:spcPct val="110000"/>
              </a:lnSpc>
            </a:pPr>
            <a:r>
              <a:rPr sz="1000" b="0" i="0">
                <a:solidFill>
                  <a:srgbClr val="F2F2EF"/>
                </a:solidFill>
                <a:latin typeface="Noto Sans KR"/>
                <a:ea typeface="Noto Sans KR"/>
                <a:cs typeface="Noto Sans KR"/>
              </a:rPr>
              <a:t>전용 체결 툴 없이 공정 추가</a:t>
            </a:r>
          </a:p>
        </p:txBody>
      </p:sp>
      <p:sp>
        <p:nvSpPr>
          <p:cNvPr id="19" name="Task card 3"/>
          <p:cNvSpPr/>
          <p:nvPr/>
        </p:nvSpPr>
        <p:spPr>
          <a:xfrm>
            <a:off x="6187287" y="1847088"/>
            <a:ext cx="2636443" cy="3474720"/>
          </a:xfrm>
          <a:prstGeom prst="roundRect">
            <a:avLst>
              <a:gd name="adj" fmla="val 4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0" name="TextBox 19"/>
          <p:cNvSpPr txBox="1"/>
          <p:nvPr/>
        </p:nvSpPr>
        <p:spPr>
          <a:xfrm>
            <a:off x="6370167" y="1965960"/>
            <a:ext cx="2270683" cy="237744"/>
          </a:xfrm>
          <a:prstGeom prst="rect">
            <a:avLst/>
          </a:prstGeom>
          <a:noFill/>
        </p:spPr>
        <p:txBody>
          <a:bodyPr wrap="square" lIns="0" rIns="0" tIns="0" bIns="0" anchor="t">
            <a:noAutofit/>
          </a:bodyPr>
          <a:lstStyle/>
          <a:p>
            <a:pPr algn="l">
              <a:lnSpc>
                <a:spcPct val="112000"/>
              </a:lnSpc>
            </a:pPr>
            <a:r>
              <a:rPr sz="950" b="0" i="0" spc="100">
                <a:solidFill>
                  <a:srgbClr val="EC7A3C"/>
                </a:solidFill>
                <a:latin typeface="Noto Sans KR SemiBold"/>
                <a:ea typeface="Noto Sans KR SemiBold"/>
                <a:cs typeface="Noto Sans KR SemiBold"/>
              </a:rPr>
              <a:t>TASK C · CORE</a:t>
            </a:r>
          </a:p>
        </p:txBody>
      </p:sp>
      <p:pic>
        <p:nvPicPr>
          <p:cNvPr id="21" name="HERO 04 TASK C · CORE" descr="Concept rendering: HANDLE / LEVER&#10;MANIPULATION"/>
          <p:cNvPicPr>
            <a:picLocks noChangeAspect="1"/>
          </p:cNvPicPr>
          <p:nvPr/>
        </p:nvPicPr>
        <p:blipFill>
          <a:blip r:embed="rId4"/>
          <a:stretch>
            <a:fillRect/>
          </a:stretch>
        </p:blipFill>
        <p:spPr>
          <a:xfrm>
            <a:off x="6365622" y="2240280"/>
            <a:ext cx="2279774" cy="1481328"/>
          </a:xfrm>
          <a:prstGeom prst="rect">
            <a:avLst/>
          </a:prstGeom>
        </p:spPr>
      </p:pic>
      <p:sp>
        <p:nvSpPr>
          <p:cNvPr id="22" name="TextBox 21"/>
          <p:cNvSpPr txBox="1"/>
          <p:nvPr/>
        </p:nvSpPr>
        <p:spPr>
          <a:xfrm>
            <a:off x="6370167" y="3794760"/>
            <a:ext cx="2316403" cy="512064"/>
          </a:xfrm>
          <a:prstGeom prst="rect">
            <a:avLst/>
          </a:prstGeom>
          <a:noFill/>
        </p:spPr>
        <p:txBody>
          <a:bodyPr wrap="square" lIns="0" rIns="0" tIns="0" bIns="0" anchor="t">
            <a:noAutofit/>
          </a:bodyPr>
          <a:lstStyle/>
          <a:p>
            <a:pPr algn="l">
              <a:lnSpc>
                <a:spcPct val="105000"/>
              </a:lnSpc>
            </a:pPr>
            <a:r>
              <a:rPr sz="1150" b="0" i="0">
                <a:solidFill>
                  <a:srgbClr val="F2F2EF"/>
                </a:solidFill>
                <a:latin typeface="Noto Sans KR Black"/>
                <a:ea typeface="Noto Sans KR Black"/>
                <a:cs typeface="Noto Sans KR Black"/>
              </a:rPr>
              <a:t>HANDLE / LEVER</a:t>
            </a:r>
          </a:p>
          <a:p>
            <a:pPr algn="l">
              <a:lnSpc>
                <a:spcPct val="105000"/>
              </a:lnSpc>
            </a:pPr>
            <a:r>
              <a:rPr sz="1150" b="0" i="0">
                <a:solidFill>
                  <a:srgbClr val="F2F2EF"/>
                </a:solidFill>
                <a:latin typeface="Noto Sans KR Black"/>
                <a:ea typeface="Noto Sans KR Black"/>
                <a:cs typeface="Noto Sans KR Black"/>
              </a:rPr>
              <a:t>MANIPULATION</a:t>
            </a:r>
          </a:p>
        </p:txBody>
      </p:sp>
      <p:sp>
        <p:nvSpPr>
          <p:cNvPr id="23" name="TextBox 22"/>
          <p:cNvSpPr txBox="1"/>
          <p:nvPr/>
        </p:nvSpPr>
        <p:spPr>
          <a:xfrm>
            <a:off x="6370167" y="4334256"/>
            <a:ext cx="2316403"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손잡이·레버·도어 조작</a:t>
            </a:r>
          </a:p>
        </p:txBody>
      </p:sp>
      <p:sp>
        <p:nvSpPr>
          <p:cNvPr id="24" name="TextBox 23"/>
          <p:cNvSpPr txBox="1"/>
          <p:nvPr/>
        </p:nvSpPr>
        <p:spPr>
          <a:xfrm>
            <a:off x="6370167" y="4846320"/>
            <a:ext cx="2316403" cy="411480"/>
          </a:xfrm>
          <a:prstGeom prst="rect">
            <a:avLst/>
          </a:prstGeom>
          <a:noFill/>
        </p:spPr>
        <p:txBody>
          <a:bodyPr wrap="square" lIns="0" rIns="0" tIns="0" bIns="0" anchor="t">
            <a:noAutofit/>
          </a:bodyPr>
          <a:lstStyle/>
          <a:p>
            <a:pPr algn="l">
              <a:lnSpc>
                <a:spcPct val="110000"/>
              </a:lnSpc>
            </a:pPr>
            <a:r>
              <a:rPr sz="850" b="0" i="0" spc="60">
                <a:solidFill>
                  <a:srgbClr val="EC7A3C"/>
                </a:solidFill>
                <a:latin typeface="Noto Sans KR SemiBold"/>
                <a:ea typeface="Noto Sans KR SemiBold"/>
                <a:cs typeface="Noto Sans KR SemiBold"/>
              </a:rPr>
              <a:t>WHY IT PAYS  </a:t>
            </a:r>
          </a:p>
          <a:p>
            <a:pPr algn="l">
              <a:lnSpc>
                <a:spcPct val="110000"/>
              </a:lnSpc>
            </a:pPr>
            <a:r>
              <a:rPr sz="1000" b="0" i="0">
                <a:solidFill>
                  <a:srgbClr val="F2F2EF"/>
                </a:solidFill>
                <a:latin typeface="Noto Sans KR"/>
                <a:ea typeface="Noto Sans KR"/>
                <a:cs typeface="Noto Sans KR"/>
              </a:rPr>
              <a:t>설비 조작·머신텐딩으로 확장</a:t>
            </a:r>
          </a:p>
        </p:txBody>
      </p:sp>
      <p:sp>
        <p:nvSpPr>
          <p:cNvPr id="25" name="Task card 4"/>
          <p:cNvSpPr/>
          <p:nvPr/>
        </p:nvSpPr>
        <p:spPr>
          <a:xfrm>
            <a:off x="9006611" y="1847088"/>
            <a:ext cx="2636443" cy="3474720"/>
          </a:xfrm>
          <a:prstGeom prst="roundRect">
            <a:avLst>
              <a:gd name="adj" fmla="val 4161"/>
            </a:avLst>
          </a:prstGeom>
          <a:solidFill>
            <a:srgbClr val="15171B"/>
          </a:solidFill>
          <a:ln w="9525">
            <a:solidFill>
              <a:srgbClr val="3C424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6" name="TextBox 25"/>
          <p:cNvSpPr txBox="1"/>
          <p:nvPr/>
        </p:nvSpPr>
        <p:spPr>
          <a:xfrm>
            <a:off x="9189491" y="1965960"/>
            <a:ext cx="2270683" cy="237744"/>
          </a:xfrm>
          <a:prstGeom prst="rect">
            <a:avLst/>
          </a:prstGeom>
          <a:noFill/>
        </p:spPr>
        <p:txBody>
          <a:bodyPr wrap="square" lIns="0" rIns="0" tIns="0" bIns="0" anchor="t">
            <a:noAutofit/>
          </a:bodyPr>
          <a:lstStyle/>
          <a:p>
            <a:pPr algn="l">
              <a:lnSpc>
                <a:spcPct val="112000"/>
              </a:lnSpc>
            </a:pPr>
            <a:r>
              <a:rPr sz="950" b="0" i="0" spc="100">
                <a:solidFill>
                  <a:srgbClr val="AEB3BB"/>
                </a:solidFill>
                <a:latin typeface="Noto Sans KR SemiBold"/>
                <a:ea typeface="Noto Sans KR SemiBold"/>
                <a:cs typeface="Noto Sans KR SemiBold"/>
              </a:rPr>
              <a:t>TASK D · STRETCH</a:t>
            </a:r>
          </a:p>
        </p:txBody>
      </p:sp>
      <p:pic>
        <p:nvPicPr>
          <p:cNvPr id="27" name="HERO 04 TASK D · STRETCH" descr="Concept rendering: TONGS / SIMPLE&#10;ARTICULATED TOOL"/>
          <p:cNvPicPr>
            <a:picLocks noChangeAspect="1"/>
          </p:cNvPicPr>
          <p:nvPr/>
        </p:nvPicPr>
        <p:blipFill>
          <a:blip r:embed="rId5"/>
          <a:stretch>
            <a:fillRect/>
          </a:stretch>
        </p:blipFill>
        <p:spPr>
          <a:xfrm>
            <a:off x="9787030" y="2240280"/>
            <a:ext cx="1075604" cy="1481328"/>
          </a:xfrm>
          <a:prstGeom prst="rect">
            <a:avLst/>
          </a:prstGeom>
        </p:spPr>
      </p:pic>
      <p:sp>
        <p:nvSpPr>
          <p:cNvPr id="28" name="TextBox 27"/>
          <p:cNvSpPr txBox="1"/>
          <p:nvPr/>
        </p:nvSpPr>
        <p:spPr>
          <a:xfrm>
            <a:off x="9189491" y="3794760"/>
            <a:ext cx="2316403" cy="512064"/>
          </a:xfrm>
          <a:prstGeom prst="rect">
            <a:avLst/>
          </a:prstGeom>
          <a:noFill/>
        </p:spPr>
        <p:txBody>
          <a:bodyPr wrap="square" lIns="0" rIns="0" tIns="0" bIns="0" anchor="t">
            <a:noAutofit/>
          </a:bodyPr>
          <a:lstStyle/>
          <a:p>
            <a:pPr algn="l">
              <a:lnSpc>
                <a:spcPct val="105000"/>
              </a:lnSpc>
            </a:pPr>
            <a:r>
              <a:rPr sz="1150" b="0" i="0">
                <a:solidFill>
                  <a:srgbClr val="F2F2EF"/>
                </a:solidFill>
                <a:latin typeface="Noto Sans KR Black"/>
                <a:ea typeface="Noto Sans KR Black"/>
                <a:cs typeface="Noto Sans KR Black"/>
              </a:rPr>
              <a:t>TONGS / SIMPLE</a:t>
            </a:r>
          </a:p>
          <a:p>
            <a:pPr algn="l">
              <a:lnSpc>
                <a:spcPct val="105000"/>
              </a:lnSpc>
            </a:pPr>
            <a:r>
              <a:rPr sz="1150" b="0" i="0">
                <a:solidFill>
                  <a:srgbClr val="F2F2EF"/>
                </a:solidFill>
                <a:latin typeface="Noto Sans KR Black"/>
                <a:ea typeface="Noto Sans KR Black"/>
                <a:cs typeface="Noto Sans KR Black"/>
              </a:rPr>
              <a:t>ARTICULATED TOOL</a:t>
            </a:r>
          </a:p>
        </p:txBody>
      </p:sp>
      <p:sp>
        <p:nvSpPr>
          <p:cNvPr id="29" name="TextBox 28"/>
          <p:cNvSpPr txBox="1"/>
          <p:nvPr/>
        </p:nvSpPr>
        <p:spPr>
          <a:xfrm>
            <a:off x="9189491" y="4334256"/>
            <a:ext cx="2316403" cy="45720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집게 등 단순 관절 도구</a:t>
            </a:r>
          </a:p>
        </p:txBody>
      </p:sp>
      <p:sp>
        <p:nvSpPr>
          <p:cNvPr id="30" name="TextBox 29"/>
          <p:cNvSpPr txBox="1"/>
          <p:nvPr/>
        </p:nvSpPr>
        <p:spPr>
          <a:xfrm>
            <a:off x="9189491" y="4846320"/>
            <a:ext cx="2316403" cy="411480"/>
          </a:xfrm>
          <a:prstGeom prst="rect">
            <a:avLst/>
          </a:prstGeom>
          <a:noFill/>
        </p:spPr>
        <p:txBody>
          <a:bodyPr wrap="square" lIns="0" rIns="0" tIns="0" bIns="0" anchor="t">
            <a:noAutofit/>
          </a:bodyPr>
          <a:lstStyle/>
          <a:p>
            <a:pPr algn="l">
              <a:lnSpc>
                <a:spcPct val="110000"/>
              </a:lnSpc>
            </a:pPr>
            <a:r>
              <a:rPr sz="850" b="0" i="0" spc="60">
                <a:solidFill>
                  <a:srgbClr val="EC7A3C"/>
                </a:solidFill>
                <a:latin typeface="Noto Sans KR SemiBold"/>
                <a:ea typeface="Noto Sans KR SemiBold"/>
                <a:cs typeface="Noto Sans KR SemiBold"/>
              </a:rPr>
              <a:t>WHY IT PAYS  </a:t>
            </a:r>
          </a:p>
          <a:p>
            <a:pPr algn="l">
              <a:lnSpc>
                <a:spcPct val="110000"/>
              </a:lnSpc>
            </a:pPr>
            <a:r>
              <a:rPr sz="1000" b="0" i="0">
                <a:solidFill>
                  <a:srgbClr val="F2F2EF"/>
                </a:solidFill>
                <a:latin typeface="Noto Sans KR"/>
                <a:ea typeface="Noto Sans KR"/>
                <a:cs typeface="Noto Sans KR"/>
              </a:rPr>
              <a:t>식품·주방 확장의 브리지</a:t>
            </a:r>
          </a:p>
        </p:txBody>
      </p:sp>
      <p:sp>
        <p:nvSpPr>
          <p:cNvPr id="31" name="Scope SEED PRODUCT"/>
          <p:cNvSpPr/>
          <p:nvPr/>
        </p:nvSpPr>
        <p:spPr>
          <a:xfrm>
            <a:off x="548640" y="5504688"/>
            <a:ext cx="4206240" cy="566928"/>
          </a:xfrm>
          <a:prstGeom prst="roundRect">
            <a:avLst>
              <a:gd name="adj" fmla="val 1290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2" name="TextBox 31"/>
          <p:cNvSpPr txBox="1"/>
          <p:nvPr/>
        </p:nvSpPr>
        <p:spPr>
          <a:xfrm>
            <a:off x="713232" y="5541264"/>
            <a:ext cx="3931920" cy="502920"/>
          </a:xfrm>
          <a:prstGeom prst="rect">
            <a:avLst/>
          </a:prstGeom>
          <a:noFill/>
        </p:spPr>
        <p:txBody>
          <a:bodyPr wrap="square" lIns="0" rIns="0" tIns="0" bIns="0" anchor="t">
            <a:noAutofit/>
          </a:bodyPr>
          <a:lstStyle/>
          <a:p>
            <a:pPr algn="l">
              <a:lnSpc>
                <a:spcPct val="112000"/>
              </a:lnSpc>
            </a:pPr>
            <a:r>
              <a:rPr sz="850" b="0" i="0" spc="80">
                <a:solidFill>
                  <a:srgbClr val="EC7A3C"/>
                </a:solidFill>
                <a:latin typeface="Noto Sans KR SemiBold"/>
                <a:ea typeface="Noto Sans KR SemiBold"/>
                <a:cs typeface="Noto Sans KR SemiBold"/>
              </a:rPr>
              <a:t>SEED PRODUCT</a:t>
            </a:r>
          </a:p>
          <a:p>
            <a:pPr algn="l">
              <a:lnSpc>
                <a:spcPct val="112000"/>
              </a:lnSpc>
            </a:pPr>
            <a:r>
              <a:rPr sz="1000" b="0" i="0">
                <a:solidFill>
                  <a:srgbClr val="F2F2EF"/>
                </a:solidFill>
                <a:latin typeface="Noto Sans KR"/>
                <a:ea typeface="Noto Sans KR"/>
                <a:cs typeface="Noto Sans KR"/>
              </a:rPr>
              <a:t>SoftHand-4 V1 · 1 Hand · 3 Core Tasks (+1 Stretch) · Robot 플랫폼 2종</a:t>
            </a:r>
          </a:p>
        </p:txBody>
      </p:sp>
      <p:sp>
        <p:nvSpPr>
          <p:cNvPr id="33" name="Scope FIRST BUYERS"/>
          <p:cNvSpPr/>
          <p:nvPr/>
        </p:nvSpPr>
        <p:spPr>
          <a:xfrm>
            <a:off x="4937759" y="5504688"/>
            <a:ext cx="3154680" cy="566928"/>
          </a:xfrm>
          <a:prstGeom prst="roundRect">
            <a:avLst>
              <a:gd name="adj" fmla="val 1290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4" name="TextBox 33"/>
          <p:cNvSpPr txBox="1"/>
          <p:nvPr/>
        </p:nvSpPr>
        <p:spPr>
          <a:xfrm>
            <a:off x="5102351" y="5541264"/>
            <a:ext cx="2880360" cy="502920"/>
          </a:xfrm>
          <a:prstGeom prst="rect">
            <a:avLst/>
          </a:prstGeom>
          <a:noFill/>
        </p:spPr>
        <p:txBody>
          <a:bodyPr wrap="square" lIns="0" rIns="0" tIns="0" bIns="0" anchor="t">
            <a:noAutofit/>
          </a:bodyPr>
          <a:lstStyle/>
          <a:p>
            <a:pPr algn="l">
              <a:lnSpc>
                <a:spcPct val="112000"/>
              </a:lnSpc>
            </a:pPr>
            <a:r>
              <a:rPr sz="850" b="0" i="0" spc="80">
                <a:solidFill>
                  <a:srgbClr val="EC7A3C"/>
                </a:solidFill>
                <a:latin typeface="Noto Sans KR SemiBold"/>
                <a:ea typeface="Noto Sans KR SemiBold"/>
                <a:cs typeface="Noto Sans KR SemiBold"/>
              </a:rPr>
              <a:t>FIRST BUYERS</a:t>
            </a:r>
          </a:p>
          <a:p>
            <a:pPr algn="l">
              <a:lnSpc>
                <a:spcPct val="112000"/>
              </a:lnSpc>
            </a:pPr>
            <a:r>
              <a:rPr sz="1000" b="0" i="0">
                <a:solidFill>
                  <a:srgbClr val="F2F2EF"/>
                </a:solidFill>
                <a:latin typeface="Noto Sans KR"/>
                <a:ea typeface="Noto Sans KR"/>
                <a:cs typeface="Noto Sans KR"/>
              </a:rPr>
              <a:t>Robot SI · 다품종 제조 라인 · Cobot 사용 기업</a:t>
            </a:r>
          </a:p>
        </p:txBody>
      </p:sp>
      <p:sp>
        <p:nvSpPr>
          <p:cNvPr id="35" name="Scope NEXT"/>
          <p:cNvSpPr/>
          <p:nvPr/>
        </p:nvSpPr>
        <p:spPr>
          <a:xfrm>
            <a:off x="8275320" y="5504688"/>
            <a:ext cx="3364992" cy="566928"/>
          </a:xfrm>
          <a:prstGeom prst="roundRect">
            <a:avLst>
              <a:gd name="adj" fmla="val 1290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6" name="TextBox 35"/>
          <p:cNvSpPr txBox="1"/>
          <p:nvPr/>
        </p:nvSpPr>
        <p:spPr>
          <a:xfrm>
            <a:off x="8439912" y="5541264"/>
            <a:ext cx="3090672" cy="502920"/>
          </a:xfrm>
          <a:prstGeom prst="rect">
            <a:avLst/>
          </a:prstGeom>
          <a:noFill/>
        </p:spPr>
        <p:txBody>
          <a:bodyPr wrap="square" lIns="0" rIns="0" tIns="0" bIns="0" anchor="t">
            <a:noAutofit/>
          </a:bodyPr>
          <a:lstStyle/>
          <a:p>
            <a:pPr algn="l">
              <a:lnSpc>
                <a:spcPct val="112000"/>
              </a:lnSpc>
            </a:pPr>
            <a:r>
              <a:rPr sz="850" b="0" i="0" spc="80">
                <a:solidFill>
                  <a:srgbClr val="EC7A3C"/>
                </a:solidFill>
                <a:latin typeface="Noto Sans KR SemiBold"/>
                <a:ea typeface="Noto Sans KR SemiBold"/>
                <a:cs typeface="Noto Sans KR SemiBold"/>
              </a:rPr>
              <a:t>NEXT</a:t>
            </a:r>
          </a:p>
          <a:p>
            <a:pPr algn="l">
              <a:lnSpc>
                <a:spcPct val="112000"/>
              </a:lnSpc>
            </a:pPr>
            <a:r>
              <a:rPr sz="1000" b="0" i="0">
                <a:solidFill>
                  <a:srgbClr val="F2F2EF"/>
                </a:solidFill>
                <a:latin typeface="Noto Sans KR"/>
                <a:ea typeface="Noto Sans KR"/>
                <a:cs typeface="Noto Sans KR"/>
              </a:rPr>
              <a:t>SoftHand-5(5지)는 Seed 성공조건에서 제외 → Series A 확장 제품</a:t>
            </a:r>
          </a:p>
        </p:txBody>
      </p:sp>
      <p:sp>
        <p:nvSpPr>
          <p:cNvPr id="37"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38"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08  ·  CUSTOMER ECONOMICS</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SAME HAND. NEW SKILL.</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고객은 '사람 같은 손'이 아니라 '더 짧고 싼 작업 전환'에 돈을 낸다</a:t>
            </a:r>
          </a:p>
        </p:txBody>
      </p:sp>
      <p:sp>
        <p:nvSpPr>
          <p:cNvPr id="6" name="TextBox 5"/>
          <p:cNvSpPr txBox="1"/>
          <p:nvPr/>
        </p:nvSpPr>
        <p:spPr>
          <a:xfrm>
            <a:off x="548640" y="1901952"/>
            <a:ext cx="1554480" cy="274320"/>
          </a:xfrm>
          <a:prstGeom prst="rect">
            <a:avLst/>
          </a:prstGeom>
          <a:noFill/>
        </p:spPr>
        <p:txBody>
          <a:bodyPr wrap="square" lIns="0" rIns="0" tIns="0" bIns="0" anchor="t">
            <a:noAutofit/>
          </a:bodyPr>
          <a:lstStyle/>
          <a:p>
            <a:pPr algn="l">
              <a:lnSpc>
                <a:spcPct val="112000"/>
              </a:lnSpc>
            </a:pPr>
            <a:r>
              <a:rPr sz="1400" b="0" i="0">
                <a:solidFill>
                  <a:srgbClr val="AEB3BB"/>
                </a:solidFill>
                <a:latin typeface="Noto Sans KR Black"/>
                <a:ea typeface="Noto Sans KR Black"/>
                <a:cs typeface="Noto Sans KR Black"/>
              </a:rPr>
              <a:t>TODAY</a:t>
            </a:r>
          </a:p>
        </p:txBody>
      </p:sp>
      <p:sp>
        <p:nvSpPr>
          <p:cNvPr id="7" name="TextBox 6"/>
          <p:cNvSpPr txBox="1"/>
          <p:nvPr/>
        </p:nvSpPr>
        <p:spPr>
          <a:xfrm>
            <a:off x="548640" y="2194560"/>
            <a:ext cx="1554480" cy="274320"/>
          </a:xfrm>
          <a:prstGeom prst="rect">
            <a:avLst/>
          </a:prstGeom>
          <a:noFill/>
        </p:spPr>
        <p:txBody>
          <a:bodyPr wrap="square" lIns="0" rIns="0" tIns="0" bIns="0" anchor="t">
            <a:noAutofit/>
          </a:bodyPr>
          <a:lstStyle/>
          <a:p>
            <a:pPr algn="l">
              <a:lnSpc>
                <a:spcPct val="112000"/>
              </a:lnSpc>
            </a:pPr>
            <a:r>
              <a:rPr sz="1000" b="0" i="0">
                <a:solidFill>
                  <a:srgbClr val="737882"/>
                </a:solidFill>
                <a:latin typeface="Noto Sans KR"/>
                <a:ea typeface="Noto Sans KR"/>
                <a:cs typeface="Noto Sans KR"/>
              </a:rPr>
              <a:t>기존 자동화</a:t>
            </a:r>
          </a:p>
        </p:txBody>
      </p:sp>
      <p:sp>
        <p:nvSpPr>
          <p:cNvPr id="8" name="Today 1"/>
          <p:cNvSpPr/>
          <p:nvPr/>
        </p:nvSpPr>
        <p:spPr>
          <a:xfrm>
            <a:off x="2148840" y="1847088"/>
            <a:ext cx="1090764" cy="603504"/>
          </a:xfrm>
          <a:prstGeom prst="roundRect">
            <a:avLst>
              <a:gd name="adj" fmla="val 1060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AEB3BB"/>
                </a:solidFill>
                <a:latin typeface="Noto Sans KR SemiBold"/>
                <a:ea typeface="Noto Sans KR SemiBold"/>
                <a:cs typeface="Noto Sans KR SemiBold"/>
              </a:rPr>
              <a:t>NEW TASK</a:t>
            </a:r>
          </a:p>
        </p:txBody>
      </p:sp>
      <p:sp>
        <p:nvSpPr>
          <p:cNvPr id="9" name="Today 2"/>
          <p:cNvSpPr/>
          <p:nvPr/>
        </p:nvSpPr>
        <p:spPr>
          <a:xfrm>
            <a:off x="3349332" y="1847088"/>
            <a:ext cx="1090764" cy="603504"/>
          </a:xfrm>
          <a:prstGeom prst="roundRect">
            <a:avLst>
              <a:gd name="adj" fmla="val 1060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AEB3BB"/>
                </a:solidFill>
                <a:latin typeface="Noto Sans KR SemiBold"/>
                <a:ea typeface="Noto Sans KR SemiBold"/>
                <a:cs typeface="Noto Sans KR SemiBold"/>
              </a:rPr>
              <a:t>NEW</a:t>
            </a:r>
          </a:p>
          <a:p>
            <a:pPr algn="ctr">
              <a:lnSpc>
                <a:spcPct val="108000"/>
              </a:lnSpc>
            </a:pPr>
            <a:r>
              <a:rPr sz="950" b="0" i="0">
                <a:solidFill>
                  <a:srgbClr val="AEB3BB"/>
                </a:solidFill>
                <a:latin typeface="Noto Sans KR SemiBold"/>
                <a:ea typeface="Noto Sans KR SemiBold"/>
                <a:cs typeface="Noto Sans KR SemiBold"/>
              </a:rPr>
              <a:t>GRIPPER</a:t>
            </a:r>
          </a:p>
        </p:txBody>
      </p:sp>
      <p:sp>
        <p:nvSpPr>
          <p:cNvPr id="10" name="Today 3"/>
          <p:cNvSpPr/>
          <p:nvPr/>
        </p:nvSpPr>
        <p:spPr>
          <a:xfrm>
            <a:off x="4549825" y="1847088"/>
            <a:ext cx="1090764" cy="603504"/>
          </a:xfrm>
          <a:prstGeom prst="roundRect">
            <a:avLst>
              <a:gd name="adj" fmla="val 1060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AEB3BB"/>
                </a:solidFill>
                <a:latin typeface="Noto Sans KR SemiBold"/>
                <a:ea typeface="Noto Sans KR SemiBold"/>
                <a:cs typeface="Noto Sans KR SemiBold"/>
              </a:rPr>
              <a:t>NEW</a:t>
            </a:r>
          </a:p>
          <a:p>
            <a:pPr algn="ctr">
              <a:lnSpc>
                <a:spcPct val="108000"/>
              </a:lnSpc>
            </a:pPr>
            <a:r>
              <a:rPr sz="950" b="0" i="0">
                <a:solidFill>
                  <a:srgbClr val="AEB3BB"/>
                </a:solidFill>
                <a:latin typeface="Noto Sans KR SemiBold"/>
                <a:ea typeface="Noto Sans KR SemiBold"/>
                <a:cs typeface="Noto Sans KR SemiBold"/>
              </a:rPr>
              <a:t>FINGER</a:t>
            </a:r>
          </a:p>
        </p:txBody>
      </p:sp>
      <p:sp>
        <p:nvSpPr>
          <p:cNvPr id="11" name="Today 4"/>
          <p:cNvSpPr/>
          <p:nvPr/>
        </p:nvSpPr>
        <p:spPr>
          <a:xfrm>
            <a:off x="5750318" y="1847088"/>
            <a:ext cx="1090764" cy="603504"/>
          </a:xfrm>
          <a:prstGeom prst="roundRect">
            <a:avLst>
              <a:gd name="adj" fmla="val 1060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AEB3BB"/>
                </a:solidFill>
                <a:latin typeface="Noto Sans KR SemiBold"/>
                <a:ea typeface="Noto Sans KR SemiBold"/>
                <a:cs typeface="Noto Sans KR SemiBold"/>
              </a:rPr>
              <a:t>NEW</a:t>
            </a:r>
          </a:p>
          <a:p>
            <a:pPr algn="ctr">
              <a:lnSpc>
                <a:spcPct val="108000"/>
              </a:lnSpc>
            </a:pPr>
            <a:r>
              <a:rPr sz="950" b="0" i="0">
                <a:solidFill>
                  <a:srgbClr val="AEB3BB"/>
                </a:solidFill>
                <a:latin typeface="Noto Sans KR SemiBold"/>
                <a:ea typeface="Noto Sans KR SemiBold"/>
                <a:cs typeface="Noto Sans KR SemiBold"/>
              </a:rPr>
              <a:t>JIG</a:t>
            </a:r>
          </a:p>
        </p:txBody>
      </p:sp>
      <p:sp>
        <p:nvSpPr>
          <p:cNvPr id="12" name="Today 5"/>
          <p:cNvSpPr/>
          <p:nvPr/>
        </p:nvSpPr>
        <p:spPr>
          <a:xfrm>
            <a:off x="6950811" y="1847088"/>
            <a:ext cx="1090764" cy="603504"/>
          </a:xfrm>
          <a:prstGeom prst="roundRect">
            <a:avLst>
              <a:gd name="adj" fmla="val 1060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AEB3BB"/>
                </a:solidFill>
                <a:latin typeface="Noto Sans KR SemiBold"/>
                <a:ea typeface="Noto Sans KR SemiBold"/>
                <a:cs typeface="Noto Sans KR SemiBold"/>
              </a:rPr>
              <a:t>ENGI-</a:t>
            </a:r>
          </a:p>
          <a:p>
            <a:pPr algn="ctr">
              <a:lnSpc>
                <a:spcPct val="108000"/>
              </a:lnSpc>
            </a:pPr>
            <a:r>
              <a:rPr sz="950" b="0" i="0">
                <a:solidFill>
                  <a:srgbClr val="AEB3BB"/>
                </a:solidFill>
                <a:latin typeface="Noto Sans KR SemiBold"/>
                <a:ea typeface="Noto Sans KR SemiBold"/>
                <a:cs typeface="Noto Sans KR SemiBold"/>
              </a:rPr>
              <a:t>NEERING</a:t>
            </a:r>
          </a:p>
        </p:txBody>
      </p:sp>
      <p:sp>
        <p:nvSpPr>
          <p:cNvPr id="13" name="Today 6"/>
          <p:cNvSpPr/>
          <p:nvPr/>
        </p:nvSpPr>
        <p:spPr>
          <a:xfrm>
            <a:off x="8151304" y="1847088"/>
            <a:ext cx="1090764" cy="603504"/>
          </a:xfrm>
          <a:prstGeom prst="roundRect">
            <a:avLst>
              <a:gd name="adj" fmla="val 1060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AEB3BB"/>
                </a:solidFill>
                <a:latin typeface="Noto Sans KR SemiBold"/>
                <a:ea typeface="Noto Sans KR SemiBold"/>
                <a:cs typeface="Noto Sans KR SemiBold"/>
              </a:rPr>
              <a:t>TEACHING</a:t>
            </a:r>
          </a:p>
        </p:txBody>
      </p:sp>
      <p:sp>
        <p:nvSpPr>
          <p:cNvPr id="14" name="Today 7"/>
          <p:cNvSpPr/>
          <p:nvPr/>
        </p:nvSpPr>
        <p:spPr>
          <a:xfrm>
            <a:off x="9351797" y="1847088"/>
            <a:ext cx="1090764" cy="603504"/>
          </a:xfrm>
          <a:prstGeom prst="roundRect">
            <a:avLst>
              <a:gd name="adj" fmla="val 1060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AEB3BB"/>
                </a:solidFill>
                <a:latin typeface="Noto Sans KR SemiBold"/>
                <a:ea typeface="Noto Sans KR SemiBold"/>
                <a:cs typeface="Noto Sans KR SemiBold"/>
              </a:rPr>
              <a:t>VALIDA-</a:t>
            </a:r>
          </a:p>
          <a:p>
            <a:pPr algn="ctr">
              <a:lnSpc>
                <a:spcPct val="108000"/>
              </a:lnSpc>
            </a:pPr>
            <a:r>
              <a:rPr sz="950" b="0" i="0">
                <a:solidFill>
                  <a:srgbClr val="AEB3BB"/>
                </a:solidFill>
                <a:latin typeface="Noto Sans KR SemiBold"/>
                <a:ea typeface="Noto Sans KR SemiBold"/>
                <a:cs typeface="Noto Sans KR SemiBold"/>
              </a:rPr>
              <a:t>TION</a:t>
            </a:r>
          </a:p>
        </p:txBody>
      </p:sp>
      <p:sp>
        <p:nvSpPr>
          <p:cNvPr id="15" name="Today 8"/>
          <p:cNvSpPr/>
          <p:nvPr/>
        </p:nvSpPr>
        <p:spPr>
          <a:xfrm>
            <a:off x="10552290" y="1847088"/>
            <a:ext cx="1090764" cy="603504"/>
          </a:xfrm>
          <a:prstGeom prst="roundRect">
            <a:avLst>
              <a:gd name="adj" fmla="val 1060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AEB3BB"/>
                </a:solidFill>
                <a:latin typeface="Noto Sans KR SemiBold"/>
                <a:ea typeface="Noto Sans KR SemiBold"/>
                <a:cs typeface="Noto Sans KR SemiBold"/>
              </a:rPr>
              <a:t>LINE</a:t>
            </a:r>
          </a:p>
          <a:p>
            <a:pPr algn="ctr">
              <a:lnSpc>
                <a:spcPct val="108000"/>
              </a:lnSpc>
            </a:pPr>
            <a:r>
              <a:rPr sz="950" b="0" i="0">
                <a:solidFill>
                  <a:srgbClr val="AEB3BB"/>
                </a:solidFill>
                <a:latin typeface="Noto Sans KR SemiBold"/>
                <a:ea typeface="Noto Sans KR SemiBold"/>
                <a:cs typeface="Noto Sans KR SemiBold"/>
              </a:rPr>
              <a:t>DOWNTIME</a:t>
            </a:r>
          </a:p>
        </p:txBody>
      </p:sp>
      <p:cxnSp>
        <p:nvCxnSpPr>
          <p:cNvPr id="16" name="Connector 15"/>
          <p:cNvCxnSpPr/>
          <p:nvPr/>
        </p:nvCxnSpPr>
        <p:spPr>
          <a:xfrm>
            <a:off x="2148840" y="2578608"/>
            <a:ext cx="9494215" cy="0"/>
          </a:xfrm>
          <a:prstGeom prst="line">
            <a:avLst/>
          </a:prstGeom>
          <a:ln w="12700">
            <a:solidFill>
              <a:srgbClr val="3C42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148840" y="2633472"/>
            <a:ext cx="9494215" cy="237744"/>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작업이 바뀔 때마다 반복: 설계·제작 + 엔지니어링·티칭 + 검증 + 라인 정지 + 추가 CAPEX</a:t>
            </a:r>
          </a:p>
        </p:txBody>
      </p:sp>
      <p:sp>
        <p:nvSpPr>
          <p:cNvPr id="18" name="TextBox 17"/>
          <p:cNvSpPr txBox="1"/>
          <p:nvPr/>
        </p:nvSpPr>
        <p:spPr>
          <a:xfrm>
            <a:off x="548640" y="3054096"/>
            <a:ext cx="1554480" cy="274320"/>
          </a:xfrm>
          <a:prstGeom prst="rect">
            <a:avLst/>
          </a:prstGeom>
          <a:noFill/>
        </p:spPr>
        <p:txBody>
          <a:bodyPr wrap="square" lIns="0" rIns="0" tIns="0" bIns="0" anchor="t">
            <a:noAutofit/>
          </a:bodyPr>
          <a:lstStyle/>
          <a:p>
            <a:pPr algn="l">
              <a:lnSpc>
                <a:spcPct val="112000"/>
              </a:lnSpc>
            </a:pPr>
            <a:r>
              <a:rPr sz="1400" b="0" i="0">
                <a:solidFill>
                  <a:srgbClr val="EC7A3C"/>
                </a:solidFill>
                <a:latin typeface="Noto Sans KR Black"/>
                <a:ea typeface="Noto Sans KR Black"/>
                <a:cs typeface="Noto Sans KR Black"/>
              </a:rPr>
              <a:t>WITH US</a:t>
            </a:r>
          </a:p>
        </p:txBody>
      </p:sp>
      <p:sp>
        <p:nvSpPr>
          <p:cNvPr id="19" name="TextBox 18"/>
          <p:cNvSpPr txBox="1"/>
          <p:nvPr/>
        </p:nvSpPr>
        <p:spPr>
          <a:xfrm>
            <a:off x="548640" y="3346704"/>
            <a:ext cx="1554480" cy="274320"/>
          </a:xfrm>
          <a:prstGeom prst="rect">
            <a:avLst/>
          </a:prstGeom>
          <a:noFill/>
        </p:spPr>
        <p:txBody>
          <a:bodyPr wrap="square" lIns="0" rIns="0" tIns="0" bIns="0" anchor="t">
            <a:noAutofit/>
          </a:bodyPr>
          <a:lstStyle/>
          <a:p>
            <a:pPr algn="l">
              <a:lnSpc>
                <a:spcPct val="112000"/>
              </a:lnSpc>
            </a:pPr>
            <a:r>
              <a:rPr sz="1000" b="0" i="0">
                <a:solidFill>
                  <a:srgbClr val="AEB3BB"/>
                </a:solidFill>
                <a:latin typeface="Noto Sans KR"/>
                <a:ea typeface="Noto Sans KR"/>
                <a:cs typeface="Noto Sans KR"/>
              </a:rPr>
              <a:t>SoftHand + ToolSkill</a:t>
            </a:r>
          </a:p>
        </p:txBody>
      </p:sp>
      <p:sp>
        <p:nvSpPr>
          <p:cNvPr id="20" name="Ours 1"/>
          <p:cNvSpPr/>
          <p:nvPr/>
        </p:nvSpPr>
        <p:spPr>
          <a:xfrm>
            <a:off x="2148840" y="2999232"/>
            <a:ext cx="1090764" cy="603504"/>
          </a:xfrm>
          <a:prstGeom prst="roundRect">
            <a:avLst>
              <a:gd name="adj" fmla="val 10606"/>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F2F2EF"/>
                </a:solidFill>
                <a:latin typeface="Noto Sans KR SemiBold"/>
                <a:ea typeface="Noto Sans KR SemiBold"/>
                <a:cs typeface="Noto Sans KR SemiBold"/>
              </a:rPr>
              <a:t>NEW TASK</a:t>
            </a:r>
          </a:p>
        </p:txBody>
      </p:sp>
      <p:sp>
        <p:nvSpPr>
          <p:cNvPr id="21" name="Ours 2"/>
          <p:cNvSpPr/>
          <p:nvPr/>
        </p:nvSpPr>
        <p:spPr>
          <a:xfrm>
            <a:off x="3349332" y="2999232"/>
            <a:ext cx="1090764" cy="603504"/>
          </a:xfrm>
          <a:prstGeom prst="roundRect">
            <a:avLst>
              <a:gd name="adj" fmla="val 10606"/>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F2F2EF"/>
                </a:solidFill>
                <a:latin typeface="Noto Sans KR SemiBold"/>
                <a:ea typeface="Noto Sans KR SemiBold"/>
                <a:cs typeface="Noto Sans KR SemiBold"/>
              </a:rPr>
              <a:t>SAME</a:t>
            </a:r>
          </a:p>
          <a:p>
            <a:pPr algn="ctr">
              <a:lnSpc>
                <a:spcPct val="108000"/>
              </a:lnSpc>
            </a:pPr>
            <a:r>
              <a:rPr sz="950" b="0" i="0">
                <a:solidFill>
                  <a:srgbClr val="F2F2EF"/>
                </a:solidFill>
                <a:latin typeface="Noto Sans KR SemiBold"/>
                <a:ea typeface="Noto Sans KR SemiBold"/>
                <a:cs typeface="Noto Sans KR SemiBold"/>
              </a:rPr>
              <a:t>HAND</a:t>
            </a:r>
          </a:p>
        </p:txBody>
      </p:sp>
      <p:sp>
        <p:nvSpPr>
          <p:cNvPr id="22" name="Ours 3"/>
          <p:cNvSpPr/>
          <p:nvPr/>
        </p:nvSpPr>
        <p:spPr>
          <a:xfrm>
            <a:off x="4549825" y="2999232"/>
            <a:ext cx="1090764" cy="603504"/>
          </a:xfrm>
          <a:prstGeom prst="roundRect">
            <a:avLst>
              <a:gd name="adj" fmla="val 10606"/>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F2F2EF"/>
                </a:solidFill>
                <a:latin typeface="Noto Sans KR SemiBold"/>
                <a:ea typeface="Noto Sans KR SemiBold"/>
                <a:cs typeface="Noto Sans KR SemiBold"/>
              </a:rPr>
              <a:t>NEW TOOL</a:t>
            </a:r>
          </a:p>
          <a:p>
            <a:pPr algn="ctr">
              <a:lnSpc>
                <a:spcPct val="108000"/>
              </a:lnSpc>
            </a:pPr>
            <a:r>
              <a:rPr sz="950" b="0" i="0">
                <a:solidFill>
                  <a:srgbClr val="F2F2EF"/>
                </a:solidFill>
                <a:latin typeface="Noto Sans KR SemiBold"/>
                <a:ea typeface="Noto Sans KR SemiBold"/>
                <a:cs typeface="Noto Sans KR SemiBold"/>
              </a:rPr>
              <a:t>SKILL</a:t>
            </a:r>
          </a:p>
        </p:txBody>
      </p:sp>
      <p:sp>
        <p:nvSpPr>
          <p:cNvPr id="23" name="Ours 4"/>
          <p:cNvSpPr/>
          <p:nvPr/>
        </p:nvSpPr>
        <p:spPr>
          <a:xfrm>
            <a:off x="5750318" y="2999232"/>
            <a:ext cx="1090764" cy="603504"/>
          </a:xfrm>
          <a:prstGeom prst="roundRect">
            <a:avLst>
              <a:gd name="adj" fmla="val 10606"/>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a:solidFill>
                  <a:srgbClr val="F2F2EF"/>
                </a:solidFill>
                <a:latin typeface="Noto Sans KR SemiBold"/>
                <a:ea typeface="Noto Sans KR SemiBold"/>
                <a:cs typeface="Noto Sans KR SemiBold"/>
              </a:rPr>
              <a:t>VALIDA-</a:t>
            </a:r>
          </a:p>
          <a:p>
            <a:pPr algn="ctr">
              <a:lnSpc>
                <a:spcPct val="108000"/>
              </a:lnSpc>
            </a:pPr>
            <a:r>
              <a:rPr sz="950" b="0" i="0">
                <a:solidFill>
                  <a:srgbClr val="F2F2EF"/>
                </a:solidFill>
                <a:latin typeface="Noto Sans KR SemiBold"/>
                <a:ea typeface="Noto Sans KR SemiBold"/>
                <a:cs typeface="Noto Sans KR SemiBold"/>
              </a:rPr>
              <a:t>TION</a:t>
            </a:r>
          </a:p>
        </p:txBody>
      </p:sp>
      <p:sp>
        <p:nvSpPr>
          <p:cNvPr id="24" name="Eliminated 5"/>
          <p:cNvSpPr/>
          <p:nvPr/>
        </p:nvSpPr>
        <p:spPr>
          <a:xfrm>
            <a:off x="6950811" y="2999232"/>
            <a:ext cx="1090764" cy="603504"/>
          </a:xfrm>
          <a:prstGeom prst="roundRect">
            <a:avLst>
              <a:gd name="adj" fmla="val 10606"/>
            </a:avLst>
          </a:prstGeom>
          <a:noFill/>
          <a:ln w="9525">
            <a:solidFill>
              <a:srgbClr val="2E33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a:solidFill>
                  <a:srgbClr val="737882"/>
                </a:solidFill>
                <a:latin typeface="Noto Sans KR"/>
                <a:ea typeface="Noto Sans KR"/>
                <a:cs typeface="Noto Sans KR"/>
              </a:rPr>
              <a:t>제거</a:t>
            </a:r>
          </a:p>
        </p:txBody>
      </p:sp>
      <p:sp>
        <p:nvSpPr>
          <p:cNvPr id="25" name="Eliminated 6"/>
          <p:cNvSpPr/>
          <p:nvPr/>
        </p:nvSpPr>
        <p:spPr>
          <a:xfrm>
            <a:off x="8151304" y="2999232"/>
            <a:ext cx="1090764" cy="603504"/>
          </a:xfrm>
          <a:prstGeom prst="roundRect">
            <a:avLst>
              <a:gd name="adj" fmla="val 10606"/>
            </a:avLst>
          </a:prstGeom>
          <a:noFill/>
          <a:ln w="9525">
            <a:solidFill>
              <a:srgbClr val="2E33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a:solidFill>
                  <a:srgbClr val="737882"/>
                </a:solidFill>
                <a:latin typeface="Noto Sans KR"/>
                <a:ea typeface="Noto Sans KR"/>
                <a:cs typeface="Noto Sans KR"/>
              </a:rPr>
              <a:t>제거</a:t>
            </a:r>
          </a:p>
        </p:txBody>
      </p:sp>
      <p:sp>
        <p:nvSpPr>
          <p:cNvPr id="26" name="Eliminated 7"/>
          <p:cNvSpPr/>
          <p:nvPr/>
        </p:nvSpPr>
        <p:spPr>
          <a:xfrm>
            <a:off x="9351797" y="2999232"/>
            <a:ext cx="1090764" cy="603504"/>
          </a:xfrm>
          <a:prstGeom prst="roundRect">
            <a:avLst>
              <a:gd name="adj" fmla="val 10606"/>
            </a:avLst>
          </a:prstGeom>
          <a:noFill/>
          <a:ln w="9525">
            <a:solidFill>
              <a:srgbClr val="2E33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a:solidFill>
                  <a:srgbClr val="737882"/>
                </a:solidFill>
                <a:latin typeface="Noto Sans KR"/>
                <a:ea typeface="Noto Sans KR"/>
                <a:cs typeface="Noto Sans KR"/>
              </a:rPr>
              <a:t>제거</a:t>
            </a:r>
          </a:p>
        </p:txBody>
      </p:sp>
      <p:sp>
        <p:nvSpPr>
          <p:cNvPr id="27" name="Eliminated 8"/>
          <p:cNvSpPr/>
          <p:nvPr/>
        </p:nvSpPr>
        <p:spPr>
          <a:xfrm>
            <a:off x="10552290" y="2999232"/>
            <a:ext cx="1090764" cy="603504"/>
          </a:xfrm>
          <a:prstGeom prst="roundRect">
            <a:avLst>
              <a:gd name="adj" fmla="val 10606"/>
            </a:avLst>
          </a:prstGeom>
          <a:noFill/>
          <a:ln w="9525">
            <a:solidFill>
              <a:srgbClr val="2E33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a:solidFill>
                  <a:srgbClr val="737882"/>
                </a:solidFill>
                <a:latin typeface="Noto Sans KR"/>
                <a:ea typeface="Noto Sans KR"/>
                <a:cs typeface="Noto Sans KR"/>
              </a:rPr>
              <a:t>제거</a:t>
            </a:r>
          </a:p>
        </p:txBody>
      </p:sp>
      <p:sp>
        <p:nvSpPr>
          <p:cNvPr id="28" name="TextBox 27"/>
          <p:cNvSpPr txBox="1"/>
          <p:nvPr/>
        </p:nvSpPr>
        <p:spPr>
          <a:xfrm>
            <a:off x="2148840" y="3675887"/>
            <a:ext cx="9494215" cy="274320"/>
          </a:xfrm>
          <a:prstGeom prst="rect">
            <a:avLst/>
          </a:prstGeom>
          <a:noFill/>
        </p:spPr>
        <p:txBody>
          <a:bodyPr wrap="square" lIns="0" rIns="0" tIns="0" bIns="0" anchor="t">
            <a:noAutofit/>
          </a:bodyPr>
          <a:lstStyle/>
          <a:p>
            <a:pPr algn="l">
              <a:lnSpc>
                <a:spcPct val="112000"/>
              </a:lnSpc>
            </a:pPr>
            <a:r>
              <a:rPr sz="1150" b="0" i="0">
                <a:solidFill>
                  <a:srgbClr val="EC7A3C"/>
                </a:solidFill>
                <a:latin typeface="Noto Sans KR SemiBold"/>
                <a:ea typeface="Noto Sans KR SemiBold"/>
                <a:cs typeface="Noto Sans KR SemiBold"/>
              </a:rPr>
              <a:t>→  Shorter changeover  ·  Lower engineering cost  ·  More flexible automation</a:t>
            </a:r>
          </a:p>
        </p:txBody>
      </p:sp>
      <p:sp>
        <p:nvSpPr>
          <p:cNvPr id="29" name="TextBox 28"/>
          <p:cNvSpPr txBox="1"/>
          <p:nvPr/>
        </p:nvSpPr>
        <p:spPr>
          <a:xfrm>
            <a:off x="548640" y="4114800"/>
            <a:ext cx="6583680" cy="256032"/>
          </a:xfrm>
          <a:prstGeom prst="rect">
            <a:avLst/>
          </a:prstGeom>
          <a:noFill/>
        </p:spPr>
        <p:txBody>
          <a:bodyPr wrap="square" lIns="0" rIns="0" tIns="0" bIns="0" anchor="t">
            <a:noAutofit/>
          </a:bodyPr>
          <a:lstStyle/>
          <a:p>
            <a:pPr algn="l">
              <a:lnSpc>
                <a:spcPct val="112000"/>
              </a:lnSpc>
            </a:pPr>
            <a:r>
              <a:rPr sz="1000" b="0" i="0" spc="100">
                <a:solidFill>
                  <a:srgbClr val="EC7A3C"/>
                </a:solidFill>
                <a:latin typeface="Noto Sans KR SemiBold"/>
                <a:ea typeface="Noto Sans KR SemiBold"/>
                <a:cs typeface="Noto Sans KR SemiBold"/>
              </a:rPr>
              <a:t>POC에서 고객 BASELINE 대비 측정할 KPI</a:t>
            </a:r>
          </a:p>
        </p:txBody>
      </p:sp>
      <p:graphicFrame>
        <p:nvGraphicFramePr>
          <p:cNvPr id="30" name="PoC KPI table"/>
          <p:cNvGraphicFramePr>
            <a:graphicFrameLocks noGrp="1"/>
          </p:cNvGraphicFramePr>
          <p:nvPr/>
        </p:nvGraphicFramePr>
        <p:xfrm>
          <a:off x="548640" y="4407408"/>
          <a:ext cx="6583680" cy="1632204"/>
        </p:xfrm>
        <a:graphic>
          <a:graphicData uri="http://schemas.openxmlformats.org/drawingml/2006/table">
            <a:tbl>
              <a:tblPr firstRow="0" bandRow="0">
                <a:tableStyleId>{5C22544A-7EE6-4342-B048-85BDC9FD1C3A}</a:tableStyleId>
              </a:tblPr>
              <a:tblGrid>
                <a:gridCol w="2377440"/>
                <a:gridCol w="4206240"/>
              </a:tblGrid>
              <a:tr h="233172">
                <a:tc>
                  <a:txBody>
                    <a:bodyPr/>
                    <a:lstStyle/>
                    <a:p>
                      <a:pPr algn="l">
                        <a:lnSpc>
                          <a:spcPct val="105000"/>
                        </a:lnSpc>
                      </a:pPr>
                      <a:r>
                        <a:rPr sz="950" b="0" i="0" spc="40">
                          <a:solidFill>
                            <a:srgbClr val="F2F2EF"/>
                          </a:solidFill>
                          <a:latin typeface="Noto Sans KR SemiBold"/>
                          <a:ea typeface="Noto Sans KR SemiBold"/>
                          <a:cs typeface="Noto Sans KR SemiBold"/>
                        </a:rPr>
                        <a:t>KPI</a:t>
                      </a:r>
                    </a:p>
                  </a:txBody>
                  <a:tcPr marL="73152" marR="54864" marT="27432" marB="27432" anchor="ctr">
                    <a:lnL w="9525">
                      <a:noFill/>
                    </a:lnL>
                    <a:lnR w="9525">
                      <a:noFill/>
                    </a:lnR>
                    <a:lnT w="9525">
                      <a:noFill/>
                    </a:lnT>
                    <a:lnB w="9525">
                      <a:solidFill>
                        <a:srgbClr val="2E333B"/>
                      </a:solidFill>
                    </a:lnB>
                    <a:noFill/>
                  </a:tcPr>
                </a:tc>
                <a:tc>
                  <a:txBody>
                    <a:bodyPr/>
                    <a:lstStyle/>
                    <a:p>
                      <a:pPr algn="l">
                        <a:lnSpc>
                          <a:spcPct val="105000"/>
                        </a:lnSpc>
                      </a:pPr>
                      <a:r>
                        <a:rPr sz="950" b="0" i="0" spc="40">
                          <a:solidFill>
                            <a:srgbClr val="F2F2EF"/>
                          </a:solidFill>
                          <a:latin typeface="Noto Sans KR SemiBold"/>
                          <a:ea typeface="Noto Sans KR SemiBold"/>
                          <a:cs typeface="Noto Sans KR SemiBold"/>
                        </a:rPr>
                        <a:t>측정 정의</a:t>
                      </a:r>
                    </a:p>
                  </a:txBody>
                  <a:tcPr marL="73152" marR="54864" marT="27432" marB="27432" anchor="ctr">
                    <a:lnL w="9525">
                      <a:noFill/>
                    </a:lnL>
                    <a:lnR w="9525">
                      <a:noFill/>
                    </a:lnR>
                    <a:lnT w="9525">
                      <a:noFill/>
                    </a:lnT>
                    <a:lnB w="9525">
                      <a:solidFill>
                        <a:srgbClr val="2E333B"/>
                      </a:solidFill>
                    </a:lnB>
                    <a:noFill/>
                  </a:tcPr>
                </a:tc>
              </a:tr>
              <a:tr h="233172">
                <a:tc>
                  <a:txBody>
                    <a:bodyPr/>
                    <a:lstStyle/>
                    <a:p>
                      <a:pPr algn="l">
                        <a:lnSpc>
                          <a:spcPct val="108000"/>
                        </a:lnSpc>
                      </a:pPr>
                      <a:r>
                        <a:rPr sz="1000" b="0" i="0">
                          <a:solidFill>
                            <a:srgbClr val="F2F2EF"/>
                          </a:solidFill>
                          <a:latin typeface="Noto Sans KR SemiBold"/>
                          <a:ea typeface="Noto Sans KR SemiBold"/>
                          <a:cs typeface="Noto Sans KR SemiBold"/>
                        </a:rPr>
                        <a:t>Changeover Time</a:t>
                      </a:r>
                    </a:p>
                  </a:txBody>
                  <a:tcPr marL="73152" marR="54864" marT="27432" marB="27432" anchor="ctr">
                    <a:lnL w="9525">
                      <a:noFill/>
                    </a:lnL>
                    <a:lnR w="9525">
                      <a:noFill/>
                    </a:lnR>
                    <a:lnT w="9525">
                      <a:noFill/>
                    </a:lnT>
                    <a:lnB w="9525">
                      <a:solidFill>
                        <a:srgbClr val="2E333B"/>
                      </a:solidFill>
                    </a:lnB>
                    <a:noFill/>
                  </a:tcPr>
                </a:tc>
                <a:tc>
                  <a:txBody>
                    <a:bodyPr/>
                    <a:lstStyle/>
                    <a:p>
                      <a:pPr algn="l">
                        <a:lnSpc>
                          <a:spcPct val="108000"/>
                        </a:lnSpc>
                      </a:pPr>
                      <a:r>
                        <a:rPr sz="1000" b="0" i="0">
                          <a:solidFill>
                            <a:srgbClr val="AEB3BB"/>
                          </a:solidFill>
                          <a:latin typeface="Noto Sans KR"/>
                          <a:ea typeface="Noto Sans KR"/>
                          <a:cs typeface="Noto Sans KR"/>
                        </a:rPr>
                        <a:t>제품 전환 시작 → 양산 재개까지 시간</a:t>
                      </a:r>
                    </a:p>
                  </a:txBody>
                  <a:tcPr marL="73152" marR="54864" marT="27432" marB="27432" anchor="ctr">
                    <a:lnL w="9525">
                      <a:noFill/>
                    </a:lnL>
                    <a:lnR w="9525">
                      <a:noFill/>
                    </a:lnR>
                    <a:lnT w="9525">
                      <a:noFill/>
                    </a:lnT>
                    <a:lnB w="9525">
                      <a:solidFill>
                        <a:srgbClr val="2E333B"/>
                      </a:solidFill>
                    </a:lnB>
                    <a:noFill/>
                  </a:tcPr>
                </a:tc>
              </a:tr>
              <a:tr h="233172">
                <a:tc>
                  <a:txBody>
                    <a:bodyPr/>
                    <a:lstStyle/>
                    <a:p>
                      <a:pPr algn="l">
                        <a:lnSpc>
                          <a:spcPct val="108000"/>
                        </a:lnSpc>
                      </a:pPr>
                      <a:r>
                        <a:rPr sz="1000" b="0" i="0">
                          <a:solidFill>
                            <a:srgbClr val="F2F2EF"/>
                          </a:solidFill>
                          <a:latin typeface="Noto Sans KR SemiBold"/>
                          <a:ea typeface="Noto Sans KR SemiBold"/>
                          <a:cs typeface="Noto Sans KR SemiBold"/>
                        </a:rPr>
                        <a:t>Engineering Hours</a:t>
                      </a:r>
                    </a:p>
                  </a:txBody>
                  <a:tcPr marL="73152" marR="54864" marT="27432" marB="27432" anchor="ctr">
                    <a:lnL w="9525">
                      <a:noFill/>
                    </a:lnL>
                    <a:lnR w="9525">
                      <a:noFill/>
                    </a:lnR>
                    <a:lnT w="9525">
                      <a:noFill/>
                    </a:lnT>
                    <a:lnB w="9525">
                      <a:solidFill>
                        <a:srgbClr val="2E333B"/>
                      </a:solidFill>
                    </a:lnB>
                    <a:noFill/>
                  </a:tcPr>
                </a:tc>
                <a:tc>
                  <a:txBody>
                    <a:bodyPr/>
                    <a:lstStyle/>
                    <a:p>
                      <a:pPr algn="l">
                        <a:lnSpc>
                          <a:spcPct val="108000"/>
                        </a:lnSpc>
                      </a:pPr>
                      <a:r>
                        <a:rPr sz="1000" b="0" i="0">
                          <a:solidFill>
                            <a:srgbClr val="AEB3BB"/>
                          </a:solidFill>
                          <a:latin typeface="Noto Sans KR"/>
                          <a:ea typeface="Noto Sans KR"/>
                          <a:cs typeface="Noto Sans KR"/>
                        </a:rPr>
                        <a:t>그리퍼·지그 설계 + 티칭 + 검증 공수</a:t>
                      </a:r>
                    </a:p>
                  </a:txBody>
                  <a:tcPr marL="73152" marR="54864" marT="27432" marB="27432" anchor="ctr">
                    <a:lnL w="9525">
                      <a:noFill/>
                    </a:lnL>
                    <a:lnR w="9525">
                      <a:noFill/>
                    </a:lnR>
                    <a:lnT w="9525">
                      <a:noFill/>
                    </a:lnT>
                    <a:lnB w="9525">
                      <a:solidFill>
                        <a:srgbClr val="2E333B"/>
                      </a:solidFill>
                    </a:lnB>
                    <a:noFill/>
                  </a:tcPr>
                </a:tc>
              </a:tr>
              <a:tr h="233172">
                <a:tc>
                  <a:txBody>
                    <a:bodyPr/>
                    <a:lstStyle/>
                    <a:p>
                      <a:pPr algn="l">
                        <a:lnSpc>
                          <a:spcPct val="108000"/>
                        </a:lnSpc>
                      </a:pPr>
                      <a:r>
                        <a:rPr sz="1000" b="0" i="0">
                          <a:solidFill>
                            <a:srgbClr val="F2F2EF"/>
                          </a:solidFill>
                          <a:latin typeface="Noto Sans KR SemiBold"/>
                          <a:ea typeface="Noto Sans KR SemiBold"/>
                          <a:cs typeface="Noto Sans KR SemiBold"/>
                        </a:rPr>
                        <a:t>Fixture &amp; Tooling Cost</a:t>
                      </a:r>
                    </a:p>
                  </a:txBody>
                  <a:tcPr marL="73152" marR="54864" marT="27432" marB="27432" anchor="ctr">
                    <a:lnL w="9525">
                      <a:noFill/>
                    </a:lnL>
                    <a:lnR w="9525">
                      <a:noFill/>
                    </a:lnR>
                    <a:lnT w="9525">
                      <a:noFill/>
                    </a:lnT>
                    <a:lnB w="9525">
                      <a:solidFill>
                        <a:srgbClr val="2E333B"/>
                      </a:solidFill>
                    </a:lnB>
                    <a:noFill/>
                  </a:tcPr>
                </a:tc>
                <a:tc>
                  <a:txBody>
                    <a:bodyPr/>
                    <a:lstStyle/>
                    <a:p>
                      <a:pPr algn="l">
                        <a:lnSpc>
                          <a:spcPct val="108000"/>
                        </a:lnSpc>
                      </a:pPr>
                      <a:r>
                        <a:rPr sz="1000" b="0" i="0">
                          <a:solidFill>
                            <a:srgbClr val="AEB3BB"/>
                          </a:solidFill>
                          <a:latin typeface="Noto Sans KR"/>
                          <a:ea typeface="Noto Sans KR"/>
                          <a:cs typeface="Noto Sans KR"/>
                        </a:rPr>
                        <a:t>전용 핑거·지그·공구 제작/구매비</a:t>
                      </a:r>
                    </a:p>
                  </a:txBody>
                  <a:tcPr marL="73152" marR="54864" marT="27432" marB="27432" anchor="ctr">
                    <a:lnL w="9525">
                      <a:noFill/>
                    </a:lnL>
                    <a:lnR w="9525">
                      <a:noFill/>
                    </a:lnR>
                    <a:lnT w="9525">
                      <a:noFill/>
                    </a:lnT>
                    <a:lnB w="9525">
                      <a:solidFill>
                        <a:srgbClr val="2E333B"/>
                      </a:solidFill>
                    </a:lnB>
                    <a:noFill/>
                  </a:tcPr>
                </a:tc>
              </a:tr>
              <a:tr h="233172">
                <a:tc>
                  <a:txBody>
                    <a:bodyPr/>
                    <a:lstStyle/>
                    <a:p>
                      <a:pPr algn="l">
                        <a:lnSpc>
                          <a:spcPct val="108000"/>
                        </a:lnSpc>
                      </a:pPr>
                      <a:r>
                        <a:rPr sz="1000" b="0" i="0">
                          <a:solidFill>
                            <a:srgbClr val="F2F2EF"/>
                          </a:solidFill>
                          <a:latin typeface="Noto Sans KR SemiBold"/>
                          <a:ea typeface="Noto Sans KR SemiBold"/>
                          <a:cs typeface="Noto Sans KR SemiBold"/>
                        </a:rPr>
                        <a:t>Robot Utilization</a:t>
                      </a:r>
                    </a:p>
                  </a:txBody>
                  <a:tcPr marL="73152" marR="54864" marT="27432" marB="27432" anchor="ctr">
                    <a:lnL w="9525">
                      <a:noFill/>
                    </a:lnL>
                    <a:lnR w="9525">
                      <a:noFill/>
                    </a:lnR>
                    <a:lnT w="9525">
                      <a:noFill/>
                    </a:lnT>
                    <a:lnB w="9525">
                      <a:solidFill>
                        <a:srgbClr val="2E333B"/>
                      </a:solidFill>
                    </a:lnB>
                    <a:noFill/>
                  </a:tcPr>
                </a:tc>
                <a:tc>
                  <a:txBody>
                    <a:bodyPr/>
                    <a:lstStyle/>
                    <a:p>
                      <a:pPr algn="l">
                        <a:lnSpc>
                          <a:spcPct val="108000"/>
                        </a:lnSpc>
                      </a:pPr>
                      <a:r>
                        <a:rPr sz="1000" b="0" i="0">
                          <a:solidFill>
                            <a:srgbClr val="AEB3BB"/>
                          </a:solidFill>
                          <a:latin typeface="Noto Sans KR"/>
                          <a:ea typeface="Noto Sans KR"/>
                          <a:cs typeface="Noto Sans KR"/>
                        </a:rPr>
                        <a:t>계획 가동시간 대비 실제 가동시간</a:t>
                      </a:r>
                    </a:p>
                  </a:txBody>
                  <a:tcPr marL="73152" marR="54864" marT="27432" marB="27432" anchor="ctr">
                    <a:lnL w="9525">
                      <a:noFill/>
                    </a:lnL>
                    <a:lnR w="9525">
                      <a:noFill/>
                    </a:lnR>
                    <a:lnT w="9525">
                      <a:noFill/>
                    </a:lnT>
                    <a:lnB w="9525">
                      <a:solidFill>
                        <a:srgbClr val="2E333B"/>
                      </a:solidFill>
                    </a:lnB>
                    <a:noFill/>
                  </a:tcPr>
                </a:tc>
              </a:tr>
              <a:tr h="233172">
                <a:tc>
                  <a:txBody>
                    <a:bodyPr/>
                    <a:lstStyle/>
                    <a:p>
                      <a:pPr algn="l">
                        <a:lnSpc>
                          <a:spcPct val="108000"/>
                        </a:lnSpc>
                      </a:pPr>
                      <a:r>
                        <a:rPr sz="1000" b="0" i="0">
                          <a:solidFill>
                            <a:srgbClr val="F2F2EF"/>
                          </a:solidFill>
                          <a:latin typeface="Noto Sans KR SemiBold"/>
                          <a:ea typeface="Noto Sans KR SemiBold"/>
                          <a:cs typeface="Noto Sans KR SemiBold"/>
                        </a:rPr>
                        <a:t>Human Intervention Time</a:t>
                      </a:r>
                    </a:p>
                  </a:txBody>
                  <a:tcPr marL="73152" marR="54864" marT="27432" marB="27432" anchor="ctr">
                    <a:lnL w="9525">
                      <a:noFill/>
                    </a:lnL>
                    <a:lnR w="9525">
                      <a:noFill/>
                    </a:lnR>
                    <a:lnT w="9525">
                      <a:noFill/>
                    </a:lnT>
                    <a:lnB w="9525">
                      <a:solidFill>
                        <a:srgbClr val="2E333B"/>
                      </a:solidFill>
                    </a:lnB>
                    <a:noFill/>
                  </a:tcPr>
                </a:tc>
                <a:tc>
                  <a:txBody>
                    <a:bodyPr/>
                    <a:lstStyle/>
                    <a:p>
                      <a:pPr algn="l">
                        <a:lnSpc>
                          <a:spcPct val="108000"/>
                        </a:lnSpc>
                      </a:pPr>
                      <a:r>
                        <a:rPr sz="1000" b="0" i="0">
                          <a:solidFill>
                            <a:srgbClr val="AEB3BB"/>
                          </a:solidFill>
                          <a:latin typeface="Noto Sans KR"/>
                          <a:ea typeface="Noto Sans KR"/>
                          <a:cs typeface="Noto Sans KR"/>
                        </a:rPr>
                        <a:t>작업당 사람 개입(복구·보정) 시간</a:t>
                      </a:r>
                    </a:p>
                  </a:txBody>
                  <a:tcPr marL="73152" marR="54864" marT="27432" marB="27432" anchor="ctr">
                    <a:lnL w="9525">
                      <a:noFill/>
                    </a:lnL>
                    <a:lnR w="9525">
                      <a:noFill/>
                    </a:lnR>
                    <a:lnT w="9525">
                      <a:noFill/>
                    </a:lnT>
                    <a:lnB w="9525">
                      <a:solidFill>
                        <a:srgbClr val="2E333B"/>
                      </a:solidFill>
                    </a:lnB>
                    <a:noFill/>
                  </a:tcPr>
                </a:tc>
              </a:tr>
              <a:tr h="233172">
                <a:tc>
                  <a:txBody>
                    <a:bodyPr/>
                    <a:lstStyle/>
                    <a:p>
                      <a:pPr algn="l">
                        <a:lnSpc>
                          <a:spcPct val="108000"/>
                        </a:lnSpc>
                      </a:pPr>
                      <a:r>
                        <a:rPr sz="1000" b="0" i="0">
                          <a:solidFill>
                            <a:srgbClr val="F2F2EF"/>
                          </a:solidFill>
                          <a:latin typeface="Noto Sans KR SemiBold"/>
                          <a:ea typeface="Noto Sans KR SemiBold"/>
                          <a:cs typeface="Noto Sans KR SemiBold"/>
                        </a:rPr>
                        <a:t>Total Cost per Task Change</a:t>
                      </a:r>
                    </a:p>
                  </a:txBody>
                  <a:tcPr marL="73152" marR="54864" marT="27432" marB="27432" anchor="ctr">
                    <a:lnL w="9525">
                      <a:noFill/>
                    </a:lnL>
                    <a:lnR w="9525">
                      <a:noFill/>
                    </a:lnR>
                    <a:lnT w="9525">
                      <a:noFill/>
                    </a:lnT>
                    <a:lnB w="9525">
                      <a:solidFill>
                        <a:srgbClr val="2E333B"/>
                      </a:solidFill>
                    </a:lnB>
                    <a:noFill/>
                  </a:tcPr>
                </a:tc>
                <a:tc>
                  <a:txBody>
                    <a:bodyPr/>
                    <a:lstStyle/>
                    <a:p>
                      <a:pPr algn="l">
                        <a:lnSpc>
                          <a:spcPct val="108000"/>
                        </a:lnSpc>
                      </a:pPr>
                      <a:r>
                        <a:rPr sz="1000" b="0" i="0">
                          <a:solidFill>
                            <a:srgbClr val="AEB3BB"/>
                          </a:solidFill>
                          <a:latin typeface="Noto Sans KR"/>
                          <a:ea typeface="Noto Sans KR"/>
                          <a:cs typeface="Noto Sans KR"/>
                        </a:rPr>
                        <a:t>위 항목 합산 — 최상위 KPI</a:t>
                      </a:r>
                    </a:p>
                  </a:txBody>
                  <a:tcPr marL="73152" marR="54864" marT="27432" marB="27432" anchor="ctr">
                    <a:lnL w="9525">
                      <a:noFill/>
                    </a:lnL>
                    <a:lnR w="9525">
                      <a:noFill/>
                    </a:lnR>
                    <a:lnT w="9525">
                      <a:noFill/>
                    </a:lnT>
                    <a:lnB w="9525">
                      <a:solidFill>
                        <a:srgbClr val="2E333B"/>
                      </a:solidFill>
                    </a:lnB>
                    <a:noFill/>
                  </a:tcPr>
                </a:tc>
              </a:tr>
            </a:tbl>
          </a:graphicData>
        </a:graphic>
      </p:graphicFrame>
      <p:sp>
        <p:nvSpPr>
          <p:cNvPr id="31" name="BCG card"/>
          <p:cNvSpPr/>
          <p:nvPr/>
        </p:nvSpPr>
        <p:spPr>
          <a:xfrm>
            <a:off x="7452360" y="4114800"/>
            <a:ext cx="4190695" cy="1975104"/>
          </a:xfrm>
          <a:prstGeom prst="roundRect">
            <a:avLst>
              <a:gd name="adj" fmla="val 5555"/>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2" name="TextBox 31"/>
          <p:cNvSpPr txBox="1"/>
          <p:nvPr/>
        </p:nvSpPr>
        <p:spPr>
          <a:xfrm>
            <a:off x="7699248" y="4206240"/>
            <a:ext cx="1828800" cy="566928"/>
          </a:xfrm>
          <a:prstGeom prst="rect">
            <a:avLst/>
          </a:prstGeom>
          <a:noFill/>
        </p:spPr>
        <p:txBody>
          <a:bodyPr wrap="square" lIns="0" rIns="0" tIns="0" bIns="0" anchor="t">
            <a:noAutofit/>
          </a:bodyPr>
          <a:lstStyle/>
          <a:p>
            <a:pPr algn="l">
              <a:lnSpc>
                <a:spcPct val="112000"/>
              </a:lnSpc>
            </a:pPr>
            <a:r>
              <a:rPr sz="3000" b="0" i="0">
                <a:solidFill>
                  <a:srgbClr val="EC7A3C"/>
                </a:solidFill>
                <a:latin typeface="Noto Sans KR Black"/>
                <a:ea typeface="Noto Sans KR Black"/>
                <a:cs typeface="Noto Sans KR Black"/>
              </a:rPr>
              <a:t>~75%</a:t>
            </a:r>
          </a:p>
        </p:txBody>
      </p:sp>
      <p:sp>
        <p:nvSpPr>
          <p:cNvPr id="33" name="TextBox 32"/>
          <p:cNvSpPr txBox="1"/>
          <p:nvPr/>
        </p:nvSpPr>
        <p:spPr>
          <a:xfrm>
            <a:off x="9372600" y="4279392"/>
            <a:ext cx="2194560" cy="457200"/>
          </a:xfrm>
          <a:prstGeom prst="rect">
            <a:avLst/>
          </a:prstGeom>
          <a:noFill/>
        </p:spPr>
        <p:txBody>
          <a:bodyPr wrap="square" lIns="0" rIns="0" tIns="0" bIns="0" anchor="t">
            <a:noAutofit/>
          </a:bodyPr>
          <a:lstStyle/>
          <a:p>
            <a:pPr algn="l">
              <a:lnSpc>
                <a:spcPct val="115000"/>
              </a:lnSpc>
            </a:pPr>
            <a:r>
              <a:rPr sz="1050" b="0" i="0">
                <a:solidFill>
                  <a:srgbClr val="F2F2EF"/>
                </a:solidFill>
                <a:latin typeface="Noto Sans KR"/>
                <a:ea typeface="Noto Sans KR"/>
                <a:cs typeface="Noto Sans KR"/>
              </a:rPr>
              <a:t>TCO 중 초기 셋업·</a:t>
            </a:r>
          </a:p>
          <a:p>
            <a:pPr algn="l">
              <a:lnSpc>
                <a:spcPct val="115000"/>
              </a:lnSpc>
            </a:pPr>
            <a:r>
              <a:rPr sz="1050" b="0" i="0">
                <a:solidFill>
                  <a:srgbClr val="F2F2EF"/>
                </a:solidFill>
                <a:latin typeface="Noto Sans KR"/>
                <a:ea typeface="Noto Sans KR"/>
                <a:cs typeface="Noto Sans KR"/>
              </a:rPr>
              <a:t>재설계 비중</a:t>
            </a:r>
          </a:p>
        </p:txBody>
      </p:sp>
      <p:sp>
        <p:nvSpPr>
          <p:cNvPr id="34" name="TextBox 33"/>
          <p:cNvSpPr txBox="1"/>
          <p:nvPr/>
        </p:nvSpPr>
        <p:spPr>
          <a:xfrm>
            <a:off x="7699248" y="4828032"/>
            <a:ext cx="1828800" cy="566928"/>
          </a:xfrm>
          <a:prstGeom prst="rect">
            <a:avLst/>
          </a:prstGeom>
          <a:noFill/>
        </p:spPr>
        <p:txBody>
          <a:bodyPr wrap="square" lIns="0" rIns="0" tIns="0" bIns="0" anchor="t">
            <a:noAutofit/>
          </a:bodyPr>
          <a:lstStyle/>
          <a:p>
            <a:pPr algn="l">
              <a:lnSpc>
                <a:spcPct val="112000"/>
              </a:lnSpc>
            </a:pPr>
            <a:r>
              <a:rPr sz="3000" b="0" i="0">
                <a:solidFill>
                  <a:srgbClr val="F2F2EF"/>
                </a:solidFill>
                <a:latin typeface="Noto Sans KR Black"/>
                <a:ea typeface="Noto Sans KR Black"/>
                <a:cs typeface="Noto Sans KR Black"/>
              </a:rPr>
              <a:t>≤50%</a:t>
            </a:r>
          </a:p>
        </p:txBody>
      </p:sp>
      <p:sp>
        <p:nvSpPr>
          <p:cNvPr id="35" name="TextBox 34"/>
          <p:cNvSpPr txBox="1"/>
          <p:nvPr/>
        </p:nvSpPr>
        <p:spPr>
          <a:xfrm>
            <a:off x="9372600" y="4901184"/>
            <a:ext cx="2194560" cy="457200"/>
          </a:xfrm>
          <a:prstGeom prst="rect">
            <a:avLst/>
          </a:prstGeom>
          <a:noFill/>
        </p:spPr>
        <p:txBody>
          <a:bodyPr wrap="square" lIns="0" rIns="0" tIns="0" bIns="0" anchor="t">
            <a:noAutofit/>
          </a:bodyPr>
          <a:lstStyle/>
          <a:p>
            <a:pPr algn="l">
              <a:lnSpc>
                <a:spcPct val="115000"/>
              </a:lnSpc>
            </a:pPr>
            <a:r>
              <a:rPr sz="1050" b="0" i="0">
                <a:solidFill>
                  <a:srgbClr val="F2F2EF"/>
                </a:solidFill>
                <a:latin typeface="Noto Sans KR"/>
                <a:ea typeface="Noto Sans KR"/>
                <a:cs typeface="Noto Sans KR"/>
              </a:rPr>
              <a:t>Software-defined 접근의</a:t>
            </a:r>
          </a:p>
          <a:p>
            <a:pPr algn="l">
              <a:lnSpc>
                <a:spcPct val="115000"/>
              </a:lnSpc>
            </a:pPr>
            <a:r>
              <a:rPr sz="1050" b="0" i="0">
                <a:solidFill>
                  <a:srgbClr val="F2F2EF"/>
                </a:solidFill>
                <a:latin typeface="Noto Sans KR"/>
                <a:ea typeface="Noto Sans KR"/>
                <a:cs typeface="Noto Sans KR"/>
              </a:rPr>
              <a:t>셋업·재설계 비용 절감 잠재력</a:t>
            </a:r>
          </a:p>
        </p:txBody>
      </p:sp>
      <p:sp>
        <p:nvSpPr>
          <p:cNvPr id="36" name="TextBox 35"/>
          <p:cNvSpPr txBox="1"/>
          <p:nvPr/>
        </p:nvSpPr>
        <p:spPr>
          <a:xfrm>
            <a:off x="7699248" y="5486400"/>
            <a:ext cx="3749039" cy="237744"/>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Source: BCG (2026.4)</a:t>
            </a:r>
          </a:p>
        </p:txBody>
      </p:sp>
      <p:sp>
        <p:nvSpPr>
          <p:cNvPr id="37" name="Placeholder"/>
          <p:cNvSpPr/>
          <p:nvPr/>
        </p:nvSpPr>
        <p:spPr>
          <a:xfrm>
            <a:off x="7699248" y="5733288"/>
            <a:ext cx="3687775" cy="274320"/>
          </a:xfrm>
          <a:prstGeom prst="roundRect">
            <a:avLst>
              <a:gd name="adj" fmla="val 2000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50" b="0" i="0">
                <a:solidFill>
                  <a:srgbClr val="E8B649"/>
                </a:solidFill>
                <a:latin typeface="Noto Sans KR Medium"/>
                <a:ea typeface="Noto Sans KR Medium"/>
                <a:cs typeface="Noto Sans KR Medium"/>
              </a:rPr>
              <a:t>[고객 인터뷰 30곳 · 현장 Baseline 필요]</a:t>
            </a:r>
          </a:p>
        </p:txBody>
      </p:sp>
      <p:sp>
        <p:nvSpPr>
          <p:cNvPr id="38"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39"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09  ·  PRODUCT &amp; BUSINESS MODEL</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HARDWARE GETS US DEPLOYED. SKILLS LET US SCALE.</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초기 매출은 하드웨어가, 장기 기업가치는 Skill · Software · Data · OEM Integration이 만든다</a:t>
            </a:r>
          </a:p>
        </p:txBody>
      </p:sp>
      <p:sp>
        <p:nvSpPr>
          <p:cNvPr id="6" name="Layer OEM / PLATFORM"/>
          <p:cNvSpPr/>
          <p:nvPr/>
        </p:nvSpPr>
        <p:spPr>
          <a:xfrm>
            <a:off x="1051560" y="1847088"/>
            <a:ext cx="6629400" cy="1243584"/>
          </a:xfrm>
          <a:prstGeom prst="roundRect">
            <a:avLst>
              <a:gd name="adj" fmla="val 7352"/>
            </a:avLst>
          </a:prstGeom>
          <a:no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 name="TextBox 6"/>
          <p:cNvSpPr txBox="1"/>
          <p:nvPr/>
        </p:nvSpPr>
        <p:spPr>
          <a:xfrm>
            <a:off x="1280160" y="1993392"/>
            <a:ext cx="1920240" cy="219456"/>
          </a:xfrm>
          <a:prstGeom prst="rect">
            <a:avLst/>
          </a:prstGeom>
          <a:noFill/>
        </p:spPr>
        <p:txBody>
          <a:bodyPr wrap="square" lIns="0" rIns="0" tIns="0" bIns="0" anchor="t">
            <a:noAutofit/>
          </a:bodyPr>
          <a:lstStyle/>
          <a:p>
            <a:pPr algn="l">
              <a:lnSpc>
                <a:spcPct val="112000"/>
              </a:lnSpc>
            </a:pPr>
            <a:r>
              <a:rPr sz="900" b="0" i="0" spc="120">
                <a:solidFill>
                  <a:srgbClr val="EC7A3C"/>
                </a:solidFill>
                <a:latin typeface="Noto Sans KR SemiBold"/>
                <a:ea typeface="Noto Sans KR SemiBold"/>
                <a:cs typeface="Noto Sans KR SemiBold"/>
              </a:rPr>
              <a:t>LAYER 3</a:t>
            </a:r>
          </a:p>
        </p:txBody>
      </p:sp>
      <p:sp>
        <p:nvSpPr>
          <p:cNvPr id="8" name="TextBox 7"/>
          <p:cNvSpPr txBox="1"/>
          <p:nvPr/>
        </p:nvSpPr>
        <p:spPr>
          <a:xfrm>
            <a:off x="1280160" y="2231136"/>
            <a:ext cx="2011680" cy="685800"/>
          </a:xfrm>
          <a:prstGeom prst="rect">
            <a:avLst/>
          </a:prstGeom>
          <a:noFill/>
        </p:spPr>
        <p:txBody>
          <a:bodyPr wrap="square" lIns="0" rIns="0" tIns="0" bIns="0" anchor="t">
            <a:noAutofit/>
          </a:bodyPr>
          <a:lstStyle/>
          <a:p>
            <a:pPr algn="l">
              <a:lnSpc>
                <a:spcPct val="100000"/>
              </a:lnSpc>
            </a:pPr>
            <a:r>
              <a:rPr sz="1600" b="0" i="0">
                <a:solidFill>
                  <a:srgbClr val="F2F2EF"/>
                </a:solidFill>
                <a:latin typeface="Noto Sans KR Black"/>
                <a:ea typeface="Noto Sans KR Black"/>
                <a:cs typeface="Noto Sans KR Black"/>
              </a:rPr>
              <a:t>OEM / PLATFORM</a:t>
            </a:r>
          </a:p>
        </p:txBody>
      </p:sp>
      <p:sp>
        <p:nvSpPr>
          <p:cNvPr id="9" name="TextBox 8"/>
          <p:cNvSpPr txBox="1"/>
          <p:nvPr/>
        </p:nvSpPr>
        <p:spPr>
          <a:xfrm>
            <a:off x="3291840" y="2029968"/>
            <a:ext cx="2514600" cy="914400"/>
          </a:xfrm>
          <a:prstGeom prst="rect">
            <a:avLst/>
          </a:prstGeom>
          <a:noFill/>
        </p:spPr>
        <p:txBody>
          <a:bodyPr wrap="square" lIns="0" rIns="0" tIns="0" bIns="0" anchor="t">
            <a:noAutofit/>
          </a:bodyPr>
          <a:lstStyle/>
          <a:p>
            <a:pPr algn="l">
              <a:lnSpc>
                <a:spcPct val="120000"/>
              </a:lnSpc>
            </a:pPr>
            <a:r>
              <a:rPr sz="1000" b="0" i="0">
                <a:solidFill>
                  <a:srgbClr val="AEB3BB"/>
                </a:solidFill>
                <a:latin typeface="Noto Sans KR"/>
                <a:ea typeface="Noto Sans KR"/>
                <a:cs typeface="Noto Sans KR"/>
              </a:rPr>
              <a:t>Manipulation Runtime · API · Skill Library</a:t>
            </a:r>
          </a:p>
          <a:p>
            <a:pPr algn="l">
              <a:lnSpc>
                <a:spcPct val="120000"/>
              </a:lnSpc>
            </a:pPr>
            <a:r>
              <a:rPr sz="1000" b="0" i="0">
                <a:solidFill>
                  <a:srgbClr val="AEB3BB"/>
                </a:solidFill>
                <a:latin typeface="Noto Sans KR"/>
                <a:ea typeface="Noto Sans KR"/>
                <a:cs typeface="Noto Sans KR"/>
              </a:rPr>
              <a:t>Diagnostics · Robot OEM Integration</a:t>
            </a:r>
          </a:p>
        </p:txBody>
      </p:sp>
      <p:cxnSp>
        <p:nvCxnSpPr>
          <p:cNvPr id="10" name="Connector 9"/>
          <p:cNvCxnSpPr/>
          <p:nvPr/>
        </p:nvCxnSpPr>
        <p:spPr>
          <a:xfrm>
            <a:off x="5897879" y="2048256"/>
            <a:ext cx="0" cy="841247"/>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35040" y="2029968"/>
            <a:ext cx="1600200" cy="219456"/>
          </a:xfrm>
          <a:prstGeom prst="rect">
            <a:avLst/>
          </a:prstGeom>
          <a:noFill/>
        </p:spPr>
        <p:txBody>
          <a:bodyPr wrap="square" lIns="0" rIns="0" tIns="0" bIns="0" anchor="t">
            <a:noAutofit/>
          </a:bodyPr>
          <a:lstStyle/>
          <a:p>
            <a:pPr algn="l">
              <a:lnSpc>
                <a:spcPct val="112000"/>
              </a:lnSpc>
            </a:pPr>
            <a:r>
              <a:rPr sz="850" b="0" i="0" spc="100">
                <a:solidFill>
                  <a:srgbClr val="737882"/>
                </a:solidFill>
                <a:latin typeface="Noto Sans KR SemiBold"/>
                <a:ea typeface="Noto Sans KR SemiBold"/>
                <a:cs typeface="Noto Sans KR SemiBold"/>
              </a:rPr>
              <a:t>REVENUE</a:t>
            </a:r>
          </a:p>
        </p:txBody>
      </p:sp>
      <p:sp>
        <p:nvSpPr>
          <p:cNvPr id="12" name="TextBox 11"/>
          <p:cNvSpPr txBox="1"/>
          <p:nvPr/>
        </p:nvSpPr>
        <p:spPr>
          <a:xfrm>
            <a:off x="6035040" y="2249424"/>
            <a:ext cx="1645920" cy="502920"/>
          </a:xfrm>
          <a:prstGeom prst="rect">
            <a:avLst/>
          </a:prstGeom>
          <a:noFill/>
        </p:spPr>
        <p:txBody>
          <a:bodyPr wrap="square" lIns="0" rIns="0" tIns="0" bIns="0" anchor="t">
            <a:noAutofit/>
          </a:bodyPr>
          <a:lstStyle/>
          <a:p>
            <a:pPr algn="l">
              <a:lnSpc>
                <a:spcPct val="115000"/>
              </a:lnSpc>
            </a:pPr>
            <a:r>
              <a:rPr sz="1000" b="0" i="0">
                <a:solidFill>
                  <a:srgbClr val="F2F2EF"/>
                </a:solidFill>
                <a:latin typeface="Noto Sans KR"/>
                <a:ea typeface="Noto Sans KR"/>
                <a:cs typeface="Noto Sans KR"/>
              </a:rPr>
              <a:t>OEM 라이선스 ·</a:t>
            </a:r>
          </a:p>
          <a:p>
            <a:pPr algn="l">
              <a:lnSpc>
                <a:spcPct val="115000"/>
              </a:lnSpc>
            </a:pPr>
            <a:r>
              <a:rPr sz="1000" b="0" i="0">
                <a:solidFill>
                  <a:srgbClr val="F2F2EF"/>
                </a:solidFill>
                <a:latin typeface="Noto Sans KR"/>
                <a:ea typeface="Noto Sans KR"/>
                <a:cs typeface="Noto Sans KR"/>
              </a:rPr>
              <a:t>출하량 연동 로열티</a:t>
            </a:r>
          </a:p>
        </p:txBody>
      </p:sp>
      <p:sp>
        <p:nvSpPr>
          <p:cNvPr id="13" name="Tag FUTURE"/>
          <p:cNvSpPr/>
          <p:nvPr/>
        </p:nvSpPr>
        <p:spPr>
          <a:xfrm>
            <a:off x="6035040" y="2779776"/>
            <a:ext cx="603504" cy="219456"/>
          </a:xfrm>
          <a:prstGeom prst="roundRect">
            <a:avLst>
              <a:gd name="adj" fmla="val 50000"/>
            </a:avLst>
          </a:prstGeom>
          <a:noFill/>
          <a:ln w="952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EC7A3C"/>
                </a:solidFill>
                <a:latin typeface="Noto Sans KR SemiBold"/>
                <a:ea typeface="Noto Sans KR SemiBold"/>
                <a:cs typeface="Noto Sans KR SemiBold"/>
              </a:rPr>
              <a:t>FUTURE</a:t>
            </a:r>
          </a:p>
        </p:txBody>
      </p:sp>
      <p:sp>
        <p:nvSpPr>
          <p:cNvPr id="14" name="Layer TOOL SKILL"/>
          <p:cNvSpPr/>
          <p:nvPr/>
        </p:nvSpPr>
        <p:spPr>
          <a:xfrm>
            <a:off x="1051560" y="3218688"/>
            <a:ext cx="6629400" cy="1243584"/>
          </a:xfrm>
          <a:prstGeom prst="roundRect">
            <a:avLst>
              <a:gd name="adj" fmla="val 7352"/>
            </a:avLst>
          </a:prstGeom>
          <a:solidFill>
            <a:srgbClr val="2E1D14"/>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5" name="TextBox 14"/>
          <p:cNvSpPr txBox="1"/>
          <p:nvPr/>
        </p:nvSpPr>
        <p:spPr>
          <a:xfrm>
            <a:off x="1280160" y="3364992"/>
            <a:ext cx="1920240" cy="219456"/>
          </a:xfrm>
          <a:prstGeom prst="rect">
            <a:avLst/>
          </a:prstGeom>
          <a:noFill/>
        </p:spPr>
        <p:txBody>
          <a:bodyPr wrap="square" lIns="0" rIns="0" tIns="0" bIns="0" anchor="t">
            <a:noAutofit/>
          </a:bodyPr>
          <a:lstStyle/>
          <a:p>
            <a:pPr algn="l">
              <a:lnSpc>
                <a:spcPct val="112000"/>
              </a:lnSpc>
            </a:pPr>
            <a:r>
              <a:rPr sz="900" b="0" i="0" spc="120">
                <a:solidFill>
                  <a:srgbClr val="EC7A3C"/>
                </a:solidFill>
                <a:latin typeface="Noto Sans KR SemiBold"/>
                <a:ea typeface="Noto Sans KR SemiBold"/>
                <a:cs typeface="Noto Sans KR SemiBold"/>
              </a:rPr>
              <a:t>LAYER 2</a:t>
            </a:r>
          </a:p>
        </p:txBody>
      </p:sp>
      <p:sp>
        <p:nvSpPr>
          <p:cNvPr id="16" name="TextBox 15"/>
          <p:cNvSpPr txBox="1"/>
          <p:nvPr/>
        </p:nvSpPr>
        <p:spPr>
          <a:xfrm>
            <a:off x="1280160" y="3602736"/>
            <a:ext cx="2011680" cy="685800"/>
          </a:xfrm>
          <a:prstGeom prst="rect">
            <a:avLst/>
          </a:prstGeom>
          <a:noFill/>
        </p:spPr>
        <p:txBody>
          <a:bodyPr wrap="square" lIns="0" rIns="0" tIns="0" bIns="0" anchor="t">
            <a:noAutofit/>
          </a:bodyPr>
          <a:lstStyle/>
          <a:p>
            <a:pPr algn="l">
              <a:lnSpc>
                <a:spcPct val="100000"/>
              </a:lnSpc>
            </a:pPr>
            <a:r>
              <a:rPr sz="1600" b="0" i="0">
                <a:solidFill>
                  <a:srgbClr val="F2F2EF"/>
                </a:solidFill>
                <a:latin typeface="Noto Sans KR Black"/>
                <a:ea typeface="Noto Sans KR Black"/>
                <a:cs typeface="Noto Sans KR Black"/>
              </a:rPr>
              <a:t>TOOL SKILL</a:t>
            </a:r>
          </a:p>
        </p:txBody>
      </p:sp>
      <p:sp>
        <p:nvSpPr>
          <p:cNvPr id="17" name="TextBox 16"/>
          <p:cNvSpPr txBox="1"/>
          <p:nvPr/>
        </p:nvSpPr>
        <p:spPr>
          <a:xfrm>
            <a:off x="3291840" y="3401568"/>
            <a:ext cx="2514600" cy="914400"/>
          </a:xfrm>
          <a:prstGeom prst="rect">
            <a:avLst/>
          </a:prstGeom>
          <a:noFill/>
        </p:spPr>
        <p:txBody>
          <a:bodyPr wrap="square" lIns="0" rIns="0" tIns="0" bIns="0" anchor="t">
            <a:noAutofit/>
          </a:bodyPr>
          <a:lstStyle/>
          <a:p>
            <a:pPr algn="l">
              <a:lnSpc>
                <a:spcPct val="120000"/>
              </a:lnSpc>
            </a:pPr>
            <a:r>
              <a:rPr sz="1000" b="0" i="0">
                <a:solidFill>
                  <a:srgbClr val="AEB3BB"/>
                </a:solidFill>
                <a:latin typeface="Noto Sans KR"/>
                <a:ea typeface="Noto Sans KR"/>
                <a:cs typeface="Noto Sans KR"/>
              </a:rPr>
              <a:t>Container Handling · Screwdriver · Handle / Lever · Tongs</a:t>
            </a:r>
          </a:p>
          <a:p>
            <a:pPr algn="l">
              <a:lnSpc>
                <a:spcPct val="120000"/>
              </a:lnSpc>
            </a:pPr>
            <a:r>
              <a:rPr sz="1000" b="0" i="0">
                <a:solidFill>
                  <a:srgbClr val="AEB3BB"/>
                </a:solidFill>
                <a:latin typeface="Noto Sans KR"/>
                <a:ea typeface="Noto Sans KR"/>
                <a:cs typeface="Noto Sans KR"/>
              </a:rPr>
              <a:t>— 검증된 Skill Package</a:t>
            </a:r>
          </a:p>
        </p:txBody>
      </p:sp>
      <p:cxnSp>
        <p:nvCxnSpPr>
          <p:cNvPr id="18" name="Connector 17"/>
          <p:cNvCxnSpPr/>
          <p:nvPr/>
        </p:nvCxnSpPr>
        <p:spPr>
          <a:xfrm>
            <a:off x="5897879" y="3419856"/>
            <a:ext cx="0" cy="841248"/>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35040" y="3401568"/>
            <a:ext cx="1600200" cy="219456"/>
          </a:xfrm>
          <a:prstGeom prst="rect">
            <a:avLst/>
          </a:prstGeom>
          <a:noFill/>
        </p:spPr>
        <p:txBody>
          <a:bodyPr wrap="square" lIns="0" rIns="0" tIns="0" bIns="0" anchor="t">
            <a:noAutofit/>
          </a:bodyPr>
          <a:lstStyle/>
          <a:p>
            <a:pPr algn="l">
              <a:lnSpc>
                <a:spcPct val="112000"/>
              </a:lnSpc>
            </a:pPr>
            <a:r>
              <a:rPr sz="850" b="0" i="0" spc="100">
                <a:solidFill>
                  <a:srgbClr val="737882"/>
                </a:solidFill>
                <a:latin typeface="Noto Sans KR SemiBold"/>
                <a:ea typeface="Noto Sans KR SemiBold"/>
                <a:cs typeface="Noto Sans KR SemiBold"/>
              </a:rPr>
              <a:t>REVENUE</a:t>
            </a:r>
          </a:p>
        </p:txBody>
      </p:sp>
      <p:sp>
        <p:nvSpPr>
          <p:cNvPr id="20" name="TextBox 19"/>
          <p:cNvSpPr txBox="1"/>
          <p:nvPr/>
        </p:nvSpPr>
        <p:spPr>
          <a:xfrm>
            <a:off x="6035040" y="3621024"/>
            <a:ext cx="1645920" cy="502920"/>
          </a:xfrm>
          <a:prstGeom prst="rect">
            <a:avLst/>
          </a:prstGeom>
          <a:noFill/>
        </p:spPr>
        <p:txBody>
          <a:bodyPr wrap="square" lIns="0" rIns="0" tIns="0" bIns="0" anchor="t">
            <a:noAutofit/>
          </a:bodyPr>
          <a:lstStyle/>
          <a:p>
            <a:pPr algn="l">
              <a:lnSpc>
                <a:spcPct val="115000"/>
              </a:lnSpc>
            </a:pPr>
            <a:r>
              <a:rPr sz="1000" b="0" i="0">
                <a:solidFill>
                  <a:srgbClr val="F2F2EF"/>
                </a:solidFill>
                <a:latin typeface="Noto Sans KR"/>
                <a:ea typeface="Noto Sans KR"/>
                <a:cs typeface="Noto Sans KR"/>
              </a:rPr>
              <a:t>Skill Package · 연간 라이선스</a:t>
            </a:r>
          </a:p>
          <a:p>
            <a:pPr algn="l">
              <a:lnSpc>
                <a:spcPct val="115000"/>
              </a:lnSpc>
            </a:pPr>
            <a:r>
              <a:rPr sz="1000" b="0" i="0">
                <a:solidFill>
                  <a:srgbClr val="F2F2EF"/>
                </a:solidFill>
                <a:latin typeface="Noto Sans KR"/>
                <a:ea typeface="Noto Sans KR"/>
                <a:cs typeface="Noto Sans KR"/>
              </a:rPr>
              <a:t>₩3M/년 · GM 70%</a:t>
            </a:r>
          </a:p>
        </p:txBody>
      </p:sp>
      <p:sp>
        <p:nvSpPr>
          <p:cNvPr id="21" name="Tag ASSUMPTION"/>
          <p:cNvSpPr/>
          <p:nvPr/>
        </p:nvSpPr>
        <p:spPr>
          <a:xfrm>
            <a:off x="6035040" y="4151376"/>
            <a:ext cx="810768" cy="219456"/>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AEB3BB"/>
                </a:solidFill>
                <a:latin typeface="Noto Sans KR SemiBold"/>
                <a:ea typeface="Noto Sans KR SemiBold"/>
                <a:cs typeface="Noto Sans KR SemiBold"/>
              </a:rPr>
              <a:t>ASSUMPTION</a:t>
            </a:r>
          </a:p>
        </p:txBody>
      </p:sp>
      <p:sp>
        <p:nvSpPr>
          <p:cNvPr id="22" name="Layer HARDWARE"/>
          <p:cNvSpPr/>
          <p:nvPr/>
        </p:nvSpPr>
        <p:spPr>
          <a:xfrm>
            <a:off x="1051560" y="4590288"/>
            <a:ext cx="6629400" cy="1243584"/>
          </a:xfrm>
          <a:prstGeom prst="roundRect">
            <a:avLst>
              <a:gd name="adj" fmla="val 7352"/>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3" name="TextBox 22"/>
          <p:cNvSpPr txBox="1"/>
          <p:nvPr/>
        </p:nvSpPr>
        <p:spPr>
          <a:xfrm>
            <a:off x="1280160" y="4736592"/>
            <a:ext cx="1920240" cy="219456"/>
          </a:xfrm>
          <a:prstGeom prst="rect">
            <a:avLst/>
          </a:prstGeom>
          <a:noFill/>
        </p:spPr>
        <p:txBody>
          <a:bodyPr wrap="square" lIns="0" rIns="0" tIns="0" bIns="0" anchor="t">
            <a:noAutofit/>
          </a:bodyPr>
          <a:lstStyle/>
          <a:p>
            <a:pPr algn="l">
              <a:lnSpc>
                <a:spcPct val="112000"/>
              </a:lnSpc>
            </a:pPr>
            <a:r>
              <a:rPr sz="900" b="0" i="0" spc="120">
                <a:solidFill>
                  <a:srgbClr val="EC7A3C"/>
                </a:solidFill>
                <a:latin typeface="Noto Sans KR SemiBold"/>
                <a:ea typeface="Noto Sans KR SemiBold"/>
                <a:cs typeface="Noto Sans KR SemiBold"/>
              </a:rPr>
              <a:t>LAYER 1</a:t>
            </a:r>
          </a:p>
        </p:txBody>
      </p:sp>
      <p:sp>
        <p:nvSpPr>
          <p:cNvPr id="24" name="TextBox 23"/>
          <p:cNvSpPr txBox="1"/>
          <p:nvPr/>
        </p:nvSpPr>
        <p:spPr>
          <a:xfrm>
            <a:off x="1280160" y="4974336"/>
            <a:ext cx="2011680" cy="685800"/>
          </a:xfrm>
          <a:prstGeom prst="rect">
            <a:avLst/>
          </a:prstGeom>
          <a:noFill/>
        </p:spPr>
        <p:txBody>
          <a:bodyPr wrap="square" lIns="0" rIns="0" tIns="0" bIns="0" anchor="t">
            <a:noAutofit/>
          </a:bodyPr>
          <a:lstStyle/>
          <a:p>
            <a:pPr algn="l">
              <a:lnSpc>
                <a:spcPct val="100000"/>
              </a:lnSpc>
            </a:pPr>
            <a:r>
              <a:rPr sz="1600" b="0" i="0">
                <a:solidFill>
                  <a:srgbClr val="F2F2EF"/>
                </a:solidFill>
                <a:latin typeface="Noto Sans KR Black"/>
                <a:ea typeface="Noto Sans KR Black"/>
                <a:cs typeface="Noto Sans KR Black"/>
              </a:rPr>
              <a:t>HARDWARE</a:t>
            </a:r>
          </a:p>
        </p:txBody>
      </p:sp>
      <p:sp>
        <p:nvSpPr>
          <p:cNvPr id="25" name="TextBox 24"/>
          <p:cNvSpPr txBox="1"/>
          <p:nvPr/>
        </p:nvSpPr>
        <p:spPr>
          <a:xfrm>
            <a:off x="3291840" y="4773168"/>
            <a:ext cx="2514600" cy="914400"/>
          </a:xfrm>
          <a:prstGeom prst="rect">
            <a:avLst/>
          </a:prstGeom>
          <a:noFill/>
        </p:spPr>
        <p:txBody>
          <a:bodyPr wrap="square" lIns="0" rIns="0" tIns="0" bIns="0" anchor="t">
            <a:noAutofit/>
          </a:bodyPr>
          <a:lstStyle/>
          <a:p>
            <a:pPr algn="l">
              <a:lnSpc>
                <a:spcPct val="120000"/>
              </a:lnSpc>
            </a:pPr>
            <a:r>
              <a:rPr sz="1000" b="0" i="0">
                <a:solidFill>
                  <a:srgbClr val="AEB3BB"/>
                </a:solidFill>
                <a:latin typeface="Noto Sans KR"/>
                <a:ea typeface="Noto Sans KR"/>
                <a:cs typeface="Noto Sans KR"/>
              </a:rPr>
              <a:t>SoftHand-4 · Controller · Robot Adapter</a:t>
            </a:r>
          </a:p>
          <a:p>
            <a:pPr algn="l">
              <a:lnSpc>
                <a:spcPct val="120000"/>
              </a:lnSpc>
            </a:pPr>
            <a:r>
              <a:rPr sz="1000" b="0" i="0">
                <a:solidFill>
                  <a:srgbClr val="AEB3BB"/>
                </a:solidFill>
                <a:latin typeface="Noto Sans KR"/>
                <a:ea typeface="Noto Sans KR"/>
                <a:cs typeface="Noto Sans KR"/>
              </a:rPr>
              <a:t>(로봇 플랫폼 2종 우선 통합)</a:t>
            </a:r>
          </a:p>
        </p:txBody>
      </p:sp>
      <p:cxnSp>
        <p:nvCxnSpPr>
          <p:cNvPr id="26" name="Connector 25"/>
          <p:cNvCxnSpPr/>
          <p:nvPr/>
        </p:nvCxnSpPr>
        <p:spPr>
          <a:xfrm>
            <a:off x="5897879" y="4791455"/>
            <a:ext cx="0" cy="841249"/>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35040" y="4773168"/>
            <a:ext cx="1600200" cy="219456"/>
          </a:xfrm>
          <a:prstGeom prst="rect">
            <a:avLst/>
          </a:prstGeom>
          <a:noFill/>
        </p:spPr>
        <p:txBody>
          <a:bodyPr wrap="square" lIns="0" rIns="0" tIns="0" bIns="0" anchor="t">
            <a:noAutofit/>
          </a:bodyPr>
          <a:lstStyle/>
          <a:p>
            <a:pPr algn="l">
              <a:lnSpc>
                <a:spcPct val="112000"/>
              </a:lnSpc>
            </a:pPr>
            <a:r>
              <a:rPr sz="850" b="0" i="0" spc="100">
                <a:solidFill>
                  <a:srgbClr val="737882"/>
                </a:solidFill>
                <a:latin typeface="Noto Sans KR SemiBold"/>
                <a:ea typeface="Noto Sans KR SemiBold"/>
                <a:cs typeface="Noto Sans KR SemiBold"/>
              </a:rPr>
              <a:t>REVENUE</a:t>
            </a:r>
          </a:p>
        </p:txBody>
      </p:sp>
      <p:sp>
        <p:nvSpPr>
          <p:cNvPr id="28" name="TextBox 27"/>
          <p:cNvSpPr txBox="1"/>
          <p:nvPr/>
        </p:nvSpPr>
        <p:spPr>
          <a:xfrm>
            <a:off x="6035040" y="4992624"/>
            <a:ext cx="1645920" cy="502920"/>
          </a:xfrm>
          <a:prstGeom prst="rect">
            <a:avLst/>
          </a:prstGeom>
          <a:noFill/>
        </p:spPr>
        <p:txBody>
          <a:bodyPr wrap="square" lIns="0" rIns="0" tIns="0" bIns="0" anchor="t">
            <a:noAutofit/>
          </a:bodyPr>
          <a:lstStyle/>
          <a:p>
            <a:pPr algn="l">
              <a:lnSpc>
                <a:spcPct val="115000"/>
              </a:lnSpc>
            </a:pPr>
            <a:r>
              <a:rPr sz="1000" b="0" i="0">
                <a:solidFill>
                  <a:srgbClr val="F2F2EF"/>
                </a:solidFill>
                <a:latin typeface="Noto Sans KR"/>
                <a:ea typeface="Noto Sans KR"/>
                <a:cs typeface="Noto Sans KR"/>
              </a:rPr>
              <a:t>Hand 패키지</a:t>
            </a:r>
          </a:p>
          <a:p>
            <a:pPr algn="l">
              <a:lnSpc>
                <a:spcPct val="115000"/>
              </a:lnSpc>
            </a:pPr>
            <a:r>
              <a:rPr sz="1000" b="0" i="0">
                <a:solidFill>
                  <a:srgbClr val="F2F2EF"/>
                </a:solidFill>
                <a:latin typeface="Noto Sans KR"/>
                <a:ea typeface="Noto Sans KR"/>
                <a:cs typeface="Noto Sans KR"/>
              </a:rPr>
              <a:t>₩15M · GM 46.7%</a:t>
            </a:r>
          </a:p>
        </p:txBody>
      </p:sp>
      <p:sp>
        <p:nvSpPr>
          <p:cNvPr id="29" name="Tag ASSUMPTION"/>
          <p:cNvSpPr/>
          <p:nvPr/>
        </p:nvSpPr>
        <p:spPr>
          <a:xfrm>
            <a:off x="6035040" y="5522975"/>
            <a:ext cx="810768" cy="219456"/>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AEB3BB"/>
                </a:solidFill>
                <a:latin typeface="Noto Sans KR SemiBold"/>
                <a:ea typeface="Noto Sans KR SemiBold"/>
                <a:cs typeface="Noto Sans KR SemiBold"/>
              </a:rPr>
              <a:t>ASSUMPTION</a:t>
            </a:r>
          </a:p>
        </p:txBody>
      </p:sp>
      <p:sp>
        <p:nvSpPr>
          <p:cNvPr id="30" name="TextBox 29"/>
          <p:cNvSpPr txBox="1"/>
          <p:nvPr/>
        </p:nvSpPr>
        <p:spPr>
          <a:xfrm rot="16200000">
            <a:off x="548640" y="1847088"/>
            <a:ext cx="411480" cy="2615184"/>
          </a:xfrm>
          <a:prstGeom prst="rect">
            <a:avLst/>
          </a:prstGeom>
          <a:noFill/>
        </p:spPr>
        <p:txBody>
          <a:bodyPr wrap="square" lIns="0" rIns="0" tIns="0" bIns="0" anchor="ctr">
            <a:noAutofit/>
          </a:bodyPr>
          <a:lstStyle/>
          <a:p>
            <a:pPr algn="ctr">
              <a:lnSpc>
                <a:spcPct val="112000"/>
              </a:lnSpc>
            </a:pPr>
            <a:r>
              <a:rPr sz="950" b="0" i="0" spc="120">
                <a:solidFill>
                  <a:srgbClr val="EC7A3C"/>
                </a:solidFill>
                <a:latin typeface="Noto Sans KR SemiBold"/>
                <a:ea typeface="Noto Sans KR SemiBold"/>
                <a:cs typeface="Noto Sans KR SemiBold"/>
              </a:rPr>
              <a:t>LETS US SCALE</a:t>
            </a:r>
          </a:p>
        </p:txBody>
      </p:sp>
      <p:cxnSp>
        <p:nvCxnSpPr>
          <p:cNvPr id="31" name="Connector 30"/>
          <p:cNvCxnSpPr/>
          <p:nvPr/>
        </p:nvCxnSpPr>
        <p:spPr>
          <a:xfrm>
            <a:off x="932688" y="1920240"/>
            <a:ext cx="0" cy="2487168"/>
          </a:xfrm>
          <a:prstGeom prst="line">
            <a:avLst/>
          </a:prstGeom>
          <a:ln w="15875">
            <a:solidFill>
              <a:srgbClr val="EC7A3C"/>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rot="16200000">
            <a:off x="548640" y="4590288"/>
            <a:ext cx="411480" cy="1243584"/>
          </a:xfrm>
          <a:prstGeom prst="rect">
            <a:avLst/>
          </a:prstGeom>
          <a:noFill/>
        </p:spPr>
        <p:txBody>
          <a:bodyPr wrap="square" lIns="0" rIns="0" tIns="0" bIns="0" anchor="ctr">
            <a:noAutofit/>
          </a:bodyPr>
          <a:lstStyle/>
          <a:p>
            <a:pPr algn="ctr">
              <a:lnSpc>
                <a:spcPct val="112000"/>
              </a:lnSpc>
            </a:pPr>
            <a:r>
              <a:rPr sz="950" b="0" i="0" spc="120">
                <a:solidFill>
                  <a:srgbClr val="AEB3BB"/>
                </a:solidFill>
                <a:latin typeface="Noto Sans KR SemiBold"/>
                <a:ea typeface="Noto Sans KR SemiBold"/>
                <a:cs typeface="Noto Sans KR SemiBold"/>
              </a:rPr>
              <a:t>DEPLOYED</a:t>
            </a:r>
          </a:p>
        </p:txBody>
      </p:sp>
      <p:cxnSp>
        <p:nvCxnSpPr>
          <p:cNvPr id="33" name="Connector 32"/>
          <p:cNvCxnSpPr/>
          <p:nvPr/>
        </p:nvCxnSpPr>
        <p:spPr>
          <a:xfrm>
            <a:off x="932688" y="4663440"/>
            <a:ext cx="0" cy="1097280"/>
          </a:xfrm>
          <a:prstGeom prst="line">
            <a:avLst/>
          </a:prstGeom>
          <a:ln w="15875">
            <a:solidFill>
              <a:srgbClr val="AEB3B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001000" y="1847088"/>
            <a:ext cx="3642055" cy="256032"/>
          </a:xfrm>
          <a:prstGeom prst="rect">
            <a:avLst/>
          </a:prstGeom>
          <a:noFill/>
        </p:spPr>
        <p:txBody>
          <a:bodyPr wrap="square" lIns="0" rIns="0" tIns="0" bIns="0" anchor="t">
            <a:noAutofit/>
          </a:bodyPr>
          <a:lstStyle/>
          <a:p>
            <a:pPr algn="l">
              <a:lnSpc>
                <a:spcPct val="112000"/>
              </a:lnSpc>
            </a:pPr>
            <a:r>
              <a:rPr sz="1000" b="0" i="0" spc="120">
                <a:solidFill>
                  <a:srgbClr val="EC7A3C"/>
                </a:solidFill>
                <a:latin typeface="Noto Sans KR SemiBold"/>
                <a:ea typeface="Noto Sans KR SemiBold"/>
                <a:cs typeface="Noto Sans KR SemiBold"/>
              </a:rPr>
              <a:t>REVENUE EVOLUTION</a:t>
            </a:r>
          </a:p>
        </p:txBody>
      </p:sp>
      <p:sp>
        <p:nvSpPr>
          <p:cNvPr id="35" name="Evo PoC"/>
          <p:cNvSpPr/>
          <p:nvPr/>
        </p:nvSpPr>
        <p:spPr>
          <a:xfrm>
            <a:off x="8001000" y="2212848"/>
            <a:ext cx="3642055" cy="512064"/>
          </a:xfrm>
          <a:prstGeom prst="roundRect">
            <a:avLst>
              <a:gd name="adj" fmla="val 14285"/>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6" name="TextBox 35"/>
          <p:cNvSpPr txBox="1"/>
          <p:nvPr/>
        </p:nvSpPr>
        <p:spPr>
          <a:xfrm>
            <a:off x="8165592" y="2267712"/>
            <a:ext cx="1737360" cy="402336"/>
          </a:xfrm>
          <a:prstGeom prst="rect">
            <a:avLst/>
          </a:prstGeom>
          <a:noFill/>
        </p:spPr>
        <p:txBody>
          <a:bodyPr wrap="square" lIns="0" rIns="0" tIns="0" bIns="0" anchor="ctr">
            <a:noAutofit/>
          </a:bodyPr>
          <a:lstStyle/>
          <a:p>
            <a:pPr algn="l">
              <a:lnSpc>
                <a:spcPct val="112000"/>
              </a:lnSpc>
            </a:pPr>
            <a:r>
              <a:rPr sz="1150" b="0" i="0">
                <a:solidFill>
                  <a:srgbClr val="F2F2EF"/>
                </a:solidFill>
                <a:latin typeface="Noto Sans KR Black"/>
                <a:ea typeface="Noto Sans KR Black"/>
                <a:cs typeface="Noto Sans KR Black"/>
              </a:rPr>
              <a:t>PoC</a:t>
            </a:r>
          </a:p>
        </p:txBody>
      </p:sp>
      <p:sp>
        <p:nvSpPr>
          <p:cNvPr id="37" name="TextBox 36"/>
          <p:cNvSpPr txBox="1"/>
          <p:nvPr/>
        </p:nvSpPr>
        <p:spPr>
          <a:xfrm>
            <a:off x="9829800" y="2267712"/>
            <a:ext cx="1721815" cy="402336"/>
          </a:xfrm>
          <a:prstGeom prst="rect">
            <a:avLst/>
          </a:prstGeom>
          <a:noFill/>
        </p:spPr>
        <p:txBody>
          <a:bodyPr wrap="square" lIns="0" rIns="0" tIns="0" bIns="0" anchor="ctr">
            <a:noAutofit/>
          </a:bodyPr>
          <a:lstStyle/>
          <a:p>
            <a:pPr algn="l">
              <a:lnSpc>
                <a:spcPct val="112000"/>
              </a:lnSpc>
            </a:pPr>
            <a:r>
              <a:rPr sz="950" b="0" i="0">
                <a:solidFill>
                  <a:srgbClr val="AEB3BB"/>
                </a:solidFill>
                <a:latin typeface="Noto Sans KR"/>
                <a:ea typeface="Noto Sans KR"/>
                <a:cs typeface="Noto Sans KR"/>
              </a:rPr>
              <a:t>유료 실증·통합 (GM 40%)</a:t>
            </a:r>
          </a:p>
        </p:txBody>
      </p:sp>
      <p:sp>
        <p:nvSpPr>
          <p:cNvPr id="38" name="Isosceles Triangle 37"/>
          <p:cNvSpPr/>
          <p:nvPr/>
        </p:nvSpPr>
        <p:spPr>
          <a:xfrm rot="10800000">
            <a:off x="8275319" y="2761488"/>
            <a:ext cx="91440" cy="91440"/>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9" name="Evo HARDWARE"/>
          <p:cNvSpPr/>
          <p:nvPr/>
        </p:nvSpPr>
        <p:spPr>
          <a:xfrm>
            <a:off x="8001000" y="2889504"/>
            <a:ext cx="3642055" cy="512064"/>
          </a:xfrm>
          <a:prstGeom prst="roundRect">
            <a:avLst>
              <a:gd name="adj" fmla="val 14285"/>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0" name="TextBox 39"/>
          <p:cNvSpPr txBox="1"/>
          <p:nvPr/>
        </p:nvSpPr>
        <p:spPr>
          <a:xfrm>
            <a:off x="8165592" y="2944368"/>
            <a:ext cx="1737360" cy="402336"/>
          </a:xfrm>
          <a:prstGeom prst="rect">
            <a:avLst/>
          </a:prstGeom>
          <a:noFill/>
        </p:spPr>
        <p:txBody>
          <a:bodyPr wrap="square" lIns="0" rIns="0" tIns="0" bIns="0" anchor="ctr">
            <a:noAutofit/>
          </a:bodyPr>
          <a:lstStyle/>
          <a:p>
            <a:pPr algn="l">
              <a:lnSpc>
                <a:spcPct val="112000"/>
              </a:lnSpc>
            </a:pPr>
            <a:r>
              <a:rPr sz="1150" b="0" i="0">
                <a:solidFill>
                  <a:srgbClr val="F2F2EF"/>
                </a:solidFill>
                <a:latin typeface="Noto Sans KR Black"/>
                <a:ea typeface="Noto Sans KR Black"/>
                <a:cs typeface="Noto Sans KR Black"/>
              </a:rPr>
              <a:t>HARDWARE</a:t>
            </a:r>
          </a:p>
        </p:txBody>
      </p:sp>
      <p:sp>
        <p:nvSpPr>
          <p:cNvPr id="41" name="TextBox 40"/>
          <p:cNvSpPr txBox="1"/>
          <p:nvPr/>
        </p:nvSpPr>
        <p:spPr>
          <a:xfrm>
            <a:off x="9829800" y="2944368"/>
            <a:ext cx="1721815" cy="402336"/>
          </a:xfrm>
          <a:prstGeom prst="rect">
            <a:avLst/>
          </a:prstGeom>
          <a:noFill/>
        </p:spPr>
        <p:txBody>
          <a:bodyPr wrap="square" lIns="0" rIns="0" tIns="0" bIns="0" anchor="ctr">
            <a:noAutofit/>
          </a:bodyPr>
          <a:lstStyle/>
          <a:p>
            <a:pPr algn="l">
              <a:lnSpc>
                <a:spcPct val="112000"/>
              </a:lnSpc>
            </a:pPr>
            <a:r>
              <a:rPr sz="950" b="0" i="0">
                <a:solidFill>
                  <a:srgbClr val="AEB3BB"/>
                </a:solidFill>
                <a:latin typeface="Noto Sans KR"/>
                <a:ea typeface="Noto Sans KR"/>
                <a:cs typeface="Noto Sans KR"/>
              </a:rPr>
              <a:t>Hand 패키지 판매</a:t>
            </a:r>
          </a:p>
        </p:txBody>
      </p:sp>
      <p:sp>
        <p:nvSpPr>
          <p:cNvPr id="42" name="Isosceles Triangle 41"/>
          <p:cNvSpPr/>
          <p:nvPr/>
        </p:nvSpPr>
        <p:spPr>
          <a:xfrm rot="10800000">
            <a:off x="8275319" y="3438144"/>
            <a:ext cx="91440" cy="91440"/>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3" name="Evo HARDWARE + SKILL"/>
          <p:cNvSpPr/>
          <p:nvPr/>
        </p:nvSpPr>
        <p:spPr>
          <a:xfrm>
            <a:off x="8001000" y="3566160"/>
            <a:ext cx="3642055" cy="512064"/>
          </a:xfrm>
          <a:prstGeom prst="roundRect">
            <a:avLst>
              <a:gd name="adj" fmla="val 14285"/>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4" name="TextBox 43"/>
          <p:cNvSpPr txBox="1"/>
          <p:nvPr/>
        </p:nvSpPr>
        <p:spPr>
          <a:xfrm>
            <a:off x="8165592" y="3621024"/>
            <a:ext cx="1737360" cy="402336"/>
          </a:xfrm>
          <a:prstGeom prst="rect">
            <a:avLst/>
          </a:prstGeom>
          <a:noFill/>
        </p:spPr>
        <p:txBody>
          <a:bodyPr wrap="square" lIns="0" rIns="0" tIns="0" bIns="0" anchor="ctr">
            <a:noAutofit/>
          </a:bodyPr>
          <a:lstStyle/>
          <a:p>
            <a:pPr algn="l">
              <a:lnSpc>
                <a:spcPct val="112000"/>
              </a:lnSpc>
            </a:pPr>
            <a:r>
              <a:rPr sz="1150" b="0" i="0">
                <a:solidFill>
                  <a:srgbClr val="F2F2EF"/>
                </a:solidFill>
                <a:latin typeface="Noto Sans KR Black"/>
                <a:ea typeface="Noto Sans KR Black"/>
                <a:cs typeface="Noto Sans KR Black"/>
              </a:rPr>
              <a:t>HARDWARE + SKILL</a:t>
            </a:r>
          </a:p>
        </p:txBody>
      </p:sp>
      <p:sp>
        <p:nvSpPr>
          <p:cNvPr id="45" name="TextBox 44"/>
          <p:cNvSpPr txBox="1"/>
          <p:nvPr/>
        </p:nvSpPr>
        <p:spPr>
          <a:xfrm>
            <a:off x="9829800" y="3621024"/>
            <a:ext cx="1721815" cy="402336"/>
          </a:xfrm>
          <a:prstGeom prst="rect">
            <a:avLst/>
          </a:prstGeom>
          <a:noFill/>
        </p:spPr>
        <p:txBody>
          <a:bodyPr wrap="square" lIns="0" rIns="0" tIns="0" bIns="0" anchor="ctr">
            <a:noAutofit/>
          </a:bodyPr>
          <a:lstStyle/>
          <a:p>
            <a:pPr algn="l">
              <a:lnSpc>
                <a:spcPct val="112000"/>
              </a:lnSpc>
            </a:pPr>
            <a:r>
              <a:rPr sz="950" b="0" i="0">
                <a:solidFill>
                  <a:srgbClr val="AEB3BB"/>
                </a:solidFill>
                <a:latin typeface="Noto Sans KR"/>
                <a:ea typeface="Noto Sans KR"/>
                <a:cs typeface="Noto Sans KR"/>
              </a:rPr>
              <a:t>설치 기반에 Skill 추가</a:t>
            </a:r>
          </a:p>
        </p:txBody>
      </p:sp>
      <p:sp>
        <p:nvSpPr>
          <p:cNvPr id="46" name="Isosceles Triangle 45"/>
          <p:cNvSpPr/>
          <p:nvPr/>
        </p:nvSpPr>
        <p:spPr>
          <a:xfrm rot="10800000">
            <a:off x="8275319" y="4114800"/>
            <a:ext cx="91440" cy="91440"/>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7" name="Evo SOFTWARE"/>
          <p:cNvSpPr/>
          <p:nvPr/>
        </p:nvSpPr>
        <p:spPr>
          <a:xfrm>
            <a:off x="8001000" y="4242816"/>
            <a:ext cx="3642055" cy="512064"/>
          </a:xfrm>
          <a:prstGeom prst="roundRect">
            <a:avLst>
              <a:gd name="adj" fmla="val 14285"/>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8" name="TextBox 47"/>
          <p:cNvSpPr txBox="1"/>
          <p:nvPr/>
        </p:nvSpPr>
        <p:spPr>
          <a:xfrm>
            <a:off x="8165592" y="4297679"/>
            <a:ext cx="1737360" cy="402336"/>
          </a:xfrm>
          <a:prstGeom prst="rect">
            <a:avLst/>
          </a:prstGeom>
          <a:noFill/>
        </p:spPr>
        <p:txBody>
          <a:bodyPr wrap="square" lIns="0" rIns="0" tIns="0" bIns="0" anchor="ctr">
            <a:noAutofit/>
          </a:bodyPr>
          <a:lstStyle/>
          <a:p>
            <a:pPr algn="l">
              <a:lnSpc>
                <a:spcPct val="112000"/>
              </a:lnSpc>
            </a:pPr>
            <a:r>
              <a:rPr sz="1150" b="0" i="0">
                <a:solidFill>
                  <a:srgbClr val="F2F2EF"/>
                </a:solidFill>
                <a:latin typeface="Noto Sans KR Black"/>
                <a:ea typeface="Noto Sans KR Black"/>
                <a:cs typeface="Noto Sans KR Black"/>
              </a:rPr>
              <a:t>SOFTWARE</a:t>
            </a:r>
          </a:p>
        </p:txBody>
      </p:sp>
      <p:sp>
        <p:nvSpPr>
          <p:cNvPr id="49" name="TextBox 48"/>
          <p:cNvSpPr txBox="1"/>
          <p:nvPr/>
        </p:nvSpPr>
        <p:spPr>
          <a:xfrm>
            <a:off x="9829800" y="4297679"/>
            <a:ext cx="1721815" cy="402336"/>
          </a:xfrm>
          <a:prstGeom prst="rect">
            <a:avLst/>
          </a:prstGeom>
          <a:noFill/>
        </p:spPr>
        <p:txBody>
          <a:bodyPr wrap="square" lIns="0" rIns="0" tIns="0" bIns="0" anchor="ctr">
            <a:noAutofit/>
          </a:bodyPr>
          <a:lstStyle/>
          <a:p>
            <a:pPr algn="l">
              <a:lnSpc>
                <a:spcPct val="112000"/>
              </a:lnSpc>
            </a:pPr>
            <a:r>
              <a:rPr sz="950" b="0" i="0">
                <a:solidFill>
                  <a:srgbClr val="AEB3BB"/>
                </a:solidFill>
                <a:latin typeface="Noto Sans KR"/>
                <a:ea typeface="Noto Sans KR"/>
                <a:cs typeface="Noto Sans KR"/>
              </a:rPr>
              <a:t>Runtime·Skill 반복 매출</a:t>
            </a:r>
          </a:p>
        </p:txBody>
      </p:sp>
      <p:sp>
        <p:nvSpPr>
          <p:cNvPr id="50" name="Isosceles Triangle 49"/>
          <p:cNvSpPr/>
          <p:nvPr/>
        </p:nvSpPr>
        <p:spPr>
          <a:xfrm rot="10800000">
            <a:off x="8275319" y="4791456"/>
            <a:ext cx="91440" cy="91440"/>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1" name="Evo OEM"/>
          <p:cNvSpPr/>
          <p:nvPr/>
        </p:nvSpPr>
        <p:spPr>
          <a:xfrm>
            <a:off x="8001000" y="4919472"/>
            <a:ext cx="3642055" cy="512064"/>
          </a:xfrm>
          <a:prstGeom prst="roundRect">
            <a:avLst>
              <a:gd name="adj" fmla="val 14285"/>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2" name="TextBox 51"/>
          <p:cNvSpPr txBox="1"/>
          <p:nvPr/>
        </p:nvSpPr>
        <p:spPr>
          <a:xfrm>
            <a:off x="8165592" y="4974336"/>
            <a:ext cx="1737360" cy="402336"/>
          </a:xfrm>
          <a:prstGeom prst="rect">
            <a:avLst/>
          </a:prstGeom>
          <a:noFill/>
        </p:spPr>
        <p:txBody>
          <a:bodyPr wrap="square" lIns="0" rIns="0" tIns="0" bIns="0" anchor="ctr">
            <a:noAutofit/>
          </a:bodyPr>
          <a:lstStyle/>
          <a:p>
            <a:pPr algn="l">
              <a:lnSpc>
                <a:spcPct val="112000"/>
              </a:lnSpc>
            </a:pPr>
            <a:r>
              <a:rPr sz="1150" b="0" i="0">
                <a:solidFill>
                  <a:srgbClr val="EC7A3C"/>
                </a:solidFill>
                <a:latin typeface="Noto Sans KR Black"/>
                <a:ea typeface="Noto Sans KR Black"/>
                <a:cs typeface="Noto Sans KR Black"/>
              </a:rPr>
              <a:t>OEM</a:t>
            </a:r>
          </a:p>
        </p:txBody>
      </p:sp>
      <p:sp>
        <p:nvSpPr>
          <p:cNvPr id="53" name="TextBox 52"/>
          <p:cNvSpPr txBox="1"/>
          <p:nvPr/>
        </p:nvSpPr>
        <p:spPr>
          <a:xfrm>
            <a:off x="9829800" y="4974336"/>
            <a:ext cx="1721815" cy="402336"/>
          </a:xfrm>
          <a:prstGeom prst="rect">
            <a:avLst/>
          </a:prstGeom>
          <a:noFill/>
        </p:spPr>
        <p:txBody>
          <a:bodyPr wrap="square" lIns="0" rIns="0" tIns="0" bIns="0" anchor="ctr">
            <a:noAutofit/>
          </a:bodyPr>
          <a:lstStyle/>
          <a:p>
            <a:pPr algn="l">
              <a:lnSpc>
                <a:spcPct val="112000"/>
              </a:lnSpc>
            </a:pPr>
            <a:r>
              <a:rPr sz="950" b="0" i="0">
                <a:solidFill>
                  <a:srgbClr val="AEB3BB"/>
                </a:solidFill>
                <a:latin typeface="Noto Sans KR"/>
                <a:ea typeface="Noto Sans KR"/>
                <a:cs typeface="Noto Sans KR"/>
              </a:rPr>
              <a:t>출하량 기반 라이선스</a:t>
            </a:r>
          </a:p>
        </p:txBody>
      </p:sp>
      <p:sp>
        <p:nvSpPr>
          <p:cNvPr id="54" name="TextBox 53"/>
          <p:cNvSpPr txBox="1"/>
          <p:nvPr/>
        </p:nvSpPr>
        <p:spPr>
          <a:xfrm>
            <a:off x="8001000" y="5650992"/>
            <a:ext cx="3642055" cy="411480"/>
          </a:xfrm>
          <a:prstGeom prst="rect">
            <a:avLst/>
          </a:prstGeom>
          <a:noFill/>
        </p:spPr>
        <p:txBody>
          <a:bodyPr wrap="square" lIns="0" rIns="0" tIns="0" bIns="0" anchor="t">
            <a:noAutofit/>
          </a:bodyPr>
          <a:lstStyle/>
          <a:p>
            <a:pPr algn="l">
              <a:lnSpc>
                <a:spcPct val="120000"/>
              </a:lnSpc>
            </a:pPr>
            <a:r>
              <a:rPr sz="950" b="0" i="0">
                <a:solidFill>
                  <a:srgbClr val="737882"/>
                </a:solidFill>
                <a:latin typeface="Noto Sans KR"/>
                <a:ea typeface="Noto Sans KR"/>
                <a:cs typeface="Noto Sans KR"/>
              </a:rPr>
              <a:t>초기 매출 = Hardware  ·  장기 가치 = Skill · Software · Data · OEM</a:t>
            </a:r>
          </a:p>
          <a:p>
            <a:pPr algn="l">
              <a:lnSpc>
                <a:spcPct val="120000"/>
              </a:lnSpc>
            </a:pPr>
            <a:r>
              <a:rPr sz="950" b="0" i="0">
                <a:solidFill>
                  <a:srgbClr val="737882"/>
                </a:solidFill>
                <a:latin typeface="Noto Sans KR"/>
                <a:ea typeface="Noto Sans KR"/>
                <a:cs typeface="Noto Sans KR"/>
              </a:rPr>
              <a:t>가격·마진은 모두 검증 전 가정 (PoC·BOM으로 검증)</a:t>
            </a:r>
          </a:p>
        </p:txBody>
      </p:sp>
      <p:sp>
        <p:nvSpPr>
          <p:cNvPr id="55"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56"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10  ·  MOAT</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EVERY DEPLOYMENT IMPROVES THE PLATFORM.</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데이터는 현재의 해자가 아니라, 회사가 성장하며 쌓이는 복리 자산(Compounding Asset)이다</a:t>
            </a:r>
          </a:p>
        </p:txBody>
      </p:sp>
      <p:sp>
        <p:nvSpPr>
          <p:cNvPr id="6" name="Today's moat"/>
          <p:cNvSpPr/>
          <p:nvPr/>
        </p:nvSpPr>
        <p:spPr>
          <a:xfrm>
            <a:off x="548640" y="1847088"/>
            <a:ext cx="3246120" cy="3566160"/>
          </a:xfrm>
          <a:prstGeom prst="roundRect">
            <a:avLst>
              <a:gd name="adj" fmla="val 3380"/>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 name="TextBox 6"/>
          <p:cNvSpPr txBox="1"/>
          <p:nvPr/>
        </p:nvSpPr>
        <p:spPr>
          <a:xfrm>
            <a:off x="777240" y="1975104"/>
            <a:ext cx="2194560" cy="274320"/>
          </a:xfrm>
          <a:prstGeom prst="rect">
            <a:avLst/>
          </a:prstGeom>
          <a:noFill/>
        </p:spPr>
        <p:txBody>
          <a:bodyPr wrap="square" lIns="0" rIns="0" tIns="0" bIns="0" anchor="t">
            <a:noAutofit/>
          </a:bodyPr>
          <a:lstStyle/>
          <a:p>
            <a:pPr algn="l">
              <a:lnSpc>
                <a:spcPct val="112000"/>
              </a:lnSpc>
            </a:pPr>
            <a:r>
              <a:rPr sz="1150" b="0" i="0" spc="100">
                <a:solidFill>
                  <a:srgbClr val="F2F2EF"/>
                </a:solidFill>
                <a:latin typeface="Noto Sans KR Black"/>
                <a:ea typeface="Noto Sans KR Black"/>
                <a:cs typeface="Noto Sans KR Black"/>
              </a:rPr>
              <a:t>TODAY'S MOAT</a:t>
            </a:r>
          </a:p>
        </p:txBody>
      </p:sp>
      <p:sp>
        <p:nvSpPr>
          <p:cNvPr id="8" name="Tag BUILT IN SEED"/>
          <p:cNvSpPr/>
          <p:nvPr/>
        </p:nvSpPr>
        <p:spPr>
          <a:xfrm>
            <a:off x="2645663" y="1984248"/>
            <a:ext cx="966216" cy="219456"/>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AEB3BB"/>
                </a:solidFill>
                <a:latin typeface="Noto Sans KR SemiBold"/>
                <a:ea typeface="Noto Sans KR SemiBold"/>
                <a:cs typeface="Noto Sans KR SemiBold"/>
              </a:rPr>
              <a:t>BUILT IN SEED</a:t>
            </a:r>
          </a:p>
        </p:txBody>
      </p:sp>
      <p:sp>
        <p:nvSpPr>
          <p:cNvPr id="9" name="TextBox 8"/>
          <p:cNvSpPr txBox="1"/>
          <p:nvPr/>
        </p:nvSpPr>
        <p:spPr>
          <a:xfrm>
            <a:off x="777240" y="2423160"/>
            <a:ext cx="2834639" cy="274320"/>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Mechanical Architecture</a:t>
            </a:r>
          </a:p>
        </p:txBody>
      </p:sp>
      <p:sp>
        <p:nvSpPr>
          <p:cNvPr id="10" name="TextBox 9"/>
          <p:cNvSpPr txBox="1"/>
          <p:nvPr/>
        </p:nvSpPr>
        <p:spPr>
          <a:xfrm>
            <a:off x="777240" y="2724912"/>
            <a:ext cx="2834639" cy="50292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Soft-Rigid 하이브리드 · 교체형 접촉부 · 강성 전환 개념</a:t>
            </a:r>
          </a:p>
        </p:txBody>
      </p:sp>
      <p:sp>
        <p:nvSpPr>
          <p:cNvPr id="11" name="TextBox 10"/>
          <p:cNvSpPr txBox="1"/>
          <p:nvPr/>
        </p:nvSpPr>
        <p:spPr>
          <a:xfrm>
            <a:off x="777240" y="3383280"/>
            <a:ext cx="2834639" cy="274320"/>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Tool-oriented Control</a:t>
            </a:r>
          </a:p>
        </p:txBody>
      </p:sp>
      <p:sp>
        <p:nvSpPr>
          <p:cNvPr id="12" name="TextBox 11"/>
          <p:cNvSpPr txBox="1"/>
          <p:nvPr/>
        </p:nvSpPr>
        <p:spPr>
          <a:xfrm>
            <a:off x="777240" y="3685032"/>
            <a:ext cx="2834639" cy="50292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힘·미끄러짐 기반 도구 조작 제어</a:t>
            </a:r>
          </a:p>
        </p:txBody>
      </p:sp>
      <p:sp>
        <p:nvSpPr>
          <p:cNvPr id="13" name="TextBox 12"/>
          <p:cNvSpPr txBox="1"/>
          <p:nvPr/>
        </p:nvSpPr>
        <p:spPr>
          <a:xfrm>
            <a:off x="777240" y="4343400"/>
            <a:ext cx="2834639" cy="274320"/>
          </a:xfrm>
          <a:prstGeom prst="rect">
            <a:avLst/>
          </a:prstGeom>
          <a:noFill/>
        </p:spPr>
        <p:txBody>
          <a:bodyPr wrap="square" lIns="0" rIns="0" tIns="0" bIns="0" anchor="t">
            <a:noAutofit/>
          </a:bodyPr>
          <a:lstStyle/>
          <a:p>
            <a:pPr algn="l">
              <a:lnSpc>
                <a:spcPct val="112000"/>
              </a:lnSpc>
            </a:pPr>
            <a:r>
              <a:rPr sz="1200" b="0" i="0">
                <a:solidFill>
                  <a:srgbClr val="F2F2EF"/>
                </a:solidFill>
                <a:latin typeface="Noto Sans KR SemiBold"/>
                <a:ea typeface="Noto Sans KR SemiBold"/>
                <a:cs typeface="Noto Sans KR SemiBold"/>
              </a:rPr>
              <a:t>Task Integration Know-how</a:t>
            </a:r>
          </a:p>
        </p:txBody>
      </p:sp>
      <p:sp>
        <p:nvSpPr>
          <p:cNvPr id="14" name="TextBox 13"/>
          <p:cNvSpPr txBox="1"/>
          <p:nvPr/>
        </p:nvSpPr>
        <p:spPr>
          <a:xfrm>
            <a:off x="777240" y="4645152"/>
            <a:ext cx="2834639" cy="502920"/>
          </a:xfrm>
          <a:prstGeom prst="rect">
            <a:avLst/>
          </a:prstGeom>
          <a:noFill/>
        </p:spPr>
        <p:txBody>
          <a:bodyPr wrap="square" lIns="0" rIns="0" tIns="0" bIns="0" anchor="t">
            <a:noAutofit/>
          </a:bodyPr>
          <a:lstStyle/>
          <a:p>
            <a:pPr algn="l">
              <a:lnSpc>
                <a:spcPct val="115000"/>
              </a:lnSpc>
            </a:pPr>
            <a:r>
              <a:rPr sz="1000" b="0" i="0">
                <a:solidFill>
                  <a:srgbClr val="AEB3BB"/>
                </a:solidFill>
                <a:latin typeface="Noto Sans KR"/>
                <a:ea typeface="Noto Sans KR"/>
                <a:cs typeface="Noto Sans KR"/>
              </a:rPr>
              <a:t>SI 현장 통합·PoC 운영 경험</a:t>
            </a:r>
          </a:p>
        </p:txBody>
      </p:sp>
      <p:sp>
        <p:nvSpPr>
          <p:cNvPr id="15" name="Flywheel ring"/>
          <p:cNvSpPr/>
          <p:nvPr/>
        </p:nvSpPr>
        <p:spPr>
          <a:xfrm>
            <a:off x="4553712" y="2176272"/>
            <a:ext cx="2962656" cy="2962656"/>
          </a:xfrm>
          <a:prstGeom prst="ellipse">
            <a:avLst/>
          </a:prstGeom>
          <a:noFill/>
          <a:ln w="19050">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6" name="Isosceles Triangle 15"/>
          <p:cNvSpPr/>
          <p:nvPr/>
        </p:nvSpPr>
        <p:spPr>
          <a:xfrm rot="7560000">
            <a:off x="6832590" y="2386028"/>
            <a:ext cx="146304" cy="146304"/>
          </a:xfrm>
          <a:prstGeom prst="triangl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7" name="Node 1"/>
          <p:cNvSpPr/>
          <p:nvPr/>
        </p:nvSpPr>
        <p:spPr>
          <a:xfrm>
            <a:off x="5285231" y="1929384"/>
            <a:ext cx="1499616" cy="493776"/>
          </a:xfrm>
          <a:prstGeom prst="roundRect">
            <a:avLst>
              <a:gd name="adj" fmla="val 50000"/>
            </a:avLst>
          </a:prstGeom>
          <a:solidFill>
            <a:srgbClr val="1D2025"/>
          </a:solidFill>
          <a:ln w="12700">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MORE</a:t>
            </a:r>
          </a:p>
          <a:p>
            <a:pPr algn="ctr">
              <a:lnSpc>
                <a:spcPct val="108000"/>
              </a:lnSpc>
            </a:pPr>
            <a:r>
              <a:rPr sz="850" b="0" i="0">
                <a:solidFill>
                  <a:srgbClr val="F2F2EF"/>
                </a:solidFill>
                <a:latin typeface="Noto Sans KR SemiBold"/>
                <a:ea typeface="Noto Sans KR SemiBold"/>
                <a:cs typeface="Noto Sans KR SemiBold"/>
              </a:rPr>
              <a:t>DEPLOYMENTS</a:t>
            </a:r>
          </a:p>
        </p:txBody>
      </p:sp>
      <p:sp>
        <p:nvSpPr>
          <p:cNvPr id="18" name="Isosceles Triangle 17"/>
          <p:cNvSpPr/>
          <p:nvPr/>
        </p:nvSpPr>
        <p:spPr>
          <a:xfrm rot="11880000">
            <a:off x="7370714" y="4042203"/>
            <a:ext cx="146304" cy="146304"/>
          </a:xfrm>
          <a:prstGeom prst="triangl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9" name="Node 2"/>
          <p:cNvSpPr/>
          <p:nvPr/>
        </p:nvSpPr>
        <p:spPr>
          <a:xfrm>
            <a:off x="6694058" y="2952956"/>
            <a:ext cx="1499616" cy="493776"/>
          </a:xfrm>
          <a:prstGeom prst="roundRect">
            <a:avLst>
              <a:gd name="adj" fmla="val 50000"/>
            </a:avLst>
          </a:prstGeom>
          <a:solidFill>
            <a:srgbClr val="1D2025"/>
          </a:solidFill>
          <a:ln w="12700">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MORE REAL-WORLD</a:t>
            </a:r>
          </a:p>
          <a:p>
            <a:pPr algn="ctr">
              <a:lnSpc>
                <a:spcPct val="108000"/>
              </a:lnSpc>
            </a:pPr>
            <a:r>
              <a:rPr sz="850" b="0" i="0">
                <a:solidFill>
                  <a:srgbClr val="F2F2EF"/>
                </a:solidFill>
                <a:latin typeface="Noto Sans KR SemiBold"/>
                <a:ea typeface="Noto Sans KR SemiBold"/>
                <a:cs typeface="Noto Sans KR SemiBold"/>
              </a:rPr>
              <a:t>TASKS</a:t>
            </a:r>
          </a:p>
        </p:txBody>
      </p:sp>
      <p:sp>
        <p:nvSpPr>
          <p:cNvPr id="20" name="Isosceles Triangle 19"/>
          <p:cNvSpPr/>
          <p:nvPr/>
        </p:nvSpPr>
        <p:spPr>
          <a:xfrm rot="16200000">
            <a:off x="5961888" y="5065776"/>
            <a:ext cx="146304" cy="146304"/>
          </a:xfrm>
          <a:prstGeom prst="triangl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1" name="Node 3"/>
          <p:cNvSpPr/>
          <p:nvPr/>
        </p:nvSpPr>
        <p:spPr>
          <a:xfrm>
            <a:off x="6155934" y="4609131"/>
            <a:ext cx="1499616" cy="493776"/>
          </a:xfrm>
          <a:prstGeom prst="roundRect">
            <a:avLst>
              <a:gd name="adj" fmla="val 50000"/>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EC7A3C"/>
                </a:solidFill>
                <a:latin typeface="Noto Sans KR SemiBold"/>
                <a:ea typeface="Noto Sans KR SemiBold"/>
                <a:cs typeface="Noto Sans KR SemiBold"/>
              </a:rPr>
              <a:t>MORE FAILURE /</a:t>
            </a:r>
          </a:p>
          <a:p>
            <a:pPr algn="ctr">
              <a:lnSpc>
                <a:spcPct val="108000"/>
              </a:lnSpc>
            </a:pPr>
            <a:r>
              <a:rPr sz="850" b="0" i="0">
                <a:solidFill>
                  <a:srgbClr val="EC7A3C"/>
                </a:solidFill>
                <a:latin typeface="Noto Sans KR SemiBold"/>
                <a:ea typeface="Noto Sans KR SemiBold"/>
                <a:cs typeface="Noto Sans KR SemiBold"/>
              </a:rPr>
              <a:t>RECOVERY DATA</a:t>
            </a:r>
          </a:p>
        </p:txBody>
      </p:sp>
      <p:sp>
        <p:nvSpPr>
          <p:cNvPr id="22" name="Isosceles Triangle 21"/>
          <p:cNvSpPr/>
          <p:nvPr/>
        </p:nvSpPr>
        <p:spPr>
          <a:xfrm rot="20520000">
            <a:off x="4553061" y="4042203"/>
            <a:ext cx="146304" cy="146304"/>
          </a:xfrm>
          <a:prstGeom prst="triangl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3" name="Node 4"/>
          <p:cNvSpPr/>
          <p:nvPr/>
        </p:nvSpPr>
        <p:spPr>
          <a:xfrm>
            <a:off x="4414529" y="4609131"/>
            <a:ext cx="1499616" cy="493776"/>
          </a:xfrm>
          <a:prstGeom prst="roundRect">
            <a:avLst>
              <a:gd name="adj" fmla="val 50000"/>
            </a:avLst>
          </a:prstGeom>
          <a:solidFill>
            <a:srgbClr val="1D2025"/>
          </a:solidFill>
          <a:ln w="12700">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BETTER</a:t>
            </a:r>
          </a:p>
          <a:p>
            <a:pPr algn="ctr">
              <a:lnSpc>
                <a:spcPct val="108000"/>
              </a:lnSpc>
            </a:pPr>
            <a:r>
              <a:rPr sz="850" b="0" i="0">
                <a:solidFill>
                  <a:srgbClr val="F2F2EF"/>
                </a:solidFill>
                <a:latin typeface="Noto Sans KR SemiBold"/>
                <a:ea typeface="Noto Sans KR SemiBold"/>
                <a:cs typeface="Noto Sans KR SemiBold"/>
              </a:rPr>
              <a:t>TOOL SKILLS</a:t>
            </a:r>
          </a:p>
        </p:txBody>
      </p:sp>
      <p:sp>
        <p:nvSpPr>
          <p:cNvPr id="24" name="Isosceles Triangle 23"/>
          <p:cNvSpPr/>
          <p:nvPr/>
        </p:nvSpPr>
        <p:spPr>
          <a:xfrm rot="3240000">
            <a:off x="5091185" y="2386028"/>
            <a:ext cx="146304" cy="146304"/>
          </a:xfrm>
          <a:prstGeom prst="triangl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5" name="Node 5"/>
          <p:cNvSpPr/>
          <p:nvPr/>
        </p:nvSpPr>
        <p:spPr>
          <a:xfrm>
            <a:off x="3876405" y="2952956"/>
            <a:ext cx="1499616" cy="493776"/>
          </a:xfrm>
          <a:prstGeom prst="roundRect">
            <a:avLst>
              <a:gd name="adj" fmla="val 50000"/>
            </a:avLst>
          </a:prstGeom>
          <a:solidFill>
            <a:srgbClr val="1D2025"/>
          </a:solidFill>
          <a:ln w="12700">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HIGHER</a:t>
            </a:r>
          </a:p>
          <a:p>
            <a:pPr algn="ctr">
              <a:lnSpc>
                <a:spcPct val="108000"/>
              </a:lnSpc>
            </a:pPr>
            <a:r>
              <a:rPr sz="850" b="0" i="0">
                <a:solidFill>
                  <a:srgbClr val="F2F2EF"/>
                </a:solidFill>
                <a:latin typeface="Noto Sans KR SemiBold"/>
                <a:ea typeface="Noto Sans KR SemiBold"/>
                <a:cs typeface="Noto Sans KR SemiBold"/>
              </a:rPr>
              <a:t>SUCCESS RATE</a:t>
            </a:r>
          </a:p>
        </p:txBody>
      </p:sp>
      <p:sp>
        <p:nvSpPr>
          <p:cNvPr id="26" name="TextBox 25"/>
          <p:cNvSpPr txBox="1"/>
          <p:nvPr/>
        </p:nvSpPr>
        <p:spPr>
          <a:xfrm>
            <a:off x="5120640" y="3310128"/>
            <a:ext cx="1828800" cy="457200"/>
          </a:xfrm>
          <a:prstGeom prst="rect">
            <a:avLst/>
          </a:prstGeom>
          <a:noFill/>
        </p:spPr>
        <p:txBody>
          <a:bodyPr wrap="square" lIns="0" rIns="0" tIns="0" bIns="0" anchor="t">
            <a:noAutofit/>
          </a:bodyPr>
          <a:lstStyle/>
          <a:p>
            <a:pPr algn="ctr">
              <a:lnSpc>
                <a:spcPct val="100000"/>
              </a:lnSpc>
            </a:pPr>
            <a:r>
              <a:rPr sz="1250" b="0" i="0">
                <a:solidFill>
                  <a:srgbClr val="F2F2EF"/>
                </a:solidFill>
                <a:latin typeface="Noto Sans KR Black"/>
                <a:ea typeface="Noto Sans KR Black"/>
                <a:cs typeface="Noto Sans KR Black"/>
              </a:rPr>
              <a:t>MANIPULATION</a:t>
            </a:r>
          </a:p>
          <a:p>
            <a:pPr algn="ctr">
              <a:lnSpc>
                <a:spcPct val="100000"/>
              </a:lnSpc>
            </a:pPr>
            <a:r>
              <a:rPr sz="1250" b="0" i="0">
                <a:solidFill>
                  <a:srgbClr val="F2F2EF"/>
                </a:solidFill>
                <a:latin typeface="Noto Sans KR Black"/>
                <a:ea typeface="Noto Sans KR Black"/>
                <a:cs typeface="Noto Sans KR Black"/>
              </a:rPr>
              <a:t>DATA</a:t>
            </a:r>
          </a:p>
        </p:txBody>
      </p:sp>
      <p:sp>
        <p:nvSpPr>
          <p:cNvPr id="27" name="TextBox 26"/>
          <p:cNvSpPr txBox="1"/>
          <p:nvPr/>
        </p:nvSpPr>
        <p:spPr>
          <a:xfrm>
            <a:off x="5120640" y="3794760"/>
            <a:ext cx="1828800" cy="274320"/>
          </a:xfrm>
          <a:prstGeom prst="rect">
            <a:avLst/>
          </a:prstGeom>
          <a:noFill/>
        </p:spPr>
        <p:txBody>
          <a:bodyPr wrap="square" lIns="0" rIns="0" tIns="0" bIns="0" anchor="t">
            <a:noAutofit/>
          </a:bodyPr>
          <a:lstStyle/>
          <a:p>
            <a:pPr algn="ctr">
              <a:lnSpc>
                <a:spcPct val="112000"/>
              </a:lnSpc>
            </a:pPr>
            <a:r>
              <a:rPr sz="950" b="0" i="0">
                <a:solidFill>
                  <a:srgbClr val="EC7A3C"/>
                </a:solidFill>
                <a:latin typeface="Noto Sans KR"/>
                <a:ea typeface="Noto Sans KR"/>
                <a:cs typeface="Noto Sans KR"/>
              </a:rPr>
              <a:t>Compounding Asset</a:t>
            </a:r>
          </a:p>
        </p:txBody>
      </p:sp>
      <p:sp>
        <p:nvSpPr>
          <p:cNvPr id="28" name="Future moat"/>
          <p:cNvSpPr/>
          <p:nvPr/>
        </p:nvSpPr>
        <p:spPr>
          <a:xfrm>
            <a:off x="8869680" y="1847088"/>
            <a:ext cx="2773375" cy="3566160"/>
          </a:xfrm>
          <a:prstGeom prst="roundRect">
            <a:avLst>
              <a:gd name="adj" fmla="val 3956"/>
            </a:avLst>
          </a:prstGeom>
          <a:solidFill>
            <a:srgbClr val="2E1D14"/>
          </a:solidFill>
          <a:ln w="1587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9" name="TextBox 28"/>
          <p:cNvSpPr txBox="1"/>
          <p:nvPr/>
        </p:nvSpPr>
        <p:spPr>
          <a:xfrm>
            <a:off x="9098280" y="1975104"/>
            <a:ext cx="2011680" cy="274320"/>
          </a:xfrm>
          <a:prstGeom prst="rect">
            <a:avLst/>
          </a:prstGeom>
          <a:noFill/>
        </p:spPr>
        <p:txBody>
          <a:bodyPr wrap="square" lIns="0" rIns="0" tIns="0" bIns="0" anchor="t">
            <a:noAutofit/>
          </a:bodyPr>
          <a:lstStyle/>
          <a:p>
            <a:pPr algn="l">
              <a:lnSpc>
                <a:spcPct val="112000"/>
              </a:lnSpc>
            </a:pPr>
            <a:r>
              <a:rPr sz="1150" b="0" i="0" spc="100">
                <a:solidFill>
                  <a:srgbClr val="EC7A3C"/>
                </a:solidFill>
                <a:latin typeface="Noto Sans KR Black"/>
                <a:ea typeface="Noto Sans KR Black"/>
                <a:cs typeface="Noto Sans KR Black"/>
              </a:rPr>
              <a:t>FUTURE MOAT</a:t>
            </a:r>
          </a:p>
        </p:txBody>
      </p:sp>
      <p:sp>
        <p:nvSpPr>
          <p:cNvPr id="30" name="TextBox 29"/>
          <p:cNvSpPr txBox="1"/>
          <p:nvPr/>
        </p:nvSpPr>
        <p:spPr>
          <a:xfrm>
            <a:off x="9098280" y="2377440"/>
            <a:ext cx="2361895" cy="777240"/>
          </a:xfrm>
          <a:prstGeom prst="rect">
            <a:avLst/>
          </a:prstGeom>
          <a:noFill/>
        </p:spPr>
        <p:txBody>
          <a:bodyPr wrap="square" lIns="0" rIns="0" tIns="0" bIns="0" anchor="t">
            <a:noAutofit/>
          </a:bodyPr>
          <a:lstStyle/>
          <a:p>
            <a:pPr algn="l">
              <a:lnSpc>
                <a:spcPct val="125000"/>
              </a:lnSpc>
            </a:pPr>
            <a:r>
              <a:rPr sz="1200" b="0" i="0">
                <a:solidFill>
                  <a:srgbClr val="F2F2EF"/>
                </a:solidFill>
                <a:latin typeface="Noto Sans KR SemiBold"/>
                <a:ea typeface="Noto Sans KR SemiBold"/>
                <a:cs typeface="Noto Sans KR SemiBold"/>
              </a:rPr>
              <a:t>Manipulation Skill Library</a:t>
            </a:r>
          </a:p>
          <a:p>
            <a:pPr algn="l">
              <a:lnSpc>
                <a:spcPct val="125000"/>
              </a:lnSpc>
            </a:pPr>
            <a:r>
              <a:rPr sz="1200" b="0" i="0">
                <a:solidFill>
                  <a:srgbClr val="F2F2EF"/>
                </a:solidFill>
                <a:latin typeface="Noto Sans KR SemiBold"/>
                <a:ea typeface="Noto Sans KR SemiBold"/>
                <a:cs typeface="Noto Sans KR SemiBold"/>
              </a:rPr>
              <a:t>+ Failure / Recovery Data</a:t>
            </a:r>
          </a:p>
        </p:txBody>
      </p:sp>
      <p:sp>
        <p:nvSpPr>
          <p:cNvPr id="31" name="TextBox 30"/>
          <p:cNvSpPr txBox="1"/>
          <p:nvPr/>
        </p:nvSpPr>
        <p:spPr>
          <a:xfrm>
            <a:off x="9098280" y="3127248"/>
            <a:ext cx="2407615" cy="237744"/>
          </a:xfrm>
          <a:prstGeom prst="rect">
            <a:avLst/>
          </a:prstGeom>
          <a:noFill/>
        </p:spPr>
        <p:txBody>
          <a:bodyPr wrap="square" lIns="0" rIns="0" tIns="0" bIns="0" anchor="t">
            <a:noAutofit/>
          </a:bodyPr>
          <a:lstStyle/>
          <a:p>
            <a:pPr algn="l">
              <a:lnSpc>
                <a:spcPct val="112000"/>
              </a:lnSpc>
            </a:pPr>
            <a:r>
              <a:rPr sz="900" b="0" i="0" spc="80">
                <a:solidFill>
                  <a:srgbClr val="EC7A3C"/>
                </a:solidFill>
                <a:latin typeface="Noto Sans KR SemiBold"/>
                <a:ea typeface="Noto Sans KR SemiBold"/>
                <a:cs typeface="Noto Sans KR SemiBold"/>
              </a:rPr>
              <a:t>SEED DATA PLAN</a:t>
            </a:r>
          </a:p>
        </p:txBody>
      </p:sp>
      <p:sp>
        <p:nvSpPr>
          <p:cNvPr id="32" name="TextBox 31"/>
          <p:cNvSpPr txBox="1"/>
          <p:nvPr/>
        </p:nvSpPr>
        <p:spPr>
          <a:xfrm>
            <a:off x="9098280" y="3383280"/>
            <a:ext cx="2407615" cy="1188720"/>
          </a:xfrm>
          <a:prstGeom prst="rect">
            <a:avLst/>
          </a:prstGeom>
          <a:noFill/>
        </p:spPr>
        <p:txBody>
          <a:bodyPr wrap="square" lIns="0" rIns="0" tIns="0" bIns="0" anchor="t">
            <a:noAutofit/>
          </a:bodyPr>
          <a:lstStyle/>
          <a:p>
            <a:pPr algn="l">
              <a:lnSpc>
                <a:spcPct val="130000"/>
              </a:lnSpc>
            </a:pPr>
            <a:r>
              <a:rPr sz="1000" b="0" i="0">
                <a:solidFill>
                  <a:srgbClr val="F2F2EF"/>
                </a:solidFill>
                <a:latin typeface="Noto Sans KR"/>
                <a:ea typeface="Noto Sans KR"/>
                <a:cs typeface="Noto Sans KR"/>
              </a:rPr>
              <a:t>도구·용기 30종+ · 시도 1만 회+</a:t>
            </a:r>
          </a:p>
          <a:p>
            <a:pPr algn="l">
              <a:lnSpc>
                <a:spcPct val="130000"/>
              </a:lnSpc>
            </a:pPr>
            <a:r>
              <a:rPr sz="1000" b="0" i="0">
                <a:solidFill>
                  <a:srgbClr val="F2F2EF"/>
                </a:solidFill>
                <a:latin typeface="Noto Sans KR"/>
                <a:ea typeface="Noto Sans KR"/>
                <a:cs typeface="Noto Sans KR"/>
              </a:rPr>
              <a:t>시간동기화 · 실패 원인 라벨링</a:t>
            </a:r>
          </a:p>
          <a:p>
            <a:pPr algn="l">
              <a:lnSpc>
                <a:spcPct val="130000"/>
              </a:lnSpc>
            </a:pPr>
            <a:r>
              <a:rPr sz="1000" b="0" i="0">
                <a:solidFill>
                  <a:srgbClr val="F2F2EF"/>
                </a:solidFill>
                <a:latin typeface="Noto Sans KR"/>
                <a:ea typeface="Noto Sans KR"/>
                <a:cs typeface="Noto Sans KR"/>
              </a:rPr>
              <a:t>물체·세션·현장 단위 분리 검증</a:t>
            </a:r>
          </a:p>
        </p:txBody>
      </p:sp>
      <p:sp>
        <p:nvSpPr>
          <p:cNvPr id="33" name="TextBox 32"/>
          <p:cNvSpPr txBox="1"/>
          <p:nvPr/>
        </p:nvSpPr>
        <p:spPr>
          <a:xfrm>
            <a:off x="9098280" y="4407408"/>
            <a:ext cx="2407615" cy="868680"/>
          </a:xfrm>
          <a:prstGeom prst="rect">
            <a:avLst/>
          </a:prstGeom>
          <a:noFill/>
        </p:spPr>
        <p:txBody>
          <a:bodyPr wrap="square" lIns="0" rIns="0" tIns="0" bIns="0" anchor="t">
            <a:noAutofit/>
          </a:bodyPr>
          <a:lstStyle/>
          <a:p>
            <a:pPr algn="l">
              <a:lnSpc>
                <a:spcPct val="120000"/>
              </a:lnSpc>
            </a:pPr>
            <a:r>
              <a:rPr sz="900" b="0" i="0">
                <a:solidFill>
                  <a:srgbClr val="EC7A3C"/>
                </a:solidFill>
                <a:latin typeface="Noto Sans KR SemiBold"/>
                <a:ea typeface="Noto Sans KR SemiBold"/>
                <a:cs typeface="Noto Sans KR SemiBold"/>
              </a:rPr>
              <a:t>DATA RIGHTS  </a:t>
            </a:r>
          </a:p>
          <a:p>
            <a:pPr algn="l">
              <a:lnSpc>
                <a:spcPct val="120000"/>
              </a:lnSpc>
            </a:pPr>
            <a:r>
              <a:rPr sz="1000" b="0" i="0">
                <a:solidFill>
                  <a:srgbClr val="AEB3BB"/>
                </a:solidFill>
                <a:latin typeface="Noto Sans KR"/>
                <a:ea typeface="Noto Sans KR"/>
                <a:cs typeface="Noto Sans KR"/>
              </a:rPr>
              <a:t>고객 데이터 수집·학습·재사용 범위를 계약으로 분리 합의</a:t>
            </a:r>
          </a:p>
        </p:txBody>
      </p:sp>
      <p:sp>
        <p:nvSpPr>
          <p:cNvPr id="34" name="Tag PLANNED"/>
          <p:cNvSpPr/>
          <p:nvPr/>
        </p:nvSpPr>
        <p:spPr>
          <a:xfrm>
            <a:off x="10804855" y="1984248"/>
            <a:ext cx="655320" cy="219456"/>
          </a:xfrm>
          <a:prstGeom prst="roundRect">
            <a:avLst>
              <a:gd name="adj" fmla="val 50000"/>
            </a:avLst>
          </a:prstGeom>
          <a:noFill/>
          <a:ln w="952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750" b="0" i="0" spc="60">
                <a:solidFill>
                  <a:srgbClr val="EC7A3C"/>
                </a:solidFill>
                <a:latin typeface="Noto Sans KR SemiBold"/>
                <a:ea typeface="Noto Sans KR SemiBold"/>
                <a:cs typeface="Noto Sans KR SemiBold"/>
              </a:rPr>
              <a:t>PLANNED</a:t>
            </a:r>
          </a:p>
        </p:txBody>
      </p:sp>
      <p:sp>
        <p:nvSpPr>
          <p:cNvPr id="35" name="Schema OBJECT"/>
          <p:cNvSpPr/>
          <p:nvPr/>
        </p:nvSpPr>
        <p:spPr>
          <a:xfrm>
            <a:off x="650595" y="5577840"/>
            <a:ext cx="1097280" cy="420624"/>
          </a:xfrm>
          <a:prstGeom prst="roundRect">
            <a:avLst>
              <a:gd name="adj" fmla="val 1304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spc="80">
                <a:solidFill>
                  <a:srgbClr val="F2F2EF"/>
                </a:solidFill>
                <a:latin typeface="Noto Sans KR SemiBold"/>
                <a:ea typeface="Noto Sans KR SemiBold"/>
                <a:cs typeface="Noto Sans KR SemiBold"/>
              </a:rPr>
              <a:t>OBJECT</a:t>
            </a:r>
          </a:p>
        </p:txBody>
      </p:sp>
      <p:sp>
        <p:nvSpPr>
          <p:cNvPr id="36" name="TextBox 35"/>
          <p:cNvSpPr txBox="1"/>
          <p:nvPr/>
        </p:nvSpPr>
        <p:spPr>
          <a:xfrm>
            <a:off x="1747875" y="5577840"/>
            <a:ext cx="301752" cy="420624"/>
          </a:xfrm>
          <a:prstGeom prst="rect">
            <a:avLst/>
          </a:prstGeom>
          <a:noFill/>
        </p:spPr>
        <p:txBody>
          <a:bodyPr wrap="square" lIns="0" rIns="0" tIns="0" bIns="0" anchor="ctr">
            <a:noAutofit/>
          </a:bodyPr>
          <a:lstStyle/>
          <a:p>
            <a:pPr algn="ctr">
              <a:lnSpc>
                <a:spcPct val="112000"/>
              </a:lnSpc>
            </a:pPr>
            <a:r>
              <a:rPr sz="1300" b="0" i="0">
                <a:solidFill>
                  <a:srgbClr val="737882"/>
                </a:solidFill>
                <a:latin typeface="Noto Sans KR"/>
                <a:ea typeface="Noto Sans KR"/>
                <a:cs typeface="Noto Sans KR"/>
              </a:rPr>
              <a:t>×</a:t>
            </a:r>
          </a:p>
        </p:txBody>
      </p:sp>
      <p:sp>
        <p:nvSpPr>
          <p:cNvPr id="37" name="Schema TOOL"/>
          <p:cNvSpPr/>
          <p:nvPr/>
        </p:nvSpPr>
        <p:spPr>
          <a:xfrm>
            <a:off x="2049627" y="5577840"/>
            <a:ext cx="1097280" cy="420624"/>
          </a:xfrm>
          <a:prstGeom prst="roundRect">
            <a:avLst>
              <a:gd name="adj" fmla="val 1304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spc="80">
                <a:solidFill>
                  <a:srgbClr val="F2F2EF"/>
                </a:solidFill>
                <a:latin typeface="Noto Sans KR SemiBold"/>
                <a:ea typeface="Noto Sans KR SemiBold"/>
                <a:cs typeface="Noto Sans KR SemiBold"/>
              </a:rPr>
              <a:t>TOOL</a:t>
            </a:r>
          </a:p>
        </p:txBody>
      </p:sp>
      <p:sp>
        <p:nvSpPr>
          <p:cNvPr id="38" name="TextBox 37"/>
          <p:cNvSpPr txBox="1"/>
          <p:nvPr/>
        </p:nvSpPr>
        <p:spPr>
          <a:xfrm>
            <a:off x="3146907" y="5577840"/>
            <a:ext cx="301752" cy="420624"/>
          </a:xfrm>
          <a:prstGeom prst="rect">
            <a:avLst/>
          </a:prstGeom>
          <a:noFill/>
        </p:spPr>
        <p:txBody>
          <a:bodyPr wrap="square" lIns="0" rIns="0" tIns="0" bIns="0" anchor="ctr">
            <a:noAutofit/>
          </a:bodyPr>
          <a:lstStyle/>
          <a:p>
            <a:pPr algn="ctr">
              <a:lnSpc>
                <a:spcPct val="112000"/>
              </a:lnSpc>
            </a:pPr>
            <a:r>
              <a:rPr sz="1300" b="0" i="0">
                <a:solidFill>
                  <a:srgbClr val="737882"/>
                </a:solidFill>
                <a:latin typeface="Noto Sans KR"/>
                <a:ea typeface="Noto Sans KR"/>
                <a:cs typeface="Noto Sans KR"/>
              </a:rPr>
              <a:t>×</a:t>
            </a:r>
          </a:p>
        </p:txBody>
      </p:sp>
      <p:sp>
        <p:nvSpPr>
          <p:cNvPr id="39" name="Schema GRIP"/>
          <p:cNvSpPr/>
          <p:nvPr/>
        </p:nvSpPr>
        <p:spPr>
          <a:xfrm>
            <a:off x="3448659" y="5577840"/>
            <a:ext cx="1097280" cy="420624"/>
          </a:xfrm>
          <a:prstGeom prst="roundRect">
            <a:avLst>
              <a:gd name="adj" fmla="val 1304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spc="80">
                <a:solidFill>
                  <a:srgbClr val="F2F2EF"/>
                </a:solidFill>
                <a:latin typeface="Noto Sans KR SemiBold"/>
                <a:ea typeface="Noto Sans KR SemiBold"/>
                <a:cs typeface="Noto Sans KR SemiBold"/>
              </a:rPr>
              <a:t>GRIP</a:t>
            </a:r>
          </a:p>
        </p:txBody>
      </p:sp>
      <p:sp>
        <p:nvSpPr>
          <p:cNvPr id="40" name="TextBox 39"/>
          <p:cNvSpPr txBox="1"/>
          <p:nvPr/>
        </p:nvSpPr>
        <p:spPr>
          <a:xfrm>
            <a:off x="4545939" y="5577840"/>
            <a:ext cx="301752" cy="420624"/>
          </a:xfrm>
          <a:prstGeom prst="rect">
            <a:avLst/>
          </a:prstGeom>
          <a:noFill/>
        </p:spPr>
        <p:txBody>
          <a:bodyPr wrap="square" lIns="0" rIns="0" tIns="0" bIns="0" anchor="ctr">
            <a:noAutofit/>
          </a:bodyPr>
          <a:lstStyle/>
          <a:p>
            <a:pPr algn="ctr">
              <a:lnSpc>
                <a:spcPct val="112000"/>
              </a:lnSpc>
            </a:pPr>
            <a:r>
              <a:rPr sz="1300" b="0" i="0">
                <a:solidFill>
                  <a:srgbClr val="737882"/>
                </a:solidFill>
                <a:latin typeface="Noto Sans KR"/>
                <a:ea typeface="Noto Sans KR"/>
                <a:cs typeface="Noto Sans KR"/>
              </a:rPr>
              <a:t>×</a:t>
            </a:r>
          </a:p>
        </p:txBody>
      </p:sp>
      <p:sp>
        <p:nvSpPr>
          <p:cNvPr id="41" name="Schema FORCE"/>
          <p:cNvSpPr/>
          <p:nvPr/>
        </p:nvSpPr>
        <p:spPr>
          <a:xfrm>
            <a:off x="4847691" y="5577840"/>
            <a:ext cx="1097280" cy="420624"/>
          </a:xfrm>
          <a:prstGeom prst="roundRect">
            <a:avLst>
              <a:gd name="adj" fmla="val 1304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spc="80">
                <a:solidFill>
                  <a:srgbClr val="F2F2EF"/>
                </a:solidFill>
                <a:latin typeface="Noto Sans KR SemiBold"/>
                <a:ea typeface="Noto Sans KR SemiBold"/>
                <a:cs typeface="Noto Sans KR SemiBold"/>
              </a:rPr>
              <a:t>FORCE</a:t>
            </a:r>
          </a:p>
        </p:txBody>
      </p:sp>
      <p:sp>
        <p:nvSpPr>
          <p:cNvPr id="42" name="TextBox 41"/>
          <p:cNvSpPr txBox="1"/>
          <p:nvPr/>
        </p:nvSpPr>
        <p:spPr>
          <a:xfrm>
            <a:off x="5944971" y="5577840"/>
            <a:ext cx="301752" cy="420624"/>
          </a:xfrm>
          <a:prstGeom prst="rect">
            <a:avLst/>
          </a:prstGeom>
          <a:noFill/>
        </p:spPr>
        <p:txBody>
          <a:bodyPr wrap="square" lIns="0" rIns="0" tIns="0" bIns="0" anchor="ctr">
            <a:noAutofit/>
          </a:bodyPr>
          <a:lstStyle/>
          <a:p>
            <a:pPr algn="ctr">
              <a:lnSpc>
                <a:spcPct val="112000"/>
              </a:lnSpc>
            </a:pPr>
            <a:r>
              <a:rPr sz="1300" b="0" i="0">
                <a:solidFill>
                  <a:srgbClr val="737882"/>
                </a:solidFill>
                <a:latin typeface="Noto Sans KR"/>
                <a:ea typeface="Noto Sans KR"/>
                <a:cs typeface="Noto Sans KR"/>
              </a:rPr>
              <a:t>×</a:t>
            </a:r>
          </a:p>
        </p:txBody>
      </p:sp>
      <p:sp>
        <p:nvSpPr>
          <p:cNvPr id="43" name="Schema POSE"/>
          <p:cNvSpPr/>
          <p:nvPr/>
        </p:nvSpPr>
        <p:spPr>
          <a:xfrm>
            <a:off x="6246723" y="5577840"/>
            <a:ext cx="1097280" cy="420624"/>
          </a:xfrm>
          <a:prstGeom prst="roundRect">
            <a:avLst>
              <a:gd name="adj" fmla="val 1304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spc="80">
                <a:solidFill>
                  <a:srgbClr val="F2F2EF"/>
                </a:solidFill>
                <a:latin typeface="Noto Sans KR SemiBold"/>
                <a:ea typeface="Noto Sans KR SemiBold"/>
                <a:cs typeface="Noto Sans KR SemiBold"/>
              </a:rPr>
              <a:t>POSE</a:t>
            </a:r>
          </a:p>
        </p:txBody>
      </p:sp>
      <p:sp>
        <p:nvSpPr>
          <p:cNvPr id="44" name="TextBox 43"/>
          <p:cNvSpPr txBox="1"/>
          <p:nvPr/>
        </p:nvSpPr>
        <p:spPr>
          <a:xfrm>
            <a:off x="7344003" y="5577840"/>
            <a:ext cx="301752" cy="420624"/>
          </a:xfrm>
          <a:prstGeom prst="rect">
            <a:avLst/>
          </a:prstGeom>
          <a:noFill/>
        </p:spPr>
        <p:txBody>
          <a:bodyPr wrap="square" lIns="0" rIns="0" tIns="0" bIns="0" anchor="ctr">
            <a:noAutofit/>
          </a:bodyPr>
          <a:lstStyle/>
          <a:p>
            <a:pPr algn="ctr">
              <a:lnSpc>
                <a:spcPct val="112000"/>
              </a:lnSpc>
            </a:pPr>
            <a:r>
              <a:rPr sz="1300" b="0" i="0">
                <a:solidFill>
                  <a:srgbClr val="737882"/>
                </a:solidFill>
                <a:latin typeface="Noto Sans KR"/>
                <a:ea typeface="Noto Sans KR"/>
                <a:cs typeface="Noto Sans KR"/>
              </a:rPr>
              <a:t>×</a:t>
            </a:r>
          </a:p>
        </p:txBody>
      </p:sp>
      <p:sp>
        <p:nvSpPr>
          <p:cNvPr id="45" name="Schema MOTION"/>
          <p:cNvSpPr/>
          <p:nvPr/>
        </p:nvSpPr>
        <p:spPr>
          <a:xfrm>
            <a:off x="7645755" y="5577840"/>
            <a:ext cx="1097280" cy="420624"/>
          </a:xfrm>
          <a:prstGeom prst="roundRect">
            <a:avLst>
              <a:gd name="adj" fmla="val 13043"/>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spc="80">
                <a:solidFill>
                  <a:srgbClr val="F2F2EF"/>
                </a:solidFill>
                <a:latin typeface="Noto Sans KR SemiBold"/>
                <a:ea typeface="Noto Sans KR SemiBold"/>
                <a:cs typeface="Noto Sans KR SemiBold"/>
              </a:rPr>
              <a:t>MOTION</a:t>
            </a:r>
          </a:p>
        </p:txBody>
      </p:sp>
      <p:sp>
        <p:nvSpPr>
          <p:cNvPr id="46" name="TextBox 45"/>
          <p:cNvSpPr txBox="1"/>
          <p:nvPr/>
        </p:nvSpPr>
        <p:spPr>
          <a:xfrm>
            <a:off x="8743035" y="5577840"/>
            <a:ext cx="301752" cy="420624"/>
          </a:xfrm>
          <a:prstGeom prst="rect">
            <a:avLst/>
          </a:prstGeom>
          <a:noFill/>
        </p:spPr>
        <p:txBody>
          <a:bodyPr wrap="square" lIns="0" rIns="0" tIns="0" bIns="0" anchor="ctr">
            <a:noAutofit/>
          </a:bodyPr>
          <a:lstStyle/>
          <a:p>
            <a:pPr algn="ctr">
              <a:lnSpc>
                <a:spcPct val="112000"/>
              </a:lnSpc>
            </a:pPr>
            <a:r>
              <a:rPr sz="1300" b="0" i="0">
                <a:solidFill>
                  <a:srgbClr val="737882"/>
                </a:solidFill>
                <a:latin typeface="Noto Sans KR"/>
                <a:ea typeface="Noto Sans KR"/>
                <a:cs typeface="Noto Sans KR"/>
              </a:rPr>
              <a:t>×</a:t>
            </a:r>
          </a:p>
        </p:txBody>
      </p:sp>
      <p:sp>
        <p:nvSpPr>
          <p:cNvPr id="47" name="Schema FAILURE"/>
          <p:cNvSpPr/>
          <p:nvPr/>
        </p:nvSpPr>
        <p:spPr>
          <a:xfrm>
            <a:off x="9044787" y="5577840"/>
            <a:ext cx="1097280" cy="420624"/>
          </a:xfrm>
          <a:prstGeom prst="roundRect">
            <a:avLst>
              <a:gd name="adj" fmla="val 13043"/>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spc="80">
                <a:solidFill>
                  <a:srgbClr val="EC7A3C"/>
                </a:solidFill>
                <a:latin typeface="Noto Sans KR SemiBold"/>
                <a:ea typeface="Noto Sans KR SemiBold"/>
                <a:cs typeface="Noto Sans KR SemiBold"/>
              </a:rPr>
              <a:t>FAILURE</a:t>
            </a:r>
          </a:p>
        </p:txBody>
      </p:sp>
      <p:sp>
        <p:nvSpPr>
          <p:cNvPr id="48" name="TextBox 47"/>
          <p:cNvSpPr txBox="1"/>
          <p:nvPr/>
        </p:nvSpPr>
        <p:spPr>
          <a:xfrm>
            <a:off x="10142067" y="5577840"/>
            <a:ext cx="301752" cy="420624"/>
          </a:xfrm>
          <a:prstGeom prst="rect">
            <a:avLst/>
          </a:prstGeom>
          <a:noFill/>
        </p:spPr>
        <p:txBody>
          <a:bodyPr wrap="square" lIns="0" rIns="0" tIns="0" bIns="0" anchor="ctr">
            <a:noAutofit/>
          </a:bodyPr>
          <a:lstStyle/>
          <a:p>
            <a:pPr algn="ctr">
              <a:lnSpc>
                <a:spcPct val="112000"/>
              </a:lnSpc>
            </a:pPr>
            <a:r>
              <a:rPr sz="1300" b="0" i="0">
                <a:solidFill>
                  <a:srgbClr val="737882"/>
                </a:solidFill>
                <a:latin typeface="Noto Sans KR"/>
                <a:ea typeface="Noto Sans KR"/>
                <a:cs typeface="Noto Sans KR"/>
              </a:rPr>
              <a:t>×</a:t>
            </a:r>
          </a:p>
        </p:txBody>
      </p:sp>
      <p:sp>
        <p:nvSpPr>
          <p:cNvPr id="49" name="Schema RECOVERY"/>
          <p:cNvSpPr/>
          <p:nvPr/>
        </p:nvSpPr>
        <p:spPr>
          <a:xfrm>
            <a:off x="10443819" y="5577840"/>
            <a:ext cx="1097280" cy="420624"/>
          </a:xfrm>
          <a:prstGeom prst="roundRect">
            <a:avLst>
              <a:gd name="adj" fmla="val 13043"/>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50" b="0" i="0" spc="80">
                <a:solidFill>
                  <a:srgbClr val="EC7A3C"/>
                </a:solidFill>
                <a:latin typeface="Noto Sans KR SemiBold"/>
                <a:ea typeface="Noto Sans KR SemiBold"/>
                <a:cs typeface="Noto Sans KR SemiBold"/>
              </a:rPr>
              <a:t>RECOVERY</a:t>
            </a:r>
          </a:p>
        </p:txBody>
      </p:sp>
      <p:sp>
        <p:nvSpPr>
          <p:cNvPr id="50" name="TextBox 49"/>
          <p:cNvSpPr txBox="1"/>
          <p:nvPr/>
        </p:nvSpPr>
        <p:spPr>
          <a:xfrm>
            <a:off x="548640" y="6053328"/>
            <a:ext cx="11094415" cy="237744"/>
          </a:xfrm>
          <a:prstGeom prst="rect">
            <a:avLst/>
          </a:prstGeom>
          <a:noFill/>
        </p:spPr>
        <p:txBody>
          <a:bodyPr wrap="square" lIns="0" rIns="0" tIns="0" bIns="0" anchor="t">
            <a:noAutofit/>
          </a:bodyPr>
          <a:lstStyle/>
          <a:p>
            <a:pPr algn="ctr">
              <a:lnSpc>
                <a:spcPct val="112000"/>
              </a:lnSpc>
            </a:pPr>
            <a:r>
              <a:rPr sz="950" b="0" i="0">
                <a:solidFill>
                  <a:srgbClr val="737882"/>
                </a:solidFill>
                <a:latin typeface="Noto Sans KR"/>
                <a:ea typeface="Noto Sans KR"/>
                <a:cs typeface="Noto Sans KR"/>
              </a:rPr>
              <a:t>현재 보유 데이터 없음 — 성공 영상이 아니라 '어떤 상황에서 실패했고 어떻게 복구했는가'를 축적하는 것이 목표</a:t>
            </a:r>
          </a:p>
        </p:txBody>
      </p:sp>
      <p:sp>
        <p:nvSpPr>
          <p:cNvPr id="51"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52"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11  ·  COMPETITIVE LANDSCAPE</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THE GAP IS TOOL USE, NOT FINGER COUNT.</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경쟁은 자유도·손가락 수가 아니라 '여러 작업에서 도구를 써서 일을 끝내는가'로 정의된다</a:t>
            </a:r>
          </a:p>
        </p:txBody>
      </p:sp>
      <p:cxnSp>
        <p:nvCxnSpPr>
          <p:cNvPr id="6" name="X axis"/>
          <p:cNvCxnSpPr/>
          <p:nvPr/>
        </p:nvCxnSpPr>
        <p:spPr>
          <a:xfrm>
            <a:off x="1051560" y="5669280"/>
            <a:ext cx="5806440" cy="0"/>
          </a:xfrm>
          <a:prstGeom prst="line">
            <a:avLst/>
          </a:prstGeom>
          <a:ln w="12700">
            <a:solidFill>
              <a:srgbClr val="7378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Y axis"/>
          <p:cNvCxnSpPr/>
          <p:nvPr/>
        </p:nvCxnSpPr>
        <p:spPr>
          <a:xfrm flipV="1">
            <a:off x="1051560" y="1828799"/>
            <a:ext cx="0" cy="3840481"/>
          </a:xfrm>
          <a:prstGeom prst="line">
            <a:avLst/>
          </a:prstGeom>
          <a:ln w="12700">
            <a:solidFill>
              <a:srgbClr val="7378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931920" y="1874519"/>
            <a:ext cx="0" cy="3794761"/>
          </a:xfrm>
          <a:prstGeom prst="line">
            <a:avLst/>
          </a:prstGeom>
          <a:ln w="9525">
            <a:solidFill>
              <a:srgbClr val="2E333B"/>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1560" y="3771900"/>
            <a:ext cx="5760720" cy="0"/>
          </a:xfrm>
          <a:prstGeom prst="line">
            <a:avLst/>
          </a:prstGeom>
          <a:ln w="9525">
            <a:solidFill>
              <a:srgbClr val="2E333B"/>
            </a:solidFill>
            <a:prstDash val="dash"/>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51560" y="5742432"/>
            <a:ext cx="5760720" cy="237744"/>
          </a:xfrm>
          <a:prstGeom prst="rect">
            <a:avLst/>
          </a:prstGeom>
          <a:noFill/>
        </p:spPr>
        <p:txBody>
          <a:bodyPr wrap="square" lIns="0" rIns="0" tIns="0" bIns="0" anchor="t">
            <a:noAutofit/>
          </a:bodyPr>
          <a:lstStyle/>
          <a:p>
            <a:pPr algn="ctr">
              <a:lnSpc>
                <a:spcPct val="112000"/>
              </a:lnSpc>
            </a:pPr>
            <a:r>
              <a:rPr sz="950" b="0" i="0" spc="100">
                <a:solidFill>
                  <a:srgbClr val="AEB3BB"/>
                </a:solidFill>
                <a:latin typeface="Noto Sans KR SemiBold"/>
                <a:ea typeface="Noto Sans KR SemiBold"/>
                <a:cs typeface="Noto Sans KR SemiBold"/>
              </a:rPr>
              <a:t>SINGLE TASK  →  MULTIPLE TASKS</a:t>
            </a:r>
          </a:p>
        </p:txBody>
      </p:sp>
      <p:sp>
        <p:nvSpPr>
          <p:cNvPr id="11" name="TextBox 10"/>
          <p:cNvSpPr txBox="1"/>
          <p:nvPr/>
        </p:nvSpPr>
        <p:spPr>
          <a:xfrm rot="16200000">
            <a:off x="-1051560" y="3643884"/>
            <a:ext cx="3749039" cy="256032"/>
          </a:xfrm>
          <a:prstGeom prst="rect">
            <a:avLst/>
          </a:prstGeom>
          <a:noFill/>
        </p:spPr>
        <p:txBody>
          <a:bodyPr wrap="square" lIns="0" rIns="0" tIns="0" bIns="0" anchor="t">
            <a:noAutofit/>
          </a:bodyPr>
          <a:lstStyle/>
          <a:p>
            <a:pPr algn="ctr">
              <a:lnSpc>
                <a:spcPct val="112000"/>
              </a:lnSpc>
            </a:pPr>
            <a:r>
              <a:rPr sz="950" b="0" i="0" spc="100">
                <a:solidFill>
                  <a:srgbClr val="AEB3BB"/>
                </a:solidFill>
                <a:latin typeface="Noto Sans KR SemiBold"/>
                <a:ea typeface="Noto Sans KR SemiBold"/>
                <a:cs typeface="Noto Sans KR SemiBold"/>
              </a:rPr>
              <a:t>GRASP OBJECT  →  USE TOOL / COMPLETE TASK</a:t>
            </a:r>
          </a:p>
        </p:txBody>
      </p:sp>
      <p:sp>
        <p:nvSpPr>
          <p:cNvPr id="12" name="Zone traditional"/>
          <p:cNvSpPr/>
          <p:nvPr/>
        </p:nvSpPr>
        <p:spPr>
          <a:xfrm>
            <a:off x="1188719" y="3909060"/>
            <a:ext cx="2606040" cy="1417320"/>
          </a:xfrm>
          <a:prstGeom prst="roundRect">
            <a:avLst>
              <a:gd name="adj" fmla="val 5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3" name="TextBox 12"/>
          <p:cNvSpPr txBox="1"/>
          <p:nvPr/>
        </p:nvSpPr>
        <p:spPr>
          <a:xfrm>
            <a:off x="1316736" y="4000500"/>
            <a:ext cx="237744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Black"/>
                <a:ea typeface="Noto Sans KR Black"/>
                <a:cs typeface="Noto Sans KR Black"/>
              </a:rPr>
              <a:t>TRADITIONAL GRIPPER</a:t>
            </a:r>
          </a:p>
        </p:txBody>
      </p:sp>
      <p:sp>
        <p:nvSpPr>
          <p:cNvPr id="14" name="TextBox 13"/>
          <p:cNvSpPr txBox="1"/>
          <p:nvPr/>
        </p:nvSpPr>
        <p:spPr>
          <a:xfrm>
            <a:off x="1316736" y="4274820"/>
            <a:ext cx="2377440" cy="457200"/>
          </a:xfrm>
          <a:prstGeom prst="rect">
            <a:avLst/>
          </a:prstGeom>
          <a:noFill/>
        </p:spPr>
        <p:txBody>
          <a:bodyPr wrap="square" lIns="0" rIns="0" tIns="0" bIns="0" anchor="t">
            <a:noAutofit/>
          </a:bodyPr>
          <a:lstStyle/>
          <a:p>
            <a:pPr algn="l">
              <a:lnSpc>
                <a:spcPct val="112000"/>
              </a:lnSpc>
            </a:pPr>
            <a:r>
              <a:rPr sz="900" b="0" i="0">
                <a:solidFill>
                  <a:srgbClr val="AEB3BB"/>
                </a:solidFill>
                <a:latin typeface="Noto Sans KR"/>
                <a:ea typeface="Noto Sans KR"/>
                <a:cs typeface="Noto Sans KR"/>
              </a:rPr>
              <a:t>평행·진공·맞춤 EOAT</a:t>
            </a:r>
          </a:p>
          <a:p>
            <a:pPr algn="l">
              <a:lnSpc>
                <a:spcPct val="112000"/>
              </a:lnSpc>
            </a:pPr>
            <a:r>
              <a:rPr sz="900" b="0" i="0">
                <a:solidFill>
                  <a:srgbClr val="AEB3BB"/>
                </a:solidFill>
                <a:latin typeface="Noto Sans KR"/>
                <a:ea typeface="Noto Sans KR"/>
                <a:cs typeface="Noto Sans KR"/>
              </a:rPr>
              <a:t>(예: SCHUNK 등 산업용 그리퍼)</a:t>
            </a:r>
          </a:p>
        </p:txBody>
      </p:sp>
      <p:sp>
        <p:nvSpPr>
          <p:cNvPr id="15" name="TextBox 14"/>
          <p:cNvSpPr txBox="1"/>
          <p:nvPr/>
        </p:nvSpPr>
        <p:spPr>
          <a:xfrm>
            <a:off x="1316736" y="5033772"/>
            <a:ext cx="2377440" cy="237744"/>
          </a:xfrm>
          <a:prstGeom prst="rect">
            <a:avLst/>
          </a:prstGeom>
          <a:noFill/>
        </p:spPr>
        <p:txBody>
          <a:bodyPr wrap="square" lIns="0" rIns="0" tIns="0" bIns="0" anchor="t">
            <a:noAutofit/>
          </a:bodyPr>
          <a:lstStyle/>
          <a:p>
            <a:pPr algn="l">
              <a:lnSpc>
                <a:spcPct val="112000"/>
              </a:lnSpc>
            </a:pPr>
            <a:r>
              <a:rPr sz="900" b="0" i="0">
                <a:solidFill>
                  <a:srgbClr val="F2F2EF"/>
                </a:solidFill>
                <a:latin typeface="Noto Sans KR Medium"/>
                <a:ea typeface="Noto Sans KR Medium"/>
                <a:cs typeface="Noto Sans KR Medium"/>
              </a:rPr>
              <a:t>정확·저렴·고신뢰  /  작업마다 교체</a:t>
            </a:r>
          </a:p>
        </p:txBody>
      </p:sp>
      <p:sp>
        <p:nvSpPr>
          <p:cNvPr id="16" name="Zone adaptive"/>
          <p:cNvSpPr/>
          <p:nvPr/>
        </p:nvSpPr>
        <p:spPr>
          <a:xfrm>
            <a:off x="4069080" y="3909060"/>
            <a:ext cx="2606040" cy="1417320"/>
          </a:xfrm>
          <a:prstGeom prst="roundRect">
            <a:avLst>
              <a:gd name="adj" fmla="val 5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7" name="TextBox 16"/>
          <p:cNvSpPr txBox="1"/>
          <p:nvPr/>
        </p:nvSpPr>
        <p:spPr>
          <a:xfrm>
            <a:off x="4197096" y="4000500"/>
            <a:ext cx="237744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Black"/>
                <a:ea typeface="Noto Sans KR Black"/>
                <a:cs typeface="Noto Sans KR Black"/>
              </a:rPr>
              <a:t>ADAPTIVE GRIPPER · SOFT HAND</a:t>
            </a:r>
          </a:p>
        </p:txBody>
      </p:sp>
      <p:sp>
        <p:nvSpPr>
          <p:cNvPr id="18" name="TextBox 17"/>
          <p:cNvSpPr txBox="1"/>
          <p:nvPr/>
        </p:nvSpPr>
        <p:spPr>
          <a:xfrm>
            <a:off x="4197096" y="4274820"/>
            <a:ext cx="2377440" cy="457200"/>
          </a:xfrm>
          <a:prstGeom prst="rect">
            <a:avLst/>
          </a:prstGeom>
          <a:noFill/>
        </p:spPr>
        <p:txBody>
          <a:bodyPr wrap="square" lIns="0" rIns="0" tIns="0" bIns="0" anchor="t">
            <a:noAutofit/>
          </a:bodyPr>
          <a:lstStyle/>
          <a:p>
            <a:pPr algn="l">
              <a:lnSpc>
                <a:spcPct val="112000"/>
              </a:lnSpc>
            </a:pPr>
            <a:r>
              <a:rPr sz="900" b="0" i="0">
                <a:solidFill>
                  <a:srgbClr val="AEB3BB"/>
                </a:solidFill>
                <a:latin typeface="Noto Sans KR"/>
                <a:ea typeface="Noto Sans KR"/>
                <a:cs typeface="Noto Sans KR"/>
              </a:rPr>
              <a:t>Robotiq Adaptive Gripper</a:t>
            </a:r>
          </a:p>
          <a:p>
            <a:pPr algn="l">
              <a:lnSpc>
                <a:spcPct val="112000"/>
              </a:lnSpc>
            </a:pPr>
            <a:r>
              <a:rPr sz="900" b="0" i="0">
                <a:solidFill>
                  <a:srgbClr val="AEB3BB"/>
                </a:solidFill>
                <a:latin typeface="Noto Sans KR"/>
                <a:ea typeface="Noto Sans KR"/>
                <a:cs typeface="Noto Sans KR"/>
              </a:rPr>
              <a:t>qb SoftHand Industry (5지·1모터·파워그립 2kg)</a:t>
            </a:r>
          </a:p>
        </p:txBody>
      </p:sp>
      <p:sp>
        <p:nvSpPr>
          <p:cNvPr id="19" name="TextBox 18"/>
          <p:cNvSpPr txBox="1"/>
          <p:nvPr/>
        </p:nvSpPr>
        <p:spPr>
          <a:xfrm>
            <a:off x="4197096" y="5033772"/>
            <a:ext cx="2377440" cy="237744"/>
          </a:xfrm>
          <a:prstGeom prst="rect">
            <a:avLst/>
          </a:prstGeom>
          <a:noFill/>
        </p:spPr>
        <p:txBody>
          <a:bodyPr wrap="square" lIns="0" rIns="0" tIns="0" bIns="0" anchor="t">
            <a:noAutofit/>
          </a:bodyPr>
          <a:lstStyle/>
          <a:p>
            <a:pPr algn="l">
              <a:lnSpc>
                <a:spcPct val="112000"/>
              </a:lnSpc>
            </a:pPr>
            <a:r>
              <a:rPr sz="900" b="0" i="0">
                <a:solidFill>
                  <a:srgbClr val="F2F2EF"/>
                </a:solidFill>
                <a:latin typeface="Noto Sans KR Medium"/>
                <a:ea typeface="Noto Sans KR Medium"/>
                <a:cs typeface="Noto Sans KR Medium"/>
              </a:rPr>
              <a:t>다양한 형상 파지  /  도구 조작 제한</a:t>
            </a:r>
          </a:p>
        </p:txBody>
      </p:sp>
      <p:sp>
        <p:nvSpPr>
          <p:cNvPr id="20" name="Zone dedicated"/>
          <p:cNvSpPr/>
          <p:nvPr/>
        </p:nvSpPr>
        <p:spPr>
          <a:xfrm>
            <a:off x="1188719" y="1984248"/>
            <a:ext cx="2606040" cy="1417320"/>
          </a:xfrm>
          <a:prstGeom prst="roundRect">
            <a:avLst>
              <a:gd name="adj" fmla="val 5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1" name="TextBox 20"/>
          <p:cNvSpPr txBox="1"/>
          <p:nvPr/>
        </p:nvSpPr>
        <p:spPr>
          <a:xfrm>
            <a:off x="1316736" y="2075688"/>
            <a:ext cx="237744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Black"/>
                <a:ea typeface="Noto Sans KR Black"/>
                <a:cs typeface="Noto Sans KR Black"/>
              </a:rPr>
              <a:t>DEDICATED TOOL SYSTEMS</a:t>
            </a:r>
          </a:p>
        </p:txBody>
      </p:sp>
      <p:sp>
        <p:nvSpPr>
          <p:cNvPr id="22" name="TextBox 21"/>
          <p:cNvSpPr txBox="1"/>
          <p:nvPr/>
        </p:nvSpPr>
        <p:spPr>
          <a:xfrm>
            <a:off x="1316736" y="2350008"/>
            <a:ext cx="2377440" cy="457200"/>
          </a:xfrm>
          <a:prstGeom prst="rect">
            <a:avLst/>
          </a:prstGeom>
          <a:noFill/>
        </p:spPr>
        <p:txBody>
          <a:bodyPr wrap="square" lIns="0" rIns="0" tIns="0" bIns="0" anchor="t">
            <a:noAutofit/>
          </a:bodyPr>
          <a:lstStyle/>
          <a:p>
            <a:pPr algn="l">
              <a:lnSpc>
                <a:spcPct val="112000"/>
              </a:lnSpc>
            </a:pPr>
            <a:r>
              <a:rPr sz="900" b="0" i="0">
                <a:solidFill>
                  <a:srgbClr val="AEB3BB"/>
                </a:solidFill>
                <a:latin typeface="Noto Sans KR"/>
                <a:ea typeface="Noto Sans KR"/>
                <a:cs typeface="Noto Sans KR"/>
              </a:rPr>
              <a:t>전용 체결 툴 · 전용 조리 설비</a:t>
            </a:r>
          </a:p>
          <a:p>
            <a:pPr algn="l">
              <a:lnSpc>
                <a:spcPct val="112000"/>
              </a:lnSpc>
            </a:pPr>
            <a:r>
              <a:rPr sz="900" b="0" i="0">
                <a:solidFill>
                  <a:srgbClr val="AEB3BB"/>
                </a:solidFill>
                <a:latin typeface="Noto Sans KR"/>
                <a:ea typeface="Noto Sans KR"/>
                <a:cs typeface="Noto Sans KR"/>
              </a:rPr>
              <a:t>(예: Moley형 로봇 주방)</a:t>
            </a:r>
          </a:p>
        </p:txBody>
      </p:sp>
      <p:sp>
        <p:nvSpPr>
          <p:cNvPr id="23" name="TextBox 22"/>
          <p:cNvSpPr txBox="1"/>
          <p:nvPr/>
        </p:nvSpPr>
        <p:spPr>
          <a:xfrm>
            <a:off x="1316736" y="3108960"/>
            <a:ext cx="2377440" cy="237744"/>
          </a:xfrm>
          <a:prstGeom prst="rect">
            <a:avLst/>
          </a:prstGeom>
          <a:noFill/>
        </p:spPr>
        <p:txBody>
          <a:bodyPr wrap="square" lIns="0" rIns="0" tIns="0" bIns="0" anchor="t">
            <a:noAutofit/>
          </a:bodyPr>
          <a:lstStyle/>
          <a:p>
            <a:pPr algn="l">
              <a:lnSpc>
                <a:spcPct val="112000"/>
              </a:lnSpc>
            </a:pPr>
            <a:r>
              <a:rPr sz="900" b="0" i="0">
                <a:solidFill>
                  <a:srgbClr val="F2F2EF"/>
                </a:solidFill>
                <a:latin typeface="Noto Sans KR Medium"/>
                <a:ea typeface="Noto Sans KR Medium"/>
                <a:cs typeface="Noto Sans KR Medium"/>
              </a:rPr>
              <a:t>특정 도구 사용  /  범용 아님</a:t>
            </a:r>
          </a:p>
        </p:txBody>
      </p:sp>
      <p:sp>
        <p:nvSpPr>
          <p:cNvPr id="24" name="Zone dexterous"/>
          <p:cNvSpPr/>
          <p:nvPr/>
        </p:nvSpPr>
        <p:spPr>
          <a:xfrm>
            <a:off x="4892040" y="1947672"/>
            <a:ext cx="1828800" cy="932688"/>
          </a:xfrm>
          <a:prstGeom prst="roundRect">
            <a:avLst>
              <a:gd name="adj" fmla="val 7843"/>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5" name="TextBox 24"/>
          <p:cNvSpPr txBox="1"/>
          <p:nvPr/>
        </p:nvSpPr>
        <p:spPr>
          <a:xfrm>
            <a:off x="5020055" y="2039112"/>
            <a:ext cx="16002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Black"/>
                <a:ea typeface="Noto Sans KR Black"/>
                <a:cs typeface="Noto Sans KR Black"/>
              </a:rPr>
              <a:t>DEXTEROUS / HUMANOID HAND</a:t>
            </a:r>
          </a:p>
        </p:txBody>
      </p:sp>
      <p:sp>
        <p:nvSpPr>
          <p:cNvPr id="26" name="TextBox 25"/>
          <p:cNvSpPr txBox="1"/>
          <p:nvPr/>
        </p:nvSpPr>
        <p:spPr>
          <a:xfrm>
            <a:off x="5020055" y="2313432"/>
            <a:ext cx="1600200" cy="457200"/>
          </a:xfrm>
          <a:prstGeom prst="rect">
            <a:avLst/>
          </a:prstGeom>
          <a:noFill/>
        </p:spPr>
        <p:txBody>
          <a:bodyPr wrap="square" lIns="0" rIns="0" tIns="0" bIns="0" anchor="t">
            <a:noAutofit/>
          </a:bodyPr>
          <a:lstStyle/>
          <a:p>
            <a:pPr algn="l">
              <a:lnSpc>
                <a:spcPct val="112000"/>
              </a:lnSpc>
            </a:pPr>
            <a:r>
              <a:rPr sz="900" b="0" i="0">
                <a:solidFill>
                  <a:srgbClr val="AEB3BB"/>
                </a:solidFill>
                <a:latin typeface="Noto Sans KR"/>
                <a:ea typeface="Noto Sans KR"/>
                <a:cs typeface="Noto Sans KR"/>
              </a:rPr>
              <a:t>Shadow · Allegro · Tesollo DG-5F-S · Sharpa Wave · Tesla·Figure 자체</a:t>
            </a:r>
          </a:p>
        </p:txBody>
      </p:sp>
      <p:sp>
        <p:nvSpPr>
          <p:cNvPr id="27" name="TextBox 26"/>
          <p:cNvSpPr txBox="1"/>
          <p:nvPr/>
        </p:nvSpPr>
        <p:spPr>
          <a:xfrm>
            <a:off x="5020055" y="2587752"/>
            <a:ext cx="1600200" cy="237744"/>
          </a:xfrm>
          <a:prstGeom prst="rect">
            <a:avLst/>
          </a:prstGeom>
          <a:noFill/>
        </p:spPr>
        <p:txBody>
          <a:bodyPr wrap="square" lIns="0" rIns="0" tIns="0" bIns="0" anchor="t">
            <a:noAutofit/>
          </a:bodyPr>
          <a:lstStyle/>
          <a:p>
            <a:pPr algn="l">
              <a:lnSpc>
                <a:spcPct val="112000"/>
              </a:lnSpc>
            </a:pPr>
            <a:r>
              <a:rPr sz="900" b="0" i="0">
                <a:solidFill>
                  <a:srgbClr val="F2F2EF"/>
                </a:solidFill>
                <a:latin typeface="Noto Sans KR Medium"/>
                <a:ea typeface="Noto Sans KR Medium"/>
                <a:cs typeface="Noto Sans KR Medium"/>
              </a:rPr>
              <a:t>고자유도  /  비용·복잡도·내구성</a:t>
            </a:r>
          </a:p>
        </p:txBody>
      </p:sp>
      <p:sp>
        <p:nvSpPr>
          <p:cNvPr id="28" name="Our target zone"/>
          <p:cNvSpPr/>
          <p:nvPr/>
        </p:nvSpPr>
        <p:spPr>
          <a:xfrm>
            <a:off x="4069080" y="2990087"/>
            <a:ext cx="2560320" cy="658368"/>
          </a:xfrm>
          <a:prstGeom prst="roundRect">
            <a:avLst>
              <a:gd name="adj" fmla="val 11111"/>
            </a:avLst>
          </a:prstGeom>
          <a:solidFill>
            <a:srgbClr val="2E1D14"/>
          </a:solidFill>
          <a:ln w="19050">
            <a:solidFill>
              <a:srgbClr val="EC7A3C"/>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9" name="TextBox 28"/>
          <p:cNvSpPr txBox="1"/>
          <p:nvPr/>
        </p:nvSpPr>
        <p:spPr>
          <a:xfrm>
            <a:off x="4206240" y="3044952"/>
            <a:ext cx="2331720" cy="274320"/>
          </a:xfrm>
          <a:prstGeom prst="rect">
            <a:avLst/>
          </a:prstGeom>
          <a:noFill/>
        </p:spPr>
        <p:txBody>
          <a:bodyPr wrap="square" lIns="0" rIns="0" tIns="0" bIns="0" anchor="t">
            <a:noAutofit/>
          </a:bodyPr>
          <a:lstStyle/>
          <a:p>
            <a:pPr algn="l">
              <a:lnSpc>
                <a:spcPct val="112000"/>
              </a:lnSpc>
            </a:pPr>
            <a:r>
              <a:rPr sz="1050" b="0" i="0">
                <a:solidFill>
                  <a:srgbClr val="EC7A3C"/>
                </a:solidFill>
                <a:latin typeface="Noto Sans KR Black"/>
                <a:ea typeface="Noto Sans KR Black"/>
                <a:cs typeface="Noto Sans KR Black"/>
              </a:rPr>
              <a:t>OUR TARGET ZONE</a:t>
            </a:r>
          </a:p>
        </p:txBody>
      </p:sp>
      <p:sp>
        <p:nvSpPr>
          <p:cNvPr id="30" name="TextBox 29"/>
          <p:cNvSpPr txBox="1"/>
          <p:nvPr/>
        </p:nvSpPr>
        <p:spPr>
          <a:xfrm>
            <a:off x="4206240" y="3300984"/>
            <a:ext cx="2331720" cy="329184"/>
          </a:xfrm>
          <a:prstGeom prst="rect">
            <a:avLst/>
          </a:prstGeom>
          <a:noFill/>
        </p:spPr>
        <p:txBody>
          <a:bodyPr wrap="square" lIns="0" rIns="0" tIns="0" bIns="0" anchor="t">
            <a:noAutofit/>
          </a:bodyPr>
          <a:lstStyle/>
          <a:p>
            <a:pPr algn="l">
              <a:lnSpc>
                <a:spcPct val="112000"/>
              </a:lnSpc>
            </a:pPr>
            <a:r>
              <a:rPr sz="850" b="0" i="0">
                <a:solidFill>
                  <a:srgbClr val="F2F2EF"/>
                </a:solidFill>
                <a:latin typeface="Noto Sans KR SemiBold"/>
                <a:ea typeface="Noto Sans KR SemiBold"/>
                <a:cs typeface="Noto Sans KR SemiBold"/>
              </a:rPr>
              <a:t>TOOL-ORIENTED GENERAL-PURPOSE MANIPULATION</a:t>
            </a:r>
          </a:p>
        </p:txBody>
      </p:sp>
      <p:sp>
        <p:nvSpPr>
          <p:cNvPr id="31" name="TextBox 30"/>
          <p:cNvSpPr txBox="1"/>
          <p:nvPr/>
        </p:nvSpPr>
        <p:spPr>
          <a:xfrm>
            <a:off x="7269480" y="1847088"/>
            <a:ext cx="4373575" cy="274320"/>
          </a:xfrm>
          <a:prstGeom prst="rect">
            <a:avLst/>
          </a:prstGeom>
          <a:noFill/>
        </p:spPr>
        <p:txBody>
          <a:bodyPr wrap="square" lIns="0" rIns="0" tIns="0" bIns="0" anchor="t">
            <a:noAutofit/>
          </a:bodyPr>
          <a:lstStyle/>
          <a:p>
            <a:pPr algn="l">
              <a:lnSpc>
                <a:spcPct val="112000"/>
              </a:lnSpc>
            </a:pPr>
            <a:r>
              <a:rPr sz="1150" b="0" i="0" spc="100">
                <a:solidFill>
                  <a:srgbClr val="F2F2EF"/>
                </a:solidFill>
                <a:latin typeface="Noto Sans KR Black"/>
                <a:ea typeface="Noto Sans KR Black"/>
                <a:cs typeface="Noto Sans KR Black"/>
              </a:rPr>
              <a:t>WHAT WE MUST PROVE IN SEED</a:t>
            </a:r>
          </a:p>
        </p:txBody>
      </p:sp>
      <p:sp>
        <p:nvSpPr>
          <p:cNvPr id="32" name="Oval 31"/>
          <p:cNvSpPr/>
          <p:nvPr/>
        </p:nvSpPr>
        <p:spPr>
          <a:xfrm>
            <a:off x="7278624" y="2258568"/>
            <a:ext cx="237744" cy="237744"/>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3" name="TextBox 32"/>
          <p:cNvSpPr txBox="1"/>
          <p:nvPr/>
        </p:nvSpPr>
        <p:spPr>
          <a:xfrm>
            <a:off x="7278624" y="2258568"/>
            <a:ext cx="237744" cy="237744"/>
          </a:xfrm>
          <a:prstGeom prst="rect">
            <a:avLst/>
          </a:prstGeom>
          <a:noFill/>
        </p:spPr>
        <p:txBody>
          <a:bodyPr wrap="square" lIns="0" rIns="0" tIns="0" bIns="0" anchor="ctr">
            <a:noAutofit/>
          </a:bodyPr>
          <a:lstStyle/>
          <a:p>
            <a:pPr algn="ctr">
              <a:lnSpc>
                <a:spcPct val="112000"/>
              </a:lnSpc>
            </a:pPr>
            <a:r>
              <a:rPr sz="950" b="0" i="0">
                <a:solidFill>
                  <a:srgbClr val="0B0C0E"/>
                </a:solidFill>
                <a:latin typeface="Noto Sans KR Black"/>
                <a:ea typeface="Noto Sans KR Black"/>
                <a:cs typeface="Noto Sans KR Black"/>
              </a:rPr>
              <a:t>1</a:t>
            </a:r>
          </a:p>
        </p:txBody>
      </p:sp>
      <p:sp>
        <p:nvSpPr>
          <p:cNvPr id="34" name="TextBox 33"/>
          <p:cNvSpPr txBox="1"/>
          <p:nvPr/>
        </p:nvSpPr>
        <p:spPr>
          <a:xfrm>
            <a:off x="7635240" y="2240280"/>
            <a:ext cx="4007815" cy="256032"/>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SemiBold"/>
                <a:ea typeface="Noto Sans KR SemiBold"/>
                <a:cs typeface="Noto Sans KR SemiBold"/>
              </a:rPr>
              <a:t>동일 조건 비교시험</a:t>
            </a:r>
          </a:p>
        </p:txBody>
      </p:sp>
      <p:sp>
        <p:nvSpPr>
          <p:cNvPr id="35" name="TextBox 34"/>
          <p:cNvSpPr txBox="1"/>
          <p:nvPr/>
        </p:nvSpPr>
        <p:spPr>
          <a:xfrm>
            <a:off x="7635240" y="2505456"/>
            <a:ext cx="4007815" cy="329184"/>
          </a:xfrm>
          <a:prstGeom prst="rect">
            <a:avLst/>
          </a:prstGeom>
          <a:noFill/>
        </p:spPr>
        <p:txBody>
          <a:bodyPr wrap="square" lIns="0" rIns="0" tIns="0" bIns="0" anchor="t">
            <a:noAutofit/>
          </a:bodyPr>
          <a:lstStyle/>
          <a:p>
            <a:pPr algn="l">
              <a:lnSpc>
                <a:spcPct val="115000"/>
              </a:lnSpc>
            </a:pPr>
            <a:r>
              <a:rPr sz="950" b="0" i="0">
                <a:solidFill>
                  <a:srgbClr val="AEB3BB"/>
                </a:solidFill>
                <a:latin typeface="Noto Sans KR"/>
                <a:ea typeface="Noto Sans KR"/>
                <a:cs typeface="Noto Sans KR"/>
              </a:rPr>
              <a:t>같은 작업·같은 로봇에서 전용 그리퍼 대비 전환시간·총비용</a:t>
            </a:r>
          </a:p>
        </p:txBody>
      </p:sp>
      <p:sp>
        <p:nvSpPr>
          <p:cNvPr id="36" name="Oval 35"/>
          <p:cNvSpPr/>
          <p:nvPr/>
        </p:nvSpPr>
        <p:spPr>
          <a:xfrm>
            <a:off x="7278624" y="2916936"/>
            <a:ext cx="237744" cy="237744"/>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7" name="TextBox 36"/>
          <p:cNvSpPr txBox="1"/>
          <p:nvPr/>
        </p:nvSpPr>
        <p:spPr>
          <a:xfrm>
            <a:off x="7278624" y="2916936"/>
            <a:ext cx="237744" cy="237744"/>
          </a:xfrm>
          <a:prstGeom prst="rect">
            <a:avLst/>
          </a:prstGeom>
          <a:noFill/>
        </p:spPr>
        <p:txBody>
          <a:bodyPr wrap="square" lIns="0" rIns="0" tIns="0" bIns="0" anchor="ctr">
            <a:noAutofit/>
          </a:bodyPr>
          <a:lstStyle/>
          <a:p>
            <a:pPr algn="ctr">
              <a:lnSpc>
                <a:spcPct val="112000"/>
              </a:lnSpc>
            </a:pPr>
            <a:r>
              <a:rPr sz="950" b="0" i="0">
                <a:solidFill>
                  <a:srgbClr val="0B0C0E"/>
                </a:solidFill>
                <a:latin typeface="Noto Sans KR Black"/>
                <a:ea typeface="Noto Sans KR Black"/>
                <a:cs typeface="Noto Sans KR Black"/>
              </a:rPr>
              <a:t>2</a:t>
            </a:r>
          </a:p>
        </p:txBody>
      </p:sp>
      <p:sp>
        <p:nvSpPr>
          <p:cNvPr id="38" name="TextBox 37"/>
          <p:cNvSpPr txBox="1"/>
          <p:nvPr/>
        </p:nvSpPr>
        <p:spPr>
          <a:xfrm>
            <a:off x="7635240" y="2898648"/>
            <a:ext cx="4007815" cy="256032"/>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SemiBold"/>
                <a:ea typeface="Noto Sans KR SemiBold"/>
                <a:cs typeface="Noto Sans KR SemiBold"/>
              </a:rPr>
              <a:t>작업 완료율</a:t>
            </a:r>
          </a:p>
        </p:txBody>
      </p:sp>
      <p:sp>
        <p:nvSpPr>
          <p:cNvPr id="39" name="TextBox 38"/>
          <p:cNvSpPr txBox="1"/>
          <p:nvPr/>
        </p:nvSpPr>
        <p:spPr>
          <a:xfrm>
            <a:off x="7635240" y="3163824"/>
            <a:ext cx="4007815" cy="329184"/>
          </a:xfrm>
          <a:prstGeom prst="rect">
            <a:avLst/>
          </a:prstGeom>
          <a:noFill/>
        </p:spPr>
        <p:txBody>
          <a:bodyPr wrap="square" lIns="0" rIns="0" tIns="0" bIns="0" anchor="t">
            <a:noAutofit/>
          </a:bodyPr>
          <a:lstStyle/>
          <a:p>
            <a:pPr algn="l">
              <a:lnSpc>
                <a:spcPct val="115000"/>
              </a:lnSpc>
            </a:pPr>
            <a:r>
              <a:rPr sz="950" b="0" i="0">
                <a:solidFill>
                  <a:srgbClr val="AEB3BB"/>
                </a:solidFill>
                <a:latin typeface="Noto Sans KR"/>
                <a:ea typeface="Noto Sans KR"/>
                <a:cs typeface="Noto Sans KR"/>
              </a:rPr>
              <a:t>승인 Task 완료율 95%+ (Target)</a:t>
            </a:r>
          </a:p>
        </p:txBody>
      </p:sp>
      <p:sp>
        <p:nvSpPr>
          <p:cNvPr id="40" name="Oval 39"/>
          <p:cNvSpPr/>
          <p:nvPr/>
        </p:nvSpPr>
        <p:spPr>
          <a:xfrm>
            <a:off x="7278624" y="3575304"/>
            <a:ext cx="237744" cy="237744"/>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1" name="TextBox 40"/>
          <p:cNvSpPr txBox="1"/>
          <p:nvPr/>
        </p:nvSpPr>
        <p:spPr>
          <a:xfrm>
            <a:off x="7278624" y="3575304"/>
            <a:ext cx="237744" cy="237744"/>
          </a:xfrm>
          <a:prstGeom prst="rect">
            <a:avLst/>
          </a:prstGeom>
          <a:noFill/>
        </p:spPr>
        <p:txBody>
          <a:bodyPr wrap="square" lIns="0" rIns="0" tIns="0" bIns="0" anchor="ctr">
            <a:noAutofit/>
          </a:bodyPr>
          <a:lstStyle/>
          <a:p>
            <a:pPr algn="ctr">
              <a:lnSpc>
                <a:spcPct val="112000"/>
              </a:lnSpc>
            </a:pPr>
            <a:r>
              <a:rPr sz="950" b="0" i="0">
                <a:solidFill>
                  <a:srgbClr val="0B0C0E"/>
                </a:solidFill>
                <a:latin typeface="Noto Sans KR Black"/>
                <a:ea typeface="Noto Sans KR Black"/>
                <a:cs typeface="Noto Sans KR Black"/>
              </a:rPr>
              <a:t>3</a:t>
            </a:r>
          </a:p>
        </p:txBody>
      </p:sp>
      <p:sp>
        <p:nvSpPr>
          <p:cNvPr id="42" name="TextBox 41"/>
          <p:cNvSpPr txBox="1"/>
          <p:nvPr/>
        </p:nvSpPr>
        <p:spPr>
          <a:xfrm>
            <a:off x="7635240" y="3557016"/>
            <a:ext cx="4007815" cy="256032"/>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SemiBold"/>
                <a:ea typeface="Noto Sans KR SemiBold"/>
                <a:cs typeface="Noto Sans KR SemiBold"/>
              </a:rPr>
              <a:t>산업 내구성</a:t>
            </a:r>
          </a:p>
        </p:txBody>
      </p:sp>
      <p:sp>
        <p:nvSpPr>
          <p:cNvPr id="43" name="TextBox 42"/>
          <p:cNvSpPr txBox="1"/>
          <p:nvPr/>
        </p:nvSpPr>
        <p:spPr>
          <a:xfrm>
            <a:off x="7635240" y="3822191"/>
            <a:ext cx="4007815" cy="329184"/>
          </a:xfrm>
          <a:prstGeom prst="rect">
            <a:avLst/>
          </a:prstGeom>
          <a:noFill/>
        </p:spPr>
        <p:txBody>
          <a:bodyPr wrap="square" lIns="0" rIns="0" tIns="0" bIns="0" anchor="t">
            <a:noAutofit/>
          </a:bodyPr>
          <a:lstStyle/>
          <a:p>
            <a:pPr algn="l">
              <a:lnSpc>
                <a:spcPct val="115000"/>
              </a:lnSpc>
            </a:pPr>
            <a:r>
              <a:rPr sz="950" b="0" i="0">
                <a:solidFill>
                  <a:srgbClr val="AEB3BB"/>
                </a:solidFill>
                <a:latin typeface="Noto Sans KR"/>
                <a:ea typeface="Noto Sans KR"/>
                <a:cs typeface="Noto Sans KR"/>
              </a:rPr>
              <a:t>30만 회 사이클 (Target) · 교체형 접촉부 수명</a:t>
            </a:r>
          </a:p>
        </p:txBody>
      </p:sp>
      <p:sp>
        <p:nvSpPr>
          <p:cNvPr id="44" name="Oval 43"/>
          <p:cNvSpPr/>
          <p:nvPr/>
        </p:nvSpPr>
        <p:spPr>
          <a:xfrm>
            <a:off x="7278624" y="4233672"/>
            <a:ext cx="237744" cy="237744"/>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5" name="TextBox 44"/>
          <p:cNvSpPr txBox="1"/>
          <p:nvPr/>
        </p:nvSpPr>
        <p:spPr>
          <a:xfrm>
            <a:off x="7278624" y="4233672"/>
            <a:ext cx="237744" cy="237744"/>
          </a:xfrm>
          <a:prstGeom prst="rect">
            <a:avLst/>
          </a:prstGeom>
          <a:noFill/>
        </p:spPr>
        <p:txBody>
          <a:bodyPr wrap="square" lIns="0" rIns="0" tIns="0" bIns="0" anchor="ctr">
            <a:noAutofit/>
          </a:bodyPr>
          <a:lstStyle/>
          <a:p>
            <a:pPr algn="ctr">
              <a:lnSpc>
                <a:spcPct val="112000"/>
              </a:lnSpc>
            </a:pPr>
            <a:r>
              <a:rPr sz="950" b="0" i="0">
                <a:solidFill>
                  <a:srgbClr val="0B0C0E"/>
                </a:solidFill>
                <a:latin typeface="Noto Sans KR Black"/>
                <a:ea typeface="Noto Sans KR Black"/>
                <a:cs typeface="Noto Sans KR Black"/>
              </a:rPr>
              <a:t>4</a:t>
            </a:r>
          </a:p>
        </p:txBody>
      </p:sp>
      <p:sp>
        <p:nvSpPr>
          <p:cNvPr id="46" name="TextBox 45"/>
          <p:cNvSpPr txBox="1"/>
          <p:nvPr/>
        </p:nvSpPr>
        <p:spPr>
          <a:xfrm>
            <a:off x="7635240" y="4215384"/>
            <a:ext cx="4007815" cy="256032"/>
          </a:xfrm>
          <a:prstGeom prst="rect">
            <a:avLst/>
          </a:prstGeom>
          <a:noFill/>
        </p:spPr>
        <p:txBody>
          <a:bodyPr wrap="square" lIns="0" rIns="0" tIns="0" bIns="0" anchor="t">
            <a:noAutofit/>
          </a:bodyPr>
          <a:lstStyle/>
          <a:p>
            <a:pPr algn="l">
              <a:lnSpc>
                <a:spcPct val="112000"/>
              </a:lnSpc>
            </a:pPr>
            <a:r>
              <a:rPr sz="1150" b="0" i="0">
                <a:solidFill>
                  <a:srgbClr val="F2F2EF"/>
                </a:solidFill>
                <a:latin typeface="Noto Sans KR SemiBold"/>
                <a:ea typeface="Noto Sans KR SemiBold"/>
                <a:cs typeface="Noto Sans KR SemiBold"/>
              </a:rPr>
              <a:t>총비용 우위</a:t>
            </a:r>
          </a:p>
        </p:txBody>
      </p:sp>
      <p:sp>
        <p:nvSpPr>
          <p:cNvPr id="47" name="TextBox 46"/>
          <p:cNvSpPr txBox="1"/>
          <p:nvPr/>
        </p:nvSpPr>
        <p:spPr>
          <a:xfrm>
            <a:off x="7635240" y="4480560"/>
            <a:ext cx="4007815" cy="329184"/>
          </a:xfrm>
          <a:prstGeom prst="rect">
            <a:avLst/>
          </a:prstGeom>
          <a:noFill/>
        </p:spPr>
        <p:txBody>
          <a:bodyPr wrap="square" lIns="0" rIns="0" tIns="0" bIns="0" anchor="t">
            <a:noAutofit/>
          </a:bodyPr>
          <a:lstStyle/>
          <a:p>
            <a:pPr algn="l">
              <a:lnSpc>
                <a:spcPct val="115000"/>
              </a:lnSpc>
            </a:pPr>
            <a:r>
              <a:rPr sz="950" b="0" i="0">
                <a:solidFill>
                  <a:srgbClr val="AEB3BB"/>
                </a:solidFill>
                <a:latin typeface="Noto Sans KR"/>
                <a:ea typeface="Noto Sans KR"/>
                <a:cs typeface="Noto Sans KR"/>
              </a:rPr>
              <a:t>'Hand + Skill' &lt; '전용 그리퍼 N개 + 엔지니어링'</a:t>
            </a:r>
          </a:p>
        </p:txBody>
      </p:sp>
      <p:sp>
        <p:nvSpPr>
          <p:cNvPr id="48" name="OEM risk note"/>
          <p:cNvSpPr/>
          <p:nvPr/>
        </p:nvSpPr>
        <p:spPr>
          <a:xfrm>
            <a:off x="7269480" y="4956048"/>
            <a:ext cx="4373575" cy="914400"/>
          </a:xfrm>
          <a:prstGeom prst="roundRect">
            <a:avLst>
              <a:gd name="adj" fmla="val 10000"/>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9" name="TextBox 48"/>
          <p:cNvSpPr txBox="1"/>
          <p:nvPr/>
        </p:nvSpPr>
        <p:spPr>
          <a:xfrm>
            <a:off x="7452360" y="5029200"/>
            <a:ext cx="4053535" cy="822960"/>
          </a:xfrm>
          <a:prstGeom prst="rect">
            <a:avLst/>
          </a:prstGeom>
          <a:noFill/>
        </p:spPr>
        <p:txBody>
          <a:bodyPr wrap="square" lIns="0" rIns="0" tIns="0" bIns="0" anchor="t">
            <a:noAutofit/>
          </a:bodyPr>
          <a:lstStyle/>
          <a:p>
            <a:pPr algn="l">
              <a:lnSpc>
                <a:spcPct val="118000"/>
              </a:lnSpc>
            </a:pPr>
            <a:r>
              <a:rPr sz="950" b="0" i="0">
                <a:solidFill>
                  <a:srgbClr val="EC7A3C"/>
                </a:solidFill>
                <a:latin typeface="Noto Sans KR SemiBold"/>
                <a:ea typeface="Noto Sans KR SemiBold"/>
                <a:cs typeface="Noto Sans KR SemiBold"/>
              </a:rPr>
              <a:t>OEM이 직접 만든다면?  </a:t>
            </a:r>
          </a:p>
          <a:p>
            <a:pPr algn="l">
              <a:lnSpc>
                <a:spcPct val="118000"/>
              </a:lnSpc>
            </a:pPr>
            <a:r>
              <a:rPr sz="950" b="0" i="0">
                <a:solidFill>
                  <a:srgbClr val="AEB3BB"/>
                </a:solidFill>
                <a:latin typeface="Noto Sans KR"/>
                <a:ea typeface="Noto Sans KR"/>
                <a:cs typeface="Noto Sans KR"/>
              </a:rPr>
              <a:t>Tesla·Figure는 내재화. 그러나 다수 로봇 OEM은 EOAT 생태계에 의존하고, NVIDIA 레퍼런스 휴머노이드도 외부 핸드 채택 → OEM은 경쟁자이자 채널</a:t>
            </a:r>
          </a:p>
        </p:txBody>
      </p:sp>
      <p:sp>
        <p:nvSpPr>
          <p:cNvPr id="50" name="TextBox 49"/>
          <p:cNvSpPr txBox="1"/>
          <p:nvPr/>
        </p:nvSpPr>
        <p:spPr>
          <a:xfrm>
            <a:off x="7269480" y="5943600"/>
            <a:ext cx="4373575" cy="274320"/>
          </a:xfrm>
          <a:prstGeom prst="rect">
            <a:avLst/>
          </a:prstGeom>
          <a:noFill/>
        </p:spPr>
        <p:txBody>
          <a:bodyPr wrap="square" lIns="0" rIns="0" tIns="0" bIns="0" anchor="t">
            <a:noAutofit/>
          </a:bodyPr>
          <a:lstStyle/>
          <a:p>
            <a:pPr algn="l">
              <a:lnSpc>
                <a:spcPct val="112000"/>
              </a:lnSpc>
            </a:pPr>
            <a:r>
              <a:rPr sz="900" b="0" i="0">
                <a:solidFill>
                  <a:srgbClr val="737882"/>
                </a:solidFill>
                <a:latin typeface="Noto Sans KR"/>
                <a:ea typeface="Noto Sans KR"/>
                <a:cs typeface="Noto Sans KR"/>
              </a:rPr>
              <a:t>위치는 공개 정보 기반 정성 배치 · 독립 비교시험 아님</a:t>
            </a:r>
          </a:p>
        </p:txBody>
      </p:sp>
      <p:sp>
        <p:nvSpPr>
          <p:cNvPr id="51"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52"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pic>
        <p:nvPicPr>
          <p:cNvPr id="2" name="HERO 05" descr="Concept rendering: ceiling rail dual-arm robot kitchen with SoftHands holding a pan and tongs"/>
          <p:cNvPicPr>
            <a:picLocks noChangeAspect="1"/>
          </p:cNvPicPr>
          <p:nvPr/>
        </p:nvPicPr>
        <p:blipFill>
          <a:blip r:embed="rId2"/>
          <a:stretch>
            <a:fillRect/>
          </a:stretch>
        </p:blipFill>
        <p:spPr>
          <a:xfrm>
            <a:off x="0" y="0"/>
            <a:ext cx="12191695" cy="6858000"/>
          </a:xfrm>
          <a:prstGeom prst="rect">
            <a:avLst/>
          </a:prstGeom>
        </p:spPr>
      </p:pic>
      <p:pic>
        <p:nvPicPr>
          <p:cNvPr id="3" name="Overlay" descr="decorative gradient"/>
          <p:cNvPicPr>
            <a:picLocks noChangeAspect="1"/>
          </p:cNvPicPr>
          <p:nvPr/>
        </p:nvPicPr>
        <p:blipFill>
          <a:blip r:embed="rId3"/>
          <a:stretch>
            <a:fillRect/>
          </a:stretch>
        </p:blipFill>
        <p:spPr>
          <a:xfrm>
            <a:off x="0" y="0"/>
            <a:ext cx="12191695" cy="6858000"/>
          </a:xfrm>
          <a:prstGeom prst="rect">
            <a:avLst/>
          </a:prstGeom>
        </p:spPr>
      </p:pic>
      <p:sp>
        <p:nvSpPr>
          <p:cNvPr id="4" name="Oval 3"/>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 name="TextBox 4"/>
          <p:cNvSpPr txBox="1"/>
          <p:nvPr/>
        </p:nvSpPr>
        <p:spPr>
          <a:xfrm>
            <a:off x="731520" y="384048"/>
            <a:ext cx="54864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12  ·  FLAGSHIP DEMONSTRATOR</a:t>
            </a:r>
          </a:p>
        </p:txBody>
      </p:sp>
      <p:sp>
        <p:nvSpPr>
          <p:cNvPr id="6" name="Title"/>
          <p:cNvSpPr txBox="1"/>
          <p:nvPr/>
        </p:nvSpPr>
        <p:spPr>
          <a:xfrm>
            <a:off x="548640" y="676656"/>
            <a:ext cx="5120640" cy="1051560"/>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OUR HARDEST TESTBED</a:t>
            </a:r>
          </a:p>
          <a:p>
            <a:pPr algn="l">
              <a:lnSpc>
                <a:spcPct val="100000"/>
              </a:lnSpc>
            </a:pPr>
            <a:r>
              <a:rPr sz="2800" b="0" i="0">
                <a:solidFill>
                  <a:srgbClr val="F2F2EF"/>
                </a:solidFill>
                <a:latin typeface="Noto Sans KR Black"/>
                <a:ea typeface="Noto Sans KR Black"/>
                <a:cs typeface="Noto Sans KR Black"/>
              </a:rPr>
              <a:t>IS A KITCHEN.</a:t>
            </a:r>
          </a:p>
        </p:txBody>
      </p:sp>
      <p:sp>
        <p:nvSpPr>
          <p:cNvPr id="7" name="TextBox 6"/>
          <p:cNvSpPr txBox="1"/>
          <p:nvPr/>
        </p:nvSpPr>
        <p:spPr>
          <a:xfrm>
            <a:off x="548640" y="1755648"/>
            <a:ext cx="4297680" cy="548640"/>
          </a:xfrm>
          <a:prstGeom prst="rect">
            <a:avLst/>
          </a:prstGeom>
          <a:noFill/>
        </p:spPr>
        <p:txBody>
          <a:bodyPr wrap="square" lIns="0" rIns="0" tIns="0" bIns="0" anchor="t">
            <a:noAutofit/>
          </a:bodyPr>
          <a:lstStyle/>
          <a:p>
            <a:pPr algn="l">
              <a:lnSpc>
                <a:spcPct val="125000"/>
              </a:lnSpc>
            </a:pPr>
            <a:r>
              <a:rPr sz="1200" b="0" i="0">
                <a:solidFill>
                  <a:srgbClr val="AEB3BB"/>
                </a:solidFill>
                <a:latin typeface="Noto Sans KR"/>
                <a:ea typeface="Noto Sans KR"/>
                <a:cs typeface="Noto Sans KR"/>
              </a:rPr>
              <a:t>주방은 첫 매출 시장이 아니다. 우리 플랫폼이 어디까지 확장될 수 있는지 보여주는 가장 어려운 시험장이다.</a:t>
            </a:r>
          </a:p>
        </p:txBody>
      </p:sp>
      <p:sp>
        <p:nvSpPr>
          <p:cNvPr id="8" name="TextBox 7"/>
          <p:cNvSpPr txBox="1"/>
          <p:nvPr/>
        </p:nvSpPr>
        <p:spPr>
          <a:xfrm>
            <a:off x="548640" y="2578608"/>
            <a:ext cx="457200" cy="274320"/>
          </a:xfrm>
          <a:prstGeom prst="rect">
            <a:avLst/>
          </a:prstGeom>
          <a:noFill/>
        </p:spPr>
        <p:txBody>
          <a:bodyPr wrap="square" lIns="0" rIns="0" tIns="0" bIns="0" anchor="t">
            <a:noAutofit/>
          </a:bodyPr>
          <a:lstStyle/>
          <a:p>
            <a:pPr algn="l">
              <a:lnSpc>
                <a:spcPct val="112000"/>
              </a:lnSpc>
            </a:pPr>
            <a:r>
              <a:rPr sz="1100" b="0" i="0">
                <a:solidFill>
                  <a:srgbClr val="EC7A3C"/>
                </a:solidFill>
                <a:latin typeface="Noto Sans KR Black"/>
                <a:ea typeface="Noto Sans KR Black"/>
                <a:cs typeface="Noto Sans KR Black"/>
              </a:rPr>
              <a:t>01</a:t>
            </a:r>
          </a:p>
        </p:txBody>
      </p:sp>
      <p:sp>
        <p:nvSpPr>
          <p:cNvPr id="9" name="TextBox 8"/>
          <p:cNvSpPr txBox="1"/>
          <p:nvPr/>
        </p:nvSpPr>
        <p:spPr>
          <a:xfrm>
            <a:off x="1005840" y="2578608"/>
            <a:ext cx="3840480" cy="274320"/>
          </a:xfrm>
          <a:prstGeom prst="rect">
            <a:avLst/>
          </a:prstGeom>
          <a:noFill/>
        </p:spPr>
        <p:txBody>
          <a:bodyPr wrap="square" lIns="0" rIns="0" tIns="0" bIns="0" anchor="t">
            <a:noAutofit/>
          </a:bodyPr>
          <a:lstStyle/>
          <a:p>
            <a:pPr algn="l">
              <a:lnSpc>
                <a:spcPct val="112000"/>
              </a:lnSpc>
            </a:pPr>
            <a:r>
              <a:rPr sz="1300" b="0" i="0">
                <a:solidFill>
                  <a:srgbClr val="F2F2EF"/>
                </a:solidFill>
                <a:latin typeface="Noto Sans KR Black"/>
                <a:ea typeface="Noto Sans KR Black"/>
                <a:cs typeface="Noto Sans KR Black"/>
              </a:rPr>
              <a:t>FLAGSHIP DEMONSTRATOR</a:t>
            </a:r>
          </a:p>
        </p:txBody>
      </p:sp>
      <p:sp>
        <p:nvSpPr>
          <p:cNvPr id="10" name="TextBox 9"/>
          <p:cNvSpPr txBox="1"/>
          <p:nvPr/>
        </p:nvSpPr>
        <p:spPr>
          <a:xfrm>
            <a:off x="1005840" y="2889503"/>
            <a:ext cx="3657600" cy="502920"/>
          </a:xfrm>
          <a:prstGeom prst="rect">
            <a:avLst/>
          </a:prstGeom>
          <a:noFill/>
        </p:spPr>
        <p:txBody>
          <a:bodyPr wrap="square" lIns="0" rIns="0" tIns="0" bIns="0" anchor="t">
            <a:noAutofit/>
          </a:bodyPr>
          <a:lstStyle/>
          <a:p>
            <a:pPr algn="l">
              <a:lnSpc>
                <a:spcPct val="120000"/>
              </a:lnSpc>
            </a:pPr>
            <a:r>
              <a:rPr sz="1050" b="0" i="0">
                <a:solidFill>
                  <a:srgbClr val="AEB3BB"/>
                </a:solidFill>
                <a:latin typeface="Noto Sans KR"/>
                <a:ea typeface="Noto Sans KR"/>
                <a:cs typeface="Noto Sans KR"/>
              </a:rPr>
              <a:t>사람용 도구를 실제로 쓰는 모습을 가장 강하게 보여주는 Application</a:t>
            </a:r>
          </a:p>
        </p:txBody>
      </p:sp>
      <p:sp>
        <p:nvSpPr>
          <p:cNvPr id="11" name="TextBox 10"/>
          <p:cNvSpPr txBox="1"/>
          <p:nvPr/>
        </p:nvSpPr>
        <p:spPr>
          <a:xfrm>
            <a:off x="548640" y="3538728"/>
            <a:ext cx="457200" cy="274320"/>
          </a:xfrm>
          <a:prstGeom prst="rect">
            <a:avLst/>
          </a:prstGeom>
          <a:noFill/>
        </p:spPr>
        <p:txBody>
          <a:bodyPr wrap="square" lIns="0" rIns="0" tIns="0" bIns="0" anchor="t">
            <a:noAutofit/>
          </a:bodyPr>
          <a:lstStyle/>
          <a:p>
            <a:pPr algn="l">
              <a:lnSpc>
                <a:spcPct val="112000"/>
              </a:lnSpc>
            </a:pPr>
            <a:r>
              <a:rPr sz="1100" b="0" i="0">
                <a:solidFill>
                  <a:srgbClr val="EC7A3C"/>
                </a:solidFill>
                <a:latin typeface="Noto Sans KR Black"/>
                <a:ea typeface="Noto Sans KR Black"/>
                <a:cs typeface="Noto Sans KR Black"/>
              </a:rPr>
              <a:t>02</a:t>
            </a:r>
          </a:p>
        </p:txBody>
      </p:sp>
      <p:sp>
        <p:nvSpPr>
          <p:cNvPr id="12" name="TextBox 11"/>
          <p:cNvSpPr txBox="1"/>
          <p:nvPr/>
        </p:nvSpPr>
        <p:spPr>
          <a:xfrm>
            <a:off x="1005840" y="3538728"/>
            <a:ext cx="3840480" cy="274320"/>
          </a:xfrm>
          <a:prstGeom prst="rect">
            <a:avLst/>
          </a:prstGeom>
          <a:noFill/>
        </p:spPr>
        <p:txBody>
          <a:bodyPr wrap="square" lIns="0" rIns="0" tIns="0" bIns="0" anchor="t">
            <a:noAutofit/>
          </a:bodyPr>
          <a:lstStyle/>
          <a:p>
            <a:pPr algn="l">
              <a:lnSpc>
                <a:spcPct val="112000"/>
              </a:lnSpc>
            </a:pPr>
            <a:r>
              <a:rPr sz="1300" b="0" i="0">
                <a:solidFill>
                  <a:srgbClr val="F2F2EF"/>
                </a:solidFill>
                <a:latin typeface="Noto Sans KR Black"/>
                <a:ea typeface="Noto Sans KR Black"/>
                <a:cs typeface="Noto Sans KR Black"/>
              </a:rPr>
              <a:t>EXTREME TESTBED</a:t>
            </a:r>
          </a:p>
        </p:txBody>
      </p:sp>
      <p:sp>
        <p:nvSpPr>
          <p:cNvPr id="13" name="Cond Dry / Wet"/>
          <p:cNvSpPr/>
          <p:nvPr/>
        </p:nvSpPr>
        <p:spPr>
          <a:xfrm>
            <a:off x="1005840" y="3886200"/>
            <a:ext cx="866851" cy="256032"/>
          </a:xfrm>
          <a:prstGeom prst="roundRect">
            <a:avLst>
              <a:gd name="adj" fmla="val 50000"/>
            </a:avLst>
          </a:prstGeom>
          <a:solidFill>
            <a:srgbClr val="1D2025"/>
          </a:solid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Medium"/>
                <a:ea typeface="Noto Sans KR Medium"/>
                <a:cs typeface="Noto Sans KR Medium"/>
              </a:rPr>
              <a:t>Dry / Wet</a:t>
            </a:r>
          </a:p>
        </p:txBody>
      </p:sp>
      <p:sp>
        <p:nvSpPr>
          <p:cNvPr id="14" name="Cond Rigid / Flexible"/>
          <p:cNvSpPr/>
          <p:nvPr/>
        </p:nvSpPr>
        <p:spPr>
          <a:xfrm>
            <a:off x="1945843" y="3886200"/>
            <a:ext cx="1327708" cy="256032"/>
          </a:xfrm>
          <a:prstGeom prst="roundRect">
            <a:avLst>
              <a:gd name="adj" fmla="val 50000"/>
            </a:avLst>
          </a:prstGeom>
          <a:solidFill>
            <a:srgbClr val="1D2025"/>
          </a:solid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Medium"/>
                <a:ea typeface="Noto Sans KR Medium"/>
                <a:cs typeface="Noto Sans KR Medium"/>
              </a:rPr>
              <a:t>Rigid / Flexible</a:t>
            </a:r>
          </a:p>
        </p:txBody>
      </p:sp>
      <p:sp>
        <p:nvSpPr>
          <p:cNvPr id="15" name="Cond Cold / Hot"/>
          <p:cNvSpPr/>
          <p:nvPr/>
        </p:nvSpPr>
        <p:spPr>
          <a:xfrm>
            <a:off x="3346704" y="3886200"/>
            <a:ext cx="932688" cy="256032"/>
          </a:xfrm>
          <a:prstGeom prst="roundRect">
            <a:avLst>
              <a:gd name="adj" fmla="val 50000"/>
            </a:avLst>
          </a:prstGeom>
          <a:solidFill>
            <a:srgbClr val="1D2025"/>
          </a:solid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Medium"/>
                <a:ea typeface="Noto Sans KR Medium"/>
                <a:cs typeface="Noto Sans KR Medium"/>
              </a:rPr>
              <a:t>Cold / Hot</a:t>
            </a:r>
          </a:p>
        </p:txBody>
      </p:sp>
      <p:sp>
        <p:nvSpPr>
          <p:cNvPr id="16" name="Cond Light / Heavy"/>
          <p:cNvSpPr/>
          <p:nvPr/>
        </p:nvSpPr>
        <p:spPr>
          <a:xfrm>
            <a:off x="1005840" y="4215384"/>
            <a:ext cx="1130198" cy="256032"/>
          </a:xfrm>
          <a:prstGeom prst="roundRect">
            <a:avLst>
              <a:gd name="adj" fmla="val 50000"/>
            </a:avLst>
          </a:prstGeom>
          <a:solidFill>
            <a:srgbClr val="1D2025"/>
          </a:solid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Medium"/>
                <a:ea typeface="Noto Sans KR Medium"/>
                <a:cs typeface="Noto Sans KR Medium"/>
              </a:rPr>
              <a:t>Light / Heavy</a:t>
            </a:r>
          </a:p>
        </p:txBody>
      </p:sp>
      <p:sp>
        <p:nvSpPr>
          <p:cNvPr id="17" name="Cond Single / Articulated Tool"/>
          <p:cNvSpPr/>
          <p:nvPr/>
        </p:nvSpPr>
        <p:spPr>
          <a:xfrm>
            <a:off x="2209190" y="4215384"/>
            <a:ext cx="1920239" cy="256032"/>
          </a:xfrm>
          <a:prstGeom prst="roundRect">
            <a:avLst>
              <a:gd name="adj" fmla="val 50000"/>
            </a:avLst>
          </a:prstGeom>
          <a:solidFill>
            <a:srgbClr val="1D2025"/>
          </a:solid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Medium"/>
                <a:ea typeface="Noto Sans KR Medium"/>
                <a:cs typeface="Noto Sans KR Medium"/>
              </a:rPr>
              <a:t>Single / Articulated Tool</a:t>
            </a:r>
          </a:p>
        </p:txBody>
      </p:sp>
      <p:sp>
        <p:nvSpPr>
          <p:cNvPr id="18" name="Cond Single / Dual Arm"/>
          <p:cNvSpPr/>
          <p:nvPr/>
        </p:nvSpPr>
        <p:spPr>
          <a:xfrm>
            <a:off x="1005840" y="4544568"/>
            <a:ext cx="1393545" cy="256032"/>
          </a:xfrm>
          <a:prstGeom prst="roundRect">
            <a:avLst>
              <a:gd name="adj" fmla="val 50000"/>
            </a:avLst>
          </a:prstGeom>
          <a:solidFill>
            <a:srgbClr val="1D2025"/>
          </a:solid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Medium"/>
                <a:ea typeface="Noto Sans KR Medium"/>
                <a:cs typeface="Noto Sans KR Medium"/>
              </a:rPr>
              <a:t>Single / Dual Arm</a:t>
            </a:r>
          </a:p>
        </p:txBody>
      </p:sp>
      <p:sp>
        <p:nvSpPr>
          <p:cNvPr id="19" name="TextBox 18"/>
          <p:cNvSpPr txBox="1"/>
          <p:nvPr/>
        </p:nvSpPr>
        <p:spPr>
          <a:xfrm>
            <a:off x="548640" y="5020056"/>
            <a:ext cx="457200" cy="274320"/>
          </a:xfrm>
          <a:prstGeom prst="rect">
            <a:avLst/>
          </a:prstGeom>
          <a:noFill/>
        </p:spPr>
        <p:txBody>
          <a:bodyPr wrap="square" lIns="0" rIns="0" tIns="0" bIns="0" anchor="t">
            <a:noAutofit/>
          </a:bodyPr>
          <a:lstStyle/>
          <a:p>
            <a:pPr algn="l">
              <a:lnSpc>
                <a:spcPct val="112000"/>
              </a:lnSpc>
            </a:pPr>
            <a:r>
              <a:rPr sz="1100" b="0" i="0">
                <a:solidFill>
                  <a:srgbClr val="EC7A3C"/>
                </a:solidFill>
                <a:latin typeface="Noto Sans KR Black"/>
                <a:ea typeface="Noto Sans KR Black"/>
                <a:cs typeface="Noto Sans KR Black"/>
              </a:rPr>
              <a:t>03</a:t>
            </a:r>
          </a:p>
        </p:txBody>
      </p:sp>
      <p:sp>
        <p:nvSpPr>
          <p:cNvPr id="20" name="TextBox 19"/>
          <p:cNvSpPr txBox="1"/>
          <p:nvPr/>
        </p:nvSpPr>
        <p:spPr>
          <a:xfrm>
            <a:off x="1005840" y="5020056"/>
            <a:ext cx="3840480" cy="274320"/>
          </a:xfrm>
          <a:prstGeom prst="rect">
            <a:avLst/>
          </a:prstGeom>
          <a:noFill/>
        </p:spPr>
        <p:txBody>
          <a:bodyPr wrap="square" lIns="0" rIns="0" tIns="0" bIns="0" anchor="t">
            <a:noAutofit/>
          </a:bodyPr>
          <a:lstStyle/>
          <a:p>
            <a:pPr algn="l">
              <a:lnSpc>
                <a:spcPct val="112000"/>
              </a:lnSpc>
            </a:pPr>
            <a:r>
              <a:rPr sz="1300" b="0" i="0">
                <a:solidFill>
                  <a:srgbClr val="F2F2EF"/>
                </a:solidFill>
                <a:latin typeface="Noto Sans KR Black"/>
                <a:ea typeface="Noto Sans KR Black"/>
                <a:cs typeface="Noto Sans KR Black"/>
              </a:rPr>
              <a:t>FUTURE VERTICAL</a:t>
            </a:r>
          </a:p>
        </p:txBody>
      </p:sp>
      <p:sp>
        <p:nvSpPr>
          <p:cNvPr id="21" name="TextBox 20"/>
          <p:cNvSpPr txBox="1"/>
          <p:nvPr/>
        </p:nvSpPr>
        <p:spPr>
          <a:xfrm>
            <a:off x="1005840" y="5330952"/>
            <a:ext cx="3657600" cy="502920"/>
          </a:xfrm>
          <a:prstGeom prst="rect">
            <a:avLst/>
          </a:prstGeom>
          <a:noFill/>
        </p:spPr>
        <p:txBody>
          <a:bodyPr wrap="square" lIns="0" rIns="0" tIns="0" bIns="0" anchor="t">
            <a:noAutofit/>
          </a:bodyPr>
          <a:lstStyle/>
          <a:p>
            <a:pPr algn="l">
              <a:lnSpc>
                <a:spcPct val="120000"/>
              </a:lnSpc>
            </a:pPr>
            <a:r>
              <a:rPr sz="1050" b="0" i="0">
                <a:solidFill>
                  <a:srgbClr val="AEB3BB"/>
                </a:solidFill>
                <a:latin typeface="Noto Sans KR"/>
                <a:ea typeface="Noto Sans KR"/>
                <a:cs typeface="Noto Sans KR"/>
              </a:rPr>
              <a:t>Commercial · Premium Kitchen — 주방 제조사 파트너와 공동 제품화 (장기)</a:t>
            </a:r>
          </a:p>
        </p:txBody>
      </p:sp>
      <p:sp>
        <p:nvSpPr>
          <p:cNvPr id="22" name="TextBox 21"/>
          <p:cNvSpPr txBox="1"/>
          <p:nvPr/>
        </p:nvSpPr>
        <p:spPr>
          <a:xfrm>
            <a:off x="548640" y="5669280"/>
            <a:ext cx="4206240" cy="457200"/>
          </a:xfrm>
          <a:prstGeom prst="rect">
            <a:avLst/>
          </a:prstGeom>
          <a:noFill/>
        </p:spPr>
        <p:txBody>
          <a:bodyPr wrap="square" lIns="0" rIns="0" tIns="0" bIns="0" anchor="t">
            <a:noAutofit/>
          </a:bodyPr>
          <a:lstStyle/>
          <a:p>
            <a:pPr algn="l">
              <a:lnSpc>
                <a:spcPct val="120000"/>
              </a:lnSpc>
            </a:pPr>
            <a:r>
              <a:rPr sz="1050" b="0" i="0">
                <a:solidFill>
                  <a:srgbClr val="EC7A3C"/>
                </a:solidFill>
                <a:latin typeface="Noto Sans KR SemiBold"/>
                <a:ea typeface="Noto Sans KR SemiBold"/>
                <a:cs typeface="Noto Sans KR SemiBold"/>
              </a:rPr>
              <a:t>Seed 예산 중 Kitchen Showcase ₩0.5억 (2.5%)</a:t>
            </a:r>
          </a:p>
          <a:p>
            <a:pPr algn="l">
              <a:lnSpc>
                <a:spcPct val="120000"/>
              </a:lnSpc>
            </a:pPr>
            <a:r>
              <a:rPr sz="950" b="0" i="0">
                <a:solidFill>
                  <a:srgbClr val="737882"/>
                </a:solidFill>
                <a:latin typeface="Noto Sans KR"/>
                <a:ea typeface="Noto Sans KR"/>
                <a:cs typeface="Noto Sans KR"/>
              </a:rPr>
              <a:t>첫 매출 시장이 아닌 Showcase · 세부 설계·경제성은 Appendix A6</a:t>
            </a:r>
          </a:p>
        </p:txBody>
      </p:sp>
      <p:sp>
        <p:nvSpPr>
          <p:cNvPr id="23" name="Tag CONCEPT RENDERING · FUTURE APPLICATION"/>
          <p:cNvSpPr/>
          <p:nvPr/>
        </p:nvSpPr>
        <p:spPr>
          <a:xfrm>
            <a:off x="9118904" y="5897880"/>
            <a:ext cx="2524150" cy="243840"/>
          </a:xfrm>
          <a:prstGeom prst="roundRect">
            <a:avLst>
              <a:gd name="adj" fmla="val 50000"/>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0B0C0E"/>
                </a:solidFill>
                <a:latin typeface="Noto Sans KR SemiBold"/>
                <a:ea typeface="Noto Sans KR SemiBold"/>
                <a:cs typeface="Noto Sans KR SemiBold"/>
              </a:rPr>
              <a:t>CONCEPT RENDERING · FUTURE APPLICATION</a:t>
            </a:r>
          </a:p>
        </p:txBody>
      </p:sp>
      <p:sp>
        <p:nvSpPr>
          <p:cNvPr id="24" name="TextBox 23"/>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25" name="TextBox 24"/>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3B3F45"/>
                </a:solidFill>
                <a:latin typeface="Noto Sans KR SemiBold"/>
                <a:ea typeface="Noto Sans KR SemiBold"/>
                <a:cs typeface="Noto Sans KR SemiBol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13  ·  GO-TO-MARKET &amp; VENTURE SCALE</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INTEGRATOR-LED. OEM-SCALED.</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한 고객씩 파는 회사에서, 로봇 출하량에 실려 팔리는 회사로</a:t>
            </a:r>
          </a:p>
        </p:txBody>
      </p:sp>
      <p:sp>
        <p:nvSpPr>
          <p:cNvPr id="6" name="Stage 1"/>
          <p:cNvSpPr/>
          <p:nvPr/>
        </p:nvSpPr>
        <p:spPr>
          <a:xfrm>
            <a:off x="548640" y="1847088"/>
            <a:ext cx="3503066" cy="2788920"/>
          </a:xfrm>
          <a:prstGeom prst="roundRect">
            <a:avLst>
              <a:gd name="adj" fmla="val 3934"/>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 name="TextBox 6"/>
          <p:cNvSpPr txBox="1"/>
          <p:nvPr/>
        </p:nvSpPr>
        <p:spPr>
          <a:xfrm>
            <a:off x="777240" y="1956816"/>
            <a:ext cx="3137306" cy="237744"/>
          </a:xfrm>
          <a:prstGeom prst="rect">
            <a:avLst/>
          </a:prstGeom>
          <a:noFill/>
        </p:spPr>
        <p:txBody>
          <a:bodyPr wrap="square" lIns="0" rIns="0" tIns="0" bIns="0" anchor="t">
            <a:noAutofit/>
          </a:bodyPr>
          <a:lstStyle/>
          <a:p>
            <a:pPr algn="l">
              <a:lnSpc>
                <a:spcPct val="112000"/>
              </a:lnSpc>
            </a:pPr>
            <a:r>
              <a:rPr sz="900" b="0" i="0" spc="80">
                <a:solidFill>
                  <a:srgbClr val="EC7A3C"/>
                </a:solidFill>
                <a:latin typeface="Noto Sans KR SemiBold"/>
                <a:ea typeface="Noto Sans KR SemiBold"/>
                <a:cs typeface="Noto Sans KR SemiBold"/>
              </a:rPr>
              <a:t>STAGE 1 · M0–M24 (SEED)</a:t>
            </a:r>
          </a:p>
        </p:txBody>
      </p:sp>
      <p:sp>
        <p:nvSpPr>
          <p:cNvPr id="8" name="TextBox 7"/>
          <p:cNvSpPr txBox="1"/>
          <p:nvPr/>
        </p:nvSpPr>
        <p:spPr>
          <a:xfrm>
            <a:off x="777240" y="2212848"/>
            <a:ext cx="3137306" cy="365760"/>
          </a:xfrm>
          <a:prstGeom prst="rect">
            <a:avLst/>
          </a:prstGeom>
          <a:noFill/>
        </p:spPr>
        <p:txBody>
          <a:bodyPr wrap="square" lIns="0" rIns="0" tIns="0" bIns="0" anchor="t">
            <a:noAutofit/>
          </a:bodyPr>
          <a:lstStyle/>
          <a:p>
            <a:pPr algn="l">
              <a:lnSpc>
                <a:spcPct val="112000"/>
              </a:lnSpc>
            </a:pPr>
            <a:r>
              <a:rPr sz="1700" b="0" i="0">
                <a:solidFill>
                  <a:srgbClr val="F2F2EF"/>
                </a:solidFill>
                <a:latin typeface="Noto Sans KR Black"/>
                <a:ea typeface="Noto Sans KR Black"/>
                <a:cs typeface="Noto Sans KR Black"/>
              </a:rPr>
              <a:t>INTEGRATOR-LED</a:t>
            </a:r>
          </a:p>
        </p:txBody>
      </p:sp>
      <p:sp>
        <p:nvSpPr>
          <p:cNvPr id="9" name="TextBox 8"/>
          <p:cNvSpPr txBox="1"/>
          <p:nvPr/>
        </p:nvSpPr>
        <p:spPr>
          <a:xfrm>
            <a:off x="777240" y="2615184"/>
            <a:ext cx="3137306" cy="457200"/>
          </a:xfrm>
          <a:prstGeom prst="rect">
            <a:avLst/>
          </a:prstGeom>
          <a:noFill/>
        </p:spPr>
        <p:txBody>
          <a:bodyPr wrap="square" lIns="0" rIns="0" tIns="0" bIns="0" anchor="t">
            <a:noAutofit/>
          </a:bodyPr>
          <a:lstStyle/>
          <a:p>
            <a:pPr algn="l">
              <a:lnSpc>
                <a:spcPct val="115000"/>
              </a:lnSpc>
            </a:pPr>
            <a:r>
              <a:rPr sz="1000" b="0" i="0">
                <a:solidFill>
                  <a:srgbClr val="F2F2EF"/>
                </a:solidFill>
                <a:latin typeface="Noto Sans KR"/>
                <a:ea typeface="Noto Sans KR"/>
                <a:cs typeface="Noto Sans KR"/>
              </a:rPr>
              <a:t>SI 파트너 · 제조 PoC · Reference Customer</a:t>
            </a:r>
          </a:p>
        </p:txBody>
      </p:sp>
      <p:cxnSp>
        <p:nvCxnSpPr>
          <p:cNvPr id="10" name="Connector 9"/>
          <p:cNvCxnSpPr/>
          <p:nvPr/>
        </p:nvCxnSpPr>
        <p:spPr>
          <a:xfrm>
            <a:off x="777240" y="3127248"/>
            <a:ext cx="3045866" cy="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77240" y="3200400"/>
            <a:ext cx="3137306" cy="219456"/>
          </a:xfrm>
          <a:prstGeom prst="rect">
            <a:avLst/>
          </a:prstGeom>
          <a:noFill/>
        </p:spPr>
        <p:txBody>
          <a:bodyPr wrap="square" lIns="0" rIns="0" tIns="0" bIns="0" anchor="t">
            <a:noAutofit/>
          </a:bodyPr>
          <a:lstStyle/>
          <a:p>
            <a:pPr algn="l">
              <a:lnSpc>
                <a:spcPct val="112000"/>
              </a:lnSpc>
            </a:pPr>
            <a:r>
              <a:rPr sz="900" b="0" i="0" spc="100">
                <a:solidFill>
                  <a:srgbClr val="737882"/>
                </a:solidFill>
                <a:latin typeface="Noto Sans KR SemiBold"/>
                <a:ea typeface="Noto Sans KR SemiBold"/>
                <a:cs typeface="Noto Sans KR SemiBold"/>
              </a:rPr>
              <a:t>BEACHHEAD</a:t>
            </a:r>
          </a:p>
        </p:txBody>
      </p:sp>
      <p:sp>
        <p:nvSpPr>
          <p:cNvPr id="12" name="TextBox 11"/>
          <p:cNvSpPr txBox="1"/>
          <p:nvPr/>
        </p:nvSpPr>
        <p:spPr>
          <a:xfrm>
            <a:off x="777240" y="3419856"/>
            <a:ext cx="3137306" cy="256032"/>
          </a:xfrm>
          <a:prstGeom prst="rect">
            <a:avLst/>
          </a:prstGeom>
          <a:noFill/>
        </p:spPr>
        <p:txBody>
          <a:bodyPr wrap="square" lIns="0" rIns="0" tIns="0" bIns="0" anchor="t">
            <a:noAutofit/>
          </a:bodyPr>
          <a:lstStyle/>
          <a:p>
            <a:pPr algn="l">
              <a:lnSpc>
                <a:spcPct val="112000"/>
              </a:lnSpc>
            </a:pPr>
            <a:r>
              <a:rPr sz="1000" b="0" i="0">
                <a:solidFill>
                  <a:srgbClr val="AEB3BB"/>
                </a:solidFill>
                <a:latin typeface="Noto Sans KR"/>
                <a:ea typeface="Noto Sans KR"/>
                <a:cs typeface="Noto Sans KR"/>
              </a:rPr>
              <a:t>국내 Robot SI · 제조 · Cobot 사용자</a:t>
            </a:r>
          </a:p>
        </p:txBody>
      </p:sp>
      <p:sp>
        <p:nvSpPr>
          <p:cNvPr id="13" name="TextBox 12"/>
          <p:cNvSpPr txBox="1"/>
          <p:nvPr/>
        </p:nvSpPr>
        <p:spPr>
          <a:xfrm>
            <a:off x="777240" y="3694176"/>
            <a:ext cx="3137306" cy="411480"/>
          </a:xfrm>
          <a:prstGeom prst="rect">
            <a:avLst/>
          </a:prstGeom>
          <a:noFill/>
        </p:spPr>
        <p:txBody>
          <a:bodyPr wrap="square" lIns="0" rIns="0" tIns="0" bIns="0" anchor="t">
            <a:noAutofit/>
          </a:bodyPr>
          <a:lstStyle/>
          <a:p>
            <a:pPr algn="l">
              <a:lnSpc>
                <a:spcPct val="112000"/>
              </a:lnSpc>
            </a:pPr>
            <a:r>
              <a:rPr sz="2000" b="0" i="0">
                <a:solidFill>
                  <a:srgbClr val="F2F2EF"/>
                </a:solidFill>
                <a:latin typeface="Noto Sans KR Black"/>
                <a:ea typeface="Noto Sans KR Black"/>
                <a:cs typeface="Noto Sans KR Black"/>
              </a:rPr>
              <a:t>≈ ₩75억</a:t>
            </a:r>
          </a:p>
        </p:txBody>
      </p:sp>
      <p:sp>
        <p:nvSpPr>
          <p:cNvPr id="14" name="TextBox 13"/>
          <p:cNvSpPr txBox="1"/>
          <p:nvPr/>
        </p:nvSpPr>
        <p:spPr>
          <a:xfrm>
            <a:off x="777240" y="4114800"/>
            <a:ext cx="3137306" cy="457200"/>
          </a:xfrm>
          <a:prstGeom prst="rect">
            <a:avLst/>
          </a:prstGeom>
          <a:noFill/>
        </p:spPr>
        <p:txBody>
          <a:bodyPr wrap="square" lIns="0" rIns="0" tIns="0" bIns="0" anchor="t">
            <a:noAutofit/>
          </a:bodyPr>
          <a:lstStyle/>
          <a:p>
            <a:pPr algn="l">
              <a:lnSpc>
                <a:spcPct val="115000"/>
              </a:lnSpc>
            </a:pPr>
            <a:r>
              <a:rPr sz="900" b="0" i="0">
                <a:solidFill>
                  <a:srgbClr val="737882"/>
                </a:solidFill>
                <a:latin typeface="Noto Sans KR"/>
                <a:ea typeface="Noto Sans KR"/>
                <a:cs typeface="Noto Sans KR"/>
              </a:rPr>
              <a:t>Initial Serviceable Opportunity</a:t>
            </a:r>
          </a:p>
          <a:p>
            <a:pPr algn="l">
              <a:lnSpc>
                <a:spcPct val="115000"/>
              </a:lnSpc>
            </a:pPr>
            <a:r>
              <a:rPr sz="900" b="0" i="0">
                <a:solidFill>
                  <a:srgbClr val="737882"/>
                </a:solidFill>
                <a:latin typeface="Noto Sans KR"/>
                <a:ea typeface="Noto Sans KR"/>
                <a:cs typeface="Noto Sans KR"/>
              </a:rPr>
              <a:t>100개사 × 5대 × ₩1,500만 (가정)</a:t>
            </a:r>
          </a:p>
        </p:txBody>
      </p:sp>
      <p:sp>
        <p:nvSpPr>
          <p:cNvPr id="15" name="Isosceles Triangle 14"/>
          <p:cNvSpPr/>
          <p:nvPr/>
        </p:nvSpPr>
        <p:spPr>
          <a:xfrm rot="5400000">
            <a:off x="4124858" y="3172968"/>
            <a:ext cx="146304" cy="146304"/>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6" name="Stage 2"/>
          <p:cNvSpPr/>
          <p:nvPr/>
        </p:nvSpPr>
        <p:spPr>
          <a:xfrm>
            <a:off x="4344314" y="1847088"/>
            <a:ext cx="3503066" cy="2788920"/>
          </a:xfrm>
          <a:prstGeom prst="roundRect">
            <a:avLst>
              <a:gd name="adj" fmla="val 3934"/>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7" name="TextBox 16"/>
          <p:cNvSpPr txBox="1"/>
          <p:nvPr/>
        </p:nvSpPr>
        <p:spPr>
          <a:xfrm>
            <a:off x="4572914" y="1956816"/>
            <a:ext cx="3137306" cy="237744"/>
          </a:xfrm>
          <a:prstGeom prst="rect">
            <a:avLst/>
          </a:prstGeom>
          <a:noFill/>
        </p:spPr>
        <p:txBody>
          <a:bodyPr wrap="square" lIns="0" rIns="0" tIns="0" bIns="0" anchor="t">
            <a:noAutofit/>
          </a:bodyPr>
          <a:lstStyle/>
          <a:p>
            <a:pPr algn="l">
              <a:lnSpc>
                <a:spcPct val="112000"/>
              </a:lnSpc>
            </a:pPr>
            <a:r>
              <a:rPr sz="900" b="0" i="0" spc="80">
                <a:solidFill>
                  <a:srgbClr val="EC7A3C"/>
                </a:solidFill>
                <a:latin typeface="Noto Sans KR SemiBold"/>
                <a:ea typeface="Noto Sans KR SemiBold"/>
                <a:cs typeface="Noto Sans KR SemiBold"/>
              </a:rPr>
              <a:t>STAGE 2 · Y3–Y5</a:t>
            </a:r>
          </a:p>
        </p:txBody>
      </p:sp>
      <p:sp>
        <p:nvSpPr>
          <p:cNvPr id="18" name="TextBox 17"/>
          <p:cNvSpPr txBox="1"/>
          <p:nvPr/>
        </p:nvSpPr>
        <p:spPr>
          <a:xfrm>
            <a:off x="4572914" y="2212848"/>
            <a:ext cx="3137306" cy="365760"/>
          </a:xfrm>
          <a:prstGeom prst="rect">
            <a:avLst/>
          </a:prstGeom>
          <a:noFill/>
        </p:spPr>
        <p:txBody>
          <a:bodyPr wrap="square" lIns="0" rIns="0" tIns="0" bIns="0" anchor="t">
            <a:noAutofit/>
          </a:bodyPr>
          <a:lstStyle/>
          <a:p>
            <a:pPr algn="l">
              <a:lnSpc>
                <a:spcPct val="112000"/>
              </a:lnSpc>
            </a:pPr>
            <a:r>
              <a:rPr sz="1700" b="0" i="0">
                <a:solidFill>
                  <a:srgbClr val="F2F2EF"/>
                </a:solidFill>
                <a:latin typeface="Noto Sans KR Black"/>
                <a:ea typeface="Noto Sans KR Black"/>
                <a:cs typeface="Noto Sans KR Black"/>
              </a:rPr>
              <a:t>DIRECT + PARTNER</a:t>
            </a:r>
          </a:p>
        </p:txBody>
      </p:sp>
      <p:sp>
        <p:nvSpPr>
          <p:cNvPr id="19" name="TextBox 18"/>
          <p:cNvSpPr txBox="1"/>
          <p:nvPr/>
        </p:nvSpPr>
        <p:spPr>
          <a:xfrm>
            <a:off x="4572914" y="2615184"/>
            <a:ext cx="3137306" cy="457200"/>
          </a:xfrm>
          <a:prstGeom prst="rect">
            <a:avLst/>
          </a:prstGeom>
          <a:noFill/>
        </p:spPr>
        <p:txBody>
          <a:bodyPr wrap="square" lIns="0" rIns="0" tIns="0" bIns="0" anchor="t">
            <a:noAutofit/>
          </a:bodyPr>
          <a:lstStyle/>
          <a:p>
            <a:pPr algn="l">
              <a:lnSpc>
                <a:spcPct val="115000"/>
              </a:lnSpc>
            </a:pPr>
            <a:r>
              <a:rPr sz="1000" b="0" i="0">
                <a:solidFill>
                  <a:srgbClr val="F2F2EF"/>
                </a:solidFill>
                <a:latin typeface="Noto Sans KR"/>
                <a:ea typeface="Noto Sans KR"/>
                <a:cs typeface="Noto Sans KR"/>
              </a:rPr>
              <a:t>검증된 Use Case를 Package로 판매</a:t>
            </a:r>
          </a:p>
        </p:txBody>
      </p:sp>
      <p:cxnSp>
        <p:nvCxnSpPr>
          <p:cNvPr id="20" name="Connector 19"/>
          <p:cNvCxnSpPr/>
          <p:nvPr/>
        </p:nvCxnSpPr>
        <p:spPr>
          <a:xfrm>
            <a:off x="4572914" y="3127248"/>
            <a:ext cx="3045866" cy="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572914" y="3200400"/>
            <a:ext cx="3137306" cy="219456"/>
          </a:xfrm>
          <a:prstGeom prst="rect">
            <a:avLst/>
          </a:prstGeom>
          <a:noFill/>
        </p:spPr>
        <p:txBody>
          <a:bodyPr wrap="square" lIns="0" rIns="0" tIns="0" bIns="0" anchor="t">
            <a:noAutofit/>
          </a:bodyPr>
          <a:lstStyle/>
          <a:p>
            <a:pPr algn="l">
              <a:lnSpc>
                <a:spcPct val="112000"/>
              </a:lnSpc>
            </a:pPr>
            <a:r>
              <a:rPr sz="900" b="0" i="0" spc="100">
                <a:solidFill>
                  <a:srgbClr val="737882"/>
                </a:solidFill>
                <a:latin typeface="Noto Sans KR SemiBold"/>
                <a:ea typeface="Noto Sans KR SemiBold"/>
                <a:cs typeface="Noto Sans KR SemiBold"/>
              </a:rPr>
              <a:t>EXPANSION</a:t>
            </a:r>
          </a:p>
        </p:txBody>
      </p:sp>
      <p:sp>
        <p:nvSpPr>
          <p:cNvPr id="22" name="TextBox 21"/>
          <p:cNvSpPr txBox="1"/>
          <p:nvPr/>
        </p:nvSpPr>
        <p:spPr>
          <a:xfrm>
            <a:off x="4572914" y="3419856"/>
            <a:ext cx="3137306" cy="256032"/>
          </a:xfrm>
          <a:prstGeom prst="rect">
            <a:avLst/>
          </a:prstGeom>
          <a:noFill/>
        </p:spPr>
        <p:txBody>
          <a:bodyPr wrap="square" lIns="0" rIns="0" tIns="0" bIns="0" anchor="t">
            <a:noAutofit/>
          </a:bodyPr>
          <a:lstStyle/>
          <a:p>
            <a:pPr algn="l">
              <a:lnSpc>
                <a:spcPct val="112000"/>
              </a:lnSpc>
            </a:pPr>
            <a:r>
              <a:rPr sz="1000" b="0" i="0">
                <a:solidFill>
                  <a:srgbClr val="AEB3BB"/>
                </a:solidFill>
                <a:latin typeface="Noto Sans KR"/>
                <a:ea typeface="Noto Sans KR"/>
                <a:cs typeface="Noto Sans KR"/>
              </a:rPr>
              <a:t>Global Industrial · Cobot · Service Robot</a:t>
            </a:r>
          </a:p>
        </p:txBody>
      </p:sp>
      <p:sp>
        <p:nvSpPr>
          <p:cNvPr id="23" name="TextBox 22"/>
          <p:cNvSpPr txBox="1"/>
          <p:nvPr/>
        </p:nvSpPr>
        <p:spPr>
          <a:xfrm>
            <a:off x="4572914" y="3694176"/>
            <a:ext cx="3137306" cy="411480"/>
          </a:xfrm>
          <a:prstGeom prst="rect">
            <a:avLst/>
          </a:prstGeom>
          <a:noFill/>
        </p:spPr>
        <p:txBody>
          <a:bodyPr wrap="square" lIns="0" rIns="0" tIns="0" bIns="0" anchor="t">
            <a:noAutofit/>
          </a:bodyPr>
          <a:lstStyle/>
          <a:p>
            <a:pPr algn="l">
              <a:lnSpc>
                <a:spcPct val="112000"/>
              </a:lnSpc>
            </a:pPr>
            <a:r>
              <a:rPr sz="2000" b="0" i="0">
                <a:solidFill>
                  <a:srgbClr val="F2F2EF"/>
                </a:solidFill>
                <a:latin typeface="Noto Sans KR Black"/>
                <a:ea typeface="Noto Sans KR Black"/>
                <a:cs typeface="Noto Sans KR Black"/>
              </a:rPr>
              <a:t>603K / yr</a:t>
            </a:r>
          </a:p>
        </p:txBody>
      </p:sp>
      <p:sp>
        <p:nvSpPr>
          <p:cNvPr id="24" name="TextBox 23"/>
          <p:cNvSpPr txBox="1"/>
          <p:nvPr/>
        </p:nvSpPr>
        <p:spPr>
          <a:xfrm>
            <a:off x="4572914" y="4114800"/>
            <a:ext cx="3137306" cy="457200"/>
          </a:xfrm>
          <a:prstGeom prst="rect">
            <a:avLst/>
          </a:prstGeom>
          <a:noFill/>
        </p:spPr>
        <p:txBody>
          <a:bodyPr wrap="square" lIns="0" rIns="0" tIns="0" bIns="0" anchor="t">
            <a:noAutofit/>
          </a:bodyPr>
          <a:lstStyle/>
          <a:p>
            <a:pPr algn="l">
              <a:lnSpc>
                <a:spcPct val="115000"/>
              </a:lnSpc>
            </a:pPr>
            <a:r>
              <a:rPr sz="900" b="0" i="0">
                <a:solidFill>
                  <a:srgbClr val="737882"/>
                </a:solidFill>
                <a:latin typeface="Noto Sans KR"/>
                <a:ea typeface="Noto Sans KR"/>
                <a:cs typeface="Noto Sans KR"/>
              </a:rPr>
              <a:t>2025년 글로벌 신규 산업용 로봇</a:t>
            </a:r>
          </a:p>
          <a:p>
            <a:pPr algn="l">
              <a:lnSpc>
                <a:spcPct val="115000"/>
              </a:lnSpc>
            </a:pPr>
            <a:r>
              <a:rPr sz="900" b="0" i="0">
                <a:solidFill>
                  <a:srgbClr val="737882"/>
                </a:solidFill>
                <a:latin typeface="Noto Sans KR"/>
                <a:ea typeface="Noto Sans KR"/>
                <a:cs typeface="Noto Sans KR"/>
              </a:rPr>
              <a:t>설치 (IFR 2026)</a:t>
            </a:r>
          </a:p>
        </p:txBody>
      </p:sp>
      <p:sp>
        <p:nvSpPr>
          <p:cNvPr id="25" name="Isosceles Triangle 24"/>
          <p:cNvSpPr/>
          <p:nvPr/>
        </p:nvSpPr>
        <p:spPr>
          <a:xfrm rot="5400000">
            <a:off x="7920532" y="3172968"/>
            <a:ext cx="146304" cy="146304"/>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6" name="Stage 3"/>
          <p:cNvSpPr/>
          <p:nvPr/>
        </p:nvSpPr>
        <p:spPr>
          <a:xfrm>
            <a:off x="8139988" y="1847088"/>
            <a:ext cx="3503066" cy="2788920"/>
          </a:xfrm>
          <a:prstGeom prst="roundRect">
            <a:avLst>
              <a:gd name="adj" fmla="val 3934"/>
            </a:avLst>
          </a:prstGeom>
          <a:solidFill>
            <a:srgbClr val="2E1D14"/>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7" name="TextBox 26"/>
          <p:cNvSpPr txBox="1"/>
          <p:nvPr/>
        </p:nvSpPr>
        <p:spPr>
          <a:xfrm>
            <a:off x="8368588" y="1956816"/>
            <a:ext cx="3137306" cy="237744"/>
          </a:xfrm>
          <a:prstGeom prst="rect">
            <a:avLst/>
          </a:prstGeom>
          <a:noFill/>
        </p:spPr>
        <p:txBody>
          <a:bodyPr wrap="square" lIns="0" rIns="0" tIns="0" bIns="0" anchor="t">
            <a:noAutofit/>
          </a:bodyPr>
          <a:lstStyle/>
          <a:p>
            <a:pPr algn="l">
              <a:lnSpc>
                <a:spcPct val="112000"/>
              </a:lnSpc>
            </a:pPr>
            <a:r>
              <a:rPr sz="900" b="0" i="0" spc="80">
                <a:solidFill>
                  <a:srgbClr val="EC7A3C"/>
                </a:solidFill>
                <a:latin typeface="Noto Sans KR SemiBold"/>
                <a:ea typeface="Noto Sans KR SemiBold"/>
                <a:cs typeface="Noto Sans KR SemiBold"/>
              </a:rPr>
              <a:t>STAGE 3 · SCALE TRIGGER</a:t>
            </a:r>
          </a:p>
        </p:txBody>
      </p:sp>
      <p:sp>
        <p:nvSpPr>
          <p:cNvPr id="28" name="TextBox 27"/>
          <p:cNvSpPr txBox="1"/>
          <p:nvPr/>
        </p:nvSpPr>
        <p:spPr>
          <a:xfrm>
            <a:off x="8368588" y="2212848"/>
            <a:ext cx="3137306" cy="365760"/>
          </a:xfrm>
          <a:prstGeom prst="rect">
            <a:avLst/>
          </a:prstGeom>
          <a:noFill/>
        </p:spPr>
        <p:txBody>
          <a:bodyPr wrap="square" lIns="0" rIns="0" tIns="0" bIns="0" anchor="t">
            <a:noAutofit/>
          </a:bodyPr>
          <a:lstStyle/>
          <a:p>
            <a:pPr algn="l">
              <a:lnSpc>
                <a:spcPct val="112000"/>
              </a:lnSpc>
            </a:pPr>
            <a:r>
              <a:rPr sz="1700" b="0" i="0">
                <a:solidFill>
                  <a:srgbClr val="F2F2EF"/>
                </a:solidFill>
                <a:latin typeface="Noto Sans KR Black"/>
                <a:ea typeface="Noto Sans KR Black"/>
                <a:cs typeface="Noto Sans KR Black"/>
              </a:rPr>
              <a:t>OEM-SCALED</a:t>
            </a:r>
          </a:p>
        </p:txBody>
      </p:sp>
      <p:sp>
        <p:nvSpPr>
          <p:cNvPr id="29" name="TextBox 28"/>
          <p:cNvSpPr txBox="1"/>
          <p:nvPr/>
        </p:nvSpPr>
        <p:spPr>
          <a:xfrm>
            <a:off x="8368588" y="2615184"/>
            <a:ext cx="3137306" cy="457200"/>
          </a:xfrm>
          <a:prstGeom prst="rect">
            <a:avLst/>
          </a:prstGeom>
          <a:noFill/>
        </p:spPr>
        <p:txBody>
          <a:bodyPr wrap="square" lIns="0" rIns="0" tIns="0" bIns="0" anchor="t">
            <a:noAutofit/>
          </a:bodyPr>
          <a:lstStyle/>
          <a:p>
            <a:pPr algn="l">
              <a:lnSpc>
                <a:spcPct val="115000"/>
              </a:lnSpc>
            </a:pPr>
            <a:r>
              <a:rPr sz="1000" b="0" i="0">
                <a:solidFill>
                  <a:srgbClr val="F2F2EF"/>
                </a:solidFill>
                <a:latin typeface="Noto Sans KR"/>
                <a:ea typeface="Noto Sans KR"/>
                <a:cs typeface="Noto Sans KR"/>
              </a:rPr>
              <a:t>Robot OEM이 Hand / SDK를</a:t>
            </a:r>
          </a:p>
          <a:p>
            <a:pPr algn="l">
              <a:lnSpc>
                <a:spcPct val="115000"/>
              </a:lnSpc>
            </a:pPr>
            <a:r>
              <a:rPr sz="1000" b="0" i="0">
                <a:solidFill>
                  <a:srgbClr val="F2F2EF"/>
                </a:solidFill>
                <a:latin typeface="Noto Sans KR"/>
                <a:ea typeface="Noto Sans KR"/>
                <a:cs typeface="Noto Sans KR"/>
              </a:rPr>
              <a:t>Option · Standard Module로 통합</a:t>
            </a:r>
          </a:p>
        </p:txBody>
      </p:sp>
      <p:cxnSp>
        <p:nvCxnSpPr>
          <p:cNvPr id="30" name="Connector 29"/>
          <p:cNvCxnSpPr/>
          <p:nvPr/>
        </p:nvCxnSpPr>
        <p:spPr>
          <a:xfrm>
            <a:off x="8368588" y="3127248"/>
            <a:ext cx="3045867" cy="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368588" y="3200400"/>
            <a:ext cx="3137306" cy="219456"/>
          </a:xfrm>
          <a:prstGeom prst="rect">
            <a:avLst/>
          </a:prstGeom>
          <a:noFill/>
        </p:spPr>
        <p:txBody>
          <a:bodyPr wrap="square" lIns="0" rIns="0" tIns="0" bIns="0" anchor="t">
            <a:noAutofit/>
          </a:bodyPr>
          <a:lstStyle/>
          <a:p>
            <a:pPr algn="l">
              <a:lnSpc>
                <a:spcPct val="112000"/>
              </a:lnSpc>
            </a:pPr>
            <a:r>
              <a:rPr sz="900" b="0" i="0" spc="100">
                <a:solidFill>
                  <a:srgbClr val="737882"/>
                </a:solidFill>
                <a:latin typeface="Noto Sans KR SemiBold"/>
                <a:ea typeface="Noto Sans KR SemiBold"/>
                <a:cs typeface="Noto Sans KR SemiBold"/>
              </a:rPr>
              <a:t>SCALE</a:t>
            </a:r>
          </a:p>
        </p:txBody>
      </p:sp>
      <p:sp>
        <p:nvSpPr>
          <p:cNvPr id="32" name="TextBox 31"/>
          <p:cNvSpPr txBox="1"/>
          <p:nvPr/>
        </p:nvSpPr>
        <p:spPr>
          <a:xfrm>
            <a:off x="8368588" y="3419856"/>
            <a:ext cx="3137306" cy="256032"/>
          </a:xfrm>
          <a:prstGeom prst="rect">
            <a:avLst/>
          </a:prstGeom>
          <a:noFill/>
        </p:spPr>
        <p:txBody>
          <a:bodyPr wrap="square" lIns="0" rIns="0" tIns="0" bIns="0" anchor="t">
            <a:noAutofit/>
          </a:bodyPr>
          <a:lstStyle/>
          <a:p>
            <a:pPr algn="l">
              <a:lnSpc>
                <a:spcPct val="112000"/>
              </a:lnSpc>
            </a:pPr>
            <a:r>
              <a:rPr sz="1000" b="0" i="0">
                <a:solidFill>
                  <a:srgbClr val="AEB3BB"/>
                </a:solidFill>
                <a:latin typeface="Noto Sans KR"/>
                <a:ea typeface="Noto Sans KR"/>
                <a:cs typeface="Noto Sans KR"/>
              </a:rPr>
              <a:t>Robot OEM · Humanoid · Physical AI</a:t>
            </a:r>
          </a:p>
        </p:txBody>
      </p:sp>
      <p:sp>
        <p:nvSpPr>
          <p:cNvPr id="33" name="TextBox 32"/>
          <p:cNvSpPr txBox="1"/>
          <p:nvPr/>
        </p:nvSpPr>
        <p:spPr>
          <a:xfrm>
            <a:off x="8368588" y="3694176"/>
            <a:ext cx="3137306" cy="411480"/>
          </a:xfrm>
          <a:prstGeom prst="rect">
            <a:avLst/>
          </a:prstGeom>
          <a:noFill/>
        </p:spPr>
        <p:txBody>
          <a:bodyPr wrap="square" lIns="0" rIns="0" tIns="0" bIns="0" anchor="t">
            <a:noAutofit/>
          </a:bodyPr>
          <a:lstStyle/>
          <a:p>
            <a:pPr algn="l">
              <a:lnSpc>
                <a:spcPct val="112000"/>
              </a:lnSpc>
            </a:pPr>
            <a:r>
              <a:rPr sz="2000" b="0" i="0">
                <a:solidFill>
                  <a:srgbClr val="EC7A3C"/>
                </a:solidFill>
                <a:latin typeface="Noto Sans KR Black"/>
                <a:ea typeface="Noto Sans KR Black"/>
                <a:cs typeface="Noto Sans KR Black"/>
              </a:rPr>
              <a:t>6.5M / yr</a:t>
            </a:r>
          </a:p>
        </p:txBody>
      </p:sp>
      <p:sp>
        <p:nvSpPr>
          <p:cNvPr id="34" name="TextBox 33"/>
          <p:cNvSpPr txBox="1"/>
          <p:nvPr/>
        </p:nvSpPr>
        <p:spPr>
          <a:xfrm>
            <a:off x="8368588" y="4114800"/>
            <a:ext cx="3137306" cy="457200"/>
          </a:xfrm>
          <a:prstGeom prst="rect">
            <a:avLst/>
          </a:prstGeom>
          <a:noFill/>
        </p:spPr>
        <p:txBody>
          <a:bodyPr wrap="square" lIns="0" rIns="0" tIns="0" bIns="0" anchor="t">
            <a:noAutofit/>
          </a:bodyPr>
          <a:lstStyle/>
          <a:p>
            <a:pPr algn="l">
              <a:lnSpc>
                <a:spcPct val="115000"/>
              </a:lnSpc>
            </a:pPr>
            <a:r>
              <a:rPr sz="900" b="0" i="0">
                <a:solidFill>
                  <a:srgbClr val="737882"/>
                </a:solidFill>
                <a:latin typeface="Noto Sans KR"/>
                <a:ea typeface="Noto Sans KR"/>
                <a:cs typeface="Noto Sans KR"/>
              </a:rPr>
              <a:t>2035년 휴머노이드 출하 전망 —</a:t>
            </a:r>
          </a:p>
          <a:p>
            <a:pPr algn="l">
              <a:lnSpc>
                <a:spcPct val="115000"/>
              </a:lnSpc>
            </a:pPr>
            <a:r>
              <a:rPr sz="900" b="0" i="0">
                <a:solidFill>
                  <a:srgbClr val="737882"/>
                </a:solidFill>
                <a:latin typeface="Noto Sans KR"/>
                <a:ea typeface="Noto Sans KR"/>
                <a:cs typeface="Noto Sans KR"/>
              </a:rPr>
              <a:t>대당 손 2개 (Goldman Sachs, 2026.8)</a:t>
            </a:r>
          </a:p>
        </p:txBody>
      </p:sp>
      <p:sp>
        <p:nvSpPr>
          <p:cNvPr id="35" name="TextBox 34"/>
          <p:cNvSpPr txBox="1"/>
          <p:nvPr/>
        </p:nvSpPr>
        <p:spPr>
          <a:xfrm>
            <a:off x="548640" y="4800600"/>
            <a:ext cx="5486400" cy="237744"/>
          </a:xfrm>
          <a:prstGeom prst="rect">
            <a:avLst/>
          </a:prstGeom>
          <a:noFill/>
        </p:spPr>
        <p:txBody>
          <a:bodyPr wrap="square" lIns="0" rIns="0" tIns="0" bIns="0" anchor="t">
            <a:noAutofit/>
          </a:bodyPr>
          <a:lstStyle/>
          <a:p>
            <a:pPr algn="l">
              <a:lnSpc>
                <a:spcPct val="112000"/>
              </a:lnSpc>
            </a:pPr>
            <a:r>
              <a:rPr sz="1000" b="0" i="0" spc="120">
                <a:solidFill>
                  <a:srgbClr val="EC7A3C"/>
                </a:solidFill>
                <a:latin typeface="Noto Sans KR SemiBold"/>
                <a:ea typeface="Noto Sans KR SemiBold"/>
                <a:cs typeface="Noto Sans KR SemiBold"/>
              </a:rPr>
              <a:t>LAND &amp; EXPAND</a:t>
            </a:r>
          </a:p>
        </p:txBody>
      </p:sp>
      <p:sp>
        <p:nvSpPr>
          <p:cNvPr id="36" name="Phase 1"/>
          <p:cNvSpPr/>
          <p:nvPr/>
        </p:nvSpPr>
        <p:spPr>
          <a:xfrm>
            <a:off x="548640" y="5074920"/>
            <a:ext cx="1727149"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spc="30">
                <a:solidFill>
                  <a:srgbClr val="F2F2EF"/>
                </a:solidFill>
                <a:latin typeface="Noto Sans KR SemiBold"/>
                <a:ea typeface="Noto Sans KR SemiBold"/>
                <a:cs typeface="Noto Sans KR SemiBold"/>
              </a:rPr>
              <a:t>PHASE 1
1 Hand · 3 Approved Tasks</a:t>
            </a:r>
          </a:p>
        </p:txBody>
      </p:sp>
      <p:sp>
        <p:nvSpPr>
          <p:cNvPr id="37" name="Isosceles Triangle 36"/>
          <p:cNvSpPr/>
          <p:nvPr/>
        </p:nvSpPr>
        <p:spPr>
          <a:xfrm rot="5400000">
            <a:off x="2307793" y="53172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8" name="Phase 2"/>
          <p:cNvSpPr/>
          <p:nvPr/>
        </p:nvSpPr>
        <p:spPr>
          <a:xfrm>
            <a:off x="2422093" y="5074920"/>
            <a:ext cx="1727149"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spc="30">
                <a:solidFill>
                  <a:srgbClr val="F2F2EF"/>
                </a:solidFill>
                <a:latin typeface="Noto Sans KR SemiBold"/>
                <a:ea typeface="Noto Sans KR SemiBold"/>
                <a:cs typeface="Noto Sans KR SemiBold"/>
              </a:rPr>
              <a:t>PHASE 2
10–20 Approved Tools</a:t>
            </a:r>
          </a:p>
        </p:txBody>
      </p:sp>
      <p:sp>
        <p:nvSpPr>
          <p:cNvPr id="39" name="Isosceles Triangle 38"/>
          <p:cNvSpPr/>
          <p:nvPr/>
        </p:nvSpPr>
        <p:spPr>
          <a:xfrm rot="5400000">
            <a:off x="4181246" y="53172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0" name="Phase 3"/>
          <p:cNvSpPr/>
          <p:nvPr/>
        </p:nvSpPr>
        <p:spPr>
          <a:xfrm>
            <a:off x="4295546" y="5074920"/>
            <a:ext cx="1727149"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spc="30">
                <a:solidFill>
                  <a:srgbClr val="F2F2EF"/>
                </a:solidFill>
                <a:latin typeface="Noto Sans KR SemiBold"/>
                <a:ea typeface="Noto Sans KR SemiBold"/>
                <a:cs typeface="Noto Sans KR SemiBold"/>
              </a:rPr>
              <a:t>PHASE 3
Multiple Industries</a:t>
            </a:r>
          </a:p>
        </p:txBody>
      </p:sp>
      <p:sp>
        <p:nvSpPr>
          <p:cNvPr id="41" name="Isosceles Triangle 40"/>
          <p:cNvSpPr/>
          <p:nvPr/>
        </p:nvSpPr>
        <p:spPr>
          <a:xfrm rot="5400000">
            <a:off x="6054699" y="53172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2" name="Phase 4"/>
          <p:cNvSpPr/>
          <p:nvPr/>
        </p:nvSpPr>
        <p:spPr>
          <a:xfrm>
            <a:off x="6168999" y="5074920"/>
            <a:ext cx="1727149"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spc="30">
                <a:solidFill>
                  <a:srgbClr val="F2F2EF"/>
                </a:solidFill>
                <a:latin typeface="Noto Sans KR SemiBold"/>
                <a:ea typeface="Noto Sans KR SemiBold"/>
                <a:cs typeface="Noto Sans KR SemiBold"/>
              </a:rPr>
              <a:t>PHASE 4
Robot OEM</a:t>
            </a:r>
          </a:p>
        </p:txBody>
      </p:sp>
      <p:sp>
        <p:nvSpPr>
          <p:cNvPr id="43" name="Isosceles Triangle 42"/>
          <p:cNvSpPr/>
          <p:nvPr/>
        </p:nvSpPr>
        <p:spPr>
          <a:xfrm rot="5400000">
            <a:off x="7928152" y="53172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4" name="Phase 5"/>
          <p:cNvSpPr/>
          <p:nvPr/>
        </p:nvSpPr>
        <p:spPr>
          <a:xfrm>
            <a:off x="8042452" y="5074920"/>
            <a:ext cx="1727149" cy="566928"/>
          </a:xfrm>
          <a:prstGeom prst="roundRect">
            <a:avLst>
              <a:gd name="adj" fmla="val 11290"/>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spc="30">
                <a:solidFill>
                  <a:srgbClr val="F2F2EF"/>
                </a:solidFill>
                <a:latin typeface="Noto Sans KR SemiBold"/>
                <a:ea typeface="Noto Sans KR SemiBold"/>
                <a:cs typeface="Noto Sans KR SemiBold"/>
              </a:rPr>
              <a:t>PHASE 5
Humanoid / Service</a:t>
            </a:r>
          </a:p>
        </p:txBody>
      </p:sp>
      <p:sp>
        <p:nvSpPr>
          <p:cNvPr id="45" name="Isosceles Triangle 44"/>
          <p:cNvSpPr/>
          <p:nvPr/>
        </p:nvSpPr>
        <p:spPr>
          <a:xfrm rot="5400000">
            <a:off x="9801606" y="5317236"/>
            <a:ext cx="82296" cy="82296"/>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6" name="Phase 6"/>
          <p:cNvSpPr/>
          <p:nvPr/>
        </p:nvSpPr>
        <p:spPr>
          <a:xfrm>
            <a:off x="9915906" y="5074920"/>
            <a:ext cx="1727149" cy="566928"/>
          </a:xfrm>
          <a:prstGeom prst="roundRect">
            <a:avLst>
              <a:gd name="adj" fmla="val 11290"/>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900" b="0" i="0" spc="30">
                <a:solidFill>
                  <a:srgbClr val="EC7A3C"/>
                </a:solidFill>
                <a:latin typeface="Noto Sans KR SemiBold"/>
                <a:ea typeface="Noto Sans KR SemiBold"/>
                <a:cs typeface="Noto Sans KR SemiBold"/>
              </a:rPr>
              <a:t>PHASE 6
Shared Skill Platform</a:t>
            </a:r>
          </a:p>
        </p:txBody>
      </p:sp>
      <p:sp>
        <p:nvSpPr>
          <p:cNvPr id="47" name="TextBox 46"/>
          <p:cNvSpPr txBox="1"/>
          <p:nvPr/>
        </p:nvSpPr>
        <p:spPr>
          <a:xfrm>
            <a:off x="548640" y="5760720"/>
            <a:ext cx="4937760" cy="384048"/>
          </a:xfrm>
          <a:prstGeom prst="rect">
            <a:avLst/>
          </a:prstGeom>
          <a:noFill/>
        </p:spPr>
        <p:txBody>
          <a:bodyPr wrap="square" lIns="0" rIns="0" tIns="0" bIns="0" anchor="ctr">
            <a:noAutofit/>
          </a:bodyPr>
          <a:lstStyle/>
          <a:p>
            <a:pPr algn="l">
              <a:lnSpc>
                <a:spcPct val="112000"/>
              </a:lnSpc>
            </a:pPr>
            <a:r>
              <a:rPr sz="1700" b="0" i="0">
                <a:solidFill>
                  <a:srgbClr val="EC7A3C"/>
                </a:solidFill>
                <a:latin typeface="Noto Sans KR Black"/>
                <a:ea typeface="Noto Sans KR Black"/>
                <a:cs typeface="Noto Sans KR Black"/>
              </a:rPr>
              <a:t>1 HAND  →  10 TOOLS  →  100 TASKS</a:t>
            </a:r>
          </a:p>
        </p:txBody>
      </p:sp>
      <p:sp>
        <p:nvSpPr>
          <p:cNvPr id="48" name="TextBox 47"/>
          <p:cNvSpPr txBox="1"/>
          <p:nvPr/>
        </p:nvSpPr>
        <p:spPr>
          <a:xfrm>
            <a:off x="5623560" y="5760720"/>
            <a:ext cx="6019495" cy="411480"/>
          </a:xfrm>
          <a:prstGeom prst="rect">
            <a:avLst/>
          </a:prstGeom>
          <a:noFill/>
        </p:spPr>
        <p:txBody>
          <a:bodyPr wrap="square" lIns="0" rIns="0" tIns="0" bIns="0" anchor="ctr">
            <a:noAutofit/>
          </a:bodyPr>
          <a:lstStyle/>
          <a:p>
            <a:pPr algn="l">
              <a:lnSpc>
                <a:spcPct val="118000"/>
              </a:lnSpc>
            </a:pPr>
            <a:r>
              <a:rPr sz="1000" b="0" i="0">
                <a:solidFill>
                  <a:srgbClr val="AEB3BB"/>
                </a:solidFill>
                <a:latin typeface="Noto Sans KR"/>
                <a:ea typeface="Noto Sans KR"/>
                <a:cs typeface="Noto Sans KR"/>
              </a:rPr>
              <a:t>시장의 상한은 Hand 판매대수가 아니라, Manipulation Layer를 적용할 수 있는 로봇 설치 기반(가동 508만 대+)이다</a:t>
            </a:r>
          </a:p>
        </p:txBody>
      </p:sp>
      <p:sp>
        <p:nvSpPr>
          <p:cNvPr id="49"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50"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14  ·  FINANCIAL &amp; GROWTH MODEL</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FROM BASE CASE TO OEM SCALE.</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Base Case가 회사를 지속가능하게 만들고, OEM Design Win이 Venture Scale을 만든다</a:t>
            </a:r>
          </a:p>
        </p:txBody>
      </p:sp>
      <p:sp>
        <p:nvSpPr>
          <p:cNvPr id="6" name="Base case card"/>
          <p:cNvSpPr/>
          <p:nvPr/>
        </p:nvSpPr>
        <p:spPr>
          <a:xfrm>
            <a:off x="548640" y="1847088"/>
            <a:ext cx="6537960" cy="4261104"/>
          </a:xfrm>
          <a:prstGeom prst="roundRect">
            <a:avLst>
              <a:gd name="adj" fmla="val 2575"/>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 name="TextBox 6"/>
          <p:cNvSpPr txBox="1"/>
          <p:nvPr/>
        </p:nvSpPr>
        <p:spPr>
          <a:xfrm>
            <a:off x="777240" y="1956816"/>
            <a:ext cx="4572000" cy="274320"/>
          </a:xfrm>
          <a:prstGeom prst="rect">
            <a:avLst/>
          </a:prstGeom>
          <a:noFill/>
        </p:spPr>
        <p:txBody>
          <a:bodyPr wrap="square" lIns="0" rIns="0" tIns="0" bIns="0" anchor="t">
            <a:noAutofit/>
          </a:bodyPr>
          <a:lstStyle/>
          <a:p>
            <a:pPr algn="l">
              <a:lnSpc>
                <a:spcPct val="112000"/>
              </a:lnSpc>
            </a:pPr>
            <a:r>
              <a:rPr sz="1050" b="0" i="0" spc="80">
                <a:solidFill>
                  <a:srgbClr val="F2F2EF"/>
                </a:solidFill>
                <a:latin typeface="Noto Sans KR Black"/>
                <a:ea typeface="Noto Sans KR Black"/>
                <a:cs typeface="Noto Sans KR Black"/>
              </a:rPr>
              <a:t>BASE CASE  ·  MANAGEMENT FORECAST (억원)</a:t>
            </a:r>
          </a:p>
        </p:txBody>
      </p:sp>
      <p:sp>
        <p:nvSpPr>
          <p:cNvPr id="8" name="Tag FORECAST"/>
          <p:cNvSpPr/>
          <p:nvPr/>
        </p:nvSpPr>
        <p:spPr>
          <a:xfrm>
            <a:off x="6141313" y="1965960"/>
            <a:ext cx="762406" cy="243840"/>
          </a:xfrm>
          <a:prstGeom prst="roundRect">
            <a:avLst>
              <a:gd name="adj" fmla="val 50000"/>
            </a:avLst>
          </a:prstGeom>
          <a:noFill/>
          <a:ln w="952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EC7A3C"/>
                </a:solidFill>
                <a:latin typeface="Noto Sans KR SemiBold"/>
                <a:ea typeface="Noto Sans KR SemiBold"/>
                <a:cs typeface="Noto Sans KR SemiBold"/>
              </a:rPr>
              <a:t>FORECAST</a:t>
            </a:r>
          </a:p>
        </p:txBody>
      </p:sp>
      <p:sp>
        <p:nvSpPr>
          <p:cNvPr id="9" name="Break-even band"/>
          <p:cNvSpPr/>
          <p:nvPr/>
        </p:nvSpPr>
        <p:spPr>
          <a:xfrm>
            <a:off x="3931920" y="2331720"/>
            <a:ext cx="1152144" cy="2514600"/>
          </a:xfrm>
          <a:prstGeom prst="roundRect">
            <a:avLst>
              <a:gd name="adj" fmla="val 3174"/>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0" name="TextBox 9"/>
          <p:cNvSpPr txBox="1"/>
          <p:nvPr/>
        </p:nvSpPr>
        <p:spPr>
          <a:xfrm>
            <a:off x="3931920" y="2359152"/>
            <a:ext cx="1152144" cy="274320"/>
          </a:xfrm>
          <a:prstGeom prst="rect">
            <a:avLst/>
          </a:prstGeom>
          <a:noFill/>
        </p:spPr>
        <p:txBody>
          <a:bodyPr wrap="square" lIns="0" rIns="0" tIns="0" bIns="0" anchor="t">
            <a:noAutofit/>
          </a:bodyPr>
          <a:lstStyle/>
          <a:p>
            <a:pPr algn="ctr">
              <a:lnSpc>
                <a:spcPct val="112000"/>
              </a:lnSpc>
            </a:pPr>
            <a:r>
              <a:rPr sz="850" b="0" i="0" spc="80">
                <a:solidFill>
                  <a:srgbClr val="EC7A3C"/>
                </a:solidFill>
                <a:latin typeface="Noto Sans KR SemiBold"/>
                <a:ea typeface="Noto Sans KR SemiBold"/>
                <a:cs typeface="Noto Sans KR SemiBold"/>
              </a:rPr>
              <a:t>BREAK-EVEN</a:t>
            </a:r>
          </a:p>
        </p:txBody>
      </p:sp>
      <p:graphicFrame>
        <p:nvGraphicFramePr>
          <p:cNvPr id="11" name="Chart base case"/>
          <p:cNvGraphicFramePr>
            <a:graphicFrameLocks noGrp="1"/>
          </p:cNvGraphicFramePr>
          <p:nvPr/>
        </p:nvGraphicFramePr>
        <p:xfrm>
          <a:off x="731520" y="2286000"/>
          <a:ext cx="6172200" cy="2697480"/>
        </p:xfrm>
        <a:graphic>
          <a:graphicData uri="http://schemas.openxmlformats.org/drawingml/2006/chart">
            <c:chart xmlns:c="http://schemas.openxmlformats.org/drawingml/2006/chart" r:id="rId2"/>
          </a:graphicData>
        </a:graphic>
      </p:graphicFrame>
      <p:sp>
        <p:nvSpPr>
          <p:cNvPr id="12" name="TextBox 11"/>
          <p:cNvSpPr txBox="1"/>
          <p:nvPr/>
        </p:nvSpPr>
        <p:spPr>
          <a:xfrm>
            <a:off x="777240" y="5029200"/>
            <a:ext cx="2194560" cy="219456"/>
          </a:xfrm>
          <a:prstGeom prst="rect">
            <a:avLst/>
          </a:prstGeom>
          <a:noFill/>
        </p:spPr>
        <p:txBody>
          <a:bodyPr wrap="square" lIns="0" rIns="0" tIns="0" bIns="0" anchor="t">
            <a:noAutofit/>
          </a:bodyPr>
          <a:lstStyle/>
          <a:p>
            <a:pPr algn="l">
              <a:lnSpc>
                <a:spcPct val="112000"/>
              </a:lnSpc>
            </a:pPr>
            <a:r>
              <a:rPr sz="850" b="0" i="0" spc="80">
                <a:solidFill>
                  <a:srgbClr val="737882"/>
                </a:solidFill>
                <a:latin typeface="Noto Sans KR SemiBold"/>
                <a:ea typeface="Noto Sans KR SemiBold"/>
                <a:cs typeface="Noto Sans KR SemiBold"/>
              </a:rPr>
              <a:t>REVENUE MIX</a:t>
            </a:r>
          </a:p>
        </p:txBody>
      </p:sp>
      <p:sp>
        <p:nvSpPr>
          <p:cNvPr id="13" name="Mix PoC"/>
          <p:cNvSpPr/>
          <p:nvPr/>
        </p:nvSpPr>
        <p:spPr>
          <a:xfrm>
            <a:off x="1078992" y="5257800"/>
            <a:ext cx="1097280" cy="310896"/>
          </a:xfrm>
          <a:prstGeom prst="roundRect">
            <a:avLst>
              <a:gd name="adj" fmla="val 17647"/>
            </a:avLst>
          </a:prstGeom>
          <a:solidFill>
            <a:srgbClr val="25292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PoC</a:t>
            </a:r>
          </a:p>
        </p:txBody>
      </p:sp>
      <p:sp>
        <p:nvSpPr>
          <p:cNvPr id="14" name="Mix HARDWARE"/>
          <p:cNvSpPr/>
          <p:nvPr/>
        </p:nvSpPr>
        <p:spPr>
          <a:xfrm>
            <a:off x="2231136" y="5257800"/>
            <a:ext cx="1097280" cy="310896"/>
          </a:xfrm>
          <a:prstGeom prst="roundRect">
            <a:avLst>
              <a:gd name="adj" fmla="val 17647"/>
            </a:avLst>
          </a:prstGeom>
          <a:solidFill>
            <a:srgbClr val="25292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HARDWARE</a:t>
            </a:r>
          </a:p>
        </p:txBody>
      </p:sp>
      <p:sp>
        <p:nvSpPr>
          <p:cNvPr id="15" name="Mix HARDWARE + SKILL"/>
          <p:cNvSpPr/>
          <p:nvPr/>
        </p:nvSpPr>
        <p:spPr>
          <a:xfrm>
            <a:off x="3383280" y="5257800"/>
            <a:ext cx="2249424" cy="310896"/>
          </a:xfrm>
          <a:prstGeom prst="roundRect">
            <a:avLst>
              <a:gd name="adj" fmla="val 17647"/>
            </a:avLst>
          </a:prstGeom>
          <a:solidFill>
            <a:srgbClr val="25292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HARDWARE + SKILL</a:t>
            </a:r>
          </a:p>
        </p:txBody>
      </p:sp>
      <p:sp>
        <p:nvSpPr>
          <p:cNvPr id="16" name="Mix SOFTWARE ↑"/>
          <p:cNvSpPr/>
          <p:nvPr/>
        </p:nvSpPr>
        <p:spPr>
          <a:xfrm>
            <a:off x="5687568" y="5257800"/>
            <a:ext cx="1097280" cy="310896"/>
          </a:xfrm>
          <a:prstGeom prst="roundRect">
            <a:avLst>
              <a:gd name="adj" fmla="val 17647"/>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EC7A3C"/>
                </a:solidFill>
                <a:latin typeface="Noto Sans KR SemiBold"/>
                <a:ea typeface="Noto Sans KR SemiBold"/>
                <a:cs typeface="Noto Sans KR SemiBold"/>
              </a:rPr>
              <a:t>SOFTWARE ↑</a:t>
            </a:r>
          </a:p>
        </p:txBody>
      </p:sp>
      <p:sp>
        <p:nvSpPr>
          <p:cNvPr id="17" name="TextBox 16"/>
          <p:cNvSpPr txBox="1"/>
          <p:nvPr/>
        </p:nvSpPr>
        <p:spPr>
          <a:xfrm>
            <a:off x="777240" y="5650992"/>
            <a:ext cx="6126480" cy="411480"/>
          </a:xfrm>
          <a:prstGeom prst="rect">
            <a:avLst/>
          </a:prstGeom>
          <a:noFill/>
        </p:spPr>
        <p:txBody>
          <a:bodyPr wrap="square" lIns="0" rIns="0" tIns="0" bIns="0" anchor="t">
            <a:noAutofit/>
          </a:bodyPr>
          <a:lstStyle/>
          <a:p>
            <a:pPr algn="l">
              <a:lnSpc>
                <a:spcPct val="120000"/>
              </a:lnSpc>
            </a:pPr>
            <a:r>
              <a:rPr sz="850" b="0" i="0">
                <a:solidFill>
                  <a:srgbClr val="737882"/>
                </a:solidFill>
                <a:latin typeface="Noto Sans KR"/>
                <a:ea typeface="Noto Sans KR"/>
                <a:cs typeface="Noto Sans KR"/>
              </a:rPr>
              <a:t>Y1~Y2 누적 영업손실 14.5억 → Seed + 18~24개월 후속 조달  ·  Y3 매출 50% 시 영업손실 8.2억(민감도)</a:t>
            </a:r>
          </a:p>
          <a:p>
            <a:pPr algn="l">
              <a:lnSpc>
                <a:spcPct val="120000"/>
              </a:lnSpc>
            </a:pPr>
            <a:r>
              <a:rPr sz="850" b="0" i="0">
                <a:solidFill>
                  <a:srgbClr val="737882"/>
                </a:solidFill>
                <a:latin typeface="Noto Sans KR"/>
                <a:ea typeface="Noto Sans KR"/>
                <a:cs typeface="Noto Sans KR"/>
              </a:rPr>
              <a:t>원본 계획 기준 · 단가·원가·판매량은 미검증 가정 · 매출 구성 상세는 Appendix A5</a:t>
            </a:r>
          </a:p>
        </p:txBody>
      </p:sp>
      <p:sp>
        <p:nvSpPr>
          <p:cNvPr id="18" name="Scale trigger card"/>
          <p:cNvSpPr/>
          <p:nvPr/>
        </p:nvSpPr>
        <p:spPr>
          <a:xfrm>
            <a:off x="7360920" y="1847088"/>
            <a:ext cx="4282135" cy="4261104"/>
          </a:xfrm>
          <a:prstGeom prst="roundRect">
            <a:avLst>
              <a:gd name="adj" fmla="val 2575"/>
            </a:avLst>
          </a:prstGeom>
          <a:solidFill>
            <a:srgbClr val="2E1D14"/>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9" name="TextBox 18"/>
          <p:cNvSpPr txBox="1"/>
          <p:nvPr/>
        </p:nvSpPr>
        <p:spPr>
          <a:xfrm>
            <a:off x="7589520" y="1956816"/>
            <a:ext cx="2910535" cy="274320"/>
          </a:xfrm>
          <a:prstGeom prst="rect">
            <a:avLst/>
          </a:prstGeom>
          <a:noFill/>
        </p:spPr>
        <p:txBody>
          <a:bodyPr wrap="square" lIns="0" rIns="0" tIns="0" bIns="0" anchor="t">
            <a:noAutofit/>
          </a:bodyPr>
          <a:lstStyle/>
          <a:p>
            <a:pPr algn="l">
              <a:lnSpc>
                <a:spcPct val="112000"/>
              </a:lnSpc>
            </a:pPr>
            <a:r>
              <a:rPr sz="1050" b="0" i="0" spc="100">
                <a:solidFill>
                  <a:srgbClr val="EC7A3C"/>
                </a:solidFill>
                <a:latin typeface="Noto Sans KR Black"/>
                <a:ea typeface="Noto Sans KR Black"/>
                <a:cs typeface="Noto Sans KR Black"/>
              </a:rPr>
              <a:t>SCALE TRIGGER</a:t>
            </a:r>
          </a:p>
        </p:txBody>
      </p:sp>
      <p:sp>
        <p:nvSpPr>
          <p:cNvPr id="20" name="Tag ILLUSTRATIVE"/>
          <p:cNvSpPr/>
          <p:nvPr/>
        </p:nvSpPr>
        <p:spPr>
          <a:xfrm>
            <a:off x="10462869" y="1965960"/>
            <a:ext cx="997305"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ILLUSTRATIVE</a:t>
            </a:r>
          </a:p>
        </p:txBody>
      </p:sp>
      <p:sp>
        <p:nvSpPr>
          <p:cNvPr id="21" name="TextBox 20"/>
          <p:cNvSpPr txBox="1"/>
          <p:nvPr/>
        </p:nvSpPr>
        <p:spPr>
          <a:xfrm>
            <a:off x="7589520" y="2267712"/>
            <a:ext cx="3916375" cy="365760"/>
          </a:xfrm>
          <a:prstGeom prst="rect">
            <a:avLst/>
          </a:prstGeom>
          <a:noFill/>
        </p:spPr>
        <p:txBody>
          <a:bodyPr wrap="square" lIns="0" rIns="0" tIns="0" bIns="0" anchor="t">
            <a:noAutofit/>
          </a:bodyPr>
          <a:lstStyle/>
          <a:p>
            <a:pPr algn="l">
              <a:lnSpc>
                <a:spcPct val="112000"/>
              </a:lnSpc>
            </a:pPr>
            <a:r>
              <a:rPr sz="1900" b="0" i="0">
                <a:solidFill>
                  <a:srgbClr val="F2F2EF"/>
                </a:solidFill>
                <a:latin typeface="Noto Sans KR Black"/>
                <a:ea typeface="Noto Sans KR Black"/>
                <a:cs typeface="Noto Sans KR Black"/>
              </a:rPr>
              <a:t>OEM DESIGN WIN</a:t>
            </a:r>
          </a:p>
        </p:txBody>
      </p:sp>
      <p:sp>
        <p:nvSpPr>
          <p:cNvPr id="22" name="TextBox 21"/>
          <p:cNvSpPr txBox="1"/>
          <p:nvPr/>
        </p:nvSpPr>
        <p:spPr>
          <a:xfrm>
            <a:off x="7589520" y="2670048"/>
            <a:ext cx="3916375" cy="457200"/>
          </a:xfrm>
          <a:prstGeom prst="rect">
            <a:avLst/>
          </a:prstGeom>
          <a:noFill/>
        </p:spPr>
        <p:txBody>
          <a:bodyPr wrap="square" lIns="0" rIns="0" tIns="0" bIns="0" anchor="t">
            <a:noAutofit/>
          </a:bodyPr>
          <a:lstStyle/>
          <a:p>
            <a:pPr algn="l">
              <a:lnSpc>
                <a:spcPct val="115000"/>
              </a:lnSpc>
            </a:pPr>
            <a:r>
              <a:rPr sz="1050" b="0" i="0">
                <a:solidFill>
                  <a:srgbClr val="F2F2EF"/>
                </a:solidFill>
                <a:latin typeface="Noto Sans KR Medium"/>
                <a:ea typeface="Noto Sans KR Medium"/>
                <a:cs typeface="Noto Sans KR Medium"/>
              </a:rPr>
              <a:t>One customer at a time  →  OEM shipment-based distribution</a:t>
            </a:r>
          </a:p>
        </p:txBody>
      </p:sp>
      <p:sp>
        <p:nvSpPr>
          <p:cNvPr id="23" name="TextBox 22"/>
          <p:cNvSpPr txBox="1"/>
          <p:nvPr/>
        </p:nvSpPr>
        <p:spPr>
          <a:xfrm>
            <a:off x="7589520" y="3127248"/>
            <a:ext cx="3916375" cy="274320"/>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글로벌 신규 로봇 설치 × OEM 옵션 채택률 × Hand 단가</a:t>
            </a:r>
          </a:p>
        </p:txBody>
      </p:sp>
      <p:graphicFrame>
        <p:nvGraphicFramePr>
          <p:cNvPr id="24" name="OEM illustrative table"/>
          <p:cNvGraphicFramePr>
            <a:graphicFrameLocks noGrp="1"/>
          </p:cNvGraphicFramePr>
          <p:nvPr/>
        </p:nvGraphicFramePr>
        <p:xfrm>
          <a:off x="7589520" y="3456432"/>
          <a:ext cx="3824934" cy="1170432"/>
        </p:xfrm>
        <a:graphic>
          <a:graphicData uri="http://schemas.openxmlformats.org/drawingml/2006/table">
            <a:tbl>
              <a:tblPr firstRow="0" bandRow="0">
                <a:tableStyleId>{5C22544A-7EE6-4342-B048-85BDC9FD1C3A}</a:tableStyleId>
              </a:tblPr>
              <a:tblGrid>
                <a:gridCol w="1325880"/>
                <a:gridCol w="1249527"/>
                <a:gridCol w="1249527"/>
              </a:tblGrid>
              <a:tr h="292608">
                <a:tc>
                  <a:txBody>
                    <a:bodyPr/>
                    <a:lstStyle/>
                    <a:p>
                      <a:pPr algn="l">
                        <a:lnSpc>
                          <a:spcPct val="105000"/>
                        </a:lnSpc>
                      </a:pPr>
                      <a:r>
                        <a:rPr sz="1000" b="0" i="0" spc="40">
                          <a:solidFill>
                            <a:srgbClr val="F2F2EF"/>
                          </a:solidFill>
                          <a:latin typeface="Noto Sans KR SemiBold"/>
                          <a:ea typeface="Noto Sans KR SemiBold"/>
                          <a:cs typeface="Noto Sans KR SemiBold"/>
                        </a:rPr>
                        <a:t>OEM 채택률</a:t>
                      </a:r>
                    </a:p>
                  </a:txBody>
                  <a:tcPr marL="73152" marR="54864" marT="27432" marB="27432" anchor="ctr">
                    <a:lnL w="9525">
                      <a:noFill/>
                    </a:lnL>
                    <a:lnR w="9525">
                      <a:noFill/>
                    </a:lnR>
                    <a:lnT w="9525">
                      <a:noFill/>
                    </a:lnT>
                    <a:lnB w="9525">
                      <a:solidFill>
                        <a:srgbClr val="3C424B"/>
                      </a:solidFill>
                    </a:lnB>
                    <a:noFill/>
                  </a:tcPr>
                </a:tc>
                <a:tc>
                  <a:txBody>
                    <a:bodyPr/>
                    <a:lstStyle/>
                    <a:p>
                      <a:pPr algn="l">
                        <a:lnSpc>
                          <a:spcPct val="105000"/>
                        </a:lnSpc>
                      </a:pPr>
                      <a:r>
                        <a:rPr sz="1000" b="0" i="0" spc="40">
                          <a:solidFill>
                            <a:srgbClr val="F2F2EF"/>
                          </a:solidFill>
                          <a:latin typeface="Noto Sans KR SemiBold"/>
                          <a:ea typeface="Noto Sans KR SemiBold"/>
                          <a:cs typeface="Noto Sans KR SemiBold"/>
                        </a:rPr>
                        <a:t>₩10M / 대</a:t>
                      </a:r>
                    </a:p>
                  </a:txBody>
                  <a:tcPr marL="73152" marR="54864" marT="27432" marB="27432" anchor="ctr">
                    <a:lnL w="9525">
                      <a:noFill/>
                    </a:lnL>
                    <a:lnR w="9525">
                      <a:noFill/>
                    </a:lnR>
                    <a:lnT w="9525">
                      <a:noFill/>
                    </a:lnT>
                    <a:lnB w="9525">
                      <a:solidFill>
                        <a:srgbClr val="3C424B"/>
                      </a:solidFill>
                    </a:lnB>
                    <a:noFill/>
                  </a:tcPr>
                </a:tc>
                <a:tc>
                  <a:txBody>
                    <a:bodyPr/>
                    <a:lstStyle/>
                    <a:p>
                      <a:pPr algn="l">
                        <a:lnSpc>
                          <a:spcPct val="105000"/>
                        </a:lnSpc>
                      </a:pPr>
                      <a:r>
                        <a:rPr sz="1000" b="0" i="0" spc="40">
                          <a:solidFill>
                            <a:srgbClr val="F2F2EF"/>
                          </a:solidFill>
                          <a:latin typeface="Noto Sans KR SemiBold"/>
                          <a:ea typeface="Noto Sans KR SemiBold"/>
                          <a:cs typeface="Noto Sans KR SemiBold"/>
                        </a:rPr>
                        <a:t>₩15M / 대</a:t>
                      </a:r>
                    </a:p>
                  </a:txBody>
                  <a:tcPr marL="73152" marR="54864" marT="27432" marB="27432" anchor="ctr">
                    <a:lnL w="9525">
                      <a:noFill/>
                    </a:lnL>
                    <a:lnR w="9525">
                      <a:noFill/>
                    </a:lnR>
                    <a:lnT w="9525">
                      <a:noFill/>
                    </a:lnT>
                    <a:lnB w="9525">
                      <a:solidFill>
                        <a:srgbClr val="3C424B"/>
                      </a:solidFill>
                    </a:lnB>
                    <a:noFill/>
                  </a:tcPr>
                </a:tc>
              </a:tr>
              <a:tr h="292608">
                <a:tc>
                  <a:txBody>
                    <a:bodyPr/>
                    <a:lstStyle/>
                    <a:p>
                      <a:pPr algn="l">
                        <a:lnSpc>
                          <a:spcPct val="108000"/>
                        </a:lnSpc>
                      </a:pPr>
                      <a:r>
                        <a:rPr sz="1050" b="0" i="0">
                          <a:solidFill>
                            <a:srgbClr val="F2F2EF"/>
                          </a:solidFill>
                          <a:latin typeface="Noto Sans KR SemiBold"/>
                          <a:ea typeface="Noto Sans KR SemiBold"/>
                          <a:cs typeface="Noto Sans KR SemiBold"/>
                        </a:rPr>
                        <a:t>0.5%</a:t>
                      </a:r>
                    </a:p>
                  </a:txBody>
                  <a:tcPr marL="73152" marR="54864" marT="27432" marB="27432" anchor="ctr">
                    <a:lnL w="9525">
                      <a:noFill/>
                    </a:lnL>
                    <a:lnR w="9525">
                      <a:noFill/>
                    </a:lnR>
                    <a:lnT w="9525">
                      <a:noFill/>
                    </a:lnT>
                    <a:lnB w="9525">
                      <a:solidFill>
                        <a:srgbClr val="3C424B"/>
                      </a:solidFill>
                    </a:lnB>
                    <a:noFill/>
                  </a:tcPr>
                </a:tc>
                <a:tc>
                  <a:txBody>
                    <a:bodyPr/>
                    <a:lstStyle/>
                    <a:p>
                      <a:pPr algn="l">
                        <a:lnSpc>
                          <a:spcPct val="108000"/>
                        </a:lnSpc>
                      </a:pPr>
                      <a:r>
                        <a:rPr sz="1050" b="0" i="0">
                          <a:solidFill>
                            <a:srgbClr val="AEB3BB"/>
                          </a:solidFill>
                          <a:latin typeface="Noto Sans KR"/>
                          <a:ea typeface="Noto Sans KR"/>
                          <a:cs typeface="Noto Sans KR"/>
                        </a:rPr>
                        <a:t>302억</a:t>
                      </a:r>
                    </a:p>
                  </a:txBody>
                  <a:tcPr marL="73152" marR="54864" marT="27432" marB="27432" anchor="ctr">
                    <a:lnL w="9525">
                      <a:noFill/>
                    </a:lnL>
                    <a:lnR w="9525">
                      <a:noFill/>
                    </a:lnR>
                    <a:lnT w="9525">
                      <a:noFill/>
                    </a:lnT>
                    <a:lnB w="9525">
                      <a:solidFill>
                        <a:srgbClr val="3C424B"/>
                      </a:solidFill>
                    </a:lnB>
                    <a:noFill/>
                  </a:tcPr>
                </a:tc>
                <a:tc>
                  <a:txBody>
                    <a:bodyPr/>
                    <a:lstStyle/>
                    <a:p>
                      <a:pPr algn="l">
                        <a:lnSpc>
                          <a:spcPct val="108000"/>
                        </a:lnSpc>
                      </a:pPr>
                      <a:r>
                        <a:rPr sz="1050" b="0" i="0">
                          <a:solidFill>
                            <a:srgbClr val="AEB3BB"/>
                          </a:solidFill>
                          <a:latin typeface="Noto Sans KR"/>
                          <a:ea typeface="Noto Sans KR"/>
                          <a:cs typeface="Noto Sans KR"/>
                        </a:rPr>
                        <a:t>453억</a:t>
                      </a:r>
                    </a:p>
                  </a:txBody>
                  <a:tcPr marL="73152" marR="54864" marT="27432" marB="27432" anchor="ctr">
                    <a:lnL w="9525">
                      <a:noFill/>
                    </a:lnL>
                    <a:lnR w="9525">
                      <a:noFill/>
                    </a:lnR>
                    <a:lnT w="9525">
                      <a:noFill/>
                    </a:lnT>
                    <a:lnB w="9525">
                      <a:solidFill>
                        <a:srgbClr val="3C424B"/>
                      </a:solidFill>
                    </a:lnB>
                    <a:noFill/>
                  </a:tcPr>
                </a:tc>
              </a:tr>
              <a:tr h="292608">
                <a:tc>
                  <a:txBody>
                    <a:bodyPr/>
                    <a:lstStyle/>
                    <a:p>
                      <a:pPr algn="l">
                        <a:lnSpc>
                          <a:spcPct val="108000"/>
                        </a:lnSpc>
                      </a:pPr>
                      <a:r>
                        <a:rPr sz="1050" b="0" i="0">
                          <a:solidFill>
                            <a:srgbClr val="F2F2EF"/>
                          </a:solidFill>
                          <a:latin typeface="Noto Sans KR SemiBold"/>
                          <a:ea typeface="Noto Sans KR SemiBold"/>
                          <a:cs typeface="Noto Sans KR SemiBold"/>
                        </a:rPr>
                        <a:t>1%</a:t>
                      </a:r>
                    </a:p>
                  </a:txBody>
                  <a:tcPr marL="73152" marR="54864" marT="27432" marB="27432" anchor="ctr">
                    <a:lnL w="9525">
                      <a:noFill/>
                    </a:lnL>
                    <a:lnR w="9525">
                      <a:noFill/>
                    </a:lnR>
                    <a:lnT w="9525">
                      <a:noFill/>
                    </a:lnT>
                    <a:lnB w="9525">
                      <a:solidFill>
                        <a:srgbClr val="3C424B"/>
                      </a:solidFill>
                    </a:lnB>
                    <a:noFill/>
                  </a:tcPr>
                </a:tc>
                <a:tc>
                  <a:txBody>
                    <a:bodyPr/>
                    <a:lstStyle/>
                    <a:p>
                      <a:pPr algn="l">
                        <a:lnSpc>
                          <a:spcPct val="108000"/>
                        </a:lnSpc>
                      </a:pPr>
                      <a:r>
                        <a:rPr sz="1050" b="0" i="0">
                          <a:solidFill>
                            <a:srgbClr val="AEB3BB"/>
                          </a:solidFill>
                          <a:latin typeface="Noto Sans KR"/>
                          <a:ea typeface="Noto Sans KR"/>
                          <a:cs typeface="Noto Sans KR"/>
                        </a:rPr>
                        <a:t>603억</a:t>
                      </a:r>
                    </a:p>
                  </a:txBody>
                  <a:tcPr marL="73152" marR="54864" marT="27432" marB="27432" anchor="ctr">
                    <a:lnL w="9525">
                      <a:noFill/>
                    </a:lnL>
                    <a:lnR w="9525">
                      <a:noFill/>
                    </a:lnR>
                    <a:lnT w="9525">
                      <a:noFill/>
                    </a:lnT>
                    <a:lnB w="9525">
                      <a:solidFill>
                        <a:srgbClr val="3C424B"/>
                      </a:solidFill>
                    </a:lnB>
                    <a:noFill/>
                  </a:tcPr>
                </a:tc>
                <a:tc>
                  <a:txBody>
                    <a:bodyPr/>
                    <a:lstStyle/>
                    <a:p>
                      <a:pPr algn="l">
                        <a:lnSpc>
                          <a:spcPct val="108000"/>
                        </a:lnSpc>
                      </a:pPr>
                      <a:r>
                        <a:rPr sz="1050" b="0" i="0">
                          <a:solidFill>
                            <a:srgbClr val="AEB3BB"/>
                          </a:solidFill>
                          <a:latin typeface="Noto Sans KR"/>
                          <a:ea typeface="Noto Sans KR"/>
                          <a:cs typeface="Noto Sans KR"/>
                        </a:rPr>
                        <a:t>905억</a:t>
                      </a:r>
                    </a:p>
                  </a:txBody>
                  <a:tcPr marL="73152" marR="54864" marT="27432" marB="27432" anchor="ctr">
                    <a:lnL w="9525">
                      <a:noFill/>
                    </a:lnL>
                    <a:lnR w="9525">
                      <a:noFill/>
                    </a:lnR>
                    <a:lnT w="9525">
                      <a:noFill/>
                    </a:lnT>
                    <a:lnB w="9525">
                      <a:solidFill>
                        <a:srgbClr val="3C424B"/>
                      </a:solidFill>
                    </a:lnB>
                    <a:noFill/>
                  </a:tcPr>
                </a:tc>
              </a:tr>
              <a:tr h="292608">
                <a:tc>
                  <a:txBody>
                    <a:bodyPr/>
                    <a:lstStyle/>
                    <a:p>
                      <a:pPr algn="l">
                        <a:lnSpc>
                          <a:spcPct val="108000"/>
                        </a:lnSpc>
                      </a:pPr>
                      <a:r>
                        <a:rPr sz="1050" b="0" i="0">
                          <a:solidFill>
                            <a:srgbClr val="F2F2EF"/>
                          </a:solidFill>
                          <a:latin typeface="Noto Sans KR SemiBold"/>
                          <a:ea typeface="Noto Sans KR SemiBold"/>
                          <a:cs typeface="Noto Sans KR SemiBold"/>
                        </a:rPr>
                        <a:t>2%</a:t>
                      </a:r>
                    </a:p>
                  </a:txBody>
                  <a:tcPr marL="73152" marR="54864" marT="27432" marB="27432" anchor="ctr">
                    <a:lnL w="9525">
                      <a:noFill/>
                    </a:lnL>
                    <a:lnR w="9525">
                      <a:noFill/>
                    </a:lnR>
                    <a:lnT w="9525">
                      <a:noFill/>
                    </a:lnT>
                    <a:lnB w="9525">
                      <a:solidFill>
                        <a:srgbClr val="3C424B"/>
                      </a:solidFill>
                    </a:lnB>
                    <a:noFill/>
                  </a:tcPr>
                </a:tc>
                <a:tc>
                  <a:txBody>
                    <a:bodyPr/>
                    <a:lstStyle/>
                    <a:p>
                      <a:pPr algn="l">
                        <a:lnSpc>
                          <a:spcPct val="108000"/>
                        </a:lnSpc>
                      </a:pPr>
                      <a:r>
                        <a:rPr sz="1050" b="0" i="0">
                          <a:solidFill>
                            <a:srgbClr val="AEB3BB"/>
                          </a:solidFill>
                          <a:latin typeface="Noto Sans KR"/>
                          <a:ea typeface="Noto Sans KR"/>
                          <a:cs typeface="Noto Sans KR"/>
                        </a:rPr>
                        <a:t>1,207억</a:t>
                      </a:r>
                    </a:p>
                  </a:txBody>
                  <a:tcPr marL="73152" marR="54864" marT="27432" marB="27432" anchor="ctr">
                    <a:lnL w="9525">
                      <a:noFill/>
                    </a:lnL>
                    <a:lnR w="9525">
                      <a:noFill/>
                    </a:lnR>
                    <a:lnT w="9525">
                      <a:noFill/>
                    </a:lnT>
                    <a:lnB w="9525">
                      <a:solidFill>
                        <a:srgbClr val="3C424B"/>
                      </a:solidFill>
                    </a:lnB>
                    <a:noFill/>
                  </a:tcPr>
                </a:tc>
                <a:tc>
                  <a:txBody>
                    <a:bodyPr/>
                    <a:lstStyle/>
                    <a:p>
                      <a:pPr algn="l">
                        <a:lnSpc>
                          <a:spcPct val="108000"/>
                        </a:lnSpc>
                      </a:pPr>
                      <a:r>
                        <a:rPr sz="1050" b="0" i="0">
                          <a:solidFill>
                            <a:srgbClr val="AEB3BB"/>
                          </a:solidFill>
                          <a:latin typeface="Noto Sans KR"/>
                          <a:ea typeface="Noto Sans KR"/>
                          <a:cs typeface="Noto Sans KR"/>
                        </a:rPr>
                        <a:t>1,810억</a:t>
                      </a:r>
                    </a:p>
                  </a:txBody>
                  <a:tcPr marL="73152" marR="54864" marT="27432" marB="27432" anchor="ctr">
                    <a:lnL w="9525">
                      <a:noFill/>
                    </a:lnL>
                    <a:lnR w="9525">
                      <a:noFill/>
                    </a:lnR>
                    <a:lnT w="9525">
                      <a:noFill/>
                    </a:lnT>
                    <a:lnB w="9525">
                      <a:solidFill>
                        <a:srgbClr val="3C424B"/>
                      </a:solidFill>
                    </a:lnB>
                    <a:noFill/>
                  </a:tcPr>
                </a:tc>
              </a:tr>
            </a:tbl>
          </a:graphicData>
        </a:graphic>
      </p:graphicFrame>
      <p:sp>
        <p:nvSpPr>
          <p:cNvPr id="25" name="TextBox 24"/>
          <p:cNvSpPr txBox="1"/>
          <p:nvPr/>
        </p:nvSpPr>
        <p:spPr>
          <a:xfrm>
            <a:off x="7589520" y="4709160"/>
            <a:ext cx="3916375" cy="566928"/>
          </a:xfrm>
          <a:prstGeom prst="rect">
            <a:avLst/>
          </a:prstGeom>
          <a:noFill/>
        </p:spPr>
        <p:txBody>
          <a:bodyPr wrap="square" lIns="0" rIns="0" tIns="0" bIns="0" anchor="t">
            <a:noAutofit/>
          </a:bodyPr>
          <a:lstStyle/>
          <a:p>
            <a:pPr algn="l">
              <a:lnSpc>
                <a:spcPct val="118000"/>
              </a:lnSpc>
            </a:pPr>
            <a:r>
              <a:rPr sz="850" b="0" i="0">
                <a:solidFill>
                  <a:srgbClr val="737882"/>
                </a:solidFill>
                <a:latin typeface="Noto Sans KR"/>
                <a:ea typeface="Noto Sans KR"/>
                <a:cs typeface="Noto Sans KR"/>
              </a:rPr>
              <a:t>기준: IFR 2025 신규 설치 603,307대 · 연간 Hand 매출 단순 계산 · 예측·계획 아님 · OEM 단가는 직판가보다 낮을 수 있음 · SW 반복매출 별도</a:t>
            </a:r>
          </a:p>
        </p:txBody>
      </p:sp>
      <p:sp>
        <p:nvSpPr>
          <p:cNvPr id="26" name="TextBox 25"/>
          <p:cNvSpPr txBox="1"/>
          <p:nvPr/>
        </p:nvSpPr>
        <p:spPr>
          <a:xfrm>
            <a:off x="7589520" y="5376672"/>
            <a:ext cx="3916375" cy="640080"/>
          </a:xfrm>
          <a:prstGeom prst="rect">
            <a:avLst/>
          </a:prstGeom>
          <a:noFill/>
        </p:spPr>
        <p:txBody>
          <a:bodyPr wrap="square" lIns="0" rIns="0" tIns="0" bIns="0" anchor="t">
            <a:noAutofit/>
          </a:bodyPr>
          <a:lstStyle/>
          <a:p>
            <a:pPr algn="l">
              <a:lnSpc>
                <a:spcPct val="115000"/>
              </a:lnSpc>
            </a:pPr>
            <a:r>
              <a:rPr sz="1050" b="0" i="0">
                <a:solidFill>
                  <a:srgbClr val="F2F2EF"/>
                </a:solidFill>
                <a:latin typeface="Noto Sans KR SemiBold"/>
                <a:ea typeface="Noto Sans KR SemiBold"/>
                <a:cs typeface="Noto Sans KR SemiBold"/>
              </a:rPr>
              <a:t>₩100억 Base Case → ₩1,000억+ 구조로 가는 사건</a:t>
            </a:r>
          </a:p>
          <a:p>
            <a:pPr algn="l">
              <a:lnSpc>
                <a:spcPct val="115000"/>
              </a:lnSpc>
            </a:pPr>
            <a:r>
              <a:rPr sz="1300" b="0" i="0">
                <a:solidFill>
                  <a:srgbClr val="EC7A3C"/>
                </a:solidFill>
                <a:latin typeface="Noto Sans KR Black"/>
                <a:ea typeface="Noto Sans KR Black"/>
                <a:cs typeface="Noto Sans KR Black"/>
              </a:rPr>
              <a:t>= OEM ADOPTION</a:t>
            </a:r>
          </a:p>
        </p:txBody>
      </p:sp>
      <p:sp>
        <p:nvSpPr>
          <p:cNvPr id="27"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28"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15  ·  RISK-REDUCTION ROADMAP</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24 MONTHS TO COMMERCIAL PROOF.</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24개월의 목표는 '기술개발 완료'가 아니라 'Commercial Validation'이다</a:t>
            </a:r>
          </a:p>
        </p:txBody>
      </p:sp>
      <p:sp>
        <p:nvSpPr>
          <p:cNvPr id="6" name="Tag SEED MILESTONES"/>
          <p:cNvSpPr/>
          <p:nvPr/>
        </p:nvSpPr>
        <p:spPr>
          <a:xfrm>
            <a:off x="10469575" y="365760"/>
            <a:ext cx="1173480" cy="243840"/>
          </a:xfrm>
          <a:prstGeom prst="roundRect">
            <a:avLst>
              <a:gd name="adj" fmla="val 50000"/>
            </a:avLst>
          </a:prstGeom>
          <a:noFill/>
          <a:ln w="952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EC7A3C"/>
                </a:solidFill>
                <a:latin typeface="Noto Sans KR SemiBold"/>
                <a:ea typeface="Noto Sans KR SemiBold"/>
                <a:cs typeface="Noto Sans KR SemiBold"/>
              </a:rPr>
              <a:t>SEED MILESTONES</a:t>
            </a:r>
          </a:p>
        </p:txBody>
      </p:sp>
      <p:cxnSp>
        <p:nvCxnSpPr>
          <p:cNvPr id="7" name="Timeline"/>
          <p:cNvCxnSpPr/>
          <p:nvPr/>
        </p:nvCxnSpPr>
        <p:spPr>
          <a:xfrm>
            <a:off x="548640" y="1938528"/>
            <a:ext cx="11094415" cy="0"/>
          </a:xfrm>
          <a:prstGeom prst="line">
            <a:avLst/>
          </a:prstGeom>
          <a:ln w="15875">
            <a:solidFill>
              <a:srgbClr val="3C42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89203" y="1879092"/>
            <a:ext cx="118872" cy="118872"/>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9" name="TextBox 8"/>
          <p:cNvSpPr txBox="1"/>
          <p:nvPr/>
        </p:nvSpPr>
        <p:spPr>
          <a:xfrm>
            <a:off x="91439" y="1700784"/>
            <a:ext cx="914400" cy="201168"/>
          </a:xfrm>
          <a:prstGeom prst="rect">
            <a:avLst/>
          </a:prstGeom>
          <a:noFill/>
        </p:spPr>
        <p:txBody>
          <a:bodyPr wrap="square" lIns="0" rIns="0" tIns="0" bIns="0" anchor="t">
            <a:noAutofit/>
          </a:bodyPr>
          <a:lstStyle/>
          <a:p>
            <a:pPr algn="ctr">
              <a:lnSpc>
                <a:spcPct val="112000"/>
              </a:lnSpc>
            </a:pPr>
            <a:r>
              <a:rPr sz="900" b="0" i="0">
                <a:solidFill>
                  <a:srgbClr val="AEB3BB"/>
                </a:solidFill>
                <a:latin typeface="Noto Sans KR SemiBold"/>
                <a:ea typeface="Noto Sans KR SemiBold"/>
                <a:cs typeface="Noto Sans KR SemiBold"/>
              </a:rPr>
              <a:t>M0</a:t>
            </a:r>
          </a:p>
        </p:txBody>
      </p:sp>
      <p:sp>
        <p:nvSpPr>
          <p:cNvPr id="10" name="Oval 9"/>
          <p:cNvSpPr/>
          <p:nvPr/>
        </p:nvSpPr>
        <p:spPr>
          <a:xfrm>
            <a:off x="3217087" y="1879092"/>
            <a:ext cx="118872" cy="118872"/>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1" name="TextBox 10"/>
          <p:cNvSpPr txBox="1"/>
          <p:nvPr/>
        </p:nvSpPr>
        <p:spPr>
          <a:xfrm>
            <a:off x="2819323" y="1700784"/>
            <a:ext cx="914400" cy="201168"/>
          </a:xfrm>
          <a:prstGeom prst="rect">
            <a:avLst/>
          </a:prstGeom>
          <a:noFill/>
        </p:spPr>
        <p:txBody>
          <a:bodyPr wrap="square" lIns="0" rIns="0" tIns="0" bIns="0" anchor="t">
            <a:noAutofit/>
          </a:bodyPr>
          <a:lstStyle/>
          <a:p>
            <a:pPr algn="ctr">
              <a:lnSpc>
                <a:spcPct val="112000"/>
              </a:lnSpc>
            </a:pPr>
            <a:r>
              <a:rPr sz="900" b="0" i="0">
                <a:solidFill>
                  <a:srgbClr val="AEB3BB"/>
                </a:solidFill>
                <a:latin typeface="Noto Sans KR SemiBold"/>
                <a:ea typeface="Noto Sans KR SemiBold"/>
                <a:cs typeface="Noto Sans KR SemiBold"/>
              </a:rPr>
              <a:t>M6</a:t>
            </a:r>
          </a:p>
        </p:txBody>
      </p:sp>
      <p:sp>
        <p:nvSpPr>
          <p:cNvPr id="12" name="Oval 11"/>
          <p:cNvSpPr/>
          <p:nvPr/>
        </p:nvSpPr>
        <p:spPr>
          <a:xfrm>
            <a:off x="6036411" y="1879092"/>
            <a:ext cx="118872" cy="118872"/>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3" name="TextBox 12"/>
          <p:cNvSpPr txBox="1"/>
          <p:nvPr/>
        </p:nvSpPr>
        <p:spPr>
          <a:xfrm>
            <a:off x="5638647" y="1700784"/>
            <a:ext cx="914400" cy="201168"/>
          </a:xfrm>
          <a:prstGeom prst="rect">
            <a:avLst/>
          </a:prstGeom>
          <a:noFill/>
        </p:spPr>
        <p:txBody>
          <a:bodyPr wrap="square" lIns="0" rIns="0" tIns="0" bIns="0" anchor="t">
            <a:noAutofit/>
          </a:bodyPr>
          <a:lstStyle/>
          <a:p>
            <a:pPr algn="ctr">
              <a:lnSpc>
                <a:spcPct val="112000"/>
              </a:lnSpc>
            </a:pPr>
            <a:r>
              <a:rPr sz="900" b="0" i="0">
                <a:solidFill>
                  <a:srgbClr val="AEB3BB"/>
                </a:solidFill>
                <a:latin typeface="Noto Sans KR SemiBold"/>
                <a:ea typeface="Noto Sans KR SemiBold"/>
                <a:cs typeface="Noto Sans KR SemiBold"/>
              </a:rPr>
              <a:t>M12</a:t>
            </a:r>
          </a:p>
        </p:txBody>
      </p:sp>
      <p:sp>
        <p:nvSpPr>
          <p:cNvPr id="14" name="Oval 13"/>
          <p:cNvSpPr/>
          <p:nvPr/>
        </p:nvSpPr>
        <p:spPr>
          <a:xfrm>
            <a:off x="8855735" y="1879092"/>
            <a:ext cx="118872" cy="118872"/>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5" name="TextBox 14"/>
          <p:cNvSpPr txBox="1"/>
          <p:nvPr/>
        </p:nvSpPr>
        <p:spPr>
          <a:xfrm>
            <a:off x="8457971" y="1700784"/>
            <a:ext cx="914400" cy="201168"/>
          </a:xfrm>
          <a:prstGeom prst="rect">
            <a:avLst/>
          </a:prstGeom>
          <a:noFill/>
        </p:spPr>
        <p:txBody>
          <a:bodyPr wrap="square" lIns="0" rIns="0" tIns="0" bIns="0" anchor="t">
            <a:noAutofit/>
          </a:bodyPr>
          <a:lstStyle/>
          <a:p>
            <a:pPr algn="ctr">
              <a:lnSpc>
                <a:spcPct val="112000"/>
              </a:lnSpc>
            </a:pPr>
            <a:r>
              <a:rPr sz="900" b="0" i="0">
                <a:solidFill>
                  <a:srgbClr val="AEB3BB"/>
                </a:solidFill>
                <a:latin typeface="Noto Sans KR SemiBold"/>
                <a:ea typeface="Noto Sans KR SemiBold"/>
                <a:cs typeface="Noto Sans KR SemiBold"/>
              </a:rPr>
              <a:t>M18</a:t>
            </a:r>
          </a:p>
        </p:txBody>
      </p:sp>
      <p:sp>
        <p:nvSpPr>
          <p:cNvPr id="16" name="Oval 15"/>
          <p:cNvSpPr/>
          <p:nvPr/>
        </p:nvSpPr>
        <p:spPr>
          <a:xfrm>
            <a:off x="11583619" y="1879092"/>
            <a:ext cx="118872" cy="118872"/>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7" name="TextBox 16"/>
          <p:cNvSpPr txBox="1"/>
          <p:nvPr/>
        </p:nvSpPr>
        <p:spPr>
          <a:xfrm>
            <a:off x="11185855" y="1700784"/>
            <a:ext cx="914400" cy="201168"/>
          </a:xfrm>
          <a:prstGeom prst="rect">
            <a:avLst/>
          </a:prstGeom>
          <a:noFill/>
        </p:spPr>
        <p:txBody>
          <a:bodyPr wrap="square" lIns="0" rIns="0" tIns="0" bIns="0" anchor="t">
            <a:noAutofit/>
          </a:bodyPr>
          <a:lstStyle/>
          <a:p>
            <a:pPr algn="ctr">
              <a:lnSpc>
                <a:spcPct val="112000"/>
              </a:lnSpc>
            </a:pPr>
            <a:r>
              <a:rPr sz="900" b="0" i="0">
                <a:solidFill>
                  <a:srgbClr val="AEB3BB"/>
                </a:solidFill>
                <a:latin typeface="Noto Sans KR SemiBold"/>
                <a:ea typeface="Noto Sans KR SemiBold"/>
                <a:cs typeface="Noto Sans KR SemiBold"/>
              </a:rPr>
              <a:t>M24</a:t>
            </a:r>
          </a:p>
        </p:txBody>
      </p:sp>
      <p:sp>
        <p:nvSpPr>
          <p:cNvPr id="18" name="Phase M0–M6"/>
          <p:cNvSpPr/>
          <p:nvPr/>
        </p:nvSpPr>
        <p:spPr>
          <a:xfrm>
            <a:off x="548640" y="2194560"/>
            <a:ext cx="2636443" cy="3520440"/>
          </a:xfrm>
          <a:prstGeom prst="roundRect">
            <a:avLst>
              <a:gd name="adj" fmla="val 4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9" name="TextBox 18"/>
          <p:cNvSpPr txBox="1"/>
          <p:nvPr/>
        </p:nvSpPr>
        <p:spPr>
          <a:xfrm>
            <a:off x="749808" y="2304288"/>
            <a:ext cx="2270683" cy="219456"/>
          </a:xfrm>
          <a:prstGeom prst="rect">
            <a:avLst/>
          </a:prstGeom>
          <a:noFill/>
        </p:spPr>
        <p:txBody>
          <a:bodyPr wrap="square" lIns="0" rIns="0" tIns="0" bIns="0" anchor="t">
            <a:noAutofit/>
          </a:bodyPr>
          <a:lstStyle/>
          <a:p>
            <a:pPr algn="l">
              <a:lnSpc>
                <a:spcPct val="112000"/>
              </a:lnSpc>
            </a:pPr>
            <a:r>
              <a:rPr sz="950" b="0" i="0" spc="100">
                <a:solidFill>
                  <a:srgbClr val="EC7A3C"/>
                </a:solidFill>
                <a:latin typeface="Noto Sans KR SemiBold"/>
                <a:ea typeface="Noto Sans KR SemiBold"/>
                <a:cs typeface="Noto Sans KR SemiBold"/>
              </a:rPr>
              <a:t>M0–M6</a:t>
            </a:r>
          </a:p>
        </p:txBody>
      </p:sp>
      <p:sp>
        <p:nvSpPr>
          <p:cNvPr id="20" name="TextBox 19"/>
          <p:cNvSpPr txBox="1"/>
          <p:nvPr/>
        </p:nvSpPr>
        <p:spPr>
          <a:xfrm>
            <a:off x="749808" y="2560320"/>
            <a:ext cx="2316403" cy="713232"/>
          </a:xfrm>
          <a:prstGeom prst="rect">
            <a:avLst/>
          </a:prstGeom>
          <a:noFill/>
        </p:spPr>
        <p:txBody>
          <a:bodyPr wrap="square" lIns="0" rIns="0" tIns="0" bIns="0" anchor="t">
            <a:noAutofit/>
          </a:bodyPr>
          <a:lstStyle/>
          <a:p>
            <a:pPr algn="l">
              <a:lnSpc>
                <a:spcPct val="100000"/>
              </a:lnSpc>
            </a:pPr>
            <a:r>
              <a:rPr sz="1600" b="0" i="0">
                <a:solidFill>
                  <a:srgbClr val="F2F2EF"/>
                </a:solidFill>
                <a:latin typeface="Noto Sans KR Black"/>
                <a:ea typeface="Noto Sans KR Black"/>
                <a:cs typeface="Noto Sans KR Black"/>
              </a:rPr>
              <a:t>DOES IT</a:t>
            </a:r>
          </a:p>
          <a:p>
            <a:pPr algn="l">
              <a:lnSpc>
                <a:spcPct val="100000"/>
              </a:lnSpc>
            </a:pPr>
            <a:r>
              <a:rPr sz="1600" b="0" i="0">
                <a:solidFill>
                  <a:srgbClr val="F2F2EF"/>
                </a:solidFill>
                <a:latin typeface="Noto Sans KR Black"/>
                <a:ea typeface="Noto Sans KR Black"/>
                <a:cs typeface="Noto Sans KR Black"/>
              </a:rPr>
              <a:t>WORK?</a:t>
            </a:r>
          </a:p>
        </p:txBody>
      </p:sp>
      <p:sp>
        <p:nvSpPr>
          <p:cNvPr id="21" name="Oval 20"/>
          <p:cNvSpPr/>
          <p:nvPr/>
        </p:nvSpPr>
        <p:spPr>
          <a:xfrm>
            <a:off x="777240" y="3483864"/>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2" name="TextBox 21"/>
          <p:cNvSpPr txBox="1"/>
          <p:nvPr/>
        </p:nvSpPr>
        <p:spPr>
          <a:xfrm>
            <a:off x="932688" y="3401568"/>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법인 설립 · 핵심 인력 합류</a:t>
            </a:r>
          </a:p>
        </p:txBody>
      </p:sp>
      <p:sp>
        <p:nvSpPr>
          <p:cNvPr id="23" name="Oval 22"/>
          <p:cNvSpPr/>
          <p:nvPr/>
        </p:nvSpPr>
        <p:spPr>
          <a:xfrm>
            <a:off x="777240" y="3767328"/>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4" name="TextBox 23"/>
          <p:cNvSpPr txBox="1"/>
          <p:nvPr/>
        </p:nvSpPr>
        <p:spPr>
          <a:xfrm>
            <a:off x="932688" y="3685032"/>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고객 인터뷰 30곳</a:t>
            </a:r>
          </a:p>
        </p:txBody>
      </p:sp>
      <p:sp>
        <p:nvSpPr>
          <p:cNvPr id="25" name="Oval 24"/>
          <p:cNvSpPr/>
          <p:nvPr/>
        </p:nvSpPr>
        <p:spPr>
          <a:xfrm>
            <a:off x="777240" y="4050791"/>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6" name="TextBox 25"/>
          <p:cNvSpPr txBox="1"/>
          <p:nvPr/>
        </p:nvSpPr>
        <p:spPr>
          <a:xfrm>
            <a:off x="932688" y="3968496"/>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SoftHand-4 Alpha</a:t>
            </a:r>
          </a:p>
        </p:txBody>
      </p:sp>
      <p:sp>
        <p:nvSpPr>
          <p:cNvPr id="27" name="Oval 26"/>
          <p:cNvSpPr/>
          <p:nvPr/>
        </p:nvSpPr>
        <p:spPr>
          <a:xfrm>
            <a:off x="777240" y="4334256"/>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8" name="TextBox 27"/>
          <p:cNvSpPr txBox="1"/>
          <p:nvPr/>
        </p:nvSpPr>
        <p:spPr>
          <a:xfrm>
            <a:off x="932688" y="4251960"/>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대표 Task 3개 시연</a:t>
            </a:r>
          </a:p>
        </p:txBody>
      </p:sp>
      <p:sp>
        <p:nvSpPr>
          <p:cNvPr id="29" name="Oval 28"/>
          <p:cNvSpPr/>
          <p:nvPr/>
        </p:nvSpPr>
        <p:spPr>
          <a:xfrm>
            <a:off x="777240" y="4617720"/>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0" name="TextBox 29"/>
          <p:cNvSpPr txBox="1"/>
          <p:nvPr/>
        </p:nvSpPr>
        <p:spPr>
          <a:xfrm>
            <a:off x="932688" y="4535424"/>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Robot 플랫폼 2종 통합</a:t>
            </a:r>
          </a:p>
        </p:txBody>
      </p:sp>
      <p:sp>
        <p:nvSpPr>
          <p:cNvPr id="31" name="Oval 30"/>
          <p:cNvSpPr/>
          <p:nvPr/>
        </p:nvSpPr>
        <p:spPr>
          <a:xfrm>
            <a:off x="777240" y="4901184"/>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2" name="TextBox 31"/>
          <p:cNvSpPr txBox="1"/>
          <p:nvPr/>
        </p:nvSpPr>
        <p:spPr>
          <a:xfrm>
            <a:off x="932688" y="4818888"/>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반복실험 Log</a:t>
            </a:r>
          </a:p>
        </p:txBody>
      </p:sp>
      <p:cxnSp>
        <p:nvCxnSpPr>
          <p:cNvPr id="33" name="Connector 32"/>
          <p:cNvCxnSpPr/>
          <p:nvPr/>
        </p:nvCxnSpPr>
        <p:spPr>
          <a:xfrm>
            <a:off x="749808" y="5138928"/>
            <a:ext cx="2234107" cy="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49808" y="5212080"/>
            <a:ext cx="2270683" cy="201168"/>
          </a:xfrm>
          <a:prstGeom prst="rect">
            <a:avLst/>
          </a:prstGeom>
          <a:noFill/>
        </p:spPr>
        <p:txBody>
          <a:bodyPr wrap="square" lIns="0" rIns="0" tIns="0" bIns="0" anchor="t">
            <a:noAutofit/>
          </a:bodyPr>
          <a:lstStyle/>
          <a:p>
            <a:pPr algn="l">
              <a:lnSpc>
                <a:spcPct val="112000"/>
              </a:lnSpc>
            </a:pPr>
            <a:r>
              <a:rPr sz="800" b="0" i="0" spc="80">
                <a:solidFill>
                  <a:srgbClr val="737882"/>
                </a:solidFill>
                <a:latin typeface="Noto Sans KR SemiBold"/>
                <a:ea typeface="Noto Sans KR SemiBold"/>
                <a:cs typeface="Noto Sans KR SemiBold"/>
              </a:rPr>
              <a:t>RISK REMOVED</a:t>
            </a:r>
          </a:p>
        </p:txBody>
      </p:sp>
      <p:sp>
        <p:nvSpPr>
          <p:cNvPr id="35" name="TextBox 34"/>
          <p:cNvSpPr txBox="1"/>
          <p:nvPr/>
        </p:nvSpPr>
        <p:spPr>
          <a:xfrm>
            <a:off x="749808" y="5413248"/>
            <a:ext cx="2270683" cy="256032"/>
          </a:xfrm>
          <a:prstGeom prst="rect">
            <a:avLst/>
          </a:prstGeom>
          <a:noFill/>
        </p:spPr>
        <p:txBody>
          <a:bodyPr wrap="square" lIns="0" rIns="0" tIns="0" bIns="0" anchor="t">
            <a:noAutofit/>
          </a:bodyPr>
          <a:lstStyle/>
          <a:p>
            <a:pPr algn="l">
              <a:lnSpc>
                <a:spcPct val="112000"/>
              </a:lnSpc>
            </a:pPr>
            <a:r>
              <a:rPr sz="1100" b="0" i="0">
                <a:solidFill>
                  <a:srgbClr val="F2F2EF"/>
                </a:solidFill>
                <a:latin typeface="Noto Sans KR Black"/>
                <a:ea typeface="Noto Sans KR Black"/>
                <a:cs typeface="Noto Sans KR Black"/>
              </a:rPr>
              <a:t>TECHNICAL RISK</a:t>
            </a:r>
          </a:p>
        </p:txBody>
      </p:sp>
      <p:sp>
        <p:nvSpPr>
          <p:cNvPr id="36" name="Phase M6–M12"/>
          <p:cNvSpPr/>
          <p:nvPr/>
        </p:nvSpPr>
        <p:spPr>
          <a:xfrm>
            <a:off x="3367963" y="2194560"/>
            <a:ext cx="2636443" cy="3520440"/>
          </a:xfrm>
          <a:prstGeom prst="roundRect">
            <a:avLst>
              <a:gd name="adj" fmla="val 4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7" name="TextBox 36"/>
          <p:cNvSpPr txBox="1"/>
          <p:nvPr/>
        </p:nvSpPr>
        <p:spPr>
          <a:xfrm>
            <a:off x="3569131" y="2304288"/>
            <a:ext cx="2270683" cy="219456"/>
          </a:xfrm>
          <a:prstGeom prst="rect">
            <a:avLst/>
          </a:prstGeom>
          <a:noFill/>
        </p:spPr>
        <p:txBody>
          <a:bodyPr wrap="square" lIns="0" rIns="0" tIns="0" bIns="0" anchor="t">
            <a:noAutofit/>
          </a:bodyPr>
          <a:lstStyle/>
          <a:p>
            <a:pPr algn="l">
              <a:lnSpc>
                <a:spcPct val="112000"/>
              </a:lnSpc>
            </a:pPr>
            <a:r>
              <a:rPr sz="950" b="0" i="0" spc="100">
                <a:solidFill>
                  <a:srgbClr val="EC7A3C"/>
                </a:solidFill>
                <a:latin typeface="Noto Sans KR SemiBold"/>
                <a:ea typeface="Noto Sans KR SemiBold"/>
                <a:cs typeface="Noto Sans KR SemiBold"/>
              </a:rPr>
              <a:t>M6–M12</a:t>
            </a:r>
          </a:p>
        </p:txBody>
      </p:sp>
      <p:sp>
        <p:nvSpPr>
          <p:cNvPr id="38" name="TextBox 37"/>
          <p:cNvSpPr txBox="1"/>
          <p:nvPr/>
        </p:nvSpPr>
        <p:spPr>
          <a:xfrm>
            <a:off x="3569131" y="2560320"/>
            <a:ext cx="2316403" cy="713232"/>
          </a:xfrm>
          <a:prstGeom prst="rect">
            <a:avLst/>
          </a:prstGeom>
          <a:noFill/>
        </p:spPr>
        <p:txBody>
          <a:bodyPr wrap="square" lIns="0" rIns="0" tIns="0" bIns="0" anchor="t">
            <a:noAutofit/>
          </a:bodyPr>
          <a:lstStyle/>
          <a:p>
            <a:pPr algn="l">
              <a:lnSpc>
                <a:spcPct val="100000"/>
              </a:lnSpc>
            </a:pPr>
            <a:r>
              <a:rPr sz="1600" b="0" i="0">
                <a:solidFill>
                  <a:srgbClr val="F2F2EF"/>
                </a:solidFill>
                <a:latin typeface="Noto Sans KR Black"/>
                <a:ea typeface="Noto Sans KR Black"/>
                <a:cs typeface="Noto Sans KR Black"/>
              </a:rPr>
              <a:t>WILL CUSTOMERS</a:t>
            </a:r>
          </a:p>
          <a:p>
            <a:pPr algn="l">
              <a:lnSpc>
                <a:spcPct val="100000"/>
              </a:lnSpc>
            </a:pPr>
            <a:r>
              <a:rPr sz="1600" b="0" i="0">
                <a:solidFill>
                  <a:srgbClr val="F2F2EF"/>
                </a:solidFill>
                <a:latin typeface="Noto Sans KR Black"/>
                <a:ea typeface="Noto Sans KR Black"/>
                <a:cs typeface="Noto Sans KR Black"/>
              </a:rPr>
              <a:t>PAY?</a:t>
            </a:r>
          </a:p>
        </p:txBody>
      </p:sp>
      <p:sp>
        <p:nvSpPr>
          <p:cNvPr id="39" name="Oval 38"/>
          <p:cNvSpPr/>
          <p:nvPr/>
        </p:nvSpPr>
        <p:spPr>
          <a:xfrm>
            <a:off x="3596563" y="3483864"/>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0" name="TextBox 39"/>
          <p:cNvSpPr txBox="1"/>
          <p:nvPr/>
        </p:nvSpPr>
        <p:spPr>
          <a:xfrm>
            <a:off x="3752011" y="3401568"/>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Paid PoC 첫 계약</a:t>
            </a:r>
          </a:p>
        </p:txBody>
      </p:sp>
      <p:sp>
        <p:nvSpPr>
          <p:cNvPr id="41" name="Oval 40"/>
          <p:cNvSpPr/>
          <p:nvPr/>
        </p:nvSpPr>
        <p:spPr>
          <a:xfrm>
            <a:off x="3596563" y="3767328"/>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2" name="TextBox 41"/>
          <p:cNvSpPr txBox="1"/>
          <p:nvPr/>
        </p:nvSpPr>
        <p:spPr>
          <a:xfrm>
            <a:off x="3752011" y="3685032"/>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Customer Baseline 측정</a:t>
            </a:r>
          </a:p>
        </p:txBody>
      </p:sp>
      <p:sp>
        <p:nvSpPr>
          <p:cNvPr id="43" name="Oval 42"/>
          <p:cNvSpPr/>
          <p:nvPr/>
        </p:nvSpPr>
        <p:spPr>
          <a:xfrm>
            <a:off x="3596563" y="4050791"/>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4" name="TextBox 43"/>
          <p:cNvSpPr txBox="1"/>
          <p:nvPr/>
        </p:nvSpPr>
        <p:spPr>
          <a:xfrm>
            <a:off x="3752011" y="3968496"/>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Changeover Cost 절감 검증</a:t>
            </a:r>
          </a:p>
        </p:txBody>
      </p:sp>
      <p:sp>
        <p:nvSpPr>
          <p:cNvPr id="45" name="Oval 44"/>
          <p:cNvSpPr/>
          <p:nvPr/>
        </p:nvSpPr>
        <p:spPr>
          <a:xfrm>
            <a:off x="3596563" y="4334256"/>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6" name="TextBox 45"/>
          <p:cNvSpPr txBox="1"/>
          <p:nvPr/>
        </p:nvSpPr>
        <p:spPr>
          <a:xfrm>
            <a:off x="3752011" y="4251960"/>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ToolSkill V1</a:t>
            </a:r>
          </a:p>
        </p:txBody>
      </p:sp>
      <p:cxnSp>
        <p:nvCxnSpPr>
          <p:cNvPr id="47" name="Connector 46"/>
          <p:cNvCxnSpPr/>
          <p:nvPr/>
        </p:nvCxnSpPr>
        <p:spPr>
          <a:xfrm>
            <a:off x="3569131" y="5138928"/>
            <a:ext cx="2234108" cy="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3569131" y="5212080"/>
            <a:ext cx="2270683" cy="201168"/>
          </a:xfrm>
          <a:prstGeom prst="rect">
            <a:avLst/>
          </a:prstGeom>
          <a:noFill/>
        </p:spPr>
        <p:txBody>
          <a:bodyPr wrap="square" lIns="0" rIns="0" tIns="0" bIns="0" anchor="t">
            <a:noAutofit/>
          </a:bodyPr>
          <a:lstStyle/>
          <a:p>
            <a:pPr algn="l">
              <a:lnSpc>
                <a:spcPct val="112000"/>
              </a:lnSpc>
            </a:pPr>
            <a:r>
              <a:rPr sz="800" b="0" i="0" spc="80">
                <a:solidFill>
                  <a:srgbClr val="737882"/>
                </a:solidFill>
                <a:latin typeface="Noto Sans KR SemiBold"/>
                <a:ea typeface="Noto Sans KR SemiBold"/>
                <a:cs typeface="Noto Sans KR SemiBold"/>
              </a:rPr>
              <a:t>RISK REMOVED</a:t>
            </a:r>
          </a:p>
        </p:txBody>
      </p:sp>
      <p:sp>
        <p:nvSpPr>
          <p:cNvPr id="49" name="TextBox 48"/>
          <p:cNvSpPr txBox="1"/>
          <p:nvPr/>
        </p:nvSpPr>
        <p:spPr>
          <a:xfrm>
            <a:off x="3569131" y="5413248"/>
            <a:ext cx="2270683" cy="256032"/>
          </a:xfrm>
          <a:prstGeom prst="rect">
            <a:avLst/>
          </a:prstGeom>
          <a:noFill/>
        </p:spPr>
        <p:txBody>
          <a:bodyPr wrap="square" lIns="0" rIns="0" tIns="0" bIns="0" anchor="t">
            <a:noAutofit/>
          </a:bodyPr>
          <a:lstStyle/>
          <a:p>
            <a:pPr algn="l">
              <a:lnSpc>
                <a:spcPct val="112000"/>
              </a:lnSpc>
            </a:pPr>
            <a:r>
              <a:rPr sz="1100" b="0" i="0">
                <a:solidFill>
                  <a:srgbClr val="F2F2EF"/>
                </a:solidFill>
                <a:latin typeface="Noto Sans KR Black"/>
                <a:ea typeface="Noto Sans KR Black"/>
                <a:cs typeface="Noto Sans KR Black"/>
              </a:rPr>
              <a:t>CUSTOMER RISK</a:t>
            </a:r>
          </a:p>
        </p:txBody>
      </p:sp>
      <p:sp>
        <p:nvSpPr>
          <p:cNvPr id="50" name="Phase M12–M18"/>
          <p:cNvSpPr/>
          <p:nvPr/>
        </p:nvSpPr>
        <p:spPr>
          <a:xfrm>
            <a:off x="6187287" y="2194560"/>
            <a:ext cx="2636443" cy="3520440"/>
          </a:xfrm>
          <a:prstGeom prst="roundRect">
            <a:avLst>
              <a:gd name="adj" fmla="val 4161"/>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1" name="TextBox 50"/>
          <p:cNvSpPr txBox="1"/>
          <p:nvPr/>
        </p:nvSpPr>
        <p:spPr>
          <a:xfrm>
            <a:off x="6388455" y="2304288"/>
            <a:ext cx="2270683" cy="219456"/>
          </a:xfrm>
          <a:prstGeom prst="rect">
            <a:avLst/>
          </a:prstGeom>
          <a:noFill/>
        </p:spPr>
        <p:txBody>
          <a:bodyPr wrap="square" lIns="0" rIns="0" tIns="0" bIns="0" anchor="t">
            <a:noAutofit/>
          </a:bodyPr>
          <a:lstStyle/>
          <a:p>
            <a:pPr algn="l">
              <a:lnSpc>
                <a:spcPct val="112000"/>
              </a:lnSpc>
            </a:pPr>
            <a:r>
              <a:rPr sz="950" b="0" i="0" spc="100">
                <a:solidFill>
                  <a:srgbClr val="EC7A3C"/>
                </a:solidFill>
                <a:latin typeface="Noto Sans KR SemiBold"/>
                <a:ea typeface="Noto Sans KR SemiBold"/>
                <a:cs typeface="Noto Sans KR SemiBold"/>
              </a:rPr>
              <a:t>M12–M18</a:t>
            </a:r>
          </a:p>
        </p:txBody>
      </p:sp>
      <p:sp>
        <p:nvSpPr>
          <p:cNvPr id="52" name="TextBox 51"/>
          <p:cNvSpPr txBox="1"/>
          <p:nvPr/>
        </p:nvSpPr>
        <p:spPr>
          <a:xfrm>
            <a:off x="6388455" y="2560320"/>
            <a:ext cx="2316403" cy="713232"/>
          </a:xfrm>
          <a:prstGeom prst="rect">
            <a:avLst/>
          </a:prstGeom>
          <a:noFill/>
        </p:spPr>
        <p:txBody>
          <a:bodyPr wrap="square" lIns="0" rIns="0" tIns="0" bIns="0" anchor="t">
            <a:noAutofit/>
          </a:bodyPr>
          <a:lstStyle/>
          <a:p>
            <a:pPr algn="l">
              <a:lnSpc>
                <a:spcPct val="100000"/>
              </a:lnSpc>
            </a:pPr>
            <a:r>
              <a:rPr sz="1600" b="0" i="0">
                <a:solidFill>
                  <a:srgbClr val="F2F2EF"/>
                </a:solidFill>
                <a:latin typeface="Noto Sans KR Black"/>
                <a:ea typeface="Noto Sans KR Black"/>
                <a:cs typeface="Noto Sans KR Black"/>
              </a:rPr>
              <a:t>CAN IT BECOME</a:t>
            </a:r>
          </a:p>
          <a:p>
            <a:pPr algn="l">
              <a:lnSpc>
                <a:spcPct val="100000"/>
              </a:lnSpc>
            </a:pPr>
            <a:r>
              <a:rPr sz="1600" b="0" i="0">
                <a:solidFill>
                  <a:srgbClr val="F2F2EF"/>
                </a:solidFill>
                <a:latin typeface="Noto Sans KR Black"/>
                <a:ea typeface="Noto Sans KR Black"/>
                <a:cs typeface="Noto Sans KR Black"/>
              </a:rPr>
              <a:t>A PRODUCT?</a:t>
            </a:r>
          </a:p>
        </p:txBody>
      </p:sp>
      <p:sp>
        <p:nvSpPr>
          <p:cNvPr id="53" name="Oval 52"/>
          <p:cNvSpPr/>
          <p:nvPr/>
        </p:nvSpPr>
        <p:spPr>
          <a:xfrm>
            <a:off x="6415887" y="3483864"/>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4" name="TextBox 53"/>
          <p:cNvSpPr txBox="1"/>
          <p:nvPr/>
        </p:nvSpPr>
        <p:spPr>
          <a:xfrm>
            <a:off x="6571335" y="3401568"/>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Design Freeze</a:t>
            </a:r>
          </a:p>
        </p:txBody>
      </p:sp>
      <p:sp>
        <p:nvSpPr>
          <p:cNvPr id="55" name="Oval 54"/>
          <p:cNvSpPr/>
          <p:nvPr/>
        </p:nvSpPr>
        <p:spPr>
          <a:xfrm>
            <a:off x="6415887" y="3767328"/>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6" name="TextBox 55"/>
          <p:cNvSpPr txBox="1"/>
          <p:nvPr/>
        </p:nvSpPr>
        <p:spPr>
          <a:xfrm>
            <a:off x="6571335" y="3685032"/>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BOM · Supplier 확정</a:t>
            </a:r>
          </a:p>
        </p:txBody>
      </p:sp>
      <p:sp>
        <p:nvSpPr>
          <p:cNvPr id="57" name="Oval 56"/>
          <p:cNvSpPr/>
          <p:nvPr/>
        </p:nvSpPr>
        <p:spPr>
          <a:xfrm>
            <a:off x="6415887" y="4050791"/>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8" name="TextBox 57"/>
          <p:cNvSpPr txBox="1"/>
          <p:nvPr/>
        </p:nvSpPr>
        <p:spPr>
          <a:xfrm>
            <a:off x="6571335" y="3968496"/>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Durability 검증</a:t>
            </a:r>
          </a:p>
        </p:txBody>
      </p:sp>
      <p:sp>
        <p:nvSpPr>
          <p:cNvPr id="59" name="Oval 58"/>
          <p:cNvSpPr/>
          <p:nvPr/>
        </p:nvSpPr>
        <p:spPr>
          <a:xfrm>
            <a:off x="6415887" y="4334256"/>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60" name="TextBox 59"/>
          <p:cNvSpPr txBox="1"/>
          <p:nvPr/>
        </p:nvSpPr>
        <p:spPr>
          <a:xfrm>
            <a:off x="6571335" y="4251960"/>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Manufacturing Cost</a:t>
            </a:r>
          </a:p>
        </p:txBody>
      </p:sp>
      <p:sp>
        <p:nvSpPr>
          <p:cNvPr id="61" name="Oval 60"/>
          <p:cNvSpPr/>
          <p:nvPr/>
        </p:nvSpPr>
        <p:spPr>
          <a:xfrm>
            <a:off x="6415887" y="4617720"/>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62" name="TextBox 61"/>
          <p:cNvSpPr txBox="1"/>
          <p:nvPr/>
        </p:nvSpPr>
        <p:spPr>
          <a:xfrm>
            <a:off x="6571335" y="4535424"/>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First Repeat Order</a:t>
            </a:r>
          </a:p>
        </p:txBody>
      </p:sp>
      <p:cxnSp>
        <p:nvCxnSpPr>
          <p:cNvPr id="63" name="Connector 62"/>
          <p:cNvCxnSpPr/>
          <p:nvPr/>
        </p:nvCxnSpPr>
        <p:spPr>
          <a:xfrm>
            <a:off x="6388455" y="5138928"/>
            <a:ext cx="2234108" cy="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6388455" y="5212080"/>
            <a:ext cx="2270683" cy="201168"/>
          </a:xfrm>
          <a:prstGeom prst="rect">
            <a:avLst/>
          </a:prstGeom>
          <a:noFill/>
        </p:spPr>
        <p:txBody>
          <a:bodyPr wrap="square" lIns="0" rIns="0" tIns="0" bIns="0" anchor="t">
            <a:noAutofit/>
          </a:bodyPr>
          <a:lstStyle/>
          <a:p>
            <a:pPr algn="l">
              <a:lnSpc>
                <a:spcPct val="112000"/>
              </a:lnSpc>
            </a:pPr>
            <a:r>
              <a:rPr sz="800" b="0" i="0" spc="80">
                <a:solidFill>
                  <a:srgbClr val="737882"/>
                </a:solidFill>
                <a:latin typeface="Noto Sans KR SemiBold"/>
                <a:ea typeface="Noto Sans KR SemiBold"/>
                <a:cs typeface="Noto Sans KR SemiBold"/>
              </a:rPr>
              <a:t>RISK REMOVED</a:t>
            </a:r>
          </a:p>
        </p:txBody>
      </p:sp>
      <p:sp>
        <p:nvSpPr>
          <p:cNvPr id="65" name="TextBox 64"/>
          <p:cNvSpPr txBox="1"/>
          <p:nvPr/>
        </p:nvSpPr>
        <p:spPr>
          <a:xfrm>
            <a:off x="6388455" y="5413248"/>
            <a:ext cx="2270683" cy="256032"/>
          </a:xfrm>
          <a:prstGeom prst="rect">
            <a:avLst/>
          </a:prstGeom>
          <a:noFill/>
        </p:spPr>
        <p:txBody>
          <a:bodyPr wrap="square" lIns="0" rIns="0" tIns="0" bIns="0" anchor="t">
            <a:noAutofit/>
          </a:bodyPr>
          <a:lstStyle/>
          <a:p>
            <a:pPr algn="l">
              <a:lnSpc>
                <a:spcPct val="112000"/>
              </a:lnSpc>
            </a:pPr>
            <a:r>
              <a:rPr sz="1100" b="0" i="0">
                <a:solidFill>
                  <a:srgbClr val="F2F2EF"/>
                </a:solidFill>
                <a:latin typeface="Noto Sans KR Black"/>
                <a:ea typeface="Noto Sans KR Black"/>
                <a:cs typeface="Noto Sans KR Black"/>
              </a:rPr>
              <a:t>PRODUCT &amp; COST RISK</a:t>
            </a:r>
          </a:p>
        </p:txBody>
      </p:sp>
      <p:sp>
        <p:nvSpPr>
          <p:cNvPr id="66" name="Phase M18–M24"/>
          <p:cNvSpPr/>
          <p:nvPr/>
        </p:nvSpPr>
        <p:spPr>
          <a:xfrm>
            <a:off x="9006611" y="2194560"/>
            <a:ext cx="2636443" cy="3520440"/>
          </a:xfrm>
          <a:prstGeom prst="roundRect">
            <a:avLst>
              <a:gd name="adj" fmla="val 4161"/>
            </a:avLst>
          </a:prstGeom>
          <a:solidFill>
            <a:srgbClr val="2E1D14"/>
          </a:solidFill>
          <a:ln w="1905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67" name="TextBox 66"/>
          <p:cNvSpPr txBox="1"/>
          <p:nvPr/>
        </p:nvSpPr>
        <p:spPr>
          <a:xfrm>
            <a:off x="9207779" y="2304288"/>
            <a:ext cx="2270683" cy="219456"/>
          </a:xfrm>
          <a:prstGeom prst="rect">
            <a:avLst/>
          </a:prstGeom>
          <a:noFill/>
        </p:spPr>
        <p:txBody>
          <a:bodyPr wrap="square" lIns="0" rIns="0" tIns="0" bIns="0" anchor="t">
            <a:noAutofit/>
          </a:bodyPr>
          <a:lstStyle/>
          <a:p>
            <a:pPr algn="l">
              <a:lnSpc>
                <a:spcPct val="112000"/>
              </a:lnSpc>
            </a:pPr>
            <a:r>
              <a:rPr sz="950" b="0" i="0" spc="100">
                <a:solidFill>
                  <a:srgbClr val="EC7A3C"/>
                </a:solidFill>
                <a:latin typeface="Noto Sans KR SemiBold"/>
                <a:ea typeface="Noto Sans KR SemiBold"/>
                <a:cs typeface="Noto Sans KR SemiBold"/>
              </a:rPr>
              <a:t>M18–M24</a:t>
            </a:r>
          </a:p>
        </p:txBody>
      </p:sp>
      <p:sp>
        <p:nvSpPr>
          <p:cNvPr id="68" name="TextBox 67"/>
          <p:cNvSpPr txBox="1"/>
          <p:nvPr/>
        </p:nvSpPr>
        <p:spPr>
          <a:xfrm>
            <a:off x="9207779" y="2560320"/>
            <a:ext cx="2316403" cy="713232"/>
          </a:xfrm>
          <a:prstGeom prst="rect">
            <a:avLst/>
          </a:prstGeom>
          <a:noFill/>
        </p:spPr>
        <p:txBody>
          <a:bodyPr wrap="square" lIns="0" rIns="0" tIns="0" bIns="0" anchor="t">
            <a:noAutofit/>
          </a:bodyPr>
          <a:lstStyle/>
          <a:p>
            <a:pPr algn="l">
              <a:lnSpc>
                <a:spcPct val="100000"/>
              </a:lnSpc>
            </a:pPr>
            <a:r>
              <a:rPr sz="1600" b="0" i="0">
                <a:solidFill>
                  <a:srgbClr val="F2F2EF"/>
                </a:solidFill>
                <a:latin typeface="Noto Sans KR Black"/>
                <a:ea typeface="Noto Sans KR Black"/>
                <a:cs typeface="Noto Sans KR Black"/>
              </a:rPr>
              <a:t>CAN IT</a:t>
            </a:r>
          </a:p>
          <a:p>
            <a:pPr algn="l">
              <a:lnSpc>
                <a:spcPct val="100000"/>
              </a:lnSpc>
            </a:pPr>
            <a:r>
              <a:rPr sz="1600" b="0" i="0">
                <a:solidFill>
                  <a:srgbClr val="F2F2EF"/>
                </a:solidFill>
                <a:latin typeface="Noto Sans KR Black"/>
                <a:ea typeface="Noto Sans KR Black"/>
                <a:cs typeface="Noto Sans KR Black"/>
              </a:rPr>
              <a:t>SCALE?</a:t>
            </a:r>
          </a:p>
        </p:txBody>
      </p:sp>
      <p:sp>
        <p:nvSpPr>
          <p:cNvPr id="69" name="Oval 68"/>
          <p:cNvSpPr/>
          <p:nvPr/>
        </p:nvSpPr>
        <p:spPr>
          <a:xfrm>
            <a:off x="9235211" y="3483864"/>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0" name="TextBox 69"/>
          <p:cNvSpPr txBox="1"/>
          <p:nvPr/>
        </p:nvSpPr>
        <p:spPr>
          <a:xfrm>
            <a:off x="9390659" y="3401568"/>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Paid PoC 5건+</a:t>
            </a:r>
          </a:p>
        </p:txBody>
      </p:sp>
      <p:sp>
        <p:nvSpPr>
          <p:cNvPr id="71" name="Oval 70"/>
          <p:cNvSpPr/>
          <p:nvPr/>
        </p:nvSpPr>
        <p:spPr>
          <a:xfrm>
            <a:off x="9235211" y="3767328"/>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2" name="TextBox 71"/>
          <p:cNvSpPr txBox="1"/>
          <p:nvPr/>
        </p:nvSpPr>
        <p:spPr>
          <a:xfrm>
            <a:off x="9390659" y="3685032"/>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Repeat Customer 2곳+</a:t>
            </a:r>
          </a:p>
        </p:txBody>
      </p:sp>
      <p:sp>
        <p:nvSpPr>
          <p:cNvPr id="73" name="Oval 72"/>
          <p:cNvSpPr/>
          <p:nvPr/>
        </p:nvSpPr>
        <p:spPr>
          <a:xfrm>
            <a:off x="9235211" y="4050791"/>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4" name="TextBox 73"/>
          <p:cNvSpPr txBox="1"/>
          <p:nvPr/>
        </p:nvSpPr>
        <p:spPr>
          <a:xfrm>
            <a:off x="9390659" y="3968496"/>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Gross Margin 검증</a:t>
            </a:r>
          </a:p>
        </p:txBody>
      </p:sp>
      <p:sp>
        <p:nvSpPr>
          <p:cNvPr id="75" name="Oval 74"/>
          <p:cNvSpPr/>
          <p:nvPr/>
        </p:nvSpPr>
        <p:spPr>
          <a:xfrm>
            <a:off x="9235211" y="4334256"/>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6" name="TextBox 75"/>
          <p:cNvSpPr txBox="1"/>
          <p:nvPr/>
        </p:nvSpPr>
        <p:spPr>
          <a:xfrm>
            <a:off x="9390659" y="4251960"/>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다수 Tool Skill</a:t>
            </a:r>
          </a:p>
        </p:txBody>
      </p:sp>
      <p:sp>
        <p:nvSpPr>
          <p:cNvPr id="77" name="Oval 76"/>
          <p:cNvSpPr/>
          <p:nvPr/>
        </p:nvSpPr>
        <p:spPr>
          <a:xfrm>
            <a:off x="9235211" y="4617720"/>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8" name="TextBox 77"/>
          <p:cNvSpPr txBox="1"/>
          <p:nvPr/>
        </p:nvSpPr>
        <p:spPr>
          <a:xfrm>
            <a:off x="9390659" y="4535424"/>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Kitchen Integrated Demo</a:t>
            </a:r>
          </a:p>
        </p:txBody>
      </p:sp>
      <p:sp>
        <p:nvSpPr>
          <p:cNvPr id="79" name="Oval 78"/>
          <p:cNvSpPr/>
          <p:nvPr/>
        </p:nvSpPr>
        <p:spPr>
          <a:xfrm>
            <a:off x="9235211" y="4901184"/>
            <a:ext cx="54864" cy="54864"/>
          </a:xfrm>
          <a:prstGeom prst="ellipse">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80" name="TextBox 79"/>
          <p:cNvSpPr txBox="1"/>
          <p:nvPr/>
        </p:nvSpPr>
        <p:spPr>
          <a:xfrm>
            <a:off x="9390659" y="4818888"/>
            <a:ext cx="2087803" cy="256032"/>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a:ea typeface="Noto Sans KR"/>
                <a:cs typeface="Noto Sans KR"/>
              </a:rPr>
              <a:t>Series A 준비</a:t>
            </a:r>
          </a:p>
        </p:txBody>
      </p:sp>
      <p:cxnSp>
        <p:nvCxnSpPr>
          <p:cNvPr id="81" name="Connector 80"/>
          <p:cNvCxnSpPr/>
          <p:nvPr/>
        </p:nvCxnSpPr>
        <p:spPr>
          <a:xfrm>
            <a:off x="9207779" y="5138928"/>
            <a:ext cx="2234108" cy="0"/>
          </a:xfrm>
          <a:prstGeom prst="line">
            <a:avLst/>
          </a:prstGeom>
          <a:ln w="9525">
            <a:solidFill>
              <a:srgbClr val="3C424B"/>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9207779" y="5212080"/>
            <a:ext cx="2270683" cy="201168"/>
          </a:xfrm>
          <a:prstGeom prst="rect">
            <a:avLst/>
          </a:prstGeom>
          <a:noFill/>
        </p:spPr>
        <p:txBody>
          <a:bodyPr wrap="square" lIns="0" rIns="0" tIns="0" bIns="0" anchor="t">
            <a:noAutofit/>
          </a:bodyPr>
          <a:lstStyle/>
          <a:p>
            <a:pPr algn="l">
              <a:lnSpc>
                <a:spcPct val="112000"/>
              </a:lnSpc>
            </a:pPr>
            <a:r>
              <a:rPr sz="800" b="0" i="0" spc="80">
                <a:solidFill>
                  <a:srgbClr val="737882"/>
                </a:solidFill>
                <a:latin typeface="Noto Sans KR SemiBold"/>
                <a:ea typeface="Noto Sans KR SemiBold"/>
                <a:cs typeface="Noto Sans KR SemiBold"/>
              </a:rPr>
              <a:t>RISK REMOVED</a:t>
            </a:r>
          </a:p>
        </p:txBody>
      </p:sp>
      <p:sp>
        <p:nvSpPr>
          <p:cNvPr id="83" name="TextBox 82"/>
          <p:cNvSpPr txBox="1"/>
          <p:nvPr/>
        </p:nvSpPr>
        <p:spPr>
          <a:xfrm>
            <a:off x="9207779" y="5413248"/>
            <a:ext cx="2270683" cy="256032"/>
          </a:xfrm>
          <a:prstGeom prst="rect">
            <a:avLst/>
          </a:prstGeom>
          <a:noFill/>
        </p:spPr>
        <p:txBody>
          <a:bodyPr wrap="square" lIns="0" rIns="0" tIns="0" bIns="0" anchor="t">
            <a:noAutofit/>
          </a:bodyPr>
          <a:lstStyle/>
          <a:p>
            <a:pPr algn="l">
              <a:lnSpc>
                <a:spcPct val="112000"/>
              </a:lnSpc>
            </a:pPr>
            <a:r>
              <a:rPr sz="1100" b="0" i="0">
                <a:solidFill>
                  <a:srgbClr val="EC7A3C"/>
                </a:solidFill>
                <a:latin typeface="Noto Sans KR Black"/>
                <a:ea typeface="Noto Sans KR Black"/>
                <a:cs typeface="Noto Sans KR Black"/>
              </a:rPr>
              <a:t>SCALE RISK</a:t>
            </a:r>
          </a:p>
        </p:txBody>
      </p:sp>
      <p:sp>
        <p:nvSpPr>
          <p:cNvPr id="84" name="TextBox 83"/>
          <p:cNvSpPr txBox="1"/>
          <p:nvPr/>
        </p:nvSpPr>
        <p:spPr>
          <a:xfrm>
            <a:off x="548640" y="5870448"/>
            <a:ext cx="11094415" cy="274320"/>
          </a:xfrm>
          <a:prstGeom prst="rect">
            <a:avLst/>
          </a:prstGeom>
          <a:noFill/>
        </p:spPr>
        <p:txBody>
          <a:bodyPr wrap="square" lIns="0" rIns="0" tIns="0" bIns="0" anchor="t">
            <a:noAutofit/>
          </a:bodyPr>
          <a:lstStyle/>
          <a:p>
            <a:pPr algn="l">
              <a:lnSpc>
                <a:spcPct val="112000"/>
              </a:lnSpc>
            </a:pPr>
            <a:r>
              <a:rPr sz="1050" b="0" i="0" spc="80">
                <a:solidFill>
                  <a:srgbClr val="EC7A3C"/>
                </a:solidFill>
                <a:latin typeface="Noto Sans KR SemiBold"/>
                <a:ea typeface="Noto Sans KR SemiBold"/>
                <a:cs typeface="Noto Sans KR SemiBold"/>
              </a:rPr>
              <a:t>GATE  </a:t>
            </a:r>
            <a:r>
              <a:rPr sz="1050" b="0" i="0">
                <a:solidFill>
                  <a:srgbClr val="AEB3BB"/>
                </a:solidFill>
                <a:latin typeface="Noto Sans KR"/>
                <a:ea typeface="Noto Sans KR"/>
                <a:cs typeface="Noto Sans KR"/>
              </a:rPr>
              <a:t>각 단계 통과 조건 미달 시 → 범위 축소 또는 피벗을 결정한 뒤 다음 단계 자금 집행  ·  최종 목표 = Commercial Validation → Series A</a:t>
            </a:r>
          </a:p>
        </p:txBody>
      </p:sp>
      <p:sp>
        <p:nvSpPr>
          <p:cNvPr id="85"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86"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16  ·  FOUNDING TEAM</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WHY THIS TEAM.</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Hand Mechatronics × Manipulation AI × Field Integration — 창업팀의 실제 이력으로 증명해야 할 영역</a:t>
            </a:r>
          </a:p>
        </p:txBody>
      </p:sp>
      <p:sp>
        <p:nvSpPr>
          <p:cNvPr id="6" name="Tag 정보 입력 필요"/>
          <p:cNvSpPr/>
          <p:nvPr/>
        </p:nvSpPr>
        <p:spPr>
          <a:xfrm>
            <a:off x="10880648" y="365760"/>
            <a:ext cx="762406" cy="243840"/>
          </a:xfrm>
          <a:prstGeom prst="roundRect">
            <a:avLst>
              <a:gd name="adj" fmla="val 50000"/>
            </a:avLst>
          </a:prstGeom>
          <a:solidFill>
            <a:srgbClr val="2C2615"/>
          </a:solidFill>
          <a:ln w="9525">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E8B649"/>
                </a:solidFill>
                <a:latin typeface="Noto Sans KR SemiBold"/>
                <a:ea typeface="Noto Sans KR SemiBold"/>
                <a:cs typeface="Noto Sans KR SemiBold"/>
              </a:rPr>
              <a:t>정보 입력 필요</a:t>
            </a:r>
          </a:p>
        </p:txBody>
      </p:sp>
      <p:sp>
        <p:nvSpPr>
          <p:cNvPr id="7" name="Founder card"/>
          <p:cNvSpPr/>
          <p:nvPr/>
        </p:nvSpPr>
        <p:spPr>
          <a:xfrm>
            <a:off x="548640" y="1847088"/>
            <a:ext cx="3429000" cy="3246120"/>
          </a:xfrm>
          <a:prstGeom prst="roundRect">
            <a:avLst>
              <a:gd name="adj" fmla="val 3380"/>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8" name="Photo placeholder"/>
          <p:cNvSpPr/>
          <p:nvPr/>
        </p:nvSpPr>
        <p:spPr>
          <a:xfrm>
            <a:off x="804672" y="2057400"/>
            <a:ext cx="914400" cy="914400"/>
          </a:xfrm>
          <a:prstGeom prst="ellipse">
            <a:avLst/>
          </a:prstGeom>
          <a:solidFill>
            <a:srgbClr val="2C2615"/>
          </a:solidFill>
          <a:ln w="1270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E8B649"/>
                </a:solidFill>
                <a:latin typeface="Noto Sans KR SemiBold"/>
                <a:ea typeface="Noto Sans KR SemiBold"/>
                <a:cs typeface="Noto Sans KR SemiBold"/>
              </a:rPr>
              <a:t>PHOTO</a:t>
            </a:r>
          </a:p>
        </p:txBody>
      </p:sp>
      <p:sp>
        <p:nvSpPr>
          <p:cNvPr id="9" name="TextBox 8"/>
          <p:cNvSpPr txBox="1"/>
          <p:nvPr/>
        </p:nvSpPr>
        <p:spPr>
          <a:xfrm>
            <a:off x="1874519" y="2121408"/>
            <a:ext cx="1965960" cy="219456"/>
          </a:xfrm>
          <a:prstGeom prst="rect">
            <a:avLst/>
          </a:prstGeom>
          <a:noFill/>
        </p:spPr>
        <p:txBody>
          <a:bodyPr wrap="square" lIns="0" rIns="0" tIns="0" bIns="0" anchor="t">
            <a:noAutofit/>
          </a:bodyPr>
          <a:lstStyle/>
          <a:p>
            <a:pPr algn="l">
              <a:lnSpc>
                <a:spcPct val="112000"/>
              </a:lnSpc>
            </a:pPr>
            <a:r>
              <a:rPr sz="950" b="0" i="0" spc="100">
                <a:solidFill>
                  <a:srgbClr val="EC7A3C"/>
                </a:solidFill>
                <a:latin typeface="Noto Sans KR SemiBold"/>
                <a:ea typeface="Noto Sans KR SemiBold"/>
                <a:cs typeface="Noto Sans KR SemiBold"/>
              </a:rPr>
              <a:t>FOUNDER / CEO</a:t>
            </a:r>
          </a:p>
        </p:txBody>
      </p:sp>
      <p:sp>
        <p:nvSpPr>
          <p:cNvPr id="10" name="TextBox 9"/>
          <p:cNvSpPr txBox="1"/>
          <p:nvPr/>
        </p:nvSpPr>
        <p:spPr>
          <a:xfrm>
            <a:off x="1874519" y="2377440"/>
            <a:ext cx="1965960" cy="384048"/>
          </a:xfrm>
          <a:prstGeom prst="rect">
            <a:avLst/>
          </a:prstGeom>
          <a:noFill/>
        </p:spPr>
        <p:txBody>
          <a:bodyPr wrap="square" lIns="0" rIns="0" tIns="0" bIns="0" anchor="t">
            <a:noAutofit/>
          </a:bodyPr>
          <a:lstStyle/>
          <a:p>
            <a:pPr algn="l">
              <a:lnSpc>
                <a:spcPct val="112000"/>
              </a:lnSpc>
            </a:pPr>
            <a:r>
              <a:rPr sz="2000" b="0" i="0">
                <a:solidFill>
                  <a:srgbClr val="E8B649"/>
                </a:solidFill>
                <a:latin typeface="Noto Sans KR Black"/>
                <a:ea typeface="Noto Sans KR Black"/>
                <a:cs typeface="Noto Sans KR Black"/>
              </a:rPr>
              <a:t>[이름]</a:t>
            </a:r>
          </a:p>
        </p:txBody>
      </p:sp>
      <p:sp>
        <p:nvSpPr>
          <p:cNvPr id="11" name="Placeholder"/>
          <p:cNvSpPr/>
          <p:nvPr/>
        </p:nvSpPr>
        <p:spPr>
          <a:xfrm>
            <a:off x="804672" y="3154680"/>
            <a:ext cx="2916936" cy="438912"/>
          </a:xfrm>
          <a:prstGeom prst="roundRect">
            <a:avLst>
              <a:gd name="adj" fmla="val 1250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1000" b="0" i="0">
                <a:solidFill>
                  <a:srgbClr val="E8B649"/>
                </a:solidFill>
                <a:latin typeface="Noto Sans KR Medium"/>
                <a:ea typeface="Noto Sans KR Medium"/>
                <a:cs typeface="Noto Sans KR Medium"/>
              </a:rPr>
              <a:t>[산업 경력]</a:t>
            </a:r>
          </a:p>
        </p:txBody>
      </p:sp>
      <p:sp>
        <p:nvSpPr>
          <p:cNvPr id="12" name="Placeholder"/>
          <p:cNvSpPr/>
          <p:nvPr/>
        </p:nvSpPr>
        <p:spPr>
          <a:xfrm>
            <a:off x="804672" y="3721608"/>
            <a:ext cx="2916936" cy="438912"/>
          </a:xfrm>
          <a:prstGeom prst="roundRect">
            <a:avLst>
              <a:gd name="adj" fmla="val 1250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1000" b="0" i="0">
                <a:solidFill>
                  <a:srgbClr val="E8B649"/>
                </a:solidFill>
                <a:latin typeface="Noto Sans KR Medium"/>
                <a:ea typeface="Noto Sans KR Medium"/>
                <a:cs typeface="Noto Sans KR Medium"/>
              </a:rPr>
              <a:t>[Robot / AI / Manufacturing 관련 경험]</a:t>
            </a:r>
          </a:p>
        </p:txBody>
      </p:sp>
      <p:sp>
        <p:nvSpPr>
          <p:cNvPr id="13" name="Placeholder"/>
          <p:cNvSpPr/>
          <p:nvPr/>
        </p:nvSpPr>
        <p:spPr>
          <a:xfrm>
            <a:off x="804672" y="4288536"/>
            <a:ext cx="2916936" cy="438912"/>
          </a:xfrm>
          <a:prstGeom prst="roundRect">
            <a:avLst>
              <a:gd name="adj" fmla="val 1250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1000" b="0" i="0">
                <a:solidFill>
                  <a:srgbClr val="E8B649"/>
                </a:solidFill>
                <a:latin typeface="Noto Sans KR Medium"/>
                <a:ea typeface="Noto Sans KR Medium"/>
                <a:cs typeface="Noto Sans KR Medium"/>
              </a:rPr>
              <a:t>[창업 계기 — 이 문제를 발견한 경험]</a:t>
            </a:r>
          </a:p>
        </p:txBody>
      </p:sp>
      <p:sp>
        <p:nvSpPr>
          <p:cNvPr id="14" name="TextBox 13"/>
          <p:cNvSpPr txBox="1"/>
          <p:nvPr/>
        </p:nvSpPr>
        <p:spPr>
          <a:xfrm>
            <a:off x="4206240" y="1847088"/>
            <a:ext cx="4160520" cy="256032"/>
          </a:xfrm>
          <a:prstGeom prst="rect">
            <a:avLst/>
          </a:prstGeom>
          <a:noFill/>
        </p:spPr>
        <p:txBody>
          <a:bodyPr wrap="square" lIns="0" rIns="0" tIns="0" bIns="0" anchor="t">
            <a:noAutofit/>
          </a:bodyPr>
          <a:lstStyle/>
          <a:p>
            <a:pPr algn="l">
              <a:lnSpc>
                <a:spcPct val="112000"/>
              </a:lnSpc>
            </a:pPr>
            <a:r>
              <a:rPr sz="1050" b="0" i="0" spc="100">
                <a:solidFill>
                  <a:srgbClr val="F2F2EF"/>
                </a:solidFill>
                <a:latin typeface="Noto Sans KR Black"/>
                <a:ea typeface="Noto Sans KR Black"/>
                <a:cs typeface="Noto Sans KR Black"/>
              </a:rPr>
              <a:t>CORE TECHNOLOGY TEAM</a:t>
            </a:r>
          </a:p>
        </p:txBody>
      </p:sp>
      <p:sp>
        <p:nvSpPr>
          <p:cNvPr id="15" name="Role MECHANICAL LEAD"/>
          <p:cNvSpPr/>
          <p:nvPr/>
        </p:nvSpPr>
        <p:spPr>
          <a:xfrm>
            <a:off x="4206240" y="2194560"/>
            <a:ext cx="1997964" cy="1325880"/>
          </a:xfrm>
          <a:prstGeom prst="roundRect">
            <a:avLst>
              <a:gd name="adj" fmla="val 6896"/>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6" name="TextBox 15"/>
          <p:cNvSpPr txBox="1"/>
          <p:nvPr/>
        </p:nvSpPr>
        <p:spPr>
          <a:xfrm>
            <a:off x="4370831" y="2322576"/>
            <a:ext cx="1723644" cy="274320"/>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Black"/>
                <a:ea typeface="Noto Sans KR Black"/>
                <a:cs typeface="Noto Sans KR Black"/>
              </a:rPr>
              <a:t>MECHANICAL LEAD</a:t>
            </a:r>
          </a:p>
        </p:txBody>
      </p:sp>
      <p:sp>
        <p:nvSpPr>
          <p:cNvPr id="17" name="TextBox 16"/>
          <p:cNvSpPr txBox="1"/>
          <p:nvPr/>
        </p:nvSpPr>
        <p:spPr>
          <a:xfrm>
            <a:off x="4370831" y="2615184"/>
            <a:ext cx="1723644" cy="256032"/>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핸드 기구·구동·내구 설계</a:t>
            </a:r>
          </a:p>
        </p:txBody>
      </p:sp>
      <p:sp>
        <p:nvSpPr>
          <p:cNvPr id="18" name="Placeholder"/>
          <p:cNvSpPr/>
          <p:nvPr/>
        </p:nvSpPr>
        <p:spPr>
          <a:xfrm>
            <a:off x="4370831" y="2980944"/>
            <a:ext cx="1668780" cy="347472"/>
          </a:xfrm>
          <a:prstGeom prst="roundRect">
            <a:avLst>
              <a:gd name="adj" fmla="val 1578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00" b="0" i="0">
                <a:solidFill>
                  <a:srgbClr val="E8B649"/>
                </a:solidFill>
                <a:latin typeface="Noto Sans KR Medium"/>
                <a:ea typeface="Noto Sans KR Medium"/>
                <a:cs typeface="Noto Sans KR Medium"/>
              </a:rPr>
              <a:t>[이름 · 이력 입력 필요]</a:t>
            </a:r>
          </a:p>
        </p:txBody>
      </p:sp>
      <p:sp>
        <p:nvSpPr>
          <p:cNvPr id="19" name="Role CONTROL / EMBEDDED LEAD"/>
          <p:cNvSpPr/>
          <p:nvPr/>
        </p:nvSpPr>
        <p:spPr>
          <a:xfrm>
            <a:off x="6368796" y="2194560"/>
            <a:ext cx="1997964" cy="1325880"/>
          </a:xfrm>
          <a:prstGeom prst="roundRect">
            <a:avLst>
              <a:gd name="adj" fmla="val 6896"/>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0" name="TextBox 19"/>
          <p:cNvSpPr txBox="1"/>
          <p:nvPr/>
        </p:nvSpPr>
        <p:spPr>
          <a:xfrm>
            <a:off x="6533388" y="2322576"/>
            <a:ext cx="1723644" cy="274320"/>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Black"/>
                <a:ea typeface="Noto Sans KR Black"/>
                <a:cs typeface="Noto Sans KR Black"/>
              </a:rPr>
              <a:t>CONTROL / EMBEDDED LEAD</a:t>
            </a:r>
          </a:p>
        </p:txBody>
      </p:sp>
      <p:sp>
        <p:nvSpPr>
          <p:cNvPr id="21" name="TextBox 20"/>
          <p:cNvSpPr txBox="1"/>
          <p:nvPr/>
        </p:nvSpPr>
        <p:spPr>
          <a:xfrm>
            <a:off x="6533388" y="2615184"/>
            <a:ext cx="1723644" cy="256032"/>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모터 제어·센서 융합·실시간</a:t>
            </a:r>
          </a:p>
        </p:txBody>
      </p:sp>
      <p:sp>
        <p:nvSpPr>
          <p:cNvPr id="22" name="Placeholder"/>
          <p:cNvSpPr/>
          <p:nvPr/>
        </p:nvSpPr>
        <p:spPr>
          <a:xfrm>
            <a:off x="6533388" y="2980944"/>
            <a:ext cx="1668780" cy="347472"/>
          </a:xfrm>
          <a:prstGeom prst="roundRect">
            <a:avLst>
              <a:gd name="adj" fmla="val 1578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00" b="0" i="0">
                <a:solidFill>
                  <a:srgbClr val="E8B649"/>
                </a:solidFill>
                <a:latin typeface="Noto Sans KR Medium"/>
                <a:ea typeface="Noto Sans KR Medium"/>
                <a:cs typeface="Noto Sans KR Medium"/>
              </a:rPr>
              <a:t>[이름 · 이력 입력 필요]</a:t>
            </a:r>
          </a:p>
        </p:txBody>
      </p:sp>
      <p:sp>
        <p:nvSpPr>
          <p:cNvPr id="23" name="Role MANIPULATION AI LEAD"/>
          <p:cNvSpPr/>
          <p:nvPr/>
        </p:nvSpPr>
        <p:spPr>
          <a:xfrm>
            <a:off x="4206240" y="3657600"/>
            <a:ext cx="1997964" cy="1325880"/>
          </a:xfrm>
          <a:prstGeom prst="roundRect">
            <a:avLst>
              <a:gd name="adj" fmla="val 6896"/>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4" name="TextBox 23"/>
          <p:cNvSpPr txBox="1"/>
          <p:nvPr/>
        </p:nvSpPr>
        <p:spPr>
          <a:xfrm>
            <a:off x="4370831" y="3785615"/>
            <a:ext cx="1723644" cy="274320"/>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Black"/>
                <a:ea typeface="Noto Sans KR Black"/>
                <a:cs typeface="Noto Sans KR Black"/>
              </a:rPr>
              <a:t>MANIPULATION AI LEAD</a:t>
            </a:r>
          </a:p>
        </p:txBody>
      </p:sp>
      <p:sp>
        <p:nvSpPr>
          <p:cNvPr id="25" name="TextBox 24"/>
          <p:cNvSpPr txBox="1"/>
          <p:nvPr/>
        </p:nvSpPr>
        <p:spPr>
          <a:xfrm>
            <a:off x="4370831" y="4078224"/>
            <a:ext cx="1723644" cy="256032"/>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비전·촉각·조작 정책 학습</a:t>
            </a:r>
          </a:p>
        </p:txBody>
      </p:sp>
      <p:sp>
        <p:nvSpPr>
          <p:cNvPr id="26" name="Placeholder"/>
          <p:cNvSpPr/>
          <p:nvPr/>
        </p:nvSpPr>
        <p:spPr>
          <a:xfrm>
            <a:off x="4370831" y="4443984"/>
            <a:ext cx="1668780" cy="347472"/>
          </a:xfrm>
          <a:prstGeom prst="roundRect">
            <a:avLst>
              <a:gd name="adj" fmla="val 1578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00" b="0" i="0">
                <a:solidFill>
                  <a:srgbClr val="E8B649"/>
                </a:solidFill>
                <a:latin typeface="Noto Sans KR Medium"/>
                <a:ea typeface="Noto Sans KR Medium"/>
                <a:cs typeface="Noto Sans KR Medium"/>
              </a:rPr>
              <a:t>[이름 · 이력 입력 필요]</a:t>
            </a:r>
          </a:p>
        </p:txBody>
      </p:sp>
      <p:sp>
        <p:nvSpPr>
          <p:cNvPr id="27" name="Role SYSTEM INTEGRATION LEAD"/>
          <p:cNvSpPr/>
          <p:nvPr/>
        </p:nvSpPr>
        <p:spPr>
          <a:xfrm>
            <a:off x="6368796" y="3657600"/>
            <a:ext cx="1997964" cy="1325880"/>
          </a:xfrm>
          <a:prstGeom prst="roundRect">
            <a:avLst>
              <a:gd name="adj" fmla="val 6896"/>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8" name="TextBox 27"/>
          <p:cNvSpPr txBox="1"/>
          <p:nvPr/>
        </p:nvSpPr>
        <p:spPr>
          <a:xfrm>
            <a:off x="6533388" y="3785615"/>
            <a:ext cx="1723644" cy="274320"/>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Black"/>
                <a:ea typeface="Noto Sans KR Black"/>
                <a:cs typeface="Noto Sans KR Black"/>
              </a:rPr>
              <a:t>SYSTEM INTEGRATION LEAD</a:t>
            </a:r>
          </a:p>
        </p:txBody>
      </p:sp>
      <p:sp>
        <p:nvSpPr>
          <p:cNvPr id="29" name="TextBox 28"/>
          <p:cNvSpPr txBox="1"/>
          <p:nvPr/>
        </p:nvSpPr>
        <p:spPr>
          <a:xfrm>
            <a:off x="6533388" y="4078224"/>
            <a:ext cx="1723644" cy="256032"/>
          </a:xfrm>
          <a:prstGeom prst="rect">
            <a:avLst/>
          </a:prstGeom>
          <a:noFill/>
        </p:spPr>
        <p:txBody>
          <a:bodyPr wrap="square" lIns="0" rIns="0" tIns="0" bIns="0" anchor="t">
            <a:noAutofit/>
          </a:bodyPr>
          <a:lstStyle/>
          <a:p>
            <a:pPr algn="l">
              <a:lnSpc>
                <a:spcPct val="112000"/>
              </a:lnSpc>
            </a:pPr>
            <a:r>
              <a:rPr sz="950" b="0" i="0">
                <a:solidFill>
                  <a:srgbClr val="AEB3BB"/>
                </a:solidFill>
                <a:latin typeface="Noto Sans KR"/>
                <a:ea typeface="Noto Sans KR"/>
                <a:cs typeface="Noto Sans KR"/>
              </a:rPr>
              <a:t>로봇 SI·현장 PoC·안전</a:t>
            </a:r>
          </a:p>
        </p:txBody>
      </p:sp>
      <p:sp>
        <p:nvSpPr>
          <p:cNvPr id="30" name="Placeholder"/>
          <p:cNvSpPr/>
          <p:nvPr/>
        </p:nvSpPr>
        <p:spPr>
          <a:xfrm>
            <a:off x="6533388" y="4443984"/>
            <a:ext cx="1668780" cy="347472"/>
          </a:xfrm>
          <a:prstGeom prst="roundRect">
            <a:avLst>
              <a:gd name="adj" fmla="val 1578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00" b="0" i="0">
                <a:solidFill>
                  <a:srgbClr val="E8B649"/>
                </a:solidFill>
                <a:latin typeface="Noto Sans KR Medium"/>
                <a:ea typeface="Noto Sans KR Medium"/>
                <a:cs typeface="Noto Sans KR Medium"/>
              </a:rPr>
              <a:t>[이름 · 이력 입력 필요]</a:t>
            </a:r>
          </a:p>
        </p:txBody>
      </p:sp>
      <p:sp>
        <p:nvSpPr>
          <p:cNvPr id="31" name="Founder-market fit"/>
          <p:cNvSpPr/>
          <p:nvPr/>
        </p:nvSpPr>
        <p:spPr>
          <a:xfrm>
            <a:off x="8595359" y="1847088"/>
            <a:ext cx="3047695" cy="3246120"/>
          </a:xfrm>
          <a:prstGeom prst="roundRect">
            <a:avLst>
              <a:gd name="adj" fmla="val 3600"/>
            </a:avLst>
          </a:prstGeom>
          <a:solidFill>
            <a:srgbClr val="2E1D14"/>
          </a:solidFill>
          <a:ln w="1587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2" name="TextBox 31"/>
          <p:cNvSpPr txBox="1"/>
          <p:nvPr/>
        </p:nvSpPr>
        <p:spPr>
          <a:xfrm>
            <a:off x="8796528" y="1965960"/>
            <a:ext cx="2681935" cy="274320"/>
          </a:xfrm>
          <a:prstGeom prst="rect">
            <a:avLst/>
          </a:prstGeom>
          <a:noFill/>
        </p:spPr>
        <p:txBody>
          <a:bodyPr wrap="square" lIns="0" rIns="0" tIns="0" bIns="0" anchor="t">
            <a:noAutofit/>
          </a:bodyPr>
          <a:lstStyle/>
          <a:p>
            <a:pPr algn="l">
              <a:lnSpc>
                <a:spcPct val="112000"/>
              </a:lnSpc>
            </a:pPr>
            <a:r>
              <a:rPr sz="1050" b="0" i="0" spc="100">
                <a:solidFill>
                  <a:srgbClr val="EC7A3C"/>
                </a:solidFill>
                <a:latin typeface="Noto Sans KR Black"/>
                <a:ea typeface="Noto Sans KR Black"/>
                <a:cs typeface="Noto Sans KR Black"/>
              </a:rPr>
              <a:t>FOUNDER-MARKET FIT</a:t>
            </a:r>
          </a:p>
        </p:txBody>
      </p:sp>
      <p:sp>
        <p:nvSpPr>
          <p:cNvPr id="33" name="TextBox 32"/>
          <p:cNvSpPr txBox="1"/>
          <p:nvPr/>
        </p:nvSpPr>
        <p:spPr>
          <a:xfrm>
            <a:off x="8796528" y="2359152"/>
            <a:ext cx="2681935" cy="274320"/>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SemiBold"/>
                <a:ea typeface="Noto Sans KR SemiBold"/>
                <a:cs typeface="Noto Sans KR SemiBold"/>
              </a:rPr>
              <a:t>왜 이 Founder가 이 문제를 발견했는가</a:t>
            </a:r>
          </a:p>
        </p:txBody>
      </p:sp>
      <p:sp>
        <p:nvSpPr>
          <p:cNvPr id="34" name="Placeholder"/>
          <p:cNvSpPr/>
          <p:nvPr/>
        </p:nvSpPr>
        <p:spPr>
          <a:xfrm>
            <a:off x="8796528" y="2651760"/>
            <a:ext cx="2645359" cy="438912"/>
          </a:xfrm>
          <a:prstGeom prst="roundRect">
            <a:avLst>
              <a:gd name="adj" fmla="val 1250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00" b="0" i="0">
                <a:solidFill>
                  <a:srgbClr val="E8B649"/>
                </a:solidFill>
                <a:latin typeface="Noto Sans KR Medium"/>
                <a:ea typeface="Noto Sans KR Medium"/>
                <a:cs typeface="Noto Sans KR Medium"/>
              </a:rPr>
              <a:t>[정보 입력 필요]</a:t>
            </a:r>
          </a:p>
        </p:txBody>
      </p:sp>
      <p:sp>
        <p:nvSpPr>
          <p:cNvPr id="35" name="TextBox 34"/>
          <p:cNvSpPr txBox="1"/>
          <p:nvPr/>
        </p:nvSpPr>
        <p:spPr>
          <a:xfrm>
            <a:off x="8796528" y="3255264"/>
            <a:ext cx="2681935" cy="274320"/>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SemiBold"/>
                <a:ea typeface="Noto Sans KR SemiBold"/>
                <a:cs typeface="Noto Sans KR SemiBold"/>
              </a:rPr>
              <a:t>왜 이 팀이 이 회사를 만들 수 있는가</a:t>
            </a:r>
          </a:p>
        </p:txBody>
      </p:sp>
      <p:sp>
        <p:nvSpPr>
          <p:cNvPr id="36" name="Placeholder"/>
          <p:cNvSpPr/>
          <p:nvPr/>
        </p:nvSpPr>
        <p:spPr>
          <a:xfrm>
            <a:off x="8796528" y="3547872"/>
            <a:ext cx="2645359" cy="438912"/>
          </a:xfrm>
          <a:prstGeom prst="roundRect">
            <a:avLst>
              <a:gd name="adj" fmla="val 1250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00" b="0" i="0">
                <a:solidFill>
                  <a:srgbClr val="E8B649"/>
                </a:solidFill>
                <a:latin typeface="Noto Sans KR Medium"/>
                <a:ea typeface="Noto Sans KR Medium"/>
                <a:cs typeface="Noto Sans KR Medium"/>
              </a:rPr>
              <a:t>[정보 입력 필요]</a:t>
            </a:r>
          </a:p>
        </p:txBody>
      </p:sp>
      <p:sp>
        <p:nvSpPr>
          <p:cNvPr id="37" name="TextBox 36"/>
          <p:cNvSpPr txBox="1"/>
          <p:nvPr/>
        </p:nvSpPr>
        <p:spPr>
          <a:xfrm>
            <a:off x="8796528" y="4151376"/>
            <a:ext cx="2681935" cy="274320"/>
          </a:xfrm>
          <a:prstGeom prst="rect">
            <a:avLst/>
          </a:prstGeom>
          <a:noFill/>
        </p:spPr>
        <p:txBody>
          <a:bodyPr wrap="square" lIns="0" rIns="0" tIns="0" bIns="0" anchor="t">
            <a:noAutofit/>
          </a:bodyPr>
          <a:lstStyle/>
          <a:p>
            <a:pPr algn="l">
              <a:lnSpc>
                <a:spcPct val="112000"/>
              </a:lnSpc>
            </a:pPr>
            <a:r>
              <a:rPr sz="1000" b="0" i="0">
                <a:solidFill>
                  <a:srgbClr val="F2F2EF"/>
                </a:solidFill>
                <a:latin typeface="Noto Sans KR SemiBold"/>
                <a:ea typeface="Noto Sans KR SemiBold"/>
                <a:cs typeface="Noto Sans KR SemiBold"/>
              </a:rPr>
              <a:t>Unfair Advantage (기술·네트워크·데이터)</a:t>
            </a:r>
          </a:p>
        </p:txBody>
      </p:sp>
      <p:sp>
        <p:nvSpPr>
          <p:cNvPr id="38" name="Placeholder"/>
          <p:cNvSpPr/>
          <p:nvPr/>
        </p:nvSpPr>
        <p:spPr>
          <a:xfrm>
            <a:off x="8796528" y="4443984"/>
            <a:ext cx="2645359" cy="438912"/>
          </a:xfrm>
          <a:prstGeom prst="roundRect">
            <a:avLst>
              <a:gd name="adj" fmla="val 1250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00" b="0" i="0">
                <a:solidFill>
                  <a:srgbClr val="E8B649"/>
                </a:solidFill>
                <a:latin typeface="Noto Sans KR Medium"/>
                <a:ea typeface="Noto Sans KR Medium"/>
                <a:cs typeface="Noto Sans KR Medium"/>
              </a:rPr>
              <a:t>[정보 입력 필요]</a:t>
            </a:r>
          </a:p>
        </p:txBody>
      </p:sp>
      <p:sp>
        <p:nvSpPr>
          <p:cNvPr id="39" name="TextBox 38"/>
          <p:cNvSpPr txBox="1"/>
          <p:nvPr/>
        </p:nvSpPr>
        <p:spPr>
          <a:xfrm>
            <a:off x="548640" y="5257800"/>
            <a:ext cx="2743200" cy="237744"/>
          </a:xfrm>
          <a:prstGeom prst="rect">
            <a:avLst/>
          </a:prstGeom>
          <a:noFill/>
        </p:spPr>
        <p:txBody>
          <a:bodyPr wrap="square" lIns="0" rIns="0" tIns="0" bIns="0" anchor="t">
            <a:noAutofit/>
          </a:bodyPr>
          <a:lstStyle/>
          <a:p>
            <a:pPr algn="l">
              <a:lnSpc>
                <a:spcPct val="112000"/>
              </a:lnSpc>
            </a:pPr>
            <a:r>
              <a:rPr sz="1000" b="0" i="0" spc="100">
                <a:solidFill>
                  <a:srgbClr val="EC7A3C"/>
                </a:solidFill>
                <a:latin typeface="Noto Sans KR SemiBold"/>
                <a:ea typeface="Noto Sans KR SemiBold"/>
                <a:cs typeface="Noto Sans KR SemiBold"/>
              </a:rPr>
              <a:t>FOUNDER COMMITMENT</a:t>
            </a:r>
          </a:p>
        </p:txBody>
      </p:sp>
      <p:sp>
        <p:nvSpPr>
          <p:cNvPr id="40" name="Placeholder"/>
          <p:cNvSpPr/>
          <p:nvPr/>
        </p:nvSpPr>
        <p:spPr>
          <a:xfrm>
            <a:off x="548640" y="5532120"/>
            <a:ext cx="1290789" cy="502920"/>
          </a:xfrm>
          <a:prstGeom prst="roundRect">
            <a:avLst>
              <a:gd name="adj" fmla="val 1090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ctr">
              <a:lnSpc>
                <a:spcPct val="108000"/>
              </a:lnSpc>
            </a:pPr>
            <a:r>
              <a:rPr sz="850" b="0" i="0">
                <a:solidFill>
                  <a:srgbClr val="E8B649"/>
                </a:solidFill>
                <a:latin typeface="Noto Sans KR Medium"/>
                <a:ea typeface="Noto Sans KR Medium"/>
                <a:cs typeface="Noto Sans KR Medium"/>
              </a:rPr>
              <a:t>자기자본 투입</a:t>
            </a:r>
          </a:p>
          <a:p>
            <a:pPr algn="ctr">
              <a:lnSpc>
                <a:spcPct val="108000"/>
              </a:lnSpc>
            </a:pPr>
            <a:r>
              <a:rPr sz="850" b="0" i="0">
                <a:solidFill>
                  <a:srgbClr val="E8B649"/>
                </a:solidFill>
                <a:latin typeface="Noto Sans KR Medium"/>
                <a:ea typeface="Noto Sans KR Medium"/>
                <a:cs typeface="Noto Sans KR Medium"/>
              </a:rPr>
              <a:t>[  ]</a:t>
            </a:r>
          </a:p>
        </p:txBody>
      </p:sp>
      <p:sp>
        <p:nvSpPr>
          <p:cNvPr id="41" name="Placeholder"/>
          <p:cNvSpPr/>
          <p:nvPr/>
        </p:nvSpPr>
        <p:spPr>
          <a:xfrm>
            <a:off x="1949157" y="5532120"/>
            <a:ext cx="1290789" cy="502920"/>
          </a:xfrm>
          <a:prstGeom prst="roundRect">
            <a:avLst>
              <a:gd name="adj" fmla="val 1090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ctr">
              <a:lnSpc>
                <a:spcPct val="108000"/>
              </a:lnSpc>
            </a:pPr>
            <a:r>
              <a:rPr sz="850" b="0" i="0">
                <a:solidFill>
                  <a:srgbClr val="E8B649"/>
                </a:solidFill>
                <a:latin typeface="Noto Sans KR Medium"/>
                <a:ea typeface="Noto Sans KR Medium"/>
                <a:cs typeface="Noto Sans KR Medium"/>
              </a:rPr>
              <a:t>Full-time</a:t>
            </a:r>
          </a:p>
          <a:p>
            <a:pPr algn="ctr">
              <a:lnSpc>
                <a:spcPct val="108000"/>
              </a:lnSpc>
            </a:pPr>
            <a:r>
              <a:rPr sz="850" b="0" i="0">
                <a:solidFill>
                  <a:srgbClr val="E8B649"/>
                </a:solidFill>
                <a:latin typeface="Noto Sans KR Medium"/>
                <a:ea typeface="Noto Sans KR Medium"/>
                <a:cs typeface="Noto Sans KR Medium"/>
              </a:rPr>
              <a:t>[  ]</a:t>
            </a:r>
          </a:p>
        </p:txBody>
      </p:sp>
      <p:sp>
        <p:nvSpPr>
          <p:cNvPr id="42" name="Placeholder"/>
          <p:cNvSpPr/>
          <p:nvPr/>
        </p:nvSpPr>
        <p:spPr>
          <a:xfrm>
            <a:off x="3349675" y="5532120"/>
            <a:ext cx="1290789" cy="502920"/>
          </a:xfrm>
          <a:prstGeom prst="roundRect">
            <a:avLst>
              <a:gd name="adj" fmla="val 1090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ctr">
              <a:lnSpc>
                <a:spcPct val="108000"/>
              </a:lnSpc>
            </a:pPr>
            <a:r>
              <a:rPr sz="850" b="0" i="0">
                <a:solidFill>
                  <a:srgbClr val="E8B649"/>
                </a:solidFill>
                <a:latin typeface="Noto Sans KR Medium"/>
                <a:ea typeface="Noto Sans KR Medium"/>
                <a:cs typeface="Noto Sans KR Medium"/>
              </a:rPr>
              <a:t>기존 직장 퇴사</a:t>
            </a:r>
          </a:p>
          <a:p>
            <a:pPr algn="ctr">
              <a:lnSpc>
                <a:spcPct val="108000"/>
              </a:lnSpc>
            </a:pPr>
            <a:r>
              <a:rPr sz="850" b="0" i="0">
                <a:solidFill>
                  <a:srgbClr val="E8B649"/>
                </a:solidFill>
                <a:latin typeface="Noto Sans KR Medium"/>
                <a:ea typeface="Noto Sans KR Medium"/>
                <a:cs typeface="Noto Sans KR Medium"/>
              </a:rPr>
              <a:t>[  ]</a:t>
            </a:r>
          </a:p>
        </p:txBody>
      </p:sp>
      <p:sp>
        <p:nvSpPr>
          <p:cNvPr id="43" name="Placeholder"/>
          <p:cNvSpPr/>
          <p:nvPr/>
        </p:nvSpPr>
        <p:spPr>
          <a:xfrm>
            <a:off x="4750193" y="5532120"/>
            <a:ext cx="1290789" cy="502920"/>
          </a:xfrm>
          <a:prstGeom prst="roundRect">
            <a:avLst>
              <a:gd name="adj" fmla="val 1090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ctr">
              <a:lnSpc>
                <a:spcPct val="108000"/>
              </a:lnSpc>
            </a:pPr>
            <a:r>
              <a:rPr sz="850" b="0" i="0">
                <a:solidFill>
                  <a:srgbClr val="E8B649"/>
                </a:solidFill>
                <a:latin typeface="Noto Sans KR Medium"/>
                <a:ea typeface="Noto Sans KR Medium"/>
                <a:cs typeface="Noto Sans KR Medium"/>
              </a:rPr>
              <a:t>Co-founder</a:t>
            </a:r>
          </a:p>
          <a:p>
            <a:pPr algn="ctr">
              <a:lnSpc>
                <a:spcPct val="108000"/>
              </a:lnSpc>
            </a:pPr>
            <a:r>
              <a:rPr sz="850" b="0" i="0">
                <a:solidFill>
                  <a:srgbClr val="E8B649"/>
                </a:solidFill>
                <a:latin typeface="Noto Sans KR Medium"/>
                <a:ea typeface="Noto Sans KR Medium"/>
                <a:cs typeface="Noto Sans KR Medium"/>
              </a:rPr>
              <a:t>[  ]</a:t>
            </a:r>
          </a:p>
        </p:txBody>
      </p:sp>
      <p:sp>
        <p:nvSpPr>
          <p:cNvPr id="44" name="Placeholder"/>
          <p:cNvSpPr/>
          <p:nvPr/>
        </p:nvSpPr>
        <p:spPr>
          <a:xfrm>
            <a:off x="6150711" y="5532120"/>
            <a:ext cx="1290789" cy="502920"/>
          </a:xfrm>
          <a:prstGeom prst="roundRect">
            <a:avLst>
              <a:gd name="adj" fmla="val 1090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ctr">
              <a:lnSpc>
                <a:spcPct val="108000"/>
              </a:lnSpc>
            </a:pPr>
            <a:r>
              <a:rPr sz="850" b="0" i="0">
                <a:solidFill>
                  <a:srgbClr val="E8B649"/>
                </a:solidFill>
                <a:latin typeface="Noto Sans KR Medium"/>
                <a:ea typeface="Noto Sans KR Medium"/>
                <a:cs typeface="Noto Sans KR Medium"/>
              </a:rPr>
              <a:t>보유 기술·연구</a:t>
            </a:r>
          </a:p>
          <a:p>
            <a:pPr algn="ctr">
              <a:lnSpc>
                <a:spcPct val="108000"/>
              </a:lnSpc>
            </a:pPr>
            <a:r>
              <a:rPr sz="850" b="0" i="0">
                <a:solidFill>
                  <a:srgbClr val="E8B649"/>
                </a:solidFill>
                <a:latin typeface="Noto Sans KR Medium"/>
                <a:ea typeface="Noto Sans KR Medium"/>
                <a:cs typeface="Noto Sans KR Medium"/>
              </a:rPr>
              <a:t>[  ]</a:t>
            </a:r>
          </a:p>
        </p:txBody>
      </p:sp>
      <p:sp>
        <p:nvSpPr>
          <p:cNvPr id="45" name="Placeholder"/>
          <p:cNvSpPr/>
          <p:nvPr/>
        </p:nvSpPr>
        <p:spPr>
          <a:xfrm>
            <a:off x="7551229" y="5532120"/>
            <a:ext cx="1290789" cy="502920"/>
          </a:xfrm>
          <a:prstGeom prst="roundRect">
            <a:avLst>
              <a:gd name="adj" fmla="val 1090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ctr">
              <a:lnSpc>
                <a:spcPct val="108000"/>
              </a:lnSpc>
            </a:pPr>
            <a:r>
              <a:rPr sz="850" b="0" i="0">
                <a:solidFill>
                  <a:srgbClr val="E8B649"/>
                </a:solidFill>
                <a:latin typeface="Noto Sans KR Medium"/>
                <a:ea typeface="Noto Sans KR Medium"/>
                <a:cs typeface="Noto Sans KR Medium"/>
              </a:rPr>
              <a:t>특허</a:t>
            </a:r>
          </a:p>
          <a:p>
            <a:pPr algn="ctr">
              <a:lnSpc>
                <a:spcPct val="108000"/>
              </a:lnSpc>
            </a:pPr>
            <a:r>
              <a:rPr sz="850" b="0" i="0">
                <a:solidFill>
                  <a:srgbClr val="E8B649"/>
                </a:solidFill>
                <a:latin typeface="Noto Sans KR Medium"/>
                <a:ea typeface="Noto Sans KR Medium"/>
                <a:cs typeface="Noto Sans KR Medium"/>
              </a:rPr>
              <a:t>[  ]</a:t>
            </a:r>
          </a:p>
        </p:txBody>
      </p:sp>
      <p:sp>
        <p:nvSpPr>
          <p:cNvPr id="46" name="Placeholder"/>
          <p:cNvSpPr/>
          <p:nvPr/>
        </p:nvSpPr>
        <p:spPr>
          <a:xfrm>
            <a:off x="8951747" y="5532120"/>
            <a:ext cx="1290789" cy="502920"/>
          </a:xfrm>
          <a:prstGeom prst="roundRect">
            <a:avLst>
              <a:gd name="adj" fmla="val 1090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ctr">
              <a:lnSpc>
                <a:spcPct val="108000"/>
              </a:lnSpc>
            </a:pPr>
            <a:r>
              <a:rPr sz="850" b="0" i="0">
                <a:solidFill>
                  <a:srgbClr val="E8B649"/>
                </a:solidFill>
                <a:latin typeface="Noto Sans KR Medium"/>
                <a:ea typeface="Noto Sans KR Medium"/>
                <a:cs typeface="Noto Sans KR Medium"/>
              </a:rPr>
              <a:t>Prototype</a:t>
            </a:r>
          </a:p>
          <a:p>
            <a:pPr algn="ctr">
              <a:lnSpc>
                <a:spcPct val="108000"/>
              </a:lnSpc>
            </a:pPr>
            <a:r>
              <a:rPr sz="850" b="0" i="0">
                <a:solidFill>
                  <a:srgbClr val="E8B649"/>
                </a:solidFill>
                <a:latin typeface="Noto Sans KR Medium"/>
                <a:ea typeface="Noto Sans KR Medium"/>
                <a:cs typeface="Noto Sans KR Medium"/>
              </a:rPr>
              <a:t>[  ]</a:t>
            </a:r>
          </a:p>
        </p:txBody>
      </p:sp>
      <p:sp>
        <p:nvSpPr>
          <p:cNvPr id="47" name="Placeholder"/>
          <p:cNvSpPr/>
          <p:nvPr/>
        </p:nvSpPr>
        <p:spPr>
          <a:xfrm>
            <a:off x="10352265" y="5532120"/>
            <a:ext cx="1290789" cy="502920"/>
          </a:xfrm>
          <a:prstGeom prst="roundRect">
            <a:avLst>
              <a:gd name="adj" fmla="val 10909"/>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ctr">
              <a:lnSpc>
                <a:spcPct val="108000"/>
              </a:lnSpc>
            </a:pPr>
            <a:r>
              <a:rPr sz="850" b="0" i="0">
                <a:solidFill>
                  <a:srgbClr val="E8B649"/>
                </a:solidFill>
                <a:latin typeface="Noto Sans KR Medium"/>
                <a:ea typeface="Noto Sans KR Medium"/>
                <a:cs typeface="Noto Sans KR Medium"/>
              </a:rPr>
              <a:t>Customer Network</a:t>
            </a:r>
          </a:p>
          <a:p>
            <a:pPr algn="ctr">
              <a:lnSpc>
                <a:spcPct val="108000"/>
              </a:lnSpc>
            </a:pPr>
            <a:r>
              <a:rPr sz="850" b="0" i="0">
                <a:solidFill>
                  <a:srgbClr val="E8B649"/>
                </a:solidFill>
                <a:latin typeface="Noto Sans KR Medium"/>
                <a:ea typeface="Noto Sans KR Medium"/>
                <a:cs typeface="Noto Sans KR Medium"/>
              </a:rPr>
              <a:t>[  ]</a:t>
            </a:r>
          </a:p>
        </p:txBody>
      </p:sp>
      <p:sp>
        <p:nvSpPr>
          <p:cNvPr id="48" name="TextBox 47"/>
          <p:cNvSpPr txBox="1"/>
          <p:nvPr/>
        </p:nvSpPr>
        <p:spPr>
          <a:xfrm>
            <a:off x="3291840" y="5257800"/>
            <a:ext cx="8351215" cy="237744"/>
          </a:xfrm>
          <a:prstGeom prst="rect">
            <a:avLst/>
          </a:prstGeom>
          <a:noFill/>
        </p:spPr>
        <p:txBody>
          <a:bodyPr wrap="square" lIns="0" rIns="0" tIns="0" bIns="0" anchor="t">
            <a:noAutofit/>
          </a:bodyPr>
          <a:lstStyle/>
          <a:p>
            <a:pPr algn="r">
              <a:lnSpc>
                <a:spcPct val="112000"/>
              </a:lnSpc>
            </a:pPr>
            <a:r>
              <a:rPr sz="950" b="0" i="0">
                <a:solidFill>
                  <a:srgbClr val="AEB3BB"/>
                </a:solidFill>
                <a:latin typeface="Noto Sans KR"/>
                <a:ea typeface="Noto Sans KR"/>
                <a:cs typeface="Noto Sans KR"/>
              </a:rPr>
              <a:t>Seed 채용: 핵심 7명 단계 채용 — 사업·제품 1 · 기구/구동 2 · 제어·임베디드 1 · 비전·조작 AI 2 · 시스템 통합 1</a:t>
            </a:r>
          </a:p>
        </p:txBody>
      </p:sp>
      <p:sp>
        <p:nvSpPr>
          <p:cNvPr id="49"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50"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sp>
        <p:nvSpPr>
          <p:cNvPr id="2" name="Contact dot"/>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Kicker"/>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50" b="0" i="0" spc="160">
                <a:solidFill>
                  <a:srgbClr val="EC7A3C"/>
                </a:solidFill>
                <a:latin typeface="Noto Sans KR SemiBold"/>
                <a:ea typeface="Noto Sans KR SemiBold"/>
                <a:cs typeface="Noto Sans KR SemiBold"/>
              </a:rPr>
              <a:t>17  ·  THE ASK</a:t>
            </a:r>
          </a:p>
        </p:txBody>
      </p:sp>
      <p:sp>
        <p:nvSpPr>
          <p:cNvPr id="4" name="Title"/>
          <p:cNvSpPr txBox="1"/>
          <p:nvPr/>
        </p:nvSpPr>
        <p:spPr>
          <a:xfrm>
            <a:off x="548640" y="676656"/>
            <a:ext cx="11094415" cy="566928"/>
          </a:xfrm>
          <a:prstGeom prst="rect">
            <a:avLst/>
          </a:prstGeom>
          <a:noFill/>
        </p:spPr>
        <p:txBody>
          <a:bodyPr wrap="square" lIns="0" rIns="0" tIns="0" bIns="0" anchor="t">
            <a:noAutofit/>
          </a:bodyPr>
          <a:lstStyle/>
          <a:p>
            <a:pPr algn="l">
              <a:lnSpc>
                <a:spcPct val="100000"/>
              </a:lnSpc>
            </a:pPr>
            <a:r>
              <a:rPr sz="2800" b="0" i="0">
                <a:solidFill>
                  <a:srgbClr val="F2F2EF"/>
                </a:solidFill>
                <a:latin typeface="Noto Sans KR Black"/>
                <a:ea typeface="Noto Sans KR Black"/>
                <a:cs typeface="Noto Sans KR Black"/>
              </a:rPr>
              <a:t>₩2B TO BUILD THE COMPANY.</a:t>
            </a:r>
          </a:p>
        </p:txBody>
      </p:sp>
      <p:sp>
        <p:nvSpPr>
          <p:cNvPr id="5" name="Subtitle"/>
          <p:cNvSpPr txBox="1"/>
          <p:nvPr/>
        </p:nvSpPr>
        <p:spPr>
          <a:xfrm>
            <a:off x="548640" y="1280160"/>
            <a:ext cx="11094415" cy="384048"/>
          </a:xfrm>
          <a:prstGeom prst="rect">
            <a:avLst/>
          </a:prstGeom>
          <a:noFill/>
        </p:spPr>
        <p:txBody>
          <a:bodyPr wrap="square" lIns="0" rIns="0" tIns="0" bIns="0" anchor="t">
            <a:noAutofit/>
          </a:bodyPr>
          <a:lstStyle/>
          <a:p>
            <a:pPr algn="l">
              <a:lnSpc>
                <a:spcPct val="112000"/>
              </a:lnSpc>
            </a:pPr>
            <a:r>
              <a:rPr sz="1450" b="0" i="0">
                <a:solidFill>
                  <a:srgbClr val="AEB3BB"/>
                </a:solidFill>
                <a:latin typeface="Noto Sans KR"/>
                <a:ea typeface="Noto Sans KR"/>
                <a:cs typeface="Noto Sans KR"/>
              </a:rPr>
              <a:t>20억원은 제품 개발비가 아니라, 기술을 회사로 만드는 Company Creation Capital이다</a:t>
            </a:r>
          </a:p>
        </p:txBody>
      </p:sp>
      <p:sp>
        <p:nvSpPr>
          <p:cNvPr id="6" name="Chain 1"/>
          <p:cNvSpPr/>
          <p:nvPr/>
        </p:nvSpPr>
        <p:spPr>
          <a:xfrm>
            <a:off x="548640" y="1828800"/>
            <a:ext cx="1475188" cy="530352"/>
          </a:xfrm>
          <a:prstGeom prst="roundRect">
            <a:avLst>
              <a:gd name="adj" fmla="val 13793"/>
            </a:avLst>
          </a:prstGeom>
          <a:solidFill>
            <a:srgbClr val="25292F"/>
          </a:solidFill>
          <a:ln w="12700">
            <a:solidFill>
              <a:srgbClr val="AEB3B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TECHNOLOGY</a:t>
            </a:r>
          </a:p>
          <a:p>
            <a:pPr algn="ctr">
              <a:lnSpc>
                <a:spcPct val="108000"/>
              </a:lnSpc>
            </a:pPr>
            <a:r>
              <a:rPr sz="850" b="0" i="0">
                <a:solidFill>
                  <a:srgbClr val="F2F2EF"/>
                </a:solidFill>
                <a:latin typeface="Noto Sans KR SemiBold"/>
                <a:ea typeface="Noto Sans KR SemiBold"/>
                <a:cs typeface="Noto Sans KR SemiBold"/>
              </a:rPr>
              <a:t>CONCEPT</a:t>
            </a:r>
          </a:p>
        </p:txBody>
      </p:sp>
      <p:sp>
        <p:nvSpPr>
          <p:cNvPr id="7" name="Chain 2"/>
          <p:cNvSpPr/>
          <p:nvPr/>
        </p:nvSpPr>
        <p:spPr>
          <a:xfrm>
            <a:off x="2151844" y="1828800"/>
            <a:ext cx="1475188" cy="530352"/>
          </a:xfrm>
          <a:prstGeom prst="roundRect">
            <a:avLst>
              <a:gd name="adj" fmla="val 13793"/>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COMPANY</a:t>
            </a:r>
          </a:p>
          <a:p>
            <a:pPr algn="ctr">
              <a:lnSpc>
                <a:spcPct val="108000"/>
              </a:lnSpc>
            </a:pPr>
            <a:r>
              <a:rPr sz="850" b="0" i="0">
                <a:solidFill>
                  <a:srgbClr val="F2F2EF"/>
                </a:solidFill>
                <a:latin typeface="Noto Sans KR SemiBold"/>
                <a:ea typeface="Noto Sans KR SemiBold"/>
                <a:cs typeface="Noto Sans KR SemiBold"/>
              </a:rPr>
              <a:t>FORMATION</a:t>
            </a:r>
          </a:p>
        </p:txBody>
      </p:sp>
      <p:sp>
        <p:nvSpPr>
          <p:cNvPr id="8" name="Chain 3"/>
          <p:cNvSpPr/>
          <p:nvPr/>
        </p:nvSpPr>
        <p:spPr>
          <a:xfrm>
            <a:off x="3755048" y="1828800"/>
            <a:ext cx="1475188" cy="530352"/>
          </a:xfrm>
          <a:prstGeom prst="roundRect">
            <a:avLst>
              <a:gd name="adj" fmla="val 13793"/>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FOUNDING</a:t>
            </a:r>
          </a:p>
          <a:p>
            <a:pPr algn="ctr">
              <a:lnSpc>
                <a:spcPct val="108000"/>
              </a:lnSpc>
            </a:pPr>
            <a:r>
              <a:rPr sz="850" b="0" i="0">
                <a:solidFill>
                  <a:srgbClr val="F2F2EF"/>
                </a:solidFill>
                <a:latin typeface="Noto Sans KR SemiBold"/>
                <a:ea typeface="Noto Sans KR SemiBold"/>
                <a:cs typeface="Noto Sans KR SemiBold"/>
              </a:rPr>
              <a:t>TEAM</a:t>
            </a:r>
          </a:p>
        </p:txBody>
      </p:sp>
      <p:sp>
        <p:nvSpPr>
          <p:cNvPr id="9" name="Chain 4"/>
          <p:cNvSpPr/>
          <p:nvPr/>
        </p:nvSpPr>
        <p:spPr>
          <a:xfrm>
            <a:off x="5358253" y="1828800"/>
            <a:ext cx="1475188" cy="530352"/>
          </a:xfrm>
          <a:prstGeom prst="roundRect">
            <a:avLst>
              <a:gd name="adj" fmla="val 13793"/>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PRODUCT</a:t>
            </a:r>
          </a:p>
        </p:txBody>
      </p:sp>
      <p:sp>
        <p:nvSpPr>
          <p:cNvPr id="10" name="Chain 5"/>
          <p:cNvSpPr/>
          <p:nvPr/>
        </p:nvSpPr>
        <p:spPr>
          <a:xfrm>
            <a:off x="6961457" y="1828800"/>
            <a:ext cx="1475188" cy="530352"/>
          </a:xfrm>
          <a:prstGeom prst="roundRect">
            <a:avLst>
              <a:gd name="adj" fmla="val 13793"/>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PAID</a:t>
            </a:r>
          </a:p>
          <a:p>
            <a:pPr algn="ctr">
              <a:lnSpc>
                <a:spcPct val="108000"/>
              </a:lnSpc>
            </a:pPr>
            <a:r>
              <a:rPr sz="850" b="0" i="0">
                <a:solidFill>
                  <a:srgbClr val="F2F2EF"/>
                </a:solidFill>
                <a:latin typeface="Noto Sans KR SemiBold"/>
                <a:ea typeface="Noto Sans KR SemiBold"/>
                <a:cs typeface="Noto Sans KR SemiBold"/>
              </a:rPr>
              <a:t>CUSTOMER</a:t>
            </a:r>
          </a:p>
        </p:txBody>
      </p:sp>
      <p:sp>
        <p:nvSpPr>
          <p:cNvPr id="11" name="Chain 6"/>
          <p:cNvSpPr/>
          <p:nvPr/>
        </p:nvSpPr>
        <p:spPr>
          <a:xfrm>
            <a:off x="8564662" y="1828800"/>
            <a:ext cx="1475188" cy="530352"/>
          </a:xfrm>
          <a:prstGeom prst="roundRect">
            <a:avLst>
              <a:gd name="adj" fmla="val 13793"/>
            </a:avLst>
          </a:prstGeom>
          <a:solidFill>
            <a:srgbClr val="2E1D14"/>
          </a:solidFill>
          <a:ln w="12700">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F2F2EF"/>
                </a:solidFill>
                <a:latin typeface="Noto Sans KR SemiBold"/>
                <a:ea typeface="Noto Sans KR SemiBold"/>
                <a:cs typeface="Noto Sans KR SemiBold"/>
              </a:rPr>
              <a:t>REPEAT</a:t>
            </a:r>
          </a:p>
          <a:p>
            <a:pPr algn="ctr">
              <a:lnSpc>
                <a:spcPct val="108000"/>
              </a:lnSpc>
            </a:pPr>
            <a:r>
              <a:rPr sz="850" b="0" i="0">
                <a:solidFill>
                  <a:srgbClr val="F2F2EF"/>
                </a:solidFill>
                <a:latin typeface="Noto Sans KR SemiBold"/>
                <a:ea typeface="Noto Sans KR SemiBold"/>
                <a:cs typeface="Noto Sans KR SemiBold"/>
              </a:rPr>
              <a:t>ORDER</a:t>
            </a:r>
          </a:p>
        </p:txBody>
      </p:sp>
      <p:sp>
        <p:nvSpPr>
          <p:cNvPr id="12" name="Chain 7"/>
          <p:cNvSpPr/>
          <p:nvPr/>
        </p:nvSpPr>
        <p:spPr>
          <a:xfrm>
            <a:off x="10167866" y="1828800"/>
            <a:ext cx="1475188" cy="530352"/>
          </a:xfrm>
          <a:prstGeom prst="roundRect">
            <a:avLst>
              <a:gd name="adj" fmla="val 13793"/>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lnSpc>
                <a:spcPct val="108000"/>
              </a:lnSpc>
            </a:pPr>
            <a:r>
              <a:rPr sz="850" b="0" i="0">
                <a:solidFill>
                  <a:srgbClr val="AEB3BB"/>
                </a:solidFill>
                <a:latin typeface="Noto Sans KR SemiBold"/>
                <a:ea typeface="Noto Sans KR SemiBold"/>
                <a:cs typeface="Noto Sans KR SemiBold"/>
              </a:rPr>
              <a:t>SCALABLE</a:t>
            </a:r>
          </a:p>
          <a:p>
            <a:pPr algn="ctr">
              <a:lnSpc>
                <a:spcPct val="108000"/>
              </a:lnSpc>
            </a:pPr>
            <a:r>
              <a:rPr sz="850" b="0" i="0">
                <a:solidFill>
                  <a:srgbClr val="AEB3BB"/>
                </a:solidFill>
                <a:latin typeface="Noto Sans KR SemiBold"/>
                <a:ea typeface="Noto Sans KR SemiBold"/>
                <a:cs typeface="Noto Sans KR SemiBold"/>
              </a:rPr>
              <a:t>COMPANY</a:t>
            </a:r>
          </a:p>
        </p:txBody>
      </p:sp>
      <p:sp>
        <p:nvSpPr>
          <p:cNvPr id="13" name="TextBox 12"/>
          <p:cNvSpPr txBox="1"/>
          <p:nvPr/>
        </p:nvSpPr>
        <p:spPr>
          <a:xfrm>
            <a:off x="548640" y="2395728"/>
            <a:ext cx="1475188" cy="219456"/>
          </a:xfrm>
          <a:prstGeom prst="rect">
            <a:avLst/>
          </a:prstGeom>
          <a:noFill/>
        </p:spPr>
        <p:txBody>
          <a:bodyPr wrap="square" lIns="0" rIns="0" tIns="0" bIns="0" anchor="t">
            <a:noAutofit/>
          </a:bodyPr>
          <a:lstStyle/>
          <a:p>
            <a:pPr algn="ctr">
              <a:lnSpc>
                <a:spcPct val="112000"/>
              </a:lnSpc>
            </a:pPr>
            <a:r>
              <a:rPr sz="850" b="0" i="0">
                <a:solidFill>
                  <a:srgbClr val="F2F2EF"/>
                </a:solidFill>
                <a:latin typeface="Noto Sans KR SemiBold"/>
                <a:ea typeface="Noto Sans KR SemiBold"/>
                <a:cs typeface="Noto Sans KR SemiBold"/>
              </a:rPr>
              <a:t>▲ WE ARE HERE</a:t>
            </a:r>
          </a:p>
        </p:txBody>
      </p:sp>
      <p:sp>
        <p:nvSpPr>
          <p:cNvPr id="14" name="TextBox 13"/>
          <p:cNvSpPr txBox="1"/>
          <p:nvPr/>
        </p:nvSpPr>
        <p:spPr>
          <a:xfrm>
            <a:off x="2151844" y="2395728"/>
            <a:ext cx="7888006" cy="219456"/>
          </a:xfrm>
          <a:prstGeom prst="rect">
            <a:avLst/>
          </a:prstGeom>
          <a:noFill/>
        </p:spPr>
        <p:txBody>
          <a:bodyPr wrap="square" lIns="0" rIns="0" tIns="0" bIns="0" anchor="t">
            <a:noAutofit/>
          </a:bodyPr>
          <a:lstStyle/>
          <a:p>
            <a:pPr algn="ctr">
              <a:lnSpc>
                <a:spcPct val="112000"/>
              </a:lnSpc>
            </a:pPr>
            <a:r>
              <a:rPr sz="850" b="0" i="0" spc="100">
                <a:solidFill>
                  <a:srgbClr val="EC7A3C"/>
                </a:solidFill>
                <a:latin typeface="Noto Sans KR SemiBold"/>
                <a:ea typeface="Noto Sans KR SemiBold"/>
                <a:cs typeface="Noto Sans KR SemiBold"/>
              </a:rPr>
              <a:t>SEED ₩2.0B  ·  24 MONTHS</a:t>
            </a:r>
          </a:p>
        </p:txBody>
      </p:sp>
      <p:sp>
        <p:nvSpPr>
          <p:cNvPr id="15" name="TextBox 14"/>
          <p:cNvSpPr txBox="1"/>
          <p:nvPr/>
        </p:nvSpPr>
        <p:spPr>
          <a:xfrm>
            <a:off x="10167866" y="2395728"/>
            <a:ext cx="1475188" cy="219456"/>
          </a:xfrm>
          <a:prstGeom prst="rect">
            <a:avLst/>
          </a:prstGeom>
          <a:noFill/>
        </p:spPr>
        <p:txBody>
          <a:bodyPr wrap="square" lIns="0" rIns="0" tIns="0" bIns="0" anchor="t">
            <a:noAutofit/>
          </a:bodyPr>
          <a:lstStyle/>
          <a:p>
            <a:pPr algn="ctr">
              <a:lnSpc>
                <a:spcPct val="112000"/>
              </a:lnSpc>
            </a:pPr>
            <a:r>
              <a:rPr sz="850" b="0" i="0">
                <a:solidFill>
                  <a:srgbClr val="AEB3BB"/>
                </a:solidFill>
                <a:latin typeface="Noto Sans KR SemiBold"/>
                <a:ea typeface="Noto Sans KR SemiBold"/>
                <a:cs typeface="Noto Sans KR SemiBold"/>
              </a:rPr>
              <a:t>SERIES A →</a:t>
            </a:r>
          </a:p>
        </p:txBody>
      </p:sp>
      <p:sp>
        <p:nvSpPr>
          <p:cNvPr id="16" name="Today"/>
          <p:cNvSpPr/>
          <p:nvPr/>
        </p:nvSpPr>
        <p:spPr>
          <a:xfrm>
            <a:off x="548640" y="2761488"/>
            <a:ext cx="2743200" cy="2029968"/>
          </a:xfrm>
          <a:prstGeom prst="roundRect">
            <a:avLst>
              <a:gd name="adj" fmla="val 5405"/>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7" name="TextBox 16"/>
          <p:cNvSpPr txBox="1"/>
          <p:nvPr/>
        </p:nvSpPr>
        <p:spPr>
          <a:xfrm>
            <a:off x="749808" y="2852928"/>
            <a:ext cx="2377440" cy="274320"/>
          </a:xfrm>
          <a:prstGeom prst="rect">
            <a:avLst/>
          </a:prstGeom>
          <a:noFill/>
        </p:spPr>
        <p:txBody>
          <a:bodyPr wrap="square" lIns="0" rIns="0" tIns="0" bIns="0" anchor="t">
            <a:noAutofit/>
          </a:bodyPr>
          <a:lstStyle/>
          <a:p>
            <a:pPr algn="l">
              <a:lnSpc>
                <a:spcPct val="112000"/>
              </a:lnSpc>
            </a:pPr>
            <a:r>
              <a:rPr sz="1150" b="0" i="0" spc="100">
                <a:solidFill>
                  <a:srgbClr val="AEB3BB"/>
                </a:solidFill>
                <a:latin typeface="Noto Sans KR Black"/>
                <a:ea typeface="Noto Sans KR Black"/>
                <a:cs typeface="Noto Sans KR Black"/>
              </a:rPr>
              <a:t>TODAY</a:t>
            </a:r>
          </a:p>
        </p:txBody>
      </p:sp>
      <p:sp>
        <p:nvSpPr>
          <p:cNvPr id="18" name="TextBox 17"/>
          <p:cNvSpPr txBox="1"/>
          <p:nvPr/>
        </p:nvSpPr>
        <p:spPr>
          <a:xfrm>
            <a:off x="749808" y="3200400"/>
            <a:ext cx="2377440" cy="1463040"/>
          </a:xfrm>
          <a:prstGeom prst="rect">
            <a:avLst/>
          </a:prstGeom>
          <a:noFill/>
        </p:spPr>
        <p:txBody>
          <a:bodyPr wrap="square" lIns="0" rIns="0" tIns="0" bIns="0" anchor="t">
            <a:noAutofit/>
          </a:bodyPr>
          <a:lstStyle/>
          <a:p>
            <a:pPr algn="l">
              <a:lnSpc>
                <a:spcPct val="145000"/>
              </a:lnSpc>
            </a:pPr>
            <a:r>
              <a:rPr sz="1100" b="0" i="0">
                <a:solidFill>
                  <a:srgbClr val="F2F2EF"/>
                </a:solidFill>
                <a:latin typeface="Noto Sans KR"/>
                <a:ea typeface="Noto Sans KR"/>
                <a:cs typeface="Noto Sans KR"/>
              </a:rPr>
              <a:t>Founder Vision</a:t>
            </a:r>
          </a:p>
          <a:p>
            <a:pPr algn="l">
              <a:lnSpc>
                <a:spcPct val="145000"/>
              </a:lnSpc>
            </a:pPr>
            <a:r>
              <a:rPr sz="1100" b="0" i="0">
                <a:solidFill>
                  <a:srgbClr val="F2F2EF"/>
                </a:solidFill>
                <a:latin typeface="Noto Sans KR"/>
                <a:ea typeface="Noto Sans KR"/>
                <a:cs typeface="Noto Sans KR"/>
              </a:rPr>
              <a:t>Technology Concept</a:t>
            </a:r>
          </a:p>
          <a:p>
            <a:pPr algn="l">
              <a:lnSpc>
                <a:spcPct val="145000"/>
              </a:lnSpc>
            </a:pPr>
            <a:r>
              <a:rPr sz="1100" b="0" i="0">
                <a:solidFill>
                  <a:srgbClr val="F2F2EF"/>
                </a:solidFill>
                <a:latin typeface="Noto Sans KR"/>
                <a:ea typeface="Noto Sans KR"/>
                <a:cs typeface="Noto Sans KR"/>
              </a:rPr>
              <a:t>Market Hypothesis</a:t>
            </a:r>
          </a:p>
          <a:p>
            <a:pPr algn="l">
              <a:lnSpc>
                <a:spcPct val="145000"/>
              </a:lnSpc>
            </a:pPr>
            <a:r>
              <a:rPr sz="1100" b="0" i="0">
                <a:solidFill>
                  <a:srgbClr val="F2F2EF"/>
                </a:solidFill>
                <a:latin typeface="Noto Sans KR"/>
                <a:ea typeface="Noto Sans KR"/>
                <a:cs typeface="Noto Sans KR"/>
              </a:rPr>
              <a:t>Early Architecture</a:t>
            </a:r>
          </a:p>
        </p:txBody>
      </p:sp>
      <p:sp>
        <p:nvSpPr>
          <p:cNvPr id="19" name="Seed"/>
          <p:cNvSpPr/>
          <p:nvPr/>
        </p:nvSpPr>
        <p:spPr>
          <a:xfrm>
            <a:off x="3456432" y="2761488"/>
            <a:ext cx="1874519" cy="2029968"/>
          </a:xfrm>
          <a:prstGeom prst="roundRect">
            <a:avLst>
              <a:gd name="adj" fmla="val 5853"/>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0" name="TextBox 19"/>
          <p:cNvSpPr txBox="1"/>
          <p:nvPr/>
        </p:nvSpPr>
        <p:spPr>
          <a:xfrm>
            <a:off x="3456432" y="3017520"/>
            <a:ext cx="1874519" cy="274320"/>
          </a:xfrm>
          <a:prstGeom prst="rect">
            <a:avLst/>
          </a:prstGeom>
          <a:noFill/>
        </p:spPr>
        <p:txBody>
          <a:bodyPr wrap="square" lIns="0" rIns="0" tIns="0" bIns="0" anchor="t">
            <a:noAutofit/>
          </a:bodyPr>
          <a:lstStyle/>
          <a:p>
            <a:pPr algn="ctr">
              <a:lnSpc>
                <a:spcPct val="112000"/>
              </a:lnSpc>
            </a:pPr>
            <a:r>
              <a:rPr sz="1000" b="0" i="0" spc="150">
                <a:solidFill>
                  <a:srgbClr val="0B0C0E"/>
                </a:solidFill>
                <a:latin typeface="Noto Sans KR SemiBold"/>
                <a:ea typeface="Noto Sans KR SemiBold"/>
                <a:cs typeface="Noto Sans KR SemiBold"/>
              </a:rPr>
              <a:t>SEED</a:t>
            </a:r>
          </a:p>
        </p:txBody>
      </p:sp>
      <p:sp>
        <p:nvSpPr>
          <p:cNvPr id="21" name="TextBox 20"/>
          <p:cNvSpPr txBox="1"/>
          <p:nvPr/>
        </p:nvSpPr>
        <p:spPr>
          <a:xfrm>
            <a:off x="3456432" y="3291840"/>
            <a:ext cx="1874519" cy="548640"/>
          </a:xfrm>
          <a:prstGeom prst="rect">
            <a:avLst/>
          </a:prstGeom>
          <a:noFill/>
        </p:spPr>
        <p:txBody>
          <a:bodyPr wrap="square" lIns="0" rIns="0" tIns="0" bIns="0" anchor="t">
            <a:noAutofit/>
          </a:bodyPr>
          <a:lstStyle/>
          <a:p>
            <a:pPr algn="ctr">
              <a:lnSpc>
                <a:spcPct val="112000"/>
              </a:lnSpc>
            </a:pPr>
            <a:r>
              <a:rPr sz="3000" b="0" i="0">
                <a:solidFill>
                  <a:srgbClr val="0B0C0E"/>
                </a:solidFill>
                <a:latin typeface="Noto Sans KR Black"/>
                <a:ea typeface="Noto Sans KR Black"/>
                <a:cs typeface="Noto Sans KR Black"/>
              </a:rPr>
              <a:t>₩2.0B</a:t>
            </a:r>
          </a:p>
        </p:txBody>
      </p:sp>
      <p:sp>
        <p:nvSpPr>
          <p:cNvPr id="22" name="TextBox 21"/>
          <p:cNvSpPr txBox="1"/>
          <p:nvPr/>
        </p:nvSpPr>
        <p:spPr>
          <a:xfrm>
            <a:off x="3456432" y="3931920"/>
            <a:ext cx="1874519" cy="548640"/>
          </a:xfrm>
          <a:prstGeom prst="rect">
            <a:avLst/>
          </a:prstGeom>
          <a:noFill/>
        </p:spPr>
        <p:txBody>
          <a:bodyPr wrap="square" lIns="0" rIns="0" tIns="0" bIns="0" anchor="t">
            <a:noAutofit/>
          </a:bodyPr>
          <a:lstStyle/>
          <a:p>
            <a:pPr algn="ctr">
              <a:lnSpc>
                <a:spcPct val="120000"/>
              </a:lnSpc>
            </a:pPr>
            <a:r>
              <a:rPr sz="1000" b="0" i="0">
                <a:solidFill>
                  <a:srgbClr val="0B0C0E"/>
                </a:solidFill>
                <a:latin typeface="Noto Sans KR SemiBold"/>
                <a:ea typeface="Noto Sans KR SemiBold"/>
                <a:cs typeface="Noto Sans KR SemiBold"/>
              </a:rPr>
              <a:t>24 MONTHS</a:t>
            </a:r>
          </a:p>
          <a:p>
            <a:pPr algn="ctr">
              <a:lnSpc>
                <a:spcPct val="120000"/>
              </a:lnSpc>
            </a:pPr>
            <a:r>
              <a:rPr sz="1000" b="0" i="0">
                <a:solidFill>
                  <a:srgbClr val="0B0C0E"/>
                </a:solidFill>
                <a:latin typeface="Noto Sans KR SemiBold"/>
                <a:ea typeface="Noto Sans KR SemiBold"/>
                <a:cs typeface="Noto Sans KR SemiBold"/>
              </a:rPr>
              <a:t>Company Creation</a:t>
            </a:r>
          </a:p>
        </p:txBody>
      </p:sp>
      <p:sp>
        <p:nvSpPr>
          <p:cNvPr id="23" name="24 months"/>
          <p:cNvSpPr/>
          <p:nvPr/>
        </p:nvSpPr>
        <p:spPr>
          <a:xfrm>
            <a:off x="5486400" y="2761488"/>
            <a:ext cx="4224528" cy="2029968"/>
          </a:xfrm>
          <a:prstGeom prst="roundRect">
            <a:avLst>
              <a:gd name="adj" fmla="val 5405"/>
            </a:avLst>
          </a:prstGeom>
          <a:solidFill>
            <a:srgbClr val="2E1D14"/>
          </a:solidFill>
          <a:ln w="1587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4" name="TextBox 23"/>
          <p:cNvSpPr txBox="1"/>
          <p:nvPr/>
        </p:nvSpPr>
        <p:spPr>
          <a:xfrm>
            <a:off x="5687568" y="2852928"/>
            <a:ext cx="3840480" cy="274320"/>
          </a:xfrm>
          <a:prstGeom prst="rect">
            <a:avLst/>
          </a:prstGeom>
          <a:noFill/>
        </p:spPr>
        <p:txBody>
          <a:bodyPr wrap="square" lIns="0" rIns="0" tIns="0" bIns="0" anchor="t">
            <a:noAutofit/>
          </a:bodyPr>
          <a:lstStyle/>
          <a:p>
            <a:pPr algn="l">
              <a:lnSpc>
                <a:spcPct val="112000"/>
              </a:lnSpc>
            </a:pPr>
            <a:r>
              <a:rPr sz="1150" b="0" i="0" spc="100">
                <a:solidFill>
                  <a:srgbClr val="EC7A3C"/>
                </a:solidFill>
                <a:latin typeface="Noto Sans KR Black"/>
                <a:ea typeface="Noto Sans KR Black"/>
                <a:cs typeface="Noto Sans KR Black"/>
              </a:rPr>
              <a:t>24 MONTHS</a:t>
            </a:r>
          </a:p>
        </p:txBody>
      </p:sp>
      <p:sp>
        <p:nvSpPr>
          <p:cNvPr id="25" name="Oval 24"/>
          <p:cNvSpPr/>
          <p:nvPr/>
        </p:nvSpPr>
        <p:spPr>
          <a:xfrm>
            <a:off x="5701283" y="3287268"/>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6" name="TextBox 25"/>
          <p:cNvSpPr txBox="1"/>
          <p:nvPr/>
        </p:nvSpPr>
        <p:spPr>
          <a:xfrm>
            <a:off x="5870448" y="3200400"/>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Core Team</a:t>
            </a:r>
          </a:p>
        </p:txBody>
      </p:sp>
      <p:sp>
        <p:nvSpPr>
          <p:cNvPr id="27" name="Oval 26"/>
          <p:cNvSpPr/>
          <p:nvPr/>
        </p:nvSpPr>
        <p:spPr>
          <a:xfrm>
            <a:off x="5701283" y="3589020"/>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8" name="TextBox 27"/>
          <p:cNvSpPr txBox="1"/>
          <p:nvPr/>
        </p:nvSpPr>
        <p:spPr>
          <a:xfrm>
            <a:off x="5870448" y="3502152"/>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Validated Product</a:t>
            </a:r>
          </a:p>
        </p:txBody>
      </p:sp>
      <p:sp>
        <p:nvSpPr>
          <p:cNvPr id="29" name="Oval 28"/>
          <p:cNvSpPr/>
          <p:nvPr/>
        </p:nvSpPr>
        <p:spPr>
          <a:xfrm>
            <a:off x="5701283" y="3890772"/>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0" name="TextBox 29"/>
          <p:cNvSpPr txBox="1"/>
          <p:nvPr/>
        </p:nvSpPr>
        <p:spPr>
          <a:xfrm>
            <a:off x="5870448" y="3803904"/>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Paid Customers (5+)</a:t>
            </a:r>
          </a:p>
        </p:txBody>
      </p:sp>
      <p:sp>
        <p:nvSpPr>
          <p:cNvPr id="31" name="Oval 30"/>
          <p:cNvSpPr/>
          <p:nvPr/>
        </p:nvSpPr>
        <p:spPr>
          <a:xfrm>
            <a:off x="5701283" y="4192524"/>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2" name="TextBox 31"/>
          <p:cNvSpPr txBox="1"/>
          <p:nvPr/>
        </p:nvSpPr>
        <p:spPr>
          <a:xfrm>
            <a:off x="5870448" y="4105656"/>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Repeat Orders (2+)</a:t>
            </a:r>
          </a:p>
        </p:txBody>
      </p:sp>
      <p:sp>
        <p:nvSpPr>
          <p:cNvPr id="33" name="Oval 32"/>
          <p:cNvSpPr/>
          <p:nvPr/>
        </p:nvSpPr>
        <p:spPr>
          <a:xfrm>
            <a:off x="5701283" y="4494276"/>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4" name="TextBox 33"/>
          <p:cNvSpPr txBox="1"/>
          <p:nvPr/>
        </p:nvSpPr>
        <p:spPr>
          <a:xfrm>
            <a:off x="5870448" y="4407408"/>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Manufacturing Economics</a:t>
            </a:r>
          </a:p>
        </p:txBody>
      </p:sp>
      <p:sp>
        <p:nvSpPr>
          <p:cNvPr id="35" name="Oval 34"/>
          <p:cNvSpPr/>
          <p:nvPr/>
        </p:nvSpPr>
        <p:spPr>
          <a:xfrm>
            <a:off x="7712964" y="3287268"/>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6" name="TextBox 35"/>
          <p:cNvSpPr txBox="1"/>
          <p:nvPr/>
        </p:nvSpPr>
        <p:spPr>
          <a:xfrm>
            <a:off x="7882127" y="3200400"/>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IP Portfolio</a:t>
            </a:r>
          </a:p>
        </p:txBody>
      </p:sp>
      <p:sp>
        <p:nvSpPr>
          <p:cNvPr id="37" name="Oval 36"/>
          <p:cNvSpPr/>
          <p:nvPr/>
        </p:nvSpPr>
        <p:spPr>
          <a:xfrm>
            <a:off x="7712964" y="3589020"/>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8" name="TextBox 37"/>
          <p:cNvSpPr txBox="1"/>
          <p:nvPr/>
        </p:nvSpPr>
        <p:spPr>
          <a:xfrm>
            <a:off x="7882127" y="3502152"/>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Tool Skill Library</a:t>
            </a:r>
          </a:p>
        </p:txBody>
      </p:sp>
      <p:sp>
        <p:nvSpPr>
          <p:cNvPr id="39" name="Oval 38"/>
          <p:cNvSpPr/>
          <p:nvPr/>
        </p:nvSpPr>
        <p:spPr>
          <a:xfrm>
            <a:off x="7712964" y="3890772"/>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0" name="TextBox 39"/>
          <p:cNvSpPr txBox="1"/>
          <p:nvPr/>
        </p:nvSpPr>
        <p:spPr>
          <a:xfrm>
            <a:off x="7882127" y="3803904"/>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Manipulation Data</a:t>
            </a:r>
          </a:p>
        </p:txBody>
      </p:sp>
      <p:sp>
        <p:nvSpPr>
          <p:cNvPr id="41" name="Oval 40"/>
          <p:cNvSpPr/>
          <p:nvPr/>
        </p:nvSpPr>
        <p:spPr>
          <a:xfrm>
            <a:off x="7712964" y="4192524"/>
            <a:ext cx="64008" cy="64008"/>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2" name="TextBox 41"/>
          <p:cNvSpPr txBox="1"/>
          <p:nvPr/>
        </p:nvSpPr>
        <p:spPr>
          <a:xfrm>
            <a:off x="7882127" y="4105656"/>
            <a:ext cx="1828800" cy="256032"/>
          </a:xfrm>
          <a:prstGeom prst="rect">
            <a:avLst/>
          </a:prstGeom>
          <a:noFill/>
        </p:spPr>
        <p:txBody>
          <a:bodyPr wrap="square" lIns="0" rIns="0" tIns="0" bIns="0" anchor="t">
            <a:noAutofit/>
          </a:bodyPr>
          <a:lstStyle/>
          <a:p>
            <a:pPr algn="l">
              <a:lnSpc>
                <a:spcPct val="112000"/>
              </a:lnSpc>
            </a:pPr>
            <a:r>
              <a:rPr sz="1050" b="0" i="0">
                <a:solidFill>
                  <a:srgbClr val="F2F2EF"/>
                </a:solidFill>
                <a:latin typeface="Noto Sans KR"/>
                <a:ea typeface="Noto Sans KR"/>
                <a:cs typeface="Noto Sans KR"/>
              </a:rPr>
              <a:t>OEM Discussion</a:t>
            </a:r>
          </a:p>
        </p:txBody>
      </p:sp>
      <p:sp>
        <p:nvSpPr>
          <p:cNvPr id="43" name="Isosceles Triangle 42"/>
          <p:cNvSpPr/>
          <p:nvPr/>
        </p:nvSpPr>
        <p:spPr>
          <a:xfrm rot="5400000">
            <a:off x="3218688" y="3703320"/>
            <a:ext cx="146304" cy="146304"/>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4" name="Isosceles Triangle 43"/>
          <p:cNvSpPr/>
          <p:nvPr/>
        </p:nvSpPr>
        <p:spPr>
          <a:xfrm rot="5400000">
            <a:off x="5340096" y="3703320"/>
            <a:ext cx="146304" cy="146304"/>
          </a:xfrm>
          <a:prstGeom prst="triangle">
            <a:avLst/>
          </a:prstGeom>
          <a:solidFill>
            <a:srgbClr val="73788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5" name="Isosceles Triangle 44"/>
          <p:cNvSpPr/>
          <p:nvPr/>
        </p:nvSpPr>
        <p:spPr>
          <a:xfrm rot="5400000">
            <a:off x="9710928" y="3703320"/>
            <a:ext cx="146304" cy="146304"/>
          </a:xfrm>
          <a:prstGeom prst="triangl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6" name="Series A ready"/>
          <p:cNvSpPr/>
          <p:nvPr/>
        </p:nvSpPr>
        <p:spPr>
          <a:xfrm>
            <a:off x="9921240" y="2761488"/>
            <a:ext cx="1721815" cy="2029968"/>
          </a:xfrm>
          <a:prstGeom prst="roundRect">
            <a:avLst>
              <a:gd name="adj" fmla="val 6372"/>
            </a:avLst>
          </a:prstGeom>
          <a:solidFill>
            <a:srgbClr val="15171B"/>
          </a:solidFill>
          <a:ln w="15875">
            <a:solidFill>
              <a:srgbClr val="EC7A3C"/>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47" name="TextBox 46"/>
          <p:cNvSpPr txBox="1"/>
          <p:nvPr/>
        </p:nvSpPr>
        <p:spPr>
          <a:xfrm>
            <a:off x="10012680" y="3246120"/>
            <a:ext cx="1538935" cy="777240"/>
          </a:xfrm>
          <a:prstGeom prst="rect">
            <a:avLst/>
          </a:prstGeom>
          <a:noFill/>
        </p:spPr>
        <p:txBody>
          <a:bodyPr wrap="square" lIns="0" rIns="0" tIns="0" bIns="0" anchor="t">
            <a:noAutofit/>
          </a:bodyPr>
          <a:lstStyle/>
          <a:p>
            <a:pPr algn="ctr">
              <a:lnSpc>
                <a:spcPct val="100000"/>
              </a:lnSpc>
            </a:pPr>
            <a:r>
              <a:rPr sz="1700" b="0" i="0">
                <a:solidFill>
                  <a:srgbClr val="F2F2EF"/>
                </a:solidFill>
                <a:latin typeface="Noto Sans KR Black"/>
                <a:ea typeface="Noto Sans KR Black"/>
                <a:cs typeface="Noto Sans KR Black"/>
              </a:rPr>
              <a:t>SERIES A</a:t>
            </a:r>
          </a:p>
          <a:p>
            <a:pPr algn="ctr">
              <a:lnSpc>
                <a:spcPct val="100000"/>
              </a:lnSpc>
            </a:pPr>
            <a:r>
              <a:rPr sz="1700" b="0" i="0">
                <a:solidFill>
                  <a:srgbClr val="F2F2EF"/>
                </a:solidFill>
                <a:latin typeface="Noto Sans KR Black"/>
                <a:ea typeface="Noto Sans KR Black"/>
                <a:cs typeface="Noto Sans KR Black"/>
              </a:rPr>
              <a:t>READY</a:t>
            </a:r>
          </a:p>
        </p:txBody>
      </p:sp>
      <p:sp>
        <p:nvSpPr>
          <p:cNvPr id="48" name="TextBox 47"/>
          <p:cNvSpPr txBox="1"/>
          <p:nvPr/>
        </p:nvSpPr>
        <p:spPr>
          <a:xfrm>
            <a:off x="10012680" y="4069080"/>
            <a:ext cx="1538935" cy="457200"/>
          </a:xfrm>
          <a:prstGeom prst="rect">
            <a:avLst/>
          </a:prstGeom>
          <a:noFill/>
        </p:spPr>
        <p:txBody>
          <a:bodyPr wrap="square" lIns="0" rIns="0" tIns="0" bIns="0" anchor="t">
            <a:noAutofit/>
          </a:bodyPr>
          <a:lstStyle/>
          <a:p>
            <a:pPr algn="ctr">
              <a:lnSpc>
                <a:spcPct val="115000"/>
              </a:lnSpc>
            </a:pPr>
            <a:r>
              <a:rPr sz="950" b="0" i="0">
                <a:solidFill>
                  <a:srgbClr val="EC7A3C"/>
                </a:solidFill>
                <a:latin typeface="Noto Sans KR"/>
                <a:ea typeface="Noto Sans KR"/>
                <a:cs typeface="Noto Sans KR"/>
              </a:rPr>
              <a:t>Commercial</a:t>
            </a:r>
          </a:p>
          <a:p>
            <a:pPr algn="ctr">
              <a:lnSpc>
                <a:spcPct val="115000"/>
              </a:lnSpc>
            </a:pPr>
            <a:r>
              <a:rPr sz="950" b="0" i="0">
                <a:solidFill>
                  <a:srgbClr val="EC7A3C"/>
                </a:solidFill>
                <a:latin typeface="Noto Sans KR"/>
                <a:ea typeface="Noto Sans KR"/>
                <a:cs typeface="Noto Sans KR"/>
              </a:rPr>
              <a:t>Validation</a:t>
            </a:r>
          </a:p>
        </p:txBody>
      </p:sp>
      <p:sp>
        <p:nvSpPr>
          <p:cNvPr id="49" name="TextBox 48"/>
          <p:cNvSpPr txBox="1"/>
          <p:nvPr/>
        </p:nvSpPr>
        <p:spPr>
          <a:xfrm>
            <a:off x="548640" y="4956048"/>
            <a:ext cx="3657600" cy="237744"/>
          </a:xfrm>
          <a:prstGeom prst="rect">
            <a:avLst/>
          </a:prstGeom>
          <a:noFill/>
        </p:spPr>
        <p:txBody>
          <a:bodyPr wrap="square" lIns="0" rIns="0" tIns="0" bIns="0" anchor="t">
            <a:noAutofit/>
          </a:bodyPr>
          <a:lstStyle/>
          <a:p>
            <a:pPr algn="l">
              <a:lnSpc>
                <a:spcPct val="112000"/>
              </a:lnSpc>
            </a:pPr>
            <a:r>
              <a:rPr sz="1050" b="0" i="0" spc="100">
                <a:solidFill>
                  <a:srgbClr val="F2F2EF"/>
                </a:solidFill>
                <a:latin typeface="Noto Sans KR Black"/>
                <a:ea typeface="Noto Sans KR Black"/>
                <a:cs typeface="Noto Sans KR Black"/>
              </a:rPr>
              <a:t>USE OF FUNDS  ·  ₩20억</a:t>
            </a:r>
          </a:p>
        </p:txBody>
      </p:sp>
      <p:sp>
        <p:nvSpPr>
          <p:cNvPr id="50" name="Placeholder"/>
          <p:cNvSpPr/>
          <p:nvPr/>
        </p:nvSpPr>
        <p:spPr>
          <a:xfrm>
            <a:off x="8351215" y="4919472"/>
            <a:ext cx="3291840" cy="274320"/>
          </a:xfrm>
          <a:prstGeom prst="roundRect">
            <a:avLst>
              <a:gd name="adj" fmla="val 2000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00" b="0" i="0">
                <a:solidFill>
                  <a:srgbClr val="E8B649"/>
                </a:solidFill>
                <a:latin typeface="Noto Sans KR Medium"/>
                <a:ea typeface="Noto Sans KR Medium"/>
                <a:cs typeface="Noto Sans KR Medium"/>
              </a:rPr>
              <a:t>Valuation · 지분율: 협의 [투자 조건 입력 필요]</a:t>
            </a:r>
          </a:p>
        </p:txBody>
      </p:sp>
      <p:sp>
        <p:nvSpPr>
          <p:cNvPr id="51" name="UoF 핵심 개발인력"/>
          <p:cNvSpPr/>
          <p:nvPr/>
        </p:nvSpPr>
        <p:spPr>
          <a:xfrm>
            <a:off x="548640" y="5285232"/>
            <a:ext cx="4974198" cy="329184"/>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2" name="UoF Prototype · 내구시험"/>
          <p:cNvSpPr/>
          <p:nvPr/>
        </p:nvSpPr>
        <p:spPr>
          <a:xfrm>
            <a:off x="5541126" y="5285232"/>
            <a:ext cx="1645874" cy="329184"/>
          </a:xfrm>
          <a:prstGeom prst="rect">
            <a:avLst/>
          </a:prstGeom>
          <a:solidFill>
            <a:srgbClr val="F3A574"/>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3" name="UoF 고객 PoC · 현장통합"/>
          <p:cNvSpPr/>
          <p:nvPr/>
        </p:nvSpPr>
        <p:spPr>
          <a:xfrm>
            <a:off x="7205289" y="5285232"/>
            <a:ext cx="1368513" cy="329184"/>
          </a:xfrm>
          <a:prstGeom prst="rect">
            <a:avLst/>
          </a:prstGeom>
          <a:solidFill>
            <a:srgbClr val="E9E7E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4" name="UoF AI · Data · SW"/>
          <p:cNvSpPr/>
          <p:nvPr/>
        </p:nvSpPr>
        <p:spPr>
          <a:xfrm>
            <a:off x="8592091" y="5285232"/>
            <a:ext cx="813793" cy="329184"/>
          </a:xfrm>
          <a:prstGeom prst="rect">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5" name="UoF 제조 · 품질 · IP"/>
          <p:cNvSpPr/>
          <p:nvPr/>
        </p:nvSpPr>
        <p:spPr>
          <a:xfrm>
            <a:off x="9424172" y="5285232"/>
            <a:ext cx="813793" cy="329184"/>
          </a:xfrm>
          <a:prstGeom prst="rect">
            <a:avLst/>
          </a:prstGeom>
          <a:solidFill>
            <a:srgbClr val="7D828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6" name="UoF Kitchen Showcase"/>
          <p:cNvSpPr/>
          <p:nvPr/>
        </p:nvSpPr>
        <p:spPr>
          <a:xfrm>
            <a:off x="10256253" y="5285232"/>
            <a:ext cx="259072" cy="329184"/>
          </a:xfrm>
          <a:prstGeom prst="rect">
            <a:avLst/>
          </a:prstGeom>
          <a:solidFill>
            <a:srgbClr val="4C515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7" name="UoF 운영 · Contingency"/>
          <p:cNvSpPr/>
          <p:nvPr/>
        </p:nvSpPr>
        <p:spPr>
          <a:xfrm>
            <a:off x="10533613" y="5285232"/>
            <a:ext cx="1091153" cy="329184"/>
          </a:xfrm>
          <a:prstGeom prst="rect">
            <a:avLst/>
          </a:prstGeom>
          <a:solidFill>
            <a:srgbClr val="25292F"/>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8" name="Rectangle 57"/>
          <p:cNvSpPr/>
          <p:nvPr/>
        </p:nvSpPr>
        <p:spPr>
          <a:xfrm>
            <a:off x="548640" y="5760720"/>
            <a:ext cx="118872" cy="118872"/>
          </a:xfrm>
          <a:prstGeom prst="rect">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59" name="TextBox 58"/>
          <p:cNvSpPr txBox="1"/>
          <p:nvPr/>
        </p:nvSpPr>
        <p:spPr>
          <a:xfrm>
            <a:off x="731520" y="5705856"/>
            <a:ext cx="2743200" cy="237744"/>
          </a:xfrm>
          <a:prstGeom prst="rect">
            <a:avLst/>
          </a:prstGeom>
          <a:noFill/>
        </p:spPr>
        <p:txBody>
          <a:bodyPr wrap="square" lIns="0" rIns="0" tIns="0" bIns="0" anchor="t">
            <a:noAutofit/>
          </a:bodyPr>
          <a:lstStyle/>
          <a:p>
            <a:pPr algn="l">
              <a:lnSpc>
                <a:spcPct val="112000"/>
              </a:lnSpc>
            </a:pPr>
            <a:r>
              <a:rPr sz="950" b="0" i="0">
                <a:solidFill>
                  <a:srgbClr val="F2F2EF"/>
                </a:solidFill>
                <a:latin typeface="Noto Sans KR"/>
                <a:ea typeface="Noto Sans KR"/>
                <a:cs typeface="Noto Sans KR"/>
              </a:rPr>
              <a:t>핵심 개발인력 9.0억 (45%)</a:t>
            </a:r>
          </a:p>
        </p:txBody>
      </p:sp>
      <p:sp>
        <p:nvSpPr>
          <p:cNvPr id="60" name="Rectangle 59"/>
          <p:cNvSpPr/>
          <p:nvPr/>
        </p:nvSpPr>
        <p:spPr>
          <a:xfrm>
            <a:off x="3337560" y="5760720"/>
            <a:ext cx="118872" cy="118872"/>
          </a:xfrm>
          <a:prstGeom prst="rect">
            <a:avLst/>
          </a:prstGeom>
          <a:solidFill>
            <a:srgbClr val="F3A574"/>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61" name="TextBox 60"/>
          <p:cNvSpPr txBox="1"/>
          <p:nvPr/>
        </p:nvSpPr>
        <p:spPr>
          <a:xfrm>
            <a:off x="3520440" y="5705856"/>
            <a:ext cx="2743200" cy="237744"/>
          </a:xfrm>
          <a:prstGeom prst="rect">
            <a:avLst/>
          </a:prstGeom>
          <a:noFill/>
        </p:spPr>
        <p:txBody>
          <a:bodyPr wrap="square" lIns="0" rIns="0" tIns="0" bIns="0" anchor="t">
            <a:noAutofit/>
          </a:bodyPr>
          <a:lstStyle/>
          <a:p>
            <a:pPr algn="l">
              <a:lnSpc>
                <a:spcPct val="112000"/>
              </a:lnSpc>
            </a:pPr>
            <a:r>
              <a:rPr sz="950" b="0" i="0">
                <a:solidFill>
                  <a:srgbClr val="F2F2EF"/>
                </a:solidFill>
                <a:latin typeface="Noto Sans KR"/>
                <a:ea typeface="Noto Sans KR"/>
                <a:cs typeface="Noto Sans KR"/>
              </a:rPr>
              <a:t>Prototype · 내구시험 3.0억 (15%)</a:t>
            </a:r>
          </a:p>
        </p:txBody>
      </p:sp>
      <p:sp>
        <p:nvSpPr>
          <p:cNvPr id="62" name="Rectangle 61"/>
          <p:cNvSpPr/>
          <p:nvPr/>
        </p:nvSpPr>
        <p:spPr>
          <a:xfrm>
            <a:off x="6126479" y="5760720"/>
            <a:ext cx="118872" cy="118872"/>
          </a:xfrm>
          <a:prstGeom prst="rect">
            <a:avLst/>
          </a:prstGeom>
          <a:solidFill>
            <a:srgbClr val="E9E7E2"/>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63" name="TextBox 62"/>
          <p:cNvSpPr txBox="1"/>
          <p:nvPr/>
        </p:nvSpPr>
        <p:spPr>
          <a:xfrm>
            <a:off x="6309359" y="5705856"/>
            <a:ext cx="2743200" cy="237744"/>
          </a:xfrm>
          <a:prstGeom prst="rect">
            <a:avLst/>
          </a:prstGeom>
          <a:noFill/>
        </p:spPr>
        <p:txBody>
          <a:bodyPr wrap="square" lIns="0" rIns="0" tIns="0" bIns="0" anchor="t">
            <a:noAutofit/>
          </a:bodyPr>
          <a:lstStyle/>
          <a:p>
            <a:pPr algn="l">
              <a:lnSpc>
                <a:spcPct val="112000"/>
              </a:lnSpc>
            </a:pPr>
            <a:r>
              <a:rPr sz="950" b="0" i="0">
                <a:solidFill>
                  <a:srgbClr val="F2F2EF"/>
                </a:solidFill>
                <a:latin typeface="Noto Sans KR"/>
                <a:ea typeface="Noto Sans KR"/>
                <a:cs typeface="Noto Sans KR"/>
              </a:rPr>
              <a:t>고객 PoC · 현장통합 2.5억 (12.5%)</a:t>
            </a:r>
          </a:p>
        </p:txBody>
      </p:sp>
      <p:sp>
        <p:nvSpPr>
          <p:cNvPr id="64" name="Rectangle 63"/>
          <p:cNvSpPr/>
          <p:nvPr/>
        </p:nvSpPr>
        <p:spPr>
          <a:xfrm>
            <a:off x="8915400" y="5760720"/>
            <a:ext cx="118872" cy="118872"/>
          </a:xfrm>
          <a:prstGeom prst="rect">
            <a:avLst/>
          </a:prstGeom>
          <a:solidFill>
            <a:srgbClr val="AEB3B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65" name="TextBox 64"/>
          <p:cNvSpPr txBox="1"/>
          <p:nvPr/>
        </p:nvSpPr>
        <p:spPr>
          <a:xfrm>
            <a:off x="9098280" y="5705856"/>
            <a:ext cx="2743200" cy="237744"/>
          </a:xfrm>
          <a:prstGeom prst="rect">
            <a:avLst/>
          </a:prstGeom>
          <a:noFill/>
        </p:spPr>
        <p:txBody>
          <a:bodyPr wrap="square" lIns="0" rIns="0" tIns="0" bIns="0" anchor="t">
            <a:noAutofit/>
          </a:bodyPr>
          <a:lstStyle/>
          <a:p>
            <a:pPr algn="l">
              <a:lnSpc>
                <a:spcPct val="112000"/>
              </a:lnSpc>
            </a:pPr>
            <a:r>
              <a:rPr sz="950" b="0" i="0">
                <a:solidFill>
                  <a:srgbClr val="F2F2EF"/>
                </a:solidFill>
                <a:latin typeface="Noto Sans KR"/>
                <a:ea typeface="Noto Sans KR"/>
                <a:cs typeface="Noto Sans KR"/>
              </a:rPr>
              <a:t>AI · Data · SW 1.5억 (7.5%)</a:t>
            </a:r>
          </a:p>
        </p:txBody>
      </p:sp>
      <p:sp>
        <p:nvSpPr>
          <p:cNvPr id="66" name="Rectangle 65"/>
          <p:cNvSpPr/>
          <p:nvPr/>
        </p:nvSpPr>
        <p:spPr>
          <a:xfrm>
            <a:off x="548640" y="5998464"/>
            <a:ext cx="118872" cy="118872"/>
          </a:xfrm>
          <a:prstGeom prst="rect">
            <a:avLst/>
          </a:prstGeom>
          <a:solidFill>
            <a:srgbClr val="7D828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67" name="TextBox 66"/>
          <p:cNvSpPr txBox="1"/>
          <p:nvPr/>
        </p:nvSpPr>
        <p:spPr>
          <a:xfrm>
            <a:off x="731520" y="5943600"/>
            <a:ext cx="2743200" cy="237744"/>
          </a:xfrm>
          <a:prstGeom prst="rect">
            <a:avLst/>
          </a:prstGeom>
          <a:noFill/>
        </p:spPr>
        <p:txBody>
          <a:bodyPr wrap="square" lIns="0" rIns="0" tIns="0" bIns="0" anchor="t">
            <a:noAutofit/>
          </a:bodyPr>
          <a:lstStyle/>
          <a:p>
            <a:pPr algn="l">
              <a:lnSpc>
                <a:spcPct val="112000"/>
              </a:lnSpc>
            </a:pPr>
            <a:r>
              <a:rPr sz="950" b="0" i="0">
                <a:solidFill>
                  <a:srgbClr val="F2F2EF"/>
                </a:solidFill>
                <a:latin typeface="Noto Sans KR"/>
                <a:ea typeface="Noto Sans KR"/>
                <a:cs typeface="Noto Sans KR"/>
              </a:rPr>
              <a:t>제조 · 품질 · IP 1.5억 (7.5%)</a:t>
            </a:r>
          </a:p>
        </p:txBody>
      </p:sp>
      <p:sp>
        <p:nvSpPr>
          <p:cNvPr id="68" name="Rectangle 67"/>
          <p:cNvSpPr/>
          <p:nvPr/>
        </p:nvSpPr>
        <p:spPr>
          <a:xfrm>
            <a:off x="3337560" y="5998464"/>
            <a:ext cx="118872" cy="118872"/>
          </a:xfrm>
          <a:prstGeom prst="rect">
            <a:avLst/>
          </a:prstGeom>
          <a:solidFill>
            <a:srgbClr val="4C5159"/>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69" name="TextBox 68"/>
          <p:cNvSpPr txBox="1"/>
          <p:nvPr/>
        </p:nvSpPr>
        <p:spPr>
          <a:xfrm>
            <a:off x="3520440" y="5943600"/>
            <a:ext cx="2743200" cy="237744"/>
          </a:xfrm>
          <a:prstGeom prst="rect">
            <a:avLst/>
          </a:prstGeom>
          <a:noFill/>
        </p:spPr>
        <p:txBody>
          <a:bodyPr wrap="square" lIns="0" rIns="0" tIns="0" bIns="0" anchor="t">
            <a:noAutofit/>
          </a:bodyPr>
          <a:lstStyle/>
          <a:p>
            <a:pPr algn="l">
              <a:lnSpc>
                <a:spcPct val="112000"/>
              </a:lnSpc>
            </a:pPr>
            <a:r>
              <a:rPr sz="950" b="0" i="0">
                <a:solidFill>
                  <a:srgbClr val="F2F2EF"/>
                </a:solidFill>
                <a:latin typeface="Noto Sans KR"/>
                <a:ea typeface="Noto Sans KR"/>
                <a:cs typeface="Noto Sans KR"/>
              </a:rPr>
              <a:t>Kitchen Showcase 0.5억 (2.5%)</a:t>
            </a:r>
          </a:p>
        </p:txBody>
      </p:sp>
      <p:sp>
        <p:nvSpPr>
          <p:cNvPr id="70" name="Rectangle 69"/>
          <p:cNvSpPr/>
          <p:nvPr/>
        </p:nvSpPr>
        <p:spPr>
          <a:xfrm>
            <a:off x="6126479" y="5998464"/>
            <a:ext cx="118872" cy="118872"/>
          </a:xfrm>
          <a:prstGeom prst="rect">
            <a:avLst/>
          </a:prstGeom>
          <a:solidFill>
            <a:srgbClr val="25292F"/>
          </a:solid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1" name="TextBox 70"/>
          <p:cNvSpPr txBox="1"/>
          <p:nvPr/>
        </p:nvSpPr>
        <p:spPr>
          <a:xfrm>
            <a:off x="6309359" y="5943600"/>
            <a:ext cx="2743200" cy="237744"/>
          </a:xfrm>
          <a:prstGeom prst="rect">
            <a:avLst/>
          </a:prstGeom>
          <a:noFill/>
        </p:spPr>
        <p:txBody>
          <a:bodyPr wrap="square" lIns="0" rIns="0" tIns="0" bIns="0" anchor="t">
            <a:noAutofit/>
          </a:bodyPr>
          <a:lstStyle/>
          <a:p>
            <a:pPr algn="l">
              <a:lnSpc>
                <a:spcPct val="112000"/>
              </a:lnSpc>
            </a:pPr>
            <a:r>
              <a:rPr sz="950" b="0" i="0">
                <a:solidFill>
                  <a:srgbClr val="F2F2EF"/>
                </a:solidFill>
                <a:latin typeface="Noto Sans KR"/>
                <a:ea typeface="Noto Sans KR"/>
                <a:cs typeface="Noto Sans KR"/>
              </a:rPr>
              <a:t>운영 · Contingency 2.0억 (10%)</a:t>
            </a:r>
          </a:p>
        </p:txBody>
      </p:sp>
      <p:sp>
        <p:nvSpPr>
          <p:cNvPr id="72" name="TextBox 71"/>
          <p:cNvSpPr txBox="1"/>
          <p:nvPr/>
        </p:nvSpPr>
        <p:spPr>
          <a:xfrm>
            <a:off x="8534095" y="5943600"/>
            <a:ext cx="3108960" cy="237744"/>
          </a:xfrm>
          <a:prstGeom prst="rect">
            <a:avLst/>
          </a:prstGeom>
          <a:noFill/>
        </p:spPr>
        <p:txBody>
          <a:bodyPr wrap="square" lIns="0" rIns="0" tIns="0" bIns="0" anchor="t">
            <a:noAutofit/>
          </a:bodyPr>
          <a:lstStyle/>
          <a:p>
            <a:pPr algn="r">
              <a:lnSpc>
                <a:spcPct val="112000"/>
              </a:lnSpc>
            </a:pPr>
            <a:r>
              <a:rPr sz="950" b="0" i="0">
                <a:solidFill>
                  <a:srgbClr val="EC7A3C"/>
                </a:solidFill>
                <a:latin typeface="Noto Sans KR SemiBold"/>
                <a:ea typeface="Noto Sans KR SemiBold"/>
                <a:cs typeface="Noto Sans KR SemiBold"/>
              </a:rPr>
              <a:t>고객 검증 2.5억 = Kitchen 데모 0.5억의 5배</a:t>
            </a:r>
          </a:p>
        </p:txBody>
      </p:sp>
      <p:sp>
        <p:nvSpPr>
          <p:cNvPr id="73" name="Footer"/>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737882"/>
                </a:solidFill>
                <a:latin typeface="Noto Sans KR"/>
                <a:ea typeface="Noto Sans KR"/>
                <a:cs typeface="Noto Sans KR"/>
              </a:rPr>
              <a:t>[회사명 입력 필요]  ·  Founding &amp; Seed Investment Proposal  ·  Confidential</a:t>
            </a:r>
          </a:p>
        </p:txBody>
      </p:sp>
      <p:sp>
        <p:nvSpPr>
          <p:cNvPr id="74" name="Page number"/>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0C0E"/>
        </a:solidFill>
        <a:effectLst/>
      </p:bgPr>
    </p:bg>
    <p:spTree>
      <p:nvGrpSpPr>
        <p:cNvPr id="1" name=""/>
        <p:cNvGrpSpPr/>
        <p:nvPr/>
      </p:nvGrpSpPr>
      <p:grpSpPr/>
      <p:pic>
        <p:nvPicPr>
          <p:cNvPr id="2" name="Glow" descr="decorative glow"/>
          <p:cNvPicPr>
            <a:picLocks noChangeAspect="1"/>
          </p:cNvPicPr>
          <p:nvPr/>
        </p:nvPicPr>
        <p:blipFill>
          <a:blip r:embed="rId2"/>
          <a:stretch>
            <a:fillRect/>
          </a:stretch>
        </p:blipFill>
        <p:spPr>
          <a:xfrm>
            <a:off x="6446520" y="91440"/>
            <a:ext cx="6400800" cy="6400800"/>
          </a:xfrm>
          <a:prstGeom prst="rect">
            <a:avLst/>
          </a:prstGeom>
        </p:spPr>
      </p:pic>
      <p:pic>
        <p:nvPicPr>
          <p:cNvPr id="3" name="Product rendering" descr="Concept rendering of SoftHand-4 on a cobot wrist"/>
          <p:cNvPicPr>
            <a:picLocks noChangeAspect="1"/>
          </p:cNvPicPr>
          <p:nvPr/>
        </p:nvPicPr>
        <p:blipFill>
          <a:blip r:embed="rId3"/>
          <a:stretch>
            <a:fillRect/>
          </a:stretch>
        </p:blipFill>
        <p:spPr>
          <a:xfrm>
            <a:off x="8091140" y="594360"/>
            <a:ext cx="3202999" cy="5120640"/>
          </a:xfrm>
          <a:prstGeom prst="rect">
            <a:avLst/>
          </a:prstGeom>
        </p:spPr>
      </p:pic>
      <p:sp>
        <p:nvSpPr>
          <p:cNvPr id="4" name="Tag CONCEPT RENDERING"/>
          <p:cNvSpPr/>
          <p:nvPr/>
        </p:nvSpPr>
        <p:spPr>
          <a:xfrm>
            <a:off x="10352125" y="5779008"/>
            <a:ext cx="1290929" cy="243840"/>
          </a:xfrm>
          <a:prstGeom prst="roundRect">
            <a:avLst>
              <a:gd name="adj" fmla="val 50000"/>
            </a:avLst>
          </a:prstGeom>
          <a:noFill/>
          <a:ln w="9525">
            <a:solidFill>
              <a:srgbClr val="3C424B"/>
            </a:solid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noAutofit/>
          </a:bodyPr>
          <a:lstStyle/>
          <a:p>
            <a:pPr algn="ctr">
              <a:lnSpc>
                <a:spcPct val="108000"/>
              </a:lnSpc>
            </a:pPr>
            <a:r>
              <a:rPr sz="850" b="0" i="0" spc="60">
                <a:solidFill>
                  <a:srgbClr val="AEB3BB"/>
                </a:solidFill>
                <a:latin typeface="Noto Sans KR SemiBold"/>
                <a:ea typeface="Noto Sans KR SemiBold"/>
                <a:cs typeface="Noto Sans KR SemiBold"/>
              </a:rPr>
              <a:t>CONCEPT RENDERING</a:t>
            </a:r>
          </a:p>
        </p:txBody>
      </p:sp>
      <p:sp>
        <p:nvSpPr>
          <p:cNvPr id="5" name="TextBox 4"/>
          <p:cNvSpPr txBox="1"/>
          <p:nvPr/>
        </p:nvSpPr>
        <p:spPr>
          <a:xfrm>
            <a:off x="548640" y="777240"/>
            <a:ext cx="7223760" cy="274320"/>
          </a:xfrm>
          <a:prstGeom prst="rect">
            <a:avLst/>
          </a:prstGeom>
          <a:noFill/>
        </p:spPr>
        <p:txBody>
          <a:bodyPr wrap="square" lIns="0" rIns="0" tIns="0" bIns="0" anchor="t">
            <a:noAutofit/>
          </a:bodyPr>
          <a:lstStyle/>
          <a:p>
            <a:pPr algn="l">
              <a:lnSpc>
                <a:spcPct val="112000"/>
              </a:lnSpc>
            </a:pPr>
            <a:r>
              <a:rPr sz="1100" b="0" i="0" spc="200">
                <a:solidFill>
                  <a:srgbClr val="EC7A3C"/>
                </a:solidFill>
                <a:latin typeface="Noto Sans KR SemiBold"/>
                <a:ea typeface="Noto Sans KR SemiBold"/>
                <a:cs typeface="Noto Sans KR SemiBold"/>
              </a:rPr>
              <a:t>FOUNDING &amp; SEED INVESTMENT PROPOSAL</a:t>
            </a:r>
          </a:p>
        </p:txBody>
      </p:sp>
      <p:sp>
        <p:nvSpPr>
          <p:cNvPr id="6" name="Title"/>
          <p:cNvSpPr txBox="1"/>
          <p:nvPr/>
        </p:nvSpPr>
        <p:spPr>
          <a:xfrm>
            <a:off x="548640" y="1097280"/>
            <a:ext cx="7315200" cy="1371600"/>
          </a:xfrm>
          <a:prstGeom prst="rect">
            <a:avLst/>
          </a:prstGeom>
          <a:noFill/>
        </p:spPr>
        <p:txBody>
          <a:bodyPr wrap="square" lIns="0" rIns="0" tIns="0" bIns="0" anchor="t">
            <a:noAutofit/>
          </a:bodyPr>
          <a:lstStyle/>
          <a:p>
            <a:pPr algn="l">
              <a:lnSpc>
                <a:spcPct val="100000"/>
              </a:lnSpc>
            </a:pPr>
            <a:r>
              <a:rPr sz="4000" b="0" i="0">
                <a:solidFill>
                  <a:srgbClr val="F2F2EF"/>
                </a:solidFill>
                <a:latin typeface="Noto Sans KR Black"/>
                <a:ea typeface="Noto Sans KR Black"/>
                <a:cs typeface="Noto Sans KR Black"/>
              </a:rPr>
              <a:t>THE TOOL-USE LAYER</a:t>
            </a:r>
          </a:p>
          <a:p>
            <a:pPr algn="l">
              <a:lnSpc>
                <a:spcPct val="100000"/>
              </a:lnSpc>
            </a:pPr>
            <a:r>
              <a:rPr sz="4000" b="0" i="0">
                <a:solidFill>
                  <a:srgbClr val="F2F2EF"/>
                </a:solidFill>
                <a:latin typeface="Noto Sans KR Black"/>
                <a:ea typeface="Noto Sans KR Black"/>
                <a:cs typeface="Noto Sans KR Black"/>
              </a:rPr>
              <a:t>FOR PHYSICAL AI</a:t>
            </a:r>
          </a:p>
        </p:txBody>
      </p:sp>
      <p:sp>
        <p:nvSpPr>
          <p:cNvPr id="7" name="TextBox 6"/>
          <p:cNvSpPr txBox="1"/>
          <p:nvPr/>
        </p:nvSpPr>
        <p:spPr>
          <a:xfrm>
            <a:off x="548640" y="2487168"/>
            <a:ext cx="7315200" cy="457200"/>
          </a:xfrm>
          <a:prstGeom prst="rect">
            <a:avLst/>
          </a:prstGeom>
          <a:noFill/>
        </p:spPr>
        <p:txBody>
          <a:bodyPr wrap="square" lIns="0" rIns="0" tIns="0" bIns="0" anchor="t">
            <a:noAutofit/>
          </a:bodyPr>
          <a:lstStyle/>
          <a:p>
            <a:pPr algn="l">
              <a:lnSpc>
                <a:spcPct val="112000"/>
              </a:lnSpc>
            </a:pPr>
            <a:r>
              <a:rPr sz="2200" b="0" i="0">
                <a:solidFill>
                  <a:srgbClr val="EC7A3C"/>
                </a:solidFill>
                <a:latin typeface="Noto Sans KR Black"/>
                <a:ea typeface="Noto Sans KR Black"/>
                <a:cs typeface="Noto Sans KR Black"/>
              </a:rPr>
              <a:t>ONE HAND. MANY TOOLS.</a:t>
            </a:r>
          </a:p>
        </p:txBody>
      </p:sp>
      <p:sp>
        <p:nvSpPr>
          <p:cNvPr id="8" name="TextBox 7"/>
          <p:cNvSpPr txBox="1"/>
          <p:nvPr/>
        </p:nvSpPr>
        <p:spPr>
          <a:xfrm>
            <a:off x="548640" y="2999232"/>
            <a:ext cx="7315200" cy="365760"/>
          </a:xfrm>
          <a:prstGeom prst="rect">
            <a:avLst/>
          </a:prstGeom>
          <a:noFill/>
        </p:spPr>
        <p:txBody>
          <a:bodyPr wrap="square" lIns="0" rIns="0" tIns="0" bIns="0" anchor="t">
            <a:noAutofit/>
          </a:bodyPr>
          <a:lstStyle/>
          <a:p>
            <a:pPr algn="l">
              <a:lnSpc>
                <a:spcPct val="112000"/>
              </a:lnSpc>
            </a:pPr>
            <a:r>
              <a:rPr sz="1500" b="0" i="0">
                <a:solidFill>
                  <a:srgbClr val="F2F2EF"/>
                </a:solidFill>
                <a:latin typeface="Noto Sans KR Medium"/>
                <a:ea typeface="Noto Sans KR Medium"/>
                <a:cs typeface="Noto Sans KR Medium"/>
              </a:rPr>
              <a:t>기존 Robot부터 시작해 Physical AI의 Manipulation Layer로 확장합니다.</a:t>
            </a:r>
          </a:p>
        </p:txBody>
      </p:sp>
      <p:sp>
        <p:nvSpPr>
          <p:cNvPr id="9" name="Final message"/>
          <p:cNvSpPr/>
          <p:nvPr/>
        </p:nvSpPr>
        <p:spPr>
          <a:xfrm>
            <a:off x="548640" y="3584448"/>
            <a:ext cx="7086600" cy="1371600"/>
          </a:xfrm>
          <a:prstGeom prst="roundRect">
            <a:avLst>
              <a:gd name="adj" fmla="val 8000"/>
            </a:avLst>
          </a:prstGeom>
          <a:solidFill>
            <a:srgbClr val="15171B"/>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0" name="TextBox 9"/>
          <p:cNvSpPr txBox="1"/>
          <p:nvPr/>
        </p:nvSpPr>
        <p:spPr>
          <a:xfrm>
            <a:off x="804672" y="3703320"/>
            <a:ext cx="6629400" cy="1188720"/>
          </a:xfrm>
          <a:prstGeom prst="rect">
            <a:avLst/>
          </a:prstGeom>
          <a:noFill/>
        </p:spPr>
        <p:txBody>
          <a:bodyPr wrap="square" lIns="0" rIns="0" tIns="0" bIns="0" anchor="t">
            <a:noAutofit/>
          </a:bodyPr>
          <a:lstStyle/>
          <a:p>
            <a:pPr algn="l">
              <a:lnSpc>
                <a:spcPct val="142000"/>
              </a:lnSpc>
            </a:pPr>
            <a:r>
              <a:rPr sz="1150" b="0" i="0">
                <a:solidFill>
                  <a:srgbClr val="AEB3BB"/>
                </a:solidFill>
                <a:latin typeface="Noto Sans KR"/>
                <a:ea typeface="Noto Sans KR"/>
                <a:cs typeface="Noto Sans KR"/>
              </a:rPr>
              <a:t>우리는 완성된 회사의 성장자금을 요청하는 것이 아닙니다.</a:t>
            </a:r>
          </a:p>
          <a:p>
            <a:pPr algn="l">
              <a:lnSpc>
                <a:spcPct val="142000"/>
              </a:lnSpc>
            </a:pPr>
            <a:r>
              <a:rPr sz="1150" b="0" i="0">
                <a:solidFill>
                  <a:srgbClr val="AEB3BB"/>
                </a:solidFill>
                <a:latin typeface="Noto Sans KR"/>
                <a:ea typeface="Noto Sans KR"/>
                <a:cs typeface="Noto Sans KR"/>
              </a:rPr>
              <a:t>Physical AI 시대의 Manipulation Platform 회사를 시작하기 위한 Seed 투자를 요청합니다.</a:t>
            </a:r>
          </a:p>
          <a:p>
            <a:pPr algn="l">
              <a:lnSpc>
                <a:spcPct val="142000"/>
              </a:lnSpc>
            </a:pPr>
            <a:r>
              <a:rPr sz="1150" b="0" i="0">
                <a:solidFill>
                  <a:srgbClr val="F2F2EF"/>
                </a:solidFill>
                <a:latin typeface="Noto Sans KR SemiBold"/>
                <a:ea typeface="Noto Sans KR SemiBold"/>
                <a:cs typeface="Noto Sans KR SemiBold"/>
              </a:rPr>
              <a:t>20억원으로 24개월 안에 제품과 고객을 증명하고, 다음 성장단계로 진입하겠습니다.</a:t>
            </a:r>
          </a:p>
        </p:txBody>
      </p:sp>
      <p:sp>
        <p:nvSpPr>
          <p:cNvPr id="11" name="Ask ₩2.0B"/>
          <p:cNvSpPr/>
          <p:nvPr/>
        </p:nvSpPr>
        <p:spPr>
          <a:xfrm>
            <a:off x="548640" y="5166360"/>
            <a:ext cx="1271016" cy="713232"/>
          </a:xfrm>
          <a:prstGeom prst="roundRect">
            <a:avLst>
              <a:gd name="adj" fmla="val 10256"/>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2" name="TextBox 11"/>
          <p:cNvSpPr txBox="1"/>
          <p:nvPr/>
        </p:nvSpPr>
        <p:spPr>
          <a:xfrm>
            <a:off x="658368" y="5221224"/>
            <a:ext cx="1097280" cy="201168"/>
          </a:xfrm>
          <a:prstGeom prst="rect">
            <a:avLst/>
          </a:prstGeom>
          <a:noFill/>
        </p:spPr>
        <p:txBody>
          <a:bodyPr wrap="square" lIns="0" rIns="0" tIns="0" bIns="0" anchor="t">
            <a:noAutofit/>
          </a:bodyPr>
          <a:lstStyle/>
          <a:p>
            <a:pPr algn="l">
              <a:lnSpc>
                <a:spcPct val="112000"/>
              </a:lnSpc>
            </a:pPr>
            <a:r>
              <a:rPr sz="800" b="0" i="0" spc="100">
                <a:solidFill>
                  <a:srgbClr val="0B0C0E"/>
                </a:solidFill>
                <a:latin typeface="Noto Sans KR SemiBold"/>
                <a:ea typeface="Noto Sans KR SemiBold"/>
                <a:cs typeface="Noto Sans KR SemiBold"/>
              </a:rPr>
              <a:t>SEED ASK</a:t>
            </a:r>
          </a:p>
        </p:txBody>
      </p:sp>
      <p:sp>
        <p:nvSpPr>
          <p:cNvPr id="13" name="TextBox 12"/>
          <p:cNvSpPr txBox="1"/>
          <p:nvPr/>
        </p:nvSpPr>
        <p:spPr>
          <a:xfrm>
            <a:off x="658368" y="5440680"/>
            <a:ext cx="1143000" cy="365760"/>
          </a:xfrm>
          <a:prstGeom prst="rect">
            <a:avLst/>
          </a:prstGeom>
          <a:noFill/>
        </p:spPr>
        <p:txBody>
          <a:bodyPr wrap="square" lIns="0" rIns="0" tIns="0" bIns="0" anchor="ctr">
            <a:noAutofit/>
          </a:bodyPr>
          <a:lstStyle/>
          <a:p>
            <a:pPr algn="l">
              <a:lnSpc>
                <a:spcPct val="112000"/>
              </a:lnSpc>
            </a:pPr>
            <a:r>
              <a:rPr sz="1700" b="0" i="0">
                <a:solidFill>
                  <a:srgbClr val="0B0C0E"/>
                </a:solidFill>
                <a:latin typeface="Noto Sans KR Black"/>
                <a:ea typeface="Noto Sans KR Black"/>
                <a:cs typeface="Noto Sans KR Black"/>
              </a:rPr>
              <a:t>₩2.0B</a:t>
            </a:r>
          </a:p>
        </p:txBody>
      </p:sp>
      <p:sp>
        <p:nvSpPr>
          <p:cNvPr id="14" name="Ask 24 MONTHS"/>
          <p:cNvSpPr/>
          <p:nvPr/>
        </p:nvSpPr>
        <p:spPr>
          <a:xfrm>
            <a:off x="1874519" y="5166360"/>
            <a:ext cx="1362456" cy="713232"/>
          </a:xfrm>
          <a:prstGeom prst="roundRect">
            <a:avLst>
              <a:gd name="adj" fmla="val 1025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5" name="TextBox 14"/>
          <p:cNvSpPr txBox="1"/>
          <p:nvPr/>
        </p:nvSpPr>
        <p:spPr>
          <a:xfrm>
            <a:off x="1984248" y="5221224"/>
            <a:ext cx="1188720" cy="201168"/>
          </a:xfrm>
          <a:prstGeom prst="rect">
            <a:avLst/>
          </a:prstGeom>
          <a:noFill/>
        </p:spPr>
        <p:txBody>
          <a:bodyPr wrap="square" lIns="0" rIns="0" tIns="0" bIns="0" anchor="t">
            <a:noAutofit/>
          </a:bodyPr>
          <a:lstStyle/>
          <a:p>
            <a:pPr algn="l">
              <a:lnSpc>
                <a:spcPct val="112000"/>
              </a:lnSpc>
            </a:pPr>
            <a:r>
              <a:rPr sz="800" b="0" i="0" spc="100">
                <a:solidFill>
                  <a:srgbClr val="737882"/>
                </a:solidFill>
                <a:latin typeface="Noto Sans KR SemiBold"/>
                <a:ea typeface="Noto Sans KR SemiBold"/>
                <a:cs typeface="Noto Sans KR SemiBold"/>
              </a:rPr>
              <a:t>TIMELINE</a:t>
            </a:r>
          </a:p>
        </p:txBody>
      </p:sp>
      <p:sp>
        <p:nvSpPr>
          <p:cNvPr id="16" name="TextBox 15"/>
          <p:cNvSpPr txBox="1"/>
          <p:nvPr/>
        </p:nvSpPr>
        <p:spPr>
          <a:xfrm>
            <a:off x="1984248" y="5440680"/>
            <a:ext cx="1234440" cy="365760"/>
          </a:xfrm>
          <a:prstGeom prst="rect">
            <a:avLst/>
          </a:prstGeom>
          <a:noFill/>
        </p:spPr>
        <p:txBody>
          <a:bodyPr wrap="square" lIns="0" rIns="0" tIns="0" bIns="0" anchor="ctr">
            <a:noAutofit/>
          </a:bodyPr>
          <a:lstStyle/>
          <a:p>
            <a:pPr algn="l">
              <a:lnSpc>
                <a:spcPct val="112000"/>
              </a:lnSpc>
            </a:pPr>
            <a:r>
              <a:rPr sz="1150" b="0" i="0">
                <a:solidFill>
                  <a:srgbClr val="F2F2EF"/>
                </a:solidFill>
                <a:latin typeface="Noto Sans KR Black"/>
                <a:ea typeface="Noto Sans KR Black"/>
                <a:cs typeface="Noto Sans KR Black"/>
              </a:rPr>
              <a:t>24 MONTHS</a:t>
            </a:r>
          </a:p>
        </p:txBody>
      </p:sp>
      <p:sp>
        <p:nvSpPr>
          <p:cNvPr id="17" name="Ask PRODUCT"/>
          <p:cNvSpPr/>
          <p:nvPr/>
        </p:nvSpPr>
        <p:spPr>
          <a:xfrm>
            <a:off x="3291839" y="5166360"/>
            <a:ext cx="1225295" cy="713232"/>
          </a:xfrm>
          <a:prstGeom prst="roundRect">
            <a:avLst>
              <a:gd name="adj" fmla="val 1025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8" name="TextBox 17"/>
          <p:cNvSpPr txBox="1"/>
          <p:nvPr/>
        </p:nvSpPr>
        <p:spPr>
          <a:xfrm>
            <a:off x="3401568" y="5221224"/>
            <a:ext cx="1051560" cy="201168"/>
          </a:xfrm>
          <a:prstGeom prst="rect">
            <a:avLst/>
          </a:prstGeom>
          <a:noFill/>
        </p:spPr>
        <p:txBody>
          <a:bodyPr wrap="square" lIns="0" rIns="0" tIns="0" bIns="0" anchor="t">
            <a:noAutofit/>
          </a:bodyPr>
          <a:lstStyle/>
          <a:p>
            <a:pPr algn="l">
              <a:lnSpc>
                <a:spcPct val="112000"/>
              </a:lnSpc>
            </a:pPr>
            <a:r>
              <a:rPr sz="800" b="0" i="0" spc="100">
                <a:solidFill>
                  <a:srgbClr val="737882"/>
                </a:solidFill>
                <a:latin typeface="Noto Sans KR SemiBold"/>
                <a:ea typeface="Noto Sans KR SemiBold"/>
                <a:cs typeface="Noto Sans KR SemiBold"/>
              </a:rPr>
              <a:t>PROVE</a:t>
            </a:r>
          </a:p>
        </p:txBody>
      </p:sp>
      <p:sp>
        <p:nvSpPr>
          <p:cNvPr id="19" name="TextBox 18"/>
          <p:cNvSpPr txBox="1"/>
          <p:nvPr/>
        </p:nvSpPr>
        <p:spPr>
          <a:xfrm>
            <a:off x="3401568" y="5440680"/>
            <a:ext cx="1097280" cy="365760"/>
          </a:xfrm>
          <a:prstGeom prst="rect">
            <a:avLst/>
          </a:prstGeom>
          <a:noFill/>
        </p:spPr>
        <p:txBody>
          <a:bodyPr wrap="square" lIns="0" rIns="0" tIns="0" bIns="0" anchor="ctr">
            <a:noAutofit/>
          </a:bodyPr>
          <a:lstStyle/>
          <a:p>
            <a:pPr algn="l">
              <a:lnSpc>
                <a:spcPct val="112000"/>
              </a:lnSpc>
            </a:pPr>
            <a:r>
              <a:rPr sz="1150" b="0" i="0">
                <a:solidFill>
                  <a:srgbClr val="F2F2EF"/>
                </a:solidFill>
                <a:latin typeface="Noto Sans KR Black"/>
                <a:ea typeface="Noto Sans KR Black"/>
                <a:cs typeface="Noto Sans KR Black"/>
              </a:rPr>
              <a:t>PRODUCT</a:t>
            </a:r>
          </a:p>
        </p:txBody>
      </p:sp>
      <p:sp>
        <p:nvSpPr>
          <p:cNvPr id="20" name="Ask PAID CUSTOMER"/>
          <p:cNvSpPr/>
          <p:nvPr/>
        </p:nvSpPr>
        <p:spPr>
          <a:xfrm>
            <a:off x="4572000" y="5166360"/>
            <a:ext cx="1545336" cy="713232"/>
          </a:xfrm>
          <a:prstGeom prst="roundRect">
            <a:avLst>
              <a:gd name="adj" fmla="val 1025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1" name="TextBox 20"/>
          <p:cNvSpPr txBox="1"/>
          <p:nvPr/>
        </p:nvSpPr>
        <p:spPr>
          <a:xfrm>
            <a:off x="4681728" y="5221224"/>
            <a:ext cx="1371600" cy="201168"/>
          </a:xfrm>
          <a:prstGeom prst="rect">
            <a:avLst/>
          </a:prstGeom>
          <a:noFill/>
        </p:spPr>
        <p:txBody>
          <a:bodyPr wrap="square" lIns="0" rIns="0" tIns="0" bIns="0" anchor="t">
            <a:noAutofit/>
          </a:bodyPr>
          <a:lstStyle/>
          <a:p>
            <a:pPr algn="l">
              <a:lnSpc>
                <a:spcPct val="112000"/>
              </a:lnSpc>
            </a:pPr>
            <a:r>
              <a:rPr sz="800" b="0" i="0" spc="100">
                <a:solidFill>
                  <a:srgbClr val="737882"/>
                </a:solidFill>
                <a:latin typeface="Noto Sans KR SemiBold"/>
                <a:ea typeface="Noto Sans KR SemiBold"/>
                <a:cs typeface="Noto Sans KR SemiBold"/>
              </a:rPr>
              <a:t>PROVE</a:t>
            </a:r>
          </a:p>
        </p:txBody>
      </p:sp>
      <p:sp>
        <p:nvSpPr>
          <p:cNvPr id="22" name="TextBox 21"/>
          <p:cNvSpPr txBox="1"/>
          <p:nvPr/>
        </p:nvSpPr>
        <p:spPr>
          <a:xfrm>
            <a:off x="4681728" y="5440680"/>
            <a:ext cx="1417320" cy="365760"/>
          </a:xfrm>
          <a:prstGeom prst="rect">
            <a:avLst/>
          </a:prstGeom>
          <a:noFill/>
        </p:spPr>
        <p:txBody>
          <a:bodyPr wrap="square" lIns="0" rIns="0" tIns="0" bIns="0" anchor="ctr">
            <a:noAutofit/>
          </a:bodyPr>
          <a:lstStyle/>
          <a:p>
            <a:pPr algn="l">
              <a:lnSpc>
                <a:spcPct val="112000"/>
              </a:lnSpc>
            </a:pPr>
            <a:r>
              <a:rPr sz="1150" b="0" i="0">
                <a:solidFill>
                  <a:srgbClr val="F2F2EF"/>
                </a:solidFill>
                <a:latin typeface="Noto Sans KR Black"/>
                <a:ea typeface="Noto Sans KR Black"/>
                <a:cs typeface="Noto Sans KR Black"/>
              </a:rPr>
              <a:t>PAID CUSTOMER</a:t>
            </a:r>
          </a:p>
        </p:txBody>
      </p:sp>
      <p:sp>
        <p:nvSpPr>
          <p:cNvPr id="23" name="Ask REPEATABILITY"/>
          <p:cNvSpPr/>
          <p:nvPr/>
        </p:nvSpPr>
        <p:spPr>
          <a:xfrm>
            <a:off x="6172200" y="5166360"/>
            <a:ext cx="1545336" cy="713232"/>
          </a:xfrm>
          <a:prstGeom prst="roundRect">
            <a:avLst>
              <a:gd name="adj" fmla="val 10256"/>
            </a:avLst>
          </a:prstGeom>
          <a:solidFill>
            <a:srgbClr val="1D202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24" name="TextBox 23"/>
          <p:cNvSpPr txBox="1"/>
          <p:nvPr/>
        </p:nvSpPr>
        <p:spPr>
          <a:xfrm>
            <a:off x="6281928" y="5221224"/>
            <a:ext cx="1371600" cy="201168"/>
          </a:xfrm>
          <a:prstGeom prst="rect">
            <a:avLst/>
          </a:prstGeom>
          <a:noFill/>
        </p:spPr>
        <p:txBody>
          <a:bodyPr wrap="square" lIns="0" rIns="0" tIns="0" bIns="0" anchor="t">
            <a:noAutofit/>
          </a:bodyPr>
          <a:lstStyle/>
          <a:p>
            <a:pPr algn="l">
              <a:lnSpc>
                <a:spcPct val="112000"/>
              </a:lnSpc>
            </a:pPr>
            <a:r>
              <a:rPr sz="800" b="0" i="0" spc="100">
                <a:solidFill>
                  <a:srgbClr val="737882"/>
                </a:solidFill>
                <a:latin typeface="Noto Sans KR SemiBold"/>
                <a:ea typeface="Noto Sans KR SemiBold"/>
                <a:cs typeface="Noto Sans KR SemiBold"/>
              </a:rPr>
              <a:t>PROVE</a:t>
            </a:r>
          </a:p>
        </p:txBody>
      </p:sp>
      <p:sp>
        <p:nvSpPr>
          <p:cNvPr id="25" name="TextBox 24"/>
          <p:cNvSpPr txBox="1"/>
          <p:nvPr/>
        </p:nvSpPr>
        <p:spPr>
          <a:xfrm>
            <a:off x="6281928" y="5440680"/>
            <a:ext cx="1417320" cy="365760"/>
          </a:xfrm>
          <a:prstGeom prst="rect">
            <a:avLst/>
          </a:prstGeom>
          <a:noFill/>
        </p:spPr>
        <p:txBody>
          <a:bodyPr wrap="square" lIns="0" rIns="0" tIns="0" bIns="0" anchor="ctr">
            <a:noAutofit/>
          </a:bodyPr>
          <a:lstStyle/>
          <a:p>
            <a:pPr algn="l">
              <a:lnSpc>
                <a:spcPct val="112000"/>
              </a:lnSpc>
            </a:pPr>
            <a:r>
              <a:rPr sz="1150" b="0" i="0">
                <a:solidFill>
                  <a:srgbClr val="F2F2EF"/>
                </a:solidFill>
                <a:latin typeface="Noto Sans KR Black"/>
                <a:ea typeface="Noto Sans KR Black"/>
                <a:cs typeface="Noto Sans KR Black"/>
              </a:rPr>
              <a:t>REPEATABILITY</a:t>
            </a:r>
          </a:p>
        </p:txBody>
      </p:sp>
      <p:sp>
        <p:nvSpPr>
          <p:cNvPr id="26" name="Placeholder"/>
          <p:cNvSpPr/>
          <p:nvPr/>
        </p:nvSpPr>
        <p:spPr>
          <a:xfrm>
            <a:off x="548640" y="6016752"/>
            <a:ext cx="4754880" cy="292608"/>
          </a:xfrm>
          <a:prstGeom prst="roundRect">
            <a:avLst>
              <a:gd name="adj" fmla="val 18750"/>
            </a:avLst>
          </a:prstGeom>
          <a:solidFill>
            <a:srgbClr val="2C2615"/>
          </a:solidFill>
          <a:ln w="11430">
            <a:solidFill>
              <a:srgbClr val="E8B64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109728" rIns="109728" tIns="18288" bIns="18288" wrap="square">
            <a:noAutofit/>
          </a:bodyPr>
          <a:lstStyle/>
          <a:p>
            <a:pPr algn="l">
              <a:lnSpc>
                <a:spcPct val="108000"/>
              </a:lnSpc>
            </a:pPr>
            <a:r>
              <a:rPr sz="950" b="0" i="0">
                <a:solidFill>
                  <a:srgbClr val="E8B649"/>
                </a:solidFill>
                <a:latin typeface="Noto Sans KR Medium"/>
                <a:ea typeface="Noto Sans KR Medium"/>
                <a:cs typeface="Noto Sans KR Medium"/>
              </a:rPr>
              <a:t>[대표자명 · 이메일 · 연락처 입력 필요]</a:t>
            </a:r>
          </a:p>
        </p:txBody>
      </p:sp>
      <p:sp>
        <p:nvSpPr>
          <p:cNvPr id="27" name="TextBox 26"/>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737882"/>
                </a:solidFill>
                <a:latin typeface="Noto Sans KR SemiBold"/>
                <a:ea typeface="Noto Sans KR SemiBold"/>
                <a:cs typeface="Noto Sans KR SemiBold"/>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A1</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EVIDENCE STATUS — WHAT IS VALIDATED VS. HYPOTHESIS</a:t>
            </a:r>
          </a:p>
        </p:txBody>
      </p:sp>
      <p:sp>
        <p:nvSpPr>
          <p:cNvPr id="5" name="TextBox 4"/>
          <p:cNvSpPr txBox="1"/>
          <p:nvPr/>
        </p:nvSpPr>
        <p:spPr>
          <a:xfrm>
            <a:off x="548640" y="1170432"/>
            <a:ext cx="11094415" cy="292608"/>
          </a:xfrm>
          <a:prstGeom prst="rect">
            <a:avLst/>
          </a:prstGeom>
          <a:noFill/>
        </p:spPr>
        <p:txBody>
          <a:bodyPr wrap="square" lIns="0" rIns="0" tIns="0" bIns="0" anchor="t">
            <a:noAutofit/>
          </a:bodyPr>
          <a:lstStyle/>
          <a:p>
            <a:pPr algn="l">
              <a:lnSpc>
                <a:spcPct val="112000"/>
              </a:lnSpc>
            </a:pPr>
            <a:r>
              <a:rPr sz="1200" b="0" i="0">
                <a:solidFill>
                  <a:srgbClr val="51565E"/>
                </a:solidFill>
                <a:latin typeface="Noto Sans KR"/>
                <a:ea typeface="Noto Sans KR"/>
                <a:cs typeface="Noto Sans KR"/>
              </a:rPr>
              <a:t>투자자는 미완성보다, 무엇이 검증되었고 무엇이 가설인지 구분하는 Founder를 신뢰한다</a:t>
            </a:r>
          </a:p>
        </p:txBody>
      </p:sp>
      <p:graphicFrame>
        <p:nvGraphicFramePr>
          <p:cNvPr id="6" name="Evidence table"/>
          <p:cNvGraphicFramePr>
            <a:graphicFrameLocks noGrp="1"/>
          </p:cNvGraphicFramePr>
          <p:nvPr/>
        </p:nvGraphicFramePr>
        <p:xfrm>
          <a:off x="548640" y="1691640"/>
          <a:ext cx="11091672" cy="3950208"/>
        </p:xfrm>
        <a:graphic>
          <a:graphicData uri="http://schemas.openxmlformats.org/drawingml/2006/table">
            <a:tbl>
              <a:tblPr firstRow="0" bandRow="0">
                <a:tableStyleId>{5C22544A-7EE6-4342-B048-85BDC9FD1C3A}</a:tableStyleId>
              </a:tblPr>
              <a:tblGrid>
                <a:gridCol w="2011680"/>
                <a:gridCol w="6126480"/>
                <a:gridCol w="2953512"/>
              </a:tblGrid>
              <a:tr h="384048">
                <a:tc>
                  <a:txBody>
                    <a:bodyPr/>
                    <a:lstStyle/>
                    <a:p>
                      <a:pPr algn="l">
                        <a:lnSpc>
                          <a:spcPct val="105000"/>
                        </a:lnSpc>
                      </a:pPr>
                      <a:r>
                        <a:rPr sz="1050" b="0" i="0" spc="40">
                          <a:solidFill>
                            <a:srgbClr val="16181B"/>
                          </a:solidFill>
                          <a:latin typeface="Noto Sans KR SemiBold"/>
                          <a:ea typeface="Noto Sans KR SemiBold"/>
                          <a:cs typeface="Noto Sans KR SemiBold"/>
                        </a:rPr>
                        <a:t>구분</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1050" b="0" i="0" spc="40">
                          <a:solidFill>
                            <a:srgbClr val="16181B"/>
                          </a:solidFill>
                          <a:latin typeface="Noto Sans KR SemiBold"/>
                          <a:ea typeface="Noto Sans KR SemiBold"/>
                          <a:cs typeface="Noto Sans KR SemiBold"/>
                        </a:rPr>
                        <a:t>현재 내용</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1050" b="0" i="0" spc="40">
                          <a:solidFill>
                            <a:srgbClr val="16181B"/>
                          </a:solidFill>
                          <a:latin typeface="Noto Sans KR SemiBold"/>
                          <a:ea typeface="Noto Sans KR SemiBold"/>
                          <a:cs typeface="Noto Sans KR SemiBold"/>
                        </a:rPr>
                        <a:t>IR 표기 원칙</a:t>
                      </a:r>
                    </a:p>
                  </a:txBody>
                  <a:tcPr marL="73152" marR="54864" marT="27432" marB="27432" anchor="ctr">
                    <a:lnL w="9525">
                      <a:noFill/>
                    </a:lnL>
                    <a:lnR w="9525">
                      <a:noFill/>
                    </a:lnR>
                    <a:lnT w="9525">
                      <a:noFill/>
                    </a:lnT>
                    <a:lnB w="9525">
                      <a:solidFill>
                        <a:srgbClr val="DCDAD5"/>
                      </a:solidFill>
                    </a:lnB>
                    <a:noFill/>
                  </a:tcPr>
                </a:tc>
              </a:tr>
              <a:tr h="868680">
                <a:tc>
                  <a:txBody>
                    <a:bodyPr/>
                    <a:lstStyle/>
                    <a:p>
                      <a:pPr algn="l">
                        <a:lnSpc>
                          <a:spcPct val="108000"/>
                        </a:lnSpc>
                      </a:pPr>
                      <a:r>
                        <a:rPr sz="1100" b="0" i="0">
                          <a:solidFill>
                            <a:srgbClr val="16181B"/>
                          </a:solidFill>
                          <a:latin typeface="Noto Sans KR SemiBold"/>
                          <a:ea typeface="Noto Sans KR SemiBold"/>
                          <a:cs typeface="Noto Sans KR SemiBold"/>
                        </a:rPr>
                        <a:t>FACT  (확인됨)</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100" b="0" i="0">
                          <a:solidFill>
                            <a:srgbClr val="51565E"/>
                          </a:solidFill>
                          <a:latin typeface="Noto Sans KR"/>
                          <a:ea typeface="Noto Sans KR"/>
                          <a:cs typeface="Noto Sans KR"/>
                        </a:rPr>
                        <a:t>사업 아이디어·기술개발 구상 및 투자사업계획서 초안(2026.10). 법인·창업팀·특허·시제품·고객계약·매출·보유자금은 확인되지 않음</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100" b="0" i="0">
                          <a:solidFill>
                            <a:srgbClr val="51565E"/>
                          </a:solidFill>
                          <a:latin typeface="Noto Sans KR"/>
                          <a:ea typeface="Noto Sans KR"/>
                          <a:cs typeface="Noto Sans KR"/>
                        </a:rPr>
                        <a:t>회사 실적으로 표현하지 않음 → Founding &amp; Seed Proposal</a:t>
                      </a:r>
                    </a:p>
                  </a:txBody>
                  <a:tcPr marL="73152" marR="54864" marT="27432" marB="27432" anchor="ctr">
                    <a:lnL w="9525">
                      <a:noFill/>
                    </a:lnL>
                    <a:lnR w="9525">
                      <a:noFill/>
                    </a:lnR>
                    <a:lnT w="9525">
                      <a:noFill/>
                    </a:lnT>
                    <a:lnB w="9525">
                      <a:solidFill>
                        <a:srgbClr val="DCDAD5"/>
                      </a:solidFill>
                    </a:lnB>
                    <a:noFill/>
                  </a:tcPr>
                </a:tc>
              </a:tr>
              <a:tr h="868680">
                <a:tc>
                  <a:txBody>
                    <a:bodyPr/>
                    <a:lstStyle/>
                    <a:p>
                      <a:pPr algn="l">
                        <a:lnSpc>
                          <a:spcPct val="108000"/>
                        </a:lnSpc>
                      </a:pPr>
                      <a:r>
                        <a:rPr sz="1100" b="0" i="0">
                          <a:solidFill>
                            <a:srgbClr val="16181B"/>
                          </a:solidFill>
                          <a:latin typeface="Noto Sans KR SemiBold"/>
                          <a:ea typeface="Noto Sans KR SemiBold"/>
                          <a:cs typeface="Noto Sans KR SemiBold"/>
                        </a:rPr>
                        <a:t>PLAN  (계획)</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100" b="0" i="0">
                          <a:solidFill>
                            <a:srgbClr val="51565E"/>
                          </a:solidFill>
                          <a:latin typeface="Noto Sans KR"/>
                          <a:ea typeface="Noto Sans KR"/>
                          <a:cs typeface="Noto Sans KR"/>
                        </a:rPr>
                        <a:t>SoftHand-4 V1 · ToolSkill V1 · Task A~C(+D) · 로봇 플랫폼 2종 통합 · 고객 인터뷰 30곳 · 데이터 30종+/1만 회+ · 24개월 로드맵</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100" b="0" i="0">
                          <a:solidFill>
                            <a:srgbClr val="51565E"/>
                          </a:solidFill>
                          <a:latin typeface="Noto Sans KR"/>
                          <a:ea typeface="Noto Sans KR"/>
                          <a:cs typeface="Noto Sans KR"/>
                        </a:rPr>
                        <a:t>Planned · Seed Milestone</a:t>
                      </a:r>
                    </a:p>
                  </a:txBody>
                  <a:tcPr marL="73152" marR="54864" marT="27432" marB="27432" anchor="ctr">
                    <a:lnL w="9525">
                      <a:noFill/>
                    </a:lnL>
                    <a:lnR w="9525">
                      <a:noFill/>
                    </a:lnR>
                    <a:lnT w="9525">
                      <a:noFill/>
                    </a:lnT>
                    <a:lnB w="9525">
                      <a:solidFill>
                        <a:srgbClr val="DCDAD5"/>
                      </a:solidFill>
                    </a:lnB>
                    <a:noFill/>
                  </a:tcPr>
                </a:tc>
              </a:tr>
              <a:tr h="868680">
                <a:tc>
                  <a:txBody>
                    <a:bodyPr/>
                    <a:lstStyle/>
                    <a:p>
                      <a:pPr algn="l">
                        <a:lnSpc>
                          <a:spcPct val="108000"/>
                        </a:lnSpc>
                      </a:pPr>
                      <a:r>
                        <a:rPr sz="1100" b="0" i="0">
                          <a:solidFill>
                            <a:srgbClr val="16181B"/>
                          </a:solidFill>
                          <a:latin typeface="Noto Sans KR SemiBold"/>
                          <a:ea typeface="Noto Sans KR SemiBold"/>
                          <a:cs typeface="Noto Sans KR SemiBold"/>
                        </a:rPr>
                        <a:t>ASSUMPTION  (가정)</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100" b="0" i="0">
                          <a:solidFill>
                            <a:srgbClr val="51565E"/>
                          </a:solidFill>
                          <a:latin typeface="Noto Sans KR"/>
                          <a:ea typeface="Noto Sans KR"/>
                          <a:cs typeface="Noto Sans KR"/>
                        </a:rPr>
                        <a:t>Hand 패키지 ₩1,500만(원가 ₩800만) · SW ₩300만/년 · 주방 셀 ₩2억 · ISO ₩75억 · Base Case 매출/손익 · 성능 목표치</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100" b="0" i="0">
                          <a:solidFill>
                            <a:srgbClr val="51565E"/>
                          </a:solidFill>
                          <a:latin typeface="Noto Sans KR"/>
                          <a:ea typeface="Noto Sans KR"/>
                          <a:cs typeface="Noto Sans KR"/>
                        </a:rPr>
                        <a:t>Assumption · Target · Management Forecast</a:t>
                      </a:r>
                    </a:p>
                  </a:txBody>
                  <a:tcPr marL="73152" marR="54864" marT="27432" marB="27432" anchor="ctr">
                    <a:lnL w="9525">
                      <a:noFill/>
                    </a:lnL>
                    <a:lnR w="9525">
                      <a:noFill/>
                    </a:lnR>
                    <a:lnT w="9525">
                      <a:noFill/>
                    </a:lnT>
                    <a:lnB w="9525">
                      <a:solidFill>
                        <a:srgbClr val="DCDAD5"/>
                      </a:solidFill>
                    </a:lnB>
                    <a:noFill/>
                  </a:tcPr>
                </a:tc>
              </a:tr>
              <a:tr h="960120">
                <a:tc>
                  <a:txBody>
                    <a:bodyPr/>
                    <a:lstStyle/>
                    <a:p>
                      <a:pPr algn="l">
                        <a:lnSpc>
                          <a:spcPct val="108000"/>
                        </a:lnSpc>
                      </a:pPr>
                      <a:r>
                        <a:rPr sz="1100" b="0" i="0">
                          <a:solidFill>
                            <a:srgbClr val="16181B"/>
                          </a:solidFill>
                          <a:latin typeface="Noto Sans KR SemiBold"/>
                          <a:ea typeface="Noto Sans KR SemiBold"/>
                          <a:cs typeface="Noto Sans KR SemiBold"/>
                        </a:rPr>
                        <a:t>MISSING EVIDENCE</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100" b="0" i="0">
                          <a:solidFill>
                            <a:srgbClr val="51565E"/>
                          </a:solidFill>
                          <a:latin typeface="Noto Sans KR"/>
                          <a:ea typeface="Noto Sans KR"/>
                          <a:cs typeface="Noto Sans KR"/>
                        </a:rPr>
                        <a:t>창업자·핵심인력 이력 · 시제품/무편집 시험영상 · 특허/FTO · 고객 인터뷰·LOI·유료 PoC · BOM·제조원가 · 고객 ROI 데이터 · 경쟁제품 비교시험 · 월별 현금계획</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100" b="0" i="0">
                          <a:solidFill>
                            <a:srgbClr val="51565E"/>
                          </a:solidFill>
                          <a:latin typeface="Noto Sans KR"/>
                          <a:ea typeface="Noto Sans KR"/>
                          <a:cs typeface="Noto Sans KR"/>
                        </a:rPr>
                        <a:t>[정보 입력 필요] 표기 → 실사 전 확보</a:t>
                      </a:r>
                    </a:p>
                  </a:txBody>
                  <a:tcPr marL="73152" marR="54864" marT="27432" marB="27432" anchor="ctr">
                    <a:lnL w="9525">
                      <a:noFill/>
                    </a:lnL>
                    <a:lnR w="9525">
                      <a:noFill/>
                    </a:lnR>
                    <a:lnT w="9525">
                      <a:noFill/>
                    </a:lnT>
                    <a:lnB w="9525">
                      <a:solidFill>
                        <a:srgbClr val="DCDAD5"/>
                      </a:solidFill>
                    </a:lnB>
                    <a:noFill/>
                  </a:tcPr>
                </a:tc>
              </a:tr>
            </a:tbl>
          </a:graphicData>
        </a:graphic>
      </p:graphicFrame>
      <p:sp>
        <p:nvSpPr>
          <p:cNvPr id="7" name="TextBox 6"/>
          <p:cNvSpPr txBox="1"/>
          <p:nvPr/>
        </p:nvSpPr>
        <p:spPr>
          <a:xfrm>
            <a:off x="548640" y="5852160"/>
            <a:ext cx="11094415" cy="457200"/>
          </a:xfrm>
          <a:prstGeom prst="rect">
            <a:avLst/>
          </a:prstGeom>
          <a:noFill/>
        </p:spPr>
        <p:txBody>
          <a:bodyPr wrap="square" lIns="0" rIns="0" tIns="0" bIns="0" anchor="t">
            <a:noAutofit/>
          </a:bodyPr>
          <a:lstStyle/>
          <a:p>
            <a:pPr algn="l">
              <a:lnSpc>
                <a:spcPct val="112000"/>
              </a:lnSpc>
            </a:pPr>
            <a:r>
              <a:rPr sz="1050" b="0" i="0">
                <a:solidFill>
                  <a:srgbClr val="51565E"/>
                </a:solidFill>
                <a:latin typeface="Noto Sans KR"/>
                <a:ea typeface="Noto Sans KR"/>
                <a:cs typeface="Noto Sans KR"/>
              </a:rPr>
              <a:t>Concept Rendering은 실제 시제품이 아니며, 실제 Prototype 사진 → 시험 영상 프레임 → 고객 현장 → CAD → Concept 순으로 교체한다.</a:t>
            </a:r>
          </a:p>
        </p:txBody>
      </p:sp>
      <p:sp>
        <p:nvSpPr>
          <p:cNvPr id="8" name="TextBox 7"/>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9" name="TextBox 8"/>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A2</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HAND ENGINEERING — ACTUATION, LOAD &amp; SENSING</a:t>
            </a:r>
          </a:p>
        </p:txBody>
      </p:sp>
      <p:sp>
        <p:nvSpPr>
          <p:cNvPr id="5" name="TextBox 4"/>
          <p:cNvSpPr txBox="1"/>
          <p:nvPr/>
        </p:nvSpPr>
        <p:spPr>
          <a:xfrm>
            <a:off x="548640" y="1170432"/>
            <a:ext cx="11094415" cy="292608"/>
          </a:xfrm>
          <a:prstGeom prst="rect">
            <a:avLst/>
          </a:prstGeom>
          <a:noFill/>
        </p:spPr>
        <p:txBody>
          <a:bodyPr wrap="square" lIns="0" rIns="0" tIns="0" bIns="0" anchor="t">
            <a:noAutofit/>
          </a:bodyPr>
          <a:lstStyle/>
          <a:p>
            <a:pPr algn="l">
              <a:lnSpc>
                <a:spcPct val="112000"/>
              </a:lnSpc>
            </a:pPr>
            <a:r>
              <a:rPr sz="1200" b="0" i="0">
                <a:solidFill>
                  <a:srgbClr val="51565E"/>
                </a:solidFill>
                <a:latin typeface="Noto Sans KR"/>
                <a:ea typeface="Noto Sans KR"/>
                <a:cs typeface="Noto Sans KR"/>
              </a:rPr>
              <a:t>구동 방식은 미확정 — 창업 후 3개월 내 비교시험으로 선정 (Seed Gate)</a:t>
            </a:r>
          </a:p>
        </p:txBody>
      </p:sp>
      <p:graphicFrame>
        <p:nvGraphicFramePr>
          <p:cNvPr id="6" name="Engineering table"/>
          <p:cNvGraphicFramePr>
            <a:graphicFrameLocks noGrp="1"/>
          </p:cNvGraphicFramePr>
          <p:nvPr/>
        </p:nvGraphicFramePr>
        <p:xfrm>
          <a:off x="548640" y="1645920"/>
          <a:ext cx="7498080" cy="3200400"/>
        </p:xfrm>
        <a:graphic>
          <a:graphicData uri="http://schemas.openxmlformats.org/drawingml/2006/table">
            <a:tbl>
              <a:tblPr firstRow="0" bandRow="0">
                <a:tableStyleId>{5C22544A-7EE6-4342-B048-85BDC9FD1C3A}</a:tableStyleId>
              </a:tblPr>
              <a:tblGrid>
                <a:gridCol w="1371600"/>
                <a:gridCol w="3291840"/>
                <a:gridCol w="2834640"/>
              </a:tblGrid>
              <a:tr h="347472">
                <a:tc>
                  <a:txBody>
                    <a:bodyPr/>
                    <a:lstStyle/>
                    <a:p>
                      <a:pPr algn="l">
                        <a:lnSpc>
                          <a:spcPct val="105000"/>
                        </a:lnSpc>
                      </a:pPr>
                      <a:r>
                        <a:rPr sz="950" b="0" i="0" spc="40">
                          <a:solidFill>
                            <a:srgbClr val="16181B"/>
                          </a:solidFill>
                          <a:latin typeface="Noto Sans KR SemiBold"/>
                          <a:ea typeface="Noto Sans KR SemiBold"/>
                          <a:cs typeface="Noto Sans KR SemiBold"/>
                        </a:rPr>
                        <a:t>기술 요소</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개발 내용</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검증 기준</a:t>
                      </a:r>
                    </a:p>
                  </a:txBody>
                  <a:tcPr marL="73152" marR="54864" marT="27432" marB="27432" anchor="ctr">
                    <a:lnL w="9525">
                      <a:noFill/>
                    </a:lnL>
                    <a:lnR w="9525">
                      <a:noFill/>
                    </a:lnR>
                    <a:lnT w="9525">
                      <a:noFill/>
                    </a:lnT>
                    <a:lnB w="9525">
                      <a:solidFill>
                        <a:srgbClr val="DCDAD5"/>
                      </a:solidFill>
                    </a:lnB>
                    <a:noFill/>
                  </a:tcPr>
                </a:tc>
              </a:tr>
              <a:tr h="566928">
                <a:tc>
                  <a:txBody>
                    <a:bodyPr/>
                    <a:lstStyle/>
                    <a:p>
                      <a:pPr algn="l">
                        <a:lnSpc>
                          <a:spcPct val="108000"/>
                        </a:lnSpc>
                      </a:pPr>
                      <a:r>
                        <a:rPr sz="1000" b="0" i="0">
                          <a:solidFill>
                            <a:srgbClr val="16181B"/>
                          </a:solidFill>
                          <a:latin typeface="Noto Sans KR SemiBold"/>
                          <a:ea typeface="Noto Sans KR SemiBold"/>
                          <a:cs typeface="Noto Sans KR SemiBold"/>
                        </a:rPr>
                        <a:t>구동부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전동 텐던을 기준 후보로 소형 유압·공압과 비교</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손 무게 · 유지력 · 응답 · 누설 · 소음 · 소비전력 · 정비비</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00" b="0" i="0">
                          <a:solidFill>
                            <a:srgbClr val="16181B"/>
                          </a:solidFill>
                          <a:latin typeface="Noto Sans KR SemiBold"/>
                          <a:ea typeface="Noto Sans KR SemiBold"/>
                          <a:cs typeface="Noto Sans KR SemiBold"/>
                        </a:rPr>
                        <a:t>가변 순응성</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탄성요소 · 장력 제어 · 필요 시 잠금기구</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접촉 충격 완화와 도구 토크 유지의 균형</a:t>
                      </a:r>
                    </a:p>
                  </a:txBody>
                  <a:tcPr marL="73152" marR="54864" marT="27432" marB="27432" anchor="ctr">
                    <a:lnL w="9525">
                      <a:noFill/>
                    </a:lnL>
                    <a:lnR w="9525">
                      <a:noFill/>
                    </a:lnR>
                    <a:lnT w="9525">
                      <a:noFill/>
                    </a:lnT>
                    <a:lnB w="9525">
                      <a:solidFill>
                        <a:srgbClr val="DCDAD5"/>
                      </a:solidFill>
                    </a:lnB>
                    <a:noFill/>
                  </a:tcPr>
                </a:tc>
              </a:tr>
              <a:tr h="566928">
                <a:tc>
                  <a:txBody>
                    <a:bodyPr/>
                    <a:lstStyle/>
                    <a:p>
                      <a:pPr algn="l">
                        <a:lnSpc>
                          <a:spcPct val="108000"/>
                        </a:lnSpc>
                      </a:pPr>
                      <a:r>
                        <a:rPr sz="1000" b="0" i="0">
                          <a:solidFill>
                            <a:srgbClr val="16181B"/>
                          </a:solidFill>
                          <a:latin typeface="Noto Sans KR SemiBold"/>
                          <a:ea typeface="Noto Sans KR SemiBold"/>
                          <a:cs typeface="Noto Sans KR SemiBold"/>
                        </a:rPr>
                        <a:t>감각부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손끝·손바닥 접촉센서 · 관절/장력 센서 · 손목 6축 F/T</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젖음·열·오염 조건 편차와 재교정</a:t>
                      </a:r>
                    </a:p>
                  </a:txBody>
                  <a:tcPr marL="73152" marR="54864" marT="27432" marB="27432" anchor="ctr">
                    <a:lnL w="9525">
                      <a:noFill/>
                    </a:lnL>
                    <a:lnR w="9525">
                      <a:noFill/>
                    </a:lnR>
                    <a:lnT w="9525">
                      <a:noFill/>
                    </a:lnT>
                    <a:lnB w="9525">
                      <a:solidFill>
                        <a:srgbClr val="DCDAD5"/>
                      </a:solidFill>
                    </a:lnB>
                    <a:noFill/>
                  </a:tcPr>
                </a:tc>
              </a:tr>
              <a:tr h="713232">
                <a:tc>
                  <a:txBody>
                    <a:bodyPr/>
                    <a:lstStyle/>
                    <a:p>
                      <a:pPr algn="l">
                        <a:lnSpc>
                          <a:spcPct val="108000"/>
                        </a:lnSpc>
                      </a:pPr>
                      <a:r>
                        <a:rPr sz="1000" b="0" i="0">
                          <a:solidFill>
                            <a:srgbClr val="16181B"/>
                          </a:solidFill>
                          <a:latin typeface="Noto Sans KR SemiBold"/>
                          <a:ea typeface="Noto Sans KR SemiBold"/>
                          <a:cs typeface="Noto Sans KR SemiBold"/>
                        </a:rPr>
                        <a:t>접촉부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교체형 패드·외피, 용도별 재질 분리 (제조: 내마모·토크 / 주방: 세척·내열·식품접촉)</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미끄럼 · 마모 · 세척 · 재질 적합성 시험</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00" b="0" i="0">
                          <a:solidFill>
                            <a:srgbClr val="16181B"/>
                          </a:solidFill>
                          <a:latin typeface="Noto Sans KR SemiBold"/>
                          <a:ea typeface="Noto Sans KR SemiBold"/>
                          <a:cs typeface="Noto Sans KR SemiBold"/>
                        </a:rPr>
                        <a:t>로봇 장착</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플랜지 어댑터 · TCP 교정 · 통신 드라이버</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대표 로봇 2개 플랫폼 실제 통합</a:t>
                      </a:r>
                    </a:p>
                  </a:txBody>
                  <a:tcPr marL="73152" marR="54864" marT="27432" marB="27432" anchor="ctr">
                    <a:lnL w="9525">
                      <a:noFill/>
                    </a:lnL>
                    <a:lnR w="9525">
                      <a:noFill/>
                    </a:lnR>
                    <a:lnT w="9525">
                      <a:noFill/>
                    </a:lnT>
                    <a:lnB w="9525">
                      <a:solidFill>
                        <a:srgbClr val="DCDAD5"/>
                      </a:solidFill>
                    </a:lnB>
                    <a:noFill/>
                  </a:tcPr>
                </a:tc>
              </a:tr>
            </a:tbl>
          </a:graphicData>
        </a:graphic>
      </p:graphicFrame>
      <p:sp>
        <p:nvSpPr>
          <p:cNvPr id="7" name="Load example"/>
          <p:cNvSpPr/>
          <p:nvPr/>
        </p:nvSpPr>
        <p:spPr>
          <a:xfrm>
            <a:off x="8275320" y="1645920"/>
            <a:ext cx="3367735" cy="2057400"/>
          </a:xfrm>
          <a:prstGeom prst="roundRect">
            <a:avLst>
              <a:gd name="adj" fmla="val 4444"/>
            </a:avLst>
          </a:prstGeom>
          <a:solidFill>
            <a:srgbClr val="FFFFFF"/>
          </a:solidFill>
          <a:ln w="9525">
            <a:solidFill>
              <a:srgbClr val="DCDAD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8" name="TextBox 7"/>
          <p:cNvSpPr txBox="1"/>
          <p:nvPr/>
        </p:nvSpPr>
        <p:spPr>
          <a:xfrm>
            <a:off x="8476488" y="1755648"/>
            <a:ext cx="3001975" cy="274320"/>
          </a:xfrm>
          <a:prstGeom prst="rect">
            <a:avLst/>
          </a:prstGeom>
          <a:noFill/>
        </p:spPr>
        <p:txBody>
          <a:bodyPr wrap="square" lIns="0" rIns="0" tIns="0" bIns="0" anchor="t">
            <a:noAutofit/>
          </a:bodyPr>
          <a:lstStyle/>
          <a:p>
            <a:pPr algn="l">
              <a:lnSpc>
                <a:spcPct val="112000"/>
              </a:lnSpc>
            </a:pPr>
            <a:r>
              <a:rPr sz="1000" b="0" i="0" spc="100">
                <a:solidFill>
                  <a:srgbClr val="EC7A3C"/>
                </a:solidFill>
                <a:latin typeface="Noto Sans KR SemiBold"/>
                <a:ea typeface="Noto Sans KR SemiBold"/>
                <a:cs typeface="Noto Sans KR SemiBold"/>
              </a:rPr>
              <a:t>LOAD DESIGN EXAMPLE</a:t>
            </a:r>
          </a:p>
        </p:txBody>
      </p:sp>
      <p:sp>
        <p:nvSpPr>
          <p:cNvPr id="9" name="TextBox 8"/>
          <p:cNvSpPr txBox="1"/>
          <p:nvPr/>
        </p:nvSpPr>
        <p:spPr>
          <a:xfrm>
            <a:off x="8476488" y="2057400"/>
            <a:ext cx="3001975" cy="1600200"/>
          </a:xfrm>
          <a:prstGeom prst="rect">
            <a:avLst/>
          </a:prstGeom>
          <a:noFill/>
        </p:spPr>
        <p:txBody>
          <a:bodyPr wrap="square" lIns="0" rIns="0" tIns="0" bIns="0" anchor="t">
            <a:noAutofit/>
          </a:bodyPr>
          <a:lstStyle/>
          <a:p>
            <a:pPr algn="l">
              <a:lnSpc>
                <a:spcPct val="130000"/>
              </a:lnSpc>
              <a:spcAft>
                <a:spcPts val="400"/>
              </a:spcAft>
            </a:pPr>
            <a:r>
              <a:rPr sz="1000" b="0" i="0">
                <a:solidFill>
                  <a:srgbClr val="16181B"/>
                </a:solidFill>
                <a:latin typeface="Noto Sans KR"/>
                <a:ea typeface="Noto Sans KR"/>
                <a:cs typeface="Noto Sans KR"/>
              </a:rPr>
              <a:t>3kg 냄비, 무게중심이 파지점에서 0.20m → 정적 모멘트 ≈ 5.9 N·m</a:t>
            </a:r>
          </a:p>
          <a:p>
            <a:pPr algn="l">
              <a:lnSpc>
                <a:spcPct val="130000"/>
              </a:lnSpc>
              <a:spcAft>
                <a:spcPts val="400"/>
              </a:spcAft>
            </a:pPr>
            <a:r>
              <a:rPr sz="1000" b="0" i="0">
                <a:solidFill>
                  <a:srgbClr val="16181B"/>
                </a:solidFill>
                <a:latin typeface="Noto Sans KR"/>
                <a:ea typeface="Noto Sans KR"/>
                <a:cs typeface="Noto Sans KR"/>
              </a:rPr>
              <a:t>가속·충격 시 요구치 증가 → 큰 냄비는 양손 지지 또는 거치대 보조</a:t>
            </a:r>
          </a:p>
          <a:p>
            <a:pPr algn="l">
              <a:lnSpc>
                <a:spcPct val="130000"/>
              </a:lnSpc>
              <a:spcAft>
                <a:spcPts val="400"/>
              </a:spcAft>
            </a:pPr>
            <a:r>
              <a:rPr sz="1000" b="0" i="0">
                <a:solidFill>
                  <a:srgbClr val="16181B"/>
                </a:solidFill>
                <a:latin typeface="Noto Sans KR"/>
                <a:ea typeface="Noto Sans KR"/>
                <a:cs typeface="Noto Sans KR"/>
              </a:rPr>
              <a:t>손의 파지 하중 ≠ 로봇 팔 가반하중 (손·어댑터·센서·도구·내용물 합산)</a:t>
            </a:r>
          </a:p>
        </p:txBody>
      </p:sp>
      <p:sp>
        <p:nvSpPr>
          <p:cNvPr id="10" name="Sensing roles"/>
          <p:cNvSpPr/>
          <p:nvPr/>
        </p:nvSpPr>
        <p:spPr>
          <a:xfrm>
            <a:off x="8275320" y="3840480"/>
            <a:ext cx="3367735" cy="2331720"/>
          </a:xfrm>
          <a:prstGeom prst="roundRect">
            <a:avLst>
              <a:gd name="adj" fmla="val 3921"/>
            </a:avLst>
          </a:prstGeom>
          <a:solidFill>
            <a:srgbClr val="FFFFFF"/>
          </a:solidFill>
          <a:ln w="9525">
            <a:solidFill>
              <a:srgbClr val="DCDAD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1" name="TextBox 10"/>
          <p:cNvSpPr txBox="1"/>
          <p:nvPr/>
        </p:nvSpPr>
        <p:spPr>
          <a:xfrm>
            <a:off x="8476488" y="3950208"/>
            <a:ext cx="3001975" cy="274320"/>
          </a:xfrm>
          <a:prstGeom prst="rect">
            <a:avLst/>
          </a:prstGeom>
          <a:noFill/>
        </p:spPr>
        <p:txBody>
          <a:bodyPr wrap="square" lIns="0" rIns="0" tIns="0" bIns="0" anchor="t">
            <a:noAutofit/>
          </a:bodyPr>
          <a:lstStyle/>
          <a:p>
            <a:pPr algn="l">
              <a:lnSpc>
                <a:spcPct val="112000"/>
              </a:lnSpc>
            </a:pPr>
            <a:r>
              <a:rPr sz="1000" b="0" i="0" spc="100">
                <a:solidFill>
                  <a:srgbClr val="EC7A3C"/>
                </a:solidFill>
                <a:latin typeface="Noto Sans KR SemiBold"/>
                <a:ea typeface="Noto Sans KR SemiBold"/>
                <a:cs typeface="Noto Sans KR SemiBold"/>
              </a:rPr>
              <a:t>SENSING ROLES</a:t>
            </a:r>
          </a:p>
        </p:txBody>
      </p:sp>
      <p:sp>
        <p:nvSpPr>
          <p:cNvPr id="12" name="TextBox 11"/>
          <p:cNvSpPr txBox="1"/>
          <p:nvPr/>
        </p:nvSpPr>
        <p:spPr>
          <a:xfrm>
            <a:off x="8476488" y="4251960"/>
            <a:ext cx="3001975" cy="1828800"/>
          </a:xfrm>
          <a:prstGeom prst="rect">
            <a:avLst/>
          </a:prstGeom>
          <a:noFill/>
        </p:spPr>
        <p:txBody>
          <a:bodyPr wrap="square" lIns="0" rIns="0" tIns="0" bIns="0" anchor="t">
            <a:noAutofit/>
          </a:bodyPr>
          <a:lstStyle/>
          <a:p>
            <a:pPr algn="l">
              <a:lnSpc>
                <a:spcPct val="130000"/>
              </a:lnSpc>
              <a:spcAft>
                <a:spcPts val="300"/>
              </a:spcAft>
            </a:pPr>
            <a:r>
              <a:rPr sz="1000" b="0" i="0">
                <a:solidFill>
                  <a:srgbClr val="16181B"/>
                </a:solidFill>
                <a:latin typeface="Noto Sans KR"/>
                <a:ea typeface="Noto Sans KR"/>
                <a:cs typeface="Noto Sans KR"/>
              </a:rPr>
              <a:t>비전: 형상·도구 기능부·배치 상태</a:t>
            </a:r>
          </a:p>
          <a:p>
            <a:pPr algn="l">
              <a:lnSpc>
                <a:spcPct val="130000"/>
              </a:lnSpc>
              <a:spcAft>
                <a:spcPts val="300"/>
              </a:spcAft>
            </a:pPr>
            <a:r>
              <a:rPr sz="1000" b="0" i="0">
                <a:solidFill>
                  <a:srgbClr val="16181B"/>
                </a:solidFill>
                <a:latin typeface="Noto Sans KR"/>
                <a:ea typeface="Noto Sans KR"/>
                <a:cs typeface="Noto Sans KR"/>
              </a:rPr>
              <a:t>촉각: 접촉·미끄러짐</a:t>
            </a:r>
          </a:p>
          <a:p>
            <a:pPr algn="l">
              <a:lnSpc>
                <a:spcPct val="130000"/>
              </a:lnSpc>
              <a:spcAft>
                <a:spcPts val="300"/>
              </a:spcAft>
            </a:pPr>
            <a:r>
              <a:rPr sz="1000" b="0" i="0">
                <a:solidFill>
                  <a:srgbClr val="16181B"/>
                </a:solidFill>
                <a:latin typeface="Noto Sans KR"/>
                <a:ea typeface="Noto Sans KR"/>
                <a:cs typeface="Noto Sans KR"/>
              </a:rPr>
              <a:t>손목 F/T: 반력·토크</a:t>
            </a:r>
          </a:p>
          <a:p>
            <a:pPr algn="l">
              <a:lnSpc>
                <a:spcPct val="130000"/>
              </a:lnSpc>
              <a:spcAft>
                <a:spcPts val="300"/>
              </a:spcAft>
            </a:pPr>
            <a:r>
              <a:rPr sz="1000" b="0" i="0">
                <a:solidFill>
                  <a:srgbClr val="16181B"/>
                </a:solidFill>
                <a:latin typeface="Noto Sans KR"/>
                <a:ea typeface="Noto Sans KR"/>
                <a:cs typeface="Noto Sans KR"/>
              </a:rPr>
              <a:t>VLA·모방학습은 상위 작업 선택에 활용, 힘·속도·안전 한계는 독립 제어 계층에서 보장</a:t>
            </a:r>
          </a:p>
        </p:txBody>
      </p:sp>
      <p:sp>
        <p:nvSpPr>
          <p:cNvPr id="13" name="TextBox 12"/>
          <p:cNvSpPr txBox="1"/>
          <p:nvPr/>
        </p:nvSpPr>
        <p:spPr>
          <a:xfrm>
            <a:off x="548640" y="5486400"/>
            <a:ext cx="7498079" cy="640080"/>
          </a:xfrm>
          <a:prstGeom prst="rect">
            <a:avLst/>
          </a:prstGeom>
          <a:noFill/>
        </p:spPr>
        <p:txBody>
          <a:bodyPr wrap="square" lIns="0" rIns="0" tIns="0" bIns="0" anchor="t">
            <a:noAutofit/>
          </a:bodyPr>
          <a:lstStyle/>
          <a:p>
            <a:pPr algn="l">
              <a:lnSpc>
                <a:spcPct val="125000"/>
              </a:lnSpc>
            </a:pPr>
            <a:r>
              <a:rPr sz="1000" b="0" i="0">
                <a:solidFill>
                  <a:srgbClr val="51565E"/>
                </a:solidFill>
                <a:latin typeface="Noto Sans KR"/>
                <a:ea typeface="Noto Sans KR"/>
                <a:cs typeface="Noto Sans KR"/>
              </a:rPr>
              <a:t>공통 제어기·통신·손목 장착 구조는 유지하고 접촉부만 용도별로 분리 — 모든 용도를 하나의 재질·손가락 사양으로 충족한다고 가정하지 않는다.</a:t>
            </a:r>
          </a:p>
        </p:txBody>
      </p:sp>
      <p:sp>
        <p:nvSpPr>
          <p:cNvPr id="14" name="TextBox 13"/>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15" name="TextBox 14"/>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A3</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PERFORMANCE TARGETS &amp; TEST DEFINITIONS</a:t>
            </a:r>
          </a:p>
        </p:txBody>
      </p:sp>
      <p:sp>
        <p:nvSpPr>
          <p:cNvPr id="5" name="TextBox 4"/>
          <p:cNvSpPr txBox="1"/>
          <p:nvPr/>
        </p:nvSpPr>
        <p:spPr>
          <a:xfrm>
            <a:off x="548640" y="1170432"/>
            <a:ext cx="11094415" cy="292608"/>
          </a:xfrm>
          <a:prstGeom prst="rect">
            <a:avLst/>
          </a:prstGeom>
          <a:noFill/>
        </p:spPr>
        <p:txBody>
          <a:bodyPr wrap="square" lIns="0" rIns="0" tIns="0" bIns="0" anchor="t">
            <a:noAutofit/>
          </a:bodyPr>
          <a:lstStyle/>
          <a:p>
            <a:pPr algn="l">
              <a:lnSpc>
                <a:spcPct val="112000"/>
              </a:lnSpc>
            </a:pPr>
            <a:r>
              <a:rPr sz="1200" b="0" i="0">
                <a:solidFill>
                  <a:srgbClr val="51565E"/>
                </a:solidFill>
                <a:latin typeface="Noto Sans KR"/>
                <a:ea typeface="Noto Sans KR"/>
                <a:cs typeface="Noto Sans KR"/>
              </a:rPr>
              <a:t>모든 수치는 Target(제안 목표)이며 실적이 아님 · Seed Gate 지표와 R&amp;D 트랙을 분리</a:t>
            </a:r>
          </a:p>
        </p:txBody>
      </p:sp>
      <p:graphicFrame>
        <p:nvGraphicFramePr>
          <p:cNvPr id="6" name="Targets table"/>
          <p:cNvGraphicFramePr>
            <a:graphicFrameLocks noGrp="1"/>
          </p:cNvGraphicFramePr>
          <p:nvPr/>
        </p:nvGraphicFramePr>
        <p:xfrm>
          <a:off x="548640" y="1645920"/>
          <a:ext cx="11091672" cy="4297680"/>
        </p:xfrm>
        <a:graphic>
          <a:graphicData uri="http://schemas.openxmlformats.org/drawingml/2006/table">
            <a:tbl>
              <a:tblPr firstRow="0" bandRow="0">
                <a:tableStyleId>{5C22544A-7EE6-4342-B048-85BDC9FD1C3A}</a:tableStyleId>
              </a:tblPr>
              <a:tblGrid>
                <a:gridCol w="2377440"/>
                <a:gridCol w="2514600"/>
                <a:gridCol w="2788920"/>
                <a:gridCol w="3410712"/>
              </a:tblGrid>
              <a:tr h="429768">
                <a:tc>
                  <a:txBody>
                    <a:bodyPr/>
                    <a:lstStyle/>
                    <a:p>
                      <a:pPr algn="l">
                        <a:lnSpc>
                          <a:spcPct val="105000"/>
                        </a:lnSpc>
                      </a:pPr>
                      <a:r>
                        <a:rPr sz="950" b="0" i="0" spc="40">
                          <a:solidFill>
                            <a:srgbClr val="16181B"/>
                          </a:solidFill>
                          <a:latin typeface="Noto Sans KR SemiBold"/>
                          <a:ea typeface="Noto Sans KR SemiBold"/>
                          <a:cs typeface="Noto Sans KR SemiBold"/>
                        </a:rPr>
                        <a:t>지표</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12개월 Target</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24개월 Target</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시험 정의</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승인 Task 완료율 (A~C)</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Task별 반복 시연</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 95%</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최초 시도 / 재시도 포함 / 중단 분리 보고, 신뢰구간</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정적 파지 (등록 물체)</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20종 · 95%+</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30종 · 98%+</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종별 100회, 낙하 없이 이송·배치 완료</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저토크 도구 작업</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2종</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3종 · 완료율 95%+</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토크·작업 시간 동시 보고</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핸드 하중</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건조 원통 손잡이 1kg</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동일 조건 2kg</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자세·속도·모멘트 한계 명시</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내구성</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반복 개폐 10만 회</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30만 회 (양산 목표 100만 회)</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하중·교체주기·힘 저하율 명시</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정렬 오차 / 감지→제어</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±5mm / p95 200ms</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±3mm / p95 100ms</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놓은 후 측정 / 촬영~명령</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사람 개입시간</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공정별 Baseline 확보</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선정 고객 −30%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재료 보충·복구 시간 포함</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R&amp;D 트랙 (Gate 제외)</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동적 0.1m/s 90% · 유연체 3종 90%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동적 0.3m/s 95% · 유연체 5종 95%</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Seed 성공조건이 아닌 기술 트랙</a:t>
                      </a:r>
                    </a:p>
                  </a:txBody>
                  <a:tcPr marL="73152" marR="54864" marT="27432" marB="27432" anchor="ctr">
                    <a:lnL w="9525">
                      <a:noFill/>
                    </a:lnL>
                    <a:lnR w="9525">
                      <a:noFill/>
                    </a:lnR>
                    <a:lnT w="9525">
                      <a:noFill/>
                    </a:lnT>
                    <a:lnB w="9525">
                      <a:solidFill>
                        <a:srgbClr val="DCDAD5"/>
                      </a:solidFill>
                    </a:lnB>
                    <a:noFill/>
                  </a:tcPr>
                </a:tc>
              </a:tr>
              <a:tr h="429768">
                <a:tc>
                  <a:txBody>
                    <a:bodyPr/>
                    <a:lstStyle/>
                    <a:p>
                      <a:pPr algn="l">
                        <a:lnSpc>
                          <a:spcPct val="108000"/>
                        </a:lnSpc>
                      </a:pPr>
                      <a:r>
                        <a:rPr sz="1000" b="0" i="0">
                          <a:solidFill>
                            <a:srgbClr val="16181B"/>
                          </a:solidFill>
                          <a:latin typeface="Noto Sans KR SemiBold"/>
                          <a:ea typeface="Noto Sans KR SemiBold"/>
                          <a:cs typeface="Noto Sans KR SemiBold"/>
                        </a:rPr>
                        <a:t>Kitchen Showcase</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비가열 취급 시연</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메뉴 3종 각 100회 · 무개입 90%+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Flagship Demo (매출 목표 아님)</a:t>
                      </a:r>
                    </a:p>
                  </a:txBody>
                  <a:tcPr marL="73152" marR="54864" marT="27432" marB="27432" anchor="ctr">
                    <a:lnL w="9525">
                      <a:noFill/>
                    </a:lnL>
                    <a:lnR w="9525">
                      <a:noFill/>
                    </a:lnR>
                    <a:lnT w="9525">
                      <a:noFill/>
                    </a:lnT>
                    <a:lnB w="9525">
                      <a:solidFill>
                        <a:srgbClr val="DCDAD5"/>
                      </a:solidFill>
                    </a:lnB>
                    <a:noFill/>
                  </a:tcPr>
                </a:tc>
              </a:tr>
            </a:tbl>
          </a:graphicData>
        </a:graphic>
      </p:graphicFrame>
      <p:sp>
        <p:nvSpPr>
          <p:cNvPr id="7" name="TextBox 6"/>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8" name="TextBox 7"/>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A4</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MARKET SIZING — BEACHHEAD, EXPANSION, SCALE</a:t>
            </a:r>
          </a:p>
        </p:txBody>
      </p:sp>
      <p:sp>
        <p:nvSpPr>
          <p:cNvPr id="5" name="TextBox 4"/>
          <p:cNvSpPr txBox="1"/>
          <p:nvPr/>
        </p:nvSpPr>
        <p:spPr>
          <a:xfrm>
            <a:off x="548640" y="1170432"/>
            <a:ext cx="11094415" cy="292608"/>
          </a:xfrm>
          <a:prstGeom prst="rect">
            <a:avLst/>
          </a:prstGeom>
          <a:noFill/>
        </p:spPr>
        <p:txBody>
          <a:bodyPr wrap="square" lIns="0" rIns="0" tIns="0" bIns="0" anchor="t">
            <a:noAutofit/>
          </a:bodyPr>
          <a:lstStyle/>
          <a:p>
            <a:pPr algn="l">
              <a:lnSpc>
                <a:spcPct val="112000"/>
              </a:lnSpc>
            </a:pPr>
            <a:r>
              <a:rPr sz="1200" b="0" i="0">
                <a:solidFill>
                  <a:srgbClr val="51565E"/>
                </a:solidFill>
                <a:latin typeface="Noto Sans KR"/>
                <a:ea typeface="Noto Sans KR"/>
                <a:cs typeface="Noto Sans KR"/>
              </a:rPr>
              <a:t>초기 계산은 회사 전체 TAM이 아니다 — 장기 상한은 Manipulation Layer를 적용할 수 있는 로봇 설치 기반</a:t>
            </a:r>
          </a:p>
        </p:txBody>
      </p:sp>
      <p:graphicFrame>
        <p:nvGraphicFramePr>
          <p:cNvPr id="6" name="Market table"/>
          <p:cNvGraphicFramePr>
            <a:graphicFrameLocks noGrp="1"/>
          </p:cNvGraphicFramePr>
          <p:nvPr/>
        </p:nvGraphicFramePr>
        <p:xfrm>
          <a:off x="548640" y="1645920"/>
          <a:ext cx="11091672" cy="3310128"/>
        </p:xfrm>
        <a:graphic>
          <a:graphicData uri="http://schemas.openxmlformats.org/drawingml/2006/table">
            <a:tbl>
              <a:tblPr firstRow="0" bandRow="0">
                <a:tableStyleId>{5C22544A-7EE6-4342-B048-85BDC9FD1C3A}</a:tableStyleId>
              </a:tblPr>
              <a:tblGrid>
                <a:gridCol w="1828800"/>
                <a:gridCol w="3017520"/>
                <a:gridCol w="3429000"/>
                <a:gridCol w="2816352"/>
              </a:tblGrid>
              <a:tr h="347472">
                <a:tc>
                  <a:txBody>
                    <a:bodyPr/>
                    <a:lstStyle/>
                    <a:p>
                      <a:pPr algn="l">
                        <a:lnSpc>
                          <a:spcPct val="105000"/>
                        </a:lnSpc>
                      </a:pPr>
                      <a:r>
                        <a:rPr sz="950" b="0" i="0" spc="40">
                          <a:solidFill>
                            <a:srgbClr val="16181B"/>
                          </a:solidFill>
                          <a:latin typeface="Noto Sans KR SemiBold"/>
                          <a:ea typeface="Noto Sans KR SemiBold"/>
                          <a:cs typeface="Noto Sans KR SemiBold"/>
                        </a:rPr>
                        <a:t>단계</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정의</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규모 근거</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성격 · 출처</a:t>
                      </a:r>
                    </a:p>
                  </a:txBody>
                  <a:tcPr marL="73152" marR="54864" marT="27432" marB="27432" anchor="ctr">
                    <a:lnL w="9525">
                      <a:noFill/>
                    </a:lnL>
                    <a:lnR w="9525">
                      <a:noFill/>
                    </a:lnR>
                    <a:lnT w="9525">
                      <a:noFill/>
                    </a:lnT>
                    <a:lnB w="9525">
                      <a:solidFill>
                        <a:srgbClr val="DCDAD5"/>
                      </a:solidFill>
                    </a:lnB>
                    <a:noFill/>
                  </a:tcPr>
                </a:tc>
              </a:tr>
              <a:tr h="713232">
                <a:tc>
                  <a:txBody>
                    <a:bodyPr/>
                    <a:lstStyle/>
                    <a:p>
                      <a:pPr algn="l">
                        <a:lnSpc>
                          <a:spcPct val="108000"/>
                        </a:lnSpc>
                      </a:pPr>
                      <a:r>
                        <a:rPr sz="1000" b="0" i="0">
                          <a:solidFill>
                            <a:srgbClr val="16181B"/>
                          </a:solidFill>
                          <a:latin typeface="Noto Sans KR SemiBold"/>
                          <a:ea typeface="Noto Sans KR SemiBold"/>
                          <a:cs typeface="Noto Sans KR SemiBold"/>
                        </a:rPr>
                        <a:t>BEACHHEAD</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국내 Robot SI · 제조 · Cobot 사용자 (24~36개월 접근)</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100개사 × 5대 × ₩1,500만 ≈ ₩75억</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Initial Serviceable Opportunity · 계획용 가정, 구매의향 미검증</a:t>
                      </a:r>
                    </a:p>
                  </a:txBody>
                  <a:tcPr marL="73152" marR="54864" marT="27432" marB="27432" anchor="ctr">
                    <a:lnL w="9525">
                      <a:noFill/>
                    </a:lnL>
                    <a:lnR w="9525">
                      <a:noFill/>
                    </a:lnR>
                    <a:lnT w="9525">
                      <a:noFill/>
                    </a:lnT>
                    <a:lnB w="9525">
                      <a:solidFill>
                        <a:srgbClr val="DCDAD5"/>
                      </a:solidFill>
                    </a:lnB>
                    <a:noFill/>
                  </a:tcPr>
                </a:tc>
              </a:tr>
              <a:tr h="713232">
                <a:tc>
                  <a:txBody>
                    <a:bodyPr/>
                    <a:lstStyle/>
                    <a:p>
                      <a:pPr algn="l">
                        <a:lnSpc>
                          <a:spcPct val="108000"/>
                        </a:lnSpc>
                      </a:pPr>
                      <a:r>
                        <a:rPr sz="1000" b="0" i="0">
                          <a:solidFill>
                            <a:srgbClr val="16181B"/>
                          </a:solidFill>
                          <a:latin typeface="Noto Sans KR SemiBold"/>
                          <a:ea typeface="Noto Sans KR SemiBold"/>
                          <a:cs typeface="Noto Sans KR SemiBold"/>
                        </a:rPr>
                        <a:t>EXPANSION</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Global Industrial · Collaborative · Service Robot</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신규 설치 603,307대(2025, +11%) · 2029F 806,000대 · 가동 5,079,078대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IFR World Robotics 2026 (2026.9)</a:t>
                      </a:r>
                    </a:p>
                  </a:txBody>
                  <a:tcPr marL="73152" marR="54864" marT="27432" marB="27432" anchor="ctr">
                    <a:lnL w="9525">
                      <a:noFill/>
                    </a:lnL>
                    <a:lnR w="9525">
                      <a:noFill/>
                    </a:lnR>
                    <a:lnT w="9525">
                      <a:noFill/>
                    </a:lnT>
                    <a:lnB w="9525">
                      <a:solidFill>
                        <a:srgbClr val="DCDAD5"/>
                      </a:solidFill>
                    </a:lnB>
                    <a:noFill/>
                  </a:tcPr>
                </a:tc>
              </a:tr>
              <a:tr h="713232">
                <a:tc>
                  <a:txBody>
                    <a:bodyPr/>
                    <a:lstStyle/>
                    <a:p>
                      <a:pPr algn="l">
                        <a:lnSpc>
                          <a:spcPct val="108000"/>
                        </a:lnSpc>
                      </a:pPr>
                      <a:r>
                        <a:rPr sz="1000" b="0" i="0">
                          <a:solidFill>
                            <a:srgbClr val="16181B"/>
                          </a:solidFill>
                          <a:latin typeface="Noto Sans KR SemiBold"/>
                          <a:ea typeface="Noto Sans KR SemiBold"/>
                          <a:cs typeface="Noto Sans KR SemiBold"/>
                        </a:rPr>
                        <a:t>SCALE</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Robot OEM · Humanoid · Physical AI Ecosystem</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휴머노이드 2035년 648만 대 · $138B (2026.8 상향) / 2050년 $5T</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Goldman Sachs(Investing.com 보도) · Morgan Stanley — 전망 편차 큼</a:t>
                      </a:r>
                    </a:p>
                  </a:txBody>
                  <a:tcPr marL="73152" marR="54864" marT="27432" marB="27432" anchor="ctr">
                    <a:lnL w="9525">
                      <a:noFill/>
                    </a:lnL>
                    <a:lnR w="9525">
                      <a:noFill/>
                    </a:lnR>
                    <a:lnT w="9525">
                      <a:noFill/>
                    </a:lnT>
                    <a:lnB w="9525">
                      <a:solidFill>
                        <a:srgbClr val="DCDAD5"/>
                      </a:solidFill>
                    </a:lnB>
                    <a:noFill/>
                  </a:tcPr>
                </a:tc>
              </a:tr>
              <a:tr h="822960">
                <a:tc>
                  <a:txBody>
                    <a:bodyPr/>
                    <a:lstStyle/>
                    <a:p>
                      <a:pPr algn="l">
                        <a:lnSpc>
                          <a:spcPct val="108000"/>
                        </a:lnSpc>
                      </a:pPr>
                      <a:r>
                        <a:rPr sz="1000" b="0" i="0">
                          <a:solidFill>
                            <a:srgbClr val="16181B"/>
                          </a:solidFill>
                          <a:latin typeface="Noto Sans KR SemiBold"/>
                          <a:ea typeface="Noto Sans KR SemiBold"/>
                          <a:cs typeface="Noto Sans KR SemiBold"/>
                        </a:rPr>
                        <a:t>인접 신호 (Kitchen)</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식품·주방 Manipulation 자동화</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Chef Robotics Series A $43M(2025.4) · 외식업체 27.6% 인력 부족(952개 업체, 2023)</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PR Newswire · 헤럴드경제(한국외식산업연구원·고용노동부 조사)</a:t>
                      </a:r>
                    </a:p>
                  </a:txBody>
                  <a:tcPr marL="73152" marR="54864" marT="27432" marB="27432" anchor="ctr">
                    <a:lnL w="9525">
                      <a:noFill/>
                    </a:lnL>
                    <a:lnR w="9525">
                      <a:noFill/>
                    </a:lnR>
                    <a:lnT w="9525">
                      <a:noFill/>
                    </a:lnT>
                    <a:lnB w="9525">
                      <a:solidFill>
                        <a:srgbClr val="DCDAD5"/>
                      </a:solidFill>
                    </a:lnB>
                    <a:noFill/>
                  </a:tcPr>
                </a:tc>
              </a:tr>
            </a:tbl>
          </a:graphicData>
        </a:graphic>
      </p:graphicFrame>
      <p:sp>
        <p:nvSpPr>
          <p:cNvPr id="7" name="TextBox 6"/>
          <p:cNvSpPr txBox="1"/>
          <p:nvPr/>
        </p:nvSpPr>
        <p:spPr>
          <a:xfrm>
            <a:off x="548640" y="5166360"/>
            <a:ext cx="11094415" cy="822960"/>
          </a:xfrm>
          <a:prstGeom prst="rect">
            <a:avLst/>
          </a:prstGeom>
          <a:noFill/>
        </p:spPr>
        <p:txBody>
          <a:bodyPr wrap="square" lIns="0" rIns="0" tIns="0" bIns="0" anchor="t">
            <a:noAutofit/>
          </a:bodyPr>
          <a:lstStyle/>
          <a:p>
            <a:pPr algn="l">
              <a:lnSpc>
                <a:spcPct val="135000"/>
              </a:lnSpc>
            </a:pPr>
            <a:r>
              <a:rPr sz="1050" b="0" i="0">
                <a:solidFill>
                  <a:srgbClr val="51565E"/>
                </a:solidFill>
                <a:latin typeface="Noto Sans KR"/>
                <a:ea typeface="Noto Sans KR"/>
                <a:cs typeface="Noto Sans KR"/>
              </a:rPr>
              <a:t>EOAT(엔드이펙터) 시장 추정치는 조사기관별로 수 배 차이가 나 TAM 근거로 사용하지 않았다.</a:t>
            </a:r>
          </a:p>
          <a:p>
            <a:pPr algn="l">
              <a:lnSpc>
                <a:spcPct val="135000"/>
              </a:lnSpc>
            </a:pPr>
            <a:r>
              <a:rPr sz="1050" b="0" i="0">
                <a:solidFill>
                  <a:srgbClr val="51565E"/>
                </a:solidFill>
                <a:latin typeface="Noto Sans KR"/>
                <a:ea typeface="Noto Sans KR"/>
                <a:cs typeface="Noto Sans KR"/>
              </a:rPr>
              <a:t>주방 시장 초기 계산(30곳 × 1셀 × ₩2억 = ₩60억)은 별도 응용시장 가정이며 핸드 시장과 단순 합산하지 않는다.</a:t>
            </a:r>
          </a:p>
        </p:txBody>
      </p:sp>
      <p:sp>
        <p:nvSpPr>
          <p:cNvPr id="8" name="TextBox 7"/>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9" name="TextBox 8"/>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A5</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BASE CASE MODEL — ASSUMPTIONS, MIX &amp; SENSITIVITY</a:t>
            </a:r>
          </a:p>
        </p:txBody>
      </p:sp>
      <p:sp>
        <p:nvSpPr>
          <p:cNvPr id="5" name="TextBox 4"/>
          <p:cNvSpPr txBox="1"/>
          <p:nvPr/>
        </p:nvSpPr>
        <p:spPr>
          <a:xfrm>
            <a:off x="548640" y="1170432"/>
            <a:ext cx="11094415" cy="292608"/>
          </a:xfrm>
          <a:prstGeom prst="rect">
            <a:avLst/>
          </a:prstGeom>
          <a:noFill/>
        </p:spPr>
        <p:txBody>
          <a:bodyPr wrap="square" lIns="0" rIns="0" tIns="0" bIns="0" anchor="t">
            <a:noAutofit/>
          </a:bodyPr>
          <a:lstStyle/>
          <a:p>
            <a:pPr algn="l">
              <a:lnSpc>
                <a:spcPct val="112000"/>
              </a:lnSpc>
            </a:pPr>
            <a:r>
              <a:rPr sz="1200" b="0" i="0">
                <a:solidFill>
                  <a:srgbClr val="51565E"/>
                </a:solidFill>
                <a:latin typeface="Noto Sans KR"/>
                <a:ea typeface="Noto Sans KR"/>
                <a:cs typeface="Noto Sans KR"/>
              </a:rPr>
              <a:t>Management Forecast (원본 계획값) · 단위: 억원 · 투자 집행 시작연도 = Y1</a:t>
            </a:r>
          </a:p>
        </p:txBody>
      </p:sp>
      <p:graphicFrame>
        <p:nvGraphicFramePr>
          <p:cNvPr id="6" name="Base case table"/>
          <p:cNvGraphicFramePr>
            <a:graphicFrameLocks noGrp="1"/>
          </p:cNvGraphicFramePr>
          <p:nvPr/>
        </p:nvGraphicFramePr>
        <p:xfrm>
          <a:off x="548640" y="1600200"/>
          <a:ext cx="6949440" cy="4059936"/>
        </p:xfrm>
        <a:graphic>
          <a:graphicData uri="http://schemas.openxmlformats.org/drawingml/2006/table">
            <a:tbl>
              <a:tblPr firstRow="0" bandRow="0">
                <a:tableStyleId>{5C22544A-7EE6-4342-B048-85BDC9FD1C3A}</a:tableStyleId>
              </a:tblPr>
              <a:tblGrid>
                <a:gridCol w="2834640"/>
                <a:gridCol w="822960"/>
                <a:gridCol w="822960"/>
                <a:gridCol w="822960"/>
                <a:gridCol w="822960"/>
                <a:gridCol w="822960"/>
              </a:tblGrid>
              <a:tr h="338328">
                <a:tc>
                  <a:txBody>
                    <a:bodyPr/>
                    <a:lstStyle/>
                    <a:p>
                      <a:pPr algn="l">
                        <a:lnSpc>
                          <a:spcPct val="105000"/>
                        </a:lnSpc>
                      </a:pPr>
                      <a:r>
                        <a:rPr sz="950" b="0" i="0" spc="40">
                          <a:solidFill>
                            <a:srgbClr val="16181B"/>
                          </a:solidFill>
                          <a:latin typeface="Noto Sans KR SemiBold"/>
                          <a:ea typeface="Noto Sans KR SemiBold"/>
                          <a:cs typeface="Noto Sans KR SemiBold"/>
                        </a:rPr>
                        <a:t>항목</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Y1</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Y2</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Y3</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Y4</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Y5</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핸드 단품 판매 (대)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350</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주방 셀 판매 (대)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5</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12</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25</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SW 유효 계약 (건)</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40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120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250</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매출 — 유료 실증·개발</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2.0</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매출 — Hand (×0.15억)</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4.5</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15.0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52.5</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매출 — Kitchen Application (×2억)</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24.0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50.0</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매출 — ToolSkill SW (×0.03억)</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0.3</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1.2</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3.6</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7.5</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총매출</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6.80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28.20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59.60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112.00</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매출총이익</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0.40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3.11</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11.64</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24.52</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45.55</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운영비</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8.00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10.00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14.00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20.00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28.00</a:t>
                      </a:r>
                    </a:p>
                  </a:txBody>
                  <a:tcPr marL="73152" marR="54864" marT="27432" marB="27432" anchor="ctr">
                    <a:lnL w="9525">
                      <a:noFill/>
                    </a:lnL>
                    <a:lnR w="9525">
                      <a:noFill/>
                    </a:lnR>
                    <a:lnT w="9525">
                      <a:noFill/>
                    </a:lnT>
                    <a:lnB w="9525">
                      <a:solidFill>
                        <a:srgbClr val="DCDAD5"/>
                      </a:solidFill>
                    </a:lnB>
                    <a:noFill/>
                  </a:tcPr>
                </a:tc>
              </a:tr>
              <a:tr h="338328">
                <a:tc>
                  <a:txBody>
                    <a:bodyPr/>
                    <a:lstStyle/>
                    <a:p>
                      <a:pPr algn="l">
                        <a:lnSpc>
                          <a:spcPct val="108000"/>
                        </a:lnSpc>
                      </a:pPr>
                      <a:r>
                        <a:rPr sz="1000" b="0" i="0">
                          <a:solidFill>
                            <a:srgbClr val="16181B"/>
                          </a:solidFill>
                          <a:latin typeface="Noto Sans KR SemiBold"/>
                          <a:ea typeface="Noto Sans KR SemiBold"/>
                          <a:cs typeface="Noto Sans KR SemiBold"/>
                        </a:rPr>
                        <a:t>영업손익</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-7.60</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-6.89</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-2.36</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4.52</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17.55</a:t>
                      </a:r>
                    </a:p>
                  </a:txBody>
                  <a:tcPr marL="73152" marR="54864" marT="27432" marB="27432" anchor="ctr">
                    <a:lnL w="9525">
                      <a:noFill/>
                    </a:lnL>
                    <a:lnR w="9525">
                      <a:noFill/>
                    </a:lnR>
                    <a:lnT w="9525">
                      <a:noFill/>
                    </a:lnT>
                    <a:lnB w="9525">
                      <a:solidFill>
                        <a:srgbClr val="DCDAD5"/>
                      </a:solidFill>
                    </a:lnB>
                    <a:noFill/>
                  </a:tcPr>
                </a:tc>
              </a:tr>
            </a:tbl>
          </a:graphicData>
        </a:graphic>
      </p:graphicFrame>
      <p:sp>
        <p:nvSpPr>
          <p:cNvPr id="7" name="Assumptions"/>
          <p:cNvSpPr/>
          <p:nvPr/>
        </p:nvSpPr>
        <p:spPr>
          <a:xfrm>
            <a:off x="7772400" y="1600200"/>
            <a:ext cx="3870655" cy="4526280"/>
          </a:xfrm>
          <a:prstGeom prst="roundRect">
            <a:avLst>
              <a:gd name="adj" fmla="val 2362"/>
            </a:avLst>
          </a:prstGeom>
          <a:solidFill>
            <a:srgbClr val="FFFFFF"/>
          </a:solidFill>
          <a:ln w="9525">
            <a:solidFill>
              <a:srgbClr val="DCDAD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8" name="TextBox 7"/>
          <p:cNvSpPr txBox="1"/>
          <p:nvPr/>
        </p:nvSpPr>
        <p:spPr>
          <a:xfrm>
            <a:off x="7973568" y="1709928"/>
            <a:ext cx="3504895" cy="274320"/>
          </a:xfrm>
          <a:prstGeom prst="rect">
            <a:avLst/>
          </a:prstGeom>
          <a:noFill/>
        </p:spPr>
        <p:txBody>
          <a:bodyPr wrap="square" lIns="0" rIns="0" tIns="0" bIns="0" anchor="t">
            <a:noAutofit/>
          </a:bodyPr>
          <a:lstStyle/>
          <a:p>
            <a:pPr algn="l">
              <a:lnSpc>
                <a:spcPct val="112000"/>
              </a:lnSpc>
            </a:pPr>
            <a:r>
              <a:rPr sz="1000" b="0" i="0" spc="100">
                <a:solidFill>
                  <a:srgbClr val="EC7A3C"/>
                </a:solidFill>
                <a:latin typeface="Noto Sans KR SemiBold"/>
                <a:ea typeface="Noto Sans KR SemiBold"/>
                <a:cs typeface="Noto Sans KR SemiBold"/>
              </a:rPr>
              <a:t>ASSUMPTIONS &amp; SENSITIVITY</a:t>
            </a:r>
          </a:p>
        </p:txBody>
      </p:sp>
      <p:sp>
        <p:nvSpPr>
          <p:cNvPr id="9" name="TextBox 8"/>
          <p:cNvSpPr txBox="1"/>
          <p:nvPr/>
        </p:nvSpPr>
        <p:spPr>
          <a:xfrm>
            <a:off x="7973568" y="2011680"/>
            <a:ext cx="3504895" cy="4023360"/>
          </a:xfrm>
          <a:prstGeom prst="rect">
            <a:avLst/>
          </a:prstGeom>
          <a:noFill/>
        </p:spPr>
        <p:txBody>
          <a:bodyPr wrap="square" lIns="0" rIns="0" tIns="0" bIns="0" anchor="t">
            <a:noAutofit/>
          </a:bodyPr>
          <a:lstStyle/>
          <a:p>
            <a:pPr algn="l">
              <a:lnSpc>
                <a:spcPct val="128000"/>
              </a:lnSpc>
              <a:spcAft>
                <a:spcPts val="500"/>
              </a:spcAft>
            </a:pPr>
            <a:r>
              <a:rPr sz="950" b="0" i="0">
                <a:solidFill>
                  <a:srgbClr val="16181B"/>
                </a:solidFill>
                <a:latin typeface="Noto Sans KR"/>
                <a:ea typeface="Noto Sans KR"/>
                <a:cs typeface="Noto Sans KR"/>
              </a:rPr>
              <a:t>GM 가정: Hand 46.7% · Kitchen 30% · SW 70% · 실증 40%</a:t>
            </a:r>
          </a:p>
          <a:p>
            <a:pPr algn="l">
              <a:lnSpc>
                <a:spcPct val="128000"/>
              </a:lnSpc>
              <a:spcAft>
                <a:spcPts val="500"/>
              </a:spcAft>
            </a:pPr>
            <a:r>
              <a:rPr sz="950" b="0" i="0">
                <a:solidFill>
                  <a:srgbClr val="16181B"/>
                </a:solidFill>
                <a:latin typeface="Noto Sans KR"/>
                <a:ea typeface="Noto Sans KR"/>
                <a:cs typeface="Noto Sans KR"/>
              </a:rPr>
              <a:t>Y3 판매·계약·실증이 기준의 50% → 매출 14.1억, 영업손실 8.18억</a:t>
            </a:r>
          </a:p>
          <a:p>
            <a:pPr algn="l">
              <a:lnSpc>
                <a:spcPct val="128000"/>
              </a:lnSpc>
              <a:spcAft>
                <a:spcPts val="500"/>
              </a:spcAft>
            </a:pPr>
            <a:r>
              <a:rPr sz="950" b="0" i="0">
                <a:solidFill>
                  <a:srgbClr val="16181B"/>
                </a:solidFill>
                <a:latin typeface="Noto Sans KR"/>
                <a:ea typeface="Noto Sans KR"/>
                <a:cs typeface="Noto Sans KR"/>
              </a:rPr>
              <a:t>Y4 전 부문 80% → 매출총이익 19.62억 &lt; 운영비 20억</a:t>
            </a:r>
          </a:p>
          <a:p>
            <a:pPr algn="l">
              <a:lnSpc>
                <a:spcPct val="128000"/>
              </a:lnSpc>
              <a:spcAft>
                <a:spcPts val="500"/>
              </a:spcAft>
            </a:pPr>
            <a:r>
              <a:rPr sz="950" b="0" i="0">
                <a:solidFill>
                  <a:srgbClr val="16181B"/>
                </a:solidFill>
                <a:latin typeface="Noto Sans KR"/>
                <a:ea typeface="Noto Sans KR"/>
                <a:cs typeface="Noto Sans KR"/>
              </a:rPr>
              <a:t>Y1~Y2 누적 영업손실 14.49억 + 운전자본 → 18~24개월 후속 조달 필요</a:t>
            </a:r>
          </a:p>
          <a:p>
            <a:pPr algn="l">
              <a:lnSpc>
                <a:spcPct val="128000"/>
              </a:lnSpc>
              <a:spcAft>
                <a:spcPts val="500"/>
              </a:spcAft>
            </a:pPr>
            <a:r>
              <a:rPr sz="950" b="0" i="0">
                <a:solidFill>
                  <a:srgbClr val="EC7A3C"/>
                </a:solidFill>
                <a:latin typeface="Noto Sans KR SemiBold"/>
                <a:ea typeface="Noto Sans KR SemiBold"/>
                <a:cs typeface="Noto Sans KR SemiBold"/>
              </a:rPr>
              <a:t>재모델링 예정: Y5 매출의 45%가 Kitchen 셀(원본 가정)로 포지셔닝과 불일치 → 파트너 판매(핸드+SW+엔지니어링만 인식) 구조로 Series A 전 재작성</a:t>
            </a:r>
          </a:p>
          <a:p>
            <a:pPr algn="l">
              <a:lnSpc>
                <a:spcPct val="128000"/>
              </a:lnSpc>
              <a:spcAft>
                <a:spcPts val="500"/>
              </a:spcAft>
            </a:pPr>
            <a:r>
              <a:rPr sz="950" b="0" i="0">
                <a:solidFill>
                  <a:srgbClr val="16181B"/>
                </a:solidFill>
                <a:latin typeface="Noto Sans KR"/>
                <a:ea typeface="Noto Sans KR"/>
                <a:cs typeface="Noto Sans KR"/>
              </a:rPr>
              <a:t>SW 과금: 계약 단위 → 설치 핸드 단위 전환 검토</a:t>
            </a:r>
          </a:p>
        </p:txBody>
      </p:sp>
      <p:sp>
        <p:nvSpPr>
          <p:cNvPr id="10" name="TextBox 9"/>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11" name="TextBox 10"/>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A6</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ROBOT KITCHEN — SYSTEM, SAFETY &amp; ECONOMICS</a:t>
            </a:r>
          </a:p>
        </p:txBody>
      </p:sp>
      <p:sp>
        <p:nvSpPr>
          <p:cNvPr id="5" name="TextBox 4"/>
          <p:cNvSpPr txBox="1"/>
          <p:nvPr/>
        </p:nvSpPr>
        <p:spPr>
          <a:xfrm>
            <a:off x="548640" y="1170432"/>
            <a:ext cx="11094415" cy="292608"/>
          </a:xfrm>
          <a:prstGeom prst="rect">
            <a:avLst/>
          </a:prstGeom>
          <a:noFill/>
        </p:spPr>
        <p:txBody>
          <a:bodyPr wrap="square" lIns="0" rIns="0" tIns="0" bIns="0" anchor="t">
            <a:noAutofit/>
          </a:bodyPr>
          <a:lstStyle/>
          <a:p>
            <a:pPr algn="l">
              <a:lnSpc>
                <a:spcPct val="112000"/>
              </a:lnSpc>
            </a:pPr>
            <a:r>
              <a:rPr sz="1200" b="0" i="0">
                <a:solidFill>
                  <a:srgbClr val="51565E"/>
                </a:solidFill>
                <a:latin typeface="Noto Sans KR"/>
                <a:ea typeface="Noto Sans KR"/>
                <a:cs typeface="Noto Sans KR"/>
              </a:rPr>
              <a:t>FUTURE APPLICATION — Seed 단계 매출 목표가 아닌 Flagship Demonstrator의 설계 조건</a:t>
            </a:r>
          </a:p>
        </p:txBody>
      </p:sp>
      <p:graphicFrame>
        <p:nvGraphicFramePr>
          <p:cNvPr id="6" name="Kitchen zones"/>
          <p:cNvGraphicFramePr>
            <a:graphicFrameLocks noGrp="1"/>
          </p:cNvGraphicFramePr>
          <p:nvPr/>
        </p:nvGraphicFramePr>
        <p:xfrm>
          <a:off x="548640" y="1645920"/>
          <a:ext cx="6675120" cy="2414016"/>
        </p:xfrm>
        <a:graphic>
          <a:graphicData uri="http://schemas.openxmlformats.org/drawingml/2006/table">
            <a:tbl>
              <a:tblPr firstRow="0" bandRow="0">
                <a:tableStyleId>{5C22544A-7EE6-4342-B048-85BDC9FD1C3A}</a:tableStyleId>
              </a:tblPr>
              <a:tblGrid>
                <a:gridCol w="1280160"/>
                <a:gridCol w="2743200"/>
                <a:gridCol w="2651760"/>
              </a:tblGrid>
              <a:tr h="402336">
                <a:tc>
                  <a:txBody>
                    <a:bodyPr/>
                    <a:lstStyle/>
                    <a:p>
                      <a:pPr algn="l">
                        <a:lnSpc>
                          <a:spcPct val="105000"/>
                        </a:lnSpc>
                      </a:pPr>
                      <a:r>
                        <a:rPr sz="950" b="0" i="0" spc="40">
                          <a:solidFill>
                            <a:srgbClr val="16181B"/>
                          </a:solidFill>
                          <a:latin typeface="Noto Sans KR SemiBold"/>
                          <a:ea typeface="Noto Sans KR SemiBold"/>
                          <a:cs typeface="Noto Sans KR SemiBold"/>
                        </a:rPr>
                        <a:t>구역</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작업</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950" b="0" i="0" spc="40">
                          <a:solidFill>
                            <a:srgbClr val="16181B"/>
                          </a:solidFill>
                          <a:latin typeface="Noto Sans KR SemiBold"/>
                          <a:ea typeface="Noto Sans KR SemiBold"/>
                          <a:cs typeface="Noto Sans KR SemiBold"/>
                        </a:rPr>
                        <a:t>설계 사항</a:t>
                      </a:r>
                    </a:p>
                  </a:txBody>
                  <a:tcPr marL="73152" marR="54864" marT="27432" marB="27432" anchor="ctr">
                    <a:lnL w="9525">
                      <a:noFill/>
                    </a:lnL>
                    <a:lnR w="9525">
                      <a:noFill/>
                    </a:lnR>
                    <a:lnT w="9525">
                      <a:noFill/>
                    </a:lnT>
                    <a:lnB w="9525">
                      <a:solidFill>
                        <a:srgbClr val="DCDAD5"/>
                      </a:solidFill>
                    </a:lnB>
                    <a:noFill/>
                  </a:tcPr>
                </a:tc>
              </a:tr>
              <a:tr h="402336">
                <a:tc>
                  <a:txBody>
                    <a:bodyPr/>
                    <a:lstStyle/>
                    <a:p>
                      <a:pPr algn="l">
                        <a:lnSpc>
                          <a:spcPct val="108000"/>
                        </a:lnSpc>
                      </a:pPr>
                      <a:r>
                        <a:rPr sz="1000" b="0" i="0">
                          <a:solidFill>
                            <a:srgbClr val="16181B"/>
                          </a:solidFill>
                          <a:latin typeface="Noto Sans KR SemiBold"/>
                          <a:ea typeface="Noto Sans KR SemiBold"/>
                          <a:cs typeface="Noto Sans KR SemiBold"/>
                        </a:rPr>
                        <a:t>재료 준비</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계량·전처리 재료 카트리지 인식·투입</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재료 ID · 보관 조건 · 투입량 확인</a:t>
                      </a:r>
                    </a:p>
                  </a:txBody>
                  <a:tcPr marL="73152" marR="54864" marT="27432" marB="27432" anchor="ctr">
                    <a:lnL w="9525">
                      <a:noFill/>
                    </a:lnL>
                    <a:lnR w="9525">
                      <a:noFill/>
                    </a:lnR>
                    <a:lnT w="9525">
                      <a:noFill/>
                    </a:lnT>
                    <a:lnB w="9525">
                      <a:solidFill>
                        <a:srgbClr val="DCDAD5"/>
                      </a:solidFill>
                    </a:lnB>
                    <a:noFill/>
                  </a:tcPr>
                </a:tc>
              </a:tr>
              <a:tr h="402336">
                <a:tc>
                  <a:txBody>
                    <a:bodyPr/>
                    <a:lstStyle/>
                    <a:p>
                      <a:pPr algn="l">
                        <a:lnSpc>
                          <a:spcPct val="108000"/>
                        </a:lnSpc>
                      </a:pPr>
                      <a:r>
                        <a:rPr sz="1000" b="0" i="0">
                          <a:solidFill>
                            <a:srgbClr val="16181B"/>
                          </a:solidFill>
                          <a:latin typeface="Noto Sans KR SemiBold"/>
                          <a:ea typeface="Noto Sans KR SemiBold"/>
                          <a:cs typeface="Noto Sans KR SemiBold"/>
                        </a:rPr>
                        <a:t>싱크·세척</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식기 투입·꺼내기 · 예비 헹굼 · 정렬</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오염/청결 동선 분리 · 배수 · 비산수</a:t>
                      </a:r>
                    </a:p>
                  </a:txBody>
                  <a:tcPr marL="73152" marR="54864" marT="27432" marB="27432" anchor="ctr">
                    <a:lnL w="9525">
                      <a:noFill/>
                    </a:lnL>
                    <a:lnR w="9525">
                      <a:noFill/>
                    </a:lnR>
                    <a:lnT w="9525">
                      <a:noFill/>
                    </a:lnT>
                    <a:lnB w="9525">
                      <a:solidFill>
                        <a:srgbClr val="DCDAD5"/>
                      </a:solidFill>
                    </a:lnB>
                    <a:noFill/>
                  </a:tcPr>
                </a:tc>
              </a:tr>
              <a:tr h="402336">
                <a:tc>
                  <a:txBody>
                    <a:bodyPr/>
                    <a:lstStyle/>
                    <a:p>
                      <a:pPr algn="l">
                        <a:lnSpc>
                          <a:spcPct val="108000"/>
                        </a:lnSpc>
                      </a:pPr>
                      <a:r>
                        <a:rPr sz="1000" b="0" i="0">
                          <a:solidFill>
                            <a:srgbClr val="16181B"/>
                          </a:solidFill>
                          <a:latin typeface="Noto Sans KR SemiBold"/>
                          <a:ea typeface="Noto Sans KR SemiBold"/>
                          <a:cs typeface="Noto Sans KR SemiBold"/>
                        </a:rPr>
                        <a:t>가열</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인덕션 조절 · 젓기 · 뚜껑 조작</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온도·시간·액량 감시 · 고온 접근 제한</a:t>
                      </a:r>
                    </a:p>
                  </a:txBody>
                  <a:tcPr marL="73152" marR="54864" marT="27432" marB="27432" anchor="ctr">
                    <a:lnL w="9525">
                      <a:noFill/>
                    </a:lnL>
                    <a:lnR w="9525">
                      <a:noFill/>
                    </a:lnR>
                    <a:lnT w="9525">
                      <a:noFill/>
                    </a:lnT>
                    <a:lnB w="9525">
                      <a:solidFill>
                        <a:srgbClr val="DCDAD5"/>
                      </a:solidFill>
                    </a:lnB>
                    <a:noFill/>
                  </a:tcPr>
                </a:tc>
              </a:tr>
              <a:tr h="402336">
                <a:tc>
                  <a:txBody>
                    <a:bodyPr/>
                    <a:lstStyle/>
                    <a:p>
                      <a:pPr algn="l">
                        <a:lnSpc>
                          <a:spcPct val="108000"/>
                        </a:lnSpc>
                      </a:pPr>
                      <a:r>
                        <a:rPr sz="1000" b="0" i="0">
                          <a:solidFill>
                            <a:srgbClr val="16181B"/>
                          </a:solidFill>
                          <a:latin typeface="Noto Sans KR SemiBold"/>
                          <a:ea typeface="Noto Sans KR SemiBold"/>
                          <a:cs typeface="Noto Sans KR SemiBold"/>
                        </a:rPr>
                        <a:t>배식·수납</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정해진 그릇에 담기 · 적층·보관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파손·누락 확인 · 적층 높이 제한</a:t>
                      </a:r>
                    </a:p>
                  </a:txBody>
                  <a:tcPr marL="73152" marR="54864" marT="27432" marB="27432" anchor="ctr">
                    <a:lnL w="9525">
                      <a:noFill/>
                    </a:lnL>
                    <a:lnR w="9525">
                      <a:noFill/>
                    </a:lnR>
                    <a:lnT w="9525">
                      <a:noFill/>
                    </a:lnT>
                    <a:lnB w="9525">
                      <a:solidFill>
                        <a:srgbClr val="DCDAD5"/>
                      </a:solidFill>
                    </a:lnB>
                    <a:noFill/>
                  </a:tcPr>
                </a:tc>
              </a:tr>
              <a:tr h="402336">
                <a:tc>
                  <a:txBody>
                    <a:bodyPr/>
                    <a:lstStyle/>
                    <a:p>
                      <a:pPr algn="l">
                        <a:lnSpc>
                          <a:spcPct val="108000"/>
                        </a:lnSpc>
                      </a:pPr>
                      <a:r>
                        <a:rPr sz="1000" b="0" i="0">
                          <a:solidFill>
                            <a:srgbClr val="16181B"/>
                          </a:solidFill>
                          <a:latin typeface="Noto Sans KR SemiBold"/>
                          <a:ea typeface="Noto Sans KR SemiBold"/>
                          <a:cs typeface="Noto Sans KR SemiBold"/>
                        </a:rPr>
                        <a:t>대기·정비</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로봇 수납 · 외피 교체·세척 · 수동 전환</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00" b="0" i="0">
                          <a:solidFill>
                            <a:srgbClr val="51565E"/>
                          </a:solidFill>
                          <a:latin typeface="Noto Sans KR"/>
                          <a:ea typeface="Noto Sans KR"/>
                          <a:cs typeface="Noto Sans KR"/>
                        </a:rPr>
                        <a:t>잔열·구동 상태 확인 · 서비스 공간</a:t>
                      </a:r>
                    </a:p>
                  </a:txBody>
                  <a:tcPr marL="73152" marR="54864" marT="27432" marB="27432" anchor="ctr">
                    <a:lnL w="9525">
                      <a:noFill/>
                    </a:lnL>
                    <a:lnR w="9525">
                      <a:noFill/>
                    </a:lnR>
                    <a:lnT w="9525">
                      <a:noFill/>
                    </a:lnT>
                    <a:lnB w="9525">
                      <a:solidFill>
                        <a:srgbClr val="DCDAD5"/>
                      </a:solidFill>
                    </a:lnB>
                    <a:noFill/>
                  </a:tcPr>
                </a:tc>
              </a:tr>
            </a:tbl>
          </a:graphicData>
        </a:graphic>
      </p:graphicFrame>
      <p:sp>
        <p:nvSpPr>
          <p:cNvPr id="7" name="TextBox 6"/>
          <p:cNvSpPr txBox="1"/>
          <p:nvPr/>
        </p:nvSpPr>
        <p:spPr>
          <a:xfrm>
            <a:off x="548640" y="4206240"/>
            <a:ext cx="6675120" cy="2011680"/>
          </a:xfrm>
          <a:prstGeom prst="rect">
            <a:avLst/>
          </a:prstGeom>
          <a:noFill/>
        </p:spPr>
        <p:txBody>
          <a:bodyPr wrap="square" lIns="0" rIns="0" tIns="0" bIns="0" anchor="t">
            <a:noAutofit/>
          </a:bodyPr>
          <a:lstStyle/>
          <a:p>
            <a:pPr algn="l">
              <a:lnSpc>
                <a:spcPct val="130000"/>
              </a:lnSpc>
              <a:spcAft>
                <a:spcPts val="600"/>
              </a:spcAft>
            </a:pPr>
            <a:r>
              <a:rPr sz="1000" b="0" i="0">
                <a:solidFill>
                  <a:srgbClr val="16181B"/>
                </a:solidFill>
                <a:latin typeface="Noto Sans KR SemiBold"/>
                <a:ea typeface="Noto Sans KR SemiBold"/>
                <a:cs typeface="Noto Sans KR SemiBold"/>
              </a:rPr>
              <a:t>레시피 확장: </a:t>
            </a:r>
            <a:r>
              <a:rPr sz="1000" b="0" i="0">
                <a:solidFill>
                  <a:srgbClr val="51565E"/>
                </a:solidFill>
                <a:latin typeface="Noto Sans KR"/>
                <a:ea typeface="Noto Sans KR"/>
                <a:cs typeface="Noto Sans KR"/>
              </a:rPr>
              <a:t>① 비가열 식기·용기 → ② 저속 젓기 볶음·찜 → ③ 메뉴·용기 다양화·오븐 → ④ 전용 밀폐·차폐 설비 튀김 (팬 던지기·고속 칼질 제외)</a:t>
            </a:r>
          </a:p>
          <a:p>
            <a:pPr algn="l">
              <a:lnSpc>
                <a:spcPct val="130000"/>
              </a:lnSpc>
              <a:spcAft>
                <a:spcPts val="600"/>
              </a:spcAft>
            </a:pPr>
            <a:r>
              <a:rPr sz="1000" b="0" i="0">
                <a:solidFill>
                  <a:srgbClr val="16181B"/>
                </a:solidFill>
                <a:latin typeface="Noto Sans KR SemiBold"/>
                <a:ea typeface="Noto Sans KR SemiBold"/>
                <a:cs typeface="Noto Sans KR SemiBold"/>
              </a:rPr>
              <a:t>설치 조건: </a:t>
            </a:r>
            <a:r>
              <a:rPr sz="1000" b="0" i="0">
                <a:solidFill>
                  <a:srgbClr val="51565E"/>
                </a:solidFill>
                <a:latin typeface="Noto Sans KR"/>
                <a:ea typeface="Noto Sans KR"/>
                <a:cs typeface="Noto Sans KR"/>
              </a:rPr>
              <a:t>구조체·독립 프레임 고정 · 역설치 허용 로봇 · 동하중·처짐·진동·정전 시 보유 · 레일 윤활제·마모분 격리 커버</a:t>
            </a:r>
          </a:p>
          <a:p>
            <a:pPr algn="l">
              <a:lnSpc>
                <a:spcPct val="130000"/>
              </a:lnSpc>
              <a:spcAft>
                <a:spcPts val="600"/>
              </a:spcAft>
            </a:pPr>
            <a:r>
              <a:rPr sz="1000" b="0" i="0">
                <a:solidFill>
                  <a:srgbClr val="16181B"/>
                </a:solidFill>
                <a:latin typeface="Noto Sans KR SemiBold"/>
                <a:ea typeface="Noto Sans KR SemiBold"/>
                <a:cs typeface="Noto Sans KR SemiBold"/>
              </a:rPr>
              <a:t>구조 원칙: </a:t>
            </a:r>
            <a:r>
              <a:rPr sz="1000" b="0" i="0">
                <a:solidFill>
                  <a:srgbClr val="51565E"/>
                </a:solidFill>
                <a:latin typeface="Noto Sans KR"/>
                <a:ea typeface="Noto Sans KR"/>
                <a:cs typeface="Noto Sans KR"/>
              </a:rPr>
              <a:t>초기에는 단일 공통 캐리지에 두 팔 — 독립 캐리지는 충돌·케이블 간섭 검토 후</a:t>
            </a:r>
          </a:p>
        </p:txBody>
      </p:sp>
      <p:sp>
        <p:nvSpPr>
          <p:cNvPr id="8" name="Kitchen ROI"/>
          <p:cNvSpPr/>
          <p:nvPr/>
        </p:nvSpPr>
        <p:spPr>
          <a:xfrm>
            <a:off x="7498079" y="1645920"/>
            <a:ext cx="4144975" cy="4480560"/>
          </a:xfrm>
          <a:prstGeom prst="roundRect">
            <a:avLst>
              <a:gd name="adj" fmla="val 2206"/>
            </a:avLst>
          </a:prstGeom>
          <a:solidFill>
            <a:srgbClr val="FFFFFF"/>
          </a:solidFill>
          <a:ln w="9525">
            <a:solidFill>
              <a:srgbClr val="DCDAD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9" name="TextBox 8"/>
          <p:cNvSpPr txBox="1"/>
          <p:nvPr/>
        </p:nvSpPr>
        <p:spPr>
          <a:xfrm>
            <a:off x="7699248" y="1755648"/>
            <a:ext cx="3779215" cy="274320"/>
          </a:xfrm>
          <a:prstGeom prst="rect">
            <a:avLst/>
          </a:prstGeom>
          <a:noFill/>
        </p:spPr>
        <p:txBody>
          <a:bodyPr wrap="square" lIns="0" rIns="0" tIns="0" bIns="0" anchor="t">
            <a:noAutofit/>
          </a:bodyPr>
          <a:lstStyle/>
          <a:p>
            <a:pPr algn="l">
              <a:lnSpc>
                <a:spcPct val="112000"/>
              </a:lnSpc>
            </a:pPr>
            <a:r>
              <a:rPr sz="1000" b="0" i="0" spc="100">
                <a:solidFill>
                  <a:srgbClr val="EC7A3C"/>
                </a:solidFill>
                <a:latin typeface="Noto Sans KR SemiBold"/>
                <a:ea typeface="Noto Sans KR SemiBold"/>
                <a:cs typeface="Noto Sans KR SemiBold"/>
              </a:rPr>
              <a:t>CUSTOMER ROI — ILLUSTRATIVE</a:t>
            </a:r>
          </a:p>
        </p:txBody>
      </p:sp>
      <p:sp>
        <p:nvSpPr>
          <p:cNvPr id="10" name="TextBox 9"/>
          <p:cNvSpPr txBox="1"/>
          <p:nvPr/>
        </p:nvSpPr>
        <p:spPr>
          <a:xfrm>
            <a:off x="7699248" y="2084831"/>
            <a:ext cx="3779215" cy="1097280"/>
          </a:xfrm>
          <a:prstGeom prst="rect">
            <a:avLst/>
          </a:prstGeom>
          <a:noFill/>
        </p:spPr>
        <p:txBody>
          <a:bodyPr wrap="square" lIns="0" rIns="0" tIns="0" bIns="0" anchor="t">
            <a:noAutofit/>
          </a:bodyPr>
          <a:lstStyle/>
          <a:p>
            <a:pPr algn="l">
              <a:lnSpc>
                <a:spcPct val="125000"/>
              </a:lnSpc>
            </a:pPr>
            <a:r>
              <a:rPr sz="1000" b="0" i="0">
                <a:solidFill>
                  <a:srgbClr val="51565E"/>
                </a:solidFill>
                <a:latin typeface="Noto Sans KR"/>
                <a:ea typeface="Noto Sans KR"/>
                <a:cs typeface="Noto Sans KR"/>
              </a:rPr>
              <a:t>셀 투자 ₩2억 · 인건비 ₩2.5만/h · 연 300일 · 추가 운영비 ₩1,000만/년 (가정)</a:t>
            </a:r>
          </a:p>
        </p:txBody>
      </p:sp>
      <p:sp>
        <p:nvSpPr>
          <p:cNvPr id="11" name="TextBox 10"/>
          <p:cNvSpPr txBox="1"/>
          <p:nvPr/>
        </p:nvSpPr>
        <p:spPr>
          <a:xfrm>
            <a:off x="7699248" y="2697480"/>
            <a:ext cx="1828800" cy="274320"/>
          </a:xfrm>
          <a:prstGeom prst="rect">
            <a:avLst/>
          </a:prstGeom>
          <a:noFill/>
        </p:spPr>
        <p:txBody>
          <a:bodyPr wrap="square" lIns="0" rIns="0" tIns="0" bIns="0" anchor="t">
            <a:noAutofit/>
          </a:bodyPr>
          <a:lstStyle/>
          <a:p>
            <a:pPr algn="l">
              <a:lnSpc>
                <a:spcPct val="112000"/>
              </a:lnSpc>
            </a:pPr>
            <a:r>
              <a:rPr sz="1100" b="0" i="0">
                <a:solidFill>
                  <a:srgbClr val="16181B"/>
                </a:solidFill>
                <a:latin typeface="Noto Sans KR SemiBold"/>
                <a:ea typeface="Noto Sans KR SemiBold"/>
                <a:cs typeface="Noto Sans KR SemiBold"/>
              </a:rPr>
              <a:t>6h/일 절감</a:t>
            </a:r>
          </a:p>
        </p:txBody>
      </p:sp>
      <p:sp>
        <p:nvSpPr>
          <p:cNvPr id="12" name="TextBox 11"/>
          <p:cNvSpPr txBox="1"/>
          <p:nvPr/>
        </p:nvSpPr>
        <p:spPr>
          <a:xfrm>
            <a:off x="7699248" y="2990088"/>
            <a:ext cx="2194560" cy="274320"/>
          </a:xfrm>
          <a:prstGeom prst="rect">
            <a:avLst/>
          </a:prstGeom>
          <a:noFill/>
        </p:spPr>
        <p:txBody>
          <a:bodyPr wrap="square" lIns="0" rIns="0" tIns="0" bIns="0" anchor="t">
            <a:noAutofit/>
          </a:bodyPr>
          <a:lstStyle/>
          <a:p>
            <a:pPr algn="l">
              <a:lnSpc>
                <a:spcPct val="112000"/>
              </a:lnSpc>
            </a:pPr>
            <a:r>
              <a:rPr sz="1000" b="0" i="0">
                <a:solidFill>
                  <a:srgbClr val="51565E"/>
                </a:solidFill>
                <a:latin typeface="Noto Sans KR"/>
                <a:ea typeface="Noto Sans KR"/>
                <a:cs typeface="Noto Sans KR"/>
              </a:rPr>
              <a:t>연 순절감 ₩3,500만</a:t>
            </a:r>
          </a:p>
        </p:txBody>
      </p:sp>
      <p:sp>
        <p:nvSpPr>
          <p:cNvPr id="13" name="TextBox 12"/>
          <p:cNvSpPr txBox="1"/>
          <p:nvPr/>
        </p:nvSpPr>
        <p:spPr>
          <a:xfrm>
            <a:off x="9601200" y="2715768"/>
            <a:ext cx="1858975" cy="548640"/>
          </a:xfrm>
          <a:prstGeom prst="rect">
            <a:avLst/>
          </a:prstGeom>
          <a:noFill/>
        </p:spPr>
        <p:txBody>
          <a:bodyPr wrap="square" lIns="0" rIns="0" tIns="0" bIns="0" anchor="t">
            <a:noAutofit/>
          </a:bodyPr>
          <a:lstStyle/>
          <a:p>
            <a:pPr algn="l">
              <a:lnSpc>
                <a:spcPct val="112000"/>
              </a:lnSpc>
            </a:pPr>
            <a:r>
              <a:rPr sz="1500" b="0" i="0">
                <a:solidFill>
                  <a:srgbClr val="EC7A3C"/>
                </a:solidFill>
                <a:latin typeface="Noto Sans KR Black"/>
                <a:ea typeface="Noto Sans KR Black"/>
                <a:cs typeface="Noto Sans KR Black"/>
              </a:rPr>
              <a:t>단순 회수 ≈ 5.7년</a:t>
            </a:r>
          </a:p>
        </p:txBody>
      </p:sp>
      <p:sp>
        <p:nvSpPr>
          <p:cNvPr id="14" name="TextBox 13"/>
          <p:cNvSpPr txBox="1"/>
          <p:nvPr/>
        </p:nvSpPr>
        <p:spPr>
          <a:xfrm>
            <a:off x="7699248" y="3840480"/>
            <a:ext cx="1828800" cy="274320"/>
          </a:xfrm>
          <a:prstGeom prst="rect">
            <a:avLst/>
          </a:prstGeom>
          <a:noFill/>
        </p:spPr>
        <p:txBody>
          <a:bodyPr wrap="square" lIns="0" rIns="0" tIns="0" bIns="0" anchor="t">
            <a:noAutofit/>
          </a:bodyPr>
          <a:lstStyle/>
          <a:p>
            <a:pPr algn="l">
              <a:lnSpc>
                <a:spcPct val="112000"/>
              </a:lnSpc>
            </a:pPr>
            <a:r>
              <a:rPr sz="1100" b="0" i="0">
                <a:solidFill>
                  <a:srgbClr val="16181B"/>
                </a:solidFill>
                <a:latin typeface="Noto Sans KR SemiBold"/>
                <a:ea typeface="Noto Sans KR SemiBold"/>
                <a:cs typeface="Noto Sans KR SemiBold"/>
              </a:rPr>
              <a:t>10h/일 절감</a:t>
            </a:r>
          </a:p>
        </p:txBody>
      </p:sp>
      <p:sp>
        <p:nvSpPr>
          <p:cNvPr id="15" name="TextBox 14"/>
          <p:cNvSpPr txBox="1"/>
          <p:nvPr/>
        </p:nvSpPr>
        <p:spPr>
          <a:xfrm>
            <a:off x="7699248" y="4133088"/>
            <a:ext cx="2194560" cy="274320"/>
          </a:xfrm>
          <a:prstGeom prst="rect">
            <a:avLst/>
          </a:prstGeom>
          <a:noFill/>
        </p:spPr>
        <p:txBody>
          <a:bodyPr wrap="square" lIns="0" rIns="0" tIns="0" bIns="0" anchor="t">
            <a:noAutofit/>
          </a:bodyPr>
          <a:lstStyle/>
          <a:p>
            <a:pPr algn="l">
              <a:lnSpc>
                <a:spcPct val="112000"/>
              </a:lnSpc>
            </a:pPr>
            <a:r>
              <a:rPr sz="1000" b="0" i="0">
                <a:solidFill>
                  <a:srgbClr val="51565E"/>
                </a:solidFill>
                <a:latin typeface="Noto Sans KR"/>
                <a:ea typeface="Noto Sans KR"/>
                <a:cs typeface="Noto Sans KR"/>
              </a:rPr>
              <a:t>연 순절감 ₩6,500만</a:t>
            </a:r>
          </a:p>
        </p:txBody>
      </p:sp>
      <p:sp>
        <p:nvSpPr>
          <p:cNvPr id="16" name="TextBox 15"/>
          <p:cNvSpPr txBox="1"/>
          <p:nvPr/>
        </p:nvSpPr>
        <p:spPr>
          <a:xfrm>
            <a:off x="9601200" y="3858768"/>
            <a:ext cx="1858975" cy="548640"/>
          </a:xfrm>
          <a:prstGeom prst="rect">
            <a:avLst/>
          </a:prstGeom>
          <a:noFill/>
        </p:spPr>
        <p:txBody>
          <a:bodyPr wrap="square" lIns="0" rIns="0" tIns="0" bIns="0" anchor="t">
            <a:noAutofit/>
          </a:bodyPr>
          <a:lstStyle/>
          <a:p>
            <a:pPr algn="l">
              <a:lnSpc>
                <a:spcPct val="112000"/>
              </a:lnSpc>
            </a:pPr>
            <a:r>
              <a:rPr sz="1500" b="0" i="0">
                <a:solidFill>
                  <a:srgbClr val="16181B"/>
                </a:solidFill>
                <a:latin typeface="Noto Sans KR Black"/>
                <a:ea typeface="Noto Sans KR Black"/>
                <a:cs typeface="Noto Sans KR Black"/>
              </a:rPr>
              <a:t>단순 회수 ≈ 3.1년</a:t>
            </a:r>
          </a:p>
        </p:txBody>
      </p:sp>
      <p:sp>
        <p:nvSpPr>
          <p:cNvPr id="17" name="TextBox 16"/>
          <p:cNvSpPr txBox="1"/>
          <p:nvPr/>
        </p:nvSpPr>
        <p:spPr>
          <a:xfrm>
            <a:off x="7699248" y="5074920"/>
            <a:ext cx="3779215" cy="960120"/>
          </a:xfrm>
          <a:prstGeom prst="rect">
            <a:avLst/>
          </a:prstGeom>
          <a:noFill/>
        </p:spPr>
        <p:txBody>
          <a:bodyPr wrap="square" lIns="0" rIns="0" tIns="0" bIns="0" anchor="t">
            <a:noAutofit/>
          </a:bodyPr>
          <a:lstStyle/>
          <a:p>
            <a:pPr algn="l">
              <a:lnSpc>
                <a:spcPct val="125000"/>
              </a:lnSpc>
            </a:pPr>
            <a:r>
              <a:rPr sz="950" b="0" i="0">
                <a:solidFill>
                  <a:srgbClr val="51565E"/>
                </a:solidFill>
                <a:latin typeface="Noto Sans KR"/>
                <a:ea typeface="Noto Sans KR"/>
                <a:cs typeface="Noto Sans KR"/>
              </a:rPr>
              <a:t>→ 회수기간이 가동률에 민감 · 초기 매출 엔진으로 두지 않음 · 고가동률 상업주방부터 검증 · 금융·세금·잔존가치 제외</a:t>
            </a:r>
          </a:p>
        </p:txBody>
      </p:sp>
      <p:sp>
        <p:nvSpPr>
          <p:cNvPr id="18" name="TextBox 17"/>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19" name="TextBox 18"/>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A7</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SAFETY, CERTIFICATION &amp; IP STRATEGY</a:t>
            </a:r>
          </a:p>
        </p:txBody>
      </p:sp>
      <p:sp>
        <p:nvSpPr>
          <p:cNvPr id="5" name="TextBox 4"/>
          <p:cNvSpPr txBox="1"/>
          <p:nvPr/>
        </p:nvSpPr>
        <p:spPr>
          <a:xfrm>
            <a:off x="548640" y="1170432"/>
            <a:ext cx="11094415" cy="292608"/>
          </a:xfrm>
          <a:prstGeom prst="rect">
            <a:avLst/>
          </a:prstGeom>
          <a:noFill/>
        </p:spPr>
        <p:txBody>
          <a:bodyPr wrap="square" lIns="0" rIns="0" tIns="0" bIns="0" anchor="t">
            <a:noAutofit/>
          </a:bodyPr>
          <a:lstStyle/>
          <a:p>
            <a:pPr algn="l">
              <a:lnSpc>
                <a:spcPct val="112000"/>
              </a:lnSpc>
            </a:pPr>
            <a:r>
              <a:rPr sz="1200" b="0" i="0">
                <a:solidFill>
                  <a:srgbClr val="51565E"/>
                </a:solidFill>
                <a:latin typeface="Noto Sans KR"/>
                <a:ea typeface="Noto Sans KR"/>
                <a:cs typeface="Noto Sans KR"/>
              </a:rPr>
              <a:t>인증·권리 확보 전에는 적합성·독자성·세계 최초를 주장하지 않는다</a:t>
            </a:r>
          </a:p>
        </p:txBody>
      </p:sp>
      <p:sp>
        <p:nvSpPr>
          <p:cNvPr id="6" name="Safety"/>
          <p:cNvSpPr/>
          <p:nvPr/>
        </p:nvSpPr>
        <p:spPr>
          <a:xfrm>
            <a:off x="548640" y="1645920"/>
            <a:ext cx="5410047" cy="4526280"/>
          </a:xfrm>
          <a:prstGeom prst="roundRect">
            <a:avLst>
              <a:gd name="adj" fmla="val 2020"/>
            </a:avLst>
          </a:prstGeom>
          <a:solidFill>
            <a:srgbClr val="FFFFFF"/>
          </a:solidFill>
          <a:ln w="9525">
            <a:solidFill>
              <a:srgbClr val="DCDAD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7" name="TextBox 6"/>
          <p:cNvSpPr txBox="1"/>
          <p:nvPr/>
        </p:nvSpPr>
        <p:spPr>
          <a:xfrm>
            <a:off x="777240" y="1755648"/>
            <a:ext cx="5044287" cy="274320"/>
          </a:xfrm>
          <a:prstGeom prst="rect">
            <a:avLst/>
          </a:prstGeom>
          <a:noFill/>
        </p:spPr>
        <p:txBody>
          <a:bodyPr wrap="square" lIns="0" rIns="0" tIns="0" bIns="0" anchor="t">
            <a:noAutofit/>
          </a:bodyPr>
          <a:lstStyle/>
          <a:p>
            <a:pPr algn="l">
              <a:lnSpc>
                <a:spcPct val="112000"/>
              </a:lnSpc>
            </a:pPr>
            <a:r>
              <a:rPr sz="1000" b="0" i="0" spc="100">
                <a:solidFill>
                  <a:srgbClr val="EC7A3C"/>
                </a:solidFill>
                <a:latin typeface="Noto Sans KR SemiBold"/>
                <a:ea typeface="Noto Sans KR SemiBold"/>
                <a:cs typeface="Noto Sans KR SemiBold"/>
              </a:rPr>
              <a:t>SAFETY &amp; HYGIENE</a:t>
            </a:r>
          </a:p>
        </p:txBody>
      </p:sp>
      <p:sp>
        <p:nvSpPr>
          <p:cNvPr id="8" name="TextBox 7"/>
          <p:cNvSpPr txBox="1"/>
          <p:nvPr/>
        </p:nvSpPr>
        <p:spPr>
          <a:xfrm>
            <a:off x="777240" y="2103120"/>
            <a:ext cx="4998567" cy="3931920"/>
          </a:xfrm>
          <a:prstGeom prst="rect">
            <a:avLst/>
          </a:prstGeom>
          <a:noFill/>
        </p:spPr>
        <p:txBody>
          <a:bodyPr wrap="square" lIns="0" rIns="0" tIns="0" bIns="0" anchor="t">
            <a:noAutofit/>
          </a:bodyPr>
          <a:lstStyle/>
          <a:p>
            <a:pPr algn="l">
              <a:lnSpc>
                <a:spcPct val="130000"/>
              </a:lnSpc>
              <a:spcAft>
                <a:spcPts val="600"/>
              </a:spcAft>
            </a:pPr>
            <a:r>
              <a:rPr sz="1000" b="0" i="0">
                <a:solidFill>
                  <a:srgbClr val="16181B"/>
                </a:solidFill>
                <a:latin typeface="Noto Sans KR"/>
                <a:ea typeface="Noto Sans KR"/>
                <a:cs typeface="Noto Sans KR"/>
              </a:rPr>
              <a:t>협동로봇에 소프트 핸드를 달아도 전체 시스템이 자동으로 안전해지지 않음 → 고온 도구·칼·중량물·이동축 포함 통합 위험평가</a:t>
            </a:r>
          </a:p>
          <a:p>
            <a:pPr algn="l">
              <a:lnSpc>
                <a:spcPct val="130000"/>
              </a:lnSpc>
              <a:spcAft>
                <a:spcPts val="600"/>
              </a:spcAft>
            </a:pPr>
            <a:r>
              <a:rPr sz="1000" b="0" i="0">
                <a:solidFill>
                  <a:srgbClr val="16181B"/>
                </a:solidFill>
                <a:latin typeface="Noto Sans KR"/>
                <a:ea typeface="Noto Sans KR"/>
                <a:cs typeface="Noto Sans KR"/>
              </a:rPr>
              <a:t>산업 적용: ISO 10218-2:2025 (산업용 로봇 응용·셀 안전) 기준 검토</a:t>
            </a:r>
          </a:p>
          <a:p>
            <a:pPr algn="l">
              <a:lnSpc>
                <a:spcPct val="130000"/>
              </a:lnSpc>
              <a:spcAft>
                <a:spcPts val="600"/>
              </a:spcAft>
            </a:pPr>
            <a:r>
              <a:rPr sz="1000" b="0" i="0">
                <a:solidFill>
                  <a:srgbClr val="16181B"/>
                </a:solidFill>
                <a:latin typeface="Noto Sans KR"/>
                <a:ea typeface="Noto Sans KR"/>
                <a:cs typeface="Noto Sans KR"/>
              </a:rPr>
              <a:t>가정용 주방에 동일 기준을 그대로 적용한다고 단정하지 않음 — 용도·판매국별 전기·기계·식품접촉 요구사항을 시험기관과 결정</a:t>
            </a:r>
          </a:p>
          <a:p>
            <a:pPr algn="l">
              <a:lnSpc>
                <a:spcPct val="130000"/>
              </a:lnSpc>
              <a:spcAft>
                <a:spcPts val="600"/>
              </a:spcAft>
            </a:pPr>
            <a:r>
              <a:rPr sz="1000" b="0" i="0">
                <a:solidFill>
                  <a:srgbClr val="16181B"/>
                </a:solidFill>
                <a:latin typeface="Noto Sans KR"/>
                <a:ea typeface="Noto Sans KR"/>
                <a:cs typeface="Noto Sans KR"/>
              </a:rPr>
              <a:t>IP 등급 ≠ 고압 세척·내열·식품 위생 적합성 → 세척 후 잔류물·미생물·세제 내성 별도 검증</a:t>
            </a:r>
          </a:p>
          <a:p>
            <a:pPr algn="l">
              <a:lnSpc>
                <a:spcPct val="130000"/>
              </a:lnSpc>
              <a:spcAft>
                <a:spcPts val="600"/>
              </a:spcAft>
            </a:pPr>
            <a:r>
              <a:rPr sz="1000" b="0" i="0">
                <a:solidFill>
                  <a:srgbClr val="16181B"/>
                </a:solidFill>
                <a:latin typeface="Noto Sans KR"/>
                <a:ea typeface="Noto Sans KR"/>
                <a:cs typeface="Noto Sans KR"/>
              </a:rPr>
              <a:t>칼·해머·튀김: 차폐·접근 제한·독립 인터록 충족 전 기능 비활성</a:t>
            </a:r>
          </a:p>
        </p:txBody>
      </p:sp>
      <p:sp>
        <p:nvSpPr>
          <p:cNvPr id="9" name="IP"/>
          <p:cNvSpPr/>
          <p:nvPr/>
        </p:nvSpPr>
        <p:spPr>
          <a:xfrm>
            <a:off x="6233007" y="1645920"/>
            <a:ext cx="5410047" cy="4526280"/>
          </a:xfrm>
          <a:prstGeom prst="roundRect">
            <a:avLst>
              <a:gd name="adj" fmla="val 2020"/>
            </a:avLst>
          </a:prstGeom>
          <a:solidFill>
            <a:srgbClr val="FFFFFF"/>
          </a:solidFill>
          <a:ln w="9525">
            <a:solidFill>
              <a:srgbClr val="DCDAD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10" name="TextBox 9"/>
          <p:cNvSpPr txBox="1"/>
          <p:nvPr/>
        </p:nvSpPr>
        <p:spPr>
          <a:xfrm>
            <a:off x="6461607" y="1755648"/>
            <a:ext cx="5044287" cy="274320"/>
          </a:xfrm>
          <a:prstGeom prst="rect">
            <a:avLst/>
          </a:prstGeom>
          <a:noFill/>
        </p:spPr>
        <p:txBody>
          <a:bodyPr wrap="square" lIns="0" rIns="0" tIns="0" bIns="0" anchor="t">
            <a:noAutofit/>
          </a:bodyPr>
          <a:lstStyle/>
          <a:p>
            <a:pPr algn="l">
              <a:lnSpc>
                <a:spcPct val="112000"/>
              </a:lnSpc>
            </a:pPr>
            <a:r>
              <a:rPr sz="1000" b="0" i="0" spc="100">
                <a:solidFill>
                  <a:srgbClr val="EC7A3C"/>
                </a:solidFill>
                <a:latin typeface="Noto Sans KR SemiBold"/>
                <a:ea typeface="Noto Sans KR SemiBold"/>
                <a:cs typeface="Noto Sans KR SemiBold"/>
              </a:rPr>
              <a:t>IP &amp; TRADE SECRETS (PLANNED)</a:t>
            </a:r>
          </a:p>
        </p:txBody>
      </p:sp>
      <p:sp>
        <p:nvSpPr>
          <p:cNvPr id="11" name="TextBox 10"/>
          <p:cNvSpPr txBox="1"/>
          <p:nvPr/>
        </p:nvSpPr>
        <p:spPr>
          <a:xfrm>
            <a:off x="6461607" y="2103120"/>
            <a:ext cx="4998567" cy="3931920"/>
          </a:xfrm>
          <a:prstGeom prst="rect">
            <a:avLst/>
          </a:prstGeom>
          <a:noFill/>
        </p:spPr>
        <p:txBody>
          <a:bodyPr wrap="square" lIns="0" rIns="0" tIns="0" bIns="0" anchor="t">
            <a:noAutofit/>
          </a:bodyPr>
          <a:lstStyle/>
          <a:p>
            <a:pPr algn="l">
              <a:lnSpc>
                <a:spcPct val="130000"/>
              </a:lnSpc>
              <a:spcAft>
                <a:spcPts val="600"/>
              </a:spcAft>
            </a:pPr>
            <a:r>
              <a:rPr sz="1000" b="0" i="0">
                <a:solidFill>
                  <a:srgbClr val="16181B"/>
                </a:solidFill>
                <a:latin typeface="Noto Sans KR"/>
                <a:ea typeface="Noto Sans KR"/>
                <a:cs typeface="Noto Sans KR"/>
              </a:rPr>
              <a:t>출원 후보: 엄지 대향·관절 순응/잠금 구조 · 손끝 교체·밀봉 구조 · 미끄러짐·반력 기반 파지 재구성 · 양팔·이동축 작업 분담 및 청결 구역 관리</a:t>
            </a:r>
          </a:p>
          <a:p>
            <a:pPr algn="l">
              <a:lnSpc>
                <a:spcPct val="130000"/>
              </a:lnSpc>
              <a:spcAft>
                <a:spcPts val="600"/>
              </a:spcAft>
            </a:pPr>
            <a:r>
              <a:rPr sz="1000" b="0" i="0">
                <a:solidFill>
                  <a:srgbClr val="16181B"/>
                </a:solidFill>
                <a:latin typeface="Noto Sans KR"/>
                <a:ea typeface="Noto Sans KR"/>
                <a:cs typeface="Noto Sans KR"/>
              </a:rPr>
              <a:t>영업비밀 후보: 데이터 정제 · 장력 보정 · 실패 복구 파라미터</a:t>
            </a:r>
          </a:p>
          <a:p>
            <a:pPr algn="l">
              <a:lnSpc>
                <a:spcPct val="130000"/>
              </a:lnSpc>
              <a:spcAft>
                <a:spcPts val="600"/>
              </a:spcAft>
            </a:pPr>
            <a:r>
              <a:rPr sz="1000" b="0" i="0">
                <a:solidFill>
                  <a:srgbClr val="16181B"/>
                </a:solidFill>
                <a:latin typeface="Noto Sans KR"/>
                <a:ea typeface="Noto Sans KR"/>
                <a:cs typeface="Noto Sans KR"/>
              </a:rPr>
              <a:t>선행기술 조사·권리범위 검토(FTO) 후 출원 — 그 전에는 비침해·독자성 주장 금지</a:t>
            </a:r>
          </a:p>
          <a:p>
            <a:pPr algn="l">
              <a:lnSpc>
                <a:spcPct val="130000"/>
              </a:lnSpc>
              <a:spcAft>
                <a:spcPts val="600"/>
              </a:spcAft>
            </a:pPr>
            <a:r>
              <a:rPr sz="1000" b="0" i="0">
                <a:solidFill>
                  <a:srgbClr val="16181B"/>
                </a:solidFill>
                <a:latin typeface="Noto Sans KR"/>
                <a:ea typeface="Noto Sans KR"/>
                <a:cs typeface="Noto Sans KR"/>
              </a:rPr>
              <a:t>오픈소스 모델·라이브러리 상업 이용 조건 출시 전 확인</a:t>
            </a:r>
          </a:p>
          <a:p>
            <a:pPr algn="l">
              <a:lnSpc>
                <a:spcPct val="130000"/>
              </a:lnSpc>
              <a:spcAft>
                <a:spcPts val="600"/>
              </a:spcAft>
            </a:pPr>
            <a:r>
              <a:rPr sz="1000" b="0" i="0">
                <a:solidFill>
                  <a:srgbClr val="16181B"/>
                </a:solidFill>
                <a:latin typeface="Noto Sans KR"/>
                <a:ea typeface="Noto Sans KR"/>
                <a:cs typeface="Noto Sans KR"/>
              </a:rPr>
              <a:t>현재 특허 출원 없음 — 예산: 제조·품질·IP ₩1.5억</a:t>
            </a:r>
          </a:p>
        </p:txBody>
      </p:sp>
      <p:sp>
        <p:nvSpPr>
          <p:cNvPr id="12" name="TextBox 11"/>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13" name="TextBox 12"/>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A8</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KEY RISKS &amp; MITIGATION</a:t>
            </a:r>
          </a:p>
        </p:txBody>
      </p:sp>
      <p:graphicFrame>
        <p:nvGraphicFramePr>
          <p:cNvPr id="5" name="Risk table"/>
          <p:cNvGraphicFramePr>
            <a:graphicFrameLocks noGrp="1"/>
          </p:cNvGraphicFramePr>
          <p:nvPr/>
        </p:nvGraphicFramePr>
        <p:xfrm>
          <a:off x="548640" y="1371600"/>
          <a:ext cx="11091672" cy="4526280"/>
        </p:xfrm>
        <a:graphic>
          <a:graphicData uri="http://schemas.openxmlformats.org/drawingml/2006/table">
            <a:tbl>
              <a:tblPr firstRow="0" bandRow="0">
                <a:tableStyleId>{5C22544A-7EE6-4342-B048-85BDC9FD1C3A}</a:tableStyleId>
              </a:tblPr>
              <a:tblGrid>
                <a:gridCol w="2743200"/>
                <a:gridCol w="3017520"/>
                <a:gridCol w="5330952"/>
              </a:tblGrid>
              <a:tr h="502920">
                <a:tc>
                  <a:txBody>
                    <a:bodyPr/>
                    <a:lstStyle/>
                    <a:p>
                      <a:pPr algn="l">
                        <a:lnSpc>
                          <a:spcPct val="105000"/>
                        </a:lnSpc>
                      </a:pPr>
                      <a:r>
                        <a:rPr sz="1000" b="0" i="0" spc="40">
                          <a:solidFill>
                            <a:srgbClr val="16181B"/>
                          </a:solidFill>
                          <a:latin typeface="Noto Sans KR SemiBold"/>
                          <a:ea typeface="Noto Sans KR SemiBold"/>
                          <a:cs typeface="Noto Sans KR SemiBold"/>
                        </a:rPr>
                        <a:t>주요 위험</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1000" b="0" i="0" spc="40">
                          <a:solidFill>
                            <a:srgbClr val="16181B"/>
                          </a:solidFill>
                          <a:latin typeface="Noto Sans KR SemiBold"/>
                          <a:ea typeface="Noto Sans KR SemiBold"/>
                          <a:cs typeface="Noto Sans KR SemiBold"/>
                        </a:rPr>
                        <a:t>사업 영향</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5000"/>
                        </a:lnSpc>
                      </a:pPr>
                      <a:r>
                        <a:rPr sz="1000" b="0" i="0" spc="40">
                          <a:solidFill>
                            <a:srgbClr val="16181B"/>
                          </a:solidFill>
                          <a:latin typeface="Noto Sans KR SemiBold"/>
                          <a:ea typeface="Noto Sans KR SemiBold"/>
                          <a:cs typeface="Noto Sans KR SemiBold"/>
                        </a:rPr>
                        <a:t>대응 · 판정</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50" b="0" i="0">
                          <a:solidFill>
                            <a:srgbClr val="16181B"/>
                          </a:solidFill>
                          <a:latin typeface="Noto Sans KR SemiBold"/>
                          <a:ea typeface="Noto Sans KR SemiBold"/>
                          <a:cs typeface="Noto Sans KR SemiBold"/>
                        </a:rPr>
                        <a:t>순응성과 강성 충돌</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잘 잡아도 도구가 회전·처짐</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골격·잠금·양손 지지 비교 · 작업 토크별 출시 제한</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50" b="0" i="0">
                          <a:solidFill>
                            <a:srgbClr val="16181B"/>
                          </a:solidFill>
                          <a:latin typeface="Noto Sans KR SemiBold"/>
                          <a:ea typeface="Noto Sans KR SemiBold"/>
                          <a:cs typeface="Noto Sans KR SemiBold"/>
                        </a:rPr>
                        <a:t>반사·증기·가림</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추적 실패·오파지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다시점 센서 · 신뢰도 기준 · 접촉 기반 재확인</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50" b="0" i="0">
                          <a:solidFill>
                            <a:srgbClr val="16181B"/>
                          </a:solidFill>
                          <a:latin typeface="Noto Sans KR SemiBold"/>
                          <a:ea typeface="Noto Sans KR SemiBold"/>
                          <a:cs typeface="Noto Sans KR SemiBold"/>
                        </a:rPr>
                        <a:t>젖음·기름·열·세제</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미끄러짐·외피 열화·오염</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소재 시험 · 교체 기준 · 세척 접근성</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50" b="0" i="0">
                          <a:solidFill>
                            <a:srgbClr val="16181B"/>
                          </a:solidFill>
                          <a:latin typeface="Noto Sans KR SemiBold"/>
                          <a:ea typeface="Noto Sans KR SemiBold"/>
                          <a:cs typeface="Noto Sans KR SemiBold"/>
                        </a:rPr>
                        <a:t>과도한 맞춤 개발</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낮은 마진·서비스 비용 증가</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승인 도구/작업 표준화 · 비표준 요청 별도 견적</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50" b="0" i="0">
                          <a:solidFill>
                            <a:srgbClr val="16181B"/>
                          </a:solidFill>
                          <a:latin typeface="Noto Sans KR SemiBold"/>
                          <a:ea typeface="Noto Sans KR SemiBold"/>
                          <a:cs typeface="Noto Sans KR SemiBold"/>
                        </a:rPr>
                        <a:t>긴 영업주기 · 후속 조달</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운전자금 부족</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실증 선수금 · 검수 기준 계약 · 단계 채용 · 후속 투자 조기 착수</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50" b="0" i="0">
                          <a:solidFill>
                            <a:srgbClr val="16181B"/>
                          </a:solidFill>
                          <a:latin typeface="Noto Sans KR SemiBold"/>
                          <a:ea typeface="Noto Sans KR SemiBold"/>
                          <a:cs typeface="Noto Sans KR SemiBold"/>
                        </a:rPr>
                        <a:t>OEM 내재화</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OEM 채널 축소</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Robot-agnostic 통합 · Skill/Data 차별화 · OEM 파트너십 우선</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50" b="0" i="0">
                          <a:solidFill>
                            <a:srgbClr val="16181B"/>
                          </a:solidFill>
                          <a:latin typeface="Noto Sans KR SemiBold"/>
                          <a:ea typeface="Noto Sans KR SemiBold"/>
                          <a:cs typeface="Noto Sans KR SemiBold"/>
                        </a:rPr>
                        <a:t>창업팀 구성 지연</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일정·실행력 저하</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공동창업자·핵심 2인 합류를 Seed 클로징 조건으로 설정</a:t>
                      </a:r>
                    </a:p>
                  </a:txBody>
                  <a:tcPr marL="73152" marR="54864" marT="27432" marB="27432" anchor="ctr">
                    <a:lnL w="9525">
                      <a:noFill/>
                    </a:lnL>
                    <a:lnR w="9525">
                      <a:noFill/>
                    </a:lnR>
                    <a:lnT w="9525">
                      <a:noFill/>
                    </a:lnT>
                    <a:lnB w="9525">
                      <a:solidFill>
                        <a:srgbClr val="DCDAD5"/>
                      </a:solidFill>
                    </a:lnB>
                    <a:noFill/>
                  </a:tcPr>
                </a:tc>
              </a:tr>
              <a:tr h="502920">
                <a:tc>
                  <a:txBody>
                    <a:bodyPr/>
                    <a:lstStyle/>
                    <a:p>
                      <a:pPr algn="l">
                        <a:lnSpc>
                          <a:spcPct val="108000"/>
                        </a:lnSpc>
                      </a:pPr>
                      <a:r>
                        <a:rPr sz="1050" b="0" i="0">
                          <a:solidFill>
                            <a:srgbClr val="16181B"/>
                          </a:solidFill>
                          <a:latin typeface="Noto Sans KR SemiBold"/>
                          <a:ea typeface="Noto Sans KR SemiBold"/>
                          <a:cs typeface="Noto Sans KR SemiBold"/>
                        </a:rPr>
                        <a:t>천장·역설치·정전 (Kitchen)</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낙하·파손·재료 유출</a:t>
                      </a:r>
                    </a:p>
                  </a:txBody>
                  <a:tcPr marL="73152" marR="54864" marT="27432" marB="27432" anchor="ctr">
                    <a:lnL w="9525">
                      <a:noFill/>
                    </a:lnL>
                    <a:lnR w="9525">
                      <a:noFill/>
                    </a:lnR>
                    <a:lnT w="9525">
                      <a:noFill/>
                    </a:lnT>
                    <a:lnB w="9525">
                      <a:solidFill>
                        <a:srgbClr val="DCDAD5"/>
                      </a:solidFill>
                    </a:lnB>
                    <a:noFill/>
                  </a:tcPr>
                </a:tc>
                <a:tc>
                  <a:txBody>
                    <a:bodyPr/>
                    <a:lstStyle/>
                    <a:p>
                      <a:pPr algn="l">
                        <a:lnSpc>
                          <a:spcPct val="108000"/>
                        </a:lnSpc>
                      </a:pPr>
                      <a:r>
                        <a:rPr sz="1050" b="0" i="0">
                          <a:solidFill>
                            <a:srgbClr val="51565E"/>
                          </a:solidFill>
                          <a:latin typeface="Noto Sans KR"/>
                          <a:ea typeface="Noto Sans KR"/>
                          <a:cs typeface="Noto Sans KR"/>
                        </a:rPr>
                        <a:t>구조 검토 · 브레이크·낙하 방지 · 작업별 안전 정지 상태</a:t>
                      </a:r>
                    </a:p>
                  </a:txBody>
                  <a:tcPr marL="73152" marR="54864" marT="27432" marB="27432" anchor="ctr">
                    <a:lnL w="9525">
                      <a:noFill/>
                    </a:lnL>
                    <a:lnR w="9525">
                      <a:noFill/>
                    </a:lnR>
                    <a:lnT w="9525">
                      <a:noFill/>
                    </a:lnT>
                    <a:lnB w="9525">
                      <a:solidFill>
                        <a:srgbClr val="DCDAD5"/>
                      </a:solidFill>
                    </a:lnB>
                    <a:noFill/>
                  </a:tcPr>
                </a:tc>
              </a:tr>
            </a:tbl>
          </a:graphicData>
        </a:graphic>
      </p:graphicFrame>
      <p:sp>
        <p:nvSpPr>
          <p:cNvPr id="6" name="TextBox 5"/>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7" name="TextBox 6"/>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4F1"/>
        </a:solidFill>
        <a:effectLst/>
      </p:bgPr>
    </p:bg>
    <p:spTree>
      <p:nvGrpSpPr>
        <p:cNvPr id="1" name=""/>
        <p:cNvGrpSpPr/>
        <p:nvPr/>
      </p:nvGrpSpPr>
      <p:grpSpPr/>
      <p:sp>
        <p:nvSpPr>
          <p:cNvPr id="2" name="Oval 1"/>
          <p:cNvSpPr/>
          <p:nvPr/>
        </p:nvSpPr>
        <p:spPr>
          <a:xfrm>
            <a:off x="548640" y="452628"/>
            <a:ext cx="91440" cy="91440"/>
          </a:xfrm>
          <a:prstGeom prst="ellipse">
            <a:avLst/>
          </a:prstGeom>
          <a:solidFill>
            <a:srgbClr val="EC7A3C"/>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18288" bIns="18288" wrap="square">
            <a:noAutofit/>
          </a:bodyPr>
          <a:lstStyle/>
          <a:p>
            <a:pPr algn="ctr"/>
          </a:p>
        </p:txBody>
      </p:sp>
      <p:sp>
        <p:nvSpPr>
          <p:cNvPr id="3" name="TextBox 2"/>
          <p:cNvSpPr txBox="1"/>
          <p:nvPr/>
        </p:nvSpPr>
        <p:spPr>
          <a:xfrm>
            <a:off x="731520" y="384048"/>
            <a:ext cx="8229600" cy="237744"/>
          </a:xfrm>
          <a:prstGeom prst="rect">
            <a:avLst/>
          </a:prstGeom>
          <a:noFill/>
        </p:spPr>
        <p:txBody>
          <a:bodyPr wrap="square" lIns="0" rIns="0" tIns="0" bIns="0" anchor="t">
            <a:noAutofit/>
          </a:bodyPr>
          <a:lstStyle/>
          <a:p>
            <a:pPr algn="l">
              <a:lnSpc>
                <a:spcPct val="112000"/>
              </a:lnSpc>
            </a:pPr>
            <a:r>
              <a:rPr sz="1000" b="0" i="0" spc="140">
                <a:solidFill>
                  <a:srgbClr val="EC7A3C"/>
                </a:solidFill>
                <a:latin typeface="Noto Sans KR SemiBold"/>
                <a:ea typeface="Noto Sans KR SemiBold"/>
                <a:cs typeface="Noto Sans KR SemiBold"/>
              </a:rPr>
              <a:t>APPENDIX · TECHNICAL DUE DILIGENCE · A9</a:t>
            </a:r>
          </a:p>
        </p:txBody>
      </p:sp>
      <p:sp>
        <p:nvSpPr>
          <p:cNvPr id="4" name="Title"/>
          <p:cNvSpPr txBox="1"/>
          <p:nvPr/>
        </p:nvSpPr>
        <p:spPr>
          <a:xfrm>
            <a:off x="548640" y="676656"/>
            <a:ext cx="11094415" cy="457200"/>
          </a:xfrm>
          <a:prstGeom prst="rect">
            <a:avLst/>
          </a:prstGeom>
          <a:noFill/>
        </p:spPr>
        <p:txBody>
          <a:bodyPr wrap="square" lIns="0" rIns="0" tIns="0" bIns="0" anchor="t">
            <a:noAutofit/>
          </a:bodyPr>
          <a:lstStyle/>
          <a:p>
            <a:pPr algn="l">
              <a:lnSpc>
                <a:spcPct val="112000"/>
              </a:lnSpc>
            </a:pPr>
            <a:r>
              <a:rPr sz="2200" b="0" i="0">
                <a:solidFill>
                  <a:srgbClr val="16181B"/>
                </a:solidFill>
                <a:latin typeface="Noto Sans KR Black"/>
                <a:ea typeface="Noto Sans KR Black"/>
                <a:cs typeface="Noto Sans KR Black"/>
              </a:rPr>
              <a:t>SOURCES</a:t>
            </a:r>
          </a:p>
        </p:txBody>
      </p:sp>
      <p:sp>
        <p:nvSpPr>
          <p:cNvPr id="5" name="TextBox 4"/>
          <p:cNvSpPr txBox="1"/>
          <p:nvPr/>
        </p:nvSpPr>
        <p:spPr>
          <a:xfrm>
            <a:off x="548640" y="1170432"/>
            <a:ext cx="11094415" cy="292608"/>
          </a:xfrm>
          <a:prstGeom prst="rect">
            <a:avLst/>
          </a:prstGeom>
          <a:noFill/>
        </p:spPr>
        <p:txBody>
          <a:bodyPr wrap="square" lIns="0" rIns="0" tIns="0" bIns="0" anchor="t">
            <a:noAutofit/>
          </a:bodyPr>
          <a:lstStyle/>
          <a:p>
            <a:pPr algn="l">
              <a:lnSpc>
                <a:spcPct val="112000"/>
              </a:lnSpc>
            </a:pPr>
            <a:r>
              <a:rPr sz="1200" b="0" i="0">
                <a:solidFill>
                  <a:srgbClr val="51565E"/>
                </a:solidFill>
                <a:latin typeface="Noto Sans KR"/>
                <a:ea typeface="Noto Sans KR"/>
                <a:cs typeface="Noto Sans KR"/>
              </a:rPr>
              <a:t>열람 기준 2026-10-06 · 가격·원가·성능·고객수·일정·매출은 출처 수치가 아닌 본 계획의 가정</a:t>
            </a:r>
          </a:p>
        </p:txBody>
      </p:sp>
      <p:sp>
        <p:nvSpPr>
          <p:cNvPr id="6" name="TextBox 5"/>
          <p:cNvSpPr txBox="1"/>
          <p:nvPr/>
        </p:nvSpPr>
        <p:spPr>
          <a:xfrm>
            <a:off x="548640" y="1600200"/>
            <a:ext cx="5440680" cy="4754880"/>
          </a:xfrm>
          <a:prstGeom prst="rect">
            <a:avLst/>
          </a:prstGeom>
          <a:noFill/>
        </p:spPr>
        <p:txBody>
          <a:bodyPr wrap="square" lIns="0" rIns="0" tIns="0" bIns="0" anchor="t">
            <a:noAutofit/>
          </a:bodyPr>
          <a:lstStyle/>
          <a:p>
            <a:pPr algn="l">
              <a:lnSpc>
                <a:spcPct val="108000"/>
              </a:lnSpc>
            </a:pPr>
            <a:r>
              <a:rPr sz="900" b="0" i="0">
                <a:solidFill>
                  <a:srgbClr val="EC7A3C"/>
                </a:solidFill>
                <a:latin typeface="Noto Sans KR SemiBold"/>
                <a:ea typeface="Noto Sans KR SemiBold"/>
                <a:cs typeface="Noto Sans KR SemiBold"/>
              </a:rPr>
              <a:t>[S1] </a:t>
            </a:r>
            <a:r>
              <a:rPr sz="900" b="0" i="0">
                <a:solidFill>
                  <a:srgbClr val="16181B"/>
                </a:solidFill>
                <a:latin typeface="Noto Sans KR"/>
                <a:ea typeface="Noto Sans KR"/>
                <a:cs typeface="Noto Sans KR"/>
              </a:rPr>
              <a:t>IFR, World Robotics 2026 — 'Five Million Robots now Operate in Factories Globally' (2026-09-24)</a:t>
            </a:r>
          </a:p>
          <a:p>
            <a:pPr algn="l">
              <a:lnSpc>
                <a:spcPct val="108000"/>
              </a:lnSpc>
              <a:spcAft>
                <a:spcPts val="300"/>
              </a:spcAft>
            </a:pPr>
            <a:r>
              <a:rPr sz="750" b="0" i="0">
                <a:solidFill>
                  <a:srgbClr val="8A8F97"/>
                </a:solidFill>
                <a:latin typeface="Noto Sans KR"/>
                <a:ea typeface="Noto Sans KR"/>
                <a:cs typeface="Noto Sans KR"/>
              </a:rPr>
              <a:t>https://ifr.org/ifr-press-releases/news/five-million-robots-now-operate-in-factories-globally</a:t>
            </a:r>
          </a:p>
          <a:p>
            <a:pPr algn="l">
              <a:lnSpc>
                <a:spcPct val="108000"/>
              </a:lnSpc>
            </a:pPr>
            <a:r>
              <a:rPr sz="900" b="0" i="0">
                <a:solidFill>
                  <a:srgbClr val="EC7A3C"/>
                </a:solidFill>
                <a:latin typeface="Noto Sans KR SemiBold"/>
                <a:ea typeface="Noto Sans KR SemiBold"/>
                <a:cs typeface="Noto Sans KR SemiBold"/>
              </a:rPr>
              <a:t>[S2] </a:t>
            </a:r>
            <a:r>
              <a:rPr sz="900" b="0" i="0">
                <a:solidFill>
                  <a:srgbClr val="16181B"/>
                </a:solidFill>
                <a:latin typeface="Noto Sans KR"/>
                <a:ea typeface="Noto Sans KR"/>
                <a:cs typeface="Noto Sans KR"/>
              </a:rPr>
              <a:t>IFR, World Robotics 2025 — 2024년 산업용 로봇 신규 설치 54.2만 대</a:t>
            </a:r>
          </a:p>
          <a:p>
            <a:pPr algn="l">
              <a:lnSpc>
                <a:spcPct val="108000"/>
              </a:lnSpc>
              <a:spcAft>
                <a:spcPts val="300"/>
              </a:spcAft>
            </a:pPr>
            <a:r>
              <a:rPr sz="750" b="0" i="0">
                <a:solidFill>
                  <a:srgbClr val="8A8F97"/>
                </a:solidFill>
                <a:latin typeface="Noto Sans KR"/>
                <a:ea typeface="Noto Sans KR"/>
                <a:cs typeface="Noto Sans KR"/>
              </a:rPr>
              <a:t>https://ifr.org/ifr-press-releases/news/global-robot-demand-in-factories-doubles-over-10-years</a:t>
            </a:r>
          </a:p>
          <a:p>
            <a:pPr algn="l">
              <a:lnSpc>
                <a:spcPct val="108000"/>
              </a:lnSpc>
            </a:pPr>
            <a:r>
              <a:rPr sz="900" b="0" i="0">
                <a:solidFill>
                  <a:srgbClr val="EC7A3C"/>
                </a:solidFill>
                <a:latin typeface="Noto Sans KR SemiBold"/>
                <a:ea typeface="Noto Sans KR SemiBold"/>
                <a:cs typeface="Noto Sans KR SemiBold"/>
              </a:rPr>
              <a:t>[S3] </a:t>
            </a:r>
            <a:r>
              <a:rPr sz="900" b="0" i="0">
                <a:solidFill>
                  <a:srgbClr val="16181B"/>
                </a:solidFill>
                <a:latin typeface="Noto Sans KR"/>
                <a:ea typeface="Noto Sans KR"/>
                <a:cs typeface="Noto Sans KR"/>
              </a:rPr>
              <a:t>BCG, 'How Physical AI Is Reshaping Robotics Today—and What Comes Next' (2026-04-14)</a:t>
            </a:r>
          </a:p>
          <a:p>
            <a:pPr algn="l">
              <a:lnSpc>
                <a:spcPct val="108000"/>
              </a:lnSpc>
              <a:spcAft>
                <a:spcPts val="300"/>
              </a:spcAft>
            </a:pPr>
            <a:r>
              <a:rPr sz="750" b="0" i="0">
                <a:solidFill>
                  <a:srgbClr val="8A8F97"/>
                </a:solidFill>
                <a:latin typeface="Noto Sans KR"/>
                <a:ea typeface="Noto Sans KR"/>
                <a:cs typeface="Noto Sans KR"/>
              </a:rPr>
              <a:t>https://www.bcg.com/publications/2026/how-physical-ai-is-reshaping-robotics-today</a:t>
            </a:r>
          </a:p>
          <a:p>
            <a:pPr algn="l">
              <a:lnSpc>
                <a:spcPct val="108000"/>
              </a:lnSpc>
            </a:pPr>
            <a:r>
              <a:rPr sz="900" b="0" i="0">
                <a:solidFill>
                  <a:srgbClr val="EC7A3C"/>
                </a:solidFill>
                <a:latin typeface="Noto Sans KR SemiBold"/>
                <a:ea typeface="Noto Sans KR SemiBold"/>
                <a:cs typeface="Noto Sans KR SemiBold"/>
              </a:rPr>
              <a:t>[S4] </a:t>
            </a:r>
            <a:r>
              <a:rPr sz="900" b="0" i="0">
                <a:solidFill>
                  <a:srgbClr val="16181B"/>
                </a:solidFill>
                <a:latin typeface="Noto Sans KR"/>
                <a:ea typeface="Noto Sans KR"/>
                <a:cs typeface="Noto Sans KR"/>
              </a:rPr>
              <a:t>Tesla Q3 2025 Earnings Call Transcript, The Motley Fool (2025-10-22)</a:t>
            </a:r>
          </a:p>
          <a:p>
            <a:pPr algn="l">
              <a:lnSpc>
                <a:spcPct val="108000"/>
              </a:lnSpc>
              <a:spcAft>
                <a:spcPts val="300"/>
              </a:spcAft>
            </a:pPr>
            <a:r>
              <a:rPr sz="750" b="0" i="0">
                <a:solidFill>
                  <a:srgbClr val="8A8F97"/>
                </a:solidFill>
                <a:latin typeface="Noto Sans KR"/>
                <a:ea typeface="Noto Sans KR"/>
                <a:cs typeface="Noto Sans KR"/>
              </a:rPr>
              <a:t>https://www.fool.com/earnings/call-transcripts/2025/10/22/tesla-tsla-q3-2025-earnings-call-transcript/</a:t>
            </a:r>
          </a:p>
          <a:p>
            <a:pPr algn="l">
              <a:lnSpc>
                <a:spcPct val="108000"/>
              </a:lnSpc>
            </a:pPr>
            <a:r>
              <a:rPr sz="900" b="0" i="0">
                <a:solidFill>
                  <a:srgbClr val="EC7A3C"/>
                </a:solidFill>
                <a:latin typeface="Noto Sans KR SemiBold"/>
                <a:ea typeface="Noto Sans KR SemiBold"/>
                <a:cs typeface="Noto Sans KR SemiBold"/>
              </a:rPr>
              <a:t>[S5] </a:t>
            </a:r>
            <a:r>
              <a:rPr sz="900" b="0" i="0">
                <a:solidFill>
                  <a:srgbClr val="16181B"/>
                </a:solidFill>
                <a:latin typeface="Noto Sans KR"/>
                <a:ea typeface="Noto Sans KR"/>
                <a:cs typeface="Noto Sans KR"/>
              </a:rPr>
              <a:t>NVIDIA, Isaac GR00T Reference Humanoid Robot 발표 (2026-06-01)</a:t>
            </a:r>
          </a:p>
          <a:p>
            <a:pPr algn="l">
              <a:lnSpc>
                <a:spcPct val="108000"/>
              </a:lnSpc>
              <a:spcAft>
                <a:spcPts val="300"/>
              </a:spcAft>
            </a:pPr>
            <a:r>
              <a:rPr sz="750" b="0" i="0">
                <a:solidFill>
                  <a:srgbClr val="8A8F97"/>
                </a:solidFill>
                <a:latin typeface="Noto Sans KR"/>
                <a:ea typeface="Noto Sans KR"/>
                <a:cs typeface="Noto Sans KR"/>
              </a:rPr>
              <a:t>https://investor.nvidia.com/news/press-release-details/2026/NVIDIA-Announces-NVIDIA-Isaac-GR00T-Reference-Humanoid-Robot-for-Academic-Research/default.aspx</a:t>
            </a:r>
          </a:p>
          <a:p>
            <a:pPr algn="l">
              <a:lnSpc>
                <a:spcPct val="108000"/>
              </a:lnSpc>
            </a:pPr>
            <a:r>
              <a:rPr sz="900" b="0" i="0">
                <a:solidFill>
                  <a:srgbClr val="EC7A3C"/>
                </a:solidFill>
                <a:latin typeface="Noto Sans KR SemiBold"/>
                <a:ea typeface="Noto Sans KR SemiBold"/>
                <a:cs typeface="Noto Sans KR SemiBold"/>
              </a:rPr>
              <a:t>[S6] </a:t>
            </a:r>
            <a:r>
              <a:rPr sz="900" b="0" i="0">
                <a:solidFill>
                  <a:srgbClr val="16181B"/>
                </a:solidFill>
                <a:latin typeface="Noto Sans KR"/>
                <a:ea typeface="Noto Sans KR"/>
                <a:cs typeface="Noto Sans KR"/>
              </a:rPr>
              <a:t>NVIDIA, CES 2026 Physical AI 모델 발표 — GR00T N1.6 (2026-01-05)</a:t>
            </a:r>
          </a:p>
          <a:p>
            <a:pPr algn="l">
              <a:lnSpc>
                <a:spcPct val="108000"/>
              </a:lnSpc>
              <a:spcAft>
                <a:spcPts val="300"/>
              </a:spcAft>
            </a:pPr>
            <a:r>
              <a:rPr sz="750" b="0" i="0">
                <a:solidFill>
                  <a:srgbClr val="8A8F97"/>
                </a:solidFill>
                <a:latin typeface="Noto Sans KR"/>
                <a:ea typeface="Noto Sans KR"/>
                <a:cs typeface="Noto Sans KR"/>
              </a:rPr>
              <a:t>https://nvidianews.nvidia.com/news/nvidia-releases-new-physical-ai-models-as-global-partners-unveil-next-generation-robots</a:t>
            </a:r>
          </a:p>
          <a:p>
            <a:pPr algn="l">
              <a:lnSpc>
                <a:spcPct val="108000"/>
              </a:lnSpc>
            </a:pPr>
            <a:r>
              <a:rPr sz="900" b="0" i="0">
                <a:solidFill>
                  <a:srgbClr val="EC7A3C"/>
                </a:solidFill>
                <a:latin typeface="Noto Sans KR SemiBold"/>
                <a:ea typeface="Noto Sans KR SemiBold"/>
                <a:cs typeface="Noto Sans KR SemiBold"/>
              </a:rPr>
              <a:t>[S7] </a:t>
            </a:r>
            <a:r>
              <a:rPr sz="900" b="0" i="0">
                <a:solidFill>
                  <a:srgbClr val="16181B"/>
                </a:solidFill>
                <a:latin typeface="Noto Sans KR"/>
                <a:ea typeface="Noto Sans KR"/>
                <a:cs typeface="Noto Sans KR"/>
              </a:rPr>
              <a:t>CNBC, NVIDIA Jetson AGX Thor 출시 (2025-08-25)</a:t>
            </a:r>
          </a:p>
          <a:p>
            <a:pPr algn="l">
              <a:lnSpc>
                <a:spcPct val="108000"/>
              </a:lnSpc>
              <a:spcAft>
                <a:spcPts val="300"/>
              </a:spcAft>
            </a:pPr>
            <a:r>
              <a:rPr sz="750" b="0" i="0">
                <a:solidFill>
                  <a:srgbClr val="8A8F97"/>
                </a:solidFill>
                <a:latin typeface="Noto Sans KR"/>
                <a:ea typeface="Noto Sans KR"/>
                <a:cs typeface="Noto Sans KR"/>
              </a:rPr>
              <a:t>https://www.cnbc.com/2025/08/25/nvidias-thor-t5000-robot-brain-chip.html</a:t>
            </a:r>
          </a:p>
          <a:p>
            <a:pPr algn="l">
              <a:lnSpc>
                <a:spcPct val="108000"/>
              </a:lnSpc>
            </a:pPr>
            <a:r>
              <a:rPr sz="900" b="0" i="0">
                <a:solidFill>
                  <a:srgbClr val="EC7A3C"/>
                </a:solidFill>
                <a:latin typeface="Noto Sans KR SemiBold"/>
                <a:ea typeface="Noto Sans KR SemiBold"/>
                <a:cs typeface="Noto Sans KR SemiBold"/>
              </a:rPr>
              <a:t>[S8] </a:t>
            </a:r>
            <a:r>
              <a:rPr sz="900" b="0" i="0">
                <a:solidFill>
                  <a:srgbClr val="16181B"/>
                </a:solidFill>
                <a:latin typeface="Noto Sans KR"/>
                <a:ea typeface="Noto Sans KR"/>
                <a:cs typeface="Noto Sans KR"/>
              </a:rPr>
              <a:t>Google DeepMind, Gemini Robotics 1.5 (2025-09)</a:t>
            </a:r>
          </a:p>
          <a:p>
            <a:pPr algn="l">
              <a:lnSpc>
                <a:spcPct val="108000"/>
              </a:lnSpc>
              <a:spcAft>
                <a:spcPts val="300"/>
              </a:spcAft>
            </a:pPr>
            <a:r>
              <a:rPr sz="750" b="0" i="0">
                <a:solidFill>
                  <a:srgbClr val="8A8F97"/>
                </a:solidFill>
                <a:latin typeface="Noto Sans KR"/>
                <a:ea typeface="Noto Sans KR"/>
                <a:cs typeface="Noto Sans KR"/>
              </a:rPr>
              <a:t>https://deepmind.google/blog/gemini-robotics-15-brings-ai-agents-into-the-physical-world/</a:t>
            </a:r>
          </a:p>
          <a:p>
            <a:pPr algn="l">
              <a:lnSpc>
                <a:spcPct val="108000"/>
              </a:lnSpc>
            </a:pPr>
            <a:r>
              <a:rPr sz="900" b="0" i="0">
                <a:solidFill>
                  <a:srgbClr val="EC7A3C"/>
                </a:solidFill>
                <a:latin typeface="Noto Sans KR SemiBold"/>
                <a:ea typeface="Noto Sans KR SemiBold"/>
                <a:cs typeface="Noto Sans KR SemiBold"/>
              </a:rPr>
              <a:t>[S9] </a:t>
            </a:r>
            <a:r>
              <a:rPr sz="900" b="0" i="0">
                <a:solidFill>
                  <a:srgbClr val="16181B"/>
                </a:solidFill>
                <a:latin typeface="Noto Sans KR"/>
                <a:ea typeface="Noto Sans KR"/>
                <a:cs typeface="Noto Sans KR"/>
              </a:rPr>
              <a:t>Figure, Series C — $39B post-money (2025-09)</a:t>
            </a:r>
          </a:p>
          <a:p>
            <a:pPr algn="l">
              <a:lnSpc>
                <a:spcPct val="108000"/>
              </a:lnSpc>
              <a:spcAft>
                <a:spcPts val="300"/>
              </a:spcAft>
            </a:pPr>
            <a:r>
              <a:rPr sz="750" b="0" i="0">
                <a:solidFill>
                  <a:srgbClr val="8A8F97"/>
                </a:solidFill>
                <a:latin typeface="Noto Sans KR"/>
                <a:ea typeface="Noto Sans KR"/>
                <a:cs typeface="Noto Sans KR"/>
              </a:rPr>
              <a:t>https://www.figure.ai/news/series-c</a:t>
            </a:r>
          </a:p>
          <a:p>
            <a:pPr algn="l">
              <a:lnSpc>
                <a:spcPct val="108000"/>
              </a:lnSpc>
            </a:pPr>
            <a:r>
              <a:rPr sz="900" b="0" i="0">
                <a:solidFill>
                  <a:srgbClr val="EC7A3C"/>
                </a:solidFill>
                <a:latin typeface="Noto Sans KR SemiBold"/>
                <a:ea typeface="Noto Sans KR SemiBold"/>
                <a:cs typeface="Noto Sans KR SemiBold"/>
              </a:rPr>
              <a:t>[S10] </a:t>
            </a:r>
            <a:r>
              <a:rPr sz="900" b="0" i="0">
                <a:solidFill>
                  <a:srgbClr val="16181B"/>
                </a:solidFill>
                <a:latin typeface="Noto Sans KR"/>
                <a:ea typeface="Noto Sans KR"/>
                <a:cs typeface="Noto Sans KR"/>
              </a:rPr>
              <a:t>Figure, Introducing Figure 03 (2025-10-09)</a:t>
            </a:r>
          </a:p>
          <a:p>
            <a:pPr algn="l">
              <a:lnSpc>
                <a:spcPct val="108000"/>
              </a:lnSpc>
              <a:spcAft>
                <a:spcPts val="300"/>
              </a:spcAft>
            </a:pPr>
            <a:r>
              <a:rPr sz="750" b="0" i="0">
                <a:solidFill>
                  <a:srgbClr val="8A8F97"/>
                </a:solidFill>
                <a:latin typeface="Noto Sans KR"/>
                <a:ea typeface="Noto Sans KR"/>
                <a:cs typeface="Noto Sans KR"/>
              </a:rPr>
              <a:t>https://www.figure.ai/news/introducing-figure-03</a:t>
            </a:r>
          </a:p>
          <a:p>
            <a:pPr algn="l">
              <a:lnSpc>
                <a:spcPct val="108000"/>
              </a:lnSpc>
            </a:pPr>
            <a:r>
              <a:rPr sz="900" b="0" i="0">
                <a:solidFill>
                  <a:srgbClr val="EC7A3C"/>
                </a:solidFill>
                <a:latin typeface="Noto Sans KR SemiBold"/>
                <a:ea typeface="Noto Sans KR SemiBold"/>
                <a:cs typeface="Noto Sans KR SemiBold"/>
              </a:rPr>
              <a:t>[S11] </a:t>
            </a:r>
            <a:r>
              <a:rPr sz="900" b="0" i="0">
                <a:solidFill>
                  <a:srgbClr val="16181B"/>
                </a:solidFill>
                <a:latin typeface="Noto Sans KR"/>
                <a:ea typeface="Noto Sans KR"/>
                <a:cs typeface="Noto Sans KR"/>
              </a:rPr>
              <a:t>Bloomberg, Physical Intelligence $5.6B 가치 평가 (2025-11-20)</a:t>
            </a:r>
          </a:p>
          <a:p>
            <a:pPr algn="l">
              <a:lnSpc>
                <a:spcPct val="108000"/>
              </a:lnSpc>
              <a:spcAft>
                <a:spcPts val="300"/>
              </a:spcAft>
            </a:pPr>
            <a:r>
              <a:rPr sz="750" b="0" i="0">
                <a:solidFill>
                  <a:srgbClr val="8A8F97"/>
                </a:solidFill>
                <a:latin typeface="Noto Sans KR"/>
                <a:ea typeface="Noto Sans KR"/>
                <a:cs typeface="Noto Sans KR"/>
              </a:rPr>
              <a:t>https://www.bloomberg.com/news/articles/2025-11-20/robotics-startup-physical-intelligence-valued-at-5-6-billion-in-new-funding</a:t>
            </a:r>
          </a:p>
          <a:p>
            <a:pPr algn="l">
              <a:lnSpc>
                <a:spcPct val="108000"/>
              </a:lnSpc>
            </a:pPr>
            <a:r>
              <a:rPr sz="900" b="0" i="0">
                <a:solidFill>
                  <a:srgbClr val="EC7A3C"/>
                </a:solidFill>
                <a:latin typeface="Noto Sans KR SemiBold"/>
                <a:ea typeface="Noto Sans KR SemiBold"/>
                <a:cs typeface="Noto Sans KR SemiBold"/>
              </a:rPr>
              <a:t>[S12] </a:t>
            </a:r>
            <a:r>
              <a:rPr sz="900" b="0" i="0">
                <a:solidFill>
                  <a:srgbClr val="16181B"/>
                </a:solidFill>
                <a:latin typeface="Noto Sans KR"/>
                <a:ea typeface="Noto Sans KR"/>
                <a:cs typeface="Noto Sans KR"/>
              </a:rPr>
              <a:t>Crunchbase News, Robotics startup funding record (2026-06-22)</a:t>
            </a:r>
          </a:p>
          <a:p>
            <a:pPr algn="l">
              <a:lnSpc>
                <a:spcPct val="108000"/>
              </a:lnSpc>
              <a:spcAft>
                <a:spcPts val="300"/>
              </a:spcAft>
            </a:pPr>
            <a:r>
              <a:rPr sz="750" b="0" i="0">
                <a:solidFill>
                  <a:srgbClr val="8A8F97"/>
                </a:solidFill>
                <a:latin typeface="Noto Sans KR"/>
                <a:ea typeface="Noto Sans KR"/>
                <a:cs typeface="Noto Sans KR"/>
              </a:rPr>
              <a:t>https://news.crunchbase.com/robotics/startup-venture-funding-surges-2026-data/</a:t>
            </a:r>
          </a:p>
        </p:txBody>
      </p:sp>
      <p:sp>
        <p:nvSpPr>
          <p:cNvPr id="7" name="TextBox 6"/>
          <p:cNvSpPr txBox="1"/>
          <p:nvPr/>
        </p:nvSpPr>
        <p:spPr>
          <a:xfrm>
            <a:off x="6217920" y="1600200"/>
            <a:ext cx="5440680" cy="4754880"/>
          </a:xfrm>
          <a:prstGeom prst="rect">
            <a:avLst/>
          </a:prstGeom>
          <a:noFill/>
        </p:spPr>
        <p:txBody>
          <a:bodyPr wrap="square" lIns="0" rIns="0" tIns="0" bIns="0" anchor="t">
            <a:noAutofit/>
          </a:bodyPr>
          <a:lstStyle/>
          <a:p>
            <a:pPr algn="l">
              <a:lnSpc>
                <a:spcPct val="108000"/>
              </a:lnSpc>
            </a:pPr>
            <a:r>
              <a:rPr sz="900" b="0" i="0">
                <a:solidFill>
                  <a:srgbClr val="EC7A3C"/>
                </a:solidFill>
                <a:latin typeface="Noto Sans KR SemiBold"/>
                <a:ea typeface="Noto Sans KR SemiBold"/>
                <a:cs typeface="Noto Sans KR SemiBold"/>
              </a:rPr>
              <a:t>[S13] </a:t>
            </a:r>
            <a:r>
              <a:rPr sz="900" b="0" i="0">
                <a:solidFill>
                  <a:srgbClr val="16181B"/>
                </a:solidFill>
                <a:latin typeface="Noto Sans KR"/>
                <a:ea typeface="Noto Sans KR"/>
                <a:cs typeface="Noto Sans KR"/>
              </a:rPr>
              <a:t>Investing.com, Goldman Sachs 휴머노이드 전망 상향 — 2035년 648만 대·$138B (2026-08-31)</a:t>
            </a:r>
          </a:p>
          <a:p>
            <a:pPr algn="l">
              <a:lnSpc>
                <a:spcPct val="108000"/>
              </a:lnSpc>
              <a:spcAft>
                <a:spcPts val="300"/>
              </a:spcAft>
            </a:pPr>
            <a:r>
              <a:rPr sz="750" b="0" i="0">
                <a:solidFill>
                  <a:srgbClr val="8A8F97"/>
                </a:solidFill>
                <a:latin typeface="Noto Sans KR"/>
                <a:ea typeface="Noto Sans KR"/>
                <a:cs typeface="Noto Sans KR"/>
              </a:rPr>
              <a:t>https://www.investing.com/news/stock-market-news/goldman-sachs-raises-humanoid-robot-forecast-sees-auto-role-93CH-4882346</a:t>
            </a:r>
          </a:p>
          <a:p>
            <a:pPr algn="l">
              <a:lnSpc>
                <a:spcPct val="108000"/>
              </a:lnSpc>
            </a:pPr>
            <a:r>
              <a:rPr sz="900" b="0" i="0">
                <a:solidFill>
                  <a:srgbClr val="EC7A3C"/>
                </a:solidFill>
                <a:latin typeface="Noto Sans KR SemiBold"/>
                <a:ea typeface="Noto Sans KR SemiBold"/>
                <a:cs typeface="Noto Sans KR SemiBold"/>
              </a:rPr>
              <a:t>[S14] </a:t>
            </a:r>
            <a:r>
              <a:rPr sz="900" b="0" i="0">
                <a:solidFill>
                  <a:srgbClr val="16181B"/>
                </a:solidFill>
                <a:latin typeface="Noto Sans KR"/>
                <a:ea typeface="Noto Sans KR"/>
                <a:cs typeface="Noto Sans KR"/>
              </a:rPr>
              <a:t>Morgan Stanley, Humanoid robot market $5T by 2050 (2025)</a:t>
            </a:r>
          </a:p>
          <a:p>
            <a:pPr algn="l">
              <a:lnSpc>
                <a:spcPct val="108000"/>
              </a:lnSpc>
              <a:spcAft>
                <a:spcPts val="300"/>
              </a:spcAft>
            </a:pPr>
            <a:r>
              <a:rPr sz="750" b="0" i="0">
                <a:solidFill>
                  <a:srgbClr val="8A8F97"/>
                </a:solidFill>
                <a:latin typeface="Noto Sans KR"/>
                <a:ea typeface="Noto Sans KR"/>
                <a:cs typeface="Noto Sans KR"/>
              </a:rPr>
              <a:t>https://www.morganstanley.com/insights/articles/humanoid-robot-market-5-trillion-by-2050</a:t>
            </a:r>
          </a:p>
          <a:p>
            <a:pPr algn="l">
              <a:lnSpc>
                <a:spcPct val="108000"/>
              </a:lnSpc>
            </a:pPr>
            <a:r>
              <a:rPr sz="900" b="0" i="0">
                <a:solidFill>
                  <a:srgbClr val="EC7A3C"/>
                </a:solidFill>
                <a:latin typeface="Noto Sans KR SemiBold"/>
                <a:ea typeface="Noto Sans KR SemiBold"/>
                <a:cs typeface="Noto Sans KR SemiBold"/>
              </a:rPr>
              <a:t>[S15] </a:t>
            </a:r>
            <a:r>
              <a:rPr sz="900" b="0" i="0">
                <a:solidFill>
                  <a:srgbClr val="16181B"/>
                </a:solidFill>
                <a:latin typeface="Noto Sans KR"/>
                <a:ea typeface="Noto Sans KR"/>
                <a:cs typeface="Noto Sans KR"/>
              </a:rPr>
              <a:t>qbrobotics, qb SoftHand Industry 제품 사양 (제조사 공개)</a:t>
            </a:r>
          </a:p>
          <a:p>
            <a:pPr algn="l">
              <a:lnSpc>
                <a:spcPct val="108000"/>
              </a:lnSpc>
              <a:spcAft>
                <a:spcPts val="300"/>
              </a:spcAft>
            </a:pPr>
            <a:r>
              <a:rPr sz="750" b="0" i="0">
                <a:solidFill>
                  <a:srgbClr val="8A8F97"/>
                </a:solidFill>
                <a:latin typeface="Noto Sans KR"/>
                <a:ea typeface="Noto Sans KR"/>
                <a:cs typeface="Noto Sans KR"/>
              </a:rPr>
              <a:t>https://qbrobotics.com/product/qb-softhand-industry/</a:t>
            </a:r>
          </a:p>
          <a:p>
            <a:pPr algn="l">
              <a:lnSpc>
                <a:spcPct val="108000"/>
              </a:lnSpc>
            </a:pPr>
            <a:r>
              <a:rPr sz="900" b="0" i="0">
                <a:solidFill>
                  <a:srgbClr val="EC7A3C"/>
                </a:solidFill>
                <a:latin typeface="Noto Sans KR SemiBold"/>
                <a:ea typeface="Noto Sans KR SemiBold"/>
                <a:cs typeface="Noto Sans KR SemiBold"/>
              </a:rPr>
              <a:t>[S16] </a:t>
            </a:r>
            <a:r>
              <a:rPr sz="900" b="0" i="0">
                <a:solidFill>
                  <a:srgbClr val="16181B"/>
                </a:solidFill>
                <a:latin typeface="Noto Sans KR"/>
                <a:ea typeface="Noto Sans KR"/>
                <a:cs typeface="Noto Sans KR"/>
              </a:rPr>
              <a:t>Robotics &amp; Automation News, Tesollo DG-5F-S (2026-03-13)</a:t>
            </a:r>
          </a:p>
          <a:p>
            <a:pPr algn="l">
              <a:lnSpc>
                <a:spcPct val="108000"/>
              </a:lnSpc>
              <a:spcAft>
                <a:spcPts val="300"/>
              </a:spcAft>
            </a:pPr>
            <a:r>
              <a:rPr sz="750" b="0" i="0">
                <a:solidFill>
                  <a:srgbClr val="8A8F97"/>
                </a:solidFill>
                <a:latin typeface="Noto Sans KR"/>
                <a:ea typeface="Noto Sans KR"/>
                <a:cs typeface="Noto Sans KR"/>
              </a:rPr>
              <a:t>https://roboticsandautomationnews.com/2026/03/13/tesollo-launches-compact-humanoid-robotic-hand-aimed-at-growing-high-dof-robotics-market/99620/</a:t>
            </a:r>
          </a:p>
          <a:p>
            <a:pPr algn="l">
              <a:lnSpc>
                <a:spcPct val="108000"/>
              </a:lnSpc>
            </a:pPr>
            <a:r>
              <a:rPr sz="900" b="0" i="0">
                <a:solidFill>
                  <a:srgbClr val="EC7A3C"/>
                </a:solidFill>
                <a:latin typeface="Noto Sans KR SemiBold"/>
                <a:ea typeface="Noto Sans KR SemiBold"/>
                <a:cs typeface="Noto Sans KR SemiBold"/>
              </a:rPr>
              <a:t>[S17] </a:t>
            </a:r>
            <a:r>
              <a:rPr sz="900" b="0" i="0">
                <a:solidFill>
                  <a:srgbClr val="16181B"/>
                </a:solidFill>
                <a:latin typeface="Noto Sans KR"/>
                <a:ea typeface="Noto Sans KR"/>
                <a:cs typeface="Noto Sans KR"/>
              </a:rPr>
              <a:t>Moley Robotics, A-AiR kitchen (공급사 소개)</a:t>
            </a:r>
          </a:p>
          <a:p>
            <a:pPr algn="l">
              <a:lnSpc>
                <a:spcPct val="108000"/>
              </a:lnSpc>
              <a:spcAft>
                <a:spcPts val="300"/>
              </a:spcAft>
            </a:pPr>
            <a:r>
              <a:rPr sz="750" b="0" i="0">
                <a:solidFill>
                  <a:srgbClr val="8A8F97"/>
                </a:solidFill>
                <a:latin typeface="Noto Sans KR"/>
                <a:ea typeface="Noto Sans KR"/>
                <a:cs typeface="Noto Sans KR"/>
              </a:rPr>
              <a:t>https://www.moley.com/a-air-kitchen/</a:t>
            </a:r>
          </a:p>
          <a:p>
            <a:pPr algn="l">
              <a:lnSpc>
                <a:spcPct val="108000"/>
              </a:lnSpc>
            </a:pPr>
            <a:r>
              <a:rPr sz="900" b="0" i="0">
                <a:solidFill>
                  <a:srgbClr val="EC7A3C"/>
                </a:solidFill>
                <a:latin typeface="Noto Sans KR SemiBold"/>
                <a:ea typeface="Noto Sans KR SemiBold"/>
                <a:cs typeface="Noto Sans KR SemiBold"/>
              </a:rPr>
              <a:t>[S18] </a:t>
            </a:r>
            <a:r>
              <a:rPr sz="900" b="0" i="0">
                <a:solidFill>
                  <a:srgbClr val="16181B"/>
                </a:solidFill>
                <a:latin typeface="Noto Sans KR"/>
                <a:ea typeface="Noto Sans KR"/>
                <a:cs typeface="Noto Sans KR"/>
              </a:rPr>
              <a:t>Noh et al., YORI — Yummy Operations Robot Initiative, arXiv:2405.11094</a:t>
            </a:r>
          </a:p>
          <a:p>
            <a:pPr algn="l">
              <a:lnSpc>
                <a:spcPct val="108000"/>
              </a:lnSpc>
              <a:spcAft>
                <a:spcPts val="300"/>
              </a:spcAft>
            </a:pPr>
            <a:r>
              <a:rPr sz="750" b="0" i="0">
                <a:solidFill>
                  <a:srgbClr val="8A8F97"/>
                </a:solidFill>
                <a:latin typeface="Noto Sans KR"/>
                <a:ea typeface="Noto Sans KR"/>
                <a:cs typeface="Noto Sans KR"/>
              </a:rPr>
              <a:t>https://arxiv.org/abs/2405.11094</a:t>
            </a:r>
          </a:p>
          <a:p>
            <a:pPr algn="l">
              <a:lnSpc>
                <a:spcPct val="108000"/>
              </a:lnSpc>
            </a:pPr>
            <a:r>
              <a:rPr sz="900" b="0" i="0">
                <a:solidFill>
                  <a:srgbClr val="EC7A3C"/>
                </a:solidFill>
                <a:latin typeface="Noto Sans KR SemiBold"/>
                <a:ea typeface="Noto Sans KR SemiBold"/>
                <a:cs typeface="Noto Sans KR SemiBold"/>
              </a:rPr>
              <a:t>[S19] </a:t>
            </a:r>
            <a:r>
              <a:rPr sz="900" b="0" i="0">
                <a:solidFill>
                  <a:srgbClr val="16181B"/>
                </a:solidFill>
                <a:latin typeface="Noto Sans KR"/>
                <a:ea typeface="Noto Sans KR"/>
                <a:cs typeface="Noto Sans KR"/>
              </a:rPr>
              <a:t>ISO 10218-2:2025 — Industrial robot applications and robot cells (공식 안내)</a:t>
            </a:r>
          </a:p>
          <a:p>
            <a:pPr algn="l">
              <a:lnSpc>
                <a:spcPct val="108000"/>
              </a:lnSpc>
              <a:spcAft>
                <a:spcPts val="300"/>
              </a:spcAft>
            </a:pPr>
            <a:r>
              <a:rPr sz="750" b="0" i="0">
                <a:solidFill>
                  <a:srgbClr val="8A8F97"/>
                </a:solidFill>
                <a:latin typeface="Noto Sans KR"/>
                <a:ea typeface="Noto Sans KR"/>
                <a:cs typeface="Noto Sans KR"/>
              </a:rPr>
              <a:t>https://www.iso.org/standard/73934.html</a:t>
            </a:r>
          </a:p>
          <a:p>
            <a:pPr algn="l">
              <a:lnSpc>
                <a:spcPct val="108000"/>
              </a:lnSpc>
            </a:pPr>
            <a:r>
              <a:rPr sz="900" b="0" i="0">
                <a:solidFill>
                  <a:srgbClr val="EC7A3C"/>
                </a:solidFill>
                <a:latin typeface="Noto Sans KR SemiBold"/>
                <a:ea typeface="Noto Sans KR SemiBold"/>
                <a:cs typeface="Noto Sans KR SemiBold"/>
              </a:rPr>
              <a:t>[S20] </a:t>
            </a:r>
            <a:r>
              <a:rPr sz="900" b="0" i="0">
                <a:solidFill>
                  <a:srgbClr val="16181B"/>
                </a:solidFill>
                <a:latin typeface="Noto Sans KR"/>
                <a:ea typeface="Noto Sans KR"/>
                <a:cs typeface="Noto Sans KR"/>
              </a:rPr>
              <a:t>PR Newswire, Chef Robotics $43M Series A (2025-04)</a:t>
            </a:r>
          </a:p>
          <a:p>
            <a:pPr algn="l">
              <a:lnSpc>
                <a:spcPct val="108000"/>
              </a:lnSpc>
              <a:spcAft>
                <a:spcPts val="300"/>
              </a:spcAft>
            </a:pPr>
            <a:r>
              <a:rPr sz="750" b="0" i="0">
                <a:solidFill>
                  <a:srgbClr val="8A8F97"/>
                </a:solidFill>
                <a:latin typeface="Noto Sans KR"/>
                <a:ea typeface="Noto Sans KR"/>
                <a:cs typeface="Noto Sans KR"/>
              </a:rPr>
              <a:t>https://www.prnewswire.com/news-releases/chef-robotics-announces-43m-series-a-round-led-by-avataar-ventures-to-scale-the-deployment-of-ai-enabled-robotics-302416039.html</a:t>
            </a:r>
          </a:p>
          <a:p>
            <a:pPr algn="l">
              <a:lnSpc>
                <a:spcPct val="108000"/>
              </a:lnSpc>
            </a:pPr>
            <a:r>
              <a:rPr sz="900" b="0" i="0">
                <a:solidFill>
                  <a:srgbClr val="EC7A3C"/>
                </a:solidFill>
                <a:latin typeface="Noto Sans KR SemiBold"/>
                <a:ea typeface="Noto Sans KR SemiBold"/>
                <a:cs typeface="Noto Sans KR SemiBold"/>
              </a:rPr>
              <a:t>[S21] </a:t>
            </a:r>
            <a:r>
              <a:rPr sz="900" b="0" i="0">
                <a:solidFill>
                  <a:srgbClr val="16181B"/>
                </a:solidFill>
                <a:latin typeface="Noto Sans KR"/>
                <a:ea typeface="Noto Sans KR"/>
                <a:cs typeface="Noto Sans KR"/>
              </a:rPr>
              <a:t>헤럴드경제, 외식업계 인력난 (2025-05-10; 한국외식산업연구원·고용노동부 2023 조사 인용)</a:t>
            </a:r>
          </a:p>
          <a:p>
            <a:pPr algn="l">
              <a:lnSpc>
                <a:spcPct val="108000"/>
              </a:lnSpc>
              <a:spcAft>
                <a:spcPts val="300"/>
              </a:spcAft>
            </a:pPr>
            <a:r>
              <a:rPr sz="750" b="0" i="0">
                <a:solidFill>
                  <a:srgbClr val="8A8F97"/>
                </a:solidFill>
                <a:latin typeface="Noto Sans KR"/>
                <a:ea typeface="Noto Sans KR"/>
                <a:cs typeface="Noto Sans KR"/>
              </a:rPr>
              <a:t>https://biz.heraldcorp.com/article/10483928</a:t>
            </a:r>
          </a:p>
          <a:p>
            <a:pPr algn="l">
              <a:lnSpc>
                <a:spcPct val="108000"/>
              </a:lnSpc>
            </a:pPr>
            <a:r>
              <a:rPr sz="900" b="0" i="0">
                <a:solidFill>
                  <a:srgbClr val="EC7A3C"/>
                </a:solidFill>
                <a:latin typeface="Noto Sans KR SemiBold"/>
                <a:ea typeface="Noto Sans KR SemiBold"/>
                <a:cs typeface="Noto Sans KR SemiBold"/>
              </a:rPr>
              <a:t>[S22] </a:t>
            </a:r>
            <a:r>
              <a:rPr sz="900" b="0" i="0">
                <a:solidFill>
                  <a:srgbClr val="16181B"/>
                </a:solidFill>
                <a:latin typeface="Noto Sans KR"/>
                <a:ea typeface="Noto Sans KR"/>
                <a:cs typeface="Noto Sans KR"/>
              </a:rPr>
              <a:t>AI타임스, 산업부 K-휴머노이드 연합 출범 (2025-04-10)</a:t>
            </a:r>
          </a:p>
          <a:p>
            <a:pPr algn="l">
              <a:lnSpc>
                <a:spcPct val="108000"/>
              </a:lnSpc>
              <a:spcAft>
                <a:spcPts val="300"/>
              </a:spcAft>
            </a:pPr>
            <a:r>
              <a:rPr sz="750" b="0" i="0">
                <a:solidFill>
                  <a:srgbClr val="8A8F97"/>
                </a:solidFill>
                <a:latin typeface="Noto Sans KR"/>
                <a:ea typeface="Noto Sans KR"/>
                <a:cs typeface="Noto Sans KR"/>
              </a:rPr>
              <a:t>https://www.aitimes.com/news/articleView.html?idxno=169526</a:t>
            </a:r>
          </a:p>
          <a:p>
            <a:pPr algn="l">
              <a:lnSpc>
                <a:spcPct val="108000"/>
              </a:lnSpc>
            </a:pPr>
            <a:r>
              <a:rPr sz="900" b="0" i="0">
                <a:solidFill>
                  <a:srgbClr val="EC7A3C"/>
                </a:solidFill>
                <a:latin typeface="Noto Sans KR SemiBold"/>
                <a:ea typeface="Noto Sans KR SemiBold"/>
                <a:cs typeface="Noto Sans KR SemiBold"/>
              </a:rPr>
              <a:t>[S23] </a:t>
            </a:r>
            <a:r>
              <a:rPr sz="900" b="0" i="0">
                <a:solidFill>
                  <a:srgbClr val="16181B"/>
                </a:solidFill>
                <a:latin typeface="Noto Sans KR"/>
                <a:ea typeface="Noto Sans KR"/>
                <a:cs typeface="Noto Sans KR"/>
              </a:rPr>
              <a:t>Goldman Sachs, Humanoid robot TAM $38B by 2035 (2024 원보고서)</a:t>
            </a:r>
          </a:p>
          <a:p>
            <a:pPr algn="l">
              <a:lnSpc>
                <a:spcPct val="108000"/>
              </a:lnSpc>
              <a:spcAft>
                <a:spcPts val="300"/>
              </a:spcAft>
            </a:pPr>
            <a:r>
              <a:rPr sz="750" b="0" i="0">
                <a:solidFill>
                  <a:srgbClr val="8A8F97"/>
                </a:solidFill>
                <a:latin typeface="Noto Sans KR"/>
                <a:ea typeface="Noto Sans KR"/>
                <a:cs typeface="Noto Sans KR"/>
              </a:rPr>
              <a:t>https://www.goldmansachs.com/insights/articles/the-global-market-for-robots-could-reach-38-billion-by-2035</a:t>
            </a:r>
          </a:p>
        </p:txBody>
      </p:sp>
      <p:sp>
        <p:nvSpPr>
          <p:cNvPr id="8" name="TextBox 7"/>
          <p:cNvSpPr txBox="1"/>
          <p:nvPr/>
        </p:nvSpPr>
        <p:spPr>
          <a:xfrm>
            <a:off x="548640" y="6473952"/>
            <a:ext cx="7315200" cy="219456"/>
          </a:xfrm>
          <a:prstGeom prst="rect">
            <a:avLst/>
          </a:prstGeom>
          <a:noFill/>
        </p:spPr>
        <p:txBody>
          <a:bodyPr wrap="square" lIns="0" rIns="0" tIns="0" bIns="0" anchor="t">
            <a:noAutofit/>
          </a:bodyPr>
          <a:lstStyle/>
          <a:p>
            <a:pPr algn="l">
              <a:lnSpc>
                <a:spcPct val="112000"/>
              </a:lnSpc>
            </a:pPr>
            <a:r>
              <a:rPr sz="950" b="0" i="0">
                <a:solidFill>
                  <a:srgbClr val="8A8F97"/>
                </a:solidFill>
                <a:latin typeface="Noto Sans KR"/>
                <a:ea typeface="Noto Sans KR"/>
                <a:cs typeface="Noto Sans KR"/>
              </a:rPr>
              <a:t>[회사명 입력 필요]  ·  Appendix  ·  Confidential</a:t>
            </a:r>
          </a:p>
        </p:txBody>
      </p:sp>
      <p:sp>
        <p:nvSpPr>
          <p:cNvPr id="9" name="TextBox 8"/>
          <p:cNvSpPr txBox="1"/>
          <p:nvPr/>
        </p:nvSpPr>
        <p:spPr>
          <a:xfrm>
            <a:off x="10545775" y="6473952"/>
            <a:ext cx="1097280" cy="219456"/>
          </a:xfrm>
          <a:prstGeom prst="rect">
            <a:avLst/>
          </a:prstGeom>
          <a:noFill/>
        </p:spPr>
        <p:txBody>
          <a:bodyPr wrap="square" lIns="0" rIns="0" tIns="0" bIns="0" anchor="t">
            <a:noAutofit/>
          </a:bodyPr>
          <a:lstStyle/>
          <a:p>
            <a:pPr algn="r">
              <a:lnSpc>
                <a:spcPct val="112000"/>
              </a:lnSpc>
            </a:pPr>
            <a:r>
              <a:rPr sz="950" b="0" i="0">
                <a:solidFill>
                  <a:srgbClr val="8A8F97"/>
                </a:solidFill>
                <a:latin typeface="Noto Sans KR SemiBold"/>
                <a:ea typeface="Noto Sans KR SemiBold"/>
                <a:cs typeface="Noto Sans KR SemiBold"/>
              </a:rPr>
              <a:t>A9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HAND. MANY TOOLS. — Founding &amp; Seed Investment Proposal</dc:title>
  <dc:subject>Tool-Use Manipulation Platform for Physical AI — Seed ₩2.0B</dc:subject>
  <dc:creator>IR Draft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