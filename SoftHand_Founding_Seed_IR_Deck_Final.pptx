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02"/>
          <c:y val="0.1"/>
          <c:w val="0.96"/>
          <c:h val="0.8"/>
        </c:manualLayout>
      </c:layout>
      <c:barChart>
        <c:barDir val="col"/>
        <c:grouping val="stacked"/>
        <c:ser>
          <c:idx val="0"/>
          <c:order val="0"/>
          <c:tx>
            <c:strRef>
              <c:f>Sheet1!$B$1</c:f>
              <c:strCache>
                <c:ptCount val="1"/>
                <c:pt idx="0">
                  <c:v>고객별 엔지니어링</c:v>
                </c:pt>
              </c:strCache>
            </c:strRef>
          </c:tx>
          <c:spPr>
            <a:solidFill>
              <a:srgbClr val="C9CDD2"/>
            </a:solidFill>
            <a:ln>
              <a:noFill/>
            </a:ln>
          </c:spPr>
          <c:invertIfNegative val="0"/>
          <c:cat>
            <c:strRef>
              <c:f>Sheet1!$A$2:$A$6</c:f>
              <c:strCache>
                <c:ptCount val="5"/>
                <c:pt idx="0">
                  <c:v>1년차</c:v>
                </c:pt>
                <c:pt idx="1">
                  <c:v>2년차</c:v>
                </c:pt>
                <c:pt idx="2">
                  <c:v>3년차</c:v>
                </c:pt>
                <c:pt idx="3">
                  <c:v>4년차</c:v>
                </c:pt>
                <c:pt idx="4">
                  <c:v>5년차</c:v>
                </c:pt>
              </c:strCache>
            </c:strRef>
          </c:cat>
          <c:val>
            <c:numRef>
              <c:f>Sheet1!$B$2:$B$6</c:f>
              <c:numCache>
                <c:formatCode>General</c:formatCode>
                <c:ptCount val="5"/>
                <c:pt idx="0">
                  <c:v>0.5</c:v>
                </c:pt>
                <c:pt idx="1">
                  <c:v>2.8</c:v>
                </c:pt>
                <c:pt idx="2">
                  <c:v>4.9</c:v>
                </c:pt>
                <c:pt idx="3">
                  <c:v>6.2</c:v>
                </c:pt>
                <c:pt idx="4">
                  <c:v>6.2</c:v>
                </c:pt>
              </c:numCache>
            </c:numRef>
          </c:val>
        </c:ser>
        <c:ser>
          <c:idx val="1"/>
          <c:order val="1"/>
          <c:tx>
            <c:strRef>
              <c:f>Sheet1!$C$1</c:f>
              <c:strCache>
                <c:ptCount val="1"/>
                <c:pt idx="0">
                  <c:v>재사용 매출</c:v>
                </c:pt>
              </c:strCache>
            </c:strRef>
          </c:tx>
          <c:spPr>
            <a:solidFill>
              <a:srgbClr val="E2571B"/>
            </a:solidFill>
            <a:ln>
              <a:noFill/>
            </a:ln>
          </c:spPr>
          <c:invertIfNegative val="0"/>
          <c:cat>
            <c:strRef>
              <c:f>Sheet1!$A$2:$A$6</c:f>
              <c:strCache>
                <c:ptCount val="5"/>
                <c:pt idx="0">
                  <c:v>1년차</c:v>
                </c:pt>
                <c:pt idx="1">
                  <c:v>2년차</c:v>
                </c:pt>
                <c:pt idx="2">
                  <c:v>3년차</c:v>
                </c:pt>
                <c:pt idx="3">
                  <c:v>4년차</c:v>
                </c:pt>
                <c:pt idx="4">
                  <c:v>5년차</c:v>
                </c:pt>
              </c:strCache>
            </c:strRef>
          </c:cat>
          <c:val>
            <c:numRef>
              <c:f>Sheet1!$C$2:$C$6</c:f>
              <c:numCache>
                <c:formatCode>General</c:formatCode>
                <c:ptCount val="5"/>
                <c:pt idx="0">
                  <c:v>0.0</c:v>
                </c:pt>
                <c:pt idx="1">
                  <c:v>1.125</c:v>
                </c:pt>
                <c:pt idx="2">
                  <c:v>6.6096</c:v>
                </c:pt>
                <c:pt idx="3">
                  <c:v>18.66</c:v>
                </c:pt>
                <c:pt idx="4">
                  <c:v>38.477999999999994</c:v>
                </c:pt>
              </c:numCache>
            </c:numRef>
          </c:val>
        </c:ser>
        <c:gapWidth val="55"/>
        <c:overlap val="100"/>
        <c:axId val="-2068027336"/>
        <c:axId val="-2113994440"/>
      </c:barChart>
      <c:catAx>
        <c:axId val="-2068027336"/>
        <c:scaling>
          <c:orientation val="minMax"/>
        </c:scaling>
        <c:delete val="0"/>
        <c:axPos val="b"/>
        <c:majorTickMark val="none"/>
        <c:minorTickMark val="none"/>
        <c:tickLblPos val="none"/>
        <c:spPr>
          <a:ln>
            <a:solidFill>
              <a:srgbClr val="E2E4E7"/>
            </a:solidFill>
          </a:ln>
        </c:spPr>
        <c:crossAx val="-2113994440"/>
        <c:crosses val="autoZero"/>
        <c:auto val="1"/>
        <c:lblAlgn val="ctr"/>
        <c:lblOffset val="100"/>
        <c:noMultiLvlLbl val="0"/>
      </c:catAx>
      <c:valAx>
        <c:axId val="-2113994440"/>
        <c:scaling>
          <c:max val="50.0"/>
          <c:min val="0.0"/>
        </c:scaling>
        <c:delete/>
        <c:axPos val="l"/>
        <c:majorTickMark val="none"/>
        <c:minorTickMark val="none"/>
        <c:tickLblPos val="nextTo"/>
        <c:crossAx val="-2068027336"/>
        <c:crosses val="autoZero"/>
      </c:valAx>
    </c:plotArea>
    <c:dispBlanksAs val="gap"/>
  </c:chart>
  <c:txPr>
    <a:bodyPr/>
    <a:lstStyle/>
    <a:p>
      <a:pPr>
        <a:defRPr sz="1200">
          <a:solidFill>
            <a:srgbClr val="4A4F57"/>
          </a:solidFill>
          <a:latin typeface="Noto Sans KR"/>
          <a:ea typeface="Noto Sans KR"/>
          <a:cs typeface="Noto Sans KR"/>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43"/>
          <c:y val="0.0"/>
          <c:w val="0.47"/>
          <c:h val="1.0"/>
        </c:manualLayout>
      </c:layout>
      <c:barChart>
        <c:barDir val="bar"/>
        <c:grouping val="clustered"/>
        <c:ser>
          <c:idx val="0"/>
          <c:order val="0"/>
          <c:tx>
            <c:strRef>
              <c:f>Sheet1!$B$1</c:f>
              <c:strCache>
                <c:ptCount val="1"/>
                <c:pt idx="0">
                  <c:v>v</c:v>
                </c:pt>
              </c:strCache>
            </c:strRef>
          </c:tx>
          <c:spPr>
            <a:solidFill>
              <a:srgbClr val="C9CDD2"/>
            </a:solidFill>
            <a:ln>
              <a:noFill/>
            </a:ln>
          </c:spPr>
          <c:invertIfNegative val="0"/>
          <c:dPt>
            <c:idx val="0"/>
            <c:spPr>
              <a:solidFill>
                <a:srgbClr val="E2571B"/>
              </a:solidFill>
            </c:spPr>
          </c:dPt>
          <c:dPt>
            <c:idx val="1"/>
            <c:spPr>
              <a:solidFill>
                <a:srgbClr val="C9CDD2"/>
              </a:solidFill>
            </c:spPr>
          </c:dPt>
          <c:dPt>
            <c:idx val="2"/>
            <c:spPr>
              <a:solidFill>
                <a:srgbClr val="C9CDD2"/>
              </a:solidFill>
            </c:spPr>
          </c:dPt>
          <c:dPt>
            <c:idx val="3"/>
            <c:spPr>
              <a:solidFill>
                <a:srgbClr val="C9CDD2"/>
              </a:solidFill>
            </c:spPr>
          </c:dPt>
          <c:dPt>
            <c:idx val="4"/>
            <c:spPr>
              <a:solidFill>
                <a:srgbClr val="C9CDD2"/>
              </a:solidFill>
            </c:spPr>
          </c:dPt>
          <c:dPt>
            <c:idx val="5"/>
            <c:spPr>
              <a:solidFill>
                <a:srgbClr val="C9CDD2"/>
              </a:solidFill>
            </c:spPr>
          </c:dPt>
          <c:dPt>
            <c:idx val="6"/>
            <c:spPr>
              <a:solidFill>
                <a:srgbClr val="C9CDD2"/>
              </a:solidFill>
            </c:spPr>
          </c:dPt>
          <c:dPt>
            <c:idx val="7"/>
            <c:spPr>
              <a:solidFill>
                <a:srgbClr val="C9CDD2"/>
              </a:solidFill>
            </c:spPr>
          </c:dPt>
          <c:dPt>
            <c:idx val="8"/>
            <c:spPr>
              <a:solidFill>
                <a:srgbClr val="C9CDD2"/>
              </a:solidFill>
            </c:spPr>
          </c:dPt>
          <c:dLbls>
            <c:dLbl>
              <c:idx val="0"/>
              <c:tx>
                <c:rich>
                  <a:bodyPr/>
                  <a:lstStyle/>
                  <a:p>
                    <a:r>
                      <a:rPr sz="1100" b="0">
                        <a:solidFill>
                          <a:srgbClr val="15171A"/>
                        </a:solidFill>
                        <a:latin typeface="Noto Sans KR"/>
                        <a:ea typeface="Noto Sans KR"/>
                        <a:cs typeface="Noto Sans KR"/>
                      </a:rPr>
                      <a:t>9.6</a:t>
                    </a:r>
                  </a:p>
                </c:rich>
              </c:tx>
              <c:dLblPos val="outEnd"/>
              <c:showLegendKey val="0"/>
              <c:showVal val="1"/>
              <c:showCatName val="0"/>
              <c:showSerName val="0"/>
              <c:showPercent val="0"/>
              <c:showBubbleSize val="0"/>
            </c:dLbl>
            <c:dLbl>
              <c:idx val="1"/>
              <c:tx>
                <c:rich>
                  <a:bodyPr/>
                  <a:lstStyle/>
                  <a:p>
                    <a:r>
                      <a:rPr sz="1100" b="0">
                        <a:solidFill>
                          <a:srgbClr val="15171A"/>
                        </a:solidFill>
                        <a:latin typeface="Noto Sans KR"/>
                        <a:ea typeface="Noto Sans KR"/>
                        <a:cs typeface="Noto Sans KR"/>
                      </a:rPr>
                      <a:t>2.7</a:t>
                    </a:r>
                  </a:p>
                </c:rich>
              </c:tx>
              <c:dLblPos val="outEnd"/>
              <c:showLegendKey val="0"/>
              <c:showVal val="1"/>
              <c:showCatName val="0"/>
              <c:showSerName val="0"/>
              <c:showPercent val="0"/>
              <c:showBubbleSize val="0"/>
            </c:dLbl>
            <c:dLbl>
              <c:idx val="2"/>
              <c:tx>
                <c:rich>
                  <a:bodyPr/>
                  <a:lstStyle/>
                  <a:p>
                    <a:r>
                      <a:rPr sz="1100" b="0">
                        <a:solidFill>
                          <a:srgbClr val="15171A"/>
                        </a:solidFill>
                        <a:latin typeface="Noto Sans KR"/>
                        <a:ea typeface="Noto Sans KR"/>
                        <a:cs typeface="Noto Sans KR"/>
                      </a:rPr>
                      <a:t>1.3</a:t>
                    </a:r>
                  </a:p>
                </c:rich>
              </c:tx>
              <c:dLblPos val="outEnd"/>
              <c:showLegendKey val="0"/>
              <c:showVal val="1"/>
              <c:showCatName val="0"/>
              <c:showSerName val="0"/>
              <c:showPercent val="0"/>
              <c:showBubbleSize val="0"/>
            </c:dLbl>
            <c:dLbl>
              <c:idx val="3"/>
              <c:tx>
                <c:rich>
                  <a:bodyPr/>
                  <a:lstStyle/>
                  <a:p>
                    <a:r>
                      <a:rPr sz="1100" b="0">
                        <a:solidFill>
                          <a:srgbClr val="15171A"/>
                        </a:solidFill>
                        <a:latin typeface="Noto Sans KR"/>
                        <a:ea typeface="Noto Sans KR"/>
                        <a:cs typeface="Noto Sans KR"/>
                      </a:rPr>
                      <a:t>1.2</a:t>
                    </a:r>
                  </a:p>
                </c:rich>
              </c:tx>
              <c:dLblPos val="outEnd"/>
              <c:showLegendKey val="0"/>
              <c:showVal val="1"/>
              <c:showCatName val="0"/>
              <c:showSerName val="0"/>
              <c:showPercent val="0"/>
              <c:showBubbleSize val="0"/>
            </c:dLbl>
            <c:dLbl>
              <c:idx val="4"/>
              <c:tx>
                <c:rich>
                  <a:bodyPr/>
                  <a:lstStyle/>
                  <a:p>
                    <a:r>
                      <a:rPr sz="1100" b="0">
                        <a:solidFill>
                          <a:srgbClr val="15171A"/>
                        </a:solidFill>
                        <a:latin typeface="Noto Sans KR"/>
                        <a:ea typeface="Noto Sans KR"/>
                        <a:cs typeface="Noto Sans KR"/>
                      </a:rPr>
                      <a:t>0.6</a:t>
                    </a:r>
                  </a:p>
                </c:rich>
              </c:tx>
              <c:dLblPos val="outEnd"/>
              <c:showLegendKey val="0"/>
              <c:showVal val="1"/>
              <c:showCatName val="0"/>
              <c:showSerName val="0"/>
              <c:showPercent val="0"/>
              <c:showBubbleSize val="0"/>
            </c:dLbl>
            <c:dLbl>
              <c:idx val="5"/>
              <c:tx>
                <c:rich>
                  <a:bodyPr/>
                  <a:lstStyle/>
                  <a:p>
                    <a:r>
                      <a:rPr sz="1100" b="0">
                        <a:solidFill>
                          <a:srgbClr val="15171A"/>
                        </a:solidFill>
                        <a:latin typeface="Noto Sans KR"/>
                        <a:ea typeface="Noto Sans KR"/>
                        <a:cs typeface="Noto Sans KR"/>
                      </a:rPr>
                      <a:t>1.1</a:t>
                    </a:r>
                  </a:p>
                </c:rich>
              </c:tx>
              <c:dLblPos val="outEnd"/>
              <c:showLegendKey val="0"/>
              <c:showVal val="1"/>
              <c:showCatName val="0"/>
              <c:showSerName val="0"/>
              <c:showPercent val="0"/>
              <c:showBubbleSize val="0"/>
            </c:dLbl>
            <c:dLbl>
              <c:idx val="6"/>
              <c:tx>
                <c:rich>
                  <a:bodyPr/>
                  <a:lstStyle/>
                  <a:p>
                    <a:r>
                      <a:rPr sz="1100" b="0">
                        <a:solidFill>
                          <a:srgbClr val="15171A"/>
                        </a:solidFill>
                        <a:latin typeface="Noto Sans KR"/>
                        <a:ea typeface="Noto Sans KR"/>
                        <a:cs typeface="Noto Sans KR"/>
                      </a:rPr>
                      <a:t>0.3</a:t>
                    </a:r>
                  </a:p>
                </c:rich>
              </c:tx>
              <c:dLblPos val="outEnd"/>
              <c:showLegendKey val="0"/>
              <c:showVal val="1"/>
              <c:showCatName val="0"/>
              <c:showSerName val="0"/>
              <c:showPercent val="0"/>
              <c:showBubbleSize val="0"/>
            </c:dLbl>
            <c:dLbl>
              <c:idx val="7"/>
              <c:tx>
                <c:rich>
                  <a:bodyPr/>
                  <a:lstStyle/>
                  <a:p>
                    <a:r>
                      <a:rPr sz="1100" b="0">
                        <a:solidFill>
                          <a:srgbClr val="15171A"/>
                        </a:solidFill>
                        <a:latin typeface="Noto Sans KR"/>
                        <a:ea typeface="Noto Sans KR"/>
                        <a:cs typeface="Noto Sans KR"/>
                      </a:rPr>
                      <a:t>1.5</a:t>
                    </a:r>
                  </a:p>
                </c:rich>
              </c:tx>
              <c:dLblPos val="outEnd"/>
              <c:showLegendKey val="0"/>
              <c:showVal val="1"/>
              <c:showCatName val="0"/>
              <c:showSerName val="0"/>
              <c:showPercent val="0"/>
              <c:showBubbleSize val="0"/>
            </c:dLbl>
            <c:dLbl>
              <c:idx val="8"/>
              <c:tx>
                <c:rich>
                  <a:bodyPr/>
                  <a:lstStyle/>
                  <a:p>
                    <a:r>
                      <a:rPr sz="1100" b="0">
                        <a:solidFill>
                          <a:srgbClr val="15171A"/>
                        </a:solidFill>
                        <a:latin typeface="Noto Sans KR"/>
                        <a:ea typeface="Noto Sans KR"/>
                        <a:cs typeface="Noto Sans KR"/>
                      </a:rPr>
                      <a:t>1.7</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Sheet1!$A$2:$A$10</c:f>
              <c:strCache>
                <c:ptCount val="9"/>
                <c:pt idx="0">
                  <c:v>핵심 인력 8명</c:v>
                </c:pt>
                <c:pt idx="1">
                  <c:v>시제품·내구시험</c:v>
                </c:pt>
                <c:pt idx="2">
                  <c:v>로봇 2종·시험 셀</c:v>
                </c:pt>
                <c:pt idx="3">
                  <c:v>고객 PoC·현장 통합</c:v>
                </c:pt>
                <c:pt idx="4">
                  <c:v>SW·AI·데이터</c:v>
                </c:pt>
                <c:pt idx="5">
                  <c:v>제조·품질·안전·IP</c:v>
                </c:pt>
                <c:pt idx="6">
                  <c:v>주방 벤치 데모</c:v>
                </c:pt>
                <c:pt idx="7">
                  <c:v>운영·관리</c:v>
                </c:pt>
                <c:pt idx="8">
                  <c:v>예비비·운전자본</c:v>
                </c:pt>
              </c:strCache>
            </c:strRef>
          </c:cat>
          <c:val>
            <c:numRef>
              <c:f>Sheet1!$B$2:$B$10</c:f>
              <c:numCache>
                <c:formatCode>General</c:formatCode>
                <c:ptCount val="9"/>
                <c:pt idx="0">
                  <c:v>9.62</c:v>
                </c:pt>
                <c:pt idx="1">
                  <c:v>2.7</c:v>
                </c:pt>
                <c:pt idx="2">
                  <c:v>1.3</c:v>
                </c:pt>
                <c:pt idx="3">
                  <c:v>1.2</c:v>
                </c:pt>
                <c:pt idx="4">
                  <c:v>0.6</c:v>
                </c:pt>
                <c:pt idx="5">
                  <c:v>1.1</c:v>
                </c:pt>
                <c:pt idx="6">
                  <c:v>0.3</c:v>
                </c:pt>
                <c:pt idx="7">
                  <c:v>1.5</c:v>
                </c:pt>
                <c:pt idx="8">
                  <c:v>1.68</c:v>
                </c:pt>
              </c:numCache>
            </c:numRef>
          </c:val>
        </c:ser>
        <c:dLbls>
          <c:numFmt formatCode="0.0" sourceLinked="0"/>
          <c:dLblPos val="outEnd"/>
          <c:showLegendKey val="0"/>
          <c:showVal val="1"/>
          <c:showCatName val="0"/>
          <c:showSerName val="0"/>
          <c:showPercent val="0"/>
          <c:showBubbleSize val="0"/>
          <c:showLeaderLines val="1"/>
        </c:dLbls>
        <c:gapWidth val="40"/>
        <c:axId val="-2068027336"/>
        <c:axId val="-2113994440"/>
      </c:barChart>
      <c:catAx>
        <c:axId val="-2068027336"/>
        <c:scaling>
          <c:orientation val="maxMin"/>
        </c:scaling>
        <c:delete val="0"/>
        <c:axPos val="l"/>
        <c:majorTickMark val="none"/>
        <c:minorTickMark val="none"/>
        <c:tickLblPos val="none"/>
        <c:spPr>
          <a:ln>
            <a:noFill/>
          </a:ln>
        </c:spPr>
        <c:crossAx val="-2113994440"/>
        <c:crosses val="autoZero"/>
        <c:auto val="1"/>
        <c:lblAlgn val="ctr"/>
        <c:lblOffset val="100"/>
        <c:noMultiLvlLbl val="0"/>
      </c:catAx>
      <c:valAx>
        <c:axId val="-2113994440"/>
        <c:scaling>
          <c:max val="11.0"/>
          <c:min val="0.0"/>
        </c:scaling>
        <c:delete/>
        <c:axPos val="b"/>
        <c:majorTickMark val="out"/>
        <c:minorTickMark val="none"/>
        <c:tickLblPos val="nextTo"/>
        <c:crossAx val="-2068027336"/>
        <c:crosses val="autoZero"/>
      </c:valAx>
    </c:plotArea>
    <c:dispBlanksAs val="gap"/>
  </c:chart>
  <c:txPr>
    <a:bodyPr/>
    <a:lstStyle/>
    <a:p>
      <a:pPr>
        <a:defRPr sz="1100">
          <a:solidFill>
            <a:srgbClr val="15171A"/>
          </a:solidFill>
          <a:latin typeface="Noto Sans KR"/>
          <a:ea typeface="Noto Sans KR"/>
          <a:cs typeface="Noto Sans KR"/>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03"/>
          <c:y val="0.1"/>
          <c:w val="0.94"/>
          <c:h val="0.78"/>
        </c:manualLayout>
      </c:layout>
      <c:barChart>
        <c:barDir val="col"/>
        <c:grouping val="clustered"/>
        <c:ser>
          <c:idx val="0"/>
          <c:order val="0"/>
          <c:tx>
            <c:strRef>
              <c:f>Sheet1!$B$1</c:f>
              <c:strCache>
                <c:ptCount val="1"/>
                <c:pt idx="0">
                  <c:v>설치</c:v>
                </c:pt>
              </c:strCache>
            </c:strRef>
          </c:tx>
          <c:spPr>
            <a:solidFill>
              <a:srgbClr val="C9CDD2"/>
            </a:solidFill>
            <a:ln>
              <a:noFill/>
            </a:ln>
          </c:spPr>
          <c:invertIfNegative val="0"/>
          <c:cat>
            <c:strRef>
              <c:f>Sheet1!$A$2:$A$5</c:f>
              <c:strCache>
                <c:ptCount val="4"/>
                <c:pt idx="0">
                  <c:v>2024</c:v>
                </c:pt>
                <c:pt idx="1">
                  <c:v>2025</c:v>
                </c:pt>
                <c:pt idx="2">
                  <c:v>2026F</c:v>
                </c:pt>
                <c:pt idx="3">
                  <c:v>2029F</c:v>
                </c:pt>
              </c:strCache>
            </c:strRef>
          </c:cat>
          <c:val>
            <c:numRef>
              <c:f>Sheet1!$B$2:$B$5</c:f>
              <c:numCache>
                <c:formatCode>General</c:formatCode>
                <c:ptCount val="4"/>
                <c:pt idx="0">
                  <c:v>542</c:v>
                </c:pt>
                <c:pt idx="1">
                  <c:v>603</c:v>
                </c:pt>
                <c:pt idx="2">
                  <c:v>655</c:v>
                </c:pt>
                <c:pt idx="3">
                  <c:v>806</c:v>
                </c:pt>
              </c:numCache>
            </c:numRef>
          </c:val>
        </c:ser>
        <c:dLbls>
          <c:numFmt formatCode="0" sourceLinked="0"/>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none"/>
        <c:minorTickMark val="none"/>
        <c:tickLblPos val="none"/>
        <c:spPr>
          <a:ln>
            <a:solidFill>
              <a:srgbClr val="E2E4E7"/>
            </a:solidFill>
          </a:ln>
        </c:spPr>
        <c:crossAx val="-2113994440"/>
        <c:crosses val="autoZero"/>
        <c:auto val="1"/>
        <c:lblAlgn val="ctr"/>
        <c:lblOffset val="100"/>
        <c:noMultiLvlLbl val="0"/>
      </c:catAx>
      <c:valAx>
        <c:axId val="-2113994440"/>
        <c:scaling>
          <c:max val="950.0"/>
          <c:min val="0.0"/>
        </c:scaling>
        <c:delete/>
        <c:axPos val="l"/>
        <c:majorTickMark val="none"/>
        <c:minorTickMark val="none"/>
        <c:tickLblPos val="nextTo"/>
        <c:crossAx val="-2068027336"/>
        <c:crosses val="autoZero"/>
      </c:valAx>
    </c:plotArea>
    <c:dispBlanksAs val="gap"/>
  </c:chart>
  <c:txPr>
    <a:bodyPr/>
    <a:lstStyle/>
    <a:p>
      <a:pPr>
        <a:defRPr sz="1200">
          <a:solidFill>
            <a:srgbClr val="4A4F57"/>
          </a:solidFill>
          <a:latin typeface="Noto Sans KR"/>
          <a:ea typeface="Noto Sans KR"/>
          <a:cs typeface="Noto Sans KR"/>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표지. 사람이 쓰도록 만든 공장 설비를 로봇이 그대로 쓰게 하는 로봇 핸드 회사. 첫 제품 SoftHand-4 + 머신텐딩 스킬 팩, Seed 20억 원 / 24개월.</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투자자가 한 장으로 설명할 수 있어야 하는 내용. 문제-해결-첫 시장-수익 구조-확장, 그리고 요청 금액과 24개월 목표.</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BCG(2026.4): 기존 로봇 도입에서 총소유비용의 약 75%가 초기 셋업과 재설계(워크플로 구성, 신제품 대응, 기존 설비 통합). 고객의 진짜 비용은 핸드 가격이 아니라 작업이 바뀔 때마다 반복되는 자동화 전환 비용.</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설비를 로봇에 맞게 바꾸는 대신 로봇이 기존 설비를 사용. 잡기(순응성)와 일하기(강성)는 서로 충돌하므로 부드러운 접촉면 + 단단한 골격 + 전환 가능한 강성으로 해결. 4지(손가락 3 + 대향 엄지)는 머신텐딩 최소 구성, 5지는 Series A 이후.</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6단계 = 5종 작업(열기와 닫기는 같은 스킬). 기존 방식은 그리퍼 2종 + 툴 체인저 + 자동문·I/O 개조. Seed 기간 검증 목표.</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모든 공구를 핸드로 대체한다고 주장하지 않음. 핸드를 썼을 때 설비 개조와 엔드이펙터 수가 줄어드는 작업부터 자동화.</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고객에게 1,500만 원짜리 로봇 핸드를 파는 것이 아니라, 품목이 바뀌어도 다시 쓸 수 있는 자동화를 판다. 엔지니어링과 검증이 사라진다고 주장하지 않음. 줄어드는 폭을 PoC에서 고객 기존 수치와 비교.</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IFR World Robotics 2026: 2025년 가동 대수 약 500만 대(+9%), 신규 설치 60만 대 이상(+11%). IFR 로봇 밀도: 한국 1,220대/직원 1만 명(세계 최고). 5년차 판매 계획 200대는 국내 연간 설치의 1% 미만. 휴머노이드를 기다리지 않고 이미 공장에 있는 로봇부터 공략.</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SI가 되지 않는 규칙: 승인 작업 목록 안에서만 수주, 비표준 요청은 별도 견적, 프로젝트 종료 시 공통 모듈을 라이브러리에 반영, 재사용 매출 비중을 경영 지표로 관리. 로봇 B 통합은 M12~M18, 이식성 검증은 M18~M24.</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초기에는 제품회사처럼 돈을 벌고, 장기에는 플랫폼 수익 구조로 확장. 통합 매출을 숨기지 않되 장기 모델이 아닌 진입·제품화 수단으로 정의. OEM 매출은 숫자를 계산하지 않고 구조만 제시 (기존 300억~1,800억 계산 삭제).</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Adaptive Gripper는 형상 파지에 강하지만 문·레버 조작과 공구 토크는 제한적이라 결국 설비 개조가 필요. 다지 핸드는 비용·내구성 때문에 연구·휴머노이드 중심. 우리는 손가락 수가 아니라 설비 변경 없이 끝낸 작업 수로 경쟁.</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기본 시나리오: 핸드 직판 1,500만 원, 파트너 경유 1,200만 원, 스킬 300만 원, 런타임 연 150만 원, 유료 PoC 5,000만 원. 핸드 원가 950만 원에서 750만 원으로 절감 가정. 주방·OEM 매출 0원. 기존 덱의 5년차 112억(주방 50억 포함) 대신 사업 구조와 같은 숫자로 재산정.</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투자금을 단순 R&amp;D 소비가 아닌 가설 검증 자본으로 운영. 각 단계 점검은 이사회·투자자와 분기별 지표 리뷰로 판단.</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Founder 장표의 목적은 이력 나열이 아니라 세 질문에 대한 답. 로봇·자동화·제조·AI·기계설계·현장 통합·고객 네트워크 중 사업과 직접 연결되는 경험만 선택.</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인력 8명 단계 채용 9.6억 포함. 18개월 핵심 운영 13.4억으로 설계 확정과 첫 재구매까지, 18개월 점검을 통과하면 6개월 연장 5.0억 집행. 매출이 없어도 24개월 뒤 예비비 1.7억 잔존.</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기존 생산설비에서 시작. 하나의 핸드로 여러 작업을 수행하고, 고객 프로젝트를 재사용 스킬로 제품화하고, 같은 스킬을 여러 로봇에서 쓸 수 있음을 증명. 이후 로봇 제조사로 확장해 피지컬 AI의 조작 계층이 되는 것이 장기 목표. 공장이 사업성을, 주방이 기술의 확장성을 증명.</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jpg"/><Relationship Id="rId4" Type="http://schemas.openxmlformats.org/officeDocument/2006/relationships/image" Target="../media/image6.jpg"/><Relationship Id="rId5" Type="http://schemas.openxmlformats.org/officeDocument/2006/relationships/image" Target="../media/image7.jpg"/><Relationship Id="rId6" Type="http://schemas.openxmlformats.org/officeDocument/2006/relationships/image" Target="../media/image8.jpg"/><Relationship Id="rId7" Type="http://schemas.openxmlformats.org/officeDocument/2006/relationships/image" Target="../media/image9.jpg"/><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image" Target="../media/image12.jp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image" Target="../media/image14.jpg"/><Relationship Id="rId4" Type="http://schemas.openxmlformats.org/officeDocument/2006/relationships/image" Target="../media/image15.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cover_color_light_708x750_56_42_122.jpg"/>
          <p:cNvPicPr>
            <a:picLocks noChangeAspect="1"/>
          </p:cNvPicPr>
          <p:nvPr/>
        </p:nvPicPr>
        <p:blipFill>
          <a:blip r:embed="rId2"/>
          <a:stretch>
            <a:fillRect/>
          </a:stretch>
        </p:blipFill>
        <p:spPr>
          <a:xfrm>
            <a:off x="5715000" y="0"/>
            <a:ext cx="6476695" cy="6858000"/>
          </a:xfrm>
          <a:prstGeom prst="rect">
            <a:avLst/>
          </a:prstGeom>
        </p:spPr>
      </p:pic>
      <p:sp>
        <p:nvSpPr>
          <p:cNvPr id="3" name="TextBox 2"/>
          <p:cNvSpPr txBox="1"/>
          <p:nvPr/>
        </p:nvSpPr>
        <p:spPr>
          <a:xfrm>
            <a:off x="685800" y="640080"/>
            <a:ext cx="4572000" cy="274320"/>
          </a:xfrm>
          <a:prstGeom prst="rect">
            <a:avLst/>
          </a:prstGeom>
          <a:noFill/>
        </p:spPr>
        <p:txBody>
          <a:bodyPr wrap="square" lIns="0" rIns="0" tIns="0" bIns="0" anchor="t">
            <a:spAutoFit/>
          </a:bodyPr>
          <a:lstStyle/>
          <a:p>
            <a:pPr algn="l">
              <a:lnSpc>
                <a:spcPct val="100000"/>
              </a:lnSpc>
            </a:pPr>
            <a:r>
              <a:rPr sz="1200" b="0">
                <a:solidFill>
                  <a:srgbClr val="8C9198"/>
                </a:solidFill>
                <a:latin typeface="Noto Sans KR"/>
                <a:ea typeface="Noto Sans KR"/>
                <a:cs typeface="Noto Sans KR"/>
              </a:rPr>
              <a:t>[회사명 입력 필요]</a:t>
            </a:r>
          </a:p>
        </p:txBody>
      </p:sp>
      <p:sp>
        <p:nvSpPr>
          <p:cNvPr id="4" name="TextBox 3"/>
          <p:cNvSpPr txBox="1"/>
          <p:nvPr/>
        </p:nvSpPr>
        <p:spPr>
          <a:xfrm>
            <a:off x="685800" y="1481328"/>
            <a:ext cx="4572000" cy="292608"/>
          </a:xfrm>
          <a:prstGeom prst="rect">
            <a:avLst/>
          </a:prstGeom>
          <a:noFill/>
        </p:spPr>
        <p:txBody>
          <a:bodyPr wrap="square" lIns="0" rIns="0" tIns="0" bIns="0" anchor="t">
            <a:spAutoFit/>
          </a:bodyPr>
          <a:lstStyle/>
          <a:p>
            <a:pPr algn="l">
              <a:lnSpc>
                <a:spcPct val="100000"/>
              </a:lnSpc>
            </a:pPr>
            <a:r>
              <a:rPr sz="1500" b="1">
                <a:solidFill>
                  <a:srgbClr val="E2571B"/>
                </a:solidFill>
                <a:latin typeface="Noto Sans KR"/>
                <a:ea typeface="Noto Sans KR"/>
                <a:cs typeface="Noto Sans KR"/>
              </a:rPr>
              <a:t>Seed 투자 제안서</a:t>
            </a:r>
          </a:p>
        </p:txBody>
      </p:sp>
      <p:sp>
        <p:nvSpPr>
          <p:cNvPr id="5" name="TextBox 4"/>
          <p:cNvSpPr txBox="1"/>
          <p:nvPr/>
        </p:nvSpPr>
        <p:spPr>
          <a:xfrm>
            <a:off x="685800" y="1901952"/>
            <a:ext cx="4846320" cy="2121408"/>
          </a:xfrm>
          <a:prstGeom prst="rect">
            <a:avLst/>
          </a:prstGeom>
          <a:noFill/>
        </p:spPr>
        <p:txBody>
          <a:bodyPr wrap="square" lIns="0" rIns="0" tIns="0" bIns="0" anchor="t">
            <a:spAutoFit/>
          </a:bodyPr>
          <a:lstStyle/>
          <a:p>
            <a:pPr algn="l">
              <a:lnSpc>
                <a:spcPct val="95000"/>
              </a:lnSpc>
            </a:pPr>
            <a:r>
              <a:rPr sz="4000" b="1">
                <a:solidFill>
                  <a:srgbClr val="15171A"/>
                </a:solidFill>
                <a:latin typeface="Noto Sans KR"/>
                <a:ea typeface="Noto Sans KR"/>
                <a:cs typeface="Noto Sans KR"/>
              </a:rPr>
              <a:t>사람용 설비를</a:t>
            </a:r>
          </a:p>
          <a:p>
            <a:pPr algn="l">
              <a:lnSpc>
                <a:spcPct val="95000"/>
              </a:lnSpc>
            </a:pPr>
            <a:r>
              <a:rPr sz="4000" b="1">
                <a:solidFill>
                  <a:srgbClr val="15171A"/>
                </a:solidFill>
                <a:latin typeface="Noto Sans KR"/>
                <a:ea typeface="Noto Sans KR"/>
                <a:cs typeface="Noto Sans KR"/>
              </a:rPr>
              <a:t>그대로 쓰는</a:t>
            </a:r>
          </a:p>
          <a:p>
            <a:pPr algn="l">
              <a:lnSpc>
                <a:spcPct val="95000"/>
              </a:lnSpc>
            </a:pPr>
            <a:r>
              <a:rPr sz="4000" b="1">
                <a:solidFill>
                  <a:srgbClr val="15171A"/>
                </a:solidFill>
                <a:latin typeface="Noto Sans KR"/>
                <a:ea typeface="Noto Sans KR"/>
                <a:cs typeface="Noto Sans KR"/>
              </a:rPr>
              <a:t>로봇 핸드</a:t>
            </a:r>
          </a:p>
        </p:txBody>
      </p:sp>
      <p:sp>
        <p:nvSpPr>
          <p:cNvPr id="6" name="TextBox 5"/>
          <p:cNvSpPr txBox="1"/>
          <p:nvPr/>
        </p:nvSpPr>
        <p:spPr>
          <a:xfrm>
            <a:off x="685800" y="4160520"/>
            <a:ext cx="4846320" cy="640080"/>
          </a:xfrm>
          <a:prstGeom prst="rect">
            <a:avLst/>
          </a:prstGeom>
          <a:noFill/>
        </p:spPr>
        <p:txBody>
          <a:bodyPr wrap="square" lIns="0" rIns="0" tIns="0" bIns="0" anchor="t">
            <a:spAutoFit/>
          </a:bodyPr>
          <a:lstStyle/>
          <a:p>
            <a:pPr algn="l">
              <a:lnSpc>
                <a:spcPct val="100000"/>
              </a:lnSpc>
            </a:pPr>
            <a:r>
              <a:rPr sz="1600" b="0">
                <a:solidFill>
                  <a:srgbClr val="4A4F57"/>
                </a:solidFill>
                <a:latin typeface="Noto Sans KR"/>
                <a:ea typeface="Noto Sans KR"/>
                <a:cs typeface="Noto Sans KR"/>
              </a:rPr>
              <a:t>SoftHand-4 + 머신텐딩 스킬 팩</a:t>
            </a:r>
          </a:p>
          <a:p>
            <a:pPr algn="l">
              <a:lnSpc>
                <a:spcPct val="100000"/>
              </a:lnSpc>
            </a:pPr>
            <a:r>
              <a:rPr sz="1600" b="0">
                <a:solidFill>
                  <a:srgbClr val="4A4F57"/>
                </a:solidFill>
                <a:latin typeface="Noto Sans KR"/>
                <a:ea typeface="Noto Sans KR"/>
                <a:cs typeface="Noto Sans KR"/>
              </a:rPr>
              <a:t>기존 설비를 크게 바꾸지 않는 공장 자동화</a:t>
            </a:r>
          </a:p>
        </p:txBody>
      </p:sp>
      <p:sp>
        <p:nvSpPr>
          <p:cNvPr id="7" name="TextBox 6"/>
          <p:cNvSpPr txBox="1"/>
          <p:nvPr/>
        </p:nvSpPr>
        <p:spPr>
          <a:xfrm>
            <a:off x="685800" y="5120640"/>
            <a:ext cx="1463040" cy="237744"/>
          </a:xfrm>
          <a:prstGeom prst="rect">
            <a:avLst/>
          </a:prstGeom>
          <a:noFill/>
        </p:spPr>
        <p:txBody>
          <a:bodyPr wrap="square" lIns="0" rIns="0" tIns="0" bIns="0" anchor="t">
            <a:spAutoFit/>
          </a:bodyPr>
          <a:lstStyle/>
          <a:p>
            <a:pPr algn="l">
              <a:lnSpc>
                <a:spcPct val="100000"/>
              </a:lnSpc>
            </a:pPr>
            <a:r>
              <a:rPr sz="1100" b="0">
                <a:solidFill>
                  <a:srgbClr val="8C9198"/>
                </a:solidFill>
                <a:latin typeface="Noto Sans KR"/>
                <a:ea typeface="Noto Sans KR"/>
                <a:cs typeface="Noto Sans KR"/>
              </a:rPr>
              <a:t>투자 요청</a:t>
            </a:r>
          </a:p>
        </p:txBody>
      </p:sp>
      <p:sp>
        <p:nvSpPr>
          <p:cNvPr id="8" name="TextBox 7"/>
          <p:cNvSpPr txBox="1"/>
          <p:nvPr/>
        </p:nvSpPr>
        <p:spPr>
          <a:xfrm>
            <a:off x="685800" y="5394960"/>
            <a:ext cx="1554480" cy="411480"/>
          </a:xfrm>
          <a:prstGeom prst="rect">
            <a:avLst/>
          </a:prstGeom>
          <a:noFill/>
        </p:spPr>
        <p:txBody>
          <a:bodyPr wrap="square" lIns="0" rIns="0" tIns="0" bIns="0" anchor="t">
            <a:spAutoFit/>
          </a:bodyPr>
          <a:lstStyle/>
          <a:p>
            <a:pPr algn="l">
              <a:lnSpc>
                <a:spcPct val="100000"/>
              </a:lnSpc>
            </a:pPr>
            <a:r>
              <a:rPr sz="2000" b="1">
                <a:solidFill>
                  <a:srgbClr val="15171A"/>
                </a:solidFill>
                <a:latin typeface="Noto Sans KR"/>
                <a:ea typeface="Noto Sans KR"/>
                <a:cs typeface="Noto Sans KR"/>
              </a:rPr>
              <a:t>20억 원</a:t>
            </a:r>
          </a:p>
        </p:txBody>
      </p:sp>
      <p:cxnSp>
        <p:nvCxnSpPr>
          <p:cNvPr id="9" name="Connector 8"/>
          <p:cNvCxnSpPr/>
          <p:nvPr/>
        </p:nvCxnSpPr>
        <p:spPr>
          <a:xfrm>
            <a:off x="2176272" y="5138928"/>
            <a:ext cx="0" cy="658368"/>
          </a:xfrm>
          <a:prstGeom prst="line">
            <a:avLst/>
          </a:prstGeom>
          <a:ln w="9525">
            <a:solidFill>
              <a:srgbClr val="E2E4E7"/>
            </a:solidFill>
          </a:ln>
        </p:spPr>
      </p:cxnSp>
      <p:sp>
        <p:nvSpPr>
          <p:cNvPr id="10" name="TextBox 9"/>
          <p:cNvSpPr txBox="1"/>
          <p:nvPr/>
        </p:nvSpPr>
        <p:spPr>
          <a:xfrm>
            <a:off x="2377440" y="5120640"/>
            <a:ext cx="1463040" cy="237744"/>
          </a:xfrm>
          <a:prstGeom prst="rect">
            <a:avLst/>
          </a:prstGeom>
          <a:noFill/>
        </p:spPr>
        <p:txBody>
          <a:bodyPr wrap="square" lIns="0" rIns="0" tIns="0" bIns="0" anchor="t">
            <a:spAutoFit/>
          </a:bodyPr>
          <a:lstStyle/>
          <a:p>
            <a:pPr algn="l">
              <a:lnSpc>
                <a:spcPct val="100000"/>
              </a:lnSpc>
            </a:pPr>
            <a:r>
              <a:rPr sz="1100" b="0">
                <a:solidFill>
                  <a:srgbClr val="8C9198"/>
                </a:solidFill>
                <a:latin typeface="Noto Sans KR"/>
                <a:ea typeface="Noto Sans KR"/>
                <a:cs typeface="Noto Sans KR"/>
              </a:rPr>
              <a:t>기간</a:t>
            </a:r>
          </a:p>
        </p:txBody>
      </p:sp>
      <p:sp>
        <p:nvSpPr>
          <p:cNvPr id="11" name="TextBox 10"/>
          <p:cNvSpPr txBox="1"/>
          <p:nvPr/>
        </p:nvSpPr>
        <p:spPr>
          <a:xfrm>
            <a:off x="2377440" y="5394960"/>
            <a:ext cx="1554480" cy="411480"/>
          </a:xfrm>
          <a:prstGeom prst="rect">
            <a:avLst/>
          </a:prstGeom>
          <a:noFill/>
        </p:spPr>
        <p:txBody>
          <a:bodyPr wrap="square" lIns="0" rIns="0" tIns="0" bIns="0" anchor="t">
            <a:spAutoFit/>
          </a:bodyPr>
          <a:lstStyle/>
          <a:p>
            <a:pPr algn="l">
              <a:lnSpc>
                <a:spcPct val="100000"/>
              </a:lnSpc>
            </a:pPr>
            <a:r>
              <a:rPr sz="2000" b="1">
                <a:solidFill>
                  <a:srgbClr val="15171A"/>
                </a:solidFill>
                <a:latin typeface="Noto Sans KR"/>
                <a:ea typeface="Noto Sans KR"/>
                <a:cs typeface="Noto Sans KR"/>
              </a:rPr>
              <a:t>24개월</a:t>
            </a:r>
          </a:p>
        </p:txBody>
      </p:sp>
      <p:cxnSp>
        <p:nvCxnSpPr>
          <p:cNvPr id="12" name="Connector 11"/>
          <p:cNvCxnSpPr/>
          <p:nvPr/>
        </p:nvCxnSpPr>
        <p:spPr>
          <a:xfrm>
            <a:off x="3639312" y="5138928"/>
            <a:ext cx="0" cy="658368"/>
          </a:xfrm>
          <a:prstGeom prst="line">
            <a:avLst/>
          </a:prstGeom>
          <a:ln w="9525">
            <a:solidFill>
              <a:srgbClr val="E2E4E7"/>
            </a:solidFill>
          </a:ln>
        </p:spPr>
      </p:cxnSp>
      <p:sp>
        <p:nvSpPr>
          <p:cNvPr id="13" name="TextBox 12"/>
          <p:cNvSpPr txBox="1"/>
          <p:nvPr/>
        </p:nvSpPr>
        <p:spPr>
          <a:xfrm>
            <a:off x="3840480" y="5120640"/>
            <a:ext cx="1463040" cy="237744"/>
          </a:xfrm>
          <a:prstGeom prst="rect">
            <a:avLst/>
          </a:prstGeom>
          <a:noFill/>
        </p:spPr>
        <p:txBody>
          <a:bodyPr wrap="square" lIns="0" rIns="0" tIns="0" bIns="0" anchor="t">
            <a:spAutoFit/>
          </a:bodyPr>
          <a:lstStyle/>
          <a:p>
            <a:pPr algn="l">
              <a:lnSpc>
                <a:spcPct val="100000"/>
              </a:lnSpc>
            </a:pPr>
            <a:r>
              <a:rPr sz="1100" b="0">
                <a:solidFill>
                  <a:srgbClr val="8C9198"/>
                </a:solidFill>
                <a:latin typeface="Noto Sans KR"/>
                <a:ea typeface="Noto Sans KR"/>
                <a:cs typeface="Noto Sans KR"/>
              </a:rPr>
              <a:t>첫 시장</a:t>
            </a:r>
          </a:p>
        </p:txBody>
      </p:sp>
      <p:sp>
        <p:nvSpPr>
          <p:cNvPr id="14" name="TextBox 13"/>
          <p:cNvSpPr txBox="1"/>
          <p:nvPr/>
        </p:nvSpPr>
        <p:spPr>
          <a:xfrm>
            <a:off x="3840480" y="5394960"/>
            <a:ext cx="1554480" cy="411480"/>
          </a:xfrm>
          <a:prstGeom prst="rect">
            <a:avLst/>
          </a:prstGeom>
          <a:noFill/>
        </p:spPr>
        <p:txBody>
          <a:bodyPr wrap="square" lIns="0" rIns="0" tIns="0" bIns="0" anchor="t">
            <a:spAutoFit/>
          </a:bodyPr>
          <a:lstStyle/>
          <a:p>
            <a:pPr algn="l">
              <a:lnSpc>
                <a:spcPct val="100000"/>
              </a:lnSpc>
            </a:pPr>
            <a:r>
              <a:rPr sz="2000" b="1">
                <a:solidFill>
                  <a:srgbClr val="15171A"/>
                </a:solidFill>
                <a:latin typeface="Noto Sans KR"/>
                <a:ea typeface="Noto Sans KR"/>
                <a:cs typeface="Noto Sans KR"/>
              </a:rPr>
              <a:t>머신텐딩</a:t>
            </a:r>
          </a:p>
        </p:txBody>
      </p:sp>
      <p:sp>
        <p:nvSpPr>
          <p:cNvPr id="15" name="TextBox 14"/>
          <p:cNvSpPr txBox="1"/>
          <p:nvPr/>
        </p:nvSpPr>
        <p:spPr>
          <a:xfrm>
            <a:off x="685800" y="6291072"/>
            <a:ext cx="2743200" cy="228600"/>
          </a:xfrm>
          <a:prstGeom prst="rect">
            <a:avLst/>
          </a:prstGeom>
          <a:noFill/>
        </p:spPr>
        <p:txBody>
          <a:bodyPr wrap="square" lIns="0" rIns="0" tIns="0" bIns="0" anchor="t">
            <a:spAutoFit/>
          </a:bodyPr>
          <a:lstStyle/>
          <a:p>
            <a:pPr algn="l">
              <a:lnSpc>
                <a:spcPct val="100000"/>
              </a:lnSpc>
            </a:pPr>
            <a:r>
              <a:rPr sz="1100" b="1">
                <a:solidFill>
                  <a:srgbClr val="4A4F57"/>
                </a:solidFill>
                <a:latin typeface="Noto Sans KR"/>
                <a:ea typeface="Noto Sans KR"/>
                <a:cs typeface="Noto Sans KR"/>
              </a:rPr>
              <a:t>ONE HAND. MANY TOOLS.</a:t>
            </a:r>
          </a:p>
        </p:txBody>
      </p:sp>
      <p:sp>
        <p:nvSpPr>
          <p:cNvPr id="16" name="TextBox 15"/>
          <p:cNvSpPr txBox="1"/>
          <p:nvPr/>
        </p:nvSpPr>
        <p:spPr>
          <a:xfrm>
            <a:off x="3520440" y="6291072"/>
            <a:ext cx="2011680" cy="228600"/>
          </a:xfrm>
          <a:prstGeom prst="rect">
            <a:avLst/>
          </a:prstGeom>
          <a:noFill/>
        </p:spPr>
        <p:txBody>
          <a:bodyPr wrap="square" lIns="0" rIns="0" tIns="0" bIns="0" anchor="t">
            <a:spAutoFit/>
          </a:bodyPr>
          <a:lstStyle/>
          <a:p>
            <a:pPr algn="l">
              <a:lnSpc>
                <a:spcPct val="100000"/>
              </a:lnSpc>
            </a:pPr>
            <a:r>
              <a:rPr sz="1100" b="0">
                <a:solidFill>
                  <a:srgbClr val="8C9198"/>
                </a:solidFill>
                <a:latin typeface="Noto Sans KR"/>
                <a:ea typeface="Noto Sans KR"/>
                <a:cs typeface="Noto Sans KR"/>
              </a:rPr>
              <a:t>2026. 10</a:t>
            </a:r>
          </a:p>
        </p:txBody>
      </p:sp>
      <p:sp>
        <p:nvSpPr>
          <p:cNvPr id="17" name="TextBox 16"/>
          <p:cNvSpPr txBox="1"/>
          <p:nvPr/>
        </p:nvSpPr>
        <p:spPr>
          <a:xfrm>
            <a:off x="3520440" y="6528816"/>
            <a:ext cx="2194560" cy="182880"/>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이미지: 콘셉트 렌더링</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48640"/>
            <a:ext cx="7315200" cy="274320"/>
          </a:xfrm>
          <a:prstGeom prst="rect">
            <a:avLst/>
          </a:prstGeom>
          <a:noFill/>
        </p:spPr>
        <p:txBody>
          <a:bodyPr wrap="square" lIns="0" rIns="0" tIns="0" bIns="0" anchor="t">
            <a:spAutoFit/>
          </a:bodyPr>
          <a:lstStyle/>
          <a:p>
            <a:pPr algn="l">
              <a:lnSpc>
                <a:spcPct val="100000"/>
              </a:lnSpc>
            </a:pPr>
            <a:r>
              <a:rPr sz="1200" b="1">
                <a:solidFill>
                  <a:srgbClr val="E2571B"/>
                </a:solidFill>
                <a:latin typeface="Noto Sans KR"/>
                <a:ea typeface="Noto Sans KR"/>
                <a:cs typeface="Noto Sans KR"/>
              </a:rPr>
              <a:t>투자 요약</a:t>
            </a:r>
          </a:p>
        </p:txBody>
      </p:sp>
      <p:sp>
        <p:nvSpPr>
          <p:cNvPr id="3" name="TextBox 2"/>
          <p:cNvSpPr txBox="1"/>
          <p:nvPr/>
        </p:nvSpPr>
        <p:spPr>
          <a:xfrm>
            <a:off x="685800" y="932688"/>
            <a:ext cx="10820095" cy="1066495"/>
          </a:xfrm>
          <a:prstGeom prst="rect">
            <a:avLst/>
          </a:prstGeom>
          <a:noFill/>
        </p:spPr>
        <p:txBody>
          <a:bodyPr wrap="square" lIns="0" rIns="0" tIns="0" bIns="0" anchor="t">
            <a:spAutoFit/>
          </a:bodyPr>
          <a:lstStyle/>
          <a:p>
            <a:pPr algn="l">
              <a:lnSpc>
                <a:spcPct val="95000"/>
              </a:lnSpc>
            </a:pPr>
            <a:r>
              <a:rPr sz="3000" b="1">
                <a:solidFill>
                  <a:srgbClr val="15171A"/>
                </a:solidFill>
                <a:latin typeface="Noto Sans KR"/>
                <a:ea typeface="Noto Sans KR"/>
                <a:cs typeface="Noto Sans KR"/>
              </a:rPr>
              <a:t>설비를 크게 바꾸지 않는 로봇 자동화,</a:t>
            </a:r>
          </a:p>
          <a:p>
            <a:pPr algn="l">
              <a:lnSpc>
                <a:spcPct val="95000"/>
              </a:lnSpc>
            </a:pPr>
            <a:r>
              <a:rPr sz="3000" b="1">
                <a:solidFill>
                  <a:srgbClr val="15171A"/>
                </a:solidFill>
                <a:latin typeface="Noto Sans KR"/>
                <a:ea typeface="Noto Sans KR"/>
                <a:cs typeface="Noto Sans KR"/>
              </a:rPr>
              <a:t>첫 시장은 머신텐딩</a:t>
            </a:r>
          </a:p>
        </p:txBody>
      </p:sp>
      <p:cxnSp>
        <p:nvCxnSpPr>
          <p:cNvPr id="4" name="Connector 3"/>
          <p:cNvCxnSpPr/>
          <p:nvPr/>
        </p:nvCxnSpPr>
        <p:spPr>
          <a:xfrm>
            <a:off x="685800" y="2337511"/>
            <a:ext cx="7223760" cy="0"/>
          </a:xfrm>
          <a:prstGeom prst="line">
            <a:avLst/>
          </a:prstGeom>
          <a:ln w="12700">
            <a:solidFill>
              <a:srgbClr val="15171A"/>
            </a:solidFill>
          </a:ln>
        </p:spPr>
      </p:cxnSp>
      <p:sp>
        <p:nvSpPr>
          <p:cNvPr id="5" name="TextBox 4"/>
          <p:cNvSpPr txBox="1"/>
          <p:nvPr/>
        </p:nvSpPr>
        <p:spPr>
          <a:xfrm>
            <a:off x="685800" y="2492959"/>
            <a:ext cx="1325880" cy="274320"/>
          </a:xfrm>
          <a:prstGeom prst="rect">
            <a:avLst/>
          </a:prstGeom>
          <a:noFill/>
        </p:spPr>
        <p:txBody>
          <a:bodyPr wrap="square" lIns="0" rIns="0" tIns="0" bIns="0" anchor="t">
            <a:spAutoFit/>
          </a:bodyPr>
          <a:lstStyle/>
          <a:p>
            <a:pPr algn="l">
              <a:lnSpc>
                <a:spcPct val="100000"/>
              </a:lnSpc>
            </a:pPr>
            <a:r>
              <a:rPr sz="1400" b="1">
                <a:solidFill>
                  <a:srgbClr val="15171A"/>
                </a:solidFill>
                <a:latin typeface="Noto Sans KR"/>
                <a:ea typeface="Noto Sans KR"/>
                <a:cs typeface="Noto Sans KR"/>
              </a:rPr>
              <a:t>문제</a:t>
            </a:r>
          </a:p>
        </p:txBody>
      </p:sp>
      <p:sp>
        <p:nvSpPr>
          <p:cNvPr id="6" name="TextBox 5"/>
          <p:cNvSpPr txBox="1"/>
          <p:nvPr/>
        </p:nvSpPr>
        <p:spPr>
          <a:xfrm>
            <a:off x="2103120" y="2474671"/>
            <a:ext cx="5806440" cy="530352"/>
          </a:xfrm>
          <a:prstGeom prst="rect">
            <a:avLst/>
          </a:prstGeom>
          <a:noFill/>
        </p:spPr>
        <p:txBody>
          <a:bodyPr wrap="square" lIns="0" rIns="0" tIns="0" bIns="0" anchor="t">
            <a:spAutoFit/>
          </a:bodyPr>
          <a:lstStyle/>
          <a:p>
            <a:pPr algn="l">
              <a:lnSpc>
                <a:spcPct val="100000"/>
              </a:lnSpc>
            </a:pPr>
            <a:r>
              <a:rPr sz="1400" b="0">
                <a:solidFill>
                  <a:srgbClr val="4A4F57"/>
                </a:solidFill>
                <a:latin typeface="Noto Sans KR"/>
                <a:ea typeface="Noto Sans KR"/>
                <a:cs typeface="Noto Sans KR"/>
              </a:rPr>
              <a:t>로봇 도입 시 전용 그리퍼·지그·설비 개조 동반, 품목이 바뀌면 같은 작업 반복</a:t>
            </a:r>
          </a:p>
        </p:txBody>
      </p:sp>
      <p:cxnSp>
        <p:nvCxnSpPr>
          <p:cNvPr id="7" name="Connector 6"/>
          <p:cNvCxnSpPr/>
          <p:nvPr/>
        </p:nvCxnSpPr>
        <p:spPr>
          <a:xfrm>
            <a:off x="685800" y="3050743"/>
            <a:ext cx="7223760" cy="0"/>
          </a:xfrm>
          <a:prstGeom prst="line">
            <a:avLst/>
          </a:prstGeom>
          <a:ln w="9525">
            <a:solidFill>
              <a:srgbClr val="E2E4E7"/>
            </a:solidFill>
          </a:ln>
        </p:spPr>
      </p:cxnSp>
      <p:sp>
        <p:nvSpPr>
          <p:cNvPr id="8" name="TextBox 7"/>
          <p:cNvSpPr txBox="1"/>
          <p:nvPr/>
        </p:nvSpPr>
        <p:spPr>
          <a:xfrm>
            <a:off x="685800" y="3206191"/>
            <a:ext cx="1325880" cy="274320"/>
          </a:xfrm>
          <a:prstGeom prst="rect">
            <a:avLst/>
          </a:prstGeom>
          <a:noFill/>
        </p:spPr>
        <p:txBody>
          <a:bodyPr wrap="square" lIns="0" rIns="0" tIns="0" bIns="0" anchor="t">
            <a:spAutoFit/>
          </a:bodyPr>
          <a:lstStyle/>
          <a:p>
            <a:pPr algn="l">
              <a:lnSpc>
                <a:spcPct val="100000"/>
              </a:lnSpc>
            </a:pPr>
            <a:r>
              <a:rPr sz="1400" b="1">
                <a:solidFill>
                  <a:srgbClr val="15171A"/>
                </a:solidFill>
                <a:latin typeface="Noto Sans KR"/>
                <a:ea typeface="Noto Sans KR"/>
                <a:cs typeface="Noto Sans KR"/>
              </a:rPr>
              <a:t>해결</a:t>
            </a:r>
          </a:p>
        </p:txBody>
      </p:sp>
      <p:sp>
        <p:nvSpPr>
          <p:cNvPr id="9" name="TextBox 8"/>
          <p:cNvSpPr txBox="1"/>
          <p:nvPr/>
        </p:nvSpPr>
        <p:spPr>
          <a:xfrm>
            <a:off x="2103120" y="3187903"/>
            <a:ext cx="5806440" cy="530352"/>
          </a:xfrm>
          <a:prstGeom prst="rect">
            <a:avLst/>
          </a:prstGeom>
          <a:noFill/>
        </p:spPr>
        <p:txBody>
          <a:bodyPr wrap="square" lIns="0" rIns="0" tIns="0" bIns="0" anchor="t">
            <a:spAutoFit/>
          </a:bodyPr>
          <a:lstStyle/>
          <a:p>
            <a:pPr algn="l">
              <a:lnSpc>
                <a:spcPct val="100000"/>
              </a:lnSpc>
            </a:pPr>
            <a:r>
              <a:rPr sz="1400" b="0">
                <a:solidFill>
                  <a:srgbClr val="4A4F57"/>
                </a:solidFill>
                <a:latin typeface="Noto Sans KR"/>
                <a:ea typeface="Noto Sans KR"/>
                <a:cs typeface="Noto Sans KR"/>
              </a:rPr>
              <a:t>문 열기·소재 집기·버튼 조작까지 하는 로봇 핸드 SoftHand-4, 기존 설비는 그대로 사용</a:t>
            </a:r>
          </a:p>
        </p:txBody>
      </p:sp>
      <p:cxnSp>
        <p:nvCxnSpPr>
          <p:cNvPr id="10" name="Connector 9"/>
          <p:cNvCxnSpPr/>
          <p:nvPr/>
        </p:nvCxnSpPr>
        <p:spPr>
          <a:xfrm>
            <a:off x="685800" y="3763975"/>
            <a:ext cx="7223760" cy="0"/>
          </a:xfrm>
          <a:prstGeom prst="line">
            <a:avLst/>
          </a:prstGeom>
          <a:ln w="9525">
            <a:solidFill>
              <a:srgbClr val="E2E4E7"/>
            </a:solidFill>
          </a:ln>
        </p:spPr>
      </p:cxnSp>
      <p:sp>
        <p:nvSpPr>
          <p:cNvPr id="11" name="TextBox 10"/>
          <p:cNvSpPr txBox="1"/>
          <p:nvPr/>
        </p:nvSpPr>
        <p:spPr>
          <a:xfrm>
            <a:off x="685800" y="3919423"/>
            <a:ext cx="1325880" cy="274320"/>
          </a:xfrm>
          <a:prstGeom prst="rect">
            <a:avLst/>
          </a:prstGeom>
          <a:noFill/>
        </p:spPr>
        <p:txBody>
          <a:bodyPr wrap="square" lIns="0" rIns="0" tIns="0" bIns="0" anchor="t">
            <a:spAutoFit/>
          </a:bodyPr>
          <a:lstStyle/>
          <a:p>
            <a:pPr algn="l">
              <a:lnSpc>
                <a:spcPct val="100000"/>
              </a:lnSpc>
            </a:pPr>
            <a:r>
              <a:rPr sz="1400" b="1">
                <a:solidFill>
                  <a:srgbClr val="15171A"/>
                </a:solidFill>
                <a:latin typeface="Noto Sans KR"/>
                <a:ea typeface="Noto Sans KR"/>
                <a:cs typeface="Noto Sans KR"/>
              </a:rPr>
              <a:t>첫 시장</a:t>
            </a:r>
          </a:p>
        </p:txBody>
      </p:sp>
      <p:sp>
        <p:nvSpPr>
          <p:cNvPr id="12" name="TextBox 11"/>
          <p:cNvSpPr txBox="1"/>
          <p:nvPr/>
        </p:nvSpPr>
        <p:spPr>
          <a:xfrm>
            <a:off x="2103120" y="3901135"/>
            <a:ext cx="5806440" cy="530352"/>
          </a:xfrm>
          <a:prstGeom prst="rect">
            <a:avLst/>
          </a:prstGeom>
          <a:noFill/>
        </p:spPr>
        <p:txBody>
          <a:bodyPr wrap="square" lIns="0" rIns="0" tIns="0" bIns="0" anchor="t">
            <a:spAutoFit/>
          </a:bodyPr>
          <a:lstStyle/>
          <a:p>
            <a:pPr algn="l">
              <a:lnSpc>
                <a:spcPct val="100000"/>
              </a:lnSpc>
            </a:pPr>
            <a:r>
              <a:rPr sz="1400" b="0">
                <a:solidFill>
                  <a:srgbClr val="4A4F57"/>
                </a:solidFill>
                <a:latin typeface="Noto Sans KR"/>
                <a:ea typeface="Noto Sans KR"/>
                <a:cs typeface="Noto Sans KR"/>
              </a:rPr>
              <a:t>공작기계 소재 투입·배출(머신텐딩), 품목이 자주 바뀌는 중소·중견 가공 공장</a:t>
            </a:r>
          </a:p>
        </p:txBody>
      </p:sp>
      <p:cxnSp>
        <p:nvCxnSpPr>
          <p:cNvPr id="13" name="Connector 12"/>
          <p:cNvCxnSpPr/>
          <p:nvPr/>
        </p:nvCxnSpPr>
        <p:spPr>
          <a:xfrm>
            <a:off x="685800" y="4477207"/>
            <a:ext cx="7223760" cy="0"/>
          </a:xfrm>
          <a:prstGeom prst="line">
            <a:avLst/>
          </a:prstGeom>
          <a:ln w="9525">
            <a:solidFill>
              <a:srgbClr val="E2E4E7"/>
            </a:solidFill>
          </a:ln>
        </p:spPr>
      </p:cxnSp>
      <p:sp>
        <p:nvSpPr>
          <p:cNvPr id="14" name="TextBox 13"/>
          <p:cNvSpPr txBox="1"/>
          <p:nvPr/>
        </p:nvSpPr>
        <p:spPr>
          <a:xfrm>
            <a:off x="685800" y="4632655"/>
            <a:ext cx="1325880" cy="274320"/>
          </a:xfrm>
          <a:prstGeom prst="rect">
            <a:avLst/>
          </a:prstGeom>
          <a:noFill/>
        </p:spPr>
        <p:txBody>
          <a:bodyPr wrap="square" lIns="0" rIns="0" tIns="0" bIns="0" anchor="t">
            <a:spAutoFit/>
          </a:bodyPr>
          <a:lstStyle/>
          <a:p>
            <a:pPr algn="l">
              <a:lnSpc>
                <a:spcPct val="100000"/>
              </a:lnSpc>
            </a:pPr>
            <a:r>
              <a:rPr sz="1400" b="1">
                <a:solidFill>
                  <a:srgbClr val="15171A"/>
                </a:solidFill>
                <a:latin typeface="Noto Sans KR"/>
                <a:ea typeface="Noto Sans KR"/>
                <a:cs typeface="Noto Sans KR"/>
              </a:rPr>
              <a:t>수익 구조</a:t>
            </a:r>
          </a:p>
        </p:txBody>
      </p:sp>
      <p:sp>
        <p:nvSpPr>
          <p:cNvPr id="15" name="TextBox 14"/>
          <p:cNvSpPr txBox="1"/>
          <p:nvPr/>
        </p:nvSpPr>
        <p:spPr>
          <a:xfrm>
            <a:off x="2103120" y="4614367"/>
            <a:ext cx="5806440" cy="530352"/>
          </a:xfrm>
          <a:prstGeom prst="rect">
            <a:avLst/>
          </a:prstGeom>
          <a:noFill/>
        </p:spPr>
        <p:txBody>
          <a:bodyPr wrap="square" lIns="0" rIns="0" tIns="0" bIns="0" anchor="t">
            <a:spAutoFit/>
          </a:bodyPr>
          <a:lstStyle/>
          <a:p>
            <a:pPr algn="l">
              <a:lnSpc>
                <a:spcPct val="100000"/>
              </a:lnSpc>
            </a:pPr>
            <a:r>
              <a:rPr sz="1400" b="0">
                <a:solidFill>
                  <a:srgbClr val="4A4F57"/>
                </a:solidFill>
                <a:latin typeface="Noto Sans KR"/>
                <a:ea typeface="Noto Sans KR"/>
                <a:cs typeface="Noto Sans KR"/>
              </a:rPr>
              <a:t>핸드 판매·유료 PoC로 초기 매출, 현장 작업을 표준 스킬로 만들어 다음 고객에 재판매</a:t>
            </a:r>
          </a:p>
        </p:txBody>
      </p:sp>
      <p:cxnSp>
        <p:nvCxnSpPr>
          <p:cNvPr id="16" name="Connector 15"/>
          <p:cNvCxnSpPr/>
          <p:nvPr/>
        </p:nvCxnSpPr>
        <p:spPr>
          <a:xfrm>
            <a:off x="685800" y="5190439"/>
            <a:ext cx="7223760" cy="0"/>
          </a:xfrm>
          <a:prstGeom prst="line">
            <a:avLst/>
          </a:prstGeom>
          <a:ln w="9525">
            <a:solidFill>
              <a:srgbClr val="E2E4E7"/>
            </a:solidFill>
          </a:ln>
        </p:spPr>
      </p:cxnSp>
      <p:sp>
        <p:nvSpPr>
          <p:cNvPr id="17" name="TextBox 16"/>
          <p:cNvSpPr txBox="1"/>
          <p:nvPr/>
        </p:nvSpPr>
        <p:spPr>
          <a:xfrm>
            <a:off x="685800" y="5345887"/>
            <a:ext cx="1325880" cy="274320"/>
          </a:xfrm>
          <a:prstGeom prst="rect">
            <a:avLst/>
          </a:prstGeom>
          <a:noFill/>
        </p:spPr>
        <p:txBody>
          <a:bodyPr wrap="square" lIns="0" rIns="0" tIns="0" bIns="0" anchor="t">
            <a:spAutoFit/>
          </a:bodyPr>
          <a:lstStyle/>
          <a:p>
            <a:pPr algn="l">
              <a:lnSpc>
                <a:spcPct val="100000"/>
              </a:lnSpc>
            </a:pPr>
            <a:r>
              <a:rPr sz="1400" b="1">
                <a:solidFill>
                  <a:srgbClr val="15171A"/>
                </a:solidFill>
                <a:latin typeface="Noto Sans KR"/>
                <a:ea typeface="Noto Sans KR"/>
                <a:cs typeface="Noto Sans KR"/>
              </a:rPr>
              <a:t>확장</a:t>
            </a:r>
          </a:p>
        </p:txBody>
      </p:sp>
      <p:sp>
        <p:nvSpPr>
          <p:cNvPr id="18" name="TextBox 17"/>
          <p:cNvSpPr txBox="1"/>
          <p:nvPr/>
        </p:nvSpPr>
        <p:spPr>
          <a:xfrm>
            <a:off x="2103120" y="5327599"/>
            <a:ext cx="5806440" cy="530352"/>
          </a:xfrm>
          <a:prstGeom prst="rect">
            <a:avLst/>
          </a:prstGeom>
          <a:noFill/>
        </p:spPr>
        <p:txBody>
          <a:bodyPr wrap="square" lIns="0" rIns="0" tIns="0" bIns="0" anchor="t">
            <a:spAutoFit/>
          </a:bodyPr>
          <a:lstStyle/>
          <a:p>
            <a:pPr algn="l">
              <a:lnSpc>
                <a:spcPct val="100000"/>
              </a:lnSpc>
            </a:pPr>
            <a:r>
              <a:rPr sz="1400" b="0">
                <a:solidFill>
                  <a:srgbClr val="4A4F57"/>
                </a:solidFill>
                <a:latin typeface="Noto Sans KR"/>
                <a:ea typeface="Noto Sans KR"/>
                <a:cs typeface="Noto Sans KR"/>
              </a:rPr>
              <a:t>SI 파트너 판매 후 로봇 제조사(OEM) 기본 옵션 탑재 목표</a:t>
            </a:r>
          </a:p>
        </p:txBody>
      </p:sp>
      <p:cxnSp>
        <p:nvCxnSpPr>
          <p:cNvPr id="19" name="Connector 18"/>
          <p:cNvCxnSpPr/>
          <p:nvPr/>
        </p:nvCxnSpPr>
        <p:spPr>
          <a:xfrm>
            <a:off x="685800" y="5903671"/>
            <a:ext cx="7223760" cy="0"/>
          </a:xfrm>
          <a:prstGeom prst="line">
            <a:avLst/>
          </a:prstGeom>
          <a:ln w="9525">
            <a:solidFill>
              <a:srgbClr val="E2E4E7"/>
            </a:solidFill>
          </a:ln>
        </p:spPr>
      </p:cxnSp>
      <p:sp>
        <p:nvSpPr>
          <p:cNvPr id="20" name="Rectangle 19"/>
          <p:cNvSpPr/>
          <p:nvPr/>
        </p:nvSpPr>
        <p:spPr>
          <a:xfrm>
            <a:off x="8412480" y="2337511"/>
            <a:ext cx="3093415" cy="3566160"/>
          </a:xfrm>
          <a:prstGeom prst="rect">
            <a:avLst/>
          </a:prstGeom>
          <a:solidFill>
            <a:srgbClr val="15171A"/>
          </a:solidFill>
          <a:ln>
            <a:noFill/>
          </a:ln>
        </p:spPr>
        <p:txBody>
          <a:bodyPr rtlCol="0" anchor="ctr"/>
          <a:lstStyle/>
          <a:p>
            <a:pPr algn="ctr"/>
          </a:p>
        </p:txBody>
      </p:sp>
      <p:sp>
        <p:nvSpPr>
          <p:cNvPr id="21" name="TextBox 20"/>
          <p:cNvSpPr txBox="1"/>
          <p:nvPr/>
        </p:nvSpPr>
        <p:spPr>
          <a:xfrm>
            <a:off x="8732519" y="2630119"/>
            <a:ext cx="2453335" cy="274320"/>
          </a:xfrm>
          <a:prstGeom prst="rect">
            <a:avLst/>
          </a:prstGeom>
          <a:noFill/>
        </p:spPr>
        <p:txBody>
          <a:bodyPr wrap="square" lIns="0" rIns="0" tIns="0" bIns="0" anchor="t">
            <a:spAutoFit/>
          </a:bodyPr>
          <a:lstStyle/>
          <a:p>
            <a:pPr algn="l">
              <a:lnSpc>
                <a:spcPct val="100000"/>
              </a:lnSpc>
            </a:pPr>
            <a:r>
              <a:rPr sz="1300" b="0">
                <a:solidFill>
                  <a:srgbClr val="A9AEB5"/>
                </a:solidFill>
                <a:latin typeface="Noto Sans KR"/>
                <a:ea typeface="Noto Sans KR"/>
                <a:cs typeface="Noto Sans KR"/>
              </a:rPr>
              <a:t>투자 요청</a:t>
            </a:r>
          </a:p>
        </p:txBody>
      </p:sp>
      <p:sp>
        <p:nvSpPr>
          <p:cNvPr id="22" name="TextBox 21"/>
          <p:cNvSpPr txBox="1"/>
          <p:nvPr/>
        </p:nvSpPr>
        <p:spPr>
          <a:xfrm>
            <a:off x="8732519" y="2886151"/>
            <a:ext cx="2453335" cy="841248"/>
          </a:xfrm>
          <a:prstGeom prst="rect">
            <a:avLst/>
          </a:prstGeom>
          <a:noFill/>
        </p:spPr>
        <p:txBody>
          <a:bodyPr wrap="square" lIns="0" rIns="0" tIns="0" bIns="0" anchor="t">
            <a:spAutoFit/>
          </a:bodyPr>
          <a:lstStyle/>
          <a:p>
            <a:pPr algn="l">
              <a:lnSpc>
                <a:spcPct val="100000"/>
              </a:lnSpc>
            </a:pPr>
            <a:r>
              <a:rPr sz="4400" b="1">
                <a:solidFill>
                  <a:srgbClr val="E2571B"/>
                </a:solidFill>
                <a:latin typeface="Noto Sans KR"/>
                <a:ea typeface="Noto Sans KR"/>
                <a:cs typeface="Noto Sans KR"/>
              </a:rPr>
              <a:t>20억 원</a:t>
            </a:r>
          </a:p>
        </p:txBody>
      </p:sp>
      <p:sp>
        <p:nvSpPr>
          <p:cNvPr id="23" name="TextBox 22"/>
          <p:cNvSpPr txBox="1"/>
          <p:nvPr/>
        </p:nvSpPr>
        <p:spPr>
          <a:xfrm>
            <a:off x="8732519" y="3709111"/>
            <a:ext cx="2453335" cy="274320"/>
          </a:xfrm>
          <a:prstGeom prst="rect">
            <a:avLst/>
          </a:prstGeom>
          <a:noFill/>
        </p:spPr>
        <p:txBody>
          <a:bodyPr wrap="square" lIns="0" rIns="0" tIns="0" bIns="0" anchor="t">
            <a:spAutoFit/>
          </a:bodyPr>
          <a:lstStyle/>
          <a:p>
            <a:pPr algn="l">
              <a:lnSpc>
                <a:spcPct val="100000"/>
              </a:lnSpc>
            </a:pPr>
            <a:r>
              <a:rPr sz="1400" b="0">
                <a:solidFill>
                  <a:srgbClr val="F3F3F1"/>
                </a:solidFill>
                <a:latin typeface="Noto Sans KR"/>
                <a:ea typeface="Noto Sans KR"/>
                <a:cs typeface="Noto Sans KR"/>
              </a:rPr>
              <a:t>Seed  ·  24개월</a:t>
            </a:r>
          </a:p>
        </p:txBody>
      </p:sp>
      <p:cxnSp>
        <p:nvCxnSpPr>
          <p:cNvPr id="24" name="Connector 23"/>
          <p:cNvCxnSpPr/>
          <p:nvPr/>
        </p:nvCxnSpPr>
        <p:spPr>
          <a:xfrm>
            <a:off x="8732519" y="4148023"/>
            <a:ext cx="2453336" cy="0"/>
          </a:xfrm>
          <a:prstGeom prst="line">
            <a:avLst/>
          </a:prstGeom>
          <a:ln w="9525">
            <a:solidFill>
              <a:srgbClr val="3A3E44"/>
            </a:solidFill>
          </a:ln>
        </p:spPr>
      </p:cxnSp>
      <p:sp>
        <p:nvSpPr>
          <p:cNvPr id="25" name="TextBox 24"/>
          <p:cNvSpPr txBox="1"/>
          <p:nvPr/>
        </p:nvSpPr>
        <p:spPr>
          <a:xfrm>
            <a:off x="8732519" y="4276039"/>
            <a:ext cx="2453335" cy="274320"/>
          </a:xfrm>
          <a:prstGeom prst="rect">
            <a:avLst/>
          </a:prstGeom>
          <a:noFill/>
        </p:spPr>
        <p:txBody>
          <a:bodyPr wrap="square" lIns="0" rIns="0" tIns="0" bIns="0" anchor="t">
            <a:spAutoFit/>
          </a:bodyPr>
          <a:lstStyle/>
          <a:p>
            <a:pPr algn="l">
              <a:lnSpc>
                <a:spcPct val="100000"/>
              </a:lnSpc>
            </a:pPr>
            <a:r>
              <a:rPr sz="1200" b="0">
                <a:solidFill>
                  <a:srgbClr val="A9AEB5"/>
                </a:solidFill>
                <a:latin typeface="Noto Sans KR"/>
                <a:ea typeface="Noto Sans KR"/>
                <a:cs typeface="Noto Sans KR"/>
              </a:rPr>
              <a:t>24개월 목표</a:t>
            </a:r>
          </a:p>
        </p:txBody>
      </p:sp>
      <p:sp>
        <p:nvSpPr>
          <p:cNvPr id="26" name="TextBox 25"/>
          <p:cNvSpPr txBox="1"/>
          <p:nvPr/>
        </p:nvSpPr>
        <p:spPr>
          <a:xfrm>
            <a:off x="8732519" y="4586935"/>
            <a:ext cx="2453335" cy="1371600"/>
          </a:xfrm>
          <a:prstGeom prst="rect">
            <a:avLst/>
          </a:prstGeom>
          <a:noFill/>
        </p:spPr>
        <p:txBody>
          <a:bodyPr wrap="square" lIns="0" rIns="0" tIns="0" bIns="0" anchor="t">
            <a:spAutoFit/>
          </a:bodyPr>
          <a:lstStyle/>
          <a:p>
            <a:pPr algn="l">
              <a:lnSpc>
                <a:spcPct val="100000"/>
              </a:lnSpc>
              <a:spcAft>
                <a:spcPts val="500"/>
              </a:spcAft>
            </a:pPr>
            <a:r>
              <a:rPr sz="1500" b="0">
                <a:solidFill>
                  <a:srgbClr val="F3F3F1"/>
                </a:solidFill>
                <a:latin typeface="Noto Sans KR"/>
                <a:ea typeface="Noto Sans KR"/>
                <a:cs typeface="Noto Sans KR"/>
              </a:rPr>
              <a:t>유료 PoC 5건</a:t>
            </a:r>
          </a:p>
          <a:p>
            <a:pPr algn="l">
              <a:lnSpc>
                <a:spcPct val="100000"/>
              </a:lnSpc>
              <a:spcAft>
                <a:spcPts val="500"/>
              </a:spcAft>
            </a:pPr>
            <a:r>
              <a:rPr sz="1500" b="0">
                <a:solidFill>
                  <a:srgbClr val="F3F3F1"/>
                </a:solidFill>
                <a:latin typeface="Noto Sans KR"/>
                <a:ea typeface="Noto Sans KR"/>
                <a:cs typeface="Noto Sans KR"/>
              </a:rPr>
              <a:t>재구매 고객 2곳</a:t>
            </a:r>
          </a:p>
          <a:p>
            <a:pPr algn="l">
              <a:lnSpc>
                <a:spcPct val="100000"/>
              </a:lnSpc>
              <a:spcAft>
                <a:spcPts val="500"/>
              </a:spcAft>
            </a:pPr>
            <a:r>
              <a:rPr sz="1500" b="0">
                <a:solidFill>
                  <a:srgbClr val="F3F3F1"/>
                </a:solidFill>
                <a:latin typeface="Noto Sans KR"/>
                <a:ea typeface="Noto Sans KR"/>
                <a:cs typeface="Noto Sans KR"/>
              </a:rPr>
              <a:t>로봇 2종에서 같은 스킬 검증</a:t>
            </a:r>
          </a:p>
          <a:p>
            <a:pPr algn="l">
              <a:lnSpc>
                <a:spcPct val="100000"/>
              </a:lnSpc>
            </a:pPr>
            <a:r>
              <a:rPr sz="1500" b="0">
                <a:solidFill>
                  <a:srgbClr val="F3F3F1"/>
                </a:solidFill>
                <a:latin typeface="Noto Sans KR"/>
                <a:ea typeface="Noto Sans KR"/>
                <a:cs typeface="Noto Sans KR"/>
              </a:rPr>
              <a:t>Series A 준비</a:t>
            </a:r>
          </a:p>
        </p:txBody>
      </p:sp>
      <p:sp>
        <p:nvSpPr>
          <p:cNvPr id="27" name="TextBox 26"/>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SoftHand-4  |  Seed 투자 제안서</a:t>
            </a:r>
          </a:p>
        </p:txBody>
      </p:sp>
      <p:sp>
        <p:nvSpPr>
          <p:cNvPr id="28" name="TextBox 27"/>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48640"/>
            <a:ext cx="7315200" cy="274320"/>
          </a:xfrm>
          <a:prstGeom prst="rect">
            <a:avLst/>
          </a:prstGeom>
          <a:noFill/>
        </p:spPr>
        <p:txBody>
          <a:bodyPr wrap="square" lIns="0" rIns="0" tIns="0" bIns="0" anchor="t">
            <a:spAutoFit/>
          </a:bodyPr>
          <a:lstStyle/>
          <a:p>
            <a:pPr algn="l">
              <a:lnSpc>
                <a:spcPct val="100000"/>
              </a:lnSpc>
            </a:pPr>
            <a:r>
              <a:rPr sz="1200" b="1">
                <a:solidFill>
                  <a:srgbClr val="E2571B"/>
                </a:solidFill>
                <a:latin typeface="Noto Sans KR"/>
                <a:ea typeface="Noto Sans KR"/>
                <a:cs typeface="Noto Sans KR"/>
              </a:rPr>
              <a:t>문제</a:t>
            </a:r>
          </a:p>
        </p:txBody>
      </p:sp>
      <p:sp>
        <p:nvSpPr>
          <p:cNvPr id="3" name="TextBox 2"/>
          <p:cNvSpPr txBox="1"/>
          <p:nvPr/>
        </p:nvSpPr>
        <p:spPr>
          <a:xfrm>
            <a:off x="685800" y="932688"/>
            <a:ext cx="10820095" cy="542391"/>
          </a:xfrm>
          <a:prstGeom prst="rect">
            <a:avLst/>
          </a:prstGeom>
          <a:noFill/>
        </p:spPr>
        <p:txBody>
          <a:bodyPr wrap="square" lIns="0" rIns="0" tIns="0" bIns="0" anchor="t">
            <a:spAutoFit/>
          </a:bodyPr>
          <a:lstStyle/>
          <a:p>
            <a:pPr algn="l">
              <a:lnSpc>
                <a:spcPct val="95000"/>
              </a:lnSpc>
            </a:pPr>
            <a:r>
              <a:rPr sz="3000" b="1">
                <a:solidFill>
                  <a:srgbClr val="15171A"/>
                </a:solidFill>
                <a:latin typeface="Noto Sans KR"/>
                <a:ea typeface="Noto Sans KR"/>
                <a:cs typeface="Noto Sans KR"/>
              </a:rPr>
              <a:t>로봇 도입마다 반복되는 설비 재설계</a:t>
            </a:r>
          </a:p>
        </p:txBody>
      </p:sp>
      <p:sp>
        <p:nvSpPr>
          <p:cNvPr id="4" name="TextBox 3"/>
          <p:cNvSpPr txBox="1"/>
          <p:nvPr/>
        </p:nvSpPr>
        <p:spPr>
          <a:xfrm>
            <a:off x="685800" y="1584807"/>
            <a:ext cx="10820095" cy="329184"/>
          </a:xfrm>
          <a:prstGeom prst="rect">
            <a:avLst/>
          </a:prstGeom>
          <a:noFill/>
        </p:spPr>
        <p:txBody>
          <a:bodyPr wrap="square" lIns="0" rIns="0" tIns="0" bIns="0" anchor="t">
            <a:spAutoFit/>
          </a:bodyPr>
          <a:lstStyle/>
          <a:p>
            <a:pPr algn="l">
              <a:lnSpc>
                <a:spcPct val="100000"/>
              </a:lnSpc>
            </a:pPr>
            <a:r>
              <a:rPr sz="1600" b="0">
                <a:solidFill>
                  <a:srgbClr val="4A4F57"/>
                </a:solidFill>
                <a:latin typeface="Noto Sans KR"/>
                <a:ea typeface="Noto Sans KR"/>
                <a:cs typeface="Noto Sans KR"/>
              </a:rPr>
              <a:t>품목이 바뀌면 같은 과정을 처음부터 반복</a:t>
            </a:r>
          </a:p>
        </p:txBody>
      </p:sp>
      <p:cxnSp>
        <p:nvCxnSpPr>
          <p:cNvPr id="5" name="Connector 4"/>
          <p:cNvCxnSpPr/>
          <p:nvPr/>
        </p:nvCxnSpPr>
        <p:spPr>
          <a:xfrm>
            <a:off x="685800" y="2416911"/>
            <a:ext cx="7086600" cy="0"/>
          </a:xfrm>
          <a:prstGeom prst="line">
            <a:avLst/>
          </a:prstGeom>
          <a:ln w="15875">
            <a:solidFill>
              <a:srgbClr val="15171A"/>
            </a:solidFill>
          </a:ln>
        </p:spPr>
      </p:cxnSp>
      <p:sp>
        <p:nvSpPr>
          <p:cNvPr id="6" name="Oval 5"/>
          <p:cNvSpPr/>
          <p:nvPr/>
        </p:nvSpPr>
        <p:spPr>
          <a:xfrm>
            <a:off x="685800" y="2371191"/>
            <a:ext cx="91440" cy="91440"/>
          </a:xfrm>
          <a:prstGeom prst="ellipse">
            <a:avLst/>
          </a:prstGeom>
          <a:solidFill>
            <a:srgbClr val="15171A"/>
          </a:solidFill>
          <a:ln>
            <a:noFill/>
          </a:ln>
        </p:spPr>
        <p:txBody>
          <a:bodyPr rtlCol="0" anchor="ctr"/>
          <a:lstStyle/>
          <a:p>
            <a:pPr algn="ctr"/>
          </a:p>
        </p:txBody>
      </p:sp>
      <p:sp>
        <p:nvSpPr>
          <p:cNvPr id="7" name="TextBox 6"/>
          <p:cNvSpPr txBox="1"/>
          <p:nvPr/>
        </p:nvSpPr>
        <p:spPr>
          <a:xfrm>
            <a:off x="685800" y="2032863"/>
            <a:ext cx="1325880" cy="237744"/>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01</a:t>
            </a:r>
          </a:p>
        </p:txBody>
      </p:sp>
      <p:sp>
        <p:nvSpPr>
          <p:cNvPr id="8" name="TextBox 7"/>
          <p:cNvSpPr txBox="1"/>
          <p:nvPr/>
        </p:nvSpPr>
        <p:spPr>
          <a:xfrm>
            <a:off x="685800" y="2599791"/>
            <a:ext cx="1307592" cy="292608"/>
          </a:xfrm>
          <a:prstGeom prst="rect">
            <a:avLst/>
          </a:prstGeom>
          <a:noFill/>
        </p:spPr>
        <p:txBody>
          <a:bodyPr wrap="square" lIns="0" rIns="0" tIns="0" bIns="0" anchor="t">
            <a:spAutoFit/>
          </a:bodyPr>
          <a:lstStyle/>
          <a:p>
            <a:pPr algn="l">
              <a:lnSpc>
                <a:spcPct val="100000"/>
              </a:lnSpc>
            </a:pPr>
            <a:r>
              <a:rPr sz="1500" b="1">
                <a:solidFill>
                  <a:srgbClr val="15171A"/>
                </a:solidFill>
                <a:latin typeface="Noto Sans KR"/>
                <a:ea typeface="Noto Sans KR"/>
                <a:cs typeface="Noto Sans KR"/>
              </a:rPr>
              <a:t>전용 그리퍼</a:t>
            </a:r>
          </a:p>
        </p:txBody>
      </p:sp>
      <p:sp>
        <p:nvSpPr>
          <p:cNvPr id="9" name="TextBox 8"/>
          <p:cNvSpPr txBox="1"/>
          <p:nvPr/>
        </p:nvSpPr>
        <p:spPr>
          <a:xfrm>
            <a:off x="685800" y="2947263"/>
            <a:ext cx="1307592" cy="548640"/>
          </a:xfrm>
          <a:prstGeom prst="rect">
            <a:avLst/>
          </a:prstGeom>
          <a:noFill/>
        </p:spPr>
        <p:txBody>
          <a:bodyPr wrap="square" lIns="0" rIns="0" tIns="0" bIns="0" anchor="t">
            <a:spAutoFit/>
          </a:bodyPr>
          <a:lstStyle/>
          <a:p>
            <a:pPr algn="l">
              <a:lnSpc>
                <a:spcPct val="100000"/>
              </a:lnSpc>
            </a:pPr>
            <a:r>
              <a:rPr sz="1200" b="0">
                <a:solidFill>
                  <a:srgbClr val="4A4F57"/>
                </a:solidFill>
                <a:latin typeface="Noto Sans KR"/>
                <a:ea typeface="Noto Sans KR"/>
                <a:cs typeface="Noto Sans KR"/>
              </a:rPr>
              <a:t>부품 모양별</a:t>
            </a:r>
          </a:p>
          <a:p>
            <a:pPr algn="l">
              <a:lnSpc>
                <a:spcPct val="100000"/>
              </a:lnSpc>
            </a:pPr>
            <a:r>
              <a:rPr sz="1200" b="0">
                <a:solidFill>
                  <a:srgbClr val="4A4F57"/>
                </a:solidFill>
                <a:latin typeface="Noto Sans KR"/>
                <a:ea typeface="Noto Sans KR"/>
                <a:cs typeface="Noto Sans KR"/>
              </a:rPr>
              <a:t>신규 제작</a:t>
            </a:r>
          </a:p>
        </p:txBody>
      </p:sp>
      <p:sp>
        <p:nvSpPr>
          <p:cNvPr id="10" name="Oval 9"/>
          <p:cNvSpPr/>
          <p:nvPr/>
        </p:nvSpPr>
        <p:spPr>
          <a:xfrm>
            <a:off x="2103120" y="2371191"/>
            <a:ext cx="91440" cy="91440"/>
          </a:xfrm>
          <a:prstGeom prst="ellipse">
            <a:avLst/>
          </a:prstGeom>
          <a:solidFill>
            <a:srgbClr val="15171A"/>
          </a:solidFill>
          <a:ln>
            <a:noFill/>
          </a:ln>
        </p:spPr>
        <p:txBody>
          <a:bodyPr rtlCol="0" anchor="ctr"/>
          <a:lstStyle/>
          <a:p>
            <a:pPr algn="ctr"/>
          </a:p>
        </p:txBody>
      </p:sp>
      <p:sp>
        <p:nvSpPr>
          <p:cNvPr id="11" name="TextBox 10"/>
          <p:cNvSpPr txBox="1"/>
          <p:nvPr/>
        </p:nvSpPr>
        <p:spPr>
          <a:xfrm>
            <a:off x="2103120" y="2032863"/>
            <a:ext cx="1325880" cy="237744"/>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02</a:t>
            </a:r>
          </a:p>
        </p:txBody>
      </p:sp>
      <p:sp>
        <p:nvSpPr>
          <p:cNvPr id="12" name="TextBox 11"/>
          <p:cNvSpPr txBox="1"/>
          <p:nvPr/>
        </p:nvSpPr>
        <p:spPr>
          <a:xfrm>
            <a:off x="2103120" y="2599791"/>
            <a:ext cx="1307592" cy="292608"/>
          </a:xfrm>
          <a:prstGeom prst="rect">
            <a:avLst/>
          </a:prstGeom>
          <a:noFill/>
        </p:spPr>
        <p:txBody>
          <a:bodyPr wrap="square" lIns="0" rIns="0" tIns="0" bIns="0" anchor="t">
            <a:spAutoFit/>
          </a:bodyPr>
          <a:lstStyle/>
          <a:p>
            <a:pPr algn="l">
              <a:lnSpc>
                <a:spcPct val="100000"/>
              </a:lnSpc>
            </a:pPr>
            <a:r>
              <a:rPr sz="1500" b="1">
                <a:solidFill>
                  <a:srgbClr val="15171A"/>
                </a:solidFill>
                <a:latin typeface="Noto Sans KR"/>
                <a:ea typeface="Noto Sans KR"/>
                <a:cs typeface="Noto Sans KR"/>
              </a:rPr>
              <a:t>지그·고정구</a:t>
            </a:r>
          </a:p>
        </p:txBody>
      </p:sp>
      <p:sp>
        <p:nvSpPr>
          <p:cNvPr id="13" name="TextBox 12"/>
          <p:cNvSpPr txBox="1"/>
          <p:nvPr/>
        </p:nvSpPr>
        <p:spPr>
          <a:xfrm>
            <a:off x="2103120" y="2947263"/>
            <a:ext cx="1307592" cy="548640"/>
          </a:xfrm>
          <a:prstGeom prst="rect">
            <a:avLst/>
          </a:prstGeom>
          <a:noFill/>
        </p:spPr>
        <p:txBody>
          <a:bodyPr wrap="square" lIns="0" rIns="0" tIns="0" bIns="0" anchor="t">
            <a:spAutoFit/>
          </a:bodyPr>
          <a:lstStyle/>
          <a:p>
            <a:pPr algn="l">
              <a:lnSpc>
                <a:spcPct val="100000"/>
              </a:lnSpc>
            </a:pPr>
            <a:r>
              <a:rPr sz="1200" b="0">
                <a:solidFill>
                  <a:srgbClr val="4A4F57"/>
                </a:solidFill>
                <a:latin typeface="Noto Sans KR"/>
                <a:ea typeface="Noto Sans KR"/>
                <a:cs typeface="Noto Sans KR"/>
              </a:rPr>
              <a:t>위치 맞춤용</a:t>
            </a:r>
          </a:p>
          <a:p>
            <a:pPr algn="l">
              <a:lnSpc>
                <a:spcPct val="100000"/>
              </a:lnSpc>
            </a:pPr>
            <a:r>
              <a:rPr sz="1200" b="0">
                <a:solidFill>
                  <a:srgbClr val="4A4F57"/>
                </a:solidFill>
                <a:latin typeface="Noto Sans KR"/>
                <a:ea typeface="Noto Sans KR"/>
                <a:cs typeface="Noto Sans KR"/>
              </a:rPr>
              <a:t>치공구 제작</a:t>
            </a:r>
          </a:p>
        </p:txBody>
      </p:sp>
      <p:sp>
        <p:nvSpPr>
          <p:cNvPr id="14" name="Oval 13"/>
          <p:cNvSpPr/>
          <p:nvPr/>
        </p:nvSpPr>
        <p:spPr>
          <a:xfrm>
            <a:off x="3520440" y="2371191"/>
            <a:ext cx="91440" cy="91440"/>
          </a:xfrm>
          <a:prstGeom prst="ellipse">
            <a:avLst/>
          </a:prstGeom>
          <a:solidFill>
            <a:srgbClr val="15171A"/>
          </a:solidFill>
          <a:ln>
            <a:noFill/>
          </a:ln>
        </p:spPr>
        <p:txBody>
          <a:bodyPr rtlCol="0" anchor="ctr"/>
          <a:lstStyle/>
          <a:p>
            <a:pPr algn="ctr"/>
          </a:p>
        </p:txBody>
      </p:sp>
      <p:sp>
        <p:nvSpPr>
          <p:cNvPr id="15" name="TextBox 14"/>
          <p:cNvSpPr txBox="1"/>
          <p:nvPr/>
        </p:nvSpPr>
        <p:spPr>
          <a:xfrm>
            <a:off x="3520440" y="2032863"/>
            <a:ext cx="1325880" cy="237744"/>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03</a:t>
            </a:r>
          </a:p>
        </p:txBody>
      </p:sp>
      <p:sp>
        <p:nvSpPr>
          <p:cNvPr id="16" name="TextBox 15"/>
          <p:cNvSpPr txBox="1"/>
          <p:nvPr/>
        </p:nvSpPr>
        <p:spPr>
          <a:xfrm>
            <a:off x="3520440" y="2599791"/>
            <a:ext cx="1307592" cy="292608"/>
          </a:xfrm>
          <a:prstGeom prst="rect">
            <a:avLst/>
          </a:prstGeom>
          <a:noFill/>
        </p:spPr>
        <p:txBody>
          <a:bodyPr wrap="square" lIns="0" rIns="0" tIns="0" bIns="0" anchor="t">
            <a:spAutoFit/>
          </a:bodyPr>
          <a:lstStyle/>
          <a:p>
            <a:pPr algn="l">
              <a:lnSpc>
                <a:spcPct val="100000"/>
              </a:lnSpc>
            </a:pPr>
            <a:r>
              <a:rPr sz="1500" b="1">
                <a:solidFill>
                  <a:srgbClr val="15171A"/>
                </a:solidFill>
                <a:latin typeface="Noto Sans KR"/>
                <a:ea typeface="Noto Sans KR"/>
                <a:cs typeface="Noto Sans KR"/>
              </a:rPr>
              <a:t>설비 개조</a:t>
            </a:r>
          </a:p>
        </p:txBody>
      </p:sp>
      <p:sp>
        <p:nvSpPr>
          <p:cNvPr id="17" name="TextBox 16"/>
          <p:cNvSpPr txBox="1"/>
          <p:nvPr/>
        </p:nvSpPr>
        <p:spPr>
          <a:xfrm>
            <a:off x="3520440" y="2947263"/>
            <a:ext cx="1307592" cy="548640"/>
          </a:xfrm>
          <a:prstGeom prst="rect">
            <a:avLst/>
          </a:prstGeom>
          <a:noFill/>
        </p:spPr>
        <p:txBody>
          <a:bodyPr wrap="square" lIns="0" rIns="0" tIns="0" bIns="0" anchor="t">
            <a:spAutoFit/>
          </a:bodyPr>
          <a:lstStyle/>
          <a:p>
            <a:pPr algn="l">
              <a:lnSpc>
                <a:spcPct val="100000"/>
              </a:lnSpc>
            </a:pPr>
            <a:r>
              <a:rPr sz="1200" b="0">
                <a:solidFill>
                  <a:srgbClr val="4A4F57"/>
                </a:solidFill>
                <a:latin typeface="Noto Sans KR"/>
                <a:ea typeface="Noto Sans KR"/>
                <a:cs typeface="Noto Sans KR"/>
              </a:rPr>
              <a:t>자동문·센서·</a:t>
            </a:r>
          </a:p>
          <a:p>
            <a:pPr algn="l">
              <a:lnSpc>
                <a:spcPct val="100000"/>
              </a:lnSpc>
            </a:pPr>
            <a:r>
              <a:rPr sz="1200" b="0">
                <a:solidFill>
                  <a:srgbClr val="4A4F57"/>
                </a:solidFill>
                <a:latin typeface="Noto Sans KR"/>
                <a:ea typeface="Noto Sans KR"/>
                <a:cs typeface="Noto Sans KR"/>
              </a:rPr>
              <a:t>구동기 추가</a:t>
            </a:r>
          </a:p>
        </p:txBody>
      </p:sp>
      <p:sp>
        <p:nvSpPr>
          <p:cNvPr id="18" name="Oval 17"/>
          <p:cNvSpPr/>
          <p:nvPr/>
        </p:nvSpPr>
        <p:spPr>
          <a:xfrm>
            <a:off x="4937760" y="2371191"/>
            <a:ext cx="91440" cy="91440"/>
          </a:xfrm>
          <a:prstGeom prst="ellipse">
            <a:avLst/>
          </a:prstGeom>
          <a:solidFill>
            <a:srgbClr val="15171A"/>
          </a:solidFill>
          <a:ln>
            <a:noFill/>
          </a:ln>
        </p:spPr>
        <p:txBody>
          <a:bodyPr rtlCol="0" anchor="ctr"/>
          <a:lstStyle/>
          <a:p>
            <a:pPr algn="ctr"/>
          </a:p>
        </p:txBody>
      </p:sp>
      <p:sp>
        <p:nvSpPr>
          <p:cNvPr id="19" name="TextBox 18"/>
          <p:cNvSpPr txBox="1"/>
          <p:nvPr/>
        </p:nvSpPr>
        <p:spPr>
          <a:xfrm>
            <a:off x="4937760" y="2032863"/>
            <a:ext cx="1325880" cy="237744"/>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04</a:t>
            </a:r>
          </a:p>
        </p:txBody>
      </p:sp>
      <p:sp>
        <p:nvSpPr>
          <p:cNvPr id="20" name="TextBox 19"/>
          <p:cNvSpPr txBox="1"/>
          <p:nvPr/>
        </p:nvSpPr>
        <p:spPr>
          <a:xfrm>
            <a:off x="4937760" y="2599791"/>
            <a:ext cx="1307592" cy="292608"/>
          </a:xfrm>
          <a:prstGeom prst="rect">
            <a:avLst/>
          </a:prstGeom>
          <a:noFill/>
        </p:spPr>
        <p:txBody>
          <a:bodyPr wrap="square" lIns="0" rIns="0" tIns="0" bIns="0" anchor="t">
            <a:spAutoFit/>
          </a:bodyPr>
          <a:lstStyle/>
          <a:p>
            <a:pPr algn="l">
              <a:lnSpc>
                <a:spcPct val="100000"/>
              </a:lnSpc>
            </a:pPr>
            <a:r>
              <a:rPr sz="1500" b="1">
                <a:solidFill>
                  <a:srgbClr val="15171A"/>
                </a:solidFill>
                <a:latin typeface="Noto Sans KR"/>
                <a:ea typeface="Noto Sans KR"/>
                <a:cs typeface="Noto Sans KR"/>
              </a:rPr>
              <a:t>프로그래밍</a:t>
            </a:r>
          </a:p>
        </p:txBody>
      </p:sp>
      <p:sp>
        <p:nvSpPr>
          <p:cNvPr id="21" name="TextBox 20"/>
          <p:cNvSpPr txBox="1"/>
          <p:nvPr/>
        </p:nvSpPr>
        <p:spPr>
          <a:xfrm>
            <a:off x="4937760" y="2947263"/>
            <a:ext cx="1307592" cy="548640"/>
          </a:xfrm>
          <a:prstGeom prst="rect">
            <a:avLst/>
          </a:prstGeom>
          <a:noFill/>
        </p:spPr>
        <p:txBody>
          <a:bodyPr wrap="square" lIns="0" rIns="0" tIns="0" bIns="0" anchor="t">
            <a:spAutoFit/>
          </a:bodyPr>
          <a:lstStyle/>
          <a:p>
            <a:pPr algn="l">
              <a:lnSpc>
                <a:spcPct val="100000"/>
              </a:lnSpc>
            </a:pPr>
            <a:r>
              <a:rPr sz="1200" b="0">
                <a:solidFill>
                  <a:srgbClr val="4A4F57"/>
                </a:solidFill>
                <a:latin typeface="Noto Sans KR"/>
                <a:ea typeface="Noto Sans KR"/>
                <a:cs typeface="Noto Sans KR"/>
              </a:rPr>
              <a:t>로봇 동작</a:t>
            </a:r>
          </a:p>
          <a:p>
            <a:pPr algn="l">
              <a:lnSpc>
                <a:spcPct val="100000"/>
              </a:lnSpc>
            </a:pPr>
            <a:r>
              <a:rPr sz="1200" b="0">
                <a:solidFill>
                  <a:srgbClr val="4A4F57"/>
                </a:solidFill>
                <a:latin typeface="Noto Sans KR"/>
                <a:ea typeface="Noto Sans KR"/>
                <a:cs typeface="Noto Sans KR"/>
              </a:rPr>
              <a:t>재입력(티칭)</a:t>
            </a:r>
          </a:p>
        </p:txBody>
      </p:sp>
      <p:sp>
        <p:nvSpPr>
          <p:cNvPr id="22" name="Oval 21"/>
          <p:cNvSpPr/>
          <p:nvPr/>
        </p:nvSpPr>
        <p:spPr>
          <a:xfrm>
            <a:off x="6355080" y="2371191"/>
            <a:ext cx="91440" cy="91440"/>
          </a:xfrm>
          <a:prstGeom prst="ellipse">
            <a:avLst/>
          </a:prstGeom>
          <a:solidFill>
            <a:srgbClr val="15171A"/>
          </a:solidFill>
          <a:ln>
            <a:noFill/>
          </a:ln>
        </p:spPr>
        <p:txBody>
          <a:bodyPr rtlCol="0" anchor="ctr"/>
          <a:lstStyle/>
          <a:p>
            <a:pPr algn="ctr"/>
          </a:p>
        </p:txBody>
      </p:sp>
      <p:sp>
        <p:nvSpPr>
          <p:cNvPr id="23" name="TextBox 22"/>
          <p:cNvSpPr txBox="1"/>
          <p:nvPr/>
        </p:nvSpPr>
        <p:spPr>
          <a:xfrm>
            <a:off x="6355080" y="2032863"/>
            <a:ext cx="1325880" cy="237744"/>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05</a:t>
            </a:r>
          </a:p>
        </p:txBody>
      </p:sp>
      <p:sp>
        <p:nvSpPr>
          <p:cNvPr id="24" name="TextBox 23"/>
          <p:cNvSpPr txBox="1"/>
          <p:nvPr/>
        </p:nvSpPr>
        <p:spPr>
          <a:xfrm>
            <a:off x="6355080" y="2599791"/>
            <a:ext cx="1307592" cy="292608"/>
          </a:xfrm>
          <a:prstGeom prst="rect">
            <a:avLst/>
          </a:prstGeom>
          <a:noFill/>
        </p:spPr>
        <p:txBody>
          <a:bodyPr wrap="square" lIns="0" rIns="0" tIns="0" bIns="0" anchor="t">
            <a:spAutoFit/>
          </a:bodyPr>
          <a:lstStyle/>
          <a:p>
            <a:pPr algn="l">
              <a:lnSpc>
                <a:spcPct val="100000"/>
              </a:lnSpc>
            </a:pPr>
            <a:r>
              <a:rPr sz="1500" b="1">
                <a:solidFill>
                  <a:srgbClr val="15171A"/>
                </a:solidFill>
                <a:latin typeface="Noto Sans KR"/>
                <a:ea typeface="Noto Sans KR"/>
                <a:cs typeface="Noto Sans KR"/>
              </a:rPr>
              <a:t>시운전·검증</a:t>
            </a:r>
          </a:p>
        </p:txBody>
      </p:sp>
      <p:sp>
        <p:nvSpPr>
          <p:cNvPr id="25" name="TextBox 24"/>
          <p:cNvSpPr txBox="1"/>
          <p:nvPr/>
        </p:nvSpPr>
        <p:spPr>
          <a:xfrm>
            <a:off x="6355080" y="2947263"/>
            <a:ext cx="1307592" cy="548640"/>
          </a:xfrm>
          <a:prstGeom prst="rect">
            <a:avLst/>
          </a:prstGeom>
          <a:noFill/>
        </p:spPr>
        <p:txBody>
          <a:bodyPr wrap="square" lIns="0" rIns="0" tIns="0" bIns="0" anchor="t">
            <a:spAutoFit/>
          </a:bodyPr>
          <a:lstStyle/>
          <a:p>
            <a:pPr algn="l">
              <a:lnSpc>
                <a:spcPct val="100000"/>
              </a:lnSpc>
            </a:pPr>
            <a:r>
              <a:rPr sz="1200" b="0">
                <a:solidFill>
                  <a:srgbClr val="4A4F57"/>
                </a:solidFill>
                <a:latin typeface="Noto Sans KR"/>
                <a:ea typeface="Noto Sans KR"/>
                <a:cs typeface="Noto Sans KR"/>
              </a:rPr>
              <a:t>라인 정지 후</a:t>
            </a:r>
          </a:p>
          <a:p>
            <a:pPr algn="l">
              <a:lnSpc>
                <a:spcPct val="100000"/>
              </a:lnSpc>
            </a:pPr>
            <a:r>
              <a:rPr sz="1200" b="0">
                <a:solidFill>
                  <a:srgbClr val="4A4F57"/>
                </a:solidFill>
                <a:latin typeface="Noto Sans KR"/>
                <a:ea typeface="Noto Sans KR"/>
                <a:cs typeface="Noto Sans KR"/>
              </a:rPr>
              <a:t>반복 시험</a:t>
            </a:r>
          </a:p>
        </p:txBody>
      </p:sp>
      <p:pic>
        <p:nvPicPr>
          <p:cNvPr id="26" name="Picture 25" descr="hero02_dedicated_grippers.png"/>
          <p:cNvPicPr>
            <a:picLocks noChangeAspect="1"/>
          </p:cNvPicPr>
          <p:nvPr/>
        </p:nvPicPr>
        <p:blipFill>
          <a:blip r:embed="rId2"/>
          <a:stretch>
            <a:fillRect/>
          </a:stretch>
        </p:blipFill>
        <p:spPr>
          <a:xfrm>
            <a:off x="685800" y="3651351"/>
            <a:ext cx="3602604" cy="2514600"/>
          </a:xfrm>
          <a:prstGeom prst="rect">
            <a:avLst/>
          </a:prstGeom>
        </p:spPr>
      </p:pic>
      <p:sp>
        <p:nvSpPr>
          <p:cNvPr id="27" name="TextBox 26"/>
          <p:cNvSpPr txBox="1"/>
          <p:nvPr/>
        </p:nvSpPr>
        <p:spPr>
          <a:xfrm>
            <a:off x="5760720" y="4565751"/>
            <a:ext cx="2011680" cy="822960"/>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작업별로 새로 만드는</a:t>
            </a:r>
          </a:p>
          <a:p>
            <a:pPr algn="l">
              <a:lnSpc>
                <a:spcPct val="100000"/>
              </a:lnSpc>
            </a:pPr>
            <a:r>
              <a:rPr sz="1300" b="0">
                <a:solidFill>
                  <a:srgbClr val="4A4F57"/>
                </a:solidFill>
                <a:latin typeface="Noto Sans KR"/>
                <a:ea typeface="Noto Sans KR"/>
                <a:cs typeface="Noto Sans KR"/>
              </a:rPr>
              <a:t>전용 그리퍼와 지그</a:t>
            </a:r>
          </a:p>
        </p:txBody>
      </p:sp>
      <p:cxnSp>
        <p:nvCxnSpPr>
          <p:cNvPr id="28" name="Connector 27"/>
          <p:cNvCxnSpPr/>
          <p:nvPr/>
        </p:nvCxnSpPr>
        <p:spPr>
          <a:xfrm>
            <a:off x="8001000" y="2096871"/>
            <a:ext cx="0" cy="4206240"/>
          </a:xfrm>
          <a:prstGeom prst="line">
            <a:avLst/>
          </a:prstGeom>
          <a:ln w="9525">
            <a:solidFill>
              <a:srgbClr val="E2E4E7"/>
            </a:solidFill>
          </a:ln>
        </p:spPr>
      </p:cxnSp>
      <p:sp>
        <p:nvSpPr>
          <p:cNvPr id="29" name="TextBox 28"/>
          <p:cNvSpPr txBox="1"/>
          <p:nvPr/>
        </p:nvSpPr>
        <p:spPr>
          <a:xfrm>
            <a:off x="8412480" y="2023719"/>
            <a:ext cx="3093415" cy="1371600"/>
          </a:xfrm>
          <a:prstGeom prst="rect">
            <a:avLst/>
          </a:prstGeom>
          <a:noFill/>
        </p:spPr>
        <p:txBody>
          <a:bodyPr wrap="square" lIns="0" rIns="0" tIns="0" bIns="0" anchor="t">
            <a:spAutoFit/>
          </a:bodyPr>
          <a:lstStyle/>
          <a:p>
            <a:pPr algn="l">
              <a:lnSpc>
                <a:spcPct val="90000"/>
              </a:lnSpc>
            </a:pPr>
            <a:r>
              <a:rPr sz="8000" b="1">
                <a:solidFill>
                  <a:srgbClr val="E2571B"/>
                </a:solidFill>
                <a:latin typeface="Noto Sans KR"/>
                <a:ea typeface="Noto Sans KR"/>
                <a:cs typeface="Noto Sans KR"/>
              </a:rPr>
              <a:t>75%</a:t>
            </a:r>
          </a:p>
        </p:txBody>
      </p:sp>
      <p:sp>
        <p:nvSpPr>
          <p:cNvPr id="30" name="TextBox 29"/>
          <p:cNvSpPr txBox="1"/>
          <p:nvPr/>
        </p:nvSpPr>
        <p:spPr>
          <a:xfrm>
            <a:off x="8412480" y="3395319"/>
            <a:ext cx="3093415" cy="777240"/>
          </a:xfrm>
          <a:prstGeom prst="rect">
            <a:avLst/>
          </a:prstGeom>
          <a:noFill/>
        </p:spPr>
        <p:txBody>
          <a:bodyPr wrap="square" lIns="0" rIns="0" tIns="0" bIns="0" anchor="t">
            <a:spAutoFit/>
          </a:bodyPr>
          <a:lstStyle/>
          <a:p>
            <a:pPr algn="l">
              <a:lnSpc>
                <a:spcPct val="100000"/>
              </a:lnSpc>
            </a:pPr>
            <a:r>
              <a:rPr sz="1500" b="0">
                <a:solidFill>
                  <a:srgbClr val="15171A"/>
                </a:solidFill>
                <a:latin typeface="Noto Sans KR"/>
                <a:ea typeface="Noto Sans KR"/>
                <a:cs typeface="Noto Sans KR"/>
              </a:rPr>
              <a:t>로봇 도입 총비용(TCO) 중</a:t>
            </a:r>
          </a:p>
          <a:p>
            <a:pPr algn="l">
              <a:lnSpc>
                <a:spcPct val="100000"/>
              </a:lnSpc>
            </a:pPr>
            <a:r>
              <a:rPr sz="1500" b="0">
                <a:solidFill>
                  <a:srgbClr val="15171A"/>
                </a:solidFill>
                <a:latin typeface="Noto Sans KR"/>
                <a:ea typeface="Noto Sans KR"/>
                <a:cs typeface="Noto Sans KR"/>
              </a:rPr>
              <a:t>초기 셋업·재설계 비중</a:t>
            </a:r>
          </a:p>
        </p:txBody>
      </p:sp>
      <p:sp>
        <p:nvSpPr>
          <p:cNvPr id="31" name="TextBox 30"/>
          <p:cNvSpPr txBox="1"/>
          <p:nvPr/>
        </p:nvSpPr>
        <p:spPr>
          <a:xfrm>
            <a:off x="8412480" y="4199991"/>
            <a:ext cx="3093415" cy="228600"/>
          </a:xfrm>
          <a:prstGeom prst="rect">
            <a:avLst/>
          </a:prstGeom>
          <a:noFill/>
        </p:spPr>
        <p:txBody>
          <a:bodyPr wrap="square" lIns="0" rIns="0" tIns="0" bIns="0" anchor="t">
            <a:spAutoFit/>
          </a:bodyPr>
          <a:lstStyle/>
          <a:p>
            <a:pPr algn="l">
              <a:lnSpc>
                <a:spcPct val="100000"/>
              </a:lnSpc>
            </a:pPr>
            <a:r>
              <a:rPr sz="1000" b="0">
                <a:solidFill>
                  <a:srgbClr val="8C9198"/>
                </a:solidFill>
                <a:latin typeface="Noto Sans KR"/>
                <a:ea typeface="Noto Sans KR"/>
                <a:cs typeface="Noto Sans KR"/>
              </a:rPr>
              <a:t>출처: BCG, 2026년 4월</a:t>
            </a:r>
          </a:p>
        </p:txBody>
      </p:sp>
      <p:sp>
        <p:nvSpPr>
          <p:cNvPr id="32" name="TextBox 31"/>
          <p:cNvSpPr txBox="1"/>
          <p:nvPr/>
        </p:nvSpPr>
        <p:spPr>
          <a:xfrm>
            <a:off x="8412480" y="4702911"/>
            <a:ext cx="3093415" cy="914400"/>
          </a:xfrm>
          <a:prstGeom prst="rect">
            <a:avLst/>
          </a:prstGeom>
          <a:noFill/>
        </p:spPr>
        <p:txBody>
          <a:bodyPr wrap="square" lIns="0" rIns="0" tIns="0" bIns="0" anchor="t">
            <a:spAutoFit/>
          </a:bodyPr>
          <a:lstStyle/>
          <a:p>
            <a:pPr algn="l" marL="201168" indent="-201168">
              <a:lnSpc>
                <a:spcPct val="100000"/>
              </a:lnSpc>
              <a:spcAft>
                <a:spcPts val="600"/>
              </a:spcAft>
              <a:buClr>
                <a:srgbClr val="8C9198"/>
              </a:buClr>
              <a:buFont typeface="Noto Sans KR"/>
              <a:buChar char="–"/>
            </a:pPr>
            <a:r>
              <a:rPr sz="1300" b="0">
                <a:solidFill>
                  <a:srgbClr val="4A4F57"/>
                </a:solidFill>
                <a:latin typeface="Noto Sans KR"/>
                <a:ea typeface="Noto Sans KR"/>
                <a:cs typeface="Noto Sans KR"/>
              </a:rPr>
              <a:t>비용 대부분이 설비 맞춤 작업에서 발생</a:t>
            </a:r>
          </a:p>
          <a:p>
            <a:pPr algn="l" marL="201168" indent="-201168">
              <a:lnSpc>
                <a:spcPct val="100000"/>
              </a:lnSpc>
              <a:buClr>
                <a:srgbClr val="8C9198"/>
              </a:buClr>
              <a:buFont typeface="Noto Sans KR"/>
              <a:buChar char="–"/>
            </a:pPr>
            <a:r>
              <a:rPr sz="1300" b="0">
                <a:solidFill>
                  <a:srgbClr val="4A4F57"/>
                </a:solidFill>
                <a:latin typeface="Noto Sans KR"/>
                <a:ea typeface="Noto Sans KR"/>
                <a:cs typeface="Noto Sans KR"/>
              </a:rPr>
              <a:t>품목 전환이 잦을수록 자동화 지연</a:t>
            </a:r>
          </a:p>
        </p:txBody>
      </p:sp>
      <p:sp>
        <p:nvSpPr>
          <p:cNvPr id="33" name="TextBox 32"/>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SoftHand-4  |  Seed 투자 제안서</a:t>
            </a:r>
          </a:p>
        </p:txBody>
      </p:sp>
      <p:sp>
        <p:nvSpPr>
          <p:cNvPr id="34" name="TextBox 33"/>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48640"/>
            <a:ext cx="7315200" cy="274320"/>
          </a:xfrm>
          <a:prstGeom prst="rect">
            <a:avLst/>
          </a:prstGeom>
          <a:noFill/>
        </p:spPr>
        <p:txBody>
          <a:bodyPr wrap="square" lIns="0" rIns="0" tIns="0" bIns="0" anchor="t">
            <a:spAutoFit/>
          </a:bodyPr>
          <a:lstStyle/>
          <a:p>
            <a:pPr algn="l">
              <a:lnSpc>
                <a:spcPct val="100000"/>
              </a:lnSpc>
            </a:pPr>
            <a:r>
              <a:rPr sz="1200" b="1">
                <a:solidFill>
                  <a:srgbClr val="E2571B"/>
                </a:solidFill>
                <a:latin typeface="Noto Sans KR"/>
                <a:ea typeface="Noto Sans KR"/>
                <a:cs typeface="Noto Sans KR"/>
              </a:rPr>
              <a:t>해결</a:t>
            </a:r>
          </a:p>
        </p:txBody>
      </p:sp>
      <p:sp>
        <p:nvSpPr>
          <p:cNvPr id="3" name="TextBox 2"/>
          <p:cNvSpPr txBox="1"/>
          <p:nvPr/>
        </p:nvSpPr>
        <p:spPr>
          <a:xfrm>
            <a:off x="685800" y="932688"/>
            <a:ext cx="10820095" cy="542391"/>
          </a:xfrm>
          <a:prstGeom prst="rect">
            <a:avLst/>
          </a:prstGeom>
          <a:noFill/>
        </p:spPr>
        <p:txBody>
          <a:bodyPr wrap="square" lIns="0" rIns="0" tIns="0" bIns="0" anchor="t">
            <a:spAutoFit/>
          </a:bodyPr>
          <a:lstStyle/>
          <a:p>
            <a:pPr algn="l">
              <a:lnSpc>
                <a:spcPct val="95000"/>
              </a:lnSpc>
            </a:pPr>
            <a:r>
              <a:rPr sz="3000" b="1">
                <a:solidFill>
                  <a:srgbClr val="15171A"/>
                </a:solidFill>
                <a:latin typeface="Noto Sans KR"/>
                <a:ea typeface="Noto Sans KR"/>
                <a:cs typeface="Noto Sans KR"/>
              </a:rPr>
              <a:t>설비는 그대로, 핸드가 사람처럼 사용</a:t>
            </a:r>
          </a:p>
        </p:txBody>
      </p:sp>
      <p:sp>
        <p:nvSpPr>
          <p:cNvPr id="4" name="TextBox 3"/>
          <p:cNvSpPr txBox="1"/>
          <p:nvPr/>
        </p:nvSpPr>
        <p:spPr>
          <a:xfrm>
            <a:off x="685800" y="1584807"/>
            <a:ext cx="10820095" cy="329184"/>
          </a:xfrm>
          <a:prstGeom prst="rect">
            <a:avLst/>
          </a:prstGeom>
          <a:noFill/>
        </p:spPr>
        <p:txBody>
          <a:bodyPr wrap="square" lIns="0" rIns="0" tIns="0" bIns="0" anchor="t">
            <a:spAutoFit/>
          </a:bodyPr>
          <a:lstStyle/>
          <a:p>
            <a:pPr algn="l">
              <a:lnSpc>
                <a:spcPct val="100000"/>
              </a:lnSpc>
            </a:pPr>
            <a:r>
              <a:rPr sz="1600" b="0">
                <a:solidFill>
                  <a:srgbClr val="4A4F57"/>
                </a:solidFill>
                <a:latin typeface="Noto Sans KR"/>
                <a:ea typeface="Noto Sans KR"/>
                <a:cs typeface="Noto Sans KR"/>
              </a:rPr>
              <a:t>잡을 때는 부드럽게, 일할 때는 단단하게</a:t>
            </a:r>
          </a:p>
        </p:txBody>
      </p:sp>
      <p:pic>
        <p:nvPicPr>
          <p:cNvPr id="5" name="Picture 4" descr="product.png"/>
          <p:cNvPicPr>
            <a:picLocks noChangeAspect="1"/>
          </p:cNvPicPr>
          <p:nvPr/>
        </p:nvPicPr>
        <p:blipFill>
          <a:blip r:embed="rId2"/>
          <a:stretch>
            <a:fillRect/>
          </a:stretch>
        </p:blipFill>
        <p:spPr>
          <a:xfrm>
            <a:off x="5396534" y="1959711"/>
            <a:ext cx="1398626" cy="3154680"/>
          </a:xfrm>
          <a:prstGeom prst="rect">
            <a:avLst/>
          </a:prstGeom>
        </p:spPr>
      </p:pic>
      <p:sp>
        <p:nvSpPr>
          <p:cNvPr id="6" name="TextBox 5"/>
          <p:cNvSpPr txBox="1"/>
          <p:nvPr/>
        </p:nvSpPr>
        <p:spPr>
          <a:xfrm>
            <a:off x="685800" y="2051151"/>
            <a:ext cx="3947007" cy="384048"/>
          </a:xfrm>
          <a:prstGeom prst="rect">
            <a:avLst/>
          </a:prstGeom>
          <a:noFill/>
        </p:spPr>
        <p:txBody>
          <a:bodyPr wrap="square" lIns="0" rIns="0" tIns="0" bIns="0" anchor="t">
            <a:spAutoFit/>
          </a:bodyPr>
          <a:lstStyle/>
          <a:p>
            <a:pPr algn="l">
              <a:lnSpc>
                <a:spcPct val="100000"/>
              </a:lnSpc>
            </a:pPr>
            <a:r>
              <a:rPr sz="2000" b="1">
                <a:solidFill>
                  <a:srgbClr val="15171A"/>
                </a:solidFill>
                <a:latin typeface="Noto Sans KR"/>
                <a:ea typeface="Noto Sans KR"/>
                <a:cs typeface="Noto Sans KR"/>
              </a:rPr>
              <a:t>잡기</a:t>
            </a:r>
          </a:p>
        </p:txBody>
      </p:sp>
      <p:sp>
        <p:nvSpPr>
          <p:cNvPr id="7" name="TextBox 6"/>
          <p:cNvSpPr txBox="1"/>
          <p:nvPr/>
        </p:nvSpPr>
        <p:spPr>
          <a:xfrm>
            <a:off x="685800" y="2480919"/>
            <a:ext cx="3947007" cy="274320"/>
          </a:xfrm>
          <a:prstGeom prst="rect">
            <a:avLst/>
          </a:prstGeom>
          <a:noFill/>
        </p:spPr>
        <p:txBody>
          <a:bodyPr wrap="square" lIns="0" rIns="0" tIns="0" bIns="0" anchor="t">
            <a:spAutoFit/>
          </a:bodyPr>
          <a:lstStyle/>
          <a:p>
            <a:pPr algn="l">
              <a:lnSpc>
                <a:spcPct val="100000"/>
              </a:lnSpc>
            </a:pPr>
            <a:r>
              <a:rPr sz="1200" b="0">
                <a:solidFill>
                  <a:srgbClr val="8C9198"/>
                </a:solidFill>
                <a:latin typeface="Noto Sans KR"/>
                <a:ea typeface="Noto Sans KR"/>
                <a:cs typeface="Noto Sans KR"/>
              </a:rPr>
              <a:t>부드러워야 잘 잡음</a:t>
            </a:r>
          </a:p>
        </p:txBody>
      </p:sp>
      <p:cxnSp>
        <p:nvCxnSpPr>
          <p:cNvPr id="8" name="Connector 7"/>
          <p:cNvCxnSpPr/>
          <p:nvPr/>
        </p:nvCxnSpPr>
        <p:spPr>
          <a:xfrm>
            <a:off x="685800" y="2828391"/>
            <a:ext cx="3947007" cy="0"/>
          </a:xfrm>
          <a:prstGeom prst="line">
            <a:avLst/>
          </a:prstGeom>
          <a:ln w="12700">
            <a:solidFill>
              <a:srgbClr val="15171A"/>
            </a:solidFill>
          </a:ln>
        </p:spPr>
      </p:cxnSp>
      <p:sp>
        <p:nvSpPr>
          <p:cNvPr id="9" name="TextBox 8"/>
          <p:cNvSpPr txBox="1"/>
          <p:nvPr/>
        </p:nvSpPr>
        <p:spPr>
          <a:xfrm>
            <a:off x="685800" y="2938119"/>
            <a:ext cx="3947007" cy="274320"/>
          </a:xfrm>
          <a:prstGeom prst="rect">
            <a:avLst/>
          </a:prstGeom>
          <a:noFill/>
        </p:spPr>
        <p:txBody>
          <a:bodyPr wrap="square" lIns="0" rIns="0" tIns="0" bIns="0" anchor="t">
            <a:spAutoFit/>
          </a:bodyPr>
          <a:lstStyle/>
          <a:p>
            <a:pPr algn="l">
              <a:lnSpc>
                <a:spcPct val="100000"/>
              </a:lnSpc>
            </a:pPr>
            <a:r>
              <a:rPr sz="1500" b="1">
                <a:solidFill>
                  <a:srgbClr val="15171A"/>
                </a:solidFill>
                <a:latin typeface="Noto Sans KR"/>
                <a:ea typeface="Noto Sans KR"/>
                <a:cs typeface="Noto Sans KR"/>
              </a:rPr>
              <a:t>형상 차이 대응</a:t>
            </a:r>
          </a:p>
        </p:txBody>
      </p:sp>
      <p:sp>
        <p:nvSpPr>
          <p:cNvPr id="10" name="TextBox 9"/>
          <p:cNvSpPr txBox="1"/>
          <p:nvPr/>
        </p:nvSpPr>
        <p:spPr>
          <a:xfrm>
            <a:off x="685800" y="3230727"/>
            <a:ext cx="3947007" cy="256032"/>
          </a:xfrm>
          <a:prstGeom prst="rect">
            <a:avLst/>
          </a:prstGeom>
          <a:noFill/>
        </p:spPr>
        <p:txBody>
          <a:bodyPr wrap="square" lIns="0" rIns="0" tIns="0" bIns="0" anchor="t">
            <a:spAutoFit/>
          </a:bodyPr>
          <a:lstStyle/>
          <a:p>
            <a:pPr algn="l">
              <a:lnSpc>
                <a:spcPct val="100000"/>
              </a:lnSpc>
            </a:pPr>
            <a:r>
              <a:rPr sz="1200" b="0">
                <a:solidFill>
                  <a:srgbClr val="4A4F57"/>
                </a:solidFill>
                <a:latin typeface="Noto Sans KR"/>
                <a:ea typeface="Noto Sans KR"/>
                <a:cs typeface="Noto Sans KR"/>
              </a:rPr>
              <a:t>다른 부품·용기를 같은 핸드로</a:t>
            </a:r>
          </a:p>
        </p:txBody>
      </p:sp>
      <p:cxnSp>
        <p:nvCxnSpPr>
          <p:cNvPr id="11" name="Connector 10"/>
          <p:cNvCxnSpPr/>
          <p:nvPr/>
        </p:nvCxnSpPr>
        <p:spPr>
          <a:xfrm>
            <a:off x="685800" y="3559911"/>
            <a:ext cx="3947007" cy="0"/>
          </a:xfrm>
          <a:prstGeom prst="line">
            <a:avLst/>
          </a:prstGeom>
          <a:ln w="9525">
            <a:solidFill>
              <a:srgbClr val="E2E4E7"/>
            </a:solidFill>
          </a:ln>
        </p:spPr>
      </p:cxnSp>
      <p:sp>
        <p:nvSpPr>
          <p:cNvPr id="12" name="TextBox 11"/>
          <p:cNvSpPr txBox="1"/>
          <p:nvPr/>
        </p:nvSpPr>
        <p:spPr>
          <a:xfrm>
            <a:off x="685800" y="3651351"/>
            <a:ext cx="3947007" cy="274320"/>
          </a:xfrm>
          <a:prstGeom prst="rect">
            <a:avLst/>
          </a:prstGeom>
          <a:noFill/>
        </p:spPr>
        <p:txBody>
          <a:bodyPr wrap="square" lIns="0" rIns="0" tIns="0" bIns="0" anchor="t">
            <a:spAutoFit/>
          </a:bodyPr>
          <a:lstStyle/>
          <a:p>
            <a:pPr algn="l">
              <a:lnSpc>
                <a:spcPct val="100000"/>
              </a:lnSpc>
            </a:pPr>
            <a:r>
              <a:rPr sz="1500" b="1">
                <a:solidFill>
                  <a:srgbClr val="15171A"/>
                </a:solidFill>
                <a:latin typeface="Noto Sans KR"/>
                <a:ea typeface="Noto Sans KR"/>
                <a:cs typeface="Noto Sans KR"/>
              </a:rPr>
              <a:t>위치 오차 흡수</a:t>
            </a:r>
          </a:p>
        </p:txBody>
      </p:sp>
      <p:sp>
        <p:nvSpPr>
          <p:cNvPr id="13" name="TextBox 12"/>
          <p:cNvSpPr txBox="1"/>
          <p:nvPr/>
        </p:nvSpPr>
        <p:spPr>
          <a:xfrm>
            <a:off x="685800" y="3943959"/>
            <a:ext cx="3947007" cy="256032"/>
          </a:xfrm>
          <a:prstGeom prst="rect">
            <a:avLst/>
          </a:prstGeom>
          <a:noFill/>
        </p:spPr>
        <p:txBody>
          <a:bodyPr wrap="square" lIns="0" rIns="0" tIns="0" bIns="0" anchor="t">
            <a:spAutoFit/>
          </a:bodyPr>
          <a:lstStyle/>
          <a:p>
            <a:pPr algn="l">
              <a:lnSpc>
                <a:spcPct val="100000"/>
              </a:lnSpc>
            </a:pPr>
            <a:r>
              <a:rPr sz="1200" b="0">
                <a:solidFill>
                  <a:srgbClr val="4A4F57"/>
                </a:solidFill>
                <a:latin typeface="Noto Sans KR"/>
                <a:ea typeface="Noto Sans KR"/>
                <a:cs typeface="Noto Sans KR"/>
              </a:rPr>
              <a:t>지그 의존도 감소</a:t>
            </a:r>
          </a:p>
        </p:txBody>
      </p:sp>
      <p:cxnSp>
        <p:nvCxnSpPr>
          <p:cNvPr id="14" name="Connector 13"/>
          <p:cNvCxnSpPr/>
          <p:nvPr/>
        </p:nvCxnSpPr>
        <p:spPr>
          <a:xfrm>
            <a:off x="685800" y="4273143"/>
            <a:ext cx="3947007" cy="0"/>
          </a:xfrm>
          <a:prstGeom prst="line">
            <a:avLst/>
          </a:prstGeom>
          <a:ln w="9525">
            <a:solidFill>
              <a:srgbClr val="E2E4E7"/>
            </a:solidFill>
          </a:ln>
        </p:spPr>
      </p:cxnSp>
      <p:sp>
        <p:nvSpPr>
          <p:cNvPr id="15" name="TextBox 14"/>
          <p:cNvSpPr txBox="1"/>
          <p:nvPr/>
        </p:nvSpPr>
        <p:spPr>
          <a:xfrm>
            <a:off x="685800" y="4364583"/>
            <a:ext cx="3947007" cy="274320"/>
          </a:xfrm>
          <a:prstGeom prst="rect">
            <a:avLst/>
          </a:prstGeom>
          <a:noFill/>
        </p:spPr>
        <p:txBody>
          <a:bodyPr wrap="square" lIns="0" rIns="0" tIns="0" bIns="0" anchor="t">
            <a:spAutoFit/>
          </a:bodyPr>
          <a:lstStyle/>
          <a:p>
            <a:pPr algn="l">
              <a:lnSpc>
                <a:spcPct val="100000"/>
              </a:lnSpc>
            </a:pPr>
            <a:r>
              <a:rPr sz="1500" b="1">
                <a:solidFill>
                  <a:srgbClr val="15171A"/>
                </a:solidFill>
                <a:latin typeface="Noto Sans KR"/>
                <a:ea typeface="Noto Sans KR"/>
                <a:cs typeface="Noto Sans KR"/>
              </a:rPr>
              <a:t>미끄러짐 대응</a:t>
            </a:r>
          </a:p>
        </p:txBody>
      </p:sp>
      <p:sp>
        <p:nvSpPr>
          <p:cNvPr id="16" name="TextBox 15"/>
          <p:cNvSpPr txBox="1"/>
          <p:nvPr/>
        </p:nvSpPr>
        <p:spPr>
          <a:xfrm>
            <a:off x="685800" y="4657191"/>
            <a:ext cx="3947007" cy="256032"/>
          </a:xfrm>
          <a:prstGeom prst="rect">
            <a:avLst/>
          </a:prstGeom>
          <a:noFill/>
        </p:spPr>
        <p:txBody>
          <a:bodyPr wrap="square" lIns="0" rIns="0" tIns="0" bIns="0" anchor="t">
            <a:spAutoFit/>
          </a:bodyPr>
          <a:lstStyle/>
          <a:p>
            <a:pPr algn="l">
              <a:lnSpc>
                <a:spcPct val="100000"/>
              </a:lnSpc>
            </a:pPr>
            <a:r>
              <a:rPr sz="1200" b="0">
                <a:solidFill>
                  <a:srgbClr val="4A4F57"/>
                </a:solidFill>
                <a:latin typeface="Noto Sans KR"/>
                <a:ea typeface="Noto Sans KR"/>
                <a:cs typeface="Noto Sans KR"/>
              </a:rPr>
              <a:t>촉각·힘 제어</a:t>
            </a:r>
          </a:p>
        </p:txBody>
      </p:sp>
      <p:cxnSp>
        <p:nvCxnSpPr>
          <p:cNvPr id="17" name="Connector 16"/>
          <p:cNvCxnSpPr/>
          <p:nvPr/>
        </p:nvCxnSpPr>
        <p:spPr>
          <a:xfrm>
            <a:off x="685800" y="4986375"/>
            <a:ext cx="3947007" cy="0"/>
          </a:xfrm>
          <a:prstGeom prst="line">
            <a:avLst/>
          </a:prstGeom>
          <a:ln w="9525">
            <a:solidFill>
              <a:srgbClr val="E2E4E7"/>
            </a:solidFill>
          </a:ln>
        </p:spPr>
      </p:cxnSp>
      <p:sp>
        <p:nvSpPr>
          <p:cNvPr id="18" name="TextBox 17"/>
          <p:cNvSpPr txBox="1"/>
          <p:nvPr/>
        </p:nvSpPr>
        <p:spPr>
          <a:xfrm>
            <a:off x="7558887" y="2051151"/>
            <a:ext cx="3947007" cy="384048"/>
          </a:xfrm>
          <a:prstGeom prst="rect">
            <a:avLst/>
          </a:prstGeom>
          <a:noFill/>
        </p:spPr>
        <p:txBody>
          <a:bodyPr wrap="square" lIns="0" rIns="0" tIns="0" bIns="0" anchor="t">
            <a:spAutoFit/>
          </a:bodyPr>
          <a:lstStyle/>
          <a:p>
            <a:pPr algn="l">
              <a:lnSpc>
                <a:spcPct val="100000"/>
              </a:lnSpc>
            </a:pPr>
            <a:r>
              <a:rPr sz="2000" b="1">
                <a:solidFill>
                  <a:srgbClr val="15171A"/>
                </a:solidFill>
                <a:latin typeface="Noto Sans KR"/>
                <a:ea typeface="Noto Sans KR"/>
                <a:cs typeface="Noto Sans KR"/>
              </a:rPr>
              <a:t>일하기</a:t>
            </a:r>
          </a:p>
        </p:txBody>
      </p:sp>
      <p:sp>
        <p:nvSpPr>
          <p:cNvPr id="19" name="TextBox 18"/>
          <p:cNvSpPr txBox="1"/>
          <p:nvPr/>
        </p:nvSpPr>
        <p:spPr>
          <a:xfrm>
            <a:off x="7558887" y="2480919"/>
            <a:ext cx="3947007" cy="274320"/>
          </a:xfrm>
          <a:prstGeom prst="rect">
            <a:avLst/>
          </a:prstGeom>
          <a:noFill/>
        </p:spPr>
        <p:txBody>
          <a:bodyPr wrap="square" lIns="0" rIns="0" tIns="0" bIns="0" anchor="t">
            <a:spAutoFit/>
          </a:bodyPr>
          <a:lstStyle/>
          <a:p>
            <a:pPr algn="l">
              <a:lnSpc>
                <a:spcPct val="100000"/>
              </a:lnSpc>
            </a:pPr>
            <a:r>
              <a:rPr sz="1200" b="0">
                <a:solidFill>
                  <a:srgbClr val="8C9198"/>
                </a:solidFill>
                <a:latin typeface="Noto Sans KR"/>
                <a:ea typeface="Noto Sans KR"/>
                <a:cs typeface="Noto Sans KR"/>
              </a:rPr>
              <a:t>단단해야 일을 끝냄</a:t>
            </a:r>
          </a:p>
        </p:txBody>
      </p:sp>
      <p:cxnSp>
        <p:nvCxnSpPr>
          <p:cNvPr id="20" name="Connector 19"/>
          <p:cNvCxnSpPr/>
          <p:nvPr/>
        </p:nvCxnSpPr>
        <p:spPr>
          <a:xfrm>
            <a:off x="7558887" y="2828391"/>
            <a:ext cx="3947008" cy="0"/>
          </a:xfrm>
          <a:prstGeom prst="line">
            <a:avLst/>
          </a:prstGeom>
          <a:ln w="12700">
            <a:solidFill>
              <a:srgbClr val="15171A"/>
            </a:solidFill>
          </a:ln>
        </p:spPr>
      </p:cxnSp>
      <p:sp>
        <p:nvSpPr>
          <p:cNvPr id="21" name="TextBox 20"/>
          <p:cNvSpPr txBox="1"/>
          <p:nvPr/>
        </p:nvSpPr>
        <p:spPr>
          <a:xfrm>
            <a:off x="7558887" y="2938119"/>
            <a:ext cx="3947007" cy="274320"/>
          </a:xfrm>
          <a:prstGeom prst="rect">
            <a:avLst/>
          </a:prstGeom>
          <a:noFill/>
        </p:spPr>
        <p:txBody>
          <a:bodyPr wrap="square" lIns="0" rIns="0" tIns="0" bIns="0" anchor="t">
            <a:spAutoFit/>
          </a:bodyPr>
          <a:lstStyle/>
          <a:p>
            <a:pPr algn="l">
              <a:lnSpc>
                <a:spcPct val="100000"/>
              </a:lnSpc>
            </a:pPr>
            <a:r>
              <a:rPr sz="1500" b="1">
                <a:solidFill>
                  <a:srgbClr val="15171A"/>
                </a:solidFill>
                <a:latin typeface="Noto Sans KR"/>
                <a:ea typeface="Noto Sans KR"/>
                <a:cs typeface="Noto Sans KR"/>
              </a:rPr>
              <a:t>토크 전달</a:t>
            </a:r>
          </a:p>
        </p:txBody>
      </p:sp>
      <p:sp>
        <p:nvSpPr>
          <p:cNvPr id="22" name="TextBox 21"/>
          <p:cNvSpPr txBox="1"/>
          <p:nvPr/>
        </p:nvSpPr>
        <p:spPr>
          <a:xfrm>
            <a:off x="7558887" y="3230727"/>
            <a:ext cx="3947007" cy="256032"/>
          </a:xfrm>
          <a:prstGeom prst="rect">
            <a:avLst/>
          </a:prstGeom>
          <a:noFill/>
        </p:spPr>
        <p:txBody>
          <a:bodyPr wrap="square" lIns="0" rIns="0" tIns="0" bIns="0" anchor="t">
            <a:spAutoFit/>
          </a:bodyPr>
          <a:lstStyle/>
          <a:p>
            <a:pPr algn="l">
              <a:lnSpc>
                <a:spcPct val="100000"/>
              </a:lnSpc>
            </a:pPr>
            <a:r>
              <a:rPr sz="1200" b="0">
                <a:solidFill>
                  <a:srgbClr val="4A4F57"/>
                </a:solidFill>
                <a:latin typeface="Noto Sans KR"/>
                <a:ea typeface="Noto Sans KR"/>
                <a:cs typeface="Noto Sans KR"/>
              </a:rPr>
              <a:t>레버·노브 조작</a:t>
            </a:r>
          </a:p>
        </p:txBody>
      </p:sp>
      <p:cxnSp>
        <p:nvCxnSpPr>
          <p:cNvPr id="23" name="Connector 22"/>
          <p:cNvCxnSpPr/>
          <p:nvPr/>
        </p:nvCxnSpPr>
        <p:spPr>
          <a:xfrm>
            <a:off x="7558887" y="3559911"/>
            <a:ext cx="3947008" cy="0"/>
          </a:xfrm>
          <a:prstGeom prst="line">
            <a:avLst/>
          </a:prstGeom>
          <a:ln w="9525">
            <a:solidFill>
              <a:srgbClr val="E2E4E7"/>
            </a:solidFill>
          </a:ln>
        </p:spPr>
      </p:cxnSp>
      <p:sp>
        <p:nvSpPr>
          <p:cNvPr id="24" name="TextBox 23"/>
          <p:cNvSpPr txBox="1"/>
          <p:nvPr/>
        </p:nvSpPr>
        <p:spPr>
          <a:xfrm>
            <a:off x="7558887" y="3651351"/>
            <a:ext cx="3947007" cy="274320"/>
          </a:xfrm>
          <a:prstGeom prst="rect">
            <a:avLst/>
          </a:prstGeom>
          <a:noFill/>
        </p:spPr>
        <p:txBody>
          <a:bodyPr wrap="square" lIns="0" rIns="0" tIns="0" bIns="0" anchor="t">
            <a:spAutoFit/>
          </a:bodyPr>
          <a:lstStyle/>
          <a:p>
            <a:pPr algn="l">
              <a:lnSpc>
                <a:spcPct val="100000"/>
              </a:lnSpc>
            </a:pPr>
            <a:r>
              <a:rPr sz="1500" b="1">
                <a:solidFill>
                  <a:srgbClr val="15171A"/>
                </a:solidFill>
                <a:latin typeface="Noto Sans KR"/>
                <a:ea typeface="Noto Sans KR"/>
                <a:cs typeface="Noto Sans KR"/>
              </a:rPr>
              <a:t>반력 지지</a:t>
            </a:r>
          </a:p>
        </p:txBody>
      </p:sp>
      <p:sp>
        <p:nvSpPr>
          <p:cNvPr id="25" name="TextBox 24"/>
          <p:cNvSpPr txBox="1"/>
          <p:nvPr/>
        </p:nvSpPr>
        <p:spPr>
          <a:xfrm>
            <a:off x="7558887" y="3943959"/>
            <a:ext cx="3947007" cy="256032"/>
          </a:xfrm>
          <a:prstGeom prst="rect">
            <a:avLst/>
          </a:prstGeom>
          <a:noFill/>
        </p:spPr>
        <p:txBody>
          <a:bodyPr wrap="square" lIns="0" rIns="0" tIns="0" bIns="0" anchor="t">
            <a:spAutoFit/>
          </a:bodyPr>
          <a:lstStyle/>
          <a:p>
            <a:pPr algn="l">
              <a:lnSpc>
                <a:spcPct val="100000"/>
              </a:lnSpc>
            </a:pPr>
            <a:r>
              <a:rPr sz="1200" b="0">
                <a:solidFill>
                  <a:srgbClr val="4A4F57"/>
                </a:solidFill>
                <a:latin typeface="Noto Sans KR"/>
                <a:ea typeface="Noto Sans KR"/>
                <a:cs typeface="Noto Sans KR"/>
              </a:rPr>
              <a:t>문·손잡이 개폐</a:t>
            </a:r>
          </a:p>
        </p:txBody>
      </p:sp>
      <p:cxnSp>
        <p:nvCxnSpPr>
          <p:cNvPr id="26" name="Connector 25"/>
          <p:cNvCxnSpPr/>
          <p:nvPr/>
        </p:nvCxnSpPr>
        <p:spPr>
          <a:xfrm>
            <a:off x="7558887" y="4273143"/>
            <a:ext cx="3947008" cy="0"/>
          </a:xfrm>
          <a:prstGeom prst="line">
            <a:avLst/>
          </a:prstGeom>
          <a:ln w="9525">
            <a:solidFill>
              <a:srgbClr val="E2E4E7"/>
            </a:solidFill>
          </a:ln>
        </p:spPr>
      </p:cxnSp>
      <p:sp>
        <p:nvSpPr>
          <p:cNvPr id="27" name="TextBox 26"/>
          <p:cNvSpPr txBox="1"/>
          <p:nvPr/>
        </p:nvSpPr>
        <p:spPr>
          <a:xfrm>
            <a:off x="7558887" y="4364583"/>
            <a:ext cx="3947007" cy="274320"/>
          </a:xfrm>
          <a:prstGeom prst="rect">
            <a:avLst/>
          </a:prstGeom>
          <a:noFill/>
        </p:spPr>
        <p:txBody>
          <a:bodyPr wrap="square" lIns="0" rIns="0" tIns="0" bIns="0" anchor="t">
            <a:spAutoFit/>
          </a:bodyPr>
          <a:lstStyle/>
          <a:p>
            <a:pPr algn="l">
              <a:lnSpc>
                <a:spcPct val="100000"/>
              </a:lnSpc>
            </a:pPr>
            <a:r>
              <a:rPr sz="1500" b="1">
                <a:solidFill>
                  <a:srgbClr val="15171A"/>
                </a:solidFill>
                <a:latin typeface="Noto Sans KR"/>
                <a:ea typeface="Noto Sans KR"/>
                <a:cs typeface="Noto Sans KR"/>
              </a:rPr>
              <a:t>모멘트 저항</a:t>
            </a:r>
          </a:p>
        </p:txBody>
      </p:sp>
      <p:sp>
        <p:nvSpPr>
          <p:cNvPr id="28" name="TextBox 27"/>
          <p:cNvSpPr txBox="1"/>
          <p:nvPr/>
        </p:nvSpPr>
        <p:spPr>
          <a:xfrm>
            <a:off x="7558887" y="4657191"/>
            <a:ext cx="3947007" cy="256032"/>
          </a:xfrm>
          <a:prstGeom prst="rect">
            <a:avLst/>
          </a:prstGeom>
          <a:noFill/>
        </p:spPr>
        <p:txBody>
          <a:bodyPr wrap="square" lIns="0" rIns="0" tIns="0" bIns="0" anchor="t">
            <a:spAutoFit/>
          </a:bodyPr>
          <a:lstStyle/>
          <a:p>
            <a:pPr algn="l">
              <a:lnSpc>
                <a:spcPct val="100000"/>
              </a:lnSpc>
            </a:pPr>
            <a:r>
              <a:rPr sz="1200" b="0">
                <a:solidFill>
                  <a:srgbClr val="4A4F57"/>
                </a:solidFill>
                <a:latin typeface="Noto Sans KR"/>
                <a:ea typeface="Noto Sans KR"/>
                <a:cs typeface="Noto Sans KR"/>
              </a:rPr>
              <a:t>투입 자세 유지</a:t>
            </a:r>
          </a:p>
        </p:txBody>
      </p:sp>
      <p:cxnSp>
        <p:nvCxnSpPr>
          <p:cNvPr id="29" name="Connector 28"/>
          <p:cNvCxnSpPr/>
          <p:nvPr/>
        </p:nvCxnSpPr>
        <p:spPr>
          <a:xfrm>
            <a:off x="7558887" y="4986375"/>
            <a:ext cx="3947008" cy="0"/>
          </a:xfrm>
          <a:prstGeom prst="line">
            <a:avLst/>
          </a:prstGeom>
          <a:ln w="9525">
            <a:solidFill>
              <a:srgbClr val="E2E4E7"/>
            </a:solidFill>
          </a:ln>
        </p:spPr>
      </p:cxnSp>
      <p:sp>
        <p:nvSpPr>
          <p:cNvPr id="30" name="TextBox 29"/>
          <p:cNvSpPr txBox="1"/>
          <p:nvPr/>
        </p:nvSpPr>
        <p:spPr>
          <a:xfrm>
            <a:off x="685800" y="5297271"/>
            <a:ext cx="5486400" cy="274320"/>
          </a:xfrm>
          <a:prstGeom prst="rect">
            <a:avLst/>
          </a:prstGeom>
          <a:noFill/>
        </p:spPr>
        <p:txBody>
          <a:bodyPr wrap="square" lIns="0" rIns="0" tIns="0" bIns="0" anchor="t">
            <a:spAutoFit/>
          </a:bodyPr>
          <a:lstStyle/>
          <a:p>
            <a:pPr algn="l">
              <a:lnSpc>
                <a:spcPct val="100000"/>
              </a:lnSpc>
            </a:pPr>
            <a:r>
              <a:rPr sz="1200" b="1">
                <a:solidFill>
                  <a:srgbClr val="E2571B"/>
                </a:solidFill>
                <a:latin typeface="Noto Sans KR"/>
                <a:ea typeface="Noto Sans KR"/>
                <a:cs typeface="Noto Sans KR"/>
              </a:rPr>
              <a:t>핵심 구조</a:t>
            </a:r>
          </a:p>
        </p:txBody>
      </p:sp>
      <p:sp>
        <p:nvSpPr>
          <p:cNvPr id="31" name="TextBox 30"/>
          <p:cNvSpPr txBox="1"/>
          <p:nvPr/>
        </p:nvSpPr>
        <p:spPr>
          <a:xfrm>
            <a:off x="685800" y="5626455"/>
            <a:ext cx="2026859"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부드러운 접촉면</a:t>
            </a:r>
          </a:p>
        </p:txBody>
      </p:sp>
      <p:sp>
        <p:nvSpPr>
          <p:cNvPr id="32" name="TextBox 31"/>
          <p:cNvSpPr txBox="1"/>
          <p:nvPr/>
        </p:nvSpPr>
        <p:spPr>
          <a:xfrm>
            <a:off x="685800" y="5900775"/>
            <a:ext cx="2026859" cy="256032"/>
          </a:xfrm>
          <a:prstGeom prst="rect">
            <a:avLst/>
          </a:prstGeom>
          <a:noFill/>
        </p:spPr>
        <p:txBody>
          <a:bodyPr wrap="square" lIns="0" rIns="0" tIns="0" bIns="0" anchor="t">
            <a:spAutoFit/>
          </a:bodyPr>
          <a:lstStyle/>
          <a:p>
            <a:pPr algn="l">
              <a:lnSpc>
                <a:spcPct val="100000"/>
              </a:lnSpc>
            </a:pPr>
            <a:r>
              <a:rPr sz="1100" b="0">
                <a:solidFill>
                  <a:srgbClr val="4A4F57"/>
                </a:solidFill>
                <a:latin typeface="Noto Sans KR"/>
                <a:ea typeface="Noto Sans KR"/>
                <a:cs typeface="Noto Sans KR"/>
              </a:rPr>
              <a:t>교체형 탄성 패드</a:t>
            </a:r>
          </a:p>
        </p:txBody>
      </p:sp>
      <p:sp>
        <p:nvSpPr>
          <p:cNvPr id="33" name="TextBox 32"/>
          <p:cNvSpPr txBox="1"/>
          <p:nvPr/>
        </p:nvSpPr>
        <p:spPr>
          <a:xfrm>
            <a:off x="2849819" y="5626455"/>
            <a:ext cx="2026859"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하중 지지 골격</a:t>
            </a:r>
          </a:p>
        </p:txBody>
      </p:sp>
      <p:sp>
        <p:nvSpPr>
          <p:cNvPr id="34" name="TextBox 33"/>
          <p:cNvSpPr txBox="1"/>
          <p:nvPr/>
        </p:nvSpPr>
        <p:spPr>
          <a:xfrm>
            <a:off x="2849819" y="5900775"/>
            <a:ext cx="2026859" cy="256032"/>
          </a:xfrm>
          <a:prstGeom prst="rect">
            <a:avLst/>
          </a:prstGeom>
          <a:noFill/>
        </p:spPr>
        <p:txBody>
          <a:bodyPr wrap="square" lIns="0" rIns="0" tIns="0" bIns="0" anchor="t">
            <a:spAutoFit/>
          </a:bodyPr>
          <a:lstStyle/>
          <a:p>
            <a:pPr algn="l">
              <a:lnSpc>
                <a:spcPct val="100000"/>
              </a:lnSpc>
            </a:pPr>
            <a:r>
              <a:rPr sz="1100" b="0">
                <a:solidFill>
                  <a:srgbClr val="4A4F57"/>
                </a:solidFill>
                <a:latin typeface="Noto Sans KR"/>
                <a:ea typeface="Noto Sans KR"/>
                <a:cs typeface="Noto Sans KR"/>
              </a:rPr>
              <a:t>토크·반력은 골격이 부담</a:t>
            </a:r>
          </a:p>
        </p:txBody>
      </p:sp>
      <p:sp>
        <p:nvSpPr>
          <p:cNvPr id="35" name="TextBox 34"/>
          <p:cNvSpPr txBox="1"/>
          <p:nvPr/>
        </p:nvSpPr>
        <p:spPr>
          <a:xfrm>
            <a:off x="5013838" y="5626455"/>
            <a:ext cx="2026859"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대향 엄지</a:t>
            </a:r>
          </a:p>
        </p:txBody>
      </p:sp>
      <p:sp>
        <p:nvSpPr>
          <p:cNvPr id="36" name="TextBox 35"/>
          <p:cNvSpPr txBox="1"/>
          <p:nvPr/>
        </p:nvSpPr>
        <p:spPr>
          <a:xfrm>
            <a:off x="5013838" y="5900775"/>
            <a:ext cx="2026859" cy="256032"/>
          </a:xfrm>
          <a:prstGeom prst="rect">
            <a:avLst/>
          </a:prstGeom>
          <a:noFill/>
        </p:spPr>
        <p:txBody>
          <a:bodyPr wrap="square" lIns="0" rIns="0" tIns="0" bIns="0" anchor="t">
            <a:spAutoFit/>
          </a:bodyPr>
          <a:lstStyle/>
          <a:p>
            <a:pPr algn="l">
              <a:lnSpc>
                <a:spcPct val="100000"/>
              </a:lnSpc>
            </a:pPr>
            <a:r>
              <a:rPr sz="1100" b="0">
                <a:solidFill>
                  <a:srgbClr val="4A4F57"/>
                </a:solidFill>
                <a:latin typeface="Noto Sans KR"/>
                <a:ea typeface="Noto Sans KR"/>
                <a:cs typeface="Noto Sans KR"/>
              </a:rPr>
              <a:t>손잡이·레버를 감싸 쥠</a:t>
            </a:r>
          </a:p>
        </p:txBody>
      </p:sp>
      <p:sp>
        <p:nvSpPr>
          <p:cNvPr id="37" name="TextBox 36"/>
          <p:cNvSpPr txBox="1"/>
          <p:nvPr/>
        </p:nvSpPr>
        <p:spPr>
          <a:xfrm>
            <a:off x="7177857" y="5626455"/>
            <a:ext cx="2026859"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가변 강성</a:t>
            </a:r>
          </a:p>
        </p:txBody>
      </p:sp>
      <p:sp>
        <p:nvSpPr>
          <p:cNvPr id="38" name="TextBox 37"/>
          <p:cNvSpPr txBox="1"/>
          <p:nvPr/>
        </p:nvSpPr>
        <p:spPr>
          <a:xfrm>
            <a:off x="7177857" y="5900775"/>
            <a:ext cx="2026859" cy="256032"/>
          </a:xfrm>
          <a:prstGeom prst="rect">
            <a:avLst/>
          </a:prstGeom>
          <a:noFill/>
        </p:spPr>
        <p:txBody>
          <a:bodyPr wrap="square" lIns="0" rIns="0" tIns="0" bIns="0" anchor="t">
            <a:spAutoFit/>
          </a:bodyPr>
          <a:lstStyle/>
          <a:p>
            <a:pPr algn="l">
              <a:lnSpc>
                <a:spcPct val="100000"/>
              </a:lnSpc>
            </a:pPr>
            <a:r>
              <a:rPr sz="1100" b="0">
                <a:solidFill>
                  <a:srgbClr val="4A4F57"/>
                </a:solidFill>
                <a:latin typeface="Noto Sans KR"/>
                <a:ea typeface="Noto Sans KR"/>
                <a:cs typeface="Noto Sans KR"/>
              </a:rPr>
              <a:t>작업 순간 관절 강성 상승</a:t>
            </a:r>
          </a:p>
        </p:txBody>
      </p:sp>
      <p:sp>
        <p:nvSpPr>
          <p:cNvPr id="39" name="TextBox 38"/>
          <p:cNvSpPr txBox="1"/>
          <p:nvPr/>
        </p:nvSpPr>
        <p:spPr>
          <a:xfrm>
            <a:off x="9341876" y="5626455"/>
            <a:ext cx="2026859"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힘·미끄러짐 제어</a:t>
            </a:r>
          </a:p>
        </p:txBody>
      </p:sp>
      <p:sp>
        <p:nvSpPr>
          <p:cNvPr id="40" name="TextBox 39"/>
          <p:cNvSpPr txBox="1"/>
          <p:nvPr/>
        </p:nvSpPr>
        <p:spPr>
          <a:xfrm>
            <a:off x="9341876" y="5900775"/>
            <a:ext cx="2026859" cy="256032"/>
          </a:xfrm>
          <a:prstGeom prst="rect">
            <a:avLst/>
          </a:prstGeom>
          <a:noFill/>
        </p:spPr>
        <p:txBody>
          <a:bodyPr wrap="square" lIns="0" rIns="0" tIns="0" bIns="0" anchor="t">
            <a:spAutoFit/>
          </a:bodyPr>
          <a:lstStyle/>
          <a:p>
            <a:pPr algn="l">
              <a:lnSpc>
                <a:spcPct val="100000"/>
              </a:lnSpc>
            </a:pPr>
            <a:r>
              <a:rPr sz="1100" b="0">
                <a:solidFill>
                  <a:srgbClr val="4A4F57"/>
                </a:solidFill>
                <a:latin typeface="Noto Sans KR"/>
                <a:ea typeface="Noto Sans KR"/>
                <a:cs typeface="Noto Sans KR"/>
              </a:rPr>
              <a:t>손끝 촉각 + 손목 힘센서</a:t>
            </a:r>
          </a:p>
        </p:txBody>
      </p:sp>
      <p:sp>
        <p:nvSpPr>
          <p:cNvPr id="41" name="TextBox 40"/>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SoftHand-4  |  Seed 투자 제안서</a:t>
            </a:r>
          </a:p>
        </p:txBody>
      </p:sp>
      <p:sp>
        <p:nvSpPr>
          <p:cNvPr id="42" name="TextBox 41"/>
          <p:cNvSpPr txBox="1"/>
          <p:nvPr/>
        </p:nvSpPr>
        <p:spPr>
          <a:xfrm>
            <a:off x="3154680" y="6446520"/>
            <a:ext cx="7802575"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4지(손가락 3 + 대향 엄지) 콘셉트 · 구동 방식(전동 텐던·유압·공압)은 창업 후 3개월 내 비교시험으로 결정 · 콘셉트 렌더링</a:t>
            </a:r>
          </a:p>
        </p:txBody>
      </p:sp>
      <p:sp>
        <p:nvSpPr>
          <p:cNvPr id="43" name="TextBox 42"/>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48640"/>
            <a:ext cx="7315200" cy="274320"/>
          </a:xfrm>
          <a:prstGeom prst="rect">
            <a:avLst/>
          </a:prstGeom>
          <a:noFill/>
        </p:spPr>
        <p:txBody>
          <a:bodyPr wrap="square" lIns="0" rIns="0" tIns="0" bIns="0" anchor="t">
            <a:spAutoFit/>
          </a:bodyPr>
          <a:lstStyle/>
          <a:p>
            <a:pPr algn="l">
              <a:lnSpc>
                <a:spcPct val="100000"/>
              </a:lnSpc>
            </a:pPr>
            <a:r>
              <a:rPr sz="1200" b="1">
                <a:solidFill>
                  <a:srgbClr val="E2571B"/>
                </a:solidFill>
                <a:latin typeface="Noto Sans KR"/>
                <a:ea typeface="Noto Sans KR"/>
                <a:cs typeface="Noto Sans KR"/>
              </a:rPr>
              <a:t>제품</a:t>
            </a:r>
          </a:p>
        </p:txBody>
      </p:sp>
      <p:sp>
        <p:nvSpPr>
          <p:cNvPr id="3" name="TextBox 2"/>
          <p:cNvSpPr txBox="1"/>
          <p:nvPr/>
        </p:nvSpPr>
        <p:spPr>
          <a:xfrm>
            <a:off x="685800" y="932688"/>
            <a:ext cx="10820095" cy="542391"/>
          </a:xfrm>
          <a:prstGeom prst="rect">
            <a:avLst/>
          </a:prstGeom>
          <a:noFill/>
        </p:spPr>
        <p:txBody>
          <a:bodyPr wrap="square" lIns="0" rIns="0" tIns="0" bIns="0" anchor="t">
            <a:spAutoFit/>
          </a:bodyPr>
          <a:lstStyle/>
          <a:p>
            <a:pPr algn="l">
              <a:lnSpc>
                <a:spcPct val="95000"/>
              </a:lnSpc>
            </a:pPr>
            <a:r>
              <a:rPr sz="3000" b="1">
                <a:solidFill>
                  <a:srgbClr val="15171A"/>
                </a:solidFill>
                <a:latin typeface="Noto Sans KR"/>
                <a:ea typeface="Noto Sans KR"/>
                <a:cs typeface="Noto Sans KR"/>
              </a:rPr>
              <a:t>핸드 하나로 공정 하나 완결</a:t>
            </a:r>
          </a:p>
        </p:txBody>
      </p:sp>
      <p:sp>
        <p:nvSpPr>
          <p:cNvPr id="4" name="TextBox 3"/>
          <p:cNvSpPr txBox="1"/>
          <p:nvPr/>
        </p:nvSpPr>
        <p:spPr>
          <a:xfrm>
            <a:off x="685800" y="1584807"/>
            <a:ext cx="10820095" cy="329184"/>
          </a:xfrm>
          <a:prstGeom prst="rect">
            <a:avLst/>
          </a:prstGeom>
          <a:noFill/>
        </p:spPr>
        <p:txBody>
          <a:bodyPr wrap="square" lIns="0" rIns="0" tIns="0" bIns="0" anchor="t">
            <a:spAutoFit/>
          </a:bodyPr>
          <a:lstStyle/>
          <a:p>
            <a:pPr algn="l">
              <a:lnSpc>
                <a:spcPct val="100000"/>
              </a:lnSpc>
            </a:pPr>
            <a:r>
              <a:rPr sz="1600" b="0">
                <a:solidFill>
                  <a:srgbClr val="4A4F57"/>
                </a:solidFill>
                <a:latin typeface="Noto Sans KR"/>
                <a:ea typeface="Noto Sans KR"/>
                <a:cs typeface="Noto Sans KR"/>
              </a:rPr>
              <a:t>SoftHand-4 + 머신텐딩 스킬 팩, 핸드 교체 없이 6단계 처리</a:t>
            </a:r>
          </a:p>
        </p:txBody>
      </p:sp>
      <p:pic>
        <p:nvPicPr>
          <p:cNvPr id="5" name="Picture 4" descr="s1_door_color_light_182x162_50_50_100.jpg"/>
          <p:cNvPicPr>
            <a:picLocks noChangeAspect="1"/>
          </p:cNvPicPr>
          <p:nvPr/>
        </p:nvPicPr>
        <p:blipFill>
          <a:blip r:embed="rId2"/>
          <a:stretch>
            <a:fillRect/>
          </a:stretch>
        </p:blipFill>
        <p:spPr>
          <a:xfrm>
            <a:off x="685800" y="2170023"/>
            <a:ext cx="1666189" cy="1481328"/>
          </a:xfrm>
          <a:prstGeom prst="rect">
            <a:avLst/>
          </a:prstGeom>
        </p:spPr>
      </p:pic>
      <p:sp>
        <p:nvSpPr>
          <p:cNvPr id="6" name="TextBox 5"/>
          <p:cNvSpPr txBox="1"/>
          <p:nvPr/>
        </p:nvSpPr>
        <p:spPr>
          <a:xfrm>
            <a:off x="685800" y="3779367"/>
            <a:ext cx="1666189" cy="274320"/>
          </a:xfrm>
          <a:prstGeom prst="rect">
            <a:avLst/>
          </a:prstGeom>
          <a:noFill/>
        </p:spPr>
        <p:txBody>
          <a:bodyPr wrap="square" lIns="0" rIns="0" tIns="0" bIns="0" anchor="t">
            <a:spAutoFit/>
          </a:bodyPr>
          <a:lstStyle/>
          <a:p>
            <a:pPr algn="l">
              <a:lnSpc>
                <a:spcPct val="100000"/>
              </a:lnSpc>
            </a:pPr>
            <a:r>
              <a:rPr sz="1400" b="1">
                <a:solidFill>
                  <a:srgbClr val="E2571B"/>
                </a:solidFill>
                <a:latin typeface="Noto Sans KR"/>
                <a:ea typeface="Noto Sans KR"/>
                <a:cs typeface="Noto Sans KR"/>
              </a:rPr>
              <a:t>1  </a:t>
            </a:r>
            <a:r>
              <a:rPr sz="1400" b="1">
                <a:solidFill>
                  <a:srgbClr val="15171A"/>
                </a:solidFill>
                <a:latin typeface="Noto Sans KR"/>
                <a:ea typeface="Noto Sans KR"/>
                <a:cs typeface="Noto Sans KR"/>
              </a:rPr>
              <a:t>문 열기</a:t>
            </a:r>
          </a:p>
        </p:txBody>
      </p:sp>
      <p:sp>
        <p:nvSpPr>
          <p:cNvPr id="7" name="TextBox 6"/>
          <p:cNvSpPr txBox="1"/>
          <p:nvPr/>
        </p:nvSpPr>
        <p:spPr>
          <a:xfrm>
            <a:off x="685800" y="4090263"/>
            <a:ext cx="1666189" cy="457200"/>
          </a:xfrm>
          <a:prstGeom prst="rect">
            <a:avLst/>
          </a:prstGeom>
          <a:noFill/>
        </p:spPr>
        <p:txBody>
          <a:bodyPr wrap="square" lIns="0" rIns="0" tIns="0" bIns="0" anchor="t">
            <a:spAutoFit/>
          </a:bodyPr>
          <a:lstStyle/>
          <a:p>
            <a:pPr algn="l">
              <a:lnSpc>
                <a:spcPct val="100000"/>
              </a:lnSpc>
            </a:pPr>
            <a:r>
              <a:rPr sz="1150" b="0">
                <a:solidFill>
                  <a:srgbClr val="4A4F57"/>
                </a:solidFill>
                <a:latin typeface="Noto Sans KR"/>
                <a:ea typeface="Noto Sans KR"/>
                <a:cs typeface="Noto Sans KR"/>
              </a:rPr>
              <a:t>손잡이 파지 후 개방</a:t>
            </a:r>
          </a:p>
        </p:txBody>
      </p:sp>
      <p:pic>
        <p:nvPicPr>
          <p:cNvPr id="8" name="Picture 7" descr="s2_pick_color_light_182x162_50_50_100.jpg"/>
          <p:cNvPicPr>
            <a:picLocks noChangeAspect="1"/>
          </p:cNvPicPr>
          <p:nvPr/>
        </p:nvPicPr>
        <p:blipFill>
          <a:blip r:embed="rId3"/>
          <a:stretch>
            <a:fillRect/>
          </a:stretch>
        </p:blipFill>
        <p:spPr>
          <a:xfrm>
            <a:off x="2516581" y="2170023"/>
            <a:ext cx="1666189" cy="1481328"/>
          </a:xfrm>
          <a:prstGeom prst="rect">
            <a:avLst/>
          </a:prstGeom>
        </p:spPr>
      </p:pic>
      <p:sp>
        <p:nvSpPr>
          <p:cNvPr id="9" name="TextBox 8"/>
          <p:cNvSpPr txBox="1"/>
          <p:nvPr/>
        </p:nvSpPr>
        <p:spPr>
          <a:xfrm>
            <a:off x="2516581" y="3779367"/>
            <a:ext cx="1666189" cy="274320"/>
          </a:xfrm>
          <a:prstGeom prst="rect">
            <a:avLst/>
          </a:prstGeom>
          <a:noFill/>
        </p:spPr>
        <p:txBody>
          <a:bodyPr wrap="square" lIns="0" rIns="0" tIns="0" bIns="0" anchor="t">
            <a:spAutoFit/>
          </a:bodyPr>
          <a:lstStyle/>
          <a:p>
            <a:pPr algn="l">
              <a:lnSpc>
                <a:spcPct val="100000"/>
              </a:lnSpc>
            </a:pPr>
            <a:r>
              <a:rPr sz="1400" b="1">
                <a:solidFill>
                  <a:srgbClr val="E2571B"/>
                </a:solidFill>
                <a:latin typeface="Noto Sans KR"/>
                <a:ea typeface="Noto Sans KR"/>
                <a:cs typeface="Noto Sans KR"/>
              </a:rPr>
              <a:t>2  </a:t>
            </a:r>
            <a:r>
              <a:rPr sz="1400" b="1">
                <a:solidFill>
                  <a:srgbClr val="15171A"/>
                </a:solidFill>
                <a:latin typeface="Noto Sans KR"/>
                <a:ea typeface="Noto Sans KR"/>
                <a:cs typeface="Noto Sans KR"/>
              </a:rPr>
              <a:t>소재 집기</a:t>
            </a:r>
          </a:p>
        </p:txBody>
      </p:sp>
      <p:sp>
        <p:nvSpPr>
          <p:cNvPr id="10" name="TextBox 9"/>
          <p:cNvSpPr txBox="1"/>
          <p:nvPr/>
        </p:nvSpPr>
        <p:spPr>
          <a:xfrm>
            <a:off x="2516581" y="4090263"/>
            <a:ext cx="1666189" cy="457200"/>
          </a:xfrm>
          <a:prstGeom prst="rect">
            <a:avLst/>
          </a:prstGeom>
          <a:noFill/>
        </p:spPr>
        <p:txBody>
          <a:bodyPr wrap="square" lIns="0" rIns="0" tIns="0" bIns="0" anchor="t">
            <a:spAutoFit/>
          </a:bodyPr>
          <a:lstStyle/>
          <a:p>
            <a:pPr algn="l">
              <a:lnSpc>
                <a:spcPct val="100000"/>
              </a:lnSpc>
            </a:pPr>
            <a:r>
              <a:rPr sz="1150" b="0">
                <a:solidFill>
                  <a:srgbClr val="4A4F57"/>
                </a:solidFill>
                <a:latin typeface="Noto Sans KR"/>
                <a:ea typeface="Noto Sans KR"/>
                <a:cs typeface="Noto Sans KR"/>
              </a:rPr>
              <a:t>트레이에서 소재 파지</a:t>
            </a:r>
          </a:p>
        </p:txBody>
      </p:sp>
      <p:pic>
        <p:nvPicPr>
          <p:cNvPr id="11" name="Picture 10" descr="s3_load_color_light_182x162_50_50_100.jpg"/>
          <p:cNvPicPr>
            <a:picLocks noChangeAspect="1"/>
          </p:cNvPicPr>
          <p:nvPr/>
        </p:nvPicPr>
        <p:blipFill>
          <a:blip r:embed="rId4"/>
          <a:stretch>
            <a:fillRect/>
          </a:stretch>
        </p:blipFill>
        <p:spPr>
          <a:xfrm>
            <a:off x="4347362" y="2170023"/>
            <a:ext cx="1666189" cy="1481328"/>
          </a:xfrm>
          <a:prstGeom prst="rect">
            <a:avLst/>
          </a:prstGeom>
        </p:spPr>
      </p:pic>
      <p:sp>
        <p:nvSpPr>
          <p:cNvPr id="12" name="TextBox 11"/>
          <p:cNvSpPr txBox="1"/>
          <p:nvPr/>
        </p:nvSpPr>
        <p:spPr>
          <a:xfrm>
            <a:off x="4347362" y="3779367"/>
            <a:ext cx="1666189" cy="274320"/>
          </a:xfrm>
          <a:prstGeom prst="rect">
            <a:avLst/>
          </a:prstGeom>
          <a:noFill/>
        </p:spPr>
        <p:txBody>
          <a:bodyPr wrap="square" lIns="0" rIns="0" tIns="0" bIns="0" anchor="t">
            <a:spAutoFit/>
          </a:bodyPr>
          <a:lstStyle/>
          <a:p>
            <a:pPr algn="l">
              <a:lnSpc>
                <a:spcPct val="100000"/>
              </a:lnSpc>
            </a:pPr>
            <a:r>
              <a:rPr sz="1400" b="1">
                <a:solidFill>
                  <a:srgbClr val="E2571B"/>
                </a:solidFill>
                <a:latin typeface="Noto Sans KR"/>
                <a:ea typeface="Noto Sans KR"/>
                <a:cs typeface="Noto Sans KR"/>
              </a:rPr>
              <a:t>3  </a:t>
            </a:r>
            <a:r>
              <a:rPr sz="1400" b="1">
                <a:solidFill>
                  <a:srgbClr val="15171A"/>
                </a:solidFill>
                <a:latin typeface="Noto Sans KR"/>
                <a:ea typeface="Noto Sans KR"/>
                <a:cs typeface="Noto Sans KR"/>
              </a:rPr>
              <a:t>기계에 넣기</a:t>
            </a:r>
          </a:p>
        </p:txBody>
      </p:sp>
      <p:sp>
        <p:nvSpPr>
          <p:cNvPr id="13" name="TextBox 12"/>
          <p:cNvSpPr txBox="1"/>
          <p:nvPr/>
        </p:nvSpPr>
        <p:spPr>
          <a:xfrm>
            <a:off x="4347362" y="4090263"/>
            <a:ext cx="1666189" cy="457200"/>
          </a:xfrm>
          <a:prstGeom prst="rect">
            <a:avLst/>
          </a:prstGeom>
          <a:noFill/>
        </p:spPr>
        <p:txBody>
          <a:bodyPr wrap="square" lIns="0" rIns="0" tIns="0" bIns="0" anchor="t">
            <a:spAutoFit/>
          </a:bodyPr>
          <a:lstStyle/>
          <a:p>
            <a:pPr algn="l">
              <a:lnSpc>
                <a:spcPct val="100000"/>
              </a:lnSpc>
            </a:pPr>
            <a:r>
              <a:rPr sz="1150" b="0">
                <a:solidFill>
                  <a:srgbClr val="4A4F57"/>
                </a:solidFill>
                <a:latin typeface="Noto Sans KR"/>
                <a:ea typeface="Noto Sans KR"/>
                <a:cs typeface="Noto Sans KR"/>
              </a:rPr>
              <a:t>바이스에 소재 투입</a:t>
            </a:r>
          </a:p>
        </p:txBody>
      </p:sp>
      <p:pic>
        <p:nvPicPr>
          <p:cNvPr id="14" name="Picture 13" descr="s4_press_color_light_182x162_50_50_100.jpg"/>
          <p:cNvPicPr>
            <a:picLocks noChangeAspect="1"/>
          </p:cNvPicPr>
          <p:nvPr/>
        </p:nvPicPr>
        <p:blipFill>
          <a:blip r:embed="rId5"/>
          <a:stretch>
            <a:fillRect/>
          </a:stretch>
        </p:blipFill>
        <p:spPr>
          <a:xfrm>
            <a:off x="6178143" y="2170023"/>
            <a:ext cx="1666189" cy="1481328"/>
          </a:xfrm>
          <a:prstGeom prst="rect">
            <a:avLst/>
          </a:prstGeom>
        </p:spPr>
      </p:pic>
      <p:sp>
        <p:nvSpPr>
          <p:cNvPr id="15" name="TextBox 14"/>
          <p:cNvSpPr txBox="1"/>
          <p:nvPr/>
        </p:nvSpPr>
        <p:spPr>
          <a:xfrm>
            <a:off x="6178143" y="3779367"/>
            <a:ext cx="1666189" cy="274320"/>
          </a:xfrm>
          <a:prstGeom prst="rect">
            <a:avLst/>
          </a:prstGeom>
          <a:noFill/>
        </p:spPr>
        <p:txBody>
          <a:bodyPr wrap="square" lIns="0" rIns="0" tIns="0" bIns="0" anchor="t">
            <a:spAutoFit/>
          </a:bodyPr>
          <a:lstStyle/>
          <a:p>
            <a:pPr algn="l">
              <a:lnSpc>
                <a:spcPct val="100000"/>
              </a:lnSpc>
            </a:pPr>
            <a:r>
              <a:rPr sz="1400" b="1">
                <a:solidFill>
                  <a:srgbClr val="E2571B"/>
                </a:solidFill>
                <a:latin typeface="Noto Sans KR"/>
                <a:ea typeface="Noto Sans KR"/>
                <a:cs typeface="Noto Sans KR"/>
              </a:rPr>
              <a:t>4  </a:t>
            </a:r>
            <a:r>
              <a:rPr sz="1400" b="1">
                <a:solidFill>
                  <a:srgbClr val="15171A"/>
                </a:solidFill>
                <a:latin typeface="Noto Sans KR"/>
                <a:ea typeface="Noto Sans KR"/>
                <a:cs typeface="Noto Sans KR"/>
              </a:rPr>
              <a:t>버튼 누르기</a:t>
            </a:r>
          </a:p>
        </p:txBody>
      </p:sp>
      <p:sp>
        <p:nvSpPr>
          <p:cNvPr id="16" name="TextBox 15"/>
          <p:cNvSpPr txBox="1"/>
          <p:nvPr/>
        </p:nvSpPr>
        <p:spPr>
          <a:xfrm>
            <a:off x="6178143" y="4090263"/>
            <a:ext cx="1666189" cy="457200"/>
          </a:xfrm>
          <a:prstGeom prst="rect">
            <a:avLst/>
          </a:prstGeom>
          <a:noFill/>
        </p:spPr>
        <p:txBody>
          <a:bodyPr wrap="square" lIns="0" rIns="0" tIns="0" bIns="0" anchor="t">
            <a:spAutoFit/>
          </a:bodyPr>
          <a:lstStyle/>
          <a:p>
            <a:pPr algn="l">
              <a:lnSpc>
                <a:spcPct val="100000"/>
              </a:lnSpc>
            </a:pPr>
            <a:r>
              <a:rPr sz="1150" b="0">
                <a:solidFill>
                  <a:srgbClr val="4A4F57"/>
                </a:solidFill>
                <a:latin typeface="Noto Sans KR"/>
                <a:ea typeface="Noto Sans KR"/>
                <a:cs typeface="Noto Sans KR"/>
              </a:rPr>
              <a:t>기존 조작 버튼 그대로</a:t>
            </a:r>
          </a:p>
        </p:txBody>
      </p:sp>
      <p:pic>
        <p:nvPicPr>
          <p:cNvPr id="17" name="Picture 16" descr="s5_unload_color_light_182x162_50_50_100.jpg"/>
          <p:cNvPicPr>
            <a:picLocks noChangeAspect="1"/>
          </p:cNvPicPr>
          <p:nvPr/>
        </p:nvPicPr>
        <p:blipFill>
          <a:blip r:embed="rId6"/>
          <a:stretch>
            <a:fillRect/>
          </a:stretch>
        </p:blipFill>
        <p:spPr>
          <a:xfrm>
            <a:off x="8008924" y="2170023"/>
            <a:ext cx="1666189" cy="1481328"/>
          </a:xfrm>
          <a:prstGeom prst="rect">
            <a:avLst/>
          </a:prstGeom>
        </p:spPr>
      </p:pic>
      <p:sp>
        <p:nvSpPr>
          <p:cNvPr id="18" name="TextBox 17"/>
          <p:cNvSpPr txBox="1"/>
          <p:nvPr/>
        </p:nvSpPr>
        <p:spPr>
          <a:xfrm>
            <a:off x="8008924" y="3779367"/>
            <a:ext cx="1666189" cy="274320"/>
          </a:xfrm>
          <a:prstGeom prst="rect">
            <a:avLst/>
          </a:prstGeom>
          <a:noFill/>
        </p:spPr>
        <p:txBody>
          <a:bodyPr wrap="square" lIns="0" rIns="0" tIns="0" bIns="0" anchor="t">
            <a:spAutoFit/>
          </a:bodyPr>
          <a:lstStyle/>
          <a:p>
            <a:pPr algn="l">
              <a:lnSpc>
                <a:spcPct val="100000"/>
              </a:lnSpc>
            </a:pPr>
            <a:r>
              <a:rPr sz="1400" b="1">
                <a:solidFill>
                  <a:srgbClr val="E2571B"/>
                </a:solidFill>
                <a:latin typeface="Noto Sans KR"/>
                <a:ea typeface="Noto Sans KR"/>
                <a:cs typeface="Noto Sans KR"/>
              </a:rPr>
              <a:t>5  </a:t>
            </a:r>
            <a:r>
              <a:rPr sz="1400" b="1">
                <a:solidFill>
                  <a:srgbClr val="15171A"/>
                </a:solidFill>
                <a:latin typeface="Noto Sans KR"/>
                <a:ea typeface="Noto Sans KR"/>
                <a:cs typeface="Noto Sans KR"/>
              </a:rPr>
              <a:t>완성품 꺼내기</a:t>
            </a:r>
          </a:p>
        </p:txBody>
      </p:sp>
      <p:sp>
        <p:nvSpPr>
          <p:cNvPr id="19" name="TextBox 18"/>
          <p:cNvSpPr txBox="1"/>
          <p:nvPr/>
        </p:nvSpPr>
        <p:spPr>
          <a:xfrm>
            <a:off x="8008924" y="4090263"/>
            <a:ext cx="1666189" cy="457200"/>
          </a:xfrm>
          <a:prstGeom prst="rect">
            <a:avLst/>
          </a:prstGeom>
          <a:noFill/>
        </p:spPr>
        <p:txBody>
          <a:bodyPr wrap="square" lIns="0" rIns="0" tIns="0" bIns="0" anchor="t">
            <a:spAutoFit/>
          </a:bodyPr>
          <a:lstStyle/>
          <a:p>
            <a:pPr algn="l">
              <a:lnSpc>
                <a:spcPct val="100000"/>
              </a:lnSpc>
            </a:pPr>
            <a:r>
              <a:rPr sz="1150" b="0">
                <a:solidFill>
                  <a:srgbClr val="4A4F57"/>
                </a:solidFill>
                <a:latin typeface="Noto Sans KR"/>
                <a:ea typeface="Noto Sans KR"/>
                <a:cs typeface="Noto Sans KR"/>
              </a:rPr>
              <a:t>가공 완료 부품 배출</a:t>
            </a:r>
          </a:p>
        </p:txBody>
      </p:sp>
      <p:pic>
        <p:nvPicPr>
          <p:cNvPr id="20" name="Picture 19" descr="s6_close_color_light_182x162_50_50_100.jpg"/>
          <p:cNvPicPr>
            <a:picLocks noChangeAspect="1"/>
          </p:cNvPicPr>
          <p:nvPr/>
        </p:nvPicPr>
        <p:blipFill>
          <a:blip r:embed="rId7"/>
          <a:stretch>
            <a:fillRect/>
          </a:stretch>
        </p:blipFill>
        <p:spPr>
          <a:xfrm>
            <a:off x="9839706" y="2170023"/>
            <a:ext cx="1666189" cy="1481328"/>
          </a:xfrm>
          <a:prstGeom prst="rect">
            <a:avLst/>
          </a:prstGeom>
        </p:spPr>
      </p:pic>
      <p:sp>
        <p:nvSpPr>
          <p:cNvPr id="21" name="TextBox 20"/>
          <p:cNvSpPr txBox="1"/>
          <p:nvPr/>
        </p:nvSpPr>
        <p:spPr>
          <a:xfrm>
            <a:off x="9839706" y="3779367"/>
            <a:ext cx="1666189" cy="274320"/>
          </a:xfrm>
          <a:prstGeom prst="rect">
            <a:avLst/>
          </a:prstGeom>
          <a:noFill/>
        </p:spPr>
        <p:txBody>
          <a:bodyPr wrap="square" lIns="0" rIns="0" tIns="0" bIns="0" anchor="t">
            <a:spAutoFit/>
          </a:bodyPr>
          <a:lstStyle/>
          <a:p>
            <a:pPr algn="l">
              <a:lnSpc>
                <a:spcPct val="100000"/>
              </a:lnSpc>
            </a:pPr>
            <a:r>
              <a:rPr sz="1400" b="1">
                <a:solidFill>
                  <a:srgbClr val="E2571B"/>
                </a:solidFill>
                <a:latin typeface="Noto Sans KR"/>
                <a:ea typeface="Noto Sans KR"/>
                <a:cs typeface="Noto Sans KR"/>
              </a:rPr>
              <a:t>6  </a:t>
            </a:r>
            <a:r>
              <a:rPr sz="1400" b="1">
                <a:solidFill>
                  <a:srgbClr val="15171A"/>
                </a:solidFill>
                <a:latin typeface="Noto Sans KR"/>
                <a:ea typeface="Noto Sans KR"/>
                <a:cs typeface="Noto Sans KR"/>
              </a:rPr>
              <a:t>문 닫기</a:t>
            </a:r>
          </a:p>
        </p:txBody>
      </p:sp>
      <p:sp>
        <p:nvSpPr>
          <p:cNvPr id="22" name="TextBox 21"/>
          <p:cNvSpPr txBox="1"/>
          <p:nvPr/>
        </p:nvSpPr>
        <p:spPr>
          <a:xfrm>
            <a:off x="9839706" y="4090263"/>
            <a:ext cx="1666189" cy="457200"/>
          </a:xfrm>
          <a:prstGeom prst="rect">
            <a:avLst/>
          </a:prstGeom>
          <a:noFill/>
        </p:spPr>
        <p:txBody>
          <a:bodyPr wrap="square" lIns="0" rIns="0" tIns="0" bIns="0" anchor="t">
            <a:spAutoFit/>
          </a:bodyPr>
          <a:lstStyle/>
          <a:p>
            <a:pPr algn="l">
              <a:lnSpc>
                <a:spcPct val="100000"/>
              </a:lnSpc>
            </a:pPr>
            <a:r>
              <a:rPr sz="1150" b="0">
                <a:solidFill>
                  <a:srgbClr val="4A4F57"/>
                </a:solidFill>
                <a:latin typeface="Noto Sans KR"/>
                <a:ea typeface="Noto Sans KR"/>
                <a:cs typeface="Noto Sans KR"/>
              </a:rPr>
              <a:t>다음 사이클 시작</a:t>
            </a:r>
          </a:p>
        </p:txBody>
      </p:sp>
      <p:cxnSp>
        <p:nvCxnSpPr>
          <p:cNvPr id="23" name="Connector 22"/>
          <p:cNvCxnSpPr/>
          <p:nvPr/>
        </p:nvCxnSpPr>
        <p:spPr>
          <a:xfrm>
            <a:off x="685800" y="4730343"/>
            <a:ext cx="10820095" cy="0"/>
          </a:xfrm>
          <a:prstGeom prst="line">
            <a:avLst/>
          </a:prstGeom>
          <a:ln w="12700">
            <a:solidFill>
              <a:srgbClr val="15171A"/>
            </a:solidFill>
          </a:ln>
        </p:spPr>
      </p:cxnSp>
      <p:sp>
        <p:nvSpPr>
          <p:cNvPr id="24" name="TextBox 23"/>
          <p:cNvSpPr txBox="1"/>
          <p:nvPr/>
        </p:nvSpPr>
        <p:spPr>
          <a:xfrm>
            <a:off x="685800" y="4840071"/>
            <a:ext cx="1005840" cy="1005840"/>
          </a:xfrm>
          <a:prstGeom prst="rect">
            <a:avLst/>
          </a:prstGeom>
          <a:noFill/>
        </p:spPr>
        <p:txBody>
          <a:bodyPr wrap="square" lIns="0" rIns="0" tIns="0" bIns="0" anchor="t">
            <a:spAutoFit/>
          </a:bodyPr>
          <a:lstStyle/>
          <a:p>
            <a:pPr algn="l">
              <a:lnSpc>
                <a:spcPct val="90000"/>
              </a:lnSpc>
            </a:pPr>
            <a:r>
              <a:rPr sz="6000" b="1">
                <a:solidFill>
                  <a:srgbClr val="15171A"/>
                </a:solidFill>
                <a:latin typeface="Noto Sans KR"/>
                <a:ea typeface="Noto Sans KR"/>
                <a:cs typeface="Noto Sans KR"/>
              </a:rPr>
              <a:t>1</a:t>
            </a:r>
          </a:p>
        </p:txBody>
      </p:sp>
      <p:sp>
        <p:nvSpPr>
          <p:cNvPr id="25" name="TextBox 24"/>
          <p:cNvSpPr txBox="1"/>
          <p:nvPr/>
        </p:nvSpPr>
        <p:spPr>
          <a:xfrm>
            <a:off x="1645920" y="5050383"/>
            <a:ext cx="2280818" cy="310896"/>
          </a:xfrm>
          <a:prstGeom prst="rect">
            <a:avLst/>
          </a:prstGeom>
          <a:noFill/>
        </p:spPr>
        <p:txBody>
          <a:bodyPr wrap="square" lIns="0" rIns="0" tIns="0" bIns="0" anchor="t">
            <a:spAutoFit/>
          </a:bodyPr>
          <a:lstStyle/>
          <a:p>
            <a:pPr algn="l">
              <a:lnSpc>
                <a:spcPct val="100000"/>
              </a:lnSpc>
            </a:pPr>
            <a:r>
              <a:rPr sz="1700" b="1">
                <a:solidFill>
                  <a:srgbClr val="15171A"/>
                </a:solidFill>
                <a:latin typeface="Noto Sans KR"/>
                <a:ea typeface="Noto Sans KR"/>
                <a:cs typeface="Noto Sans KR"/>
              </a:rPr>
              <a:t>핸드</a:t>
            </a:r>
          </a:p>
        </p:txBody>
      </p:sp>
      <p:sp>
        <p:nvSpPr>
          <p:cNvPr id="26" name="TextBox 25"/>
          <p:cNvSpPr txBox="1"/>
          <p:nvPr/>
        </p:nvSpPr>
        <p:spPr>
          <a:xfrm>
            <a:off x="1645920" y="5406999"/>
            <a:ext cx="2280818" cy="274320"/>
          </a:xfrm>
          <a:prstGeom prst="rect">
            <a:avLst/>
          </a:prstGeom>
          <a:noFill/>
        </p:spPr>
        <p:txBody>
          <a:bodyPr wrap="square" lIns="0" rIns="0" tIns="0" bIns="0" anchor="t">
            <a:spAutoFit/>
          </a:bodyPr>
          <a:lstStyle/>
          <a:p>
            <a:pPr algn="l">
              <a:lnSpc>
                <a:spcPct val="100000"/>
              </a:lnSpc>
            </a:pPr>
            <a:r>
              <a:rPr sz="1200" b="0">
                <a:solidFill>
                  <a:srgbClr val="4A4F57"/>
                </a:solidFill>
                <a:latin typeface="Noto Sans KR"/>
                <a:ea typeface="Noto Sans KR"/>
                <a:cs typeface="Noto Sans KR"/>
              </a:rPr>
              <a:t>로봇 1대에 핸드 1개</a:t>
            </a:r>
          </a:p>
        </p:txBody>
      </p:sp>
      <p:cxnSp>
        <p:nvCxnSpPr>
          <p:cNvPr id="27" name="Connector 26"/>
          <p:cNvCxnSpPr/>
          <p:nvPr/>
        </p:nvCxnSpPr>
        <p:spPr>
          <a:xfrm>
            <a:off x="4274210" y="4958943"/>
            <a:ext cx="0" cy="960120"/>
          </a:xfrm>
          <a:prstGeom prst="line">
            <a:avLst/>
          </a:prstGeom>
          <a:ln w="9525">
            <a:solidFill>
              <a:srgbClr val="E2E4E7"/>
            </a:solidFill>
          </a:ln>
        </p:spPr>
      </p:cxnSp>
      <p:sp>
        <p:nvSpPr>
          <p:cNvPr id="28" name="TextBox 27"/>
          <p:cNvSpPr txBox="1"/>
          <p:nvPr/>
        </p:nvSpPr>
        <p:spPr>
          <a:xfrm>
            <a:off x="4521098" y="4840071"/>
            <a:ext cx="1005840" cy="1005840"/>
          </a:xfrm>
          <a:prstGeom prst="rect">
            <a:avLst/>
          </a:prstGeom>
          <a:noFill/>
        </p:spPr>
        <p:txBody>
          <a:bodyPr wrap="square" lIns="0" rIns="0" tIns="0" bIns="0" anchor="t">
            <a:spAutoFit/>
          </a:bodyPr>
          <a:lstStyle/>
          <a:p>
            <a:pPr algn="l">
              <a:lnSpc>
                <a:spcPct val="90000"/>
              </a:lnSpc>
            </a:pPr>
            <a:r>
              <a:rPr sz="6000" b="1">
                <a:solidFill>
                  <a:srgbClr val="15171A"/>
                </a:solidFill>
                <a:latin typeface="Noto Sans KR"/>
                <a:ea typeface="Noto Sans KR"/>
                <a:cs typeface="Noto Sans KR"/>
              </a:rPr>
              <a:t>5</a:t>
            </a:r>
          </a:p>
        </p:txBody>
      </p:sp>
      <p:sp>
        <p:nvSpPr>
          <p:cNvPr id="29" name="TextBox 28"/>
          <p:cNvSpPr txBox="1"/>
          <p:nvPr/>
        </p:nvSpPr>
        <p:spPr>
          <a:xfrm>
            <a:off x="5481218" y="5050383"/>
            <a:ext cx="2280818" cy="310896"/>
          </a:xfrm>
          <a:prstGeom prst="rect">
            <a:avLst/>
          </a:prstGeom>
          <a:noFill/>
        </p:spPr>
        <p:txBody>
          <a:bodyPr wrap="square" lIns="0" rIns="0" tIns="0" bIns="0" anchor="t">
            <a:spAutoFit/>
          </a:bodyPr>
          <a:lstStyle/>
          <a:p>
            <a:pPr algn="l">
              <a:lnSpc>
                <a:spcPct val="100000"/>
              </a:lnSpc>
            </a:pPr>
            <a:r>
              <a:rPr sz="1700" b="1">
                <a:solidFill>
                  <a:srgbClr val="15171A"/>
                </a:solidFill>
                <a:latin typeface="Noto Sans KR"/>
                <a:ea typeface="Noto Sans KR"/>
                <a:cs typeface="Noto Sans KR"/>
              </a:rPr>
              <a:t>작업 종류</a:t>
            </a:r>
          </a:p>
        </p:txBody>
      </p:sp>
      <p:sp>
        <p:nvSpPr>
          <p:cNvPr id="30" name="TextBox 29"/>
          <p:cNvSpPr txBox="1"/>
          <p:nvPr/>
        </p:nvSpPr>
        <p:spPr>
          <a:xfrm>
            <a:off x="5481218" y="5406999"/>
            <a:ext cx="2280818" cy="274320"/>
          </a:xfrm>
          <a:prstGeom prst="rect">
            <a:avLst/>
          </a:prstGeom>
          <a:noFill/>
        </p:spPr>
        <p:txBody>
          <a:bodyPr wrap="square" lIns="0" rIns="0" tIns="0" bIns="0" anchor="t">
            <a:spAutoFit/>
          </a:bodyPr>
          <a:lstStyle/>
          <a:p>
            <a:pPr algn="l">
              <a:lnSpc>
                <a:spcPct val="100000"/>
              </a:lnSpc>
            </a:pPr>
            <a:r>
              <a:rPr sz="1200" b="0">
                <a:solidFill>
                  <a:srgbClr val="4A4F57"/>
                </a:solidFill>
                <a:latin typeface="Noto Sans KR"/>
                <a:ea typeface="Noto Sans KR"/>
                <a:cs typeface="Noto Sans KR"/>
              </a:rPr>
              <a:t>열기·집기·투입·조작·배출</a:t>
            </a:r>
          </a:p>
        </p:txBody>
      </p:sp>
      <p:cxnSp>
        <p:nvCxnSpPr>
          <p:cNvPr id="31" name="Connector 30"/>
          <p:cNvCxnSpPr/>
          <p:nvPr/>
        </p:nvCxnSpPr>
        <p:spPr>
          <a:xfrm>
            <a:off x="7880908" y="4958943"/>
            <a:ext cx="0" cy="960120"/>
          </a:xfrm>
          <a:prstGeom prst="line">
            <a:avLst/>
          </a:prstGeom>
          <a:ln w="9525">
            <a:solidFill>
              <a:srgbClr val="E2E4E7"/>
            </a:solidFill>
          </a:ln>
        </p:spPr>
      </p:cxnSp>
      <p:sp>
        <p:nvSpPr>
          <p:cNvPr id="32" name="TextBox 31"/>
          <p:cNvSpPr txBox="1"/>
          <p:nvPr/>
        </p:nvSpPr>
        <p:spPr>
          <a:xfrm>
            <a:off x="8127796" y="4840071"/>
            <a:ext cx="1005840" cy="1005840"/>
          </a:xfrm>
          <a:prstGeom prst="rect">
            <a:avLst/>
          </a:prstGeom>
          <a:noFill/>
        </p:spPr>
        <p:txBody>
          <a:bodyPr wrap="square" lIns="0" rIns="0" tIns="0" bIns="0" anchor="t">
            <a:spAutoFit/>
          </a:bodyPr>
          <a:lstStyle/>
          <a:p>
            <a:pPr algn="l">
              <a:lnSpc>
                <a:spcPct val="90000"/>
              </a:lnSpc>
            </a:pPr>
            <a:r>
              <a:rPr sz="6000" b="1">
                <a:solidFill>
                  <a:srgbClr val="E2571B"/>
                </a:solidFill>
                <a:latin typeface="Noto Sans KR"/>
                <a:ea typeface="Noto Sans KR"/>
                <a:cs typeface="Noto Sans KR"/>
              </a:rPr>
              <a:t>0</a:t>
            </a:r>
          </a:p>
        </p:txBody>
      </p:sp>
      <p:sp>
        <p:nvSpPr>
          <p:cNvPr id="33" name="TextBox 32"/>
          <p:cNvSpPr txBox="1"/>
          <p:nvPr/>
        </p:nvSpPr>
        <p:spPr>
          <a:xfrm>
            <a:off x="9087916" y="5050383"/>
            <a:ext cx="2280818" cy="310896"/>
          </a:xfrm>
          <a:prstGeom prst="rect">
            <a:avLst/>
          </a:prstGeom>
          <a:noFill/>
        </p:spPr>
        <p:txBody>
          <a:bodyPr wrap="square" lIns="0" rIns="0" tIns="0" bIns="0" anchor="t">
            <a:spAutoFit/>
          </a:bodyPr>
          <a:lstStyle/>
          <a:p>
            <a:pPr algn="l">
              <a:lnSpc>
                <a:spcPct val="100000"/>
              </a:lnSpc>
            </a:pPr>
            <a:r>
              <a:rPr sz="1700" b="1">
                <a:solidFill>
                  <a:srgbClr val="15171A"/>
                </a:solidFill>
                <a:latin typeface="Noto Sans KR"/>
                <a:ea typeface="Noto Sans KR"/>
                <a:cs typeface="Noto Sans KR"/>
              </a:rPr>
              <a:t>핸드 교체</a:t>
            </a:r>
          </a:p>
        </p:txBody>
      </p:sp>
      <p:sp>
        <p:nvSpPr>
          <p:cNvPr id="34" name="TextBox 33"/>
          <p:cNvSpPr txBox="1"/>
          <p:nvPr/>
        </p:nvSpPr>
        <p:spPr>
          <a:xfrm>
            <a:off x="9087916" y="5406999"/>
            <a:ext cx="2280818" cy="274320"/>
          </a:xfrm>
          <a:prstGeom prst="rect">
            <a:avLst/>
          </a:prstGeom>
          <a:noFill/>
        </p:spPr>
        <p:txBody>
          <a:bodyPr wrap="square" lIns="0" rIns="0" tIns="0" bIns="0" anchor="t">
            <a:spAutoFit/>
          </a:bodyPr>
          <a:lstStyle/>
          <a:p>
            <a:pPr algn="l">
              <a:lnSpc>
                <a:spcPct val="100000"/>
              </a:lnSpc>
            </a:pPr>
            <a:r>
              <a:rPr sz="1200" b="0">
                <a:solidFill>
                  <a:srgbClr val="4A4F57"/>
                </a:solidFill>
                <a:latin typeface="Noto Sans KR"/>
                <a:ea typeface="Noto Sans KR"/>
                <a:cs typeface="Noto Sans KR"/>
              </a:rPr>
              <a:t>툴 체인저 없이 1사이클</a:t>
            </a:r>
          </a:p>
        </p:txBody>
      </p:sp>
      <p:sp>
        <p:nvSpPr>
          <p:cNvPr id="35" name="TextBox 34"/>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SoftHand-4  |  Seed 투자 제안서</a:t>
            </a:r>
          </a:p>
        </p:txBody>
      </p:sp>
      <p:sp>
        <p:nvSpPr>
          <p:cNvPr id="36" name="TextBox 35"/>
          <p:cNvSpPr txBox="1"/>
          <p:nvPr/>
        </p:nvSpPr>
        <p:spPr>
          <a:xfrm>
            <a:off x="3154680" y="6446520"/>
            <a:ext cx="7802575"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개념 공정 · 창업 후 6개월 내 대표 공정 반복시험, 단계별 완료율·사람 개입 시간 분리 보고 · 콘셉트 렌더링</a:t>
            </a:r>
          </a:p>
        </p:txBody>
      </p:sp>
      <p:sp>
        <p:nvSpPr>
          <p:cNvPr id="37" name="TextBox 36"/>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48640"/>
            <a:ext cx="7315200" cy="274320"/>
          </a:xfrm>
          <a:prstGeom prst="rect">
            <a:avLst/>
          </a:prstGeom>
          <a:noFill/>
        </p:spPr>
        <p:txBody>
          <a:bodyPr wrap="square" lIns="0" rIns="0" tIns="0" bIns="0" anchor="t">
            <a:spAutoFit/>
          </a:bodyPr>
          <a:lstStyle/>
          <a:p>
            <a:pPr algn="l">
              <a:lnSpc>
                <a:spcPct val="100000"/>
              </a:lnSpc>
            </a:pPr>
            <a:r>
              <a:rPr sz="1200" b="1">
                <a:solidFill>
                  <a:srgbClr val="E2571B"/>
                </a:solidFill>
                <a:latin typeface="Noto Sans KR"/>
                <a:ea typeface="Noto Sans KR"/>
                <a:cs typeface="Noto Sans KR"/>
              </a:rPr>
              <a:t>첫 시장</a:t>
            </a:r>
          </a:p>
        </p:txBody>
      </p:sp>
      <p:sp>
        <p:nvSpPr>
          <p:cNvPr id="3" name="TextBox 2"/>
          <p:cNvSpPr txBox="1"/>
          <p:nvPr/>
        </p:nvSpPr>
        <p:spPr>
          <a:xfrm>
            <a:off x="685800" y="932688"/>
            <a:ext cx="10820095" cy="542391"/>
          </a:xfrm>
          <a:prstGeom prst="rect">
            <a:avLst/>
          </a:prstGeom>
          <a:noFill/>
        </p:spPr>
        <p:txBody>
          <a:bodyPr wrap="square" lIns="0" rIns="0" tIns="0" bIns="0" anchor="t">
            <a:spAutoFit/>
          </a:bodyPr>
          <a:lstStyle/>
          <a:p>
            <a:pPr algn="l">
              <a:lnSpc>
                <a:spcPct val="95000"/>
              </a:lnSpc>
            </a:pPr>
            <a:r>
              <a:rPr sz="3000" b="1">
                <a:solidFill>
                  <a:srgbClr val="15171A"/>
                </a:solidFill>
                <a:latin typeface="Noto Sans KR"/>
                <a:ea typeface="Noto Sans KR"/>
                <a:cs typeface="Noto Sans KR"/>
              </a:rPr>
              <a:t>첫 시장은 다품종 머신텐딩</a:t>
            </a:r>
          </a:p>
        </p:txBody>
      </p:sp>
      <p:sp>
        <p:nvSpPr>
          <p:cNvPr id="4" name="TextBox 3"/>
          <p:cNvSpPr txBox="1"/>
          <p:nvPr/>
        </p:nvSpPr>
        <p:spPr>
          <a:xfrm>
            <a:off x="685800" y="1584807"/>
            <a:ext cx="10820095" cy="329184"/>
          </a:xfrm>
          <a:prstGeom prst="rect">
            <a:avLst/>
          </a:prstGeom>
          <a:noFill/>
        </p:spPr>
        <p:txBody>
          <a:bodyPr wrap="square" lIns="0" rIns="0" tIns="0" bIns="0" anchor="t">
            <a:spAutoFit/>
          </a:bodyPr>
          <a:lstStyle/>
          <a:p>
            <a:pPr algn="l">
              <a:lnSpc>
                <a:spcPct val="100000"/>
              </a:lnSpc>
            </a:pPr>
            <a:r>
              <a:rPr sz="1600" b="0">
                <a:solidFill>
                  <a:srgbClr val="4A4F57"/>
                </a:solidFill>
                <a:latin typeface="Noto Sans KR"/>
                <a:ea typeface="Noto Sans KR"/>
                <a:cs typeface="Noto Sans KR"/>
              </a:rPr>
              <a:t>공작기계 소재 투입·배출, 기존 설비를 크게 바꾸지 않는 자동화</a:t>
            </a:r>
          </a:p>
        </p:txBody>
      </p:sp>
      <p:pic>
        <p:nvPicPr>
          <p:cNvPr id="5" name="Picture 4" descr="overview_color_light_575x330_50_50_100.jpg"/>
          <p:cNvPicPr>
            <a:picLocks noChangeAspect="1"/>
          </p:cNvPicPr>
          <p:nvPr/>
        </p:nvPicPr>
        <p:blipFill>
          <a:blip r:embed="rId2"/>
          <a:stretch>
            <a:fillRect/>
          </a:stretch>
        </p:blipFill>
        <p:spPr>
          <a:xfrm>
            <a:off x="685800" y="2096871"/>
            <a:ext cx="5257800" cy="3017520"/>
          </a:xfrm>
          <a:prstGeom prst="rect">
            <a:avLst/>
          </a:prstGeom>
        </p:spPr>
      </p:pic>
      <p:sp>
        <p:nvSpPr>
          <p:cNvPr id="6" name="TextBox 5"/>
          <p:cNvSpPr txBox="1"/>
          <p:nvPr/>
        </p:nvSpPr>
        <p:spPr>
          <a:xfrm>
            <a:off x="685800" y="5278983"/>
            <a:ext cx="5257800" cy="274320"/>
          </a:xfrm>
          <a:prstGeom prst="rect">
            <a:avLst/>
          </a:prstGeom>
          <a:noFill/>
        </p:spPr>
        <p:txBody>
          <a:bodyPr wrap="square" lIns="0" rIns="0" tIns="0" bIns="0" anchor="t">
            <a:spAutoFit/>
          </a:bodyPr>
          <a:lstStyle/>
          <a:p>
            <a:pPr algn="l">
              <a:lnSpc>
                <a:spcPct val="100000"/>
              </a:lnSpc>
            </a:pPr>
            <a:r>
              <a:rPr sz="1200" b="1">
                <a:solidFill>
                  <a:srgbClr val="E2571B"/>
                </a:solidFill>
                <a:latin typeface="Noto Sans KR"/>
                <a:ea typeface="Noto Sans KR"/>
                <a:cs typeface="Noto Sans KR"/>
              </a:rPr>
              <a:t>첫 고객 (가설)</a:t>
            </a:r>
          </a:p>
        </p:txBody>
      </p:sp>
      <p:sp>
        <p:nvSpPr>
          <p:cNvPr id="7" name="TextBox 6"/>
          <p:cNvSpPr txBox="1"/>
          <p:nvPr/>
        </p:nvSpPr>
        <p:spPr>
          <a:xfrm>
            <a:off x="685800" y="5553303"/>
            <a:ext cx="5257800" cy="566928"/>
          </a:xfrm>
          <a:prstGeom prst="rect">
            <a:avLst/>
          </a:prstGeom>
          <a:noFill/>
        </p:spPr>
        <p:txBody>
          <a:bodyPr wrap="square" lIns="0" rIns="0" tIns="0" bIns="0" anchor="t">
            <a:spAutoFit/>
          </a:bodyPr>
          <a:lstStyle/>
          <a:p>
            <a:pPr algn="l">
              <a:lnSpc>
                <a:spcPct val="100000"/>
              </a:lnSpc>
            </a:pPr>
            <a:r>
              <a:rPr sz="1200" b="0">
                <a:solidFill>
                  <a:srgbClr val="4A4F57"/>
                </a:solidFill>
                <a:latin typeface="Noto Sans KR"/>
                <a:ea typeface="Noto Sans KR"/>
                <a:cs typeface="Noto Sans KR"/>
              </a:rPr>
              <a:t>다품종 가공 라인을 운영하는 중소·중견 제조사 생산기술팀, 도입은 로봇 SI 경유. 창업 후 90일 내 고객 인터뷰 30곳으로 검증</a:t>
            </a:r>
          </a:p>
        </p:txBody>
      </p:sp>
      <p:sp>
        <p:nvSpPr>
          <p:cNvPr id="8" name="TextBox 7"/>
          <p:cNvSpPr txBox="1"/>
          <p:nvPr/>
        </p:nvSpPr>
        <p:spPr>
          <a:xfrm>
            <a:off x="6446520" y="2096871"/>
            <a:ext cx="5059375" cy="292608"/>
          </a:xfrm>
          <a:prstGeom prst="rect">
            <a:avLst/>
          </a:prstGeom>
          <a:noFill/>
        </p:spPr>
        <p:txBody>
          <a:bodyPr wrap="square" lIns="0" rIns="0" tIns="0" bIns="0" anchor="t">
            <a:spAutoFit/>
          </a:bodyPr>
          <a:lstStyle/>
          <a:p>
            <a:pPr algn="l">
              <a:lnSpc>
                <a:spcPct val="100000"/>
              </a:lnSpc>
            </a:pPr>
            <a:r>
              <a:rPr sz="1400" b="1">
                <a:solidFill>
                  <a:srgbClr val="8C9198"/>
                </a:solidFill>
                <a:latin typeface="Noto Sans KR"/>
                <a:ea typeface="Noto Sans KR"/>
                <a:cs typeface="Noto Sans KR"/>
              </a:rPr>
              <a:t>머신텐딩부터 시작하는 이유</a:t>
            </a:r>
          </a:p>
        </p:txBody>
      </p:sp>
      <p:sp>
        <p:nvSpPr>
          <p:cNvPr id="9" name="TextBox 8"/>
          <p:cNvSpPr txBox="1"/>
          <p:nvPr/>
        </p:nvSpPr>
        <p:spPr>
          <a:xfrm>
            <a:off x="6446520" y="2480919"/>
            <a:ext cx="384048" cy="420624"/>
          </a:xfrm>
          <a:prstGeom prst="rect">
            <a:avLst/>
          </a:prstGeom>
          <a:noFill/>
        </p:spPr>
        <p:txBody>
          <a:bodyPr wrap="square" lIns="0" rIns="0" tIns="0" bIns="0" anchor="t">
            <a:spAutoFit/>
          </a:bodyPr>
          <a:lstStyle/>
          <a:p>
            <a:pPr algn="l">
              <a:lnSpc>
                <a:spcPct val="100000"/>
              </a:lnSpc>
            </a:pPr>
            <a:r>
              <a:rPr sz="2000" b="1">
                <a:solidFill>
                  <a:srgbClr val="E2571B"/>
                </a:solidFill>
                <a:latin typeface="Noto Sans KR"/>
                <a:ea typeface="Noto Sans KR"/>
                <a:cs typeface="Noto Sans KR"/>
              </a:rPr>
              <a:t>1</a:t>
            </a:r>
          </a:p>
        </p:txBody>
      </p:sp>
      <p:sp>
        <p:nvSpPr>
          <p:cNvPr id="10" name="TextBox 9"/>
          <p:cNvSpPr txBox="1"/>
          <p:nvPr/>
        </p:nvSpPr>
        <p:spPr>
          <a:xfrm>
            <a:off x="6830568" y="2508351"/>
            <a:ext cx="4675327" cy="292608"/>
          </a:xfrm>
          <a:prstGeom prst="rect">
            <a:avLst/>
          </a:prstGeom>
          <a:noFill/>
        </p:spPr>
        <p:txBody>
          <a:bodyPr wrap="square" lIns="0" rIns="0" tIns="0" bIns="0" anchor="t">
            <a:spAutoFit/>
          </a:bodyPr>
          <a:lstStyle/>
          <a:p>
            <a:pPr algn="l">
              <a:lnSpc>
                <a:spcPct val="100000"/>
              </a:lnSpc>
            </a:pPr>
            <a:r>
              <a:rPr sz="1500" b="1">
                <a:solidFill>
                  <a:srgbClr val="15171A"/>
                </a:solidFill>
                <a:latin typeface="Noto Sans KR"/>
                <a:ea typeface="Noto Sans KR"/>
                <a:cs typeface="Noto Sans KR"/>
              </a:rPr>
              <a:t>사람용 장치가 한 셀에 집중</a:t>
            </a:r>
          </a:p>
        </p:txBody>
      </p:sp>
      <p:sp>
        <p:nvSpPr>
          <p:cNvPr id="11" name="TextBox 10"/>
          <p:cNvSpPr txBox="1"/>
          <p:nvPr/>
        </p:nvSpPr>
        <p:spPr>
          <a:xfrm>
            <a:off x="6830568" y="2820771"/>
            <a:ext cx="4675327" cy="238963"/>
          </a:xfrm>
          <a:prstGeom prst="rect">
            <a:avLst/>
          </a:prstGeom>
          <a:noFill/>
        </p:spPr>
        <p:txBody>
          <a:bodyPr wrap="square" lIns="0" rIns="0" tIns="0" bIns="0" anchor="t">
            <a:spAutoFit/>
          </a:bodyPr>
          <a:lstStyle/>
          <a:p>
            <a:pPr algn="l">
              <a:lnSpc>
                <a:spcPct val="100000"/>
              </a:lnSpc>
            </a:pPr>
            <a:r>
              <a:rPr sz="1200" b="0">
                <a:solidFill>
                  <a:srgbClr val="4A4F57"/>
                </a:solidFill>
                <a:latin typeface="Noto Sans KR"/>
                <a:ea typeface="Noto Sans KR"/>
                <a:cs typeface="Noto Sans KR"/>
              </a:rPr>
              <a:t>문·손잡이·바이스 레버·버튼·트레이, 핸드 하나의 가치가 가장 큰 공정</a:t>
            </a:r>
          </a:p>
        </p:txBody>
      </p:sp>
      <p:sp>
        <p:nvSpPr>
          <p:cNvPr id="12" name="TextBox 11"/>
          <p:cNvSpPr txBox="1"/>
          <p:nvPr/>
        </p:nvSpPr>
        <p:spPr>
          <a:xfrm>
            <a:off x="6446520" y="3270046"/>
            <a:ext cx="384048" cy="420624"/>
          </a:xfrm>
          <a:prstGeom prst="rect">
            <a:avLst/>
          </a:prstGeom>
          <a:noFill/>
        </p:spPr>
        <p:txBody>
          <a:bodyPr wrap="square" lIns="0" rIns="0" tIns="0" bIns="0" anchor="t">
            <a:spAutoFit/>
          </a:bodyPr>
          <a:lstStyle/>
          <a:p>
            <a:pPr algn="l">
              <a:lnSpc>
                <a:spcPct val="100000"/>
              </a:lnSpc>
            </a:pPr>
            <a:r>
              <a:rPr sz="2000" b="1">
                <a:solidFill>
                  <a:srgbClr val="E2571B"/>
                </a:solidFill>
                <a:latin typeface="Noto Sans KR"/>
                <a:ea typeface="Noto Sans KR"/>
                <a:cs typeface="Noto Sans KR"/>
              </a:rPr>
              <a:t>2</a:t>
            </a:r>
          </a:p>
        </p:txBody>
      </p:sp>
      <p:sp>
        <p:nvSpPr>
          <p:cNvPr id="13" name="TextBox 12"/>
          <p:cNvSpPr txBox="1"/>
          <p:nvPr/>
        </p:nvSpPr>
        <p:spPr>
          <a:xfrm>
            <a:off x="6830568" y="3297478"/>
            <a:ext cx="4675327" cy="292608"/>
          </a:xfrm>
          <a:prstGeom prst="rect">
            <a:avLst/>
          </a:prstGeom>
          <a:noFill/>
        </p:spPr>
        <p:txBody>
          <a:bodyPr wrap="square" lIns="0" rIns="0" tIns="0" bIns="0" anchor="t">
            <a:spAutoFit/>
          </a:bodyPr>
          <a:lstStyle/>
          <a:p>
            <a:pPr algn="l">
              <a:lnSpc>
                <a:spcPct val="100000"/>
              </a:lnSpc>
            </a:pPr>
            <a:r>
              <a:rPr sz="1500" b="1">
                <a:solidFill>
                  <a:srgbClr val="15171A"/>
                </a:solidFill>
                <a:latin typeface="Noto Sans KR"/>
                <a:ea typeface="Noto Sans KR"/>
                <a:cs typeface="Noto Sans KR"/>
              </a:rPr>
              <a:t>전환 비용 측정 가능</a:t>
            </a:r>
          </a:p>
        </p:txBody>
      </p:sp>
      <p:sp>
        <p:nvSpPr>
          <p:cNvPr id="14" name="TextBox 13"/>
          <p:cNvSpPr txBox="1"/>
          <p:nvPr/>
        </p:nvSpPr>
        <p:spPr>
          <a:xfrm>
            <a:off x="6830568" y="3609898"/>
            <a:ext cx="4675327" cy="238963"/>
          </a:xfrm>
          <a:prstGeom prst="rect">
            <a:avLst/>
          </a:prstGeom>
          <a:noFill/>
        </p:spPr>
        <p:txBody>
          <a:bodyPr wrap="square" lIns="0" rIns="0" tIns="0" bIns="0" anchor="t">
            <a:spAutoFit/>
          </a:bodyPr>
          <a:lstStyle/>
          <a:p>
            <a:pPr algn="l">
              <a:lnSpc>
                <a:spcPct val="100000"/>
              </a:lnSpc>
            </a:pPr>
            <a:r>
              <a:rPr sz="1200" b="0">
                <a:solidFill>
                  <a:srgbClr val="4A4F57"/>
                </a:solidFill>
                <a:latin typeface="Noto Sans KR"/>
                <a:ea typeface="Noto Sans KR"/>
                <a:cs typeface="Noto Sans KR"/>
              </a:rPr>
              <a:t>품목 변경·엔지니어링 시간·사람 개입을 PoC에서 고객 기존 수치와 비교</a:t>
            </a:r>
          </a:p>
        </p:txBody>
      </p:sp>
      <p:sp>
        <p:nvSpPr>
          <p:cNvPr id="15" name="TextBox 14"/>
          <p:cNvSpPr txBox="1"/>
          <p:nvPr/>
        </p:nvSpPr>
        <p:spPr>
          <a:xfrm>
            <a:off x="6446520" y="4059173"/>
            <a:ext cx="384048" cy="420624"/>
          </a:xfrm>
          <a:prstGeom prst="rect">
            <a:avLst/>
          </a:prstGeom>
          <a:noFill/>
        </p:spPr>
        <p:txBody>
          <a:bodyPr wrap="square" lIns="0" rIns="0" tIns="0" bIns="0" anchor="t">
            <a:spAutoFit/>
          </a:bodyPr>
          <a:lstStyle/>
          <a:p>
            <a:pPr algn="l">
              <a:lnSpc>
                <a:spcPct val="100000"/>
              </a:lnSpc>
            </a:pPr>
            <a:r>
              <a:rPr sz="2000" b="1">
                <a:solidFill>
                  <a:srgbClr val="E2571B"/>
                </a:solidFill>
                <a:latin typeface="Noto Sans KR"/>
                <a:ea typeface="Noto Sans KR"/>
                <a:cs typeface="Noto Sans KR"/>
              </a:rPr>
              <a:t>3</a:t>
            </a:r>
          </a:p>
        </p:txBody>
      </p:sp>
      <p:sp>
        <p:nvSpPr>
          <p:cNvPr id="16" name="TextBox 15"/>
          <p:cNvSpPr txBox="1"/>
          <p:nvPr/>
        </p:nvSpPr>
        <p:spPr>
          <a:xfrm>
            <a:off x="6830568" y="4086605"/>
            <a:ext cx="4675327" cy="292608"/>
          </a:xfrm>
          <a:prstGeom prst="rect">
            <a:avLst/>
          </a:prstGeom>
          <a:noFill/>
        </p:spPr>
        <p:txBody>
          <a:bodyPr wrap="square" lIns="0" rIns="0" tIns="0" bIns="0" anchor="t">
            <a:spAutoFit/>
          </a:bodyPr>
          <a:lstStyle/>
          <a:p>
            <a:pPr algn="l">
              <a:lnSpc>
                <a:spcPct val="100000"/>
              </a:lnSpc>
            </a:pPr>
            <a:r>
              <a:rPr sz="1500" b="1">
                <a:solidFill>
                  <a:srgbClr val="15171A"/>
                </a:solidFill>
                <a:latin typeface="Noto Sans KR"/>
                <a:ea typeface="Noto Sans KR"/>
                <a:cs typeface="Noto Sans KR"/>
              </a:rPr>
              <a:t>SI가 이미 판매 중인 응용</a:t>
            </a:r>
          </a:p>
        </p:txBody>
      </p:sp>
      <p:sp>
        <p:nvSpPr>
          <p:cNvPr id="17" name="TextBox 16"/>
          <p:cNvSpPr txBox="1"/>
          <p:nvPr/>
        </p:nvSpPr>
        <p:spPr>
          <a:xfrm>
            <a:off x="6830568" y="4399026"/>
            <a:ext cx="4675327" cy="238963"/>
          </a:xfrm>
          <a:prstGeom prst="rect">
            <a:avLst/>
          </a:prstGeom>
          <a:noFill/>
        </p:spPr>
        <p:txBody>
          <a:bodyPr wrap="square" lIns="0" rIns="0" tIns="0" bIns="0" anchor="t">
            <a:spAutoFit/>
          </a:bodyPr>
          <a:lstStyle/>
          <a:p>
            <a:pPr algn="l">
              <a:lnSpc>
                <a:spcPct val="100000"/>
              </a:lnSpc>
            </a:pPr>
            <a:r>
              <a:rPr sz="1200" b="0">
                <a:solidFill>
                  <a:srgbClr val="4A4F57"/>
                </a:solidFill>
                <a:latin typeface="Noto Sans KR"/>
                <a:ea typeface="Noto Sans KR"/>
                <a:cs typeface="Noto Sans KR"/>
              </a:rPr>
              <a:t>새 시장 개척 대신 기존 셀의 유연성 향상, SI 채널로 바로 진입</a:t>
            </a:r>
          </a:p>
        </p:txBody>
      </p:sp>
      <p:cxnSp>
        <p:nvCxnSpPr>
          <p:cNvPr id="18" name="Connector 17"/>
          <p:cNvCxnSpPr/>
          <p:nvPr/>
        </p:nvCxnSpPr>
        <p:spPr>
          <a:xfrm>
            <a:off x="6446520" y="4921453"/>
            <a:ext cx="5059375" cy="0"/>
          </a:xfrm>
          <a:prstGeom prst="line">
            <a:avLst/>
          </a:prstGeom>
          <a:ln w="12700">
            <a:solidFill>
              <a:srgbClr val="15171A"/>
            </a:solidFill>
          </a:ln>
        </p:spPr>
      </p:cxnSp>
      <p:sp>
        <p:nvSpPr>
          <p:cNvPr id="19" name="TextBox 18"/>
          <p:cNvSpPr txBox="1"/>
          <p:nvPr/>
        </p:nvSpPr>
        <p:spPr>
          <a:xfrm>
            <a:off x="6446520" y="5031181"/>
            <a:ext cx="5059375" cy="292608"/>
          </a:xfrm>
          <a:prstGeom prst="rect">
            <a:avLst/>
          </a:prstGeom>
          <a:noFill/>
        </p:spPr>
        <p:txBody>
          <a:bodyPr wrap="square" lIns="0" rIns="0" tIns="0" bIns="0" anchor="t">
            <a:spAutoFit/>
          </a:bodyPr>
          <a:lstStyle/>
          <a:p>
            <a:pPr algn="l">
              <a:lnSpc>
                <a:spcPct val="100000"/>
              </a:lnSpc>
            </a:pPr>
            <a:r>
              <a:rPr sz="1400" b="1">
                <a:solidFill>
                  <a:srgbClr val="15171A"/>
                </a:solidFill>
                <a:latin typeface="Noto Sans KR"/>
                <a:ea typeface="Noto Sans KR"/>
                <a:cs typeface="Noto Sans KR"/>
              </a:rPr>
              <a:t>원칙: 핸드가 경제적 가치를 만드는 작업부터</a:t>
            </a:r>
          </a:p>
        </p:txBody>
      </p:sp>
      <p:sp>
        <p:nvSpPr>
          <p:cNvPr id="20" name="TextBox 19"/>
          <p:cNvSpPr txBox="1"/>
          <p:nvPr/>
        </p:nvSpPr>
        <p:spPr>
          <a:xfrm>
            <a:off x="6446520" y="5378653"/>
            <a:ext cx="5059375" cy="566928"/>
          </a:xfrm>
          <a:prstGeom prst="rect">
            <a:avLst/>
          </a:prstGeom>
          <a:noFill/>
        </p:spPr>
        <p:txBody>
          <a:bodyPr wrap="square" lIns="0" rIns="0" tIns="0" bIns="0" anchor="t">
            <a:spAutoFit/>
          </a:bodyPr>
          <a:lstStyle/>
          <a:p>
            <a:pPr algn="l">
              <a:lnSpc>
                <a:spcPct val="100000"/>
              </a:lnSpc>
              <a:spcAft>
                <a:spcPts val="300"/>
              </a:spcAft>
            </a:pPr>
            <a:r>
              <a:rPr sz="1200" b="1">
                <a:solidFill>
                  <a:srgbClr val="15171A"/>
                </a:solidFill>
                <a:latin typeface="Noto Sans KR"/>
                <a:ea typeface="Noto Sans KR"/>
                <a:cs typeface="Noto Sans KR"/>
              </a:rPr>
              <a:t>우선  </a:t>
            </a:r>
            <a:r>
              <a:rPr sz="1200" b="0">
                <a:solidFill>
                  <a:srgbClr val="4A4F57"/>
                </a:solidFill>
                <a:latin typeface="Noto Sans KR"/>
                <a:ea typeface="Noto Sans KR"/>
                <a:cs typeface="Noto Sans KR"/>
              </a:rPr>
              <a:t>다품종 부품 핸들링, 문·손잡이, 레버·노브·래치, 설비 조작부</a:t>
            </a:r>
          </a:p>
          <a:p>
            <a:pPr algn="l">
              <a:lnSpc>
                <a:spcPct val="100000"/>
              </a:lnSpc>
            </a:pPr>
            <a:r>
              <a:rPr sz="1200" b="1">
                <a:solidFill>
                  <a:srgbClr val="15171A"/>
                </a:solidFill>
                <a:latin typeface="Noto Sans KR"/>
                <a:ea typeface="Noto Sans KR"/>
                <a:cs typeface="Noto Sans KR"/>
              </a:rPr>
              <a:t>제외  </a:t>
            </a:r>
            <a:r>
              <a:rPr sz="1200" b="0">
                <a:solidFill>
                  <a:srgbClr val="4A4F57"/>
                </a:solidFill>
                <a:latin typeface="Noto Sans KR"/>
                <a:ea typeface="Noto Sans KR"/>
                <a:cs typeface="Noto Sans KR"/>
              </a:rPr>
              <a:t>고속 단일 품목 반복, 고토크 체결, 진공이 유리한 평판</a:t>
            </a:r>
          </a:p>
        </p:txBody>
      </p:sp>
      <p:sp>
        <p:nvSpPr>
          <p:cNvPr id="21" name="TextBox 20"/>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SoftHand-4  |  Seed 투자 제안서</a:t>
            </a:r>
          </a:p>
        </p:txBody>
      </p:sp>
      <p:sp>
        <p:nvSpPr>
          <p:cNvPr id="22" name="TextBox 21"/>
          <p:cNvSpPr txBox="1"/>
          <p:nvPr/>
        </p:nvSpPr>
        <p:spPr>
          <a:xfrm>
            <a:off x="3154680" y="6446520"/>
            <a:ext cx="7802575"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스크루드라이버 체결은 핵심 상용 작업이 아닌 기술 데모로 분리 (부록 A8) · 콘셉트 렌더링</a:t>
            </a:r>
          </a:p>
        </p:txBody>
      </p:sp>
      <p:sp>
        <p:nvSpPr>
          <p:cNvPr id="23" name="TextBox 22"/>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48640"/>
            <a:ext cx="7315200" cy="274320"/>
          </a:xfrm>
          <a:prstGeom prst="rect">
            <a:avLst/>
          </a:prstGeom>
          <a:noFill/>
        </p:spPr>
        <p:txBody>
          <a:bodyPr wrap="square" lIns="0" rIns="0" tIns="0" bIns="0" anchor="t">
            <a:spAutoFit/>
          </a:bodyPr>
          <a:lstStyle/>
          <a:p>
            <a:pPr algn="l">
              <a:lnSpc>
                <a:spcPct val="100000"/>
              </a:lnSpc>
            </a:pPr>
            <a:r>
              <a:rPr sz="1200" b="1">
                <a:solidFill>
                  <a:srgbClr val="E2571B"/>
                </a:solidFill>
                <a:latin typeface="Noto Sans KR"/>
                <a:ea typeface="Noto Sans KR"/>
                <a:cs typeface="Noto Sans KR"/>
              </a:rPr>
              <a:t>고객 가치</a:t>
            </a:r>
          </a:p>
        </p:txBody>
      </p:sp>
      <p:sp>
        <p:nvSpPr>
          <p:cNvPr id="3" name="TextBox 2"/>
          <p:cNvSpPr txBox="1"/>
          <p:nvPr/>
        </p:nvSpPr>
        <p:spPr>
          <a:xfrm>
            <a:off x="685800" y="932688"/>
            <a:ext cx="10820095" cy="542391"/>
          </a:xfrm>
          <a:prstGeom prst="rect">
            <a:avLst/>
          </a:prstGeom>
          <a:noFill/>
        </p:spPr>
        <p:txBody>
          <a:bodyPr wrap="square" lIns="0" rIns="0" tIns="0" bIns="0" anchor="t">
            <a:spAutoFit/>
          </a:bodyPr>
          <a:lstStyle/>
          <a:p>
            <a:pPr algn="l">
              <a:lnSpc>
                <a:spcPct val="95000"/>
              </a:lnSpc>
            </a:pPr>
            <a:r>
              <a:rPr sz="3000" b="1">
                <a:solidFill>
                  <a:srgbClr val="15171A"/>
                </a:solidFill>
                <a:latin typeface="Noto Sans KR"/>
                <a:ea typeface="Noto Sans KR"/>
                <a:cs typeface="Noto Sans KR"/>
              </a:rPr>
              <a:t>구매 이유: 품목이 바뀌어도 다시 쓰는 자동화</a:t>
            </a:r>
          </a:p>
        </p:txBody>
      </p:sp>
      <p:sp>
        <p:nvSpPr>
          <p:cNvPr id="4" name="TextBox 3"/>
          <p:cNvSpPr txBox="1"/>
          <p:nvPr/>
        </p:nvSpPr>
        <p:spPr>
          <a:xfrm>
            <a:off x="685800" y="1584807"/>
            <a:ext cx="10820095" cy="329184"/>
          </a:xfrm>
          <a:prstGeom prst="rect">
            <a:avLst/>
          </a:prstGeom>
          <a:noFill/>
        </p:spPr>
        <p:txBody>
          <a:bodyPr wrap="square" lIns="0" rIns="0" tIns="0" bIns="0" anchor="t">
            <a:spAutoFit/>
          </a:bodyPr>
          <a:lstStyle/>
          <a:p>
            <a:pPr algn="l">
              <a:lnSpc>
                <a:spcPct val="100000"/>
              </a:lnSpc>
            </a:pPr>
            <a:r>
              <a:rPr sz="1600" b="0">
                <a:solidFill>
                  <a:srgbClr val="4A4F57"/>
                </a:solidFill>
                <a:latin typeface="Noto Sans KR"/>
                <a:ea typeface="Noto Sans KR"/>
                <a:cs typeface="Noto Sans KR"/>
              </a:rPr>
              <a:t>핸드 가격(가정 1,500만 원)의 비교 대상: 전용 툴링 + 설비 개조 + 엔지니어링 × 연간 전환 횟수</a:t>
            </a:r>
          </a:p>
        </p:txBody>
      </p:sp>
      <p:cxnSp>
        <p:nvCxnSpPr>
          <p:cNvPr id="5" name="Connector 4"/>
          <p:cNvCxnSpPr/>
          <p:nvPr/>
        </p:nvCxnSpPr>
        <p:spPr>
          <a:xfrm>
            <a:off x="685800" y="2188311"/>
            <a:ext cx="10820095" cy="0"/>
          </a:xfrm>
          <a:prstGeom prst="line">
            <a:avLst/>
          </a:prstGeom>
          <a:ln w="12700">
            <a:solidFill>
              <a:srgbClr val="15171A"/>
            </a:solidFill>
          </a:ln>
        </p:spPr>
      </p:cxnSp>
      <p:sp>
        <p:nvSpPr>
          <p:cNvPr id="6" name="TextBox 5"/>
          <p:cNvSpPr txBox="1"/>
          <p:nvPr/>
        </p:nvSpPr>
        <p:spPr>
          <a:xfrm>
            <a:off x="685800" y="2334615"/>
            <a:ext cx="1325880" cy="274320"/>
          </a:xfrm>
          <a:prstGeom prst="rect">
            <a:avLst/>
          </a:prstGeom>
          <a:noFill/>
        </p:spPr>
        <p:txBody>
          <a:bodyPr wrap="square" lIns="0" rIns="0" tIns="0" bIns="0" anchor="t">
            <a:spAutoFit/>
          </a:bodyPr>
          <a:lstStyle/>
          <a:p>
            <a:pPr algn="l">
              <a:lnSpc>
                <a:spcPct val="100000"/>
              </a:lnSpc>
            </a:pPr>
            <a:r>
              <a:rPr sz="1400" b="1">
                <a:solidFill>
                  <a:srgbClr val="15171A"/>
                </a:solidFill>
                <a:latin typeface="Noto Sans KR"/>
                <a:ea typeface="Noto Sans KR"/>
                <a:cs typeface="Noto Sans KR"/>
              </a:rPr>
              <a:t>기존 방식</a:t>
            </a:r>
          </a:p>
        </p:txBody>
      </p:sp>
      <p:sp>
        <p:nvSpPr>
          <p:cNvPr id="7" name="TextBox 6"/>
          <p:cNvSpPr txBox="1"/>
          <p:nvPr/>
        </p:nvSpPr>
        <p:spPr>
          <a:xfrm>
            <a:off x="2011680" y="2334615"/>
            <a:ext cx="9494215" cy="274320"/>
          </a:xfrm>
          <a:prstGeom prst="rect">
            <a:avLst/>
          </a:prstGeom>
          <a:noFill/>
        </p:spPr>
        <p:txBody>
          <a:bodyPr wrap="square" lIns="0" rIns="0" tIns="0" bIns="0" anchor="t">
            <a:spAutoFit/>
          </a:bodyPr>
          <a:lstStyle/>
          <a:p>
            <a:pPr algn="l">
              <a:lnSpc>
                <a:spcPct val="100000"/>
              </a:lnSpc>
            </a:pPr>
            <a:r>
              <a:rPr sz="1400" b="0">
                <a:solidFill>
                  <a:srgbClr val="4A4F57"/>
                </a:solidFill>
                <a:latin typeface="Noto Sans KR"/>
                <a:ea typeface="Noto Sans KR"/>
                <a:cs typeface="Noto Sans KR"/>
              </a:rPr>
              <a:t>새 작업</a:t>
            </a:r>
            <a:r>
              <a:rPr sz="1400" b="0">
                <a:solidFill>
                  <a:srgbClr val="8C9198"/>
                </a:solidFill>
                <a:latin typeface="Noto Sans KR"/>
                <a:ea typeface="Noto Sans KR"/>
                <a:cs typeface="Noto Sans KR"/>
              </a:rPr>
              <a:t>   ›   </a:t>
            </a:r>
            <a:r>
              <a:rPr sz="1400" b="0">
                <a:solidFill>
                  <a:srgbClr val="4A4F57"/>
                </a:solidFill>
                <a:latin typeface="Noto Sans KR"/>
                <a:ea typeface="Noto Sans KR"/>
                <a:cs typeface="Noto Sans KR"/>
              </a:rPr>
              <a:t>새 그리퍼</a:t>
            </a:r>
            <a:r>
              <a:rPr sz="1400" b="0">
                <a:solidFill>
                  <a:srgbClr val="8C9198"/>
                </a:solidFill>
                <a:latin typeface="Noto Sans KR"/>
                <a:ea typeface="Noto Sans KR"/>
                <a:cs typeface="Noto Sans KR"/>
              </a:rPr>
              <a:t>   ›   </a:t>
            </a:r>
            <a:r>
              <a:rPr sz="1400" b="0">
                <a:solidFill>
                  <a:srgbClr val="4A4F57"/>
                </a:solidFill>
                <a:latin typeface="Noto Sans KR"/>
                <a:ea typeface="Noto Sans KR"/>
                <a:cs typeface="Noto Sans KR"/>
              </a:rPr>
              <a:t>새 핑거</a:t>
            </a:r>
            <a:r>
              <a:rPr sz="1400" b="0">
                <a:solidFill>
                  <a:srgbClr val="8C9198"/>
                </a:solidFill>
                <a:latin typeface="Noto Sans KR"/>
                <a:ea typeface="Noto Sans KR"/>
                <a:cs typeface="Noto Sans KR"/>
              </a:rPr>
              <a:t>   ›   </a:t>
            </a:r>
            <a:r>
              <a:rPr sz="1400" b="0">
                <a:solidFill>
                  <a:srgbClr val="4A4F57"/>
                </a:solidFill>
                <a:latin typeface="Noto Sans KR"/>
                <a:ea typeface="Noto Sans KR"/>
                <a:cs typeface="Noto Sans KR"/>
              </a:rPr>
              <a:t>새 지그</a:t>
            </a:r>
            <a:r>
              <a:rPr sz="1400" b="0">
                <a:solidFill>
                  <a:srgbClr val="8C9198"/>
                </a:solidFill>
                <a:latin typeface="Noto Sans KR"/>
                <a:ea typeface="Noto Sans KR"/>
                <a:cs typeface="Noto Sans KR"/>
              </a:rPr>
              <a:t>   ›   </a:t>
            </a:r>
            <a:r>
              <a:rPr sz="1400" b="0">
                <a:solidFill>
                  <a:srgbClr val="4A4F57"/>
                </a:solidFill>
                <a:latin typeface="Noto Sans KR"/>
                <a:ea typeface="Noto Sans KR"/>
                <a:cs typeface="Noto Sans KR"/>
              </a:rPr>
              <a:t>엔지니어링</a:t>
            </a:r>
            <a:r>
              <a:rPr sz="1400" b="0">
                <a:solidFill>
                  <a:srgbClr val="8C9198"/>
                </a:solidFill>
                <a:latin typeface="Noto Sans KR"/>
                <a:ea typeface="Noto Sans KR"/>
                <a:cs typeface="Noto Sans KR"/>
              </a:rPr>
              <a:t>   ›   </a:t>
            </a:r>
            <a:r>
              <a:rPr sz="1400" b="0">
                <a:solidFill>
                  <a:srgbClr val="4A4F57"/>
                </a:solidFill>
                <a:latin typeface="Noto Sans KR"/>
                <a:ea typeface="Noto Sans KR"/>
                <a:cs typeface="Noto Sans KR"/>
              </a:rPr>
              <a:t>티칭</a:t>
            </a:r>
            <a:r>
              <a:rPr sz="1400" b="0">
                <a:solidFill>
                  <a:srgbClr val="8C9198"/>
                </a:solidFill>
                <a:latin typeface="Noto Sans KR"/>
                <a:ea typeface="Noto Sans KR"/>
                <a:cs typeface="Noto Sans KR"/>
              </a:rPr>
              <a:t>   ›   </a:t>
            </a:r>
            <a:r>
              <a:rPr sz="1400" b="0">
                <a:solidFill>
                  <a:srgbClr val="4A4F57"/>
                </a:solidFill>
                <a:latin typeface="Noto Sans KR"/>
                <a:ea typeface="Noto Sans KR"/>
                <a:cs typeface="Noto Sans KR"/>
              </a:rPr>
              <a:t>검증</a:t>
            </a:r>
          </a:p>
        </p:txBody>
      </p:sp>
      <p:cxnSp>
        <p:nvCxnSpPr>
          <p:cNvPr id="8" name="Connector 7"/>
          <p:cNvCxnSpPr/>
          <p:nvPr/>
        </p:nvCxnSpPr>
        <p:spPr>
          <a:xfrm>
            <a:off x="685800" y="2791815"/>
            <a:ext cx="10820095" cy="0"/>
          </a:xfrm>
          <a:prstGeom prst="line">
            <a:avLst/>
          </a:prstGeom>
          <a:ln w="9525">
            <a:solidFill>
              <a:srgbClr val="E2E4E7"/>
            </a:solidFill>
          </a:ln>
        </p:spPr>
      </p:cxnSp>
      <p:sp>
        <p:nvSpPr>
          <p:cNvPr id="9" name="TextBox 8"/>
          <p:cNvSpPr txBox="1"/>
          <p:nvPr/>
        </p:nvSpPr>
        <p:spPr>
          <a:xfrm>
            <a:off x="685800" y="2938119"/>
            <a:ext cx="1325880" cy="274320"/>
          </a:xfrm>
          <a:prstGeom prst="rect">
            <a:avLst/>
          </a:prstGeom>
          <a:noFill/>
        </p:spPr>
        <p:txBody>
          <a:bodyPr wrap="square" lIns="0" rIns="0" tIns="0" bIns="0" anchor="t">
            <a:spAutoFit/>
          </a:bodyPr>
          <a:lstStyle/>
          <a:p>
            <a:pPr algn="l">
              <a:lnSpc>
                <a:spcPct val="100000"/>
              </a:lnSpc>
            </a:pPr>
            <a:r>
              <a:rPr sz="1400" b="1">
                <a:solidFill>
                  <a:srgbClr val="E2571B"/>
                </a:solidFill>
                <a:latin typeface="Noto Sans KR"/>
                <a:ea typeface="Noto Sans KR"/>
                <a:cs typeface="Noto Sans KR"/>
              </a:rPr>
              <a:t>SoftHand</a:t>
            </a:r>
          </a:p>
        </p:txBody>
      </p:sp>
      <p:sp>
        <p:nvSpPr>
          <p:cNvPr id="10" name="TextBox 9"/>
          <p:cNvSpPr txBox="1"/>
          <p:nvPr/>
        </p:nvSpPr>
        <p:spPr>
          <a:xfrm>
            <a:off x="2011680" y="2938119"/>
            <a:ext cx="9494215" cy="274320"/>
          </a:xfrm>
          <a:prstGeom prst="rect">
            <a:avLst/>
          </a:prstGeom>
          <a:noFill/>
        </p:spPr>
        <p:txBody>
          <a:bodyPr wrap="square" lIns="0" rIns="0" tIns="0" bIns="0" anchor="t">
            <a:spAutoFit/>
          </a:bodyPr>
          <a:lstStyle/>
          <a:p>
            <a:pPr algn="l">
              <a:lnSpc>
                <a:spcPct val="100000"/>
              </a:lnSpc>
            </a:pPr>
            <a:r>
              <a:rPr sz="1400" b="0">
                <a:solidFill>
                  <a:srgbClr val="4A4F57"/>
                </a:solidFill>
                <a:latin typeface="Noto Sans KR"/>
                <a:ea typeface="Noto Sans KR"/>
                <a:cs typeface="Noto Sans KR"/>
              </a:rPr>
              <a:t>새 작업</a:t>
            </a:r>
            <a:r>
              <a:rPr sz="1400" b="0">
                <a:solidFill>
                  <a:srgbClr val="8C9198"/>
                </a:solidFill>
                <a:latin typeface="Noto Sans KR"/>
                <a:ea typeface="Noto Sans KR"/>
                <a:cs typeface="Noto Sans KR"/>
              </a:rPr>
              <a:t>   ›   </a:t>
            </a:r>
            <a:r>
              <a:rPr sz="1400" b="1">
                <a:solidFill>
                  <a:srgbClr val="15171A"/>
                </a:solidFill>
                <a:latin typeface="Noto Sans KR"/>
                <a:ea typeface="Noto Sans KR"/>
                <a:cs typeface="Noto Sans KR"/>
              </a:rPr>
              <a:t>같은 핸드</a:t>
            </a:r>
            <a:r>
              <a:rPr sz="1400" b="0">
                <a:solidFill>
                  <a:srgbClr val="8C9198"/>
                </a:solidFill>
                <a:latin typeface="Noto Sans KR"/>
                <a:ea typeface="Noto Sans KR"/>
                <a:cs typeface="Noto Sans KR"/>
              </a:rPr>
              <a:t>   ›   </a:t>
            </a:r>
            <a:r>
              <a:rPr sz="1400" b="0">
                <a:solidFill>
                  <a:srgbClr val="4A4F57"/>
                </a:solidFill>
                <a:latin typeface="Noto Sans KR"/>
                <a:ea typeface="Noto Sans KR"/>
                <a:cs typeface="Noto Sans KR"/>
              </a:rPr>
              <a:t>기존 스킬 재사용 또는 새 스킬 구성</a:t>
            </a:r>
            <a:r>
              <a:rPr sz="1400" b="0">
                <a:solidFill>
                  <a:srgbClr val="8C9198"/>
                </a:solidFill>
                <a:latin typeface="Noto Sans KR"/>
                <a:ea typeface="Noto Sans KR"/>
                <a:cs typeface="Noto Sans KR"/>
              </a:rPr>
              <a:t>   ›   </a:t>
            </a:r>
            <a:r>
              <a:rPr sz="1400" b="0">
                <a:solidFill>
                  <a:srgbClr val="4A4F57"/>
                </a:solidFill>
                <a:latin typeface="Noto Sans KR"/>
                <a:ea typeface="Noto Sans KR"/>
                <a:cs typeface="Noto Sans KR"/>
              </a:rPr>
              <a:t>보정</a:t>
            </a:r>
            <a:r>
              <a:rPr sz="1400" b="0">
                <a:solidFill>
                  <a:srgbClr val="8C9198"/>
                </a:solidFill>
                <a:latin typeface="Noto Sans KR"/>
                <a:ea typeface="Noto Sans KR"/>
                <a:cs typeface="Noto Sans KR"/>
              </a:rPr>
              <a:t>   ›   </a:t>
            </a:r>
            <a:r>
              <a:rPr sz="1400" b="0">
                <a:solidFill>
                  <a:srgbClr val="4A4F57"/>
                </a:solidFill>
                <a:latin typeface="Noto Sans KR"/>
                <a:ea typeface="Noto Sans KR"/>
                <a:cs typeface="Noto Sans KR"/>
              </a:rPr>
              <a:t>검증</a:t>
            </a:r>
          </a:p>
        </p:txBody>
      </p:sp>
      <p:cxnSp>
        <p:nvCxnSpPr>
          <p:cNvPr id="11" name="Connector 10"/>
          <p:cNvCxnSpPr/>
          <p:nvPr/>
        </p:nvCxnSpPr>
        <p:spPr>
          <a:xfrm>
            <a:off x="685800" y="3395319"/>
            <a:ext cx="10820095" cy="0"/>
          </a:xfrm>
          <a:prstGeom prst="line">
            <a:avLst/>
          </a:prstGeom>
          <a:ln w="9525">
            <a:solidFill>
              <a:srgbClr val="E2E4E7"/>
            </a:solidFill>
          </a:ln>
        </p:spPr>
      </p:cxnSp>
      <p:sp>
        <p:nvSpPr>
          <p:cNvPr id="12" name="TextBox 11"/>
          <p:cNvSpPr txBox="1"/>
          <p:nvPr/>
        </p:nvSpPr>
        <p:spPr>
          <a:xfrm>
            <a:off x="685800" y="3486759"/>
            <a:ext cx="10820095" cy="237744"/>
          </a:xfrm>
          <a:prstGeom prst="rect">
            <a:avLst/>
          </a:prstGeom>
          <a:noFill/>
        </p:spPr>
        <p:txBody>
          <a:bodyPr wrap="square" lIns="0" rIns="0" tIns="0" bIns="0" anchor="t">
            <a:spAutoFit/>
          </a:bodyPr>
          <a:lstStyle/>
          <a:p>
            <a:pPr algn="l">
              <a:lnSpc>
                <a:spcPct val="100000"/>
              </a:lnSpc>
            </a:pPr>
            <a:r>
              <a:rPr sz="1100" b="0">
                <a:solidFill>
                  <a:srgbClr val="8C9198"/>
                </a:solidFill>
                <a:latin typeface="Noto Sans KR"/>
                <a:ea typeface="Noto Sans KR"/>
                <a:cs typeface="Noto Sans KR"/>
              </a:rPr>
              <a:t>엔지니어링·검증은 그대로 필요, 줄어드는 폭을 고객 현장에서 측정</a:t>
            </a:r>
          </a:p>
        </p:txBody>
      </p:sp>
      <p:sp>
        <p:nvSpPr>
          <p:cNvPr id="13" name="TextBox 12"/>
          <p:cNvSpPr txBox="1"/>
          <p:nvPr/>
        </p:nvSpPr>
        <p:spPr>
          <a:xfrm>
            <a:off x="685800" y="3989679"/>
            <a:ext cx="384048" cy="420624"/>
          </a:xfrm>
          <a:prstGeom prst="rect">
            <a:avLst/>
          </a:prstGeom>
          <a:noFill/>
        </p:spPr>
        <p:txBody>
          <a:bodyPr wrap="square" lIns="0" rIns="0" tIns="0" bIns="0" anchor="t">
            <a:spAutoFit/>
          </a:bodyPr>
          <a:lstStyle/>
          <a:p>
            <a:pPr algn="l">
              <a:lnSpc>
                <a:spcPct val="100000"/>
              </a:lnSpc>
            </a:pPr>
            <a:r>
              <a:rPr sz="2100" b="1">
                <a:solidFill>
                  <a:srgbClr val="E2571B"/>
                </a:solidFill>
                <a:latin typeface="Noto Sans KR"/>
                <a:ea typeface="Noto Sans KR"/>
                <a:cs typeface="Noto Sans KR"/>
              </a:rPr>
              <a:t>1</a:t>
            </a:r>
          </a:p>
        </p:txBody>
      </p:sp>
      <p:sp>
        <p:nvSpPr>
          <p:cNvPr id="14" name="TextBox 13"/>
          <p:cNvSpPr txBox="1"/>
          <p:nvPr/>
        </p:nvSpPr>
        <p:spPr>
          <a:xfrm>
            <a:off x="1069848" y="4017111"/>
            <a:ext cx="3039770" cy="292608"/>
          </a:xfrm>
          <a:prstGeom prst="rect">
            <a:avLst/>
          </a:prstGeom>
          <a:noFill/>
        </p:spPr>
        <p:txBody>
          <a:bodyPr wrap="square" lIns="0" rIns="0" tIns="0" bIns="0" anchor="t">
            <a:spAutoFit/>
          </a:bodyPr>
          <a:lstStyle/>
          <a:p>
            <a:pPr algn="l">
              <a:lnSpc>
                <a:spcPct val="100000"/>
              </a:lnSpc>
            </a:pPr>
            <a:r>
              <a:rPr sz="1600" b="1">
                <a:solidFill>
                  <a:srgbClr val="15171A"/>
                </a:solidFill>
                <a:latin typeface="Noto Sans KR"/>
                <a:ea typeface="Noto Sans KR"/>
                <a:cs typeface="Noto Sans KR"/>
              </a:rPr>
              <a:t>설비 개조 최소화</a:t>
            </a:r>
          </a:p>
        </p:txBody>
      </p:sp>
      <p:sp>
        <p:nvSpPr>
          <p:cNvPr id="15" name="TextBox 14"/>
          <p:cNvSpPr txBox="1"/>
          <p:nvPr/>
        </p:nvSpPr>
        <p:spPr>
          <a:xfrm>
            <a:off x="1069848" y="4347921"/>
            <a:ext cx="3039770" cy="238963"/>
          </a:xfrm>
          <a:prstGeom prst="rect">
            <a:avLst/>
          </a:prstGeom>
          <a:noFill/>
        </p:spPr>
        <p:txBody>
          <a:bodyPr wrap="square" lIns="0" rIns="0" tIns="0" bIns="0" anchor="t">
            <a:spAutoFit/>
          </a:bodyPr>
          <a:lstStyle/>
          <a:p>
            <a:pPr algn="l">
              <a:lnSpc>
                <a:spcPct val="100000"/>
              </a:lnSpc>
            </a:pPr>
            <a:r>
              <a:rPr sz="1200" b="0">
                <a:solidFill>
                  <a:srgbClr val="4A4F57"/>
                </a:solidFill>
                <a:latin typeface="Noto Sans KR"/>
                <a:ea typeface="Noto Sans KR"/>
                <a:cs typeface="Noto Sans KR"/>
              </a:rPr>
              <a:t>설비 개조·고정구·추가 구동기를 줄일 가능성</a:t>
            </a:r>
          </a:p>
        </p:txBody>
      </p:sp>
      <p:sp>
        <p:nvSpPr>
          <p:cNvPr id="16" name="TextBox 15"/>
          <p:cNvSpPr txBox="1"/>
          <p:nvPr/>
        </p:nvSpPr>
        <p:spPr>
          <a:xfrm>
            <a:off x="4383938" y="3989679"/>
            <a:ext cx="384048" cy="420624"/>
          </a:xfrm>
          <a:prstGeom prst="rect">
            <a:avLst/>
          </a:prstGeom>
          <a:noFill/>
        </p:spPr>
        <p:txBody>
          <a:bodyPr wrap="square" lIns="0" rIns="0" tIns="0" bIns="0" anchor="t">
            <a:spAutoFit/>
          </a:bodyPr>
          <a:lstStyle/>
          <a:p>
            <a:pPr algn="l">
              <a:lnSpc>
                <a:spcPct val="100000"/>
              </a:lnSpc>
            </a:pPr>
            <a:r>
              <a:rPr sz="2100" b="1">
                <a:solidFill>
                  <a:srgbClr val="E2571B"/>
                </a:solidFill>
                <a:latin typeface="Noto Sans KR"/>
                <a:ea typeface="Noto Sans KR"/>
                <a:cs typeface="Noto Sans KR"/>
              </a:rPr>
              <a:t>2</a:t>
            </a:r>
          </a:p>
        </p:txBody>
      </p:sp>
      <p:sp>
        <p:nvSpPr>
          <p:cNvPr id="17" name="TextBox 16"/>
          <p:cNvSpPr txBox="1"/>
          <p:nvPr/>
        </p:nvSpPr>
        <p:spPr>
          <a:xfrm>
            <a:off x="4767986" y="4017111"/>
            <a:ext cx="3039770" cy="292608"/>
          </a:xfrm>
          <a:prstGeom prst="rect">
            <a:avLst/>
          </a:prstGeom>
          <a:noFill/>
        </p:spPr>
        <p:txBody>
          <a:bodyPr wrap="square" lIns="0" rIns="0" tIns="0" bIns="0" anchor="t">
            <a:spAutoFit/>
          </a:bodyPr>
          <a:lstStyle/>
          <a:p>
            <a:pPr algn="l">
              <a:lnSpc>
                <a:spcPct val="100000"/>
              </a:lnSpc>
            </a:pPr>
            <a:r>
              <a:rPr sz="1600" b="1">
                <a:solidFill>
                  <a:srgbClr val="15171A"/>
                </a:solidFill>
                <a:latin typeface="Noto Sans KR"/>
                <a:ea typeface="Noto Sans KR"/>
                <a:cs typeface="Noto Sans KR"/>
              </a:rPr>
              <a:t>반복 엔지니어링 감소</a:t>
            </a:r>
          </a:p>
        </p:txBody>
      </p:sp>
      <p:sp>
        <p:nvSpPr>
          <p:cNvPr id="18" name="TextBox 17"/>
          <p:cNvSpPr txBox="1"/>
          <p:nvPr/>
        </p:nvSpPr>
        <p:spPr>
          <a:xfrm>
            <a:off x="4767986" y="4347921"/>
            <a:ext cx="3039770" cy="238963"/>
          </a:xfrm>
          <a:prstGeom prst="rect">
            <a:avLst/>
          </a:prstGeom>
          <a:noFill/>
        </p:spPr>
        <p:txBody>
          <a:bodyPr wrap="square" lIns="0" rIns="0" tIns="0" bIns="0" anchor="t">
            <a:spAutoFit/>
          </a:bodyPr>
          <a:lstStyle/>
          <a:p>
            <a:pPr algn="l">
              <a:lnSpc>
                <a:spcPct val="100000"/>
              </a:lnSpc>
            </a:pPr>
            <a:r>
              <a:rPr sz="1200" b="0">
                <a:solidFill>
                  <a:srgbClr val="4A4F57"/>
                </a:solidFill>
                <a:latin typeface="Noto Sans KR"/>
                <a:ea typeface="Noto Sans KR"/>
                <a:cs typeface="Noto Sans KR"/>
              </a:rPr>
              <a:t>전용 핑거·지그·티칭·통합 작업을 줄일 가능성</a:t>
            </a:r>
          </a:p>
        </p:txBody>
      </p:sp>
      <p:sp>
        <p:nvSpPr>
          <p:cNvPr id="19" name="TextBox 18"/>
          <p:cNvSpPr txBox="1"/>
          <p:nvPr/>
        </p:nvSpPr>
        <p:spPr>
          <a:xfrm>
            <a:off x="8082076" y="3989679"/>
            <a:ext cx="384048" cy="420624"/>
          </a:xfrm>
          <a:prstGeom prst="rect">
            <a:avLst/>
          </a:prstGeom>
          <a:noFill/>
        </p:spPr>
        <p:txBody>
          <a:bodyPr wrap="square" lIns="0" rIns="0" tIns="0" bIns="0" anchor="t">
            <a:spAutoFit/>
          </a:bodyPr>
          <a:lstStyle/>
          <a:p>
            <a:pPr algn="l">
              <a:lnSpc>
                <a:spcPct val="100000"/>
              </a:lnSpc>
            </a:pPr>
            <a:r>
              <a:rPr sz="2100" b="1">
                <a:solidFill>
                  <a:srgbClr val="E2571B"/>
                </a:solidFill>
                <a:latin typeface="Noto Sans KR"/>
                <a:ea typeface="Noto Sans KR"/>
                <a:cs typeface="Noto Sans KR"/>
              </a:rPr>
              <a:t>3</a:t>
            </a:r>
          </a:p>
        </p:txBody>
      </p:sp>
      <p:sp>
        <p:nvSpPr>
          <p:cNvPr id="20" name="TextBox 19"/>
          <p:cNvSpPr txBox="1"/>
          <p:nvPr/>
        </p:nvSpPr>
        <p:spPr>
          <a:xfrm>
            <a:off x="8466124" y="4017111"/>
            <a:ext cx="3039770" cy="292608"/>
          </a:xfrm>
          <a:prstGeom prst="rect">
            <a:avLst/>
          </a:prstGeom>
          <a:noFill/>
        </p:spPr>
        <p:txBody>
          <a:bodyPr wrap="square" lIns="0" rIns="0" tIns="0" bIns="0" anchor="t">
            <a:spAutoFit/>
          </a:bodyPr>
          <a:lstStyle/>
          <a:p>
            <a:pPr algn="l">
              <a:lnSpc>
                <a:spcPct val="100000"/>
              </a:lnSpc>
            </a:pPr>
            <a:r>
              <a:rPr sz="1600" b="1">
                <a:solidFill>
                  <a:srgbClr val="15171A"/>
                </a:solidFill>
                <a:latin typeface="Noto Sans KR"/>
                <a:ea typeface="Noto Sans KR"/>
                <a:cs typeface="Noto Sans KR"/>
              </a:rPr>
              <a:t>다음 작업에 재사용</a:t>
            </a:r>
          </a:p>
        </p:txBody>
      </p:sp>
      <p:sp>
        <p:nvSpPr>
          <p:cNvPr id="21" name="TextBox 20"/>
          <p:cNvSpPr txBox="1"/>
          <p:nvPr/>
        </p:nvSpPr>
        <p:spPr>
          <a:xfrm>
            <a:off x="8466124" y="4347921"/>
            <a:ext cx="3039770" cy="459638"/>
          </a:xfrm>
          <a:prstGeom prst="rect">
            <a:avLst/>
          </a:prstGeom>
          <a:noFill/>
        </p:spPr>
        <p:txBody>
          <a:bodyPr wrap="square" lIns="0" rIns="0" tIns="0" bIns="0" anchor="t">
            <a:spAutoFit/>
          </a:bodyPr>
          <a:lstStyle/>
          <a:p>
            <a:pPr algn="l">
              <a:lnSpc>
                <a:spcPct val="100000"/>
              </a:lnSpc>
            </a:pPr>
            <a:r>
              <a:rPr sz="1200" b="0">
                <a:solidFill>
                  <a:srgbClr val="4A4F57"/>
                </a:solidFill>
                <a:latin typeface="Noto Sans KR"/>
                <a:ea typeface="Noto Sans KR"/>
                <a:cs typeface="Noto Sans KR"/>
              </a:rPr>
              <a:t>같은 핸드와 스킬 구조를 새 품목·다른 설비에 재사용</a:t>
            </a:r>
          </a:p>
        </p:txBody>
      </p:sp>
      <p:sp>
        <p:nvSpPr>
          <p:cNvPr id="22" name="Rectangle 21"/>
          <p:cNvSpPr/>
          <p:nvPr/>
        </p:nvSpPr>
        <p:spPr>
          <a:xfrm>
            <a:off x="685800" y="5224119"/>
            <a:ext cx="10820095" cy="960120"/>
          </a:xfrm>
          <a:prstGeom prst="rect">
            <a:avLst/>
          </a:prstGeom>
          <a:solidFill>
            <a:srgbClr val="F4F5F6"/>
          </a:solidFill>
          <a:ln>
            <a:noFill/>
          </a:ln>
        </p:spPr>
        <p:txBody>
          <a:bodyPr rtlCol="0" anchor="ctr"/>
          <a:lstStyle/>
          <a:p>
            <a:pPr algn="ctr"/>
          </a:p>
        </p:txBody>
      </p:sp>
      <p:sp>
        <p:nvSpPr>
          <p:cNvPr id="23" name="TextBox 22"/>
          <p:cNvSpPr txBox="1"/>
          <p:nvPr/>
        </p:nvSpPr>
        <p:spPr>
          <a:xfrm>
            <a:off x="960120" y="5406999"/>
            <a:ext cx="2194560" cy="274320"/>
          </a:xfrm>
          <a:prstGeom prst="rect">
            <a:avLst/>
          </a:prstGeom>
          <a:noFill/>
        </p:spPr>
        <p:txBody>
          <a:bodyPr wrap="square" lIns="0" rIns="0" tIns="0" bIns="0" anchor="t">
            <a:spAutoFit/>
          </a:bodyPr>
          <a:lstStyle/>
          <a:p>
            <a:pPr algn="l">
              <a:lnSpc>
                <a:spcPct val="100000"/>
              </a:lnSpc>
            </a:pPr>
            <a:r>
              <a:rPr sz="1400" b="1">
                <a:solidFill>
                  <a:srgbClr val="15171A"/>
                </a:solidFill>
                <a:latin typeface="Noto Sans KR"/>
                <a:ea typeface="Noto Sans KR"/>
                <a:cs typeface="Noto Sans KR"/>
              </a:rPr>
              <a:t>PoC 측정 지표</a:t>
            </a:r>
          </a:p>
        </p:txBody>
      </p:sp>
      <p:sp>
        <p:nvSpPr>
          <p:cNvPr id="24" name="TextBox 23"/>
          <p:cNvSpPr txBox="1"/>
          <p:nvPr/>
        </p:nvSpPr>
        <p:spPr>
          <a:xfrm>
            <a:off x="960120" y="5699607"/>
            <a:ext cx="2194560" cy="274320"/>
          </a:xfrm>
          <a:prstGeom prst="rect">
            <a:avLst/>
          </a:prstGeom>
          <a:noFill/>
        </p:spPr>
        <p:txBody>
          <a:bodyPr wrap="square" lIns="0" rIns="0" tIns="0" bIns="0" anchor="t">
            <a:spAutoFit/>
          </a:bodyPr>
          <a:lstStyle/>
          <a:p>
            <a:pPr algn="l">
              <a:lnSpc>
                <a:spcPct val="100000"/>
              </a:lnSpc>
            </a:pPr>
            <a:r>
              <a:rPr sz="1100" b="0">
                <a:solidFill>
                  <a:srgbClr val="4A4F57"/>
                </a:solidFill>
                <a:latin typeface="Noto Sans KR"/>
                <a:ea typeface="Noto Sans KR"/>
                <a:cs typeface="Noto Sans KR"/>
              </a:rPr>
              <a:t>고객 기존 수치 대비</a:t>
            </a:r>
          </a:p>
        </p:txBody>
      </p:sp>
      <p:sp>
        <p:nvSpPr>
          <p:cNvPr id="25" name="TextBox 24"/>
          <p:cNvSpPr txBox="1"/>
          <p:nvPr/>
        </p:nvSpPr>
        <p:spPr>
          <a:xfrm>
            <a:off x="3291840" y="5406999"/>
            <a:ext cx="1423355"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엔지니어링 시간</a:t>
            </a:r>
          </a:p>
        </p:txBody>
      </p:sp>
      <p:sp>
        <p:nvSpPr>
          <p:cNvPr id="26" name="TextBox 25"/>
          <p:cNvSpPr txBox="1"/>
          <p:nvPr/>
        </p:nvSpPr>
        <p:spPr>
          <a:xfrm>
            <a:off x="3291840" y="5699607"/>
            <a:ext cx="1423355" cy="274320"/>
          </a:xfrm>
          <a:prstGeom prst="rect">
            <a:avLst/>
          </a:prstGeom>
          <a:noFill/>
        </p:spPr>
        <p:txBody>
          <a:bodyPr wrap="square" lIns="0" rIns="0" tIns="0" bIns="0" anchor="t">
            <a:spAutoFit/>
          </a:bodyPr>
          <a:lstStyle/>
          <a:p>
            <a:pPr algn="l">
              <a:lnSpc>
                <a:spcPct val="100000"/>
              </a:lnSpc>
            </a:pPr>
            <a:r>
              <a:rPr sz="1100" b="0">
                <a:solidFill>
                  <a:srgbClr val="E2571B"/>
                </a:solidFill>
                <a:latin typeface="Noto Sans KR"/>
                <a:ea typeface="Noto Sans KR"/>
                <a:cs typeface="Noto Sans KR"/>
              </a:rPr>
              <a:t>PoC에서 측정</a:t>
            </a:r>
          </a:p>
        </p:txBody>
      </p:sp>
      <p:cxnSp>
        <p:nvCxnSpPr>
          <p:cNvPr id="27" name="Connector 26"/>
          <p:cNvCxnSpPr/>
          <p:nvPr/>
        </p:nvCxnSpPr>
        <p:spPr>
          <a:xfrm>
            <a:off x="4788347" y="5425287"/>
            <a:ext cx="0" cy="566928"/>
          </a:xfrm>
          <a:prstGeom prst="line">
            <a:avLst/>
          </a:prstGeom>
          <a:ln w="9525">
            <a:solidFill>
              <a:srgbClr val="D5D8DC"/>
            </a:solidFill>
          </a:ln>
        </p:spPr>
      </p:cxnSp>
      <p:sp>
        <p:nvSpPr>
          <p:cNvPr id="28" name="TextBox 27"/>
          <p:cNvSpPr txBox="1"/>
          <p:nvPr/>
        </p:nvSpPr>
        <p:spPr>
          <a:xfrm>
            <a:off x="4898075" y="5406999"/>
            <a:ext cx="1423355"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전용 툴링 비용</a:t>
            </a:r>
          </a:p>
        </p:txBody>
      </p:sp>
      <p:sp>
        <p:nvSpPr>
          <p:cNvPr id="29" name="TextBox 28"/>
          <p:cNvSpPr txBox="1"/>
          <p:nvPr/>
        </p:nvSpPr>
        <p:spPr>
          <a:xfrm>
            <a:off x="4898075" y="5699607"/>
            <a:ext cx="1423355" cy="274320"/>
          </a:xfrm>
          <a:prstGeom prst="rect">
            <a:avLst/>
          </a:prstGeom>
          <a:noFill/>
        </p:spPr>
        <p:txBody>
          <a:bodyPr wrap="square" lIns="0" rIns="0" tIns="0" bIns="0" anchor="t">
            <a:spAutoFit/>
          </a:bodyPr>
          <a:lstStyle/>
          <a:p>
            <a:pPr algn="l">
              <a:lnSpc>
                <a:spcPct val="100000"/>
              </a:lnSpc>
            </a:pPr>
            <a:r>
              <a:rPr sz="1100" b="0">
                <a:solidFill>
                  <a:srgbClr val="E2571B"/>
                </a:solidFill>
                <a:latin typeface="Noto Sans KR"/>
                <a:ea typeface="Noto Sans KR"/>
                <a:cs typeface="Noto Sans KR"/>
              </a:rPr>
              <a:t>PoC에서 측정</a:t>
            </a:r>
          </a:p>
        </p:txBody>
      </p:sp>
      <p:cxnSp>
        <p:nvCxnSpPr>
          <p:cNvPr id="30" name="Connector 29"/>
          <p:cNvCxnSpPr/>
          <p:nvPr/>
        </p:nvCxnSpPr>
        <p:spPr>
          <a:xfrm>
            <a:off x="6394582" y="5425287"/>
            <a:ext cx="0" cy="566928"/>
          </a:xfrm>
          <a:prstGeom prst="line">
            <a:avLst/>
          </a:prstGeom>
          <a:ln w="9525">
            <a:solidFill>
              <a:srgbClr val="D5D8DC"/>
            </a:solidFill>
          </a:ln>
        </p:spPr>
      </p:cxnSp>
      <p:sp>
        <p:nvSpPr>
          <p:cNvPr id="31" name="TextBox 30"/>
          <p:cNvSpPr txBox="1"/>
          <p:nvPr/>
        </p:nvSpPr>
        <p:spPr>
          <a:xfrm>
            <a:off x="6504310" y="5406999"/>
            <a:ext cx="1423355"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통합 기간</a:t>
            </a:r>
          </a:p>
        </p:txBody>
      </p:sp>
      <p:sp>
        <p:nvSpPr>
          <p:cNvPr id="32" name="TextBox 31"/>
          <p:cNvSpPr txBox="1"/>
          <p:nvPr/>
        </p:nvSpPr>
        <p:spPr>
          <a:xfrm>
            <a:off x="6504310" y="5699607"/>
            <a:ext cx="1423355" cy="274320"/>
          </a:xfrm>
          <a:prstGeom prst="rect">
            <a:avLst/>
          </a:prstGeom>
          <a:noFill/>
        </p:spPr>
        <p:txBody>
          <a:bodyPr wrap="square" lIns="0" rIns="0" tIns="0" bIns="0" anchor="t">
            <a:spAutoFit/>
          </a:bodyPr>
          <a:lstStyle/>
          <a:p>
            <a:pPr algn="l">
              <a:lnSpc>
                <a:spcPct val="100000"/>
              </a:lnSpc>
            </a:pPr>
            <a:r>
              <a:rPr sz="1100" b="0">
                <a:solidFill>
                  <a:srgbClr val="E2571B"/>
                </a:solidFill>
                <a:latin typeface="Noto Sans KR"/>
                <a:ea typeface="Noto Sans KR"/>
                <a:cs typeface="Noto Sans KR"/>
              </a:rPr>
              <a:t>PoC에서 측정</a:t>
            </a:r>
          </a:p>
        </p:txBody>
      </p:sp>
      <p:cxnSp>
        <p:nvCxnSpPr>
          <p:cNvPr id="33" name="Connector 32"/>
          <p:cNvCxnSpPr/>
          <p:nvPr/>
        </p:nvCxnSpPr>
        <p:spPr>
          <a:xfrm>
            <a:off x="8000817" y="5425287"/>
            <a:ext cx="0" cy="566928"/>
          </a:xfrm>
          <a:prstGeom prst="line">
            <a:avLst/>
          </a:prstGeom>
          <a:ln w="9525">
            <a:solidFill>
              <a:srgbClr val="D5D8DC"/>
            </a:solidFill>
          </a:ln>
        </p:spPr>
      </p:cxnSp>
      <p:sp>
        <p:nvSpPr>
          <p:cNvPr id="34" name="TextBox 33"/>
          <p:cNvSpPr txBox="1"/>
          <p:nvPr/>
        </p:nvSpPr>
        <p:spPr>
          <a:xfrm>
            <a:off x="8110545" y="5406999"/>
            <a:ext cx="1423355"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사람 개입</a:t>
            </a:r>
          </a:p>
        </p:txBody>
      </p:sp>
      <p:sp>
        <p:nvSpPr>
          <p:cNvPr id="35" name="TextBox 34"/>
          <p:cNvSpPr txBox="1"/>
          <p:nvPr/>
        </p:nvSpPr>
        <p:spPr>
          <a:xfrm>
            <a:off x="8110545" y="5699607"/>
            <a:ext cx="1423355" cy="274320"/>
          </a:xfrm>
          <a:prstGeom prst="rect">
            <a:avLst/>
          </a:prstGeom>
          <a:noFill/>
        </p:spPr>
        <p:txBody>
          <a:bodyPr wrap="square" lIns="0" rIns="0" tIns="0" bIns="0" anchor="t">
            <a:spAutoFit/>
          </a:bodyPr>
          <a:lstStyle/>
          <a:p>
            <a:pPr algn="l">
              <a:lnSpc>
                <a:spcPct val="100000"/>
              </a:lnSpc>
            </a:pPr>
            <a:r>
              <a:rPr sz="1100" b="0">
                <a:solidFill>
                  <a:srgbClr val="E2571B"/>
                </a:solidFill>
                <a:latin typeface="Noto Sans KR"/>
                <a:ea typeface="Noto Sans KR"/>
                <a:cs typeface="Noto Sans KR"/>
              </a:rPr>
              <a:t>PoC에서 측정</a:t>
            </a:r>
          </a:p>
        </p:txBody>
      </p:sp>
      <p:cxnSp>
        <p:nvCxnSpPr>
          <p:cNvPr id="36" name="Connector 35"/>
          <p:cNvCxnSpPr/>
          <p:nvPr/>
        </p:nvCxnSpPr>
        <p:spPr>
          <a:xfrm>
            <a:off x="9607052" y="5425287"/>
            <a:ext cx="0" cy="566928"/>
          </a:xfrm>
          <a:prstGeom prst="line">
            <a:avLst/>
          </a:prstGeom>
          <a:ln w="9525">
            <a:solidFill>
              <a:srgbClr val="D5D8DC"/>
            </a:solidFill>
          </a:ln>
        </p:spPr>
      </p:cxnSp>
      <p:sp>
        <p:nvSpPr>
          <p:cNvPr id="37" name="TextBox 36"/>
          <p:cNvSpPr txBox="1"/>
          <p:nvPr/>
        </p:nvSpPr>
        <p:spPr>
          <a:xfrm>
            <a:off x="9716780" y="5406999"/>
            <a:ext cx="1423355"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품목 전환 시간</a:t>
            </a:r>
          </a:p>
        </p:txBody>
      </p:sp>
      <p:sp>
        <p:nvSpPr>
          <p:cNvPr id="38" name="TextBox 37"/>
          <p:cNvSpPr txBox="1"/>
          <p:nvPr/>
        </p:nvSpPr>
        <p:spPr>
          <a:xfrm>
            <a:off x="9716780" y="5699607"/>
            <a:ext cx="1423355" cy="274320"/>
          </a:xfrm>
          <a:prstGeom prst="rect">
            <a:avLst/>
          </a:prstGeom>
          <a:noFill/>
        </p:spPr>
        <p:txBody>
          <a:bodyPr wrap="square" lIns="0" rIns="0" tIns="0" bIns="0" anchor="t">
            <a:spAutoFit/>
          </a:bodyPr>
          <a:lstStyle/>
          <a:p>
            <a:pPr algn="l">
              <a:lnSpc>
                <a:spcPct val="100000"/>
              </a:lnSpc>
            </a:pPr>
            <a:r>
              <a:rPr sz="1100" b="0">
                <a:solidFill>
                  <a:srgbClr val="E2571B"/>
                </a:solidFill>
                <a:latin typeface="Noto Sans KR"/>
                <a:ea typeface="Noto Sans KR"/>
                <a:cs typeface="Noto Sans KR"/>
              </a:rPr>
              <a:t>PoC에서 측정</a:t>
            </a:r>
          </a:p>
        </p:txBody>
      </p:sp>
      <p:sp>
        <p:nvSpPr>
          <p:cNvPr id="39" name="TextBox 38"/>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SoftHand-4  |  Seed 투자 제안서</a:t>
            </a:r>
          </a:p>
        </p:txBody>
      </p:sp>
      <p:sp>
        <p:nvSpPr>
          <p:cNvPr id="40" name="TextBox 39"/>
          <p:cNvSpPr txBox="1"/>
          <p:nvPr/>
        </p:nvSpPr>
        <p:spPr>
          <a:xfrm>
            <a:off x="3154680" y="6446520"/>
            <a:ext cx="7802575"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감소율은 고객 기존 수치 확보 전이므로 확정하지 않음 · 유료 PoC에서 지불의사 검증 = Seed 투자의 사업 실험</a:t>
            </a:r>
          </a:p>
        </p:txBody>
      </p:sp>
      <p:sp>
        <p:nvSpPr>
          <p:cNvPr id="41" name="TextBox 40"/>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48640"/>
            <a:ext cx="7315200" cy="274320"/>
          </a:xfrm>
          <a:prstGeom prst="rect">
            <a:avLst/>
          </a:prstGeom>
          <a:noFill/>
        </p:spPr>
        <p:txBody>
          <a:bodyPr wrap="square" lIns="0" rIns="0" tIns="0" bIns="0" anchor="t">
            <a:spAutoFit/>
          </a:bodyPr>
          <a:lstStyle/>
          <a:p>
            <a:pPr algn="l">
              <a:lnSpc>
                <a:spcPct val="100000"/>
              </a:lnSpc>
            </a:pPr>
            <a:r>
              <a:rPr sz="1200" b="1">
                <a:solidFill>
                  <a:srgbClr val="E2571B"/>
                </a:solidFill>
                <a:latin typeface="Noto Sans KR"/>
                <a:ea typeface="Noto Sans KR"/>
                <a:cs typeface="Noto Sans KR"/>
              </a:rPr>
              <a:t>시장</a:t>
            </a:r>
          </a:p>
        </p:txBody>
      </p:sp>
      <p:sp>
        <p:nvSpPr>
          <p:cNvPr id="3" name="TextBox 2"/>
          <p:cNvSpPr txBox="1"/>
          <p:nvPr/>
        </p:nvSpPr>
        <p:spPr>
          <a:xfrm>
            <a:off x="685800" y="932688"/>
            <a:ext cx="10820095" cy="542391"/>
          </a:xfrm>
          <a:prstGeom prst="rect">
            <a:avLst/>
          </a:prstGeom>
          <a:noFill/>
        </p:spPr>
        <p:txBody>
          <a:bodyPr wrap="square" lIns="0" rIns="0" tIns="0" bIns="0" anchor="t">
            <a:spAutoFit/>
          </a:bodyPr>
          <a:lstStyle/>
          <a:p>
            <a:pPr algn="l">
              <a:lnSpc>
                <a:spcPct val="95000"/>
              </a:lnSpc>
            </a:pPr>
            <a:r>
              <a:rPr sz="3000" b="1">
                <a:solidFill>
                  <a:srgbClr val="15171A"/>
                </a:solidFill>
                <a:latin typeface="Noto Sans KR"/>
                <a:ea typeface="Noto Sans KR"/>
                <a:cs typeface="Noto Sans KR"/>
              </a:rPr>
              <a:t>첫 시장은 이미 공장에 설치된 로봇</a:t>
            </a:r>
          </a:p>
        </p:txBody>
      </p:sp>
      <p:sp>
        <p:nvSpPr>
          <p:cNvPr id="4" name="TextBox 3"/>
          <p:cNvSpPr txBox="1"/>
          <p:nvPr/>
        </p:nvSpPr>
        <p:spPr>
          <a:xfrm>
            <a:off x="685800" y="1584807"/>
            <a:ext cx="10820095" cy="329184"/>
          </a:xfrm>
          <a:prstGeom prst="rect">
            <a:avLst/>
          </a:prstGeom>
          <a:noFill/>
        </p:spPr>
        <p:txBody>
          <a:bodyPr wrap="square" lIns="0" rIns="0" tIns="0" bIns="0" anchor="t">
            <a:spAutoFit/>
          </a:bodyPr>
          <a:lstStyle/>
          <a:p>
            <a:pPr algn="l">
              <a:lnSpc>
                <a:spcPct val="100000"/>
              </a:lnSpc>
            </a:pPr>
            <a:r>
              <a:rPr sz="1600" b="0">
                <a:solidFill>
                  <a:srgbClr val="4A4F57"/>
                </a:solidFill>
                <a:latin typeface="Noto Sans KR"/>
                <a:ea typeface="Noto Sans KR"/>
                <a:cs typeface="Noto Sans KR"/>
              </a:rPr>
              <a:t>설치된 로봇과 신규 설치 로봇 모두 핸드 장착 대상</a:t>
            </a:r>
          </a:p>
        </p:txBody>
      </p:sp>
      <p:sp>
        <p:nvSpPr>
          <p:cNvPr id="5" name="TextBox 4"/>
          <p:cNvSpPr txBox="1"/>
          <p:nvPr/>
        </p:nvSpPr>
        <p:spPr>
          <a:xfrm>
            <a:off x="685800" y="2142591"/>
            <a:ext cx="2240280" cy="685800"/>
          </a:xfrm>
          <a:prstGeom prst="rect">
            <a:avLst/>
          </a:prstGeom>
          <a:noFill/>
        </p:spPr>
        <p:txBody>
          <a:bodyPr wrap="square" lIns="0" rIns="0" tIns="0" bIns="0" anchor="t">
            <a:spAutoFit/>
          </a:bodyPr>
          <a:lstStyle/>
          <a:p>
            <a:pPr algn="l">
              <a:lnSpc>
                <a:spcPct val="100000"/>
              </a:lnSpc>
            </a:pPr>
            <a:r>
              <a:rPr sz="2000" b="1">
                <a:solidFill>
                  <a:srgbClr val="15171A"/>
                </a:solidFill>
                <a:latin typeface="Noto Sans KR"/>
                <a:ea typeface="Noto Sans KR"/>
                <a:cs typeface="Noto Sans KR"/>
              </a:rPr>
              <a:t>약 </a:t>
            </a:r>
            <a:r>
              <a:rPr sz="3000" b="1">
                <a:solidFill>
                  <a:srgbClr val="15171A"/>
                </a:solidFill>
                <a:latin typeface="Noto Sans KR"/>
                <a:ea typeface="Noto Sans KR"/>
                <a:cs typeface="Noto Sans KR"/>
              </a:rPr>
              <a:t>500만 대</a:t>
            </a:r>
          </a:p>
        </p:txBody>
      </p:sp>
      <p:sp>
        <p:nvSpPr>
          <p:cNvPr id="6" name="TextBox 5"/>
          <p:cNvSpPr txBox="1"/>
          <p:nvPr/>
        </p:nvSpPr>
        <p:spPr>
          <a:xfrm>
            <a:off x="685800" y="2874111"/>
            <a:ext cx="2240280" cy="548640"/>
          </a:xfrm>
          <a:prstGeom prst="rect">
            <a:avLst/>
          </a:prstGeom>
          <a:noFill/>
        </p:spPr>
        <p:txBody>
          <a:bodyPr wrap="square" lIns="0" rIns="0" tIns="0" bIns="0" anchor="t">
            <a:spAutoFit/>
          </a:bodyPr>
          <a:lstStyle/>
          <a:p>
            <a:pPr algn="l">
              <a:lnSpc>
                <a:spcPct val="100000"/>
              </a:lnSpc>
            </a:pPr>
            <a:r>
              <a:rPr sz="1200" b="0">
                <a:solidFill>
                  <a:srgbClr val="4A4F57"/>
                </a:solidFill>
                <a:latin typeface="Noto Sans KR"/>
                <a:ea typeface="Noto Sans KR"/>
                <a:cs typeface="Noto Sans KR"/>
              </a:rPr>
              <a:t>전 세계 가동 중</a:t>
            </a:r>
          </a:p>
          <a:p>
            <a:pPr algn="l">
              <a:lnSpc>
                <a:spcPct val="100000"/>
              </a:lnSpc>
            </a:pPr>
            <a:r>
              <a:rPr sz="1200" b="0">
                <a:solidFill>
                  <a:srgbClr val="4A4F57"/>
                </a:solidFill>
                <a:latin typeface="Noto Sans KR"/>
                <a:ea typeface="Noto Sans KR"/>
                <a:cs typeface="Noto Sans KR"/>
              </a:rPr>
              <a:t>산업용 로봇 (2025)</a:t>
            </a:r>
          </a:p>
        </p:txBody>
      </p:sp>
      <p:cxnSp>
        <p:nvCxnSpPr>
          <p:cNvPr id="7" name="Connector 6"/>
          <p:cNvCxnSpPr/>
          <p:nvPr/>
        </p:nvCxnSpPr>
        <p:spPr>
          <a:xfrm>
            <a:off x="3035808" y="2234031"/>
            <a:ext cx="0" cy="1325880"/>
          </a:xfrm>
          <a:prstGeom prst="line">
            <a:avLst/>
          </a:prstGeom>
          <a:ln w="9525">
            <a:solidFill>
              <a:srgbClr val="E2E4E7"/>
            </a:solidFill>
          </a:ln>
        </p:spPr>
      </p:cxnSp>
      <p:sp>
        <p:nvSpPr>
          <p:cNvPr id="8" name="TextBox 7"/>
          <p:cNvSpPr txBox="1"/>
          <p:nvPr/>
        </p:nvSpPr>
        <p:spPr>
          <a:xfrm>
            <a:off x="3200400" y="2142591"/>
            <a:ext cx="1737360" cy="685800"/>
          </a:xfrm>
          <a:prstGeom prst="rect">
            <a:avLst/>
          </a:prstGeom>
          <a:noFill/>
        </p:spPr>
        <p:txBody>
          <a:bodyPr wrap="square" lIns="0" rIns="0" tIns="0" bIns="0" anchor="t">
            <a:spAutoFit/>
          </a:bodyPr>
          <a:lstStyle/>
          <a:p>
            <a:pPr algn="l">
              <a:lnSpc>
                <a:spcPct val="100000"/>
              </a:lnSpc>
            </a:pPr>
            <a:r>
              <a:rPr sz="3000" b="1">
                <a:solidFill>
                  <a:srgbClr val="15171A"/>
                </a:solidFill>
                <a:latin typeface="Noto Sans KR"/>
                <a:ea typeface="Noto Sans KR"/>
                <a:cs typeface="Noto Sans KR"/>
              </a:rPr>
              <a:t>60만 대+</a:t>
            </a:r>
          </a:p>
        </p:txBody>
      </p:sp>
      <p:sp>
        <p:nvSpPr>
          <p:cNvPr id="9" name="TextBox 8"/>
          <p:cNvSpPr txBox="1"/>
          <p:nvPr/>
        </p:nvSpPr>
        <p:spPr>
          <a:xfrm>
            <a:off x="3200400" y="2874111"/>
            <a:ext cx="1737360" cy="548640"/>
          </a:xfrm>
          <a:prstGeom prst="rect">
            <a:avLst/>
          </a:prstGeom>
          <a:noFill/>
        </p:spPr>
        <p:txBody>
          <a:bodyPr wrap="square" lIns="0" rIns="0" tIns="0" bIns="0" anchor="t">
            <a:spAutoFit/>
          </a:bodyPr>
          <a:lstStyle/>
          <a:p>
            <a:pPr algn="l">
              <a:lnSpc>
                <a:spcPct val="100000"/>
              </a:lnSpc>
            </a:pPr>
            <a:r>
              <a:rPr sz="1200" b="0">
                <a:solidFill>
                  <a:srgbClr val="4A4F57"/>
                </a:solidFill>
                <a:latin typeface="Noto Sans KR"/>
                <a:ea typeface="Noto Sans KR"/>
                <a:cs typeface="Noto Sans KR"/>
              </a:rPr>
              <a:t>2025년 신규 설치</a:t>
            </a:r>
          </a:p>
          <a:p>
            <a:pPr algn="l">
              <a:lnSpc>
                <a:spcPct val="100000"/>
              </a:lnSpc>
            </a:pPr>
            <a:r>
              <a:rPr sz="1200" b="0">
                <a:solidFill>
                  <a:srgbClr val="4A4F57"/>
                </a:solidFill>
                <a:latin typeface="Noto Sans KR"/>
                <a:ea typeface="Noto Sans KR"/>
                <a:cs typeface="Noto Sans KR"/>
              </a:rPr>
              <a:t>전년 대비 +11%</a:t>
            </a:r>
          </a:p>
        </p:txBody>
      </p:sp>
      <p:cxnSp>
        <p:nvCxnSpPr>
          <p:cNvPr id="10" name="Connector 9"/>
          <p:cNvCxnSpPr/>
          <p:nvPr/>
        </p:nvCxnSpPr>
        <p:spPr>
          <a:xfrm>
            <a:off x="5047488" y="2234031"/>
            <a:ext cx="0" cy="1325880"/>
          </a:xfrm>
          <a:prstGeom prst="line">
            <a:avLst/>
          </a:prstGeom>
          <a:ln w="9525">
            <a:solidFill>
              <a:srgbClr val="E2E4E7"/>
            </a:solidFill>
          </a:ln>
        </p:spPr>
      </p:cxnSp>
      <p:sp>
        <p:nvSpPr>
          <p:cNvPr id="11" name="TextBox 10"/>
          <p:cNvSpPr txBox="1"/>
          <p:nvPr/>
        </p:nvSpPr>
        <p:spPr>
          <a:xfrm>
            <a:off x="5212080" y="2142591"/>
            <a:ext cx="1783080" cy="685800"/>
          </a:xfrm>
          <a:prstGeom prst="rect">
            <a:avLst/>
          </a:prstGeom>
          <a:noFill/>
        </p:spPr>
        <p:txBody>
          <a:bodyPr wrap="square" lIns="0" rIns="0" tIns="0" bIns="0" anchor="t">
            <a:spAutoFit/>
          </a:bodyPr>
          <a:lstStyle/>
          <a:p>
            <a:pPr algn="l">
              <a:lnSpc>
                <a:spcPct val="100000"/>
              </a:lnSpc>
            </a:pPr>
            <a:r>
              <a:rPr sz="3000" b="1">
                <a:solidFill>
                  <a:srgbClr val="15171A"/>
                </a:solidFill>
                <a:latin typeface="Noto Sans KR"/>
                <a:ea typeface="Noto Sans KR"/>
                <a:cs typeface="Noto Sans KR"/>
              </a:rPr>
              <a:t>1,220대</a:t>
            </a:r>
          </a:p>
        </p:txBody>
      </p:sp>
      <p:sp>
        <p:nvSpPr>
          <p:cNvPr id="12" name="TextBox 11"/>
          <p:cNvSpPr txBox="1"/>
          <p:nvPr/>
        </p:nvSpPr>
        <p:spPr>
          <a:xfrm>
            <a:off x="5212080" y="2874111"/>
            <a:ext cx="1783080" cy="548640"/>
          </a:xfrm>
          <a:prstGeom prst="rect">
            <a:avLst/>
          </a:prstGeom>
          <a:noFill/>
        </p:spPr>
        <p:txBody>
          <a:bodyPr wrap="square" lIns="0" rIns="0" tIns="0" bIns="0" anchor="t">
            <a:spAutoFit/>
          </a:bodyPr>
          <a:lstStyle/>
          <a:p>
            <a:pPr algn="l">
              <a:lnSpc>
                <a:spcPct val="100000"/>
              </a:lnSpc>
            </a:pPr>
            <a:r>
              <a:rPr sz="1200" b="0">
                <a:solidFill>
                  <a:srgbClr val="4A4F57"/>
                </a:solidFill>
                <a:latin typeface="Noto Sans KR"/>
                <a:ea typeface="Noto Sans KR"/>
                <a:cs typeface="Noto Sans KR"/>
              </a:rPr>
              <a:t>한국 로봇 밀도</a:t>
            </a:r>
          </a:p>
          <a:p>
            <a:pPr algn="l">
              <a:lnSpc>
                <a:spcPct val="100000"/>
              </a:lnSpc>
            </a:pPr>
            <a:r>
              <a:rPr sz="1200" b="0">
                <a:solidFill>
                  <a:srgbClr val="4A4F57"/>
                </a:solidFill>
                <a:latin typeface="Noto Sans KR"/>
                <a:ea typeface="Noto Sans KR"/>
                <a:cs typeface="Noto Sans KR"/>
              </a:rPr>
              <a:t>직원 1만 명당, 세계 1위</a:t>
            </a:r>
          </a:p>
        </p:txBody>
      </p:sp>
      <p:sp>
        <p:nvSpPr>
          <p:cNvPr id="13" name="TextBox 12"/>
          <p:cNvSpPr txBox="1"/>
          <p:nvPr/>
        </p:nvSpPr>
        <p:spPr>
          <a:xfrm>
            <a:off x="685800" y="3605631"/>
            <a:ext cx="6583680" cy="219456"/>
          </a:xfrm>
          <a:prstGeom prst="rect">
            <a:avLst/>
          </a:prstGeom>
          <a:noFill/>
        </p:spPr>
        <p:txBody>
          <a:bodyPr wrap="square" lIns="0" rIns="0" tIns="0" bIns="0" anchor="t">
            <a:spAutoFit/>
          </a:bodyPr>
          <a:lstStyle/>
          <a:p>
            <a:pPr algn="l">
              <a:lnSpc>
                <a:spcPct val="100000"/>
              </a:lnSpc>
            </a:pPr>
            <a:r>
              <a:rPr sz="1000" b="0">
                <a:solidFill>
                  <a:srgbClr val="8C9198"/>
                </a:solidFill>
                <a:latin typeface="Noto Sans KR"/>
                <a:ea typeface="Noto Sans KR"/>
                <a:cs typeface="Noto Sans KR"/>
              </a:rPr>
              <a:t>출처: IFR World Robotics 2026 (2026.9), IFR 로봇 밀도 (2026.4)</a:t>
            </a:r>
          </a:p>
        </p:txBody>
      </p:sp>
      <p:cxnSp>
        <p:nvCxnSpPr>
          <p:cNvPr id="14" name="Connector 13"/>
          <p:cNvCxnSpPr/>
          <p:nvPr/>
        </p:nvCxnSpPr>
        <p:spPr>
          <a:xfrm>
            <a:off x="685800" y="4154271"/>
            <a:ext cx="6583680" cy="0"/>
          </a:xfrm>
          <a:prstGeom prst="line">
            <a:avLst/>
          </a:prstGeom>
          <a:ln w="12700">
            <a:solidFill>
              <a:srgbClr val="15171A"/>
            </a:solidFill>
          </a:ln>
        </p:spPr>
      </p:cxnSp>
      <p:sp>
        <p:nvSpPr>
          <p:cNvPr id="15" name="TextBox 14"/>
          <p:cNvSpPr txBox="1"/>
          <p:nvPr/>
        </p:nvSpPr>
        <p:spPr>
          <a:xfrm>
            <a:off x="685800" y="4291431"/>
            <a:ext cx="6583680" cy="274320"/>
          </a:xfrm>
          <a:prstGeom prst="rect">
            <a:avLst/>
          </a:prstGeom>
          <a:noFill/>
        </p:spPr>
        <p:txBody>
          <a:bodyPr wrap="square" lIns="0" rIns="0" tIns="0" bIns="0" anchor="t">
            <a:spAutoFit/>
          </a:bodyPr>
          <a:lstStyle/>
          <a:p>
            <a:pPr algn="l">
              <a:lnSpc>
                <a:spcPct val="100000"/>
              </a:lnSpc>
            </a:pPr>
            <a:r>
              <a:rPr sz="1200" b="1">
                <a:solidFill>
                  <a:srgbClr val="E2571B"/>
                </a:solidFill>
                <a:latin typeface="Noto Sans KR"/>
                <a:ea typeface="Noto Sans KR"/>
                <a:cs typeface="Noto Sans KR"/>
              </a:rPr>
              <a:t>5년차 계획 규모 (기본 시나리오)</a:t>
            </a:r>
          </a:p>
        </p:txBody>
      </p:sp>
      <p:sp>
        <p:nvSpPr>
          <p:cNvPr id="16" name="TextBox 15"/>
          <p:cNvSpPr txBox="1"/>
          <p:nvPr/>
        </p:nvSpPr>
        <p:spPr>
          <a:xfrm>
            <a:off x="685800" y="4611471"/>
            <a:ext cx="1828800" cy="685800"/>
          </a:xfrm>
          <a:prstGeom prst="rect">
            <a:avLst/>
          </a:prstGeom>
          <a:noFill/>
        </p:spPr>
        <p:txBody>
          <a:bodyPr wrap="square" lIns="0" rIns="0" tIns="0" bIns="0" anchor="t">
            <a:spAutoFit/>
          </a:bodyPr>
          <a:lstStyle/>
          <a:p>
            <a:pPr algn="l">
              <a:lnSpc>
                <a:spcPct val="100000"/>
              </a:lnSpc>
            </a:pPr>
            <a:r>
              <a:rPr sz="3600" b="1">
                <a:solidFill>
                  <a:srgbClr val="15171A"/>
                </a:solidFill>
                <a:latin typeface="Noto Sans KR"/>
                <a:ea typeface="Noto Sans KR"/>
                <a:cs typeface="Noto Sans KR"/>
              </a:rPr>
              <a:t>200대</a:t>
            </a:r>
          </a:p>
        </p:txBody>
      </p:sp>
      <p:sp>
        <p:nvSpPr>
          <p:cNvPr id="17" name="TextBox 16"/>
          <p:cNvSpPr txBox="1"/>
          <p:nvPr/>
        </p:nvSpPr>
        <p:spPr>
          <a:xfrm>
            <a:off x="2560320" y="4666335"/>
            <a:ext cx="4709160" cy="685800"/>
          </a:xfrm>
          <a:prstGeom prst="rect">
            <a:avLst/>
          </a:prstGeom>
          <a:noFill/>
        </p:spPr>
        <p:txBody>
          <a:bodyPr wrap="square" lIns="0" rIns="0" tIns="0" bIns="0" anchor="t">
            <a:spAutoFit/>
          </a:bodyPr>
          <a:lstStyle/>
          <a:p>
            <a:pPr algn="l">
              <a:lnSpc>
                <a:spcPct val="100000"/>
              </a:lnSpc>
            </a:pPr>
            <a:r>
              <a:rPr sz="1400" b="0">
                <a:solidFill>
                  <a:srgbClr val="4A4F57"/>
                </a:solidFill>
                <a:latin typeface="Noto Sans KR"/>
                <a:ea typeface="Noto Sans KR"/>
                <a:cs typeface="Noto Sans KR"/>
              </a:rPr>
              <a:t>5년차 신규 핸드 판매 계획</a:t>
            </a:r>
          </a:p>
          <a:p>
            <a:pPr algn="l">
              <a:lnSpc>
                <a:spcPct val="100000"/>
              </a:lnSpc>
            </a:pPr>
            <a:r>
              <a:rPr sz="1400" b="0">
                <a:solidFill>
                  <a:srgbClr val="4A4F57"/>
                </a:solidFill>
                <a:latin typeface="Noto Sans KR"/>
                <a:ea typeface="Noto Sans KR"/>
                <a:cs typeface="Noto Sans KR"/>
              </a:rPr>
              <a:t>국내 연간 로봇 설치(약 3만 대)의 1% 미만</a:t>
            </a:r>
          </a:p>
        </p:txBody>
      </p:sp>
      <p:sp>
        <p:nvSpPr>
          <p:cNvPr id="18" name="TextBox 17"/>
          <p:cNvSpPr txBox="1"/>
          <p:nvPr/>
        </p:nvSpPr>
        <p:spPr>
          <a:xfrm>
            <a:off x="685800" y="5452719"/>
            <a:ext cx="6583680" cy="457200"/>
          </a:xfrm>
          <a:prstGeom prst="rect">
            <a:avLst/>
          </a:prstGeom>
          <a:noFill/>
        </p:spPr>
        <p:txBody>
          <a:bodyPr wrap="square" lIns="0" rIns="0" tIns="0" bIns="0" anchor="t">
            <a:spAutoFit/>
          </a:bodyPr>
          <a:lstStyle/>
          <a:p>
            <a:pPr algn="l">
              <a:lnSpc>
                <a:spcPct val="100000"/>
              </a:lnSpc>
            </a:pPr>
            <a:r>
              <a:rPr sz="1200" b="0">
                <a:solidFill>
                  <a:srgbClr val="4A4F57"/>
                </a:solidFill>
                <a:latin typeface="Noto Sans KR"/>
                <a:ea typeface="Noto Sans KR"/>
                <a:cs typeface="Noto Sans KR"/>
              </a:rPr>
              <a:t>장기 상한은 로봇 제조사 출하량 (OEM 탑재 시), 규모는 협의 후 산정</a:t>
            </a:r>
          </a:p>
        </p:txBody>
      </p:sp>
      <p:cxnSp>
        <p:nvCxnSpPr>
          <p:cNvPr id="19" name="Connector 18"/>
          <p:cNvCxnSpPr/>
          <p:nvPr/>
        </p:nvCxnSpPr>
        <p:spPr>
          <a:xfrm>
            <a:off x="7543800" y="2188311"/>
            <a:ext cx="0" cy="3566160"/>
          </a:xfrm>
          <a:prstGeom prst="line">
            <a:avLst/>
          </a:prstGeom>
          <a:ln w="9525">
            <a:solidFill>
              <a:srgbClr val="E2E4E7"/>
            </a:solidFill>
          </a:ln>
        </p:spPr>
      </p:cxnSp>
      <p:sp>
        <p:nvSpPr>
          <p:cNvPr id="20" name="TextBox 19"/>
          <p:cNvSpPr txBox="1"/>
          <p:nvPr/>
        </p:nvSpPr>
        <p:spPr>
          <a:xfrm>
            <a:off x="7818120" y="2142591"/>
            <a:ext cx="3687775" cy="329184"/>
          </a:xfrm>
          <a:prstGeom prst="rect">
            <a:avLst/>
          </a:prstGeom>
          <a:noFill/>
        </p:spPr>
        <p:txBody>
          <a:bodyPr wrap="square" lIns="0" rIns="0" tIns="0" bIns="0" anchor="t">
            <a:spAutoFit/>
          </a:bodyPr>
          <a:lstStyle/>
          <a:p>
            <a:pPr algn="l">
              <a:lnSpc>
                <a:spcPct val="100000"/>
              </a:lnSpc>
            </a:pPr>
            <a:r>
              <a:rPr sz="1800" b="1">
                <a:solidFill>
                  <a:srgbClr val="15171A"/>
                </a:solidFill>
                <a:latin typeface="Noto Sans KR"/>
                <a:ea typeface="Noto Sans KR"/>
                <a:cs typeface="Noto Sans KR"/>
              </a:rPr>
              <a:t>왜 지금인가</a:t>
            </a:r>
          </a:p>
        </p:txBody>
      </p:sp>
      <p:sp>
        <p:nvSpPr>
          <p:cNvPr id="21" name="TextBox 20"/>
          <p:cNvSpPr txBox="1"/>
          <p:nvPr/>
        </p:nvSpPr>
        <p:spPr>
          <a:xfrm>
            <a:off x="7818120" y="2517495"/>
            <a:ext cx="3687775" cy="274320"/>
          </a:xfrm>
          <a:prstGeom prst="rect">
            <a:avLst/>
          </a:prstGeom>
          <a:noFill/>
        </p:spPr>
        <p:txBody>
          <a:bodyPr wrap="square" lIns="0" rIns="0" tIns="0" bIns="0" anchor="t">
            <a:spAutoFit/>
          </a:bodyPr>
          <a:lstStyle/>
          <a:p>
            <a:pPr algn="l">
              <a:lnSpc>
                <a:spcPct val="100000"/>
              </a:lnSpc>
            </a:pPr>
            <a:r>
              <a:rPr sz="1200" b="0">
                <a:solidFill>
                  <a:srgbClr val="4A4F57"/>
                </a:solidFill>
                <a:latin typeface="Noto Sans KR"/>
                <a:ea typeface="Noto Sans KR"/>
                <a:cs typeface="Noto Sans KR"/>
              </a:rPr>
              <a:t>로봇의 두뇌·눈·몸은 상용화, 남은 병목은 손</a:t>
            </a:r>
          </a:p>
        </p:txBody>
      </p:sp>
      <p:cxnSp>
        <p:nvCxnSpPr>
          <p:cNvPr id="22" name="Connector 21"/>
          <p:cNvCxnSpPr/>
          <p:nvPr/>
        </p:nvCxnSpPr>
        <p:spPr>
          <a:xfrm>
            <a:off x="7818120" y="2965551"/>
            <a:ext cx="3687775" cy="0"/>
          </a:xfrm>
          <a:prstGeom prst="line">
            <a:avLst/>
          </a:prstGeom>
          <a:ln w="12700">
            <a:solidFill>
              <a:srgbClr val="15171A"/>
            </a:solidFill>
          </a:ln>
        </p:spPr>
      </p:cxnSp>
      <p:sp>
        <p:nvSpPr>
          <p:cNvPr id="23" name="TextBox 22"/>
          <p:cNvSpPr txBox="1"/>
          <p:nvPr/>
        </p:nvSpPr>
        <p:spPr>
          <a:xfrm>
            <a:off x="7818120" y="3093567"/>
            <a:ext cx="640080" cy="292608"/>
          </a:xfrm>
          <a:prstGeom prst="rect">
            <a:avLst/>
          </a:prstGeom>
          <a:noFill/>
        </p:spPr>
        <p:txBody>
          <a:bodyPr wrap="square" lIns="0" rIns="0" tIns="0" bIns="0" anchor="t">
            <a:spAutoFit/>
          </a:bodyPr>
          <a:lstStyle/>
          <a:p>
            <a:pPr algn="l">
              <a:lnSpc>
                <a:spcPct val="100000"/>
              </a:lnSpc>
            </a:pPr>
            <a:r>
              <a:rPr sz="1500" b="1">
                <a:solidFill>
                  <a:srgbClr val="15171A"/>
                </a:solidFill>
                <a:latin typeface="Noto Sans KR"/>
                <a:ea typeface="Noto Sans KR"/>
                <a:cs typeface="Noto Sans KR"/>
              </a:rPr>
              <a:t>두뇌</a:t>
            </a:r>
          </a:p>
        </p:txBody>
      </p:sp>
      <p:sp>
        <p:nvSpPr>
          <p:cNvPr id="24" name="TextBox 23"/>
          <p:cNvSpPr txBox="1"/>
          <p:nvPr/>
        </p:nvSpPr>
        <p:spPr>
          <a:xfrm>
            <a:off x="8458200" y="3111855"/>
            <a:ext cx="1691640" cy="274320"/>
          </a:xfrm>
          <a:prstGeom prst="rect">
            <a:avLst/>
          </a:prstGeom>
          <a:noFill/>
        </p:spPr>
        <p:txBody>
          <a:bodyPr wrap="square" lIns="0" rIns="0" tIns="0" bIns="0" anchor="t">
            <a:spAutoFit/>
          </a:bodyPr>
          <a:lstStyle/>
          <a:p>
            <a:pPr algn="l">
              <a:lnSpc>
                <a:spcPct val="100000"/>
              </a:lnSpc>
            </a:pPr>
            <a:r>
              <a:rPr sz="1200" b="0">
                <a:solidFill>
                  <a:srgbClr val="4A4F57"/>
                </a:solidFill>
                <a:latin typeface="Noto Sans KR"/>
                <a:ea typeface="Noto Sans KR"/>
                <a:cs typeface="Noto Sans KR"/>
              </a:rPr>
              <a:t>AI·VLA 모델</a:t>
            </a:r>
          </a:p>
        </p:txBody>
      </p:sp>
      <p:sp>
        <p:nvSpPr>
          <p:cNvPr id="25" name="TextBox 24"/>
          <p:cNvSpPr txBox="1"/>
          <p:nvPr/>
        </p:nvSpPr>
        <p:spPr>
          <a:xfrm>
            <a:off x="10149840" y="3093567"/>
            <a:ext cx="1356055" cy="292608"/>
          </a:xfrm>
          <a:prstGeom prst="rect">
            <a:avLst/>
          </a:prstGeom>
          <a:noFill/>
        </p:spPr>
        <p:txBody>
          <a:bodyPr wrap="square" lIns="0" rIns="0" tIns="0" bIns="0" anchor="t">
            <a:spAutoFit/>
          </a:bodyPr>
          <a:lstStyle/>
          <a:p>
            <a:pPr algn="r">
              <a:lnSpc>
                <a:spcPct val="100000"/>
              </a:lnSpc>
            </a:pPr>
            <a:r>
              <a:rPr sz="1400" b="0">
                <a:solidFill>
                  <a:srgbClr val="15171A"/>
                </a:solidFill>
                <a:latin typeface="Noto Sans KR"/>
                <a:ea typeface="Noto Sans KR"/>
                <a:cs typeface="Noto Sans KR"/>
              </a:rPr>
              <a:t>빠르게 발전</a:t>
            </a:r>
          </a:p>
        </p:txBody>
      </p:sp>
      <p:cxnSp>
        <p:nvCxnSpPr>
          <p:cNvPr id="26" name="Connector 25"/>
          <p:cNvCxnSpPr/>
          <p:nvPr/>
        </p:nvCxnSpPr>
        <p:spPr>
          <a:xfrm>
            <a:off x="7818120" y="3532479"/>
            <a:ext cx="3687775" cy="0"/>
          </a:xfrm>
          <a:prstGeom prst="line">
            <a:avLst/>
          </a:prstGeom>
          <a:ln w="9525">
            <a:solidFill>
              <a:srgbClr val="E2E4E7"/>
            </a:solidFill>
          </a:ln>
        </p:spPr>
      </p:cxnSp>
      <p:sp>
        <p:nvSpPr>
          <p:cNvPr id="27" name="TextBox 26"/>
          <p:cNvSpPr txBox="1"/>
          <p:nvPr/>
        </p:nvSpPr>
        <p:spPr>
          <a:xfrm>
            <a:off x="7818120" y="3660495"/>
            <a:ext cx="640080" cy="292608"/>
          </a:xfrm>
          <a:prstGeom prst="rect">
            <a:avLst/>
          </a:prstGeom>
          <a:noFill/>
        </p:spPr>
        <p:txBody>
          <a:bodyPr wrap="square" lIns="0" rIns="0" tIns="0" bIns="0" anchor="t">
            <a:spAutoFit/>
          </a:bodyPr>
          <a:lstStyle/>
          <a:p>
            <a:pPr algn="l">
              <a:lnSpc>
                <a:spcPct val="100000"/>
              </a:lnSpc>
            </a:pPr>
            <a:r>
              <a:rPr sz="1500" b="1">
                <a:solidFill>
                  <a:srgbClr val="15171A"/>
                </a:solidFill>
                <a:latin typeface="Noto Sans KR"/>
                <a:ea typeface="Noto Sans KR"/>
                <a:cs typeface="Noto Sans KR"/>
              </a:rPr>
              <a:t>눈</a:t>
            </a:r>
          </a:p>
        </p:txBody>
      </p:sp>
      <p:sp>
        <p:nvSpPr>
          <p:cNvPr id="28" name="TextBox 27"/>
          <p:cNvSpPr txBox="1"/>
          <p:nvPr/>
        </p:nvSpPr>
        <p:spPr>
          <a:xfrm>
            <a:off x="8458200" y="3678783"/>
            <a:ext cx="1691640" cy="274320"/>
          </a:xfrm>
          <a:prstGeom prst="rect">
            <a:avLst/>
          </a:prstGeom>
          <a:noFill/>
        </p:spPr>
        <p:txBody>
          <a:bodyPr wrap="square" lIns="0" rIns="0" tIns="0" bIns="0" anchor="t">
            <a:spAutoFit/>
          </a:bodyPr>
          <a:lstStyle/>
          <a:p>
            <a:pPr algn="l">
              <a:lnSpc>
                <a:spcPct val="100000"/>
              </a:lnSpc>
            </a:pPr>
            <a:r>
              <a:rPr sz="1200" b="0">
                <a:solidFill>
                  <a:srgbClr val="4A4F57"/>
                </a:solidFill>
                <a:latin typeface="Noto Sans KR"/>
                <a:ea typeface="Noto Sans KR"/>
                <a:cs typeface="Noto Sans KR"/>
              </a:rPr>
              <a:t>비전·엣지 컴퓨팅</a:t>
            </a:r>
          </a:p>
        </p:txBody>
      </p:sp>
      <p:sp>
        <p:nvSpPr>
          <p:cNvPr id="29" name="TextBox 28"/>
          <p:cNvSpPr txBox="1"/>
          <p:nvPr/>
        </p:nvSpPr>
        <p:spPr>
          <a:xfrm>
            <a:off x="10149840" y="3660495"/>
            <a:ext cx="1356055" cy="292608"/>
          </a:xfrm>
          <a:prstGeom prst="rect">
            <a:avLst/>
          </a:prstGeom>
          <a:noFill/>
        </p:spPr>
        <p:txBody>
          <a:bodyPr wrap="square" lIns="0" rIns="0" tIns="0" bIns="0" anchor="t">
            <a:spAutoFit/>
          </a:bodyPr>
          <a:lstStyle/>
          <a:p>
            <a:pPr algn="r">
              <a:lnSpc>
                <a:spcPct val="100000"/>
              </a:lnSpc>
            </a:pPr>
            <a:r>
              <a:rPr sz="1400" b="0">
                <a:solidFill>
                  <a:srgbClr val="15171A"/>
                </a:solidFill>
                <a:latin typeface="Noto Sans KR"/>
                <a:ea typeface="Noto Sans KR"/>
                <a:cs typeface="Noto Sans KR"/>
              </a:rPr>
              <a:t>상용 수준</a:t>
            </a:r>
          </a:p>
        </p:txBody>
      </p:sp>
      <p:cxnSp>
        <p:nvCxnSpPr>
          <p:cNvPr id="30" name="Connector 29"/>
          <p:cNvCxnSpPr/>
          <p:nvPr/>
        </p:nvCxnSpPr>
        <p:spPr>
          <a:xfrm>
            <a:off x="7818120" y="4099407"/>
            <a:ext cx="3687775" cy="0"/>
          </a:xfrm>
          <a:prstGeom prst="line">
            <a:avLst/>
          </a:prstGeom>
          <a:ln w="9525">
            <a:solidFill>
              <a:srgbClr val="E2E4E7"/>
            </a:solidFill>
          </a:ln>
        </p:spPr>
      </p:cxnSp>
      <p:sp>
        <p:nvSpPr>
          <p:cNvPr id="31" name="TextBox 30"/>
          <p:cNvSpPr txBox="1"/>
          <p:nvPr/>
        </p:nvSpPr>
        <p:spPr>
          <a:xfrm>
            <a:off x="7818120" y="4227423"/>
            <a:ext cx="640080" cy="292608"/>
          </a:xfrm>
          <a:prstGeom prst="rect">
            <a:avLst/>
          </a:prstGeom>
          <a:noFill/>
        </p:spPr>
        <p:txBody>
          <a:bodyPr wrap="square" lIns="0" rIns="0" tIns="0" bIns="0" anchor="t">
            <a:spAutoFit/>
          </a:bodyPr>
          <a:lstStyle/>
          <a:p>
            <a:pPr algn="l">
              <a:lnSpc>
                <a:spcPct val="100000"/>
              </a:lnSpc>
            </a:pPr>
            <a:r>
              <a:rPr sz="1500" b="1">
                <a:solidFill>
                  <a:srgbClr val="15171A"/>
                </a:solidFill>
                <a:latin typeface="Noto Sans KR"/>
                <a:ea typeface="Noto Sans KR"/>
                <a:cs typeface="Noto Sans KR"/>
              </a:rPr>
              <a:t>몸</a:t>
            </a:r>
          </a:p>
        </p:txBody>
      </p:sp>
      <p:sp>
        <p:nvSpPr>
          <p:cNvPr id="32" name="TextBox 31"/>
          <p:cNvSpPr txBox="1"/>
          <p:nvPr/>
        </p:nvSpPr>
        <p:spPr>
          <a:xfrm>
            <a:off x="8458200" y="4245711"/>
            <a:ext cx="1691640" cy="274320"/>
          </a:xfrm>
          <a:prstGeom prst="rect">
            <a:avLst/>
          </a:prstGeom>
          <a:noFill/>
        </p:spPr>
        <p:txBody>
          <a:bodyPr wrap="square" lIns="0" rIns="0" tIns="0" bIns="0" anchor="t">
            <a:spAutoFit/>
          </a:bodyPr>
          <a:lstStyle/>
          <a:p>
            <a:pPr algn="l">
              <a:lnSpc>
                <a:spcPct val="100000"/>
              </a:lnSpc>
            </a:pPr>
            <a:r>
              <a:rPr sz="1200" b="0">
                <a:solidFill>
                  <a:srgbClr val="4A4F57"/>
                </a:solidFill>
                <a:latin typeface="Noto Sans KR"/>
                <a:ea typeface="Noto Sans KR"/>
                <a:cs typeface="Noto Sans KR"/>
              </a:rPr>
              <a:t>로봇 팔·협동로봇</a:t>
            </a:r>
          </a:p>
        </p:txBody>
      </p:sp>
      <p:sp>
        <p:nvSpPr>
          <p:cNvPr id="33" name="TextBox 32"/>
          <p:cNvSpPr txBox="1"/>
          <p:nvPr/>
        </p:nvSpPr>
        <p:spPr>
          <a:xfrm>
            <a:off x="10149840" y="4227423"/>
            <a:ext cx="1356055" cy="292608"/>
          </a:xfrm>
          <a:prstGeom prst="rect">
            <a:avLst/>
          </a:prstGeom>
          <a:noFill/>
        </p:spPr>
        <p:txBody>
          <a:bodyPr wrap="square" lIns="0" rIns="0" tIns="0" bIns="0" anchor="t">
            <a:spAutoFit/>
          </a:bodyPr>
          <a:lstStyle/>
          <a:p>
            <a:pPr algn="r">
              <a:lnSpc>
                <a:spcPct val="100000"/>
              </a:lnSpc>
            </a:pPr>
            <a:r>
              <a:rPr sz="1400" b="0">
                <a:solidFill>
                  <a:srgbClr val="15171A"/>
                </a:solidFill>
                <a:latin typeface="Noto Sans KR"/>
                <a:ea typeface="Noto Sans KR"/>
                <a:cs typeface="Noto Sans KR"/>
              </a:rPr>
              <a:t>대규모 보급</a:t>
            </a:r>
          </a:p>
        </p:txBody>
      </p:sp>
      <p:cxnSp>
        <p:nvCxnSpPr>
          <p:cNvPr id="34" name="Connector 33"/>
          <p:cNvCxnSpPr/>
          <p:nvPr/>
        </p:nvCxnSpPr>
        <p:spPr>
          <a:xfrm>
            <a:off x="7818120" y="4666335"/>
            <a:ext cx="3687775" cy="0"/>
          </a:xfrm>
          <a:prstGeom prst="line">
            <a:avLst/>
          </a:prstGeom>
          <a:ln w="9525">
            <a:solidFill>
              <a:srgbClr val="E2E4E7"/>
            </a:solidFill>
          </a:ln>
        </p:spPr>
      </p:cxnSp>
      <p:sp>
        <p:nvSpPr>
          <p:cNvPr id="35" name="TextBox 34"/>
          <p:cNvSpPr txBox="1"/>
          <p:nvPr/>
        </p:nvSpPr>
        <p:spPr>
          <a:xfrm>
            <a:off x="7818120" y="4794351"/>
            <a:ext cx="640080" cy="292608"/>
          </a:xfrm>
          <a:prstGeom prst="rect">
            <a:avLst/>
          </a:prstGeom>
          <a:noFill/>
        </p:spPr>
        <p:txBody>
          <a:bodyPr wrap="square" lIns="0" rIns="0" tIns="0" bIns="0" anchor="t">
            <a:spAutoFit/>
          </a:bodyPr>
          <a:lstStyle/>
          <a:p>
            <a:pPr algn="l">
              <a:lnSpc>
                <a:spcPct val="100000"/>
              </a:lnSpc>
            </a:pPr>
            <a:r>
              <a:rPr sz="1500" b="1">
                <a:solidFill>
                  <a:srgbClr val="E2571B"/>
                </a:solidFill>
                <a:latin typeface="Noto Sans KR"/>
                <a:ea typeface="Noto Sans KR"/>
                <a:cs typeface="Noto Sans KR"/>
              </a:rPr>
              <a:t>손</a:t>
            </a:r>
          </a:p>
        </p:txBody>
      </p:sp>
      <p:sp>
        <p:nvSpPr>
          <p:cNvPr id="36" name="TextBox 35"/>
          <p:cNvSpPr txBox="1"/>
          <p:nvPr/>
        </p:nvSpPr>
        <p:spPr>
          <a:xfrm>
            <a:off x="8458200" y="4812639"/>
            <a:ext cx="1691640" cy="274320"/>
          </a:xfrm>
          <a:prstGeom prst="rect">
            <a:avLst/>
          </a:prstGeom>
          <a:noFill/>
        </p:spPr>
        <p:txBody>
          <a:bodyPr wrap="square" lIns="0" rIns="0" tIns="0" bIns="0" anchor="t">
            <a:spAutoFit/>
          </a:bodyPr>
          <a:lstStyle/>
          <a:p>
            <a:pPr algn="l">
              <a:lnSpc>
                <a:spcPct val="100000"/>
              </a:lnSpc>
            </a:pPr>
            <a:r>
              <a:rPr sz="1200" b="0">
                <a:solidFill>
                  <a:srgbClr val="4A4F57"/>
                </a:solidFill>
                <a:latin typeface="Noto Sans KR"/>
                <a:ea typeface="Noto Sans KR"/>
                <a:cs typeface="Noto Sans KR"/>
              </a:rPr>
              <a:t>현실 세계 조작</a:t>
            </a:r>
          </a:p>
        </p:txBody>
      </p:sp>
      <p:sp>
        <p:nvSpPr>
          <p:cNvPr id="37" name="TextBox 36"/>
          <p:cNvSpPr txBox="1"/>
          <p:nvPr/>
        </p:nvSpPr>
        <p:spPr>
          <a:xfrm>
            <a:off x="10149840" y="4794351"/>
            <a:ext cx="1356055" cy="292608"/>
          </a:xfrm>
          <a:prstGeom prst="rect">
            <a:avLst/>
          </a:prstGeom>
          <a:noFill/>
        </p:spPr>
        <p:txBody>
          <a:bodyPr wrap="square" lIns="0" rIns="0" tIns="0" bIns="0" anchor="t">
            <a:spAutoFit/>
          </a:bodyPr>
          <a:lstStyle/>
          <a:p>
            <a:pPr algn="r">
              <a:lnSpc>
                <a:spcPct val="100000"/>
              </a:lnSpc>
            </a:pPr>
            <a:r>
              <a:rPr sz="1400" b="1">
                <a:solidFill>
                  <a:srgbClr val="E2571B"/>
                </a:solidFill>
                <a:latin typeface="Noto Sans KR"/>
                <a:ea typeface="Noto Sans KR"/>
                <a:cs typeface="Noto Sans KR"/>
              </a:rPr>
              <a:t>아직 병목</a:t>
            </a:r>
          </a:p>
        </p:txBody>
      </p:sp>
      <p:cxnSp>
        <p:nvCxnSpPr>
          <p:cNvPr id="38" name="Connector 37"/>
          <p:cNvCxnSpPr/>
          <p:nvPr/>
        </p:nvCxnSpPr>
        <p:spPr>
          <a:xfrm>
            <a:off x="7818120" y="5233263"/>
            <a:ext cx="3687775" cy="0"/>
          </a:xfrm>
          <a:prstGeom prst="line">
            <a:avLst/>
          </a:prstGeom>
          <a:ln w="9525">
            <a:solidFill>
              <a:srgbClr val="E2E4E7"/>
            </a:solidFill>
          </a:ln>
        </p:spPr>
      </p:cxnSp>
      <p:sp>
        <p:nvSpPr>
          <p:cNvPr id="39" name="TextBox 38"/>
          <p:cNvSpPr txBox="1"/>
          <p:nvPr/>
        </p:nvSpPr>
        <p:spPr>
          <a:xfrm>
            <a:off x="7818120" y="5361279"/>
            <a:ext cx="3687775" cy="457200"/>
          </a:xfrm>
          <a:prstGeom prst="rect">
            <a:avLst/>
          </a:prstGeom>
          <a:noFill/>
        </p:spPr>
        <p:txBody>
          <a:bodyPr wrap="square" lIns="0" rIns="0" tIns="0" bIns="0" anchor="t">
            <a:spAutoFit/>
          </a:bodyPr>
          <a:lstStyle/>
          <a:p>
            <a:pPr algn="l">
              <a:lnSpc>
                <a:spcPct val="100000"/>
              </a:lnSpc>
            </a:pPr>
            <a:r>
              <a:rPr sz="1100" b="0">
                <a:solidFill>
                  <a:srgbClr val="8C9198"/>
                </a:solidFill>
                <a:latin typeface="Noto Sans KR"/>
                <a:ea typeface="Noto Sans KR"/>
                <a:cs typeface="Noto Sans KR"/>
              </a:rPr>
              <a:t>근거와 사례는 부록 A4</a:t>
            </a:r>
          </a:p>
        </p:txBody>
      </p:sp>
      <p:sp>
        <p:nvSpPr>
          <p:cNvPr id="40" name="TextBox 39"/>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SoftHand-4  |  Seed 투자 제안서</a:t>
            </a:r>
          </a:p>
        </p:txBody>
      </p:sp>
      <p:sp>
        <p:nvSpPr>
          <p:cNvPr id="41" name="TextBox 40"/>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48640"/>
            <a:ext cx="7315200" cy="274320"/>
          </a:xfrm>
          <a:prstGeom prst="rect">
            <a:avLst/>
          </a:prstGeom>
          <a:noFill/>
        </p:spPr>
        <p:txBody>
          <a:bodyPr wrap="square" lIns="0" rIns="0" tIns="0" bIns="0" anchor="t">
            <a:spAutoFit/>
          </a:bodyPr>
          <a:lstStyle/>
          <a:p>
            <a:pPr algn="l">
              <a:lnSpc>
                <a:spcPct val="100000"/>
              </a:lnSpc>
            </a:pPr>
            <a:r>
              <a:rPr sz="1200" b="1">
                <a:solidFill>
                  <a:srgbClr val="E2571B"/>
                </a:solidFill>
                <a:latin typeface="Noto Sans KR"/>
                <a:ea typeface="Noto Sans KR"/>
                <a:cs typeface="Noto Sans KR"/>
              </a:rPr>
              <a:t>확장성</a:t>
            </a:r>
          </a:p>
        </p:txBody>
      </p:sp>
      <p:sp>
        <p:nvSpPr>
          <p:cNvPr id="3" name="TextBox 2"/>
          <p:cNvSpPr txBox="1"/>
          <p:nvPr/>
        </p:nvSpPr>
        <p:spPr>
          <a:xfrm>
            <a:off x="685800" y="932688"/>
            <a:ext cx="10820095" cy="542391"/>
          </a:xfrm>
          <a:prstGeom prst="rect">
            <a:avLst/>
          </a:prstGeom>
          <a:noFill/>
        </p:spPr>
        <p:txBody>
          <a:bodyPr wrap="square" lIns="0" rIns="0" tIns="0" bIns="0" anchor="t">
            <a:spAutoFit/>
          </a:bodyPr>
          <a:lstStyle/>
          <a:p>
            <a:pPr algn="l">
              <a:lnSpc>
                <a:spcPct val="95000"/>
              </a:lnSpc>
            </a:pPr>
            <a:r>
              <a:rPr sz="3000" b="1">
                <a:solidFill>
                  <a:srgbClr val="15171A"/>
                </a:solidFill>
                <a:latin typeface="Noto Sans KR"/>
                <a:ea typeface="Noto Sans KR"/>
                <a:cs typeface="Noto Sans KR"/>
              </a:rPr>
              <a:t>고객 프로젝트를 표준 스킬로 축적</a:t>
            </a:r>
          </a:p>
        </p:txBody>
      </p:sp>
      <p:sp>
        <p:nvSpPr>
          <p:cNvPr id="4" name="TextBox 3"/>
          <p:cNvSpPr txBox="1"/>
          <p:nvPr/>
        </p:nvSpPr>
        <p:spPr>
          <a:xfrm>
            <a:off x="685800" y="1584807"/>
            <a:ext cx="10820095" cy="329184"/>
          </a:xfrm>
          <a:prstGeom prst="rect">
            <a:avLst/>
          </a:prstGeom>
          <a:noFill/>
        </p:spPr>
        <p:txBody>
          <a:bodyPr wrap="square" lIns="0" rIns="0" tIns="0" bIns="0" anchor="t">
            <a:spAutoFit/>
          </a:bodyPr>
          <a:lstStyle/>
          <a:p>
            <a:pPr algn="l">
              <a:lnSpc>
                <a:spcPct val="100000"/>
              </a:lnSpc>
            </a:pPr>
            <a:r>
              <a:rPr sz="1600" b="0">
                <a:solidFill>
                  <a:srgbClr val="4A4F57"/>
                </a:solidFill>
                <a:latin typeface="Noto Sans KR"/>
                <a:ea typeface="Noto Sans KR"/>
                <a:cs typeface="Noto Sans KR"/>
              </a:rPr>
              <a:t>2번째 고객부터 재사용, 다른 로봇에도 같은 스킬 적용 (SI 사업화 방지 구조)</a:t>
            </a:r>
          </a:p>
        </p:txBody>
      </p:sp>
      <p:cxnSp>
        <p:nvCxnSpPr>
          <p:cNvPr id="5" name="Connector 4"/>
          <p:cNvCxnSpPr/>
          <p:nvPr/>
        </p:nvCxnSpPr>
        <p:spPr>
          <a:xfrm>
            <a:off x="731520" y="2316327"/>
            <a:ext cx="0" cy="2194560"/>
          </a:xfrm>
          <a:prstGeom prst="line">
            <a:avLst/>
          </a:prstGeom>
          <a:ln w="15875">
            <a:solidFill>
              <a:srgbClr val="15171A"/>
            </a:solidFill>
          </a:ln>
        </p:spPr>
      </p:cxnSp>
      <p:sp>
        <p:nvSpPr>
          <p:cNvPr id="6" name="Oval 5"/>
          <p:cNvSpPr/>
          <p:nvPr/>
        </p:nvSpPr>
        <p:spPr>
          <a:xfrm>
            <a:off x="676656" y="2261463"/>
            <a:ext cx="109728" cy="109728"/>
          </a:xfrm>
          <a:prstGeom prst="ellipse">
            <a:avLst/>
          </a:prstGeom>
          <a:solidFill>
            <a:srgbClr val="15171A"/>
          </a:solidFill>
          <a:ln>
            <a:noFill/>
          </a:ln>
        </p:spPr>
        <p:txBody>
          <a:bodyPr rtlCol="0" anchor="ctr"/>
          <a:lstStyle/>
          <a:p>
            <a:pPr algn="ctr"/>
          </a:p>
        </p:txBody>
      </p:sp>
      <p:sp>
        <p:nvSpPr>
          <p:cNvPr id="7" name="TextBox 6"/>
          <p:cNvSpPr txBox="1"/>
          <p:nvPr/>
        </p:nvSpPr>
        <p:spPr>
          <a:xfrm>
            <a:off x="978408" y="2206599"/>
            <a:ext cx="1920240" cy="274320"/>
          </a:xfrm>
          <a:prstGeom prst="rect">
            <a:avLst/>
          </a:prstGeom>
          <a:noFill/>
        </p:spPr>
        <p:txBody>
          <a:bodyPr wrap="square" lIns="0" rIns="0" tIns="0" bIns="0" anchor="t">
            <a:spAutoFit/>
          </a:bodyPr>
          <a:lstStyle/>
          <a:p>
            <a:pPr algn="l">
              <a:lnSpc>
                <a:spcPct val="100000"/>
              </a:lnSpc>
            </a:pPr>
            <a:r>
              <a:rPr sz="1400" b="1">
                <a:solidFill>
                  <a:srgbClr val="15171A"/>
                </a:solidFill>
                <a:latin typeface="Noto Sans KR"/>
                <a:ea typeface="Noto Sans KR"/>
                <a:cs typeface="Noto Sans KR"/>
              </a:rPr>
              <a:t>고객 프로젝트</a:t>
            </a:r>
          </a:p>
        </p:txBody>
      </p:sp>
      <p:sp>
        <p:nvSpPr>
          <p:cNvPr id="8" name="TextBox 7"/>
          <p:cNvSpPr txBox="1"/>
          <p:nvPr/>
        </p:nvSpPr>
        <p:spPr>
          <a:xfrm>
            <a:off x="2926080" y="2224887"/>
            <a:ext cx="3017520" cy="274320"/>
          </a:xfrm>
          <a:prstGeom prst="rect">
            <a:avLst/>
          </a:prstGeom>
          <a:noFill/>
        </p:spPr>
        <p:txBody>
          <a:bodyPr wrap="square" lIns="0" rIns="0" tIns="0" bIns="0" anchor="t">
            <a:spAutoFit/>
          </a:bodyPr>
          <a:lstStyle/>
          <a:p>
            <a:pPr algn="l">
              <a:lnSpc>
                <a:spcPct val="100000"/>
              </a:lnSpc>
            </a:pPr>
            <a:r>
              <a:rPr sz="1200" b="0">
                <a:solidFill>
                  <a:srgbClr val="4A4F57"/>
                </a:solidFill>
                <a:latin typeface="Noto Sans KR"/>
                <a:ea typeface="Noto Sans KR"/>
                <a:cs typeface="Noto Sans KR"/>
              </a:rPr>
              <a:t>현장별 작업 수행</a:t>
            </a:r>
          </a:p>
        </p:txBody>
      </p:sp>
      <p:sp>
        <p:nvSpPr>
          <p:cNvPr id="9" name="Oval 8"/>
          <p:cNvSpPr/>
          <p:nvPr/>
        </p:nvSpPr>
        <p:spPr>
          <a:xfrm>
            <a:off x="676656" y="2810103"/>
            <a:ext cx="109728" cy="109728"/>
          </a:xfrm>
          <a:prstGeom prst="ellipse">
            <a:avLst/>
          </a:prstGeom>
          <a:solidFill>
            <a:srgbClr val="15171A"/>
          </a:solidFill>
          <a:ln>
            <a:noFill/>
          </a:ln>
        </p:spPr>
        <p:txBody>
          <a:bodyPr rtlCol="0" anchor="ctr"/>
          <a:lstStyle/>
          <a:p>
            <a:pPr algn="ctr"/>
          </a:p>
        </p:txBody>
      </p:sp>
      <p:sp>
        <p:nvSpPr>
          <p:cNvPr id="10" name="TextBox 9"/>
          <p:cNvSpPr txBox="1"/>
          <p:nvPr/>
        </p:nvSpPr>
        <p:spPr>
          <a:xfrm>
            <a:off x="978408" y="2755239"/>
            <a:ext cx="1920240" cy="274320"/>
          </a:xfrm>
          <a:prstGeom prst="rect">
            <a:avLst/>
          </a:prstGeom>
          <a:noFill/>
        </p:spPr>
        <p:txBody>
          <a:bodyPr wrap="square" lIns="0" rIns="0" tIns="0" bIns="0" anchor="t">
            <a:spAutoFit/>
          </a:bodyPr>
          <a:lstStyle/>
          <a:p>
            <a:pPr algn="l">
              <a:lnSpc>
                <a:spcPct val="100000"/>
              </a:lnSpc>
            </a:pPr>
            <a:r>
              <a:rPr sz="1400" b="1">
                <a:solidFill>
                  <a:srgbClr val="15171A"/>
                </a:solidFill>
                <a:latin typeface="Noto Sans KR"/>
                <a:ea typeface="Noto Sans KR"/>
                <a:cs typeface="Noto Sans KR"/>
              </a:rPr>
              <a:t>공통 작업 추출</a:t>
            </a:r>
          </a:p>
        </p:txBody>
      </p:sp>
      <p:sp>
        <p:nvSpPr>
          <p:cNvPr id="11" name="TextBox 10"/>
          <p:cNvSpPr txBox="1"/>
          <p:nvPr/>
        </p:nvSpPr>
        <p:spPr>
          <a:xfrm>
            <a:off x="2926080" y="2773527"/>
            <a:ext cx="3017520" cy="274320"/>
          </a:xfrm>
          <a:prstGeom prst="rect">
            <a:avLst/>
          </a:prstGeom>
          <a:noFill/>
        </p:spPr>
        <p:txBody>
          <a:bodyPr wrap="square" lIns="0" rIns="0" tIns="0" bIns="0" anchor="t">
            <a:spAutoFit/>
          </a:bodyPr>
          <a:lstStyle/>
          <a:p>
            <a:pPr algn="l">
              <a:lnSpc>
                <a:spcPct val="100000"/>
              </a:lnSpc>
            </a:pPr>
            <a:r>
              <a:rPr sz="1200" b="0">
                <a:solidFill>
                  <a:srgbClr val="4A4F57"/>
                </a:solidFill>
                <a:latin typeface="Noto Sans KR"/>
                <a:ea typeface="Noto Sans KR"/>
                <a:cs typeface="Noto Sans KR"/>
              </a:rPr>
              <a:t>문 열기·투입·버튼 등 반복 작업 분리</a:t>
            </a:r>
          </a:p>
        </p:txBody>
      </p:sp>
      <p:sp>
        <p:nvSpPr>
          <p:cNvPr id="12" name="Oval 11"/>
          <p:cNvSpPr/>
          <p:nvPr/>
        </p:nvSpPr>
        <p:spPr>
          <a:xfrm>
            <a:off x="676656" y="3358743"/>
            <a:ext cx="109728" cy="109728"/>
          </a:xfrm>
          <a:prstGeom prst="ellipse">
            <a:avLst/>
          </a:prstGeom>
          <a:solidFill>
            <a:srgbClr val="15171A"/>
          </a:solidFill>
          <a:ln>
            <a:noFill/>
          </a:ln>
        </p:spPr>
        <p:txBody>
          <a:bodyPr rtlCol="0" anchor="ctr"/>
          <a:lstStyle/>
          <a:p>
            <a:pPr algn="ctr"/>
          </a:p>
        </p:txBody>
      </p:sp>
      <p:sp>
        <p:nvSpPr>
          <p:cNvPr id="13" name="TextBox 12"/>
          <p:cNvSpPr txBox="1"/>
          <p:nvPr/>
        </p:nvSpPr>
        <p:spPr>
          <a:xfrm>
            <a:off x="978408" y="3303879"/>
            <a:ext cx="1920240" cy="274320"/>
          </a:xfrm>
          <a:prstGeom prst="rect">
            <a:avLst/>
          </a:prstGeom>
          <a:noFill/>
        </p:spPr>
        <p:txBody>
          <a:bodyPr wrap="square" lIns="0" rIns="0" tIns="0" bIns="0" anchor="t">
            <a:spAutoFit/>
          </a:bodyPr>
          <a:lstStyle/>
          <a:p>
            <a:pPr algn="l">
              <a:lnSpc>
                <a:spcPct val="100000"/>
              </a:lnSpc>
            </a:pPr>
            <a:r>
              <a:rPr sz="1400" b="1">
                <a:solidFill>
                  <a:srgbClr val="15171A"/>
                </a:solidFill>
                <a:latin typeface="Noto Sans KR"/>
                <a:ea typeface="Noto Sans KR"/>
                <a:cs typeface="Noto Sans KR"/>
              </a:rPr>
              <a:t>재사용 스킬</a:t>
            </a:r>
          </a:p>
        </p:txBody>
      </p:sp>
      <p:sp>
        <p:nvSpPr>
          <p:cNvPr id="14" name="TextBox 13"/>
          <p:cNvSpPr txBox="1"/>
          <p:nvPr/>
        </p:nvSpPr>
        <p:spPr>
          <a:xfrm>
            <a:off x="2926080" y="3322167"/>
            <a:ext cx="3017520" cy="274320"/>
          </a:xfrm>
          <a:prstGeom prst="rect">
            <a:avLst/>
          </a:prstGeom>
          <a:noFill/>
        </p:spPr>
        <p:txBody>
          <a:bodyPr wrap="square" lIns="0" rIns="0" tIns="0" bIns="0" anchor="t">
            <a:spAutoFit/>
          </a:bodyPr>
          <a:lstStyle/>
          <a:p>
            <a:pPr algn="l">
              <a:lnSpc>
                <a:spcPct val="100000"/>
              </a:lnSpc>
            </a:pPr>
            <a:r>
              <a:rPr sz="1200" b="0">
                <a:solidFill>
                  <a:srgbClr val="4A4F57"/>
                </a:solidFill>
                <a:latin typeface="Noto Sans KR"/>
                <a:ea typeface="Noto Sans KR"/>
                <a:cs typeface="Noto Sans KR"/>
              </a:rPr>
              <a:t>로봇과 무관한 작업 정의</a:t>
            </a:r>
          </a:p>
        </p:txBody>
      </p:sp>
      <p:sp>
        <p:nvSpPr>
          <p:cNvPr id="15" name="Oval 14"/>
          <p:cNvSpPr/>
          <p:nvPr/>
        </p:nvSpPr>
        <p:spPr>
          <a:xfrm>
            <a:off x="676656" y="3907383"/>
            <a:ext cx="109728" cy="109728"/>
          </a:xfrm>
          <a:prstGeom prst="ellipse">
            <a:avLst/>
          </a:prstGeom>
          <a:solidFill>
            <a:srgbClr val="15171A"/>
          </a:solidFill>
          <a:ln>
            <a:noFill/>
          </a:ln>
        </p:spPr>
        <p:txBody>
          <a:bodyPr rtlCol="0" anchor="ctr"/>
          <a:lstStyle/>
          <a:p>
            <a:pPr algn="ctr"/>
          </a:p>
        </p:txBody>
      </p:sp>
      <p:sp>
        <p:nvSpPr>
          <p:cNvPr id="16" name="TextBox 15"/>
          <p:cNvSpPr txBox="1"/>
          <p:nvPr/>
        </p:nvSpPr>
        <p:spPr>
          <a:xfrm>
            <a:off x="978408" y="3852519"/>
            <a:ext cx="1920240" cy="274320"/>
          </a:xfrm>
          <a:prstGeom prst="rect">
            <a:avLst/>
          </a:prstGeom>
          <a:noFill/>
        </p:spPr>
        <p:txBody>
          <a:bodyPr wrap="square" lIns="0" rIns="0" tIns="0" bIns="0" anchor="t">
            <a:spAutoFit/>
          </a:bodyPr>
          <a:lstStyle/>
          <a:p>
            <a:pPr algn="l">
              <a:lnSpc>
                <a:spcPct val="100000"/>
              </a:lnSpc>
            </a:pPr>
            <a:r>
              <a:rPr sz="1400" b="1">
                <a:solidFill>
                  <a:srgbClr val="15171A"/>
                </a:solidFill>
                <a:latin typeface="Noto Sans KR"/>
                <a:ea typeface="Noto Sans KR"/>
                <a:cs typeface="Noto Sans KR"/>
              </a:rPr>
              <a:t>검증된 스킬 팩</a:t>
            </a:r>
          </a:p>
        </p:txBody>
      </p:sp>
      <p:sp>
        <p:nvSpPr>
          <p:cNvPr id="17" name="TextBox 16"/>
          <p:cNvSpPr txBox="1"/>
          <p:nvPr/>
        </p:nvSpPr>
        <p:spPr>
          <a:xfrm>
            <a:off x="2926080" y="3870807"/>
            <a:ext cx="3017520" cy="274320"/>
          </a:xfrm>
          <a:prstGeom prst="rect">
            <a:avLst/>
          </a:prstGeom>
          <a:noFill/>
        </p:spPr>
        <p:txBody>
          <a:bodyPr wrap="square" lIns="0" rIns="0" tIns="0" bIns="0" anchor="t">
            <a:spAutoFit/>
          </a:bodyPr>
          <a:lstStyle/>
          <a:p>
            <a:pPr algn="l">
              <a:lnSpc>
                <a:spcPct val="100000"/>
              </a:lnSpc>
            </a:pPr>
            <a:r>
              <a:rPr sz="1200" b="0">
                <a:solidFill>
                  <a:srgbClr val="4A4F57"/>
                </a:solidFill>
                <a:latin typeface="Noto Sans KR"/>
                <a:ea typeface="Noto Sans KR"/>
                <a:cs typeface="Noto Sans KR"/>
              </a:rPr>
              <a:t>승인 작업 목록으로 판매</a:t>
            </a:r>
          </a:p>
        </p:txBody>
      </p:sp>
      <p:sp>
        <p:nvSpPr>
          <p:cNvPr id="18" name="Oval 17"/>
          <p:cNvSpPr/>
          <p:nvPr/>
        </p:nvSpPr>
        <p:spPr>
          <a:xfrm>
            <a:off x="676656" y="4456023"/>
            <a:ext cx="109728" cy="109728"/>
          </a:xfrm>
          <a:prstGeom prst="ellipse">
            <a:avLst/>
          </a:prstGeom>
          <a:solidFill>
            <a:srgbClr val="E2571B"/>
          </a:solidFill>
          <a:ln>
            <a:noFill/>
          </a:ln>
        </p:spPr>
        <p:txBody>
          <a:bodyPr rtlCol="0" anchor="ctr"/>
          <a:lstStyle/>
          <a:p>
            <a:pPr algn="ctr"/>
          </a:p>
        </p:txBody>
      </p:sp>
      <p:sp>
        <p:nvSpPr>
          <p:cNvPr id="19" name="TextBox 18"/>
          <p:cNvSpPr txBox="1"/>
          <p:nvPr/>
        </p:nvSpPr>
        <p:spPr>
          <a:xfrm>
            <a:off x="978408" y="4401159"/>
            <a:ext cx="1920240" cy="274320"/>
          </a:xfrm>
          <a:prstGeom prst="rect">
            <a:avLst/>
          </a:prstGeom>
          <a:noFill/>
        </p:spPr>
        <p:txBody>
          <a:bodyPr wrap="square" lIns="0" rIns="0" tIns="0" bIns="0" anchor="t">
            <a:spAutoFit/>
          </a:bodyPr>
          <a:lstStyle/>
          <a:p>
            <a:pPr algn="l">
              <a:lnSpc>
                <a:spcPct val="100000"/>
              </a:lnSpc>
            </a:pPr>
            <a:r>
              <a:rPr sz="1400" b="1">
                <a:solidFill>
                  <a:srgbClr val="15171A"/>
                </a:solidFill>
                <a:latin typeface="Noto Sans KR"/>
                <a:ea typeface="Noto Sans KR"/>
                <a:cs typeface="Noto Sans KR"/>
              </a:rPr>
              <a:t>다음 고객</a:t>
            </a:r>
          </a:p>
        </p:txBody>
      </p:sp>
      <p:sp>
        <p:nvSpPr>
          <p:cNvPr id="20" name="TextBox 19"/>
          <p:cNvSpPr txBox="1"/>
          <p:nvPr/>
        </p:nvSpPr>
        <p:spPr>
          <a:xfrm>
            <a:off x="2926080" y="4419447"/>
            <a:ext cx="3017520" cy="274320"/>
          </a:xfrm>
          <a:prstGeom prst="rect">
            <a:avLst/>
          </a:prstGeom>
          <a:noFill/>
        </p:spPr>
        <p:txBody>
          <a:bodyPr wrap="square" lIns="0" rIns="0" tIns="0" bIns="0" anchor="t">
            <a:spAutoFit/>
          </a:bodyPr>
          <a:lstStyle/>
          <a:p>
            <a:pPr algn="l">
              <a:lnSpc>
                <a:spcPct val="100000"/>
              </a:lnSpc>
            </a:pPr>
            <a:r>
              <a:rPr sz="1200" b="0">
                <a:solidFill>
                  <a:srgbClr val="4A4F57"/>
                </a:solidFill>
                <a:latin typeface="Noto Sans KR"/>
                <a:ea typeface="Noto Sans KR"/>
                <a:cs typeface="Noto Sans KR"/>
              </a:rPr>
              <a:t>같은 스킬 재사용, 고객별 구성만 추가</a:t>
            </a:r>
          </a:p>
        </p:txBody>
      </p:sp>
      <p:cxnSp>
        <p:nvCxnSpPr>
          <p:cNvPr id="21" name="Connector 20"/>
          <p:cNvCxnSpPr/>
          <p:nvPr/>
        </p:nvCxnSpPr>
        <p:spPr>
          <a:xfrm>
            <a:off x="685800" y="4904079"/>
            <a:ext cx="5257800" cy="0"/>
          </a:xfrm>
          <a:prstGeom prst="line">
            <a:avLst/>
          </a:prstGeom>
          <a:ln w="12700">
            <a:solidFill>
              <a:srgbClr val="15171A"/>
            </a:solidFill>
          </a:ln>
        </p:spPr>
      </p:cxnSp>
      <p:graphicFrame>
        <p:nvGraphicFramePr>
          <p:cNvPr id="22" name="Table 21"/>
          <p:cNvGraphicFramePr>
            <a:graphicFrameLocks noGrp="1"/>
          </p:cNvGraphicFramePr>
          <p:nvPr/>
        </p:nvGraphicFramePr>
        <p:xfrm>
          <a:off x="685800" y="4949799"/>
          <a:ext cx="5257799" cy="1294180"/>
        </p:xfrm>
        <a:graphic>
          <a:graphicData uri="http://schemas.openxmlformats.org/drawingml/2006/table">
            <a:tbl>
              <a:tblPr firstRow="0" bandRow="0">
                <a:tableStyleId>{2D5ABB26-0587-4C30-8999-92F81FD0307C}</a:tableStyleId>
              </a:tblPr>
              <a:tblGrid>
                <a:gridCol w="1280160"/>
                <a:gridCol w="3977639"/>
              </a:tblGrid>
              <a:tr h="357835">
                <a:tc>
                  <a:txBody>
                    <a:bodyPr wrap="square"/>
                    <a:lstStyle/>
                    <a:p>
                      <a:pPr algn="l">
                        <a:lnSpc>
                          <a:spcPct val="100000"/>
                        </a:lnSpc>
                      </a:pPr>
                      <a:r>
                        <a:rPr sz="1200" b="1">
                          <a:solidFill>
                            <a:srgbClr val="15171A"/>
                          </a:solidFill>
                          <a:latin typeface="Noto Sans KR"/>
                          <a:ea typeface="Noto Sans KR"/>
                          <a:cs typeface="Noto Sans KR"/>
                        </a:rPr>
                        <a:t>재사용</a:t>
                      </a:r>
                    </a:p>
                  </a:txBody>
                  <a:tcPr marL="73152" marR="73152" marT="64008" marB="64008"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핸드 · 런타임 · 기본 동작 · 작업 스킬 · 보정 도구</a:t>
                      </a:r>
                    </a:p>
                  </a:txBody>
                  <a:tcPr marL="73152" marR="73152" marT="64008" marB="64008" anchor="t">
                    <a:lnL w="0">
                      <a:noFill/>
                    </a:lnL>
                    <a:lnR w="0">
                      <a:noFill/>
                    </a:lnR>
                    <a:lnT w="0">
                      <a:noFill/>
                    </a:lnT>
                    <a:lnB w="9525">
                      <a:solidFill>
                        <a:srgbClr val="E2E4E7"/>
                      </a:solidFill>
                    </a:lnB>
                    <a:noFill/>
                  </a:tcPr>
                </a:tc>
              </a:tr>
              <a:tr h="357835">
                <a:tc>
                  <a:txBody>
                    <a:bodyPr wrap="square"/>
                    <a:lstStyle/>
                    <a:p>
                      <a:pPr algn="l">
                        <a:lnSpc>
                          <a:spcPct val="100000"/>
                        </a:lnSpc>
                      </a:pPr>
                      <a:r>
                        <a:rPr sz="1200" b="1">
                          <a:solidFill>
                            <a:srgbClr val="15171A"/>
                          </a:solidFill>
                          <a:latin typeface="Noto Sans KR"/>
                          <a:ea typeface="Noto Sans KR"/>
                          <a:cs typeface="Noto Sans KR"/>
                        </a:rPr>
                        <a:t>고객별 구성</a:t>
                      </a:r>
                    </a:p>
                  </a:txBody>
                  <a:tcPr marL="73152" marR="73152" marT="64008" marB="64008"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부품 형상 등록 · 셀 배치 · 안전 검증</a:t>
                      </a:r>
                    </a:p>
                  </a:txBody>
                  <a:tcPr marL="73152" marR="73152" marT="64008" marB="64008" anchor="t">
                    <a:lnL w="0">
                      <a:noFill/>
                    </a:lnL>
                    <a:lnR w="0">
                      <a:noFill/>
                    </a:lnR>
                    <a:lnT w="0">
                      <a:noFill/>
                    </a:lnT>
                    <a:lnB w="9525">
                      <a:solidFill>
                        <a:srgbClr val="E2E4E7"/>
                      </a:solidFill>
                    </a:lnB>
                    <a:noFill/>
                  </a:tcPr>
                </a:tc>
              </a:tr>
              <a:tr h="578510">
                <a:tc>
                  <a:txBody>
                    <a:bodyPr wrap="square"/>
                    <a:lstStyle/>
                    <a:p>
                      <a:pPr algn="l">
                        <a:lnSpc>
                          <a:spcPct val="100000"/>
                        </a:lnSpc>
                      </a:pPr>
                      <a:r>
                        <a:rPr sz="1200" b="1">
                          <a:solidFill>
                            <a:srgbClr val="15171A"/>
                          </a:solidFill>
                          <a:latin typeface="Noto Sans KR"/>
                          <a:ea typeface="Noto Sans KR"/>
                          <a:cs typeface="Noto Sans KR"/>
                        </a:rPr>
                        <a:t>운영 규칙</a:t>
                      </a:r>
                    </a:p>
                  </a:txBody>
                  <a:tcPr marL="73152" marR="73152" marT="64008" marB="64008"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승인 작업 목록 안에서만 수주, 비표준 요청은 별도 견적, 종료 시 공통 모듈 반영</a:t>
                      </a:r>
                    </a:p>
                  </a:txBody>
                  <a:tcPr marL="73152" marR="73152" marT="64008" marB="64008" anchor="t">
                    <a:lnL w="0">
                      <a:noFill/>
                    </a:lnL>
                    <a:lnR w="0">
                      <a:noFill/>
                    </a:lnR>
                    <a:lnT w="0">
                      <a:noFill/>
                    </a:lnT>
                    <a:lnB w="9525">
                      <a:solidFill>
                        <a:srgbClr val="E2E4E7"/>
                      </a:solidFill>
                    </a:lnB>
                    <a:noFill/>
                  </a:tcPr>
                </a:tc>
              </a:tr>
            </a:tbl>
          </a:graphicData>
        </a:graphic>
      </p:graphicFrame>
      <p:sp>
        <p:nvSpPr>
          <p:cNvPr id="23" name="TextBox 22"/>
          <p:cNvSpPr txBox="1"/>
          <p:nvPr/>
        </p:nvSpPr>
        <p:spPr>
          <a:xfrm>
            <a:off x="6446520" y="2142591"/>
            <a:ext cx="5059375" cy="292608"/>
          </a:xfrm>
          <a:prstGeom prst="rect">
            <a:avLst/>
          </a:prstGeom>
          <a:noFill/>
        </p:spPr>
        <p:txBody>
          <a:bodyPr wrap="square" lIns="0" rIns="0" tIns="0" bIns="0" anchor="t">
            <a:spAutoFit/>
          </a:bodyPr>
          <a:lstStyle/>
          <a:p>
            <a:pPr algn="l">
              <a:lnSpc>
                <a:spcPct val="100000"/>
              </a:lnSpc>
            </a:pPr>
            <a:r>
              <a:rPr sz="1400" b="1">
                <a:solidFill>
                  <a:srgbClr val="8C9198"/>
                </a:solidFill>
                <a:latin typeface="Noto Sans KR"/>
                <a:ea typeface="Noto Sans KR"/>
                <a:cs typeface="Noto Sans KR"/>
              </a:rPr>
              <a:t>로봇 2종 호환 검증</a:t>
            </a:r>
          </a:p>
        </p:txBody>
      </p:sp>
      <p:pic>
        <p:nvPicPr>
          <p:cNvPr id="24" name="Picture 23" descr="portA_color_light_266x199_50_45_100.jpg"/>
          <p:cNvPicPr>
            <a:picLocks noChangeAspect="1"/>
          </p:cNvPicPr>
          <p:nvPr/>
        </p:nvPicPr>
        <p:blipFill>
          <a:blip r:embed="rId2"/>
          <a:stretch>
            <a:fillRect/>
          </a:stretch>
        </p:blipFill>
        <p:spPr>
          <a:xfrm>
            <a:off x="6446520" y="2508351"/>
            <a:ext cx="2438247" cy="1828685"/>
          </a:xfrm>
          <a:prstGeom prst="rect">
            <a:avLst/>
          </a:prstGeom>
        </p:spPr>
      </p:pic>
      <p:sp>
        <p:nvSpPr>
          <p:cNvPr id="25" name="TextBox 24"/>
          <p:cNvSpPr txBox="1"/>
          <p:nvPr/>
        </p:nvSpPr>
        <p:spPr>
          <a:xfrm>
            <a:off x="6446520" y="4401045"/>
            <a:ext cx="2438247" cy="237744"/>
          </a:xfrm>
          <a:prstGeom prst="rect">
            <a:avLst/>
          </a:prstGeom>
          <a:noFill/>
        </p:spPr>
        <p:txBody>
          <a:bodyPr wrap="square" lIns="0" rIns="0" tIns="0" bIns="0" anchor="t">
            <a:spAutoFit/>
          </a:bodyPr>
          <a:lstStyle/>
          <a:p>
            <a:pPr algn="l">
              <a:lnSpc>
                <a:spcPct val="100000"/>
              </a:lnSpc>
            </a:pPr>
            <a:r>
              <a:rPr sz="1100" b="0">
                <a:solidFill>
                  <a:srgbClr val="4A4F57"/>
                </a:solidFill>
                <a:latin typeface="Noto Sans KR"/>
                <a:ea typeface="Noto Sans KR"/>
                <a:cs typeface="Noto Sans KR"/>
              </a:rPr>
              <a:t>로봇 A · 협동로봇 6축</a:t>
            </a:r>
          </a:p>
        </p:txBody>
      </p:sp>
      <p:pic>
        <p:nvPicPr>
          <p:cNvPr id="26" name="Picture 25" descr="portB_color_light_266x199_50_45_100.jpg"/>
          <p:cNvPicPr>
            <a:picLocks noChangeAspect="1"/>
          </p:cNvPicPr>
          <p:nvPr/>
        </p:nvPicPr>
        <p:blipFill>
          <a:blip r:embed="rId3"/>
          <a:stretch>
            <a:fillRect/>
          </a:stretch>
        </p:blipFill>
        <p:spPr>
          <a:xfrm>
            <a:off x="9067647" y="2508351"/>
            <a:ext cx="2438247" cy="1828685"/>
          </a:xfrm>
          <a:prstGeom prst="rect">
            <a:avLst/>
          </a:prstGeom>
        </p:spPr>
      </p:pic>
      <p:sp>
        <p:nvSpPr>
          <p:cNvPr id="27" name="TextBox 26"/>
          <p:cNvSpPr txBox="1"/>
          <p:nvPr/>
        </p:nvSpPr>
        <p:spPr>
          <a:xfrm>
            <a:off x="9067647" y="4401045"/>
            <a:ext cx="2438247" cy="237744"/>
          </a:xfrm>
          <a:prstGeom prst="rect">
            <a:avLst/>
          </a:prstGeom>
          <a:noFill/>
        </p:spPr>
        <p:txBody>
          <a:bodyPr wrap="square" lIns="0" rIns="0" tIns="0" bIns="0" anchor="t">
            <a:spAutoFit/>
          </a:bodyPr>
          <a:lstStyle/>
          <a:p>
            <a:pPr algn="l">
              <a:lnSpc>
                <a:spcPct val="100000"/>
              </a:lnSpc>
            </a:pPr>
            <a:r>
              <a:rPr sz="1100" b="0">
                <a:solidFill>
                  <a:srgbClr val="4A4F57"/>
                </a:solidFill>
                <a:latin typeface="Noto Sans KR"/>
                <a:ea typeface="Noto Sans KR"/>
                <a:cs typeface="Noto Sans KR"/>
              </a:rPr>
              <a:t>로봇 B · 다른 브랜드·링크 길이</a:t>
            </a:r>
          </a:p>
        </p:txBody>
      </p:sp>
      <p:sp>
        <p:nvSpPr>
          <p:cNvPr id="28" name="TextBox 27"/>
          <p:cNvSpPr txBox="1"/>
          <p:nvPr/>
        </p:nvSpPr>
        <p:spPr>
          <a:xfrm>
            <a:off x="6446520" y="4748517"/>
            <a:ext cx="5059375" cy="274320"/>
          </a:xfrm>
          <a:prstGeom prst="rect">
            <a:avLst/>
          </a:prstGeom>
          <a:noFill/>
        </p:spPr>
        <p:txBody>
          <a:bodyPr wrap="square" lIns="0" rIns="0" tIns="0" bIns="0" anchor="t">
            <a:spAutoFit/>
          </a:bodyPr>
          <a:lstStyle/>
          <a:p>
            <a:pPr algn="l">
              <a:lnSpc>
                <a:spcPct val="100000"/>
              </a:lnSpc>
            </a:pPr>
            <a:r>
              <a:rPr sz="1200" b="0">
                <a:solidFill>
                  <a:srgbClr val="15171A"/>
                </a:solidFill>
                <a:latin typeface="Noto Sans KR"/>
                <a:ea typeface="Noto Sans KR"/>
                <a:cs typeface="Noto Sans KR"/>
              </a:rPr>
              <a:t>같은 문 열기 스킬, 어댑터·좌표·카메라 보정만 재설정</a:t>
            </a:r>
          </a:p>
        </p:txBody>
      </p:sp>
      <p:cxnSp>
        <p:nvCxnSpPr>
          <p:cNvPr id="29" name="Connector 28"/>
          <p:cNvCxnSpPr/>
          <p:nvPr/>
        </p:nvCxnSpPr>
        <p:spPr>
          <a:xfrm>
            <a:off x="6446520" y="5132565"/>
            <a:ext cx="5059375" cy="0"/>
          </a:xfrm>
          <a:prstGeom prst="line">
            <a:avLst/>
          </a:prstGeom>
          <a:ln w="12700">
            <a:solidFill>
              <a:srgbClr val="15171A"/>
            </a:solidFill>
          </a:ln>
        </p:spPr>
      </p:cxnSp>
      <p:sp>
        <p:nvSpPr>
          <p:cNvPr id="30" name="TextBox 29"/>
          <p:cNvSpPr txBox="1"/>
          <p:nvPr/>
        </p:nvSpPr>
        <p:spPr>
          <a:xfrm>
            <a:off x="6446520" y="5251437"/>
            <a:ext cx="5059375" cy="292608"/>
          </a:xfrm>
          <a:prstGeom prst="rect">
            <a:avLst/>
          </a:prstGeom>
          <a:noFill/>
        </p:spPr>
        <p:txBody>
          <a:bodyPr wrap="square" lIns="0" rIns="0" tIns="0" bIns="0" anchor="t">
            <a:spAutoFit/>
          </a:bodyPr>
          <a:lstStyle/>
          <a:p>
            <a:pPr algn="l">
              <a:lnSpc>
                <a:spcPct val="100000"/>
              </a:lnSpc>
            </a:pPr>
            <a:r>
              <a:rPr sz="1500" b="1">
                <a:solidFill>
                  <a:srgbClr val="E2571B"/>
                </a:solidFill>
                <a:latin typeface="Noto Sans KR"/>
                <a:ea typeface="Noto Sans KR"/>
                <a:cs typeface="Noto Sans KR"/>
              </a:rPr>
              <a:t>핵심 지표  </a:t>
            </a:r>
            <a:r>
              <a:rPr sz="1500" b="1">
                <a:solidFill>
                  <a:srgbClr val="15171A"/>
                </a:solidFill>
                <a:latin typeface="Noto Sans KR"/>
                <a:ea typeface="Noto Sans KR"/>
                <a:cs typeface="Noto Sans KR"/>
              </a:rPr>
              <a:t>재사용률</a:t>
            </a:r>
          </a:p>
        </p:txBody>
      </p:sp>
      <p:sp>
        <p:nvSpPr>
          <p:cNvPr id="31" name="TextBox 30"/>
          <p:cNvSpPr txBox="1"/>
          <p:nvPr/>
        </p:nvSpPr>
        <p:spPr>
          <a:xfrm>
            <a:off x="6446520" y="5589765"/>
            <a:ext cx="5059375" cy="566928"/>
          </a:xfrm>
          <a:prstGeom prst="rect">
            <a:avLst/>
          </a:prstGeom>
          <a:noFill/>
        </p:spPr>
        <p:txBody>
          <a:bodyPr wrap="square" lIns="0" rIns="0" tIns="0" bIns="0" anchor="t">
            <a:spAutoFit/>
          </a:bodyPr>
          <a:lstStyle/>
          <a:p>
            <a:pPr algn="l">
              <a:lnSpc>
                <a:spcPct val="100000"/>
              </a:lnSpc>
            </a:pPr>
            <a:r>
              <a:rPr sz="1200" b="0">
                <a:solidFill>
                  <a:srgbClr val="4A4F57"/>
                </a:solidFill>
                <a:latin typeface="Noto Sans KR"/>
                <a:ea typeface="Noto Sans KR"/>
                <a:cs typeface="Noto Sans KR"/>
              </a:rPr>
              <a:t>신규 고객 적용 시 그대로 쓴 하드웨어·제어·스킬·소프트웨어 비중. M12 측정 시작, M24까지 상승 추세 확인 (임의 목표치 없음)</a:t>
            </a:r>
          </a:p>
        </p:txBody>
      </p:sp>
      <p:sp>
        <p:nvSpPr>
          <p:cNvPr id="32" name="TextBox 31"/>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SoftHand-4  |  Seed 투자 제안서</a:t>
            </a:r>
          </a:p>
        </p:txBody>
      </p:sp>
      <p:sp>
        <p:nvSpPr>
          <p:cNvPr id="33" name="TextBox 32"/>
          <p:cNvSpPr txBox="1"/>
          <p:nvPr/>
        </p:nvSpPr>
        <p:spPr>
          <a:xfrm>
            <a:off x="3154680" y="6446520"/>
            <a:ext cx="7802575"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검증 가설: 로봇이 바뀔 때마다 처음부터 다시 티칭해야 하면 플랫폼이 아닌 SI 사업 · 콘셉트 렌더링</a:t>
            </a:r>
          </a:p>
        </p:txBody>
      </p:sp>
      <p:sp>
        <p:nvSpPr>
          <p:cNvPr id="34" name="TextBox 33"/>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48640"/>
            <a:ext cx="7315200" cy="274320"/>
          </a:xfrm>
          <a:prstGeom prst="rect">
            <a:avLst/>
          </a:prstGeom>
          <a:noFill/>
        </p:spPr>
        <p:txBody>
          <a:bodyPr wrap="square" lIns="0" rIns="0" tIns="0" bIns="0" anchor="t">
            <a:spAutoFit/>
          </a:bodyPr>
          <a:lstStyle/>
          <a:p>
            <a:pPr algn="l">
              <a:lnSpc>
                <a:spcPct val="100000"/>
              </a:lnSpc>
            </a:pPr>
            <a:r>
              <a:rPr sz="1200" b="1">
                <a:solidFill>
                  <a:srgbClr val="E2571B"/>
                </a:solidFill>
                <a:latin typeface="Noto Sans KR"/>
                <a:ea typeface="Noto Sans KR"/>
                <a:cs typeface="Noto Sans KR"/>
              </a:rPr>
              <a:t>사업 모델</a:t>
            </a:r>
          </a:p>
        </p:txBody>
      </p:sp>
      <p:sp>
        <p:nvSpPr>
          <p:cNvPr id="3" name="TextBox 2"/>
          <p:cNvSpPr txBox="1"/>
          <p:nvPr/>
        </p:nvSpPr>
        <p:spPr>
          <a:xfrm>
            <a:off x="685800" y="932688"/>
            <a:ext cx="10820095" cy="542391"/>
          </a:xfrm>
          <a:prstGeom prst="rect">
            <a:avLst/>
          </a:prstGeom>
          <a:noFill/>
        </p:spPr>
        <p:txBody>
          <a:bodyPr wrap="square" lIns="0" rIns="0" tIns="0" bIns="0" anchor="t">
            <a:spAutoFit/>
          </a:bodyPr>
          <a:lstStyle/>
          <a:p>
            <a:pPr algn="l">
              <a:lnSpc>
                <a:spcPct val="95000"/>
              </a:lnSpc>
            </a:pPr>
            <a:r>
              <a:rPr sz="3000" b="1">
                <a:solidFill>
                  <a:srgbClr val="15171A"/>
                </a:solidFill>
                <a:latin typeface="Noto Sans KR"/>
                <a:ea typeface="Noto Sans KR"/>
                <a:cs typeface="Noto Sans KR"/>
              </a:rPr>
              <a:t>제품 판매로 시작, 스킬과 로봇 제조사 탑재로 확장</a:t>
            </a:r>
          </a:p>
        </p:txBody>
      </p:sp>
      <p:sp>
        <p:nvSpPr>
          <p:cNvPr id="4" name="TextBox 3"/>
          <p:cNvSpPr txBox="1"/>
          <p:nvPr/>
        </p:nvSpPr>
        <p:spPr>
          <a:xfrm>
            <a:off x="685800" y="1584807"/>
            <a:ext cx="10820095" cy="329184"/>
          </a:xfrm>
          <a:prstGeom prst="rect">
            <a:avLst/>
          </a:prstGeom>
          <a:noFill/>
        </p:spPr>
        <p:txBody>
          <a:bodyPr wrap="square" lIns="0" rIns="0" tIns="0" bIns="0" anchor="t">
            <a:spAutoFit/>
          </a:bodyPr>
          <a:lstStyle/>
          <a:p>
            <a:pPr algn="l">
              <a:lnSpc>
                <a:spcPct val="100000"/>
              </a:lnSpc>
            </a:pPr>
            <a:r>
              <a:rPr sz="1600" b="0">
                <a:solidFill>
                  <a:srgbClr val="4A4F57"/>
                </a:solidFill>
                <a:latin typeface="Noto Sans KR"/>
                <a:ea typeface="Noto Sans KR"/>
                <a:cs typeface="Noto Sans KR"/>
              </a:rPr>
              <a:t>통합 엔지니어링 매출은 초기 진입·제품화 수단, 비중 축소 목표</a:t>
            </a:r>
          </a:p>
        </p:txBody>
      </p:sp>
      <p:sp>
        <p:nvSpPr>
          <p:cNvPr id="5" name="TextBox 4"/>
          <p:cNvSpPr txBox="1"/>
          <p:nvPr/>
        </p:nvSpPr>
        <p:spPr>
          <a:xfrm>
            <a:off x="685800" y="2188311"/>
            <a:ext cx="3423818" cy="256032"/>
          </a:xfrm>
          <a:prstGeom prst="rect">
            <a:avLst/>
          </a:prstGeom>
          <a:noFill/>
        </p:spPr>
        <p:txBody>
          <a:bodyPr wrap="square" lIns="0" rIns="0" tIns="0" bIns="0" anchor="t">
            <a:spAutoFit/>
          </a:bodyPr>
          <a:lstStyle/>
          <a:p>
            <a:pPr algn="l">
              <a:lnSpc>
                <a:spcPct val="100000"/>
              </a:lnSpc>
            </a:pPr>
            <a:r>
              <a:rPr sz="1200" b="1">
                <a:solidFill>
                  <a:srgbClr val="E2571B"/>
                </a:solidFill>
                <a:latin typeface="Noto Sans KR"/>
                <a:ea typeface="Noto Sans KR"/>
                <a:cs typeface="Noto Sans KR"/>
              </a:rPr>
              <a:t>1단계 · Seed (M0~M24)</a:t>
            </a:r>
          </a:p>
        </p:txBody>
      </p:sp>
      <p:sp>
        <p:nvSpPr>
          <p:cNvPr id="6" name="TextBox 5"/>
          <p:cNvSpPr txBox="1"/>
          <p:nvPr/>
        </p:nvSpPr>
        <p:spPr>
          <a:xfrm>
            <a:off x="685800" y="2480919"/>
            <a:ext cx="3423818" cy="384048"/>
          </a:xfrm>
          <a:prstGeom prst="rect">
            <a:avLst/>
          </a:prstGeom>
          <a:noFill/>
        </p:spPr>
        <p:txBody>
          <a:bodyPr wrap="square" lIns="0" rIns="0" tIns="0" bIns="0" anchor="t">
            <a:spAutoFit/>
          </a:bodyPr>
          <a:lstStyle/>
          <a:p>
            <a:pPr algn="l">
              <a:lnSpc>
                <a:spcPct val="100000"/>
              </a:lnSpc>
            </a:pPr>
            <a:r>
              <a:rPr sz="1900" b="1">
                <a:solidFill>
                  <a:srgbClr val="15171A"/>
                </a:solidFill>
                <a:latin typeface="Noto Sans KR"/>
                <a:ea typeface="Noto Sans KR"/>
                <a:cs typeface="Noto Sans KR"/>
              </a:rPr>
              <a:t>SI와 함께 진입</a:t>
            </a:r>
          </a:p>
        </p:txBody>
      </p:sp>
      <p:cxnSp>
        <p:nvCxnSpPr>
          <p:cNvPr id="7" name="Connector 6"/>
          <p:cNvCxnSpPr/>
          <p:nvPr/>
        </p:nvCxnSpPr>
        <p:spPr>
          <a:xfrm>
            <a:off x="685800" y="2965551"/>
            <a:ext cx="3423818" cy="0"/>
          </a:xfrm>
          <a:prstGeom prst="line">
            <a:avLst/>
          </a:prstGeom>
          <a:ln w="12700">
            <a:solidFill>
              <a:srgbClr val="15171A"/>
            </a:solidFill>
          </a:ln>
        </p:spPr>
      </p:cxnSp>
      <p:sp>
        <p:nvSpPr>
          <p:cNvPr id="8" name="TextBox 7"/>
          <p:cNvSpPr txBox="1"/>
          <p:nvPr/>
        </p:nvSpPr>
        <p:spPr>
          <a:xfrm>
            <a:off x="685800" y="3075279"/>
            <a:ext cx="548640" cy="237744"/>
          </a:xfrm>
          <a:prstGeom prst="rect">
            <a:avLst/>
          </a:prstGeom>
          <a:noFill/>
        </p:spPr>
        <p:txBody>
          <a:bodyPr wrap="square" lIns="0" rIns="0" tIns="0" bIns="0" anchor="t">
            <a:spAutoFit/>
          </a:bodyPr>
          <a:lstStyle/>
          <a:p>
            <a:pPr algn="l">
              <a:lnSpc>
                <a:spcPct val="100000"/>
              </a:lnSpc>
            </a:pPr>
            <a:r>
              <a:rPr sz="1100" b="0">
                <a:solidFill>
                  <a:srgbClr val="8C9198"/>
                </a:solidFill>
                <a:latin typeface="Noto Sans KR"/>
                <a:ea typeface="Noto Sans KR"/>
                <a:cs typeface="Noto Sans KR"/>
              </a:rPr>
              <a:t>판매</a:t>
            </a:r>
          </a:p>
        </p:txBody>
      </p:sp>
      <p:sp>
        <p:nvSpPr>
          <p:cNvPr id="9" name="TextBox 8"/>
          <p:cNvSpPr txBox="1"/>
          <p:nvPr/>
        </p:nvSpPr>
        <p:spPr>
          <a:xfrm>
            <a:off x="1252728" y="3075279"/>
            <a:ext cx="2856890" cy="257352"/>
          </a:xfrm>
          <a:prstGeom prst="rect">
            <a:avLst/>
          </a:prstGeom>
          <a:noFill/>
        </p:spPr>
        <p:txBody>
          <a:bodyPr wrap="square" lIns="0" rIns="0" tIns="0" bIns="0" anchor="t">
            <a:spAutoFit/>
          </a:bodyPr>
          <a:lstStyle/>
          <a:p>
            <a:pPr algn="l">
              <a:lnSpc>
                <a:spcPct val="100000"/>
              </a:lnSpc>
            </a:pPr>
            <a:r>
              <a:rPr sz="1300" b="0">
                <a:solidFill>
                  <a:srgbClr val="15171A"/>
                </a:solidFill>
                <a:latin typeface="Noto Sans KR"/>
                <a:ea typeface="Noto Sans KR"/>
                <a:cs typeface="Noto Sans KR"/>
              </a:rPr>
              <a:t>로봇 SI, 공동개발 고객, 유료 PoC</a:t>
            </a:r>
          </a:p>
        </p:txBody>
      </p:sp>
      <p:cxnSp>
        <p:nvCxnSpPr>
          <p:cNvPr id="10" name="Connector 9"/>
          <p:cNvCxnSpPr/>
          <p:nvPr/>
        </p:nvCxnSpPr>
        <p:spPr>
          <a:xfrm>
            <a:off x="685800" y="3441039"/>
            <a:ext cx="3423818" cy="0"/>
          </a:xfrm>
          <a:prstGeom prst="line">
            <a:avLst/>
          </a:prstGeom>
          <a:ln w="9525">
            <a:solidFill>
              <a:srgbClr val="E2E4E7"/>
            </a:solidFill>
          </a:ln>
        </p:spPr>
      </p:cxnSp>
      <p:sp>
        <p:nvSpPr>
          <p:cNvPr id="11" name="TextBox 10"/>
          <p:cNvSpPr txBox="1"/>
          <p:nvPr/>
        </p:nvSpPr>
        <p:spPr>
          <a:xfrm>
            <a:off x="685800" y="3532479"/>
            <a:ext cx="548640" cy="237744"/>
          </a:xfrm>
          <a:prstGeom prst="rect">
            <a:avLst/>
          </a:prstGeom>
          <a:noFill/>
        </p:spPr>
        <p:txBody>
          <a:bodyPr wrap="square" lIns="0" rIns="0" tIns="0" bIns="0" anchor="t">
            <a:spAutoFit/>
          </a:bodyPr>
          <a:lstStyle/>
          <a:p>
            <a:pPr algn="l">
              <a:lnSpc>
                <a:spcPct val="100000"/>
              </a:lnSpc>
            </a:pPr>
            <a:r>
              <a:rPr sz="1100" b="0">
                <a:solidFill>
                  <a:srgbClr val="8C9198"/>
                </a:solidFill>
                <a:latin typeface="Noto Sans KR"/>
                <a:ea typeface="Noto Sans KR"/>
                <a:cs typeface="Noto Sans KR"/>
              </a:rPr>
              <a:t>매출</a:t>
            </a:r>
          </a:p>
        </p:txBody>
      </p:sp>
      <p:sp>
        <p:nvSpPr>
          <p:cNvPr id="12" name="TextBox 11"/>
          <p:cNvSpPr txBox="1"/>
          <p:nvPr/>
        </p:nvSpPr>
        <p:spPr>
          <a:xfrm>
            <a:off x="1252728" y="3532479"/>
            <a:ext cx="2856890" cy="257352"/>
          </a:xfrm>
          <a:prstGeom prst="rect">
            <a:avLst/>
          </a:prstGeom>
          <a:noFill/>
        </p:spPr>
        <p:txBody>
          <a:bodyPr wrap="square" lIns="0" rIns="0" tIns="0" bIns="0" anchor="t">
            <a:spAutoFit/>
          </a:bodyPr>
          <a:lstStyle/>
          <a:p>
            <a:pPr algn="l">
              <a:lnSpc>
                <a:spcPct val="100000"/>
              </a:lnSpc>
            </a:pPr>
            <a:r>
              <a:rPr sz="1300" b="0">
                <a:solidFill>
                  <a:srgbClr val="15171A"/>
                </a:solidFill>
                <a:latin typeface="Noto Sans KR"/>
                <a:ea typeface="Noto Sans KR"/>
                <a:cs typeface="Noto Sans KR"/>
              </a:rPr>
              <a:t>핸드, 유료 PoC, 통합, 작업 스킬</a:t>
            </a:r>
          </a:p>
        </p:txBody>
      </p:sp>
      <p:cxnSp>
        <p:nvCxnSpPr>
          <p:cNvPr id="13" name="Connector 12"/>
          <p:cNvCxnSpPr/>
          <p:nvPr/>
        </p:nvCxnSpPr>
        <p:spPr>
          <a:xfrm>
            <a:off x="685800" y="3898239"/>
            <a:ext cx="3423818" cy="0"/>
          </a:xfrm>
          <a:prstGeom prst="line">
            <a:avLst/>
          </a:prstGeom>
          <a:ln w="9525">
            <a:solidFill>
              <a:srgbClr val="E2E4E7"/>
            </a:solidFill>
          </a:ln>
        </p:spPr>
      </p:cxnSp>
      <p:sp>
        <p:nvSpPr>
          <p:cNvPr id="14" name="TextBox 13"/>
          <p:cNvSpPr txBox="1"/>
          <p:nvPr/>
        </p:nvSpPr>
        <p:spPr>
          <a:xfrm>
            <a:off x="685800" y="3989679"/>
            <a:ext cx="548640" cy="237744"/>
          </a:xfrm>
          <a:prstGeom prst="rect">
            <a:avLst/>
          </a:prstGeom>
          <a:noFill/>
        </p:spPr>
        <p:txBody>
          <a:bodyPr wrap="square" lIns="0" rIns="0" tIns="0" bIns="0" anchor="t">
            <a:spAutoFit/>
          </a:bodyPr>
          <a:lstStyle/>
          <a:p>
            <a:pPr algn="l">
              <a:lnSpc>
                <a:spcPct val="100000"/>
              </a:lnSpc>
            </a:pPr>
            <a:r>
              <a:rPr sz="1100" b="0">
                <a:solidFill>
                  <a:srgbClr val="8C9198"/>
                </a:solidFill>
                <a:latin typeface="Noto Sans KR"/>
                <a:ea typeface="Noto Sans KR"/>
                <a:cs typeface="Noto Sans KR"/>
              </a:rPr>
              <a:t>목표</a:t>
            </a:r>
          </a:p>
        </p:txBody>
      </p:sp>
      <p:sp>
        <p:nvSpPr>
          <p:cNvPr id="15" name="TextBox 14"/>
          <p:cNvSpPr txBox="1"/>
          <p:nvPr/>
        </p:nvSpPr>
        <p:spPr>
          <a:xfrm>
            <a:off x="1252728" y="3989679"/>
            <a:ext cx="2856890" cy="496417"/>
          </a:xfrm>
          <a:prstGeom prst="rect">
            <a:avLst/>
          </a:prstGeom>
          <a:noFill/>
        </p:spPr>
        <p:txBody>
          <a:bodyPr wrap="square" lIns="0" rIns="0" tIns="0" bIns="0" anchor="t">
            <a:spAutoFit/>
          </a:bodyPr>
          <a:lstStyle/>
          <a:p>
            <a:pPr algn="l">
              <a:lnSpc>
                <a:spcPct val="100000"/>
              </a:lnSpc>
            </a:pPr>
            <a:r>
              <a:rPr sz="1300" b="0">
                <a:solidFill>
                  <a:srgbClr val="15171A"/>
                </a:solidFill>
                <a:latin typeface="Noto Sans KR"/>
                <a:ea typeface="Noto Sans KR"/>
                <a:cs typeface="Noto Sans KR"/>
              </a:rPr>
              <a:t>공동개발 고객 3곳, 유료 PoC 5건,</a:t>
            </a:r>
          </a:p>
          <a:p>
            <a:pPr algn="l">
              <a:lnSpc>
                <a:spcPct val="100000"/>
              </a:lnSpc>
            </a:pPr>
            <a:r>
              <a:rPr sz="1300" b="0">
                <a:solidFill>
                  <a:srgbClr val="15171A"/>
                </a:solidFill>
                <a:latin typeface="Noto Sans KR"/>
                <a:ea typeface="Noto Sans KR"/>
                <a:cs typeface="Noto Sans KR"/>
              </a:rPr>
              <a:t>재구매 고객 2곳</a:t>
            </a:r>
          </a:p>
        </p:txBody>
      </p:sp>
      <p:cxnSp>
        <p:nvCxnSpPr>
          <p:cNvPr id="16" name="Connector 15"/>
          <p:cNvCxnSpPr/>
          <p:nvPr/>
        </p:nvCxnSpPr>
        <p:spPr>
          <a:xfrm>
            <a:off x="685800" y="4559249"/>
            <a:ext cx="3423818" cy="0"/>
          </a:xfrm>
          <a:prstGeom prst="line">
            <a:avLst/>
          </a:prstGeom>
          <a:ln w="9525">
            <a:solidFill>
              <a:srgbClr val="E2E4E7"/>
            </a:solidFill>
          </a:ln>
        </p:spPr>
      </p:cxnSp>
      <p:sp>
        <p:nvSpPr>
          <p:cNvPr id="17" name="TextBox 16"/>
          <p:cNvSpPr txBox="1"/>
          <p:nvPr/>
        </p:nvSpPr>
        <p:spPr>
          <a:xfrm>
            <a:off x="4383938" y="2188311"/>
            <a:ext cx="3423818" cy="256032"/>
          </a:xfrm>
          <a:prstGeom prst="rect">
            <a:avLst/>
          </a:prstGeom>
          <a:noFill/>
        </p:spPr>
        <p:txBody>
          <a:bodyPr wrap="square" lIns="0" rIns="0" tIns="0" bIns="0" anchor="t">
            <a:spAutoFit/>
          </a:bodyPr>
          <a:lstStyle/>
          <a:p>
            <a:pPr algn="l">
              <a:lnSpc>
                <a:spcPct val="100000"/>
              </a:lnSpc>
            </a:pPr>
            <a:r>
              <a:rPr sz="1200" b="1">
                <a:solidFill>
                  <a:srgbClr val="E2571B"/>
                </a:solidFill>
                <a:latin typeface="Noto Sans KR"/>
                <a:ea typeface="Noto Sans KR"/>
                <a:cs typeface="Noto Sans KR"/>
              </a:rPr>
              <a:t>2단계 · 3~5년차</a:t>
            </a:r>
          </a:p>
        </p:txBody>
      </p:sp>
      <p:sp>
        <p:nvSpPr>
          <p:cNvPr id="18" name="TextBox 17"/>
          <p:cNvSpPr txBox="1"/>
          <p:nvPr/>
        </p:nvSpPr>
        <p:spPr>
          <a:xfrm>
            <a:off x="4383938" y="2480919"/>
            <a:ext cx="3423818" cy="384048"/>
          </a:xfrm>
          <a:prstGeom prst="rect">
            <a:avLst/>
          </a:prstGeom>
          <a:noFill/>
        </p:spPr>
        <p:txBody>
          <a:bodyPr wrap="square" lIns="0" rIns="0" tIns="0" bIns="0" anchor="t">
            <a:spAutoFit/>
          </a:bodyPr>
          <a:lstStyle/>
          <a:p>
            <a:pPr algn="l">
              <a:lnSpc>
                <a:spcPct val="100000"/>
              </a:lnSpc>
            </a:pPr>
            <a:r>
              <a:rPr sz="1900" b="1">
                <a:solidFill>
                  <a:srgbClr val="15171A"/>
                </a:solidFill>
                <a:latin typeface="Noto Sans KR"/>
                <a:ea typeface="Noto Sans KR"/>
                <a:cs typeface="Noto Sans KR"/>
              </a:rPr>
              <a:t>직판 + SI 파트너</a:t>
            </a:r>
          </a:p>
        </p:txBody>
      </p:sp>
      <p:cxnSp>
        <p:nvCxnSpPr>
          <p:cNvPr id="19" name="Connector 18"/>
          <p:cNvCxnSpPr/>
          <p:nvPr/>
        </p:nvCxnSpPr>
        <p:spPr>
          <a:xfrm>
            <a:off x="4383938" y="2965551"/>
            <a:ext cx="3423818" cy="0"/>
          </a:xfrm>
          <a:prstGeom prst="line">
            <a:avLst/>
          </a:prstGeom>
          <a:ln w="12700">
            <a:solidFill>
              <a:srgbClr val="15171A"/>
            </a:solidFill>
          </a:ln>
        </p:spPr>
      </p:cxnSp>
      <p:sp>
        <p:nvSpPr>
          <p:cNvPr id="20" name="TextBox 19"/>
          <p:cNvSpPr txBox="1"/>
          <p:nvPr/>
        </p:nvSpPr>
        <p:spPr>
          <a:xfrm>
            <a:off x="4383938" y="3075279"/>
            <a:ext cx="548640" cy="237744"/>
          </a:xfrm>
          <a:prstGeom prst="rect">
            <a:avLst/>
          </a:prstGeom>
          <a:noFill/>
        </p:spPr>
        <p:txBody>
          <a:bodyPr wrap="square" lIns="0" rIns="0" tIns="0" bIns="0" anchor="t">
            <a:spAutoFit/>
          </a:bodyPr>
          <a:lstStyle/>
          <a:p>
            <a:pPr algn="l">
              <a:lnSpc>
                <a:spcPct val="100000"/>
              </a:lnSpc>
            </a:pPr>
            <a:r>
              <a:rPr sz="1100" b="0">
                <a:solidFill>
                  <a:srgbClr val="8C9198"/>
                </a:solidFill>
                <a:latin typeface="Noto Sans KR"/>
                <a:ea typeface="Noto Sans KR"/>
                <a:cs typeface="Noto Sans KR"/>
              </a:rPr>
              <a:t>판매</a:t>
            </a:r>
          </a:p>
        </p:txBody>
      </p:sp>
      <p:sp>
        <p:nvSpPr>
          <p:cNvPr id="21" name="TextBox 20"/>
          <p:cNvSpPr txBox="1"/>
          <p:nvPr/>
        </p:nvSpPr>
        <p:spPr>
          <a:xfrm>
            <a:off x="4950866" y="3075279"/>
            <a:ext cx="2856890" cy="257352"/>
          </a:xfrm>
          <a:prstGeom prst="rect">
            <a:avLst/>
          </a:prstGeom>
          <a:noFill/>
        </p:spPr>
        <p:txBody>
          <a:bodyPr wrap="square" lIns="0" rIns="0" tIns="0" bIns="0" anchor="t">
            <a:spAutoFit/>
          </a:bodyPr>
          <a:lstStyle/>
          <a:p>
            <a:pPr algn="l">
              <a:lnSpc>
                <a:spcPct val="100000"/>
              </a:lnSpc>
            </a:pPr>
            <a:r>
              <a:rPr sz="1300" b="0">
                <a:solidFill>
                  <a:srgbClr val="15171A"/>
                </a:solidFill>
                <a:latin typeface="Noto Sans KR"/>
                <a:ea typeface="Noto Sans KR"/>
                <a:cs typeface="Noto Sans KR"/>
              </a:rPr>
              <a:t>검증된 스킬 팩을 SI 파트너망으로 판매</a:t>
            </a:r>
          </a:p>
        </p:txBody>
      </p:sp>
      <p:cxnSp>
        <p:nvCxnSpPr>
          <p:cNvPr id="22" name="Connector 21"/>
          <p:cNvCxnSpPr/>
          <p:nvPr/>
        </p:nvCxnSpPr>
        <p:spPr>
          <a:xfrm>
            <a:off x="4383938" y="3441039"/>
            <a:ext cx="3423818" cy="0"/>
          </a:xfrm>
          <a:prstGeom prst="line">
            <a:avLst/>
          </a:prstGeom>
          <a:ln w="9525">
            <a:solidFill>
              <a:srgbClr val="E2E4E7"/>
            </a:solidFill>
          </a:ln>
        </p:spPr>
      </p:cxnSp>
      <p:sp>
        <p:nvSpPr>
          <p:cNvPr id="23" name="TextBox 22"/>
          <p:cNvSpPr txBox="1"/>
          <p:nvPr/>
        </p:nvSpPr>
        <p:spPr>
          <a:xfrm>
            <a:off x="4383938" y="3532479"/>
            <a:ext cx="548640" cy="237744"/>
          </a:xfrm>
          <a:prstGeom prst="rect">
            <a:avLst/>
          </a:prstGeom>
          <a:noFill/>
        </p:spPr>
        <p:txBody>
          <a:bodyPr wrap="square" lIns="0" rIns="0" tIns="0" bIns="0" anchor="t">
            <a:spAutoFit/>
          </a:bodyPr>
          <a:lstStyle/>
          <a:p>
            <a:pPr algn="l">
              <a:lnSpc>
                <a:spcPct val="100000"/>
              </a:lnSpc>
            </a:pPr>
            <a:r>
              <a:rPr sz="1100" b="0">
                <a:solidFill>
                  <a:srgbClr val="8C9198"/>
                </a:solidFill>
                <a:latin typeface="Noto Sans KR"/>
                <a:ea typeface="Noto Sans KR"/>
                <a:cs typeface="Noto Sans KR"/>
              </a:rPr>
              <a:t>매출</a:t>
            </a:r>
          </a:p>
        </p:txBody>
      </p:sp>
      <p:sp>
        <p:nvSpPr>
          <p:cNvPr id="24" name="TextBox 23"/>
          <p:cNvSpPr txBox="1"/>
          <p:nvPr/>
        </p:nvSpPr>
        <p:spPr>
          <a:xfrm>
            <a:off x="4950866" y="3532479"/>
            <a:ext cx="2856890" cy="257352"/>
          </a:xfrm>
          <a:prstGeom prst="rect">
            <a:avLst/>
          </a:prstGeom>
          <a:noFill/>
        </p:spPr>
        <p:txBody>
          <a:bodyPr wrap="square" lIns="0" rIns="0" tIns="0" bIns="0" anchor="t">
            <a:spAutoFit/>
          </a:bodyPr>
          <a:lstStyle/>
          <a:p>
            <a:pPr algn="l">
              <a:lnSpc>
                <a:spcPct val="100000"/>
              </a:lnSpc>
            </a:pPr>
            <a:r>
              <a:rPr sz="1300" b="0">
                <a:solidFill>
                  <a:srgbClr val="15171A"/>
                </a:solidFill>
                <a:latin typeface="Noto Sans KR"/>
                <a:ea typeface="Noto Sans KR"/>
                <a:cs typeface="Noto Sans KR"/>
              </a:rPr>
              <a:t>재사용 스킬, 런타임·유지보수, 핸드</a:t>
            </a:r>
          </a:p>
        </p:txBody>
      </p:sp>
      <p:cxnSp>
        <p:nvCxnSpPr>
          <p:cNvPr id="25" name="Connector 24"/>
          <p:cNvCxnSpPr/>
          <p:nvPr/>
        </p:nvCxnSpPr>
        <p:spPr>
          <a:xfrm>
            <a:off x="4383938" y="3898239"/>
            <a:ext cx="3423818" cy="0"/>
          </a:xfrm>
          <a:prstGeom prst="line">
            <a:avLst/>
          </a:prstGeom>
          <a:ln w="9525">
            <a:solidFill>
              <a:srgbClr val="E2E4E7"/>
            </a:solidFill>
          </a:ln>
        </p:spPr>
      </p:cxnSp>
      <p:sp>
        <p:nvSpPr>
          <p:cNvPr id="26" name="TextBox 25"/>
          <p:cNvSpPr txBox="1"/>
          <p:nvPr/>
        </p:nvSpPr>
        <p:spPr>
          <a:xfrm>
            <a:off x="4383938" y="3989679"/>
            <a:ext cx="548640" cy="237744"/>
          </a:xfrm>
          <a:prstGeom prst="rect">
            <a:avLst/>
          </a:prstGeom>
          <a:noFill/>
        </p:spPr>
        <p:txBody>
          <a:bodyPr wrap="square" lIns="0" rIns="0" tIns="0" bIns="0" anchor="t">
            <a:spAutoFit/>
          </a:bodyPr>
          <a:lstStyle/>
          <a:p>
            <a:pPr algn="l">
              <a:lnSpc>
                <a:spcPct val="100000"/>
              </a:lnSpc>
            </a:pPr>
            <a:r>
              <a:rPr sz="1100" b="0">
                <a:solidFill>
                  <a:srgbClr val="8C9198"/>
                </a:solidFill>
                <a:latin typeface="Noto Sans KR"/>
                <a:ea typeface="Noto Sans KR"/>
                <a:cs typeface="Noto Sans KR"/>
              </a:rPr>
              <a:t>목표</a:t>
            </a:r>
          </a:p>
        </p:txBody>
      </p:sp>
      <p:sp>
        <p:nvSpPr>
          <p:cNvPr id="27" name="TextBox 26"/>
          <p:cNvSpPr txBox="1"/>
          <p:nvPr/>
        </p:nvSpPr>
        <p:spPr>
          <a:xfrm>
            <a:off x="4950866" y="3989679"/>
            <a:ext cx="2856890" cy="496417"/>
          </a:xfrm>
          <a:prstGeom prst="rect">
            <a:avLst/>
          </a:prstGeom>
          <a:noFill/>
        </p:spPr>
        <p:txBody>
          <a:bodyPr wrap="square" lIns="0" rIns="0" tIns="0" bIns="0" anchor="t">
            <a:spAutoFit/>
          </a:bodyPr>
          <a:lstStyle/>
          <a:p>
            <a:pPr algn="l">
              <a:lnSpc>
                <a:spcPct val="100000"/>
              </a:lnSpc>
            </a:pPr>
            <a:r>
              <a:rPr sz="1300" b="0">
                <a:solidFill>
                  <a:srgbClr val="15171A"/>
                </a:solidFill>
                <a:latin typeface="Noto Sans KR"/>
                <a:ea typeface="Noto Sans KR"/>
                <a:cs typeface="Noto Sans KR"/>
              </a:rPr>
              <a:t>재사용 매출 비중 86%</a:t>
            </a:r>
          </a:p>
          <a:p>
            <a:pPr algn="l">
              <a:lnSpc>
                <a:spcPct val="100000"/>
              </a:lnSpc>
            </a:pPr>
            <a:r>
              <a:rPr sz="1300" b="0">
                <a:solidFill>
                  <a:srgbClr val="15171A"/>
                </a:solidFill>
                <a:latin typeface="Noto Sans KR"/>
                <a:ea typeface="Noto Sans KR"/>
                <a:cs typeface="Noto Sans KR"/>
              </a:rPr>
              <a:t>(5년차, 기본 시나리오)</a:t>
            </a:r>
          </a:p>
        </p:txBody>
      </p:sp>
      <p:cxnSp>
        <p:nvCxnSpPr>
          <p:cNvPr id="28" name="Connector 27"/>
          <p:cNvCxnSpPr/>
          <p:nvPr/>
        </p:nvCxnSpPr>
        <p:spPr>
          <a:xfrm>
            <a:off x="4383938" y="4559249"/>
            <a:ext cx="3423818" cy="0"/>
          </a:xfrm>
          <a:prstGeom prst="line">
            <a:avLst/>
          </a:prstGeom>
          <a:ln w="9525">
            <a:solidFill>
              <a:srgbClr val="E2E4E7"/>
            </a:solidFill>
          </a:ln>
        </p:spPr>
      </p:cxnSp>
      <p:sp>
        <p:nvSpPr>
          <p:cNvPr id="29" name="TextBox 28"/>
          <p:cNvSpPr txBox="1"/>
          <p:nvPr/>
        </p:nvSpPr>
        <p:spPr>
          <a:xfrm>
            <a:off x="8082076" y="2188311"/>
            <a:ext cx="3423818" cy="256032"/>
          </a:xfrm>
          <a:prstGeom prst="rect">
            <a:avLst/>
          </a:prstGeom>
          <a:noFill/>
        </p:spPr>
        <p:txBody>
          <a:bodyPr wrap="square" lIns="0" rIns="0" tIns="0" bIns="0" anchor="t">
            <a:spAutoFit/>
          </a:bodyPr>
          <a:lstStyle/>
          <a:p>
            <a:pPr algn="l">
              <a:lnSpc>
                <a:spcPct val="100000"/>
              </a:lnSpc>
            </a:pPr>
            <a:r>
              <a:rPr sz="1200" b="1">
                <a:solidFill>
                  <a:srgbClr val="E2571B"/>
                </a:solidFill>
                <a:latin typeface="Noto Sans KR"/>
                <a:ea typeface="Noto Sans KR"/>
                <a:cs typeface="Noto Sans KR"/>
              </a:rPr>
              <a:t>3단계 · 확장 계기</a:t>
            </a:r>
          </a:p>
        </p:txBody>
      </p:sp>
      <p:sp>
        <p:nvSpPr>
          <p:cNvPr id="30" name="TextBox 29"/>
          <p:cNvSpPr txBox="1"/>
          <p:nvPr/>
        </p:nvSpPr>
        <p:spPr>
          <a:xfrm>
            <a:off x="8082076" y="2480919"/>
            <a:ext cx="3423818" cy="384048"/>
          </a:xfrm>
          <a:prstGeom prst="rect">
            <a:avLst/>
          </a:prstGeom>
          <a:noFill/>
        </p:spPr>
        <p:txBody>
          <a:bodyPr wrap="square" lIns="0" rIns="0" tIns="0" bIns="0" anchor="t">
            <a:spAutoFit/>
          </a:bodyPr>
          <a:lstStyle/>
          <a:p>
            <a:pPr algn="l">
              <a:lnSpc>
                <a:spcPct val="100000"/>
              </a:lnSpc>
            </a:pPr>
            <a:r>
              <a:rPr sz="1900" b="1">
                <a:solidFill>
                  <a:srgbClr val="15171A"/>
                </a:solidFill>
                <a:latin typeface="Noto Sans KR"/>
                <a:ea typeface="Noto Sans KR"/>
                <a:cs typeface="Noto Sans KR"/>
              </a:rPr>
              <a:t>로봇 제조사(OEM) 탑재</a:t>
            </a:r>
          </a:p>
        </p:txBody>
      </p:sp>
      <p:cxnSp>
        <p:nvCxnSpPr>
          <p:cNvPr id="31" name="Connector 30"/>
          <p:cNvCxnSpPr/>
          <p:nvPr/>
        </p:nvCxnSpPr>
        <p:spPr>
          <a:xfrm>
            <a:off x="8082076" y="2965551"/>
            <a:ext cx="3423819" cy="0"/>
          </a:xfrm>
          <a:prstGeom prst="line">
            <a:avLst/>
          </a:prstGeom>
          <a:ln w="12700">
            <a:solidFill>
              <a:srgbClr val="15171A"/>
            </a:solidFill>
          </a:ln>
        </p:spPr>
      </p:cxnSp>
      <p:sp>
        <p:nvSpPr>
          <p:cNvPr id="32" name="TextBox 31"/>
          <p:cNvSpPr txBox="1"/>
          <p:nvPr/>
        </p:nvSpPr>
        <p:spPr>
          <a:xfrm>
            <a:off x="8082076" y="3075279"/>
            <a:ext cx="548640" cy="237744"/>
          </a:xfrm>
          <a:prstGeom prst="rect">
            <a:avLst/>
          </a:prstGeom>
          <a:noFill/>
        </p:spPr>
        <p:txBody>
          <a:bodyPr wrap="square" lIns="0" rIns="0" tIns="0" bIns="0" anchor="t">
            <a:spAutoFit/>
          </a:bodyPr>
          <a:lstStyle/>
          <a:p>
            <a:pPr algn="l">
              <a:lnSpc>
                <a:spcPct val="100000"/>
              </a:lnSpc>
            </a:pPr>
            <a:r>
              <a:rPr sz="1100" b="0">
                <a:solidFill>
                  <a:srgbClr val="8C9198"/>
                </a:solidFill>
                <a:latin typeface="Noto Sans KR"/>
                <a:ea typeface="Noto Sans KR"/>
                <a:cs typeface="Noto Sans KR"/>
              </a:rPr>
              <a:t>판매</a:t>
            </a:r>
          </a:p>
        </p:txBody>
      </p:sp>
      <p:sp>
        <p:nvSpPr>
          <p:cNvPr id="33" name="TextBox 32"/>
          <p:cNvSpPr txBox="1"/>
          <p:nvPr/>
        </p:nvSpPr>
        <p:spPr>
          <a:xfrm>
            <a:off x="8649004" y="3075279"/>
            <a:ext cx="2856890" cy="257352"/>
          </a:xfrm>
          <a:prstGeom prst="rect">
            <a:avLst/>
          </a:prstGeom>
          <a:noFill/>
        </p:spPr>
        <p:txBody>
          <a:bodyPr wrap="square" lIns="0" rIns="0" tIns="0" bIns="0" anchor="t">
            <a:spAutoFit/>
          </a:bodyPr>
          <a:lstStyle/>
          <a:p>
            <a:pPr algn="l">
              <a:lnSpc>
                <a:spcPct val="100000"/>
              </a:lnSpc>
            </a:pPr>
            <a:r>
              <a:rPr sz="1300" b="0">
                <a:solidFill>
                  <a:srgbClr val="15171A"/>
                </a:solidFill>
                <a:latin typeface="Noto Sans KR"/>
                <a:ea typeface="Noto Sans KR"/>
                <a:cs typeface="Noto Sans KR"/>
              </a:rPr>
              <a:t>핸드·런타임을 로봇 옵션으로 탑재</a:t>
            </a:r>
          </a:p>
        </p:txBody>
      </p:sp>
      <p:cxnSp>
        <p:nvCxnSpPr>
          <p:cNvPr id="34" name="Connector 33"/>
          <p:cNvCxnSpPr/>
          <p:nvPr/>
        </p:nvCxnSpPr>
        <p:spPr>
          <a:xfrm>
            <a:off x="8082076" y="3441039"/>
            <a:ext cx="3423819" cy="0"/>
          </a:xfrm>
          <a:prstGeom prst="line">
            <a:avLst/>
          </a:prstGeom>
          <a:ln w="9525">
            <a:solidFill>
              <a:srgbClr val="E2E4E7"/>
            </a:solidFill>
          </a:ln>
        </p:spPr>
      </p:cxnSp>
      <p:sp>
        <p:nvSpPr>
          <p:cNvPr id="35" name="TextBox 34"/>
          <p:cNvSpPr txBox="1"/>
          <p:nvPr/>
        </p:nvSpPr>
        <p:spPr>
          <a:xfrm>
            <a:off x="8082076" y="3532479"/>
            <a:ext cx="548640" cy="237744"/>
          </a:xfrm>
          <a:prstGeom prst="rect">
            <a:avLst/>
          </a:prstGeom>
          <a:noFill/>
        </p:spPr>
        <p:txBody>
          <a:bodyPr wrap="square" lIns="0" rIns="0" tIns="0" bIns="0" anchor="t">
            <a:spAutoFit/>
          </a:bodyPr>
          <a:lstStyle/>
          <a:p>
            <a:pPr algn="l">
              <a:lnSpc>
                <a:spcPct val="100000"/>
              </a:lnSpc>
            </a:pPr>
            <a:r>
              <a:rPr sz="1100" b="0">
                <a:solidFill>
                  <a:srgbClr val="8C9198"/>
                </a:solidFill>
                <a:latin typeface="Noto Sans KR"/>
                <a:ea typeface="Noto Sans KR"/>
                <a:cs typeface="Noto Sans KR"/>
              </a:rPr>
              <a:t>매출</a:t>
            </a:r>
          </a:p>
        </p:txBody>
      </p:sp>
      <p:sp>
        <p:nvSpPr>
          <p:cNvPr id="36" name="TextBox 35"/>
          <p:cNvSpPr txBox="1"/>
          <p:nvPr/>
        </p:nvSpPr>
        <p:spPr>
          <a:xfrm>
            <a:off x="8649004" y="3532479"/>
            <a:ext cx="2856890" cy="496417"/>
          </a:xfrm>
          <a:prstGeom prst="rect">
            <a:avLst/>
          </a:prstGeom>
          <a:noFill/>
        </p:spPr>
        <p:txBody>
          <a:bodyPr wrap="square" lIns="0" rIns="0" tIns="0" bIns="0" anchor="t">
            <a:spAutoFit/>
          </a:bodyPr>
          <a:lstStyle/>
          <a:p>
            <a:pPr algn="l">
              <a:lnSpc>
                <a:spcPct val="100000"/>
              </a:lnSpc>
            </a:pPr>
            <a:r>
              <a:rPr sz="1300" b="0">
                <a:solidFill>
                  <a:srgbClr val="15171A"/>
                </a:solidFill>
                <a:latin typeface="Noto Sans KR"/>
                <a:ea typeface="Noto Sans KR"/>
                <a:cs typeface="Noto Sans KR"/>
              </a:rPr>
              <a:t>라이선스, 내장 런타임,</a:t>
            </a:r>
          </a:p>
          <a:p>
            <a:pPr algn="l">
              <a:lnSpc>
                <a:spcPct val="100000"/>
              </a:lnSpc>
            </a:pPr>
            <a:r>
              <a:rPr sz="1300" b="0">
                <a:solidFill>
                  <a:srgbClr val="15171A"/>
                </a:solidFill>
                <a:latin typeface="Noto Sans KR"/>
                <a:ea typeface="Noto Sans KR"/>
                <a:cs typeface="Noto Sans KR"/>
              </a:rPr>
              <a:t>출하량 연동 로열티</a:t>
            </a:r>
          </a:p>
        </p:txBody>
      </p:sp>
      <p:cxnSp>
        <p:nvCxnSpPr>
          <p:cNvPr id="37" name="Connector 36"/>
          <p:cNvCxnSpPr/>
          <p:nvPr/>
        </p:nvCxnSpPr>
        <p:spPr>
          <a:xfrm>
            <a:off x="8082076" y="4102049"/>
            <a:ext cx="3423819" cy="0"/>
          </a:xfrm>
          <a:prstGeom prst="line">
            <a:avLst/>
          </a:prstGeom>
          <a:ln w="9525">
            <a:solidFill>
              <a:srgbClr val="E2E4E7"/>
            </a:solidFill>
          </a:ln>
        </p:spPr>
      </p:cxnSp>
      <p:sp>
        <p:nvSpPr>
          <p:cNvPr id="38" name="TextBox 37"/>
          <p:cNvSpPr txBox="1"/>
          <p:nvPr/>
        </p:nvSpPr>
        <p:spPr>
          <a:xfrm>
            <a:off x="8082076" y="4193489"/>
            <a:ext cx="548640" cy="237744"/>
          </a:xfrm>
          <a:prstGeom prst="rect">
            <a:avLst/>
          </a:prstGeom>
          <a:noFill/>
        </p:spPr>
        <p:txBody>
          <a:bodyPr wrap="square" lIns="0" rIns="0" tIns="0" bIns="0" anchor="t">
            <a:spAutoFit/>
          </a:bodyPr>
          <a:lstStyle/>
          <a:p>
            <a:pPr algn="l">
              <a:lnSpc>
                <a:spcPct val="100000"/>
              </a:lnSpc>
            </a:pPr>
            <a:r>
              <a:rPr sz="1100" b="0">
                <a:solidFill>
                  <a:srgbClr val="8C9198"/>
                </a:solidFill>
                <a:latin typeface="Noto Sans KR"/>
                <a:ea typeface="Noto Sans KR"/>
                <a:cs typeface="Noto Sans KR"/>
              </a:rPr>
              <a:t>목표</a:t>
            </a:r>
          </a:p>
        </p:txBody>
      </p:sp>
      <p:sp>
        <p:nvSpPr>
          <p:cNvPr id="39" name="TextBox 38"/>
          <p:cNvSpPr txBox="1"/>
          <p:nvPr/>
        </p:nvSpPr>
        <p:spPr>
          <a:xfrm>
            <a:off x="8649004" y="4193489"/>
            <a:ext cx="2856890" cy="257352"/>
          </a:xfrm>
          <a:prstGeom prst="rect">
            <a:avLst/>
          </a:prstGeom>
          <a:noFill/>
        </p:spPr>
        <p:txBody>
          <a:bodyPr wrap="square" lIns="0" rIns="0" tIns="0" bIns="0" anchor="t">
            <a:spAutoFit/>
          </a:bodyPr>
          <a:lstStyle/>
          <a:p>
            <a:pPr algn="l">
              <a:lnSpc>
                <a:spcPct val="100000"/>
              </a:lnSpc>
            </a:pPr>
            <a:r>
              <a:rPr sz="1300" b="0">
                <a:solidFill>
                  <a:srgbClr val="15171A"/>
                </a:solidFill>
                <a:latin typeface="Noto Sans KR"/>
                <a:ea typeface="Noto Sans KR"/>
                <a:cs typeface="Noto Sans KR"/>
              </a:rPr>
              <a:t>OEM 채택(디자인 윈) 1건</a:t>
            </a:r>
          </a:p>
        </p:txBody>
      </p:sp>
      <p:cxnSp>
        <p:nvCxnSpPr>
          <p:cNvPr id="40" name="Connector 39"/>
          <p:cNvCxnSpPr/>
          <p:nvPr/>
        </p:nvCxnSpPr>
        <p:spPr>
          <a:xfrm>
            <a:off x="8082076" y="4559249"/>
            <a:ext cx="3423819" cy="0"/>
          </a:xfrm>
          <a:prstGeom prst="line">
            <a:avLst/>
          </a:prstGeom>
          <a:ln w="9525">
            <a:solidFill>
              <a:srgbClr val="E2E4E7"/>
            </a:solidFill>
          </a:ln>
        </p:spPr>
      </p:cxnSp>
      <p:sp>
        <p:nvSpPr>
          <p:cNvPr id="41" name="Rectangle 40"/>
          <p:cNvSpPr/>
          <p:nvPr/>
        </p:nvSpPr>
        <p:spPr>
          <a:xfrm>
            <a:off x="685800" y="5160111"/>
            <a:ext cx="10820095" cy="1024128"/>
          </a:xfrm>
          <a:prstGeom prst="rect">
            <a:avLst/>
          </a:prstGeom>
          <a:solidFill>
            <a:srgbClr val="F4F5F6"/>
          </a:solidFill>
          <a:ln>
            <a:noFill/>
          </a:ln>
        </p:spPr>
        <p:txBody>
          <a:bodyPr rtlCol="0" anchor="ctr"/>
          <a:lstStyle/>
          <a:p>
            <a:pPr algn="ctr"/>
          </a:p>
        </p:txBody>
      </p:sp>
      <p:sp>
        <p:nvSpPr>
          <p:cNvPr id="42" name="TextBox 41"/>
          <p:cNvSpPr txBox="1"/>
          <p:nvPr/>
        </p:nvSpPr>
        <p:spPr>
          <a:xfrm>
            <a:off x="960120" y="5324703"/>
            <a:ext cx="2103120" cy="274320"/>
          </a:xfrm>
          <a:prstGeom prst="rect">
            <a:avLst/>
          </a:prstGeom>
          <a:noFill/>
        </p:spPr>
        <p:txBody>
          <a:bodyPr wrap="square" lIns="0" rIns="0" tIns="0" bIns="0" anchor="t">
            <a:spAutoFit/>
          </a:bodyPr>
          <a:lstStyle/>
          <a:p>
            <a:pPr algn="l">
              <a:lnSpc>
                <a:spcPct val="100000"/>
              </a:lnSpc>
            </a:pPr>
            <a:r>
              <a:rPr sz="1400" b="1">
                <a:solidFill>
                  <a:srgbClr val="15171A"/>
                </a:solidFill>
                <a:latin typeface="Noto Sans KR"/>
                <a:ea typeface="Noto Sans KR"/>
                <a:cs typeface="Noto Sans KR"/>
              </a:rPr>
              <a:t>OEM 매출 구조</a:t>
            </a:r>
          </a:p>
        </p:txBody>
      </p:sp>
      <p:sp>
        <p:nvSpPr>
          <p:cNvPr id="43" name="TextBox 42"/>
          <p:cNvSpPr txBox="1"/>
          <p:nvPr/>
        </p:nvSpPr>
        <p:spPr>
          <a:xfrm>
            <a:off x="960120" y="5617311"/>
            <a:ext cx="2103120" cy="457200"/>
          </a:xfrm>
          <a:prstGeom prst="rect">
            <a:avLst/>
          </a:prstGeom>
          <a:noFill/>
        </p:spPr>
        <p:txBody>
          <a:bodyPr wrap="square" lIns="0" rIns="0" tIns="0" bIns="0" anchor="t">
            <a:spAutoFit/>
          </a:bodyPr>
          <a:lstStyle/>
          <a:p>
            <a:pPr algn="l">
              <a:lnSpc>
                <a:spcPct val="100000"/>
              </a:lnSpc>
            </a:pPr>
            <a:r>
              <a:rPr sz="1100" b="0">
                <a:solidFill>
                  <a:srgbClr val="4A4F57"/>
                </a:solidFill>
                <a:latin typeface="Noto Sans KR"/>
                <a:ea typeface="Noto Sans KR"/>
                <a:cs typeface="Noto Sans KR"/>
              </a:rPr>
              <a:t>고객 한 곳씩 영업에서</a:t>
            </a:r>
          </a:p>
          <a:p>
            <a:pPr algn="l">
              <a:lnSpc>
                <a:spcPct val="100000"/>
              </a:lnSpc>
            </a:pPr>
            <a:r>
              <a:rPr sz="1100" b="0">
                <a:solidFill>
                  <a:srgbClr val="4A4F57"/>
                </a:solidFill>
                <a:latin typeface="Noto Sans KR"/>
                <a:ea typeface="Noto Sans KR"/>
                <a:cs typeface="Noto Sans KR"/>
              </a:rPr>
              <a:t>출하량 연동으로 전환</a:t>
            </a:r>
          </a:p>
        </p:txBody>
      </p:sp>
      <p:sp>
        <p:nvSpPr>
          <p:cNvPr id="44" name="TextBox 43"/>
          <p:cNvSpPr txBox="1"/>
          <p:nvPr/>
        </p:nvSpPr>
        <p:spPr>
          <a:xfrm>
            <a:off x="3291840" y="5342991"/>
            <a:ext cx="1920240" cy="365760"/>
          </a:xfrm>
          <a:prstGeom prst="rect">
            <a:avLst/>
          </a:prstGeom>
          <a:noFill/>
        </p:spPr>
        <p:txBody>
          <a:bodyPr wrap="square" lIns="0" rIns="0" tIns="0" bIns="0" anchor="t">
            <a:spAutoFit/>
          </a:bodyPr>
          <a:lstStyle/>
          <a:p>
            <a:pPr algn="l">
              <a:lnSpc>
                <a:spcPct val="100000"/>
              </a:lnSpc>
            </a:pPr>
            <a:r>
              <a:rPr sz="1400" b="1">
                <a:solidFill>
                  <a:srgbClr val="15171A"/>
                </a:solidFill>
                <a:latin typeface="Noto Sans KR"/>
                <a:ea typeface="Noto Sans KR"/>
                <a:cs typeface="Noto Sans KR"/>
              </a:rPr>
              <a:t>대상 로봇 출하량</a:t>
            </a:r>
          </a:p>
        </p:txBody>
      </p:sp>
      <p:sp>
        <p:nvSpPr>
          <p:cNvPr id="45" name="TextBox 44"/>
          <p:cNvSpPr txBox="1"/>
          <p:nvPr/>
        </p:nvSpPr>
        <p:spPr>
          <a:xfrm>
            <a:off x="3291840" y="5708751"/>
            <a:ext cx="1920240" cy="237744"/>
          </a:xfrm>
          <a:prstGeom prst="rect">
            <a:avLst/>
          </a:prstGeom>
          <a:noFill/>
        </p:spPr>
        <p:txBody>
          <a:bodyPr wrap="square" lIns="0" rIns="0" tIns="0" bIns="0" anchor="t">
            <a:spAutoFit/>
          </a:bodyPr>
          <a:lstStyle/>
          <a:p>
            <a:pPr algn="l">
              <a:lnSpc>
                <a:spcPct val="100000"/>
              </a:lnSpc>
            </a:pPr>
            <a:r>
              <a:rPr sz="1000" b="0">
                <a:solidFill>
                  <a:srgbClr val="8C9198"/>
                </a:solidFill>
                <a:latin typeface="Noto Sans KR"/>
                <a:ea typeface="Noto Sans KR"/>
                <a:cs typeface="Noto Sans KR"/>
              </a:rPr>
              <a:t>[OEM 협의 후 검증]</a:t>
            </a:r>
          </a:p>
        </p:txBody>
      </p:sp>
      <p:sp>
        <p:nvSpPr>
          <p:cNvPr id="46" name="TextBox 45"/>
          <p:cNvSpPr txBox="1"/>
          <p:nvPr/>
        </p:nvSpPr>
        <p:spPr>
          <a:xfrm>
            <a:off x="5212080" y="5342991"/>
            <a:ext cx="320040" cy="365760"/>
          </a:xfrm>
          <a:prstGeom prst="rect">
            <a:avLst/>
          </a:prstGeom>
          <a:noFill/>
        </p:spPr>
        <p:txBody>
          <a:bodyPr wrap="square" lIns="0" rIns="0" tIns="0" bIns="0" anchor="t">
            <a:spAutoFit/>
          </a:bodyPr>
          <a:lstStyle/>
          <a:p>
            <a:pPr algn="ctr">
              <a:lnSpc>
                <a:spcPct val="100000"/>
              </a:lnSpc>
            </a:pPr>
            <a:r>
              <a:rPr sz="1800" b="0">
                <a:solidFill>
                  <a:srgbClr val="8C9198"/>
                </a:solidFill>
                <a:latin typeface="Noto Sans KR"/>
                <a:ea typeface="Noto Sans KR"/>
                <a:cs typeface="Noto Sans KR"/>
              </a:rPr>
              <a:t>×</a:t>
            </a:r>
          </a:p>
        </p:txBody>
      </p:sp>
      <p:sp>
        <p:nvSpPr>
          <p:cNvPr id="47" name="TextBox 46"/>
          <p:cNvSpPr txBox="1"/>
          <p:nvPr/>
        </p:nvSpPr>
        <p:spPr>
          <a:xfrm>
            <a:off x="5532120" y="5342991"/>
            <a:ext cx="1554480" cy="365760"/>
          </a:xfrm>
          <a:prstGeom prst="rect">
            <a:avLst/>
          </a:prstGeom>
          <a:noFill/>
        </p:spPr>
        <p:txBody>
          <a:bodyPr wrap="square" lIns="0" rIns="0" tIns="0" bIns="0" anchor="t">
            <a:spAutoFit/>
          </a:bodyPr>
          <a:lstStyle/>
          <a:p>
            <a:pPr algn="l">
              <a:lnSpc>
                <a:spcPct val="100000"/>
              </a:lnSpc>
            </a:pPr>
            <a:r>
              <a:rPr sz="1400" b="1">
                <a:solidFill>
                  <a:srgbClr val="15171A"/>
                </a:solidFill>
                <a:latin typeface="Noto Sans KR"/>
                <a:ea typeface="Noto Sans KR"/>
                <a:cs typeface="Noto Sans KR"/>
              </a:rPr>
              <a:t>옵션 채택률</a:t>
            </a:r>
          </a:p>
        </p:txBody>
      </p:sp>
      <p:sp>
        <p:nvSpPr>
          <p:cNvPr id="48" name="TextBox 47"/>
          <p:cNvSpPr txBox="1"/>
          <p:nvPr/>
        </p:nvSpPr>
        <p:spPr>
          <a:xfrm>
            <a:off x="5532120" y="5708751"/>
            <a:ext cx="1554480" cy="237744"/>
          </a:xfrm>
          <a:prstGeom prst="rect">
            <a:avLst/>
          </a:prstGeom>
          <a:noFill/>
        </p:spPr>
        <p:txBody>
          <a:bodyPr wrap="square" lIns="0" rIns="0" tIns="0" bIns="0" anchor="t">
            <a:spAutoFit/>
          </a:bodyPr>
          <a:lstStyle/>
          <a:p>
            <a:pPr algn="l">
              <a:lnSpc>
                <a:spcPct val="100000"/>
              </a:lnSpc>
            </a:pPr>
            <a:r>
              <a:rPr sz="1000" b="0">
                <a:solidFill>
                  <a:srgbClr val="8C9198"/>
                </a:solidFill>
                <a:latin typeface="Noto Sans KR"/>
                <a:ea typeface="Noto Sans KR"/>
                <a:cs typeface="Noto Sans KR"/>
              </a:rPr>
              <a:t>[OEM 협의 후 검증]</a:t>
            </a:r>
          </a:p>
        </p:txBody>
      </p:sp>
      <p:sp>
        <p:nvSpPr>
          <p:cNvPr id="49" name="TextBox 48"/>
          <p:cNvSpPr txBox="1"/>
          <p:nvPr/>
        </p:nvSpPr>
        <p:spPr>
          <a:xfrm>
            <a:off x="7086600" y="5342991"/>
            <a:ext cx="320040" cy="365760"/>
          </a:xfrm>
          <a:prstGeom prst="rect">
            <a:avLst/>
          </a:prstGeom>
          <a:noFill/>
        </p:spPr>
        <p:txBody>
          <a:bodyPr wrap="square" lIns="0" rIns="0" tIns="0" bIns="0" anchor="t">
            <a:spAutoFit/>
          </a:bodyPr>
          <a:lstStyle/>
          <a:p>
            <a:pPr algn="ctr">
              <a:lnSpc>
                <a:spcPct val="100000"/>
              </a:lnSpc>
            </a:pPr>
            <a:r>
              <a:rPr sz="1800" b="0">
                <a:solidFill>
                  <a:srgbClr val="8C9198"/>
                </a:solidFill>
                <a:latin typeface="Noto Sans KR"/>
                <a:ea typeface="Noto Sans KR"/>
                <a:cs typeface="Noto Sans KR"/>
              </a:rPr>
              <a:t>×</a:t>
            </a:r>
          </a:p>
        </p:txBody>
      </p:sp>
      <p:sp>
        <p:nvSpPr>
          <p:cNvPr id="50" name="TextBox 49"/>
          <p:cNvSpPr txBox="1"/>
          <p:nvPr/>
        </p:nvSpPr>
        <p:spPr>
          <a:xfrm>
            <a:off x="7406640" y="5342991"/>
            <a:ext cx="2331720" cy="365760"/>
          </a:xfrm>
          <a:prstGeom prst="rect">
            <a:avLst/>
          </a:prstGeom>
          <a:noFill/>
        </p:spPr>
        <p:txBody>
          <a:bodyPr wrap="square" lIns="0" rIns="0" tIns="0" bIns="0" anchor="t">
            <a:spAutoFit/>
          </a:bodyPr>
          <a:lstStyle/>
          <a:p>
            <a:pPr algn="l">
              <a:lnSpc>
                <a:spcPct val="100000"/>
              </a:lnSpc>
            </a:pPr>
            <a:r>
              <a:rPr sz="1400" b="1">
                <a:solidFill>
                  <a:srgbClr val="15171A"/>
                </a:solidFill>
                <a:latin typeface="Noto Sans KR"/>
                <a:ea typeface="Noto Sans KR"/>
                <a:cs typeface="Noto Sans KR"/>
              </a:rPr>
              <a:t>대당 핸드·런타임 매출</a:t>
            </a:r>
          </a:p>
        </p:txBody>
      </p:sp>
      <p:sp>
        <p:nvSpPr>
          <p:cNvPr id="51" name="TextBox 50"/>
          <p:cNvSpPr txBox="1"/>
          <p:nvPr/>
        </p:nvSpPr>
        <p:spPr>
          <a:xfrm>
            <a:off x="7406640" y="5708751"/>
            <a:ext cx="2331720" cy="237744"/>
          </a:xfrm>
          <a:prstGeom prst="rect">
            <a:avLst/>
          </a:prstGeom>
          <a:noFill/>
        </p:spPr>
        <p:txBody>
          <a:bodyPr wrap="square" lIns="0" rIns="0" tIns="0" bIns="0" anchor="t">
            <a:spAutoFit/>
          </a:bodyPr>
          <a:lstStyle/>
          <a:p>
            <a:pPr algn="l">
              <a:lnSpc>
                <a:spcPct val="100000"/>
              </a:lnSpc>
            </a:pPr>
            <a:r>
              <a:rPr sz="1000" b="0">
                <a:solidFill>
                  <a:srgbClr val="8C9198"/>
                </a:solidFill>
                <a:latin typeface="Noto Sans KR"/>
                <a:ea typeface="Noto Sans KR"/>
                <a:cs typeface="Noto Sans KR"/>
              </a:rPr>
              <a:t>[OEM 협의 후 검증]</a:t>
            </a:r>
          </a:p>
        </p:txBody>
      </p:sp>
      <p:sp>
        <p:nvSpPr>
          <p:cNvPr id="52" name="TextBox 51"/>
          <p:cNvSpPr txBox="1"/>
          <p:nvPr/>
        </p:nvSpPr>
        <p:spPr>
          <a:xfrm>
            <a:off x="9738359" y="5342991"/>
            <a:ext cx="320040" cy="365760"/>
          </a:xfrm>
          <a:prstGeom prst="rect">
            <a:avLst/>
          </a:prstGeom>
          <a:noFill/>
        </p:spPr>
        <p:txBody>
          <a:bodyPr wrap="square" lIns="0" rIns="0" tIns="0" bIns="0" anchor="t">
            <a:spAutoFit/>
          </a:bodyPr>
          <a:lstStyle/>
          <a:p>
            <a:pPr algn="ctr">
              <a:lnSpc>
                <a:spcPct val="100000"/>
              </a:lnSpc>
            </a:pPr>
            <a:r>
              <a:rPr sz="1800" b="0">
                <a:solidFill>
                  <a:srgbClr val="8C9198"/>
                </a:solidFill>
                <a:latin typeface="Noto Sans KR"/>
                <a:ea typeface="Noto Sans KR"/>
                <a:cs typeface="Noto Sans KR"/>
              </a:rPr>
              <a:t>=</a:t>
            </a:r>
          </a:p>
        </p:txBody>
      </p:sp>
      <p:sp>
        <p:nvSpPr>
          <p:cNvPr id="53" name="TextBox 52"/>
          <p:cNvSpPr txBox="1"/>
          <p:nvPr/>
        </p:nvSpPr>
        <p:spPr>
          <a:xfrm>
            <a:off x="10058399" y="5342991"/>
            <a:ext cx="1371600" cy="365760"/>
          </a:xfrm>
          <a:prstGeom prst="rect">
            <a:avLst/>
          </a:prstGeom>
          <a:noFill/>
        </p:spPr>
        <p:txBody>
          <a:bodyPr wrap="square" lIns="0" rIns="0" tIns="0" bIns="0" anchor="t">
            <a:spAutoFit/>
          </a:bodyPr>
          <a:lstStyle/>
          <a:p>
            <a:pPr algn="l">
              <a:lnSpc>
                <a:spcPct val="100000"/>
              </a:lnSpc>
            </a:pPr>
            <a:r>
              <a:rPr sz="1400" b="1">
                <a:solidFill>
                  <a:srgbClr val="E2571B"/>
                </a:solidFill>
                <a:latin typeface="Noto Sans KR"/>
                <a:ea typeface="Noto Sans KR"/>
                <a:cs typeface="Noto Sans KR"/>
              </a:rPr>
              <a:t>OEM 매출</a:t>
            </a:r>
          </a:p>
        </p:txBody>
      </p:sp>
      <p:sp>
        <p:nvSpPr>
          <p:cNvPr id="54" name="TextBox 53"/>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SoftHand-4  |  Seed 투자 제안서</a:t>
            </a:r>
          </a:p>
        </p:txBody>
      </p:sp>
      <p:sp>
        <p:nvSpPr>
          <p:cNvPr id="55" name="TextBox 54"/>
          <p:cNvSpPr txBox="1"/>
          <p:nvPr/>
        </p:nvSpPr>
        <p:spPr>
          <a:xfrm>
            <a:off x="3154680" y="6446520"/>
            <a:ext cx="7802575"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로봇 제조사는 팔·제어기에 집중, 핸드는 파트너 생태계 의존 · 경쟁자이자 판매 채널 (부록 A3)</a:t>
            </a:r>
          </a:p>
        </p:txBody>
      </p:sp>
      <p:sp>
        <p:nvSpPr>
          <p:cNvPr id="56" name="TextBox 55"/>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48640"/>
            <a:ext cx="7315200" cy="274320"/>
          </a:xfrm>
          <a:prstGeom prst="rect">
            <a:avLst/>
          </a:prstGeom>
          <a:noFill/>
        </p:spPr>
        <p:txBody>
          <a:bodyPr wrap="square" lIns="0" rIns="0" tIns="0" bIns="0" anchor="t">
            <a:spAutoFit/>
          </a:bodyPr>
          <a:lstStyle/>
          <a:p>
            <a:pPr algn="l">
              <a:lnSpc>
                <a:spcPct val="100000"/>
              </a:lnSpc>
            </a:pPr>
            <a:r>
              <a:rPr sz="1200" b="1">
                <a:solidFill>
                  <a:srgbClr val="E2571B"/>
                </a:solidFill>
                <a:latin typeface="Noto Sans KR"/>
                <a:ea typeface="Noto Sans KR"/>
                <a:cs typeface="Noto Sans KR"/>
              </a:rPr>
              <a:t>경쟁</a:t>
            </a:r>
          </a:p>
        </p:txBody>
      </p:sp>
      <p:sp>
        <p:nvSpPr>
          <p:cNvPr id="3" name="TextBox 2"/>
          <p:cNvSpPr txBox="1"/>
          <p:nvPr/>
        </p:nvSpPr>
        <p:spPr>
          <a:xfrm>
            <a:off x="685800" y="932688"/>
            <a:ext cx="10820095" cy="542391"/>
          </a:xfrm>
          <a:prstGeom prst="rect">
            <a:avLst/>
          </a:prstGeom>
          <a:noFill/>
        </p:spPr>
        <p:txBody>
          <a:bodyPr wrap="square" lIns="0" rIns="0" tIns="0" bIns="0" anchor="t">
            <a:spAutoFit/>
          </a:bodyPr>
          <a:lstStyle/>
          <a:p>
            <a:pPr algn="l">
              <a:lnSpc>
                <a:spcPct val="95000"/>
              </a:lnSpc>
            </a:pPr>
            <a:r>
              <a:rPr sz="3000" b="1">
                <a:solidFill>
                  <a:srgbClr val="15171A"/>
                </a:solidFill>
                <a:latin typeface="Noto Sans KR"/>
                <a:ea typeface="Noto Sans KR"/>
                <a:cs typeface="Noto Sans KR"/>
              </a:rPr>
              <a:t>경쟁 기준은 설비 변경 없이 끝낸 작업 수</a:t>
            </a:r>
          </a:p>
        </p:txBody>
      </p:sp>
      <p:sp>
        <p:nvSpPr>
          <p:cNvPr id="4" name="TextBox 3"/>
          <p:cNvSpPr txBox="1"/>
          <p:nvPr/>
        </p:nvSpPr>
        <p:spPr>
          <a:xfrm>
            <a:off x="685800" y="1584807"/>
            <a:ext cx="10820095" cy="329184"/>
          </a:xfrm>
          <a:prstGeom prst="rect">
            <a:avLst/>
          </a:prstGeom>
          <a:noFill/>
        </p:spPr>
        <p:txBody>
          <a:bodyPr wrap="square" lIns="0" rIns="0" tIns="0" bIns="0" anchor="t">
            <a:spAutoFit/>
          </a:bodyPr>
          <a:lstStyle/>
          <a:p>
            <a:pPr algn="l">
              <a:lnSpc>
                <a:spcPct val="100000"/>
              </a:lnSpc>
            </a:pPr>
            <a:r>
              <a:rPr sz="1600" b="0">
                <a:solidFill>
                  <a:srgbClr val="4A4F57"/>
                </a:solidFill>
                <a:latin typeface="Noto Sans KR"/>
                <a:ea typeface="Noto Sans KR"/>
                <a:cs typeface="Noto Sans KR"/>
              </a:rPr>
              <a:t>구매 기준: 손가락 수보다 실제 작업 완료와 설비 변경 최소화</a:t>
            </a:r>
          </a:p>
        </p:txBody>
      </p:sp>
      <p:sp>
        <p:nvSpPr>
          <p:cNvPr id="5" name="TextBox 4"/>
          <p:cNvSpPr txBox="1"/>
          <p:nvPr/>
        </p:nvSpPr>
        <p:spPr>
          <a:xfrm>
            <a:off x="685800" y="2188311"/>
            <a:ext cx="2581579" cy="365760"/>
          </a:xfrm>
          <a:prstGeom prst="rect">
            <a:avLst/>
          </a:prstGeom>
          <a:noFill/>
        </p:spPr>
        <p:txBody>
          <a:bodyPr wrap="square" lIns="0" rIns="0" tIns="0" bIns="0" anchor="t">
            <a:spAutoFit/>
          </a:bodyPr>
          <a:lstStyle/>
          <a:p>
            <a:pPr algn="l">
              <a:lnSpc>
                <a:spcPct val="100000"/>
              </a:lnSpc>
            </a:pPr>
            <a:r>
              <a:rPr sz="1800" b="1">
                <a:solidFill>
                  <a:srgbClr val="15171A"/>
                </a:solidFill>
                <a:latin typeface="Noto Sans KR"/>
                <a:ea typeface="Noto Sans KR"/>
                <a:cs typeface="Noto Sans KR"/>
              </a:rPr>
              <a:t>전통 그리퍼</a:t>
            </a:r>
          </a:p>
        </p:txBody>
      </p:sp>
      <p:sp>
        <p:nvSpPr>
          <p:cNvPr id="6" name="TextBox 5"/>
          <p:cNvSpPr txBox="1"/>
          <p:nvPr/>
        </p:nvSpPr>
        <p:spPr>
          <a:xfrm>
            <a:off x="685800" y="2599791"/>
            <a:ext cx="2581579" cy="548640"/>
          </a:xfrm>
          <a:prstGeom prst="rect">
            <a:avLst/>
          </a:prstGeom>
          <a:noFill/>
        </p:spPr>
        <p:txBody>
          <a:bodyPr wrap="square" lIns="0" rIns="0" tIns="0" bIns="0" anchor="t">
            <a:spAutoFit/>
          </a:bodyPr>
          <a:lstStyle/>
          <a:p>
            <a:pPr algn="l">
              <a:lnSpc>
                <a:spcPct val="100000"/>
              </a:lnSpc>
            </a:pPr>
            <a:r>
              <a:rPr sz="1200" b="0">
                <a:solidFill>
                  <a:srgbClr val="4A4F57"/>
                </a:solidFill>
                <a:latin typeface="Noto Sans KR"/>
                <a:ea typeface="Noto Sans KR"/>
                <a:cs typeface="Noto Sans KR"/>
              </a:rPr>
              <a:t>정확성·신뢰성 높음, 특정 작업 중심</a:t>
            </a:r>
          </a:p>
        </p:txBody>
      </p:sp>
      <p:cxnSp>
        <p:nvCxnSpPr>
          <p:cNvPr id="7" name="Connector 6"/>
          <p:cNvCxnSpPr/>
          <p:nvPr/>
        </p:nvCxnSpPr>
        <p:spPr>
          <a:xfrm>
            <a:off x="685800" y="3194151"/>
            <a:ext cx="2581579" cy="0"/>
          </a:xfrm>
          <a:prstGeom prst="line">
            <a:avLst/>
          </a:prstGeom>
          <a:ln w="12700">
            <a:solidFill>
              <a:srgbClr val="15171A"/>
            </a:solidFill>
          </a:ln>
        </p:spPr>
      </p:cxnSp>
      <p:sp>
        <p:nvSpPr>
          <p:cNvPr id="8" name="TextBox 7"/>
          <p:cNvSpPr txBox="1"/>
          <p:nvPr/>
        </p:nvSpPr>
        <p:spPr>
          <a:xfrm>
            <a:off x="685800" y="3303879"/>
            <a:ext cx="2581579" cy="219456"/>
          </a:xfrm>
          <a:prstGeom prst="rect">
            <a:avLst/>
          </a:prstGeom>
          <a:noFill/>
        </p:spPr>
        <p:txBody>
          <a:bodyPr wrap="square" lIns="0" rIns="0" tIns="0" bIns="0" anchor="t">
            <a:spAutoFit/>
          </a:bodyPr>
          <a:lstStyle/>
          <a:p>
            <a:pPr algn="l">
              <a:lnSpc>
                <a:spcPct val="100000"/>
              </a:lnSpc>
            </a:pPr>
            <a:r>
              <a:rPr sz="1100" b="0">
                <a:solidFill>
                  <a:srgbClr val="8C9198"/>
                </a:solidFill>
                <a:latin typeface="Noto Sans KR"/>
                <a:ea typeface="Noto Sans KR"/>
                <a:cs typeface="Noto Sans KR"/>
              </a:rPr>
              <a:t>강점</a:t>
            </a:r>
          </a:p>
        </p:txBody>
      </p:sp>
      <p:sp>
        <p:nvSpPr>
          <p:cNvPr id="9" name="TextBox 8"/>
          <p:cNvSpPr txBox="1"/>
          <p:nvPr/>
        </p:nvSpPr>
        <p:spPr>
          <a:xfrm>
            <a:off x="685800" y="3541623"/>
            <a:ext cx="2581579" cy="548640"/>
          </a:xfrm>
          <a:prstGeom prst="rect">
            <a:avLst/>
          </a:prstGeom>
          <a:noFill/>
        </p:spPr>
        <p:txBody>
          <a:bodyPr wrap="square" lIns="0" rIns="0" tIns="0" bIns="0" anchor="t">
            <a:spAutoFit/>
          </a:bodyPr>
          <a:lstStyle/>
          <a:p>
            <a:pPr algn="l">
              <a:lnSpc>
                <a:spcPct val="100000"/>
              </a:lnSpc>
            </a:pPr>
            <a:r>
              <a:rPr sz="1300" b="0">
                <a:solidFill>
                  <a:srgbClr val="15171A"/>
                </a:solidFill>
                <a:latin typeface="Noto Sans KR"/>
                <a:ea typeface="Noto Sans KR"/>
                <a:cs typeface="Noto Sans KR"/>
              </a:rPr>
              <a:t>정밀·저가·고속</a:t>
            </a:r>
          </a:p>
        </p:txBody>
      </p:sp>
      <p:cxnSp>
        <p:nvCxnSpPr>
          <p:cNvPr id="10" name="Connector 9"/>
          <p:cNvCxnSpPr/>
          <p:nvPr/>
        </p:nvCxnSpPr>
        <p:spPr>
          <a:xfrm>
            <a:off x="685800" y="4090263"/>
            <a:ext cx="2581579" cy="0"/>
          </a:xfrm>
          <a:prstGeom prst="line">
            <a:avLst/>
          </a:prstGeom>
          <a:ln w="9525">
            <a:solidFill>
              <a:srgbClr val="E2E4E7"/>
            </a:solidFill>
          </a:ln>
        </p:spPr>
      </p:cxnSp>
      <p:sp>
        <p:nvSpPr>
          <p:cNvPr id="11" name="TextBox 10"/>
          <p:cNvSpPr txBox="1"/>
          <p:nvPr/>
        </p:nvSpPr>
        <p:spPr>
          <a:xfrm>
            <a:off x="685800" y="4199991"/>
            <a:ext cx="2581579" cy="219456"/>
          </a:xfrm>
          <a:prstGeom prst="rect">
            <a:avLst/>
          </a:prstGeom>
          <a:noFill/>
        </p:spPr>
        <p:txBody>
          <a:bodyPr wrap="square" lIns="0" rIns="0" tIns="0" bIns="0" anchor="t">
            <a:spAutoFit/>
          </a:bodyPr>
          <a:lstStyle/>
          <a:p>
            <a:pPr algn="l">
              <a:lnSpc>
                <a:spcPct val="100000"/>
              </a:lnSpc>
            </a:pPr>
            <a:r>
              <a:rPr sz="1100" b="0">
                <a:solidFill>
                  <a:srgbClr val="8C9198"/>
                </a:solidFill>
                <a:latin typeface="Noto Sans KR"/>
                <a:ea typeface="Noto Sans KR"/>
                <a:cs typeface="Noto Sans KR"/>
              </a:rPr>
              <a:t>한계</a:t>
            </a:r>
          </a:p>
        </p:txBody>
      </p:sp>
      <p:sp>
        <p:nvSpPr>
          <p:cNvPr id="12" name="TextBox 11"/>
          <p:cNvSpPr txBox="1"/>
          <p:nvPr/>
        </p:nvSpPr>
        <p:spPr>
          <a:xfrm>
            <a:off x="685800" y="4437735"/>
            <a:ext cx="2581579" cy="658368"/>
          </a:xfrm>
          <a:prstGeom prst="rect">
            <a:avLst/>
          </a:prstGeom>
          <a:noFill/>
        </p:spPr>
        <p:txBody>
          <a:bodyPr wrap="square" lIns="0" rIns="0" tIns="0" bIns="0" anchor="t">
            <a:spAutoFit/>
          </a:bodyPr>
          <a:lstStyle/>
          <a:p>
            <a:pPr algn="l">
              <a:lnSpc>
                <a:spcPct val="100000"/>
              </a:lnSpc>
            </a:pPr>
            <a:r>
              <a:rPr sz="1300" b="0">
                <a:solidFill>
                  <a:srgbClr val="15171A"/>
                </a:solidFill>
                <a:latin typeface="Noto Sans KR"/>
                <a:ea typeface="Noto Sans KR"/>
                <a:cs typeface="Noto Sans KR"/>
              </a:rPr>
              <a:t>작업 변경 시 핑거·지그 교체, 문·레버는 설비 개조</a:t>
            </a:r>
          </a:p>
        </p:txBody>
      </p:sp>
      <p:sp>
        <p:nvSpPr>
          <p:cNvPr id="13" name="TextBox 12"/>
          <p:cNvSpPr txBox="1"/>
          <p:nvPr/>
        </p:nvSpPr>
        <p:spPr>
          <a:xfrm>
            <a:off x="3431971" y="2188311"/>
            <a:ext cx="2581579" cy="365760"/>
          </a:xfrm>
          <a:prstGeom prst="rect">
            <a:avLst/>
          </a:prstGeom>
          <a:noFill/>
        </p:spPr>
        <p:txBody>
          <a:bodyPr wrap="square" lIns="0" rIns="0" tIns="0" bIns="0" anchor="t">
            <a:spAutoFit/>
          </a:bodyPr>
          <a:lstStyle/>
          <a:p>
            <a:pPr algn="l">
              <a:lnSpc>
                <a:spcPct val="100000"/>
              </a:lnSpc>
            </a:pPr>
            <a:r>
              <a:rPr sz="1800" b="1">
                <a:solidFill>
                  <a:srgbClr val="15171A"/>
                </a:solidFill>
                <a:latin typeface="Noto Sans KR"/>
                <a:ea typeface="Noto Sans KR"/>
                <a:cs typeface="Noto Sans KR"/>
              </a:rPr>
              <a:t>적응형 그리퍼</a:t>
            </a:r>
          </a:p>
        </p:txBody>
      </p:sp>
      <p:sp>
        <p:nvSpPr>
          <p:cNvPr id="14" name="TextBox 13"/>
          <p:cNvSpPr txBox="1"/>
          <p:nvPr/>
        </p:nvSpPr>
        <p:spPr>
          <a:xfrm>
            <a:off x="3431971" y="2599791"/>
            <a:ext cx="2581579" cy="548640"/>
          </a:xfrm>
          <a:prstGeom prst="rect">
            <a:avLst/>
          </a:prstGeom>
          <a:noFill/>
        </p:spPr>
        <p:txBody>
          <a:bodyPr wrap="square" lIns="0" rIns="0" tIns="0" bIns="0" anchor="t">
            <a:spAutoFit/>
          </a:bodyPr>
          <a:lstStyle/>
          <a:p>
            <a:pPr algn="l">
              <a:lnSpc>
                <a:spcPct val="100000"/>
              </a:lnSpc>
            </a:pPr>
            <a:r>
              <a:rPr sz="1200" b="0">
                <a:solidFill>
                  <a:srgbClr val="4A4F57"/>
                </a:solidFill>
                <a:latin typeface="Noto Sans KR"/>
                <a:ea typeface="Noto Sans KR"/>
                <a:cs typeface="Noto Sans KR"/>
              </a:rPr>
              <a:t>다양한 형상 파지에 강점</a:t>
            </a:r>
          </a:p>
        </p:txBody>
      </p:sp>
      <p:cxnSp>
        <p:nvCxnSpPr>
          <p:cNvPr id="15" name="Connector 14"/>
          <p:cNvCxnSpPr/>
          <p:nvPr/>
        </p:nvCxnSpPr>
        <p:spPr>
          <a:xfrm>
            <a:off x="3431971" y="3194151"/>
            <a:ext cx="2581580" cy="0"/>
          </a:xfrm>
          <a:prstGeom prst="line">
            <a:avLst/>
          </a:prstGeom>
          <a:ln w="12700">
            <a:solidFill>
              <a:srgbClr val="15171A"/>
            </a:solidFill>
          </a:ln>
        </p:spPr>
      </p:cxnSp>
      <p:sp>
        <p:nvSpPr>
          <p:cNvPr id="16" name="TextBox 15"/>
          <p:cNvSpPr txBox="1"/>
          <p:nvPr/>
        </p:nvSpPr>
        <p:spPr>
          <a:xfrm>
            <a:off x="3431971" y="3303879"/>
            <a:ext cx="2581579" cy="219456"/>
          </a:xfrm>
          <a:prstGeom prst="rect">
            <a:avLst/>
          </a:prstGeom>
          <a:noFill/>
        </p:spPr>
        <p:txBody>
          <a:bodyPr wrap="square" lIns="0" rIns="0" tIns="0" bIns="0" anchor="t">
            <a:spAutoFit/>
          </a:bodyPr>
          <a:lstStyle/>
          <a:p>
            <a:pPr algn="l">
              <a:lnSpc>
                <a:spcPct val="100000"/>
              </a:lnSpc>
            </a:pPr>
            <a:r>
              <a:rPr sz="1100" b="0">
                <a:solidFill>
                  <a:srgbClr val="8C9198"/>
                </a:solidFill>
                <a:latin typeface="Noto Sans KR"/>
                <a:ea typeface="Noto Sans KR"/>
                <a:cs typeface="Noto Sans KR"/>
              </a:rPr>
              <a:t>강점</a:t>
            </a:r>
          </a:p>
        </p:txBody>
      </p:sp>
      <p:sp>
        <p:nvSpPr>
          <p:cNvPr id="17" name="TextBox 16"/>
          <p:cNvSpPr txBox="1"/>
          <p:nvPr/>
        </p:nvSpPr>
        <p:spPr>
          <a:xfrm>
            <a:off x="3431971" y="3541623"/>
            <a:ext cx="2581579" cy="548640"/>
          </a:xfrm>
          <a:prstGeom prst="rect">
            <a:avLst/>
          </a:prstGeom>
          <a:noFill/>
        </p:spPr>
        <p:txBody>
          <a:bodyPr wrap="square" lIns="0" rIns="0" tIns="0" bIns="0" anchor="t">
            <a:spAutoFit/>
          </a:bodyPr>
          <a:lstStyle/>
          <a:p>
            <a:pPr algn="l">
              <a:lnSpc>
                <a:spcPct val="100000"/>
              </a:lnSpc>
            </a:pPr>
            <a:r>
              <a:rPr sz="1300" b="0">
                <a:solidFill>
                  <a:srgbClr val="15171A"/>
                </a:solidFill>
                <a:latin typeface="Noto Sans KR"/>
                <a:ea typeface="Noto Sans KR"/>
                <a:cs typeface="Noto Sans KR"/>
              </a:rPr>
              <a:t>여러 형상을 하나로 파지</a:t>
            </a:r>
          </a:p>
        </p:txBody>
      </p:sp>
      <p:cxnSp>
        <p:nvCxnSpPr>
          <p:cNvPr id="18" name="Connector 17"/>
          <p:cNvCxnSpPr/>
          <p:nvPr/>
        </p:nvCxnSpPr>
        <p:spPr>
          <a:xfrm>
            <a:off x="3431971" y="4090263"/>
            <a:ext cx="2581580" cy="0"/>
          </a:xfrm>
          <a:prstGeom prst="line">
            <a:avLst/>
          </a:prstGeom>
          <a:ln w="9525">
            <a:solidFill>
              <a:srgbClr val="E2E4E7"/>
            </a:solidFill>
          </a:ln>
        </p:spPr>
      </p:cxnSp>
      <p:sp>
        <p:nvSpPr>
          <p:cNvPr id="19" name="TextBox 18"/>
          <p:cNvSpPr txBox="1"/>
          <p:nvPr/>
        </p:nvSpPr>
        <p:spPr>
          <a:xfrm>
            <a:off x="3431971" y="4199991"/>
            <a:ext cx="2581579" cy="219456"/>
          </a:xfrm>
          <a:prstGeom prst="rect">
            <a:avLst/>
          </a:prstGeom>
          <a:noFill/>
        </p:spPr>
        <p:txBody>
          <a:bodyPr wrap="square" lIns="0" rIns="0" tIns="0" bIns="0" anchor="t">
            <a:spAutoFit/>
          </a:bodyPr>
          <a:lstStyle/>
          <a:p>
            <a:pPr algn="l">
              <a:lnSpc>
                <a:spcPct val="100000"/>
              </a:lnSpc>
            </a:pPr>
            <a:r>
              <a:rPr sz="1100" b="0">
                <a:solidFill>
                  <a:srgbClr val="8C9198"/>
                </a:solidFill>
                <a:latin typeface="Noto Sans KR"/>
                <a:ea typeface="Noto Sans KR"/>
                <a:cs typeface="Noto Sans KR"/>
              </a:rPr>
              <a:t>한계</a:t>
            </a:r>
          </a:p>
        </p:txBody>
      </p:sp>
      <p:sp>
        <p:nvSpPr>
          <p:cNvPr id="20" name="TextBox 19"/>
          <p:cNvSpPr txBox="1"/>
          <p:nvPr/>
        </p:nvSpPr>
        <p:spPr>
          <a:xfrm>
            <a:off x="3431971" y="4437735"/>
            <a:ext cx="2581579" cy="658368"/>
          </a:xfrm>
          <a:prstGeom prst="rect">
            <a:avLst/>
          </a:prstGeom>
          <a:noFill/>
        </p:spPr>
        <p:txBody>
          <a:bodyPr wrap="square" lIns="0" rIns="0" tIns="0" bIns="0" anchor="t">
            <a:spAutoFit/>
          </a:bodyPr>
          <a:lstStyle/>
          <a:p>
            <a:pPr algn="l">
              <a:lnSpc>
                <a:spcPct val="100000"/>
              </a:lnSpc>
            </a:pPr>
            <a:r>
              <a:rPr sz="1300" b="0">
                <a:solidFill>
                  <a:srgbClr val="15171A"/>
                </a:solidFill>
                <a:latin typeface="Noto Sans KR"/>
                <a:ea typeface="Noto Sans KR"/>
                <a:cs typeface="Noto Sans KR"/>
              </a:rPr>
              <a:t>손잡이 감아 당기기·레버 토크 제한, 결국 설비 개조</a:t>
            </a:r>
          </a:p>
        </p:txBody>
      </p:sp>
      <p:sp>
        <p:nvSpPr>
          <p:cNvPr id="21" name="TextBox 20"/>
          <p:cNvSpPr txBox="1"/>
          <p:nvPr/>
        </p:nvSpPr>
        <p:spPr>
          <a:xfrm>
            <a:off x="6178143" y="2188311"/>
            <a:ext cx="2581579" cy="365760"/>
          </a:xfrm>
          <a:prstGeom prst="rect">
            <a:avLst/>
          </a:prstGeom>
          <a:noFill/>
        </p:spPr>
        <p:txBody>
          <a:bodyPr wrap="square" lIns="0" rIns="0" tIns="0" bIns="0" anchor="t">
            <a:spAutoFit/>
          </a:bodyPr>
          <a:lstStyle/>
          <a:p>
            <a:pPr algn="l">
              <a:lnSpc>
                <a:spcPct val="100000"/>
              </a:lnSpc>
            </a:pPr>
            <a:r>
              <a:rPr sz="1800" b="1">
                <a:solidFill>
                  <a:srgbClr val="15171A"/>
                </a:solidFill>
                <a:latin typeface="Noto Sans KR"/>
                <a:ea typeface="Noto Sans KR"/>
                <a:cs typeface="Noto Sans KR"/>
              </a:rPr>
              <a:t>다지 로봇 핸드</a:t>
            </a:r>
          </a:p>
        </p:txBody>
      </p:sp>
      <p:sp>
        <p:nvSpPr>
          <p:cNvPr id="22" name="TextBox 21"/>
          <p:cNvSpPr txBox="1"/>
          <p:nvPr/>
        </p:nvSpPr>
        <p:spPr>
          <a:xfrm>
            <a:off x="6178143" y="2599791"/>
            <a:ext cx="2581579" cy="548640"/>
          </a:xfrm>
          <a:prstGeom prst="rect">
            <a:avLst/>
          </a:prstGeom>
          <a:noFill/>
        </p:spPr>
        <p:txBody>
          <a:bodyPr wrap="square" lIns="0" rIns="0" tIns="0" bIns="0" anchor="t">
            <a:spAutoFit/>
          </a:bodyPr>
          <a:lstStyle/>
          <a:p>
            <a:pPr algn="l">
              <a:lnSpc>
                <a:spcPct val="100000"/>
              </a:lnSpc>
            </a:pPr>
            <a:r>
              <a:rPr sz="1200" b="0">
                <a:solidFill>
                  <a:srgbClr val="4A4F57"/>
                </a:solidFill>
                <a:latin typeface="Noto Sans KR"/>
                <a:ea typeface="Noto Sans KR"/>
                <a:cs typeface="Noto Sans KR"/>
              </a:rPr>
              <a:t>높은 자유도, 복잡한 조작</a:t>
            </a:r>
          </a:p>
        </p:txBody>
      </p:sp>
      <p:cxnSp>
        <p:nvCxnSpPr>
          <p:cNvPr id="23" name="Connector 22"/>
          <p:cNvCxnSpPr/>
          <p:nvPr/>
        </p:nvCxnSpPr>
        <p:spPr>
          <a:xfrm>
            <a:off x="6178143" y="3194151"/>
            <a:ext cx="2581580" cy="0"/>
          </a:xfrm>
          <a:prstGeom prst="line">
            <a:avLst/>
          </a:prstGeom>
          <a:ln w="12700">
            <a:solidFill>
              <a:srgbClr val="15171A"/>
            </a:solidFill>
          </a:ln>
        </p:spPr>
      </p:cxnSp>
      <p:sp>
        <p:nvSpPr>
          <p:cNvPr id="24" name="TextBox 23"/>
          <p:cNvSpPr txBox="1"/>
          <p:nvPr/>
        </p:nvSpPr>
        <p:spPr>
          <a:xfrm>
            <a:off x="6178143" y="3303879"/>
            <a:ext cx="2581579" cy="219456"/>
          </a:xfrm>
          <a:prstGeom prst="rect">
            <a:avLst/>
          </a:prstGeom>
          <a:noFill/>
        </p:spPr>
        <p:txBody>
          <a:bodyPr wrap="square" lIns="0" rIns="0" tIns="0" bIns="0" anchor="t">
            <a:spAutoFit/>
          </a:bodyPr>
          <a:lstStyle/>
          <a:p>
            <a:pPr algn="l">
              <a:lnSpc>
                <a:spcPct val="100000"/>
              </a:lnSpc>
            </a:pPr>
            <a:r>
              <a:rPr sz="1100" b="0">
                <a:solidFill>
                  <a:srgbClr val="8C9198"/>
                </a:solidFill>
                <a:latin typeface="Noto Sans KR"/>
                <a:ea typeface="Noto Sans KR"/>
                <a:cs typeface="Noto Sans KR"/>
              </a:rPr>
              <a:t>강점</a:t>
            </a:r>
          </a:p>
        </p:txBody>
      </p:sp>
      <p:sp>
        <p:nvSpPr>
          <p:cNvPr id="25" name="TextBox 24"/>
          <p:cNvSpPr txBox="1"/>
          <p:nvPr/>
        </p:nvSpPr>
        <p:spPr>
          <a:xfrm>
            <a:off x="6178143" y="3541623"/>
            <a:ext cx="2581579" cy="548640"/>
          </a:xfrm>
          <a:prstGeom prst="rect">
            <a:avLst/>
          </a:prstGeom>
          <a:noFill/>
        </p:spPr>
        <p:txBody>
          <a:bodyPr wrap="square" lIns="0" rIns="0" tIns="0" bIns="0" anchor="t">
            <a:spAutoFit/>
          </a:bodyPr>
          <a:lstStyle/>
          <a:p>
            <a:pPr algn="l">
              <a:lnSpc>
                <a:spcPct val="100000"/>
              </a:lnSpc>
            </a:pPr>
            <a:r>
              <a:rPr sz="1300" b="0">
                <a:solidFill>
                  <a:srgbClr val="15171A"/>
                </a:solidFill>
                <a:latin typeface="Noto Sans KR"/>
                <a:ea typeface="Noto Sans KR"/>
                <a:cs typeface="Noto Sans KR"/>
              </a:rPr>
              <a:t>사람 손에 가까운 조작</a:t>
            </a:r>
          </a:p>
        </p:txBody>
      </p:sp>
      <p:cxnSp>
        <p:nvCxnSpPr>
          <p:cNvPr id="26" name="Connector 25"/>
          <p:cNvCxnSpPr/>
          <p:nvPr/>
        </p:nvCxnSpPr>
        <p:spPr>
          <a:xfrm>
            <a:off x="6178143" y="4090263"/>
            <a:ext cx="2581580" cy="0"/>
          </a:xfrm>
          <a:prstGeom prst="line">
            <a:avLst/>
          </a:prstGeom>
          <a:ln w="9525">
            <a:solidFill>
              <a:srgbClr val="E2E4E7"/>
            </a:solidFill>
          </a:ln>
        </p:spPr>
      </p:cxnSp>
      <p:sp>
        <p:nvSpPr>
          <p:cNvPr id="27" name="TextBox 26"/>
          <p:cNvSpPr txBox="1"/>
          <p:nvPr/>
        </p:nvSpPr>
        <p:spPr>
          <a:xfrm>
            <a:off x="6178143" y="4199991"/>
            <a:ext cx="2581579" cy="219456"/>
          </a:xfrm>
          <a:prstGeom prst="rect">
            <a:avLst/>
          </a:prstGeom>
          <a:noFill/>
        </p:spPr>
        <p:txBody>
          <a:bodyPr wrap="square" lIns="0" rIns="0" tIns="0" bIns="0" anchor="t">
            <a:spAutoFit/>
          </a:bodyPr>
          <a:lstStyle/>
          <a:p>
            <a:pPr algn="l">
              <a:lnSpc>
                <a:spcPct val="100000"/>
              </a:lnSpc>
            </a:pPr>
            <a:r>
              <a:rPr sz="1100" b="0">
                <a:solidFill>
                  <a:srgbClr val="8C9198"/>
                </a:solidFill>
                <a:latin typeface="Noto Sans KR"/>
                <a:ea typeface="Noto Sans KR"/>
                <a:cs typeface="Noto Sans KR"/>
              </a:rPr>
              <a:t>한계</a:t>
            </a:r>
          </a:p>
        </p:txBody>
      </p:sp>
      <p:sp>
        <p:nvSpPr>
          <p:cNvPr id="28" name="TextBox 27"/>
          <p:cNvSpPr txBox="1"/>
          <p:nvPr/>
        </p:nvSpPr>
        <p:spPr>
          <a:xfrm>
            <a:off x="6178143" y="4437735"/>
            <a:ext cx="2581579" cy="658368"/>
          </a:xfrm>
          <a:prstGeom prst="rect">
            <a:avLst/>
          </a:prstGeom>
          <a:noFill/>
        </p:spPr>
        <p:txBody>
          <a:bodyPr wrap="square" lIns="0" rIns="0" tIns="0" bIns="0" anchor="t">
            <a:spAutoFit/>
          </a:bodyPr>
          <a:lstStyle/>
          <a:p>
            <a:pPr algn="l">
              <a:lnSpc>
                <a:spcPct val="100000"/>
              </a:lnSpc>
            </a:pPr>
            <a:r>
              <a:rPr sz="1300" b="0">
                <a:solidFill>
                  <a:srgbClr val="15171A"/>
                </a:solidFill>
                <a:latin typeface="Noto Sans KR"/>
                <a:ea typeface="Noto Sans KR"/>
                <a:cs typeface="Noto Sans KR"/>
              </a:rPr>
              <a:t>비용·내구성·통합 난이도, 연구·휴머노이드 중심</a:t>
            </a:r>
          </a:p>
        </p:txBody>
      </p:sp>
      <p:sp>
        <p:nvSpPr>
          <p:cNvPr id="29" name="Rectangle 28"/>
          <p:cNvSpPr/>
          <p:nvPr/>
        </p:nvSpPr>
        <p:spPr>
          <a:xfrm>
            <a:off x="8814587" y="2051151"/>
            <a:ext cx="2801035" cy="3090672"/>
          </a:xfrm>
          <a:prstGeom prst="rect">
            <a:avLst/>
          </a:prstGeom>
          <a:solidFill>
            <a:srgbClr val="FBEDE6"/>
          </a:solidFill>
          <a:ln>
            <a:noFill/>
          </a:ln>
        </p:spPr>
        <p:txBody>
          <a:bodyPr rtlCol="0" anchor="ctr"/>
          <a:lstStyle/>
          <a:p>
            <a:pPr algn="ctr"/>
          </a:p>
        </p:txBody>
      </p:sp>
      <p:sp>
        <p:nvSpPr>
          <p:cNvPr id="30" name="TextBox 29"/>
          <p:cNvSpPr txBox="1"/>
          <p:nvPr/>
        </p:nvSpPr>
        <p:spPr>
          <a:xfrm>
            <a:off x="8924315" y="2188311"/>
            <a:ext cx="2581579" cy="365760"/>
          </a:xfrm>
          <a:prstGeom prst="rect">
            <a:avLst/>
          </a:prstGeom>
          <a:noFill/>
        </p:spPr>
        <p:txBody>
          <a:bodyPr wrap="square" lIns="0" rIns="0" tIns="0" bIns="0" anchor="t">
            <a:spAutoFit/>
          </a:bodyPr>
          <a:lstStyle/>
          <a:p>
            <a:pPr algn="l">
              <a:lnSpc>
                <a:spcPct val="100000"/>
              </a:lnSpc>
            </a:pPr>
            <a:r>
              <a:rPr sz="1800" b="1">
                <a:solidFill>
                  <a:srgbClr val="E2571B"/>
                </a:solidFill>
                <a:latin typeface="Noto Sans KR"/>
                <a:ea typeface="Noto Sans KR"/>
                <a:cs typeface="Noto Sans KR"/>
              </a:rPr>
              <a:t>SoftHand-4</a:t>
            </a:r>
          </a:p>
        </p:txBody>
      </p:sp>
      <p:sp>
        <p:nvSpPr>
          <p:cNvPr id="31" name="TextBox 30"/>
          <p:cNvSpPr txBox="1"/>
          <p:nvPr/>
        </p:nvSpPr>
        <p:spPr>
          <a:xfrm>
            <a:off x="8924315" y="2599791"/>
            <a:ext cx="2581579" cy="548640"/>
          </a:xfrm>
          <a:prstGeom prst="rect">
            <a:avLst/>
          </a:prstGeom>
          <a:noFill/>
        </p:spPr>
        <p:txBody>
          <a:bodyPr wrap="square" lIns="0" rIns="0" tIns="0" bIns="0" anchor="t">
            <a:spAutoFit/>
          </a:bodyPr>
          <a:lstStyle/>
          <a:p>
            <a:pPr algn="l">
              <a:lnSpc>
                <a:spcPct val="100000"/>
              </a:lnSpc>
            </a:pPr>
            <a:r>
              <a:rPr sz="1200" b="0">
                <a:solidFill>
                  <a:srgbClr val="4A4F57"/>
                </a:solidFill>
                <a:latin typeface="Noto Sans KR"/>
                <a:ea typeface="Noto Sans KR"/>
                <a:cs typeface="Noto Sans KR"/>
              </a:rPr>
              <a:t>사람용 장치를 핸드 교체 없이 조작 (목표)</a:t>
            </a:r>
          </a:p>
        </p:txBody>
      </p:sp>
      <p:cxnSp>
        <p:nvCxnSpPr>
          <p:cNvPr id="32" name="Connector 31"/>
          <p:cNvCxnSpPr/>
          <p:nvPr/>
        </p:nvCxnSpPr>
        <p:spPr>
          <a:xfrm>
            <a:off x="8924315" y="3194151"/>
            <a:ext cx="2581580" cy="0"/>
          </a:xfrm>
          <a:prstGeom prst="line">
            <a:avLst/>
          </a:prstGeom>
          <a:ln w="12700">
            <a:solidFill>
              <a:srgbClr val="15171A"/>
            </a:solidFill>
          </a:ln>
        </p:spPr>
      </p:cxnSp>
      <p:sp>
        <p:nvSpPr>
          <p:cNvPr id="33" name="TextBox 32"/>
          <p:cNvSpPr txBox="1"/>
          <p:nvPr/>
        </p:nvSpPr>
        <p:spPr>
          <a:xfrm>
            <a:off x="8924315" y="3303879"/>
            <a:ext cx="2581579" cy="219456"/>
          </a:xfrm>
          <a:prstGeom prst="rect">
            <a:avLst/>
          </a:prstGeom>
          <a:noFill/>
        </p:spPr>
        <p:txBody>
          <a:bodyPr wrap="square" lIns="0" rIns="0" tIns="0" bIns="0" anchor="t">
            <a:spAutoFit/>
          </a:bodyPr>
          <a:lstStyle/>
          <a:p>
            <a:pPr algn="l">
              <a:lnSpc>
                <a:spcPct val="100000"/>
              </a:lnSpc>
            </a:pPr>
            <a:r>
              <a:rPr sz="1100" b="0">
                <a:solidFill>
                  <a:srgbClr val="8C9198"/>
                </a:solidFill>
                <a:latin typeface="Noto Sans KR"/>
                <a:ea typeface="Noto Sans KR"/>
                <a:cs typeface="Noto Sans KR"/>
              </a:rPr>
              <a:t>강점</a:t>
            </a:r>
          </a:p>
        </p:txBody>
      </p:sp>
      <p:sp>
        <p:nvSpPr>
          <p:cNvPr id="34" name="TextBox 33"/>
          <p:cNvSpPr txBox="1"/>
          <p:nvPr/>
        </p:nvSpPr>
        <p:spPr>
          <a:xfrm>
            <a:off x="8924315" y="3541623"/>
            <a:ext cx="2581579" cy="548640"/>
          </a:xfrm>
          <a:prstGeom prst="rect">
            <a:avLst/>
          </a:prstGeom>
          <a:noFill/>
        </p:spPr>
        <p:txBody>
          <a:bodyPr wrap="square" lIns="0" rIns="0" tIns="0" bIns="0" anchor="t">
            <a:spAutoFit/>
          </a:bodyPr>
          <a:lstStyle/>
          <a:p>
            <a:pPr algn="l">
              <a:lnSpc>
                <a:spcPct val="100000"/>
              </a:lnSpc>
            </a:pPr>
            <a:r>
              <a:rPr sz="1300" b="0">
                <a:solidFill>
                  <a:srgbClr val="15171A"/>
                </a:solidFill>
                <a:latin typeface="Noto Sans KR"/>
                <a:ea typeface="Noto Sans KR"/>
                <a:cs typeface="Noto Sans KR"/>
              </a:rPr>
              <a:t>부품·문·레버를 핸드 하나로</a:t>
            </a:r>
          </a:p>
        </p:txBody>
      </p:sp>
      <p:cxnSp>
        <p:nvCxnSpPr>
          <p:cNvPr id="35" name="Connector 34"/>
          <p:cNvCxnSpPr/>
          <p:nvPr/>
        </p:nvCxnSpPr>
        <p:spPr>
          <a:xfrm>
            <a:off x="8924315" y="4090263"/>
            <a:ext cx="2581580" cy="0"/>
          </a:xfrm>
          <a:prstGeom prst="line">
            <a:avLst/>
          </a:prstGeom>
          <a:ln w="9525">
            <a:solidFill>
              <a:srgbClr val="E2E4E7"/>
            </a:solidFill>
          </a:ln>
        </p:spPr>
      </p:cxnSp>
      <p:sp>
        <p:nvSpPr>
          <p:cNvPr id="36" name="TextBox 35"/>
          <p:cNvSpPr txBox="1"/>
          <p:nvPr/>
        </p:nvSpPr>
        <p:spPr>
          <a:xfrm>
            <a:off x="8924315" y="4199991"/>
            <a:ext cx="2581579" cy="219456"/>
          </a:xfrm>
          <a:prstGeom prst="rect">
            <a:avLst/>
          </a:prstGeom>
          <a:noFill/>
        </p:spPr>
        <p:txBody>
          <a:bodyPr wrap="square" lIns="0" rIns="0" tIns="0" bIns="0" anchor="t">
            <a:spAutoFit/>
          </a:bodyPr>
          <a:lstStyle/>
          <a:p>
            <a:pPr algn="l">
              <a:lnSpc>
                <a:spcPct val="100000"/>
              </a:lnSpc>
            </a:pPr>
            <a:r>
              <a:rPr sz="1100" b="0">
                <a:solidFill>
                  <a:srgbClr val="8C9198"/>
                </a:solidFill>
                <a:latin typeface="Noto Sans KR"/>
                <a:ea typeface="Noto Sans KR"/>
                <a:cs typeface="Noto Sans KR"/>
              </a:rPr>
              <a:t>과제</a:t>
            </a:r>
          </a:p>
        </p:txBody>
      </p:sp>
      <p:sp>
        <p:nvSpPr>
          <p:cNvPr id="37" name="TextBox 36"/>
          <p:cNvSpPr txBox="1"/>
          <p:nvPr/>
        </p:nvSpPr>
        <p:spPr>
          <a:xfrm>
            <a:off x="8924315" y="4437735"/>
            <a:ext cx="2581579" cy="658368"/>
          </a:xfrm>
          <a:prstGeom prst="rect">
            <a:avLst/>
          </a:prstGeom>
          <a:noFill/>
        </p:spPr>
        <p:txBody>
          <a:bodyPr wrap="square" lIns="0" rIns="0" tIns="0" bIns="0" anchor="t">
            <a:spAutoFit/>
          </a:bodyPr>
          <a:lstStyle/>
          <a:p>
            <a:pPr algn="l">
              <a:lnSpc>
                <a:spcPct val="100000"/>
              </a:lnSpc>
            </a:pPr>
            <a:r>
              <a:rPr sz="1300" b="0">
                <a:solidFill>
                  <a:srgbClr val="15171A"/>
                </a:solidFill>
                <a:latin typeface="Noto Sans KR"/>
                <a:ea typeface="Noto Sans KR"/>
                <a:cs typeface="Noto Sans KR"/>
              </a:rPr>
              <a:t>산업 내구성·재사용 스킬, Seed 기간 검증</a:t>
            </a:r>
          </a:p>
        </p:txBody>
      </p:sp>
      <p:sp>
        <p:nvSpPr>
          <p:cNvPr id="38" name="TextBox 37"/>
          <p:cNvSpPr txBox="1"/>
          <p:nvPr/>
        </p:nvSpPr>
        <p:spPr>
          <a:xfrm>
            <a:off x="685800" y="5434431"/>
            <a:ext cx="10820095" cy="274320"/>
          </a:xfrm>
          <a:prstGeom prst="rect">
            <a:avLst/>
          </a:prstGeom>
          <a:noFill/>
        </p:spPr>
        <p:txBody>
          <a:bodyPr wrap="square" lIns="0" rIns="0" tIns="0" bIns="0" anchor="t">
            <a:spAutoFit/>
          </a:bodyPr>
          <a:lstStyle/>
          <a:p>
            <a:pPr algn="l">
              <a:lnSpc>
                <a:spcPct val="100000"/>
              </a:lnSpc>
            </a:pPr>
            <a:r>
              <a:rPr sz="1200" b="1">
                <a:solidFill>
                  <a:srgbClr val="E2571B"/>
                </a:solidFill>
                <a:latin typeface="Noto Sans KR"/>
                <a:ea typeface="Noto Sans KR"/>
                <a:cs typeface="Noto Sans KR"/>
              </a:rPr>
              <a:t>Seed 기간 증명 항목</a:t>
            </a:r>
          </a:p>
        </p:txBody>
      </p:sp>
      <p:sp>
        <p:nvSpPr>
          <p:cNvPr id="39" name="TextBox 38"/>
          <p:cNvSpPr txBox="1"/>
          <p:nvPr/>
        </p:nvSpPr>
        <p:spPr>
          <a:xfrm>
            <a:off x="685800" y="5745327"/>
            <a:ext cx="2522143" cy="274320"/>
          </a:xfrm>
          <a:prstGeom prst="rect">
            <a:avLst/>
          </a:prstGeom>
          <a:noFill/>
        </p:spPr>
        <p:txBody>
          <a:bodyPr wrap="square" lIns="0" rIns="0" tIns="0" bIns="0" anchor="t">
            <a:spAutoFit/>
          </a:bodyPr>
          <a:lstStyle/>
          <a:p>
            <a:pPr algn="l">
              <a:lnSpc>
                <a:spcPct val="100000"/>
              </a:lnSpc>
            </a:pPr>
            <a:r>
              <a:rPr sz="1400" b="1">
                <a:solidFill>
                  <a:srgbClr val="15171A"/>
                </a:solidFill>
                <a:latin typeface="Noto Sans KR"/>
                <a:ea typeface="Noto Sans KR"/>
                <a:cs typeface="Noto Sans KR"/>
              </a:rPr>
              <a:t>동일 조건 비교시험</a:t>
            </a:r>
          </a:p>
        </p:txBody>
      </p:sp>
      <p:sp>
        <p:nvSpPr>
          <p:cNvPr id="40" name="TextBox 39"/>
          <p:cNvSpPr txBox="1"/>
          <p:nvPr/>
        </p:nvSpPr>
        <p:spPr>
          <a:xfrm>
            <a:off x="685800" y="6037935"/>
            <a:ext cx="2522143" cy="274320"/>
          </a:xfrm>
          <a:prstGeom prst="rect">
            <a:avLst/>
          </a:prstGeom>
          <a:noFill/>
        </p:spPr>
        <p:txBody>
          <a:bodyPr wrap="square" lIns="0" rIns="0" tIns="0" bIns="0" anchor="t">
            <a:spAutoFit/>
          </a:bodyPr>
          <a:lstStyle/>
          <a:p>
            <a:pPr algn="l">
              <a:lnSpc>
                <a:spcPct val="100000"/>
              </a:lnSpc>
            </a:pPr>
            <a:r>
              <a:rPr sz="1100" b="0">
                <a:solidFill>
                  <a:srgbClr val="4A4F57"/>
                </a:solidFill>
                <a:latin typeface="Noto Sans KR"/>
                <a:ea typeface="Noto Sans KR"/>
                <a:cs typeface="Noto Sans KR"/>
              </a:rPr>
              <a:t>같은 작업·같은 로봇, 전용 그리퍼 대비</a:t>
            </a:r>
          </a:p>
        </p:txBody>
      </p:sp>
      <p:sp>
        <p:nvSpPr>
          <p:cNvPr id="41" name="TextBox 40"/>
          <p:cNvSpPr txBox="1"/>
          <p:nvPr/>
        </p:nvSpPr>
        <p:spPr>
          <a:xfrm>
            <a:off x="3390823" y="5745327"/>
            <a:ext cx="2522143" cy="274320"/>
          </a:xfrm>
          <a:prstGeom prst="rect">
            <a:avLst/>
          </a:prstGeom>
          <a:noFill/>
        </p:spPr>
        <p:txBody>
          <a:bodyPr wrap="square" lIns="0" rIns="0" tIns="0" bIns="0" anchor="t">
            <a:spAutoFit/>
          </a:bodyPr>
          <a:lstStyle/>
          <a:p>
            <a:pPr algn="l">
              <a:lnSpc>
                <a:spcPct val="100000"/>
              </a:lnSpc>
            </a:pPr>
            <a:r>
              <a:rPr sz="1400" b="1">
                <a:solidFill>
                  <a:srgbClr val="15171A"/>
                </a:solidFill>
                <a:latin typeface="Noto Sans KR"/>
                <a:ea typeface="Noto Sans KR"/>
                <a:cs typeface="Noto Sans KR"/>
              </a:rPr>
              <a:t>승인 작업 완료율 95%+</a:t>
            </a:r>
          </a:p>
        </p:txBody>
      </p:sp>
      <p:sp>
        <p:nvSpPr>
          <p:cNvPr id="42" name="TextBox 41"/>
          <p:cNvSpPr txBox="1"/>
          <p:nvPr/>
        </p:nvSpPr>
        <p:spPr>
          <a:xfrm>
            <a:off x="3390823" y="6037935"/>
            <a:ext cx="2522143" cy="274320"/>
          </a:xfrm>
          <a:prstGeom prst="rect">
            <a:avLst/>
          </a:prstGeom>
          <a:noFill/>
        </p:spPr>
        <p:txBody>
          <a:bodyPr wrap="square" lIns="0" rIns="0" tIns="0" bIns="0" anchor="t">
            <a:spAutoFit/>
          </a:bodyPr>
          <a:lstStyle/>
          <a:p>
            <a:pPr algn="l">
              <a:lnSpc>
                <a:spcPct val="100000"/>
              </a:lnSpc>
            </a:pPr>
            <a:r>
              <a:rPr sz="1100" b="0">
                <a:solidFill>
                  <a:srgbClr val="4A4F57"/>
                </a:solidFill>
                <a:latin typeface="Noto Sans KR"/>
                <a:ea typeface="Noto Sans KR"/>
                <a:cs typeface="Noto Sans KR"/>
              </a:rPr>
              <a:t>목표, 최초 시도·재시도 분리 보고</a:t>
            </a:r>
          </a:p>
        </p:txBody>
      </p:sp>
      <p:sp>
        <p:nvSpPr>
          <p:cNvPr id="43" name="TextBox 42"/>
          <p:cNvSpPr txBox="1"/>
          <p:nvPr/>
        </p:nvSpPr>
        <p:spPr>
          <a:xfrm>
            <a:off x="6095847" y="5745327"/>
            <a:ext cx="2522143" cy="274320"/>
          </a:xfrm>
          <a:prstGeom prst="rect">
            <a:avLst/>
          </a:prstGeom>
          <a:noFill/>
        </p:spPr>
        <p:txBody>
          <a:bodyPr wrap="square" lIns="0" rIns="0" tIns="0" bIns="0" anchor="t">
            <a:spAutoFit/>
          </a:bodyPr>
          <a:lstStyle/>
          <a:p>
            <a:pPr algn="l">
              <a:lnSpc>
                <a:spcPct val="100000"/>
              </a:lnSpc>
            </a:pPr>
            <a:r>
              <a:rPr sz="1400" b="1">
                <a:solidFill>
                  <a:srgbClr val="15171A"/>
                </a:solidFill>
                <a:latin typeface="Noto Sans KR"/>
                <a:ea typeface="Noto Sans KR"/>
                <a:cs typeface="Noto Sans KR"/>
              </a:rPr>
              <a:t>내구성 30만 회</a:t>
            </a:r>
          </a:p>
        </p:txBody>
      </p:sp>
      <p:sp>
        <p:nvSpPr>
          <p:cNvPr id="44" name="TextBox 43"/>
          <p:cNvSpPr txBox="1"/>
          <p:nvPr/>
        </p:nvSpPr>
        <p:spPr>
          <a:xfrm>
            <a:off x="6095847" y="6037935"/>
            <a:ext cx="2522143" cy="274320"/>
          </a:xfrm>
          <a:prstGeom prst="rect">
            <a:avLst/>
          </a:prstGeom>
          <a:noFill/>
        </p:spPr>
        <p:txBody>
          <a:bodyPr wrap="square" lIns="0" rIns="0" tIns="0" bIns="0" anchor="t">
            <a:spAutoFit/>
          </a:bodyPr>
          <a:lstStyle/>
          <a:p>
            <a:pPr algn="l">
              <a:lnSpc>
                <a:spcPct val="100000"/>
              </a:lnSpc>
            </a:pPr>
            <a:r>
              <a:rPr sz="1100" b="0">
                <a:solidFill>
                  <a:srgbClr val="4A4F57"/>
                </a:solidFill>
                <a:latin typeface="Noto Sans KR"/>
                <a:ea typeface="Noto Sans KR"/>
                <a:cs typeface="Noto Sans KR"/>
              </a:rPr>
              <a:t>반복 개폐 목표, 패드 교체 주기 명시</a:t>
            </a:r>
          </a:p>
        </p:txBody>
      </p:sp>
      <p:sp>
        <p:nvSpPr>
          <p:cNvPr id="45" name="TextBox 44"/>
          <p:cNvSpPr txBox="1"/>
          <p:nvPr/>
        </p:nvSpPr>
        <p:spPr>
          <a:xfrm>
            <a:off x="8800871" y="5745327"/>
            <a:ext cx="2522143" cy="274320"/>
          </a:xfrm>
          <a:prstGeom prst="rect">
            <a:avLst/>
          </a:prstGeom>
          <a:noFill/>
        </p:spPr>
        <p:txBody>
          <a:bodyPr wrap="square" lIns="0" rIns="0" tIns="0" bIns="0" anchor="t">
            <a:spAutoFit/>
          </a:bodyPr>
          <a:lstStyle/>
          <a:p>
            <a:pPr algn="l">
              <a:lnSpc>
                <a:spcPct val="100000"/>
              </a:lnSpc>
            </a:pPr>
            <a:r>
              <a:rPr sz="1400" b="1">
                <a:solidFill>
                  <a:srgbClr val="15171A"/>
                </a:solidFill>
                <a:latin typeface="Noto Sans KR"/>
                <a:ea typeface="Noto Sans KR"/>
                <a:cs typeface="Noto Sans KR"/>
              </a:rPr>
              <a:t>총비용 비교</a:t>
            </a:r>
          </a:p>
        </p:txBody>
      </p:sp>
      <p:sp>
        <p:nvSpPr>
          <p:cNvPr id="46" name="TextBox 45"/>
          <p:cNvSpPr txBox="1"/>
          <p:nvPr/>
        </p:nvSpPr>
        <p:spPr>
          <a:xfrm>
            <a:off x="8800871" y="6037935"/>
            <a:ext cx="2522143" cy="274320"/>
          </a:xfrm>
          <a:prstGeom prst="rect">
            <a:avLst/>
          </a:prstGeom>
          <a:noFill/>
        </p:spPr>
        <p:txBody>
          <a:bodyPr wrap="square" lIns="0" rIns="0" tIns="0" bIns="0" anchor="t">
            <a:spAutoFit/>
          </a:bodyPr>
          <a:lstStyle/>
          <a:p>
            <a:pPr algn="l">
              <a:lnSpc>
                <a:spcPct val="100000"/>
              </a:lnSpc>
            </a:pPr>
            <a:r>
              <a:rPr sz="1100" b="0">
                <a:solidFill>
                  <a:srgbClr val="4A4F57"/>
                </a:solidFill>
                <a:latin typeface="Noto Sans KR"/>
                <a:ea typeface="Noto Sans KR"/>
                <a:cs typeface="Noto Sans KR"/>
              </a:rPr>
              <a:t>전용 그리퍼 N개 + 엔지니어링 대비</a:t>
            </a:r>
          </a:p>
        </p:txBody>
      </p:sp>
      <p:sp>
        <p:nvSpPr>
          <p:cNvPr id="47" name="TextBox 46"/>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SoftHand-4  |  Seed 투자 제안서</a:t>
            </a:r>
          </a:p>
        </p:txBody>
      </p:sp>
      <p:sp>
        <p:nvSpPr>
          <p:cNvPr id="48" name="TextBox 47"/>
          <p:cNvSpPr txBox="1"/>
          <p:nvPr/>
        </p:nvSpPr>
        <p:spPr>
          <a:xfrm>
            <a:off x="3154680" y="6446520"/>
            <a:ext cx="7802575"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공개 정보 기반 정성 비교, 독립 비교시험 아님 · 회사명·상세 사양은 부록 A3</a:t>
            </a:r>
          </a:p>
        </p:txBody>
      </p:sp>
      <p:sp>
        <p:nvSpPr>
          <p:cNvPr id="49" name="TextBox 48"/>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48640"/>
            <a:ext cx="7315200" cy="274320"/>
          </a:xfrm>
          <a:prstGeom prst="rect">
            <a:avLst/>
          </a:prstGeom>
          <a:noFill/>
        </p:spPr>
        <p:txBody>
          <a:bodyPr wrap="square" lIns="0" rIns="0" tIns="0" bIns="0" anchor="t">
            <a:spAutoFit/>
          </a:bodyPr>
          <a:lstStyle/>
          <a:p>
            <a:pPr algn="l">
              <a:lnSpc>
                <a:spcPct val="100000"/>
              </a:lnSpc>
            </a:pPr>
            <a:r>
              <a:rPr sz="1200" b="1">
                <a:solidFill>
                  <a:srgbClr val="E2571B"/>
                </a:solidFill>
                <a:latin typeface="Noto Sans KR"/>
                <a:ea typeface="Noto Sans KR"/>
                <a:cs typeface="Noto Sans KR"/>
              </a:rPr>
              <a:t>재무 계획</a:t>
            </a:r>
          </a:p>
        </p:txBody>
      </p:sp>
      <p:sp>
        <p:nvSpPr>
          <p:cNvPr id="3" name="TextBox 2"/>
          <p:cNvSpPr txBox="1"/>
          <p:nvPr/>
        </p:nvSpPr>
        <p:spPr>
          <a:xfrm>
            <a:off x="685800" y="932688"/>
            <a:ext cx="10820095" cy="542391"/>
          </a:xfrm>
          <a:prstGeom prst="rect">
            <a:avLst/>
          </a:prstGeom>
          <a:noFill/>
        </p:spPr>
        <p:txBody>
          <a:bodyPr wrap="square" lIns="0" rIns="0" tIns="0" bIns="0" anchor="t">
            <a:spAutoFit/>
          </a:bodyPr>
          <a:lstStyle/>
          <a:p>
            <a:pPr algn="l">
              <a:lnSpc>
                <a:spcPct val="95000"/>
              </a:lnSpc>
            </a:pPr>
            <a:r>
              <a:rPr sz="3000" b="1">
                <a:solidFill>
                  <a:srgbClr val="15171A"/>
                </a:solidFill>
                <a:latin typeface="Noto Sans KR"/>
                <a:ea typeface="Noto Sans KR"/>
                <a:cs typeface="Noto Sans KR"/>
              </a:rPr>
              <a:t>5년차 매출 44.7억 원, 손익분기 근접</a:t>
            </a:r>
          </a:p>
        </p:txBody>
      </p:sp>
      <p:sp>
        <p:nvSpPr>
          <p:cNvPr id="4" name="TextBox 3"/>
          <p:cNvSpPr txBox="1"/>
          <p:nvPr/>
        </p:nvSpPr>
        <p:spPr>
          <a:xfrm>
            <a:off x="685800" y="1584807"/>
            <a:ext cx="10820095" cy="329184"/>
          </a:xfrm>
          <a:prstGeom prst="rect">
            <a:avLst/>
          </a:prstGeom>
          <a:noFill/>
        </p:spPr>
        <p:txBody>
          <a:bodyPr wrap="square" lIns="0" rIns="0" tIns="0" bIns="0" anchor="t">
            <a:spAutoFit/>
          </a:bodyPr>
          <a:lstStyle/>
          <a:p>
            <a:pPr algn="l">
              <a:lnSpc>
                <a:spcPct val="100000"/>
              </a:lnSpc>
            </a:pPr>
            <a:r>
              <a:rPr sz="1600" b="0">
                <a:solidFill>
                  <a:srgbClr val="4A4F57"/>
                </a:solidFill>
                <a:latin typeface="Noto Sans KR"/>
                <a:ea typeface="Noto Sans KR"/>
                <a:cs typeface="Noto Sans KR"/>
              </a:rPr>
              <a:t>기본 시나리오: 주방·로봇 제조사(OEM) 매출 0원, 모든 수치는 검증 전 가정</a:t>
            </a:r>
          </a:p>
        </p:txBody>
      </p:sp>
      <p:sp>
        <p:nvSpPr>
          <p:cNvPr id="5" name="TextBox 4"/>
          <p:cNvSpPr txBox="1"/>
          <p:nvPr/>
        </p:nvSpPr>
        <p:spPr>
          <a:xfrm>
            <a:off x="685800" y="2096871"/>
            <a:ext cx="3657600" cy="274320"/>
          </a:xfrm>
          <a:prstGeom prst="rect">
            <a:avLst/>
          </a:prstGeom>
          <a:noFill/>
        </p:spPr>
        <p:txBody>
          <a:bodyPr wrap="square" lIns="0" rIns="0" tIns="0" bIns="0" anchor="t">
            <a:spAutoFit/>
          </a:bodyPr>
          <a:lstStyle/>
          <a:p>
            <a:pPr algn="l">
              <a:lnSpc>
                <a:spcPct val="100000"/>
              </a:lnSpc>
            </a:pPr>
            <a:r>
              <a:rPr sz="1200" b="1">
                <a:solidFill>
                  <a:srgbClr val="8C9198"/>
                </a:solidFill>
                <a:latin typeface="Noto Sans KR"/>
                <a:ea typeface="Noto Sans KR"/>
                <a:cs typeface="Noto Sans KR"/>
              </a:rPr>
              <a:t>연도별 매출 (억 원)</a:t>
            </a:r>
          </a:p>
        </p:txBody>
      </p:sp>
      <p:sp>
        <p:nvSpPr>
          <p:cNvPr id="6" name="Rectangle 5"/>
          <p:cNvSpPr/>
          <p:nvPr/>
        </p:nvSpPr>
        <p:spPr>
          <a:xfrm>
            <a:off x="685800" y="2462631"/>
            <a:ext cx="118872" cy="118872"/>
          </a:xfrm>
          <a:prstGeom prst="rect">
            <a:avLst/>
          </a:prstGeom>
          <a:solidFill>
            <a:srgbClr val="C9CDD2"/>
          </a:solidFill>
          <a:ln>
            <a:noFill/>
          </a:ln>
        </p:spPr>
        <p:txBody>
          <a:bodyPr rtlCol="0" anchor="ctr"/>
          <a:lstStyle/>
          <a:p>
            <a:pPr algn="ctr"/>
          </a:p>
        </p:txBody>
      </p:sp>
      <p:sp>
        <p:nvSpPr>
          <p:cNvPr id="7" name="TextBox 6"/>
          <p:cNvSpPr txBox="1"/>
          <p:nvPr/>
        </p:nvSpPr>
        <p:spPr>
          <a:xfrm>
            <a:off x="868680" y="2389479"/>
            <a:ext cx="2926080" cy="256032"/>
          </a:xfrm>
          <a:prstGeom prst="rect">
            <a:avLst/>
          </a:prstGeom>
          <a:noFill/>
        </p:spPr>
        <p:txBody>
          <a:bodyPr wrap="square" lIns="0" rIns="0" tIns="0" bIns="0" anchor="t">
            <a:spAutoFit/>
          </a:bodyPr>
          <a:lstStyle/>
          <a:p>
            <a:pPr algn="l">
              <a:lnSpc>
                <a:spcPct val="100000"/>
              </a:lnSpc>
            </a:pPr>
            <a:r>
              <a:rPr sz="1100" b="0">
                <a:solidFill>
                  <a:srgbClr val="4A4F57"/>
                </a:solidFill>
                <a:latin typeface="Noto Sans KR"/>
                <a:ea typeface="Noto Sans KR"/>
                <a:cs typeface="Noto Sans KR"/>
              </a:rPr>
              <a:t>고객별 엔지니어링 (PoC·통합)</a:t>
            </a:r>
          </a:p>
        </p:txBody>
      </p:sp>
      <p:sp>
        <p:nvSpPr>
          <p:cNvPr id="8" name="Rectangle 7"/>
          <p:cNvSpPr/>
          <p:nvPr/>
        </p:nvSpPr>
        <p:spPr>
          <a:xfrm>
            <a:off x="3050279" y="2462631"/>
            <a:ext cx="118872" cy="118872"/>
          </a:xfrm>
          <a:prstGeom prst="rect">
            <a:avLst/>
          </a:prstGeom>
          <a:solidFill>
            <a:srgbClr val="E2571B"/>
          </a:solidFill>
          <a:ln>
            <a:noFill/>
          </a:ln>
        </p:spPr>
        <p:txBody>
          <a:bodyPr rtlCol="0" anchor="ctr"/>
          <a:lstStyle/>
          <a:p>
            <a:pPr algn="ctr"/>
          </a:p>
        </p:txBody>
      </p:sp>
      <p:sp>
        <p:nvSpPr>
          <p:cNvPr id="9" name="TextBox 8"/>
          <p:cNvSpPr txBox="1"/>
          <p:nvPr/>
        </p:nvSpPr>
        <p:spPr>
          <a:xfrm>
            <a:off x="3233159" y="2389479"/>
            <a:ext cx="2926080" cy="256032"/>
          </a:xfrm>
          <a:prstGeom prst="rect">
            <a:avLst/>
          </a:prstGeom>
          <a:noFill/>
        </p:spPr>
        <p:txBody>
          <a:bodyPr wrap="square" lIns="0" rIns="0" tIns="0" bIns="0" anchor="t">
            <a:spAutoFit/>
          </a:bodyPr>
          <a:lstStyle/>
          <a:p>
            <a:pPr algn="l">
              <a:lnSpc>
                <a:spcPct val="100000"/>
              </a:lnSpc>
            </a:pPr>
            <a:r>
              <a:rPr sz="1100" b="0">
                <a:solidFill>
                  <a:srgbClr val="4A4F57"/>
                </a:solidFill>
                <a:latin typeface="Noto Sans KR"/>
                <a:ea typeface="Noto Sans KR"/>
                <a:cs typeface="Noto Sans KR"/>
              </a:rPr>
              <a:t>재사용 매출 (핸드·스킬·런타임·파트너)</a:t>
            </a:r>
          </a:p>
        </p:txBody>
      </p:sp>
      <p:graphicFrame>
        <p:nvGraphicFramePr>
          <p:cNvPr id="10" name="Chart 9"/>
          <p:cNvGraphicFramePr>
            <a:graphicFrameLocks noGrp="1"/>
          </p:cNvGraphicFramePr>
          <p:nvPr/>
        </p:nvGraphicFramePr>
        <p:xfrm>
          <a:off x="685800" y="2782671"/>
          <a:ext cx="5577840" cy="3154680"/>
        </p:xfrm>
        <a:graphic>
          <a:graphicData uri="http://schemas.openxmlformats.org/drawingml/2006/chart">
            <c:chart xmlns:c="http://schemas.openxmlformats.org/drawingml/2006/chart" r:id="rId2"/>
          </a:graphicData>
        </a:graphic>
      </p:graphicFrame>
      <p:sp>
        <p:nvSpPr>
          <p:cNvPr id="11" name="TextBox 10"/>
          <p:cNvSpPr txBox="1"/>
          <p:nvPr/>
        </p:nvSpPr>
        <p:spPr>
          <a:xfrm>
            <a:off x="692749" y="5695035"/>
            <a:ext cx="1280160" cy="274320"/>
          </a:xfrm>
          <a:prstGeom prst="rect">
            <a:avLst/>
          </a:prstGeom>
          <a:noFill/>
        </p:spPr>
        <p:txBody>
          <a:bodyPr wrap="square" lIns="0" rIns="0" tIns="0" bIns="0" anchor="t">
            <a:spAutoFit/>
          </a:bodyPr>
          <a:lstStyle/>
          <a:p>
            <a:pPr algn="ctr">
              <a:lnSpc>
                <a:spcPct val="100000"/>
              </a:lnSpc>
            </a:pPr>
            <a:r>
              <a:rPr sz="1200" b="0">
                <a:solidFill>
                  <a:srgbClr val="4A4F57"/>
                </a:solidFill>
                <a:latin typeface="Noto Sans KR"/>
                <a:ea typeface="Noto Sans KR"/>
                <a:cs typeface="Noto Sans KR"/>
              </a:rPr>
              <a:t>1년차</a:t>
            </a:r>
          </a:p>
        </p:txBody>
      </p:sp>
      <p:sp>
        <p:nvSpPr>
          <p:cNvPr id="12" name="TextBox 11"/>
          <p:cNvSpPr txBox="1"/>
          <p:nvPr/>
        </p:nvSpPr>
        <p:spPr>
          <a:xfrm>
            <a:off x="1763694" y="5695035"/>
            <a:ext cx="1280160" cy="274320"/>
          </a:xfrm>
          <a:prstGeom prst="rect">
            <a:avLst/>
          </a:prstGeom>
          <a:noFill/>
        </p:spPr>
        <p:txBody>
          <a:bodyPr wrap="square" lIns="0" rIns="0" tIns="0" bIns="0" anchor="t">
            <a:spAutoFit/>
          </a:bodyPr>
          <a:lstStyle/>
          <a:p>
            <a:pPr algn="ctr">
              <a:lnSpc>
                <a:spcPct val="100000"/>
              </a:lnSpc>
            </a:pPr>
            <a:r>
              <a:rPr sz="1200" b="0">
                <a:solidFill>
                  <a:srgbClr val="4A4F57"/>
                </a:solidFill>
                <a:latin typeface="Noto Sans KR"/>
                <a:ea typeface="Noto Sans KR"/>
                <a:cs typeface="Noto Sans KR"/>
              </a:rPr>
              <a:t>2년차</a:t>
            </a:r>
          </a:p>
        </p:txBody>
      </p:sp>
      <p:sp>
        <p:nvSpPr>
          <p:cNvPr id="13" name="TextBox 12"/>
          <p:cNvSpPr txBox="1"/>
          <p:nvPr/>
        </p:nvSpPr>
        <p:spPr>
          <a:xfrm>
            <a:off x="2834639" y="5695035"/>
            <a:ext cx="1280160" cy="274320"/>
          </a:xfrm>
          <a:prstGeom prst="rect">
            <a:avLst/>
          </a:prstGeom>
          <a:noFill/>
        </p:spPr>
        <p:txBody>
          <a:bodyPr wrap="square" lIns="0" rIns="0" tIns="0" bIns="0" anchor="t">
            <a:spAutoFit/>
          </a:bodyPr>
          <a:lstStyle/>
          <a:p>
            <a:pPr algn="ctr">
              <a:lnSpc>
                <a:spcPct val="100000"/>
              </a:lnSpc>
            </a:pPr>
            <a:r>
              <a:rPr sz="1200" b="0">
                <a:solidFill>
                  <a:srgbClr val="4A4F57"/>
                </a:solidFill>
                <a:latin typeface="Noto Sans KR"/>
                <a:ea typeface="Noto Sans KR"/>
                <a:cs typeface="Noto Sans KR"/>
              </a:rPr>
              <a:t>3년차</a:t>
            </a:r>
          </a:p>
        </p:txBody>
      </p:sp>
      <p:sp>
        <p:nvSpPr>
          <p:cNvPr id="14" name="TextBox 13"/>
          <p:cNvSpPr txBox="1"/>
          <p:nvPr/>
        </p:nvSpPr>
        <p:spPr>
          <a:xfrm>
            <a:off x="3905585" y="5695035"/>
            <a:ext cx="1280160" cy="274320"/>
          </a:xfrm>
          <a:prstGeom prst="rect">
            <a:avLst/>
          </a:prstGeom>
          <a:noFill/>
        </p:spPr>
        <p:txBody>
          <a:bodyPr wrap="square" lIns="0" rIns="0" tIns="0" bIns="0" anchor="t">
            <a:spAutoFit/>
          </a:bodyPr>
          <a:lstStyle/>
          <a:p>
            <a:pPr algn="ctr">
              <a:lnSpc>
                <a:spcPct val="100000"/>
              </a:lnSpc>
            </a:pPr>
            <a:r>
              <a:rPr sz="1200" b="0">
                <a:solidFill>
                  <a:srgbClr val="4A4F57"/>
                </a:solidFill>
                <a:latin typeface="Noto Sans KR"/>
                <a:ea typeface="Noto Sans KR"/>
                <a:cs typeface="Noto Sans KR"/>
              </a:rPr>
              <a:t>4년차</a:t>
            </a:r>
          </a:p>
        </p:txBody>
      </p:sp>
      <p:sp>
        <p:nvSpPr>
          <p:cNvPr id="15" name="TextBox 14"/>
          <p:cNvSpPr txBox="1"/>
          <p:nvPr/>
        </p:nvSpPr>
        <p:spPr>
          <a:xfrm>
            <a:off x="4976530" y="5695035"/>
            <a:ext cx="1280160" cy="274320"/>
          </a:xfrm>
          <a:prstGeom prst="rect">
            <a:avLst/>
          </a:prstGeom>
          <a:noFill/>
        </p:spPr>
        <p:txBody>
          <a:bodyPr wrap="square" lIns="0" rIns="0" tIns="0" bIns="0" anchor="t">
            <a:spAutoFit/>
          </a:bodyPr>
          <a:lstStyle/>
          <a:p>
            <a:pPr algn="ctr">
              <a:lnSpc>
                <a:spcPct val="100000"/>
              </a:lnSpc>
            </a:pPr>
            <a:r>
              <a:rPr sz="1200" b="0">
                <a:solidFill>
                  <a:srgbClr val="4A4F57"/>
                </a:solidFill>
                <a:latin typeface="Noto Sans KR"/>
                <a:ea typeface="Noto Sans KR"/>
                <a:cs typeface="Noto Sans KR"/>
              </a:rPr>
              <a:t>5년차</a:t>
            </a:r>
          </a:p>
        </p:txBody>
      </p:sp>
      <p:sp>
        <p:nvSpPr>
          <p:cNvPr id="16" name="TextBox 15"/>
          <p:cNvSpPr txBox="1"/>
          <p:nvPr/>
        </p:nvSpPr>
        <p:spPr>
          <a:xfrm>
            <a:off x="784189" y="5285750"/>
            <a:ext cx="1097280" cy="274320"/>
          </a:xfrm>
          <a:prstGeom prst="rect">
            <a:avLst/>
          </a:prstGeom>
          <a:noFill/>
        </p:spPr>
        <p:txBody>
          <a:bodyPr wrap="square" lIns="0" rIns="0" tIns="0" bIns="0" anchor="t">
            <a:spAutoFit/>
          </a:bodyPr>
          <a:lstStyle/>
          <a:p>
            <a:pPr algn="ctr">
              <a:lnSpc>
                <a:spcPct val="100000"/>
              </a:lnSpc>
            </a:pPr>
            <a:r>
              <a:rPr sz="1300" b="1">
                <a:solidFill>
                  <a:srgbClr val="15171A"/>
                </a:solidFill>
                <a:latin typeface="Noto Sans KR"/>
                <a:ea typeface="Noto Sans KR"/>
                <a:cs typeface="Noto Sans KR"/>
              </a:rPr>
              <a:t>0.5</a:t>
            </a:r>
          </a:p>
        </p:txBody>
      </p:sp>
      <p:sp>
        <p:nvSpPr>
          <p:cNvPr id="17" name="TextBox 16"/>
          <p:cNvSpPr txBox="1"/>
          <p:nvPr/>
        </p:nvSpPr>
        <p:spPr>
          <a:xfrm>
            <a:off x="1855134" y="5112873"/>
            <a:ext cx="1097280" cy="274320"/>
          </a:xfrm>
          <a:prstGeom prst="rect">
            <a:avLst/>
          </a:prstGeom>
          <a:noFill/>
        </p:spPr>
        <p:txBody>
          <a:bodyPr wrap="square" lIns="0" rIns="0" tIns="0" bIns="0" anchor="t">
            <a:spAutoFit/>
          </a:bodyPr>
          <a:lstStyle/>
          <a:p>
            <a:pPr algn="ctr">
              <a:lnSpc>
                <a:spcPct val="100000"/>
              </a:lnSpc>
            </a:pPr>
            <a:r>
              <a:rPr sz="1300" b="1">
                <a:solidFill>
                  <a:srgbClr val="15171A"/>
                </a:solidFill>
                <a:latin typeface="Noto Sans KR"/>
                <a:ea typeface="Noto Sans KR"/>
                <a:cs typeface="Noto Sans KR"/>
              </a:rPr>
              <a:t>3.9</a:t>
            </a:r>
          </a:p>
        </p:txBody>
      </p:sp>
      <p:sp>
        <p:nvSpPr>
          <p:cNvPr id="18" name="TextBox 17"/>
          <p:cNvSpPr txBox="1"/>
          <p:nvPr/>
        </p:nvSpPr>
        <p:spPr>
          <a:xfrm>
            <a:off x="2926079" y="4730041"/>
            <a:ext cx="1097280" cy="274320"/>
          </a:xfrm>
          <a:prstGeom prst="rect">
            <a:avLst/>
          </a:prstGeom>
          <a:noFill/>
        </p:spPr>
        <p:txBody>
          <a:bodyPr wrap="square" lIns="0" rIns="0" tIns="0" bIns="0" anchor="t">
            <a:spAutoFit/>
          </a:bodyPr>
          <a:lstStyle/>
          <a:p>
            <a:pPr algn="ctr">
              <a:lnSpc>
                <a:spcPct val="100000"/>
              </a:lnSpc>
            </a:pPr>
            <a:r>
              <a:rPr sz="1300" b="1">
                <a:solidFill>
                  <a:srgbClr val="15171A"/>
                </a:solidFill>
                <a:latin typeface="Noto Sans KR"/>
                <a:ea typeface="Noto Sans KR"/>
                <a:cs typeface="Noto Sans KR"/>
              </a:rPr>
              <a:t>11.5</a:t>
            </a:r>
          </a:p>
        </p:txBody>
      </p:sp>
      <p:sp>
        <p:nvSpPr>
          <p:cNvPr id="19" name="TextBox 18"/>
          <p:cNvSpPr txBox="1"/>
          <p:nvPr/>
        </p:nvSpPr>
        <p:spPr>
          <a:xfrm>
            <a:off x="3997025" y="4056182"/>
            <a:ext cx="1097280" cy="274320"/>
          </a:xfrm>
          <a:prstGeom prst="rect">
            <a:avLst/>
          </a:prstGeom>
          <a:noFill/>
        </p:spPr>
        <p:txBody>
          <a:bodyPr wrap="square" lIns="0" rIns="0" tIns="0" bIns="0" anchor="t">
            <a:spAutoFit/>
          </a:bodyPr>
          <a:lstStyle/>
          <a:p>
            <a:pPr algn="ctr">
              <a:lnSpc>
                <a:spcPct val="100000"/>
              </a:lnSpc>
            </a:pPr>
            <a:r>
              <a:rPr sz="1300" b="1">
                <a:solidFill>
                  <a:srgbClr val="15171A"/>
                </a:solidFill>
                <a:latin typeface="Noto Sans KR"/>
                <a:ea typeface="Noto Sans KR"/>
                <a:cs typeface="Noto Sans KR"/>
              </a:rPr>
              <a:t>24.9</a:t>
            </a:r>
          </a:p>
        </p:txBody>
      </p:sp>
      <p:sp>
        <p:nvSpPr>
          <p:cNvPr id="20" name="TextBox 19"/>
          <p:cNvSpPr txBox="1"/>
          <p:nvPr/>
        </p:nvSpPr>
        <p:spPr>
          <a:xfrm>
            <a:off x="5067970" y="3055870"/>
            <a:ext cx="1097280" cy="274320"/>
          </a:xfrm>
          <a:prstGeom prst="rect">
            <a:avLst/>
          </a:prstGeom>
          <a:noFill/>
        </p:spPr>
        <p:txBody>
          <a:bodyPr wrap="square" lIns="0" rIns="0" tIns="0" bIns="0" anchor="t">
            <a:spAutoFit/>
          </a:bodyPr>
          <a:lstStyle/>
          <a:p>
            <a:pPr algn="ctr">
              <a:lnSpc>
                <a:spcPct val="100000"/>
              </a:lnSpc>
            </a:pPr>
            <a:r>
              <a:rPr sz="1300" b="1">
                <a:solidFill>
                  <a:srgbClr val="15171A"/>
                </a:solidFill>
                <a:latin typeface="Noto Sans KR"/>
                <a:ea typeface="Noto Sans KR"/>
                <a:cs typeface="Noto Sans KR"/>
              </a:rPr>
              <a:t>44.7</a:t>
            </a:r>
          </a:p>
        </p:txBody>
      </p:sp>
      <p:graphicFrame>
        <p:nvGraphicFramePr>
          <p:cNvPr id="21" name="Table 20"/>
          <p:cNvGraphicFramePr>
            <a:graphicFrameLocks noGrp="1"/>
          </p:cNvGraphicFramePr>
          <p:nvPr/>
        </p:nvGraphicFramePr>
        <p:xfrm>
          <a:off x="6675120" y="2096871"/>
          <a:ext cx="4830775" cy="2147010"/>
        </p:xfrm>
        <a:graphic>
          <a:graphicData uri="http://schemas.openxmlformats.org/drawingml/2006/table">
            <a:tbl>
              <a:tblPr firstRow="0" bandRow="0">
                <a:tableStyleId>{2D5ABB26-0587-4C30-8999-92F81FD0307C}</a:tableStyleId>
              </a:tblPr>
              <a:tblGrid>
                <a:gridCol w="1600200"/>
                <a:gridCol w="646115"/>
                <a:gridCol w="646115"/>
                <a:gridCol w="646115"/>
                <a:gridCol w="646115"/>
                <a:gridCol w="646115"/>
              </a:tblGrid>
              <a:tr h="357835">
                <a:tc>
                  <a:txBody>
                    <a:bodyPr wrap="square"/>
                    <a:lstStyle/>
                    <a:p>
                      <a:pPr algn="l">
                        <a:lnSpc>
                          <a:spcPct val="100000"/>
                        </a:lnSpc>
                      </a:pPr>
                      <a:r>
                        <a:rPr sz="1200" b="1">
                          <a:solidFill>
                            <a:srgbClr val="15171A"/>
                          </a:solidFill>
                          <a:latin typeface="Noto Sans KR"/>
                          <a:ea typeface="Noto Sans KR"/>
                          <a:cs typeface="Noto Sans KR"/>
                        </a:rPr>
                        <a:t>구분</a:t>
                      </a:r>
                    </a:p>
                  </a:txBody>
                  <a:tcPr marL="73152" marR="73152" marT="64008" marB="64008"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1200" b="1">
                          <a:solidFill>
                            <a:srgbClr val="15171A"/>
                          </a:solidFill>
                          <a:latin typeface="Noto Sans KR"/>
                          <a:ea typeface="Noto Sans KR"/>
                          <a:cs typeface="Noto Sans KR"/>
                        </a:rPr>
                        <a:t>1년</a:t>
                      </a:r>
                    </a:p>
                  </a:txBody>
                  <a:tcPr marL="73152" marR="73152" marT="64008" marB="64008"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1200" b="1">
                          <a:solidFill>
                            <a:srgbClr val="15171A"/>
                          </a:solidFill>
                          <a:latin typeface="Noto Sans KR"/>
                          <a:ea typeface="Noto Sans KR"/>
                          <a:cs typeface="Noto Sans KR"/>
                        </a:rPr>
                        <a:t>2년</a:t>
                      </a:r>
                    </a:p>
                  </a:txBody>
                  <a:tcPr marL="73152" marR="73152" marT="64008" marB="64008"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1200" b="1">
                          <a:solidFill>
                            <a:srgbClr val="15171A"/>
                          </a:solidFill>
                          <a:latin typeface="Noto Sans KR"/>
                          <a:ea typeface="Noto Sans KR"/>
                          <a:cs typeface="Noto Sans KR"/>
                        </a:rPr>
                        <a:t>3년</a:t>
                      </a:r>
                    </a:p>
                  </a:txBody>
                  <a:tcPr marL="73152" marR="73152" marT="64008" marB="64008"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1200" b="1">
                          <a:solidFill>
                            <a:srgbClr val="15171A"/>
                          </a:solidFill>
                          <a:latin typeface="Noto Sans KR"/>
                          <a:ea typeface="Noto Sans KR"/>
                          <a:cs typeface="Noto Sans KR"/>
                        </a:rPr>
                        <a:t>4년</a:t>
                      </a:r>
                    </a:p>
                  </a:txBody>
                  <a:tcPr marL="73152" marR="73152" marT="64008" marB="64008"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1200" b="1">
                          <a:solidFill>
                            <a:srgbClr val="15171A"/>
                          </a:solidFill>
                          <a:latin typeface="Noto Sans KR"/>
                          <a:ea typeface="Noto Sans KR"/>
                          <a:cs typeface="Noto Sans KR"/>
                        </a:rPr>
                        <a:t>5년</a:t>
                      </a:r>
                    </a:p>
                  </a:txBody>
                  <a:tcPr marL="73152" marR="73152" marT="64008" marB="64008" anchor="t">
                    <a:lnL w="0">
                      <a:noFill/>
                    </a:lnL>
                    <a:lnR w="0">
                      <a:noFill/>
                    </a:lnR>
                    <a:lnT w="12700">
                      <a:solidFill>
                        <a:srgbClr val="15171A"/>
                      </a:solidFill>
                    </a:lnT>
                    <a:lnB w="9525">
                      <a:solidFill>
                        <a:srgbClr val="15171A"/>
                      </a:solidFill>
                    </a:lnB>
                    <a:noFill/>
                  </a:tcPr>
                </a:tc>
              </a:tr>
              <a:tr h="357835">
                <a:tc>
                  <a:txBody>
                    <a:bodyPr wrap="square"/>
                    <a:lstStyle/>
                    <a:p>
                      <a:pPr algn="l">
                        <a:lnSpc>
                          <a:spcPct val="100000"/>
                        </a:lnSpc>
                      </a:pPr>
                      <a:r>
                        <a:rPr sz="1200" b="0">
                          <a:solidFill>
                            <a:srgbClr val="15171A"/>
                          </a:solidFill>
                          <a:latin typeface="Noto Sans KR"/>
                          <a:ea typeface="Noto Sans KR"/>
                          <a:cs typeface="Noto Sans KR"/>
                        </a:rPr>
                        <a:t>매출 (억 원)</a:t>
                      </a:r>
                    </a:p>
                  </a:txBody>
                  <a:tcPr marL="73152" marR="73152" marT="64008" marB="64008" anchor="t">
                    <a:lnL w="0">
                      <a:noFill/>
                    </a:lnL>
                    <a:lnR w="0">
                      <a:noFill/>
                    </a:lnR>
                    <a:lnT w="0">
                      <a:noFill/>
                    </a:lnT>
                    <a:lnB w="9525">
                      <a:solidFill>
                        <a:srgbClr val="E2E4E7"/>
                      </a:solidFill>
                    </a:lnB>
                    <a:noFill/>
                  </a:tcPr>
                </a:tc>
                <a:tc>
                  <a:txBody>
                    <a:bodyPr wrap="square"/>
                    <a:lstStyle/>
                    <a:p>
                      <a:pPr algn="r">
                        <a:lnSpc>
                          <a:spcPct val="100000"/>
                        </a:lnSpc>
                      </a:pPr>
                      <a:r>
                        <a:rPr sz="1200" b="0">
                          <a:solidFill>
                            <a:srgbClr val="15171A"/>
                          </a:solidFill>
                          <a:latin typeface="Noto Sans KR"/>
                          <a:ea typeface="Noto Sans KR"/>
                          <a:cs typeface="Noto Sans KR"/>
                        </a:rPr>
                        <a:t>0.5</a:t>
                      </a:r>
                    </a:p>
                  </a:txBody>
                  <a:tcPr marL="73152" marR="73152" marT="64008" marB="64008" anchor="t">
                    <a:lnL w="0">
                      <a:noFill/>
                    </a:lnL>
                    <a:lnR w="0">
                      <a:noFill/>
                    </a:lnR>
                    <a:lnT w="0">
                      <a:noFill/>
                    </a:lnT>
                    <a:lnB w="9525">
                      <a:solidFill>
                        <a:srgbClr val="E2E4E7"/>
                      </a:solidFill>
                    </a:lnB>
                    <a:noFill/>
                  </a:tcPr>
                </a:tc>
                <a:tc>
                  <a:txBody>
                    <a:bodyPr wrap="square"/>
                    <a:lstStyle/>
                    <a:p>
                      <a:pPr algn="r">
                        <a:lnSpc>
                          <a:spcPct val="100000"/>
                        </a:lnSpc>
                      </a:pPr>
                      <a:r>
                        <a:rPr sz="1200" b="0">
                          <a:solidFill>
                            <a:srgbClr val="15171A"/>
                          </a:solidFill>
                          <a:latin typeface="Noto Sans KR"/>
                          <a:ea typeface="Noto Sans KR"/>
                          <a:cs typeface="Noto Sans KR"/>
                        </a:rPr>
                        <a:t>3.9</a:t>
                      </a:r>
                    </a:p>
                  </a:txBody>
                  <a:tcPr marL="73152" marR="73152" marT="64008" marB="64008" anchor="t">
                    <a:lnL w="0">
                      <a:noFill/>
                    </a:lnL>
                    <a:lnR w="0">
                      <a:noFill/>
                    </a:lnR>
                    <a:lnT w="0">
                      <a:noFill/>
                    </a:lnT>
                    <a:lnB w="9525">
                      <a:solidFill>
                        <a:srgbClr val="E2E4E7"/>
                      </a:solidFill>
                    </a:lnB>
                    <a:noFill/>
                  </a:tcPr>
                </a:tc>
                <a:tc>
                  <a:txBody>
                    <a:bodyPr wrap="square"/>
                    <a:lstStyle/>
                    <a:p>
                      <a:pPr algn="r">
                        <a:lnSpc>
                          <a:spcPct val="100000"/>
                        </a:lnSpc>
                      </a:pPr>
                      <a:r>
                        <a:rPr sz="1200" b="0">
                          <a:solidFill>
                            <a:srgbClr val="15171A"/>
                          </a:solidFill>
                          <a:latin typeface="Noto Sans KR"/>
                          <a:ea typeface="Noto Sans KR"/>
                          <a:cs typeface="Noto Sans KR"/>
                        </a:rPr>
                        <a:t>11.5</a:t>
                      </a:r>
                    </a:p>
                  </a:txBody>
                  <a:tcPr marL="73152" marR="73152" marT="64008" marB="64008" anchor="t">
                    <a:lnL w="0">
                      <a:noFill/>
                    </a:lnL>
                    <a:lnR w="0">
                      <a:noFill/>
                    </a:lnR>
                    <a:lnT w="0">
                      <a:noFill/>
                    </a:lnT>
                    <a:lnB w="9525">
                      <a:solidFill>
                        <a:srgbClr val="E2E4E7"/>
                      </a:solidFill>
                    </a:lnB>
                    <a:noFill/>
                  </a:tcPr>
                </a:tc>
                <a:tc>
                  <a:txBody>
                    <a:bodyPr wrap="square"/>
                    <a:lstStyle/>
                    <a:p>
                      <a:pPr algn="r">
                        <a:lnSpc>
                          <a:spcPct val="100000"/>
                        </a:lnSpc>
                      </a:pPr>
                      <a:r>
                        <a:rPr sz="1200" b="0">
                          <a:solidFill>
                            <a:srgbClr val="15171A"/>
                          </a:solidFill>
                          <a:latin typeface="Noto Sans KR"/>
                          <a:ea typeface="Noto Sans KR"/>
                          <a:cs typeface="Noto Sans KR"/>
                        </a:rPr>
                        <a:t>24.9</a:t>
                      </a:r>
                    </a:p>
                  </a:txBody>
                  <a:tcPr marL="73152" marR="73152" marT="64008" marB="64008" anchor="t">
                    <a:lnL w="0">
                      <a:noFill/>
                    </a:lnL>
                    <a:lnR w="0">
                      <a:noFill/>
                    </a:lnR>
                    <a:lnT w="0">
                      <a:noFill/>
                    </a:lnT>
                    <a:lnB w="9525">
                      <a:solidFill>
                        <a:srgbClr val="E2E4E7"/>
                      </a:solidFill>
                    </a:lnB>
                    <a:noFill/>
                  </a:tcPr>
                </a:tc>
                <a:tc>
                  <a:txBody>
                    <a:bodyPr wrap="square"/>
                    <a:lstStyle/>
                    <a:p>
                      <a:pPr algn="r">
                        <a:lnSpc>
                          <a:spcPct val="100000"/>
                        </a:lnSpc>
                      </a:pPr>
                      <a:r>
                        <a:rPr sz="1200" b="0">
                          <a:solidFill>
                            <a:srgbClr val="15171A"/>
                          </a:solidFill>
                          <a:latin typeface="Noto Sans KR"/>
                          <a:ea typeface="Noto Sans KR"/>
                          <a:cs typeface="Noto Sans KR"/>
                        </a:rPr>
                        <a:t>44.7</a:t>
                      </a:r>
                    </a:p>
                  </a:txBody>
                  <a:tcPr marL="73152" marR="73152" marT="64008" marB="64008" anchor="t">
                    <a:lnL w="0">
                      <a:noFill/>
                    </a:lnL>
                    <a:lnR w="0">
                      <a:noFill/>
                    </a:lnR>
                    <a:lnT w="0">
                      <a:noFill/>
                    </a:lnT>
                    <a:lnB w="9525">
                      <a:solidFill>
                        <a:srgbClr val="E2E4E7"/>
                      </a:solidFill>
                    </a:lnB>
                    <a:noFill/>
                  </a:tcPr>
                </a:tc>
              </a:tr>
              <a:tr h="357835">
                <a:tc>
                  <a:txBody>
                    <a:bodyPr wrap="square"/>
                    <a:lstStyle/>
                    <a:p>
                      <a:pPr algn="l">
                        <a:lnSpc>
                          <a:spcPct val="100000"/>
                        </a:lnSpc>
                      </a:pPr>
                      <a:r>
                        <a:rPr sz="1200" b="0">
                          <a:solidFill>
                            <a:srgbClr val="15171A"/>
                          </a:solidFill>
                          <a:latin typeface="Noto Sans KR"/>
                          <a:ea typeface="Noto Sans KR"/>
                          <a:cs typeface="Noto Sans KR"/>
                        </a:rPr>
                        <a:t>매출총이익률</a:t>
                      </a:r>
                    </a:p>
                  </a:txBody>
                  <a:tcPr marL="73152" marR="73152" marT="64008" marB="64008" anchor="t">
                    <a:lnL w="0">
                      <a:noFill/>
                    </a:lnL>
                    <a:lnR w="0">
                      <a:noFill/>
                    </a:lnR>
                    <a:lnT w="0">
                      <a:noFill/>
                    </a:lnT>
                    <a:lnB w="9525">
                      <a:solidFill>
                        <a:srgbClr val="E2E4E7"/>
                      </a:solidFill>
                    </a:lnB>
                    <a:noFill/>
                  </a:tcPr>
                </a:tc>
                <a:tc>
                  <a:txBody>
                    <a:bodyPr wrap="square"/>
                    <a:lstStyle/>
                    <a:p>
                      <a:pPr algn="r">
                        <a:lnSpc>
                          <a:spcPct val="100000"/>
                        </a:lnSpc>
                      </a:pPr>
                      <a:r>
                        <a:rPr sz="1200" b="0">
                          <a:solidFill>
                            <a:srgbClr val="15171A"/>
                          </a:solidFill>
                          <a:latin typeface="Noto Sans KR"/>
                          <a:ea typeface="Noto Sans KR"/>
                          <a:cs typeface="Noto Sans KR"/>
                        </a:rPr>
                        <a:t>40%</a:t>
                      </a:r>
                    </a:p>
                  </a:txBody>
                  <a:tcPr marL="73152" marR="73152" marT="64008" marB="64008" anchor="t">
                    <a:lnL w="0">
                      <a:noFill/>
                    </a:lnL>
                    <a:lnR w="0">
                      <a:noFill/>
                    </a:lnR>
                    <a:lnT w="0">
                      <a:noFill/>
                    </a:lnT>
                    <a:lnB w="9525">
                      <a:solidFill>
                        <a:srgbClr val="E2E4E7"/>
                      </a:solidFill>
                    </a:lnB>
                    <a:noFill/>
                  </a:tcPr>
                </a:tc>
                <a:tc>
                  <a:txBody>
                    <a:bodyPr wrap="square"/>
                    <a:lstStyle/>
                    <a:p>
                      <a:pPr algn="r">
                        <a:lnSpc>
                          <a:spcPct val="100000"/>
                        </a:lnSpc>
                      </a:pPr>
                      <a:r>
                        <a:rPr sz="1200" b="0">
                          <a:solidFill>
                            <a:srgbClr val="15171A"/>
                          </a:solidFill>
                          <a:latin typeface="Noto Sans KR"/>
                          <a:ea typeface="Noto Sans KR"/>
                          <a:cs typeface="Noto Sans KR"/>
                        </a:rPr>
                        <a:t>42%</a:t>
                      </a:r>
                    </a:p>
                  </a:txBody>
                  <a:tcPr marL="73152" marR="73152" marT="64008" marB="64008" anchor="t">
                    <a:lnL w="0">
                      <a:noFill/>
                    </a:lnL>
                    <a:lnR w="0">
                      <a:noFill/>
                    </a:lnR>
                    <a:lnT w="0">
                      <a:noFill/>
                    </a:lnT>
                    <a:lnB w="9525">
                      <a:solidFill>
                        <a:srgbClr val="E2E4E7"/>
                      </a:solidFill>
                    </a:lnB>
                    <a:noFill/>
                  </a:tcPr>
                </a:tc>
                <a:tc>
                  <a:txBody>
                    <a:bodyPr wrap="square"/>
                    <a:lstStyle/>
                    <a:p>
                      <a:pPr algn="r">
                        <a:lnSpc>
                          <a:spcPct val="100000"/>
                        </a:lnSpc>
                      </a:pPr>
                      <a:r>
                        <a:rPr sz="1200" b="0">
                          <a:solidFill>
                            <a:srgbClr val="15171A"/>
                          </a:solidFill>
                          <a:latin typeface="Noto Sans KR"/>
                          <a:ea typeface="Noto Sans KR"/>
                          <a:cs typeface="Noto Sans KR"/>
                        </a:rPr>
                        <a:t>44%</a:t>
                      </a:r>
                    </a:p>
                  </a:txBody>
                  <a:tcPr marL="73152" marR="73152" marT="64008" marB="64008" anchor="t">
                    <a:lnL w="0">
                      <a:noFill/>
                    </a:lnL>
                    <a:lnR w="0">
                      <a:noFill/>
                    </a:lnR>
                    <a:lnT w="0">
                      <a:noFill/>
                    </a:lnT>
                    <a:lnB w="9525">
                      <a:solidFill>
                        <a:srgbClr val="E2E4E7"/>
                      </a:solidFill>
                    </a:lnB>
                    <a:noFill/>
                  </a:tcPr>
                </a:tc>
                <a:tc>
                  <a:txBody>
                    <a:bodyPr wrap="square"/>
                    <a:lstStyle/>
                    <a:p>
                      <a:pPr algn="r">
                        <a:lnSpc>
                          <a:spcPct val="100000"/>
                        </a:lnSpc>
                      </a:pPr>
                      <a:r>
                        <a:rPr sz="1200" b="0">
                          <a:solidFill>
                            <a:srgbClr val="15171A"/>
                          </a:solidFill>
                          <a:latin typeface="Noto Sans KR"/>
                          <a:ea typeface="Noto Sans KR"/>
                          <a:cs typeface="Noto Sans KR"/>
                        </a:rPr>
                        <a:t>48%</a:t>
                      </a:r>
                    </a:p>
                  </a:txBody>
                  <a:tcPr marL="73152" marR="73152" marT="64008" marB="64008" anchor="t">
                    <a:lnL w="0">
                      <a:noFill/>
                    </a:lnL>
                    <a:lnR w="0">
                      <a:noFill/>
                    </a:lnR>
                    <a:lnT w="0">
                      <a:noFill/>
                    </a:lnT>
                    <a:lnB w="9525">
                      <a:solidFill>
                        <a:srgbClr val="E2E4E7"/>
                      </a:solidFill>
                    </a:lnB>
                    <a:noFill/>
                  </a:tcPr>
                </a:tc>
                <a:tc>
                  <a:txBody>
                    <a:bodyPr wrap="square"/>
                    <a:lstStyle/>
                    <a:p>
                      <a:pPr algn="r">
                        <a:lnSpc>
                          <a:spcPct val="100000"/>
                        </a:lnSpc>
                      </a:pPr>
                      <a:r>
                        <a:rPr sz="1200" b="0">
                          <a:solidFill>
                            <a:srgbClr val="15171A"/>
                          </a:solidFill>
                          <a:latin typeface="Noto Sans KR"/>
                          <a:ea typeface="Noto Sans KR"/>
                          <a:cs typeface="Noto Sans KR"/>
                        </a:rPr>
                        <a:t>53%</a:t>
                      </a:r>
                    </a:p>
                  </a:txBody>
                  <a:tcPr marL="73152" marR="73152" marT="64008" marB="64008" anchor="t">
                    <a:lnL w="0">
                      <a:noFill/>
                    </a:lnL>
                    <a:lnR w="0">
                      <a:noFill/>
                    </a:lnR>
                    <a:lnT w="0">
                      <a:noFill/>
                    </a:lnT>
                    <a:lnB w="9525">
                      <a:solidFill>
                        <a:srgbClr val="E2E4E7"/>
                      </a:solidFill>
                    </a:lnB>
                    <a:noFill/>
                  </a:tcPr>
                </a:tc>
              </a:tr>
              <a:tr h="357835">
                <a:tc>
                  <a:txBody>
                    <a:bodyPr wrap="square"/>
                    <a:lstStyle/>
                    <a:p>
                      <a:pPr algn="l">
                        <a:lnSpc>
                          <a:spcPct val="100000"/>
                        </a:lnSpc>
                      </a:pPr>
                      <a:r>
                        <a:rPr sz="1200" b="0">
                          <a:solidFill>
                            <a:srgbClr val="15171A"/>
                          </a:solidFill>
                          <a:latin typeface="Noto Sans KR"/>
                          <a:ea typeface="Noto Sans KR"/>
                          <a:cs typeface="Noto Sans KR"/>
                        </a:rPr>
                        <a:t>영업손익 (억 원)</a:t>
                      </a:r>
                    </a:p>
                  </a:txBody>
                  <a:tcPr marL="73152" marR="73152" marT="64008" marB="64008" anchor="t">
                    <a:lnL w="0">
                      <a:noFill/>
                    </a:lnL>
                    <a:lnR w="0">
                      <a:noFill/>
                    </a:lnR>
                    <a:lnT w="0">
                      <a:noFill/>
                    </a:lnT>
                    <a:lnB w="9525">
                      <a:solidFill>
                        <a:srgbClr val="E2E4E7"/>
                      </a:solidFill>
                    </a:lnB>
                    <a:noFill/>
                  </a:tcPr>
                </a:tc>
                <a:tc>
                  <a:txBody>
                    <a:bodyPr wrap="square"/>
                    <a:lstStyle/>
                    <a:p>
                      <a:pPr algn="r">
                        <a:lnSpc>
                          <a:spcPct val="100000"/>
                        </a:lnSpc>
                      </a:pPr>
                      <a:r>
                        <a:rPr sz="1200" b="0">
                          <a:solidFill>
                            <a:srgbClr val="15171A"/>
                          </a:solidFill>
                          <a:latin typeface="Noto Sans KR"/>
                          <a:ea typeface="Noto Sans KR"/>
                          <a:cs typeface="Noto Sans KR"/>
                        </a:rPr>
                        <a:t>−7.5</a:t>
                      </a:r>
                    </a:p>
                  </a:txBody>
                  <a:tcPr marL="73152" marR="73152" marT="64008" marB="64008" anchor="t">
                    <a:lnL w="0">
                      <a:noFill/>
                    </a:lnL>
                    <a:lnR w="0">
                      <a:noFill/>
                    </a:lnR>
                    <a:lnT w="0">
                      <a:noFill/>
                    </a:lnT>
                    <a:lnB w="9525">
                      <a:solidFill>
                        <a:srgbClr val="E2E4E7"/>
                      </a:solidFill>
                    </a:lnB>
                    <a:noFill/>
                  </a:tcPr>
                </a:tc>
                <a:tc>
                  <a:txBody>
                    <a:bodyPr wrap="square"/>
                    <a:lstStyle/>
                    <a:p>
                      <a:pPr algn="r">
                        <a:lnSpc>
                          <a:spcPct val="100000"/>
                        </a:lnSpc>
                      </a:pPr>
                      <a:r>
                        <a:rPr sz="1200" b="0">
                          <a:solidFill>
                            <a:srgbClr val="15171A"/>
                          </a:solidFill>
                          <a:latin typeface="Noto Sans KR"/>
                          <a:ea typeface="Noto Sans KR"/>
                          <a:cs typeface="Noto Sans KR"/>
                        </a:rPr>
                        <a:t>−8.9</a:t>
                      </a:r>
                    </a:p>
                  </a:txBody>
                  <a:tcPr marL="73152" marR="73152" marT="64008" marB="64008" anchor="t">
                    <a:lnL w="0">
                      <a:noFill/>
                    </a:lnL>
                    <a:lnR w="0">
                      <a:noFill/>
                    </a:lnR>
                    <a:lnT w="0">
                      <a:noFill/>
                    </a:lnT>
                    <a:lnB w="9525">
                      <a:solidFill>
                        <a:srgbClr val="E2E4E7"/>
                      </a:solidFill>
                    </a:lnB>
                    <a:noFill/>
                  </a:tcPr>
                </a:tc>
                <a:tc>
                  <a:txBody>
                    <a:bodyPr wrap="square"/>
                    <a:lstStyle/>
                    <a:p>
                      <a:pPr algn="r">
                        <a:lnSpc>
                          <a:spcPct val="100000"/>
                        </a:lnSpc>
                      </a:pPr>
                      <a:r>
                        <a:rPr sz="1200" b="0">
                          <a:solidFill>
                            <a:srgbClr val="15171A"/>
                          </a:solidFill>
                          <a:latin typeface="Noto Sans KR"/>
                          <a:ea typeface="Noto Sans KR"/>
                          <a:cs typeface="Noto Sans KR"/>
                        </a:rPr>
                        <a:t>−9.5</a:t>
                      </a:r>
                    </a:p>
                  </a:txBody>
                  <a:tcPr marL="73152" marR="73152" marT="64008" marB="64008" anchor="t">
                    <a:lnL w="0">
                      <a:noFill/>
                    </a:lnL>
                    <a:lnR w="0">
                      <a:noFill/>
                    </a:lnR>
                    <a:lnT w="0">
                      <a:noFill/>
                    </a:lnT>
                    <a:lnB w="9525">
                      <a:solidFill>
                        <a:srgbClr val="E2E4E7"/>
                      </a:solidFill>
                    </a:lnB>
                    <a:noFill/>
                  </a:tcPr>
                </a:tc>
                <a:tc>
                  <a:txBody>
                    <a:bodyPr wrap="square"/>
                    <a:lstStyle/>
                    <a:p>
                      <a:pPr algn="r">
                        <a:lnSpc>
                          <a:spcPct val="100000"/>
                        </a:lnSpc>
                      </a:pPr>
                      <a:r>
                        <a:rPr sz="1200" b="0">
                          <a:solidFill>
                            <a:srgbClr val="15171A"/>
                          </a:solidFill>
                          <a:latin typeface="Noto Sans KR"/>
                          <a:ea typeface="Noto Sans KR"/>
                          <a:cs typeface="Noto Sans KR"/>
                        </a:rPr>
                        <a:t>−7.5</a:t>
                      </a:r>
                    </a:p>
                  </a:txBody>
                  <a:tcPr marL="73152" marR="73152" marT="64008" marB="64008" anchor="t">
                    <a:lnL w="0">
                      <a:noFill/>
                    </a:lnL>
                    <a:lnR w="0">
                      <a:noFill/>
                    </a:lnR>
                    <a:lnT w="0">
                      <a:noFill/>
                    </a:lnT>
                    <a:lnB w="9525">
                      <a:solidFill>
                        <a:srgbClr val="E2E4E7"/>
                      </a:solidFill>
                    </a:lnB>
                    <a:noFill/>
                  </a:tcPr>
                </a:tc>
                <a:tc>
                  <a:txBody>
                    <a:bodyPr wrap="square"/>
                    <a:lstStyle/>
                    <a:p>
                      <a:pPr algn="r">
                        <a:lnSpc>
                          <a:spcPct val="100000"/>
                        </a:lnSpc>
                      </a:pPr>
                      <a:r>
                        <a:rPr sz="1200" b="0">
                          <a:solidFill>
                            <a:srgbClr val="15171A"/>
                          </a:solidFill>
                          <a:latin typeface="Noto Sans KR"/>
                          <a:ea typeface="Noto Sans KR"/>
                          <a:cs typeface="Noto Sans KR"/>
                        </a:rPr>
                        <a:t>−0.1</a:t>
                      </a:r>
                    </a:p>
                  </a:txBody>
                  <a:tcPr marL="73152" marR="73152" marT="64008" marB="64008" anchor="t">
                    <a:lnL w="0">
                      <a:noFill/>
                    </a:lnL>
                    <a:lnR w="0">
                      <a:noFill/>
                    </a:lnR>
                    <a:lnT w="0">
                      <a:noFill/>
                    </a:lnT>
                    <a:lnB w="9525">
                      <a:solidFill>
                        <a:srgbClr val="E2E4E7"/>
                      </a:solidFill>
                    </a:lnB>
                    <a:noFill/>
                  </a:tcPr>
                </a:tc>
              </a:tr>
              <a:tr h="357835">
                <a:tc>
                  <a:txBody>
                    <a:bodyPr wrap="square"/>
                    <a:lstStyle/>
                    <a:p>
                      <a:pPr algn="l">
                        <a:lnSpc>
                          <a:spcPct val="100000"/>
                        </a:lnSpc>
                      </a:pPr>
                      <a:r>
                        <a:rPr sz="1200" b="0">
                          <a:solidFill>
                            <a:srgbClr val="15171A"/>
                          </a:solidFill>
                          <a:latin typeface="Noto Sans KR"/>
                          <a:ea typeface="Noto Sans KR"/>
                          <a:cs typeface="Noto Sans KR"/>
                        </a:rPr>
                        <a:t>신규 핸드 (대)</a:t>
                      </a:r>
                    </a:p>
                  </a:txBody>
                  <a:tcPr marL="73152" marR="73152" marT="64008" marB="64008" anchor="t">
                    <a:lnL w="0">
                      <a:noFill/>
                    </a:lnL>
                    <a:lnR w="0">
                      <a:noFill/>
                    </a:lnR>
                    <a:lnT w="0">
                      <a:noFill/>
                    </a:lnT>
                    <a:lnB w="9525">
                      <a:solidFill>
                        <a:srgbClr val="E2E4E7"/>
                      </a:solidFill>
                    </a:lnB>
                    <a:noFill/>
                  </a:tcPr>
                </a:tc>
                <a:tc>
                  <a:txBody>
                    <a:bodyPr wrap="square"/>
                    <a:lstStyle/>
                    <a:p>
                      <a:pPr algn="r">
                        <a:lnSpc>
                          <a:spcPct val="100000"/>
                        </a:lnSpc>
                      </a:pPr>
                      <a:r>
                        <a:rPr sz="1200" b="0">
                          <a:solidFill>
                            <a:srgbClr val="15171A"/>
                          </a:solidFill>
                          <a:latin typeface="Noto Sans KR"/>
                          <a:ea typeface="Noto Sans KR"/>
                          <a:cs typeface="Noto Sans KR"/>
                        </a:rPr>
                        <a:t>0</a:t>
                      </a:r>
                    </a:p>
                  </a:txBody>
                  <a:tcPr marL="73152" marR="73152" marT="64008" marB="64008" anchor="t">
                    <a:lnL w="0">
                      <a:noFill/>
                    </a:lnL>
                    <a:lnR w="0">
                      <a:noFill/>
                    </a:lnR>
                    <a:lnT w="0">
                      <a:noFill/>
                    </a:lnT>
                    <a:lnB w="9525">
                      <a:solidFill>
                        <a:srgbClr val="E2E4E7"/>
                      </a:solidFill>
                    </a:lnB>
                    <a:noFill/>
                  </a:tcPr>
                </a:tc>
                <a:tc>
                  <a:txBody>
                    <a:bodyPr wrap="square"/>
                    <a:lstStyle/>
                    <a:p>
                      <a:pPr algn="r">
                        <a:lnSpc>
                          <a:spcPct val="100000"/>
                        </a:lnSpc>
                      </a:pPr>
                      <a:r>
                        <a:rPr sz="1200" b="0">
                          <a:solidFill>
                            <a:srgbClr val="15171A"/>
                          </a:solidFill>
                          <a:latin typeface="Noto Sans KR"/>
                          <a:ea typeface="Noto Sans KR"/>
                          <a:cs typeface="Noto Sans KR"/>
                        </a:rPr>
                        <a:t>6</a:t>
                      </a:r>
                    </a:p>
                  </a:txBody>
                  <a:tcPr marL="73152" marR="73152" marT="64008" marB="64008" anchor="t">
                    <a:lnL w="0">
                      <a:noFill/>
                    </a:lnL>
                    <a:lnR w="0">
                      <a:noFill/>
                    </a:lnR>
                    <a:lnT w="0">
                      <a:noFill/>
                    </a:lnT>
                    <a:lnB w="9525">
                      <a:solidFill>
                        <a:srgbClr val="E2E4E7"/>
                      </a:solidFill>
                    </a:lnB>
                    <a:noFill/>
                  </a:tcPr>
                </a:tc>
                <a:tc>
                  <a:txBody>
                    <a:bodyPr wrap="square"/>
                    <a:lstStyle/>
                    <a:p>
                      <a:pPr algn="r">
                        <a:lnSpc>
                          <a:spcPct val="100000"/>
                        </a:lnSpc>
                      </a:pPr>
                      <a:r>
                        <a:rPr sz="1200" b="0">
                          <a:solidFill>
                            <a:srgbClr val="15171A"/>
                          </a:solidFill>
                          <a:latin typeface="Noto Sans KR"/>
                          <a:ea typeface="Noto Sans KR"/>
                          <a:cs typeface="Noto Sans KR"/>
                        </a:rPr>
                        <a:t>36</a:t>
                      </a:r>
                    </a:p>
                  </a:txBody>
                  <a:tcPr marL="73152" marR="73152" marT="64008" marB="64008" anchor="t">
                    <a:lnL w="0">
                      <a:noFill/>
                    </a:lnL>
                    <a:lnR w="0">
                      <a:noFill/>
                    </a:lnR>
                    <a:lnT w="0">
                      <a:noFill/>
                    </a:lnT>
                    <a:lnB w="9525">
                      <a:solidFill>
                        <a:srgbClr val="E2E4E7"/>
                      </a:solidFill>
                    </a:lnB>
                    <a:noFill/>
                  </a:tcPr>
                </a:tc>
                <a:tc>
                  <a:txBody>
                    <a:bodyPr wrap="square"/>
                    <a:lstStyle/>
                    <a:p>
                      <a:pPr algn="r">
                        <a:lnSpc>
                          <a:spcPct val="100000"/>
                        </a:lnSpc>
                      </a:pPr>
                      <a:r>
                        <a:rPr sz="1200" b="0">
                          <a:solidFill>
                            <a:srgbClr val="15171A"/>
                          </a:solidFill>
                          <a:latin typeface="Noto Sans KR"/>
                          <a:ea typeface="Noto Sans KR"/>
                          <a:cs typeface="Noto Sans KR"/>
                        </a:rPr>
                        <a:t>100</a:t>
                      </a:r>
                    </a:p>
                  </a:txBody>
                  <a:tcPr marL="73152" marR="73152" marT="64008" marB="64008" anchor="t">
                    <a:lnL w="0">
                      <a:noFill/>
                    </a:lnL>
                    <a:lnR w="0">
                      <a:noFill/>
                    </a:lnR>
                    <a:lnT w="0">
                      <a:noFill/>
                    </a:lnT>
                    <a:lnB w="9525">
                      <a:solidFill>
                        <a:srgbClr val="E2E4E7"/>
                      </a:solidFill>
                    </a:lnB>
                    <a:noFill/>
                  </a:tcPr>
                </a:tc>
                <a:tc>
                  <a:txBody>
                    <a:bodyPr wrap="square"/>
                    <a:lstStyle/>
                    <a:p>
                      <a:pPr algn="r">
                        <a:lnSpc>
                          <a:spcPct val="100000"/>
                        </a:lnSpc>
                      </a:pPr>
                      <a:r>
                        <a:rPr sz="1200" b="0">
                          <a:solidFill>
                            <a:srgbClr val="15171A"/>
                          </a:solidFill>
                          <a:latin typeface="Noto Sans KR"/>
                          <a:ea typeface="Noto Sans KR"/>
                          <a:cs typeface="Noto Sans KR"/>
                        </a:rPr>
                        <a:t>200</a:t>
                      </a:r>
                    </a:p>
                  </a:txBody>
                  <a:tcPr marL="73152" marR="73152" marT="64008" marB="64008" anchor="t">
                    <a:lnL w="0">
                      <a:noFill/>
                    </a:lnL>
                    <a:lnR w="0">
                      <a:noFill/>
                    </a:lnR>
                    <a:lnT w="0">
                      <a:noFill/>
                    </a:lnT>
                    <a:lnB w="9525">
                      <a:solidFill>
                        <a:srgbClr val="E2E4E7"/>
                      </a:solidFill>
                    </a:lnB>
                    <a:noFill/>
                  </a:tcPr>
                </a:tc>
              </a:tr>
              <a:tr h="357835">
                <a:tc>
                  <a:txBody>
                    <a:bodyPr wrap="square"/>
                    <a:lstStyle/>
                    <a:p>
                      <a:pPr algn="l">
                        <a:lnSpc>
                          <a:spcPct val="100000"/>
                        </a:lnSpc>
                      </a:pPr>
                      <a:r>
                        <a:rPr sz="1200" b="1">
                          <a:solidFill>
                            <a:srgbClr val="15171A"/>
                          </a:solidFill>
                          <a:latin typeface="Noto Sans KR"/>
                          <a:ea typeface="Noto Sans KR"/>
                          <a:cs typeface="Noto Sans KR"/>
                        </a:rPr>
                        <a:t>재사용 매출 비중</a:t>
                      </a:r>
                    </a:p>
                  </a:txBody>
                  <a:tcPr marL="73152" marR="73152" marT="64008" marB="64008" anchor="t">
                    <a:lnL w="0">
                      <a:noFill/>
                    </a:lnL>
                    <a:lnR w="0">
                      <a:noFill/>
                    </a:lnR>
                    <a:lnT w="0">
                      <a:noFill/>
                    </a:lnT>
                    <a:lnB w="9525">
                      <a:solidFill>
                        <a:srgbClr val="E2E4E7"/>
                      </a:solidFill>
                    </a:lnB>
                    <a:noFill/>
                  </a:tcPr>
                </a:tc>
                <a:tc>
                  <a:txBody>
                    <a:bodyPr wrap="square"/>
                    <a:lstStyle/>
                    <a:p>
                      <a:pPr algn="r">
                        <a:lnSpc>
                          <a:spcPct val="100000"/>
                        </a:lnSpc>
                      </a:pPr>
                      <a:r>
                        <a:rPr sz="1200" b="1">
                          <a:solidFill>
                            <a:srgbClr val="E2571B"/>
                          </a:solidFill>
                          <a:latin typeface="Noto Sans KR"/>
                          <a:ea typeface="Noto Sans KR"/>
                          <a:cs typeface="Noto Sans KR"/>
                        </a:rPr>
                        <a:t>0%</a:t>
                      </a:r>
                    </a:p>
                  </a:txBody>
                  <a:tcPr marL="73152" marR="73152" marT="64008" marB="64008" anchor="t">
                    <a:lnL w="0">
                      <a:noFill/>
                    </a:lnL>
                    <a:lnR w="0">
                      <a:noFill/>
                    </a:lnR>
                    <a:lnT w="0">
                      <a:noFill/>
                    </a:lnT>
                    <a:lnB w="9525">
                      <a:solidFill>
                        <a:srgbClr val="E2E4E7"/>
                      </a:solidFill>
                    </a:lnB>
                    <a:noFill/>
                  </a:tcPr>
                </a:tc>
                <a:tc>
                  <a:txBody>
                    <a:bodyPr wrap="square"/>
                    <a:lstStyle/>
                    <a:p>
                      <a:pPr algn="r">
                        <a:lnSpc>
                          <a:spcPct val="100000"/>
                        </a:lnSpc>
                      </a:pPr>
                      <a:r>
                        <a:rPr sz="1200" b="1">
                          <a:solidFill>
                            <a:srgbClr val="E2571B"/>
                          </a:solidFill>
                          <a:latin typeface="Noto Sans KR"/>
                          <a:ea typeface="Noto Sans KR"/>
                          <a:cs typeface="Noto Sans KR"/>
                        </a:rPr>
                        <a:t>29%</a:t>
                      </a:r>
                    </a:p>
                  </a:txBody>
                  <a:tcPr marL="73152" marR="73152" marT="64008" marB="64008" anchor="t">
                    <a:lnL w="0">
                      <a:noFill/>
                    </a:lnL>
                    <a:lnR w="0">
                      <a:noFill/>
                    </a:lnR>
                    <a:lnT w="0">
                      <a:noFill/>
                    </a:lnT>
                    <a:lnB w="9525">
                      <a:solidFill>
                        <a:srgbClr val="E2E4E7"/>
                      </a:solidFill>
                    </a:lnB>
                    <a:noFill/>
                  </a:tcPr>
                </a:tc>
                <a:tc>
                  <a:txBody>
                    <a:bodyPr wrap="square"/>
                    <a:lstStyle/>
                    <a:p>
                      <a:pPr algn="r">
                        <a:lnSpc>
                          <a:spcPct val="100000"/>
                        </a:lnSpc>
                      </a:pPr>
                      <a:r>
                        <a:rPr sz="1200" b="1">
                          <a:solidFill>
                            <a:srgbClr val="E2571B"/>
                          </a:solidFill>
                          <a:latin typeface="Noto Sans KR"/>
                          <a:ea typeface="Noto Sans KR"/>
                          <a:cs typeface="Noto Sans KR"/>
                        </a:rPr>
                        <a:t>57%</a:t>
                      </a:r>
                    </a:p>
                  </a:txBody>
                  <a:tcPr marL="73152" marR="73152" marT="64008" marB="64008" anchor="t">
                    <a:lnL w="0">
                      <a:noFill/>
                    </a:lnL>
                    <a:lnR w="0">
                      <a:noFill/>
                    </a:lnR>
                    <a:lnT w="0">
                      <a:noFill/>
                    </a:lnT>
                    <a:lnB w="9525">
                      <a:solidFill>
                        <a:srgbClr val="E2E4E7"/>
                      </a:solidFill>
                    </a:lnB>
                    <a:noFill/>
                  </a:tcPr>
                </a:tc>
                <a:tc>
                  <a:txBody>
                    <a:bodyPr wrap="square"/>
                    <a:lstStyle/>
                    <a:p>
                      <a:pPr algn="r">
                        <a:lnSpc>
                          <a:spcPct val="100000"/>
                        </a:lnSpc>
                      </a:pPr>
                      <a:r>
                        <a:rPr sz="1200" b="1">
                          <a:solidFill>
                            <a:srgbClr val="E2571B"/>
                          </a:solidFill>
                          <a:latin typeface="Noto Sans KR"/>
                          <a:ea typeface="Noto Sans KR"/>
                          <a:cs typeface="Noto Sans KR"/>
                        </a:rPr>
                        <a:t>75%</a:t>
                      </a:r>
                    </a:p>
                  </a:txBody>
                  <a:tcPr marL="73152" marR="73152" marT="64008" marB="64008" anchor="t">
                    <a:lnL w="0">
                      <a:noFill/>
                    </a:lnL>
                    <a:lnR w="0">
                      <a:noFill/>
                    </a:lnR>
                    <a:lnT w="0">
                      <a:noFill/>
                    </a:lnT>
                    <a:lnB w="9525">
                      <a:solidFill>
                        <a:srgbClr val="E2E4E7"/>
                      </a:solidFill>
                    </a:lnB>
                    <a:noFill/>
                  </a:tcPr>
                </a:tc>
                <a:tc>
                  <a:txBody>
                    <a:bodyPr wrap="square"/>
                    <a:lstStyle/>
                    <a:p>
                      <a:pPr algn="r">
                        <a:lnSpc>
                          <a:spcPct val="100000"/>
                        </a:lnSpc>
                      </a:pPr>
                      <a:r>
                        <a:rPr sz="1200" b="1">
                          <a:solidFill>
                            <a:srgbClr val="E2571B"/>
                          </a:solidFill>
                          <a:latin typeface="Noto Sans KR"/>
                          <a:ea typeface="Noto Sans KR"/>
                          <a:cs typeface="Noto Sans KR"/>
                        </a:rPr>
                        <a:t>86%</a:t>
                      </a:r>
                    </a:p>
                  </a:txBody>
                  <a:tcPr marL="73152" marR="73152" marT="64008" marB="64008" anchor="t">
                    <a:lnL w="0">
                      <a:noFill/>
                    </a:lnL>
                    <a:lnR w="0">
                      <a:noFill/>
                    </a:lnR>
                    <a:lnT w="0">
                      <a:noFill/>
                    </a:lnT>
                    <a:lnB w="9525">
                      <a:solidFill>
                        <a:srgbClr val="E2E4E7"/>
                      </a:solidFill>
                    </a:lnB>
                    <a:noFill/>
                  </a:tcPr>
                </a:tc>
              </a:tr>
            </a:tbl>
          </a:graphicData>
        </a:graphic>
      </p:graphicFrame>
      <p:sp>
        <p:nvSpPr>
          <p:cNvPr id="22" name="TextBox 21"/>
          <p:cNvSpPr txBox="1"/>
          <p:nvPr/>
        </p:nvSpPr>
        <p:spPr>
          <a:xfrm>
            <a:off x="6675120" y="4291431"/>
            <a:ext cx="4830775" cy="274320"/>
          </a:xfrm>
          <a:prstGeom prst="rect">
            <a:avLst/>
          </a:prstGeom>
          <a:noFill/>
        </p:spPr>
        <p:txBody>
          <a:bodyPr wrap="square" lIns="0" rIns="0" tIns="0" bIns="0" anchor="t">
            <a:spAutoFit/>
          </a:bodyPr>
          <a:lstStyle/>
          <a:p>
            <a:pPr algn="l">
              <a:lnSpc>
                <a:spcPct val="100000"/>
              </a:lnSpc>
            </a:pPr>
            <a:r>
              <a:rPr sz="1200" b="1">
                <a:solidFill>
                  <a:srgbClr val="E2571B"/>
                </a:solidFill>
                <a:latin typeface="Noto Sans KR"/>
                <a:ea typeface="Noto Sans KR"/>
                <a:cs typeface="Noto Sans KR"/>
              </a:rPr>
              <a:t>민감도 (5년차)</a:t>
            </a:r>
          </a:p>
        </p:txBody>
      </p:sp>
      <p:graphicFrame>
        <p:nvGraphicFramePr>
          <p:cNvPr id="23" name="Table 22"/>
          <p:cNvGraphicFramePr>
            <a:graphicFrameLocks noGrp="1"/>
          </p:cNvGraphicFramePr>
          <p:nvPr/>
        </p:nvGraphicFramePr>
        <p:xfrm>
          <a:off x="6675120" y="4584039"/>
          <a:ext cx="4830775" cy="1358188"/>
        </p:xfrm>
        <a:graphic>
          <a:graphicData uri="http://schemas.openxmlformats.org/drawingml/2006/table">
            <a:tbl>
              <a:tblPr firstRow="0" bandRow="0">
                <a:tableStyleId>{2D5ABB26-0587-4C30-8999-92F81FD0307C}</a:tableStyleId>
              </a:tblPr>
              <a:tblGrid>
                <a:gridCol w="1783080"/>
                <a:gridCol w="3047695"/>
              </a:tblGrid>
              <a:tr h="339547">
                <a:tc>
                  <a:txBody>
                    <a:bodyPr wrap="square"/>
                    <a:lstStyle/>
                    <a:p>
                      <a:pPr algn="l">
                        <a:lnSpc>
                          <a:spcPct val="100000"/>
                        </a:lnSpc>
                      </a:pPr>
                      <a:r>
                        <a:rPr sz="1200" b="1">
                          <a:solidFill>
                            <a:srgbClr val="15171A"/>
                          </a:solidFill>
                          <a:latin typeface="Noto Sans KR"/>
                          <a:ea typeface="Noto Sans KR"/>
                          <a:cs typeface="Noto Sans KR"/>
                        </a:rPr>
                        <a:t>판매량 −30%</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매출 31.4억 · 영업손익 −7.1억</a:t>
                      </a:r>
                    </a:p>
                  </a:txBody>
                  <a:tcPr marL="73152" marR="73152" marT="54864" marB="54864" anchor="t">
                    <a:lnL w="0">
                      <a:noFill/>
                    </a:lnL>
                    <a:lnR w="0">
                      <a:noFill/>
                    </a:lnR>
                    <a:lnT w="0">
                      <a:noFill/>
                    </a:lnT>
                    <a:lnB w="9525">
                      <a:solidFill>
                        <a:srgbClr val="E2E4E7"/>
                      </a:solidFill>
                    </a:lnB>
                    <a:noFill/>
                  </a:tcPr>
                </a:tc>
              </a:tr>
              <a:tr h="339547">
                <a:tc>
                  <a:txBody>
                    <a:bodyPr wrap="square"/>
                    <a:lstStyle/>
                    <a:p>
                      <a:pPr algn="l">
                        <a:lnSpc>
                          <a:spcPct val="100000"/>
                        </a:lnSpc>
                      </a:pPr>
                      <a:r>
                        <a:rPr sz="1200" b="1">
                          <a:solidFill>
                            <a:srgbClr val="15171A"/>
                          </a:solidFill>
                          <a:latin typeface="Noto Sans KR"/>
                          <a:ea typeface="Noto Sans KR"/>
                          <a:cs typeface="Noto Sans KR"/>
                        </a:rPr>
                        <a:t>SI 채널 1년 지연</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매출 32.3억 · 영업손익 −6.4억</a:t>
                      </a:r>
                    </a:p>
                  </a:txBody>
                  <a:tcPr marL="73152" marR="73152" marT="54864" marB="54864" anchor="t">
                    <a:lnL w="0">
                      <a:noFill/>
                    </a:lnL>
                    <a:lnR w="0">
                      <a:noFill/>
                    </a:lnR>
                    <a:lnT w="0">
                      <a:noFill/>
                    </a:lnT>
                    <a:lnB w="9525">
                      <a:solidFill>
                        <a:srgbClr val="E2E4E7"/>
                      </a:solidFill>
                    </a:lnB>
                    <a:noFill/>
                  </a:tcPr>
                </a:tc>
              </a:tr>
              <a:tr h="339547">
                <a:tc>
                  <a:txBody>
                    <a:bodyPr wrap="square"/>
                    <a:lstStyle/>
                    <a:p>
                      <a:pPr algn="l">
                        <a:lnSpc>
                          <a:spcPct val="100000"/>
                        </a:lnSpc>
                      </a:pPr>
                      <a:r>
                        <a:rPr sz="1200" b="1">
                          <a:solidFill>
                            <a:srgbClr val="15171A"/>
                          </a:solidFill>
                          <a:latin typeface="Noto Sans KR"/>
                          <a:ea typeface="Noto Sans KR"/>
                          <a:cs typeface="Noto Sans KR"/>
                        </a:rPr>
                        <a:t>핸드 원가 절감 지연</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영업손익 −3.1억</a:t>
                      </a:r>
                    </a:p>
                  </a:txBody>
                  <a:tcPr marL="73152" marR="73152" marT="54864" marB="54864" anchor="t">
                    <a:lnL w="0">
                      <a:noFill/>
                    </a:lnL>
                    <a:lnR w="0">
                      <a:noFill/>
                    </a:lnR>
                    <a:lnT w="0">
                      <a:noFill/>
                    </a:lnT>
                    <a:lnB w="9525">
                      <a:solidFill>
                        <a:srgbClr val="E2E4E7"/>
                      </a:solidFill>
                    </a:lnB>
                    <a:noFill/>
                  </a:tcPr>
                </a:tc>
              </a:tr>
              <a:tr h="339547">
                <a:tc>
                  <a:txBody>
                    <a:bodyPr wrap="square"/>
                    <a:lstStyle/>
                    <a:p>
                      <a:pPr algn="l">
                        <a:lnSpc>
                          <a:spcPct val="100000"/>
                        </a:lnSpc>
                      </a:pPr>
                      <a:r>
                        <a:rPr sz="1200" b="1">
                          <a:solidFill>
                            <a:srgbClr val="15171A"/>
                          </a:solidFill>
                          <a:latin typeface="Noto Sans KR"/>
                          <a:ea typeface="Noto Sans KR"/>
                          <a:cs typeface="Noto Sans KR"/>
                        </a:rPr>
                        <a:t>판매량 −50%</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매출 22.4억 · 영업손익 −11.9억</a:t>
                      </a:r>
                    </a:p>
                  </a:txBody>
                  <a:tcPr marL="73152" marR="73152" marT="54864" marB="54864" anchor="t">
                    <a:lnL w="0">
                      <a:noFill/>
                    </a:lnL>
                    <a:lnR w="0">
                      <a:noFill/>
                    </a:lnR>
                    <a:lnT w="0">
                      <a:noFill/>
                    </a:lnT>
                    <a:lnB w="9525">
                      <a:solidFill>
                        <a:srgbClr val="E2E4E7"/>
                      </a:solidFill>
                    </a:lnB>
                    <a:noFill/>
                  </a:tcPr>
                </a:tc>
              </a:tr>
            </a:tbl>
          </a:graphicData>
        </a:graphic>
      </p:graphicFrame>
      <p:sp>
        <p:nvSpPr>
          <p:cNvPr id="24" name="TextBox 23"/>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SoftHand-4  |  Seed 투자 제안서</a:t>
            </a:r>
          </a:p>
        </p:txBody>
      </p:sp>
      <p:sp>
        <p:nvSpPr>
          <p:cNvPr id="25" name="TextBox 24"/>
          <p:cNvSpPr txBox="1"/>
          <p:nvPr/>
        </p:nvSpPr>
        <p:spPr>
          <a:xfrm>
            <a:off x="3154680" y="6446520"/>
            <a:ext cx="7802575"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1·2년차 운영비 = Seed 집행 계획 · 미반영 상승 요인: 주방 공동 제품화, OEM 채택 · 상세 부록 A10</a:t>
            </a:r>
          </a:p>
        </p:txBody>
      </p:sp>
      <p:sp>
        <p:nvSpPr>
          <p:cNvPr id="26" name="TextBox 25"/>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48640"/>
            <a:ext cx="7315200" cy="274320"/>
          </a:xfrm>
          <a:prstGeom prst="rect">
            <a:avLst/>
          </a:prstGeom>
          <a:noFill/>
        </p:spPr>
        <p:txBody>
          <a:bodyPr wrap="square" lIns="0" rIns="0" tIns="0" bIns="0" anchor="t">
            <a:spAutoFit/>
          </a:bodyPr>
          <a:lstStyle/>
          <a:p>
            <a:pPr algn="l">
              <a:lnSpc>
                <a:spcPct val="100000"/>
              </a:lnSpc>
            </a:pPr>
            <a:r>
              <a:rPr sz="1200" b="1">
                <a:solidFill>
                  <a:srgbClr val="E2571B"/>
                </a:solidFill>
                <a:latin typeface="Noto Sans KR"/>
                <a:ea typeface="Noto Sans KR"/>
                <a:cs typeface="Noto Sans KR"/>
              </a:rPr>
              <a:t>로드맵</a:t>
            </a:r>
          </a:p>
        </p:txBody>
      </p:sp>
      <p:sp>
        <p:nvSpPr>
          <p:cNvPr id="3" name="TextBox 2"/>
          <p:cNvSpPr txBox="1"/>
          <p:nvPr/>
        </p:nvSpPr>
        <p:spPr>
          <a:xfrm>
            <a:off x="685800" y="932688"/>
            <a:ext cx="10820095" cy="542391"/>
          </a:xfrm>
          <a:prstGeom prst="rect">
            <a:avLst/>
          </a:prstGeom>
          <a:noFill/>
        </p:spPr>
        <p:txBody>
          <a:bodyPr wrap="square" lIns="0" rIns="0" tIns="0" bIns="0" anchor="t">
            <a:spAutoFit/>
          </a:bodyPr>
          <a:lstStyle/>
          <a:p>
            <a:pPr algn="l">
              <a:lnSpc>
                <a:spcPct val="95000"/>
              </a:lnSpc>
            </a:pPr>
            <a:r>
              <a:rPr sz="3000" b="1">
                <a:solidFill>
                  <a:srgbClr val="15171A"/>
                </a:solidFill>
                <a:latin typeface="Noto Sans KR"/>
                <a:ea typeface="Noto Sans KR"/>
                <a:cs typeface="Noto Sans KR"/>
              </a:rPr>
              <a:t>24개월 4단계 검증 계획</a:t>
            </a:r>
          </a:p>
        </p:txBody>
      </p:sp>
      <p:sp>
        <p:nvSpPr>
          <p:cNvPr id="4" name="TextBox 3"/>
          <p:cNvSpPr txBox="1"/>
          <p:nvPr/>
        </p:nvSpPr>
        <p:spPr>
          <a:xfrm>
            <a:off x="685800" y="1584807"/>
            <a:ext cx="10820095" cy="329184"/>
          </a:xfrm>
          <a:prstGeom prst="rect">
            <a:avLst/>
          </a:prstGeom>
          <a:noFill/>
        </p:spPr>
        <p:txBody>
          <a:bodyPr wrap="square" lIns="0" rIns="0" tIns="0" bIns="0" anchor="t">
            <a:spAutoFit/>
          </a:bodyPr>
          <a:lstStyle/>
          <a:p>
            <a:pPr algn="l">
              <a:lnSpc>
                <a:spcPct val="100000"/>
              </a:lnSpc>
            </a:pPr>
            <a:r>
              <a:rPr sz="1600" b="0">
                <a:solidFill>
                  <a:srgbClr val="4A4F57"/>
                </a:solidFill>
                <a:latin typeface="Noto Sans KR"/>
                <a:ea typeface="Noto Sans KR"/>
                <a:cs typeface="Noto Sans KR"/>
              </a:rPr>
              <a:t>단계마다 질문 하나, 미달 시 다음 단계 자금 집행 재검토</a:t>
            </a:r>
          </a:p>
        </p:txBody>
      </p:sp>
      <p:cxnSp>
        <p:nvCxnSpPr>
          <p:cNvPr id="5" name="Connector 4"/>
          <p:cNvCxnSpPr/>
          <p:nvPr/>
        </p:nvCxnSpPr>
        <p:spPr>
          <a:xfrm>
            <a:off x="685800" y="2279751"/>
            <a:ext cx="10820095" cy="0"/>
          </a:xfrm>
          <a:prstGeom prst="line">
            <a:avLst/>
          </a:prstGeom>
          <a:ln w="15875">
            <a:solidFill>
              <a:srgbClr val="15171A"/>
            </a:solidFill>
          </a:ln>
        </p:spPr>
      </p:cxnSp>
      <p:sp>
        <p:nvSpPr>
          <p:cNvPr id="6" name="Oval 5"/>
          <p:cNvSpPr/>
          <p:nvPr/>
        </p:nvSpPr>
        <p:spPr>
          <a:xfrm>
            <a:off x="676656" y="2224887"/>
            <a:ext cx="109728" cy="109728"/>
          </a:xfrm>
          <a:prstGeom prst="ellipse">
            <a:avLst/>
          </a:prstGeom>
          <a:solidFill>
            <a:srgbClr val="15171A"/>
          </a:solidFill>
          <a:ln>
            <a:noFill/>
          </a:ln>
        </p:spPr>
        <p:txBody>
          <a:bodyPr rtlCol="0" anchor="ctr"/>
          <a:lstStyle/>
          <a:p>
            <a:pPr algn="ctr"/>
          </a:p>
        </p:txBody>
      </p:sp>
      <p:sp>
        <p:nvSpPr>
          <p:cNvPr id="7" name="TextBox 6"/>
          <p:cNvSpPr txBox="1"/>
          <p:nvPr/>
        </p:nvSpPr>
        <p:spPr>
          <a:xfrm>
            <a:off x="685800" y="2435199"/>
            <a:ext cx="2533573" cy="256032"/>
          </a:xfrm>
          <a:prstGeom prst="rect">
            <a:avLst/>
          </a:prstGeom>
          <a:noFill/>
        </p:spPr>
        <p:txBody>
          <a:bodyPr wrap="square" lIns="0" rIns="0" tIns="0" bIns="0" anchor="t">
            <a:spAutoFit/>
          </a:bodyPr>
          <a:lstStyle/>
          <a:p>
            <a:pPr algn="l">
              <a:lnSpc>
                <a:spcPct val="100000"/>
              </a:lnSpc>
            </a:pPr>
            <a:r>
              <a:rPr sz="1200" b="1">
                <a:solidFill>
                  <a:srgbClr val="E2571B"/>
                </a:solidFill>
                <a:latin typeface="Noto Sans KR"/>
                <a:ea typeface="Noto Sans KR"/>
                <a:cs typeface="Noto Sans KR"/>
              </a:rPr>
              <a:t>M0~M6</a:t>
            </a:r>
          </a:p>
        </p:txBody>
      </p:sp>
      <p:sp>
        <p:nvSpPr>
          <p:cNvPr id="8" name="TextBox 7"/>
          <p:cNvSpPr txBox="1"/>
          <p:nvPr/>
        </p:nvSpPr>
        <p:spPr>
          <a:xfrm>
            <a:off x="685800" y="2709519"/>
            <a:ext cx="2533573" cy="365760"/>
          </a:xfrm>
          <a:prstGeom prst="rect">
            <a:avLst/>
          </a:prstGeom>
          <a:noFill/>
        </p:spPr>
        <p:txBody>
          <a:bodyPr wrap="square" lIns="0" rIns="0" tIns="0" bIns="0" anchor="t">
            <a:spAutoFit/>
          </a:bodyPr>
          <a:lstStyle/>
          <a:p>
            <a:pPr algn="l">
              <a:lnSpc>
                <a:spcPct val="100000"/>
              </a:lnSpc>
            </a:pPr>
            <a:r>
              <a:rPr sz="1900" b="1">
                <a:solidFill>
                  <a:srgbClr val="15171A"/>
                </a:solidFill>
                <a:latin typeface="Noto Sans KR"/>
                <a:ea typeface="Noto Sans KR"/>
                <a:cs typeface="Noto Sans KR"/>
              </a:rPr>
              <a:t>기술 검증</a:t>
            </a:r>
          </a:p>
        </p:txBody>
      </p:sp>
      <p:sp>
        <p:nvSpPr>
          <p:cNvPr id="9" name="TextBox 8"/>
          <p:cNvSpPr txBox="1"/>
          <p:nvPr/>
        </p:nvSpPr>
        <p:spPr>
          <a:xfrm>
            <a:off x="685800" y="3102711"/>
            <a:ext cx="2533573" cy="274320"/>
          </a:xfrm>
          <a:prstGeom prst="rect">
            <a:avLst/>
          </a:prstGeom>
          <a:noFill/>
        </p:spPr>
        <p:txBody>
          <a:bodyPr wrap="square" lIns="0" rIns="0" tIns="0" bIns="0" anchor="t">
            <a:spAutoFit/>
          </a:bodyPr>
          <a:lstStyle/>
          <a:p>
            <a:pPr algn="l">
              <a:lnSpc>
                <a:spcPct val="100000"/>
              </a:lnSpc>
            </a:pPr>
            <a:r>
              <a:rPr sz="1200" b="0">
                <a:solidFill>
                  <a:srgbClr val="4A4F57"/>
                </a:solidFill>
                <a:latin typeface="Noto Sans KR"/>
                <a:ea typeface="Noto Sans KR"/>
                <a:cs typeface="Noto Sans KR"/>
              </a:rPr>
              <a:t>핸드 하나로 대표 공정 수행</a:t>
            </a:r>
          </a:p>
        </p:txBody>
      </p:sp>
      <p:sp>
        <p:nvSpPr>
          <p:cNvPr id="10" name="TextBox 9"/>
          <p:cNvSpPr txBox="1"/>
          <p:nvPr/>
        </p:nvSpPr>
        <p:spPr>
          <a:xfrm>
            <a:off x="685800" y="3495903"/>
            <a:ext cx="2533573" cy="2011680"/>
          </a:xfrm>
          <a:prstGeom prst="rect">
            <a:avLst/>
          </a:prstGeom>
          <a:noFill/>
        </p:spPr>
        <p:txBody>
          <a:bodyPr wrap="square" lIns="0" rIns="0" tIns="0" bIns="0" anchor="t">
            <a:spAutoFit/>
          </a:bodyPr>
          <a:lstStyle/>
          <a:p>
            <a:pPr algn="l" marL="155448" indent="-155448">
              <a:lnSpc>
                <a:spcPct val="100000"/>
              </a:lnSpc>
              <a:spcAft>
                <a:spcPts val="400"/>
              </a:spcAft>
              <a:buClr>
                <a:srgbClr val="8C9198"/>
              </a:buClr>
              <a:buFont typeface="Noto Sans KR"/>
              <a:buChar char="•"/>
            </a:pPr>
            <a:r>
              <a:rPr sz="1200" b="0">
                <a:solidFill>
                  <a:srgbClr val="15171A"/>
                </a:solidFill>
                <a:latin typeface="Noto Sans KR"/>
                <a:ea typeface="Noto Sans KR"/>
                <a:cs typeface="Noto Sans KR"/>
              </a:rPr>
              <a:t>법인 설립·핵심 인력 합류</a:t>
            </a:r>
          </a:p>
          <a:p>
            <a:pPr algn="l" marL="155448" indent="-155448">
              <a:lnSpc>
                <a:spcPct val="100000"/>
              </a:lnSpc>
              <a:spcAft>
                <a:spcPts val="400"/>
              </a:spcAft>
              <a:buClr>
                <a:srgbClr val="8C9198"/>
              </a:buClr>
              <a:buFont typeface="Noto Sans KR"/>
              <a:buChar char="•"/>
            </a:pPr>
            <a:r>
              <a:rPr sz="1200" b="0">
                <a:solidFill>
                  <a:srgbClr val="15171A"/>
                </a:solidFill>
                <a:latin typeface="Noto Sans KR"/>
                <a:ea typeface="Noto Sans KR"/>
                <a:cs typeface="Noto Sans KR"/>
              </a:rPr>
              <a:t>SoftHand-4 알파 시제품</a:t>
            </a:r>
          </a:p>
          <a:p>
            <a:pPr algn="l" marL="155448" indent="-155448">
              <a:lnSpc>
                <a:spcPct val="100000"/>
              </a:lnSpc>
              <a:spcAft>
                <a:spcPts val="400"/>
              </a:spcAft>
              <a:buClr>
                <a:srgbClr val="8C9198"/>
              </a:buClr>
              <a:buFont typeface="Noto Sans KR"/>
              <a:buChar char="•"/>
            </a:pPr>
            <a:r>
              <a:rPr sz="1200" b="0">
                <a:solidFill>
                  <a:srgbClr val="15171A"/>
                </a:solidFill>
                <a:latin typeface="Noto Sans KR"/>
                <a:ea typeface="Noto Sans KR"/>
                <a:cs typeface="Noto Sans KR"/>
              </a:rPr>
              <a:t>머신텐딩 대표 공정 시연</a:t>
            </a:r>
          </a:p>
          <a:p>
            <a:pPr algn="l" marL="155448" indent="-155448">
              <a:lnSpc>
                <a:spcPct val="100000"/>
              </a:lnSpc>
              <a:spcAft>
                <a:spcPts val="400"/>
              </a:spcAft>
              <a:buClr>
                <a:srgbClr val="8C9198"/>
              </a:buClr>
              <a:buFont typeface="Noto Sans KR"/>
              <a:buChar char="•"/>
            </a:pPr>
            <a:r>
              <a:rPr sz="1200" b="0">
                <a:solidFill>
                  <a:srgbClr val="15171A"/>
                </a:solidFill>
                <a:latin typeface="Noto Sans KR"/>
                <a:ea typeface="Noto Sans KR"/>
                <a:cs typeface="Noto Sans KR"/>
              </a:rPr>
              <a:t>고객 인터뷰 30곳</a:t>
            </a:r>
          </a:p>
          <a:p>
            <a:pPr algn="l" marL="155448" indent="-155448">
              <a:lnSpc>
                <a:spcPct val="100000"/>
              </a:lnSpc>
              <a:spcAft>
                <a:spcPts val="400"/>
              </a:spcAft>
              <a:buClr>
                <a:srgbClr val="8C9198"/>
              </a:buClr>
              <a:buFont typeface="Noto Sans KR"/>
              <a:buChar char="•"/>
            </a:pPr>
            <a:r>
              <a:rPr sz="1200" b="0">
                <a:solidFill>
                  <a:srgbClr val="15171A"/>
                </a:solidFill>
                <a:latin typeface="Noto Sans KR"/>
                <a:ea typeface="Noto Sans KR"/>
                <a:cs typeface="Noto Sans KR"/>
              </a:rPr>
              <a:t>공동개발 고객 후보 확보</a:t>
            </a:r>
          </a:p>
          <a:p>
            <a:pPr algn="l" marL="155448" indent="-155448">
              <a:lnSpc>
                <a:spcPct val="100000"/>
              </a:lnSpc>
              <a:buClr>
                <a:srgbClr val="8C9198"/>
              </a:buClr>
              <a:buFont typeface="Noto Sans KR"/>
              <a:buChar char="•"/>
            </a:pPr>
            <a:r>
              <a:rPr sz="1200" b="0">
                <a:solidFill>
                  <a:srgbClr val="15171A"/>
                </a:solidFill>
                <a:latin typeface="Noto Sans KR"/>
                <a:ea typeface="Noto Sans KR"/>
                <a:cs typeface="Noto Sans KR"/>
              </a:rPr>
              <a:t>반복 실험 기록</a:t>
            </a:r>
          </a:p>
        </p:txBody>
      </p:sp>
      <p:sp>
        <p:nvSpPr>
          <p:cNvPr id="11" name="Oval 10"/>
          <p:cNvSpPr/>
          <p:nvPr/>
        </p:nvSpPr>
        <p:spPr>
          <a:xfrm>
            <a:off x="3438829" y="2224887"/>
            <a:ext cx="109728" cy="109728"/>
          </a:xfrm>
          <a:prstGeom prst="ellipse">
            <a:avLst/>
          </a:prstGeom>
          <a:solidFill>
            <a:srgbClr val="15171A"/>
          </a:solidFill>
          <a:ln>
            <a:noFill/>
          </a:ln>
        </p:spPr>
        <p:txBody>
          <a:bodyPr rtlCol="0" anchor="ctr"/>
          <a:lstStyle/>
          <a:p>
            <a:pPr algn="ctr"/>
          </a:p>
        </p:txBody>
      </p:sp>
      <p:sp>
        <p:nvSpPr>
          <p:cNvPr id="12" name="TextBox 11"/>
          <p:cNvSpPr txBox="1"/>
          <p:nvPr/>
        </p:nvSpPr>
        <p:spPr>
          <a:xfrm>
            <a:off x="3447973" y="2435199"/>
            <a:ext cx="2533573" cy="256032"/>
          </a:xfrm>
          <a:prstGeom prst="rect">
            <a:avLst/>
          </a:prstGeom>
          <a:noFill/>
        </p:spPr>
        <p:txBody>
          <a:bodyPr wrap="square" lIns="0" rIns="0" tIns="0" bIns="0" anchor="t">
            <a:spAutoFit/>
          </a:bodyPr>
          <a:lstStyle/>
          <a:p>
            <a:pPr algn="l">
              <a:lnSpc>
                <a:spcPct val="100000"/>
              </a:lnSpc>
            </a:pPr>
            <a:r>
              <a:rPr sz="1200" b="1">
                <a:solidFill>
                  <a:srgbClr val="E2571B"/>
                </a:solidFill>
                <a:latin typeface="Noto Sans KR"/>
                <a:ea typeface="Noto Sans KR"/>
                <a:cs typeface="Noto Sans KR"/>
              </a:rPr>
              <a:t>M6~M12</a:t>
            </a:r>
          </a:p>
        </p:txBody>
      </p:sp>
      <p:sp>
        <p:nvSpPr>
          <p:cNvPr id="13" name="TextBox 12"/>
          <p:cNvSpPr txBox="1"/>
          <p:nvPr/>
        </p:nvSpPr>
        <p:spPr>
          <a:xfrm>
            <a:off x="3447973" y="2709519"/>
            <a:ext cx="2533573" cy="365760"/>
          </a:xfrm>
          <a:prstGeom prst="rect">
            <a:avLst/>
          </a:prstGeom>
          <a:noFill/>
        </p:spPr>
        <p:txBody>
          <a:bodyPr wrap="square" lIns="0" rIns="0" tIns="0" bIns="0" anchor="t">
            <a:spAutoFit/>
          </a:bodyPr>
          <a:lstStyle/>
          <a:p>
            <a:pPr algn="l">
              <a:lnSpc>
                <a:spcPct val="100000"/>
              </a:lnSpc>
            </a:pPr>
            <a:r>
              <a:rPr sz="1900" b="1">
                <a:solidFill>
                  <a:srgbClr val="15171A"/>
                </a:solidFill>
                <a:latin typeface="Noto Sans KR"/>
                <a:ea typeface="Noto Sans KR"/>
                <a:cs typeface="Noto Sans KR"/>
              </a:rPr>
              <a:t>고객 검증</a:t>
            </a:r>
          </a:p>
        </p:txBody>
      </p:sp>
      <p:sp>
        <p:nvSpPr>
          <p:cNvPr id="14" name="TextBox 13"/>
          <p:cNvSpPr txBox="1"/>
          <p:nvPr/>
        </p:nvSpPr>
        <p:spPr>
          <a:xfrm>
            <a:off x="3447973" y="3102711"/>
            <a:ext cx="2533573" cy="274320"/>
          </a:xfrm>
          <a:prstGeom prst="rect">
            <a:avLst/>
          </a:prstGeom>
          <a:noFill/>
        </p:spPr>
        <p:txBody>
          <a:bodyPr wrap="square" lIns="0" rIns="0" tIns="0" bIns="0" anchor="t">
            <a:spAutoFit/>
          </a:bodyPr>
          <a:lstStyle/>
          <a:p>
            <a:pPr algn="l">
              <a:lnSpc>
                <a:spcPct val="100000"/>
              </a:lnSpc>
            </a:pPr>
            <a:r>
              <a:rPr sz="1200" b="0">
                <a:solidFill>
                  <a:srgbClr val="4A4F57"/>
                </a:solidFill>
                <a:latin typeface="Noto Sans KR"/>
                <a:ea typeface="Noto Sans KR"/>
                <a:cs typeface="Noto Sans KR"/>
              </a:rPr>
              <a:t>고객이 돈을 낼 이유 확인</a:t>
            </a:r>
          </a:p>
        </p:txBody>
      </p:sp>
      <p:sp>
        <p:nvSpPr>
          <p:cNvPr id="15" name="TextBox 14"/>
          <p:cNvSpPr txBox="1"/>
          <p:nvPr/>
        </p:nvSpPr>
        <p:spPr>
          <a:xfrm>
            <a:off x="3447973" y="3495903"/>
            <a:ext cx="2533573" cy="2011680"/>
          </a:xfrm>
          <a:prstGeom prst="rect">
            <a:avLst/>
          </a:prstGeom>
          <a:noFill/>
        </p:spPr>
        <p:txBody>
          <a:bodyPr wrap="square" lIns="0" rIns="0" tIns="0" bIns="0" anchor="t">
            <a:spAutoFit/>
          </a:bodyPr>
          <a:lstStyle/>
          <a:p>
            <a:pPr algn="l" marL="155448" indent="-155448">
              <a:lnSpc>
                <a:spcPct val="100000"/>
              </a:lnSpc>
              <a:spcAft>
                <a:spcPts val="400"/>
              </a:spcAft>
              <a:buClr>
                <a:srgbClr val="8C9198"/>
              </a:buClr>
              <a:buFont typeface="Noto Sans KR"/>
              <a:buChar char="•"/>
            </a:pPr>
            <a:r>
              <a:rPr sz="1200" b="0">
                <a:solidFill>
                  <a:srgbClr val="15171A"/>
                </a:solidFill>
                <a:latin typeface="Noto Sans KR"/>
                <a:ea typeface="Noto Sans KR"/>
                <a:cs typeface="Noto Sans KR"/>
              </a:rPr>
              <a:t>첫 유료 PoC</a:t>
            </a:r>
          </a:p>
          <a:p>
            <a:pPr algn="l" marL="155448" indent="-155448">
              <a:lnSpc>
                <a:spcPct val="100000"/>
              </a:lnSpc>
              <a:spcAft>
                <a:spcPts val="400"/>
              </a:spcAft>
              <a:buClr>
                <a:srgbClr val="8C9198"/>
              </a:buClr>
              <a:buFont typeface="Noto Sans KR"/>
              <a:buChar char="•"/>
            </a:pPr>
            <a:r>
              <a:rPr sz="1200" b="0">
                <a:solidFill>
                  <a:srgbClr val="15171A"/>
                </a:solidFill>
                <a:latin typeface="Noto Sans KR"/>
                <a:ea typeface="Noto Sans KR"/>
                <a:cs typeface="Noto Sans KR"/>
              </a:rPr>
              <a:t>고객 기존 수치 확보</a:t>
            </a:r>
          </a:p>
          <a:p>
            <a:pPr algn="l" marL="155448" indent="-155448">
              <a:lnSpc>
                <a:spcPct val="100000"/>
              </a:lnSpc>
              <a:spcAft>
                <a:spcPts val="400"/>
              </a:spcAft>
              <a:buClr>
                <a:srgbClr val="8C9198"/>
              </a:buClr>
              <a:buFont typeface="Noto Sans KR"/>
              <a:buChar char="•"/>
            </a:pPr>
            <a:r>
              <a:rPr sz="1200" b="0">
                <a:solidFill>
                  <a:srgbClr val="15171A"/>
                </a:solidFill>
                <a:latin typeface="Noto Sans KR"/>
                <a:ea typeface="Noto Sans KR"/>
                <a:cs typeface="Noto Sans KR"/>
              </a:rPr>
              <a:t>엔지니어링 시간 측정</a:t>
            </a:r>
          </a:p>
          <a:p>
            <a:pPr algn="l" marL="155448" indent="-155448">
              <a:lnSpc>
                <a:spcPct val="100000"/>
              </a:lnSpc>
              <a:spcAft>
                <a:spcPts val="400"/>
              </a:spcAft>
              <a:buClr>
                <a:srgbClr val="8C9198"/>
              </a:buClr>
              <a:buFont typeface="Noto Sans KR"/>
              <a:buChar char="•"/>
            </a:pPr>
            <a:r>
              <a:rPr sz="1200" b="0">
                <a:solidFill>
                  <a:srgbClr val="15171A"/>
                </a:solidFill>
                <a:latin typeface="Noto Sans KR"/>
                <a:ea typeface="Noto Sans KR"/>
                <a:cs typeface="Noto Sans KR"/>
              </a:rPr>
              <a:t>툴링 비용·통합 기간 측정</a:t>
            </a:r>
          </a:p>
          <a:p>
            <a:pPr algn="l" marL="155448" indent="-155448">
              <a:lnSpc>
                <a:spcPct val="100000"/>
              </a:lnSpc>
              <a:buClr>
                <a:srgbClr val="8C9198"/>
              </a:buClr>
              <a:buFont typeface="Noto Sans KR"/>
              <a:buChar char="•"/>
            </a:pPr>
            <a:r>
              <a:rPr sz="1200" b="0">
                <a:solidFill>
                  <a:srgbClr val="15171A"/>
                </a:solidFill>
                <a:latin typeface="Noto Sans KR"/>
                <a:ea typeface="Noto Sans KR"/>
                <a:cs typeface="Noto Sans KR"/>
              </a:rPr>
              <a:t>작업 스킬 V1</a:t>
            </a:r>
          </a:p>
        </p:txBody>
      </p:sp>
      <p:sp>
        <p:nvSpPr>
          <p:cNvPr id="16" name="Oval 15"/>
          <p:cNvSpPr/>
          <p:nvPr/>
        </p:nvSpPr>
        <p:spPr>
          <a:xfrm>
            <a:off x="6201003" y="2224887"/>
            <a:ext cx="109728" cy="109728"/>
          </a:xfrm>
          <a:prstGeom prst="ellipse">
            <a:avLst/>
          </a:prstGeom>
          <a:solidFill>
            <a:srgbClr val="15171A"/>
          </a:solidFill>
          <a:ln>
            <a:noFill/>
          </a:ln>
        </p:spPr>
        <p:txBody>
          <a:bodyPr rtlCol="0" anchor="ctr"/>
          <a:lstStyle/>
          <a:p>
            <a:pPr algn="ctr"/>
          </a:p>
        </p:txBody>
      </p:sp>
      <p:sp>
        <p:nvSpPr>
          <p:cNvPr id="17" name="TextBox 16"/>
          <p:cNvSpPr txBox="1"/>
          <p:nvPr/>
        </p:nvSpPr>
        <p:spPr>
          <a:xfrm>
            <a:off x="6210147" y="2435199"/>
            <a:ext cx="2533573" cy="256032"/>
          </a:xfrm>
          <a:prstGeom prst="rect">
            <a:avLst/>
          </a:prstGeom>
          <a:noFill/>
        </p:spPr>
        <p:txBody>
          <a:bodyPr wrap="square" lIns="0" rIns="0" tIns="0" bIns="0" anchor="t">
            <a:spAutoFit/>
          </a:bodyPr>
          <a:lstStyle/>
          <a:p>
            <a:pPr algn="l">
              <a:lnSpc>
                <a:spcPct val="100000"/>
              </a:lnSpc>
            </a:pPr>
            <a:r>
              <a:rPr sz="1200" b="1">
                <a:solidFill>
                  <a:srgbClr val="E2571B"/>
                </a:solidFill>
                <a:latin typeface="Noto Sans KR"/>
                <a:ea typeface="Noto Sans KR"/>
                <a:cs typeface="Noto Sans KR"/>
              </a:rPr>
              <a:t>M12~M18</a:t>
            </a:r>
          </a:p>
        </p:txBody>
      </p:sp>
      <p:sp>
        <p:nvSpPr>
          <p:cNvPr id="18" name="TextBox 17"/>
          <p:cNvSpPr txBox="1"/>
          <p:nvPr/>
        </p:nvSpPr>
        <p:spPr>
          <a:xfrm>
            <a:off x="6210147" y="2709519"/>
            <a:ext cx="2533573" cy="365760"/>
          </a:xfrm>
          <a:prstGeom prst="rect">
            <a:avLst/>
          </a:prstGeom>
          <a:noFill/>
        </p:spPr>
        <p:txBody>
          <a:bodyPr wrap="square" lIns="0" rIns="0" tIns="0" bIns="0" anchor="t">
            <a:spAutoFit/>
          </a:bodyPr>
          <a:lstStyle/>
          <a:p>
            <a:pPr algn="l">
              <a:lnSpc>
                <a:spcPct val="100000"/>
              </a:lnSpc>
            </a:pPr>
            <a:r>
              <a:rPr sz="1900" b="1">
                <a:solidFill>
                  <a:srgbClr val="15171A"/>
                </a:solidFill>
                <a:latin typeface="Noto Sans KR"/>
                <a:ea typeface="Noto Sans KR"/>
                <a:cs typeface="Noto Sans KR"/>
              </a:rPr>
              <a:t>제품 검증</a:t>
            </a:r>
          </a:p>
        </p:txBody>
      </p:sp>
      <p:sp>
        <p:nvSpPr>
          <p:cNvPr id="19" name="TextBox 18"/>
          <p:cNvSpPr txBox="1"/>
          <p:nvPr/>
        </p:nvSpPr>
        <p:spPr>
          <a:xfrm>
            <a:off x="6210147" y="3102711"/>
            <a:ext cx="2533573" cy="274320"/>
          </a:xfrm>
          <a:prstGeom prst="rect">
            <a:avLst/>
          </a:prstGeom>
          <a:noFill/>
        </p:spPr>
        <p:txBody>
          <a:bodyPr wrap="square" lIns="0" rIns="0" tIns="0" bIns="0" anchor="t">
            <a:spAutoFit/>
          </a:bodyPr>
          <a:lstStyle/>
          <a:p>
            <a:pPr algn="l">
              <a:lnSpc>
                <a:spcPct val="100000"/>
              </a:lnSpc>
            </a:pPr>
            <a:r>
              <a:rPr sz="1200" b="0">
                <a:solidFill>
                  <a:srgbClr val="4A4F57"/>
                </a:solidFill>
                <a:latin typeface="Noto Sans KR"/>
                <a:ea typeface="Noto Sans KR"/>
                <a:cs typeface="Noto Sans KR"/>
              </a:rPr>
              <a:t>반복 판매되는 제품 확인</a:t>
            </a:r>
          </a:p>
        </p:txBody>
      </p:sp>
      <p:sp>
        <p:nvSpPr>
          <p:cNvPr id="20" name="TextBox 19"/>
          <p:cNvSpPr txBox="1"/>
          <p:nvPr/>
        </p:nvSpPr>
        <p:spPr>
          <a:xfrm>
            <a:off x="6210147" y="3495903"/>
            <a:ext cx="2533573" cy="2011680"/>
          </a:xfrm>
          <a:prstGeom prst="rect">
            <a:avLst/>
          </a:prstGeom>
          <a:noFill/>
        </p:spPr>
        <p:txBody>
          <a:bodyPr wrap="square" lIns="0" rIns="0" tIns="0" bIns="0" anchor="t">
            <a:spAutoFit/>
          </a:bodyPr>
          <a:lstStyle/>
          <a:p>
            <a:pPr algn="l" marL="155448" indent="-155448">
              <a:lnSpc>
                <a:spcPct val="100000"/>
              </a:lnSpc>
              <a:spcAft>
                <a:spcPts val="400"/>
              </a:spcAft>
              <a:buClr>
                <a:srgbClr val="8C9198"/>
              </a:buClr>
              <a:buFont typeface="Noto Sans KR"/>
              <a:buChar char="•"/>
            </a:pPr>
            <a:r>
              <a:rPr sz="1200" b="0">
                <a:solidFill>
                  <a:srgbClr val="15171A"/>
                </a:solidFill>
                <a:latin typeface="Noto Sans KR"/>
                <a:ea typeface="Noto Sans KR"/>
                <a:cs typeface="Noto Sans KR"/>
              </a:rPr>
              <a:t>설계 확정·BOM·공급사</a:t>
            </a:r>
          </a:p>
          <a:p>
            <a:pPr algn="l" marL="155448" indent="-155448">
              <a:lnSpc>
                <a:spcPct val="100000"/>
              </a:lnSpc>
              <a:spcAft>
                <a:spcPts val="400"/>
              </a:spcAft>
              <a:buClr>
                <a:srgbClr val="8C9198"/>
              </a:buClr>
              <a:buFont typeface="Noto Sans KR"/>
              <a:buChar char="•"/>
            </a:pPr>
            <a:r>
              <a:rPr sz="1200" b="0">
                <a:solidFill>
                  <a:srgbClr val="15171A"/>
                </a:solidFill>
                <a:latin typeface="Noto Sans KR"/>
                <a:ea typeface="Noto Sans KR"/>
                <a:cs typeface="Noto Sans KR"/>
              </a:rPr>
              <a:t>내구성·제조원가 검증</a:t>
            </a:r>
          </a:p>
          <a:p>
            <a:pPr algn="l" marL="155448" indent="-155448">
              <a:lnSpc>
                <a:spcPct val="100000"/>
              </a:lnSpc>
              <a:spcAft>
                <a:spcPts val="400"/>
              </a:spcAft>
              <a:buClr>
                <a:srgbClr val="8C9198"/>
              </a:buClr>
              <a:buFont typeface="Noto Sans KR"/>
              <a:buChar char="•"/>
            </a:pPr>
            <a:r>
              <a:rPr sz="1200" b="0">
                <a:solidFill>
                  <a:srgbClr val="15171A"/>
                </a:solidFill>
                <a:latin typeface="Noto Sans KR"/>
                <a:ea typeface="Noto Sans KR"/>
                <a:cs typeface="Noto Sans KR"/>
              </a:rPr>
              <a:t>첫 재구매</a:t>
            </a:r>
          </a:p>
          <a:p>
            <a:pPr algn="l" marL="155448" indent="-155448">
              <a:lnSpc>
                <a:spcPct val="100000"/>
              </a:lnSpc>
              <a:spcAft>
                <a:spcPts val="400"/>
              </a:spcAft>
              <a:buClr>
                <a:srgbClr val="8C9198"/>
              </a:buClr>
              <a:buFont typeface="Noto Sans KR"/>
              <a:buChar char="•"/>
            </a:pPr>
            <a:r>
              <a:rPr sz="1200" b="0">
                <a:solidFill>
                  <a:srgbClr val="15171A"/>
                </a:solidFill>
                <a:latin typeface="Noto Sans KR"/>
                <a:ea typeface="Noto Sans KR"/>
                <a:cs typeface="Noto Sans KR"/>
              </a:rPr>
              <a:t>첫 재사용 스킬 팩</a:t>
            </a:r>
          </a:p>
          <a:p>
            <a:pPr algn="l" marL="155448" indent="-155448">
              <a:lnSpc>
                <a:spcPct val="100000"/>
              </a:lnSpc>
              <a:spcAft>
                <a:spcPts val="400"/>
              </a:spcAft>
              <a:buClr>
                <a:srgbClr val="8C9198"/>
              </a:buClr>
              <a:buFont typeface="Noto Sans KR"/>
              <a:buChar char="•"/>
            </a:pPr>
            <a:r>
              <a:rPr sz="1200" b="0">
                <a:solidFill>
                  <a:srgbClr val="15171A"/>
                </a:solidFill>
                <a:latin typeface="Noto Sans KR"/>
                <a:ea typeface="Noto Sans KR"/>
                <a:cs typeface="Noto Sans KR"/>
              </a:rPr>
              <a:t>재사용률 측정 시작</a:t>
            </a:r>
          </a:p>
          <a:p>
            <a:pPr algn="l" marL="155448" indent="-155448">
              <a:lnSpc>
                <a:spcPct val="100000"/>
              </a:lnSpc>
              <a:buClr>
                <a:srgbClr val="8C9198"/>
              </a:buClr>
              <a:buFont typeface="Noto Sans KR"/>
              <a:buChar char="•"/>
            </a:pPr>
            <a:r>
              <a:rPr sz="1200" b="0">
                <a:solidFill>
                  <a:srgbClr val="15171A"/>
                </a:solidFill>
                <a:latin typeface="Noto Sans KR"/>
                <a:ea typeface="Noto Sans KR"/>
                <a:cs typeface="Noto Sans KR"/>
              </a:rPr>
              <a:t>로봇 B 통합</a:t>
            </a:r>
          </a:p>
        </p:txBody>
      </p:sp>
      <p:sp>
        <p:nvSpPr>
          <p:cNvPr id="21" name="Oval 20"/>
          <p:cNvSpPr/>
          <p:nvPr/>
        </p:nvSpPr>
        <p:spPr>
          <a:xfrm>
            <a:off x="8963177" y="2224887"/>
            <a:ext cx="109728" cy="109728"/>
          </a:xfrm>
          <a:prstGeom prst="ellipse">
            <a:avLst/>
          </a:prstGeom>
          <a:solidFill>
            <a:srgbClr val="E2571B"/>
          </a:solidFill>
          <a:ln>
            <a:noFill/>
          </a:ln>
        </p:spPr>
        <p:txBody>
          <a:bodyPr rtlCol="0" anchor="ctr"/>
          <a:lstStyle/>
          <a:p>
            <a:pPr algn="ctr"/>
          </a:p>
        </p:txBody>
      </p:sp>
      <p:sp>
        <p:nvSpPr>
          <p:cNvPr id="22" name="TextBox 21"/>
          <p:cNvSpPr txBox="1"/>
          <p:nvPr/>
        </p:nvSpPr>
        <p:spPr>
          <a:xfrm>
            <a:off x="8972321" y="2435199"/>
            <a:ext cx="2533573" cy="256032"/>
          </a:xfrm>
          <a:prstGeom prst="rect">
            <a:avLst/>
          </a:prstGeom>
          <a:noFill/>
        </p:spPr>
        <p:txBody>
          <a:bodyPr wrap="square" lIns="0" rIns="0" tIns="0" bIns="0" anchor="t">
            <a:spAutoFit/>
          </a:bodyPr>
          <a:lstStyle/>
          <a:p>
            <a:pPr algn="l">
              <a:lnSpc>
                <a:spcPct val="100000"/>
              </a:lnSpc>
            </a:pPr>
            <a:r>
              <a:rPr sz="1200" b="1">
                <a:solidFill>
                  <a:srgbClr val="E2571B"/>
                </a:solidFill>
                <a:latin typeface="Noto Sans KR"/>
                <a:ea typeface="Noto Sans KR"/>
                <a:cs typeface="Noto Sans KR"/>
              </a:rPr>
              <a:t>M18~M24</a:t>
            </a:r>
          </a:p>
        </p:txBody>
      </p:sp>
      <p:sp>
        <p:nvSpPr>
          <p:cNvPr id="23" name="TextBox 22"/>
          <p:cNvSpPr txBox="1"/>
          <p:nvPr/>
        </p:nvSpPr>
        <p:spPr>
          <a:xfrm>
            <a:off x="8972321" y="2709519"/>
            <a:ext cx="2533573" cy="365760"/>
          </a:xfrm>
          <a:prstGeom prst="rect">
            <a:avLst/>
          </a:prstGeom>
          <a:noFill/>
        </p:spPr>
        <p:txBody>
          <a:bodyPr wrap="square" lIns="0" rIns="0" tIns="0" bIns="0" anchor="t">
            <a:spAutoFit/>
          </a:bodyPr>
          <a:lstStyle/>
          <a:p>
            <a:pPr algn="l">
              <a:lnSpc>
                <a:spcPct val="100000"/>
              </a:lnSpc>
            </a:pPr>
            <a:r>
              <a:rPr sz="1900" b="1">
                <a:solidFill>
                  <a:srgbClr val="15171A"/>
                </a:solidFill>
                <a:latin typeface="Noto Sans KR"/>
                <a:ea typeface="Noto Sans KR"/>
                <a:cs typeface="Noto Sans KR"/>
              </a:rPr>
              <a:t>확장 검증</a:t>
            </a:r>
          </a:p>
        </p:txBody>
      </p:sp>
      <p:sp>
        <p:nvSpPr>
          <p:cNvPr id="24" name="TextBox 23"/>
          <p:cNvSpPr txBox="1"/>
          <p:nvPr/>
        </p:nvSpPr>
        <p:spPr>
          <a:xfrm>
            <a:off x="8972321" y="3102711"/>
            <a:ext cx="2533573" cy="274320"/>
          </a:xfrm>
          <a:prstGeom prst="rect">
            <a:avLst/>
          </a:prstGeom>
          <a:noFill/>
        </p:spPr>
        <p:txBody>
          <a:bodyPr wrap="square" lIns="0" rIns="0" tIns="0" bIns="0" anchor="t">
            <a:spAutoFit/>
          </a:bodyPr>
          <a:lstStyle/>
          <a:p>
            <a:pPr algn="l">
              <a:lnSpc>
                <a:spcPct val="100000"/>
              </a:lnSpc>
            </a:pPr>
            <a:r>
              <a:rPr sz="1200" b="0">
                <a:solidFill>
                  <a:srgbClr val="4A4F57"/>
                </a:solidFill>
                <a:latin typeface="Noto Sans KR"/>
                <a:ea typeface="Noto Sans KR"/>
                <a:cs typeface="Noto Sans KR"/>
              </a:rPr>
              <a:t>확장 가능한 구조 확인</a:t>
            </a:r>
          </a:p>
        </p:txBody>
      </p:sp>
      <p:sp>
        <p:nvSpPr>
          <p:cNvPr id="25" name="TextBox 24"/>
          <p:cNvSpPr txBox="1"/>
          <p:nvPr/>
        </p:nvSpPr>
        <p:spPr>
          <a:xfrm>
            <a:off x="8972321" y="3495903"/>
            <a:ext cx="2533573" cy="2011680"/>
          </a:xfrm>
          <a:prstGeom prst="rect">
            <a:avLst/>
          </a:prstGeom>
          <a:noFill/>
        </p:spPr>
        <p:txBody>
          <a:bodyPr wrap="square" lIns="0" rIns="0" tIns="0" bIns="0" anchor="t">
            <a:spAutoFit/>
          </a:bodyPr>
          <a:lstStyle/>
          <a:p>
            <a:pPr algn="l" marL="155448" indent="-155448">
              <a:lnSpc>
                <a:spcPct val="100000"/>
              </a:lnSpc>
              <a:spcAft>
                <a:spcPts val="400"/>
              </a:spcAft>
              <a:buClr>
                <a:srgbClr val="8C9198"/>
              </a:buClr>
              <a:buFont typeface="Noto Sans KR"/>
              <a:buChar char="•"/>
            </a:pPr>
            <a:r>
              <a:rPr sz="1200" b="0">
                <a:solidFill>
                  <a:srgbClr val="15171A"/>
                </a:solidFill>
                <a:latin typeface="Noto Sans KR"/>
                <a:ea typeface="Noto Sans KR"/>
                <a:cs typeface="Noto Sans KR"/>
              </a:rPr>
              <a:t>유료 PoC 5건+</a:t>
            </a:r>
          </a:p>
          <a:p>
            <a:pPr algn="l" marL="155448" indent="-155448">
              <a:lnSpc>
                <a:spcPct val="100000"/>
              </a:lnSpc>
              <a:spcAft>
                <a:spcPts val="400"/>
              </a:spcAft>
              <a:buClr>
                <a:srgbClr val="8C9198"/>
              </a:buClr>
              <a:buFont typeface="Noto Sans KR"/>
              <a:buChar char="•"/>
            </a:pPr>
            <a:r>
              <a:rPr sz="1200" b="0">
                <a:solidFill>
                  <a:srgbClr val="15171A"/>
                </a:solidFill>
                <a:latin typeface="Noto Sans KR"/>
                <a:ea typeface="Noto Sans KR"/>
                <a:cs typeface="Noto Sans KR"/>
              </a:rPr>
              <a:t>재구매 고객 2곳+</a:t>
            </a:r>
          </a:p>
          <a:p>
            <a:pPr algn="l" marL="155448" indent="-155448">
              <a:lnSpc>
                <a:spcPct val="100000"/>
              </a:lnSpc>
              <a:spcAft>
                <a:spcPts val="400"/>
              </a:spcAft>
              <a:buClr>
                <a:srgbClr val="8C9198"/>
              </a:buClr>
              <a:buFont typeface="Noto Sans KR"/>
              <a:buChar char="•"/>
            </a:pPr>
            <a:r>
              <a:rPr sz="1200" b="0">
                <a:solidFill>
                  <a:srgbClr val="15171A"/>
                </a:solidFill>
                <a:latin typeface="Noto Sans KR"/>
                <a:ea typeface="Noto Sans KR"/>
                <a:cs typeface="Noto Sans KR"/>
              </a:rPr>
              <a:t>재사용 스킬 다수 확보</a:t>
            </a:r>
          </a:p>
          <a:p>
            <a:pPr algn="l" marL="155448" indent="-155448">
              <a:lnSpc>
                <a:spcPct val="100000"/>
              </a:lnSpc>
              <a:spcAft>
                <a:spcPts val="400"/>
              </a:spcAft>
              <a:buClr>
                <a:srgbClr val="8C9198"/>
              </a:buClr>
              <a:buFont typeface="Noto Sans KR"/>
              <a:buChar char="•"/>
            </a:pPr>
            <a:r>
              <a:rPr sz="1200" b="0">
                <a:solidFill>
                  <a:srgbClr val="15171A"/>
                </a:solidFill>
                <a:latin typeface="Noto Sans KR"/>
                <a:ea typeface="Noto Sans KR"/>
                <a:cs typeface="Noto Sans KR"/>
              </a:rPr>
              <a:t>로봇 2종 스킬 호환</a:t>
            </a:r>
          </a:p>
          <a:p>
            <a:pPr algn="l" marL="155448" indent="-155448">
              <a:lnSpc>
                <a:spcPct val="100000"/>
              </a:lnSpc>
              <a:spcAft>
                <a:spcPts val="400"/>
              </a:spcAft>
              <a:buClr>
                <a:srgbClr val="8C9198"/>
              </a:buClr>
              <a:buFont typeface="Noto Sans KR"/>
              <a:buChar char="•"/>
            </a:pPr>
            <a:r>
              <a:rPr sz="1200" b="0">
                <a:solidFill>
                  <a:srgbClr val="15171A"/>
                </a:solidFill>
                <a:latin typeface="Noto Sans KR"/>
                <a:ea typeface="Noto Sans KR"/>
                <a:cs typeface="Noto Sans KR"/>
              </a:rPr>
              <a:t>매출총이익률 검증</a:t>
            </a:r>
          </a:p>
          <a:p>
            <a:pPr algn="l" marL="155448" indent="-155448">
              <a:lnSpc>
                <a:spcPct val="100000"/>
              </a:lnSpc>
              <a:buClr>
                <a:srgbClr val="8C9198"/>
              </a:buClr>
              <a:buFont typeface="Noto Sans KR"/>
              <a:buChar char="•"/>
            </a:pPr>
            <a:r>
              <a:rPr sz="1200" b="0">
                <a:solidFill>
                  <a:srgbClr val="15171A"/>
                </a:solidFill>
                <a:latin typeface="Noto Sans KR"/>
                <a:ea typeface="Noto Sans KR"/>
                <a:cs typeface="Noto Sans KR"/>
              </a:rPr>
              <a:t>Series A 준비</a:t>
            </a:r>
          </a:p>
        </p:txBody>
      </p:sp>
      <p:sp>
        <p:nvSpPr>
          <p:cNvPr id="26" name="Rectangle 25"/>
          <p:cNvSpPr/>
          <p:nvPr/>
        </p:nvSpPr>
        <p:spPr>
          <a:xfrm>
            <a:off x="685800" y="5480151"/>
            <a:ext cx="10820095" cy="868680"/>
          </a:xfrm>
          <a:prstGeom prst="rect">
            <a:avLst/>
          </a:prstGeom>
          <a:solidFill>
            <a:srgbClr val="F4F5F6"/>
          </a:solidFill>
          <a:ln>
            <a:noFill/>
          </a:ln>
        </p:spPr>
        <p:txBody>
          <a:bodyPr rtlCol="0" anchor="ctr"/>
          <a:lstStyle/>
          <a:p>
            <a:pPr algn="ctr"/>
          </a:p>
        </p:txBody>
      </p:sp>
      <p:sp>
        <p:nvSpPr>
          <p:cNvPr id="27" name="TextBox 26"/>
          <p:cNvSpPr txBox="1"/>
          <p:nvPr/>
        </p:nvSpPr>
        <p:spPr>
          <a:xfrm>
            <a:off x="914400" y="5617311"/>
            <a:ext cx="1828800"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점검 기준</a:t>
            </a:r>
          </a:p>
        </p:txBody>
      </p:sp>
      <p:sp>
        <p:nvSpPr>
          <p:cNvPr id="28" name="TextBox 27"/>
          <p:cNvSpPr txBox="1"/>
          <p:nvPr/>
        </p:nvSpPr>
        <p:spPr>
          <a:xfrm>
            <a:off x="914400" y="5909919"/>
            <a:ext cx="1828800" cy="274320"/>
          </a:xfrm>
          <a:prstGeom prst="rect">
            <a:avLst/>
          </a:prstGeom>
          <a:noFill/>
        </p:spPr>
        <p:txBody>
          <a:bodyPr wrap="square" lIns="0" rIns="0" tIns="0" bIns="0" anchor="t">
            <a:spAutoFit/>
          </a:bodyPr>
          <a:lstStyle/>
          <a:p>
            <a:pPr algn="l">
              <a:lnSpc>
                <a:spcPct val="100000"/>
              </a:lnSpc>
            </a:pPr>
            <a:r>
              <a:rPr sz="1100" b="0">
                <a:solidFill>
                  <a:srgbClr val="4A4F57"/>
                </a:solidFill>
                <a:latin typeface="Noto Sans KR"/>
                <a:ea typeface="Noto Sans KR"/>
                <a:cs typeface="Noto Sans KR"/>
              </a:rPr>
              <a:t>미달 시 결정</a:t>
            </a:r>
          </a:p>
        </p:txBody>
      </p:sp>
      <p:sp>
        <p:nvSpPr>
          <p:cNvPr id="29" name="TextBox 28"/>
          <p:cNvSpPr txBox="1"/>
          <p:nvPr/>
        </p:nvSpPr>
        <p:spPr>
          <a:xfrm>
            <a:off x="2697480" y="5617311"/>
            <a:ext cx="2064943" cy="274320"/>
          </a:xfrm>
          <a:prstGeom prst="rect">
            <a:avLst/>
          </a:prstGeom>
          <a:noFill/>
        </p:spPr>
        <p:txBody>
          <a:bodyPr wrap="square" lIns="0" rIns="0" tIns="0" bIns="0" anchor="t">
            <a:spAutoFit/>
          </a:bodyPr>
          <a:lstStyle/>
          <a:p>
            <a:pPr algn="l">
              <a:lnSpc>
                <a:spcPct val="100000"/>
              </a:lnSpc>
            </a:pPr>
            <a:r>
              <a:rPr sz="1200" b="1">
                <a:solidFill>
                  <a:srgbClr val="E2571B"/>
                </a:solidFill>
                <a:latin typeface="Noto Sans KR"/>
                <a:ea typeface="Noto Sans KR"/>
                <a:cs typeface="Noto Sans KR"/>
              </a:rPr>
              <a:t>M6  </a:t>
            </a:r>
            <a:r>
              <a:rPr sz="1200" b="1">
                <a:solidFill>
                  <a:srgbClr val="15171A"/>
                </a:solidFill>
                <a:latin typeface="Noto Sans KR"/>
                <a:ea typeface="Noto Sans KR"/>
                <a:cs typeface="Noto Sans KR"/>
              </a:rPr>
              <a:t>토크·반복성 미확보</a:t>
            </a:r>
          </a:p>
        </p:txBody>
      </p:sp>
      <p:sp>
        <p:nvSpPr>
          <p:cNvPr id="30" name="TextBox 29"/>
          <p:cNvSpPr txBox="1"/>
          <p:nvPr/>
        </p:nvSpPr>
        <p:spPr>
          <a:xfrm>
            <a:off x="2697480" y="5909919"/>
            <a:ext cx="2064943" cy="274320"/>
          </a:xfrm>
          <a:prstGeom prst="rect">
            <a:avLst/>
          </a:prstGeom>
          <a:noFill/>
        </p:spPr>
        <p:txBody>
          <a:bodyPr wrap="square" lIns="0" rIns="0" tIns="0" bIns="0" anchor="t">
            <a:spAutoFit/>
          </a:bodyPr>
          <a:lstStyle/>
          <a:p>
            <a:pPr algn="l">
              <a:lnSpc>
                <a:spcPct val="100000"/>
              </a:lnSpc>
            </a:pPr>
            <a:r>
              <a:rPr sz="1200" b="0">
                <a:solidFill>
                  <a:srgbClr val="4A4F57"/>
                </a:solidFill>
                <a:latin typeface="Noto Sans KR"/>
                <a:ea typeface="Noto Sans KR"/>
                <a:cs typeface="Noto Sans KR"/>
              </a:rPr>
              <a:t>핸드 구조 재검토</a:t>
            </a:r>
          </a:p>
        </p:txBody>
      </p:sp>
      <p:sp>
        <p:nvSpPr>
          <p:cNvPr id="31" name="TextBox 30"/>
          <p:cNvSpPr txBox="1"/>
          <p:nvPr/>
        </p:nvSpPr>
        <p:spPr>
          <a:xfrm>
            <a:off x="4899583" y="5617311"/>
            <a:ext cx="2064943" cy="274320"/>
          </a:xfrm>
          <a:prstGeom prst="rect">
            <a:avLst/>
          </a:prstGeom>
          <a:noFill/>
        </p:spPr>
        <p:txBody>
          <a:bodyPr wrap="square" lIns="0" rIns="0" tIns="0" bIns="0" anchor="t">
            <a:spAutoFit/>
          </a:bodyPr>
          <a:lstStyle/>
          <a:p>
            <a:pPr algn="l">
              <a:lnSpc>
                <a:spcPct val="100000"/>
              </a:lnSpc>
            </a:pPr>
            <a:r>
              <a:rPr sz="1200" b="1">
                <a:solidFill>
                  <a:srgbClr val="E2571B"/>
                </a:solidFill>
                <a:latin typeface="Noto Sans KR"/>
                <a:ea typeface="Noto Sans KR"/>
                <a:cs typeface="Noto Sans KR"/>
              </a:rPr>
              <a:t>M12  </a:t>
            </a:r>
            <a:r>
              <a:rPr sz="1200" b="1">
                <a:solidFill>
                  <a:srgbClr val="15171A"/>
                </a:solidFill>
                <a:latin typeface="Noto Sans KR"/>
                <a:ea typeface="Noto Sans KR"/>
                <a:cs typeface="Noto Sans KR"/>
              </a:rPr>
              <a:t>지불의사 없음</a:t>
            </a:r>
          </a:p>
        </p:txBody>
      </p:sp>
      <p:sp>
        <p:nvSpPr>
          <p:cNvPr id="32" name="TextBox 31"/>
          <p:cNvSpPr txBox="1"/>
          <p:nvPr/>
        </p:nvSpPr>
        <p:spPr>
          <a:xfrm>
            <a:off x="4899583" y="5909919"/>
            <a:ext cx="2064943" cy="274320"/>
          </a:xfrm>
          <a:prstGeom prst="rect">
            <a:avLst/>
          </a:prstGeom>
          <a:noFill/>
        </p:spPr>
        <p:txBody>
          <a:bodyPr wrap="square" lIns="0" rIns="0" tIns="0" bIns="0" anchor="t">
            <a:spAutoFit/>
          </a:bodyPr>
          <a:lstStyle/>
          <a:p>
            <a:pPr algn="l">
              <a:lnSpc>
                <a:spcPct val="100000"/>
              </a:lnSpc>
            </a:pPr>
            <a:r>
              <a:rPr sz="1200" b="0">
                <a:solidFill>
                  <a:srgbClr val="4A4F57"/>
                </a:solidFill>
                <a:latin typeface="Noto Sans KR"/>
                <a:ea typeface="Noto Sans KR"/>
                <a:cs typeface="Noto Sans KR"/>
              </a:rPr>
              <a:t>첫 시장·작업 재정의</a:t>
            </a:r>
          </a:p>
        </p:txBody>
      </p:sp>
      <p:sp>
        <p:nvSpPr>
          <p:cNvPr id="33" name="TextBox 32"/>
          <p:cNvSpPr txBox="1"/>
          <p:nvPr/>
        </p:nvSpPr>
        <p:spPr>
          <a:xfrm>
            <a:off x="7101687" y="5617311"/>
            <a:ext cx="2064943" cy="274320"/>
          </a:xfrm>
          <a:prstGeom prst="rect">
            <a:avLst/>
          </a:prstGeom>
          <a:noFill/>
        </p:spPr>
        <p:txBody>
          <a:bodyPr wrap="square" lIns="0" rIns="0" tIns="0" bIns="0" anchor="t">
            <a:spAutoFit/>
          </a:bodyPr>
          <a:lstStyle/>
          <a:p>
            <a:pPr algn="l">
              <a:lnSpc>
                <a:spcPct val="100000"/>
              </a:lnSpc>
            </a:pPr>
            <a:r>
              <a:rPr sz="1200" b="1">
                <a:solidFill>
                  <a:srgbClr val="E2571B"/>
                </a:solidFill>
                <a:latin typeface="Noto Sans KR"/>
                <a:ea typeface="Noto Sans KR"/>
                <a:cs typeface="Noto Sans KR"/>
              </a:rPr>
              <a:t>M18  </a:t>
            </a:r>
            <a:r>
              <a:rPr sz="1200" b="1">
                <a:solidFill>
                  <a:srgbClr val="15171A"/>
                </a:solidFill>
                <a:latin typeface="Noto Sans KR"/>
                <a:ea typeface="Noto Sans KR"/>
                <a:cs typeface="Noto Sans KR"/>
              </a:rPr>
              <a:t>재사용률 낮음</a:t>
            </a:r>
          </a:p>
        </p:txBody>
      </p:sp>
      <p:sp>
        <p:nvSpPr>
          <p:cNvPr id="34" name="TextBox 33"/>
          <p:cNvSpPr txBox="1"/>
          <p:nvPr/>
        </p:nvSpPr>
        <p:spPr>
          <a:xfrm>
            <a:off x="7101687" y="5909919"/>
            <a:ext cx="2064943" cy="274320"/>
          </a:xfrm>
          <a:prstGeom prst="rect">
            <a:avLst/>
          </a:prstGeom>
          <a:noFill/>
        </p:spPr>
        <p:txBody>
          <a:bodyPr wrap="square" lIns="0" rIns="0" tIns="0" bIns="0" anchor="t">
            <a:spAutoFit/>
          </a:bodyPr>
          <a:lstStyle/>
          <a:p>
            <a:pPr algn="l">
              <a:lnSpc>
                <a:spcPct val="100000"/>
              </a:lnSpc>
            </a:pPr>
            <a:r>
              <a:rPr sz="1200" b="0">
                <a:solidFill>
                  <a:srgbClr val="4A4F57"/>
                </a:solidFill>
                <a:latin typeface="Noto Sans KR"/>
                <a:ea typeface="Noto Sans KR"/>
                <a:cs typeface="Noto Sans KR"/>
              </a:rPr>
              <a:t>플랫폼 가설 재검토</a:t>
            </a:r>
          </a:p>
        </p:txBody>
      </p:sp>
      <p:sp>
        <p:nvSpPr>
          <p:cNvPr id="35" name="TextBox 34"/>
          <p:cNvSpPr txBox="1"/>
          <p:nvPr/>
        </p:nvSpPr>
        <p:spPr>
          <a:xfrm>
            <a:off x="9303791" y="5617311"/>
            <a:ext cx="2064943" cy="274320"/>
          </a:xfrm>
          <a:prstGeom prst="rect">
            <a:avLst/>
          </a:prstGeom>
          <a:noFill/>
        </p:spPr>
        <p:txBody>
          <a:bodyPr wrap="square" lIns="0" rIns="0" tIns="0" bIns="0" anchor="t">
            <a:spAutoFit/>
          </a:bodyPr>
          <a:lstStyle/>
          <a:p>
            <a:pPr algn="l">
              <a:lnSpc>
                <a:spcPct val="100000"/>
              </a:lnSpc>
            </a:pPr>
            <a:r>
              <a:rPr sz="1200" b="1">
                <a:solidFill>
                  <a:srgbClr val="E2571B"/>
                </a:solidFill>
                <a:latin typeface="Noto Sans KR"/>
                <a:ea typeface="Noto Sans KR"/>
                <a:cs typeface="Noto Sans KR"/>
              </a:rPr>
              <a:t>M24  </a:t>
            </a:r>
            <a:r>
              <a:rPr sz="1200" b="1">
                <a:solidFill>
                  <a:srgbClr val="15171A"/>
                </a:solidFill>
                <a:latin typeface="Noto Sans KR"/>
                <a:ea typeface="Noto Sans KR"/>
                <a:cs typeface="Noto Sans KR"/>
              </a:rPr>
              <a:t>재구매 없음</a:t>
            </a:r>
          </a:p>
        </p:txBody>
      </p:sp>
      <p:sp>
        <p:nvSpPr>
          <p:cNvPr id="36" name="TextBox 35"/>
          <p:cNvSpPr txBox="1"/>
          <p:nvPr/>
        </p:nvSpPr>
        <p:spPr>
          <a:xfrm>
            <a:off x="9303791" y="5909919"/>
            <a:ext cx="2064943" cy="274320"/>
          </a:xfrm>
          <a:prstGeom prst="rect">
            <a:avLst/>
          </a:prstGeom>
          <a:noFill/>
        </p:spPr>
        <p:txBody>
          <a:bodyPr wrap="square" lIns="0" rIns="0" tIns="0" bIns="0" anchor="t">
            <a:spAutoFit/>
          </a:bodyPr>
          <a:lstStyle/>
          <a:p>
            <a:pPr algn="l">
              <a:lnSpc>
                <a:spcPct val="100000"/>
              </a:lnSpc>
            </a:pPr>
            <a:r>
              <a:rPr sz="1200" b="0">
                <a:solidFill>
                  <a:srgbClr val="4A4F57"/>
                </a:solidFill>
                <a:latin typeface="Noto Sans KR"/>
                <a:ea typeface="Noto Sans KR"/>
                <a:cs typeface="Noto Sans KR"/>
              </a:rPr>
              <a:t>Series A 확장 보류</a:t>
            </a:r>
          </a:p>
        </p:txBody>
      </p:sp>
      <p:sp>
        <p:nvSpPr>
          <p:cNvPr id="37" name="TextBox 36"/>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SoftHand-4  |  Seed 투자 제안서</a:t>
            </a:r>
          </a:p>
        </p:txBody>
      </p:sp>
      <p:sp>
        <p:nvSpPr>
          <p:cNvPr id="38" name="TextBox 37"/>
          <p:cNvSpPr txBox="1"/>
          <p:nvPr/>
        </p:nvSpPr>
        <p:spPr>
          <a:xfrm>
            <a:off x="3154680" y="6446520"/>
            <a:ext cx="7802575"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보조 일정: 주방 벤치 데모 (M19~M24) · 단계별 상세 기준 부록 A2</a:t>
            </a:r>
          </a:p>
        </p:txBody>
      </p:sp>
      <p:sp>
        <p:nvSpPr>
          <p:cNvPr id="39" name="TextBox 38"/>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48640"/>
            <a:ext cx="7315200" cy="274320"/>
          </a:xfrm>
          <a:prstGeom prst="rect">
            <a:avLst/>
          </a:prstGeom>
          <a:noFill/>
        </p:spPr>
        <p:txBody>
          <a:bodyPr wrap="square" lIns="0" rIns="0" tIns="0" bIns="0" anchor="t">
            <a:spAutoFit/>
          </a:bodyPr>
          <a:lstStyle/>
          <a:p>
            <a:pPr algn="l">
              <a:lnSpc>
                <a:spcPct val="100000"/>
              </a:lnSpc>
            </a:pPr>
            <a:r>
              <a:rPr sz="1200" b="1">
                <a:solidFill>
                  <a:srgbClr val="E2571B"/>
                </a:solidFill>
                <a:latin typeface="Noto Sans KR"/>
                <a:ea typeface="Noto Sans KR"/>
                <a:cs typeface="Noto Sans KR"/>
              </a:rPr>
              <a:t>팀</a:t>
            </a:r>
          </a:p>
        </p:txBody>
      </p:sp>
      <p:sp>
        <p:nvSpPr>
          <p:cNvPr id="3" name="TextBox 2"/>
          <p:cNvSpPr txBox="1"/>
          <p:nvPr/>
        </p:nvSpPr>
        <p:spPr>
          <a:xfrm>
            <a:off x="685800" y="932688"/>
            <a:ext cx="10820095" cy="542391"/>
          </a:xfrm>
          <a:prstGeom prst="rect">
            <a:avLst/>
          </a:prstGeom>
          <a:noFill/>
        </p:spPr>
        <p:txBody>
          <a:bodyPr wrap="square" lIns="0" rIns="0" tIns="0" bIns="0" anchor="t">
            <a:spAutoFit/>
          </a:bodyPr>
          <a:lstStyle/>
          <a:p>
            <a:pPr algn="l">
              <a:lnSpc>
                <a:spcPct val="95000"/>
              </a:lnSpc>
            </a:pPr>
            <a:r>
              <a:rPr sz="3000" b="1">
                <a:solidFill>
                  <a:srgbClr val="15171A"/>
                </a:solidFill>
                <a:latin typeface="Noto Sans KR"/>
                <a:ea typeface="Noto Sans KR"/>
                <a:cs typeface="Noto Sans KR"/>
              </a:rPr>
              <a:t>이 문제를 풀 수 있는 팀</a:t>
            </a:r>
          </a:p>
        </p:txBody>
      </p:sp>
      <p:sp>
        <p:nvSpPr>
          <p:cNvPr id="4" name="TextBox 3"/>
          <p:cNvSpPr txBox="1"/>
          <p:nvPr/>
        </p:nvSpPr>
        <p:spPr>
          <a:xfrm>
            <a:off x="685800" y="1584807"/>
            <a:ext cx="10820095" cy="329184"/>
          </a:xfrm>
          <a:prstGeom prst="rect">
            <a:avLst/>
          </a:prstGeom>
          <a:noFill/>
        </p:spPr>
        <p:txBody>
          <a:bodyPr wrap="square" lIns="0" rIns="0" tIns="0" bIns="0" anchor="t">
            <a:spAutoFit/>
          </a:bodyPr>
          <a:lstStyle/>
          <a:p>
            <a:pPr algn="l">
              <a:lnSpc>
                <a:spcPct val="100000"/>
              </a:lnSpc>
            </a:pPr>
            <a:r>
              <a:rPr sz="1600" b="0">
                <a:solidFill>
                  <a:srgbClr val="4A4F57"/>
                </a:solidFill>
                <a:latin typeface="Noto Sans KR"/>
                <a:ea typeface="Noto Sans KR"/>
                <a:cs typeface="Noto Sans KR"/>
              </a:rPr>
              <a:t>창업자 2명 + 핵심 인력 6명 단계 채용</a:t>
            </a:r>
          </a:p>
        </p:txBody>
      </p:sp>
      <p:sp>
        <p:nvSpPr>
          <p:cNvPr id="5" name="Rectangle 4"/>
          <p:cNvSpPr/>
          <p:nvPr/>
        </p:nvSpPr>
        <p:spPr>
          <a:xfrm>
            <a:off x="685800" y="2188311"/>
            <a:ext cx="1097280" cy="1261872"/>
          </a:xfrm>
          <a:prstGeom prst="rect">
            <a:avLst/>
          </a:prstGeom>
          <a:solidFill>
            <a:srgbClr val="F4F5F6"/>
          </a:solidFill>
          <a:ln>
            <a:noFill/>
          </a:ln>
        </p:spPr>
        <p:txBody>
          <a:bodyPr rtlCol="0" anchor="ctr"/>
          <a:lstStyle/>
          <a:p>
            <a:pPr algn="ctr"/>
          </a:p>
        </p:txBody>
      </p:sp>
      <p:sp>
        <p:nvSpPr>
          <p:cNvPr id="6" name="TextBox 5"/>
          <p:cNvSpPr txBox="1"/>
          <p:nvPr/>
        </p:nvSpPr>
        <p:spPr>
          <a:xfrm>
            <a:off x="685800" y="2691231"/>
            <a:ext cx="1097280" cy="274320"/>
          </a:xfrm>
          <a:prstGeom prst="rect">
            <a:avLst/>
          </a:prstGeom>
          <a:noFill/>
        </p:spPr>
        <p:txBody>
          <a:bodyPr wrap="square" lIns="0" rIns="0" tIns="0" bIns="0" anchor="t">
            <a:spAutoFit/>
          </a:bodyPr>
          <a:lstStyle/>
          <a:p>
            <a:pPr algn="ctr">
              <a:lnSpc>
                <a:spcPct val="100000"/>
              </a:lnSpc>
            </a:pPr>
            <a:r>
              <a:rPr sz="1100" b="0">
                <a:solidFill>
                  <a:srgbClr val="8C9198"/>
                </a:solidFill>
                <a:latin typeface="Noto Sans KR"/>
                <a:ea typeface="Noto Sans KR"/>
                <a:cs typeface="Noto Sans KR"/>
              </a:rPr>
              <a:t>사진</a:t>
            </a:r>
          </a:p>
        </p:txBody>
      </p:sp>
      <p:sp>
        <p:nvSpPr>
          <p:cNvPr id="7" name="TextBox 6"/>
          <p:cNvSpPr txBox="1"/>
          <p:nvPr/>
        </p:nvSpPr>
        <p:spPr>
          <a:xfrm>
            <a:off x="2011680" y="2188311"/>
            <a:ext cx="3520439" cy="329184"/>
          </a:xfrm>
          <a:prstGeom prst="rect">
            <a:avLst/>
          </a:prstGeom>
          <a:noFill/>
        </p:spPr>
        <p:txBody>
          <a:bodyPr wrap="square" lIns="0" rIns="0" tIns="0" bIns="0" anchor="t">
            <a:spAutoFit/>
          </a:bodyPr>
          <a:lstStyle/>
          <a:p>
            <a:pPr algn="l">
              <a:lnSpc>
                <a:spcPct val="100000"/>
              </a:lnSpc>
            </a:pPr>
            <a:r>
              <a:rPr sz="1700" b="1">
                <a:solidFill>
                  <a:srgbClr val="15171A"/>
                </a:solidFill>
                <a:latin typeface="Noto Sans KR"/>
                <a:ea typeface="Noto Sans KR"/>
                <a:cs typeface="Noto Sans KR"/>
              </a:rPr>
              <a:t>[이름 입력 필요]</a:t>
            </a:r>
          </a:p>
        </p:txBody>
      </p:sp>
      <p:sp>
        <p:nvSpPr>
          <p:cNvPr id="8" name="TextBox 7"/>
          <p:cNvSpPr txBox="1"/>
          <p:nvPr/>
        </p:nvSpPr>
        <p:spPr>
          <a:xfrm>
            <a:off x="2011680" y="2554071"/>
            <a:ext cx="3520439" cy="256032"/>
          </a:xfrm>
          <a:prstGeom prst="rect">
            <a:avLst/>
          </a:prstGeom>
          <a:noFill/>
        </p:spPr>
        <p:txBody>
          <a:bodyPr wrap="square" lIns="0" rIns="0" tIns="0" bIns="0" anchor="t">
            <a:spAutoFit/>
          </a:bodyPr>
          <a:lstStyle/>
          <a:p>
            <a:pPr algn="l">
              <a:lnSpc>
                <a:spcPct val="100000"/>
              </a:lnSpc>
            </a:pPr>
            <a:r>
              <a:rPr sz="1200" b="1">
                <a:solidFill>
                  <a:srgbClr val="E2571B"/>
                </a:solidFill>
                <a:latin typeface="Noto Sans KR"/>
                <a:ea typeface="Noto Sans KR"/>
                <a:cs typeface="Noto Sans KR"/>
              </a:rPr>
              <a:t>대표 · 사업/제품</a:t>
            </a:r>
          </a:p>
        </p:txBody>
      </p:sp>
      <p:sp>
        <p:nvSpPr>
          <p:cNvPr id="9" name="TextBox 8"/>
          <p:cNvSpPr txBox="1"/>
          <p:nvPr/>
        </p:nvSpPr>
        <p:spPr>
          <a:xfrm>
            <a:off x="2011680" y="2883255"/>
            <a:ext cx="3520439" cy="566928"/>
          </a:xfrm>
          <a:prstGeom prst="rect">
            <a:avLst/>
          </a:prstGeom>
          <a:noFill/>
        </p:spPr>
        <p:txBody>
          <a:bodyPr wrap="square" lIns="0" rIns="0" tIns="0" bIns="0" anchor="t">
            <a:spAutoFit/>
          </a:bodyPr>
          <a:lstStyle/>
          <a:p>
            <a:pPr algn="l">
              <a:lnSpc>
                <a:spcPct val="100000"/>
              </a:lnSpc>
              <a:spcAft>
                <a:spcPts val="300"/>
              </a:spcAft>
            </a:pPr>
            <a:r>
              <a:rPr sz="1200" b="0">
                <a:solidFill>
                  <a:srgbClr val="4A4F57"/>
                </a:solidFill>
                <a:latin typeface="Noto Sans KR"/>
                <a:ea typeface="Noto Sans KR"/>
                <a:cs typeface="Noto Sans KR"/>
              </a:rPr>
              <a:t>산업 경력·직무·기간: [정보 입력 필요]</a:t>
            </a:r>
          </a:p>
          <a:p>
            <a:pPr algn="l">
              <a:lnSpc>
                <a:spcPct val="100000"/>
              </a:lnSpc>
            </a:pPr>
            <a:r>
              <a:rPr sz="1200" b="0">
                <a:solidFill>
                  <a:srgbClr val="4A4F57"/>
                </a:solidFill>
                <a:latin typeface="Noto Sans KR"/>
                <a:ea typeface="Noto Sans KR"/>
                <a:cs typeface="Noto Sans KR"/>
              </a:rPr>
              <a:t>사업과 직접 연결되는 경험만 기재</a:t>
            </a:r>
          </a:p>
        </p:txBody>
      </p:sp>
      <p:sp>
        <p:nvSpPr>
          <p:cNvPr id="10" name="Rectangle 9"/>
          <p:cNvSpPr/>
          <p:nvPr/>
        </p:nvSpPr>
        <p:spPr>
          <a:xfrm>
            <a:off x="685800" y="3669639"/>
            <a:ext cx="1097280" cy="1261872"/>
          </a:xfrm>
          <a:prstGeom prst="rect">
            <a:avLst/>
          </a:prstGeom>
          <a:solidFill>
            <a:srgbClr val="F4F5F6"/>
          </a:solidFill>
          <a:ln>
            <a:noFill/>
          </a:ln>
        </p:spPr>
        <p:txBody>
          <a:bodyPr rtlCol="0" anchor="ctr"/>
          <a:lstStyle/>
          <a:p>
            <a:pPr algn="ctr"/>
          </a:p>
        </p:txBody>
      </p:sp>
      <p:sp>
        <p:nvSpPr>
          <p:cNvPr id="11" name="TextBox 10"/>
          <p:cNvSpPr txBox="1"/>
          <p:nvPr/>
        </p:nvSpPr>
        <p:spPr>
          <a:xfrm>
            <a:off x="685800" y="4172559"/>
            <a:ext cx="1097280" cy="274320"/>
          </a:xfrm>
          <a:prstGeom prst="rect">
            <a:avLst/>
          </a:prstGeom>
          <a:noFill/>
        </p:spPr>
        <p:txBody>
          <a:bodyPr wrap="square" lIns="0" rIns="0" tIns="0" bIns="0" anchor="t">
            <a:spAutoFit/>
          </a:bodyPr>
          <a:lstStyle/>
          <a:p>
            <a:pPr algn="ctr">
              <a:lnSpc>
                <a:spcPct val="100000"/>
              </a:lnSpc>
            </a:pPr>
            <a:r>
              <a:rPr sz="1100" b="0">
                <a:solidFill>
                  <a:srgbClr val="8C9198"/>
                </a:solidFill>
                <a:latin typeface="Noto Sans KR"/>
                <a:ea typeface="Noto Sans KR"/>
                <a:cs typeface="Noto Sans KR"/>
              </a:rPr>
              <a:t>사진</a:t>
            </a:r>
          </a:p>
        </p:txBody>
      </p:sp>
      <p:sp>
        <p:nvSpPr>
          <p:cNvPr id="12" name="TextBox 11"/>
          <p:cNvSpPr txBox="1"/>
          <p:nvPr/>
        </p:nvSpPr>
        <p:spPr>
          <a:xfrm>
            <a:off x="2011680" y="3669639"/>
            <a:ext cx="3520439" cy="329184"/>
          </a:xfrm>
          <a:prstGeom prst="rect">
            <a:avLst/>
          </a:prstGeom>
          <a:noFill/>
        </p:spPr>
        <p:txBody>
          <a:bodyPr wrap="square" lIns="0" rIns="0" tIns="0" bIns="0" anchor="t">
            <a:spAutoFit/>
          </a:bodyPr>
          <a:lstStyle/>
          <a:p>
            <a:pPr algn="l">
              <a:lnSpc>
                <a:spcPct val="100000"/>
              </a:lnSpc>
            </a:pPr>
            <a:r>
              <a:rPr sz="1700" b="1">
                <a:solidFill>
                  <a:srgbClr val="15171A"/>
                </a:solidFill>
                <a:latin typeface="Noto Sans KR"/>
                <a:ea typeface="Noto Sans KR"/>
                <a:cs typeface="Noto Sans KR"/>
              </a:rPr>
              <a:t>[이름 입력 필요]</a:t>
            </a:r>
          </a:p>
        </p:txBody>
      </p:sp>
      <p:sp>
        <p:nvSpPr>
          <p:cNvPr id="13" name="TextBox 12"/>
          <p:cNvSpPr txBox="1"/>
          <p:nvPr/>
        </p:nvSpPr>
        <p:spPr>
          <a:xfrm>
            <a:off x="2011680" y="4035399"/>
            <a:ext cx="3520439" cy="256032"/>
          </a:xfrm>
          <a:prstGeom prst="rect">
            <a:avLst/>
          </a:prstGeom>
          <a:noFill/>
        </p:spPr>
        <p:txBody>
          <a:bodyPr wrap="square" lIns="0" rIns="0" tIns="0" bIns="0" anchor="t">
            <a:spAutoFit/>
          </a:bodyPr>
          <a:lstStyle/>
          <a:p>
            <a:pPr algn="l">
              <a:lnSpc>
                <a:spcPct val="100000"/>
              </a:lnSpc>
            </a:pPr>
            <a:r>
              <a:rPr sz="1200" b="1">
                <a:solidFill>
                  <a:srgbClr val="E2571B"/>
                </a:solidFill>
                <a:latin typeface="Noto Sans KR"/>
                <a:ea typeface="Noto Sans KR"/>
                <a:cs typeface="Noto Sans KR"/>
              </a:rPr>
              <a:t>CTO · 핸드 메카트로닉스</a:t>
            </a:r>
          </a:p>
        </p:txBody>
      </p:sp>
      <p:sp>
        <p:nvSpPr>
          <p:cNvPr id="14" name="TextBox 13"/>
          <p:cNvSpPr txBox="1"/>
          <p:nvPr/>
        </p:nvSpPr>
        <p:spPr>
          <a:xfrm>
            <a:off x="2011680" y="4364583"/>
            <a:ext cx="3520439" cy="566928"/>
          </a:xfrm>
          <a:prstGeom prst="rect">
            <a:avLst/>
          </a:prstGeom>
          <a:noFill/>
        </p:spPr>
        <p:txBody>
          <a:bodyPr wrap="square" lIns="0" rIns="0" tIns="0" bIns="0" anchor="t">
            <a:spAutoFit/>
          </a:bodyPr>
          <a:lstStyle/>
          <a:p>
            <a:pPr algn="l">
              <a:lnSpc>
                <a:spcPct val="100000"/>
              </a:lnSpc>
              <a:spcAft>
                <a:spcPts val="300"/>
              </a:spcAft>
            </a:pPr>
            <a:r>
              <a:rPr sz="1200" b="0">
                <a:solidFill>
                  <a:srgbClr val="4A4F57"/>
                </a:solidFill>
                <a:latin typeface="Noto Sans KR"/>
                <a:ea typeface="Noto Sans KR"/>
                <a:cs typeface="Noto Sans KR"/>
              </a:rPr>
              <a:t>시제품·연구실적·특허: [정보 입력 필요]</a:t>
            </a:r>
          </a:p>
          <a:p>
            <a:pPr algn="l">
              <a:lnSpc>
                <a:spcPct val="100000"/>
              </a:lnSpc>
            </a:pPr>
            <a:r>
              <a:rPr sz="1200" b="0">
                <a:solidFill>
                  <a:srgbClr val="4A4F57"/>
                </a:solidFill>
                <a:latin typeface="Noto Sans KR"/>
                <a:ea typeface="Noto Sans KR"/>
                <a:cs typeface="Noto Sans KR"/>
              </a:rPr>
              <a:t>사업과 직접 연결되는 경험만 기재</a:t>
            </a:r>
          </a:p>
        </p:txBody>
      </p:sp>
      <p:cxnSp>
        <p:nvCxnSpPr>
          <p:cNvPr id="15" name="Connector 14"/>
          <p:cNvCxnSpPr/>
          <p:nvPr/>
        </p:nvCxnSpPr>
        <p:spPr>
          <a:xfrm>
            <a:off x="685800" y="5224119"/>
            <a:ext cx="4846320" cy="0"/>
          </a:xfrm>
          <a:prstGeom prst="line">
            <a:avLst/>
          </a:prstGeom>
          <a:ln w="12700">
            <a:solidFill>
              <a:srgbClr val="15171A"/>
            </a:solidFill>
          </a:ln>
        </p:spPr>
      </p:cxnSp>
      <p:sp>
        <p:nvSpPr>
          <p:cNvPr id="16" name="TextBox 15"/>
          <p:cNvSpPr txBox="1"/>
          <p:nvPr/>
        </p:nvSpPr>
        <p:spPr>
          <a:xfrm>
            <a:off x="685800" y="5333847"/>
            <a:ext cx="4846320" cy="274320"/>
          </a:xfrm>
          <a:prstGeom prst="rect">
            <a:avLst/>
          </a:prstGeom>
          <a:noFill/>
        </p:spPr>
        <p:txBody>
          <a:bodyPr wrap="square" lIns="0" rIns="0" tIns="0" bIns="0" anchor="t">
            <a:spAutoFit/>
          </a:bodyPr>
          <a:lstStyle/>
          <a:p>
            <a:pPr algn="l">
              <a:lnSpc>
                <a:spcPct val="100000"/>
              </a:lnSpc>
            </a:pPr>
            <a:r>
              <a:rPr sz="1200" b="1">
                <a:solidFill>
                  <a:srgbClr val="15171A"/>
                </a:solidFill>
                <a:latin typeface="Noto Sans KR"/>
                <a:ea typeface="Noto Sans KR"/>
                <a:cs typeface="Noto Sans KR"/>
              </a:rPr>
              <a:t>Seed 채용 계획 (6명 단계 채용)</a:t>
            </a:r>
          </a:p>
        </p:txBody>
      </p:sp>
      <p:sp>
        <p:nvSpPr>
          <p:cNvPr id="17" name="TextBox 16"/>
          <p:cNvSpPr txBox="1"/>
          <p:nvPr/>
        </p:nvSpPr>
        <p:spPr>
          <a:xfrm>
            <a:off x="685800" y="5608167"/>
            <a:ext cx="4846320" cy="548640"/>
          </a:xfrm>
          <a:prstGeom prst="rect">
            <a:avLst/>
          </a:prstGeom>
          <a:noFill/>
        </p:spPr>
        <p:txBody>
          <a:bodyPr wrap="square" lIns="0" rIns="0" tIns="0" bIns="0" anchor="t">
            <a:spAutoFit/>
          </a:bodyPr>
          <a:lstStyle/>
          <a:p>
            <a:pPr algn="l">
              <a:lnSpc>
                <a:spcPct val="100000"/>
              </a:lnSpc>
            </a:pPr>
            <a:r>
              <a:rPr sz="1200" b="0">
                <a:solidFill>
                  <a:srgbClr val="4A4F57"/>
                </a:solidFill>
                <a:latin typeface="Noto Sans KR"/>
                <a:ea typeface="Noto Sans KR"/>
                <a:cs typeface="Noto Sans KR"/>
              </a:rPr>
              <a:t>기구·구동, 제어·임베디드, 로봇 SW·스킬, 현장 통합, 비전·AI, 설계·품질</a:t>
            </a:r>
          </a:p>
        </p:txBody>
      </p:sp>
      <p:sp>
        <p:nvSpPr>
          <p:cNvPr id="18" name="TextBox 17"/>
          <p:cNvSpPr txBox="1"/>
          <p:nvPr/>
        </p:nvSpPr>
        <p:spPr>
          <a:xfrm>
            <a:off x="6035040" y="2188311"/>
            <a:ext cx="5470855" cy="292608"/>
          </a:xfrm>
          <a:prstGeom prst="rect">
            <a:avLst/>
          </a:prstGeom>
          <a:noFill/>
        </p:spPr>
        <p:txBody>
          <a:bodyPr wrap="square" lIns="0" rIns="0" tIns="0" bIns="0" anchor="t">
            <a:spAutoFit/>
          </a:bodyPr>
          <a:lstStyle/>
          <a:p>
            <a:pPr algn="l">
              <a:lnSpc>
                <a:spcPct val="100000"/>
              </a:lnSpc>
            </a:pPr>
            <a:r>
              <a:rPr sz="1400" b="1">
                <a:solidFill>
                  <a:srgbClr val="8C9198"/>
                </a:solidFill>
                <a:latin typeface="Noto Sans KR"/>
                <a:ea typeface="Noto Sans KR"/>
                <a:cs typeface="Noto Sans KR"/>
              </a:rPr>
              <a:t>투자자가 확인할 3가지</a:t>
            </a:r>
          </a:p>
        </p:txBody>
      </p:sp>
      <p:cxnSp>
        <p:nvCxnSpPr>
          <p:cNvPr id="19" name="Connector 18"/>
          <p:cNvCxnSpPr/>
          <p:nvPr/>
        </p:nvCxnSpPr>
        <p:spPr>
          <a:xfrm>
            <a:off x="6035040" y="2599791"/>
            <a:ext cx="5470855" cy="0"/>
          </a:xfrm>
          <a:prstGeom prst="line">
            <a:avLst/>
          </a:prstGeom>
          <a:ln w="12700">
            <a:solidFill>
              <a:srgbClr val="15171A"/>
            </a:solidFill>
          </a:ln>
        </p:spPr>
      </p:cxnSp>
      <p:sp>
        <p:nvSpPr>
          <p:cNvPr id="20" name="TextBox 19"/>
          <p:cNvSpPr txBox="1"/>
          <p:nvPr/>
        </p:nvSpPr>
        <p:spPr>
          <a:xfrm>
            <a:off x="6035040" y="2718663"/>
            <a:ext cx="457200" cy="292608"/>
          </a:xfrm>
          <a:prstGeom prst="rect">
            <a:avLst/>
          </a:prstGeom>
          <a:noFill/>
        </p:spPr>
        <p:txBody>
          <a:bodyPr wrap="square" lIns="0" rIns="0" tIns="0" bIns="0" anchor="t">
            <a:spAutoFit/>
          </a:bodyPr>
          <a:lstStyle/>
          <a:p>
            <a:pPr algn="l">
              <a:lnSpc>
                <a:spcPct val="100000"/>
              </a:lnSpc>
            </a:pPr>
            <a:r>
              <a:rPr sz="1500" b="1">
                <a:solidFill>
                  <a:srgbClr val="E2571B"/>
                </a:solidFill>
                <a:latin typeface="Noto Sans KR"/>
                <a:ea typeface="Noto Sans KR"/>
                <a:cs typeface="Noto Sans KR"/>
              </a:rPr>
              <a:t>Q1</a:t>
            </a:r>
          </a:p>
        </p:txBody>
      </p:sp>
      <p:sp>
        <p:nvSpPr>
          <p:cNvPr id="21" name="TextBox 20"/>
          <p:cNvSpPr txBox="1"/>
          <p:nvPr/>
        </p:nvSpPr>
        <p:spPr>
          <a:xfrm>
            <a:off x="6537959" y="2718663"/>
            <a:ext cx="4967935" cy="292608"/>
          </a:xfrm>
          <a:prstGeom prst="rect">
            <a:avLst/>
          </a:prstGeom>
          <a:noFill/>
        </p:spPr>
        <p:txBody>
          <a:bodyPr wrap="square" lIns="0" rIns="0" tIns="0" bIns="0" anchor="t">
            <a:spAutoFit/>
          </a:bodyPr>
          <a:lstStyle/>
          <a:p>
            <a:pPr algn="l">
              <a:lnSpc>
                <a:spcPct val="100000"/>
              </a:lnSpc>
            </a:pPr>
            <a:r>
              <a:rPr sz="1500" b="1">
                <a:solidFill>
                  <a:srgbClr val="15171A"/>
                </a:solidFill>
                <a:latin typeface="Noto Sans KR"/>
                <a:ea typeface="Noto Sans KR"/>
                <a:cs typeface="Noto Sans KR"/>
              </a:rPr>
              <a:t>왜 이 창업자가 이 문제를 발견했나</a:t>
            </a:r>
          </a:p>
        </p:txBody>
      </p:sp>
      <p:sp>
        <p:nvSpPr>
          <p:cNvPr id="22" name="TextBox 21"/>
          <p:cNvSpPr txBox="1"/>
          <p:nvPr/>
        </p:nvSpPr>
        <p:spPr>
          <a:xfrm>
            <a:off x="6537959" y="3038703"/>
            <a:ext cx="4967935" cy="256032"/>
          </a:xfrm>
          <a:prstGeom prst="rect">
            <a:avLst/>
          </a:prstGeom>
          <a:noFill/>
        </p:spPr>
        <p:txBody>
          <a:bodyPr wrap="square" lIns="0" rIns="0" tIns="0" bIns="0" anchor="t">
            <a:spAutoFit/>
          </a:bodyPr>
          <a:lstStyle/>
          <a:p>
            <a:pPr algn="l">
              <a:lnSpc>
                <a:spcPct val="100000"/>
              </a:lnSpc>
            </a:pPr>
            <a:r>
              <a:rPr sz="1200" b="0">
                <a:solidFill>
                  <a:srgbClr val="4A4F57"/>
                </a:solidFill>
                <a:latin typeface="Noto Sans KR"/>
                <a:ea typeface="Noto Sans KR"/>
                <a:cs typeface="Noto Sans KR"/>
              </a:rPr>
              <a:t>창업 계기, 현장에서 직접 겪은 전환 비용 문제</a:t>
            </a:r>
          </a:p>
        </p:txBody>
      </p:sp>
      <p:sp>
        <p:nvSpPr>
          <p:cNvPr id="23" name="TextBox 22"/>
          <p:cNvSpPr txBox="1"/>
          <p:nvPr/>
        </p:nvSpPr>
        <p:spPr>
          <a:xfrm>
            <a:off x="6537959" y="3294735"/>
            <a:ext cx="4967935" cy="256032"/>
          </a:xfrm>
          <a:prstGeom prst="rect">
            <a:avLst/>
          </a:prstGeom>
          <a:noFill/>
        </p:spPr>
        <p:txBody>
          <a:bodyPr wrap="square" lIns="0" rIns="0" tIns="0" bIns="0" anchor="t">
            <a:spAutoFit/>
          </a:bodyPr>
          <a:lstStyle/>
          <a:p>
            <a:pPr algn="l">
              <a:lnSpc>
                <a:spcPct val="100000"/>
              </a:lnSpc>
            </a:pPr>
            <a:r>
              <a:rPr sz="1200" b="0">
                <a:solidFill>
                  <a:srgbClr val="E2571B"/>
                </a:solidFill>
                <a:latin typeface="Noto Sans KR"/>
                <a:ea typeface="Noto Sans KR"/>
                <a:cs typeface="Noto Sans KR"/>
              </a:rPr>
              <a:t>[정보 입력 필요]</a:t>
            </a:r>
          </a:p>
        </p:txBody>
      </p:sp>
      <p:cxnSp>
        <p:nvCxnSpPr>
          <p:cNvPr id="24" name="Connector 23"/>
          <p:cNvCxnSpPr/>
          <p:nvPr/>
        </p:nvCxnSpPr>
        <p:spPr>
          <a:xfrm>
            <a:off x="6035040" y="3605631"/>
            <a:ext cx="5470855" cy="0"/>
          </a:xfrm>
          <a:prstGeom prst="line">
            <a:avLst/>
          </a:prstGeom>
          <a:ln w="9525">
            <a:solidFill>
              <a:srgbClr val="E2E4E7"/>
            </a:solidFill>
          </a:ln>
        </p:spPr>
      </p:cxnSp>
      <p:sp>
        <p:nvSpPr>
          <p:cNvPr id="25" name="TextBox 24"/>
          <p:cNvSpPr txBox="1"/>
          <p:nvPr/>
        </p:nvSpPr>
        <p:spPr>
          <a:xfrm>
            <a:off x="6035040" y="3724503"/>
            <a:ext cx="457200" cy="292608"/>
          </a:xfrm>
          <a:prstGeom prst="rect">
            <a:avLst/>
          </a:prstGeom>
          <a:noFill/>
        </p:spPr>
        <p:txBody>
          <a:bodyPr wrap="square" lIns="0" rIns="0" tIns="0" bIns="0" anchor="t">
            <a:spAutoFit/>
          </a:bodyPr>
          <a:lstStyle/>
          <a:p>
            <a:pPr algn="l">
              <a:lnSpc>
                <a:spcPct val="100000"/>
              </a:lnSpc>
            </a:pPr>
            <a:r>
              <a:rPr sz="1500" b="1">
                <a:solidFill>
                  <a:srgbClr val="E2571B"/>
                </a:solidFill>
                <a:latin typeface="Noto Sans KR"/>
                <a:ea typeface="Noto Sans KR"/>
                <a:cs typeface="Noto Sans KR"/>
              </a:rPr>
              <a:t>Q2</a:t>
            </a:r>
          </a:p>
        </p:txBody>
      </p:sp>
      <p:sp>
        <p:nvSpPr>
          <p:cNvPr id="26" name="TextBox 25"/>
          <p:cNvSpPr txBox="1"/>
          <p:nvPr/>
        </p:nvSpPr>
        <p:spPr>
          <a:xfrm>
            <a:off x="6537959" y="3724503"/>
            <a:ext cx="4967935" cy="292608"/>
          </a:xfrm>
          <a:prstGeom prst="rect">
            <a:avLst/>
          </a:prstGeom>
          <a:noFill/>
        </p:spPr>
        <p:txBody>
          <a:bodyPr wrap="square" lIns="0" rIns="0" tIns="0" bIns="0" anchor="t">
            <a:spAutoFit/>
          </a:bodyPr>
          <a:lstStyle/>
          <a:p>
            <a:pPr algn="l">
              <a:lnSpc>
                <a:spcPct val="100000"/>
              </a:lnSpc>
            </a:pPr>
            <a:r>
              <a:rPr sz="1500" b="1">
                <a:solidFill>
                  <a:srgbClr val="15171A"/>
                </a:solidFill>
                <a:latin typeface="Noto Sans KR"/>
                <a:ea typeface="Noto Sans KR"/>
                <a:cs typeface="Noto Sans KR"/>
              </a:rPr>
              <a:t>왜 이 팀이 이 제품을 만들 수 있나</a:t>
            </a:r>
          </a:p>
        </p:txBody>
      </p:sp>
      <p:sp>
        <p:nvSpPr>
          <p:cNvPr id="27" name="TextBox 26"/>
          <p:cNvSpPr txBox="1"/>
          <p:nvPr/>
        </p:nvSpPr>
        <p:spPr>
          <a:xfrm>
            <a:off x="6537959" y="4044543"/>
            <a:ext cx="4967935" cy="256032"/>
          </a:xfrm>
          <a:prstGeom prst="rect">
            <a:avLst/>
          </a:prstGeom>
          <a:noFill/>
        </p:spPr>
        <p:txBody>
          <a:bodyPr wrap="square" lIns="0" rIns="0" tIns="0" bIns="0" anchor="t">
            <a:spAutoFit/>
          </a:bodyPr>
          <a:lstStyle/>
          <a:p>
            <a:pPr algn="l">
              <a:lnSpc>
                <a:spcPct val="100000"/>
              </a:lnSpc>
            </a:pPr>
            <a:r>
              <a:rPr sz="1200" b="0">
                <a:solidFill>
                  <a:srgbClr val="4A4F57"/>
                </a:solidFill>
                <a:latin typeface="Noto Sans KR"/>
                <a:ea typeface="Noto Sans KR"/>
                <a:cs typeface="Noto Sans KR"/>
              </a:rPr>
              <a:t>핸드 메카트로닉스·제어·현장 통합 역량의 근거</a:t>
            </a:r>
          </a:p>
        </p:txBody>
      </p:sp>
      <p:sp>
        <p:nvSpPr>
          <p:cNvPr id="28" name="TextBox 27"/>
          <p:cNvSpPr txBox="1"/>
          <p:nvPr/>
        </p:nvSpPr>
        <p:spPr>
          <a:xfrm>
            <a:off x="6537959" y="4300575"/>
            <a:ext cx="4967935" cy="256032"/>
          </a:xfrm>
          <a:prstGeom prst="rect">
            <a:avLst/>
          </a:prstGeom>
          <a:noFill/>
        </p:spPr>
        <p:txBody>
          <a:bodyPr wrap="square" lIns="0" rIns="0" tIns="0" bIns="0" anchor="t">
            <a:spAutoFit/>
          </a:bodyPr>
          <a:lstStyle/>
          <a:p>
            <a:pPr algn="l">
              <a:lnSpc>
                <a:spcPct val="100000"/>
              </a:lnSpc>
            </a:pPr>
            <a:r>
              <a:rPr sz="1200" b="0">
                <a:solidFill>
                  <a:srgbClr val="E2571B"/>
                </a:solidFill>
                <a:latin typeface="Noto Sans KR"/>
                <a:ea typeface="Noto Sans KR"/>
                <a:cs typeface="Noto Sans KR"/>
              </a:rPr>
              <a:t>[정보 입력 필요]</a:t>
            </a:r>
          </a:p>
        </p:txBody>
      </p:sp>
      <p:cxnSp>
        <p:nvCxnSpPr>
          <p:cNvPr id="29" name="Connector 28"/>
          <p:cNvCxnSpPr/>
          <p:nvPr/>
        </p:nvCxnSpPr>
        <p:spPr>
          <a:xfrm>
            <a:off x="6035040" y="4611471"/>
            <a:ext cx="5470855" cy="0"/>
          </a:xfrm>
          <a:prstGeom prst="line">
            <a:avLst/>
          </a:prstGeom>
          <a:ln w="9525">
            <a:solidFill>
              <a:srgbClr val="E2E4E7"/>
            </a:solidFill>
          </a:ln>
        </p:spPr>
      </p:cxnSp>
      <p:sp>
        <p:nvSpPr>
          <p:cNvPr id="30" name="TextBox 29"/>
          <p:cNvSpPr txBox="1"/>
          <p:nvPr/>
        </p:nvSpPr>
        <p:spPr>
          <a:xfrm>
            <a:off x="6035040" y="4730343"/>
            <a:ext cx="457200" cy="292608"/>
          </a:xfrm>
          <a:prstGeom prst="rect">
            <a:avLst/>
          </a:prstGeom>
          <a:noFill/>
        </p:spPr>
        <p:txBody>
          <a:bodyPr wrap="square" lIns="0" rIns="0" tIns="0" bIns="0" anchor="t">
            <a:spAutoFit/>
          </a:bodyPr>
          <a:lstStyle/>
          <a:p>
            <a:pPr algn="l">
              <a:lnSpc>
                <a:spcPct val="100000"/>
              </a:lnSpc>
            </a:pPr>
            <a:r>
              <a:rPr sz="1500" b="1">
                <a:solidFill>
                  <a:srgbClr val="E2571B"/>
                </a:solidFill>
                <a:latin typeface="Noto Sans KR"/>
                <a:ea typeface="Noto Sans KR"/>
                <a:cs typeface="Noto Sans KR"/>
              </a:rPr>
              <a:t>Q3</a:t>
            </a:r>
          </a:p>
        </p:txBody>
      </p:sp>
      <p:sp>
        <p:nvSpPr>
          <p:cNvPr id="31" name="TextBox 30"/>
          <p:cNvSpPr txBox="1"/>
          <p:nvPr/>
        </p:nvSpPr>
        <p:spPr>
          <a:xfrm>
            <a:off x="6537959" y="4730343"/>
            <a:ext cx="4967935" cy="292608"/>
          </a:xfrm>
          <a:prstGeom prst="rect">
            <a:avLst/>
          </a:prstGeom>
          <a:noFill/>
        </p:spPr>
        <p:txBody>
          <a:bodyPr wrap="square" lIns="0" rIns="0" tIns="0" bIns="0" anchor="t">
            <a:spAutoFit/>
          </a:bodyPr>
          <a:lstStyle/>
          <a:p>
            <a:pPr algn="l">
              <a:lnSpc>
                <a:spcPct val="100000"/>
              </a:lnSpc>
            </a:pPr>
            <a:r>
              <a:rPr sz="1500" b="1">
                <a:solidFill>
                  <a:srgbClr val="15171A"/>
                </a:solidFill>
                <a:latin typeface="Noto Sans KR"/>
                <a:ea typeface="Noto Sans KR"/>
                <a:cs typeface="Noto Sans KR"/>
              </a:rPr>
              <a:t>왜 이 팀이 첫 고객을 확보할 수 있나</a:t>
            </a:r>
          </a:p>
        </p:txBody>
      </p:sp>
      <p:sp>
        <p:nvSpPr>
          <p:cNvPr id="32" name="TextBox 31"/>
          <p:cNvSpPr txBox="1"/>
          <p:nvPr/>
        </p:nvSpPr>
        <p:spPr>
          <a:xfrm>
            <a:off x="6537959" y="5050383"/>
            <a:ext cx="4967935" cy="256032"/>
          </a:xfrm>
          <a:prstGeom prst="rect">
            <a:avLst/>
          </a:prstGeom>
          <a:noFill/>
        </p:spPr>
        <p:txBody>
          <a:bodyPr wrap="square" lIns="0" rIns="0" tIns="0" bIns="0" anchor="t">
            <a:spAutoFit/>
          </a:bodyPr>
          <a:lstStyle/>
          <a:p>
            <a:pPr algn="l">
              <a:lnSpc>
                <a:spcPct val="100000"/>
              </a:lnSpc>
            </a:pPr>
            <a:r>
              <a:rPr sz="1200" b="0">
                <a:solidFill>
                  <a:srgbClr val="4A4F57"/>
                </a:solidFill>
                <a:latin typeface="Noto Sans KR"/>
                <a:ea typeface="Noto Sans KR"/>
                <a:cs typeface="Noto Sans KR"/>
              </a:rPr>
              <a:t>고객 네트워크·공동개발 고객 후보·SI 관계</a:t>
            </a:r>
          </a:p>
        </p:txBody>
      </p:sp>
      <p:sp>
        <p:nvSpPr>
          <p:cNvPr id="33" name="TextBox 32"/>
          <p:cNvSpPr txBox="1"/>
          <p:nvPr/>
        </p:nvSpPr>
        <p:spPr>
          <a:xfrm>
            <a:off x="6537959" y="5306415"/>
            <a:ext cx="4967935" cy="256032"/>
          </a:xfrm>
          <a:prstGeom prst="rect">
            <a:avLst/>
          </a:prstGeom>
          <a:noFill/>
        </p:spPr>
        <p:txBody>
          <a:bodyPr wrap="square" lIns="0" rIns="0" tIns="0" bIns="0" anchor="t">
            <a:spAutoFit/>
          </a:bodyPr>
          <a:lstStyle/>
          <a:p>
            <a:pPr algn="l">
              <a:lnSpc>
                <a:spcPct val="100000"/>
              </a:lnSpc>
            </a:pPr>
            <a:r>
              <a:rPr sz="1200" b="0">
                <a:solidFill>
                  <a:srgbClr val="E2571B"/>
                </a:solidFill>
                <a:latin typeface="Noto Sans KR"/>
                <a:ea typeface="Noto Sans KR"/>
                <a:cs typeface="Noto Sans KR"/>
              </a:rPr>
              <a:t>[정보 입력 필요]</a:t>
            </a:r>
          </a:p>
        </p:txBody>
      </p:sp>
      <p:cxnSp>
        <p:nvCxnSpPr>
          <p:cNvPr id="34" name="Connector 33"/>
          <p:cNvCxnSpPr/>
          <p:nvPr/>
        </p:nvCxnSpPr>
        <p:spPr>
          <a:xfrm>
            <a:off x="6035040" y="5617311"/>
            <a:ext cx="5470855" cy="0"/>
          </a:xfrm>
          <a:prstGeom prst="line">
            <a:avLst/>
          </a:prstGeom>
          <a:ln w="9525">
            <a:solidFill>
              <a:srgbClr val="E2E4E7"/>
            </a:solidFill>
          </a:ln>
        </p:spPr>
      </p:cxnSp>
      <p:sp>
        <p:nvSpPr>
          <p:cNvPr id="35" name="TextBox 34"/>
          <p:cNvSpPr txBox="1"/>
          <p:nvPr/>
        </p:nvSpPr>
        <p:spPr>
          <a:xfrm>
            <a:off x="685800" y="5989320"/>
            <a:ext cx="10820095" cy="237744"/>
          </a:xfrm>
          <a:prstGeom prst="rect">
            <a:avLst/>
          </a:prstGeom>
          <a:noFill/>
        </p:spPr>
        <p:txBody>
          <a:bodyPr wrap="square" lIns="0" rIns="0" tIns="0" bIns="0" anchor="t">
            <a:spAutoFit/>
          </a:bodyPr>
          <a:lstStyle/>
          <a:p>
            <a:pPr algn="l">
              <a:lnSpc>
                <a:spcPct val="100000"/>
              </a:lnSpc>
            </a:pPr>
            <a:r>
              <a:rPr sz="1100" b="1">
                <a:solidFill>
                  <a:srgbClr val="15171A"/>
                </a:solidFill>
                <a:latin typeface="Noto Sans KR"/>
                <a:ea typeface="Noto Sans KR"/>
                <a:cs typeface="Noto Sans KR"/>
              </a:rPr>
              <a:t>참여 조건   </a:t>
            </a:r>
            <a:r>
              <a:rPr sz="1100" b="0">
                <a:solidFill>
                  <a:srgbClr val="4A4F57"/>
                </a:solidFill>
                <a:latin typeface="Noto Sans KR"/>
                <a:ea typeface="Noto Sans KR"/>
                <a:cs typeface="Noto Sans KR"/>
              </a:rPr>
              <a:t>전업 참여 · 자기자본 투자 · 공동창업자 · 시제품 경험 · 연구실적 · 특허 · 고객 네트워크 · 공동개발 고객 후보 · 현 직장 정리 계획  </a:t>
            </a:r>
            <a:r>
              <a:rPr sz="1100" b="0">
                <a:solidFill>
                  <a:srgbClr val="E2571B"/>
                </a:solidFill>
                <a:latin typeface="Noto Sans KR"/>
                <a:ea typeface="Noto Sans KR"/>
                <a:cs typeface="Noto Sans KR"/>
              </a:rPr>
              <a:t>[정보 입력 필요]</a:t>
            </a:r>
          </a:p>
        </p:txBody>
      </p:sp>
      <p:sp>
        <p:nvSpPr>
          <p:cNvPr id="36" name="TextBox 35"/>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SoftHand-4  |  Seed 투자 제안서</a:t>
            </a:r>
          </a:p>
        </p:txBody>
      </p:sp>
      <p:sp>
        <p:nvSpPr>
          <p:cNvPr id="37" name="TextBox 36"/>
          <p:cNvSpPr txBox="1"/>
          <p:nvPr/>
        </p:nvSpPr>
        <p:spPr>
          <a:xfrm>
            <a:off x="3154680" y="6446520"/>
            <a:ext cx="7802575"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없는 정보는 만들지 않음 · 외부 제출 전 실제 정보로 교체 필요</a:t>
            </a:r>
          </a:p>
        </p:txBody>
      </p:sp>
      <p:sp>
        <p:nvSpPr>
          <p:cNvPr id="38" name="TextBox 37"/>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48640"/>
            <a:ext cx="7315200" cy="274320"/>
          </a:xfrm>
          <a:prstGeom prst="rect">
            <a:avLst/>
          </a:prstGeom>
          <a:noFill/>
        </p:spPr>
        <p:txBody>
          <a:bodyPr wrap="square" lIns="0" rIns="0" tIns="0" bIns="0" anchor="t">
            <a:spAutoFit/>
          </a:bodyPr>
          <a:lstStyle/>
          <a:p>
            <a:pPr algn="l">
              <a:lnSpc>
                <a:spcPct val="100000"/>
              </a:lnSpc>
            </a:pPr>
            <a:r>
              <a:rPr sz="1200" b="1">
                <a:solidFill>
                  <a:srgbClr val="E2571B"/>
                </a:solidFill>
                <a:latin typeface="Noto Sans KR"/>
                <a:ea typeface="Noto Sans KR"/>
                <a:cs typeface="Noto Sans KR"/>
              </a:rPr>
              <a:t>투자 요청</a:t>
            </a:r>
          </a:p>
        </p:txBody>
      </p:sp>
      <p:sp>
        <p:nvSpPr>
          <p:cNvPr id="3" name="TextBox 2"/>
          <p:cNvSpPr txBox="1"/>
          <p:nvPr/>
        </p:nvSpPr>
        <p:spPr>
          <a:xfrm>
            <a:off x="685800" y="932688"/>
            <a:ext cx="10820095" cy="542391"/>
          </a:xfrm>
          <a:prstGeom prst="rect">
            <a:avLst/>
          </a:prstGeom>
          <a:noFill/>
        </p:spPr>
        <p:txBody>
          <a:bodyPr wrap="square" lIns="0" rIns="0" tIns="0" bIns="0" anchor="t">
            <a:spAutoFit/>
          </a:bodyPr>
          <a:lstStyle/>
          <a:p>
            <a:pPr algn="l">
              <a:lnSpc>
                <a:spcPct val="95000"/>
              </a:lnSpc>
            </a:pPr>
            <a:r>
              <a:rPr sz="3000" b="1">
                <a:solidFill>
                  <a:srgbClr val="15171A"/>
                </a:solidFill>
                <a:latin typeface="Noto Sans KR"/>
                <a:ea typeface="Noto Sans KR"/>
                <a:cs typeface="Noto Sans KR"/>
              </a:rPr>
              <a:t>Seed 20억 원, 24개월 사업성 검증</a:t>
            </a:r>
          </a:p>
        </p:txBody>
      </p:sp>
      <p:sp>
        <p:nvSpPr>
          <p:cNvPr id="4" name="TextBox 3"/>
          <p:cNvSpPr txBox="1"/>
          <p:nvPr/>
        </p:nvSpPr>
        <p:spPr>
          <a:xfrm>
            <a:off x="685800" y="1584807"/>
            <a:ext cx="10820095" cy="329184"/>
          </a:xfrm>
          <a:prstGeom prst="rect">
            <a:avLst/>
          </a:prstGeom>
          <a:noFill/>
        </p:spPr>
        <p:txBody>
          <a:bodyPr wrap="square" lIns="0" rIns="0" tIns="0" bIns="0" anchor="t">
            <a:spAutoFit/>
          </a:bodyPr>
          <a:lstStyle/>
          <a:p>
            <a:pPr algn="l">
              <a:lnSpc>
                <a:spcPct val="100000"/>
              </a:lnSpc>
            </a:pPr>
            <a:r>
              <a:rPr sz="1600" b="0">
                <a:solidFill>
                  <a:srgbClr val="4A4F57"/>
                </a:solidFill>
                <a:latin typeface="Noto Sans KR"/>
                <a:ea typeface="Noto Sans KR"/>
                <a:cs typeface="Noto Sans KR"/>
              </a:rPr>
              <a:t>18개월 핵심 운영 + 6개월 연장, 매출이 없어도 24개월 운영 가능</a:t>
            </a:r>
          </a:p>
        </p:txBody>
      </p:sp>
      <p:sp>
        <p:nvSpPr>
          <p:cNvPr id="5" name="TextBox 4"/>
          <p:cNvSpPr txBox="1"/>
          <p:nvPr/>
        </p:nvSpPr>
        <p:spPr>
          <a:xfrm>
            <a:off x="685800" y="2096871"/>
            <a:ext cx="3246120" cy="932688"/>
          </a:xfrm>
          <a:prstGeom prst="rect">
            <a:avLst/>
          </a:prstGeom>
          <a:noFill/>
        </p:spPr>
        <p:txBody>
          <a:bodyPr wrap="square" lIns="0" rIns="0" tIns="0" bIns="0" anchor="t">
            <a:spAutoFit/>
          </a:bodyPr>
          <a:lstStyle/>
          <a:p>
            <a:pPr algn="l">
              <a:lnSpc>
                <a:spcPct val="95000"/>
              </a:lnSpc>
            </a:pPr>
            <a:r>
              <a:rPr sz="5200" b="1">
                <a:solidFill>
                  <a:srgbClr val="E2571B"/>
                </a:solidFill>
                <a:latin typeface="Noto Sans KR"/>
                <a:ea typeface="Noto Sans KR"/>
                <a:cs typeface="Noto Sans KR"/>
              </a:rPr>
              <a:t>20억 원</a:t>
            </a:r>
          </a:p>
        </p:txBody>
      </p:sp>
      <p:sp>
        <p:nvSpPr>
          <p:cNvPr id="6" name="TextBox 5"/>
          <p:cNvSpPr txBox="1"/>
          <p:nvPr/>
        </p:nvSpPr>
        <p:spPr>
          <a:xfrm>
            <a:off x="685800" y="2965551"/>
            <a:ext cx="3246120" cy="274320"/>
          </a:xfrm>
          <a:prstGeom prst="rect">
            <a:avLst/>
          </a:prstGeom>
          <a:noFill/>
        </p:spPr>
        <p:txBody>
          <a:bodyPr wrap="square" lIns="0" rIns="0" tIns="0" bIns="0" anchor="t">
            <a:spAutoFit/>
          </a:bodyPr>
          <a:lstStyle/>
          <a:p>
            <a:pPr algn="l">
              <a:lnSpc>
                <a:spcPct val="100000"/>
              </a:lnSpc>
            </a:pPr>
            <a:r>
              <a:rPr sz="1500" b="0">
                <a:solidFill>
                  <a:srgbClr val="4A4F57"/>
                </a:solidFill>
                <a:latin typeface="Noto Sans KR"/>
                <a:ea typeface="Noto Sans KR"/>
                <a:cs typeface="Noto Sans KR"/>
              </a:rPr>
              <a:t>Seed  ·  24개월</a:t>
            </a:r>
          </a:p>
        </p:txBody>
      </p:sp>
      <p:cxnSp>
        <p:nvCxnSpPr>
          <p:cNvPr id="7" name="Connector 6"/>
          <p:cNvCxnSpPr/>
          <p:nvPr/>
        </p:nvCxnSpPr>
        <p:spPr>
          <a:xfrm>
            <a:off x="685800" y="3468471"/>
            <a:ext cx="3246120" cy="0"/>
          </a:xfrm>
          <a:prstGeom prst="line">
            <a:avLst/>
          </a:prstGeom>
          <a:ln w="12700">
            <a:solidFill>
              <a:srgbClr val="15171A"/>
            </a:solidFill>
          </a:ln>
        </p:spPr>
      </p:cxnSp>
      <p:sp>
        <p:nvSpPr>
          <p:cNvPr id="8" name="TextBox 7"/>
          <p:cNvSpPr txBox="1"/>
          <p:nvPr/>
        </p:nvSpPr>
        <p:spPr>
          <a:xfrm>
            <a:off x="685800" y="3587343"/>
            <a:ext cx="2011680" cy="274320"/>
          </a:xfrm>
          <a:prstGeom prst="rect">
            <a:avLst/>
          </a:prstGeom>
          <a:noFill/>
        </p:spPr>
        <p:txBody>
          <a:bodyPr wrap="square" lIns="0" rIns="0" tIns="0" bIns="0" anchor="t">
            <a:spAutoFit/>
          </a:bodyPr>
          <a:lstStyle/>
          <a:p>
            <a:pPr algn="l">
              <a:lnSpc>
                <a:spcPct val="100000"/>
              </a:lnSpc>
            </a:pPr>
            <a:r>
              <a:rPr sz="1300" b="0">
                <a:solidFill>
                  <a:srgbClr val="15171A"/>
                </a:solidFill>
                <a:latin typeface="Noto Sans KR"/>
                <a:ea typeface="Noto Sans KR"/>
                <a:cs typeface="Noto Sans KR"/>
              </a:rPr>
              <a:t>18개월 핵심 운영</a:t>
            </a:r>
          </a:p>
        </p:txBody>
      </p:sp>
      <p:sp>
        <p:nvSpPr>
          <p:cNvPr id="9" name="TextBox 8"/>
          <p:cNvSpPr txBox="1"/>
          <p:nvPr/>
        </p:nvSpPr>
        <p:spPr>
          <a:xfrm>
            <a:off x="2697480" y="3587343"/>
            <a:ext cx="1234439" cy="274320"/>
          </a:xfrm>
          <a:prstGeom prst="rect">
            <a:avLst/>
          </a:prstGeom>
          <a:noFill/>
        </p:spPr>
        <p:txBody>
          <a:bodyPr wrap="square" lIns="0" rIns="0" tIns="0" bIns="0" anchor="t">
            <a:spAutoFit/>
          </a:bodyPr>
          <a:lstStyle/>
          <a:p>
            <a:pPr algn="r">
              <a:lnSpc>
                <a:spcPct val="100000"/>
              </a:lnSpc>
            </a:pPr>
            <a:r>
              <a:rPr sz="1400" b="1">
                <a:solidFill>
                  <a:srgbClr val="15171A"/>
                </a:solidFill>
                <a:latin typeface="Noto Sans KR"/>
                <a:ea typeface="Noto Sans KR"/>
                <a:cs typeface="Noto Sans KR"/>
              </a:rPr>
              <a:t>13.4억</a:t>
            </a:r>
          </a:p>
        </p:txBody>
      </p:sp>
      <p:cxnSp>
        <p:nvCxnSpPr>
          <p:cNvPr id="10" name="Connector 9"/>
          <p:cNvCxnSpPr/>
          <p:nvPr/>
        </p:nvCxnSpPr>
        <p:spPr>
          <a:xfrm>
            <a:off x="685800" y="3943959"/>
            <a:ext cx="3246120" cy="0"/>
          </a:xfrm>
          <a:prstGeom prst="line">
            <a:avLst/>
          </a:prstGeom>
          <a:ln w="9525">
            <a:solidFill>
              <a:srgbClr val="E2E4E7"/>
            </a:solidFill>
          </a:ln>
        </p:spPr>
      </p:cxnSp>
      <p:sp>
        <p:nvSpPr>
          <p:cNvPr id="11" name="TextBox 10"/>
          <p:cNvSpPr txBox="1"/>
          <p:nvPr/>
        </p:nvSpPr>
        <p:spPr>
          <a:xfrm>
            <a:off x="685800" y="4062831"/>
            <a:ext cx="2011680" cy="274320"/>
          </a:xfrm>
          <a:prstGeom prst="rect">
            <a:avLst/>
          </a:prstGeom>
          <a:noFill/>
        </p:spPr>
        <p:txBody>
          <a:bodyPr wrap="square" lIns="0" rIns="0" tIns="0" bIns="0" anchor="t">
            <a:spAutoFit/>
          </a:bodyPr>
          <a:lstStyle/>
          <a:p>
            <a:pPr algn="l">
              <a:lnSpc>
                <a:spcPct val="100000"/>
              </a:lnSpc>
            </a:pPr>
            <a:r>
              <a:rPr sz="1300" b="0">
                <a:solidFill>
                  <a:srgbClr val="15171A"/>
                </a:solidFill>
                <a:latin typeface="Noto Sans KR"/>
                <a:ea typeface="Noto Sans KR"/>
                <a:cs typeface="Noto Sans KR"/>
              </a:rPr>
              <a:t>6개월 연장</a:t>
            </a:r>
          </a:p>
        </p:txBody>
      </p:sp>
      <p:sp>
        <p:nvSpPr>
          <p:cNvPr id="12" name="TextBox 11"/>
          <p:cNvSpPr txBox="1"/>
          <p:nvPr/>
        </p:nvSpPr>
        <p:spPr>
          <a:xfrm>
            <a:off x="2697480" y="4062831"/>
            <a:ext cx="1234439" cy="274320"/>
          </a:xfrm>
          <a:prstGeom prst="rect">
            <a:avLst/>
          </a:prstGeom>
          <a:noFill/>
        </p:spPr>
        <p:txBody>
          <a:bodyPr wrap="square" lIns="0" rIns="0" tIns="0" bIns="0" anchor="t">
            <a:spAutoFit/>
          </a:bodyPr>
          <a:lstStyle/>
          <a:p>
            <a:pPr algn="r">
              <a:lnSpc>
                <a:spcPct val="100000"/>
              </a:lnSpc>
            </a:pPr>
            <a:r>
              <a:rPr sz="1400" b="1">
                <a:solidFill>
                  <a:srgbClr val="15171A"/>
                </a:solidFill>
                <a:latin typeface="Noto Sans KR"/>
                <a:ea typeface="Noto Sans KR"/>
                <a:cs typeface="Noto Sans KR"/>
              </a:rPr>
              <a:t>5.0억</a:t>
            </a:r>
          </a:p>
        </p:txBody>
      </p:sp>
      <p:cxnSp>
        <p:nvCxnSpPr>
          <p:cNvPr id="13" name="Connector 12"/>
          <p:cNvCxnSpPr/>
          <p:nvPr/>
        </p:nvCxnSpPr>
        <p:spPr>
          <a:xfrm>
            <a:off x="685800" y="4419447"/>
            <a:ext cx="3246120" cy="0"/>
          </a:xfrm>
          <a:prstGeom prst="line">
            <a:avLst/>
          </a:prstGeom>
          <a:ln w="9525">
            <a:solidFill>
              <a:srgbClr val="E2E4E7"/>
            </a:solidFill>
          </a:ln>
        </p:spPr>
      </p:cxnSp>
      <p:sp>
        <p:nvSpPr>
          <p:cNvPr id="14" name="TextBox 13"/>
          <p:cNvSpPr txBox="1"/>
          <p:nvPr/>
        </p:nvSpPr>
        <p:spPr>
          <a:xfrm>
            <a:off x="685800" y="4538319"/>
            <a:ext cx="2011680" cy="274320"/>
          </a:xfrm>
          <a:prstGeom prst="rect">
            <a:avLst/>
          </a:prstGeom>
          <a:noFill/>
        </p:spPr>
        <p:txBody>
          <a:bodyPr wrap="square" lIns="0" rIns="0" tIns="0" bIns="0" anchor="t">
            <a:spAutoFit/>
          </a:bodyPr>
          <a:lstStyle/>
          <a:p>
            <a:pPr algn="l">
              <a:lnSpc>
                <a:spcPct val="100000"/>
              </a:lnSpc>
            </a:pPr>
            <a:r>
              <a:rPr sz="1300" b="0">
                <a:solidFill>
                  <a:srgbClr val="15171A"/>
                </a:solidFill>
                <a:latin typeface="Noto Sans KR"/>
                <a:ea typeface="Noto Sans KR"/>
                <a:cs typeface="Noto Sans KR"/>
              </a:rPr>
              <a:t>예비비·운전자본</a:t>
            </a:r>
          </a:p>
        </p:txBody>
      </p:sp>
      <p:sp>
        <p:nvSpPr>
          <p:cNvPr id="15" name="TextBox 14"/>
          <p:cNvSpPr txBox="1"/>
          <p:nvPr/>
        </p:nvSpPr>
        <p:spPr>
          <a:xfrm>
            <a:off x="2697480" y="4538319"/>
            <a:ext cx="1234439" cy="274320"/>
          </a:xfrm>
          <a:prstGeom prst="rect">
            <a:avLst/>
          </a:prstGeom>
          <a:noFill/>
        </p:spPr>
        <p:txBody>
          <a:bodyPr wrap="square" lIns="0" rIns="0" tIns="0" bIns="0" anchor="t">
            <a:spAutoFit/>
          </a:bodyPr>
          <a:lstStyle/>
          <a:p>
            <a:pPr algn="r">
              <a:lnSpc>
                <a:spcPct val="100000"/>
              </a:lnSpc>
            </a:pPr>
            <a:r>
              <a:rPr sz="1400" b="1">
                <a:solidFill>
                  <a:srgbClr val="15171A"/>
                </a:solidFill>
                <a:latin typeface="Noto Sans KR"/>
                <a:ea typeface="Noto Sans KR"/>
                <a:cs typeface="Noto Sans KR"/>
              </a:rPr>
              <a:t>1.7억</a:t>
            </a:r>
          </a:p>
        </p:txBody>
      </p:sp>
      <p:cxnSp>
        <p:nvCxnSpPr>
          <p:cNvPr id="16" name="Connector 15"/>
          <p:cNvCxnSpPr/>
          <p:nvPr/>
        </p:nvCxnSpPr>
        <p:spPr>
          <a:xfrm>
            <a:off x="685800" y="4894935"/>
            <a:ext cx="3246120" cy="0"/>
          </a:xfrm>
          <a:prstGeom prst="line">
            <a:avLst/>
          </a:prstGeom>
          <a:ln w="9525">
            <a:solidFill>
              <a:srgbClr val="E2E4E7"/>
            </a:solidFill>
          </a:ln>
        </p:spPr>
      </p:cxnSp>
      <p:sp>
        <p:nvSpPr>
          <p:cNvPr id="17" name="TextBox 16"/>
          <p:cNvSpPr txBox="1"/>
          <p:nvPr/>
        </p:nvSpPr>
        <p:spPr>
          <a:xfrm>
            <a:off x="685800" y="5059527"/>
            <a:ext cx="3246120" cy="548640"/>
          </a:xfrm>
          <a:prstGeom prst="rect">
            <a:avLst/>
          </a:prstGeom>
          <a:noFill/>
        </p:spPr>
        <p:txBody>
          <a:bodyPr wrap="square" lIns="0" rIns="0" tIns="0" bIns="0" anchor="t">
            <a:spAutoFit/>
          </a:bodyPr>
          <a:lstStyle/>
          <a:p>
            <a:pPr algn="l">
              <a:lnSpc>
                <a:spcPct val="100000"/>
              </a:lnSpc>
            </a:pPr>
            <a:r>
              <a:rPr sz="1200" b="0">
                <a:solidFill>
                  <a:srgbClr val="4A4F57"/>
                </a:solidFill>
                <a:latin typeface="Noto Sans KR"/>
                <a:ea typeface="Noto Sans KR"/>
                <a:cs typeface="Noto Sans KR"/>
              </a:rPr>
              <a:t>투자 조건 (기업가치·지분율)</a:t>
            </a:r>
          </a:p>
          <a:p>
            <a:pPr algn="l">
              <a:lnSpc>
                <a:spcPct val="100000"/>
              </a:lnSpc>
            </a:pPr>
            <a:r>
              <a:rPr sz="1200" b="0">
                <a:solidFill>
                  <a:srgbClr val="4A4F57"/>
                </a:solidFill>
                <a:latin typeface="Noto Sans KR"/>
                <a:ea typeface="Noto Sans KR"/>
                <a:cs typeface="Noto Sans KR"/>
              </a:rPr>
              <a:t>[투자 조건 입력 필요]</a:t>
            </a:r>
          </a:p>
        </p:txBody>
      </p:sp>
      <p:sp>
        <p:nvSpPr>
          <p:cNvPr id="18" name="TextBox 17"/>
          <p:cNvSpPr txBox="1"/>
          <p:nvPr/>
        </p:nvSpPr>
        <p:spPr>
          <a:xfrm>
            <a:off x="4389120" y="2096871"/>
            <a:ext cx="3977639" cy="274320"/>
          </a:xfrm>
          <a:prstGeom prst="rect">
            <a:avLst/>
          </a:prstGeom>
          <a:noFill/>
        </p:spPr>
        <p:txBody>
          <a:bodyPr wrap="square" lIns="0" rIns="0" tIns="0" bIns="0" anchor="t">
            <a:spAutoFit/>
          </a:bodyPr>
          <a:lstStyle/>
          <a:p>
            <a:pPr algn="l">
              <a:lnSpc>
                <a:spcPct val="100000"/>
              </a:lnSpc>
            </a:pPr>
            <a:r>
              <a:rPr sz="1200" b="1">
                <a:solidFill>
                  <a:srgbClr val="8C9198"/>
                </a:solidFill>
                <a:latin typeface="Noto Sans KR"/>
                <a:ea typeface="Noto Sans KR"/>
                <a:cs typeface="Noto Sans KR"/>
              </a:rPr>
              <a:t>자금 사용 계획 (억 원)</a:t>
            </a:r>
          </a:p>
        </p:txBody>
      </p:sp>
      <p:graphicFrame>
        <p:nvGraphicFramePr>
          <p:cNvPr id="19" name="Chart 18"/>
          <p:cNvGraphicFramePr>
            <a:graphicFrameLocks noGrp="1"/>
          </p:cNvGraphicFramePr>
          <p:nvPr/>
        </p:nvGraphicFramePr>
        <p:xfrm>
          <a:off x="4389120" y="2416911"/>
          <a:ext cx="3977639" cy="3383280"/>
        </p:xfrm>
        <a:graphic>
          <a:graphicData uri="http://schemas.openxmlformats.org/drawingml/2006/chart">
            <c:chart xmlns:c="http://schemas.openxmlformats.org/drawingml/2006/chart" r:id="rId2"/>
          </a:graphicData>
        </a:graphic>
      </p:graphicFrame>
      <p:sp>
        <p:nvSpPr>
          <p:cNvPr id="20" name="TextBox 19"/>
          <p:cNvSpPr txBox="1"/>
          <p:nvPr/>
        </p:nvSpPr>
        <p:spPr>
          <a:xfrm>
            <a:off x="4389120" y="2503728"/>
            <a:ext cx="1618945" cy="220573"/>
          </a:xfrm>
          <a:prstGeom prst="rect">
            <a:avLst/>
          </a:prstGeom>
          <a:noFill/>
        </p:spPr>
        <p:txBody>
          <a:bodyPr wrap="square" lIns="0" rIns="0" tIns="0" bIns="0" anchor="t">
            <a:spAutoFit/>
          </a:bodyPr>
          <a:lstStyle/>
          <a:p>
            <a:pPr algn="r">
              <a:lnSpc>
                <a:spcPct val="100000"/>
              </a:lnSpc>
            </a:pPr>
            <a:r>
              <a:rPr sz="1100" b="0">
                <a:solidFill>
                  <a:srgbClr val="15171A"/>
                </a:solidFill>
                <a:latin typeface="Noto Sans KR"/>
                <a:ea typeface="Noto Sans KR"/>
                <a:cs typeface="Noto Sans KR"/>
              </a:rPr>
              <a:t>핵심 인력 8명</a:t>
            </a:r>
          </a:p>
        </p:txBody>
      </p:sp>
      <p:sp>
        <p:nvSpPr>
          <p:cNvPr id="21" name="TextBox 20"/>
          <p:cNvSpPr txBox="1"/>
          <p:nvPr/>
        </p:nvSpPr>
        <p:spPr>
          <a:xfrm>
            <a:off x="4389120" y="2879648"/>
            <a:ext cx="1618945" cy="220573"/>
          </a:xfrm>
          <a:prstGeom prst="rect">
            <a:avLst/>
          </a:prstGeom>
          <a:noFill/>
        </p:spPr>
        <p:txBody>
          <a:bodyPr wrap="square" lIns="0" rIns="0" tIns="0" bIns="0" anchor="t">
            <a:spAutoFit/>
          </a:bodyPr>
          <a:lstStyle/>
          <a:p>
            <a:pPr algn="r">
              <a:lnSpc>
                <a:spcPct val="100000"/>
              </a:lnSpc>
            </a:pPr>
            <a:r>
              <a:rPr sz="1100" b="0">
                <a:solidFill>
                  <a:srgbClr val="15171A"/>
                </a:solidFill>
                <a:latin typeface="Noto Sans KR"/>
                <a:ea typeface="Noto Sans KR"/>
                <a:cs typeface="Noto Sans KR"/>
              </a:rPr>
              <a:t>시제품·내구시험</a:t>
            </a:r>
          </a:p>
        </p:txBody>
      </p:sp>
      <p:sp>
        <p:nvSpPr>
          <p:cNvPr id="22" name="TextBox 21"/>
          <p:cNvSpPr txBox="1"/>
          <p:nvPr/>
        </p:nvSpPr>
        <p:spPr>
          <a:xfrm>
            <a:off x="4389120" y="3255568"/>
            <a:ext cx="1618945" cy="220573"/>
          </a:xfrm>
          <a:prstGeom prst="rect">
            <a:avLst/>
          </a:prstGeom>
          <a:noFill/>
        </p:spPr>
        <p:txBody>
          <a:bodyPr wrap="square" lIns="0" rIns="0" tIns="0" bIns="0" anchor="t">
            <a:spAutoFit/>
          </a:bodyPr>
          <a:lstStyle/>
          <a:p>
            <a:pPr algn="r">
              <a:lnSpc>
                <a:spcPct val="100000"/>
              </a:lnSpc>
            </a:pPr>
            <a:r>
              <a:rPr sz="1100" b="0">
                <a:solidFill>
                  <a:srgbClr val="15171A"/>
                </a:solidFill>
                <a:latin typeface="Noto Sans KR"/>
                <a:ea typeface="Noto Sans KR"/>
                <a:cs typeface="Noto Sans KR"/>
              </a:rPr>
              <a:t>로봇 2종·시험 셀</a:t>
            </a:r>
          </a:p>
        </p:txBody>
      </p:sp>
      <p:sp>
        <p:nvSpPr>
          <p:cNvPr id="23" name="TextBox 22"/>
          <p:cNvSpPr txBox="1"/>
          <p:nvPr/>
        </p:nvSpPr>
        <p:spPr>
          <a:xfrm>
            <a:off x="4389120" y="3631488"/>
            <a:ext cx="1618945" cy="220573"/>
          </a:xfrm>
          <a:prstGeom prst="rect">
            <a:avLst/>
          </a:prstGeom>
          <a:noFill/>
        </p:spPr>
        <p:txBody>
          <a:bodyPr wrap="square" lIns="0" rIns="0" tIns="0" bIns="0" anchor="t">
            <a:spAutoFit/>
          </a:bodyPr>
          <a:lstStyle/>
          <a:p>
            <a:pPr algn="r">
              <a:lnSpc>
                <a:spcPct val="100000"/>
              </a:lnSpc>
            </a:pPr>
            <a:r>
              <a:rPr sz="1100" b="0">
                <a:solidFill>
                  <a:srgbClr val="15171A"/>
                </a:solidFill>
                <a:latin typeface="Noto Sans KR"/>
                <a:ea typeface="Noto Sans KR"/>
                <a:cs typeface="Noto Sans KR"/>
              </a:rPr>
              <a:t>고객 PoC·현장 통합</a:t>
            </a:r>
          </a:p>
        </p:txBody>
      </p:sp>
      <p:sp>
        <p:nvSpPr>
          <p:cNvPr id="24" name="TextBox 23"/>
          <p:cNvSpPr txBox="1"/>
          <p:nvPr/>
        </p:nvSpPr>
        <p:spPr>
          <a:xfrm>
            <a:off x="4389120" y="4007408"/>
            <a:ext cx="1618945" cy="220573"/>
          </a:xfrm>
          <a:prstGeom prst="rect">
            <a:avLst/>
          </a:prstGeom>
          <a:noFill/>
        </p:spPr>
        <p:txBody>
          <a:bodyPr wrap="square" lIns="0" rIns="0" tIns="0" bIns="0" anchor="t">
            <a:spAutoFit/>
          </a:bodyPr>
          <a:lstStyle/>
          <a:p>
            <a:pPr algn="r">
              <a:lnSpc>
                <a:spcPct val="100000"/>
              </a:lnSpc>
            </a:pPr>
            <a:r>
              <a:rPr sz="1100" b="0">
                <a:solidFill>
                  <a:srgbClr val="15171A"/>
                </a:solidFill>
                <a:latin typeface="Noto Sans KR"/>
                <a:ea typeface="Noto Sans KR"/>
                <a:cs typeface="Noto Sans KR"/>
              </a:rPr>
              <a:t>SW·AI·데이터</a:t>
            </a:r>
          </a:p>
        </p:txBody>
      </p:sp>
      <p:sp>
        <p:nvSpPr>
          <p:cNvPr id="25" name="TextBox 24"/>
          <p:cNvSpPr txBox="1"/>
          <p:nvPr/>
        </p:nvSpPr>
        <p:spPr>
          <a:xfrm>
            <a:off x="4389120" y="4383328"/>
            <a:ext cx="1618945" cy="220573"/>
          </a:xfrm>
          <a:prstGeom prst="rect">
            <a:avLst/>
          </a:prstGeom>
          <a:noFill/>
        </p:spPr>
        <p:txBody>
          <a:bodyPr wrap="square" lIns="0" rIns="0" tIns="0" bIns="0" anchor="t">
            <a:spAutoFit/>
          </a:bodyPr>
          <a:lstStyle/>
          <a:p>
            <a:pPr algn="r">
              <a:lnSpc>
                <a:spcPct val="100000"/>
              </a:lnSpc>
            </a:pPr>
            <a:r>
              <a:rPr sz="1100" b="0">
                <a:solidFill>
                  <a:srgbClr val="15171A"/>
                </a:solidFill>
                <a:latin typeface="Noto Sans KR"/>
                <a:ea typeface="Noto Sans KR"/>
                <a:cs typeface="Noto Sans KR"/>
              </a:rPr>
              <a:t>제조·품질·안전·IP</a:t>
            </a:r>
          </a:p>
        </p:txBody>
      </p:sp>
      <p:sp>
        <p:nvSpPr>
          <p:cNvPr id="26" name="TextBox 25"/>
          <p:cNvSpPr txBox="1"/>
          <p:nvPr/>
        </p:nvSpPr>
        <p:spPr>
          <a:xfrm>
            <a:off x="4389120" y="4759248"/>
            <a:ext cx="1618945" cy="220573"/>
          </a:xfrm>
          <a:prstGeom prst="rect">
            <a:avLst/>
          </a:prstGeom>
          <a:noFill/>
        </p:spPr>
        <p:txBody>
          <a:bodyPr wrap="square" lIns="0" rIns="0" tIns="0" bIns="0" anchor="t">
            <a:spAutoFit/>
          </a:bodyPr>
          <a:lstStyle/>
          <a:p>
            <a:pPr algn="r">
              <a:lnSpc>
                <a:spcPct val="100000"/>
              </a:lnSpc>
            </a:pPr>
            <a:r>
              <a:rPr sz="1100" b="0">
                <a:solidFill>
                  <a:srgbClr val="15171A"/>
                </a:solidFill>
                <a:latin typeface="Noto Sans KR"/>
                <a:ea typeface="Noto Sans KR"/>
                <a:cs typeface="Noto Sans KR"/>
              </a:rPr>
              <a:t>주방 벤치 데모</a:t>
            </a:r>
          </a:p>
        </p:txBody>
      </p:sp>
      <p:sp>
        <p:nvSpPr>
          <p:cNvPr id="27" name="TextBox 26"/>
          <p:cNvSpPr txBox="1"/>
          <p:nvPr/>
        </p:nvSpPr>
        <p:spPr>
          <a:xfrm>
            <a:off x="4389120" y="5135168"/>
            <a:ext cx="1618945" cy="220573"/>
          </a:xfrm>
          <a:prstGeom prst="rect">
            <a:avLst/>
          </a:prstGeom>
          <a:noFill/>
        </p:spPr>
        <p:txBody>
          <a:bodyPr wrap="square" lIns="0" rIns="0" tIns="0" bIns="0" anchor="t">
            <a:spAutoFit/>
          </a:bodyPr>
          <a:lstStyle/>
          <a:p>
            <a:pPr algn="r">
              <a:lnSpc>
                <a:spcPct val="100000"/>
              </a:lnSpc>
            </a:pPr>
            <a:r>
              <a:rPr sz="1100" b="0">
                <a:solidFill>
                  <a:srgbClr val="15171A"/>
                </a:solidFill>
                <a:latin typeface="Noto Sans KR"/>
                <a:ea typeface="Noto Sans KR"/>
                <a:cs typeface="Noto Sans KR"/>
              </a:rPr>
              <a:t>운영·관리</a:t>
            </a:r>
          </a:p>
        </p:txBody>
      </p:sp>
      <p:sp>
        <p:nvSpPr>
          <p:cNvPr id="28" name="TextBox 27"/>
          <p:cNvSpPr txBox="1"/>
          <p:nvPr/>
        </p:nvSpPr>
        <p:spPr>
          <a:xfrm>
            <a:off x="4389120" y="5511088"/>
            <a:ext cx="1618945" cy="220573"/>
          </a:xfrm>
          <a:prstGeom prst="rect">
            <a:avLst/>
          </a:prstGeom>
          <a:noFill/>
        </p:spPr>
        <p:txBody>
          <a:bodyPr wrap="square" lIns="0" rIns="0" tIns="0" bIns="0" anchor="t">
            <a:spAutoFit/>
          </a:bodyPr>
          <a:lstStyle/>
          <a:p>
            <a:pPr algn="r">
              <a:lnSpc>
                <a:spcPct val="100000"/>
              </a:lnSpc>
            </a:pPr>
            <a:r>
              <a:rPr sz="1100" b="0">
                <a:solidFill>
                  <a:srgbClr val="15171A"/>
                </a:solidFill>
                <a:latin typeface="Noto Sans KR"/>
                <a:ea typeface="Noto Sans KR"/>
                <a:cs typeface="Noto Sans KR"/>
              </a:rPr>
              <a:t>예비비·운전자본</a:t>
            </a:r>
          </a:p>
        </p:txBody>
      </p:sp>
      <p:sp>
        <p:nvSpPr>
          <p:cNvPr id="29" name="TextBox 28"/>
          <p:cNvSpPr txBox="1"/>
          <p:nvPr/>
        </p:nvSpPr>
        <p:spPr>
          <a:xfrm>
            <a:off x="8823959" y="2096871"/>
            <a:ext cx="2681935" cy="274320"/>
          </a:xfrm>
          <a:prstGeom prst="rect">
            <a:avLst/>
          </a:prstGeom>
          <a:noFill/>
        </p:spPr>
        <p:txBody>
          <a:bodyPr wrap="square" lIns="0" rIns="0" tIns="0" bIns="0" anchor="t">
            <a:spAutoFit/>
          </a:bodyPr>
          <a:lstStyle/>
          <a:p>
            <a:pPr algn="l">
              <a:lnSpc>
                <a:spcPct val="100000"/>
              </a:lnSpc>
            </a:pPr>
            <a:r>
              <a:rPr sz="1200" b="1">
                <a:solidFill>
                  <a:srgbClr val="8C9198"/>
                </a:solidFill>
                <a:latin typeface="Noto Sans KR"/>
                <a:ea typeface="Noto Sans KR"/>
                <a:cs typeface="Noto Sans KR"/>
              </a:rPr>
              <a:t>24개월 뒤 Series A 조건 (목표)</a:t>
            </a:r>
          </a:p>
        </p:txBody>
      </p:sp>
      <p:graphicFrame>
        <p:nvGraphicFramePr>
          <p:cNvPr id="30" name="Table 29"/>
          <p:cNvGraphicFramePr>
            <a:graphicFrameLocks noGrp="1"/>
          </p:cNvGraphicFramePr>
          <p:nvPr/>
        </p:nvGraphicFramePr>
        <p:xfrm>
          <a:off x="8823959" y="2416911"/>
          <a:ext cx="2681935" cy="2935832"/>
        </p:xfrm>
        <a:graphic>
          <a:graphicData uri="http://schemas.openxmlformats.org/drawingml/2006/table">
            <a:tbl>
              <a:tblPr firstRow="0" bandRow="0">
                <a:tableStyleId>{2D5ABB26-0587-4C30-8999-92F81FD0307C}</a:tableStyleId>
              </a:tblPr>
              <a:tblGrid>
                <a:gridCol w="1630375"/>
                <a:gridCol w="1051560"/>
              </a:tblGrid>
              <a:tr h="366979">
                <a:tc>
                  <a:txBody>
                    <a:bodyPr wrap="square"/>
                    <a:lstStyle/>
                    <a:p>
                      <a:pPr algn="l">
                        <a:lnSpc>
                          <a:spcPct val="100000"/>
                        </a:lnSpc>
                      </a:pPr>
                      <a:r>
                        <a:rPr sz="1200" b="0">
                          <a:solidFill>
                            <a:srgbClr val="15171A"/>
                          </a:solidFill>
                          <a:latin typeface="Noto Sans KR"/>
                          <a:ea typeface="Noto Sans KR"/>
                          <a:cs typeface="Noto Sans KR"/>
                        </a:rPr>
                        <a:t>유료 PoC</a:t>
                      </a:r>
                    </a:p>
                  </a:txBody>
                  <a:tcPr marL="73152" marR="73152" marT="68580" marB="68580" anchor="t">
                    <a:lnL w="0">
                      <a:noFill/>
                    </a:lnL>
                    <a:lnR w="0">
                      <a:noFill/>
                    </a:lnR>
                    <a:lnT w="0">
                      <a:noFill/>
                    </a:lnT>
                    <a:lnB w="9525">
                      <a:solidFill>
                        <a:srgbClr val="E2E4E7"/>
                      </a:solidFill>
                    </a:lnB>
                    <a:noFill/>
                  </a:tcPr>
                </a:tc>
                <a:tc>
                  <a:txBody>
                    <a:bodyPr wrap="square"/>
                    <a:lstStyle/>
                    <a:p>
                      <a:pPr algn="r">
                        <a:lnSpc>
                          <a:spcPct val="100000"/>
                        </a:lnSpc>
                      </a:pPr>
                      <a:r>
                        <a:rPr sz="1200" b="1">
                          <a:solidFill>
                            <a:srgbClr val="15171A"/>
                          </a:solidFill>
                          <a:latin typeface="Noto Sans KR"/>
                          <a:ea typeface="Noto Sans KR"/>
                          <a:cs typeface="Noto Sans KR"/>
                        </a:rPr>
                        <a:t>5건+</a:t>
                      </a:r>
                    </a:p>
                  </a:txBody>
                  <a:tcPr marL="73152" marR="73152" marT="68580" marB="68580" anchor="t">
                    <a:lnL w="0">
                      <a:noFill/>
                    </a:lnL>
                    <a:lnR w="0">
                      <a:noFill/>
                    </a:lnR>
                    <a:lnT w="0">
                      <a:noFill/>
                    </a:lnT>
                    <a:lnB w="9525">
                      <a:solidFill>
                        <a:srgbClr val="E2E4E7"/>
                      </a:solidFill>
                    </a:lnB>
                    <a:noFill/>
                  </a:tcPr>
                </a:tc>
              </a:tr>
              <a:tr h="366979">
                <a:tc>
                  <a:txBody>
                    <a:bodyPr wrap="square"/>
                    <a:lstStyle/>
                    <a:p>
                      <a:pPr algn="l">
                        <a:lnSpc>
                          <a:spcPct val="100000"/>
                        </a:lnSpc>
                      </a:pPr>
                      <a:r>
                        <a:rPr sz="1200" b="0">
                          <a:solidFill>
                            <a:srgbClr val="15171A"/>
                          </a:solidFill>
                          <a:latin typeface="Noto Sans KR"/>
                          <a:ea typeface="Noto Sans KR"/>
                          <a:cs typeface="Noto Sans KR"/>
                        </a:rPr>
                        <a:t>재구매 고객</a:t>
                      </a:r>
                    </a:p>
                  </a:txBody>
                  <a:tcPr marL="73152" marR="73152" marT="68580" marB="68580" anchor="t">
                    <a:lnL w="0">
                      <a:noFill/>
                    </a:lnL>
                    <a:lnR w="0">
                      <a:noFill/>
                    </a:lnR>
                    <a:lnT w="0">
                      <a:noFill/>
                    </a:lnT>
                    <a:lnB w="9525">
                      <a:solidFill>
                        <a:srgbClr val="E2E4E7"/>
                      </a:solidFill>
                    </a:lnB>
                    <a:noFill/>
                  </a:tcPr>
                </a:tc>
                <a:tc>
                  <a:txBody>
                    <a:bodyPr wrap="square"/>
                    <a:lstStyle/>
                    <a:p>
                      <a:pPr algn="r">
                        <a:lnSpc>
                          <a:spcPct val="100000"/>
                        </a:lnSpc>
                      </a:pPr>
                      <a:r>
                        <a:rPr sz="1200" b="1">
                          <a:solidFill>
                            <a:srgbClr val="15171A"/>
                          </a:solidFill>
                          <a:latin typeface="Noto Sans KR"/>
                          <a:ea typeface="Noto Sans KR"/>
                          <a:cs typeface="Noto Sans KR"/>
                        </a:rPr>
                        <a:t>2곳+</a:t>
                      </a:r>
                    </a:p>
                  </a:txBody>
                  <a:tcPr marL="73152" marR="73152" marT="68580" marB="68580" anchor="t">
                    <a:lnL w="0">
                      <a:noFill/>
                    </a:lnL>
                    <a:lnR w="0">
                      <a:noFill/>
                    </a:lnR>
                    <a:lnT w="0">
                      <a:noFill/>
                    </a:lnT>
                    <a:lnB w="9525">
                      <a:solidFill>
                        <a:srgbClr val="E2E4E7"/>
                      </a:solidFill>
                    </a:lnB>
                    <a:noFill/>
                  </a:tcPr>
                </a:tc>
              </a:tr>
              <a:tr h="366979">
                <a:tc>
                  <a:txBody>
                    <a:bodyPr wrap="square"/>
                    <a:lstStyle/>
                    <a:p>
                      <a:pPr algn="l">
                        <a:lnSpc>
                          <a:spcPct val="100000"/>
                        </a:lnSpc>
                      </a:pPr>
                      <a:r>
                        <a:rPr sz="1200" b="0">
                          <a:solidFill>
                            <a:srgbClr val="15171A"/>
                          </a:solidFill>
                          <a:latin typeface="Noto Sans KR"/>
                          <a:ea typeface="Noto Sans KR"/>
                          <a:cs typeface="Noto Sans KR"/>
                        </a:rPr>
                        <a:t>공동개발 고객</a:t>
                      </a:r>
                    </a:p>
                  </a:txBody>
                  <a:tcPr marL="73152" marR="73152" marT="68580" marB="68580" anchor="t">
                    <a:lnL w="0">
                      <a:noFill/>
                    </a:lnL>
                    <a:lnR w="0">
                      <a:noFill/>
                    </a:lnR>
                    <a:lnT w="0">
                      <a:noFill/>
                    </a:lnT>
                    <a:lnB w="9525">
                      <a:solidFill>
                        <a:srgbClr val="E2E4E7"/>
                      </a:solidFill>
                    </a:lnB>
                    <a:noFill/>
                  </a:tcPr>
                </a:tc>
                <a:tc>
                  <a:txBody>
                    <a:bodyPr wrap="square"/>
                    <a:lstStyle/>
                    <a:p>
                      <a:pPr algn="r">
                        <a:lnSpc>
                          <a:spcPct val="100000"/>
                        </a:lnSpc>
                      </a:pPr>
                      <a:r>
                        <a:rPr sz="1200" b="1">
                          <a:solidFill>
                            <a:srgbClr val="15171A"/>
                          </a:solidFill>
                          <a:latin typeface="Noto Sans KR"/>
                          <a:ea typeface="Noto Sans KR"/>
                          <a:cs typeface="Noto Sans KR"/>
                        </a:rPr>
                        <a:t>3곳</a:t>
                      </a:r>
                    </a:p>
                  </a:txBody>
                  <a:tcPr marL="73152" marR="73152" marT="68580" marB="68580" anchor="t">
                    <a:lnL w="0">
                      <a:noFill/>
                    </a:lnL>
                    <a:lnR w="0">
                      <a:noFill/>
                    </a:lnR>
                    <a:lnT w="0">
                      <a:noFill/>
                    </a:lnT>
                    <a:lnB w="9525">
                      <a:solidFill>
                        <a:srgbClr val="E2E4E7"/>
                      </a:solidFill>
                    </a:lnB>
                    <a:noFill/>
                  </a:tcPr>
                </a:tc>
              </a:tr>
              <a:tr h="366979">
                <a:tc>
                  <a:txBody>
                    <a:bodyPr wrap="square"/>
                    <a:lstStyle/>
                    <a:p>
                      <a:pPr algn="l">
                        <a:lnSpc>
                          <a:spcPct val="100000"/>
                        </a:lnSpc>
                      </a:pPr>
                      <a:r>
                        <a:rPr sz="1200" b="0">
                          <a:solidFill>
                            <a:srgbClr val="15171A"/>
                          </a:solidFill>
                          <a:latin typeface="Noto Sans KR"/>
                          <a:ea typeface="Noto Sans KR"/>
                          <a:cs typeface="Noto Sans KR"/>
                        </a:rPr>
                        <a:t>승인 작업 완료율</a:t>
                      </a:r>
                    </a:p>
                  </a:txBody>
                  <a:tcPr marL="73152" marR="73152" marT="68580" marB="68580" anchor="t">
                    <a:lnL w="0">
                      <a:noFill/>
                    </a:lnL>
                    <a:lnR w="0">
                      <a:noFill/>
                    </a:lnR>
                    <a:lnT w="0">
                      <a:noFill/>
                    </a:lnT>
                    <a:lnB w="9525">
                      <a:solidFill>
                        <a:srgbClr val="E2E4E7"/>
                      </a:solidFill>
                    </a:lnB>
                    <a:noFill/>
                  </a:tcPr>
                </a:tc>
                <a:tc>
                  <a:txBody>
                    <a:bodyPr wrap="square"/>
                    <a:lstStyle/>
                    <a:p>
                      <a:pPr algn="r">
                        <a:lnSpc>
                          <a:spcPct val="100000"/>
                        </a:lnSpc>
                      </a:pPr>
                      <a:r>
                        <a:rPr sz="1200" b="1">
                          <a:solidFill>
                            <a:srgbClr val="15171A"/>
                          </a:solidFill>
                          <a:latin typeface="Noto Sans KR"/>
                          <a:ea typeface="Noto Sans KR"/>
                          <a:cs typeface="Noto Sans KR"/>
                        </a:rPr>
                        <a:t>95%+</a:t>
                      </a:r>
                    </a:p>
                  </a:txBody>
                  <a:tcPr marL="73152" marR="73152" marT="68580" marB="68580" anchor="t">
                    <a:lnL w="0">
                      <a:noFill/>
                    </a:lnL>
                    <a:lnR w="0">
                      <a:noFill/>
                    </a:lnR>
                    <a:lnT w="0">
                      <a:noFill/>
                    </a:lnT>
                    <a:lnB w="9525">
                      <a:solidFill>
                        <a:srgbClr val="E2E4E7"/>
                      </a:solidFill>
                    </a:lnB>
                    <a:noFill/>
                  </a:tcPr>
                </a:tc>
              </a:tr>
              <a:tr h="366979">
                <a:tc>
                  <a:txBody>
                    <a:bodyPr wrap="square"/>
                    <a:lstStyle/>
                    <a:p>
                      <a:pPr algn="l">
                        <a:lnSpc>
                          <a:spcPct val="100000"/>
                        </a:lnSpc>
                      </a:pPr>
                      <a:r>
                        <a:rPr sz="1200" b="0">
                          <a:solidFill>
                            <a:srgbClr val="15171A"/>
                          </a:solidFill>
                          <a:latin typeface="Noto Sans KR"/>
                          <a:ea typeface="Noto Sans KR"/>
                          <a:cs typeface="Noto Sans KR"/>
                        </a:rPr>
                        <a:t>내구성</a:t>
                      </a:r>
                    </a:p>
                  </a:txBody>
                  <a:tcPr marL="73152" marR="73152" marT="68580" marB="68580" anchor="t">
                    <a:lnL w="0">
                      <a:noFill/>
                    </a:lnL>
                    <a:lnR w="0">
                      <a:noFill/>
                    </a:lnR>
                    <a:lnT w="0">
                      <a:noFill/>
                    </a:lnT>
                    <a:lnB w="9525">
                      <a:solidFill>
                        <a:srgbClr val="E2E4E7"/>
                      </a:solidFill>
                    </a:lnB>
                    <a:noFill/>
                  </a:tcPr>
                </a:tc>
                <a:tc>
                  <a:txBody>
                    <a:bodyPr wrap="square"/>
                    <a:lstStyle/>
                    <a:p>
                      <a:pPr algn="r">
                        <a:lnSpc>
                          <a:spcPct val="100000"/>
                        </a:lnSpc>
                      </a:pPr>
                      <a:r>
                        <a:rPr sz="1200" b="1">
                          <a:solidFill>
                            <a:srgbClr val="15171A"/>
                          </a:solidFill>
                          <a:latin typeface="Noto Sans KR"/>
                          <a:ea typeface="Noto Sans KR"/>
                          <a:cs typeface="Noto Sans KR"/>
                        </a:rPr>
                        <a:t>30만 회</a:t>
                      </a:r>
                    </a:p>
                  </a:txBody>
                  <a:tcPr marL="73152" marR="73152" marT="68580" marB="68580" anchor="t">
                    <a:lnL w="0">
                      <a:noFill/>
                    </a:lnL>
                    <a:lnR w="0">
                      <a:noFill/>
                    </a:lnR>
                    <a:lnT w="0">
                      <a:noFill/>
                    </a:lnT>
                    <a:lnB w="9525">
                      <a:solidFill>
                        <a:srgbClr val="E2E4E7"/>
                      </a:solidFill>
                    </a:lnB>
                    <a:noFill/>
                  </a:tcPr>
                </a:tc>
              </a:tr>
              <a:tr h="366979">
                <a:tc>
                  <a:txBody>
                    <a:bodyPr wrap="square"/>
                    <a:lstStyle/>
                    <a:p>
                      <a:pPr algn="l">
                        <a:lnSpc>
                          <a:spcPct val="100000"/>
                        </a:lnSpc>
                      </a:pPr>
                      <a:r>
                        <a:rPr sz="1200" b="0">
                          <a:solidFill>
                            <a:srgbClr val="15171A"/>
                          </a:solidFill>
                          <a:latin typeface="Noto Sans KR"/>
                          <a:ea typeface="Noto Sans KR"/>
                          <a:cs typeface="Noto Sans KR"/>
                        </a:rPr>
                        <a:t>로봇 2종 스킬 호환</a:t>
                      </a:r>
                    </a:p>
                  </a:txBody>
                  <a:tcPr marL="73152" marR="73152" marT="68580" marB="68580" anchor="t">
                    <a:lnL w="0">
                      <a:noFill/>
                    </a:lnL>
                    <a:lnR w="0">
                      <a:noFill/>
                    </a:lnR>
                    <a:lnT w="0">
                      <a:noFill/>
                    </a:lnT>
                    <a:lnB w="9525">
                      <a:solidFill>
                        <a:srgbClr val="E2E4E7"/>
                      </a:solidFill>
                    </a:lnB>
                    <a:noFill/>
                  </a:tcPr>
                </a:tc>
                <a:tc>
                  <a:txBody>
                    <a:bodyPr wrap="square"/>
                    <a:lstStyle/>
                    <a:p>
                      <a:pPr algn="r">
                        <a:lnSpc>
                          <a:spcPct val="100000"/>
                        </a:lnSpc>
                      </a:pPr>
                      <a:r>
                        <a:rPr sz="1200" b="1">
                          <a:solidFill>
                            <a:srgbClr val="15171A"/>
                          </a:solidFill>
                          <a:latin typeface="Noto Sans KR"/>
                          <a:ea typeface="Noto Sans KR"/>
                          <a:cs typeface="Noto Sans KR"/>
                        </a:rPr>
                        <a:t>검증</a:t>
                      </a:r>
                    </a:p>
                  </a:txBody>
                  <a:tcPr marL="73152" marR="73152" marT="68580" marB="68580" anchor="t">
                    <a:lnL w="0">
                      <a:noFill/>
                    </a:lnL>
                    <a:lnR w="0">
                      <a:noFill/>
                    </a:lnR>
                    <a:lnT w="0">
                      <a:noFill/>
                    </a:lnT>
                    <a:lnB w="9525">
                      <a:solidFill>
                        <a:srgbClr val="E2E4E7"/>
                      </a:solidFill>
                    </a:lnB>
                    <a:noFill/>
                  </a:tcPr>
                </a:tc>
              </a:tr>
              <a:tr h="366979">
                <a:tc>
                  <a:txBody>
                    <a:bodyPr wrap="square"/>
                    <a:lstStyle/>
                    <a:p>
                      <a:pPr algn="l">
                        <a:lnSpc>
                          <a:spcPct val="100000"/>
                        </a:lnSpc>
                      </a:pPr>
                      <a:r>
                        <a:rPr sz="1200" b="0">
                          <a:solidFill>
                            <a:srgbClr val="15171A"/>
                          </a:solidFill>
                          <a:latin typeface="Noto Sans KR"/>
                          <a:ea typeface="Noto Sans KR"/>
                          <a:cs typeface="Noto Sans KR"/>
                        </a:rPr>
                        <a:t>재사용률</a:t>
                      </a:r>
                    </a:p>
                  </a:txBody>
                  <a:tcPr marL="73152" marR="73152" marT="68580" marB="68580" anchor="t">
                    <a:lnL w="0">
                      <a:noFill/>
                    </a:lnL>
                    <a:lnR w="0">
                      <a:noFill/>
                    </a:lnR>
                    <a:lnT w="0">
                      <a:noFill/>
                    </a:lnT>
                    <a:lnB w="9525">
                      <a:solidFill>
                        <a:srgbClr val="E2E4E7"/>
                      </a:solidFill>
                    </a:lnB>
                    <a:noFill/>
                  </a:tcPr>
                </a:tc>
                <a:tc>
                  <a:txBody>
                    <a:bodyPr wrap="square"/>
                    <a:lstStyle/>
                    <a:p>
                      <a:pPr algn="r">
                        <a:lnSpc>
                          <a:spcPct val="100000"/>
                        </a:lnSpc>
                      </a:pPr>
                      <a:r>
                        <a:rPr sz="1200" b="1">
                          <a:solidFill>
                            <a:srgbClr val="15171A"/>
                          </a:solidFill>
                          <a:latin typeface="Noto Sans KR"/>
                          <a:ea typeface="Noto Sans KR"/>
                          <a:cs typeface="Noto Sans KR"/>
                        </a:rPr>
                        <a:t>상승 추세</a:t>
                      </a:r>
                    </a:p>
                  </a:txBody>
                  <a:tcPr marL="73152" marR="73152" marT="68580" marB="68580" anchor="t">
                    <a:lnL w="0">
                      <a:noFill/>
                    </a:lnL>
                    <a:lnR w="0">
                      <a:noFill/>
                    </a:lnR>
                    <a:lnT w="0">
                      <a:noFill/>
                    </a:lnT>
                    <a:lnB w="9525">
                      <a:solidFill>
                        <a:srgbClr val="E2E4E7"/>
                      </a:solidFill>
                    </a:lnB>
                    <a:noFill/>
                  </a:tcPr>
                </a:tc>
              </a:tr>
              <a:tr h="366979">
                <a:tc>
                  <a:txBody>
                    <a:bodyPr wrap="square"/>
                    <a:lstStyle/>
                    <a:p>
                      <a:pPr algn="l">
                        <a:lnSpc>
                          <a:spcPct val="100000"/>
                        </a:lnSpc>
                      </a:pPr>
                      <a:r>
                        <a:rPr sz="1200" b="0">
                          <a:solidFill>
                            <a:srgbClr val="15171A"/>
                          </a:solidFill>
                          <a:latin typeface="Noto Sans KR"/>
                          <a:ea typeface="Noto Sans KR"/>
                          <a:cs typeface="Noto Sans KR"/>
                        </a:rPr>
                        <a:t>핸드 원가(BOM)</a:t>
                      </a:r>
                    </a:p>
                  </a:txBody>
                  <a:tcPr marL="73152" marR="73152" marT="68580" marB="68580" anchor="t">
                    <a:lnL w="0">
                      <a:noFill/>
                    </a:lnL>
                    <a:lnR w="0">
                      <a:noFill/>
                    </a:lnR>
                    <a:lnT w="0">
                      <a:noFill/>
                    </a:lnT>
                    <a:lnB w="9525">
                      <a:solidFill>
                        <a:srgbClr val="E2E4E7"/>
                      </a:solidFill>
                    </a:lnB>
                    <a:noFill/>
                  </a:tcPr>
                </a:tc>
                <a:tc>
                  <a:txBody>
                    <a:bodyPr wrap="square"/>
                    <a:lstStyle/>
                    <a:p>
                      <a:pPr algn="r">
                        <a:lnSpc>
                          <a:spcPct val="100000"/>
                        </a:lnSpc>
                      </a:pPr>
                      <a:r>
                        <a:rPr sz="1200" b="1">
                          <a:solidFill>
                            <a:srgbClr val="15171A"/>
                          </a:solidFill>
                          <a:latin typeface="Noto Sans KR"/>
                          <a:ea typeface="Noto Sans KR"/>
                          <a:cs typeface="Noto Sans KR"/>
                        </a:rPr>
                        <a:t>검증</a:t>
                      </a:r>
                    </a:p>
                  </a:txBody>
                  <a:tcPr marL="73152" marR="73152" marT="68580" marB="68580" anchor="t">
                    <a:lnL w="0">
                      <a:noFill/>
                    </a:lnL>
                    <a:lnR w="0">
                      <a:noFill/>
                    </a:lnR>
                    <a:lnT w="0">
                      <a:noFill/>
                    </a:lnT>
                    <a:lnB w="9525">
                      <a:solidFill>
                        <a:srgbClr val="E2E4E7"/>
                      </a:solidFill>
                    </a:lnB>
                    <a:noFill/>
                  </a:tcPr>
                </a:tc>
              </a:tr>
            </a:tbl>
          </a:graphicData>
        </a:graphic>
      </p:graphicFrame>
      <p:sp>
        <p:nvSpPr>
          <p:cNvPr id="31" name="TextBox 30"/>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SoftHand-4  |  Seed 투자 제안서</a:t>
            </a:r>
          </a:p>
        </p:txBody>
      </p:sp>
      <p:sp>
        <p:nvSpPr>
          <p:cNvPr id="32" name="TextBox 31"/>
          <p:cNvSpPr txBox="1"/>
          <p:nvPr/>
        </p:nvSpPr>
        <p:spPr>
          <a:xfrm>
            <a:off x="3154680" y="6446520"/>
            <a:ext cx="7802575"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정부지원금·공동개발비 제외 · 인건비: 창업자 연 5,000만 원, 엔지니어 연 7,000만 원 (+15%) · 상세 부록 A11</a:t>
            </a:r>
          </a:p>
        </p:txBody>
      </p:sp>
      <p:sp>
        <p:nvSpPr>
          <p:cNvPr id="33" name="TextBox 32"/>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40080"/>
            <a:ext cx="10820095" cy="621792"/>
          </a:xfrm>
          <a:prstGeom prst="rect">
            <a:avLst/>
          </a:prstGeom>
          <a:noFill/>
        </p:spPr>
        <p:txBody>
          <a:bodyPr wrap="square" lIns="0" rIns="0" tIns="0" bIns="0" anchor="t">
            <a:spAutoFit/>
          </a:bodyPr>
          <a:lstStyle/>
          <a:p>
            <a:pPr algn="l">
              <a:lnSpc>
                <a:spcPct val="100000"/>
              </a:lnSpc>
            </a:pPr>
            <a:r>
              <a:rPr sz="3200" b="1">
                <a:solidFill>
                  <a:srgbClr val="15171A"/>
                </a:solidFill>
                <a:latin typeface="Noto Sans KR"/>
                <a:ea typeface="Noto Sans KR"/>
                <a:cs typeface="Noto Sans KR"/>
              </a:rPr>
              <a:t>공장에서 시작, 사람 손이 필요한 현장으로 확장</a:t>
            </a:r>
          </a:p>
        </p:txBody>
      </p:sp>
      <p:sp>
        <p:nvSpPr>
          <p:cNvPr id="3" name="TextBox 2"/>
          <p:cNvSpPr txBox="1"/>
          <p:nvPr/>
        </p:nvSpPr>
        <p:spPr>
          <a:xfrm>
            <a:off x="685800" y="1261872"/>
            <a:ext cx="10820095" cy="292608"/>
          </a:xfrm>
          <a:prstGeom prst="rect">
            <a:avLst/>
          </a:prstGeom>
          <a:noFill/>
        </p:spPr>
        <p:txBody>
          <a:bodyPr wrap="square" lIns="0" rIns="0" tIns="0" bIns="0" anchor="t">
            <a:spAutoFit/>
          </a:bodyPr>
          <a:lstStyle/>
          <a:p>
            <a:pPr algn="l">
              <a:lnSpc>
                <a:spcPct val="100000"/>
              </a:lnSpc>
            </a:pPr>
            <a:r>
              <a:rPr sz="1500" b="0">
                <a:solidFill>
                  <a:srgbClr val="4A4F57"/>
                </a:solidFill>
                <a:latin typeface="Noto Sans KR"/>
                <a:ea typeface="Noto Sans KR"/>
                <a:cs typeface="Noto Sans KR"/>
              </a:rPr>
              <a:t>하나의 핸드로 여러 작업 · 고객 작업을 재사용 스킬로 · 같은 스킬을 여러 로봇에서</a:t>
            </a:r>
          </a:p>
        </p:txBody>
      </p:sp>
      <p:pic>
        <p:nvPicPr>
          <p:cNvPr id="4" name="Picture 3" descr="overview_color_light_374x190_50_50_100.jpg"/>
          <p:cNvPicPr>
            <a:picLocks noChangeAspect="1"/>
          </p:cNvPicPr>
          <p:nvPr/>
        </p:nvPicPr>
        <p:blipFill>
          <a:blip r:embed="rId2"/>
          <a:stretch>
            <a:fillRect/>
          </a:stretch>
        </p:blipFill>
        <p:spPr>
          <a:xfrm>
            <a:off x="685800" y="1783080"/>
            <a:ext cx="3423818" cy="1737360"/>
          </a:xfrm>
          <a:prstGeom prst="rect">
            <a:avLst/>
          </a:prstGeom>
        </p:spPr>
      </p:pic>
      <p:sp>
        <p:nvSpPr>
          <p:cNvPr id="5" name="TextBox 4"/>
          <p:cNvSpPr txBox="1"/>
          <p:nvPr/>
        </p:nvSpPr>
        <p:spPr>
          <a:xfrm>
            <a:off x="685800" y="3657599"/>
            <a:ext cx="3423818" cy="329184"/>
          </a:xfrm>
          <a:prstGeom prst="rect">
            <a:avLst/>
          </a:prstGeom>
          <a:noFill/>
        </p:spPr>
        <p:txBody>
          <a:bodyPr wrap="square" lIns="0" rIns="0" tIns="0" bIns="0" anchor="t">
            <a:spAutoFit/>
          </a:bodyPr>
          <a:lstStyle/>
          <a:p>
            <a:pPr algn="l">
              <a:lnSpc>
                <a:spcPct val="100000"/>
              </a:lnSpc>
            </a:pPr>
            <a:r>
              <a:rPr sz="1700" b="1">
                <a:solidFill>
                  <a:srgbClr val="15171A"/>
                </a:solidFill>
                <a:latin typeface="Noto Sans KR"/>
                <a:ea typeface="Noto Sans KR"/>
                <a:cs typeface="Noto Sans KR"/>
              </a:rPr>
              <a:t>공장</a:t>
            </a:r>
            <a:r>
              <a:rPr sz="1200" b="0">
                <a:solidFill>
                  <a:srgbClr val="E2571B"/>
                </a:solidFill>
                <a:latin typeface="Noto Sans KR"/>
                <a:ea typeface="Noto Sans KR"/>
                <a:cs typeface="Noto Sans KR"/>
              </a:rPr>
              <a:t>   지금 · Seed</a:t>
            </a:r>
          </a:p>
        </p:txBody>
      </p:sp>
      <p:sp>
        <p:nvSpPr>
          <p:cNvPr id="6" name="TextBox 5"/>
          <p:cNvSpPr txBox="1"/>
          <p:nvPr/>
        </p:nvSpPr>
        <p:spPr>
          <a:xfrm>
            <a:off x="685800" y="4023359"/>
            <a:ext cx="3423818"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머신텐딩 매출로 사업성 검증</a:t>
            </a:r>
          </a:p>
        </p:txBody>
      </p:sp>
      <p:sp>
        <p:nvSpPr>
          <p:cNvPr id="7" name="TextBox 6"/>
          <p:cNvSpPr txBox="1"/>
          <p:nvPr/>
        </p:nvSpPr>
        <p:spPr>
          <a:xfrm>
            <a:off x="685800" y="4306824"/>
            <a:ext cx="3423818" cy="512064"/>
          </a:xfrm>
          <a:prstGeom prst="rect">
            <a:avLst/>
          </a:prstGeom>
          <a:noFill/>
        </p:spPr>
        <p:txBody>
          <a:bodyPr wrap="square" lIns="0" rIns="0" tIns="0" bIns="0" anchor="t">
            <a:spAutoFit/>
          </a:bodyPr>
          <a:lstStyle/>
          <a:p>
            <a:pPr algn="l">
              <a:lnSpc>
                <a:spcPct val="100000"/>
              </a:lnSpc>
            </a:pPr>
            <a:r>
              <a:rPr sz="1200" b="0">
                <a:solidFill>
                  <a:srgbClr val="4A4F57"/>
                </a:solidFill>
                <a:latin typeface="Noto Sans KR"/>
                <a:ea typeface="Noto Sans KR"/>
                <a:cs typeface="Noto Sans KR"/>
              </a:rPr>
              <a:t>유료 PoC · 재구매 · 재사용 스킬</a:t>
            </a:r>
          </a:p>
          <a:p>
            <a:pPr algn="l">
              <a:lnSpc>
                <a:spcPct val="100000"/>
              </a:lnSpc>
            </a:pPr>
            <a:r>
              <a:rPr sz="1200" b="0">
                <a:solidFill>
                  <a:srgbClr val="4A4F57"/>
                </a:solidFill>
                <a:latin typeface="Noto Sans KR"/>
                <a:ea typeface="Noto Sans KR"/>
                <a:cs typeface="Noto Sans KR"/>
              </a:rPr>
              <a:t>기본 시나리오 매출의 100%</a:t>
            </a:r>
          </a:p>
        </p:txBody>
      </p:sp>
      <p:pic>
        <p:nvPicPr>
          <p:cNvPr id="8" name="Picture 7" descr="kitchen_color_light_374x190_50_55_100.jpg"/>
          <p:cNvPicPr>
            <a:picLocks noChangeAspect="1"/>
          </p:cNvPicPr>
          <p:nvPr/>
        </p:nvPicPr>
        <p:blipFill>
          <a:blip r:embed="rId3"/>
          <a:stretch>
            <a:fillRect/>
          </a:stretch>
        </p:blipFill>
        <p:spPr>
          <a:xfrm>
            <a:off x="4383938" y="1783080"/>
            <a:ext cx="3423818" cy="1737360"/>
          </a:xfrm>
          <a:prstGeom prst="rect">
            <a:avLst/>
          </a:prstGeom>
        </p:spPr>
      </p:pic>
      <p:sp>
        <p:nvSpPr>
          <p:cNvPr id="9" name="TextBox 8"/>
          <p:cNvSpPr txBox="1"/>
          <p:nvPr/>
        </p:nvSpPr>
        <p:spPr>
          <a:xfrm>
            <a:off x="4383938" y="3657599"/>
            <a:ext cx="3423818" cy="329184"/>
          </a:xfrm>
          <a:prstGeom prst="rect">
            <a:avLst/>
          </a:prstGeom>
          <a:noFill/>
        </p:spPr>
        <p:txBody>
          <a:bodyPr wrap="square" lIns="0" rIns="0" tIns="0" bIns="0" anchor="t">
            <a:spAutoFit/>
          </a:bodyPr>
          <a:lstStyle/>
          <a:p>
            <a:pPr algn="l">
              <a:lnSpc>
                <a:spcPct val="100000"/>
              </a:lnSpc>
            </a:pPr>
            <a:r>
              <a:rPr sz="1700" b="1">
                <a:solidFill>
                  <a:srgbClr val="15171A"/>
                </a:solidFill>
                <a:latin typeface="Noto Sans KR"/>
                <a:ea typeface="Noto Sans KR"/>
                <a:cs typeface="Noto Sans KR"/>
              </a:rPr>
              <a:t>주방</a:t>
            </a:r>
            <a:r>
              <a:rPr sz="1200" b="0">
                <a:solidFill>
                  <a:srgbClr val="E2571B"/>
                </a:solidFill>
                <a:latin typeface="Noto Sans KR"/>
                <a:ea typeface="Noto Sans KR"/>
                <a:cs typeface="Noto Sans KR"/>
              </a:rPr>
              <a:t>   다음 · 기술 데모</a:t>
            </a:r>
          </a:p>
        </p:txBody>
      </p:sp>
      <p:sp>
        <p:nvSpPr>
          <p:cNvPr id="10" name="TextBox 9"/>
          <p:cNvSpPr txBox="1"/>
          <p:nvPr/>
        </p:nvSpPr>
        <p:spPr>
          <a:xfrm>
            <a:off x="4383938" y="4023359"/>
            <a:ext cx="3423818"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사람용 도구·설비 사용 능력 검증</a:t>
            </a:r>
          </a:p>
        </p:txBody>
      </p:sp>
      <p:sp>
        <p:nvSpPr>
          <p:cNvPr id="11" name="TextBox 10"/>
          <p:cNvSpPr txBox="1"/>
          <p:nvPr/>
        </p:nvSpPr>
        <p:spPr>
          <a:xfrm>
            <a:off x="4383938" y="4306824"/>
            <a:ext cx="3423818" cy="512064"/>
          </a:xfrm>
          <a:prstGeom prst="rect">
            <a:avLst/>
          </a:prstGeom>
          <a:noFill/>
        </p:spPr>
        <p:txBody>
          <a:bodyPr wrap="square" lIns="0" rIns="0" tIns="0" bIns="0" anchor="t">
            <a:spAutoFit/>
          </a:bodyPr>
          <a:lstStyle/>
          <a:p>
            <a:pPr algn="l">
              <a:lnSpc>
                <a:spcPct val="100000"/>
              </a:lnSpc>
            </a:pPr>
            <a:r>
              <a:rPr sz="1200" b="0">
                <a:solidFill>
                  <a:srgbClr val="4A4F57"/>
                </a:solidFill>
                <a:latin typeface="Noto Sans KR"/>
                <a:ea typeface="Noto Sans KR"/>
                <a:cs typeface="Noto Sans KR"/>
              </a:rPr>
              <a:t>Seed: 단일 팔 벤치 데모 (0.3억 원)</a:t>
            </a:r>
          </a:p>
          <a:p>
            <a:pPr algn="l">
              <a:lnSpc>
                <a:spcPct val="100000"/>
              </a:lnSpc>
            </a:pPr>
            <a:r>
              <a:rPr sz="1200" b="0">
                <a:solidFill>
                  <a:srgbClr val="4A4F57"/>
                </a:solidFill>
                <a:latin typeface="Noto Sans KR"/>
                <a:ea typeface="Noto Sans KR"/>
                <a:cs typeface="Noto Sans KR"/>
              </a:rPr>
              <a:t>회수기간이 가동률에 민감해 첫 매출원 제외</a:t>
            </a:r>
          </a:p>
        </p:txBody>
      </p:sp>
      <p:sp>
        <p:nvSpPr>
          <p:cNvPr id="12" name="Rectangle 11"/>
          <p:cNvSpPr/>
          <p:nvPr/>
        </p:nvSpPr>
        <p:spPr>
          <a:xfrm>
            <a:off x="8082076" y="1783080"/>
            <a:ext cx="3423818" cy="1737360"/>
          </a:xfrm>
          <a:prstGeom prst="rect">
            <a:avLst/>
          </a:prstGeom>
          <a:solidFill>
            <a:srgbClr val="EEF0F2"/>
          </a:solidFill>
          <a:ln>
            <a:noFill/>
          </a:ln>
        </p:spPr>
        <p:txBody>
          <a:bodyPr rtlCol="0" anchor="ctr"/>
          <a:lstStyle/>
          <a:p>
            <a:pPr algn="ctr"/>
          </a:p>
        </p:txBody>
      </p:sp>
      <p:pic>
        <p:nvPicPr>
          <p:cNvPr id="13" name="Picture 12" descr="closing.png"/>
          <p:cNvPicPr>
            <a:picLocks noChangeAspect="1"/>
          </p:cNvPicPr>
          <p:nvPr/>
        </p:nvPicPr>
        <p:blipFill>
          <a:blip r:embed="rId4"/>
          <a:stretch>
            <a:fillRect/>
          </a:stretch>
        </p:blipFill>
        <p:spPr>
          <a:xfrm>
            <a:off x="9460354" y="1874519"/>
            <a:ext cx="667263" cy="1554480"/>
          </a:xfrm>
          <a:prstGeom prst="rect">
            <a:avLst/>
          </a:prstGeom>
        </p:spPr>
      </p:pic>
      <p:sp>
        <p:nvSpPr>
          <p:cNvPr id="14" name="TextBox 13"/>
          <p:cNvSpPr txBox="1"/>
          <p:nvPr/>
        </p:nvSpPr>
        <p:spPr>
          <a:xfrm>
            <a:off x="8082076" y="3657599"/>
            <a:ext cx="3423818" cy="329184"/>
          </a:xfrm>
          <a:prstGeom prst="rect">
            <a:avLst/>
          </a:prstGeom>
          <a:noFill/>
        </p:spPr>
        <p:txBody>
          <a:bodyPr wrap="square" lIns="0" rIns="0" tIns="0" bIns="0" anchor="t">
            <a:spAutoFit/>
          </a:bodyPr>
          <a:lstStyle/>
          <a:p>
            <a:pPr algn="l">
              <a:lnSpc>
                <a:spcPct val="100000"/>
              </a:lnSpc>
            </a:pPr>
            <a:r>
              <a:rPr sz="1700" b="1">
                <a:solidFill>
                  <a:srgbClr val="15171A"/>
                </a:solidFill>
                <a:latin typeface="Noto Sans KR"/>
                <a:ea typeface="Noto Sans KR"/>
                <a:cs typeface="Noto Sans KR"/>
              </a:rPr>
              <a:t>로봇 제조사</a:t>
            </a:r>
            <a:r>
              <a:rPr sz="1200" b="0">
                <a:solidFill>
                  <a:srgbClr val="E2571B"/>
                </a:solidFill>
                <a:latin typeface="Noto Sans KR"/>
                <a:ea typeface="Noto Sans KR"/>
                <a:cs typeface="Noto Sans KR"/>
              </a:rPr>
              <a:t>   장기 · 확장</a:t>
            </a:r>
          </a:p>
        </p:txBody>
      </p:sp>
      <p:sp>
        <p:nvSpPr>
          <p:cNvPr id="15" name="TextBox 14"/>
          <p:cNvSpPr txBox="1"/>
          <p:nvPr/>
        </p:nvSpPr>
        <p:spPr>
          <a:xfrm>
            <a:off x="8082076" y="4023359"/>
            <a:ext cx="3423818"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핸드·스킬 기본 탑재</a:t>
            </a:r>
          </a:p>
        </p:txBody>
      </p:sp>
      <p:sp>
        <p:nvSpPr>
          <p:cNvPr id="16" name="TextBox 15"/>
          <p:cNvSpPr txBox="1"/>
          <p:nvPr/>
        </p:nvSpPr>
        <p:spPr>
          <a:xfrm>
            <a:off x="8082076" y="4306824"/>
            <a:ext cx="3423818" cy="512064"/>
          </a:xfrm>
          <a:prstGeom prst="rect">
            <a:avLst/>
          </a:prstGeom>
          <a:noFill/>
        </p:spPr>
        <p:txBody>
          <a:bodyPr wrap="square" lIns="0" rIns="0" tIns="0" bIns="0" anchor="t">
            <a:spAutoFit/>
          </a:bodyPr>
          <a:lstStyle/>
          <a:p>
            <a:pPr algn="l">
              <a:lnSpc>
                <a:spcPct val="100000"/>
              </a:lnSpc>
            </a:pPr>
            <a:r>
              <a:rPr sz="1200" b="0">
                <a:solidFill>
                  <a:srgbClr val="4A4F57"/>
                </a:solidFill>
                <a:latin typeface="Noto Sans KR"/>
                <a:ea typeface="Noto Sans KR"/>
                <a:cs typeface="Noto Sans KR"/>
              </a:rPr>
              <a:t>피지컬 AI의 조작 계층</a:t>
            </a:r>
          </a:p>
          <a:p>
            <a:pPr algn="l">
              <a:lnSpc>
                <a:spcPct val="100000"/>
              </a:lnSpc>
            </a:pPr>
            <a:r>
              <a:rPr sz="1200" b="0">
                <a:solidFill>
                  <a:srgbClr val="4A4F57"/>
                </a:solidFill>
                <a:latin typeface="Noto Sans KR"/>
                <a:ea typeface="Noto Sans KR"/>
                <a:cs typeface="Noto Sans KR"/>
              </a:rPr>
              <a:t>출하량 연동 매출, 규모는 협의 후 산정</a:t>
            </a:r>
          </a:p>
        </p:txBody>
      </p:sp>
      <p:sp>
        <p:nvSpPr>
          <p:cNvPr id="17" name="Rectangle 16"/>
          <p:cNvSpPr/>
          <p:nvPr/>
        </p:nvSpPr>
        <p:spPr>
          <a:xfrm>
            <a:off x="0" y="5138928"/>
            <a:ext cx="12191695" cy="1719072"/>
          </a:xfrm>
          <a:prstGeom prst="rect">
            <a:avLst/>
          </a:prstGeom>
          <a:solidFill>
            <a:srgbClr val="15171A"/>
          </a:solidFill>
          <a:ln>
            <a:noFill/>
          </a:ln>
        </p:spPr>
        <p:txBody>
          <a:bodyPr rtlCol="0" anchor="ctr"/>
          <a:lstStyle/>
          <a:p>
            <a:pPr algn="ctr"/>
          </a:p>
        </p:txBody>
      </p:sp>
      <p:sp>
        <p:nvSpPr>
          <p:cNvPr id="18" name="TextBox 17"/>
          <p:cNvSpPr txBox="1"/>
          <p:nvPr/>
        </p:nvSpPr>
        <p:spPr>
          <a:xfrm>
            <a:off x="685800" y="5486400"/>
            <a:ext cx="4572000" cy="420624"/>
          </a:xfrm>
          <a:prstGeom prst="rect">
            <a:avLst/>
          </a:prstGeom>
          <a:noFill/>
        </p:spPr>
        <p:txBody>
          <a:bodyPr wrap="square" lIns="0" rIns="0" tIns="0" bIns="0" anchor="t">
            <a:spAutoFit/>
          </a:bodyPr>
          <a:lstStyle/>
          <a:p>
            <a:pPr algn="l">
              <a:lnSpc>
                <a:spcPct val="100000"/>
              </a:lnSpc>
            </a:pPr>
            <a:r>
              <a:rPr sz="2200" b="1">
                <a:solidFill>
                  <a:srgbClr val="F3F3F1"/>
                </a:solidFill>
                <a:latin typeface="Noto Sans KR"/>
                <a:ea typeface="Noto Sans KR"/>
                <a:cs typeface="Noto Sans KR"/>
              </a:rPr>
              <a:t>ONE HAND. MANY TOOLS.</a:t>
            </a:r>
          </a:p>
        </p:txBody>
      </p:sp>
      <p:sp>
        <p:nvSpPr>
          <p:cNvPr id="19" name="TextBox 18"/>
          <p:cNvSpPr txBox="1"/>
          <p:nvPr/>
        </p:nvSpPr>
        <p:spPr>
          <a:xfrm>
            <a:off x="685800" y="5961888"/>
            <a:ext cx="4937760" cy="457200"/>
          </a:xfrm>
          <a:prstGeom prst="rect">
            <a:avLst/>
          </a:prstGeom>
          <a:noFill/>
        </p:spPr>
        <p:txBody>
          <a:bodyPr wrap="square" lIns="0" rIns="0" tIns="0" bIns="0" anchor="t">
            <a:spAutoFit/>
          </a:bodyPr>
          <a:lstStyle/>
          <a:p>
            <a:pPr algn="l">
              <a:lnSpc>
                <a:spcPct val="100000"/>
              </a:lnSpc>
            </a:pPr>
            <a:r>
              <a:rPr sz="1100" b="0">
                <a:solidFill>
                  <a:srgbClr val="A9AEB5"/>
                </a:solidFill>
                <a:latin typeface="Noto Sans KR"/>
                <a:ea typeface="Noto Sans KR"/>
                <a:cs typeface="Noto Sans KR"/>
              </a:rPr>
              <a:t>[회사명 입력 필요]</a:t>
            </a:r>
          </a:p>
          <a:p>
            <a:pPr algn="l">
              <a:lnSpc>
                <a:spcPct val="100000"/>
              </a:lnSpc>
            </a:pPr>
            <a:r>
              <a:rPr sz="1100" b="0">
                <a:solidFill>
                  <a:srgbClr val="A9AEB5"/>
                </a:solidFill>
                <a:latin typeface="Noto Sans KR"/>
                <a:ea typeface="Noto Sans KR"/>
                <a:cs typeface="Noto Sans KR"/>
              </a:rPr>
              <a:t>[대표자명 · 이메일 · 연락처 입력 필요]</a:t>
            </a:r>
          </a:p>
        </p:txBody>
      </p:sp>
      <p:sp>
        <p:nvSpPr>
          <p:cNvPr id="20" name="TextBox 19"/>
          <p:cNvSpPr txBox="1"/>
          <p:nvPr/>
        </p:nvSpPr>
        <p:spPr>
          <a:xfrm>
            <a:off x="5989320" y="5486400"/>
            <a:ext cx="5516575" cy="420624"/>
          </a:xfrm>
          <a:prstGeom prst="rect">
            <a:avLst/>
          </a:prstGeom>
          <a:noFill/>
        </p:spPr>
        <p:txBody>
          <a:bodyPr wrap="square" lIns="0" rIns="0" tIns="0" bIns="0" anchor="t">
            <a:spAutoFit/>
          </a:bodyPr>
          <a:lstStyle/>
          <a:p>
            <a:pPr algn="l">
              <a:lnSpc>
                <a:spcPct val="100000"/>
              </a:lnSpc>
            </a:pPr>
            <a:r>
              <a:rPr sz="2200" b="1">
                <a:solidFill>
                  <a:srgbClr val="E2571B"/>
                </a:solidFill>
                <a:latin typeface="Noto Sans KR"/>
                <a:ea typeface="Noto Sans KR"/>
                <a:cs typeface="Noto Sans KR"/>
              </a:rPr>
              <a:t>Seed 20억 원</a:t>
            </a:r>
            <a:r>
              <a:rPr sz="2200" b="1">
                <a:solidFill>
                  <a:srgbClr val="F3F3F1"/>
                </a:solidFill>
                <a:latin typeface="Noto Sans KR"/>
                <a:ea typeface="Noto Sans KR"/>
                <a:cs typeface="Noto Sans KR"/>
              </a:rPr>
              <a:t>  ·  24개월</a:t>
            </a:r>
          </a:p>
        </p:txBody>
      </p:sp>
      <p:sp>
        <p:nvSpPr>
          <p:cNvPr id="21" name="TextBox 20"/>
          <p:cNvSpPr txBox="1"/>
          <p:nvPr/>
        </p:nvSpPr>
        <p:spPr>
          <a:xfrm>
            <a:off x="5989320" y="5980176"/>
            <a:ext cx="1287703" cy="228600"/>
          </a:xfrm>
          <a:prstGeom prst="rect">
            <a:avLst/>
          </a:prstGeom>
          <a:noFill/>
        </p:spPr>
        <p:txBody>
          <a:bodyPr wrap="square" lIns="0" rIns="0" tIns="0" bIns="0" anchor="t">
            <a:spAutoFit/>
          </a:bodyPr>
          <a:lstStyle/>
          <a:p>
            <a:pPr algn="l">
              <a:lnSpc>
                <a:spcPct val="100000"/>
              </a:lnSpc>
            </a:pPr>
            <a:r>
              <a:rPr sz="1000" b="0">
                <a:solidFill>
                  <a:srgbClr val="A9AEB5"/>
                </a:solidFill>
                <a:latin typeface="Noto Sans KR"/>
                <a:ea typeface="Noto Sans KR"/>
                <a:cs typeface="Noto Sans KR"/>
              </a:rPr>
              <a:t>증명 1</a:t>
            </a:r>
          </a:p>
        </p:txBody>
      </p:sp>
      <p:sp>
        <p:nvSpPr>
          <p:cNvPr id="22" name="TextBox 21"/>
          <p:cNvSpPr txBox="1"/>
          <p:nvPr/>
        </p:nvSpPr>
        <p:spPr>
          <a:xfrm>
            <a:off x="5989320" y="6199632"/>
            <a:ext cx="1287703" cy="292608"/>
          </a:xfrm>
          <a:prstGeom prst="rect">
            <a:avLst/>
          </a:prstGeom>
          <a:noFill/>
        </p:spPr>
        <p:txBody>
          <a:bodyPr wrap="square" lIns="0" rIns="0" tIns="0" bIns="0" anchor="t">
            <a:spAutoFit/>
          </a:bodyPr>
          <a:lstStyle/>
          <a:p>
            <a:pPr algn="l">
              <a:lnSpc>
                <a:spcPct val="100000"/>
              </a:lnSpc>
            </a:pPr>
            <a:r>
              <a:rPr sz="1500" b="1">
                <a:solidFill>
                  <a:srgbClr val="F3F3F1"/>
                </a:solidFill>
                <a:latin typeface="Noto Sans KR"/>
                <a:ea typeface="Noto Sans KR"/>
                <a:cs typeface="Noto Sans KR"/>
              </a:rPr>
              <a:t>제품</a:t>
            </a:r>
          </a:p>
        </p:txBody>
      </p:sp>
      <p:sp>
        <p:nvSpPr>
          <p:cNvPr id="23" name="TextBox 22"/>
          <p:cNvSpPr txBox="1"/>
          <p:nvPr/>
        </p:nvSpPr>
        <p:spPr>
          <a:xfrm>
            <a:off x="7368463" y="5980176"/>
            <a:ext cx="1287703" cy="228600"/>
          </a:xfrm>
          <a:prstGeom prst="rect">
            <a:avLst/>
          </a:prstGeom>
          <a:noFill/>
        </p:spPr>
        <p:txBody>
          <a:bodyPr wrap="square" lIns="0" rIns="0" tIns="0" bIns="0" anchor="t">
            <a:spAutoFit/>
          </a:bodyPr>
          <a:lstStyle/>
          <a:p>
            <a:pPr algn="l">
              <a:lnSpc>
                <a:spcPct val="100000"/>
              </a:lnSpc>
            </a:pPr>
            <a:r>
              <a:rPr sz="1000" b="0">
                <a:solidFill>
                  <a:srgbClr val="A9AEB5"/>
                </a:solidFill>
                <a:latin typeface="Noto Sans KR"/>
                <a:ea typeface="Noto Sans KR"/>
                <a:cs typeface="Noto Sans KR"/>
              </a:rPr>
              <a:t>증명 2</a:t>
            </a:r>
          </a:p>
        </p:txBody>
      </p:sp>
      <p:sp>
        <p:nvSpPr>
          <p:cNvPr id="24" name="TextBox 23"/>
          <p:cNvSpPr txBox="1"/>
          <p:nvPr/>
        </p:nvSpPr>
        <p:spPr>
          <a:xfrm>
            <a:off x="7368463" y="6199632"/>
            <a:ext cx="1287703" cy="292608"/>
          </a:xfrm>
          <a:prstGeom prst="rect">
            <a:avLst/>
          </a:prstGeom>
          <a:noFill/>
        </p:spPr>
        <p:txBody>
          <a:bodyPr wrap="square" lIns="0" rIns="0" tIns="0" bIns="0" anchor="t">
            <a:spAutoFit/>
          </a:bodyPr>
          <a:lstStyle/>
          <a:p>
            <a:pPr algn="l">
              <a:lnSpc>
                <a:spcPct val="100000"/>
              </a:lnSpc>
            </a:pPr>
            <a:r>
              <a:rPr sz="1500" b="1">
                <a:solidFill>
                  <a:srgbClr val="F3F3F1"/>
                </a:solidFill>
                <a:latin typeface="Noto Sans KR"/>
                <a:ea typeface="Noto Sans KR"/>
                <a:cs typeface="Noto Sans KR"/>
              </a:rPr>
              <a:t>유료 고객</a:t>
            </a:r>
          </a:p>
        </p:txBody>
      </p:sp>
      <p:sp>
        <p:nvSpPr>
          <p:cNvPr id="25" name="TextBox 24"/>
          <p:cNvSpPr txBox="1"/>
          <p:nvPr/>
        </p:nvSpPr>
        <p:spPr>
          <a:xfrm>
            <a:off x="8747607" y="5980176"/>
            <a:ext cx="1287703" cy="228600"/>
          </a:xfrm>
          <a:prstGeom prst="rect">
            <a:avLst/>
          </a:prstGeom>
          <a:noFill/>
        </p:spPr>
        <p:txBody>
          <a:bodyPr wrap="square" lIns="0" rIns="0" tIns="0" bIns="0" anchor="t">
            <a:spAutoFit/>
          </a:bodyPr>
          <a:lstStyle/>
          <a:p>
            <a:pPr algn="l">
              <a:lnSpc>
                <a:spcPct val="100000"/>
              </a:lnSpc>
            </a:pPr>
            <a:r>
              <a:rPr sz="1000" b="0">
                <a:solidFill>
                  <a:srgbClr val="A9AEB5"/>
                </a:solidFill>
                <a:latin typeface="Noto Sans KR"/>
                <a:ea typeface="Noto Sans KR"/>
                <a:cs typeface="Noto Sans KR"/>
              </a:rPr>
              <a:t>증명 3</a:t>
            </a:r>
          </a:p>
        </p:txBody>
      </p:sp>
      <p:sp>
        <p:nvSpPr>
          <p:cNvPr id="26" name="TextBox 25"/>
          <p:cNvSpPr txBox="1"/>
          <p:nvPr/>
        </p:nvSpPr>
        <p:spPr>
          <a:xfrm>
            <a:off x="8747607" y="6199632"/>
            <a:ext cx="1287703" cy="292608"/>
          </a:xfrm>
          <a:prstGeom prst="rect">
            <a:avLst/>
          </a:prstGeom>
          <a:noFill/>
        </p:spPr>
        <p:txBody>
          <a:bodyPr wrap="square" lIns="0" rIns="0" tIns="0" bIns="0" anchor="t">
            <a:spAutoFit/>
          </a:bodyPr>
          <a:lstStyle/>
          <a:p>
            <a:pPr algn="l">
              <a:lnSpc>
                <a:spcPct val="100000"/>
              </a:lnSpc>
            </a:pPr>
            <a:r>
              <a:rPr sz="1500" b="1">
                <a:solidFill>
                  <a:srgbClr val="F3F3F1"/>
                </a:solidFill>
                <a:latin typeface="Noto Sans KR"/>
                <a:ea typeface="Noto Sans KR"/>
                <a:cs typeface="Noto Sans KR"/>
              </a:rPr>
              <a:t>반복 구매</a:t>
            </a:r>
          </a:p>
        </p:txBody>
      </p:sp>
      <p:sp>
        <p:nvSpPr>
          <p:cNvPr id="27" name="TextBox 26"/>
          <p:cNvSpPr txBox="1"/>
          <p:nvPr/>
        </p:nvSpPr>
        <p:spPr>
          <a:xfrm>
            <a:off x="10126751" y="5980176"/>
            <a:ext cx="1287703" cy="228600"/>
          </a:xfrm>
          <a:prstGeom prst="rect">
            <a:avLst/>
          </a:prstGeom>
          <a:noFill/>
        </p:spPr>
        <p:txBody>
          <a:bodyPr wrap="square" lIns="0" rIns="0" tIns="0" bIns="0" anchor="t">
            <a:spAutoFit/>
          </a:bodyPr>
          <a:lstStyle/>
          <a:p>
            <a:pPr algn="l">
              <a:lnSpc>
                <a:spcPct val="100000"/>
              </a:lnSpc>
            </a:pPr>
            <a:r>
              <a:rPr sz="1000" b="0">
                <a:solidFill>
                  <a:srgbClr val="A9AEB5"/>
                </a:solidFill>
                <a:latin typeface="Noto Sans KR"/>
                <a:ea typeface="Noto Sans KR"/>
                <a:cs typeface="Noto Sans KR"/>
              </a:rPr>
              <a:t>증명 4</a:t>
            </a:r>
          </a:p>
        </p:txBody>
      </p:sp>
      <p:sp>
        <p:nvSpPr>
          <p:cNvPr id="28" name="TextBox 27"/>
          <p:cNvSpPr txBox="1"/>
          <p:nvPr/>
        </p:nvSpPr>
        <p:spPr>
          <a:xfrm>
            <a:off x="10126751" y="6199632"/>
            <a:ext cx="1287703" cy="292608"/>
          </a:xfrm>
          <a:prstGeom prst="rect">
            <a:avLst/>
          </a:prstGeom>
          <a:noFill/>
        </p:spPr>
        <p:txBody>
          <a:bodyPr wrap="square" lIns="0" rIns="0" tIns="0" bIns="0" anchor="t">
            <a:spAutoFit/>
          </a:bodyPr>
          <a:lstStyle/>
          <a:p>
            <a:pPr algn="l">
              <a:lnSpc>
                <a:spcPct val="100000"/>
              </a:lnSpc>
            </a:pPr>
            <a:r>
              <a:rPr sz="1500" b="1">
                <a:solidFill>
                  <a:srgbClr val="F3F3F1"/>
                </a:solidFill>
                <a:latin typeface="Noto Sans KR"/>
                <a:ea typeface="Noto Sans KR"/>
                <a:cs typeface="Noto Sans KR"/>
              </a:rPr>
              <a:t>스킬 재사용</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822960"/>
            <a:ext cx="5486400" cy="822960"/>
          </a:xfrm>
          <a:prstGeom prst="rect">
            <a:avLst/>
          </a:prstGeom>
          <a:noFill/>
        </p:spPr>
        <p:txBody>
          <a:bodyPr wrap="square" lIns="0" rIns="0" tIns="0" bIns="0" anchor="t">
            <a:spAutoFit/>
          </a:bodyPr>
          <a:lstStyle/>
          <a:p>
            <a:pPr algn="l">
              <a:lnSpc>
                <a:spcPct val="100000"/>
              </a:lnSpc>
            </a:pPr>
            <a:r>
              <a:rPr sz="4000" b="1">
                <a:solidFill>
                  <a:srgbClr val="15171A"/>
                </a:solidFill>
                <a:latin typeface="Noto Sans KR"/>
                <a:ea typeface="Noto Sans KR"/>
                <a:cs typeface="Noto Sans KR"/>
              </a:rPr>
              <a:t>부록</a:t>
            </a:r>
          </a:p>
        </p:txBody>
      </p:sp>
      <p:sp>
        <p:nvSpPr>
          <p:cNvPr id="3" name="TextBox 2"/>
          <p:cNvSpPr txBox="1"/>
          <p:nvPr/>
        </p:nvSpPr>
        <p:spPr>
          <a:xfrm>
            <a:off x="685800" y="1691640"/>
            <a:ext cx="5486400" cy="548640"/>
          </a:xfrm>
          <a:prstGeom prst="rect">
            <a:avLst/>
          </a:prstGeom>
          <a:noFill/>
        </p:spPr>
        <p:txBody>
          <a:bodyPr wrap="square" lIns="0" rIns="0" tIns="0" bIns="0" anchor="t">
            <a:spAutoFit/>
          </a:bodyPr>
          <a:lstStyle/>
          <a:p>
            <a:pPr algn="l">
              <a:lnSpc>
                <a:spcPct val="100000"/>
              </a:lnSpc>
            </a:pPr>
            <a:r>
              <a:rPr sz="1600" b="0">
                <a:solidFill>
                  <a:srgbClr val="4A4F57"/>
                </a:solidFill>
                <a:latin typeface="Noto Sans KR"/>
                <a:ea typeface="Noto Sans KR"/>
                <a:cs typeface="Noto Sans KR"/>
              </a:rPr>
              <a:t>본문의 근거와 상세 계획</a:t>
            </a:r>
          </a:p>
        </p:txBody>
      </p:sp>
      <p:sp>
        <p:nvSpPr>
          <p:cNvPr id="4" name="TextBox 3"/>
          <p:cNvSpPr txBox="1"/>
          <p:nvPr/>
        </p:nvSpPr>
        <p:spPr>
          <a:xfrm>
            <a:off x="4709160" y="868680"/>
            <a:ext cx="594360" cy="274320"/>
          </a:xfrm>
          <a:prstGeom prst="rect">
            <a:avLst/>
          </a:prstGeom>
          <a:noFill/>
        </p:spPr>
        <p:txBody>
          <a:bodyPr wrap="square" lIns="0" rIns="0" tIns="0" bIns="0" anchor="t">
            <a:spAutoFit/>
          </a:bodyPr>
          <a:lstStyle/>
          <a:p>
            <a:pPr algn="l">
              <a:lnSpc>
                <a:spcPct val="100000"/>
              </a:lnSpc>
            </a:pPr>
            <a:r>
              <a:rPr sz="1300" b="1">
                <a:solidFill>
                  <a:srgbClr val="E2571B"/>
                </a:solidFill>
                <a:latin typeface="Noto Sans KR"/>
                <a:ea typeface="Noto Sans KR"/>
                <a:cs typeface="Noto Sans KR"/>
              </a:rPr>
              <a:t>A1</a:t>
            </a:r>
          </a:p>
        </p:txBody>
      </p:sp>
      <p:sp>
        <p:nvSpPr>
          <p:cNvPr id="5" name="TextBox 4"/>
          <p:cNvSpPr txBox="1"/>
          <p:nvPr/>
        </p:nvSpPr>
        <p:spPr>
          <a:xfrm>
            <a:off x="5303520" y="868680"/>
            <a:ext cx="2926080" cy="274320"/>
          </a:xfrm>
          <a:prstGeom prst="rect">
            <a:avLst/>
          </a:prstGeom>
          <a:noFill/>
        </p:spPr>
        <p:txBody>
          <a:bodyPr wrap="square" lIns="0" rIns="0" tIns="0" bIns="0" anchor="t">
            <a:spAutoFit/>
          </a:bodyPr>
          <a:lstStyle/>
          <a:p>
            <a:pPr algn="l">
              <a:lnSpc>
                <a:spcPct val="100000"/>
              </a:lnSpc>
            </a:pPr>
            <a:r>
              <a:rPr sz="1300" b="0">
                <a:solidFill>
                  <a:srgbClr val="15171A"/>
                </a:solidFill>
                <a:latin typeface="Noto Sans KR"/>
                <a:ea typeface="Noto Sans KR"/>
                <a:cs typeface="Noto Sans KR"/>
              </a:rPr>
              <a:t>주요 가정과 근거 수준</a:t>
            </a:r>
          </a:p>
        </p:txBody>
      </p:sp>
      <p:cxnSp>
        <p:nvCxnSpPr>
          <p:cNvPr id="6" name="Connector 5"/>
          <p:cNvCxnSpPr/>
          <p:nvPr/>
        </p:nvCxnSpPr>
        <p:spPr>
          <a:xfrm>
            <a:off x="4709160" y="1234439"/>
            <a:ext cx="3291840" cy="0"/>
          </a:xfrm>
          <a:prstGeom prst="line">
            <a:avLst/>
          </a:prstGeom>
          <a:ln w="9525">
            <a:solidFill>
              <a:srgbClr val="E2E4E7"/>
            </a:solidFill>
          </a:ln>
        </p:spPr>
      </p:cxnSp>
      <p:sp>
        <p:nvSpPr>
          <p:cNvPr id="7" name="TextBox 6"/>
          <p:cNvSpPr txBox="1"/>
          <p:nvPr/>
        </p:nvSpPr>
        <p:spPr>
          <a:xfrm>
            <a:off x="4709160" y="1325880"/>
            <a:ext cx="594360" cy="274320"/>
          </a:xfrm>
          <a:prstGeom prst="rect">
            <a:avLst/>
          </a:prstGeom>
          <a:noFill/>
        </p:spPr>
        <p:txBody>
          <a:bodyPr wrap="square" lIns="0" rIns="0" tIns="0" bIns="0" anchor="t">
            <a:spAutoFit/>
          </a:bodyPr>
          <a:lstStyle/>
          <a:p>
            <a:pPr algn="l">
              <a:lnSpc>
                <a:spcPct val="100000"/>
              </a:lnSpc>
            </a:pPr>
            <a:r>
              <a:rPr sz="1300" b="1">
                <a:solidFill>
                  <a:srgbClr val="E2571B"/>
                </a:solidFill>
                <a:latin typeface="Noto Sans KR"/>
                <a:ea typeface="Noto Sans KR"/>
                <a:cs typeface="Noto Sans KR"/>
              </a:rPr>
              <a:t>A2</a:t>
            </a:r>
          </a:p>
        </p:txBody>
      </p:sp>
      <p:sp>
        <p:nvSpPr>
          <p:cNvPr id="8" name="TextBox 7"/>
          <p:cNvSpPr txBox="1"/>
          <p:nvPr/>
        </p:nvSpPr>
        <p:spPr>
          <a:xfrm>
            <a:off x="5303520" y="1325880"/>
            <a:ext cx="2926080" cy="274320"/>
          </a:xfrm>
          <a:prstGeom prst="rect">
            <a:avLst/>
          </a:prstGeom>
          <a:noFill/>
        </p:spPr>
        <p:txBody>
          <a:bodyPr wrap="square" lIns="0" rIns="0" tIns="0" bIns="0" anchor="t">
            <a:spAutoFit/>
          </a:bodyPr>
          <a:lstStyle/>
          <a:p>
            <a:pPr algn="l">
              <a:lnSpc>
                <a:spcPct val="100000"/>
              </a:lnSpc>
            </a:pPr>
            <a:r>
              <a:rPr sz="1300" b="0">
                <a:solidFill>
                  <a:srgbClr val="15171A"/>
                </a:solidFill>
                <a:latin typeface="Noto Sans KR"/>
                <a:ea typeface="Noto Sans KR"/>
                <a:cs typeface="Noto Sans KR"/>
              </a:rPr>
              <a:t>단계별 점검 기준</a:t>
            </a:r>
          </a:p>
        </p:txBody>
      </p:sp>
      <p:cxnSp>
        <p:nvCxnSpPr>
          <p:cNvPr id="9" name="Connector 8"/>
          <p:cNvCxnSpPr/>
          <p:nvPr/>
        </p:nvCxnSpPr>
        <p:spPr>
          <a:xfrm>
            <a:off x="4709160" y="1691639"/>
            <a:ext cx="3291840" cy="0"/>
          </a:xfrm>
          <a:prstGeom prst="line">
            <a:avLst/>
          </a:prstGeom>
          <a:ln w="9525">
            <a:solidFill>
              <a:srgbClr val="E2E4E7"/>
            </a:solidFill>
          </a:ln>
        </p:spPr>
      </p:cxnSp>
      <p:sp>
        <p:nvSpPr>
          <p:cNvPr id="10" name="TextBox 9"/>
          <p:cNvSpPr txBox="1"/>
          <p:nvPr/>
        </p:nvSpPr>
        <p:spPr>
          <a:xfrm>
            <a:off x="4709160" y="1783080"/>
            <a:ext cx="594360" cy="274320"/>
          </a:xfrm>
          <a:prstGeom prst="rect">
            <a:avLst/>
          </a:prstGeom>
          <a:noFill/>
        </p:spPr>
        <p:txBody>
          <a:bodyPr wrap="square" lIns="0" rIns="0" tIns="0" bIns="0" anchor="t">
            <a:spAutoFit/>
          </a:bodyPr>
          <a:lstStyle/>
          <a:p>
            <a:pPr algn="l">
              <a:lnSpc>
                <a:spcPct val="100000"/>
              </a:lnSpc>
            </a:pPr>
            <a:r>
              <a:rPr sz="1300" b="1">
                <a:solidFill>
                  <a:srgbClr val="E2571B"/>
                </a:solidFill>
                <a:latin typeface="Noto Sans KR"/>
                <a:ea typeface="Noto Sans KR"/>
                <a:cs typeface="Noto Sans KR"/>
              </a:rPr>
              <a:t>A3</a:t>
            </a:r>
          </a:p>
        </p:txBody>
      </p:sp>
      <p:sp>
        <p:nvSpPr>
          <p:cNvPr id="11" name="TextBox 10"/>
          <p:cNvSpPr txBox="1"/>
          <p:nvPr/>
        </p:nvSpPr>
        <p:spPr>
          <a:xfrm>
            <a:off x="5303520" y="1783080"/>
            <a:ext cx="2926080" cy="274320"/>
          </a:xfrm>
          <a:prstGeom prst="rect">
            <a:avLst/>
          </a:prstGeom>
          <a:noFill/>
        </p:spPr>
        <p:txBody>
          <a:bodyPr wrap="square" lIns="0" rIns="0" tIns="0" bIns="0" anchor="t">
            <a:spAutoFit/>
          </a:bodyPr>
          <a:lstStyle/>
          <a:p>
            <a:pPr algn="l">
              <a:lnSpc>
                <a:spcPct val="100000"/>
              </a:lnSpc>
            </a:pPr>
            <a:r>
              <a:rPr sz="1300" b="0">
                <a:solidFill>
                  <a:srgbClr val="15171A"/>
                </a:solidFill>
                <a:latin typeface="Noto Sans KR"/>
                <a:ea typeface="Noto Sans KR"/>
                <a:cs typeface="Noto Sans KR"/>
              </a:rPr>
              <a:t>경쟁사 상세·로봇 제조사 분석</a:t>
            </a:r>
          </a:p>
        </p:txBody>
      </p:sp>
      <p:cxnSp>
        <p:nvCxnSpPr>
          <p:cNvPr id="12" name="Connector 11"/>
          <p:cNvCxnSpPr/>
          <p:nvPr/>
        </p:nvCxnSpPr>
        <p:spPr>
          <a:xfrm>
            <a:off x="4709160" y="2148840"/>
            <a:ext cx="3291840" cy="0"/>
          </a:xfrm>
          <a:prstGeom prst="line">
            <a:avLst/>
          </a:prstGeom>
          <a:ln w="9525">
            <a:solidFill>
              <a:srgbClr val="E2E4E7"/>
            </a:solidFill>
          </a:ln>
        </p:spPr>
      </p:cxnSp>
      <p:sp>
        <p:nvSpPr>
          <p:cNvPr id="13" name="TextBox 12"/>
          <p:cNvSpPr txBox="1"/>
          <p:nvPr/>
        </p:nvSpPr>
        <p:spPr>
          <a:xfrm>
            <a:off x="4709160" y="2240280"/>
            <a:ext cx="594360" cy="274320"/>
          </a:xfrm>
          <a:prstGeom prst="rect">
            <a:avLst/>
          </a:prstGeom>
          <a:noFill/>
        </p:spPr>
        <p:txBody>
          <a:bodyPr wrap="square" lIns="0" rIns="0" tIns="0" bIns="0" anchor="t">
            <a:spAutoFit/>
          </a:bodyPr>
          <a:lstStyle/>
          <a:p>
            <a:pPr algn="l">
              <a:lnSpc>
                <a:spcPct val="100000"/>
              </a:lnSpc>
            </a:pPr>
            <a:r>
              <a:rPr sz="1300" b="1">
                <a:solidFill>
                  <a:srgbClr val="E2571B"/>
                </a:solidFill>
                <a:latin typeface="Noto Sans KR"/>
                <a:ea typeface="Noto Sans KR"/>
                <a:cs typeface="Noto Sans KR"/>
              </a:rPr>
              <a:t>A4</a:t>
            </a:r>
          </a:p>
        </p:txBody>
      </p:sp>
      <p:sp>
        <p:nvSpPr>
          <p:cNvPr id="14" name="TextBox 13"/>
          <p:cNvSpPr txBox="1"/>
          <p:nvPr/>
        </p:nvSpPr>
        <p:spPr>
          <a:xfrm>
            <a:off x="5303520" y="2240280"/>
            <a:ext cx="2926080" cy="274320"/>
          </a:xfrm>
          <a:prstGeom prst="rect">
            <a:avLst/>
          </a:prstGeom>
          <a:noFill/>
        </p:spPr>
        <p:txBody>
          <a:bodyPr wrap="square" lIns="0" rIns="0" tIns="0" bIns="0" anchor="t">
            <a:spAutoFit/>
          </a:bodyPr>
          <a:lstStyle/>
          <a:p>
            <a:pPr algn="l">
              <a:lnSpc>
                <a:spcPct val="100000"/>
              </a:lnSpc>
            </a:pPr>
            <a:r>
              <a:rPr sz="1300" b="0">
                <a:solidFill>
                  <a:srgbClr val="15171A"/>
                </a:solidFill>
                <a:latin typeface="Noto Sans KR"/>
                <a:ea typeface="Noto Sans KR"/>
                <a:cs typeface="Noto Sans KR"/>
              </a:rPr>
              <a:t>피지컬 AI 흐름</a:t>
            </a:r>
          </a:p>
        </p:txBody>
      </p:sp>
      <p:cxnSp>
        <p:nvCxnSpPr>
          <p:cNvPr id="15" name="Connector 14"/>
          <p:cNvCxnSpPr/>
          <p:nvPr/>
        </p:nvCxnSpPr>
        <p:spPr>
          <a:xfrm>
            <a:off x="4709160" y="2606040"/>
            <a:ext cx="3291840" cy="0"/>
          </a:xfrm>
          <a:prstGeom prst="line">
            <a:avLst/>
          </a:prstGeom>
          <a:ln w="9525">
            <a:solidFill>
              <a:srgbClr val="E2E4E7"/>
            </a:solidFill>
          </a:ln>
        </p:spPr>
      </p:cxnSp>
      <p:sp>
        <p:nvSpPr>
          <p:cNvPr id="16" name="TextBox 15"/>
          <p:cNvSpPr txBox="1"/>
          <p:nvPr/>
        </p:nvSpPr>
        <p:spPr>
          <a:xfrm>
            <a:off x="4709160" y="2697480"/>
            <a:ext cx="594360" cy="274320"/>
          </a:xfrm>
          <a:prstGeom prst="rect">
            <a:avLst/>
          </a:prstGeom>
          <a:noFill/>
        </p:spPr>
        <p:txBody>
          <a:bodyPr wrap="square" lIns="0" rIns="0" tIns="0" bIns="0" anchor="t">
            <a:spAutoFit/>
          </a:bodyPr>
          <a:lstStyle/>
          <a:p>
            <a:pPr algn="l">
              <a:lnSpc>
                <a:spcPct val="100000"/>
              </a:lnSpc>
            </a:pPr>
            <a:r>
              <a:rPr sz="1300" b="1">
                <a:solidFill>
                  <a:srgbClr val="E2571B"/>
                </a:solidFill>
                <a:latin typeface="Noto Sans KR"/>
                <a:ea typeface="Noto Sans KR"/>
                <a:cs typeface="Noto Sans KR"/>
              </a:rPr>
              <a:t>A5</a:t>
            </a:r>
          </a:p>
        </p:txBody>
      </p:sp>
      <p:sp>
        <p:nvSpPr>
          <p:cNvPr id="17" name="TextBox 16"/>
          <p:cNvSpPr txBox="1"/>
          <p:nvPr/>
        </p:nvSpPr>
        <p:spPr>
          <a:xfrm>
            <a:off x="5303520" y="2697480"/>
            <a:ext cx="2926080" cy="274320"/>
          </a:xfrm>
          <a:prstGeom prst="rect">
            <a:avLst/>
          </a:prstGeom>
          <a:noFill/>
        </p:spPr>
        <p:txBody>
          <a:bodyPr wrap="square" lIns="0" rIns="0" tIns="0" bIns="0" anchor="t">
            <a:spAutoFit/>
          </a:bodyPr>
          <a:lstStyle/>
          <a:p>
            <a:pPr algn="l">
              <a:lnSpc>
                <a:spcPct val="100000"/>
              </a:lnSpc>
            </a:pPr>
            <a:r>
              <a:rPr sz="1300" b="0">
                <a:solidFill>
                  <a:srgbClr val="15171A"/>
                </a:solidFill>
                <a:latin typeface="Noto Sans KR"/>
                <a:ea typeface="Noto Sans KR"/>
                <a:cs typeface="Noto Sans KR"/>
              </a:rPr>
              <a:t>시장 근거</a:t>
            </a:r>
          </a:p>
        </p:txBody>
      </p:sp>
      <p:cxnSp>
        <p:nvCxnSpPr>
          <p:cNvPr id="18" name="Connector 17"/>
          <p:cNvCxnSpPr/>
          <p:nvPr/>
        </p:nvCxnSpPr>
        <p:spPr>
          <a:xfrm>
            <a:off x="4709160" y="3063240"/>
            <a:ext cx="3291840" cy="0"/>
          </a:xfrm>
          <a:prstGeom prst="line">
            <a:avLst/>
          </a:prstGeom>
          <a:ln w="9525">
            <a:solidFill>
              <a:srgbClr val="E2E4E7"/>
            </a:solidFill>
          </a:ln>
        </p:spPr>
      </p:cxnSp>
      <p:sp>
        <p:nvSpPr>
          <p:cNvPr id="19" name="TextBox 18"/>
          <p:cNvSpPr txBox="1"/>
          <p:nvPr/>
        </p:nvSpPr>
        <p:spPr>
          <a:xfrm>
            <a:off x="4709160" y="3154680"/>
            <a:ext cx="594360" cy="274320"/>
          </a:xfrm>
          <a:prstGeom prst="rect">
            <a:avLst/>
          </a:prstGeom>
          <a:noFill/>
        </p:spPr>
        <p:txBody>
          <a:bodyPr wrap="square" lIns="0" rIns="0" tIns="0" bIns="0" anchor="t">
            <a:spAutoFit/>
          </a:bodyPr>
          <a:lstStyle/>
          <a:p>
            <a:pPr algn="l">
              <a:lnSpc>
                <a:spcPct val="100000"/>
              </a:lnSpc>
            </a:pPr>
            <a:r>
              <a:rPr sz="1300" b="1">
                <a:solidFill>
                  <a:srgbClr val="E2571B"/>
                </a:solidFill>
                <a:latin typeface="Noto Sans KR"/>
                <a:ea typeface="Noto Sans KR"/>
                <a:cs typeface="Noto Sans KR"/>
              </a:rPr>
              <a:t>A6</a:t>
            </a:r>
          </a:p>
        </p:txBody>
      </p:sp>
      <p:sp>
        <p:nvSpPr>
          <p:cNvPr id="20" name="TextBox 19"/>
          <p:cNvSpPr txBox="1"/>
          <p:nvPr/>
        </p:nvSpPr>
        <p:spPr>
          <a:xfrm>
            <a:off x="5303520" y="3154680"/>
            <a:ext cx="2926080" cy="274320"/>
          </a:xfrm>
          <a:prstGeom prst="rect">
            <a:avLst/>
          </a:prstGeom>
          <a:noFill/>
        </p:spPr>
        <p:txBody>
          <a:bodyPr wrap="square" lIns="0" rIns="0" tIns="0" bIns="0" anchor="t">
            <a:spAutoFit/>
          </a:bodyPr>
          <a:lstStyle/>
          <a:p>
            <a:pPr algn="l">
              <a:lnSpc>
                <a:spcPct val="100000"/>
              </a:lnSpc>
            </a:pPr>
            <a:r>
              <a:rPr sz="1300" b="0">
                <a:solidFill>
                  <a:srgbClr val="15171A"/>
                </a:solidFill>
                <a:latin typeface="Noto Sans KR"/>
                <a:ea typeface="Noto Sans KR"/>
                <a:cs typeface="Noto Sans KR"/>
              </a:rPr>
              <a:t>핸드 설계 상세</a:t>
            </a:r>
          </a:p>
        </p:txBody>
      </p:sp>
      <p:cxnSp>
        <p:nvCxnSpPr>
          <p:cNvPr id="21" name="Connector 20"/>
          <p:cNvCxnSpPr/>
          <p:nvPr/>
        </p:nvCxnSpPr>
        <p:spPr>
          <a:xfrm>
            <a:off x="4709160" y="3520440"/>
            <a:ext cx="3291840" cy="0"/>
          </a:xfrm>
          <a:prstGeom prst="line">
            <a:avLst/>
          </a:prstGeom>
          <a:ln w="9525">
            <a:solidFill>
              <a:srgbClr val="E2E4E7"/>
            </a:solidFill>
          </a:ln>
        </p:spPr>
      </p:cxnSp>
      <p:sp>
        <p:nvSpPr>
          <p:cNvPr id="22" name="TextBox 21"/>
          <p:cNvSpPr txBox="1"/>
          <p:nvPr/>
        </p:nvSpPr>
        <p:spPr>
          <a:xfrm>
            <a:off x="4709160" y="3611880"/>
            <a:ext cx="594360" cy="274320"/>
          </a:xfrm>
          <a:prstGeom prst="rect">
            <a:avLst/>
          </a:prstGeom>
          <a:noFill/>
        </p:spPr>
        <p:txBody>
          <a:bodyPr wrap="square" lIns="0" rIns="0" tIns="0" bIns="0" anchor="t">
            <a:spAutoFit/>
          </a:bodyPr>
          <a:lstStyle/>
          <a:p>
            <a:pPr algn="l">
              <a:lnSpc>
                <a:spcPct val="100000"/>
              </a:lnSpc>
            </a:pPr>
            <a:r>
              <a:rPr sz="1300" b="1">
                <a:solidFill>
                  <a:srgbClr val="E2571B"/>
                </a:solidFill>
                <a:latin typeface="Noto Sans KR"/>
                <a:ea typeface="Noto Sans KR"/>
                <a:cs typeface="Noto Sans KR"/>
              </a:rPr>
              <a:t>A7</a:t>
            </a:r>
          </a:p>
        </p:txBody>
      </p:sp>
      <p:sp>
        <p:nvSpPr>
          <p:cNvPr id="23" name="TextBox 22"/>
          <p:cNvSpPr txBox="1"/>
          <p:nvPr/>
        </p:nvSpPr>
        <p:spPr>
          <a:xfrm>
            <a:off x="5303520" y="3611880"/>
            <a:ext cx="2926080" cy="274320"/>
          </a:xfrm>
          <a:prstGeom prst="rect">
            <a:avLst/>
          </a:prstGeom>
          <a:noFill/>
        </p:spPr>
        <p:txBody>
          <a:bodyPr wrap="square" lIns="0" rIns="0" tIns="0" bIns="0" anchor="t">
            <a:spAutoFit/>
          </a:bodyPr>
          <a:lstStyle/>
          <a:p>
            <a:pPr algn="l">
              <a:lnSpc>
                <a:spcPct val="100000"/>
              </a:lnSpc>
            </a:pPr>
            <a:r>
              <a:rPr sz="1300" b="0">
                <a:solidFill>
                  <a:srgbClr val="15171A"/>
                </a:solidFill>
                <a:latin typeface="Noto Sans KR"/>
                <a:ea typeface="Noto Sans KR"/>
                <a:cs typeface="Noto Sans KR"/>
              </a:rPr>
              <a:t>성능 지표와 시험 방법</a:t>
            </a:r>
          </a:p>
        </p:txBody>
      </p:sp>
      <p:cxnSp>
        <p:nvCxnSpPr>
          <p:cNvPr id="24" name="Connector 23"/>
          <p:cNvCxnSpPr/>
          <p:nvPr/>
        </p:nvCxnSpPr>
        <p:spPr>
          <a:xfrm>
            <a:off x="4709160" y="3977640"/>
            <a:ext cx="3291840" cy="0"/>
          </a:xfrm>
          <a:prstGeom prst="line">
            <a:avLst/>
          </a:prstGeom>
          <a:ln w="9525">
            <a:solidFill>
              <a:srgbClr val="E2E4E7"/>
            </a:solidFill>
          </a:ln>
        </p:spPr>
      </p:cxnSp>
      <p:sp>
        <p:nvSpPr>
          <p:cNvPr id="25" name="TextBox 24"/>
          <p:cNvSpPr txBox="1"/>
          <p:nvPr/>
        </p:nvSpPr>
        <p:spPr>
          <a:xfrm>
            <a:off x="4709160" y="4069080"/>
            <a:ext cx="594360" cy="274320"/>
          </a:xfrm>
          <a:prstGeom prst="rect">
            <a:avLst/>
          </a:prstGeom>
          <a:noFill/>
        </p:spPr>
        <p:txBody>
          <a:bodyPr wrap="square" lIns="0" rIns="0" tIns="0" bIns="0" anchor="t">
            <a:spAutoFit/>
          </a:bodyPr>
          <a:lstStyle/>
          <a:p>
            <a:pPr algn="l">
              <a:lnSpc>
                <a:spcPct val="100000"/>
              </a:lnSpc>
            </a:pPr>
            <a:r>
              <a:rPr sz="1300" b="1">
                <a:solidFill>
                  <a:srgbClr val="E2571B"/>
                </a:solidFill>
                <a:latin typeface="Noto Sans KR"/>
                <a:ea typeface="Noto Sans KR"/>
                <a:cs typeface="Noto Sans KR"/>
              </a:rPr>
              <a:t>A8</a:t>
            </a:r>
          </a:p>
        </p:txBody>
      </p:sp>
      <p:sp>
        <p:nvSpPr>
          <p:cNvPr id="26" name="TextBox 25"/>
          <p:cNvSpPr txBox="1"/>
          <p:nvPr/>
        </p:nvSpPr>
        <p:spPr>
          <a:xfrm>
            <a:off x="5303520" y="4069080"/>
            <a:ext cx="2926080" cy="274320"/>
          </a:xfrm>
          <a:prstGeom prst="rect">
            <a:avLst/>
          </a:prstGeom>
          <a:noFill/>
        </p:spPr>
        <p:txBody>
          <a:bodyPr wrap="square" lIns="0" rIns="0" tIns="0" bIns="0" anchor="t">
            <a:spAutoFit/>
          </a:bodyPr>
          <a:lstStyle/>
          <a:p>
            <a:pPr algn="l">
              <a:lnSpc>
                <a:spcPct val="100000"/>
              </a:lnSpc>
            </a:pPr>
            <a:r>
              <a:rPr sz="1300" b="0">
                <a:solidFill>
                  <a:srgbClr val="15171A"/>
                </a:solidFill>
                <a:latin typeface="Noto Sans KR"/>
                <a:ea typeface="Noto Sans KR"/>
                <a:cs typeface="Noto Sans KR"/>
              </a:rPr>
              <a:t>스크루드라이버 기술 데모</a:t>
            </a:r>
          </a:p>
        </p:txBody>
      </p:sp>
      <p:cxnSp>
        <p:nvCxnSpPr>
          <p:cNvPr id="27" name="Connector 26"/>
          <p:cNvCxnSpPr/>
          <p:nvPr/>
        </p:nvCxnSpPr>
        <p:spPr>
          <a:xfrm>
            <a:off x="4709160" y="4434840"/>
            <a:ext cx="3291840" cy="0"/>
          </a:xfrm>
          <a:prstGeom prst="line">
            <a:avLst/>
          </a:prstGeom>
          <a:ln w="9525">
            <a:solidFill>
              <a:srgbClr val="E2E4E7"/>
            </a:solidFill>
          </a:ln>
        </p:spPr>
      </p:cxnSp>
      <p:sp>
        <p:nvSpPr>
          <p:cNvPr id="28" name="TextBox 27"/>
          <p:cNvSpPr txBox="1"/>
          <p:nvPr/>
        </p:nvSpPr>
        <p:spPr>
          <a:xfrm>
            <a:off x="8366760" y="868680"/>
            <a:ext cx="594360" cy="274320"/>
          </a:xfrm>
          <a:prstGeom prst="rect">
            <a:avLst/>
          </a:prstGeom>
          <a:noFill/>
        </p:spPr>
        <p:txBody>
          <a:bodyPr wrap="square" lIns="0" rIns="0" tIns="0" bIns="0" anchor="t">
            <a:spAutoFit/>
          </a:bodyPr>
          <a:lstStyle/>
          <a:p>
            <a:pPr algn="l">
              <a:lnSpc>
                <a:spcPct val="100000"/>
              </a:lnSpc>
            </a:pPr>
            <a:r>
              <a:rPr sz="1300" b="1">
                <a:solidFill>
                  <a:srgbClr val="E2571B"/>
                </a:solidFill>
                <a:latin typeface="Noto Sans KR"/>
                <a:ea typeface="Noto Sans KR"/>
                <a:cs typeface="Noto Sans KR"/>
              </a:rPr>
              <a:t>A9</a:t>
            </a:r>
          </a:p>
        </p:txBody>
      </p:sp>
      <p:sp>
        <p:nvSpPr>
          <p:cNvPr id="29" name="TextBox 28"/>
          <p:cNvSpPr txBox="1"/>
          <p:nvPr/>
        </p:nvSpPr>
        <p:spPr>
          <a:xfrm>
            <a:off x="8961120" y="868680"/>
            <a:ext cx="2926080" cy="274320"/>
          </a:xfrm>
          <a:prstGeom prst="rect">
            <a:avLst/>
          </a:prstGeom>
          <a:noFill/>
        </p:spPr>
        <p:txBody>
          <a:bodyPr wrap="square" lIns="0" rIns="0" tIns="0" bIns="0" anchor="t">
            <a:spAutoFit/>
          </a:bodyPr>
          <a:lstStyle/>
          <a:p>
            <a:pPr algn="l">
              <a:lnSpc>
                <a:spcPct val="100000"/>
              </a:lnSpc>
            </a:pPr>
            <a:r>
              <a:rPr sz="1300" b="0">
                <a:solidFill>
                  <a:srgbClr val="15171A"/>
                </a:solidFill>
                <a:latin typeface="Noto Sans KR"/>
                <a:ea typeface="Noto Sans KR"/>
                <a:cs typeface="Noto Sans KR"/>
              </a:rPr>
              <a:t>수익 모델 가정</a:t>
            </a:r>
          </a:p>
        </p:txBody>
      </p:sp>
      <p:cxnSp>
        <p:nvCxnSpPr>
          <p:cNvPr id="30" name="Connector 29"/>
          <p:cNvCxnSpPr/>
          <p:nvPr/>
        </p:nvCxnSpPr>
        <p:spPr>
          <a:xfrm>
            <a:off x="8366760" y="1234439"/>
            <a:ext cx="3291840" cy="0"/>
          </a:xfrm>
          <a:prstGeom prst="line">
            <a:avLst/>
          </a:prstGeom>
          <a:ln w="9525">
            <a:solidFill>
              <a:srgbClr val="E2E4E7"/>
            </a:solidFill>
          </a:ln>
        </p:spPr>
      </p:cxnSp>
      <p:sp>
        <p:nvSpPr>
          <p:cNvPr id="31" name="TextBox 30"/>
          <p:cNvSpPr txBox="1"/>
          <p:nvPr/>
        </p:nvSpPr>
        <p:spPr>
          <a:xfrm>
            <a:off x="8366760" y="1325880"/>
            <a:ext cx="594360" cy="274320"/>
          </a:xfrm>
          <a:prstGeom prst="rect">
            <a:avLst/>
          </a:prstGeom>
          <a:noFill/>
        </p:spPr>
        <p:txBody>
          <a:bodyPr wrap="square" lIns="0" rIns="0" tIns="0" bIns="0" anchor="t">
            <a:spAutoFit/>
          </a:bodyPr>
          <a:lstStyle/>
          <a:p>
            <a:pPr algn="l">
              <a:lnSpc>
                <a:spcPct val="100000"/>
              </a:lnSpc>
            </a:pPr>
            <a:r>
              <a:rPr sz="1300" b="1">
                <a:solidFill>
                  <a:srgbClr val="E2571B"/>
                </a:solidFill>
                <a:latin typeface="Noto Sans KR"/>
                <a:ea typeface="Noto Sans KR"/>
                <a:cs typeface="Noto Sans KR"/>
              </a:rPr>
              <a:t>A10</a:t>
            </a:r>
          </a:p>
        </p:txBody>
      </p:sp>
      <p:sp>
        <p:nvSpPr>
          <p:cNvPr id="32" name="TextBox 31"/>
          <p:cNvSpPr txBox="1"/>
          <p:nvPr/>
        </p:nvSpPr>
        <p:spPr>
          <a:xfrm>
            <a:off x="8961120" y="1325880"/>
            <a:ext cx="2926080" cy="274320"/>
          </a:xfrm>
          <a:prstGeom prst="rect">
            <a:avLst/>
          </a:prstGeom>
          <a:noFill/>
        </p:spPr>
        <p:txBody>
          <a:bodyPr wrap="square" lIns="0" rIns="0" tIns="0" bIns="0" anchor="t">
            <a:spAutoFit/>
          </a:bodyPr>
          <a:lstStyle/>
          <a:p>
            <a:pPr algn="l">
              <a:lnSpc>
                <a:spcPct val="100000"/>
              </a:lnSpc>
            </a:pPr>
            <a:r>
              <a:rPr sz="1300" b="0">
                <a:solidFill>
                  <a:srgbClr val="15171A"/>
                </a:solidFill>
                <a:latin typeface="Noto Sans KR"/>
                <a:ea typeface="Noto Sans KR"/>
                <a:cs typeface="Noto Sans KR"/>
              </a:rPr>
              <a:t>5개년 손익 상세</a:t>
            </a:r>
          </a:p>
        </p:txBody>
      </p:sp>
      <p:cxnSp>
        <p:nvCxnSpPr>
          <p:cNvPr id="33" name="Connector 32"/>
          <p:cNvCxnSpPr/>
          <p:nvPr/>
        </p:nvCxnSpPr>
        <p:spPr>
          <a:xfrm>
            <a:off x="8366760" y="1691639"/>
            <a:ext cx="3291840" cy="0"/>
          </a:xfrm>
          <a:prstGeom prst="line">
            <a:avLst/>
          </a:prstGeom>
          <a:ln w="9525">
            <a:solidFill>
              <a:srgbClr val="E2E4E7"/>
            </a:solidFill>
          </a:ln>
        </p:spPr>
      </p:cxnSp>
      <p:sp>
        <p:nvSpPr>
          <p:cNvPr id="34" name="TextBox 33"/>
          <p:cNvSpPr txBox="1"/>
          <p:nvPr/>
        </p:nvSpPr>
        <p:spPr>
          <a:xfrm>
            <a:off x="8366760" y="1783080"/>
            <a:ext cx="594360" cy="274320"/>
          </a:xfrm>
          <a:prstGeom prst="rect">
            <a:avLst/>
          </a:prstGeom>
          <a:noFill/>
        </p:spPr>
        <p:txBody>
          <a:bodyPr wrap="square" lIns="0" rIns="0" tIns="0" bIns="0" anchor="t">
            <a:spAutoFit/>
          </a:bodyPr>
          <a:lstStyle/>
          <a:p>
            <a:pPr algn="l">
              <a:lnSpc>
                <a:spcPct val="100000"/>
              </a:lnSpc>
            </a:pPr>
            <a:r>
              <a:rPr sz="1300" b="1">
                <a:solidFill>
                  <a:srgbClr val="E2571B"/>
                </a:solidFill>
                <a:latin typeface="Noto Sans KR"/>
                <a:ea typeface="Noto Sans KR"/>
                <a:cs typeface="Noto Sans KR"/>
              </a:rPr>
              <a:t>A11</a:t>
            </a:r>
          </a:p>
        </p:txBody>
      </p:sp>
      <p:sp>
        <p:nvSpPr>
          <p:cNvPr id="35" name="TextBox 34"/>
          <p:cNvSpPr txBox="1"/>
          <p:nvPr/>
        </p:nvSpPr>
        <p:spPr>
          <a:xfrm>
            <a:off x="8961120" y="1783080"/>
            <a:ext cx="2926080" cy="274320"/>
          </a:xfrm>
          <a:prstGeom prst="rect">
            <a:avLst/>
          </a:prstGeom>
          <a:noFill/>
        </p:spPr>
        <p:txBody>
          <a:bodyPr wrap="square" lIns="0" rIns="0" tIns="0" bIns="0" anchor="t">
            <a:spAutoFit/>
          </a:bodyPr>
          <a:lstStyle/>
          <a:p>
            <a:pPr algn="l">
              <a:lnSpc>
                <a:spcPct val="100000"/>
              </a:lnSpc>
            </a:pPr>
            <a:r>
              <a:rPr sz="1300" b="0">
                <a:solidFill>
                  <a:srgbClr val="15171A"/>
                </a:solidFill>
                <a:latin typeface="Noto Sans KR"/>
                <a:ea typeface="Noto Sans KR"/>
                <a:cs typeface="Noto Sans KR"/>
              </a:rPr>
              <a:t>자금 사용 상세</a:t>
            </a:r>
          </a:p>
        </p:txBody>
      </p:sp>
      <p:cxnSp>
        <p:nvCxnSpPr>
          <p:cNvPr id="36" name="Connector 35"/>
          <p:cNvCxnSpPr/>
          <p:nvPr/>
        </p:nvCxnSpPr>
        <p:spPr>
          <a:xfrm>
            <a:off x="8366760" y="2148840"/>
            <a:ext cx="3291840" cy="0"/>
          </a:xfrm>
          <a:prstGeom prst="line">
            <a:avLst/>
          </a:prstGeom>
          <a:ln w="9525">
            <a:solidFill>
              <a:srgbClr val="E2E4E7"/>
            </a:solidFill>
          </a:ln>
        </p:spPr>
      </p:cxnSp>
      <p:sp>
        <p:nvSpPr>
          <p:cNvPr id="37" name="TextBox 36"/>
          <p:cNvSpPr txBox="1"/>
          <p:nvPr/>
        </p:nvSpPr>
        <p:spPr>
          <a:xfrm>
            <a:off x="8366760" y="2240280"/>
            <a:ext cx="594360" cy="274320"/>
          </a:xfrm>
          <a:prstGeom prst="rect">
            <a:avLst/>
          </a:prstGeom>
          <a:noFill/>
        </p:spPr>
        <p:txBody>
          <a:bodyPr wrap="square" lIns="0" rIns="0" tIns="0" bIns="0" anchor="t">
            <a:spAutoFit/>
          </a:bodyPr>
          <a:lstStyle/>
          <a:p>
            <a:pPr algn="l">
              <a:lnSpc>
                <a:spcPct val="100000"/>
              </a:lnSpc>
            </a:pPr>
            <a:r>
              <a:rPr sz="1300" b="1">
                <a:solidFill>
                  <a:srgbClr val="E2571B"/>
                </a:solidFill>
                <a:latin typeface="Noto Sans KR"/>
                <a:ea typeface="Noto Sans KR"/>
                <a:cs typeface="Noto Sans KR"/>
              </a:rPr>
              <a:t>A12</a:t>
            </a:r>
          </a:p>
        </p:txBody>
      </p:sp>
      <p:sp>
        <p:nvSpPr>
          <p:cNvPr id="38" name="TextBox 37"/>
          <p:cNvSpPr txBox="1"/>
          <p:nvPr/>
        </p:nvSpPr>
        <p:spPr>
          <a:xfrm>
            <a:off x="8961120" y="2240280"/>
            <a:ext cx="2926080" cy="274320"/>
          </a:xfrm>
          <a:prstGeom prst="rect">
            <a:avLst/>
          </a:prstGeom>
          <a:noFill/>
        </p:spPr>
        <p:txBody>
          <a:bodyPr wrap="square" lIns="0" rIns="0" tIns="0" bIns="0" anchor="t">
            <a:spAutoFit/>
          </a:bodyPr>
          <a:lstStyle/>
          <a:p>
            <a:pPr algn="l">
              <a:lnSpc>
                <a:spcPct val="100000"/>
              </a:lnSpc>
            </a:pPr>
            <a:r>
              <a:rPr sz="1300" b="0">
                <a:solidFill>
                  <a:srgbClr val="15171A"/>
                </a:solidFill>
                <a:latin typeface="Noto Sans KR"/>
                <a:ea typeface="Noto Sans KR"/>
                <a:cs typeface="Noto Sans KR"/>
              </a:rPr>
              <a:t>데이터 축적 계획</a:t>
            </a:r>
          </a:p>
        </p:txBody>
      </p:sp>
      <p:cxnSp>
        <p:nvCxnSpPr>
          <p:cNvPr id="39" name="Connector 38"/>
          <p:cNvCxnSpPr/>
          <p:nvPr/>
        </p:nvCxnSpPr>
        <p:spPr>
          <a:xfrm>
            <a:off x="8366760" y="2606040"/>
            <a:ext cx="3291840" cy="0"/>
          </a:xfrm>
          <a:prstGeom prst="line">
            <a:avLst/>
          </a:prstGeom>
          <a:ln w="9525">
            <a:solidFill>
              <a:srgbClr val="E2E4E7"/>
            </a:solidFill>
          </a:ln>
        </p:spPr>
      </p:cxnSp>
      <p:sp>
        <p:nvSpPr>
          <p:cNvPr id="40" name="TextBox 39"/>
          <p:cNvSpPr txBox="1"/>
          <p:nvPr/>
        </p:nvSpPr>
        <p:spPr>
          <a:xfrm>
            <a:off x="8366760" y="2697480"/>
            <a:ext cx="594360" cy="274320"/>
          </a:xfrm>
          <a:prstGeom prst="rect">
            <a:avLst/>
          </a:prstGeom>
          <a:noFill/>
        </p:spPr>
        <p:txBody>
          <a:bodyPr wrap="square" lIns="0" rIns="0" tIns="0" bIns="0" anchor="t">
            <a:spAutoFit/>
          </a:bodyPr>
          <a:lstStyle/>
          <a:p>
            <a:pPr algn="l">
              <a:lnSpc>
                <a:spcPct val="100000"/>
              </a:lnSpc>
            </a:pPr>
            <a:r>
              <a:rPr sz="1300" b="1">
                <a:solidFill>
                  <a:srgbClr val="E2571B"/>
                </a:solidFill>
                <a:latin typeface="Noto Sans KR"/>
                <a:ea typeface="Noto Sans KR"/>
                <a:cs typeface="Noto Sans KR"/>
              </a:rPr>
              <a:t>A13</a:t>
            </a:r>
          </a:p>
        </p:txBody>
      </p:sp>
      <p:sp>
        <p:nvSpPr>
          <p:cNvPr id="41" name="TextBox 40"/>
          <p:cNvSpPr txBox="1"/>
          <p:nvPr/>
        </p:nvSpPr>
        <p:spPr>
          <a:xfrm>
            <a:off x="8961120" y="2697480"/>
            <a:ext cx="2926080" cy="274320"/>
          </a:xfrm>
          <a:prstGeom prst="rect">
            <a:avLst/>
          </a:prstGeom>
          <a:noFill/>
        </p:spPr>
        <p:txBody>
          <a:bodyPr wrap="square" lIns="0" rIns="0" tIns="0" bIns="0" anchor="t">
            <a:spAutoFit/>
          </a:bodyPr>
          <a:lstStyle/>
          <a:p>
            <a:pPr algn="l">
              <a:lnSpc>
                <a:spcPct val="100000"/>
              </a:lnSpc>
            </a:pPr>
            <a:r>
              <a:rPr sz="1300" b="0">
                <a:solidFill>
                  <a:srgbClr val="15171A"/>
                </a:solidFill>
                <a:latin typeface="Noto Sans KR"/>
                <a:ea typeface="Noto Sans KR"/>
                <a:cs typeface="Noto Sans KR"/>
              </a:rPr>
              <a:t>주방 데모 범위</a:t>
            </a:r>
          </a:p>
        </p:txBody>
      </p:sp>
      <p:cxnSp>
        <p:nvCxnSpPr>
          <p:cNvPr id="42" name="Connector 41"/>
          <p:cNvCxnSpPr/>
          <p:nvPr/>
        </p:nvCxnSpPr>
        <p:spPr>
          <a:xfrm>
            <a:off x="8366760" y="3063240"/>
            <a:ext cx="3291840" cy="0"/>
          </a:xfrm>
          <a:prstGeom prst="line">
            <a:avLst/>
          </a:prstGeom>
          <a:ln w="9525">
            <a:solidFill>
              <a:srgbClr val="E2E4E7"/>
            </a:solidFill>
          </a:ln>
        </p:spPr>
      </p:cxnSp>
      <p:sp>
        <p:nvSpPr>
          <p:cNvPr id="43" name="TextBox 42"/>
          <p:cNvSpPr txBox="1"/>
          <p:nvPr/>
        </p:nvSpPr>
        <p:spPr>
          <a:xfrm>
            <a:off x="8366760" y="3154680"/>
            <a:ext cx="594360" cy="274320"/>
          </a:xfrm>
          <a:prstGeom prst="rect">
            <a:avLst/>
          </a:prstGeom>
          <a:noFill/>
        </p:spPr>
        <p:txBody>
          <a:bodyPr wrap="square" lIns="0" rIns="0" tIns="0" bIns="0" anchor="t">
            <a:spAutoFit/>
          </a:bodyPr>
          <a:lstStyle/>
          <a:p>
            <a:pPr algn="l">
              <a:lnSpc>
                <a:spcPct val="100000"/>
              </a:lnSpc>
            </a:pPr>
            <a:r>
              <a:rPr sz="1300" b="1">
                <a:solidFill>
                  <a:srgbClr val="E2571B"/>
                </a:solidFill>
                <a:latin typeface="Noto Sans KR"/>
                <a:ea typeface="Noto Sans KR"/>
                <a:cs typeface="Noto Sans KR"/>
              </a:rPr>
              <a:t>A14</a:t>
            </a:r>
          </a:p>
        </p:txBody>
      </p:sp>
      <p:sp>
        <p:nvSpPr>
          <p:cNvPr id="44" name="TextBox 43"/>
          <p:cNvSpPr txBox="1"/>
          <p:nvPr/>
        </p:nvSpPr>
        <p:spPr>
          <a:xfrm>
            <a:off x="8961120" y="3154680"/>
            <a:ext cx="2926080" cy="274320"/>
          </a:xfrm>
          <a:prstGeom prst="rect">
            <a:avLst/>
          </a:prstGeom>
          <a:noFill/>
        </p:spPr>
        <p:txBody>
          <a:bodyPr wrap="square" lIns="0" rIns="0" tIns="0" bIns="0" anchor="t">
            <a:spAutoFit/>
          </a:bodyPr>
          <a:lstStyle/>
          <a:p>
            <a:pPr algn="l">
              <a:lnSpc>
                <a:spcPct val="100000"/>
              </a:lnSpc>
            </a:pPr>
            <a:r>
              <a:rPr sz="1300" b="0">
                <a:solidFill>
                  <a:srgbClr val="15171A"/>
                </a:solidFill>
                <a:latin typeface="Noto Sans KR"/>
                <a:ea typeface="Noto Sans KR"/>
                <a:cs typeface="Noto Sans KR"/>
              </a:rPr>
              <a:t>안전·인증·IP</a:t>
            </a:r>
          </a:p>
        </p:txBody>
      </p:sp>
      <p:cxnSp>
        <p:nvCxnSpPr>
          <p:cNvPr id="45" name="Connector 44"/>
          <p:cNvCxnSpPr/>
          <p:nvPr/>
        </p:nvCxnSpPr>
        <p:spPr>
          <a:xfrm>
            <a:off x="8366760" y="3520440"/>
            <a:ext cx="3291840" cy="0"/>
          </a:xfrm>
          <a:prstGeom prst="line">
            <a:avLst/>
          </a:prstGeom>
          <a:ln w="9525">
            <a:solidFill>
              <a:srgbClr val="E2E4E7"/>
            </a:solidFill>
          </a:ln>
        </p:spPr>
      </p:cxnSp>
      <p:sp>
        <p:nvSpPr>
          <p:cNvPr id="46" name="TextBox 45"/>
          <p:cNvSpPr txBox="1"/>
          <p:nvPr/>
        </p:nvSpPr>
        <p:spPr>
          <a:xfrm>
            <a:off x="8366760" y="3611880"/>
            <a:ext cx="594360" cy="274320"/>
          </a:xfrm>
          <a:prstGeom prst="rect">
            <a:avLst/>
          </a:prstGeom>
          <a:noFill/>
        </p:spPr>
        <p:txBody>
          <a:bodyPr wrap="square" lIns="0" rIns="0" tIns="0" bIns="0" anchor="t">
            <a:spAutoFit/>
          </a:bodyPr>
          <a:lstStyle/>
          <a:p>
            <a:pPr algn="l">
              <a:lnSpc>
                <a:spcPct val="100000"/>
              </a:lnSpc>
            </a:pPr>
            <a:r>
              <a:rPr sz="1300" b="1">
                <a:solidFill>
                  <a:srgbClr val="E2571B"/>
                </a:solidFill>
                <a:latin typeface="Noto Sans KR"/>
                <a:ea typeface="Noto Sans KR"/>
                <a:cs typeface="Noto Sans KR"/>
              </a:rPr>
              <a:t>A15</a:t>
            </a:r>
          </a:p>
        </p:txBody>
      </p:sp>
      <p:sp>
        <p:nvSpPr>
          <p:cNvPr id="47" name="TextBox 46"/>
          <p:cNvSpPr txBox="1"/>
          <p:nvPr/>
        </p:nvSpPr>
        <p:spPr>
          <a:xfrm>
            <a:off x="8961120" y="3611880"/>
            <a:ext cx="2926080" cy="274320"/>
          </a:xfrm>
          <a:prstGeom prst="rect">
            <a:avLst/>
          </a:prstGeom>
          <a:noFill/>
        </p:spPr>
        <p:txBody>
          <a:bodyPr wrap="square" lIns="0" rIns="0" tIns="0" bIns="0" anchor="t">
            <a:spAutoFit/>
          </a:bodyPr>
          <a:lstStyle/>
          <a:p>
            <a:pPr algn="l">
              <a:lnSpc>
                <a:spcPct val="100000"/>
              </a:lnSpc>
            </a:pPr>
            <a:r>
              <a:rPr sz="1300" b="0">
                <a:solidFill>
                  <a:srgbClr val="15171A"/>
                </a:solidFill>
                <a:latin typeface="Noto Sans KR"/>
                <a:ea typeface="Noto Sans KR"/>
                <a:cs typeface="Noto Sans KR"/>
              </a:rPr>
              <a:t>주요 위험과 대응</a:t>
            </a:r>
          </a:p>
        </p:txBody>
      </p:sp>
      <p:cxnSp>
        <p:nvCxnSpPr>
          <p:cNvPr id="48" name="Connector 47"/>
          <p:cNvCxnSpPr/>
          <p:nvPr/>
        </p:nvCxnSpPr>
        <p:spPr>
          <a:xfrm>
            <a:off x="8366760" y="3977640"/>
            <a:ext cx="3291840" cy="0"/>
          </a:xfrm>
          <a:prstGeom prst="line">
            <a:avLst/>
          </a:prstGeom>
          <a:ln w="9525">
            <a:solidFill>
              <a:srgbClr val="E2E4E7"/>
            </a:solidFill>
          </a:ln>
        </p:spPr>
      </p:cxnSp>
      <p:sp>
        <p:nvSpPr>
          <p:cNvPr id="49" name="TextBox 48"/>
          <p:cNvSpPr txBox="1"/>
          <p:nvPr/>
        </p:nvSpPr>
        <p:spPr>
          <a:xfrm>
            <a:off x="8366760" y="4069080"/>
            <a:ext cx="594360" cy="274320"/>
          </a:xfrm>
          <a:prstGeom prst="rect">
            <a:avLst/>
          </a:prstGeom>
          <a:noFill/>
        </p:spPr>
        <p:txBody>
          <a:bodyPr wrap="square" lIns="0" rIns="0" tIns="0" bIns="0" anchor="t">
            <a:spAutoFit/>
          </a:bodyPr>
          <a:lstStyle/>
          <a:p>
            <a:pPr algn="l">
              <a:lnSpc>
                <a:spcPct val="100000"/>
              </a:lnSpc>
            </a:pPr>
            <a:r>
              <a:rPr sz="1300" b="1">
                <a:solidFill>
                  <a:srgbClr val="E2571B"/>
                </a:solidFill>
                <a:latin typeface="Noto Sans KR"/>
                <a:ea typeface="Noto Sans KR"/>
                <a:cs typeface="Noto Sans KR"/>
              </a:rPr>
              <a:t>A16</a:t>
            </a:r>
          </a:p>
        </p:txBody>
      </p:sp>
      <p:sp>
        <p:nvSpPr>
          <p:cNvPr id="50" name="TextBox 49"/>
          <p:cNvSpPr txBox="1"/>
          <p:nvPr/>
        </p:nvSpPr>
        <p:spPr>
          <a:xfrm>
            <a:off x="8961120" y="4069080"/>
            <a:ext cx="2926080" cy="274320"/>
          </a:xfrm>
          <a:prstGeom prst="rect">
            <a:avLst/>
          </a:prstGeom>
          <a:noFill/>
        </p:spPr>
        <p:txBody>
          <a:bodyPr wrap="square" lIns="0" rIns="0" tIns="0" bIns="0" anchor="t">
            <a:spAutoFit/>
          </a:bodyPr>
          <a:lstStyle/>
          <a:p>
            <a:pPr algn="l">
              <a:lnSpc>
                <a:spcPct val="100000"/>
              </a:lnSpc>
            </a:pPr>
            <a:r>
              <a:rPr sz="1300" b="0">
                <a:solidFill>
                  <a:srgbClr val="15171A"/>
                </a:solidFill>
                <a:latin typeface="Noto Sans KR"/>
                <a:ea typeface="Noto Sans KR"/>
                <a:cs typeface="Noto Sans KR"/>
              </a:rPr>
              <a:t>출처</a:t>
            </a:r>
          </a:p>
        </p:txBody>
      </p:sp>
      <p:cxnSp>
        <p:nvCxnSpPr>
          <p:cNvPr id="51" name="Connector 50"/>
          <p:cNvCxnSpPr/>
          <p:nvPr/>
        </p:nvCxnSpPr>
        <p:spPr>
          <a:xfrm>
            <a:off x="8366760" y="4434840"/>
            <a:ext cx="3291840" cy="0"/>
          </a:xfrm>
          <a:prstGeom prst="line">
            <a:avLst/>
          </a:prstGeom>
          <a:ln w="9525">
            <a:solidFill>
              <a:srgbClr val="E2E4E7"/>
            </a:solidFill>
          </a:ln>
        </p:spPr>
      </p:cxnSp>
      <p:sp>
        <p:nvSpPr>
          <p:cNvPr id="52" name="TextBox 51"/>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SoftHand-4  |  Seed 투자 제안서</a:t>
            </a:r>
          </a:p>
        </p:txBody>
      </p:sp>
      <p:sp>
        <p:nvSpPr>
          <p:cNvPr id="53" name="TextBox 52"/>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A</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7315200" cy="256032"/>
          </a:xfrm>
          <a:prstGeom prst="rect">
            <a:avLst/>
          </a:prstGeom>
          <a:noFill/>
        </p:spPr>
        <p:txBody>
          <a:bodyPr wrap="square" lIns="0" rIns="0" tIns="0" bIns="0" anchor="t">
            <a:spAutoFit/>
          </a:bodyPr>
          <a:lstStyle/>
          <a:p>
            <a:pPr algn="l">
              <a:lnSpc>
                <a:spcPct val="100000"/>
              </a:lnSpc>
            </a:pPr>
            <a:r>
              <a:rPr sz="1100" b="1">
                <a:solidFill>
                  <a:srgbClr val="E2571B"/>
                </a:solidFill>
                <a:latin typeface="Noto Sans KR"/>
                <a:ea typeface="Noto Sans KR"/>
                <a:cs typeface="Noto Sans KR"/>
              </a:rPr>
              <a:t>부록 A1</a:t>
            </a:r>
          </a:p>
        </p:txBody>
      </p:sp>
      <p:sp>
        <p:nvSpPr>
          <p:cNvPr id="3" name="TextBox 2"/>
          <p:cNvSpPr txBox="1"/>
          <p:nvPr/>
        </p:nvSpPr>
        <p:spPr>
          <a:xfrm>
            <a:off x="685800" y="822960"/>
            <a:ext cx="10820095" cy="475488"/>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주요 가정과 근거 수준</a:t>
            </a:r>
          </a:p>
        </p:txBody>
      </p:sp>
      <p:sp>
        <p:nvSpPr>
          <p:cNvPr id="4" name="TextBox 3"/>
          <p:cNvSpPr txBox="1"/>
          <p:nvPr/>
        </p:nvSpPr>
        <p:spPr>
          <a:xfrm>
            <a:off x="685800" y="1353312"/>
            <a:ext cx="10820095" cy="274320"/>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확인된 사실, 계획, 가정, 확보가 필요한 자료를 구분해 표기</a:t>
            </a:r>
          </a:p>
        </p:txBody>
      </p:sp>
      <p:graphicFrame>
        <p:nvGraphicFramePr>
          <p:cNvPr id="5" name="Table 4"/>
          <p:cNvGraphicFramePr>
            <a:graphicFrameLocks noGrp="1"/>
          </p:cNvGraphicFramePr>
          <p:nvPr/>
        </p:nvGraphicFramePr>
        <p:xfrm>
          <a:off x="685800" y="1874519"/>
          <a:ext cx="10817352" cy="3075430"/>
        </p:xfrm>
        <a:graphic>
          <a:graphicData uri="http://schemas.openxmlformats.org/drawingml/2006/table">
            <a:tbl>
              <a:tblPr firstRow="0" bandRow="0">
                <a:tableStyleId>{2D5ABB26-0587-4C30-8999-92F81FD0307C}</a:tableStyleId>
              </a:tblPr>
              <a:tblGrid>
                <a:gridCol w="1828800"/>
                <a:gridCol w="6245352"/>
                <a:gridCol w="2743200"/>
              </a:tblGrid>
              <a:tr h="394411">
                <a:tc>
                  <a:txBody>
                    <a:bodyPr wrap="square"/>
                    <a:lstStyle/>
                    <a:p>
                      <a:pPr algn="l">
                        <a:lnSpc>
                          <a:spcPct val="100000"/>
                        </a:lnSpc>
                      </a:pPr>
                      <a:r>
                        <a:rPr sz="1200" b="1">
                          <a:solidFill>
                            <a:srgbClr val="15171A"/>
                          </a:solidFill>
                          <a:latin typeface="Noto Sans KR"/>
                          <a:ea typeface="Noto Sans KR"/>
                          <a:cs typeface="Noto Sans KR"/>
                        </a:rPr>
                        <a:t>구분</a:t>
                      </a:r>
                    </a:p>
                  </a:txBody>
                  <a:tcPr marL="73152" marR="73152" marT="82296" marB="82296"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200" b="1">
                          <a:solidFill>
                            <a:srgbClr val="15171A"/>
                          </a:solidFill>
                          <a:latin typeface="Noto Sans KR"/>
                          <a:ea typeface="Noto Sans KR"/>
                          <a:cs typeface="Noto Sans KR"/>
                        </a:rPr>
                        <a:t>현재 내용</a:t>
                      </a:r>
                    </a:p>
                  </a:txBody>
                  <a:tcPr marL="73152" marR="73152" marT="82296" marB="82296"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200" b="1">
                          <a:solidFill>
                            <a:srgbClr val="15171A"/>
                          </a:solidFill>
                          <a:latin typeface="Noto Sans KR"/>
                          <a:ea typeface="Noto Sans KR"/>
                          <a:cs typeface="Noto Sans KR"/>
                        </a:rPr>
                        <a:t>표기 원칙</a:t>
                      </a:r>
                    </a:p>
                  </a:txBody>
                  <a:tcPr marL="73152" marR="73152" marT="82296" marB="82296" anchor="t">
                    <a:lnL w="0">
                      <a:noFill/>
                    </a:lnL>
                    <a:lnR w="0">
                      <a:noFill/>
                    </a:lnR>
                    <a:lnT w="12700">
                      <a:solidFill>
                        <a:srgbClr val="15171A"/>
                      </a:solidFill>
                    </a:lnT>
                    <a:lnB w="9525">
                      <a:solidFill>
                        <a:srgbClr val="15171A"/>
                      </a:solidFill>
                    </a:lnB>
                    <a:noFill/>
                  </a:tcPr>
                </a:tc>
              </a:tr>
              <a:tr h="835761">
                <a:tc>
                  <a:txBody>
                    <a:bodyPr wrap="square"/>
                    <a:lstStyle/>
                    <a:p>
                      <a:pPr algn="l">
                        <a:lnSpc>
                          <a:spcPct val="100000"/>
                        </a:lnSpc>
                      </a:pPr>
                      <a:r>
                        <a:rPr sz="1200" b="1">
                          <a:solidFill>
                            <a:srgbClr val="15171A"/>
                          </a:solidFill>
                          <a:latin typeface="Noto Sans KR"/>
                          <a:ea typeface="Noto Sans KR"/>
                          <a:cs typeface="Noto Sans KR"/>
                        </a:rPr>
                        <a:t>확인된 사실</a:t>
                      </a:r>
                    </a:p>
                  </a:txBody>
                  <a:tcPr marL="73152" marR="73152" marT="82296" marB="82296"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사업 아이디어·기술 구상·IR 초안 (2026.10)</a:t>
                      </a:r>
                    </a:p>
                    <a:p>
                      <a:pPr algn="l">
                        <a:lnSpc>
                          <a:spcPct val="100000"/>
                        </a:lnSpc>
                      </a:pPr>
                      <a:r>
                        <a:rPr sz="1200" b="0">
                          <a:solidFill>
                            <a:srgbClr val="15171A"/>
                          </a:solidFill>
                          <a:latin typeface="Noto Sans KR"/>
                          <a:ea typeface="Noto Sans KR"/>
                          <a:cs typeface="Noto Sans KR"/>
                        </a:rPr>
                        <a:t>외부 시장 자료(IFR·BCG) 출처 확인</a:t>
                      </a:r>
                    </a:p>
                    <a:p>
                      <a:pPr algn="l">
                        <a:lnSpc>
                          <a:spcPct val="100000"/>
                        </a:lnSpc>
                      </a:pPr>
                      <a:r>
                        <a:rPr sz="1200" b="0">
                          <a:solidFill>
                            <a:srgbClr val="15171A"/>
                          </a:solidFill>
                          <a:latin typeface="Noto Sans KR"/>
                          <a:ea typeface="Noto Sans KR"/>
                          <a:cs typeface="Noto Sans KR"/>
                        </a:rPr>
                        <a:t>법인·창업팀·특허·시제품·고객 계약·매출·보유 자금은 미확인</a:t>
                      </a:r>
                    </a:p>
                  </a:txBody>
                  <a:tcPr marL="73152" marR="73152" marT="82296" marB="82296"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회사 실적으로 표현하지 않음</a:t>
                      </a:r>
                    </a:p>
                    <a:p>
                      <a:pPr algn="l">
                        <a:lnSpc>
                          <a:spcPct val="100000"/>
                        </a:lnSpc>
                      </a:pPr>
                      <a:r>
                        <a:rPr sz="1200" b="0">
                          <a:solidFill>
                            <a:srgbClr val="15171A"/>
                          </a:solidFill>
                          <a:latin typeface="Noto Sans KR"/>
                          <a:ea typeface="Noto Sans KR"/>
                          <a:cs typeface="Noto Sans KR"/>
                        </a:rPr>
                        <a:t>창업·Seed 제안서로 표기</a:t>
                      </a:r>
                    </a:p>
                  </a:txBody>
                  <a:tcPr marL="73152" marR="73152" marT="82296" marB="82296" anchor="t">
                    <a:lnL w="0">
                      <a:noFill/>
                    </a:lnL>
                    <a:lnR w="0">
                      <a:noFill/>
                    </a:lnR>
                    <a:lnT w="0">
                      <a:noFill/>
                    </a:lnT>
                    <a:lnB w="9525">
                      <a:solidFill>
                        <a:srgbClr val="E2E4E7"/>
                      </a:solidFill>
                    </a:lnB>
                    <a:noFill/>
                  </a:tcPr>
                </a:tc>
              </a:tr>
              <a:tr h="615086">
                <a:tc>
                  <a:txBody>
                    <a:bodyPr wrap="square"/>
                    <a:lstStyle/>
                    <a:p>
                      <a:pPr algn="l">
                        <a:lnSpc>
                          <a:spcPct val="100000"/>
                        </a:lnSpc>
                      </a:pPr>
                      <a:r>
                        <a:rPr sz="1200" b="1">
                          <a:solidFill>
                            <a:srgbClr val="15171A"/>
                          </a:solidFill>
                          <a:latin typeface="Noto Sans KR"/>
                          <a:ea typeface="Noto Sans KR"/>
                          <a:cs typeface="Noto Sans KR"/>
                        </a:rPr>
                        <a:t>계획</a:t>
                      </a:r>
                    </a:p>
                  </a:txBody>
                  <a:tcPr marL="73152" marR="73152" marT="82296" marB="82296"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SoftHand-4 V1, 머신텐딩 스킬 팩, 공동개발 고객 3곳, 유료 PoC 5건, 로봇 2종</a:t>
                      </a:r>
                    </a:p>
                    <a:p>
                      <a:pPr algn="l">
                        <a:lnSpc>
                          <a:spcPct val="100000"/>
                        </a:lnSpc>
                      </a:pPr>
                      <a:r>
                        <a:rPr sz="1200" b="0">
                          <a:solidFill>
                            <a:srgbClr val="15171A"/>
                          </a:solidFill>
                          <a:latin typeface="Noto Sans KR"/>
                          <a:ea typeface="Noto Sans KR"/>
                          <a:cs typeface="Noto Sans KR"/>
                        </a:rPr>
                        <a:t>고객 인터뷰 30곳, 24개월 로드맵, 단계별 점검 기준</a:t>
                      </a:r>
                    </a:p>
                  </a:txBody>
                  <a:tcPr marL="73152" marR="73152" marT="82296" marB="82296"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"목표", "계획"으로 표기</a:t>
                      </a:r>
                    </a:p>
                  </a:txBody>
                  <a:tcPr marL="73152" marR="73152" marT="82296" marB="82296" anchor="t">
                    <a:lnL w="0">
                      <a:noFill/>
                    </a:lnL>
                    <a:lnR w="0">
                      <a:noFill/>
                    </a:lnR>
                    <a:lnT w="0">
                      <a:noFill/>
                    </a:lnT>
                    <a:lnB w="9525">
                      <a:solidFill>
                        <a:srgbClr val="E2E4E7"/>
                      </a:solidFill>
                    </a:lnB>
                    <a:noFill/>
                  </a:tcPr>
                </a:tc>
              </a:tr>
              <a:tr h="615086">
                <a:tc>
                  <a:txBody>
                    <a:bodyPr wrap="square"/>
                    <a:lstStyle/>
                    <a:p>
                      <a:pPr algn="l">
                        <a:lnSpc>
                          <a:spcPct val="100000"/>
                        </a:lnSpc>
                      </a:pPr>
                      <a:r>
                        <a:rPr sz="1200" b="1">
                          <a:solidFill>
                            <a:srgbClr val="15171A"/>
                          </a:solidFill>
                          <a:latin typeface="Noto Sans KR"/>
                          <a:ea typeface="Noto Sans KR"/>
                          <a:cs typeface="Noto Sans KR"/>
                        </a:rPr>
                        <a:t>가정</a:t>
                      </a:r>
                    </a:p>
                  </a:txBody>
                  <a:tcPr marL="73152" marR="73152" marT="82296" marB="82296"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핸드 1,500만 원 (원가 950만 → 750만 원), 스킬 300만 원, 런타임 연 150만 원</a:t>
                      </a:r>
                    </a:p>
                    <a:p>
                      <a:pPr algn="l">
                        <a:lnSpc>
                          <a:spcPct val="100000"/>
                        </a:lnSpc>
                      </a:pPr>
                      <a:r>
                        <a:rPr sz="1200" b="0">
                          <a:solidFill>
                            <a:srgbClr val="15171A"/>
                          </a:solidFill>
                          <a:latin typeface="Noto Sans KR"/>
                          <a:ea typeface="Noto Sans KR"/>
                          <a:cs typeface="Noto Sans KR"/>
                        </a:rPr>
                        <a:t>유료 PoC 5,000만 원, 기본 시나리오 매출·손익, 성능 목표치</a:t>
                      </a:r>
                    </a:p>
                  </a:txBody>
                  <a:tcPr marL="73152" marR="73152" marT="82296" marB="82296"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"가정", "경영 계획"으로 표기</a:t>
                      </a:r>
                    </a:p>
                  </a:txBody>
                  <a:tcPr marL="73152" marR="73152" marT="82296" marB="82296" anchor="t">
                    <a:lnL w="0">
                      <a:noFill/>
                    </a:lnL>
                    <a:lnR w="0">
                      <a:noFill/>
                    </a:lnR>
                    <a:lnT w="0">
                      <a:noFill/>
                    </a:lnT>
                    <a:lnB w="9525">
                      <a:solidFill>
                        <a:srgbClr val="E2E4E7"/>
                      </a:solidFill>
                    </a:lnB>
                    <a:noFill/>
                  </a:tcPr>
                </a:tc>
              </a:tr>
              <a:tr h="615086">
                <a:tc>
                  <a:txBody>
                    <a:bodyPr wrap="square"/>
                    <a:lstStyle/>
                    <a:p>
                      <a:pPr algn="l">
                        <a:lnSpc>
                          <a:spcPct val="100000"/>
                        </a:lnSpc>
                      </a:pPr>
                      <a:r>
                        <a:rPr sz="1200" b="1">
                          <a:solidFill>
                            <a:srgbClr val="15171A"/>
                          </a:solidFill>
                          <a:latin typeface="Noto Sans KR"/>
                          <a:ea typeface="Noto Sans KR"/>
                          <a:cs typeface="Noto Sans KR"/>
                        </a:rPr>
                        <a:t>확보 필요 자료</a:t>
                      </a:r>
                    </a:p>
                  </a:txBody>
                  <a:tcPr marL="73152" marR="73152" marT="82296" marB="82296"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창업자·핵심 인력 이력, 시제품·무편집 시험 영상, 특허·FTO</a:t>
                      </a:r>
                    </a:p>
                    <a:p>
                      <a:pPr algn="l">
                        <a:lnSpc>
                          <a:spcPct val="100000"/>
                        </a:lnSpc>
                      </a:pPr>
                      <a:r>
                        <a:rPr sz="1200" b="0">
                          <a:solidFill>
                            <a:srgbClr val="15171A"/>
                          </a:solidFill>
                          <a:latin typeface="Noto Sans KR"/>
                          <a:ea typeface="Noto Sans KR"/>
                          <a:cs typeface="Noto Sans KR"/>
                        </a:rPr>
                        <a:t>고객 인터뷰·LOI·공동개발 고객, 유료 PoC, BOM, 고객 기존 수치, 동일 조건 비교시험</a:t>
                      </a:r>
                    </a:p>
                  </a:txBody>
                  <a:tcPr marL="73152" marR="73152" marT="82296" marB="82296"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[정보 입력 필요] 표기</a:t>
                      </a:r>
                    </a:p>
                    <a:p>
                      <a:pPr algn="l">
                        <a:lnSpc>
                          <a:spcPct val="100000"/>
                        </a:lnSpc>
                      </a:pPr>
                      <a:r>
                        <a:rPr sz="1200" b="0">
                          <a:solidFill>
                            <a:srgbClr val="15171A"/>
                          </a:solidFill>
                          <a:latin typeface="Noto Sans KR"/>
                          <a:ea typeface="Noto Sans KR"/>
                          <a:cs typeface="Noto Sans KR"/>
                        </a:rPr>
                        <a:t>투자 실사 전 확보</a:t>
                      </a:r>
                    </a:p>
                  </a:txBody>
                  <a:tcPr marL="73152" marR="73152" marT="82296" marB="82296" anchor="t">
                    <a:lnL w="0">
                      <a:noFill/>
                    </a:lnL>
                    <a:lnR w="0">
                      <a:noFill/>
                    </a:lnR>
                    <a:lnT w="0">
                      <a:noFill/>
                    </a:lnT>
                    <a:lnB w="9525">
                      <a:solidFill>
                        <a:srgbClr val="E2E4E7"/>
                      </a:solidFill>
                    </a:lnB>
                    <a:noFill/>
                  </a:tcPr>
                </a:tc>
              </a:tr>
            </a:tbl>
          </a:graphicData>
        </a:graphic>
      </p:graphicFrame>
      <p:sp>
        <p:nvSpPr>
          <p:cNvPr id="6" name="TextBox 5"/>
          <p:cNvSpPr txBox="1"/>
          <p:nvPr/>
        </p:nvSpPr>
        <p:spPr>
          <a:xfrm>
            <a:off x="685800" y="6107176"/>
            <a:ext cx="10820095" cy="202184"/>
          </a:xfrm>
          <a:prstGeom prst="rect">
            <a:avLst/>
          </a:prstGeom>
          <a:noFill/>
        </p:spPr>
        <p:txBody>
          <a:bodyPr wrap="square" lIns="0" rIns="0" tIns="0" bIns="0" anchor="t">
            <a:spAutoFit/>
          </a:bodyPr>
          <a:lstStyle/>
          <a:p>
            <a:pPr algn="l">
              <a:lnSpc>
                <a:spcPct val="100000"/>
              </a:lnSpc>
            </a:pPr>
            <a:r>
              <a:rPr sz="1000" b="0">
                <a:solidFill>
                  <a:srgbClr val="8C9198"/>
                </a:solidFill>
                <a:latin typeface="Noto Sans KR"/>
                <a:ea typeface="Noto Sans KR"/>
                <a:cs typeface="Noto Sans KR"/>
              </a:rPr>
              <a:t>이미지: 모든 SoftHand 이미지는 같은 SoftHand-4 콘셉트 모델(4지·대향 엄지·그라파이트 손바닥·주황 패드·흰색 손목 모듈)로 통일. 실물 확보 시 시제품 사진, 시험 영상, 고객 현장, CAD 순으로 교체</a:t>
            </a:r>
          </a:p>
        </p:txBody>
      </p:sp>
      <p:sp>
        <p:nvSpPr>
          <p:cNvPr id="7" name="TextBox 6"/>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SoftHand-4  |  Seed 투자 제안서</a:t>
            </a:r>
          </a:p>
        </p:txBody>
      </p:sp>
      <p:sp>
        <p:nvSpPr>
          <p:cNvPr id="8" name="TextBox 7"/>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A1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7315200" cy="256032"/>
          </a:xfrm>
          <a:prstGeom prst="rect">
            <a:avLst/>
          </a:prstGeom>
          <a:noFill/>
        </p:spPr>
        <p:txBody>
          <a:bodyPr wrap="square" lIns="0" rIns="0" tIns="0" bIns="0" anchor="t">
            <a:spAutoFit/>
          </a:bodyPr>
          <a:lstStyle/>
          <a:p>
            <a:pPr algn="l">
              <a:lnSpc>
                <a:spcPct val="100000"/>
              </a:lnSpc>
            </a:pPr>
            <a:r>
              <a:rPr sz="1100" b="1">
                <a:solidFill>
                  <a:srgbClr val="E2571B"/>
                </a:solidFill>
                <a:latin typeface="Noto Sans KR"/>
                <a:ea typeface="Noto Sans KR"/>
                <a:cs typeface="Noto Sans KR"/>
              </a:rPr>
              <a:t>부록 A2</a:t>
            </a:r>
          </a:p>
        </p:txBody>
      </p:sp>
      <p:sp>
        <p:nvSpPr>
          <p:cNvPr id="3" name="TextBox 2"/>
          <p:cNvSpPr txBox="1"/>
          <p:nvPr/>
        </p:nvSpPr>
        <p:spPr>
          <a:xfrm>
            <a:off x="685800" y="822960"/>
            <a:ext cx="10820095" cy="475488"/>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단계별 점검 기준</a:t>
            </a:r>
          </a:p>
        </p:txBody>
      </p:sp>
      <p:sp>
        <p:nvSpPr>
          <p:cNvPr id="4" name="TextBox 3"/>
          <p:cNvSpPr txBox="1"/>
          <p:nvPr/>
        </p:nvSpPr>
        <p:spPr>
          <a:xfrm>
            <a:off x="685800" y="1353312"/>
            <a:ext cx="10820095" cy="274320"/>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실패 조건과 결정을 먼저 정하고 자금을 단계별로 집행</a:t>
            </a:r>
          </a:p>
        </p:txBody>
      </p:sp>
      <p:graphicFrame>
        <p:nvGraphicFramePr>
          <p:cNvPr id="5" name="Table 4"/>
          <p:cNvGraphicFramePr>
            <a:graphicFrameLocks noGrp="1"/>
          </p:cNvGraphicFramePr>
          <p:nvPr/>
        </p:nvGraphicFramePr>
        <p:xfrm>
          <a:off x="685800" y="1874519"/>
          <a:ext cx="10817352" cy="2854755"/>
        </p:xfrm>
        <a:graphic>
          <a:graphicData uri="http://schemas.openxmlformats.org/drawingml/2006/table">
            <a:tbl>
              <a:tblPr firstRow="0" bandRow="0">
                <a:tableStyleId>{2D5ABB26-0587-4C30-8999-92F81FD0307C}</a:tableStyleId>
              </a:tblPr>
              <a:tblGrid>
                <a:gridCol w="777240"/>
                <a:gridCol w="2606040"/>
                <a:gridCol w="2862072"/>
                <a:gridCol w="2514600"/>
                <a:gridCol w="2057400"/>
              </a:tblGrid>
              <a:tr h="394411">
                <a:tc>
                  <a:txBody>
                    <a:bodyPr wrap="square"/>
                    <a:lstStyle/>
                    <a:p>
                      <a:pPr algn="l">
                        <a:lnSpc>
                          <a:spcPct val="100000"/>
                        </a:lnSpc>
                      </a:pPr>
                      <a:r>
                        <a:rPr sz="1200" b="1">
                          <a:solidFill>
                            <a:srgbClr val="15171A"/>
                          </a:solidFill>
                          <a:latin typeface="Noto Sans KR"/>
                          <a:ea typeface="Noto Sans KR"/>
                          <a:cs typeface="Noto Sans KR"/>
                        </a:rPr>
                        <a:t>시점</a:t>
                      </a:r>
                    </a:p>
                  </a:txBody>
                  <a:tcPr marL="73152" marR="73152" marT="82296" marB="82296"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200" b="1">
                          <a:solidFill>
                            <a:srgbClr val="15171A"/>
                          </a:solidFill>
                          <a:latin typeface="Noto Sans KR"/>
                          <a:ea typeface="Noto Sans KR"/>
                          <a:cs typeface="Noto Sans KR"/>
                        </a:rPr>
                        <a:t>검증 가설</a:t>
                      </a:r>
                    </a:p>
                  </a:txBody>
                  <a:tcPr marL="73152" marR="73152" marT="82296" marB="82296"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200" b="1">
                          <a:solidFill>
                            <a:srgbClr val="15171A"/>
                          </a:solidFill>
                          <a:latin typeface="Noto Sans KR"/>
                          <a:ea typeface="Noto Sans KR"/>
                          <a:cs typeface="Noto Sans KR"/>
                        </a:rPr>
                        <a:t>통과 기준 (목표)</a:t>
                      </a:r>
                    </a:p>
                  </a:txBody>
                  <a:tcPr marL="73152" marR="73152" marT="82296" marB="82296"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200" b="1">
                          <a:solidFill>
                            <a:srgbClr val="15171A"/>
                          </a:solidFill>
                          <a:latin typeface="Noto Sans KR"/>
                          <a:ea typeface="Noto Sans KR"/>
                          <a:cs typeface="Noto Sans KR"/>
                        </a:rPr>
                        <a:t>미달 시 결정</a:t>
                      </a:r>
                    </a:p>
                  </a:txBody>
                  <a:tcPr marL="73152" marR="73152" marT="82296" marB="82296"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200" b="1">
                          <a:solidFill>
                            <a:srgbClr val="15171A"/>
                          </a:solidFill>
                          <a:latin typeface="Noto Sans KR"/>
                          <a:ea typeface="Noto Sans KR"/>
                          <a:cs typeface="Noto Sans KR"/>
                        </a:rPr>
                        <a:t>자금 영향</a:t>
                      </a:r>
                    </a:p>
                  </a:txBody>
                  <a:tcPr marL="73152" marR="73152" marT="82296" marB="82296" anchor="t">
                    <a:lnL w="0">
                      <a:noFill/>
                    </a:lnL>
                    <a:lnR w="0">
                      <a:noFill/>
                    </a:lnR>
                    <a:lnT w="12700">
                      <a:solidFill>
                        <a:srgbClr val="15171A"/>
                      </a:solidFill>
                    </a:lnT>
                    <a:lnB w="9525">
                      <a:solidFill>
                        <a:srgbClr val="15171A"/>
                      </a:solidFill>
                    </a:lnB>
                    <a:noFill/>
                  </a:tcPr>
                </a:tc>
              </a:tr>
              <a:tr h="615086">
                <a:tc>
                  <a:txBody>
                    <a:bodyPr wrap="square"/>
                    <a:lstStyle/>
                    <a:p>
                      <a:pPr algn="l">
                        <a:lnSpc>
                          <a:spcPct val="100000"/>
                        </a:lnSpc>
                      </a:pPr>
                      <a:r>
                        <a:rPr sz="1200" b="1">
                          <a:solidFill>
                            <a:srgbClr val="E2571B"/>
                          </a:solidFill>
                          <a:latin typeface="Noto Sans KR"/>
                          <a:ea typeface="Noto Sans KR"/>
                          <a:cs typeface="Noto Sans KR"/>
                        </a:rPr>
                        <a:t>M6</a:t>
                      </a:r>
                    </a:p>
                  </a:txBody>
                  <a:tcPr marL="73152" marR="73152" marT="82296" marB="82296"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기술: 핸드 하나로 대표 공정 수행</a:t>
                      </a:r>
                    </a:p>
                  </a:txBody>
                  <a:tcPr marL="73152" marR="73152" marT="82296" marB="82296"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대표 작업 5종 반복 시연</a:t>
                      </a:r>
                    </a:p>
                    <a:p>
                      <a:pPr algn="l">
                        <a:lnSpc>
                          <a:spcPct val="100000"/>
                        </a:lnSpc>
                      </a:pPr>
                      <a:r>
                        <a:rPr sz="1200" b="0">
                          <a:solidFill>
                            <a:srgbClr val="15171A"/>
                          </a:solidFill>
                          <a:latin typeface="Noto Sans KR"/>
                          <a:ea typeface="Noto Sans KR"/>
                          <a:cs typeface="Noto Sans KR"/>
                        </a:rPr>
                        <a:t>목표 토크·반복성 기록 공개</a:t>
                      </a:r>
                    </a:p>
                  </a:txBody>
                  <a:tcPr marL="73152" marR="73152" marT="82296" marB="82296"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핸드 구조 재검토</a:t>
                      </a:r>
                    </a:p>
                    <a:p>
                      <a:pPr algn="l">
                        <a:lnSpc>
                          <a:spcPct val="100000"/>
                        </a:lnSpc>
                      </a:pPr>
                      <a:r>
                        <a:rPr sz="1200" b="0">
                          <a:solidFill>
                            <a:srgbClr val="15171A"/>
                          </a:solidFill>
                          <a:latin typeface="Noto Sans KR"/>
                          <a:ea typeface="Noto Sans KR"/>
                          <a:cs typeface="Noto Sans KR"/>
                        </a:rPr>
                        <a:t>(구동 방식·골격·잠금)</a:t>
                      </a:r>
                    </a:p>
                  </a:txBody>
                  <a:tcPr marL="73152" marR="73152" marT="82296" marB="82296"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후속 채용 보류</a:t>
                      </a:r>
                    </a:p>
                    <a:p>
                      <a:pPr algn="l">
                        <a:lnSpc>
                          <a:spcPct val="100000"/>
                        </a:lnSpc>
                      </a:pPr>
                      <a:r>
                        <a:rPr sz="1200" b="0">
                          <a:solidFill>
                            <a:srgbClr val="15171A"/>
                          </a:solidFill>
                          <a:latin typeface="Noto Sans KR"/>
                          <a:ea typeface="Noto Sans KR"/>
                          <a:cs typeface="Noto Sans KR"/>
                        </a:rPr>
                        <a:t>시제품 예산 재배분</a:t>
                      </a:r>
                    </a:p>
                  </a:txBody>
                  <a:tcPr marL="73152" marR="73152" marT="82296" marB="82296" anchor="t">
                    <a:lnL w="0">
                      <a:noFill/>
                    </a:lnL>
                    <a:lnR w="0">
                      <a:noFill/>
                    </a:lnR>
                    <a:lnT w="0">
                      <a:noFill/>
                    </a:lnT>
                    <a:lnB w="9525">
                      <a:solidFill>
                        <a:srgbClr val="E2E4E7"/>
                      </a:solidFill>
                    </a:lnB>
                    <a:noFill/>
                  </a:tcPr>
                </a:tc>
              </a:tr>
              <a:tr h="615086">
                <a:tc>
                  <a:txBody>
                    <a:bodyPr wrap="square"/>
                    <a:lstStyle/>
                    <a:p>
                      <a:pPr algn="l">
                        <a:lnSpc>
                          <a:spcPct val="100000"/>
                        </a:lnSpc>
                      </a:pPr>
                      <a:r>
                        <a:rPr sz="1200" b="1">
                          <a:solidFill>
                            <a:srgbClr val="E2571B"/>
                          </a:solidFill>
                          <a:latin typeface="Noto Sans KR"/>
                          <a:ea typeface="Noto Sans KR"/>
                          <a:cs typeface="Noto Sans KR"/>
                        </a:rPr>
                        <a:t>M12</a:t>
                      </a:r>
                    </a:p>
                  </a:txBody>
                  <a:tcPr marL="73152" marR="73152" marT="82296" marB="82296"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고객: 전환 비용 개선에 비용 지불</a:t>
                      </a:r>
                    </a:p>
                  </a:txBody>
                  <a:tcPr marL="73152" marR="73152" marT="82296" marB="82296"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유료 PoC 1건 이상</a:t>
                      </a:r>
                    </a:p>
                    <a:p>
                      <a:pPr algn="l">
                        <a:lnSpc>
                          <a:spcPct val="100000"/>
                        </a:lnSpc>
                      </a:pPr>
                      <a:r>
                        <a:rPr sz="1200" b="0">
                          <a:solidFill>
                            <a:srgbClr val="15171A"/>
                          </a:solidFill>
                          <a:latin typeface="Noto Sans KR"/>
                          <a:ea typeface="Noto Sans KR"/>
                          <a:cs typeface="Noto Sans KR"/>
                        </a:rPr>
                        <a:t>고객 기존 수치 확보, 지불의사 확인</a:t>
                      </a:r>
                    </a:p>
                  </a:txBody>
                  <a:tcPr marL="73152" marR="73152" marT="82296" marB="82296"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첫 시장·작업 재정의</a:t>
                      </a:r>
                    </a:p>
                    <a:p>
                      <a:pPr algn="l">
                        <a:lnSpc>
                          <a:spcPct val="100000"/>
                        </a:lnSpc>
                      </a:pPr>
                      <a:r>
                        <a:rPr sz="1200" b="0">
                          <a:solidFill>
                            <a:srgbClr val="15171A"/>
                          </a:solidFill>
                          <a:latin typeface="Noto Sans KR"/>
                          <a:ea typeface="Noto Sans KR"/>
                          <a:cs typeface="Noto Sans KR"/>
                        </a:rPr>
                        <a:t>(다른 공정·다른 고객군)</a:t>
                      </a:r>
                    </a:p>
                  </a:txBody>
                  <a:tcPr marL="73152" marR="73152" marT="82296" marB="82296"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6개월 연장 자금 집행 재검토</a:t>
                      </a:r>
                    </a:p>
                  </a:txBody>
                  <a:tcPr marL="73152" marR="73152" marT="82296" marB="82296" anchor="t">
                    <a:lnL w="0">
                      <a:noFill/>
                    </a:lnL>
                    <a:lnR w="0">
                      <a:noFill/>
                    </a:lnR>
                    <a:lnT w="0">
                      <a:noFill/>
                    </a:lnT>
                    <a:lnB w="9525">
                      <a:solidFill>
                        <a:srgbClr val="E2E4E7"/>
                      </a:solidFill>
                    </a:lnB>
                    <a:noFill/>
                  </a:tcPr>
                </a:tc>
              </a:tr>
              <a:tr h="615086">
                <a:tc>
                  <a:txBody>
                    <a:bodyPr wrap="square"/>
                    <a:lstStyle/>
                    <a:p>
                      <a:pPr algn="l">
                        <a:lnSpc>
                          <a:spcPct val="100000"/>
                        </a:lnSpc>
                      </a:pPr>
                      <a:r>
                        <a:rPr sz="1200" b="1">
                          <a:solidFill>
                            <a:srgbClr val="E2571B"/>
                          </a:solidFill>
                          <a:latin typeface="Noto Sans KR"/>
                          <a:ea typeface="Noto Sans KR"/>
                          <a:cs typeface="Noto Sans KR"/>
                        </a:rPr>
                        <a:t>M18</a:t>
                      </a:r>
                    </a:p>
                  </a:txBody>
                  <a:tcPr marL="73152" marR="73152" marT="82296" marB="82296"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제품: 반복 판매·스킬 재사용</a:t>
                      </a:r>
                    </a:p>
                  </a:txBody>
                  <a:tcPr marL="73152" marR="73152" marT="82296" marB="82296"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설계 확정, 첫 재구매</a:t>
                      </a:r>
                    </a:p>
                    <a:p>
                      <a:pPr algn="l">
                        <a:lnSpc>
                          <a:spcPct val="100000"/>
                        </a:lnSpc>
                      </a:pPr>
                      <a:r>
                        <a:rPr sz="1200" b="0">
                          <a:solidFill>
                            <a:srgbClr val="15171A"/>
                          </a:solidFill>
                          <a:latin typeface="Noto Sans KR"/>
                          <a:ea typeface="Noto Sans KR"/>
                          <a:cs typeface="Noto Sans KR"/>
                        </a:rPr>
                        <a:t>재사용률 측정 시작, 로봇 B 통합</a:t>
                      </a:r>
                    </a:p>
                  </a:txBody>
                  <a:tcPr marL="73152" marR="73152" marT="82296" marB="82296"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플랫폼 가설 재검토</a:t>
                      </a:r>
                    </a:p>
                    <a:p>
                      <a:pPr algn="l">
                        <a:lnSpc>
                          <a:spcPct val="100000"/>
                        </a:lnSpc>
                      </a:pPr>
                      <a:r>
                        <a:rPr sz="1200" b="0">
                          <a:solidFill>
                            <a:srgbClr val="15171A"/>
                          </a:solidFill>
                          <a:latin typeface="Noto Sans KR"/>
                          <a:ea typeface="Noto Sans KR"/>
                          <a:cs typeface="Noto Sans KR"/>
                        </a:rPr>
                        <a:t>제품 + 서비스 모델 검토</a:t>
                      </a:r>
                    </a:p>
                  </a:txBody>
                  <a:tcPr marL="73152" marR="73152" marT="82296" marB="82296"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Series A 착수 시점 조정</a:t>
                      </a:r>
                    </a:p>
                  </a:txBody>
                  <a:tcPr marL="73152" marR="73152" marT="82296" marB="82296" anchor="t">
                    <a:lnL w="0">
                      <a:noFill/>
                    </a:lnL>
                    <a:lnR w="0">
                      <a:noFill/>
                    </a:lnR>
                    <a:lnT w="0">
                      <a:noFill/>
                    </a:lnT>
                    <a:lnB w="9525">
                      <a:solidFill>
                        <a:srgbClr val="E2E4E7"/>
                      </a:solidFill>
                    </a:lnB>
                    <a:noFill/>
                  </a:tcPr>
                </a:tc>
              </a:tr>
              <a:tr h="615086">
                <a:tc>
                  <a:txBody>
                    <a:bodyPr wrap="square"/>
                    <a:lstStyle/>
                    <a:p>
                      <a:pPr algn="l">
                        <a:lnSpc>
                          <a:spcPct val="100000"/>
                        </a:lnSpc>
                      </a:pPr>
                      <a:r>
                        <a:rPr sz="1200" b="1">
                          <a:solidFill>
                            <a:srgbClr val="E2571B"/>
                          </a:solidFill>
                          <a:latin typeface="Noto Sans KR"/>
                          <a:ea typeface="Noto Sans KR"/>
                          <a:cs typeface="Noto Sans KR"/>
                        </a:rPr>
                        <a:t>M24</a:t>
                      </a:r>
                    </a:p>
                  </a:txBody>
                  <a:tcPr marL="73152" marR="73152" marT="82296" marB="82296"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확장: 재구매·스킬 이식성</a:t>
                      </a:r>
                    </a:p>
                  </a:txBody>
                  <a:tcPr marL="73152" marR="73152" marT="82296" marB="82296"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재구매 고객 2곳 이상</a:t>
                      </a:r>
                    </a:p>
                    <a:p>
                      <a:pPr algn="l">
                        <a:lnSpc>
                          <a:spcPct val="100000"/>
                        </a:lnSpc>
                      </a:pPr>
                      <a:r>
                        <a:rPr sz="1200" b="0">
                          <a:solidFill>
                            <a:srgbClr val="15171A"/>
                          </a:solidFill>
                          <a:latin typeface="Noto Sans KR"/>
                          <a:ea typeface="Noto Sans KR"/>
                          <a:cs typeface="Noto Sans KR"/>
                        </a:rPr>
                        <a:t>로봇 2종 호환, 매출총이익률 검증</a:t>
                      </a:r>
                    </a:p>
                  </a:txBody>
                  <a:tcPr marL="73152" marR="73152" marT="82296" marB="82296"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Series A 확장 보류</a:t>
                      </a:r>
                    </a:p>
                    <a:p>
                      <a:pPr algn="l">
                        <a:lnSpc>
                          <a:spcPct val="100000"/>
                        </a:lnSpc>
                      </a:pPr>
                      <a:r>
                        <a:rPr sz="1200" b="0">
                          <a:solidFill>
                            <a:srgbClr val="15171A"/>
                          </a:solidFill>
                          <a:latin typeface="Noto Sans KR"/>
                          <a:ea typeface="Noto Sans KR"/>
                          <a:cs typeface="Noto Sans KR"/>
                        </a:rPr>
                        <a:t>축소 운영·브리지 검토</a:t>
                      </a:r>
                    </a:p>
                  </a:txBody>
                  <a:tcPr marL="73152" marR="73152" marT="82296" marB="82296"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Series A 규모·시점 결정</a:t>
                      </a:r>
                    </a:p>
                  </a:txBody>
                  <a:tcPr marL="73152" marR="73152" marT="82296" marB="82296" anchor="t">
                    <a:lnL w="0">
                      <a:noFill/>
                    </a:lnL>
                    <a:lnR w="0">
                      <a:noFill/>
                    </a:lnR>
                    <a:lnT w="0">
                      <a:noFill/>
                    </a:lnT>
                    <a:lnB w="9525">
                      <a:solidFill>
                        <a:srgbClr val="E2E4E7"/>
                      </a:solidFill>
                    </a:lnB>
                    <a:noFill/>
                  </a:tcPr>
                </a:tc>
              </a:tr>
            </a:tbl>
          </a:graphicData>
        </a:graphic>
      </p:graphicFrame>
      <p:cxnSp>
        <p:nvCxnSpPr>
          <p:cNvPr id="6" name="Connector 5"/>
          <p:cNvCxnSpPr/>
          <p:nvPr/>
        </p:nvCxnSpPr>
        <p:spPr>
          <a:xfrm>
            <a:off x="685800" y="5349240"/>
            <a:ext cx="10820095" cy="0"/>
          </a:xfrm>
          <a:prstGeom prst="line">
            <a:avLst/>
          </a:prstGeom>
          <a:ln w="12700">
            <a:solidFill>
              <a:srgbClr val="15171A"/>
            </a:solidFill>
          </a:ln>
        </p:spPr>
      </p:cxnSp>
      <p:sp>
        <p:nvSpPr>
          <p:cNvPr id="7" name="TextBox 6"/>
          <p:cNvSpPr txBox="1"/>
          <p:nvPr/>
        </p:nvSpPr>
        <p:spPr>
          <a:xfrm>
            <a:off x="685800" y="5486400"/>
            <a:ext cx="10820095" cy="537870"/>
          </a:xfrm>
          <a:prstGeom prst="rect">
            <a:avLst/>
          </a:prstGeom>
          <a:noFill/>
        </p:spPr>
        <p:txBody>
          <a:bodyPr wrap="square" lIns="0" rIns="0" tIns="0" bIns="0" anchor="t">
            <a:spAutoFit/>
          </a:bodyPr>
          <a:lstStyle/>
          <a:p>
            <a:pPr algn="l" marL="164592" indent="-164592">
              <a:lnSpc>
                <a:spcPct val="100000"/>
              </a:lnSpc>
              <a:spcAft>
                <a:spcPts val="400"/>
              </a:spcAft>
              <a:buClr>
                <a:srgbClr val="8C9198"/>
              </a:buClr>
              <a:buFont typeface="Noto Sans KR"/>
              <a:buChar char="•"/>
            </a:pPr>
            <a:r>
              <a:rPr sz="1200" b="0">
                <a:solidFill>
                  <a:srgbClr val="4A4F57"/>
                </a:solidFill>
                <a:latin typeface="Noto Sans KR"/>
                <a:ea typeface="Noto Sans KR"/>
                <a:cs typeface="Noto Sans KR"/>
              </a:rPr>
              <a:t>점검은 이사회·투자자와 분기별 지표 리뷰로 판단, 미달 시 범위 축소 또는 방향 전환을 결정한 뒤 다음 단계 자금 집행 (18개월 + 6개월 구조와 연동)</a:t>
            </a:r>
          </a:p>
          <a:p>
            <a:pPr algn="l" marL="164592" indent="-164592">
              <a:lnSpc>
                <a:spcPct val="100000"/>
              </a:lnSpc>
              <a:buClr>
                <a:srgbClr val="8C9198"/>
              </a:buClr>
              <a:buFont typeface="Noto Sans KR"/>
              <a:buChar char="•"/>
            </a:pPr>
            <a:r>
              <a:rPr sz="1200" b="0">
                <a:solidFill>
                  <a:srgbClr val="4A4F57"/>
                </a:solidFill>
                <a:latin typeface="Noto Sans KR"/>
                <a:ea typeface="Noto Sans KR"/>
                <a:cs typeface="Noto Sans KR"/>
              </a:rPr>
              <a:t>시험 결과는 시험 횟수·성공 건수·최초 시도와 재시도 분리·신뢰구간으로 보고, 데모 영상이 아닌 기록으로 판단</a:t>
            </a:r>
          </a:p>
        </p:txBody>
      </p:sp>
      <p:sp>
        <p:nvSpPr>
          <p:cNvPr id="8" name="TextBox 7"/>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SoftHand-4  |  Seed 투자 제안서</a:t>
            </a:r>
          </a:p>
        </p:txBody>
      </p:sp>
      <p:sp>
        <p:nvSpPr>
          <p:cNvPr id="9" name="TextBox 8"/>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A2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7315200" cy="256032"/>
          </a:xfrm>
          <a:prstGeom prst="rect">
            <a:avLst/>
          </a:prstGeom>
          <a:noFill/>
        </p:spPr>
        <p:txBody>
          <a:bodyPr wrap="square" lIns="0" rIns="0" tIns="0" bIns="0" anchor="t">
            <a:spAutoFit/>
          </a:bodyPr>
          <a:lstStyle/>
          <a:p>
            <a:pPr algn="l">
              <a:lnSpc>
                <a:spcPct val="100000"/>
              </a:lnSpc>
            </a:pPr>
            <a:r>
              <a:rPr sz="1100" b="1">
                <a:solidFill>
                  <a:srgbClr val="E2571B"/>
                </a:solidFill>
                <a:latin typeface="Noto Sans KR"/>
                <a:ea typeface="Noto Sans KR"/>
                <a:cs typeface="Noto Sans KR"/>
              </a:rPr>
              <a:t>부록 A3</a:t>
            </a:r>
          </a:p>
        </p:txBody>
      </p:sp>
      <p:sp>
        <p:nvSpPr>
          <p:cNvPr id="3" name="TextBox 2"/>
          <p:cNvSpPr txBox="1"/>
          <p:nvPr/>
        </p:nvSpPr>
        <p:spPr>
          <a:xfrm>
            <a:off x="685800" y="822960"/>
            <a:ext cx="10820095" cy="475488"/>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경쟁사 상세·로봇 제조사 분석</a:t>
            </a:r>
          </a:p>
        </p:txBody>
      </p:sp>
      <p:sp>
        <p:nvSpPr>
          <p:cNvPr id="4" name="TextBox 3"/>
          <p:cNvSpPr txBox="1"/>
          <p:nvPr/>
        </p:nvSpPr>
        <p:spPr>
          <a:xfrm>
            <a:off x="685800" y="1353312"/>
            <a:ext cx="10820095" cy="274320"/>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공개 정보 기반 정성 비교, 독립 비교시험 아님 (Seed 기간 동일 조건 비교시험으로 검증)</a:t>
            </a:r>
          </a:p>
        </p:txBody>
      </p:sp>
      <p:graphicFrame>
        <p:nvGraphicFramePr>
          <p:cNvPr id="5" name="Table 4"/>
          <p:cNvGraphicFramePr>
            <a:graphicFrameLocks noGrp="1"/>
          </p:cNvGraphicFramePr>
          <p:nvPr/>
        </p:nvGraphicFramePr>
        <p:xfrm>
          <a:off x="685800" y="1783080"/>
          <a:ext cx="10817352" cy="2322369"/>
        </p:xfrm>
        <a:graphic>
          <a:graphicData uri="http://schemas.openxmlformats.org/drawingml/2006/table">
            <a:tbl>
              <a:tblPr firstRow="0" bandRow="0">
                <a:tableStyleId>{2D5ABB26-0587-4C30-8999-92F81FD0307C}</a:tableStyleId>
              </a:tblPr>
              <a:tblGrid>
                <a:gridCol w="1691640"/>
                <a:gridCol w="4480560"/>
                <a:gridCol w="1828800"/>
                <a:gridCol w="2816352"/>
              </a:tblGrid>
              <a:tr h="302869">
                <a:tc>
                  <a:txBody>
                    <a:bodyPr wrap="square"/>
                    <a:lstStyle/>
                    <a:p>
                      <a:pPr algn="l">
                        <a:lnSpc>
                          <a:spcPct val="100000"/>
                        </a:lnSpc>
                      </a:pPr>
                      <a:r>
                        <a:rPr sz="1100" b="1">
                          <a:solidFill>
                            <a:srgbClr val="15171A"/>
                          </a:solidFill>
                          <a:latin typeface="Noto Sans KR"/>
                          <a:ea typeface="Noto Sans KR"/>
                          <a:cs typeface="Noto Sans KR"/>
                        </a:rPr>
                        <a:t>범주</a:t>
                      </a:r>
                    </a:p>
                  </a:txBody>
                  <a:tcPr marL="73152" marR="73152" marT="45720" marB="45720"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100" b="1">
                          <a:solidFill>
                            <a:srgbClr val="15171A"/>
                          </a:solidFill>
                          <a:latin typeface="Noto Sans KR"/>
                          <a:ea typeface="Noto Sans KR"/>
                          <a:cs typeface="Noto Sans KR"/>
                        </a:rPr>
                        <a:t>대표 사례 (공개 정보)</a:t>
                      </a:r>
                    </a:p>
                  </a:txBody>
                  <a:tcPr marL="73152" marR="73152" marT="45720" marB="45720"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100" b="1">
                          <a:solidFill>
                            <a:srgbClr val="15171A"/>
                          </a:solidFill>
                          <a:latin typeface="Noto Sans KR"/>
                          <a:ea typeface="Noto Sans KR"/>
                          <a:cs typeface="Noto Sans KR"/>
                        </a:rPr>
                        <a:t>강점</a:t>
                      </a:r>
                    </a:p>
                  </a:txBody>
                  <a:tcPr marL="73152" marR="73152" marT="45720" marB="45720"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100" b="1">
                          <a:solidFill>
                            <a:srgbClr val="15171A"/>
                          </a:solidFill>
                          <a:latin typeface="Noto Sans KR"/>
                          <a:ea typeface="Noto Sans KR"/>
                          <a:cs typeface="Noto Sans KR"/>
                        </a:rPr>
                        <a:t>머신텐딩 관점 한계</a:t>
                      </a:r>
                    </a:p>
                  </a:txBody>
                  <a:tcPr marL="73152" marR="73152" marT="45720" marB="45720" anchor="t">
                    <a:lnL w="0">
                      <a:noFill/>
                    </a:lnL>
                    <a:lnR w="0">
                      <a:noFill/>
                    </a:lnR>
                    <a:lnT w="12700">
                      <a:solidFill>
                        <a:srgbClr val="15171A"/>
                      </a:solidFill>
                    </a:lnT>
                    <a:lnB w="9525">
                      <a:solidFill>
                        <a:srgbClr val="15171A"/>
                      </a:solidFill>
                    </a:lnB>
                    <a:noFill/>
                  </a:tcPr>
                </a:tc>
              </a:tr>
              <a:tr h="302869">
                <a:tc>
                  <a:txBody>
                    <a:bodyPr wrap="square"/>
                    <a:lstStyle/>
                    <a:p>
                      <a:pPr algn="l">
                        <a:lnSpc>
                          <a:spcPct val="100000"/>
                        </a:lnSpc>
                      </a:pPr>
                      <a:r>
                        <a:rPr sz="1100" b="1">
                          <a:solidFill>
                            <a:srgbClr val="15171A"/>
                          </a:solidFill>
                          <a:latin typeface="Noto Sans KR"/>
                          <a:ea typeface="Noto Sans KR"/>
                          <a:cs typeface="Noto Sans KR"/>
                        </a:rPr>
                        <a:t>전통 그리퍼·EOAT</a:t>
                      </a:r>
                    </a:p>
                  </a:txBody>
                  <a:tcPr marL="73152" marR="73152" marT="45720" marB="45720"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평행·진공·맞춤 EOAT (예: SCHUNK 등)</a:t>
                      </a:r>
                    </a:p>
                  </a:txBody>
                  <a:tcPr marL="73152" marR="73152" marT="45720" marB="45720"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정밀·저가·고신뢰</a:t>
                      </a:r>
                    </a:p>
                  </a:txBody>
                  <a:tcPr marL="73152" marR="73152" marT="45720" marB="45720"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작업마다 교체, 사람용 장치 조작은 설비 개조</a:t>
                      </a:r>
                    </a:p>
                  </a:txBody>
                  <a:tcPr marL="73152" marR="73152" marT="45720" marB="45720" anchor="t">
                    <a:lnL w="0">
                      <a:noFill/>
                    </a:lnL>
                    <a:lnR w="0">
                      <a:noFill/>
                    </a:lnR>
                    <a:lnT w="0">
                      <a:noFill/>
                    </a:lnT>
                    <a:lnB w="9525">
                      <a:solidFill>
                        <a:srgbClr val="E2E4E7"/>
                      </a:solidFill>
                    </a:lnB>
                    <a:noFill/>
                  </a:tcPr>
                </a:tc>
              </a:tr>
              <a:tr h="302869">
                <a:tc>
                  <a:txBody>
                    <a:bodyPr wrap="square"/>
                    <a:lstStyle/>
                    <a:p>
                      <a:pPr algn="l">
                        <a:lnSpc>
                          <a:spcPct val="100000"/>
                        </a:lnSpc>
                      </a:pPr>
                      <a:r>
                        <a:rPr sz="1100" b="1">
                          <a:solidFill>
                            <a:srgbClr val="15171A"/>
                          </a:solidFill>
                          <a:latin typeface="Noto Sans KR"/>
                          <a:ea typeface="Noto Sans KR"/>
                          <a:cs typeface="Noto Sans KR"/>
                        </a:rPr>
                        <a:t>적응형 그리퍼</a:t>
                      </a:r>
                    </a:p>
                  </a:txBody>
                  <a:tcPr marL="73152" marR="73152" marT="45720" marB="45720"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Robotiq Adaptive Gripper</a:t>
                      </a:r>
                    </a:p>
                  </a:txBody>
                  <a:tcPr marL="73152" marR="73152" marT="45720" marB="45720"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다양한 형상 파지, 통합 용이</a:t>
                      </a:r>
                    </a:p>
                  </a:txBody>
                  <a:tcPr marL="73152" marR="73152" marT="45720" marB="45720"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문·레버 조작과 공구 토크 제한</a:t>
                      </a:r>
                    </a:p>
                  </a:txBody>
                  <a:tcPr marL="73152" marR="73152" marT="45720" marB="45720" anchor="t">
                    <a:lnL w="0">
                      <a:noFill/>
                    </a:lnL>
                    <a:lnR w="0">
                      <a:noFill/>
                    </a:lnR>
                    <a:lnT w="0">
                      <a:noFill/>
                    </a:lnT>
                    <a:lnB w="9525">
                      <a:solidFill>
                        <a:srgbClr val="E2E4E7"/>
                      </a:solidFill>
                    </a:lnB>
                    <a:noFill/>
                  </a:tcPr>
                </a:tc>
              </a:tr>
              <a:tr h="302869">
                <a:tc>
                  <a:txBody>
                    <a:bodyPr wrap="square"/>
                    <a:lstStyle/>
                    <a:p>
                      <a:pPr algn="l">
                        <a:lnSpc>
                          <a:spcPct val="100000"/>
                        </a:lnSpc>
                      </a:pPr>
                      <a:r>
                        <a:rPr sz="1100" b="1">
                          <a:solidFill>
                            <a:srgbClr val="15171A"/>
                          </a:solidFill>
                          <a:latin typeface="Noto Sans KR"/>
                          <a:ea typeface="Noto Sans KR"/>
                          <a:cs typeface="Noto Sans KR"/>
                        </a:rPr>
                        <a:t>소프트 핸드</a:t>
                      </a:r>
                    </a:p>
                  </a:txBody>
                  <a:tcPr marL="73152" marR="73152" marT="45720" marB="45720"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qb SoftHand Industry (5지·1모터·파워그립 2kg, 제조사 공개)</a:t>
                      </a:r>
                    </a:p>
                  </a:txBody>
                  <a:tcPr marL="73152" marR="73152" marT="45720" marB="45720"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형상 적응, 안전한 접촉</a:t>
                      </a:r>
                    </a:p>
                  </a:txBody>
                  <a:tcPr marL="73152" marR="73152" marT="45720" marB="45720"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공구 토크·강성 전환 제한</a:t>
                      </a:r>
                    </a:p>
                  </a:txBody>
                  <a:tcPr marL="73152" marR="73152" marT="45720" marB="45720" anchor="t">
                    <a:lnL w="0">
                      <a:noFill/>
                    </a:lnL>
                    <a:lnR w="0">
                      <a:noFill/>
                    </a:lnR>
                    <a:lnT w="0">
                      <a:noFill/>
                    </a:lnT>
                    <a:lnB w="9525">
                      <a:solidFill>
                        <a:srgbClr val="E2E4E7"/>
                      </a:solidFill>
                    </a:lnB>
                    <a:noFill/>
                  </a:tcPr>
                </a:tc>
              </a:tr>
              <a:tr h="505155">
                <a:tc>
                  <a:txBody>
                    <a:bodyPr wrap="square"/>
                    <a:lstStyle/>
                    <a:p>
                      <a:pPr algn="l">
                        <a:lnSpc>
                          <a:spcPct val="100000"/>
                        </a:lnSpc>
                      </a:pPr>
                      <a:r>
                        <a:rPr sz="1100" b="1">
                          <a:solidFill>
                            <a:srgbClr val="15171A"/>
                          </a:solidFill>
                          <a:latin typeface="Noto Sans KR"/>
                          <a:ea typeface="Noto Sans KR"/>
                          <a:cs typeface="Noto Sans KR"/>
                        </a:rPr>
                        <a:t>다지 로봇 핸드</a:t>
                      </a:r>
                    </a:p>
                  </a:txBody>
                  <a:tcPr marL="73152" marR="73152" marT="45720" marB="45720"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Shadow · Allegro · Tesollo DG-5F-S · Sharpa Wave · Tesla·Figure 자체 개발</a:t>
                      </a:r>
                    </a:p>
                  </a:txBody>
                  <a:tcPr marL="73152" marR="73152" marT="45720" marB="45720"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고자유도, 복잡한 조작</a:t>
                      </a:r>
                    </a:p>
                  </a:txBody>
                  <a:tcPr marL="73152" marR="73152" marT="45720" marB="45720"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비용·복잡도·내구성, 연구·휴머노이드 중심</a:t>
                      </a:r>
                    </a:p>
                  </a:txBody>
                  <a:tcPr marL="73152" marR="73152" marT="45720" marB="45720" anchor="t">
                    <a:lnL w="0">
                      <a:noFill/>
                    </a:lnL>
                    <a:lnR w="0">
                      <a:noFill/>
                    </a:lnR>
                    <a:lnT w="0">
                      <a:noFill/>
                    </a:lnT>
                    <a:lnB w="9525">
                      <a:solidFill>
                        <a:srgbClr val="E2E4E7"/>
                      </a:solidFill>
                    </a:lnB>
                    <a:noFill/>
                  </a:tcPr>
                </a:tc>
              </a:tr>
              <a:tr h="302869">
                <a:tc>
                  <a:txBody>
                    <a:bodyPr wrap="square"/>
                    <a:lstStyle/>
                    <a:p>
                      <a:pPr algn="l">
                        <a:lnSpc>
                          <a:spcPct val="100000"/>
                        </a:lnSpc>
                      </a:pPr>
                      <a:r>
                        <a:rPr sz="1100" b="1">
                          <a:solidFill>
                            <a:srgbClr val="15171A"/>
                          </a:solidFill>
                          <a:latin typeface="Noto Sans KR"/>
                          <a:ea typeface="Noto Sans KR"/>
                          <a:cs typeface="Noto Sans KR"/>
                        </a:rPr>
                        <a:t>전용 설비</a:t>
                      </a:r>
                    </a:p>
                  </a:txBody>
                  <a:tcPr marL="73152" marR="73152" marT="45720" marB="45720"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전용 체결 툴, 전용 조리 설비 (예: Moley형 로봇 주방)</a:t>
                      </a:r>
                    </a:p>
                  </a:txBody>
                  <a:tcPr marL="73152" marR="73152" marT="45720" marB="45720"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특정 작업 최적</a:t>
                      </a:r>
                    </a:p>
                  </a:txBody>
                  <a:tcPr marL="73152" marR="73152" marT="45720" marB="45720"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범용성 없음, 설비 투자 큼</a:t>
                      </a:r>
                    </a:p>
                  </a:txBody>
                  <a:tcPr marL="73152" marR="73152" marT="45720" marB="45720" anchor="t">
                    <a:lnL w="0">
                      <a:noFill/>
                    </a:lnL>
                    <a:lnR w="0">
                      <a:noFill/>
                    </a:lnR>
                    <a:lnT w="0">
                      <a:noFill/>
                    </a:lnT>
                    <a:lnB w="9525">
                      <a:solidFill>
                        <a:srgbClr val="E2E4E7"/>
                      </a:solidFill>
                    </a:lnB>
                    <a:noFill/>
                  </a:tcPr>
                </a:tc>
              </a:tr>
              <a:tr h="302869">
                <a:tc>
                  <a:txBody>
                    <a:bodyPr wrap="square"/>
                    <a:lstStyle/>
                    <a:p>
                      <a:pPr algn="l">
                        <a:lnSpc>
                          <a:spcPct val="100000"/>
                        </a:lnSpc>
                      </a:pPr>
                      <a:r>
                        <a:rPr sz="1100" b="1">
                          <a:solidFill>
                            <a:srgbClr val="E2571B"/>
                          </a:solidFill>
                          <a:latin typeface="Noto Sans KR"/>
                          <a:ea typeface="Noto Sans KR"/>
                          <a:cs typeface="Noto Sans KR"/>
                        </a:rPr>
                        <a:t>SoftHand-4 (목표)</a:t>
                      </a:r>
                    </a:p>
                  </a:txBody>
                  <a:tcPr marL="73152" marR="73152" marT="45720" marB="45720"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사람용 장치 조작 + 재사용 스킬</a:t>
                      </a:r>
                    </a:p>
                  </a:txBody>
                  <a:tcPr marL="73152" marR="73152" marT="45720" marB="45720"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a:t>
                      </a:r>
                    </a:p>
                  </a:txBody>
                  <a:tcPr marL="73152" marR="73152" marT="45720" marB="45720"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미검증, Seed 기간 비교시험 대상</a:t>
                      </a:r>
                    </a:p>
                  </a:txBody>
                  <a:tcPr marL="73152" marR="73152" marT="45720" marB="45720" anchor="t">
                    <a:lnL w="0">
                      <a:noFill/>
                    </a:lnL>
                    <a:lnR w="0">
                      <a:noFill/>
                    </a:lnR>
                    <a:lnT w="0">
                      <a:noFill/>
                    </a:lnT>
                    <a:lnB w="9525">
                      <a:solidFill>
                        <a:srgbClr val="E2E4E7"/>
                      </a:solidFill>
                    </a:lnB>
                    <a:noFill/>
                  </a:tcPr>
                </a:tc>
              </a:tr>
            </a:tbl>
          </a:graphicData>
        </a:graphic>
      </p:graphicFrame>
      <p:sp>
        <p:nvSpPr>
          <p:cNvPr id="6" name="TextBox 5"/>
          <p:cNvSpPr txBox="1"/>
          <p:nvPr/>
        </p:nvSpPr>
        <p:spPr>
          <a:xfrm>
            <a:off x="685800" y="4306620"/>
            <a:ext cx="10820095"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로봇 제조사(OEM)가 직접 만든다면</a:t>
            </a:r>
          </a:p>
        </p:txBody>
      </p:sp>
      <p:graphicFrame>
        <p:nvGraphicFramePr>
          <p:cNvPr id="7" name="Table 6"/>
          <p:cNvGraphicFramePr>
            <a:graphicFrameLocks noGrp="1"/>
          </p:cNvGraphicFramePr>
          <p:nvPr/>
        </p:nvGraphicFramePr>
        <p:xfrm>
          <a:off x="685800" y="4617516"/>
          <a:ext cx="10820095" cy="908607"/>
        </p:xfrm>
        <a:graphic>
          <a:graphicData uri="http://schemas.openxmlformats.org/drawingml/2006/table">
            <a:tbl>
              <a:tblPr firstRow="0" bandRow="0">
                <a:tableStyleId>{2D5ABB26-0587-4C30-8999-92F81FD0307C}</a:tableStyleId>
              </a:tblPr>
              <a:tblGrid>
                <a:gridCol w="731520"/>
                <a:gridCol w="10088575"/>
              </a:tblGrid>
              <a:tr h="302869">
                <a:tc>
                  <a:txBody>
                    <a:bodyPr wrap="square"/>
                    <a:lstStyle/>
                    <a:p>
                      <a:pPr algn="l">
                        <a:lnSpc>
                          <a:spcPct val="100000"/>
                        </a:lnSpc>
                      </a:pPr>
                      <a:r>
                        <a:rPr sz="1100" b="1">
                          <a:solidFill>
                            <a:srgbClr val="15171A"/>
                          </a:solidFill>
                          <a:latin typeface="Noto Sans KR"/>
                          <a:ea typeface="Noto Sans KR"/>
                          <a:cs typeface="Noto Sans KR"/>
                        </a:rPr>
                        <a:t>관찰</a:t>
                      </a:r>
                    </a:p>
                  </a:txBody>
                  <a:tcPr marL="73152" marR="73152" marT="45720" marB="45720"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Tesla·Figure는 휴머노이드 손 내재화, 다수 산업용·협동로봇 제조사는 EOAT 파트너 생태계 의존, NVIDIA 레퍼런스 휴머노이드(2026.6)도 외부 촉각 핸드 채택</a:t>
                      </a:r>
                    </a:p>
                  </a:txBody>
                  <a:tcPr marL="73152" marR="73152" marT="45720" marB="45720" anchor="t">
                    <a:lnL w="0">
                      <a:noFill/>
                    </a:lnL>
                    <a:lnR w="0">
                      <a:noFill/>
                    </a:lnR>
                    <a:lnT w="0">
                      <a:noFill/>
                    </a:lnT>
                    <a:lnB w="9525">
                      <a:solidFill>
                        <a:srgbClr val="E2E4E7"/>
                      </a:solidFill>
                    </a:lnB>
                    <a:noFill/>
                  </a:tcPr>
                </a:tc>
              </a:tr>
              <a:tr h="302869">
                <a:tc>
                  <a:txBody>
                    <a:bodyPr wrap="square"/>
                    <a:lstStyle/>
                    <a:p>
                      <a:pPr algn="l">
                        <a:lnSpc>
                          <a:spcPct val="100000"/>
                        </a:lnSpc>
                      </a:pPr>
                      <a:r>
                        <a:rPr sz="1100" b="1">
                          <a:solidFill>
                            <a:srgbClr val="15171A"/>
                          </a:solidFill>
                          <a:latin typeface="Noto Sans KR"/>
                          <a:ea typeface="Noto Sans KR"/>
                          <a:cs typeface="Noto Sans KR"/>
                        </a:rPr>
                        <a:t>해석</a:t>
                      </a:r>
                    </a:p>
                  </a:txBody>
                  <a:tcPr marL="73152" marR="73152" marT="45720" marB="45720"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로봇 제조사는 경쟁자이자 판매 채널, 단일 제조사는 여러 브랜드에서 쓰는 스킬을 만들기 어려움</a:t>
                      </a:r>
                    </a:p>
                  </a:txBody>
                  <a:tcPr marL="73152" marR="73152" marT="45720" marB="45720" anchor="t">
                    <a:lnL w="0">
                      <a:noFill/>
                    </a:lnL>
                    <a:lnR w="0">
                      <a:noFill/>
                    </a:lnR>
                    <a:lnT w="0">
                      <a:noFill/>
                    </a:lnT>
                    <a:lnB w="9525">
                      <a:solidFill>
                        <a:srgbClr val="E2E4E7"/>
                      </a:solidFill>
                    </a:lnB>
                    <a:noFill/>
                  </a:tcPr>
                </a:tc>
              </a:tr>
              <a:tr h="302869">
                <a:tc>
                  <a:txBody>
                    <a:bodyPr wrap="square"/>
                    <a:lstStyle/>
                    <a:p>
                      <a:pPr algn="l">
                        <a:lnSpc>
                          <a:spcPct val="100000"/>
                        </a:lnSpc>
                      </a:pPr>
                      <a:r>
                        <a:rPr sz="1100" b="1">
                          <a:solidFill>
                            <a:srgbClr val="15171A"/>
                          </a:solidFill>
                          <a:latin typeface="Noto Sans KR"/>
                          <a:ea typeface="Noto Sans KR"/>
                          <a:cs typeface="Noto Sans KR"/>
                        </a:rPr>
                        <a:t>대응</a:t>
                      </a:r>
                    </a:p>
                  </a:txBody>
                  <a:tcPr marL="73152" marR="73152" marT="45720" marB="45720"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로봇 무관 통합, 로봇 2종 이식성 검증, OEM 파트너십 우선 (확장 계기 = OEM 채택)</a:t>
                      </a:r>
                    </a:p>
                  </a:txBody>
                  <a:tcPr marL="73152" marR="73152" marT="45720" marB="45720" anchor="t">
                    <a:lnL w="0">
                      <a:noFill/>
                    </a:lnL>
                    <a:lnR w="0">
                      <a:noFill/>
                    </a:lnR>
                    <a:lnT w="0">
                      <a:noFill/>
                    </a:lnT>
                    <a:lnB w="9525">
                      <a:solidFill>
                        <a:srgbClr val="E2E4E7"/>
                      </a:solidFill>
                    </a:lnB>
                    <a:noFill/>
                  </a:tcPr>
                </a:tc>
              </a:tr>
            </a:tbl>
          </a:graphicData>
        </a:graphic>
      </p:graphicFrame>
      <p:sp>
        <p:nvSpPr>
          <p:cNvPr id="8" name="TextBox 7"/>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SoftHand-4  |  Seed 투자 제안서</a:t>
            </a:r>
          </a:p>
        </p:txBody>
      </p:sp>
      <p:sp>
        <p:nvSpPr>
          <p:cNvPr id="9" name="TextBox 8"/>
          <p:cNvSpPr txBox="1"/>
          <p:nvPr/>
        </p:nvSpPr>
        <p:spPr>
          <a:xfrm>
            <a:off x="3154680" y="6446520"/>
            <a:ext cx="7802575"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출처: 제조사 공개 사양·보도자료 (A16: S5·S13·S14·S15) · 회사명은 범주 예시이며 성능 우열을 주장하지 않음</a:t>
            </a:r>
          </a:p>
        </p:txBody>
      </p:sp>
      <p:sp>
        <p:nvSpPr>
          <p:cNvPr id="10" name="TextBox 9"/>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A3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7315200" cy="256032"/>
          </a:xfrm>
          <a:prstGeom prst="rect">
            <a:avLst/>
          </a:prstGeom>
          <a:noFill/>
        </p:spPr>
        <p:txBody>
          <a:bodyPr wrap="square" lIns="0" rIns="0" tIns="0" bIns="0" anchor="t">
            <a:spAutoFit/>
          </a:bodyPr>
          <a:lstStyle/>
          <a:p>
            <a:pPr algn="l">
              <a:lnSpc>
                <a:spcPct val="100000"/>
              </a:lnSpc>
            </a:pPr>
            <a:r>
              <a:rPr sz="1100" b="1">
                <a:solidFill>
                  <a:srgbClr val="E2571B"/>
                </a:solidFill>
                <a:latin typeface="Noto Sans KR"/>
                <a:ea typeface="Noto Sans KR"/>
                <a:cs typeface="Noto Sans KR"/>
              </a:rPr>
              <a:t>부록 A4</a:t>
            </a:r>
          </a:p>
        </p:txBody>
      </p:sp>
      <p:sp>
        <p:nvSpPr>
          <p:cNvPr id="3" name="TextBox 2"/>
          <p:cNvSpPr txBox="1"/>
          <p:nvPr/>
        </p:nvSpPr>
        <p:spPr>
          <a:xfrm>
            <a:off x="685800" y="822960"/>
            <a:ext cx="10820095" cy="475488"/>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피지컬 AI 흐름: 두뇌·눈·몸은 상용화, 남은 병목은 손</a:t>
            </a:r>
          </a:p>
        </p:txBody>
      </p:sp>
      <p:sp>
        <p:nvSpPr>
          <p:cNvPr id="4" name="TextBox 3"/>
          <p:cNvSpPr txBox="1"/>
          <p:nvPr/>
        </p:nvSpPr>
        <p:spPr>
          <a:xfrm>
            <a:off x="685800" y="1353312"/>
            <a:ext cx="10820095" cy="274320"/>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본문 08 "왜 지금인가"의 근거, 각 수치는 출처 발표 기준이며 독립 검증 아님</a:t>
            </a:r>
          </a:p>
        </p:txBody>
      </p:sp>
      <p:graphicFrame>
        <p:nvGraphicFramePr>
          <p:cNvPr id="5" name="Table 4"/>
          <p:cNvGraphicFramePr>
            <a:graphicFrameLocks noGrp="1"/>
          </p:cNvGraphicFramePr>
          <p:nvPr/>
        </p:nvGraphicFramePr>
        <p:xfrm>
          <a:off x="685800" y="1874519"/>
          <a:ext cx="10817352" cy="3249166"/>
        </p:xfrm>
        <a:graphic>
          <a:graphicData uri="http://schemas.openxmlformats.org/drawingml/2006/table">
            <a:tbl>
              <a:tblPr firstRow="0" bandRow="0">
                <a:tableStyleId>{2D5ABB26-0587-4C30-8999-92F81FD0307C}</a:tableStyleId>
              </a:tblPr>
              <a:tblGrid>
                <a:gridCol w="2377440"/>
                <a:gridCol w="1325880"/>
                <a:gridCol w="7114032"/>
              </a:tblGrid>
              <a:tr h="394411">
                <a:tc>
                  <a:txBody>
                    <a:bodyPr wrap="square"/>
                    <a:lstStyle/>
                    <a:p>
                      <a:pPr algn="l">
                        <a:lnSpc>
                          <a:spcPct val="100000"/>
                        </a:lnSpc>
                      </a:pPr>
                      <a:r>
                        <a:rPr sz="1200" b="1">
                          <a:solidFill>
                            <a:srgbClr val="15171A"/>
                          </a:solidFill>
                          <a:latin typeface="Noto Sans KR"/>
                          <a:ea typeface="Noto Sans KR"/>
                          <a:cs typeface="Noto Sans KR"/>
                        </a:rPr>
                        <a:t>단계</a:t>
                      </a:r>
                    </a:p>
                  </a:txBody>
                  <a:tcPr marL="73152" marR="73152" marT="82296" marB="82296"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200" b="1">
                          <a:solidFill>
                            <a:srgbClr val="15171A"/>
                          </a:solidFill>
                          <a:latin typeface="Noto Sans KR"/>
                          <a:ea typeface="Noto Sans KR"/>
                          <a:cs typeface="Noto Sans KR"/>
                        </a:rPr>
                        <a:t>상태</a:t>
                      </a:r>
                    </a:p>
                  </a:txBody>
                  <a:tcPr marL="73152" marR="73152" marT="82296" marB="82296"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200" b="1">
                          <a:solidFill>
                            <a:srgbClr val="15171A"/>
                          </a:solidFill>
                          <a:latin typeface="Noto Sans KR"/>
                          <a:ea typeface="Noto Sans KR"/>
                          <a:cs typeface="Noto Sans KR"/>
                        </a:rPr>
                        <a:t>근거 (출처·시점)</a:t>
                      </a:r>
                    </a:p>
                  </a:txBody>
                  <a:tcPr marL="73152" marR="73152" marT="82296" marB="82296" anchor="t">
                    <a:lnL w="0">
                      <a:noFill/>
                    </a:lnL>
                    <a:lnR w="0">
                      <a:noFill/>
                    </a:lnR>
                    <a:lnT w="12700">
                      <a:solidFill>
                        <a:srgbClr val="15171A"/>
                      </a:solidFill>
                    </a:lnT>
                    <a:lnB w="9525">
                      <a:solidFill>
                        <a:srgbClr val="15171A"/>
                      </a:solidFill>
                    </a:lnB>
                    <a:noFill/>
                  </a:tcPr>
                </a:tc>
              </a:tr>
              <a:tr h="615086">
                <a:tc>
                  <a:txBody>
                    <a:bodyPr wrap="square"/>
                    <a:lstStyle/>
                    <a:p>
                      <a:pPr algn="l">
                        <a:lnSpc>
                          <a:spcPct val="100000"/>
                        </a:lnSpc>
                      </a:pPr>
                      <a:r>
                        <a:rPr sz="1200" b="1">
                          <a:solidFill>
                            <a:srgbClr val="15171A"/>
                          </a:solidFill>
                          <a:latin typeface="Noto Sans KR"/>
                          <a:ea typeface="Noto Sans KR"/>
                          <a:cs typeface="Noto Sans KR"/>
                        </a:rPr>
                        <a:t>두뇌 · AI·VLA</a:t>
                      </a:r>
                    </a:p>
                  </a:txBody>
                  <a:tcPr marL="73152" marR="73152" marT="82296" marB="82296"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빠르게 발전</a:t>
                      </a:r>
                    </a:p>
                  </a:txBody>
                  <a:tcPr marL="73152" marR="73152" marT="82296" marB="82296"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Gemini Robotics 1.5 (2025.9) · NVIDIA Isaac GR00T N1.6 (2026.1) · Physical Intelligence 기업가치 56억 달러 (2025.11)</a:t>
                      </a:r>
                    </a:p>
                  </a:txBody>
                  <a:tcPr marL="73152" marR="73152" marT="82296" marB="82296" anchor="t">
                    <a:lnL w="0">
                      <a:noFill/>
                    </a:lnL>
                    <a:lnR w="0">
                      <a:noFill/>
                    </a:lnR>
                    <a:lnT w="0">
                      <a:noFill/>
                    </a:lnT>
                    <a:lnB w="9525">
                      <a:solidFill>
                        <a:srgbClr val="E2E4E7"/>
                      </a:solidFill>
                    </a:lnB>
                    <a:noFill/>
                  </a:tcPr>
                </a:tc>
              </a:tr>
              <a:tr h="394411">
                <a:tc>
                  <a:txBody>
                    <a:bodyPr wrap="square"/>
                    <a:lstStyle/>
                    <a:p>
                      <a:pPr algn="l">
                        <a:lnSpc>
                          <a:spcPct val="100000"/>
                        </a:lnSpc>
                      </a:pPr>
                      <a:r>
                        <a:rPr sz="1200" b="1">
                          <a:solidFill>
                            <a:srgbClr val="15171A"/>
                          </a:solidFill>
                          <a:latin typeface="Noto Sans KR"/>
                          <a:ea typeface="Noto Sans KR"/>
                          <a:cs typeface="Noto Sans KR"/>
                        </a:rPr>
                        <a:t>눈 · 비전·엣지</a:t>
                      </a:r>
                    </a:p>
                  </a:txBody>
                  <a:tcPr marL="73152" marR="73152" marT="82296" marB="82296"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상용 수준</a:t>
                      </a:r>
                    </a:p>
                  </a:txBody>
                  <a:tcPr marL="73152" marR="73152" marT="82296" marB="82296"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NVIDIA Jetson AGX Thor: 2,070 FP4 TFLOPS, 이전 세대 대비 AI 연산 7.5배 (2025.8)</a:t>
                      </a:r>
                    </a:p>
                  </a:txBody>
                  <a:tcPr marL="73152" marR="73152" marT="82296" marB="82296" anchor="t">
                    <a:lnL w="0">
                      <a:noFill/>
                    </a:lnL>
                    <a:lnR w="0">
                      <a:noFill/>
                    </a:lnR>
                    <a:lnT w="0">
                      <a:noFill/>
                    </a:lnT>
                    <a:lnB w="9525">
                      <a:solidFill>
                        <a:srgbClr val="E2E4E7"/>
                      </a:solidFill>
                    </a:lnB>
                    <a:noFill/>
                  </a:tcPr>
                </a:tc>
              </a:tr>
              <a:tr h="394411">
                <a:tc>
                  <a:txBody>
                    <a:bodyPr wrap="square"/>
                    <a:lstStyle/>
                    <a:p>
                      <a:pPr algn="l">
                        <a:lnSpc>
                          <a:spcPct val="100000"/>
                        </a:lnSpc>
                      </a:pPr>
                      <a:r>
                        <a:rPr sz="1200" b="1">
                          <a:solidFill>
                            <a:srgbClr val="15171A"/>
                          </a:solidFill>
                          <a:latin typeface="Noto Sans KR"/>
                          <a:ea typeface="Noto Sans KR"/>
                          <a:cs typeface="Noto Sans KR"/>
                        </a:rPr>
                        <a:t>몸 · 로봇 팔·휴머노이드</a:t>
                      </a:r>
                    </a:p>
                  </a:txBody>
                  <a:tcPr marL="73152" marR="73152" marT="82296" marB="82296"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대규모 보급</a:t>
                      </a:r>
                    </a:p>
                  </a:txBody>
                  <a:tcPr marL="73152" marR="73152" marT="82296" marB="82296"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산업용 로봇 가동 약 500만 대, 연 60만 대 이상 설치 (IFR, 2026.9) · Figure 기업가치 390억 달러 (2025.9)</a:t>
                      </a:r>
                    </a:p>
                  </a:txBody>
                  <a:tcPr marL="73152" marR="73152" marT="82296" marB="82296" anchor="t">
                    <a:lnL w="0">
                      <a:noFill/>
                    </a:lnL>
                    <a:lnR w="0">
                      <a:noFill/>
                    </a:lnR>
                    <a:lnT w="0">
                      <a:noFill/>
                    </a:lnT>
                    <a:lnB w="9525">
                      <a:solidFill>
                        <a:srgbClr val="E2E4E7"/>
                      </a:solidFill>
                    </a:lnB>
                    <a:noFill/>
                  </a:tcPr>
                </a:tc>
              </a:tr>
              <a:tr h="835761">
                <a:tc>
                  <a:txBody>
                    <a:bodyPr wrap="square"/>
                    <a:lstStyle/>
                    <a:p>
                      <a:pPr algn="l">
                        <a:lnSpc>
                          <a:spcPct val="100000"/>
                        </a:lnSpc>
                      </a:pPr>
                      <a:r>
                        <a:rPr sz="1200" b="1">
                          <a:solidFill>
                            <a:srgbClr val="E2571B"/>
                          </a:solidFill>
                          <a:latin typeface="Noto Sans KR"/>
                          <a:ea typeface="Noto Sans KR"/>
                          <a:cs typeface="Noto Sans KR"/>
                        </a:rPr>
                        <a:t>손 · 현실 세계 조작</a:t>
                      </a:r>
                    </a:p>
                  </a:txBody>
                  <a:tcPr marL="73152" marR="73152" marT="82296" marB="82296" anchor="t">
                    <a:lnL w="0">
                      <a:noFill/>
                    </a:lnL>
                    <a:lnR w="0">
                      <a:noFill/>
                    </a:lnR>
                    <a:lnT w="0">
                      <a:noFill/>
                    </a:lnT>
                    <a:lnB w="9525">
                      <a:solidFill>
                        <a:srgbClr val="E2E4E7"/>
                      </a:solidFill>
                    </a:lnB>
                    <a:noFill/>
                  </a:tcPr>
                </a:tc>
                <a:tc>
                  <a:txBody>
                    <a:bodyPr wrap="square"/>
                    <a:lstStyle/>
                    <a:p>
                      <a:pPr algn="l">
                        <a:lnSpc>
                          <a:spcPct val="100000"/>
                        </a:lnSpc>
                      </a:pPr>
                      <a:r>
                        <a:rPr sz="1200" b="1">
                          <a:solidFill>
                            <a:srgbClr val="E2571B"/>
                          </a:solidFill>
                          <a:latin typeface="Noto Sans KR"/>
                          <a:ea typeface="Noto Sans KR"/>
                          <a:cs typeface="Noto Sans KR"/>
                        </a:rPr>
                        <a:t>아직 병목</a:t>
                      </a:r>
                    </a:p>
                  </a:txBody>
                  <a:tcPr marL="73152" marR="73152" marT="82296" marB="82296"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"The forearm and hand are more difficult than the entire rest of the robot." Elon Musk, Tesla 2025년 3분기 실적 발표 (2025.10)</a:t>
                      </a:r>
                    </a:p>
                    <a:p>
                      <a:pPr algn="l">
                        <a:lnSpc>
                          <a:spcPct val="100000"/>
                        </a:lnSpc>
                      </a:pPr>
                      <a:r>
                        <a:rPr sz="1200" b="0">
                          <a:solidFill>
                            <a:srgbClr val="15171A"/>
                          </a:solidFill>
                          <a:latin typeface="Noto Sans KR"/>
                          <a:ea typeface="Noto Sans KR"/>
                          <a:cs typeface="Noto Sans KR"/>
                        </a:rPr>
                        <a:t>NVIDIA 레퍼런스 휴머노이드(2026.6) 외부 촉각 핸드 채택 · Figure 03 촉각 손끝 (3g 감지, 2025.10)</a:t>
                      </a:r>
                    </a:p>
                  </a:txBody>
                  <a:tcPr marL="73152" marR="73152" marT="82296" marB="82296" anchor="t">
                    <a:lnL w="0">
                      <a:noFill/>
                    </a:lnL>
                    <a:lnR w="0">
                      <a:noFill/>
                    </a:lnR>
                    <a:lnT w="0">
                      <a:noFill/>
                    </a:lnT>
                    <a:lnB w="9525">
                      <a:solidFill>
                        <a:srgbClr val="E2E4E7"/>
                      </a:solidFill>
                    </a:lnB>
                    <a:noFill/>
                  </a:tcPr>
                </a:tc>
              </a:tr>
              <a:tr h="615086">
                <a:tc>
                  <a:txBody>
                    <a:bodyPr wrap="square"/>
                    <a:lstStyle/>
                    <a:p>
                      <a:pPr algn="l">
                        <a:lnSpc>
                          <a:spcPct val="100000"/>
                        </a:lnSpc>
                      </a:pPr>
                      <a:r>
                        <a:rPr sz="1200" b="1">
                          <a:solidFill>
                            <a:srgbClr val="15171A"/>
                          </a:solidFill>
                          <a:latin typeface="Noto Sans KR"/>
                          <a:ea typeface="Noto Sans KR"/>
                          <a:cs typeface="Noto Sans KR"/>
                        </a:rPr>
                        <a:t>자본 유입</a:t>
                      </a:r>
                    </a:p>
                  </a:txBody>
                  <a:tcPr marL="73152" marR="73152" marT="82296" marB="82296"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a:t>
                      </a:r>
                    </a:p>
                  </a:txBody>
                  <a:tcPr marL="73152" marR="73152" marT="82296" marB="82296"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로보틱스 스타트업 투자 2025년 150억 달러 (사상 최대), 2026년 상반기 188억 달러 (Crunchbase News, 2026.6)</a:t>
                      </a:r>
                    </a:p>
                  </a:txBody>
                  <a:tcPr marL="73152" marR="73152" marT="82296" marB="82296" anchor="t">
                    <a:lnL w="0">
                      <a:noFill/>
                    </a:lnL>
                    <a:lnR w="0">
                      <a:noFill/>
                    </a:lnR>
                    <a:lnT w="0">
                      <a:noFill/>
                    </a:lnT>
                    <a:lnB w="9525">
                      <a:solidFill>
                        <a:srgbClr val="E2E4E7"/>
                      </a:solidFill>
                    </a:lnB>
                    <a:noFill/>
                  </a:tcPr>
                </a:tc>
              </a:tr>
            </a:tbl>
          </a:graphicData>
        </a:graphic>
      </p:graphicFrame>
      <p:sp>
        <p:nvSpPr>
          <p:cNvPr id="6" name="TextBox 5"/>
          <p:cNvSpPr txBox="1"/>
          <p:nvPr/>
        </p:nvSpPr>
        <p:spPr>
          <a:xfrm>
            <a:off x="685800" y="6107176"/>
            <a:ext cx="10820095" cy="202184"/>
          </a:xfrm>
          <a:prstGeom prst="rect">
            <a:avLst/>
          </a:prstGeom>
          <a:noFill/>
        </p:spPr>
        <p:txBody>
          <a:bodyPr wrap="square" lIns="0" rIns="0" tIns="0" bIns="0" anchor="t">
            <a:spAutoFit/>
          </a:bodyPr>
          <a:lstStyle/>
          <a:p>
            <a:pPr algn="l">
              <a:lnSpc>
                <a:spcPct val="100000"/>
              </a:lnSpc>
            </a:pPr>
            <a:r>
              <a:rPr sz="1000" b="0">
                <a:solidFill>
                  <a:srgbClr val="8C9198"/>
                </a:solidFill>
                <a:latin typeface="Noto Sans KR"/>
                <a:ea typeface="Noto Sans KR"/>
                <a:cs typeface="Noto Sans KR"/>
              </a:rPr>
              <a:t>해석: 두뇌·눈·몸이 상용화되면서 사람용 설비를 다루는 조작 계층이 병목. 장기 비전의 근거이며, 회사의 첫 매출 근거는 기존 설비의 자동화 전환 비용 (본문 03)</a:t>
            </a:r>
          </a:p>
        </p:txBody>
      </p:sp>
      <p:sp>
        <p:nvSpPr>
          <p:cNvPr id="7" name="TextBox 6"/>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SoftHand-4  |  Seed 투자 제안서</a:t>
            </a:r>
          </a:p>
        </p:txBody>
      </p:sp>
      <p:sp>
        <p:nvSpPr>
          <p:cNvPr id="8" name="TextBox 7"/>
          <p:cNvSpPr txBox="1"/>
          <p:nvPr/>
        </p:nvSpPr>
        <p:spPr>
          <a:xfrm>
            <a:off x="3154680" y="6446520"/>
            <a:ext cx="7802575"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출처: A16 S4~S11</a:t>
            </a:r>
          </a:p>
        </p:txBody>
      </p:sp>
      <p:sp>
        <p:nvSpPr>
          <p:cNvPr id="9" name="TextBox 8"/>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A4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7315200" cy="256032"/>
          </a:xfrm>
          <a:prstGeom prst="rect">
            <a:avLst/>
          </a:prstGeom>
          <a:noFill/>
        </p:spPr>
        <p:txBody>
          <a:bodyPr wrap="square" lIns="0" rIns="0" tIns="0" bIns="0" anchor="t">
            <a:spAutoFit/>
          </a:bodyPr>
          <a:lstStyle/>
          <a:p>
            <a:pPr algn="l">
              <a:lnSpc>
                <a:spcPct val="100000"/>
              </a:lnSpc>
            </a:pPr>
            <a:r>
              <a:rPr sz="1100" b="1">
                <a:solidFill>
                  <a:srgbClr val="E2571B"/>
                </a:solidFill>
                <a:latin typeface="Noto Sans KR"/>
                <a:ea typeface="Noto Sans KR"/>
                <a:cs typeface="Noto Sans KR"/>
              </a:rPr>
              <a:t>부록 A5</a:t>
            </a:r>
          </a:p>
        </p:txBody>
      </p:sp>
      <p:sp>
        <p:nvSpPr>
          <p:cNvPr id="3" name="TextBox 2"/>
          <p:cNvSpPr txBox="1"/>
          <p:nvPr/>
        </p:nvSpPr>
        <p:spPr>
          <a:xfrm>
            <a:off x="685800" y="822960"/>
            <a:ext cx="10820095" cy="475488"/>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시장 근거</a:t>
            </a:r>
          </a:p>
        </p:txBody>
      </p:sp>
      <p:sp>
        <p:nvSpPr>
          <p:cNvPr id="4" name="TextBox 3"/>
          <p:cNvSpPr txBox="1"/>
          <p:nvPr/>
        </p:nvSpPr>
        <p:spPr>
          <a:xfrm>
            <a:off x="685800" y="1353312"/>
            <a:ext cx="10820095" cy="274320"/>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첫 시장은 설치 기반, 장기 상한은 로봇 제조사 출하량 (OEM 매출은 계산하지 않음)</a:t>
            </a:r>
          </a:p>
        </p:txBody>
      </p:sp>
      <p:sp>
        <p:nvSpPr>
          <p:cNvPr id="5" name="TextBox 4"/>
          <p:cNvSpPr txBox="1"/>
          <p:nvPr/>
        </p:nvSpPr>
        <p:spPr>
          <a:xfrm>
            <a:off x="685800" y="1874519"/>
            <a:ext cx="4206240" cy="274320"/>
          </a:xfrm>
          <a:prstGeom prst="rect">
            <a:avLst/>
          </a:prstGeom>
          <a:noFill/>
        </p:spPr>
        <p:txBody>
          <a:bodyPr wrap="square" lIns="0" rIns="0" tIns="0" bIns="0" anchor="t">
            <a:spAutoFit/>
          </a:bodyPr>
          <a:lstStyle/>
          <a:p>
            <a:pPr algn="l">
              <a:lnSpc>
                <a:spcPct val="100000"/>
              </a:lnSpc>
            </a:pPr>
            <a:r>
              <a:rPr sz="1200" b="1">
                <a:solidFill>
                  <a:srgbClr val="8C9198"/>
                </a:solidFill>
                <a:latin typeface="Noto Sans KR"/>
                <a:ea typeface="Noto Sans KR"/>
                <a:cs typeface="Noto Sans KR"/>
              </a:rPr>
              <a:t>연간 산업용 로봇 신규 설치 (천 대, IFR)</a:t>
            </a:r>
          </a:p>
        </p:txBody>
      </p:sp>
      <p:graphicFrame>
        <p:nvGraphicFramePr>
          <p:cNvPr id="6" name="Chart 5"/>
          <p:cNvGraphicFramePr>
            <a:graphicFrameLocks noGrp="1"/>
          </p:cNvGraphicFramePr>
          <p:nvPr/>
        </p:nvGraphicFramePr>
        <p:xfrm>
          <a:off x="685800" y="2240280"/>
          <a:ext cx="4206240" cy="2834640"/>
        </p:xfrm>
        <a:graphic>
          <a:graphicData uri="http://schemas.openxmlformats.org/drawingml/2006/chart">
            <c:chart xmlns:c="http://schemas.openxmlformats.org/drawingml/2006/chart" r:id="rId2"/>
          </a:graphicData>
        </a:graphic>
      </p:graphicFrame>
      <p:sp>
        <p:nvSpPr>
          <p:cNvPr id="7" name="TextBox 6"/>
          <p:cNvSpPr txBox="1"/>
          <p:nvPr/>
        </p:nvSpPr>
        <p:spPr>
          <a:xfrm>
            <a:off x="666140" y="4807915"/>
            <a:ext cx="1280160" cy="274320"/>
          </a:xfrm>
          <a:prstGeom prst="rect">
            <a:avLst/>
          </a:prstGeom>
          <a:noFill/>
        </p:spPr>
        <p:txBody>
          <a:bodyPr wrap="square" lIns="0" rIns="0" tIns="0" bIns="0" anchor="t">
            <a:spAutoFit/>
          </a:bodyPr>
          <a:lstStyle/>
          <a:p>
            <a:pPr algn="ctr">
              <a:lnSpc>
                <a:spcPct val="100000"/>
              </a:lnSpc>
            </a:pPr>
            <a:r>
              <a:rPr sz="1200" b="0">
                <a:solidFill>
                  <a:srgbClr val="4A4F57"/>
                </a:solidFill>
                <a:latin typeface="Noto Sans KR"/>
                <a:ea typeface="Noto Sans KR"/>
                <a:cs typeface="Noto Sans KR"/>
              </a:rPr>
              <a:t>2024</a:t>
            </a:r>
          </a:p>
        </p:txBody>
      </p:sp>
      <p:sp>
        <p:nvSpPr>
          <p:cNvPr id="8" name="TextBox 7"/>
          <p:cNvSpPr txBox="1"/>
          <p:nvPr/>
        </p:nvSpPr>
        <p:spPr>
          <a:xfrm>
            <a:off x="1654606" y="4807915"/>
            <a:ext cx="1280160" cy="274320"/>
          </a:xfrm>
          <a:prstGeom prst="rect">
            <a:avLst/>
          </a:prstGeom>
          <a:noFill/>
        </p:spPr>
        <p:txBody>
          <a:bodyPr wrap="square" lIns="0" rIns="0" tIns="0" bIns="0" anchor="t">
            <a:spAutoFit/>
          </a:bodyPr>
          <a:lstStyle/>
          <a:p>
            <a:pPr algn="ctr">
              <a:lnSpc>
                <a:spcPct val="100000"/>
              </a:lnSpc>
            </a:pPr>
            <a:r>
              <a:rPr sz="1200" b="0">
                <a:solidFill>
                  <a:srgbClr val="4A4F57"/>
                </a:solidFill>
                <a:latin typeface="Noto Sans KR"/>
                <a:ea typeface="Noto Sans KR"/>
                <a:cs typeface="Noto Sans KR"/>
              </a:rPr>
              <a:t>2025</a:t>
            </a:r>
          </a:p>
        </p:txBody>
      </p:sp>
      <p:sp>
        <p:nvSpPr>
          <p:cNvPr id="9" name="TextBox 8"/>
          <p:cNvSpPr txBox="1"/>
          <p:nvPr/>
        </p:nvSpPr>
        <p:spPr>
          <a:xfrm>
            <a:off x="2643073" y="4807915"/>
            <a:ext cx="1280160" cy="274320"/>
          </a:xfrm>
          <a:prstGeom prst="rect">
            <a:avLst/>
          </a:prstGeom>
          <a:noFill/>
        </p:spPr>
        <p:txBody>
          <a:bodyPr wrap="square" lIns="0" rIns="0" tIns="0" bIns="0" anchor="t">
            <a:spAutoFit/>
          </a:bodyPr>
          <a:lstStyle/>
          <a:p>
            <a:pPr algn="ctr">
              <a:lnSpc>
                <a:spcPct val="100000"/>
              </a:lnSpc>
            </a:pPr>
            <a:r>
              <a:rPr sz="1200" b="0">
                <a:solidFill>
                  <a:srgbClr val="4A4F57"/>
                </a:solidFill>
                <a:latin typeface="Noto Sans KR"/>
                <a:ea typeface="Noto Sans KR"/>
                <a:cs typeface="Noto Sans KR"/>
              </a:rPr>
              <a:t>2026F</a:t>
            </a:r>
          </a:p>
        </p:txBody>
      </p:sp>
      <p:sp>
        <p:nvSpPr>
          <p:cNvPr id="10" name="TextBox 9"/>
          <p:cNvSpPr txBox="1"/>
          <p:nvPr/>
        </p:nvSpPr>
        <p:spPr>
          <a:xfrm>
            <a:off x="3631539" y="4807915"/>
            <a:ext cx="1280160" cy="274320"/>
          </a:xfrm>
          <a:prstGeom prst="rect">
            <a:avLst/>
          </a:prstGeom>
          <a:noFill/>
        </p:spPr>
        <p:txBody>
          <a:bodyPr wrap="square" lIns="0" rIns="0" tIns="0" bIns="0" anchor="t">
            <a:spAutoFit/>
          </a:bodyPr>
          <a:lstStyle/>
          <a:p>
            <a:pPr algn="ctr">
              <a:lnSpc>
                <a:spcPct val="100000"/>
              </a:lnSpc>
            </a:pPr>
            <a:r>
              <a:rPr sz="1200" b="0">
                <a:solidFill>
                  <a:srgbClr val="4A4F57"/>
                </a:solidFill>
                <a:latin typeface="Noto Sans KR"/>
                <a:ea typeface="Noto Sans KR"/>
                <a:cs typeface="Noto Sans KR"/>
              </a:rPr>
              <a:t>2029F</a:t>
            </a:r>
          </a:p>
        </p:txBody>
      </p:sp>
      <p:sp>
        <p:nvSpPr>
          <p:cNvPr id="11" name="TextBox 10"/>
          <p:cNvSpPr txBox="1"/>
          <p:nvPr/>
        </p:nvSpPr>
        <p:spPr>
          <a:xfrm>
            <a:off x="685800" y="5349240"/>
            <a:ext cx="4206240" cy="548640"/>
          </a:xfrm>
          <a:prstGeom prst="rect">
            <a:avLst/>
          </a:prstGeom>
          <a:noFill/>
        </p:spPr>
        <p:txBody>
          <a:bodyPr wrap="square" lIns="0" rIns="0" tIns="0" bIns="0" anchor="t">
            <a:spAutoFit/>
          </a:bodyPr>
          <a:lstStyle/>
          <a:p>
            <a:pPr algn="l">
              <a:lnSpc>
                <a:spcPct val="100000"/>
              </a:lnSpc>
            </a:pPr>
            <a:r>
              <a:rPr sz="1200" b="0">
                <a:solidFill>
                  <a:srgbClr val="4A4F57"/>
                </a:solidFill>
                <a:latin typeface="Noto Sans KR"/>
                <a:ea typeface="Noto Sans KR"/>
                <a:cs typeface="Noto Sans KR"/>
              </a:rPr>
              <a:t>가동 중 산업용 로봇 약 500만 대 (2025년 말)</a:t>
            </a:r>
          </a:p>
          <a:p>
            <a:pPr algn="l">
              <a:lnSpc>
                <a:spcPct val="100000"/>
              </a:lnSpc>
            </a:pPr>
            <a:r>
              <a:rPr sz="1200" b="0">
                <a:solidFill>
                  <a:srgbClr val="4A4F57"/>
                </a:solidFill>
                <a:latin typeface="Noto Sans KR"/>
                <a:ea typeface="Noto Sans KR"/>
                <a:cs typeface="Noto Sans KR"/>
              </a:rPr>
              <a:t>한국 로봇 밀도 1,220대 / 직원 1만 명 (세계 1위)</a:t>
            </a:r>
          </a:p>
        </p:txBody>
      </p:sp>
      <p:graphicFrame>
        <p:nvGraphicFramePr>
          <p:cNvPr id="12" name="Table 11"/>
          <p:cNvGraphicFramePr>
            <a:graphicFrameLocks noGrp="1"/>
          </p:cNvGraphicFramePr>
          <p:nvPr/>
        </p:nvGraphicFramePr>
        <p:xfrm>
          <a:off x="5349240" y="1874519"/>
          <a:ext cx="6156655" cy="2736594"/>
        </p:xfrm>
        <a:graphic>
          <a:graphicData uri="http://schemas.openxmlformats.org/drawingml/2006/table">
            <a:tbl>
              <a:tblPr firstRow="0" bandRow="0">
                <a:tableStyleId>{2D5ABB26-0587-4C30-8999-92F81FD0307C}</a:tableStyleId>
              </a:tblPr>
              <a:tblGrid>
                <a:gridCol w="777240"/>
                <a:gridCol w="1783080"/>
                <a:gridCol w="2148840"/>
                <a:gridCol w="1447495"/>
              </a:tblGrid>
              <a:tr h="366928">
                <a:tc>
                  <a:txBody>
                    <a:bodyPr wrap="square"/>
                    <a:lstStyle/>
                    <a:p>
                      <a:pPr algn="l">
                        <a:lnSpc>
                          <a:spcPct val="100000"/>
                        </a:lnSpc>
                      </a:pPr>
                      <a:r>
                        <a:rPr sz="1150" b="1">
                          <a:solidFill>
                            <a:srgbClr val="15171A"/>
                          </a:solidFill>
                          <a:latin typeface="Noto Sans KR"/>
                          <a:ea typeface="Noto Sans KR"/>
                          <a:cs typeface="Noto Sans KR"/>
                        </a:rPr>
                        <a:t>단계</a:t>
                      </a:r>
                    </a:p>
                  </a:txBody>
                  <a:tcPr marL="73152" marR="73152" marT="73152" marB="73152"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150" b="1">
                          <a:solidFill>
                            <a:srgbClr val="15171A"/>
                          </a:solidFill>
                          <a:latin typeface="Noto Sans KR"/>
                          <a:ea typeface="Noto Sans KR"/>
                          <a:cs typeface="Noto Sans KR"/>
                        </a:rPr>
                        <a:t>정의</a:t>
                      </a:r>
                    </a:p>
                  </a:txBody>
                  <a:tcPr marL="73152" marR="73152" marT="73152" marB="73152"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150" b="1">
                          <a:solidFill>
                            <a:srgbClr val="15171A"/>
                          </a:solidFill>
                          <a:latin typeface="Noto Sans KR"/>
                          <a:ea typeface="Noto Sans KR"/>
                          <a:cs typeface="Noto Sans KR"/>
                        </a:rPr>
                        <a:t>규모 근거</a:t>
                      </a:r>
                    </a:p>
                  </a:txBody>
                  <a:tcPr marL="73152" marR="73152" marT="73152" marB="73152"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150" b="1">
                          <a:solidFill>
                            <a:srgbClr val="15171A"/>
                          </a:solidFill>
                          <a:latin typeface="Noto Sans KR"/>
                          <a:ea typeface="Noto Sans KR"/>
                          <a:cs typeface="Noto Sans KR"/>
                        </a:rPr>
                        <a:t>성격</a:t>
                      </a:r>
                    </a:p>
                  </a:txBody>
                  <a:tcPr marL="73152" marR="73152" marT="73152" marB="73152" anchor="t">
                    <a:lnL w="0">
                      <a:noFill/>
                    </a:lnL>
                    <a:lnR w="0">
                      <a:noFill/>
                    </a:lnR>
                    <a:lnT w="12700">
                      <a:solidFill>
                        <a:srgbClr val="15171A"/>
                      </a:solidFill>
                    </a:lnT>
                    <a:lnB w="9525">
                      <a:solidFill>
                        <a:srgbClr val="15171A"/>
                      </a:solidFill>
                    </a:lnB>
                    <a:noFill/>
                  </a:tcPr>
                </a:tc>
              </a:tr>
              <a:tr h="578408">
                <a:tc>
                  <a:txBody>
                    <a:bodyPr wrap="square"/>
                    <a:lstStyle/>
                    <a:p>
                      <a:pPr algn="l">
                        <a:lnSpc>
                          <a:spcPct val="100000"/>
                        </a:lnSpc>
                      </a:pPr>
                      <a:r>
                        <a:rPr sz="1150" b="1">
                          <a:solidFill>
                            <a:srgbClr val="15171A"/>
                          </a:solidFill>
                          <a:latin typeface="Noto Sans KR"/>
                          <a:ea typeface="Noto Sans KR"/>
                          <a:cs typeface="Noto Sans KR"/>
                        </a:rPr>
                        <a:t>첫 시장</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국내 다품종 머신텐딩</a:t>
                      </a:r>
                    </a:p>
                    <a:p>
                      <a:pPr algn="l">
                        <a:lnSpc>
                          <a:spcPct val="100000"/>
                        </a:lnSpc>
                      </a:pPr>
                      <a:r>
                        <a:rPr sz="1150" b="0">
                          <a:solidFill>
                            <a:srgbClr val="15171A"/>
                          </a:solidFill>
                          <a:latin typeface="Noto Sans KR"/>
                          <a:ea typeface="Noto Sans KR"/>
                          <a:cs typeface="Noto Sans KR"/>
                        </a:rPr>
                        <a:t>(로봇 SI·제조사)</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국내 연 약 3만 대 설치</a:t>
                      </a:r>
                    </a:p>
                    <a:p>
                      <a:pPr algn="l">
                        <a:lnSpc>
                          <a:spcPct val="100000"/>
                        </a:lnSpc>
                      </a:pPr>
                      <a:r>
                        <a:rPr sz="1150" b="0">
                          <a:solidFill>
                            <a:srgbClr val="15171A"/>
                          </a:solidFill>
                          <a:latin typeface="Noto Sans KR"/>
                          <a:ea typeface="Noto Sans KR"/>
                          <a:cs typeface="Noto Sans KR"/>
                        </a:rPr>
                        <a:t>로봇 밀도 세계 1위</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구매의향 미검증</a:t>
                      </a:r>
                    </a:p>
                    <a:p>
                      <a:pPr algn="l">
                        <a:lnSpc>
                          <a:spcPct val="100000"/>
                        </a:lnSpc>
                      </a:pPr>
                      <a:r>
                        <a:rPr sz="1150" b="0">
                          <a:solidFill>
                            <a:srgbClr val="15171A"/>
                          </a:solidFill>
                          <a:latin typeface="Noto Sans KR"/>
                          <a:ea typeface="Noto Sans KR"/>
                          <a:cs typeface="Noto Sans KR"/>
                        </a:rPr>
                        <a:t>고객 인터뷰 30곳</a:t>
                      </a:r>
                    </a:p>
                  </a:txBody>
                  <a:tcPr marL="73152" marR="73152" marT="73152" marB="73152" anchor="t">
                    <a:lnL w="0">
                      <a:noFill/>
                    </a:lnL>
                    <a:lnR w="0">
                      <a:noFill/>
                    </a:lnR>
                    <a:lnT w="0">
                      <a:noFill/>
                    </a:lnT>
                    <a:lnB w="9525">
                      <a:solidFill>
                        <a:srgbClr val="E2E4E7"/>
                      </a:solidFill>
                    </a:lnB>
                    <a:noFill/>
                  </a:tcPr>
                </a:tc>
              </a:tr>
              <a:tr h="789889">
                <a:tc>
                  <a:txBody>
                    <a:bodyPr wrap="square"/>
                    <a:lstStyle/>
                    <a:p>
                      <a:pPr algn="l">
                        <a:lnSpc>
                          <a:spcPct val="100000"/>
                        </a:lnSpc>
                      </a:pPr>
                      <a:r>
                        <a:rPr sz="1150" b="1">
                          <a:solidFill>
                            <a:srgbClr val="15171A"/>
                          </a:solidFill>
                          <a:latin typeface="Noto Sans KR"/>
                          <a:ea typeface="Noto Sans KR"/>
                          <a:cs typeface="Noto Sans KR"/>
                        </a:rPr>
                        <a:t>확장</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글로벌 산업용·협동로봇 설치 기반</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가동 약 500만 대</a:t>
                      </a:r>
                    </a:p>
                    <a:p>
                      <a:pPr algn="l">
                        <a:lnSpc>
                          <a:spcPct val="100000"/>
                        </a:lnSpc>
                      </a:pPr>
                      <a:r>
                        <a:rPr sz="1150" b="0">
                          <a:solidFill>
                            <a:srgbClr val="15171A"/>
                          </a:solidFill>
                          <a:latin typeface="Noto Sans KR"/>
                          <a:ea typeface="Noto Sans KR"/>
                          <a:cs typeface="Noto Sans KR"/>
                        </a:rPr>
                        <a:t>2025년 60만 대+ (+11%)</a:t>
                      </a:r>
                    </a:p>
                    <a:p>
                      <a:pPr algn="l">
                        <a:lnSpc>
                          <a:spcPct val="100000"/>
                        </a:lnSpc>
                      </a:pPr>
                      <a:r>
                        <a:rPr sz="1150" b="0">
                          <a:solidFill>
                            <a:srgbClr val="15171A"/>
                          </a:solidFill>
                          <a:latin typeface="Noto Sans KR"/>
                          <a:ea typeface="Noto Sans KR"/>
                          <a:cs typeface="Noto Sans KR"/>
                        </a:rPr>
                        <a:t>2029F 80.6만 대</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기존 설비 개조 수요</a:t>
                      </a:r>
                    </a:p>
                  </a:txBody>
                  <a:tcPr marL="73152" marR="73152" marT="73152" marB="73152" anchor="t">
                    <a:lnL w="0">
                      <a:noFill/>
                    </a:lnL>
                    <a:lnR w="0">
                      <a:noFill/>
                    </a:lnR>
                    <a:lnT w="0">
                      <a:noFill/>
                    </a:lnT>
                    <a:lnB w="9525">
                      <a:solidFill>
                        <a:srgbClr val="E2E4E7"/>
                      </a:solidFill>
                    </a:lnB>
                    <a:noFill/>
                  </a:tcPr>
                </a:tc>
              </a:tr>
              <a:tr h="1001369">
                <a:tc>
                  <a:txBody>
                    <a:bodyPr wrap="square"/>
                    <a:lstStyle/>
                    <a:p>
                      <a:pPr algn="l">
                        <a:lnSpc>
                          <a:spcPct val="100000"/>
                        </a:lnSpc>
                      </a:pPr>
                      <a:r>
                        <a:rPr sz="1150" b="1">
                          <a:solidFill>
                            <a:srgbClr val="15171A"/>
                          </a:solidFill>
                          <a:latin typeface="Noto Sans KR"/>
                          <a:ea typeface="Noto Sans KR"/>
                          <a:cs typeface="Noto Sans KR"/>
                        </a:rPr>
                        <a:t>상한</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로봇 제조사 출하량</a:t>
                      </a:r>
                    </a:p>
                    <a:p>
                      <a:pPr algn="l">
                        <a:lnSpc>
                          <a:spcPct val="100000"/>
                        </a:lnSpc>
                      </a:pPr>
                      <a:r>
                        <a:rPr sz="1150" b="0">
                          <a:solidFill>
                            <a:srgbClr val="15171A"/>
                          </a:solidFill>
                          <a:latin typeface="Noto Sans KR"/>
                          <a:ea typeface="Noto Sans KR"/>
                          <a:cs typeface="Noto Sans KR"/>
                        </a:rPr>
                        <a:t>휴머노이드·피지컬 AI</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OEM 채택 시 출하량 연동 (본문 10 공식)</a:t>
                      </a:r>
                    </a:p>
                    <a:p>
                      <a:pPr algn="l">
                        <a:lnSpc>
                          <a:spcPct val="100000"/>
                        </a:lnSpc>
                      </a:pPr>
                      <a:r>
                        <a:rPr sz="1150" b="0">
                          <a:solidFill>
                            <a:srgbClr val="15171A"/>
                          </a:solidFill>
                          <a:latin typeface="Noto Sans KR"/>
                          <a:ea typeface="Noto Sans KR"/>
                          <a:cs typeface="Noto Sans KR"/>
                        </a:rPr>
                        <a:t>휴머노이드 전망은 기관별 편차 큼</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매출 수치 미산정</a:t>
                      </a:r>
                    </a:p>
                  </a:txBody>
                  <a:tcPr marL="73152" marR="73152" marT="73152" marB="73152" anchor="t">
                    <a:lnL w="0">
                      <a:noFill/>
                    </a:lnL>
                    <a:lnR w="0">
                      <a:noFill/>
                    </a:lnR>
                    <a:lnT w="0">
                      <a:noFill/>
                    </a:lnT>
                    <a:lnB w="9525">
                      <a:solidFill>
                        <a:srgbClr val="E2E4E7"/>
                      </a:solidFill>
                    </a:lnB>
                    <a:noFill/>
                  </a:tcPr>
                </a:tc>
              </a:tr>
            </a:tbl>
          </a:graphicData>
        </a:graphic>
      </p:graphicFrame>
      <p:sp>
        <p:nvSpPr>
          <p:cNvPr id="13" name="TextBox 12"/>
          <p:cNvSpPr txBox="1"/>
          <p:nvPr/>
        </p:nvSpPr>
        <p:spPr>
          <a:xfrm>
            <a:off x="685800" y="6107176"/>
            <a:ext cx="10820095" cy="202184"/>
          </a:xfrm>
          <a:prstGeom prst="rect">
            <a:avLst/>
          </a:prstGeom>
          <a:noFill/>
        </p:spPr>
        <p:txBody>
          <a:bodyPr wrap="square" lIns="0" rIns="0" tIns="0" bIns="0" anchor="t">
            <a:spAutoFit/>
          </a:bodyPr>
          <a:lstStyle/>
          <a:p>
            <a:pPr algn="l">
              <a:lnSpc>
                <a:spcPct val="100000"/>
              </a:lnSpc>
            </a:pPr>
            <a:r>
              <a:rPr sz="1000" b="0">
                <a:solidFill>
                  <a:srgbClr val="8C9198"/>
                </a:solidFill>
                <a:latin typeface="Noto Sans KR"/>
                <a:ea typeface="Noto Sans KR"/>
                <a:cs typeface="Noto Sans KR"/>
              </a:rPr>
              <a:t>EOAT 시장 추정치는 조사기관별 편차가 커 시장 규모 근거로 사용하지 않음 · 휴머노이드 전망 예: Goldman Sachs 2035년 648만 대 (2026.8, Investing.com 보도)</a:t>
            </a:r>
          </a:p>
        </p:txBody>
      </p:sp>
      <p:sp>
        <p:nvSpPr>
          <p:cNvPr id="14" name="TextBox 13"/>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SoftHand-4  |  Seed 투자 제안서</a:t>
            </a:r>
          </a:p>
        </p:txBody>
      </p:sp>
      <p:sp>
        <p:nvSpPr>
          <p:cNvPr id="15" name="TextBox 14"/>
          <p:cNvSpPr txBox="1"/>
          <p:nvPr/>
        </p:nvSpPr>
        <p:spPr>
          <a:xfrm>
            <a:off x="3154680" y="6446520"/>
            <a:ext cx="7802575"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출처: IFR World Robotics 2026 (2026.9), IFR 로봇 밀도 (2026.4)</a:t>
            </a:r>
          </a:p>
        </p:txBody>
      </p:sp>
      <p:sp>
        <p:nvSpPr>
          <p:cNvPr id="16" name="TextBox 15"/>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A5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7315200" cy="256032"/>
          </a:xfrm>
          <a:prstGeom prst="rect">
            <a:avLst/>
          </a:prstGeom>
          <a:noFill/>
        </p:spPr>
        <p:txBody>
          <a:bodyPr wrap="square" lIns="0" rIns="0" tIns="0" bIns="0" anchor="t">
            <a:spAutoFit/>
          </a:bodyPr>
          <a:lstStyle/>
          <a:p>
            <a:pPr algn="l">
              <a:lnSpc>
                <a:spcPct val="100000"/>
              </a:lnSpc>
            </a:pPr>
            <a:r>
              <a:rPr sz="1100" b="1">
                <a:solidFill>
                  <a:srgbClr val="E2571B"/>
                </a:solidFill>
                <a:latin typeface="Noto Sans KR"/>
                <a:ea typeface="Noto Sans KR"/>
                <a:cs typeface="Noto Sans KR"/>
              </a:rPr>
              <a:t>부록 A6</a:t>
            </a:r>
          </a:p>
        </p:txBody>
      </p:sp>
      <p:sp>
        <p:nvSpPr>
          <p:cNvPr id="3" name="TextBox 2"/>
          <p:cNvSpPr txBox="1"/>
          <p:nvPr/>
        </p:nvSpPr>
        <p:spPr>
          <a:xfrm>
            <a:off x="685800" y="822960"/>
            <a:ext cx="10820095" cy="475488"/>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핸드 설계 상세: 구동·하중·센싱</a:t>
            </a:r>
          </a:p>
        </p:txBody>
      </p:sp>
      <p:sp>
        <p:nvSpPr>
          <p:cNvPr id="4" name="TextBox 3"/>
          <p:cNvSpPr txBox="1"/>
          <p:nvPr/>
        </p:nvSpPr>
        <p:spPr>
          <a:xfrm>
            <a:off x="685800" y="1353312"/>
            <a:ext cx="10820095" cy="274320"/>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구동 방식은 미확정, 창업 후 3개월 내 비교시험으로 선정 (M6 점검과 연동)</a:t>
            </a:r>
          </a:p>
        </p:txBody>
      </p:sp>
      <p:graphicFrame>
        <p:nvGraphicFramePr>
          <p:cNvPr id="5" name="Table 4"/>
          <p:cNvGraphicFramePr>
            <a:graphicFrameLocks noGrp="1"/>
          </p:cNvGraphicFramePr>
          <p:nvPr/>
        </p:nvGraphicFramePr>
        <p:xfrm>
          <a:off x="685800" y="1874519"/>
          <a:ext cx="7223760" cy="3625896"/>
        </p:xfrm>
        <a:graphic>
          <a:graphicData uri="http://schemas.openxmlformats.org/drawingml/2006/table">
            <a:tbl>
              <a:tblPr firstRow="0" bandRow="0">
                <a:tableStyleId>{2D5ABB26-0587-4C30-8999-92F81FD0307C}</a:tableStyleId>
              </a:tblPr>
              <a:tblGrid>
                <a:gridCol w="1280160"/>
                <a:gridCol w="3154680"/>
                <a:gridCol w="2788920"/>
              </a:tblGrid>
              <a:tr h="366928">
                <a:tc>
                  <a:txBody>
                    <a:bodyPr wrap="square"/>
                    <a:lstStyle/>
                    <a:p>
                      <a:pPr algn="l">
                        <a:lnSpc>
                          <a:spcPct val="100000"/>
                        </a:lnSpc>
                      </a:pPr>
                      <a:r>
                        <a:rPr sz="1150" b="1">
                          <a:solidFill>
                            <a:srgbClr val="15171A"/>
                          </a:solidFill>
                          <a:latin typeface="Noto Sans KR"/>
                          <a:ea typeface="Noto Sans KR"/>
                          <a:cs typeface="Noto Sans KR"/>
                        </a:rPr>
                        <a:t>기술 요소</a:t>
                      </a:r>
                    </a:p>
                  </a:txBody>
                  <a:tcPr marL="73152" marR="73152" marT="73152" marB="73152"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150" b="1">
                          <a:solidFill>
                            <a:srgbClr val="15171A"/>
                          </a:solidFill>
                          <a:latin typeface="Noto Sans KR"/>
                          <a:ea typeface="Noto Sans KR"/>
                          <a:cs typeface="Noto Sans KR"/>
                        </a:rPr>
                        <a:t>개발 내용</a:t>
                      </a:r>
                    </a:p>
                  </a:txBody>
                  <a:tcPr marL="73152" marR="73152" marT="73152" marB="73152"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150" b="1">
                          <a:solidFill>
                            <a:srgbClr val="15171A"/>
                          </a:solidFill>
                          <a:latin typeface="Noto Sans KR"/>
                          <a:ea typeface="Noto Sans KR"/>
                          <a:cs typeface="Noto Sans KR"/>
                        </a:rPr>
                        <a:t>검증 기준</a:t>
                      </a:r>
                    </a:p>
                  </a:txBody>
                  <a:tcPr marL="73152" marR="73152" marT="73152" marB="73152" anchor="t">
                    <a:lnL w="0">
                      <a:noFill/>
                    </a:lnL>
                    <a:lnR w="0">
                      <a:noFill/>
                    </a:lnR>
                    <a:lnT w="12700">
                      <a:solidFill>
                        <a:srgbClr val="15171A"/>
                      </a:solidFill>
                    </a:lnT>
                    <a:lnB w="9525">
                      <a:solidFill>
                        <a:srgbClr val="15171A"/>
                      </a:solidFill>
                    </a:lnB>
                    <a:noFill/>
                  </a:tcPr>
                </a:tc>
              </a:tr>
              <a:tr h="578408">
                <a:tc>
                  <a:txBody>
                    <a:bodyPr wrap="square"/>
                    <a:lstStyle/>
                    <a:p>
                      <a:pPr algn="l">
                        <a:lnSpc>
                          <a:spcPct val="100000"/>
                        </a:lnSpc>
                      </a:pPr>
                      <a:r>
                        <a:rPr sz="1150" b="1">
                          <a:solidFill>
                            <a:srgbClr val="15171A"/>
                          </a:solidFill>
                          <a:latin typeface="Noto Sans KR"/>
                          <a:ea typeface="Noto Sans KR"/>
                          <a:cs typeface="Noto Sans KR"/>
                        </a:rPr>
                        <a:t>구성 (4지)</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손가락 3 + 대향 엄지, 문·집기·레버·버튼 수행 최소 구성</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5지 대비 부품 수·비용·내구성·제어 복잡도 (5지는 Series A 이후)</a:t>
                      </a:r>
                    </a:p>
                  </a:txBody>
                  <a:tcPr marL="73152" marR="73152" marT="73152" marB="73152" anchor="t">
                    <a:lnL w="0">
                      <a:noFill/>
                    </a:lnL>
                    <a:lnR w="0">
                      <a:noFill/>
                    </a:lnR>
                    <a:lnT w="0">
                      <a:noFill/>
                    </a:lnT>
                    <a:lnB w="9525">
                      <a:solidFill>
                        <a:srgbClr val="E2E4E7"/>
                      </a:solidFill>
                    </a:lnB>
                    <a:noFill/>
                  </a:tcPr>
                </a:tc>
              </a:tr>
              <a:tr h="578408">
                <a:tc>
                  <a:txBody>
                    <a:bodyPr wrap="square"/>
                    <a:lstStyle/>
                    <a:p>
                      <a:pPr algn="l">
                        <a:lnSpc>
                          <a:spcPct val="100000"/>
                        </a:lnSpc>
                      </a:pPr>
                      <a:r>
                        <a:rPr sz="1150" b="1">
                          <a:solidFill>
                            <a:srgbClr val="15171A"/>
                          </a:solidFill>
                          <a:latin typeface="Noto Sans KR"/>
                          <a:ea typeface="Noto Sans KR"/>
                          <a:cs typeface="Noto Sans KR"/>
                        </a:rPr>
                        <a:t>구동부</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전동 텐던을 기준 후보로 소형 유압·공압과 비교</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손 무게·유지력·응답·누설·소음·소비전력·정비비</a:t>
                      </a:r>
                    </a:p>
                  </a:txBody>
                  <a:tcPr marL="73152" marR="73152" marT="73152" marB="73152" anchor="t">
                    <a:lnL w="0">
                      <a:noFill/>
                    </a:lnL>
                    <a:lnR w="0">
                      <a:noFill/>
                    </a:lnR>
                    <a:lnT w="0">
                      <a:noFill/>
                    </a:lnT>
                    <a:lnB w="9525">
                      <a:solidFill>
                        <a:srgbClr val="E2E4E7"/>
                      </a:solidFill>
                    </a:lnB>
                    <a:noFill/>
                  </a:tcPr>
                </a:tc>
              </a:tr>
              <a:tr h="366928">
                <a:tc>
                  <a:txBody>
                    <a:bodyPr wrap="square"/>
                    <a:lstStyle/>
                    <a:p>
                      <a:pPr algn="l">
                        <a:lnSpc>
                          <a:spcPct val="100000"/>
                        </a:lnSpc>
                      </a:pPr>
                      <a:r>
                        <a:rPr sz="1150" b="1">
                          <a:solidFill>
                            <a:srgbClr val="15171A"/>
                          </a:solidFill>
                          <a:latin typeface="Noto Sans KR"/>
                          <a:ea typeface="Noto Sans KR"/>
                          <a:cs typeface="Noto Sans KR"/>
                        </a:rPr>
                        <a:t>가변 순응성</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탄성 요소·장력 제어, 필요 시 잠금 기구</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접촉 충격 완화와 조작 토크 유지의 균형</a:t>
                      </a:r>
                    </a:p>
                  </a:txBody>
                  <a:tcPr marL="73152" marR="73152" marT="73152" marB="73152" anchor="t">
                    <a:lnL w="0">
                      <a:noFill/>
                    </a:lnL>
                    <a:lnR w="0">
                      <a:noFill/>
                    </a:lnR>
                    <a:lnT w="0">
                      <a:noFill/>
                    </a:lnT>
                    <a:lnB w="9525">
                      <a:solidFill>
                        <a:srgbClr val="E2E4E7"/>
                      </a:solidFill>
                    </a:lnB>
                    <a:noFill/>
                  </a:tcPr>
                </a:tc>
              </a:tr>
              <a:tr h="578408">
                <a:tc>
                  <a:txBody>
                    <a:bodyPr wrap="square"/>
                    <a:lstStyle/>
                    <a:p>
                      <a:pPr algn="l">
                        <a:lnSpc>
                          <a:spcPct val="100000"/>
                        </a:lnSpc>
                      </a:pPr>
                      <a:r>
                        <a:rPr sz="1150" b="1">
                          <a:solidFill>
                            <a:srgbClr val="15171A"/>
                          </a:solidFill>
                          <a:latin typeface="Noto Sans KR"/>
                          <a:ea typeface="Noto Sans KR"/>
                          <a:cs typeface="Noto Sans KR"/>
                        </a:rPr>
                        <a:t>감각부</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손끝·손바닥 접촉센서, 관절·장력 센서, 손목 6축 힘·토크 센서</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절삭유·분진·오염 조건 편차와 재교정</a:t>
                      </a:r>
                    </a:p>
                  </a:txBody>
                  <a:tcPr marL="73152" marR="73152" marT="73152" marB="73152" anchor="t">
                    <a:lnL w="0">
                      <a:noFill/>
                    </a:lnL>
                    <a:lnR w="0">
                      <a:noFill/>
                    </a:lnR>
                    <a:lnT w="0">
                      <a:noFill/>
                    </a:lnT>
                    <a:lnB w="9525">
                      <a:solidFill>
                        <a:srgbClr val="E2E4E7"/>
                      </a:solidFill>
                    </a:lnB>
                    <a:noFill/>
                  </a:tcPr>
                </a:tc>
              </a:tr>
              <a:tr h="578408">
                <a:tc>
                  <a:txBody>
                    <a:bodyPr wrap="square"/>
                    <a:lstStyle/>
                    <a:p>
                      <a:pPr algn="l">
                        <a:lnSpc>
                          <a:spcPct val="100000"/>
                        </a:lnSpc>
                      </a:pPr>
                      <a:r>
                        <a:rPr sz="1150" b="1">
                          <a:solidFill>
                            <a:srgbClr val="15171A"/>
                          </a:solidFill>
                          <a:latin typeface="Noto Sans KR"/>
                          <a:ea typeface="Noto Sans KR"/>
                          <a:cs typeface="Noto Sans KR"/>
                        </a:rPr>
                        <a:t>접촉부</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교체형 패드·외피, 용도별 재질 분리 (제조: 내마모·내유, 주방: 세척·내열)</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미끄럼·마모·세척·재질 적합성 시험</a:t>
                      </a:r>
                    </a:p>
                  </a:txBody>
                  <a:tcPr marL="73152" marR="73152" marT="73152" marB="73152" anchor="t">
                    <a:lnL w="0">
                      <a:noFill/>
                    </a:lnL>
                    <a:lnR w="0">
                      <a:noFill/>
                    </a:lnR>
                    <a:lnT w="0">
                      <a:noFill/>
                    </a:lnT>
                    <a:lnB w="9525">
                      <a:solidFill>
                        <a:srgbClr val="E2E4E7"/>
                      </a:solidFill>
                    </a:lnB>
                    <a:noFill/>
                  </a:tcPr>
                </a:tc>
              </a:tr>
              <a:tr h="578408">
                <a:tc>
                  <a:txBody>
                    <a:bodyPr wrap="square"/>
                    <a:lstStyle/>
                    <a:p>
                      <a:pPr algn="l">
                        <a:lnSpc>
                          <a:spcPct val="100000"/>
                        </a:lnSpc>
                      </a:pPr>
                      <a:r>
                        <a:rPr sz="1150" b="1">
                          <a:solidFill>
                            <a:srgbClr val="15171A"/>
                          </a:solidFill>
                          <a:latin typeface="Noto Sans KR"/>
                          <a:ea typeface="Noto Sans KR"/>
                          <a:cs typeface="Noto Sans KR"/>
                        </a:rPr>
                        <a:t>로봇 장착</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공통 손목 모듈·플랜지 어댑터·TCP 보정·통신 드라이버</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로봇 2종 실제 통합, 이식성 측정</a:t>
                      </a:r>
                    </a:p>
                  </a:txBody>
                  <a:tcPr marL="73152" marR="73152" marT="73152" marB="73152" anchor="t">
                    <a:lnL w="0">
                      <a:noFill/>
                    </a:lnL>
                    <a:lnR w="0">
                      <a:noFill/>
                    </a:lnR>
                    <a:lnT w="0">
                      <a:noFill/>
                    </a:lnT>
                    <a:lnB w="9525">
                      <a:solidFill>
                        <a:srgbClr val="E2E4E7"/>
                      </a:solidFill>
                    </a:lnB>
                    <a:noFill/>
                  </a:tcPr>
                </a:tc>
              </a:tr>
            </a:tbl>
          </a:graphicData>
        </a:graphic>
      </p:graphicFrame>
      <p:sp>
        <p:nvSpPr>
          <p:cNvPr id="6" name="TextBox 5"/>
          <p:cNvSpPr txBox="1"/>
          <p:nvPr/>
        </p:nvSpPr>
        <p:spPr>
          <a:xfrm>
            <a:off x="8321040" y="1874519"/>
            <a:ext cx="3184855"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하중 설계 예시 (머신텐딩)</a:t>
            </a:r>
          </a:p>
        </p:txBody>
      </p:sp>
      <p:cxnSp>
        <p:nvCxnSpPr>
          <p:cNvPr id="7" name="Connector 6"/>
          <p:cNvCxnSpPr/>
          <p:nvPr/>
        </p:nvCxnSpPr>
        <p:spPr>
          <a:xfrm>
            <a:off x="8321040" y="2203703"/>
            <a:ext cx="3184855" cy="0"/>
          </a:xfrm>
          <a:prstGeom prst="line">
            <a:avLst/>
          </a:prstGeom>
          <a:ln w="12700">
            <a:solidFill>
              <a:srgbClr val="15171A"/>
            </a:solidFill>
          </a:ln>
        </p:spPr>
      </p:cxnSp>
      <p:sp>
        <p:nvSpPr>
          <p:cNvPr id="8" name="TextBox 7"/>
          <p:cNvSpPr txBox="1"/>
          <p:nvPr/>
        </p:nvSpPr>
        <p:spPr>
          <a:xfrm>
            <a:off x="8321040" y="2313432"/>
            <a:ext cx="3184855" cy="1467002"/>
          </a:xfrm>
          <a:prstGeom prst="rect">
            <a:avLst/>
          </a:prstGeom>
          <a:noFill/>
        </p:spPr>
        <p:txBody>
          <a:bodyPr wrap="square" lIns="0" rIns="0" tIns="0" bIns="0" anchor="t">
            <a:spAutoFit/>
          </a:bodyPr>
          <a:lstStyle/>
          <a:p>
            <a:pPr algn="l" marL="164592" indent="-164592">
              <a:lnSpc>
                <a:spcPct val="100000"/>
              </a:lnSpc>
              <a:spcAft>
                <a:spcPts val="400"/>
              </a:spcAft>
              <a:buClr>
                <a:srgbClr val="8C9198"/>
              </a:buClr>
              <a:buFont typeface="Noto Sans KR"/>
              <a:buChar char="•"/>
            </a:pPr>
            <a:r>
              <a:rPr sz="1150" b="0">
                <a:solidFill>
                  <a:srgbClr val="4A4F57"/>
                </a:solidFill>
                <a:latin typeface="Noto Sans KR"/>
                <a:ea typeface="Noto Sans KR"/>
                <a:cs typeface="Noto Sans KR"/>
              </a:rPr>
              <a:t>소재 1.5kg, 파지점에서 무게중심 0.10m</a:t>
            </a:r>
          </a:p>
          <a:p>
            <a:pPr algn="l" marL="164592" indent="-164592">
              <a:lnSpc>
                <a:spcPct val="100000"/>
              </a:lnSpc>
              <a:spcAft>
                <a:spcPts val="400"/>
              </a:spcAft>
              <a:buClr>
                <a:srgbClr val="8C9198"/>
              </a:buClr>
              <a:buFont typeface="Noto Sans KR"/>
              <a:buChar char="•"/>
            </a:pPr>
            <a:r>
              <a:rPr sz="1150" b="0">
                <a:solidFill>
                  <a:srgbClr val="4A4F57"/>
                </a:solidFill>
                <a:latin typeface="Noto Sans KR"/>
                <a:ea typeface="Noto Sans KR"/>
                <a:cs typeface="Noto Sans KR"/>
              </a:rPr>
              <a:t>정적 모멘트 약 1.5 N·m (가속·충격 시 증가)</a:t>
            </a:r>
          </a:p>
          <a:p>
            <a:pPr algn="l" marL="164592" indent="-164592">
              <a:lnSpc>
                <a:spcPct val="100000"/>
              </a:lnSpc>
              <a:spcAft>
                <a:spcPts val="400"/>
              </a:spcAft>
              <a:buClr>
                <a:srgbClr val="8C9198"/>
              </a:buClr>
              <a:buFont typeface="Noto Sans KR"/>
              <a:buChar char="•"/>
            </a:pPr>
            <a:r>
              <a:rPr sz="1150" b="0">
                <a:solidFill>
                  <a:srgbClr val="4A4F57"/>
                </a:solidFill>
                <a:latin typeface="Noto Sans KR"/>
                <a:ea typeface="Noto Sans KR"/>
                <a:cs typeface="Noto Sans KR"/>
              </a:rPr>
              <a:t>문 개방력·레버 조작 토크는 설비별 기존 수치 측정 후 사양 확정</a:t>
            </a:r>
          </a:p>
          <a:p>
            <a:pPr algn="l" marL="164592" indent="-164592">
              <a:lnSpc>
                <a:spcPct val="100000"/>
              </a:lnSpc>
              <a:buClr>
                <a:srgbClr val="8C9198"/>
              </a:buClr>
              <a:buFont typeface="Noto Sans KR"/>
              <a:buChar char="•"/>
            </a:pPr>
            <a:r>
              <a:rPr sz="1150" b="0">
                <a:solidFill>
                  <a:srgbClr val="4A4F57"/>
                </a:solidFill>
                <a:latin typeface="Noto Sans KR"/>
                <a:ea typeface="Noto Sans KR"/>
                <a:cs typeface="Noto Sans KR"/>
              </a:rPr>
              <a:t>손의 파지 하중 ≠ 로봇 팔 가반하중 (손·어댑터·소재 합산)</a:t>
            </a:r>
          </a:p>
        </p:txBody>
      </p:sp>
      <p:sp>
        <p:nvSpPr>
          <p:cNvPr id="9" name="TextBox 8"/>
          <p:cNvSpPr txBox="1"/>
          <p:nvPr/>
        </p:nvSpPr>
        <p:spPr>
          <a:xfrm>
            <a:off x="8321040" y="4009034"/>
            <a:ext cx="3184855"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제어 구조</a:t>
            </a:r>
          </a:p>
        </p:txBody>
      </p:sp>
      <p:cxnSp>
        <p:nvCxnSpPr>
          <p:cNvPr id="10" name="Connector 9"/>
          <p:cNvCxnSpPr/>
          <p:nvPr/>
        </p:nvCxnSpPr>
        <p:spPr>
          <a:xfrm>
            <a:off x="8321040" y="4338218"/>
            <a:ext cx="3184855" cy="0"/>
          </a:xfrm>
          <a:prstGeom prst="line">
            <a:avLst/>
          </a:prstGeom>
          <a:ln w="12700">
            <a:solidFill>
              <a:srgbClr val="15171A"/>
            </a:solidFill>
          </a:ln>
        </p:spPr>
      </p:cxnSp>
      <p:sp>
        <p:nvSpPr>
          <p:cNvPr id="11" name="TextBox 10"/>
          <p:cNvSpPr txBox="1"/>
          <p:nvPr/>
        </p:nvSpPr>
        <p:spPr>
          <a:xfrm>
            <a:off x="8321040" y="4447946"/>
            <a:ext cx="3184855" cy="1255522"/>
          </a:xfrm>
          <a:prstGeom prst="rect">
            <a:avLst/>
          </a:prstGeom>
          <a:noFill/>
        </p:spPr>
        <p:txBody>
          <a:bodyPr wrap="square" lIns="0" rIns="0" tIns="0" bIns="0" anchor="t">
            <a:spAutoFit/>
          </a:bodyPr>
          <a:lstStyle/>
          <a:p>
            <a:pPr algn="l" marL="164592" indent="-164592">
              <a:lnSpc>
                <a:spcPct val="100000"/>
              </a:lnSpc>
              <a:spcAft>
                <a:spcPts val="400"/>
              </a:spcAft>
              <a:buClr>
                <a:srgbClr val="8C9198"/>
              </a:buClr>
              <a:buFont typeface="Noto Sans KR"/>
              <a:buChar char="•"/>
            </a:pPr>
            <a:r>
              <a:rPr sz="1150" b="0">
                <a:solidFill>
                  <a:srgbClr val="4A4F57"/>
                </a:solidFill>
                <a:latin typeface="Noto Sans KR"/>
                <a:ea typeface="Noto Sans KR"/>
                <a:cs typeface="Noto Sans KR"/>
              </a:rPr>
              <a:t>비전: 형상·장치 위치·배치 상태</a:t>
            </a:r>
          </a:p>
          <a:p>
            <a:pPr algn="l" marL="164592" indent="-164592">
              <a:lnSpc>
                <a:spcPct val="100000"/>
              </a:lnSpc>
              <a:spcAft>
                <a:spcPts val="400"/>
              </a:spcAft>
              <a:buClr>
                <a:srgbClr val="8C9198"/>
              </a:buClr>
              <a:buFont typeface="Noto Sans KR"/>
              <a:buChar char="•"/>
            </a:pPr>
            <a:r>
              <a:rPr sz="1150" b="0">
                <a:solidFill>
                  <a:srgbClr val="4A4F57"/>
                </a:solidFill>
                <a:latin typeface="Noto Sans KR"/>
                <a:ea typeface="Noto Sans KR"/>
                <a:cs typeface="Noto Sans KR"/>
              </a:rPr>
              <a:t>촉각: 접촉·미끄러짐</a:t>
            </a:r>
          </a:p>
          <a:p>
            <a:pPr algn="l" marL="164592" indent="-164592">
              <a:lnSpc>
                <a:spcPct val="100000"/>
              </a:lnSpc>
              <a:spcAft>
                <a:spcPts val="400"/>
              </a:spcAft>
              <a:buClr>
                <a:srgbClr val="8C9198"/>
              </a:buClr>
              <a:buFont typeface="Noto Sans KR"/>
              <a:buChar char="•"/>
            </a:pPr>
            <a:r>
              <a:rPr sz="1150" b="0">
                <a:solidFill>
                  <a:srgbClr val="4A4F57"/>
                </a:solidFill>
                <a:latin typeface="Noto Sans KR"/>
                <a:ea typeface="Noto Sans KR"/>
                <a:cs typeface="Noto Sans KR"/>
              </a:rPr>
              <a:t>손목 힘센서: 반력·토크</a:t>
            </a:r>
          </a:p>
          <a:p>
            <a:pPr algn="l" marL="164592" indent="-164592">
              <a:lnSpc>
                <a:spcPct val="100000"/>
              </a:lnSpc>
              <a:buClr>
                <a:srgbClr val="8C9198"/>
              </a:buClr>
              <a:buFont typeface="Noto Sans KR"/>
              <a:buChar char="•"/>
            </a:pPr>
            <a:r>
              <a:rPr sz="1150" b="0">
                <a:solidFill>
                  <a:srgbClr val="4A4F57"/>
                </a:solidFill>
                <a:latin typeface="Noto Sans KR"/>
                <a:ea typeface="Noto Sans KR"/>
                <a:cs typeface="Noto Sans KR"/>
              </a:rPr>
              <a:t>VLA·모방학습은 상위 작업 선택에 활용, 힘·속도·안전 한계는 독립 제어 계층에서 보장</a:t>
            </a:r>
          </a:p>
        </p:txBody>
      </p:sp>
      <p:sp>
        <p:nvSpPr>
          <p:cNvPr id="12" name="TextBox 11"/>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SoftHand-4  |  Seed 투자 제안서</a:t>
            </a:r>
          </a:p>
        </p:txBody>
      </p:sp>
      <p:sp>
        <p:nvSpPr>
          <p:cNvPr id="13" name="TextBox 12"/>
          <p:cNvSpPr txBox="1"/>
          <p:nvPr/>
        </p:nvSpPr>
        <p:spPr>
          <a:xfrm>
            <a:off x="3154680" y="6446520"/>
            <a:ext cx="7802575"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공통 제어기·통신·손목 모듈은 유지하고 접촉부만 용도별로 분리</a:t>
            </a:r>
          </a:p>
        </p:txBody>
      </p:sp>
      <p:sp>
        <p:nvSpPr>
          <p:cNvPr id="14" name="TextBox 13"/>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A6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7315200" cy="256032"/>
          </a:xfrm>
          <a:prstGeom prst="rect">
            <a:avLst/>
          </a:prstGeom>
          <a:noFill/>
        </p:spPr>
        <p:txBody>
          <a:bodyPr wrap="square" lIns="0" rIns="0" tIns="0" bIns="0" anchor="t">
            <a:spAutoFit/>
          </a:bodyPr>
          <a:lstStyle/>
          <a:p>
            <a:pPr algn="l">
              <a:lnSpc>
                <a:spcPct val="100000"/>
              </a:lnSpc>
            </a:pPr>
            <a:r>
              <a:rPr sz="1100" b="1">
                <a:solidFill>
                  <a:srgbClr val="E2571B"/>
                </a:solidFill>
                <a:latin typeface="Noto Sans KR"/>
                <a:ea typeface="Noto Sans KR"/>
                <a:cs typeface="Noto Sans KR"/>
              </a:rPr>
              <a:t>부록 A7</a:t>
            </a:r>
          </a:p>
        </p:txBody>
      </p:sp>
      <p:sp>
        <p:nvSpPr>
          <p:cNvPr id="3" name="TextBox 2"/>
          <p:cNvSpPr txBox="1"/>
          <p:nvPr/>
        </p:nvSpPr>
        <p:spPr>
          <a:xfrm>
            <a:off x="685800" y="822960"/>
            <a:ext cx="10820095" cy="475488"/>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성능 지표와 시험 방법</a:t>
            </a:r>
          </a:p>
        </p:txBody>
      </p:sp>
      <p:sp>
        <p:nvSpPr>
          <p:cNvPr id="4" name="TextBox 3"/>
          <p:cNvSpPr txBox="1"/>
          <p:nvPr/>
        </p:nvSpPr>
        <p:spPr>
          <a:xfrm>
            <a:off x="685800" y="1353312"/>
            <a:ext cx="10820095" cy="274320"/>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파지 성공률이 아닌 작업 완료 기준 · 모든 수치는 목표이며 실적 아님</a:t>
            </a:r>
          </a:p>
        </p:txBody>
      </p:sp>
      <p:graphicFrame>
        <p:nvGraphicFramePr>
          <p:cNvPr id="5" name="Table 4"/>
          <p:cNvGraphicFramePr>
            <a:graphicFrameLocks noGrp="1"/>
          </p:cNvGraphicFramePr>
          <p:nvPr/>
        </p:nvGraphicFramePr>
        <p:xfrm>
          <a:off x="685800" y="1874519"/>
          <a:ext cx="10817352" cy="3394960"/>
        </p:xfrm>
        <a:graphic>
          <a:graphicData uri="http://schemas.openxmlformats.org/drawingml/2006/table">
            <a:tbl>
              <a:tblPr firstRow="0" bandRow="0">
                <a:tableStyleId>{2D5ABB26-0587-4C30-8999-92F81FD0307C}</a:tableStyleId>
              </a:tblPr>
              <a:tblGrid>
                <a:gridCol w="2606040"/>
                <a:gridCol w="2331720"/>
                <a:gridCol w="2606040"/>
                <a:gridCol w="3273552"/>
              </a:tblGrid>
              <a:tr h="339496">
                <a:tc>
                  <a:txBody>
                    <a:bodyPr wrap="square"/>
                    <a:lstStyle/>
                    <a:p>
                      <a:pPr algn="l">
                        <a:lnSpc>
                          <a:spcPct val="100000"/>
                        </a:lnSpc>
                      </a:pPr>
                      <a:r>
                        <a:rPr sz="1150" b="1">
                          <a:solidFill>
                            <a:srgbClr val="15171A"/>
                          </a:solidFill>
                          <a:latin typeface="Noto Sans KR"/>
                          <a:ea typeface="Noto Sans KR"/>
                          <a:cs typeface="Noto Sans KR"/>
                        </a:rPr>
                        <a:t>지표</a:t>
                      </a:r>
                    </a:p>
                  </a:txBody>
                  <a:tcPr marL="73152" marR="73152" marT="59436" marB="59436"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150" b="1">
                          <a:solidFill>
                            <a:srgbClr val="15171A"/>
                          </a:solidFill>
                          <a:latin typeface="Noto Sans KR"/>
                          <a:ea typeface="Noto Sans KR"/>
                          <a:cs typeface="Noto Sans KR"/>
                        </a:rPr>
                        <a:t>12개월 목표</a:t>
                      </a:r>
                    </a:p>
                  </a:txBody>
                  <a:tcPr marL="73152" marR="73152" marT="59436" marB="59436"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150" b="1">
                          <a:solidFill>
                            <a:srgbClr val="15171A"/>
                          </a:solidFill>
                          <a:latin typeface="Noto Sans KR"/>
                          <a:ea typeface="Noto Sans KR"/>
                          <a:cs typeface="Noto Sans KR"/>
                        </a:rPr>
                        <a:t>24개월 목표</a:t>
                      </a:r>
                    </a:p>
                  </a:txBody>
                  <a:tcPr marL="73152" marR="73152" marT="59436" marB="59436"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150" b="1">
                          <a:solidFill>
                            <a:srgbClr val="15171A"/>
                          </a:solidFill>
                          <a:latin typeface="Noto Sans KR"/>
                          <a:ea typeface="Noto Sans KR"/>
                          <a:cs typeface="Noto Sans KR"/>
                        </a:rPr>
                        <a:t>시험 정의</a:t>
                      </a:r>
                    </a:p>
                  </a:txBody>
                  <a:tcPr marL="73152" marR="73152" marT="59436" marB="59436" anchor="t">
                    <a:lnL w="0">
                      <a:noFill/>
                    </a:lnL>
                    <a:lnR w="0">
                      <a:noFill/>
                    </a:lnR>
                    <a:lnT w="12700">
                      <a:solidFill>
                        <a:srgbClr val="15171A"/>
                      </a:solidFill>
                    </a:lnT>
                    <a:lnB w="9525">
                      <a:solidFill>
                        <a:srgbClr val="15171A"/>
                      </a:solidFill>
                    </a:lnB>
                    <a:noFill/>
                  </a:tcPr>
                </a:tc>
              </a:tr>
              <a:tr h="339496">
                <a:tc>
                  <a:txBody>
                    <a:bodyPr wrap="square"/>
                    <a:lstStyle/>
                    <a:p>
                      <a:pPr algn="l">
                        <a:lnSpc>
                          <a:spcPct val="100000"/>
                        </a:lnSpc>
                      </a:pPr>
                      <a:r>
                        <a:rPr sz="1150" b="1">
                          <a:solidFill>
                            <a:srgbClr val="15171A"/>
                          </a:solidFill>
                          <a:latin typeface="Noto Sans KR"/>
                          <a:ea typeface="Noto Sans KR"/>
                          <a:cs typeface="Noto Sans KR"/>
                        </a:rPr>
                        <a:t>대표 공정 완료율 (6단계)</a:t>
                      </a:r>
                    </a:p>
                  </a:txBody>
                  <a:tcPr marL="73152" marR="73152" marT="59436" marB="59436"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단계별 반복 시연</a:t>
                      </a:r>
                    </a:p>
                  </a:txBody>
                  <a:tcPr marL="73152" marR="73152" marT="59436" marB="59436"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승인 작업 95% 이상</a:t>
                      </a:r>
                    </a:p>
                  </a:txBody>
                  <a:tcPr marL="73152" marR="73152" marT="59436" marB="59436"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최초 시도·재시도·중단 분리 보고, 신뢰구간</a:t>
                      </a:r>
                    </a:p>
                  </a:txBody>
                  <a:tcPr marL="73152" marR="73152" marT="59436" marB="59436" anchor="t">
                    <a:lnL w="0">
                      <a:noFill/>
                    </a:lnL>
                    <a:lnR w="0">
                      <a:noFill/>
                    </a:lnR>
                    <a:lnT w="0">
                      <a:noFill/>
                    </a:lnT>
                    <a:lnB w="9525">
                      <a:solidFill>
                        <a:srgbClr val="E2E4E7"/>
                      </a:solidFill>
                    </a:lnB>
                    <a:noFill/>
                  </a:tcPr>
                </a:tc>
              </a:tr>
              <a:tr h="339496">
                <a:tc>
                  <a:txBody>
                    <a:bodyPr wrap="square"/>
                    <a:lstStyle/>
                    <a:p>
                      <a:pPr algn="l">
                        <a:lnSpc>
                          <a:spcPct val="100000"/>
                        </a:lnSpc>
                      </a:pPr>
                      <a:r>
                        <a:rPr sz="1150" b="1">
                          <a:solidFill>
                            <a:srgbClr val="15171A"/>
                          </a:solidFill>
                          <a:latin typeface="Noto Sans KR"/>
                          <a:ea typeface="Noto Sans KR"/>
                          <a:cs typeface="Noto Sans KR"/>
                        </a:rPr>
                        <a:t>소재 집기·투입 (등록 소재)</a:t>
                      </a:r>
                    </a:p>
                  </a:txBody>
                  <a:tcPr marL="73152" marR="73152" marT="59436" marB="59436"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10종, 95% 이상</a:t>
                      </a:r>
                    </a:p>
                  </a:txBody>
                  <a:tcPr marL="73152" marR="73152" marT="59436" marB="59436"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20종, 98% 이상</a:t>
                      </a:r>
                    </a:p>
                  </a:txBody>
                  <a:tcPr marL="73152" marR="73152" marT="59436" marB="59436"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종별 100회, 낙하 없이 투입 완료</a:t>
                      </a:r>
                    </a:p>
                  </a:txBody>
                  <a:tcPr marL="73152" marR="73152" marT="59436" marB="59436" anchor="t">
                    <a:lnL w="0">
                      <a:noFill/>
                    </a:lnL>
                    <a:lnR w="0">
                      <a:noFill/>
                    </a:lnR>
                    <a:lnT w="0">
                      <a:noFill/>
                    </a:lnT>
                    <a:lnB w="9525">
                      <a:solidFill>
                        <a:srgbClr val="E2E4E7"/>
                      </a:solidFill>
                    </a:lnB>
                    <a:noFill/>
                  </a:tcPr>
                </a:tc>
              </a:tr>
              <a:tr h="339496">
                <a:tc>
                  <a:txBody>
                    <a:bodyPr wrap="square"/>
                    <a:lstStyle/>
                    <a:p>
                      <a:pPr algn="l">
                        <a:lnSpc>
                          <a:spcPct val="100000"/>
                        </a:lnSpc>
                      </a:pPr>
                      <a:r>
                        <a:rPr sz="1150" b="1">
                          <a:solidFill>
                            <a:srgbClr val="15171A"/>
                          </a:solidFill>
                          <a:latin typeface="Noto Sans KR"/>
                          <a:ea typeface="Noto Sans KR"/>
                          <a:cs typeface="Noto Sans KR"/>
                        </a:rPr>
                        <a:t>문·레버·버튼 조작</a:t>
                      </a:r>
                    </a:p>
                  </a:txBody>
                  <a:tcPr marL="73152" marR="73152" marT="59436" marB="59436"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대표 설비 2종</a:t>
                      </a:r>
                    </a:p>
                  </a:txBody>
                  <a:tcPr marL="73152" marR="73152" marT="59436" marB="59436"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설비 4종, 완료율 95% 이상</a:t>
                      </a:r>
                    </a:p>
                  </a:txBody>
                  <a:tcPr marL="73152" marR="73152" marT="59436" marB="59436"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조작력·작업 시간 함께 보고</a:t>
                      </a:r>
                    </a:p>
                  </a:txBody>
                  <a:tcPr marL="73152" marR="73152" marT="59436" marB="59436" anchor="t">
                    <a:lnL w="0">
                      <a:noFill/>
                    </a:lnL>
                    <a:lnR w="0">
                      <a:noFill/>
                    </a:lnR>
                    <a:lnT w="0">
                      <a:noFill/>
                    </a:lnT>
                    <a:lnB w="9525">
                      <a:solidFill>
                        <a:srgbClr val="E2E4E7"/>
                      </a:solidFill>
                    </a:lnB>
                    <a:noFill/>
                  </a:tcPr>
                </a:tc>
              </a:tr>
              <a:tr h="339496">
                <a:tc>
                  <a:txBody>
                    <a:bodyPr wrap="square"/>
                    <a:lstStyle/>
                    <a:p>
                      <a:pPr algn="l">
                        <a:lnSpc>
                          <a:spcPct val="100000"/>
                        </a:lnSpc>
                      </a:pPr>
                      <a:r>
                        <a:rPr sz="1150" b="1">
                          <a:solidFill>
                            <a:srgbClr val="15171A"/>
                          </a:solidFill>
                          <a:latin typeface="Noto Sans KR"/>
                          <a:ea typeface="Noto Sans KR"/>
                          <a:cs typeface="Noto Sans KR"/>
                        </a:rPr>
                        <a:t>핸드 하중</a:t>
                      </a:r>
                    </a:p>
                  </a:txBody>
                  <a:tcPr marL="73152" marR="73152" marT="59436" marB="59436"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원통 소재 1kg</a:t>
                      </a:r>
                    </a:p>
                  </a:txBody>
                  <a:tcPr marL="73152" marR="73152" marT="59436" marB="59436"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동일 조건 2kg</a:t>
                      </a:r>
                    </a:p>
                  </a:txBody>
                  <a:tcPr marL="73152" marR="73152" marT="59436" marB="59436"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자세·속도·모멘트 한계 명시</a:t>
                      </a:r>
                    </a:p>
                  </a:txBody>
                  <a:tcPr marL="73152" marR="73152" marT="59436" marB="59436" anchor="t">
                    <a:lnL w="0">
                      <a:noFill/>
                    </a:lnL>
                    <a:lnR w="0">
                      <a:noFill/>
                    </a:lnR>
                    <a:lnT w="0">
                      <a:noFill/>
                    </a:lnT>
                    <a:lnB w="9525">
                      <a:solidFill>
                        <a:srgbClr val="E2E4E7"/>
                      </a:solidFill>
                    </a:lnB>
                    <a:noFill/>
                  </a:tcPr>
                </a:tc>
              </a:tr>
              <a:tr h="339496">
                <a:tc>
                  <a:txBody>
                    <a:bodyPr wrap="square"/>
                    <a:lstStyle/>
                    <a:p>
                      <a:pPr algn="l">
                        <a:lnSpc>
                          <a:spcPct val="100000"/>
                        </a:lnSpc>
                      </a:pPr>
                      <a:r>
                        <a:rPr sz="1150" b="1">
                          <a:solidFill>
                            <a:srgbClr val="15171A"/>
                          </a:solidFill>
                          <a:latin typeface="Noto Sans KR"/>
                          <a:ea typeface="Noto Sans KR"/>
                          <a:cs typeface="Noto Sans KR"/>
                        </a:rPr>
                        <a:t>내구성</a:t>
                      </a:r>
                    </a:p>
                  </a:txBody>
                  <a:tcPr marL="73152" marR="73152" marT="59436" marB="59436"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반복 개폐 10만 회</a:t>
                      </a:r>
                    </a:p>
                  </a:txBody>
                  <a:tcPr marL="73152" marR="73152" marT="59436" marB="59436"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30만 회 (양산 목표 100만 회)</a:t>
                      </a:r>
                    </a:p>
                  </a:txBody>
                  <a:tcPr marL="73152" marR="73152" marT="59436" marB="59436"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하중·패드 교체 주기·힘 저하율 명시</a:t>
                      </a:r>
                    </a:p>
                  </a:txBody>
                  <a:tcPr marL="73152" marR="73152" marT="59436" marB="59436" anchor="t">
                    <a:lnL w="0">
                      <a:noFill/>
                    </a:lnL>
                    <a:lnR w="0">
                      <a:noFill/>
                    </a:lnR>
                    <a:lnT w="0">
                      <a:noFill/>
                    </a:lnT>
                    <a:lnB w="9525">
                      <a:solidFill>
                        <a:srgbClr val="E2E4E7"/>
                      </a:solidFill>
                    </a:lnB>
                    <a:noFill/>
                  </a:tcPr>
                </a:tc>
              </a:tr>
              <a:tr h="339496">
                <a:tc>
                  <a:txBody>
                    <a:bodyPr wrap="square"/>
                    <a:lstStyle/>
                    <a:p>
                      <a:pPr algn="l">
                        <a:lnSpc>
                          <a:spcPct val="100000"/>
                        </a:lnSpc>
                      </a:pPr>
                      <a:r>
                        <a:rPr sz="1150" b="1">
                          <a:solidFill>
                            <a:srgbClr val="15171A"/>
                          </a:solidFill>
                          <a:latin typeface="Noto Sans KR"/>
                          <a:ea typeface="Noto Sans KR"/>
                          <a:cs typeface="Noto Sans KR"/>
                        </a:rPr>
                        <a:t>스킬 이식성</a:t>
                      </a:r>
                    </a:p>
                  </a:txBody>
                  <a:tcPr marL="73152" marR="73152" marT="59436" marB="59436"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로봇 A 기준 기록</a:t>
                      </a:r>
                    </a:p>
                  </a:txBody>
                  <a:tcPr marL="73152" marR="73152" marT="59436" marB="59436"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로봇 B 재사용 검증</a:t>
                      </a:r>
                    </a:p>
                  </a:txBody>
                  <a:tcPr marL="73152" marR="73152" marT="59436" marB="59436"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추가 엔지니어링 시간·완료율·재사용 모듈 비중</a:t>
                      </a:r>
                    </a:p>
                  </a:txBody>
                  <a:tcPr marL="73152" marR="73152" marT="59436" marB="59436" anchor="t">
                    <a:lnL w="0">
                      <a:noFill/>
                    </a:lnL>
                    <a:lnR w="0">
                      <a:noFill/>
                    </a:lnR>
                    <a:lnT w="0">
                      <a:noFill/>
                    </a:lnT>
                    <a:lnB w="9525">
                      <a:solidFill>
                        <a:srgbClr val="E2E4E7"/>
                      </a:solidFill>
                    </a:lnB>
                    <a:noFill/>
                  </a:tcPr>
                </a:tc>
              </a:tr>
              <a:tr h="339496">
                <a:tc>
                  <a:txBody>
                    <a:bodyPr wrap="square"/>
                    <a:lstStyle/>
                    <a:p>
                      <a:pPr algn="l">
                        <a:lnSpc>
                          <a:spcPct val="100000"/>
                        </a:lnSpc>
                      </a:pPr>
                      <a:r>
                        <a:rPr sz="1150" b="1">
                          <a:solidFill>
                            <a:srgbClr val="15171A"/>
                          </a:solidFill>
                          <a:latin typeface="Noto Sans KR"/>
                          <a:ea typeface="Noto Sans KR"/>
                          <a:cs typeface="Noto Sans KR"/>
                        </a:rPr>
                        <a:t>재사용률</a:t>
                      </a:r>
                    </a:p>
                  </a:txBody>
                  <a:tcPr marL="73152" marR="73152" marT="59436" marB="59436"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측정 체계 수립</a:t>
                      </a:r>
                    </a:p>
                  </a:txBody>
                  <a:tcPr marL="73152" marR="73152" marT="59436" marB="59436"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M12부터 측정, 상승 추세</a:t>
                      </a:r>
                    </a:p>
                  </a:txBody>
                  <a:tcPr marL="73152" marR="73152" marT="59436" marB="59436"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신규 고객 적용 시 그대로 쓴 모듈 비중</a:t>
                      </a:r>
                    </a:p>
                  </a:txBody>
                  <a:tcPr marL="73152" marR="73152" marT="59436" marB="59436" anchor="t">
                    <a:lnL w="0">
                      <a:noFill/>
                    </a:lnL>
                    <a:lnR w="0">
                      <a:noFill/>
                    </a:lnR>
                    <a:lnT w="0">
                      <a:noFill/>
                    </a:lnT>
                    <a:lnB w="9525">
                      <a:solidFill>
                        <a:srgbClr val="E2E4E7"/>
                      </a:solidFill>
                    </a:lnB>
                    <a:noFill/>
                  </a:tcPr>
                </a:tc>
              </a:tr>
              <a:tr h="339496">
                <a:tc>
                  <a:txBody>
                    <a:bodyPr wrap="square"/>
                    <a:lstStyle/>
                    <a:p>
                      <a:pPr algn="l">
                        <a:lnSpc>
                          <a:spcPct val="100000"/>
                        </a:lnSpc>
                      </a:pPr>
                      <a:r>
                        <a:rPr sz="1150" b="1">
                          <a:solidFill>
                            <a:srgbClr val="15171A"/>
                          </a:solidFill>
                          <a:latin typeface="Noto Sans KR"/>
                          <a:ea typeface="Noto Sans KR"/>
                          <a:cs typeface="Noto Sans KR"/>
                        </a:rPr>
                        <a:t>사람 개입·전환 시간</a:t>
                      </a:r>
                    </a:p>
                  </a:txBody>
                  <a:tcPr marL="73152" marR="73152" marT="59436" marB="59436"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공정별 고객 기존 수치 확보</a:t>
                      </a:r>
                    </a:p>
                  </a:txBody>
                  <a:tcPr marL="73152" marR="73152" marT="59436" marB="59436"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기존 수치 대비 감소 (PoC 측정)</a:t>
                      </a:r>
                    </a:p>
                  </a:txBody>
                  <a:tcPr marL="73152" marR="73152" marT="59436" marB="59436"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재료 보충·복구 포함, 임의 목표치 없음</a:t>
                      </a:r>
                    </a:p>
                  </a:txBody>
                  <a:tcPr marL="73152" marR="73152" marT="59436" marB="59436" anchor="t">
                    <a:lnL w="0">
                      <a:noFill/>
                    </a:lnL>
                    <a:lnR w="0">
                      <a:noFill/>
                    </a:lnR>
                    <a:lnT w="0">
                      <a:noFill/>
                    </a:lnT>
                    <a:lnB w="9525">
                      <a:solidFill>
                        <a:srgbClr val="E2E4E7"/>
                      </a:solidFill>
                    </a:lnB>
                    <a:noFill/>
                  </a:tcPr>
                </a:tc>
              </a:tr>
              <a:tr h="339496">
                <a:tc>
                  <a:txBody>
                    <a:bodyPr wrap="square"/>
                    <a:lstStyle/>
                    <a:p>
                      <a:pPr algn="l">
                        <a:lnSpc>
                          <a:spcPct val="100000"/>
                        </a:lnSpc>
                      </a:pPr>
                      <a:r>
                        <a:rPr sz="1150" b="1">
                          <a:solidFill>
                            <a:srgbClr val="8C9198"/>
                          </a:solidFill>
                          <a:latin typeface="Noto Sans KR"/>
                          <a:ea typeface="Noto Sans KR"/>
                          <a:cs typeface="Noto Sans KR"/>
                        </a:rPr>
                        <a:t>연구 트랙 (점검 제외)</a:t>
                      </a:r>
                    </a:p>
                  </a:txBody>
                  <a:tcPr marL="73152" marR="73152" marT="59436" marB="59436"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스크루드라이버 저토크 체결 데모</a:t>
                      </a:r>
                    </a:p>
                  </a:txBody>
                  <a:tcPr marL="73152" marR="73152" marT="59436" marB="59436"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유연체·주방 벤치 데모</a:t>
                      </a:r>
                    </a:p>
                  </a:txBody>
                  <a:tcPr marL="73152" marR="73152" marT="59436" marB="59436"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Seed 성공 조건이 아닌 기술 트랙</a:t>
                      </a:r>
                    </a:p>
                  </a:txBody>
                  <a:tcPr marL="73152" marR="73152" marT="59436" marB="59436" anchor="t">
                    <a:lnL w="0">
                      <a:noFill/>
                    </a:lnL>
                    <a:lnR w="0">
                      <a:noFill/>
                    </a:lnR>
                    <a:lnT w="0">
                      <a:noFill/>
                    </a:lnT>
                    <a:lnB w="9525">
                      <a:solidFill>
                        <a:srgbClr val="E2E4E7"/>
                      </a:solidFill>
                    </a:lnB>
                    <a:noFill/>
                  </a:tcPr>
                </a:tc>
              </a:tr>
            </a:tbl>
          </a:graphicData>
        </a:graphic>
      </p:graphicFrame>
      <p:sp>
        <p:nvSpPr>
          <p:cNvPr id="6" name="TextBox 5"/>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SoftHand-4  |  Seed 투자 제안서</a:t>
            </a:r>
          </a:p>
        </p:txBody>
      </p:sp>
      <p:sp>
        <p:nvSpPr>
          <p:cNvPr id="7" name="TextBox 6"/>
          <p:cNvSpPr txBox="1"/>
          <p:nvPr/>
        </p:nvSpPr>
        <p:spPr>
          <a:xfrm>
            <a:off x="3154680" y="6446520"/>
            <a:ext cx="7802575"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시험 횟수·성공 건수·신뢰구간 공개, 편집 없는 시험 영상 제공 · 감소율 목표는 고객 기존 수치 확보 후 설정</a:t>
            </a:r>
          </a:p>
        </p:txBody>
      </p:sp>
      <p:sp>
        <p:nvSpPr>
          <p:cNvPr id="8" name="TextBox 7"/>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A7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7315200" cy="256032"/>
          </a:xfrm>
          <a:prstGeom prst="rect">
            <a:avLst/>
          </a:prstGeom>
          <a:noFill/>
        </p:spPr>
        <p:txBody>
          <a:bodyPr wrap="square" lIns="0" rIns="0" tIns="0" bIns="0" anchor="t">
            <a:spAutoFit/>
          </a:bodyPr>
          <a:lstStyle/>
          <a:p>
            <a:pPr algn="l">
              <a:lnSpc>
                <a:spcPct val="100000"/>
              </a:lnSpc>
            </a:pPr>
            <a:r>
              <a:rPr sz="1100" b="1">
                <a:solidFill>
                  <a:srgbClr val="E2571B"/>
                </a:solidFill>
                <a:latin typeface="Noto Sans KR"/>
                <a:ea typeface="Noto Sans KR"/>
                <a:cs typeface="Noto Sans KR"/>
              </a:rPr>
              <a:t>부록 A8</a:t>
            </a:r>
          </a:p>
        </p:txBody>
      </p:sp>
      <p:sp>
        <p:nvSpPr>
          <p:cNvPr id="3" name="TextBox 2"/>
          <p:cNvSpPr txBox="1"/>
          <p:nvPr/>
        </p:nvSpPr>
        <p:spPr>
          <a:xfrm>
            <a:off x="685800" y="822960"/>
            <a:ext cx="10820095" cy="475488"/>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스크루드라이버 기술 데모</a:t>
            </a:r>
          </a:p>
        </p:txBody>
      </p:sp>
      <p:sp>
        <p:nvSpPr>
          <p:cNvPr id="4" name="TextBox 3"/>
          <p:cNvSpPr txBox="1"/>
          <p:nvPr/>
        </p:nvSpPr>
        <p:spPr>
          <a:xfrm>
            <a:off x="685800" y="1353312"/>
            <a:ext cx="10820095" cy="274320"/>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시각적으로 좋은 작업이지만 핵심 상용 작업은 아님, 기술 트랙으로 분리</a:t>
            </a:r>
          </a:p>
        </p:txBody>
      </p:sp>
      <p:sp>
        <p:nvSpPr>
          <p:cNvPr id="5" name="Rectangle 4"/>
          <p:cNvSpPr/>
          <p:nvPr/>
        </p:nvSpPr>
        <p:spPr>
          <a:xfrm>
            <a:off x="685800" y="1874519"/>
            <a:ext cx="4754880" cy="4023360"/>
          </a:xfrm>
          <a:prstGeom prst="rect">
            <a:avLst/>
          </a:prstGeom>
          <a:solidFill>
            <a:srgbClr val="EEF0F2"/>
          </a:solidFill>
          <a:ln>
            <a:noFill/>
          </a:ln>
        </p:spPr>
        <p:txBody>
          <a:bodyPr rtlCol="0" anchor="ctr"/>
          <a:lstStyle/>
          <a:p>
            <a:pPr algn="ctr"/>
          </a:p>
        </p:txBody>
      </p:sp>
      <p:pic>
        <p:nvPicPr>
          <p:cNvPr id="6" name="Picture 5" descr="screwdriver.png"/>
          <p:cNvPicPr>
            <a:picLocks noChangeAspect="1"/>
          </p:cNvPicPr>
          <p:nvPr/>
        </p:nvPicPr>
        <p:blipFill>
          <a:blip r:embed="rId2"/>
          <a:stretch>
            <a:fillRect/>
          </a:stretch>
        </p:blipFill>
        <p:spPr>
          <a:xfrm>
            <a:off x="1120575" y="2057400"/>
            <a:ext cx="3885328" cy="3657600"/>
          </a:xfrm>
          <a:prstGeom prst="rect">
            <a:avLst/>
          </a:prstGeom>
        </p:spPr>
      </p:pic>
      <p:sp>
        <p:nvSpPr>
          <p:cNvPr id="7" name="TextBox 6"/>
          <p:cNvSpPr txBox="1"/>
          <p:nvPr/>
        </p:nvSpPr>
        <p:spPr>
          <a:xfrm>
            <a:off x="685800" y="5989320"/>
            <a:ext cx="4754880" cy="228600"/>
          </a:xfrm>
          <a:prstGeom prst="rect">
            <a:avLst/>
          </a:prstGeom>
          <a:noFill/>
        </p:spPr>
        <p:txBody>
          <a:bodyPr wrap="square" lIns="0" rIns="0" tIns="0" bIns="0" anchor="t">
            <a:spAutoFit/>
          </a:bodyPr>
          <a:lstStyle/>
          <a:p>
            <a:pPr algn="l">
              <a:lnSpc>
                <a:spcPct val="100000"/>
              </a:lnSpc>
            </a:pPr>
            <a:r>
              <a:rPr sz="1000" b="0">
                <a:solidFill>
                  <a:srgbClr val="8C9198"/>
                </a:solidFill>
                <a:latin typeface="Noto Sans KR"/>
                <a:ea typeface="Noto Sans KR"/>
                <a:cs typeface="Noto Sans KR"/>
              </a:rPr>
              <a:t>저토크 체결 데모 · 콘셉트 렌더링</a:t>
            </a:r>
          </a:p>
        </p:txBody>
      </p:sp>
      <p:sp>
        <p:nvSpPr>
          <p:cNvPr id="8" name="TextBox 7"/>
          <p:cNvSpPr txBox="1"/>
          <p:nvPr/>
        </p:nvSpPr>
        <p:spPr>
          <a:xfrm>
            <a:off x="5897880" y="1874519"/>
            <a:ext cx="5608015"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이 데모로 확인하는 것</a:t>
            </a:r>
          </a:p>
        </p:txBody>
      </p:sp>
      <p:cxnSp>
        <p:nvCxnSpPr>
          <p:cNvPr id="9" name="Connector 8"/>
          <p:cNvCxnSpPr/>
          <p:nvPr/>
        </p:nvCxnSpPr>
        <p:spPr>
          <a:xfrm>
            <a:off x="5897880" y="2203703"/>
            <a:ext cx="5608015" cy="0"/>
          </a:xfrm>
          <a:prstGeom prst="line">
            <a:avLst/>
          </a:prstGeom>
          <a:ln w="12700">
            <a:solidFill>
              <a:srgbClr val="15171A"/>
            </a:solidFill>
          </a:ln>
        </p:spPr>
      </p:cxnSp>
      <p:sp>
        <p:nvSpPr>
          <p:cNvPr id="10" name="TextBox 9"/>
          <p:cNvSpPr txBox="1"/>
          <p:nvPr/>
        </p:nvSpPr>
        <p:spPr>
          <a:xfrm>
            <a:off x="5897880" y="2313432"/>
            <a:ext cx="5608015" cy="836930"/>
          </a:xfrm>
          <a:prstGeom prst="rect">
            <a:avLst/>
          </a:prstGeom>
          <a:noFill/>
        </p:spPr>
        <p:txBody>
          <a:bodyPr wrap="square" lIns="0" rIns="0" tIns="0" bIns="0" anchor="t">
            <a:spAutoFit/>
          </a:bodyPr>
          <a:lstStyle/>
          <a:p>
            <a:pPr algn="l" marL="164592" indent="-164592">
              <a:lnSpc>
                <a:spcPct val="100000"/>
              </a:lnSpc>
              <a:spcAft>
                <a:spcPts val="400"/>
              </a:spcAft>
              <a:buClr>
                <a:srgbClr val="8C9198"/>
              </a:buClr>
              <a:buFont typeface="Noto Sans KR"/>
              <a:buChar char="•"/>
            </a:pPr>
            <a:r>
              <a:rPr sz="1250" b="0">
                <a:solidFill>
                  <a:srgbClr val="4A4F57"/>
                </a:solidFill>
                <a:latin typeface="Noto Sans KR"/>
                <a:ea typeface="Noto Sans KR"/>
                <a:cs typeface="Noto Sans KR"/>
              </a:rPr>
              <a:t>공구 토크 전달 (일할 때는 단단하게)</a:t>
            </a:r>
          </a:p>
          <a:p>
            <a:pPr algn="l" marL="164592" indent="-164592">
              <a:lnSpc>
                <a:spcPct val="100000"/>
              </a:lnSpc>
              <a:spcAft>
                <a:spcPts val="400"/>
              </a:spcAft>
              <a:buClr>
                <a:srgbClr val="8C9198"/>
              </a:buClr>
              <a:buFont typeface="Noto Sans KR"/>
              <a:buChar char="•"/>
            </a:pPr>
            <a:r>
              <a:rPr sz="1250" b="0">
                <a:solidFill>
                  <a:srgbClr val="4A4F57"/>
                </a:solidFill>
                <a:latin typeface="Noto Sans KR"/>
                <a:ea typeface="Noto Sans KR"/>
                <a:cs typeface="Noto Sans KR"/>
              </a:rPr>
              <a:t>대향 엄지 파지 안정성</a:t>
            </a:r>
          </a:p>
          <a:p>
            <a:pPr algn="l" marL="164592" indent="-164592">
              <a:lnSpc>
                <a:spcPct val="100000"/>
              </a:lnSpc>
              <a:buClr>
                <a:srgbClr val="8C9198"/>
              </a:buClr>
              <a:buFont typeface="Noto Sans KR"/>
              <a:buChar char="•"/>
            </a:pPr>
            <a:r>
              <a:rPr sz="1250" b="0">
                <a:solidFill>
                  <a:srgbClr val="4A4F57"/>
                </a:solidFill>
                <a:latin typeface="Noto Sans KR"/>
                <a:ea typeface="Noto Sans KR"/>
                <a:cs typeface="Noto Sans KR"/>
              </a:rPr>
              <a:t>작업 순간 강성 전환 (검증 예정)</a:t>
            </a:r>
          </a:p>
        </p:txBody>
      </p:sp>
      <p:sp>
        <p:nvSpPr>
          <p:cNvPr id="11" name="TextBox 10"/>
          <p:cNvSpPr txBox="1"/>
          <p:nvPr/>
        </p:nvSpPr>
        <p:spPr>
          <a:xfrm>
            <a:off x="5897880" y="3378962"/>
            <a:ext cx="5608015"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핵심 상용 작업이 아닌 이유</a:t>
            </a:r>
          </a:p>
        </p:txBody>
      </p:sp>
      <p:cxnSp>
        <p:nvCxnSpPr>
          <p:cNvPr id="12" name="Connector 11"/>
          <p:cNvCxnSpPr/>
          <p:nvPr/>
        </p:nvCxnSpPr>
        <p:spPr>
          <a:xfrm>
            <a:off x="5897880" y="3708146"/>
            <a:ext cx="5608015" cy="0"/>
          </a:xfrm>
          <a:prstGeom prst="line">
            <a:avLst/>
          </a:prstGeom>
          <a:ln w="12700">
            <a:solidFill>
              <a:srgbClr val="15171A"/>
            </a:solidFill>
          </a:ln>
        </p:spPr>
      </p:cxnSp>
      <p:sp>
        <p:nvSpPr>
          <p:cNvPr id="13" name="TextBox 12"/>
          <p:cNvSpPr txBox="1"/>
          <p:nvPr/>
        </p:nvSpPr>
        <p:spPr>
          <a:xfrm>
            <a:off x="5897880" y="3817874"/>
            <a:ext cx="5608015" cy="556260"/>
          </a:xfrm>
          <a:prstGeom prst="rect">
            <a:avLst/>
          </a:prstGeom>
          <a:noFill/>
        </p:spPr>
        <p:txBody>
          <a:bodyPr wrap="square" lIns="0" rIns="0" tIns="0" bIns="0" anchor="t">
            <a:spAutoFit/>
          </a:bodyPr>
          <a:lstStyle/>
          <a:p>
            <a:pPr algn="l" marL="164592" indent="-164592">
              <a:lnSpc>
                <a:spcPct val="100000"/>
              </a:lnSpc>
              <a:spcAft>
                <a:spcPts val="400"/>
              </a:spcAft>
              <a:buClr>
                <a:srgbClr val="8C9198"/>
              </a:buClr>
              <a:buFont typeface="Noto Sans KR"/>
              <a:buChar char="•"/>
            </a:pPr>
            <a:r>
              <a:rPr sz="1250" b="0">
                <a:solidFill>
                  <a:srgbClr val="4A4F57"/>
                </a:solidFill>
                <a:latin typeface="Noto Sans KR"/>
                <a:ea typeface="Noto Sans KR"/>
                <a:cs typeface="Noto Sans KR"/>
              </a:rPr>
              <a:t>로봇 손목에 전용 전동 드라이버를 다는 편이 더 싸고 빠르고 정밀</a:t>
            </a:r>
          </a:p>
          <a:p>
            <a:pPr algn="l" marL="164592" indent="-164592">
              <a:lnSpc>
                <a:spcPct val="100000"/>
              </a:lnSpc>
              <a:buClr>
                <a:srgbClr val="8C9198"/>
              </a:buClr>
              <a:buFont typeface="Noto Sans KR"/>
              <a:buChar char="•"/>
            </a:pPr>
            <a:r>
              <a:rPr sz="1250" b="0">
                <a:solidFill>
                  <a:srgbClr val="4A4F57"/>
                </a:solidFill>
                <a:latin typeface="Noto Sans KR"/>
                <a:ea typeface="Noto Sans KR"/>
                <a:cs typeface="Noto Sans KR"/>
              </a:rPr>
              <a:t>핸드로 얻는 설비·엔드이펙터 절감 효과가 작음</a:t>
            </a:r>
          </a:p>
        </p:txBody>
      </p:sp>
      <p:sp>
        <p:nvSpPr>
          <p:cNvPr id="14" name="TextBox 13"/>
          <p:cNvSpPr txBox="1"/>
          <p:nvPr/>
        </p:nvSpPr>
        <p:spPr>
          <a:xfrm>
            <a:off x="5897880" y="4602734"/>
            <a:ext cx="5608015"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의미가 생기는 경우</a:t>
            </a:r>
          </a:p>
        </p:txBody>
      </p:sp>
      <p:cxnSp>
        <p:nvCxnSpPr>
          <p:cNvPr id="15" name="Connector 14"/>
          <p:cNvCxnSpPr/>
          <p:nvPr/>
        </p:nvCxnSpPr>
        <p:spPr>
          <a:xfrm>
            <a:off x="5897880" y="4931918"/>
            <a:ext cx="5608015" cy="0"/>
          </a:xfrm>
          <a:prstGeom prst="line">
            <a:avLst/>
          </a:prstGeom>
          <a:ln w="12700">
            <a:solidFill>
              <a:srgbClr val="15171A"/>
            </a:solidFill>
          </a:ln>
        </p:spPr>
      </p:cxnSp>
      <p:sp>
        <p:nvSpPr>
          <p:cNvPr id="16" name="TextBox 15"/>
          <p:cNvSpPr txBox="1"/>
          <p:nvPr/>
        </p:nvSpPr>
        <p:spPr>
          <a:xfrm>
            <a:off x="5897880" y="5041645"/>
            <a:ext cx="5608015" cy="556260"/>
          </a:xfrm>
          <a:prstGeom prst="rect">
            <a:avLst/>
          </a:prstGeom>
          <a:noFill/>
        </p:spPr>
        <p:txBody>
          <a:bodyPr wrap="square" lIns="0" rIns="0" tIns="0" bIns="0" anchor="t">
            <a:spAutoFit/>
          </a:bodyPr>
          <a:lstStyle/>
          <a:p>
            <a:pPr algn="l" marL="164592" indent="-164592">
              <a:lnSpc>
                <a:spcPct val="100000"/>
              </a:lnSpc>
              <a:spcAft>
                <a:spcPts val="400"/>
              </a:spcAft>
              <a:buClr>
                <a:srgbClr val="8C9198"/>
              </a:buClr>
              <a:buFont typeface="Noto Sans KR"/>
              <a:buChar char="•"/>
            </a:pPr>
            <a:r>
              <a:rPr sz="1250" b="0">
                <a:solidFill>
                  <a:srgbClr val="4A4F57"/>
                </a:solidFill>
                <a:latin typeface="Noto Sans KR"/>
                <a:ea typeface="Noto Sans KR"/>
                <a:cs typeface="Noto Sans KR"/>
              </a:rPr>
              <a:t>한 셀에서 체결이 가끔만 필요해 툴 체인저 추가가 과한 경우</a:t>
            </a:r>
          </a:p>
          <a:p>
            <a:pPr algn="l" marL="164592" indent="-164592">
              <a:lnSpc>
                <a:spcPct val="100000"/>
              </a:lnSpc>
              <a:buClr>
                <a:srgbClr val="8C9198"/>
              </a:buClr>
              <a:buFont typeface="Noto Sans KR"/>
              <a:buChar char="•"/>
            </a:pPr>
            <a:r>
              <a:rPr sz="1250" b="0">
                <a:solidFill>
                  <a:srgbClr val="4A4F57"/>
                </a:solidFill>
                <a:latin typeface="Noto Sans KR"/>
                <a:ea typeface="Noto Sans KR"/>
                <a:cs typeface="Noto Sans KR"/>
              </a:rPr>
              <a:t>사람용 공구를 그대로 써야 하는 서비스·주방 환경 (집게 등은 주방 벤치 데모)</a:t>
            </a:r>
          </a:p>
        </p:txBody>
      </p:sp>
      <p:sp>
        <p:nvSpPr>
          <p:cNvPr id="17" name="TextBox 16"/>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SoftHand-4  |  Seed 투자 제안서</a:t>
            </a:r>
          </a:p>
        </p:txBody>
      </p:sp>
      <p:sp>
        <p:nvSpPr>
          <p:cNvPr id="18" name="TextBox 17"/>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A8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7315200" cy="256032"/>
          </a:xfrm>
          <a:prstGeom prst="rect">
            <a:avLst/>
          </a:prstGeom>
          <a:noFill/>
        </p:spPr>
        <p:txBody>
          <a:bodyPr wrap="square" lIns="0" rIns="0" tIns="0" bIns="0" anchor="t">
            <a:spAutoFit/>
          </a:bodyPr>
          <a:lstStyle/>
          <a:p>
            <a:pPr algn="l">
              <a:lnSpc>
                <a:spcPct val="100000"/>
              </a:lnSpc>
            </a:pPr>
            <a:r>
              <a:rPr sz="1100" b="1">
                <a:solidFill>
                  <a:srgbClr val="E2571B"/>
                </a:solidFill>
                <a:latin typeface="Noto Sans KR"/>
                <a:ea typeface="Noto Sans KR"/>
                <a:cs typeface="Noto Sans KR"/>
              </a:rPr>
              <a:t>부록 A9</a:t>
            </a:r>
          </a:p>
        </p:txBody>
      </p:sp>
      <p:sp>
        <p:nvSpPr>
          <p:cNvPr id="3" name="TextBox 2"/>
          <p:cNvSpPr txBox="1"/>
          <p:nvPr/>
        </p:nvSpPr>
        <p:spPr>
          <a:xfrm>
            <a:off x="685800" y="822960"/>
            <a:ext cx="10820095" cy="475488"/>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수익 모델 가정</a:t>
            </a:r>
          </a:p>
        </p:txBody>
      </p:sp>
      <p:sp>
        <p:nvSpPr>
          <p:cNvPr id="4" name="TextBox 3"/>
          <p:cNvSpPr txBox="1"/>
          <p:nvPr/>
        </p:nvSpPr>
        <p:spPr>
          <a:xfrm>
            <a:off x="685800" y="1353312"/>
            <a:ext cx="10820095" cy="274320"/>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모든 가격·원가·마진은 검증 전 가정</a:t>
            </a:r>
          </a:p>
        </p:txBody>
      </p:sp>
      <p:graphicFrame>
        <p:nvGraphicFramePr>
          <p:cNvPr id="5" name="Table 4"/>
          <p:cNvGraphicFramePr>
            <a:graphicFrameLocks noGrp="1"/>
          </p:cNvGraphicFramePr>
          <p:nvPr/>
        </p:nvGraphicFramePr>
        <p:xfrm>
          <a:off x="685800" y="1874519"/>
          <a:ext cx="10817352" cy="3579569"/>
        </p:xfrm>
        <a:graphic>
          <a:graphicData uri="http://schemas.openxmlformats.org/drawingml/2006/table">
            <a:tbl>
              <a:tblPr firstRow="0" bandRow="0">
                <a:tableStyleId>{2D5ABB26-0587-4C30-8999-92F81FD0307C}</a:tableStyleId>
              </a:tblPr>
              <a:tblGrid>
                <a:gridCol w="1234440"/>
                <a:gridCol w="2331720"/>
                <a:gridCol w="3291840"/>
                <a:gridCol w="1783080"/>
                <a:gridCol w="2176272"/>
              </a:tblGrid>
              <a:tr h="385267">
                <a:tc>
                  <a:txBody>
                    <a:bodyPr wrap="square"/>
                    <a:lstStyle/>
                    <a:p>
                      <a:pPr algn="l">
                        <a:lnSpc>
                          <a:spcPct val="100000"/>
                        </a:lnSpc>
                      </a:pPr>
                      <a:r>
                        <a:rPr sz="1200" b="1">
                          <a:solidFill>
                            <a:srgbClr val="15171A"/>
                          </a:solidFill>
                          <a:latin typeface="Noto Sans KR"/>
                          <a:ea typeface="Noto Sans KR"/>
                          <a:cs typeface="Noto Sans KR"/>
                        </a:rPr>
                        <a:t>단계</a:t>
                      </a:r>
                    </a:p>
                  </a:txBody>
                  <a:tcPr marL="73152" marR="73152" marT="77724" marB="7772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200" b="1">
                          <a:solidFill>
                            <a:srgbClr val="15171A"/>
                          </a:solidFill>
                          <a:latin typeface="Noto Sans KR"/>
                          <a:ea typeface="Noto Sans KR"/>
                          <a:cs typeface="Noto Sans KR"/>
                        </a:rPr>
                        <a:t>매출원</a:t>
                      </a:r>
                    </a:p>
                  </a:txBody>
                  <a:tcPr marL="73152" marR="73152" marT="77724" marB="7772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200" b="1">
                          <a:solidFill>
                            <a:srgbClr val="15171A"/>
                          </a:solidFill>
                          <a:latin typeface="Noto Sans KR"/>
                          <a:ea typeface="Noto Sans KR"/>
                          <a:cs typeface="Noto Sans KR"/>
                        </a:rPr>
                        <a:t>과금 단위·가정 가격</a:t>
                      </a:r>
                    </a:p>
                  </a:txBody>
                  <a:tcPr marL="73152" marR="73152" marT="77724" marB="7772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200" b="1">
                          <a:solidFill>
                            <a:srgbClr val="15171A"/>
                          </a:solidFill>
                          <a:latin typeface="Noto Sans KR"/>
                          <a:ea typeface="Noto Sans KR"/>
                          <a:cs typeface="Noto Sans KR"/>
                        </a:rPr>
                        <a:t>매출총이익률 가정</a:t>
                      </a:r>
                    </a:p>
                  </a:txBody>
                  <a:tcPr marL="73152" marR="73152" marT="77724" marB="7772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200" b="1">
                          <a:solidFill>
                            <a:srgbClr val="15171A"/>
                          </a:solidFill>
                          <a:latin typeface="Noto Sans KR"/>
                          <a:ea typeface="Noto Sans KR"/>
                          <a:cs typeface="Noto Sans KR"/>
                        </a:rPr>
                        <a:t>역할</a:t>
                      </a:r>
                    </a:p>
                  </a:txBody>
                  <a:tcPr marL="73152" marR="73152" marT="77724" marB="77724" anchor="t">
                    <a:lnL w="0">
                      <a:noFill/>
                    </a:lnL>
                    <a:lnR w="0">
                      <a:noFill/>
                    </a:lnR>
                    <a:lnT w="12700">
                      <a:solidFill>
                        <a:srgbClr val="15171A"/>
                      </a:solidFill>
                    </a:lnT>
                    <a:lnB w="9525">
                      <a:solidFill>
                        <a:srgbClr val="15171A"/>
                      </a:solidFill>
                    </a:lnB>
                    <a:noFill/>
                  </a:tcPr>
                </a:tc>
              </a:tr>
              <a:tr h="605942">
                <a:tc>
                  <a:txBody>
                    <a:bodyPr wrap="square"/>
                    <a:lstStyle/>
                    <a:p>
                      <a:pPr algn="l">
                        <a:lnSpc>
                          <a:spcPct val="100000"/>
                        </a:lnSpc>
                      </a:pPr>
                      <a:r>
                        <a:rPr sz="1200" b="1">
                          <a:solidFill>
                            <a:srgbClr val="15171A"/>
                          </a:solidFill>
                          <a:latin typeface="Noto Sans KR"/>
                          <a:ea typeface="Noto Sans KR"/>
                          <a:cs typeface="Noto Sans KR"/>
                        </a:rPr>
                        <a:t>초기 (Seed)</a:t>
                      </a:r>
                    </a:p>
                  </a:txBody>
                  <a:tcPr marL="73152" marR="73152" marT="77724" marB="77724"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유료 PoC</a:t>
                      </a:r>
                    </a:p>
                  </a:txBody>
                  <a:tcPr marL="73152" marR="73152" marT="77724" marB="77724"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건당 5,000만 원 (8~12주, 대여 핸드 포함)</a:t>
                      </a:r>
                    </a:p>
                  </a:txBody>
                  <a:tcPr marL="73152" marR="73152" marT="77724" marB="77724"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40%</a:t>
                      </a:r>
                    </a:p>
                  </a:txBody>
                  <a:tcPr marL="73152" marR="73152" marT="77724" marB="77724"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지불의사 검증·고객 기존 수치 확보</a:t>
                      </a:r>
                    </a:p>
                  </a:txBody>
                  <a:tcPr marL="73152" marR="73152" marT="77724" marB="77724" anchor="t">
                    <a:lnL w="0">
                      <a:noFill/>
                    </a:lnL>
                    <a:lnR w="0">
                      <a:noFill/>
                    </a:lnR>
                    <a:lnT w="0">
                      <a:noFill/>
                    </a:lnT>
                    <a:lnB w="9525">
                      <a:solidFill>
                        <a:srgbClr val="E2E4E7"/>
                      </a:solidFill>
                    </a:lnB>
                    <a:noFill/>
                  </a:tcPr>
                </a:tc>
              </a:tr>
              <a:tr h="385267">
                <a:tc>
                  <a:txBody>
                    <a:bodyPr wrap="square"/>
                    <a:lstStyle/>
                    <a:p>
                      <a:pPr algn="l">
                        <a:lnSpc>
                          <a:spcPct val="100000"/>
                        </a:lnSpc>
                      </a:pPr>
                      <a:r>
                        <a:rPr sz="1200" b="1">
                          <a:solidFill>
                            <a:srgbClr val="15171A"/>
                          </a:solidFill>
                          <a:latin typeface="Noto Sans KR"/>
                          <a:ea typeface="Noto Sans KR"/>
                          <a:cs typeface="Noto Sans KR"/>
                        </a:rPr>
                        <a:t>초기</a:t>
                      </a:r>
                    </a:p>
                  </a:txBody>
                  <a:tcPr marL="73152" marR="73152" marT="77724" marB="77724"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통합 엔지니어링</a:t>
                      </a:r>
                    </a:p>
                  </a:txBody>
                  <a:tcPr marL="73152" marR="73152" marT="77724" marB="77724"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프로젝트당 4,000만 원</a:t>
                      </a:r>
                    </a:p>
                  </a:txBody>
                  <a:tcPr marL="73152" marR="73152" marT="77724" marB="77724"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40%</a:t>
                      </a:r>
                    </a:p>
                  </a:txBody>
                  <a:tcPr marL="73152" marR="73152" marT="77724" marB="77724"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진입 수단, 비중 축소 목표</a:t>
                      </a:r>
                    </a:p>
                  </a:txBody>
                  <a:tcPr marL="73152" marR="73152" marT="77724" marB="77724" anchor="t">
                    <a:lnL w="0">
                      <a:noFill/>
                    </a:lnL>
                    <a:lnR w="0">
                      <a:noFill/>
                    </a:lnR>
                    <a:lnT w="0">
                      <a:noFill/>
                    </a:lnT>
                    <a:lnB w="9525">
                      <a:solidFill>
                        <a:srgbClr val="E2E4E7"/>
                      </a:solidFill>
                    </a:lnB>
                    <a:noFill/>
                  </a:tcPr>
                </a:tc>
              </a:tr>
              <a:tr h="605942">
                <a:tc>
                  <a:txBody>
                    <a:bodyPr wrap="square"/>
                    <a:lstStyle/>
                    <a:p>
                      <a:pPr algn="l">
                        <a:lnSpc>
                          <a:spcPct val="100000"/>
                        </a:lnSpc>
                      </a:pPr>
                      <a:r>
                        <a:rPr sz="1200" b="1">
                          <a:solidFill>
                            <a:srgbClr val="15171A"/>
                          </a:solidFill>
                          <a:latin typeface="Noto Sans KR"/>
                          <a:ea typeface="Noto Sans KR"/>
                          <a:cs typeface="Noto Sans KR"/>
                        </a:rPr>
                        <a:t>초기~중기</a:t>
                      </a:r>
                    </a:p>
                  </a:txBody>
                  <a:tcPr marL="73152" marR="73152" marT="77724" marB="77724"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SoftHand 하드웨어</a:t>
                      </a:r>
                    </a:p>
                  </a:txBody>
                  <a:tcPr marL="73152" marR="73152" marT="77724" marB="77724"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핸드 패키지 1,500만 원 (직판)</a:t>
                      </a:r>
                    </a:p>
                    <a:p>
                      <a:pPr algn="l">
                        <a:lnSpc>
                          <a:spcPct val="100000"/>
                        </a:lnSpc>
                      </a:pPr>
                      <a:r>
                        <a:rPr sz="1200" b="0">
                          <a:solidFill>
                            <a:srgbClr val="15171A"/>
                          </a:solidFill>
                          <a:latin typeface="Noto Sans KR"/>
                          <a:ea typeface="Noto Sans KR"/>
                          <a:cs typeface="Noto Sans KR"/>
                        </a:rPr>
                        <a:t>1,200만 원 (SI 파트너 순매출)</a:t>
                      </a:r>
                    </a:p>
                  </a:txBody>
                  <a:tcPr marL="73152" marR="73152" marT="77724" marB="77724"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원가 950만 → 750만 원</a:t>
                      </a:r>
                    </a:p>
                  </a:txBody>
                  <a:tcPr marL="73152" marR="73152" marT="77724" marB="77724"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BOM·공급사 확정 후 재산정 (M18)</a:t>
                      </a:r>
                    </a:p>
                  </a:txBody>
                  <a:tcPr marL="73152" marR="73152" marT="77724" marB="77724" anchor="t">
                    <a:lnL w="0">
                      <a:noFill/>
                    </a:lnL>
                    <a:lnR w="0">
                      <a:noFill/>
                    </a:lnR>
                    <a:lnT w="0">
                      <a:noFill/>
                    </a:lnT>
                    <a:lnB w="9525">
                      <a:solidFill>
                        <a:srgbClr val="E2E4E7"/>
                      </a:solidFill>
                    </a:lnB>
                    <a:noFill/>
                  </a:tcPr>
                </a:tc>
              </a:tr>
              <a:tr h="605942">
                <a:tc>
                  <a:txBody>
                    <a:bodyPr wrap="square"/>
                    <a:lstStyle/>
                    <a:p>
                      <a:pPr algn="l">
                        <a:lnSpc>
                          <a:spcPct val="100000"/>
                        </a:lnSpc>
                      </a:pPr>
                      <a:r>
                        <a:rPr sz="1200" b="1">
                          <a:solidFill>
                            <a:srgbClr val="15171A"/>
                          </a:solidFill>
                          <a:latin typeface="Noto Sans KR"/>
                          <a:ea typeface="Noto Sans KR"/>
                          <a:cs typeface="Noto Sans KR"/>
                        </a:rPr>
                        <a:t>초기~중기</a:t>
                      </a:r>
                    </a:p>
                  </a:txBody>
                  <a:tcPr marL="73152" marR="73152" marT="77724" marB="77724"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작업 스킬 패키지</a:t>
                      </a:r>
                    </a:p>
                  </a:txBody>
                  <a:tcPr marL="73152" marR="73152" marT="77724" marB="77724"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핸드당 300만 원 (파트너 240만 원)</a:t>
                      </a:r>
                    </a:p>
                    <a:p>
                      <a:pPr algn="l">
                        <a:lnSpc>
                          <a:spcPct val="100000"/>
                        </a:lnSpc>
                      </a:pPr>
                      <a:r>
                        <a:rPr sz="1200" b="0">
                          <a:solidFill>
                            <a:srgbClr val="15171A"/>
                          </a:solidFill>
                          <a:latin typeface="Noto Sans KR"/>
                          <a:ea typeface="Noto Sans KR"/>
                          <a:cs typeface="Noto Sans KR"/>
                        </a:rPr>
                        <a:t>핸드당 1.0 → 1.6개</a:t>
                      </a:r>
                    </a:p>
                  </a:txBody>
                  <a:tcPr marL="73152" marR="73152" marT="77724" marB="77724"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85%</a:t>
                      </a:r>
                    </a:p>
                  </a:txBody>
                  <a:tcPr marL="73152" marR="73152" marT="77724" marB="77724"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승인 작업 단위 판매</a:t>
                      </a:r>
                    </a:p>
                  </a:txBody>
                  <a:tcPr marL="73152" marR="73152" marT="77724" marB="77724" anchor="t">
                    <a:lnL w="0">
                      <a:noFill/>
                    </a:lnL>
                    <a:lnR w="0">
                      <a:noFill/>
                    </a:lnR>
                    <a:lnT w="0">
                      <a:noFill/>
                    </a:lnT>
                    <a:lnB w="9525">
                      <a:solidFill>
                        <a:srgbClr val="E2E4E7"/>
                      </a:solidFill>
                    </a:lnB>
                    <a:noFill/>
                  </a:tcPr>
                </a:tc>
              </a:tr>
              <a:tr h="385267">
                <a:tc>
                  <a:txBody>
                    <a:bodyPr wrap="square"/>
                    <a:lstStyle/>
                    <a:p>
                      <a:pPr algn="l">
                        <a:lnSpc>
                          <a:spcPct val="100000"/>
                        </a:lnSpc>
                      </a:pPr>
                      <a:r>
                        <a:rPr sz="1200" b="1">
                          <a:solidFill>
                            <a:srgbClr val="15171A"/>
                          </a:solidFill>
                          <a:latin typeface="Noto Sans KR"/>
                          <a:ea typeface="Noto Sans KR"/>
                          <a:cs typeface="Noto Sans KR"/>
                        </a:rPr>
                        <a:t>중기</a:t>
                      </a:r>
                    </a:p>
                  </a:txBody>
                  <a:tcPr marL="73152" marR="73152" marT="77724" marB="77724"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런타임·유지보수</a:t>
                      </a:r>
                    </a:p>
                  </a:txBody>
                  <a:tcPr marL="73152" marR="73152" marT="77724" marB="77724"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설치 핸드당 연 150만 원</a:t>
                      </a:r>
                    </a:p>
                  </a:txBody>
                  <a:tcPr marL="73152" marR="73152" marT="77724" marB="77724"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70%</a:t>
                      </a:r>
                    </a:p>
                  </a:txBody>
                  <a:tcPr marL="73152" marR="73152" marT="77724" marB="77724"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설치 기반 반복 매출</a:t>
                      </a:r>
                    </a:p>
                  </a:txBody>
                  <a:tcPr marL="73152" marR="73152" marT="77724" marB="77724" anchor="t">
                    <a:lnL w="0">
                      <a:noFill/>
                    </a:lnL>
                    <a:lnR w="0">
                      <a:noFill/>
                    </a:lnR>
                    <a:lnT w="0">
                      <a:noFill/>
                    </a:lnT>
                    <a:lnB w="9525">
                      <a:solidFill>
                        <a:srgbClr val="E2E4E7"/>
                      </a:solidFill>
                    </a:lnB>
                    <a:noFill/>
                  </a:tcPr>
                </a:tc>
              </a:tr>
              <a:tr h="605942">
                <a:tc>
                  <a:txBody>
                    <a:bodyPr wrap="square"/>
                    <a:lstStyle/>
                    <a:p>
                      <a:pPr algn="l">
                        <a:lnSpc>
                          <a:spcPct val="100000"/>
                        </a:lnSpc>
                      </a:pPr>
                      <a:r>
                        <a:rPr sz="1200" b="1">
                          <a:solidFill>
                            <a:srgbClr val="15171A"/>
                          </a:solidFill>
                          <a:latin typeface="Noto Sans KR"/>
                          <a:ea typeface="Noto Sans KR"/>
                          <a:cs typeface="Noto Sans KR"/>
                        </a:rPr>
                        <a:t>장기</a:t>
                      </a:r>
                    </a:p>
                  </a:txBody>
                  <a:tcPr marL="73152" marR="73152" marT="77724" marB="77724"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OEM 라이선스·내장 런타임·로열티</a:t>
                      </a:r>
                    </a:p>
                  </a:txBody>
                  <a:tcPr marL="73152" marR="73152" marT="77724" marB="77724"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출하량 연동 [OEM 협의 후 검증]</a:t>
                      </a:r>
                    </a:p>
                  </a:txBody>
                  <a:tcPr marL="73152" marR="73152" marT="77724" marB="77724"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a:t>
                      </a:r>
                    </a:p>
                  </a:txBody>
                  <a:tcPr marL="73152" marR="73152" marT="77724" marB="77724"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기본 시나리오 미반영 (확장 계기)</a:t>
                      </a:r>
                    </a:p>
                  </a:txBody>
                  <a:tcPr marL="73152" marR="73152" marT="77724" marB="77724" anchor="t">
                    <a:lnL w="0">
                      <a:noFill/>
                    </a:lnL>
                    <a:lnR w="0">
                      <a:noFill/>
                    </a:lnR>
                    <a:lnT w="0">
                      <a:noFill/>
                    </a:lnT>
                    <a:lnB w="9525">
                      <a:solidFill>
                        <a:srgbClr val="E2E4E7"/>
                      </a:solidFill>
                    </a:lnB>
                    <a:noFill/>
                  </a:tcPr>
                </a:tc>
              </a:tr>
            </a:tbl>
          </a:graphicData>
        </a:graphic>
      </p:graphicFrame>
      <p:sp>
        <p:nvSpPr>
          <p:cNvPr id="6" name="TextBox 5"/>
          <p:cNvSpPr txBox="1"/>
          <p:nvPr/>
        </p:nvSpPr>
        <p:spPr>
          <a:xfrm>
            <a:off x="685800" y="6107176"/>
            <a:ext cx="10820095" cy="202184"/>
          </a:xfrm>
          <a:prstGeom prst="rect">
            <a:avLst/>
          </a:prstGeom>
          <a:noFill/>
        </p:spPr>
        <p:txBody>
          <a:bodyPr wrap="square" lIns="0" rIns="0" tIns="0" bIns="0" anchor="t">
            <a:spAutoFit/>
          </a:bodyPr>
          <a:lstStyle/>
          <a:p>
            <a:pPr algn="l">
              <a:lnSpc>
                <a:spcPct val="100000"/>
              </a:lnSpc>
            </a:pPr>
            <a:r>
              <a:rPr sz="1000" b="0">
                <a:solidFill>
                  <a:srgbClr val="8C9198"/>
                </a:solidFill>
                <a:latin typeface="Noto Sans KR"/>
                <a:ea typeface="Noto Sans KR"/>
                <a:cs typeface="Noto Sans KR"/>
              </a:rPr>
              <a:t>통합 매출은 숨기지 않되 장기 모델이 아닌 진입·제품화 수단으로 정의 · 주방 셀 판매는 기본 시나리오에서 제외 · 확정 표현이던 "스킬 연간 구독·소프트웨어 마진 70%"는 단계별 가정으로 전환</a:t>
            </a:r>
          </a:p>
        </p:txBody>
      </p:sp>
      <p:sp>
        <p:nvSpPr>
          <p:cNvPr id="7" name="TextBox 6"/>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SoftHand-4  |  Seed 투자 제안서</a:t>
            </a:r>
          </a:p>
        </p:txBody>
      </p:sp>
      <p:sp>
        <p:nvSpPr>
          <p:cNvPr id="8" name="TextBox 7"/>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A9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7315200" cy="256032"/>
          </a:xfrm>
          <a:prstGeom prst="rect">
            <a:avLst/>
          </a:prstGeom>
          <a:noFill/>
        </p:spPr>
        <p:txBody>
          <a:bodyPr wrap="square" lIns="0" rIns="0" tIns="0" bIns="0" anchor="t">
            <a:spAutoFit/>
          </a:bodyPr>
          <a:lstStyle/>
          <a:p>
            <a:pPr algn="l">
              <a:lnSpc>
                <a:spcPct val="100000"/>
              </a:lnSpc>
            </a:pPr>
            <a:r>
              <a:rPr sz="1100" b="1">
                <a:solidFill>
                  <a:srgbClr val="E2571B"/>
                </a:solidFill>
                <a:latin typeface="Noto Sans KR"/>
                <a:ea typeface="Noto Sans KR"/>
                <a:cs typeface="Noto Sans KR"/>
              </a:rPr>
              <a:t>부록 A10</a:t>
            </a:r>
          </a:p>
        </p:txBody>
      </p:sp>
      <p:sp>
        <p:nvSpPr>
          <p:cNvPr id="3" name="TextBox 2"/>
          <p:cNvSpPr txBox="1"/>
          <p:nvPr/>
        </p:nvSpPr>
        <p:spPr>
          <a:xfrm>
            <a:off x="685800" y="822960"/>
            <a:ext cx="10820095" cy="475488"/>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5개년 손익 상세 (기본 시나리오)</a:t>
            </a:r>
          </a:p>
        </p:txBody>
      </p:sp>
      <p:sp>
        <p:nvSpPr>
          <p:cNvPr id="4" name="TextBox 3"/>
          <p:cNvSpPr txBox="1"/>
          <p:nvPr/>
        </p:nvSpPr>
        <p:spPr>
          <a:xfrm>
            <a:off x="685800" y="1353312"/>
            <a:ext cx="10820095" cy="274320"/>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단위: 억 원 · 1년차 = 투자 집행 첫해 · 주방·OEM 매출 0원 (상승 요인으로 분리)</a:t>
            </a:r>
          </a:p>
        </p:txBody>
      </p:sp>
      <p:graphicFrame>
        <p:nvGraphicFramePr>
          <p:cNvPr id="5" name="Table 4"/>
          <p:cNvGraphicFramePr>
            <a:graphicFrameLocks noGrp="1"/>
          </p:cNvGraphicFramePr>
          <p:nvPr/>
        </p:nvGraphicFramePr>
        <p:xfrm>
          <a:off x="685800" y="1847088"/>
          <a:ext cx="7086600" cy="4112150"/>
        </p:xfrm>
        <a:graphic>
          <a:graphicData uri="http://schemas.openxmlformats.org/drawingml/2006/table">
            <a:tbl>
              <a:tblPr firstRow="0" bandRow="0">
                <a:tableStyleId>{2D5ABB26-0587-4C30-8999-92F81FD0307C}</a:tableStyleId>
              </a:tblPr>
              <a:tblGrid>
                <a:gridCol w="2514600"/>
                <a:gridCol w="914400"/>
                <a:gridCol w="914400"/>
                <a:gridCol w="914400"/>
                <a:gridCol w="914400"/>
                <a:gridCol w="914400"/>
              </a:tblGrid>
              <a:tr h="293725">
                <a:tc>
                  <a:txBody>
                    <a:bodyPr wrap="square"/>
                    <a:lstStyle/>
                    <a:p>
                      <a:pPr algn="l">
                        <a:lnSpc>
                          <a:spcPct val="100000"/>
                        </a:lnSpc>
                      </a:pPr>
                      <a:r>
                        <a:rPr sz="1100" b="1">
                          <a:solidFill>
                            <a:srgbClr val="15171A"/>
                          </a:solidFill>
                          <a:latin typeface="Noto Sans KR"/>
                          <a:ea typeface="Noto Sans KR"/>
                          <a:cs typeface="Noto Sans KR"/>
                        </a:rPr>
                        <a:t>항목</a:t>
                      </a:r>
                    </a:p>
                  </a:txBody>
                  <a:tcPr marL="73152" marR="73152" marT="41148" marB="41148"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1100" b="1">
                          <a:solidFill>
                            <a:srgbClr val="15171A"/>
                          </a:solidFill>
                          <a:latin typeface="Noto Sans KR"/>
                          <a:ea typeface="Noto Sans KR"/>
                          <a:cs typeface="Noto Sans KR"/>
                        </a:rPr>
                        <a:t>1년</a:t>
                      </a:r>
                    </a:p>
                  </a:txBody>
                  <a:tcPr marL="73152" marR="73152" marT="41148" marB="41148"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1100" b="1">
                          <a:solidFill>
                            <a:srgbClr val="15171A"/>
                          </a:solidFill>
                          <a:latin typeface="Noto Sans KR"/>
                          <a:ea typeface="Noto Sans KR"/>
                          <a:cs typeface="Noto Sans KR"/>
                        </a:rPr>
                        <a:t>2년</a:t>
                      </a:r>
                    </a:p>
                  </a:txBody>
                  <a:tcPr marL="73152" marR="73152" marT="41148" marB="41148"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1100" b="1">
                          <a:solidFill>
                            <a:srgbClr val="15171A"/>
                          </a:solidFill>
                          <a:latin typeface="Noto Sans KR"/>
                          <a:ea typeface="Noto Sans KR"/>
                          <a:cs typeface="Noto Sans KR"/>
                        </a:rPr>
                        <a:t>3년</a:t>
                      </a:r>
                    </a:p>
                  </a:txBody>
                  <a:tcPr marL="73152" marR="73152" marT="41148" marB="41148"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1100" b="1">
                          <a:solidFill>
                            <a:srgbClr val="15171A"/>
                          </a:solidFill>
                          <a:latin typeface="Noto Sans KR"/>
                          <a:ea typeface="Noto Sans KR"/>
                          <a:cs typeface="Noto Sans KR"/>
                        </a:rPr>
                        <a:t>4년</a:t>
                      </a:r>
                    </a:p>
                  </a:txBody>
                  <a:tcPr marL="73152" marR="73152" marT="41148" marB="41148"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1100" b="1">
                          <a:solidFill>
                            <a:srgbClr val="15171A"/>
                          </a:solidFill>
                          <a:latin typeface="Noto Sans KR"/>
                          <a:ea typeface="Noto Sans KR"/>
                          <a:cs typeface="Noto Sans KR"/>
                        </a:rPr>
                        <a:t>5년</a:t>
                      </a:r>
                    </a:p>
                  </a:txBody>
                  <a:tcPr marL="73152" marR="73152" marT="41148" marB="41148" anchor="t">
                    <a:lnL w="0">
                      <a:noFill/>
                    </a:lnL>
                    <a:lnR w="0">
                      <a:noFill/>
                    </a:lnR>
                    <a:lnT w="12700">
                      <a:solidFill>
                        <a:srgbClr val="15171A"/>
                      </a:solidFill>
                    </a:lnT>
                    <a:lnB w="9525">
                      <a:solidFill>
                        <a:srgbClr val="15171A"/>
                      </a:solidFill>
                    </a:lnB>
                    <a:noFill/>
                  </a:tcPr>
                </a:tc>
              </a:tr>
              <a:tr h="293725">
                <a:tc>
                  <a:txBody>
                    <a:bodyPr wrap="square"/>
                    <a:lstStyle/>
                    <a:p>
                      <a:pPr algn="l">
                        <a:lnSpc>
                          <a:spcPct val="100000"/>
                        </a:lnSpc>
                      </a:pPr>
                      <a:r>
                        <a:rPr sz="1100" b="0">
                          <a:solidFill>
                            <a:srgbClr val="15171A"/>
                          </a:solidFill>
                          <a:latin typeface="Noto Sans KR"/>
                          <a:ea typeface="Noto Sans KR"/>
                          <a:cs typeface="Noto Sans KR"/>
                        </a:rPr>
                        <a:t>유료 PoC / 통합 (건)</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1 / 0</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4 / 2</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5 / 6</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6 / 8</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6 / 8</a:t>
                      </a:r>
                    </a:p>
                  </a:txBody>
                  <a:tcPr marL="73152" marR="73152" marT="41148" marB="41148" anchor="t">
                    <a:lnL w="0">
                      <a:noFill/>
                    </a:lnL>
                    <a:lnR w="0">
                      <a:noFill/>
                    </a:lnR>
                    <a:lnT w="0">
                      <a:noFill/>
                    </a:lnT>
                    <a:lnB w="9525">
                      <a:solidFill>
                        <a:srgbClr val="E2E4E7"/>
                      </a:solidFill>
                    </a:lnB>
                    <a:noFill/>
                  </a:tcPr>
                </a:tc>
              </a:tr>
              <a:tr h="293725">
                <a:tc>
                  <a:txBody>
                    <a:bodyPr wrap="square"/>
                    <a:lstStyle/>
                    <a:p>
                      <a:pPr algn="l">
                        <a:lnSpc>
                          <a:spcPct val="100000"/>
                        </a:lnSpc>
                      </a:pPr>
                      <a:r>
                        <a:rPr sz="1100" b="0">
                          <a:solidFill>
                            <a:srgbClr val="15171A"/>
                          </a:solidFill>
                          <a:latin typeface="Noto Sans KR"/>
                          <a:ea typeface="Noto Sans KR"/>
                          <a:cs typeface="Noto Sans KR"/>
                        </a:rPr>
                        <a:t>신규 핸드 (대) 직판 / 파트너</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0 / 0</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6 / 0</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24 / 12</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50 / 50</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80 / 120</a:t>
                      </a:r>
                    </a:p>
                  </a:txBody>
                  <a:tcPr marL="73152" marR="73152" marT="41148" marB="41148" anchor="t">
                    <a:lnL w="0">
                      <a:noFill/>
                    </a:lnL>
                    <a:lnR w="0">
                      <a:noFill/>
                    </a:lnR>
                    <a:lnT w="0">
                      <a:noFill/>
                    </a:lnT>
                    <a:lnB w="9525">
                      <a:solidFill>
                        <a:srgbClr val="E2E4E7"/>
                      </a:solidFill>
                    </a:lnB>
                    <a:noFill/>
                  </a:tcPr>
                </a:tc>
              </a:tr>
              <a:tr h="293725">
                <a:tc>
                  <a:txBody>
                    <a:bodyPr wrap="square"/>
                    <a:lstStyle/>
                    <a:p>
                      <a:pPr algn="l">
                        <a:lnSpc>
                          <a:spcPct val="100000"/>
                        </a:lnSpc>
                      </a:pPr>
                      <a:r>
                        <a:rPr sz="1100" b="0">
                          <a:solidFill>
                            <a:srgbClr val="15171A"/>
                          </a:solidFill>
                          <a:latin typeface="Noto Sans KR"/>
                          <a:ea typeface="Noto Sans KR"/>
                          <a:cs typeface="Noto Sans KR"/>
                        </a:rPr>
                        <a:t>설치 핸드 누적 (대)</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0</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6</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42</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142</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342</a:t>
                      </a:r>
                    </a:p>
                  </a:txBody>
                  <a:tcPr marL="73152" marR="73152" marT="41148" marB="41148" anchor="t">
                    <a:lnL w="0">
                      <a:noFill/>
                    </a:lnL>
                    <a:lnR w="0">
                      <a:noFill/>
                    </a:lnR>
                    <a:lnT w="0">
                      <a:noFill/>
                    </a:lnT>
                    <a:lnB w="9525">
                      <a:solidFill>
                        <a:srgbClr val="E2E4E7"/>
                      </a:solidFill>
                    </a:lnB>
                    <a:noFill/>
                  </a:tcPr>
                </a:tc>
              </a:tr>
              <a:tr h="293725">
                <a:tc>
                  <a:txBody>
                    <a:bodyPr wrap="square"/>
                    <a:lstStyle/>
                    <a:p>
                      <a:pPr algn="l">
                        <a:lnSpc>
                          <a:spcPct val="100000"/>
                        </a:lnSpc>
                      </a:pPr>
                      <a:r>
                        <a:rPr sz="1100" b="0">
                          <a:solidFill>
                            <a:srgbClr val="15171A"/>
                          </a:solidFill>
                          <a:latin typeface="Noto Sans KR"/>
                          <a:ea typeface="Noto Sans KR"/>
                          <a:cs typeface="Noto Sans KR"/>
                        </a:rPr>
                        <a:t>매출: 유료 PoC·통합</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0.5</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2.8</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4.9</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6.2</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6.2</a:t>
                      </a:r>
                    </a:p>
                  </a:txBody>
                  <a:tcPr marL="73152" marR="73152" marT="41148" marB="41148" anchor="t">
                    <a:lnL w="0">
                      <a:noFill/>
                    </a:lnL>
                    <a:lnR w="0">
                      <a:noFill/>
                    </a:lnR>
                    <a:lnT w="0">
                      <a:noFill/>
                    </a:lnT>
                    <a:lnB w="9525">
                      <a:solidFill>
                        <a:srgbClr val="E2E4E7"/>
                      </a:solidFill>
                    </a:lnB>
                    <a:noFill/>
                  </a:tcPr>
                </a:tc>
              </a:tr>
              <a:tr h="293725">
                <a:tc>
                  <a:txBody>
                    <a:bodyPr wrap="square"/>
                    <a:lstStyle/>
                    <a:p>
                      <a:pPr algn="l">
                        <a:lnSpc>
                          <a:spcPct val="100000"/>
                        </a:lnSpc>
                      </a:pPr>
                      <a:r>
                        <a:rPr sz="1100" b="0">
                          <a:solidFill>
                            <a:srgbClr val="15171A"/>
                          </a:solidFill>
                          <a:latin typeface="Noto Sans KR"/>
                          <a:ea typeface="Noto Sans KR"/>
                          <a:cs typeface="Noto Sans KR"/>
                        </a:rPr>
                        <a:t>매출: SoftHand 하드웨어</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0.0</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0.9</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3.6</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7.5</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12.0</a:t>
                      </a:r>
                    </a:p>
                  </a:txBody>
                  <a:tcPr marL="73152" marR="73152" marT="41148" marB="41148" anchor="t">
                    <a:lnL w="0">
                      <a:noFill/>
                    </a:lnL>
                    <a:lnR w="0">
                      <a:noFill/>
                    </a:lnR>
                    <a:lnT w="0">
                      <a:noFill/>
                    </a:lnT>
                    <a:lnB w="9525">
                      <a:solidFill>
                        <a:srgbClr val="E2E4E7"/>
                      </a:solidFill>
                    </a:lnB>
                    <a:noFill/>
                  </a:tcPr>
                </a:tc>
              </a:tr>
              <a:tr h="293725">
                <a:tc>
                  <a:txBody>
                    <a:bodyPr wrap="square"/>
                    <a:lstStyle/>
                    <a:p>
                      <a:pPr algn="l">
                        <a:lnSpc>
                          <a:spcPct val="100000"/>
                        </a:lnSpc>
                      </a:pPr>
                      <a:r>
                        <a:rPr sz="1100" b="0">
                          <a:solidFill>
                            <a:srgbClr val="15171A"/>
                          </a:solidFill>
                          <a:latin typeface="Noto Sans KR"/>
                          <a:ea typeface="Noto Sans KR"/>
                          <a:cs typeface="Noto Sans KR"/>
                        </a:rPr>
                        <a:t>매출: 작업 스킬</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0.0</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0.2</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0.9</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2.1</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3.8</a:t>
                      </a:r>
                    </a:p>
                  </a:txBody>
                  <a:tcPr marL="73152" marR="73152" marT="41148" marB="41148" anchor="t">
                    <a:lnL w="0">
                      <a:noFill/>
                    </a:lnL>
                    <a:lnR w="0">
                      <a:noFill/>
                    </a:lnR>
                    <a:lnT w="0">
                      <a:noFill/>
                    </a:lnT>
                    <a:lnB w="9525">
                      <a:solidFill>
                        <a:srgbClr val="E2E4E7"/>
                      </a:solidFill>
                    </a:lnB>
                    <a:noFill/>
                  </a:tcPr>
                </a:tc>
              </a:tr>
              <a:tr h="293725">
                <a:tc>
                  <a:txBody>
                    <a:bodyPr wrap="square"/>
                    <a:lstStyle/>
                    <a:p>
                      <a:pPr algn="l">
                        <a:lnSpc>
                          <a:spcPct val="100000"/>
                        </a:lnSpc>
                      </a:pPr>
                      <a:r>
                        <a:rPr sz="1100" b="0">
                          <a:solidFill>
                            <a:srgbClr val="15171A"/>
                          </a:solidFill>
                          <a:latin typeface="Noto Sans KR"/>
                          <a:ea typeface="Noto Sans KR"/>
                          <a:cs typeface="Noto Sans KR"/>
                        </a:rPr>
                        <a:t>매출: 런타임·유지보수</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0.0</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0.0</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0.4</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1.4</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3.6</a:t>
                      </a:r>
                    </a:p>
                  </a:txBody>
                  <a:tcPr marL="73152" marR="73152" marT="41148" marB="41148" anchor="t">
                    <a:lnL w="0">
                      <a:noFill/>
                    </a:lnL>
                    <a:lnR w="0">
                      <a:noFill/>
                    </a:lnR>
                    <a:lnT w="0">
                      <a:noFill/>
                    </a:lnT>
                    <a:lnB w="9525">
                      <a:solidFill>
                        <a:srgbClr val="E2E4E7"/>
                      </a:solidFill>
                    </a:lnB>
                    <a:noFill/>
                  </a:tcPr>
                </a:tc>
              </a:tr>
              <a:tr h="293725">
                <a:tc>
                  <a:txBody>
                    <a:bodyPr wrap="square"/>
                    <a:lstStyle/>
                    <a:p>
                      <a:pPr algn="l">
                        <a:lnSpc>
                          <a:spcPct val="100000"/>
                        </a:lnSpc>
                      </a:pPr>
                      <a:r>
                        <a:rPr sz="1100" b="0">
                          <a:solidFill>
                            <a:srgbClr val="15171A"/>
                          </a:solidFill>
                          <a:latin typeface="Noto Sans KR"/>
                          <a:ea typeface="Noto Sans KR"/>
                          <a:cs typeface="Noto Sans KR"/>
                        </a:rPr>
                        <a:t>매출: 파트너 판매 (하드웨어+스킬)</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0.0</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0.0</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1.8</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7.7</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19.0</a:t>
                      </a:r>
                    </a:p>
                  </a:txBody>
                  <a:tcPr marL="73152" marR="73152" marT="41148" marB="41148" anchor="t">
                    <a:lnL w="0">
                      <a:noFill/>
                    </a:lnL>
                    <a:lnR w="0">
                      <a:noFill/>
                    </a:lnR>
                    <a:lnT w="0">
                      <a:noFill/>
                    </a:lnT>
                    <a:lnB w="9525">
                      <a:solidFill>
                        <a:srgbClr val="E2E4E7"/>
                      </a:solidFill>
                    </a:lnB>
                    <a:noFill/>
                  </a:tcPr>
                </a:tc>
              </a:tr>
              <a:tr h="293725">
                <a:tc>
                  <a:txBody>
                    <a:bodyPr wrap="square"/>
                    <a:lstStyle/>
                    <a:p>
                      <a:pPr algn="l">
                        <a:lnSpc>
                          <a:spcPct val="100000"/>
                        </a:lnSpc>
                      </a:pPr>
                      <a:r>
                        <a:rPr sz="1100" b="1">
                          <a:solidFill>
                            <a:srgbClr val="15171A"/>
                          </a:solidFill>
                          <a:latin typeface="Noto Sans KR"/>
                          <a:ea typeface="Noto Sans KR"/>
                          <a:cs typeface="Noto Sans KR"/>
                        </a:rPr>
                        <a:t>총매출</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1">
                          <a:solidFill>
                            <a:srgbClr val="15171A"/>
                          </a:solidFill>
                          <a:latin typeface="Noto Sans KR"/>
                          <a:ea typeface="Noto Sans KR"/>
                          <a:cs typeface="Noto Sans KR"/>
                        </a:rPr>
                        <a:t>0.5</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1">
                          <a:solidFill>
                            <a:srgbClr val="15171A"/>
                          </a:solidFill>
                          <a:latin typeface="Noto Sans KR"/>
                          <a:ea typeface="Noto Sans KR"/>
                          <a:cs typeface="Noto Sans KR"/>
                        </a:rPr>
                        <a:t>3.9</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1">
                          <a:solidFill>
                            <a:srgbClr val="15171A"/>
                          </a:solidFill>
                          <a:latin typeface="Noto Sans KR"/>
                          <a:ea typeface="Noto Sans KR"/>
                          <a:cs typeface="Noto Sans KR"/>
                        </a:rPr>
                        <a:t>11.5</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1">
                          <a:solidFill>
                            <a:srgbClr val="15171A"/>
                          </a:solidFill>
                          <a:latin typeface="Noto Sans KR"/>
                          <a:ea typeface="Noto Sans KR"/>
                          <a:cs typeface="Noto Sans KR"/>
                        </a:rPr>
                        <a:t>24.9</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1">
                          <a:solidFill>
                            <a:srgbClr val="15171A"/>
                          </a:solidFill>
                          <a:latin typeface="Noto Sans KR"/>
                          <a:ea typeface="Noto Sans KR"/>
                          <a:cs typeface="Noto Sans KR"/>
                        </a:rPr>
                        <a:t>44.7</a:t>
                      </a:r>
                    </a:p>
                  </a:txBody>
                  <a:tcPr marL="73152" marR="73152" marT="41148" marB="41148" anchor="t">
                    <a:lnL w="0">
                      <a:noFill/>
                    </a:lnL>
                    <a:lnR w="0">
                      <a:noFill/>
                    </a:lnR>
                    <a:lnT w="0">
                      <a:noFill/>
                    </a:lnT>
                    <a:lnB w="9525">
                      <a:solidFill>
                        <a:srgbClr val="E2E4E7"/>
                      </a:solidFill>
                    </a:lnB>
                    <a:noFill/>
                  </a:tcPr>
                </a:tc>
              </a:tr>
              <a:tr h="293725">
                <a:tc>
                  <a:txBody>
                    <a:bodyPr wrap="square"/>
                    <a:lstStyle/>
                    <a:p>
                      <a:pPr algn="l">
                        <a:lnSpc>
                          <a:spcPct val="100000"/>
                        </a:lnSpc>
                      </a:pPr>
                      <a:r>
                        <a:rPr sz="1100" b="0">
                          <a:solidFill>
                            <a:srgbClr val="15171A"/>
                          </a:solidFill>
                          <a:latin typeface="Noto Sans KR"/>
                          <a:ea typeface="Noto Sans KR"/>
                          <a:cs typeface="Noto Sans KR"/>
                        </a:rPr>
                        <a:t>매출총이익 (이익률)</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0.2 (40%)</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1.6 (42%)</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5.0 (44%)</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12.0 (48%)</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23.6 (53%)</a:t>
                      </a:r>
                    </a:p>
                  </a:txBody>
                  <a:tcPr marL="73152" marR="73152" marT="41148" marB="41148" anchor="t">
                    <a:lnL w="0">
                      <a:noFill/>
                    </a:lnL>
                    <a:lnR w="0">
                      <a:noFill/>
                    </a:lnR>
                    <a:lnT w="0">
                      <a:noFill/>
                    </a:lnT>
                    <a:lnB w="9525">
                      <a:solidFill>
                        <a:srgbClr val="E2E4E7"/>
                      </a:solidFill>
                    </a:lnB>
                    <a:noFill/>
                  </a:tcPr>
                </a:tc>
              </a:tr>
              <a:tr h="293725">
                <a:tc>
                  <a:txBody>
                    <a:bodyPr wrap="square"/>
                    <a:lstStyle/>
                    <a:p>
                      <a:pPr algn="l">
                        <a:lnSpc>
                          <a:spcPct val="100000"/>
                        </a:lnSpc>
                      </a:pPr>
                      <a:r>
                        <a:rPr sz="1100" b="0">
                          <a:solidFill>
                            <a:srgbClr val="15171A"/>
                          </a:solidFill>
                          <a:latin typeface="Noto Sans KR"/>
                          <a:ea typeface="Noto Sans KR"/>
                          <a:cs typeface="Noto Sans KR"/>
                        </a:rPr>
                        <a:t>운영비</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7.7</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10.6</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14.6</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19.5</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23.7</a:t>
                      </a:r>
                    </a:p>
                  </a:txBody>
                  <a:tcPr marL="73152" marR="73152" marT="41148" marB="41148" anchor="t">
                    <a:lnL w="0">
                      <a:noFill/>
                    </a:lnL>
                    <a:lnR w="0">
                      <a:noFill/>
                    </a:lnR>
                    <a:lnT w="0">
                      <a:noFill/>
                    </a:lnT>
                    <a:lnB w="9525">
                      <a:solidFill>
                        <a:srgbClr val="E2E4E7"/>
                      </a:solidFill>
                    </a:lnB>
                    <a:noFill/>
                  </a:tcPr>
                </a:tc>
              </a:tr>
              <a:tr h="293725">
                <a:tc>
                  <a:txBody>
                    <a:bodyPr wrap="square"/>
                    <a:lstStyle/>
                    <a:p>
                      <a:pPr algn="l">
                        <a:lnSpc>
                          <a:spcPct val="100000"/>
                        </a:lnSpc>
                      </a:pPr>
                      <a:r>
                        <a:rPr sz="1100" b="1">
                          <a:solidFill>
                            <a:srgbClr val="15171A"/>
                          </a:solidFill>
                          <a:latin typeface="Noto Sans KR"/>
                          <a:ea typeface="Noto Sans KR"/>
                          <a:cs typeface="Noto Sans KR"/>
                        </a:rPr>
                        <a:t>영업손익</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1">
                          <a:solidFill>
                            <a:srgbClr val="15171A"/>
                          </a:solidFill>
                          <a:latin typeface="Noto Sans KR"/>
                          <a:ea typeface="Noto Sans KR"/>
                          <a:cs typeface="Noto Sans KR"/>
                        </a:rPr>
                        <a:t>−7.5</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1">
                          <a:solidFill>
                            <a:srgbClr val="15171A"/>
                          </a:solidFill>
                          <a:latin typeface="Noto Sans KR"/>
                          <a:ea typeface="Noto Sans KR"/>
                          <a:cs typeface="Noto Sans KR"/>
                        </a:rPr>
                        <a:t>−8.9</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1">
                          <a:solidFill>
                            <a:srgbClr val="15171A"/>
                          </a:solidFill>
                          <a:latin typeface="Noto Sans KR"/>
                          <a:ea typeface="Noto Sans KR"/>
                          <a:cs typeface="Noto Sans KR"/>
                        </a:rPr>
                        <a:t>−9.5</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1">
                          <a:solidFill>
                            <a:srgbClr val="15171A"/>
                          </a:solidFill>
                          <a:latin typeface="Noto Sans KR"/>
                          <a:ea typeface="Noto Sans KR"/>
                          <a:cs typeface="Noto Sans KR"/>
                        </a:rPr>
                        <a:t>−7.5</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1">
                          <a:solidFill>
                            <a:srgbClr val="15171A"/>
                          </a:solidFill>
                          <a:latin typeface="Noto Sans KR"/>
                          <a:ea typeface="Noto Sans KR"/>
                          <a:cs typeface="Noto Sans KR"/>
                        </a:rPr>
                        <a:t>−0.1</a:t>
                      </a:r>
                    </a:p>
                  </a:txBody>
                  <a:tcPr marL="73152" marR="73152" marT="41148" marB="41148" anchor="t">
                    <a:lnL w="0">
                      <a:noFill/>
                    </a:lnL>
                    <a:lnR w="0">
                      <a:noFill/>
                    </a:lnR>
                    <a:lnT w="0">
                      <a:noFill/>
                    </a:lnT>
                    <a:lnB w="9525">
                      <a:solidFill>
                        <a:srgbClr val="E2E4E7"/>
                      </a:solidFill>
                    </a:lnB>
                    <a:noFill/>
                  </a:tcPr>
                </a:tc>
              </a:tr>
              <a:tr h="293725">
                <a:tc>
                  <a:txBody>
                    <a:bodyPr wrap="square"/>
                    <a:lstStyle/>
                    <a:p>
                      <a:pPr algn="l">
                        <a:lnSpc>
                          <a:spcPct val="100000"/>
                        </a:lnSpc>
                      </a:pPr>
                      <a:r>
                        <a:rPr sz="1100" b="1">
                          <a:solidFill>
                            <a:srgbClr val="15171A"/>
                          </a:solidFill>
                          <a:latin typeface="Noto Sans KR"/>
                          <a:ea typeface="Noto Sans KR"/>
                          <a:cs typeface="Noto Sans KR"/>
                        </a:rPr>
                        <a:t>재사용 매출 비중</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1">
                          <a:solidFill>
                            <a:srgbClr val="E2571B"/>
                          </a:solidFill>
                          <a:latin typeface="Noto Sans KR"/>
                          <a:ea typeface="Noto Sans KR"/>
                          <a:cs typeface="Noto Sans KR"/>
                        </a:rPr>
                        <a:t>0%</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1">
                          <a:solidFill>
                            <a:srgbClr val="E2571B"/>
                          </a:solidFill>
                          <a:latin typeface="Noto Sans KR"/>
                          <a:ea typeface="Noto Sans KR"/>
                          <a:cs typeface="Noto Sans KR"/>
                        </a:rPr>
                        <a:t>29%</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1">
                          <a:solidFill>
                            <a:srgbClr val="E2571B"/>
                          </a:solidFill>
                          <a:latin typeface="Noto Sans KR"/>
                          <a:ea typeface="Noto Sans KR"/>
                          <a:cs typeface="Noto Sans KR"/>
                        </a:rPr>
                        <a:t>57%</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1">
                          <a:solidFill>
                            <a:srgbClr val="E2571B"/>
                          </a:solidFill>
                          <a:latin typeface="Noto Sans KR"/>
                          <a:ea typeface="Noto Sans KR"/>
                          <a:cs typeface="Noto Sans KR"/>
                        </a:rPr>
                        <a:t>75%</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1">
                          <a:solidFill>
                            <a:srgbClr val="E2571B"/>
                          </a:solidFill>
                          <a:latin typeface="Noto Sans KR"/>
                          <a:ea typeface="Noto Sans KR"/>
                          <a:cs typeface="Noto Sans KR"/>
                        </a:rPr>
                        <a:t>86%</a:t>
                      </a:r>
                    </a:p>
                  </a:txBody>
                  <a:tcPr marL="73152" marR="73152" marT="41148" marB="41148" anchor="t">
                    <a:lnL w="0">
                      <a:noFill/>
                    </a:lnL>
                    <a:lnR w="0">
                      <a:noFill/>
                    </a:lnR>
                    <a:lnT w="0">
                      <a:noFill/>
                    </a:lnT>
                    <a:lnB w="9525">
                      <a:solidFill>
                        <a:srgbClr val="E2E4E7"/>
                      </a:solidFill>
                    </a:lnB>
                    <a:noFill/>
                  </a:tcPr>
                </a:tc>
              </a:tr>
            </a:tbl>
          </a:graphicData>
        </a:graphic>
      </p:graphicFrame>
      <p:sp>
        <p:nvSpPr>
          <p:cNvPr id="6" name="TextBox 5"/>
          <p:cNvSpPr txBox="1"/>
          <p:nvPr/>
        </p:nvSpPr>
        <p:spPr>
          <a:xfrm>
            <a:off x="8183879" y="1847088"/>
            <a:ext cx="3322015"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민감도 (5년차)</a:t>
            </a:r>
          </a:p>
        </p:txBody>
      </p:sp>
      <p:cxnSp>
        <p:nvCxnSpPr>
          <p:cNvPr id="7" name="Connector 6"/>
          <p:cNvCxnSpPr/>
          <p:nvPr/>
        </p:nvCxnSpPr>
        <p:spPr>
          <a:xfrm>
            <a:off x="8183879" y="2176272"/>
            <a:ext cx="3322016" cy="0"/>
          </a:xfrm>
          <a:prstGeom prst="line">
            <a:avLst/>
          </a:prstGeom>
          <a:ln w="12700">
            <a:solidFill>
              <a:srgbClr val="15171A"/>
            </a:solidFill>
          </a:ln>
        </p:spPr>
      </p:cxnSp>
      <p:graphicFrame>
        <p:nvGraphicFramePr>
          <p:cNvPr id="8" name="Table 7"/>
          <p:cNvGraphicFramePr>
            <a:graphicFrameLocks noGrp="1"/>
          </p:cNvGraphicFramePr>
          <p:nvPr/>
        </p:nvGraphicFramePr>
        <p:xfrm>
          <a:off x="8183879" y="2286000"/>
          <a:ext cx="3322014" cy="1891486"/>
        </p:xfrm>
        <a:graphic>
          <a:graphicData uri="http://schemas.openxmlformats.org/drawingml/2006/table">
            <a:tbl>
              <a:tblPr firstRow="0" bandRow="0">
                <a:tableStyleId>{2D5ABB26-0587-4C30-8999-92F81FD0307C}</a:tableStyleId>
              </a:tblPr>
              <a:tblGrid>
                <a:gridCol w="1874519"/>
                <a:gridCol w="1447495"/>
              </a:tblGrid>
              <a:tr h="523443">
                <a:tc>
                  <a:txBody>
                    <a:bodyPr wrap="square"/>
                    <a:lstStyle/>
                    <a:p>
                      <a:pPr algn="l">
                        <a:lnSpc>
                          <a:spcPct val="100000"/>
                        </a:lnSpc>
                      </a:pPr>
                      <a:r>
                        <a:rPr sz="1100" b="1">
                          <a:solidFill>
                            <a:srgbClr val="15171A"/>
                          </a:solidFill>
                          <a:latin typeface="Noto Sans KR"/>
                          <a:ea typeface="Noto Sans KR"/>
                          <a:cs typeface="Noto Sans KR"/>
                        </a:rPr>
                        <a:t>판매량 −30% (3~5년차)</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매출 31.4억</a:t>
                      </a:r>
                    </a:p>
                    <a:p>
                      <a:pPr algn="l">
                        <a:lnSpc>
                          <a:spcPct val="100000"/>
                        </a:lnSpc>
                      </a:pPr>
                      <a:r>
                        <a:rPr sz="1100" b="0">
                          <a:solidFill>
                            <a:srgbClr val="15171A"/>
                          </a:solidFill>
                          <a:latin typeface="Noto Sans KR"/>
                          <a:ea typeface="Noto Sans KR"/>
                          <a:cs typeface="Noto Sans KR"/>
                        </a:rPr>
                        <a:t>영업손익 −7.1억</a:t>
                      </a:r>
                    </a:p>
                  </a:txBody>
                  <a:tcPr marL="73152" marR="73152" marT="54864" marB="54864" anchor="t">
                    <a:lnL w="0">
                      <a:noFill/>
                    </a:lnL>
                    <a:lnR w="0">
                      <a:noFill/>
                    </a:lnR>
                    <a:lnT w="0">
                      <a:noFill/>
                    </a:lnT>
                    <a:lnB w="9525">
                      <a:solidFill>
                        <a:srgbClr val="E2E4E7"/>
                      </a:solidFill>
                    </a:lnB>
                    <a:noFill/>
                  </a:tcPr>
                </a:tc>
              </a:tr>
              <a:tr h="321157">
                <a:tc>
                  <a:txBody>
                    <a:bodyPr wrap="square"/>
                    <a:lstStyle/>
                    <a:p>
                      <a:pPr algn="l">
                        <a:lnSpc>
                          <a:spcPct val="100000"/>
                        </a:lnSpc>
                      </a:pPr>
                      <a:r>
                        <a:rPr sz="1100" b="1">
                          <a:solidFill>
                            <a:srgbClr val="15171A"/>
                          </a:solidFill>
                          <a:latin typeface="Noto Sans KR"/>
                          <a:ea typeface="Noto Sans KR"/>
                          <a:cs typeface="Noto Sans KR"/>
                        </a:rPr>
                        <a:t>핸드 원가 절감 지연</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영업손익 −3.1억</a:t>
                      </a:r>
                    </a:p>
                  </a:txBody>
                  <a:tcPr marL="73152" marR="73152" marT="54864" marB="54864" anchor="t">
                    <a:lnL w="0">
                      <a:noFill/>
                    </a:lnL>
                    <a:lnR w="0">
                      <a:noFill/>
                    </a:lnR>
                    <a:lnT w="0">
                      <a:noFill/>
                    </a:lnT>
                    <a:lnB w="9525">
                      <a:solidFill>
                        <a:srgbClr val="E2E4E7"/>
                      </a:solidFill>
                    </a:lnB>
                    <a:noFill/>
                  </a:tcPr>
                </a:tc>
              </a:tr>
              <a:tr h="523443">
                <a:tc>
                  <a:txBody>
                    <a:bodyPr wrap="square"/>
                    <a:lstStyle/>
                    <a:p>
                      <a:pPr algn="l">
                        <a:lnSpc>
                          <a:spcPct val="100000"/>
                        </a:lnSpc>
                      </a:pPr>
                      <a:r>
                        <a:rPr sz="1100" b="1">
                          <a:solidFill>
                            <a:srgbClr val="15171A"/>
                          </a:solidFill>
                          <a:latin typeface="Noto Sans KR"/>
                          <a:ea typeface="Noto Sans KR"/>
                          <a:cs typeface="Noto Sans KR"/>
                        </a:rPr>
                        <a:t>SI 파트너 채널 1년 지연</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매출 32.3억</a:t>
                      </a:r>
                    </a:p>
                    <a:p>
                      <a:pPr algn="l">
                        <a:lnSpc>
                          <a:spcPct val="100000"/>
                        </a:lnSpc>
                      </a:pPr>
                      <a:r>
                        <a:rPr sz="1100" b="0">
                          <a:solidFill>
                            <a:srgbClr val="15171A"/>
                          </a:solidFill>
                          <a:latin typeface="Noto Sans KR"/>
                          <a:ea typeface="Noto Sans KR"/>
                          <a:cs typeface="Noto Sans KR"/>
                        </a:rPr>
                        <a:t>영업손익 −6.4억</a:t>
                      </a:r>
                    </a:p>
                  </a:txBody>
                  <a:tcPr marL="73152" marR="73152" marT="54864" marB="54864" anchor="t">
                    <a:lnL w="0">
                      <a:noFill/>
                    </a:lnL>
                    <a:lnR w="0">
                      <a:noFill/>
                    </a:lnR>
                    <a:lnT w="0">
                      <a:noFill/>
                    </a:lnT>
                    <a:lnB w="9525">
                      <a:solidFill>
                        <a:srgbClr val="E2E4E7"/>
                      </a:solidFill>
                    </a:lnB>
                    <a:noFill/>
                  </a:tcPr>
                </a:tc>
              </a:tr>
              <a:tr h="523443">
                <a:tc>
                  <a:txBody>
                    <a:bodyPr wrap="square"/>
                    <a:lstStyle/>
                    <a:p>
                      <a:pPr algn="l">
                        <a:lnSpc>
                          <a:spcPct val="100000"/>
                        </a:lnSpc>
                      </a:pPr>
                      <a:r>
                        <a:rPr sz="1100" b="1">
                          <a:solidFill>
                            <a:srgbClr val="15171A"/>
                          </a:solidFill>
                          <a:latin typeface="Noto Sans KR"/>
                          <a:ea typeface="Noto Sans KR"/>
                          <a:cs typeface="Noto Sans KR"/>
                        </a:rPr>
                        <a:t>판매량 −50%</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매출 22.4억</a:t>
                      </a:r>
                    </a:p>
                    <a:p>
                      <a:pPr algn="l">
                        <a:lnSpc>
                          <a:spcPct val="100000"/>
                        </a:lnSpc>
                      </a:pPr>
                      <a:r>
                        <a:rPr sz="1100" b="0">
                          <a:solidFill>
                            <a:srgbClr val="15171A"/>
                          </a:solidFill>
                          <a:latin typeface="Noto Sans KR"/>
                          <a:ea typeface="Noto Sans KR"/>
                          <a:cs typeface="Noto Sans KR"/>
                        </a:rPr>
                        <a:t>영업손익 −11.9억</a:t>
                      </a:r>
                    </a:p>
                  </a:txBody>
                  <a:tcPr marL="73152" marR="73152" marT="54864" marB="54864" anchor="t">
                    <a:lnL w="0">
                      <a:noFill/>
                    </a:lnL>
                    <a:lnR w="0">
                      <a:noFill/>
                    </a:lnR>
                    <a:lnT w="0">
                      <a:noFill/>
                    </a:lnT>
                    <a:lnB w="9525">
                      <a:solidFill>
                        <a:srgbClr val="E2E4E7"/>
                      </a:solidFill>
                    </a:lnB>
                    <a:noFill/>
                  </a:tcPr>
                </a:tc>
              </a:tr>
            </a:tbl>
          </a:graphicData>
        </a:graphic>
      </p:graphicFrame>
      <p:sp>
        <p:nvSpPr>
          <p:cNvPr id="9" name="TextBox 8"/>
          <p:cNvSpPr txBox="1"/>
          <p:nvPr/>
        </p:nvSpPr>
        <p:spPr>
          <a:xfrm>
            <a:off x="8183879" y="4406087"/>
            <a:ext cx="3322015"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산정 기준</a:t>
            </a:r>
          </a:p>
        </p:txBody>
      </p:sp>
      <p:cxnSp>
        <p:nvCxnSpPr>
          <p:cNvPr id="10" name="Connector 9"/>
          <p:cNvCxnSpPr/>
          <p:nvPr/>
        </p:nvCxnSpPr>
        <p:spPr>
          <a:xfrm>
            <a:off x="8183879" y="4735271"/>
            <a:ext cx="3322016" cy="0"/>
          </a:xfrm>
          <a:prstGeom prst="line">
            <a:avLst/>
          </a:prstGeom>
          <a:ln w="12700">
            <a:solidFill>
              <a:srgbClr val="15171A"/>
            </a:solidFill>
          </a:ln>
        </p:spPr>
      </p:cxnSp>
      <p:sp>
        <p:nvSpPr>
          <p:cNvPr id="11" name="TextBox 10"/>
          <p:cNvSpPr txBox="1"/>
          <p:nvPr/>
        </p:nvSpPr>
        <p:spPr>
          <a:xfrm>
            <a:off x="8183879" y="4844999"/>
            <a:ext cx="3322015" cy="1411833"/>
          </a:xfrm>
          <a:prstGeom prst="rect">
            <a:avLst/>
          </a:prstGeom>
          <a:noFill/>
        </p:spPr>
        <p:txBody>
          <a:bodyPr wrap="square" lIns="0" rIns="0" tIns="0" bIns="0" anchor="t">
            <a:spAutoFit/>
          </a:bodyPr>
          <a:lstStyle/>
          <a:p>
            <a:pPr algn="l" marL="164592" indent="-164592">
              <a:lnSpc>
                <a:spcPct val="100000"/>
              </a:lnSpc>
              <a:spcAft>
                <a:spcPts val="400"/>
              </a:spcAft>
              <a:buClr>
                <a:srgbClr val="8C9198"/>
              </a:buClr>
              <a:buFont typeface="Noto Sans KR"/>
              <a:buChar char="•"/>
            </a:pPr>
            <a:r>
              <a:rPr sz="1100" b="0">
                <a:solidFill>
                  <a:srgbClr val="4A4F57"/>
                </a:solidFill>
                <a:latin typeface="Noto Sans KR"/>
                <a:ea typeface="Noto Sans KR"/>
                <a:cs typeface="Noto Sans KR"/>
              </a:rPr>
              <a:t>운영비 1·2년차 = Seed 24개월 집행 계획 (A11)</a:t>
            </a:r>
          </a:p>
          <a:p>
            <a:pPr algn="l" marL="164592" indent="-164592">
              <a:lnSpc>
                <a:spcPct val="100000"/>
              </a:lnSpc>
              <a:spcAft>
                <a:spcPts val="400"/>
              </a:spcAft>
              <a:buClr>
                <a:srgbClr val="8C9198"/>
              </a:buClr>
              <a:buFont typeface="Noto Sans KR"/>
              <a:buChar char="•"/>
            </a:pPr>
            <a:r>
              <a:rPr sz="1100" b="0">
                <a:solidFill>
                  <a:srgbClr val="4A4F57"/>
                </a:solidFill>
                <a:latin typeface="Noto Sans KR"/>
                <a:ea typeface="Noto Sans KR"/>
                <a:cs typeface="Noto Sans KR"/>
              </a:rPr>
              <a:t>3~5년차 = 평균 인원 14·19·23명 × 1인 연 0.72~0.76억 + 비인건비 4.5~6.2억</a:t>
            </a:r>
          </a:p>
          <a:p>
            <a:pPr algn="l" marL="164592" indent="-164592">
              <a:lnSpc>
                <a:spcPct val="100000"/>
              </a:lnSpc>
              <a:spcAft>
                <a:spcPts val="400"/>
              </a:spcAft>
              <a:buClr>
                <a:srgbClr val="8C9198"/>
              </a:buClr>
              <a:buFont typeface="Noto Sans KR"/>
              <a:buChar char="•"/>
            </a:pPr>
            <a:r>
              <a:rPr sz="1100" b="0">
                <a:solidFill>
                  <a:srgbClr val="4A4F57"/>
                </a:solidFill>
                <a:latin typeface="Noto Sans KR"/>
                <a:ea typeface="Noto Sans KR"/>
                <a:cs typeface="Noto Sans KR"/>
              </a:rPr>
              <a:t>매출원가 = PoC·통합 60%, 핸드 원가, 스킬 15%, 런타임 30%</a:t>
            </a:r>
          </a:p>
          <a:p>
            <a:pPr algn="l" marL="164592" indent="-164592">
              <a:lnSpc>
                <a:spcPct val="100000"/>
              </a:lnSpc>
              <a:buClr>
                <a:srgbClr val="8C9198"/>
              </a:buClr>
              <a:buFont typeface="Noto Sans KR"/>
              <a:buChar char="•"/>
            </a:pPr>
            <a:r>
              <a:rPr sz="1100" b="0">
                <a:solidFill>
                  <a:srgbClr val="4A4F57"/>
                </a:solidFill>
                <a:latin typeface="Noto Sans KR"/>
                <a:ea typeface="Noto Sans KR"/>
                <a:cs typeface="Noto Sans KR"/>
              </a:rPr>
              <a:t>미반영 상승 요인: 주방 파트너 공동 제품화, OEM 채택</a:t>
            </a:r>
          </a:p>
        </p:txBody>
      </p:sp>
      <p:sp>
        <p:nvSpPr>
          <p:cNvPr id="12" name="TextBox 11"/>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SoftHand-4  |  Seed 투자 제안서</a:t>
            </a:r>
          </a:p>
        </p:txBody>
      </p:sp>
      <p:sp>
        <p:nvSpPr>
          <p:cNvPr id="13" name="TextBox 12"/>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A10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7315200" cy="256032"/>
          </a:xfrm>
          <a:prstGeom prst="rect">
            <a:avLst/>
          </a:prstGeom>
          <a:noFill/>
        </p:spPr>
        <p:txBody>
          <a:bodyPr wrap="square" lIns="0" rIns="0" tIns="0" bIns="0" anchor="t">
            <a:spAutoFit/>
          </a:bodyPr>
          <a:lstStyle/>
          <a:p>
            <a:pPr algn="l">
              <a:lnSpc>
                <a:spcPct val="100000"/>
              </a:lnSpc>
            </a:pPr>
            <a:r>
              <a:rPr sz="1100" b="1">
                <a:solidFill>
                  <a:srgbClr val="E2571B"/>
                </a:solidFill>
                <a:latin typeface="Noto Sans KR"/>
                <a:ea typeface="Noto Sans KR"/>
                <a:cs typeface="Noto Sans KR"/>
              </a:rPr>
              <a:t>부록 A11</a:t>
            </a:r>
          </a:p>
        </p:txBody>
      </p:sp>
      <p:sp>
        <p:nvSpPr>
          <p:cNvPr id="3" name="TextBox 2"/>
          <p:cNvSpPr txBox="1"/>
          <p:nvPr/>
        </p:nvSpPr>
        <p:spPr>
          <a:xfrm>
            <a:off x="685800" y="822960"/>
            <a:ext cx="10820095" cy="475488"/>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Seed 20억 원 집행 계획과 손익 연결</a:t>
            </a:r>
          </a:p>
        </p:txBody>
      </p:sp>
      <p:sp>
        <p:nvSpPr>
          <p:cNvPr id="4" name="TextBox 3"/>
          <p:cNvSpPr txBox="1"/>
          <p:nvPr/>
        </p:nvSpPr>
        <p:spPr>
          <a:xfrm>
            <a:off x="685800" y="1353312"/>
            <a:ext cx="10820095" cy="274320"/>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18개월 핵심 운영 + 6개월 연장 · 정부지원금·공동개발비 미반영</a:t>
            </a:r>
          </a:p>
        </p:txBody>
      </p:sp>
      <p:sp>
        <p:nvSpPr>
          <p:cNvPr id="5" name="TextBox 4"/>
          <p:cNvSpPr txBox="1"/>
          <p:nvPr/>
        </p:nvSpPr>
        <p:spPr>
          <a:xfrm>
            <a:off x="685800" y="1847088"/>
            <a:ext cx="4754880"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핵심 인력 채용 계획</a:t>
            </a:r>
          </a:p>
        </p:txBody>
      </p:sp>
      <p:graphicFrame>
        <p:nvGraphicFramePr>
          <p:cNvPr id="6" name="Table 5"/>
          <p:cNvGraphicFramePr>
            <a:graphicFrameLocks noGrp="1"/>
          </p:cNvGraphicFramePr>
          <p:nvPr/>
        </p:nvGraphicFramePr>
        <p:xfrm>
          <a:off x="685800" y="2194560"/>
          <a:ext cx="4754880" cy="3028690"/>
        </p:xfrm>
        <a:graphic>
          <a:graphicData uri="http://schemas.openxmlformats.org/drawingml/2006/table">
            <a:tbl>
              <a:tblPr firstRow="0" bandRow="0">
                <a:tableStyleId>{2D5ABB26-0587-4C30-8999-92F81FD0307C}</a:tableStyleId>
              </a:tblPr>
              <a:tblGrid>
                <a:gridCol w="2514600"/>
                <a:gridCol w="822960"/>
                <a:gridCol w="1417320"/>
              </a:tblGrid>
              <a:tr h="302869">
                <a:tc>
                  <a:txBody>
                    <a:bodyPr wrap="square"/>
                    <a:lstStyle/>
                    <a:p>
                      <a:pPr algn="l">
                        <a:lnSpc>
                          <a:spcPct val="100000"/>
                        </a:lnSpc>
                      </a:pPr>
                      <a:r>
                        <a:rPr sz="1100" b="1">
                          <a:solidFill>
                            <a:srgbClr val="15171A"/>
                          </a:solidFill>
                          <a:latin typeface="Noto Sans KR"/>
                          <a:ea typeface="Noto Sans KR"/>
                          <a:cs typeface="Noto Sans KR"/>
                        </a:rPr>
                        <a:t>역할</a:t>
                      </a:r>
                    </a:p>
                  </a:txBody>
                  <a:tcPr marL="73152" marR="73152" marT="45720" marB="45720" anchor="t">
                    <a:lnL w="0">
                      <a:noFill/>
                    </a:lnL>
                    <a:lnR w="0">
                      <a:noFill/>
                    </a:lnR>
                    <a:lnT w="12700">
                      <a:solidFill>
                        <a:srgbClr val="15171A"/>
                      </a:solidFill>
                    </a:lnT>
                    <a:lnB w="9525">
                      <a:solidFill>
                        <a:srgbClr val="15171A"/>
                      </a:solidFill>
                    </a:lnB>
                    <a:noFill/>
                  </a:tcPr>
                </a:tc>
                <a:tc>
                  <a:txBody>
                    <a:bodyPr wrap="square"/>
                    <a:lstStyle/>
                    <a:p>
                      <a:pPr algn="ctr">
                        <a:lnSpc>
                          <a:spcPct val="100000"/>
                        </a:lnSpc>
                      </a:pPr>
                      <a:r>
                        <a:rPr sz="1100" b="1">
                          <a:solidFill>
                            <a:srgbClr val="15171A"/>
                          </a:solidFill>
                          <a:latin typeface="Noto Sans KR"/>
                          <a:ea typeface="Noto Sans KR"/>
                          <a:cs typeface="Noto Sans KR"/>
                        </a:rPr>
                        <a:t>합류</a:t>
                      </a:r>
                    </a:p>
                  </a:txBody>
                  <a:tcPr marL="73152" marR="73152" marT="45720" marB="45720"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1100" b="1">
                          <a:solidFill>
                            <a:srgbClr val="15171A"/>
                          </a:solidFill>
                          <a:latin typeface="Noto Sans KR"/>
                          <a:ea typeface="Noto Sans KR"/>
                          <a:cs typeface="Noto Sans KR"/>
                        </a:rPr>
                        <a:t>24개월 인건비</a:t>
                      </a:r>
                    </a:p>
                  </a:txBody>
                  <a:tcPr marL="73152" marR="73152" marT="45720" marB="45720" anchor="t">
                    <a:lnL w="0">
                      <a:noFill/>
                    </a:lnL>
                    <a:lnR w="0">
                      <a:noFill/>
                    </a:lnR>
                    <a:lnT w="12700">
                      <a:solidFill>
                        <a:srgbClr val="15171A"/>
                      </a:solidFill>
                    </a:lnT>
                    <a:lnB w="9525">
                      <a:solidFill>
                        <a:srgbClr val="15171A"/>
                      </a:solidFill>
                    </a:lnB>
                    <a:noFill/>
                  </a:tcPr>
                </a:tc>
              </a:tr>
              <a:tr h="302869">
                <a:tc>
                  <a:txBody>
                    <a:bodyPr wrap="square"/>
                    <a:lstStyle/>
                    <a:p>
                      <a:pPr algn="l">
                        <a:lnSpc>
                          <a:spcPct val="100000"/>
                        </a:lnSpc>
                      </a:pPr>
                      <a:r>
                        <a:rPr sz="1100" b="0">
                          <a:solidFill>
                            <a:srgbClr val="15171A"/>
                          </a:solidFill>
                          <a:latin typeface="Noto Sans KR"/>
                          <a:ea typeface="Noto Sans KR"/>
                          <a:cs typeface="Noto Sans KR"/>
                        </a:rPr>
                        <a:t>대표 · 사업/제품</a:t>
                      </a:r>
                    </a:p>
                  </a:txBody>
                  <a:tcPr marL="73152" marR="73152" marT="45720" marB="45720" anchor="t">
                    <a:lnL w="0">
                      <a:noFill/>
                    </a:lnL>
                    <a:lnR w="0">
                      <a:noFill/>
                    </a:lnR>
                    <a:lnT w="0">
                      <a:noFill/>
                    </a:lnT>
                    <a:lnB w="9525">
                      <a:solidFill>
                        <a:srgbClr val="E2E4E7"/>
                      </a:solidFill>
                    </a:lnB>
                    <a:noFill/>
                  </a:tcPr>
                </a:tc>
                <a:tc>
                  <a:txBody>
                    <a:bodyPr wrap="square"/>
                    <a:lstStyle/>
                    <a:p>
                      <a:pPr algn="ctr">
                        <a:lnSpc>
                          <a:spcPct val="100000"/>
                        </a:lnSpc>
                      </a:pPr>
                      <a:r>
                        <a:rPr sz="1100" b="0">
                          <a:solidFill>
                            <a:srgbClr val="15171A"/>
                          </a:solidFill>
                          <a:latin typeface="Noto Sans KR"/>
                          <a:ea typeface="Noto Sans KR"/>
                          <a:cs typeface="Noto Sans KR"/>
                        </a:rPr>
                        <a:t>M1</a:t>
                      </a:r>
                    </a:p>
                  </a:txBody>
                  <a:tcPr marL="73152" marR="73152" marT="45720" marB="45720"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1.15억</a:t>
                      </a:r>
                    </a:p>
                  </a:txBody>
                  <a:tcPr marL="73152" marR="73152" marT="45720" marB="45720" anchor="t">
                    <a:lnL w="0">
                      <a:noFill/>
                    </a:lnL>
                    <a:lnR w="0">
                      <a:noFill/>
                    </a:lnR>
                    <a:lnT w="0">
                      <a:noFill/>
                    </a:lnT>
                    <a:lnB w="9525">
                      <a:solidFill>
                        <a:srgbClr val="E2E4E7"/>
                      </a:solidFill>
                    </a:lnB>
                    <a:noFill/>
                  </a:tcPr>
                </a:tc>
              </a:tr>
              <a:tr h="302869">
                <a:tc>
                  <a:txBody>
                    <a:bodyPr wrap="square"/>
                    <a:lstStyle/>
                    <a:p>
                      <a:pPr algn="l">
                        <a:lnSpc>
                          <a:spcPct val="100000"/>
                        </a:lnSpc>
                      </a:pPr>
                      <a:r>
                        <a:rPr sz="1100" b="0">
                          <a:solidFill>
                            <a:srgbClr val="15171A"/>
                          </a:solidFill>
                          <a:latin typeface="Noto Sans KR"/>
                          <a:ea typeface="Noto Sans KR"/>
                          <a:cs typeface="Noto Sans KR"/>
                        </a:rPr>
                        <a:t>CTO · 핸드 메카트로닉스</a:t>
                      </a:r>
                    </a:p>
                  </a:txBody>
                  <a:tcPr marL="73152" marR="73152" marT="45720" marB="45720" anchor="t">
                    <a:lnL w="0">
                      <a:noFill/>
                    </a:lnL>
                    <a:lnR w="0">
                      <a:noFill/>
                    </a:lnR>
                    <a:lnT w="0">
                      <a:noFill/>
                    </a:lnT>
                    <a:lnB w="9525">
                      <a:solidFill>
                        <a:srgbClr val="E2E4E7"/>
                      </a:solidFill>
                    </a:lnB>
                    <a:noFill/>
                  </a:tcPr>
                </a:tc>
                <a:tc>
                  <a:txBody>
                    <a:bodyPr wrap="square"/>
                    <a:lstStyle/>
                    <a:p>
                      <a:pPr algn="ctr">
                        <a:lnSpc>
                          <a:spcPct val="100000"/>
                        </a:lnSpc>
                      </a:pPr>
                      <a:r>
                        <a:rPr sz="1100" b="0">
                          <a:solidFill>
                            <a:srgbClr val="15171A"/>
                          </a:solidFill>
                          <a:latin typeface="Noto Sans KR"/>
                          <a:ea typeface="Noto Sans KR"/>
                          <a:cs typeface="Noto Sans KR"/>
                        </a:rPr>
                        <a:t>M1</a:t>
                      </a:r>
                    </a:p>
                  </a:txBody>
                  <a:tcPr marL="73152" marR="73152" marT="45720" marB="45720"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1.15억</a:t>
                      </a:r>
                    </a:p>
                  </a:txBody>
                  <a:tcPr marL="73152" marR="73152" marT="45720" marB="45720" anchor="t">
                    <a:lnL w="0">
                      <a:noFill/>
                    </a:lnL>
                    <a:lnR w="0">
                      <a:noFill/>
                    </a:lnR>
                    <a:lnT w="0">
                      <a:noFill/>
                    </a:lnT>
                    <a:lnB w="9525">
                      <a:solidFill>
                        <a:srgbClr val="E2E4E7"/>
                      </a:solidFill>
                    </a:lnB>
                    <a:noFill/>
                  </a:tcPr>
                </a:tc>
              </a:tr>
              <a:tr h="302869">
                <a:tc>
                  <a:txBody>
                    <a:bodyPr wrap="square"/>
                    <a:lstStyle/>
                    <a:p>
                      <a:pPr algn="l">
                        <a:lnSpc>
                          <a:spcPct val="100000"/>
                        </a:lnSpc>
                      </a:pPr>
                      <a:r>
                        <a:rPr sz="1100" b="0">
                          <a:solidFill>
                            <a:srgbClr val="15171A"/>
                          </a:solidFill>
                          <a:latin typeface="Noto Sans KR"/>
                          <a:ea typeface="Noto Sans KR"/>
                          <a:cs typeface="Noto Sans KR"/>
                        </a:rPr>
                        <a:t>기구·구동 엔지니어</a:t>
                      </a:r>
                    </a:p>
                  </a:txBody>
                  <a:tcPr marL="73152" marR="73152" marT="45720" marB="45720" anchor="t">
                    <a:lnL w="0">
                      <a:noFill/>
                    </a:lnL>
                    <a:lnR w="0">
                      <a:noFill/>
                    </a:lnR>
                    <a:lnT w="0">
                      <a:noFill/>
                    </a:lnT>
                    <a:lnB w="9525">
                      <a:solidFill>
                        <a:srgbClr val="E2E4E7"/>
                      </a:solidFill>
                    </a:lnB>
                    <a:noFill/>
                  </a:tcPr>
                </a:tc>
                <a:tc>
                  <a:txBody>
                    <a:bodyPr wrap="square"/>
                    <a:lstStyle/>
                    <a:p>
                      <a:pPr algn="ctr">
                        <a:lnSpc>
                          <a:spcPct val="100000"/>
                        </a:lnSpc>
                      </a:pPr>
                      <a:r>
                        <a:rPr sz="1100" b="0">
                          <a:solidFill>
                            <a:srgbClr val="15171A"/>
                          </a:solidFill>
                          <a:latin typeface="Noto Sans KR"/>
                          <a:ea typeface="Noto Sans KR"/>
                          <a:cs typeface="Noto Sans KR"/>
                        </a:rPr>
                        <a:t>M2</a:t>
                      </a:r>
                    </a:p>
                  </a:txBody>
                  <a:tcPr marL="73152" marR="73152" marT="45720" marB="45720"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1.54억</a:t>
                      </a:r>
                    </a:p>
                  </a:txBody>
                  <a:tcPr marL="73152" marR="73152" marT="45720" marB="45720" anchor="t">
                    <a:lnL w="0">
                      <a:noFill/>
                    </a:lnL>
                    <a:lnR w="0">
                      <a:noFill/>
                    </a:lnR>
                    <a:lnT w="0">
                      <a:noFill/>
                    </a:lnT>
                    <a:lnB w="9525">
                      <a:solidFill>
                        <a:srgbClr val="E2E4E7"/>
                      </a:solidFill>
                    </a:lnB>
                    <a:noFill/>
                  </a:tcPr>
                </a:tc>
              </a:tr>
              <a:tr h="302869">
                <a:tc>
                  <a:txBody>
                    <a:bodyPr wrap="square"/>
                    <a:lstStyle/>
                    <a:p>
                      <a:pPr algn="l">
                        <a:lnSpc>
                          <a:spcPct val="100000"/>
                        </a:lnSpc>
                      </a:pPr>
                      <a:r>
                        <a:rPr sz="1100" b="0">
                          <a:solidFill>
                            <a:srgbClr val="15171A"/>
                          </a:solidFill>
                          <a:latin typeface="Noto Sans KR"/>
                          <a:ea typeface="Noto Sans KR"/>
                          <a:cs typeface="Noto Sans KR"/>
                        </a:rPr>
                        <a:t>제어·임베디드 엔지니어</a:t>
                      </a:r>
                    </a:p>
                  </a:txBody>
                  <a:tcPr marL="73152" marR="73152" marT="45720" marB="45720" anchor="t">
                    <a:lnL w="0">
                      <a:noFill/>
                    </a:lnL>
                    <a:lnR w="0">
                      <a:noFill/>
                    </a:lnR>
                    <a:lnT w="0">
                      <a:noFill/>
                    </a:lnT>
                    <a:lnB w="9525">
                      <a:solidFill>
                        <a:srgbClr val="E2E4E7"/>
                      </a:solidFill>
                    </a:lnB>
                    <a:noFill/>
                  </a:tcPr>
                </a:tc>
                <a:tc>
                  <a:txBody>
                    <a:bodyPr wrap="square"/>
                    <a:lstStyle/>
                    <a:p>
                      <a:pPr algn="ctr">
                        <a:lnSpc>
                          <a:spcPct val="100000"/>
                        </a:lnSpc>
                      </a:pPr>
                      <a:r>
                        <a:rPr sz="1100" b="0">
                          <a:solidFill>
                            <a:srgbClr val="15171A"/>
                          </a:solidFill>
                          <a:latin typeface="Noto Sans KR"/>
                          <a:ea typeface="Noto Sans KR"/>
                          <a:cs typeface="Noto Sans KR"/>
                        </a:rPr>
                        <a:t>M3</a:t>
                      </a:r>
                    </a:p>
                  </a:txBody>
                  <a:tcPr marL="73152" marR="73152" marT="45720" marB="45720"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1.48억</a:t>
                      </a:r>
                    </a:p>
                  </a:txBody>
                  <a:tcPr marL="73152" marR="73152" marT="45720" marB="45720" anchor="t">
                    <a:lnL w="0">
                      <a:noFill/>
                    </a:lnL>
                    <a:lnR w="0">
                      <a:noFill/>
                    </a:lnR>
                    <a:lnT w="0">
                      <a:noFill/>
                    </a:lnT>
                    <a:lnB w="9525">
                      <a:solidFill>
                        <a:srgbClr val="E2E4E7"/>
                      </a:solidFill>
                    </a:lnB>
                    <a:noFill/>
                  </a:tcPr>
                </a:tc>
              </a:tr>
              <a:tr h="302869">
                <a:tc>
                  <a:txBody>
                    <a:bodyPr wrap="square"/>
                    <a:lstStyle/>
                    <a:p>
                      <a:pPr algn="l">
                        <a:lnSpc>
                          <a:spcPct val="100000"/>
                        </a:lnSpc>
                      </a:pPr>
                      <a:r>
                        <a:rPr sz="1100" b="0">
                          <a:solidFill>
                            <a:srgbClr val="15171A"/>
                          </a:solidFill>
                          <a:latin typeface="Noto Sans KR"/>
                          <a:ea typeface="Noto Sans KR"/>
                          <a:cs typeface="Noto Sans KR"/>
                        </a:rPr>
                        <a:t>로봇 SW·스킬 엔지니어</a:t>
                      </a:r>
                    </a:p>
                  </a:txBody>
                  <a:tcPr marL="73152" marR="73152" marT="45720" marB="45720" anchor="t">
                    <a:lnL w="0">
                      <a:noFill/>
                    </a:lnL>
                    <a:lnR w="0">
                      <a:noFill/>
                    </a:lnR>
                    <a:lnT w="0">
                      <a:noFill/>
                    </a:lnT>
                    <a:lnB w="9525">
                      <a:solidFill>
                        <a:srgbClr val="E2E4E7"/>
                      </a:solidFill>
                    </a:lnB>
                    <a:noFill/>
                  </a:tcPr>
                </a:tc>
                <a:tc>
                  <a:txBody>
                    <a:bodyPr wrap="square"/>
                    <a:lstStyle/>
                    <a:p>
                      <a:pPr algn="ctr">
                        <a:lnSpc>
                          <a:spcPct val="100000"/>
                        </a:lnSpc>
                      </a:pPr>
                      <a:r>
                        <a:rPr sz="1100" b="0">
                          <a:solidFill>
                            <a:srgbClr val="15171A"/>
                          </a:solidFill>
                          <a:latin typeface="Noto Sans KR"/>
                          <a:ea typeface="Noto Sans KR"/>
                          <a:cs typeface="Noto Sans KR"/>
                        </a:rPr>
                        <a:t>M5</a:t>
                      </a:r>
                    </a:p>
                  </a:txBody>
                  <a:tcPr marL="73152" marR="73152" marT="45720" marB="45720"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1.34억</a:t>
                      </a:r>
                    </a:p>
                  </a:txBody>
                  <a:tcPr marL="73152" marR="73152" marT="45720" marB="45720" anchor="t">
                    <a:lnL w="0">
                      <a:noFill/>
                    </a:lnL>
                    <a:lnR w="0">
                      <a:noFill/>
                    </a:lnR>
                    <a:lnT w="0">
                      <a:noFill/>
                    </a:lnT>
                    <a:lnB w="9525">
                      <a:solidFill>
                        <a:srgbClr val="E2E4E7"/>
                      </a:solidFill>
                    </a:lnB>
                    <a:noFill/>
                  </a:tcPr>
                </a:tc>
              </a:tr>
              <a:tr h="302869">
                <a:tc>
                  <a:txBody>
                    <a:bodyPr wrap="square"/>
                    <a:lstStyle/>
                    <a:p>
                      <a:pPr algn="l">
                        <a:lnSpc>
                          <a:spcPct val="100000"/>
                        </a:lnSpc>
                      </a:pPr>
                      <a:r>
                        <a:rPr sz="1100" b="0">
                          <a:solidFill>
                            <a:srgbClr val="15171A"/>
                          </a:solidFill>
                          <a:latin typeface="Noto Sans KR"/>
                          <a:ea typeface="Noto Sans KR"/>
                          <a:cs typeface="Noto Sans KR"/>
                        </a:rPr>
                        <a:t>현장 통합 엔지니어</a:t>
                      </a:r>
                    </a:p>
                  </a:txBody>
                  <a:tcPr marL="73152" marR="73152" marT="45720" marB="45720" anchor="t">
                    <a:lnL w="0">
                      <a:noFill/>
                    </a:lnL>
                    <a:lnR w="0">
                      <a:noFill/>
                    </a:lnR>
                    <a:lnT w="0">
                      <a:noFill/>
                    </a:lnT>
                    <a:lnB w="9525">
                      <a:solidFill>
                        <a:srgbClr val="E2E4E7"/>
                      </a:solidFill>
                    </a:lnB>
                    <a:noFill/>
                  </a:tcPr>
                </a:tc>
                <a:tc>
                  <a:txBody>
                    <a:bodyPr wrap="square"/>
                    <a:lstStyle/>
                    <a:p>
                      <a:pPr algn="ctr">
                        <a:lnSpc>
                          <a:spcPct val="100000"/>
                        </a:lnSpc>
                      </a:pPr>
                      <a:r>
                        <a:rPr sz="1100" b="0">
                          <a:solidFill>
                            <a:srgbClr val="15171A"/>
                          </a:solidFill>
                          <a:latin typeface="Noto Sans KR"/>
                          <a:ea typeface="Noto Sans KR"/>
                          <a:cs typeface="Noto Sans KR"/>
                        </a:rPr>
                        <a:t>M8</a:t>
                      </a:r>
                    </a:p>
                  </a:txBody>
                  <a:tcPr marL="73152" marR="73152" marT="45720" marB="45720"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1.14억</a:t>
                      </a:r>
                    </a:p>
                  </a:txBody>
                  <a:tcPr marL="73152" marR="73152" marT="45720" marB="45720" anchor="t">
                    <a:lnL w="0">
                      <a:noFill/>
                    </a:lnL>
                    <a:lnR w="0">
                      <a:noFill/>
                    </a:lnR>
                    <a:lnT w="0">
                      <a:noFill/>
                    </a:lnT>
                    <a:lnB w="9525">
                      <a:solidFill>
                        <a:srgbClr val="E2E4E7"/>
                      </a:solidFill>
                    </a:lnB>
                    <a:noFill/>
                  </a:tcPr>
                </a:tc>
              </a:tr>
              <a:tr h="302869">
                <a:tc>
                  <a:txBody>
                    <a:bodyPr wrap="square"/>
                    <a:lstStyle/>
                    <a:p>
                      <a:pPr algn="l">
                        <a:lnSpc>
                          <a:spcPct val="100000"/>
                        </a:lnSpc>
                      </a:pPr>
                      <a:r>
                        <a:rPr sz="1100" b="0">
                          <a:solidFill>
                            <a:srgbClr val="15171A"/>
                          </a:solidFill>
                          <a:latin typeface="Noto Sans KR"/>
                          <a:ea typeface="Noto Sans KR"/>
                          <a:cs typeface="Noto Sans KR"/>
                        </a:rPr>
                        <a:t>비전·조작 AI 엔지니어</a:t>
                      </a:r>
                    </a:p>
                  </a:txBody>
                  <a:tcPr marL="73152" marR="73152" marT="45720" marB="45720" anchor="t">
                    <a:lnL w="0">
                      <a:noFill/>
                    </a:lnL>
                    <a:lnR w="0">
                      <a:noFill/>
                    </a:lnR>
                    <a:lnT w="0">
                      <a:noFill/>
                    </a:lnT>
                    <a:lnB w="9525">
                      <a:solidFill>
                        <a:srgbClr val="E2E4E7"/>
                      </a:solidFill>
                    </a:lnB>
                    <a:noFill/>
                  </a:tcPr>
                </a:tc>
                <a:tc>
                  <a:txBody>
                    <a:bodyPr wrap="square"/>
                    <a:lstStyle/>
                    <a:p>
                      <a:pPr algn="ctr">
                        <a:lnSpc>
                          <a:spcPct val="100000"/>
                        </a:lnSpc>
                      </a:pPr>
                      <a:r>
                        <a:rPr sz="1100" b="0">
                          <a:solidFill>
                            <a:srgbClr val="15171A"/>
                          </a:solidFill>
                          <a:latin typeface="Noto Sans KR"/>
                          <a:ea typeface="Noto Sans KR"/>
                          <a:cs typeface="Noto Sans KR"/>
                        </a:rPr>
                        <a:t>M10</a:t>
                      </a:r>
                    </a:p>
                  </a:txBody>
                  <a:tcPr marL="73152" marR="73152" marT="45720" marB="45720"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1.01억</a:t>
                      </a:r>
                    </a:p>
                  </a:txBody>
                  <a:tcPr marL="73152" marR="73152" marT="45720" marB="45720" anchor="t">
                    <a:lnL w="0">
                      <a:noFill/>
                    </a:lnL>
                    <a:lnR w="0">
                      <a:noFill/>
                    </a:lnR>
                    <a:lnT w="0">
                      <a:noFill/>
                    </a:lnT>
                    <a:lnB w="9525">
                      <a:solidFill>
                        <a:srgbClr val="E2E4E7"/>
                      </a:solidFill>
                    </a:lnB>
                    <a:noFill/>
                  </a:tcPr>
                </a:tc>
              </a:tr>
              <a:tr h="302869">
                <a:tc>
                  <a:txBody>
                    <a:bodyPr wrap="square"/>
                    <a:lstStyle/>
                    <a:p>
                      <a:pPr algn="l">
                        <a:lnSpc>
                          <a:spcPct val="100000"/>
                        </a:lnSpc>
                      </a:pPr>
                      <a:r>
                        <a:rPr sz="1100" b="0">
                          <a:solidFill>
                            <a:srgbClr val="15171A"/>
                          </a:solidFill>
                          <a:latin typeface="Noto Sans KR"/>
                          <a:ea typeface="Noto Sans KR"/>
                          <a:cs typeface="Noto Sans KR"/>
                        </a:rPr>
                        <a:t>설계·품질 엔지니어</a:t>
                      </a:r>
                    </a:p>
                  </a:txBody>
                  <a:tcPr marL="73152" marR="73152" marT="45720" marB="45720" anchor="t">
                    <a:lnL w="0">
                      <a:noFill/>
                    </a:lnL>
                    <a:lnR w="0">
                      <a:noFill/>
                    </a:lnR>
                    <a:lnT w="0">
                      <a:noFill/>
                    </a:lnT>
                    <a:lnB w="9525">
                      <a:solidFill>
                        <a:srgbClr val="E2E4E7"/>
                      </a:solidFill>
                    </a:lnB>
                    <a:noFill/>
                  </a:tcPr>
                </a:tc>
                <a:tc>
                  <a:txBody>
                    <a:bodyPr wrap="square"/>
                    <a:lstStyle/>
                    <a:p>
                      <a:pPr algn="ctr">
                        <a:lnSpc>
                          <a:spcPct val="100000"/>
                        </a:lnSpc>
                      </a:pPr>
                      <a:r>
                        <a:rPr sz="1100" b="0">
                          <a:solidFill>
                            <a:srgbClr val="15171A"/>
                          </a:solidFill>
                          <a:latin typeface="Noto Sans KR"/>
                          <a:ea typeface="Noto Sans KR"/>
                          <a:cs typeface="Noto Sans KR"/>
                        </a:rPr>
                        <a:t>M13</a:t>
                      </a:r>
                    </a:p>
                  </a:txBody>
                  <a:tcPr marL="73152" marR="73152" marT="45720" marB="45720"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0.81억</a:t>
                      </a:r>
                    </a:p>
                  </a:txBody>
                  <a:tcPr marL="73152" marR="73152" marT="45720" marB="45720" anchor="t">
                    <a:lnL w="0">
                      <a:noFill/>
                    </a:lnL>
                    <a:lnR w="0">
                      <a:noFill/>
                    </a:lnR>
                    <a:lnT w="0">
                      <a:noFill/>
                    </a:lnT>
                    <a:lnB w="9525">
                      <a:solidFill>
                        <a:srgbClr val="E2E4E7"/>
                      </a:solidFill>
                    </a:lnB>
                    <a:noFill/>
                  </a:tcPr>
                </a:tc>
              </a:tr>
              <a:tr h="302869">
                <a:tc>
                  <a:txBody>
                    <a:bodyPr wrap="square"/>
                    <a:lstStyle/>
                    <a:p>
                      <a:pPr algn="l">
                        <a:lnSpc>
                          <a:spcPct val="100000"/>
                        </a:lnSpc>
                      </a:pPr>
                      <a:r>
                        <a:rPr sz="1100" b="1">
                          <a:solidFill>
                            <a:srgbClr val="15171A"/>
                          </a:solidFill>
                          <a:latin typeface="Noto Sans KR"/>
                          <a:ea typeface="Noto Sans KR"/>
                          <a:cs typeface="Noto Sans KR"/>
                        </a:rPr>
                        <a:t>합계 · 8명</a:t>
                      </a:r>
                    </a:p>
                  </a:txBody>
                  <a:tcPr marL="73152" marR="73152" marT="45720" marB="45720" anchor="t">
                    <a:lnL w="0">
                      <a:noFill/>
                    </a:lnL>
                    <a:lnR w="0">
                      <a:noFill/>
                    </a:lnR>
                    <a:lnT w="0">
                      <a:noFill/>
                    </a:lnT>
                    <a:lnB w="9525">
                      <a:solidFill>
                        <a:srgbClr val="E2E4E7"/>
                      </a:solidFill>
                    </a:lnB>
                    <a:noFill/>
                  </a:tcPr>
                </a:tc>
                <a:tc>
                  <a:txBody>
                    <a:bodyPr wrap="square"/>
                    <a:lstStyle/>
                    <a:p>
                      <a:pPr algn="ctr">
                        <a:lnSpc>
                          <a:spcPct val="100000"/>
                        </a:lnSpc>
                      </a:pPr>
                      <a:r>
                        <a:rPr sz="1100" b="0">
                          <a:solidFill>
                            <a:srgbClr val="15171A"/>
                          </a:solidFill>
                          <a:latin typeface="Noto Sans KR"/>
                          <a:ea typeface="Noto Sans KR"/>
                          <a:cs typeface="Noto Sans KR"/>
                        </a:rPr>
                        <a:t/>
                      </a:r>
                    </a:p>
                  </a:txBody>
                  <a:tcPr marL="73152" marR="73152" marT="45720" marB="45720" anchor="t">
                    <a:lnL w="0">
                      <a:noFill/>
                    </a:lnL>
                    <a:lnR w="0">
                      <a:noFill/>
                    </a:lnR>
                    <a:lnT w="0">
                      <a:noFill/>
                    </a:lnT>
                    <a:lnB w="9525">
                      <a:solidFill>
                        <a:srgbClr val="E2E4E7"/>
                      </a:solidFill>
                    </a:lnB>
                    <a:noFill/>
                  </a:tcPr>
                </a:tc>
                <a:tc>
                  <a:txBody>
                    <a:bodyPr wrap="square"/>
                    <a:lstStyle/>
                    <a:p>
                      <a:pPr algn="r">
                        <a:lnSpc>
                          <a:spcPct val="100000"/>
                        </a:lnSpc>
                      </a:pPr>
                      <a:r>
                        <a:rPr sz="1100" b="1">
                          <a:solidFill>
                            <a:srgbClr val="15171A"/>
                          </a:solidFill>
                          <a:latin typeface="Noto Sans KR"/>
                          <a:ea typeface="Noto Sans KR"/>
                          <a:cs typeface="Noto Sans KR"/>
                        </a:rPr>
                        <a:t>9.6억</a:t>
                      </a:r>
                    </a:p>
                  </a:txBody>
                  <a:tcPr marL="73152" marR="73152" marT="45720" marB="45720" anchor="t">
                    <a:lnL w="0">
                      <a:noFill/>
                    </a:lnL>
                    <a:lnR w="0">
                      <a:noFill/>
                    </a:lnR>
                    <a:lnT w="0">
                      <a:noFill/>
                    </a:lnT>
                    <a:lnB w="9525">
                      <a:solidFill>
                        <a:srgbClr val="E2E4E7"/>
                      </a:solidFill>
                    </a:lnB>
                    <a:noFill/>
                  </a:tcPr>
                </a:tc>
              </a:tr>
            </a:tbl>
          </a:graphicData>
        </a:graphic>
      </p:graphicFrame>
      <p:sp>
        <p:nvSpPr>
          <p:cNvPr id="7" name="TextBox 6"/>
          <p:cNvSpPr txBox="1"/>
          <p:nvPr/>
        </p:nvSpPr>
        <p:spPr>
          <a:xfrm>
            <a:off x="685800" y="5314696"/>
            <a:ext cx="4754880" cy="457200"/>
          </a:xfrm>
          <a:prstGeom prst="rect">
            <a:avLst/>
          </a:prstGeom>
          <a:noFill/>
        </p:spPr>
        <p:txBody>
          <a:bodyPr wrap="square" lIns="0" rIns="0" tIns="0" bIns="0" anchor="t">
            <a:spAutoFit/>
          </a:bodyPr>
          <a:lstStyle/>
          <a:p>
            <a:pPr algn="l">
              <a:lnSpc>
                <a:spcPct val="100000"/>
              </a:lnSpc>
            </a:pPr>
            <a:r>
              <a:rPr sz="1050" b="0">
                <a:solidFill>
                  <a:srgbClr val="8C9198"/>
                </a:solidFill>
                <a:latin typeface="Noto Sans KR"/>
                <a:ea typeface="Noto Sans KR"/>
                <a:cs typeface="Noto Sans KR"/>
              </a:rPr>
              <a:t>창업자 연 5,000만 원, 엔지니어 연 7,000만 원 + 4대보험·퇴직충당 15%</a:t>
            </a:r>
          </a:p>
        </p:txBody>
      </p:sp>
      <p:sp>
        <p:nvSpPr>
          <p:cNvPr id="8" name="TextBox 7"/>
          <p:cNvSpPr txBox="1"/>
          <p:nvPr/>
        </p:nvSpPr>
        <p:spPr>
          <a:xfrm>
            <a:off x="5897880" y="1847088"/>
            <a:ext cx="5608015"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자금 사용 계획</a:t>
            </a:r>
          </a:p>
        </p:txBody>
      </p:sp>
      <p:graphicFrame>
        <p:nvGraphicFramePr>
          <p:cNvPr id="9" name="Table 8"/>
          <p:cNvGraphicFramePr>
            <a:graphicFrameLocks noGrp="1"/>
          </p:cNvGraphicFramePr>
          <p:nvPr/>
        </p:nvGraphicFramePr>
        <p:xfrm>
          <a:off x="5897880" y="2194560"/>
          <a:ext cx="5608015" cy="3230975"/>
        </p:xfrm>
        <a:graphic>
          <a:graphicData uri="http://schemas.openxmlformats.org/drawingml/2006/table">
            <a:tbl>
              <a:tblPr firstRow="0" bandRow="0">
                <a:tableStyleId>{2D5ABB26-0587-4C30-8999-92F81FD0307C}</a:tableStyleId>
              </a:tblPr>
              <a:tblGrid>
                <a:gridCol w="3596335"/>
                <a:gridCol w="1097280"/>
                <a:gridCol w="914400"/>
              </a:tblGrid>
              <a:tr h="293725">
                <a:tc>
                  <a:txBody>
                    <a:bodyPr wrap="square"/>
                    <a:lstStyle/>
                    <a:p>
                      <a:pPr algn="l">
                        <a:lnSpc>
                          <a:spcPct val="100000"/>
                        </a:lnSpc>
                      </a:pPr>
                      <a:r>
                        <a:rPr sz="1100" b="1">
                          <a:solidFill>
                            <a:srgbClr val="15171A"/>
                          </a:solidFill>
                          <a:latin typeface="Noto Sans KR"/>
                          <a:ea typeface="Noto Sans KR"/>
                          <a:cs typeface="Noto Sans KR"/>
                        </a:rPr>
                        <a:t>항목</a:t>
                      </a:r>
                    </a:p>
                  </a:txBody>
                  <a:tcPr marL="73152" marR="73152" marT="41148" marB="41148"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1100" b="1">
                          <a:solidFill>
                            <a:srgbClr val="15171A"/>
                          </a:solidFill>
                          <a:latin typeface="Noto Sans KR"/>
                          <a:ea typeface="Noto Sans KR"/>
                          <a:cs typeface="Noto Sans KR"/>
                        </a:rPr>
                        <a:t>금액</a:t>
                      </a:r>
                    </a:p>
                  </a:txBody>
                  <a:tcPr marL="73152" marR="73152" marT="41148" marB="41148"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1100" b="1">
                          <a:solidFill>
                            <a:srgbClr val="15171A"/>
                          </a:solidFill>
                          <a:latin typeface="Noto Sans KR"/>
                          <a:ea typeface="Noto Sans KR"/>
                          <a:cs typeface="Noto Sans KR"/>
                        </a:rPr>
                        <a:t>비중</a:t>
                      </a:r>
                    </a:p>
                  </a:txBody>
                  <a:tcPr marL="73152" marR="73152" marT="41148" marB="41148" anchor="t">
                    <a:lnL w="0">
                      <a:noFill/>
                    </a:lnL>
                    <a:lnR w="0">
                      <a:noFill/>
                    </a:lnR>
                    <a:lnT w="12700">
                      <a:solidFill>
                        <a:srgbClr val="15171A"/>
                      </a:solidFill>
                    </a:lnT>
                    <a:lnB w="9525">
                      <a:solidFill>
                        <a:srgbClr val="15171A"/>
                      </a:solidFill>
                    </a:lnB>
                    <a:noFill/>
                  </a:tcPr>
                </a:tc>
              </a:tr>
              <a:tr h="293725">
                <a:tc>
                  <a:txBody>
                    <a:bodyPr wrap="square"/>
                    <a:lstStyle/>
                    <a:p>
                      <a:pPr algn="l">
                        <a:lnSpc>
                          <a:spcPct val="100000"/>
                        </a:lnSpc>
                      </a:pPr>
                      <a:r>
                        <a:rPr sz="1100" b="0">
                          <a:solidFill>
                            <a:srgbClr val="15171A"/>
                          </a:solidFill>
                          <a:latin typeface="Noto Sans KR"/>
                          <a:ea typeface="Noto Sans KR"/>
                          <a:cs typeface="Noto Sans KR"/>
                        </a:rPr>
                        <a:t>핵심 인력 8명</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9.6억</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48%</a:t>
                      </a:r>
                    </a:p>
                  </a:txBody>
                  <a:tcPr marL="73152" marR="73152" marT="41148" marB="41148" anchor="t">
                    <a:lnL w="0">
                      <a:noFill/>
                    </a:lnL>
                    <a:lnR w="0">
                      <a:noFill/>
                    </a:lnR>
                    <a:lnT w="0">
                      <a:noFill/>
                    </a:lnT>
                    <a:lnB w="9525">
                      <a:solidFill>
                        <a:srgbClr val="E2E4E7"/>
                      </a:solidFill>
                    </a:lnB>
                    <a:noFill/>
                  </a:tcPr>
                </a:tc>
              </a:tr>
              <a:tr h="293725">
                <a:tc>
                  <a:txBody>
                    <a:bodyPr wrap="square"/>
                    <a:lstStyle/>
                    <a:p>
                      <a:pPr algn="l">
                        <a:lnSpc>
                          <a:spcPct val="100000"/>
                        </a:lnSpc>
                      </a:pPr>
                      <a:r>
                        <a:rPr sz="1100" b="0">
                          <a:solidFill>
                            <a:srgbClr val="15171A"/>
                          </a:solidFill>
                          <a:latin typeface="Noto Sans KR"/>
                          <a:ea typeface="Noto Sans KR"/>
                          <a:cs typeface="Noto Sans KR"/>
                        </a:rPr>
                        <a:t>시제품·내구시험</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2.7억</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13%</a:t>
                      </a:r>
                    </a:p>
                  </a:txBody>
                  <a:tcPr marL="73152" marR="73152" marT="41148" marB="41148" anchor="t">
                    <a:lnL w="0">
                      <a:noFill/>
                    </a:lnL>
                    <a:lnR w="0">
                      <a:noFill/>
                    </a:lnR>
                    <a:lnT w="0">
                      <a:noFill/>
                    </a:lnT>
                    <a:lnB w="9525">
                      <a:solidFill>
                        <a:srgbClr val="E2E4E7"/>
                      </a:solidFill>
                    </a:lnB>
                    <a:noFill/>
                  </a:tcPr>
                </a:tc>
              </a:tr>
              <a:tr h="293725">
                <a:tc>
                  <a:txBody>
                    <a:bodyPr wrap="square"/>
                    <a:lstStyle/>
                    <a:p>
                      <a:pPr algn="l">
                        <a:lnSpc>
                          <a:spcPct val="100000"/>
                        </a:lnSpc>
                      </a:pPr>
                      <a:r>
                        <a:rPr sz="1100" b="0">
                          <a:solidFill>
                            <a:srgbClr val="15171A"/>
                          </a:solidFill>
                          <a:latin typeface="Noto Sans KR"/>
                          <a:ea typeface="Noto Sans KR"/>
                          <a:cs typeface="Noto Sans KR"/>
                        </a:rPr>
                        <a:t>로봇 2종·시험 셀</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1.3억</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6%</a:t>
                      </a:r>
                    </a:p>
                  </a:txBody>
                  <a:tcPr marL="73152" marR="73152" marT="41148" marB="41148" anchor="t">
                    <a:lnL w="0">
                      <a:noFill/>
                    </a:lnL>
                    <a:lnR w="0">
                      <a:noFill/>
                    </a:lnR>
                    <a:lnT w="0">
                      <a:noFill/>
                    </a:lnT>
                    <a:lnB w="9525">
                      <a:solidFill>
                        <a:srgbClr val="E2E4E7"/>
                      </a:solidFill>
                    </a:lnB>
                    <a:noFill/>
                  </a:tcPr>
                </a:tc>
              </a:tr>
              <a:tr h="293725">
                <a:tc>
                  <a:txBody>
                    <a:bodyPr wrap="square"/>
                    <a:lstStyle/>
                    <a:p>
                      <a:pPr algn="l">
                        <a:lnSpc>
                          <a:spcPct val="100000"/>
                        </a:lnSpc>
                      </a:pPr>
                      <a:r>
                        <a:rPr sz="1100" b="0">
                          <a:solidFill>
                            <a:srgbClr val="15171A"/>
                          </a:solidFill>
                          <a:latin typeface="Noto Sans KR"/>
                          <a:ea typeface="Noto Sans KR"/>
                          <a:cs typeface="Noto Sans KR"/>
                        </a:rPr>
                        <a:t>고객 PoC·현장 통합 (비청구)</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1.2억</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6%</a:t>
                      </a:r>
                    </a:p>
                  </a:txBody>
                  <a:tcPr marL="73152" marR="73152" marT="41148" marB="41148" anchor="t">
                    <a:lnL w="0">
                      <a:noFill/>
                    </a:lnL>
                    <a:lnR w="0">
                      <a:noFill/>
                    </a:lnR>
                    <a:lnT w="0">
                      <a:noFill/>
                    </a:lnT>
                    <a:lnB w="9525">
                      <a:solidFill>
                        <a:srgbClr val="E2E4E7"/>
                      </a:solidFill>
                    </a:lnB>
                    <a:noFill/>
                  </a:tcPr>
                </a:tc>
              </a:tr>
              <a:tr h="293725">
                <a:tc>
                  <a:txBody>
                    <a:bodyPr wrap="square"/>
                    <a:lstStyle/>
                    <a:p>
                      <a:pPr algn="l">
                        <a:lnSpc>
                          <a:spcPct val="100000"/>
                        </a:lnSpc>
                      </a:pPr>
                      <a:r>
                        <a:rPr sz="1100" b="0">
                          <a:solidFill>
                            <a:srgbClr val="15171A"/>
                          </a:solidFill>
                          <a:latin typeface="Noto Sans KR"/>
                          <a:ea typeface="Noto Sans KR"/>
                          <a:cs typeface="Noto Sans KR"/>
                        </a:rPr>
                        <a:t>SW·AI·데이터</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0.6억</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3%</a:t>
                      </a:r>
                    </a:p>
                  </a:txBody>
                  <a:tcPr marL="73152" marR="73152" marT="41148" marB="41148" anchor="t">
                    <a:lnL w="0">
                      <a:noFill/>
                    </a:lnL>
                    <a:lnR w="0">
                      <a:noFill/>
                    </a:lnR>
                    <a:lnT w="0">
                      <a:noFill/>
                    </a:lnT>
                    <a:lnB w="9525">
                      <a:solidFill>
                        <a:srgbClr val="E2E4E7"/>
                      </a:solidFill>
                    </a:lnB>
                    <a:noFill/>
                  </a:tcPr>
                </a:tc>
              </a:tr>
              <a:tr h="293725">
                <a:tc>
                  <a:txBody>
                    <a:bodyPr wrap="square"/>
                    <a:lstStyle/>
                    <a:p>
                      <a:pPr algn="l">
                        <a:lnSpc>
                          <a:spcPct val="100000"/>
                        </a:lnSpc>
                      </a:pPr>
                      <a:r>
                        <a:rPr sz="1100" b="0">
                          <a:solidFill>
                            <a:srgbClr val="15171A"/>
                          </a:solidFill>
                          <a:latin typeface="Noto Sans KR"/>
                          <a:ea typeface="Noto Sans KR"/>
                          <a:cs typeface="Noto Sans KR"/>
                        </a:rPr>
                        <a:t>제조·품질·안전·IP</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1.1억</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5%</a:t>
                      </a:r>
                    </a:p>
                  </a:txBody>
                  <a:tcPr marL="73152" marR="73152" marT="41148" marB="41148" anchor="t">
                    <a:lnL w="0">
                      <a:noFill/>
                    </a:lnL>
                    <a:lnR w="0">
                      <a:noFill/>
                    </a:lnR>
                    <a:lnT w="0">
                      <a:noFill/>
                    </a:lnT>
                    <a:lnB w="9525">
                      <a:solidFill>
                        <a:srgbClr val="E2E4E7"/>
                      </a:solidFill>
                    </a:lnB>
                    <a:noFill/>
                  </a:tcPr>
                </a:tc>
              </a:tr>
              <a:tr h="293725">
                <a:tc>
                  <a:txBody>
                    <a:bodyPr wrap="square"/>
                    <a:lstStyle/>
                    <a:p>
                      <a:pPr algn="l">
                        <a:lnSpc>
                          <a:spcPct val="100000"/>
                        </a:lnSpc>
                      </a:pPr>
                      <a:r>
                        <a:rPr sz="1100" b="0">
                          <a:solidFill>
                            <a:srgbClr val="15171A"/>
                          </a:solidFill>
                          <a:latin typeface="Noto Sans KR"/>
                          <a:ea typeface="Noto Sans KR"/>
                          <a:cs typeface="Noto Sans KR"/>
                        </a:rPr>
                        <a:t>주방 벤치 데모</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0.3억</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2%</a:t>
                      </a:r>
                    </a:p>
                  </a:txBody>
                  <a:tcPr marL="73152" marR="73152" marT="41148" marB="41148" anchor="t">
                    <a:lnL w="0">
                      <a:noFill/>
                    </a:lnL>
                    <a:lnR w="0">
                      <a:noFill/>
                    </a:lnR>
                    <a:lnT w="0">
                      <a:noFill/>
                    </a:lnT>
                    <a:lnB w="9525">
                      <a:solidFill>
                        <a:srgbClr val="E2E4E7"/>
                      </a:solidFill>
                    </a:lnB>
                    <a:noFill/>
                  </a:tcPr>
                </a:tc>
              </a:tr>
              <a:tr h="293725">
                <a:tc>
                  <a:txBody>
                    <a:bodyPr wrap="square"/>
                    <a:lstStyle/>
                    <a:p>
                      <a:pPr algn="l">
                        <a:lnSpc>
                          <a:spcPct val="100000"/>
                        </a:lnSpc>
                      </a:pPr>
                      <a:r>
                        <a:rPr sz="1100" b="0">
                          <a:solidFill>
                            <a:srgbClr val="15171A"/>
                          </a:solidFill>
                          <a:latin typeface="Noto Sans KR"/>
                          <a:ea typeface="Noto Sans KR"/>
                          <a:cs typeface="Noto Sans KR"/>
                        </a:rPr>
                        <a:t>운영 (임차·법무·회계·보험·출장)</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1.5억</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8%</a:t>
                      </a:r>
                    </a:p>
                  </a:txBody>
                  <a:tcPr marL="73152" marR="73152" marT="41148" marB="41148" anchor="t">
                    <a:lnL w="0">
                      <a:noFill/>
                    </a:lnL>
                    <a:lnR w="0">
                      <a:noFill/>
                    </a:lnR>
                    <a:lnT w="0">
                      <a:noFill/>
                    </a:lnT>
                    <a:lnB w="9525">
                      <a:solidFill>
                        <a:srgbClr val="E2E4E7"/>
                      </a:solidFill>
                    </a:lnB>
                    <a:noFill/>
                  </a:tcPr>
                </a:tc>
              </a:tr>
              <a:tr h="293725">
                <a:tc>
                  <a:txBody>
                    <a:bodyPr wrap="square"/>
                    <a:lstStyle/>
                    <a:p>
                      <a:pPr algn="l">
                        <a:lnSpc>
                          <a:spcPct val="100000"/>
                        </a:lnSpc>
                      </a:pPr>
                      <a:r>
                        <a:rPr sz="1100" b="0">
                          <a:solidFill>
                            <a:srgbClr val="15171A"/>
                          </a:solidFill>
                          <a:latin typeface="Noto Sans KR"/>
                          <a:ea typeface="Noto Sans KR"/>
                          <a:cs typeface="Noto Sans KR"/>
                        </a:rPr>
                        <a:t>예비비·운전자본</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1.7억</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8%</a:t>
                      </a:r>
                    </a:p>
                  </a:txBody>
                  <a:tcPr marL="73152" marR="73152" marT="41148" marB="41148" anchor="t">
                    <a:lnL w="0">
                      <a:noFill/>
                    </a:lnL>
                    <a:lnR w="0">
                      <a:noFill/>
                    </a:lnR>
                    <a:lnT w="0">
                      <a:noFill/>
                    </a:lnT>
                    <a:lnB w="9525">
                      <a:solidFill>
                        <a:srgbClr val="E2E4E7"/>
                      </a:solidFill>
                    </a:lnB>
                    <a:noFill/>
                  </a:tcPr>
                </a:tc>
              </a:tr>
              <a:tr h="293725">
                <a:tc>
                  <a:txBody>
                    <a:bodyPr wrap="square"/>
                    <a:lstStyle/>
                    <a:p>
                      <a:pPr algn="l">
                        <a:lnSpc>
                          <a:spcPct val="100000"/>
                        </a:lnSpc>
                      </a:pPr>
                      <a:r>
                        <a:rPr sz="1100" b="1">
                          <a:solidFill>
                            <a:srgbClr val="15171A"/>
                          </a:solidFill>
                          <a:latin typeface="Noto Sans KR"/>
                          <a:ea typeface="Noto Sans KR"/>
                          <a:cs typeface="Noto Sans KR"/>
                        </a:rPr>
                        <a:t>합계</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1">
                          <a:solidFill>
                            <a:srgbClr val="15171A"/>
                          </a:solidFill>
                          <a:latin typeface="Noto Sans KR"/>
                          <a:ea typeface="Noto Sans KR"/>
                          <a:cs typeface="Noto Sans KR"/>
                        </a:rPr>
                        <a:t>20.0억</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1">
                          <a:solidFill>
                            <a:srgbClr val="15171A"/>
                          </a:solidFill>
                          <a:latin typeface="Noto Sans KR"/>
                          <a:ea typeface="Noto Sans KR"/>
                          <a:cs typeface="Noto Sans KR"/>
                        </a:rPr>
                        <a:t>100%</a:t>
                      </a:r>
                    </a:p>
                  </a:txBody>
                  <a:tcPr marL="73152" marR="73152" marT="41148" marB="41148" anchor="t">
                    <a:lnL w="0">
                      <a:noFill/>
                    </a:lnL>
                    <a:lnR w="0">
                      <a:noFill/>
                    </a:lnR>
                    <a:lnT w="0">
                      <a:noFill/>
                    </a:lnT>
                    <a:lnB w="9525">
                      <a:solidFill>
                        <a:srgbClr val="E2E4E7"/>
                      </a:solidFill>
                    </a:lnB>
                    <a:noFill/>
                  </a:tcPr>
                </a:tc>
              </a:tr>
            </a:tbl>
          </a:graphicData>
        </a:graphic>
      </p:graphicFrame>
      <p:sp>
        <p:nvSpPr>
          <p:cNvPr id="10" name="TextBox 9"/>
          <p:cNvSpPr txBox="1"/>
          <p:nvPr/>
        </p:nvSpPr>
        <p:spPr>
          <a:xfrm>
            <a:off x="5897880" y="5562701"/>
            <a:ext cx="5608015" cy="731520"/>
          </a:xfrm>
          <a:prstGeom prst="rect">
            <a:avLst/>
          </a:prstGeom>
          <a:noFill/>
        </p:spPr>
        <p:txBody>
          <a:bodyPr wrap="square" lIns="0" rIns="0" tIns="0" bIns="0" anchor="t">
            <a:spAutoFit/>
          </a:bodyPr>
          <a:lstStyle/>
          <a:p>
            <a:pPr algn="l">
              <a:lnSpc>
                <a:spcPct val="100000"/>
              </a:lnSpc>
              <a:spcAft>
                <a:spcPts val="300"/>
              </a:spcAft>
            </a:pPr>
            <a:r>
              <a:rPr sz="1100" b="1">
                <a:solidFill>
                  <a:srgbClr val="15171A"/>
                </a:solidFill>
                <a:latin typeface="Noto Sans KR"/>
                <a:ea typeface="Noto Sans KR"/>
                <a:cs typeface="Noto Sans KR"/>
              </a:rPr>
              <a:t>손익 연결  </a:t>
            </a:r>
            <a:r>
              <a:rPr sz="1100" b="0">
                <a:solidFill>
                  <a:srgbClr val="4A4F57"/>
                </a:solidFill>
                <a:latin typeface="Noto Sans KR"/>
                <a:ea typeface="Noto Sans KR"/>
                <a:cs typeface="Noto Sans KR"/>
              </a:rPr>
              <a:t>운영비(예비비 제외) 1년차 7.7억 + 2년차 10.6억 = 18.3억</a:t>
            </a:r>
          </a:p>
          <a:p>
            <a:pPr algn="l">
              <a:lnSpc>
                <a:spcPct val="100000"/>
              </a:lnSpc>
            </a:pPr>
            <a:r>
              <a:rPr sz="1100" b="1">
                <a:solidFill>
                  <a:srgbClr val="15171A"/>
                </a:solidFill>
                <a:latin typeface="Noto Sans KR"/>
                <a:ea typeface="Noto Sans KR"/>
                <a:cs typeface="Noto Sans KR"/>
              </a:rPr>
              <a:t>집행 구조  </a:t>
            </a:r>
            <a:r>
              <a:rPr sz="1100" b="0">
                <a:solidFill>
                  <a:srgbClr val="4A4F57"/>
                </a:solidFill>
                <a:latin typeface="Noto Sans KR"/>
                <a:ea typeface="Noto Sans KR"/>
                <a:cs typeface="Noto Sans KR"/>
              </a:rPr>
              <a:t>18개월 핵심 운영 13.4억 + 6개월 연장 5.0억 + 예비비 1.7억</a:t>
            </a:r>
          </a:p>
        </p:txBody>
      </p:sp>
      <p:sp>
        <p:nvSpPr>
          <p:cNvPr id="11" name="TextBox 10"/>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SoftHand-4  |  Seed 투자 제안서</a:t>
            </a:r>
          </a:p>
        </p:txBody>
      </p:sp>
      <p:sp>
        <p:nvSpPr>
          <p:cNvPr id="12" name="TextBox 11"/>
          <p:cNvSpPr txBox="1"/>
          <p:nvPr/>
        </p:nvSpPr>
        <p:spPr>
          <a:xfrm>
            <a:off x="3154680" y="6446520"/>
            <a:ext cx="7802575"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기존 "개발 인력 9.0억"은 같은 채용 범위에서 과소 추정 → 9.6억으로 재산정</a:t>
            </a:r>
          </a:p>
        </p:txBody>
      </p:sp>
      <p:sp>
        <p:nvSpPr>
          <p:cNvPr id="13" name="TextBox 12"/>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A11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7315200" cy="256032"/>
          </a:xfrm>
          <a:prstGeom prst="rect">
            <a:avLst/>
          </a:prstGeom>
          <a:noFill/>
        </p:spPr>
        <p:txBody>
          <a:bodyPr wrap="square" lIns="0" rIns="0" tIns="0" bIns="0" anchor="t">
            <a:spAutoFit/>
          </a:bodyPr>
          <a:lstStyle/>
          <a:p>
            <a:pPr algn="l">
              <a:lnSpc>
                <a:spcPct val="100000"/>
              </a:lnSpc>
            </a:pPr>
            <a:r>
              <a:rPr sz="1100" b="1">
                <a:solidFill>
                  <a:srgbClr val="E2571B"/>
                </a:solidFill>
                <a:latin typeface="Noto Sans KR"/>
                <a:ea typeface="Noto Sans KR"/>
                <a:cs typeface="Noto Sans KR"/>
              </a:rPr>
              <a:t>부록 A12</a:t>
            </a:r>
          </a:p>
        </p:txBody>
      </p:sp>
      <p:sp>
        <p:nvSpPr>
          <p:cNvPr id="3" name="TextBox 2"/>
          <p:cNvSpPr txBox="1"/>
          <p:nvPr/>
        </p:nvSpPr>
        <p:spPr>
          <a:xfrm>
            <a:off x="685800" y="822960"/>
            <a:ext cx="10820095" cy="475488"/>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데이터 축적 계획</a:t>
            </a:r>
          </a:p>
        </p:txBody>
      </p:sp>
      <p:sp>
        <p:nvSpPr>
          <p:cNvPr id="4" name="TextBox 3"/>
          <p:cNvSpPr txBox="1"/>
          <p:nvPr/>
        </p:nvSpPr>
        <p:spPr>
          <a:xfrm>
            <a:off x="685800" y="1353312"/>
            <a:ext cx="10820095" cy="274320"/>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현재 보유 데이터 없음 · 제품화 구조(본문 09)가 먼저, 데이터는 그 위에 쌓이는 보조 경쟁력</a:t>
            </a:r>
          </a:p>
        </p:txBody>
      </p:sp>
      <p:cxnSp>
        <p:nvCxnSpPr>
          <p:cNvPr id="5" name="Connector 4"/>
          <p:cNvCxnSpPr/>
          <p:nvPr/>
        </p:nvCxnSpPr>
        <p:spPr>
          <a:xfrm>
            <a:off x="685800" y="2011679"/>
            <a:ext cx="10820095" cy="0"/>
          </a:xfrm>
          <a:prstGeom prst="line">
            <a:avLst/>
          </a:prstGeom>
          <a:ln w="15875">
            <a:solidFill>
              <a:srgbClr val="15171A"/>
            </a:solidFill>
          </a:ln>
        </p:spPr>
      </p:cxnSp>
      <p:sp>
        <p:nvSpPr>
          <p:cNvPr id="6" name="Oval 5"/>
          <p:cNvSpPr/>
          <p:nvPr/>
        </p:nvSpPr>
        <p:spPr>
          <a:xfrm>
            <a:off x="676656" y="1956815"/>
            <a:ext cx="109728" cy="109728"/>
          </a:xfrm>
          <a:prstGeom prst="ellipse">
            <a:avLst/>
          </a:prstGeom>
          <a:solidFill>
            <a:srgbClr val="15171A"/>
          </a:solidFill>
          <a:ln>
            <a:noFill/>
          </a:ln>
        </p:spPr>
        <p:txBody>
          <a:bodyPr rtlCol="0" anchor="ctr"/>
          <a:lstStyle/>
          <a:p>
            <a:pPr algn="ctr"/>
          </a:p>
        </p:txBody>
      </p:sp>
      <p:sp>
        <p:nvSpPr>
          <p:cNvPr id="7" name="TextBox 6"/>
          <p:cNvSpPr txBox="1"/>
          <p:nvPr/>
        </p:nvSpPr>
        <p:spPr>
          <a:xfrm>
            <a:off x="685800" y="2167128"/>
            <a:ext cx="1981139" cy="274320"/>
          </a:xfrm>
          <a:prstGeom prst="rect">
            <a:avLst/>
          </a:prstGeom>
          <a:noFill/>
        </p:spPr>
        <p:txBody>
          <a:bodyPr wrap="square" lIns="0" rIns="0" tIns="0" bIns="0" anchor="t">
            <a:spAutoFit/>
          </a:bodyPr>
          <a:lstStyle/>
          <a:p>
            <a:pPr algn="l">
              <a:lnSpc>
                <a:spcPct val="100000"/>
              </a:lnSpc>
            </a:pPr>
            <a:r>
              <a:rPr sz="1400" b="1">
                <a:solidFill>
                  <a:srgbClr val="15171A"/>
                </a:solidFill>
                <a:latin typeface="Noto Sans KR"/>
                <a:ea typeface="Noto Sans KR"/>
                <a:cs typeface="Noto Sans KR"/>
              </a:rPr>
              <a:t>더 많은 배치</a:t>
            </a:r>
          </a:p>
        </p:txBody>
      </p:sp>
      <p:sp>
        <p:nvSpPr>
          <p:cNvPr id="8" name="Oval 7"/>
          <p:cNvSpPr/>
          <p:nvPr/>
        </p:nvSpPr>
        <p:spPr>
          <a:xfrm>
            <a:off x="2840675" y="1956815"/>
            <a:ext cx="109728" cy="109728"/>
          </a:xfrm>
          <a:prstGeom prst="ellipse">
            <a:avLst/>
          </a:prstGeom>
          <a:solidFill>
            <a:srgbClr val="15171A"/>
          </a:solidFill>
          <a:ln>
            <a:noFill/>
          </a:ln>
        </p:spPr>
        <p:txBody>
          <a:bodyPr rtlCol="0" anchor="ctr"/>
          <a:lstStyle/>
          <a:p>
            <a:pPr algn="ctr"/>
          </a:p>
        </p:txBody>
      </p:sp>
      <p:sp>
        <p:nvSpPr>
          <p:cNvPr id="9" name="TextBox 8"/>
          <p:cNvSpPr txBox="1"/>
          <p:nvPr/>
        </p:nvSpPr>
        <p:spPr>
          <a:xfrm>
            <a:off x="2849819" y="2167128"/>
            <a:ext cx="1981139" cy="274320"/>
          </a:xfrm>
          <a:prstGeom prst="rect">
            <a:avLst/>
          </a:prstGeom>
          <a:noFill/>
        </p:spPr>
        <p:txBody>
          <a:bodyPr wrap="square" lIns="0" rIns="0" tIns="0" bIns="0" anchor="t">
            <a:spAutoFit/>
          </a:bodyPr>
          <a:lstStyle/>
          <a:p>
            <a:pPr algn="l">
              <a:lnSpc>
                <a:spcPct val="100000"/>
              </a:lnSpc>
            </a:pPr>
            <a:r>
              <a:rPr sz="1400" b="1">
                <a:solidFill>
                  <a:srgbClr val="15171A"/>
                </a:solidFill>
                <a:latin typeface="Noto Sans KR"/>
                <a:ea typeface="Noto Sans KR"/>
                <a:cs typeface="Noto Sans KR"/>
              </a:rPr>
              <a:t>더 많은 실제 작업</a:t>
            </a:r>
          </a:p>
        </p:txBody>
      </p:sp>
      <p:sp>
        <p:nvSpPr>
          <p:cNvPr id="10" name="Oval 9"/>
          <p:cNvSpPr/>
          <p:nvPr/>
        </p:nvSpPr>
        <p:spPr>
          <a:xfrm>
            <a:off x="5004694" y="1956815"/>
            <a:ext cx="109728" cy="109728"/>
          </a:xfrm>
          <a:prstGeom prst="ellipse">
            <a:avLst/>
          </a:prstGeom>
          <a:solidFill>
            <a:srgbClr val="E2571B"/>
          </a:solidFill>
          <a:ln>
            <a:noFill/>
          </a:ln>
        </p:spPr>
        <p:txBody>
          <a:bodyPr rtlCol="0" anchor="ctr"/>
          <a:lstStyle/>
          <a:p>
            <a:pPr algn="ctr"/>
          </a:p>
        </p:txBody>
      </p:sp>
      <p:sp>
        <p:nvSpPr>
          <p:cNvPr id="11" name="TextBox 10"/>
          <p:cNvSpPr txBox="1"/>
          <p:nvPr/>
        </p:nvSpPr>
        <p:spPr>
          <a:xfrm>
            <a:off x="5013838" y="2167128"/>
            <a:ext cx="1981139" cy="274320"/>
          </a:xfrm>
          <a:prstGeom prst="rect">
            <a:avLst/>
          </a:prstGeom>
          <a:noFill/>
        </p:spPr>
        <p:txBody>
          <a:bodyPr wrap="square" lIns="0" rIns="0" tIns="0" bIns="0" anchor="t">
            <a:spAutoFit/>
          </a:bodyPr>
          <a:lstStyle/>
          <a:p>
            <a:pPr algn="l">
              <a:lnSpc>
                <a:spcPct val="100000"/>
              </a:lnSpc>
            </a:pPr>
            <a:r>
              <a:rPr sz="1400" b="1">
                <a:solidFill>
                  <a:srgbClr val="E2571B"/>
                </a:solidFill>
                <a:latin typeface="Noto Sans KR"/>
                <a:ea typeface="Noto Sans KR"/>
                <a:cs typeface="Noto Sans KR"/>
              </a:rPr>
              <a:t>실패·복구 데이터</a:t>
            </a:r>
          </a:p>
        </p:txBody>
      </p:sp>
      <p:sp>
        <p:nvSpPr>
          <p:cNvPr id="12" name="Oval 11"/>
          <p:cNvSpPr/>
          <p:nvPr/>
        </p:nvSpPr>
        <p:spPr>
          <a:xfrm>
            <a:off x="7168713" y="1956815"/>
            <a:ext cx="109728" cy="109728"/>
          </a:xfrm>
          <a:prstGeom prst="ellipse">
            <a:avLst/>
          </a:prstGeom>
          <a:solidFill>
            <a:srgbClr val="15171A"/>
          </a:solidFill>
          <a:ln>
            <a:noFill/>
          </a:ln>
        </p:spPr>
        <p:txBody>
          <a:bodyPr rtlCol="0" anchor="ctr"/>
          <a:lstStyle/>
          <a:p>
            <a:pPr algn="ctr"/>
          </a:p>
        </p:txBody>
      </p:sp>
      <p:sp>
        <p:nvSpPr>
          <p:cNvPr id="13" name="TextBox 12"/>
          <p:cNvSpPr txBox="1"/>
          <p:nvPr/>
        </p:nvSpPr>
        <p:spPr>
          <a:xfrm>
            <a:off x="7177857" y="2167128"/>
            <a:ext cx="1981139" cy="274320"/>
          </a:xfrm>
          <a:prstGeom prst="rect">
            <a:avLst/>
          </a:prstGeom>
          <a:noFill/>
        </p:spPr>
        <p:txBody>
          <a:bodyPr wrap="square" lIns="0" rIns="0" tIns="0" bIns="0" anchor="t">
            <a:spAutoFit/>
          </a:bodyPr>
          <a:lstStyle/>
          <a:p>
            <a:pPr algn="l">
              <a:lnSpc>
                <a:spcPct val="100000"/>
              </a:lnSpc>
            </a:pPr>
            <a:r>
              <a:rPr sz="1400" b="1">
                <a:solidFill>
                  <a:srgbClr val="15171A"/>
                </a:solidFill>
                <a:latin typeface="Noto Sans KR"/>
                <a:ea typeface="Noto Sans KR"/>
                <a:cs typeface="Noto Sans KR"/>
              </a:rPr>
              <a:t>더 나은 스킬</a:t>
            </a:r>
          </a:p>
        </p:txBody>
      </p:sp>
      <p:sp>
        <p:nvSpPr>
          <p:cNvPr id="14" name="Oval 13"/>
          <p:cNvSpPr/>
          <p:nvPr/>
        </p:nvSpPr>
        <p:spPr>
          <a:xfrm>
            <a:off x="9332732" y="1956815"/>
            <a:ext cx="109728" cy="109728"/>
          </a:xfrm>
          <a:prstGeom prst="ellipse">
            <a:avLst/>
          </a:prstGeom>
          <a:solidFill>
            <a:srgbClr val="15171A"/>
          </a:solidFill>
          <a:ln>
            <a:noFill/>
          </a:ln>
        </p:spPr>
        <p:txBody>
          <a:bodyPr rtlCol="0" anchor="ctr"/>
          <a:lstStyle/>
          <a:p>
            <a:pPr algn="ctr"/>
          </a:p>
        </p:txBody>
      </p:sp>
      <p:sp>
        <p:nvSpPr>
          <p:cNvPr id="15" name="TextBox 14"/>
          <p:cNvSpPr txBox="1"/>
          <p:nvPr/>
        </p:nvSpPr>
        <p:spPr>
          <a:xfrm>
            <a:off x="9341876" y="2167128"/>
            <a:ext cx="1981139" cy="274320"/>
          </a:xfrm>
          <a:prstGeom prst="rect">
            <a:avLst/>
          </a:prstGeom>
          <a:noFill/>
        </p:spPr>
        <p:txBody>
          <a:bodyPr wrap="square" lIns="0" rIns="0" tIns="0" bIns="0" anchor="t">
            <a:spAutoFit/>
          </a:bodyPr>
          <a:lstStyle/>
          <a:p>
            <a:pPr algn="l">
              <a:lnSpc>
                <a:spcPct val="100000"/>
              </a:lnSpc>
            </a:pPr>
            <a:r>
              <a:rPr sz="1400" b="1">
                <a:solidFill>
                  <a:srgbClr val="15171A"/>
                </a:solidFill>
                <a:latin typeface="Noto Sans KR"/>
                <a:ea typeface="Noto Sans KR"/>
                <a:cs typeface="Noto Sans KR"/>
              </a:rPr>
              <a:t>더 높은 완료율</a:t>
            </a:r>
          </a:p>
        </p:txBody>
      </p:sp>
      <p:sp>
        <p:nvSpPr>
          <p:cNvPr id="16" name="TextBox 15"/>
          <p:cNvSpPr txBox="1"/>
          <p:nvPr/>
        </p:nvSpPr>
        <p:spPr>
          <a:xfrm>
            <a:off x="685800" y="2834639"/>
            <a:ext cx="3423818"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Seed 데이터 계획 (목표)</a:t>
            </a:r>
          </a:p>
        </p:txBody>
      </p:sp>
      <p:cxnSp>
        <p:nvCxnSpPr>
          <p:cNvPr id="17" name="Connector 16"/>
          <p:cNvCxnSpPr/>
          <p:nvPr/>
        </p:nvCxnSpPr>
        <p:spPr>
          <a:xfrm>
            <a:off x="685800" y="3163823"/>
            <a:ext cx="3423818" cy="0"/>
          </a:xfrm>
          <a:prstGeom prst="line">
            <a:avLst/>
          </a:prstGeom>
          <a:ln w="12700">
            <a:solidFill>
              <a:srgbClr val="15171A"/>
            </a:solidFill>
          </a:ln>
        </p:spPr>
      </p:cxnSp>
      <p:sp>
        <p:nvSpPr>
          <p:cNvPr id="18" name="TextBox 17"/>
          <p:cNvSpPr txBox="1"/>
          <p:nvPr/>
        </p:nvSpPr>
        <p:spPr>
          <a:xfrm>
            <a:off x="685800" y="3273551"/>
            <a:ext cx="3423818" cy="1080820"/>
          </a:xfrm>
          <a:prstGeom prst="rect">
            <a:avLst/>
          </a:prstGeom>
          <a:noFill/>
        </p:spPr>
        <p:txBody>
          <a:bodyPr wrap="square" lIns="0" rIns="0" tIns="0" bIns="0" anchor="t">
            <a:spAutoFit/>
          </a:bodyPr>
          <a:lstStyle/>
          <a:p>
            <a:pPr algn="l" marL="164592" indent="-164592">
              <a:lnSpc>
                <a:spcPct val="100000"/>
              </a:lnSpc>
              <a:spcAft>
                <a:spcPts val="400"/>
              </a:spcAft>
              <a:buClr>
                <a:srgbClr val="8C9198"/>
              </a:buClr>
              <a:buFont typeface="Noto Sans KR"/>
              <a:buChar char="•"/>
            </a:pPr>
            <a:r>
              <a:rPr sz="1200" b="0">
                <a:solidFill>
                  <a:srgbClr val="4A4F57"/>
                </a:solidFill>
                <a:latin typeface="Noto Sans KR"/>
                <a:ea typeface="Noto Sans KR"/>
                <a:cs typeface="Noto Sans KR"/>
              </a:rPr>
              <a:t>도구·부품·설비 장치 30종 이상</a:t>
            </a:r>
          </a:p>
          <a:p>
            <a:pPr algn="l" marL="164592" indent="-164592">
              <a:lnSpc>
                <a:spcPct val="100000"/>
              </a:lnSpc>
              <a:spcAft>
                <a:spcPts val="400"/>
              </a:spcAft>
              <a:buClr>
                <a:srgbClr val="8C9198"/>
              </a:buClr>
              <a:buFont typeface="Noto Sans KR"/>
              <a:buChar char="•"/>
            </a:pPr>
            <a:r>
              <a:rPr sz="1200" b="0">
                <a:solidFill>
                  <a:srgbClr val="4A4F57"/>
                </a:solidFill>
                <a:latin typeface="Noto Sans KR"/>
                <a:ea typeface="Noto Sans KR"/>
                <a:cs typeface="Noto Sans KR"/>
              </a:rPr>
              <a:t>시도 1만 회 이상, 시간 동기화</a:t>
            </a:r>
          </a:p>
          <a:p>
            <a:pPr algn="l" marL="164592" indent="-164592">
              <a:lnSpc>
                <a:spcPct val="100000"/>
              </a:lnSpc>
              <a:spcAft>
                <a:spcPts val="400"/>
              </a:spcAft>
              <a:buClr>
                <a:srgbClr val="8C9198"/>
              </a:buClr>
              <a:buFont typeface="Noto Sans KR"/>
              <a:buChar char="•"/>
            </a:pPr>
            <a:r>
              <a:rPr sz="1200" b="0">
                <a:solidFill>
                  <a:srgbClr val="4A4F57"/>
                </a:solidFill>
                <a:latin typeface="Noto Sans KR"/>
                <a:ea typeface="Noto Sans KR"/>
                <a:cs typeface="Noto Sans KR"/>
              </a:rPr>
              <a:t>실패 원인 라벨링·복구 기록</a:t>
            </a:r>
          </a:p>
          <a:p>
            <a:pPr algn="l" marL="164592" indent="-164592">
              <a:lnSpc>
                <a:spcPct val="100000"/>
              </a:lnSpc>
              <a:buClr>
                <a:srgbClr val="8C9198"/>
              </a:buClr>
              <a:buFont typeface="Noto Sans KR"/>
              <a:buChar char="•"/>
            </a:pPr>
            <a:r>
              <a:rPr sz="1200" b="0">
                <a:solidFill>
                  <a:srgbClr val="4A4F57"/>
                </a:solidFill>
                <a:latin typeface="Noto Sans KR"/>
                <a:ea typeface="Noto Sans KR"/>
                <a:cs typeface="Noto Sans KR"/>
              </a:rPr>
              <a:t>물체·세션·현장 단위 분리 검증</a:t>
            </a:r>
          </a:p>
        </p:txBody>
      </p:sp>
      <p:sp>
        <p:nvSpPr>
          <p:cNvPr id="19" name="TextBox 18"/>
          <p:cNvSpPr txBox="1"/>
          <p:nvPr/>
        </p:nvSpPr>
        <p:spPr>
          <a:xfrm>
            <a:off x="4383938" y="2834639"/>
            <a:ext cx="3423818"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데이터 권리</a:t>
            </a:r>
          </a:p>
        </p:txBody>
      </p:sp>
      <p:cxnSp>
        <p:nvCxnSpPr>
          <p:cNvPr id="20" name="Connector 19"/>
          <p:cNvCxnSpPr/>
          <p:nvPr/>
        </p:nvCxnSpPr>
        <p:spPr>
          <a:xfrm>
            <a:off x="4383938" y="3163823"/>
            <a:ext cx="3423818" cy="0"/>
          </a:xfrm>
          <a:prstGeom prst="line">
            <a:avLst/>
          </a:prstGeom>
          <a:ln w="12700">
            <a:solidFill>
              <a:srgbClr val="15171A"/>
            </a:solidFill>
          </a:ln>
        </p:spPr>
      </p:cxnSp>
      <p:sp>
        <p:nvSpPr>
          <p:cNvPr id="21" name="TextBox 20"/>
          <p:cNvSpPr txBox="1"/>
          <p:nvPr/>
        </p:nvSpPr>
        <p:spPr>
          <a:xfrm>
            <a:off x="4383938" y="3273551"/>
            <a:ext cx="3423818" cy="1030020"/>
          </a:xfrm>
          <a:prstGeom prst="rect">
            <a:avLst/>
          </a:prstGeom>
          <a:noFill/>
        </p:spPr>
        <p:txBody>
          <a:bodyPr wrap="square" lIns="0" rIns="0" tIns="0" bIns="0" anchor="t">
            <a:spAutoFit/>
          </a:bodyPr>
          <a:lstStyle/>
          <a:p>
            <a:pPr algn="l" marL="164592" indent="-164592">
              <a:lnSpc>
                <a:spcPct val="100000"/>
              </a:lnSpc>
              <a:spcAft>
                <a:spcPts val="400"/>
              </a:spcAft>
              <a:buClr>
                <a:srgbClr val="8C9198"/>
              </a:buClr>
              <a:buFont typeface="Noto Sans KR"/>
              <a:buChar char="•"/>
            </a:pPr>
            <a:r>
              <a:rPr sz="1200" b="0">
                <a:solidFill>
                  <a:srgbClr val="4A4F57"/>
                </a:solidFill>
                <a:latin typeface="Noto Sans KR"/>
                <a:ea typeface="Noto Sans KR"/>
                <a:cs typeface="Noto Sans KR"/>
              </a:rPr>
              <a:t>고객 데이터의 수집·학습·재사용 범위를 계약으로 분리 합의</a:t>
            </a:r>
          </a:p>
          <a:p>
            <a:pPr algn="l" marL="164592" indent="-164592">
              <a:lnSpc>
                <a:spcPct val="100000"/>
              </a:lnSpc>
              <a:spcAft>
                <a:spcPts val="400"/>
              </a:spcAft>
              <a:buClr>
                <a:srgbClr val="8C9198"/>
              </a:buClr>
              <a:buFont typeface="Noto Sans KR"/>
              <a:buChar char="•"/>
            </a:pPr>
            <a:r>
              <a:rPr sz="1200" b="0">
                <a:solidFill>
                  <a:srgbClr val="4A4F57"/>
                </a:solidFill>
                <a:latin typeface="Noto Sans KR"/>
                <a:ea typeface="Noto Sans KR"/>
                <a:cs typeface="Noto Sans KR"/>
              </a:rPr>
              <a:t>고객 고유 공정 정보는 고객 자산으로 보호</a:t>
            </a:r>
          </a:p>
          <a:p>
            <a:pPr algn="l" marL="164592" indent="-164592">
              <a:lnSpc>
                <a:spcPct val="100000"/>
              </a:lnSpc>
              <a:buClr>
                <a:srgbClr val="8C9198"/>
              </a:buClr>
              <a:buFont typeface="Noto Sans KR"/>
              <a:buChar char="•"/>
            </a:pPr>
            <a:r>
              <a:rPr sz="1200" b="0">
                <a:solidFill>
                  <a:srgbClr val="4A4F57"/>
                </a:solidFill>
                <a:latin typeface="Noto Sans KR"/>
                <a:ea typeface="Noto Sans KR"/>
                <a:cs typeface="Noto Sans KR"/>
              </a:rPr>
              <a:t>스킬 개선용 일반화 데이터만 회사 자산</a:t>
            </a:r>
          </a:p>
        </p:txBody>
      </p:sp>
      <p:sp>
        <p:nvSpPr>
          <p:cNvPr id="22" name="TextBox 21"/>
          <p:cNvSpPr txBox="1"/>
          <p:nvPr/>
        </p:nvSpPr>
        <p:spPr>
          <a:xfrm>
            <a:off x="8082076" y="2834639"/>
            <a:ext cx="3423818"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함께 쌓이는 역량</a:t>
            </a:r>
          </a:p>
        </p:txBody>
      </p:sp>
      <p:cxnSp>
        <p:nvCxnSpPr>
          <p:cNvPr id="23" name="Connector 22"/>
          <p:cNvCxnSpPr/>
          <p:nvPr/>
        </p:nvCxnSpPr>
        <p:spPr>
          <a:xfrm>
            <a:off x="8082076" y="3163823"/>
            <a:ext cx="3423819" cy="0"/>
          </a:xfrm>
          <a:prstGeom prst="line">
            <a:avLst/>
          </a:prstGeom>
          <a:ln w="12700">
            <a:solidFill>
              <a:srgbClr val="15171A"/>
            </a:solidFill>
          </a:ln>
        </p:spPr>
      </p:cxnSp>
      <p:sp>
        <p:nvSpPr>
          <p:cNvPr id="24" name="TextBox 23"/>
          <p:cNvSpPr txBox="1"/>
          <p:nvPr/>
        </p:nvSpPr>
        <p:spPr>
          <a:xfrm>
            <a:off x="8082076" y="3273551"/>
            <a:ext cx="3423818" cy="1030020"/>
          </a:xfrm>
          <a:prstGeom prst="rect">
            <a:avLst/>
          </a:prstGeom>
          <a:noFill/>
        </p:spPr>
        <p:txBody>
          <a:bodyPr wrap="square" lIns="0" rIns="0" tIns="0" bIns="0" anchor="t">
            <a:spAutoFit/>
          </a:bodyPr>
          <a:lstStyle/>
          <a:p>
            <a:pPr algn="l" marL="164592" indent="-164592">
              <a:lnSpc>
                <a:spcPct val="100000"/>
              </a:lnSpc>
              <a:spcAft>
                <a:spcPts val="400"/>
              </a:spcAft>
              <a:buClr>
                <a:srgbClr val="8C9198"/>
              </a:buClr>
              <a:buFont typeface="Noto Sans KR"/>
              <a:buChar char="•"/>
            </a:pPr>
            <a:r>
              <a:rPr sz="1200" b="0">
                <a:solidFill>
                  <a:srgbClr val="4A4F57"/>
                </a:solidFill>
                <a:latin typeface="Noto Sans KR"/>
                <a:ea typeface="Noto Sans KR"/>
                <a:cs typeface="Noto Sans KR"/>
              </a:rPr>
              <a:t>소프트-리지드 하이브리드, 교체형 접촉부, 강성 전환</a:t>
            </a:r>
          </a:p>
          <a:p>
            <a:pPr algn="l" marL="164592" indent="-164592">
              <a:lnSpc>
                <a:spcPct val="100000"/>
              </a:lnSpc>
              <a:spcAft>
                <a:spcPts val="400"/>
              </a:spcAft>
              <a:buClr>
                <a:srgbClr val="8C9198"/>
              </a:buClr>
              <a:buFont typeface="Noto Sans KR"/>
              <a:buChar char="•"/>
            </a:pPr>
            <a:r>
              <a:rPr sz="1200" b="0">
                <a:solidFill>
                  <a:srgbClr val="4A4F57"/>
                </a:solidFill>
                <a:latin typeface="Noto Sans KR"/>
                <a:ea typeface="Noto Sans KR"/>
                <a:cs typeface="Noto Sans KR"/>
              </a:rPr>
              <a:t>힘·미끄러짐 기반 장치 조작 제어</a:t>
            </a:r>
          </a:p>
          <a:p>
            <a:pPr algn="l" marL="164592" indent="-164592">
              <a:lnSpc>
                <a:spcPct val="100000"/>
              </a:lnSpc>
              <a:buClr>
                <a:srgbClr val="8C9198"/>
              </a:buClr>
              <a:buFont typeface="Noto Sans KR"/>
              <a:buChar char="•"/>
            </a:pPr>
            <a:r>
              <a:rPr sz="1200" b="0">
                <a:solidFill>
                  <a:srgbClr val="4A4F57"/>
                </a:solidFill>
                <a:latin typeface="Noto Sans KR"/>
                <a:ea typeface="Noto Sans KR"/>
                <a:cs typeface="Noto Sans KR"/>
              </a:rPr>
              <a:t>SI 현장 통합·PoC 운영 경험</a:t>
            </a:r>
          </a:p>
        </p:txBody>
      </p:sp>
      <p:sp>
        <p:nvSpPr>
          <p:cNvPr id="25" name="TextBox 24"/>
          <p:cNvSpPr txBox="1"/>
          <p:nvPr/>
        </p:nvSpPr>
        <p:spPr>
          <a:xfrm>
            <a:off x="685800" y="6107176"/>
            <a:ext cx="10820095" cy="202184"/>
          </a:xfrm>
          <a:prstGeom prst="rect">
            <a:avLst/>
          </a:prstGeom>
          <a:noFill/>
        </p:spPr>
        <p:txBody>
          <a:bodyPr wrap="square" lIns="0" rIns="0" tIns="0" bIns="0" anchor="t">
            <a:spAutoFit/>
          </a:bodyPr>
          <a:lstStyle/>
          <a:p>
            <a:pPr algn="l">
              <a:lnSpc>
                <a:spcPct val="100000"/>
              </a:lnSpc>
            </a:pPr>
            <a:r>
              <a:rPr sz="1000" b="0">
                <a:solidFill>
                  <a:srgbClr val="8C9198"/>
                </a:solidFill>
                <a:latin typeface="Noto Sans KR"/>
                <a:ea typeface="Noto Sans KR"/>
                <a:cs typeface="Noto Sans KR"/>
              </a:rPr>
              <a:t>목표는 성공 영상이 아닌 "어떤 상황에서 실패했고 어떻게 복구했는가"의 축적 · 데이터 경쟁력은 제품화 구조와 스킬 이식성 검증 이후에 강조</a:t>
            </a:r>
          </a:p>
        </p:txBody>
      </p:sp>
      <p:sp>
        <p:nvSpPr>
          <p:cNvPr id="26" name="TextBox 25"/>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SoftHand-4  |  Seed 투자 제안서</a:t>
            </a:r>
          </a:p>
        </p:txBody>
      </p:sp>
      <p:sp>
        <p:nvSpPr>
          <p:cNvPr id="27" name="TextBox 26"/>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A12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7315200" cy="256032"/>
          </a:xfrm>
          <a:prstGeom prst="rect">
            <a:avLst/>
          </a:prstGeom>
          <a:noFill/>
        </p:spPr>
        <p:txBody>
          <a:bodyPr wrap="square" lIns="0" rIns="0" tIns="0" bIns="0" anchor="t">
            <a:spAutoFit/>
          </a:bodyPr>
          <a:lstStyle/>
          <a:p>
            <a:pPr algn="l">
              <a:lnSpc>
                <a:spcPct val="100000"/>
              </a:lnSpc>
            </a:pPr>
            <a:r>
              <a:rPr sz="1100" b="1">
                <a:solidFill>
                  <a:srgbClr val="E2571B"/>
                </a:solidFill>
                <a:latin typeface="Noto Sans KR"/>
                <a:ea typeface="Noto Sans KR"/>
                <a:cs typeface="Noto Sans KR"/>
              </a:rPr>
              <a:t>부록 A13</a:t>
            </a:r>
          </a:p>
        </p:txBody>
      </p:sp>
      <p:sp>
        <p:nvSpPr>
          <p:cNvPr id="3" name="TextBox 2"/>
          <p:cNvSpPr txBox="1"/>
          <p:nvPr/>
        </p:nvSpPr>
        <p:spPr>
          <a:xfrm>
            <a:off x="685800" y="822960"/>
            <a:ext cx="10820095" cy="475488"/>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주방 데모 범위</a:t>
            </a:r>
          </a:p>
        </p:txBody>
      </p:sp>
      <p:sp>
        <p:nvSpPr>
          <p:cNvPr id="4" name="TextBox 3"/>
          <p:cNvSpPr txBox="1"/>
          <p:nvPr/>
        </p:nvSpPr>
        <p:spPr>
          <a:xfrm>
            <a:off x="685800" y="1353312"/>
            <a:ext cx="10820095" cy="274320"/>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주방은 첫 매출 시장이 아닌 기술 확장성 데모 · 기본 시나리오 매출 0원</a:t>
            </a:r>
          </a:p>
        </p:txBody>
      </p:sp>
      <p:graphicFrame>
        <p:nvGraphicFramePr>
          <p:cNvPr id="5" name="Table 4"/>
          <p:cNvGraphicFramePr>
            <a:graphicFrameLocks noGrp="1"/>
          </p:cNvGraphicFramePr>
          <p:nvPr/>
        </p:nvGraphicFramePr>
        <p:xfrm>
          <a:off x="685800" y="1874519"/>
          <a:ext cx="6309360" cy="2303320"/>
        </p:xfrm>
        <a:graphic>
          <a:graphicData uri="http://schemas.openxmlformats.org/drawingml/2006/table">
            <a:tbl>
              <a:tblPr firstRow="0" bandRow="0">
                <a:tableStyleId>{2D5ABB26-0587-4C30-8999-92F81FD0307C}</a:tableStyleId>
              </a:tblPr>
              <a:tblGrid>
                <a:gridCol w="1143000"/>
                <a:gridCol w="2377440"/>
                <a:gridCol w="2788920"/>
              </a:tblGrid>
              <a:tr h="348640">
                <a:tc>
                  <a:txBody>
                    <a:bodyPr wrap="square"/>
                    <a:lstStyle/>
                    <a:p>
                      <a:pPr algn="l">
                        <a:lnSpc>
                          <a:spcPct val="100000"/>
                        </a:lnSpc>
                      </a:pPr>
                      <a:r>
                        <a:rPr sz="1150" b="1">
                          <a:solidFill>
                            <a:srgbClr val="15171A"/>
                          </a:solidFill>
                          <a:latin typeface="Noto Sans KR"/>
                          <a:ea typeface="Noto Sans KR"/>
                          <a:cs typeface="Noto Sans KR"/>
                        </a:rPr>
                        <a:t>구분</a:t>
                      </a:r>
                    </a:p>
                  </a:txBody>
                  <a:tcPr marL="73152" marR="73152" marT="64008" marB="64008"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150" b="1">
                          <a:solidFill>
                            <a:srgbClr val="15171A"/>
                          </a:solidFill>
                          <a:latin typeface="Noto Sans KR"/>
                          <a:ea typeface="Noto Sans KR"/>
                          <a:cs typeface="Noto Sans KR"/>
                        </a:rPr>
                        <a:t>Seed (M18~M24)</a:t>
                      </a:r>
                    </a:p>
                  </a:txBody>
                  <a:tcPr marL="73152" marR="73152" marT="64008" marB="64008"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150" b="1">
                          <a:solidFill>
                            <a:srgbClr val="15171A"/>
                          </a:solidFill>
                          <a:latin typeface="Noto Sans KR"/>
                          <a:ea typeface="Noto Sans KR"/>
                          <a:cs typeface="Noto Sans KR"/>
                        </a:rPr>
                        <a:t>Series A 이후 (미래 비전)</a:t>
                      </a:r>
                    </a:p>
                  </a:txBody>
                  <a:tcPr marL="73152" marR="73152" marT="64008" marB="64008" anchor="t">
                    <a:lnL w="0">
                      <a:noFill/>
                    </a:lnL>
                    <a:lnR w="0">
                      <a:noFill/>
                    </a:lnR>
                    <a:lnT w="12700">
                      <a:solidFill>
                        <a:srgbClr val="15171A"/>
                      </a:solidFill>
                    </a:lnT>
                    <a:lnB w="9525">
                      <a:solidFill>
                        <a:srgbClr val="15171A"/>
                      </a:solidFill>
                    </a:lnB>
                    <a:noFill/>
                  </a:tcPr>
                </a:tc>
              </a:tr>
              <a:tr h="348640">
                <a:tc>
                  <a:txBody>
                    <a:bodyPr wrap="square"/>
                    <a:lstStyle/>
                    <a:p>
                      <a:pPr algn="l">
                        <a:lnSpc>
                          <a:spcPct val="100000"/>
                        </a:lnSpc>
                      </a:pPr>
                      <a:r>
                        <a:rPr sz="1150" b="1">
                          <a:solidFill>
                            <a:srgbClr val="15171A"/>
                          </a:solidFill>
                          <a:latin typeface="Noto Sans KR"/>
                          <a:ea typeface="Noto Sans KR"/>
                          <a:cs typeface="Noto Sans KR"/>
                        </a:rPr>
                        <a:t>형태</a:t>
                      </a:r>
                    </a:p>
                  </a:txBody>
                  <a:tcPr marL="73152" marR="73152" marT="64008" marB="64008"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단일 팔·벤치 규모 데모</a:t>
                      </a:r>
                    </a:p>
                  </a:txBody>
                  <a:tcPr marL="73152" marR="73152" marT="64008" marB="64008"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천장 레일·양팔 풀 키친</a:t>
                      </a:r>
                    </a:p>
                  </a:txBody>
                  <a:tcPr marL="73152" marR="73152" marT="64008" marB="64008" anchor="t">
                    <a:lnL w="0">
                      <a:noFill/>
                    </a:lnL>
                    <a:lnR w="0">
                      <a:noFill/>
                    </a:lnR>
                    <a:lnT w="0">
                      <a:noFill/>
                    </a:lnT>
                    <a:lnB w="9525">
                      <a:solidFill>
                        <a:srgbClr val="E2E4E7"/>
                      </a:solidFill>
                    </a:lnB>
                    <a:noFill/>
                  </a:tcPr>
                </a:tc>
              </a:tr>
              <a:tr h="348640">
                <a:tc>
                  <a:txBody>
                    <a:bodyPr wrap="square"/>
                    <a:lstStyle/>
                    <a:p>
                      <a:pPr algn="l">
                        <a:lnSpc>
                          <a:spcPct val="100000"/>
                        </a:lnSpc>
                      </a:pPr>
                      <a:r>
                        <a:rPr sz="1150" b="1">
                          <a:solidFill>
                            <a:srgbClr val="15171A"/>
                          </a:solidFill>
                          <a:latin typeface="Noto Sans KR"/>
                          <a:ea typeface="Noto Sans KR"/>
                          <a:cs typeface="Noto Sans KR"/>
                        </a:rPr>
                        <a:t>대표 작업</a:t>
                      </a:r>
                    </a:p>
                  </a:txBody>
                  <a:tcPr marL="73152" marR="73152" marT="64008" marB="64008"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손잡이·집게·팬·접시</a:t>
                      </a:r>
                    </a:p>
                  </a:txBody>
                  <a:tcPr marL="73152" marR="73152" marT="64008" marB="64008"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재료 투입·세척·가열·배식·수납</a:t>
                      </a:r>
                    </a:p>
                  </a:txBody>
                  <a:tcPr marL="73152" marR="73152" marT="64008" marB="64008" anchor="t">
                    <a:lnL w="0">
                      <a:noFill/>
                    </a:lnL>
                    <a:lnR w="0">
                      <a:noFill/>
                    </a:lnR>
                    <a:lnT w="0">
                      <a:noFill/>
                    </a:lnT>
                    <a:lnB w="9525">
                      <a:solidFill>
                        <a:srgbClr val="E2E4E7"/>
                      </a:solidFill>
                    </a:lnB>
                    <a:noFill/>
                  </a:tcPr>
                </a:tc>
              </a:tr>
              <a:tr h="560120">
                <a:tc>
                  <a:txBody>
                    <a:bodyPr wrap="square"/>
                    <a:lstStyle/>
                    <a:p>
                      <a:pPr algn="l">
                        <a:lnSpc>
                          <a:spcPct val="100000"/>
                        </a:lnSpc>
                      </a:pPr>
                      <a:r>
                        <a:rPr sz="1150" b="1">
                          <a:solidFill>
                            <a:srgbClr val="15171A"/>
                          </a:solidFill>
                          <a:latin typeface="Noto Sans KR"/>
                          <a:ea typeface="Noto Sans KR"/>
                          <a:cs typeface="Noto Sans KR"/>
                        </a:rPr>
                        <a:t>하드웨어</a:t>
                      </a:r>
                    </a:p>
                  </a:txBody>
                  <a:tcPr marL="73152" marR="73152" marT="64008" marB="64008"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기존 로봇 활용 (추가 구매 없음)</a:t>
                      </a:r>
                    </a:p>
                  </a:txBody>
                  <a:tcPr marL="73152" marR="73152" marT="64008" marB="64008"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로봇 팔 대여·파트너 하드웨어·공동개발 전제</a:t>
                      </a:r>
                    </a:p>
                  </a:txBody>
                  <a:tcPr marL="73152" marR="73152" marT="64008" marB="64008" anchor="t">
                    <a:lnL w="0">
                      <a:noFill/>
                    </a:lnL>
                    <a:lnR w="0">
                      <a:noFill/>
                    </a:lnR>
                    <a:lnT w="0">
                      <a:noFill/>
                    </a:lnT>
                    <a:lnB w="9525">
                      <a:solidFill>
                        <a:srgbClr val="E2E4E7"/>
                      </a:solidFill>
                    </a:lnB>
                    <a:noFill/>
                  </a:tcPr>
                </a:tc>
              </a:tr>
              <a:tr h="348640">
                <a:tc>
                  <a:txBody>
                    <a:bodyPr wrap="square"/>
                    <a:lstStyle/>
                    <a:p>
                      <a:pPr algn="l">
                        <a:lnSpc>
                          <a:spcPct val="100000"/>
                        </a:lnSpc>
                      </a:pPr>
                      <a:r>
                        <a:rPr sz="1150" b="1">
                          <a:solidFill>
                            <a:srgbClr val="15171A"/>
                          </a:solidFill>
                          <a:latin typeface="Noto Sans KR"/>
                          <a:ea typeface="Noto Sans KR"/>
                          <a:cs typeface="Noto Sans KR"/>
                        </a:rPr>
                        <a:t>예산</a:t>
                      </a:r>
                    </a:p>
                  </a:txBody>
                  <a:tcPr marL="73152" marR="73152" marT="64008" marB="64008"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0.3억 원 (기존 0.5억에서 축소)</a:t>
                      </a:r>
                    </a:p>
                  </a:txBody>
                  <a:tcPr marL="73152" marR="73152" marT="64008" marB="64008"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파트너 확보 후 별도 산정</a:t>
                      </a:r>
                    </a:p>
                  </a:txBody>
                  <a:tcPr marL="73152" marR="73152" marT="64008" marB="64008" anchor="t">
                    <a:lnL w="0">
                      <a:noFill/>
                    </a:lnL>
                    <a:lnR w="0">
                      <a:noFill/>
                    </a:lnR>
                    <a:lnT w="0">
                      <a:noFill/>
                    </a:lnT>
                    <a:lnB w="9525">
                      <a:solidFill>
                        <a:srgbClr val="E2E4E7"/>
                      </a:solidFill>
                    </a:lnB>
                    <a:noFill/>
                  </a:tcPr>
                </a:tc>
              </a:tr>
              <a:tr h="348640">
                <a:tc>
                  <a:txBody>
                    <a:bodyPr wrap="square"/>
                    <a:lstStyle/>
                    <a:p>
                      <a:pPr algn="l">
                        <a:lnSpc>
                          <a:spcPct val="100000"/>
                        </a:lnSpc>
                      </a:pPr>
                      <a:r>
                        <a:rPr sz="1150" b="1">
                          <a:solidFill>
                            <a:srgbClr val="15171A"/>
                          </a:solidFill>
                          <a:latin typeface="Noto Sans KR"/>
                          <a:ea typeface="Noto Sans KR"/>
                          <a:cs typeface="Noto Sans KR"/>
                        </a:rPr>
                        <a:t>전제 조건</a:t>
                      </a:r>
                    </a:p>
                  </a:txBody>
                  <a:tcPr marL="73152" marR="73152" marT="64008" marB="64008"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없음</a:t>
                      </a:r>
                    </a:p>
                  </a:txBody>
                  <a:tcPr marL="73152" marR="73152" marT="64008" marB="64008"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실제 파트너·공동개발 계약 (현재 미확보)</a:t>
                      </a:r>
                    </a:p>
                  </a:txBody>
                  <a:tcPr marL="73152" marR="73152" marT="64008" marB="64008" anchor="t">
                    <a:lnL w="0">
                      <a:noFill/>
                    </a:lnL>
                    <a:lnR w="0">
                      <a:noFill/>
                    </a:lnR>
                    <a:lnT w="0">
                      <a:noFill/>
                    </a:lnT>
                    <a:lnB w="9525">
                      <a:solidFill>
                        <a:srgbClr val="E2E4E7"/>
                      </a:solidFill>
                    </a:lnB>
                    <a:noFill/>
                  </a:tcPr>
                </a:tc>
              </a:tr>
            </a:tbl>
          </a:graphicData>
        </a:graphic>
      </p:graphicFrame>
      <p:sp>
        <p:nvSpPr>
          <p:cNvPr id="6" name="TextBox 5"/>
          <p:cNvSpPr txBox="1"/>
          <p:nvPr/>
        </p:nvSpPr>
        <p:spPr>
          <a:xfrm>
            <a:off x="685800" y="4452162"/>
            <a:ext cx="6309360"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고객 경제성 예시 (가정)</a:t>
            </a:r>
          </a:p>
        </p:txBody>
      </p:sp>
      <p:cxnSp>
        <p:nvCxnSpPr>
          <p:cNvPr id="7" name="Connector 6"/>
          <p:cNvCxnSpPr/>
          <p:nvPr/>
        </p:nvCxnSpPr>
        <p:spPr>
          <a:xfrm>
            <a:off x="685800" y="4781346"/>
            <a:ext cx="6309360" cy="0"/>
          </a:xfrm>
          <a:prstGeom prst="line">
            <a:avLst/>
          </a:prstGeom>
          <a:ln w="12700">
            <a:solidFill>
              <a:srgbClr val="15171A"/>
            </a:solidFill>
          </a:ln>
        </p:spPr>
      </p:cxnSp>
      <p:sp>
        <p:nvSpPr>
          <p:cNvPr id="8" name="TextBox 7"/>
          <p:cNvSpPr txBox="1"/>
          <p:nvPr/>
        </p:nvSpPr>
        <p:spPr>
          <a:xfrm>
            <a:off x="685800" y="4891074"/>
            <a:ext cx="6309360" cy="1044041"/>
          </a:xfrm>
          <a:prstGeom prst="rect">
            <a:avLst/>
          </a:prstGeom>
          <a:noFill/>
        </p:spPr>
        <p:txBody>
          <a:bodyPr wrap="square" lIns="0" rIns="0" tIns="0" bIns="0" anchor="t">
            <a:spAutoFit/>
          </a:bodyPr>
          <a:lstStyle/>
          <a:p>
            <a:pPr algn="l" marL="164592" indent="-164592">
              <a:lnSpc>
                <a:spcPct val="100000"/>
              </a:lnSpc>
              <a:spcAft>
                <a:spcPts val="400"/>
              </a:spcAft>
              <a:buClr>
                <a:srgbClr val="8C9198"/>
              </a:buClr>
              <a:buFont typeface="Noto Sans KR"/>
              <a:buChar char="•"/>
            </a:pPr>
            <a:r>
              <a:rPr sz="1150" b="0">
                <a:solidFill>
                  <a:srgbClr val="4A4F57"/>
                </a:solidFill>
                <a:latin typeface="Noto Sans KR"/>
                <a:ea typeface="Noto Sans KR"/>
                <a:cs typeface="Noto Sans KR"/>
              </a:rPr>
              <a:t>셀 투자 2억 원, 인건비 시간당 2.5만 원, 연 300일, 추가 운영비 연 1,000만 원</a:t>
            </a:r>
          </a:p>
          <a:p>
            <a:pPr algn="l" marL="164592" indent="-164592">
              <a:lnSpc>
                <a:spcPct val="100000"/>
              </a:lnSpc>
              <a:spcAft>
                <a:spcPts val="400"/>
              </a:spcAft>
              <a:buClr>
                <a:srgbClr val="8C9198"/>
              </a:buClr>
              <a:buFont typeface="Noto Sans KR"/>
              <a:buChar char="•"/>
            </a:pPr>
            <a:r>
              <a:rPr sz="1150" b="0">
                <a:solidFill>
                  <a:srgbClr val="4A4F57"/>
                </a:solidFill>
                <a:latin typeface="Noto Sans KR"/>
                <a:ea typeface="Noto Sans KR"/>
                <a:cs typeface="Noto Sans KR"/>
              </a:rPr>
              <a:t>하루 6시간 절감: 연 순절감 3,500만 원, 단순 회수 약 5.7년</a:t>
            </a:r>
          </a:p>
          <a:p>
            <a:pPr algn="l" marL="164592" indent="-164592">
              <a:lnSpc>
                <a:spcPct val="100000"/>
              </a:lnSpc>
              <a:spcAft>
                <a:spcPts val="400"/>
              </a:spcAft>
              <a:buClr>
                <a:srgbClr val="8C9198"/>
              </a:buClr>
              <a:buFont typeface="Noto Sans KR"/>
              <a:buChar char="•"/>
            </a:pPr>
            <a:r>
              <a:rPr sz="1150" b="0">
                <a:solidFill>
                  <a:srgbClr val="4A4F57"/>
                </a:solidFill>
                <a:latin typeface="Noto Sans KR"/>
                <a:ea typeface="Noto Sans KR"/>
                <a:cs typeface="Noto Sans KR"/>
              </a:rPr>
              <a:t>하루 10시간 절감: 연 순절감 6,500만 원, 단순 회수 약 3.1년</a:t>
            </a:r>
          </a:p>
          <a:p>
            <a:pPr algn="l" marL="164592" indent="-164592">
              <a:lnSpc>
                <a:spcPct val="100000"/>
              </a:lnSpc>
              <a:buClr>
                <a:srgbClr val="8C9198"/>
              </a:buClr>
              <a:buFont typeface="Noto Sans KR"/>
              <a:buChar char="•"/>
            </a:pPr>
            <a:r>
              <a:rPr sz="1150" b="0">
                <a:solidFill>
                  <a:srgbClr val="4A4F57"/>
                </a:solidFill>
                <a:latin typeface="Noto Sans KR"/>
                <a:ea typeface="Noto Sans KR"/>
                <a:cs typeface="Noto Sans KR"/>
              </a:rPr>
              <a:t>회수기간이 가동률에 민감, 초기 매출원으로 두지 않음 (금융·세금·잔존가치 제외)</a:t>
            </a:r>
          </a:p>
        </p:txBody>
      </p:sp>
      <p:pic>
        <p:nvPicPr>
          <p:cNvPr id="9" name="Picture 8" descr="hero05_ceiling_dual_arm_kitchen_light_448x252_50_50_100.jpg"/>
          <p:cNvPicPr>
            <a:picLocks noChangeAspect="1"/>
          </p:cNvPicPr>
          <p:nvPr/>
        </p:nvPicPr>
        <p:blipFill>
          <a:blip r:embed="rId2"/>
          <a:stretch>
            <a:fillRect/>
          </a:stretch>
        </p:blipFill>
        <p:spPr>
          <a:xfrm>
            <a:off x="7406640" y="1874519"/>
            <a:ext cx="4099255" cy="2305831"/>
          </a:xfrm>
          <a:prstGeom prst="rect">
            <a:avLst/>
          </a:prstGeom>
        </p:spPr>
      </p:pic>
      <p:sp>
        <p:nvSpPr>
          <p:cNvPr id="10" name="TextBox 9"/>
          <p:cNvSpPr txBox="1"/>
          <p:nvPr/>
        </p:nvSpPr>
        <p:spPr>
          <a:xfrm>
            <a:off x="7406640" y="4271791"/>
            <a:ext cx="4099255" cy="411480"/>
          </a:xfrm>
          <a:prstGeom prst="rect">
            <a:avLst/>
          </a:prstGeom>
          <a:noFill/>
        </p:spPr>
        <p:txBody>
          <a:bodyPr wrap="square" lIns="0" rIns="0" tIns="0" bIns="0" anchor="t">
            <a:spAutoFit/>
          </a:bodyPr>
          <a:lstStyle/>
          <a:p>
            <a:pPr algn="l">
              <a:lnSpc>
                <a:spcPct val="100000"/>
              </a:lnSpc>
            </a:pPr>
            <a:r>
              <a:rPr sz="1050" b="0">
                <a:solidFill>
                  <a:srgbClr val="8C9198"/>
                </a:solidFill>
                <a:latin typeface="Noto Sans KR"/>
                <a:ea typeface="Noto Sans KR"/>
                <a:cs typeface="Noto Sans KR"/>
              </a:rPr>
              <a:t>미래 비전 · 콘셉트 렌더링</a:t>
            </a:r>
          </a:p>
          <a:p>
            <a:pPr algn="l">
              <a:lnSpc>
                <a:spcPct val="100000"/>
              </a:lnSpc>
            </a:pPr>
            <a:r>
              <a:rPr sz="1050" b="0">
                <a:solidFill>
                  <a:srgbClr val="8C9198"/>
                </a:solidFill>
                <a:latin typeface="Noto Sans KR"/>
                <a:ea typeface="Noto Sans KR"/>
                <a:cs typeface="Noto Sans KR"/>
              </a:rPr>
              <a:t>천장형 양팔 주방은 Series A 이후, 실제 파트너 확보 후 진행</a:t>
            </a:r>
          </a:p>
        </p:txBody>
      </p:sp>
      <p:sp>
        <p:nvSpPr>
          <p:cNvPr id="11" name="TextBox 10"/>
          <p:cNvSpPr txBox="1"/>
          <p:nvPr/>
        </p:nvSpPr>
        <p:spPr>
          <a:xfrm>
            <a:off x="7406640" y="4820431"/>
            <a:ext cx="4099255"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하중·안전</a:t>
            </a:r>
          </a:p>
        </p:txBody>
      </p:sp>
      <p:cxnSp>
        <p:nvCxnSpPr>
          <p:cNvPr id="12" name="Connector 11"/>
          <p:cNvCxnSpPr/>
          <p:nvPr/>
        </p:nvCxnSpPr>
        <p:spPr>
          <a:xfrm>
            <a:off x="7406640" y="5149615"/>
            <a:ext cx="4099255" cy="0"/>
          </a:xfrm>
          <a:prstGeom prst="line">
            <a:avLst/>
          </a:prstGeom>
          <a:ln w="12700">
            <a:solidFill>
              <a:srgbClr val="15171A"/>
            </a:solidFill>
          </a:ln>
        </p:spPr>
      </p:cxnSp>
      <p:sp>
        <p:nvSpPr>
          <p:cNvPr id="13" name="TextBox 12"/>
          <p:cNvSpPr txBox="1"/>
          <p:nvPr/>
        </p:nvSpPr>
        <p:spPr>
          <a:xfrm>
            <a:off x="7406640" y="5259343"/>
            <a:ext cx="4099255" cy="942441"/>
          </a:xfrm>
          <a:prstGeom prst="rect">
            <a:avLst/>
          </a:prstGeom>
          <a:noFill/>
        </p:spPr>
        <p:txBody>
          <a:bodyPr wrap="square" lIns="0" rIns="0" tIns="0" bIns="0" anchor="t">
            <a:spAutoFit/>
          </a:bodyPr>
          <a:lstStyle/>
          <a:p>
            <a:pPr algn="l" marL="164592" indent="-164592">
              <a:lnSpc>
                <a:spcPct val="100000"/>
              </a:lnSpc>
              <a:spcAft>
                <a:spcPts val="400"/>
              </a:spcAft>
              <a:buClr>
                <a:srgbClr val="8C9198"/>
              </a:buClr>
              <a:buFont typeface="Noto Sans KR"/>
              <a:buChar char="•"/>
            </a:pPr>
            <a:r>
              <a:rPr sz="1150" b="0">
                <a:solidFill>
                  <a:srgbClr val="4A4F57"/>
                </a:solidFill>
                <a:latin typeface="Noto Sans KR"/>
                <a:ea typeface="Noto Sans KR"/>
                <a:cs typeface="Noto Sans KR"/>
              </a:rPr>
              <a:t>3kg 냄비, 무게중심 0.20m: 정적 모멘트 약 5.9 N·m, 큰 냄비는 양손·거치대 보조</a:t>
            </a:r>
          </a:p>
          <a:p>
            <a:pPr algn="l" marL="164592" indent="-164592">
              <a:lnSpc>
                <a:spcPct val="100000"/>
              </a:lnSpc>
              <a:buClr>
                <a:srgbClr val="8C9198"/>
              </a:buClr>
              <a:buFont typeface="Noto Sans KR"/>
              <a:buChar char="•"/>
            </a:pPr>
            <a:r>
              <a:rPr sz="1150" b="0">
                <a:solidFill>
                  <a:srgbClr val="4A4F57"/>
                </a:solidFill>
                <a:latin typeface="Noto Sans KR"/>
                <a:ea typeface="Noto Sans KR"/>
                <a:cs typeface="Noto Sans KR"/>
              </a:rPr>
              <a:t>고온 도구·칼·튀김: 차폐·접근 제한·독립 인터록 충족 전 기능 비활성</a:t>
            </a:r>
          </a:p>
        </p:txBody>
      </p:sp>
      <p:sp>
        <p:nvSpPr>
          <p:cNvPr id="14" name="TextBox 13"/>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SoftHand-4  |  Seed 투자 제안서</a:t>
            </a:r>
          </a:p>
        </p:txBody>
      </p:sp>
      <p:sp>
        <p:nvSpPr>
          <p:cNvPr id="15" name="TextBox 14"/>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A13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7315200" cy="256032"/>
          </a:xfrm>
          <a:prstGeom prst="rect">
            <a:avLst/>
          </a:prstGeom>
          <a:noFill/>
        </p:spPr>
        <p:txBody>
          <a:bodyPr wrap="square" lIns="0" rIns="0" tIns="0" bIns="0" anchor="t">
            <a:spAutoFit/>
          </a:bodyPr>
          <a:lstStyle/>
          <a:p>
            <a:pPr algn="l">
              <a:lnSpc>
                <a:spcPct val="100000"/>
              </a:lnSpc>
            </a:pPr>
            <a:r>
              <a:rPr sz="1100" b="1">
                <a:solidFill>
                  <a:srgbClr val="E2571B"/>
                </a:solidFill>
                <a:latin typeface="Noto Sans KR"/>
                <a:ea typeface="Noto Sans KR"/>
                <a:cs typeface="Noto Sans KR"/>
              </a:rPr>
              <a:t>부록 A14</a:t>
            </a:r>
          </a:p>
        </p:txBody>
      </p:sp>
      <p:sp>
        <p:nvSpPr>
          <p:cNvPr id="3" name="TextBox 2"/>
          <p:cNvSpPr txBox="1"/>
          <p:nvPr/>
        </p:nvSpPr>
        <p:spPr>
          <a:xfrm>
            <a:off x="685800" y="822960"/>
            <a:ext cx="10820095" cy="475488"/>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안전·인증·IP</a:t>
            </a:r>
          </a:p>
        </p:txBody>
      </p:sp>
      <p:sp>
        <p:nvSpPr>
          <p:cNvPr id="4" name="TextBox 3"/>
          <p:cNvSpPr txBox="1"/>
          <p:nvPr/>
        </p:nvSpPr>
        <p:spPr>
          <a:xfrm>
            <a:off x="685800" y="1353312"/>
            <a:ext cx="10820095" cy="274320"/>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인증·권리 확보 전에는 적합성·독자성·세계 최초를 주장하지 않음</a:t>
            </a:r>
          </a:p>
        </p:txBody>
      </p:sp>
      <p:sp>
        <p:nvSpPr>
          <p:cNvPr id="5" name="TextBox 4"/>
          <p:cNvSpPr txBox="1"/>
          <p:nvPr/>
        </p:nvSpPr>
        <p:spPr>
          <a:xfrm>
            <a:off x="685800" y="1874519"/>
            <a:ext cx="5135727"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안전 (머신텐딩 셀)</a:t>
            </a:r>
          </a:p>
        </p:txBody>
      </p:sp>
      <p:cxnSp>
        <p:nvCxnSpPr>
          <p:cNvPr id="6" name="Connector 5"/>
          <p:cNvCxnSpPr/>
          <p:nvPr/>
        </p:nvCxnSpPr>
        <p:spPr>
          <a:xfrm>
            <a:off x="685800" y="2203703"/>
            <a:ext cx="5135727" cy="0"/>
          </a:xfrm>
          <a:prstGeom prst="line">
            <a:avLst/>
          </a:prstGeom>
          <a:ln w="12700">
            <a:solidFill>
              <a:srgbClr val="15171A"/>
            </a:solidFill>
          </a:ln>
        </p:spPr>
      </p:cxnSp>
      <p:sp>
        <p:nvSpPr>
          <p:cNvPr id="7" name="TextBox 6"/>
          <p:cNvSpPr txBox="1"/>
          <p:nvPr/>
        </p:nvSpPr>
        <p:spPr>
          <a:xfrm>
            <a:off x="685800" y="2313432"/>
            <a:ext cx="5135727" cy="2115921"/>
          </a:xfrm>
          <a:prstGeom prst="rect">
            <a:avLst/>
          </a:prstGeom>
          <a:noFill/>
        </p:spPr>
        <p:txBody>
          <a:bodyPr wrap="square" lIns="0" rIns="0" tIns="0" bIns="0" anchor="t">
            <a:spAutoFit/>
          </a:bodyPr>
          <a:lstStyle/>
          <a:p>
            <a:pPr algn="l" marL="164592" indent="-164592">
              <a:lnSpc>
                <a:spcPct val="100000"/>
              </a:lnSpc>
              <a:spcAft>
                <a:spcPts val="600"/>
              </a:spcAft>
              <a:buClr>
                <a:srgbClr val="8C9198"/>
              </a:buClr>
              <a:buFont typeface="Noto Sans KR"/>
              <a:buChar char="•"/>
            </a:pPr>
            <a:r>
              <a:rPr sz="1200" b="0">
                <a:solidFill>
                  <a:srgbClr val="4A4F57"/>
                </a:solidFill>
                <a:latin typeface="Noto Sans KR"/>
                <a:ea typeface="Noto Sans KR"/>
                <a:cs typeface="Noto Sans KR"/>
              </a:rPr>
              <a:t>소프트 핸드를 달아도 셀 전체가 자동으로 안전해지지 않음, 설비·공구·소재·이동 범위를 포함한 통합 위험성 평가</a:t>
            </a:r>
          </a:p>
          <a:p>
            <a:pPr algn="l" marL="164592" indent="-164592">
              <a:lnSpc>
                <a:spcPct val="100000"/>
              </a:lnSpc>
              <a:spcAft>
                <a:spcPts val="600"/>
              </a:spcAft>
              <a:buClr>
                <a:srgbClr val="8C9198"/>
              </a:buClr>
              <a:buFont typeface="Noto Sans KR"/>
              <a:buChar char="•"/>
            </a:pPr>
            <a:r>
              <a:rPr sz="1200" b="0">
                <a:solidFill>
                  <a:srgbClr val="4A4F57"/>
                </a:solidFill>
                <a:latin typeface="Noto Sans KR"/>
                <a:ea typeface="Noto Sans KR"/>
                <a:cs typeface="Noto Sans KR"/>
              </a:rPr>
              <a:t>적용 검토: ISO 10218-2:2025 (산업용 로봇 응용·로봇 셀 안전)</a:t>
            </a:r>
          </a:p>
          <a:p>
            <a:pPr algn="l" marL="164592" indent="-164592">
              <a:lnSpc>
                <a:spcPct val="100000"/>
              </a:lnSpc>
              <a:spcAft>
                <a:spcPts val="600"/>
              </a:spcAft>
              <a:buClr>
                <a:srgbClr val="8C9198"/>
              </a:buClr>
              <a:buFont typeface="Noto Sans KR"/>
              <a:buChar char="•"/>
            </a:pPr>
            <a:r>
              <a:rPr sz="1200" b="0">
                <a:solidFill>
                  <a:srgbClr val="4A4F57"/>
                </a:solidFill>
                <a:latin typeface="Noto Sans KR"/>
                <a:ea typeface="Noto Sans KR"/>
                <a:cs typeface="Noto Sans KR"/>
              </a:rPr>
              <a:t>로봇이 설비 문을 열어도 설비 안전 인터록은 우회하지 않음, 사람 작업자와 같은 조건으로 운전</a:t>
            </a:r>
          </a:p>
          <a:p>
            <a:pPr algn="l" marL="164592" indent="-164592">
              <a:lnSpc>
                <a:spcPct val="100000"/>
              </a:lnSpc>
              <a:spcAft>
                <a:spcPts val="600"/>
              </a:spcAft>
              <a:buClr>
                <a:srgbClr val="8C9198"/>
              </a:buClr>
              <a:buFont typeface="Noto Sans KR"/>
              <a:buChar char="•"/>
            </a:pPr>
            <a:r>
              <a:rPr sz="1200" b="0">
                <a:solidFill>
                  <a:srgbClr val="4A4F57"/>
                </a:solidFill>
                <a:latin typeface="Noto Sans KR"/>
                <a:ea typeface="Noto Sans KR"/>
                <a:cs typeface="Noto Sans KR"/>
              </a:rPr>
              <a:t>절삭유·분진 환경의 접촉부 재질·센서 신뢰성 별도 검증</a:t>
            </a:r>
          </a:p>
          <a:p>
            <a:pPr algn="l" marL="164592" indent="-164592">
              <a:lnSpc>
                <a:spcPct val="100000"/>
              </a:lnSpc>
              <a:buClr>
                <a:srgbClr val="8C9198"/>
              </a:buClr>
              <a:buFont typeface="Noto Sans KR"/>
              <a:buChar char="•"/>
            </a:pPr>
            <a:r>
              <a:rPr sz="1200" b="0">
                <a:solidFill>
                  <a:srgbClr val="4A4F57"/>
                </a:solidFill>
                <a:latin typeface="Noto Sans KR"/>
                <a:ea typeface="Noto Sans KR"/>
                <a:cs typeface="Noto Sans KR"/>
              </a:rPr>
              <a:t>주방 확장 시 식품 접촉·세척·내열 요구는 판매국별 시험기관과 결정 (IP 등급 ≠ 위생 적합성)</a:t>
            </a:r>
          </a:p>
        </p:txBody>
      </p:sp>
      <p:sp>
        <p:nvSpPr>
          <p:cNvPr id="8" name="TextBox 7"/>
          <p:cNvSpPr txBox="1"/>
          <p:nvPr/>
        </p:nvSpPr>
        <p:spPr>
          <a:xfrm>
            <a:off x="6370167" y="1874519"/>
            <a:ext cx="5135727"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IP·영업비밀 (계획)</a:t>
            </a:r>
          </a:p>
        </p:txBody>
      </p:sp>
      <p:cxnSp>
        <p:nvCxnSpPr>
          <p:cNvPr id="9" name="Connector 8"/>
          <p:cNvCxnSpPr/>
          <p:nvPr/>
        </p:nvCxnSpPr>
        <p:spPr>
          <a:xfrm>
            <a:off x="6370167" y="2203703"/>
            <a:ext cx="5135728" cy="0"/>
          </a:xfrm>
          <a:prstGeom prst="line">
            <a:avLst/>
          </a:prstGeom>
          <a:ln w="12700">
            <a:solidFill>
              <a:srgbClr val="15171A"/>
            </a:solidFill>
          </a:ln>
        </p:spPr>
      </p:cxnSp>
      <p:sp>
        <p:nvSpPr>
          <p:cNvPr id="10" name="TextBox 9"/>
          <p:cNvSpPr txBox="1"/>
          <p:nvPr/>
        </p:nvSpPr>
        <p:spPr>
          <a:xfrm>
            <a:off x="6370167" y="2313432"/>
            <a:ext cx="5135727" cy="1895246"/>
          </a:xfrm>
          <a:prstGeom prst="rect">
            <a:avLst/>
          </a:prstGeom>
          <a:noFill/>
        </p:spPr>
        <p:txBody>
          <a:bodyPr wrap="square" lIns="0" rIns="0" tIns="0" bIns="0" anchor="t">
            <a:spAutoFit/>
          </a:bodyPr>
          <a:lstStyle/>
          <a:p>
            <a:pPr algn="l" marL="164592" indent="-164592">
              <a:lnSpc>
                <a:spcPct val="100000"/>
              </a:lnSpc>
              <a:spcAft>
                <a:spcPts val="600"/>
              </a:spcAft>
              <a:buClr>
                <a:srgbClr val="8C9198"/>
              </a:buClr>
              <a:buFont typeface="Noto Sans KR"/>
              <a:buChar char="•"/>
            </a:pPr>
            <a:r>
              <a:rPr sz="1200" b="0">
                <a:solidFill>
                  <a:srgbClr val="4A4F57"/>
                </a:solidFill>
                <a:latin typeface="Noto Sans KR"/>
                <a:ea typeface="Noto Sans KR"/>
                <a:cs typeface="Noto Sans KR"/>
              </a:rPr>
              <a:t>출원 후보: 대향 엄지·관절 순응과 잠금 구조·교체형 손끝·밀봉 구조</a:t>
            </a:r>
          </a:p>
          <a:p>
            <a:pPr algn="l" marL="164592" indent="-164592">
              <a:lnSpc>
                <a:spcPct val="100000"/>
              </a:lnSpc>
              <a:spcAft>
                <a:spcPts val="600"/>
              </a:spcAft>
              <a:buClr>
                <a:srgbClr val="8C9198"/>
              </a:buClr>
              <a:buFont typeface="Noto Sans KR"/>
              <a:buChar char="•"/>
            </a:pPr>
            <a:r>
              <a:rPr sz="1200" b="0">
                <a:solidFill>
                  <a:srgbClr val="4A4F57"/>
                </a:solidFill>
                <a:latin typeface="Noto Sans KR"/>
                <a:ea typeface="Noto Sans KR"/>
                <a:cs typeface="Noto Sans KR"/>
              </a:rPr>
              <a:t>출원 후보: 사람용 장치 조작을 위한 핸드-스킬 구조, 로봇 독립 작업 스킬 표현, 보정 이식 방법</a:t>
            </a:r>
          </a:p>
          <a:p>
            <a:pPr algn="l" marL="164592" indent="-164592">
              <a:lnSpc>
                <a:spcPct val="100000"/>
              </a:lnSpc>
              <a:spcAft>
                <a:spcPts val="600"/>
              </a:spcAft>
              <a:buClr>
                <a:srgbClr val="8C9198"/>
              </a:buClr>
              <a:buFont typeface="Noto Sans KR"/>
              <a:buChar char="•"/>
            </a:pPr>
            <a:r>
              <a:rPr sz="1200" b="0">
                <a:solidFill>
                  <a:srgbClr val="4A4F57"/>
                </a:solidFill>
                <a:latin typeface="Noto Sans KR"/>
                <a:ea typeface="Noto Sans KR"/>
                <a:cs typeface="Noto Sans KR"/>
              </a:rPr>
              <a:t>영업비밀 후보: 데이터 정제·장력 보정·실패 복구 파라미터</a:t>
            </a:r>
          </a:p>
          <a:p>
            <a:pPr algn="l" marL="164592" indent="-164592">
              <a:lnSpc>
                <a:spcPct val="100000"/>
              </a:lnSpc>
              <a:spcAft>
                <a:spcPts val="600"/>
              </a:spcAft>
              <a:buClr>
                <a:srgbClr val="8C9198"/>
              </a:buClr>
              <a:buFont typeface="Noto Sans KR"/>
              <a:buChar char="•"/>
            </a:pPr>
            <a:r>
              <a:rPr sz="1200" b="0">
                <a:solidFill>
                  <a:srgbClr val="4A4F57"/>
                </a:solidFill>
                <a:latin typeface="Noto Sans KR"/>
                <a:ea typeface="Noto Sans KR"/>
                <a:cs typeface="Noto Sans KR"/>
              </a:rPr>
              <a:t>원칙: 선행기술 조사·권리범위 검토(FTO) 후 출원, 그 전에는 비침해·독자성 주장 금지</a:t>
            </a:r>
          </a:p>
          <a:p>
            <a:pPr algn="l" marL="164592" indent="-164592">
              <a:lnSpc>
                <a:spcPct val="100000"/>
              </a:lnSpc>
              <a:buClr>
                <a:srgbClr val="8C9198"/>
              </a:buClr>
              <a:buFont typeface="Noto Sans KR"/>
              <a:buChar char="•"/>
            </a:pPr>
            <a:r>
              <a:rPr sz="1200" b="0">
                <a:solidFill>
                  <a:srgbClr val="4A4F57"/>
                </a:solidFill>
                <a:latin typeface="Noto Sans KR"/>
                <a:ea typeface="Noto Sans KR"/>
                <a:cs typeface="Noto Sans KR"/>
              </a:rPr>
              <a:t>오픈소스 모델·라이브러리 상업 이용 조건 출시 전 확인</a:t>
            </a:r>
          </a:p>
        </p:txBody>
      </p:sp>
      <p:sp>
        <p:nvSpPr>
          <p:cNvPr id="11" name="TextBox 10"/>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SoftHand-4  |  Seed 투자 제안서</a:t>
            </a:r>
          </a:p>
        </p:txBody>
      </p:sp>
      <p:sp>
        <p:nvSpPr>
          <p:cNvPr id="12" name="TextBox 11"/>
          <p:cNvSpPr txBox="1"/>
          <p:nvPr/>
        </p:nvSpPr>
        <p:spPr>
          <a:xfrm>
            <a:off x="3154680" y="6446520"/>
            <a:ext cx="7802575"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현재 특허 출원 없음 · 예산: 제조·품질·안전·IP 1.1억 원</a:t>
            </a:r>
          </a:p>
        </p:txBody>
      </p:sp>
      <p:sp>
        <p:nvSpPr>
          <p:cNvPr id="13" name="TextBox 12"/>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A14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7315200" cy="256032"/>
          </a:xfrm>
          <a:prstGeom prst="rect">
            <a:avLst/>
          </a:prstGeom>
          <a:noFill/>
        </p:spPr>
        <p:txBody>
          <a:bodyPr wrap="square" lIns="0" rIns="0" tIns="0" bIns="0" anchor="t">
            <a:spAutoFit/>
          </a:bodyPr>
          <a:lstStyle/>
          <a:p>
            <a:pPr algn="l">
              <a:lnSpc>
                <a:spcPct val="100000"/>
              </a:lnSpc>
            </a:pPr>
            <a:r>
              <a:rPr sz="1100" b="1">
                <a:solidFill>
                  <a:srgbClr val="E2571B"/>
                </a:solidFill>
                <a:latin typeface="Noto Sans KR"/>
                <a:ea typeface="Noto Sans KR"/>
                <a:cs typeface="Noto Sans KR"/>
              </a:rPr>
              <a:t>부록 A15</a:t>
            </a:r>
          </a:p>
        </p:txBody>
      </p:sp>
      <p:sp>
        <p:nvSpPr>
          <p:cNvPr id="3" name="TextBox 2"/>
          <p:cNvSpPr txBox="1"/>
          <p:nvPr/>
        </p:nvSpPr>
        <p:spPr>
          <a:xfrm>
            <a:off x="685800" y="822960"/>
            <a:ext cx="10820095" cy="475488"/>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주요 위험과 대응</a:t>
            </a:r>
          </a:p>
        </p:txBody>
      </p:sp>
      <p:graphicFrame>
        <p:nvGraphicFramePr>
          <p:cNvPr id="4" name="Table 3"/>
          <p:cNvGraphicFramePr>
            <a:graphicFrameLocks noGrp="1"/>
          </p:cNvGraphicFramePr>
          <p:nvPr/>
        </p:nvGraphicFramePr>
        <p:xfrm>
          <a:off x="685800" y="1508760"/>
          <a:ext cx="10817352" cy="3761230"/>
        </p:xfrm>
        <a:graphic>
          <a:graphicData uri="http://schemas.openxmlformats.org/drawingml/2006/table">
            <a:tbl>
              <a:tblPr firstRow="0" bandRow="0">
                <a:tableStyleId>{2D5ABB26-0587-4C30-8999-92F81FD0307C}</a:tableStyleId>
              </a:tblPr>
              <a:tblGrid>
                <a:gridCol w="2834640"/>
                <a:gridCol w="2926080"/>
                <a:gridCol w="5056632"/>
              </a:tblGrid>
              <a:tr h="376123">
                <a:tc>
                  <a:txBody>
                    <a:bodyPr wrap="square"/>
                    <a:lstStyle/>
                    <a:p>
                      <a:pPr algn="l">
                        <a:lnSpc>
                          <a:spcPct val="100000"/>
                        </a:lnSpc>
                      </a:pPr>
                      <a:r>
                        <a:rPr sz="1200" b="1">
                          <a:solidFill>
                            <a:srgbClr val="15171A"/>
                          </a:solidFill>
                          <a:latin typeface="Noto Sans KR"/>
                          <a:ea typeface="Noto Sans KR"/>
                          <a:cs typeface="Noto Sans KR"/>
                        </a:rPr>
                        <a:t>주요 위험</a:t>
                      </a:r>
                    </a:p>
                  </a:txBody>
                  <a:tcPr marL="73152" marR="73152" marT="73152" marB="73152"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200" b="1">
                          <a:solidFill>
                            <a:srgbClr val="15171A"/>
                          </a:solidFill>
                          <a:latin typeface="Noto Sans KR"/>
                          <a:ea typeface="Noto Sans KR"/>
                          <a:cs typeface="Noto Sans KR"/>
                        </a:rPr>
                        <a:t>사업 영향</a:t>
                      </a:r>
                    </a:p>
                  </a:txBody>
                  <a:tcPr marL="73152" marR="73152" marT="73152" marB="73152"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200" b="1">
                          <a:solidFill>
                            <a:srgbClr val="15171A"/>
                          </a:solidFill>
                          <a:latin typeface="Noto Sans KR"/>
                          <a:ea typeface="Noto Sans KR"/>
                          <a:cs typeface="Noto Sans KR"/>
                        </a:rPr>
                        <a:t>대응·판정</a:t>
                      </a:r>
                    </a:p>
                  </a:txBody>
                  <a:tcPr marL="73152" marR="73152" marT="73152" marB="73152" anchor="t">
                    <a:lnL w="0">
                      <a:noFill/>
                    </a:lnL>
                    <a:lnR w="0">
                      <a:noFill/>
                    </a:lnR>
                    <a:lnT w="12700">
                      <a:solidFill>
                        <a:srgbClr val="15171A"/>
                      </a:solidFill>
                    </a:lnT>
                    <a:lnB w="9525">
                      <a:solidFill>
                        <a:srgbClr val="15171A"/>
                      </a:solidFill>
                    </a:lnB>
                    <a:noFill/>
                  </a:tcPr>
                </a:tc>
              </a:tr>
              <a:tr h="376123">
                <a:tc>
                  <a:txBody>
                    <a:bodyPr wrap="square"/>
                    <a:lstStyle/>
                    <a:p>
                      <a:pPr algn="l">
                        <a:lnSpc>
                          <a:spcPct val="100000"/>
                        </a:lnSpc>
                      </a:pPr>
                      <a:r>
                        <a:rPr sz="1200" b="1">
                          <a:solidFill>
                            <a:srgbClr val="15171A"/>
                          </a:solidFill>
                          <a:latin typeface="Noto Sans KR"/>
                          <a:ea typeface="Noto Sans KR"/>
                          <a:cs typeface="Noto Sans KR"/>
                        </a:rPr>
                        <a:t>순응성과 강성 충돌</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레버·문 조작 시 처짐·미끄러짐</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골격·잠금 비교시험, 작업 토크별 출시 제한, M6 점검</a:t>
                      </a:r>
                    </a:p>
                  </a:txBody>
                  <a:tcPr marL="73152" marR="73152" marT="73152" marB="73152" anchor="t">
                    <a:lnL w="0">
                      <a:noFill/>
                    </a:lnL>
                    <a:lnR w="0">
                      <a:noFill/>
                    </a:lnR>
                    <a:lnT w="0">
                      <a:noFill/>
                    </a:lnT>
                    <a:lnB w="9525">
                      <a:solidFill>
                        <a:srgbClr val="E2E4E7"/>
                      </a:solidFill>
                    </a:lnB>
                    <a:noFill/>
                  </a:tcPr>
                </a:tc>
              </a:tr>
              <a:tr h="376123">
                <a:tc>
                  <a:txBody>
                    <a:bodyPr wrap="square"/>
                    <a:lstStyle/>
                    <a:p>
                      <a:pPr algn="l">
                        <a:lnSpc>
                          <a:spcPct val="100000"/>
                        </a:lnSpc>
                      </a:pPr>
                      <a:r>
                        <a:rPr sz="1200" b="1">
                          <a:solidFill>
                            <a:srgbClr val="15171A"/>
                          </a:solidFill>
                          <a:latin typeface="Noto Sans KR"/>
                          <a:ea typeface="Noto Sans KR"/>
                          <a:cs typeface="Noto Sans KR"/>
                        </a:rPr>
                        <a:t>과도한 맞춤 개발 (SI화)</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낮은 마진, 확장 불가</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승인 작업 목록, 비표준 요청 별도 견적, 재사용률 지표, M18 점검</a:t>
                      </a:r>
                    </a:p>
                  </a:txBody>
                  <a:tcPr marL="73152" marR="73152" marT="73152" marB="73152" anchor="t">
                    <a:lnL w="0">
                      <a:noFill/>
                    </a:lnL>
                    <a:lnR w="0">
                      <a:noFill/>
                    </a:lnR>
                    <a:lnT w="0">
                      <a:noFill/>
                    </a:lnT>
                    <a:lnB w="9525">
                      <a:solidFill>
                        <a:srgbClr val="E2E4E7"/>
                      </a:solidFill>
                    </a:lnB>
                    <a:noFill/>
                  </a:tcPr>
                </a:tc>
              </a:tr>
              <a:tr h="376123">
                <a:tc>
                  <a:txBody>
                    <a:bodyPr wrap="square"/>
                    <a:lstStyle/>
                    <a:p>
                      <a:pPr algn="l">
                        <a:lnSpc>
                          <a:spcPct val="100000"/>
                        </a:lnSpc>
                      </a:pPr>
                      <a:r>
                        <a:rPr sz="1200" b="1">
                          <a:solidFill>
                            <a:srgbClr val="15171A"/>
                          </a:solidFill>
                          <a:latin typeface="Noto Sans KR"/>
                          <a:ea typeface="Noto Sans KR"/>
                          <a:cs typeface="Noto Sans KR"/>
                        </a:rPr>
                        <a:t>스킬 이식성 실패</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플랫폼 가설 약화</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로봇 독립 작업 표현, 보정 도구, 로봇 2종 검증</a:t>
                      </a:r>
                    </a:p>
                  </a:txBody>
                  <a:tcPr marL="73152" marR="73152" marT="73152" marB="73152" anchor="t">
                    <a:lnL w="0">
                      <a:noFill/>
                    </a:lnL>
                    <a:lnR w="0">
                      <a:noFill/>
                    </a:lnR>
                    <a:lnT w="0">
                      <a:noFill/>
                    </a:lnT>
                    <a:lnB w="9525">
                      <a:solidFill>
                        <a:srgbClr val="E2E4E7"/>
                      </a:solidFill>
                    </a:lnB>
                    <a:noFill/>
                  </a:tcPr>
                </a:tc>
              </a:tr>
              <a:tr h="376123">
                <a:tc>
                  <a:txBody>
                    <a:bodyPr wrap="square"/>
                    <a:lstStyle/>
                    <a:p>
                      <a:pPr algn="l">
                        <a:lnSpc>
                          <a:spcPct val="100000"/>
                        </a:lnSpc>
                      </a:pPr>
                      <a:r>
                        <a:rPr sz="1200" b="1">
                          <a:solidFill>
                            <a:srgbClr val="15171A"/>
                          </a:solidFill>
                          <a:latin typeface="Noto Sans KR"/>
                          <a:ea typeface="Noto Sans KR"/>
                          <a:cs typeface="Noto Sans KR"/>
                        </a:rPr>
                        <a:t>지불의사 부족</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매출 지연, 첫 시장 오판</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유료 PoC 선수금, 기존 수치 측정 계약, M12 점검</a:t>
                      </a:r>
                    </a:p>
                  </a:txBody>
                  <a:tcPr marL="73152" marR="73152" marT="73152" marB="73152" anchor="t">
                    <a:lnL w="0">
                      <a:noFill/>
                    </a:lnL>
                    <a:lnR w="0">
                      <a:noFill/>
                    </a:lnR>
                    <a:lnT w="0">
                      <a:noFill/>
                    </a:lnT>
                    <a:lnB w="9525">
                      <a:solidFill>
                        <a:srgbClr val="E2E4E7"/>
                      </a:solidFill>
                    </a:lnB>
                    <a:noFill/>
                  </a:tcPr>
                </a:tc>
              </a:tr>
              <a:tr h="376123">
                <a:tc>
                  <a:txBody>
                    <a:bodyPr wrap="square"/>
                    <a:lstStyle/>
                    <a:p>
                      <a:pPr algn="l">
                        <a:lnSpc>
                          <a:spcPct val="100000"/>
                        </a:lnSpc>
                      </a:pPr>
                      <a:r>
                        <a:rPr sz="1200" b="1">
                          <a:solidFill>
                            <a:srgbClr val="15171A"/>
                          </a:solidFill>
                          <a:latin typeface="Noto Sans KR"/>
                          <a:ea typeface="Noto Sans KR"/>
                          <a:cs typeface="Noto Sans KR"/>
                        </a:rPr>
                        <a:t>긴 영업 주기·후속 조달</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운전자금 부족</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18 + 6개월 집행, 예비비, Series A 조기 착수 (M15~)</a:t>
                      </a:r>
                    </a:p>
                  </a:txBody>
                  <a:tcPr marL="73152" marR="73152" marT="73152" marB="73152" anchor="t">
                    <a:lnL w="0">
                      <a:noFill/>
                    </a:lnL>
                    <a:lnR w="0">
                      <a:noFill/>
                    </a:lnR>
                    <a:lnT w="0">
                      <a:noFill/>
                    </a:lnT>
                    <a:lnB w="9525">
                      <a:solidFill>
                        <a:srgbClr val="E2E4E7"/>
                      </a:solidFill>
                    </a:lnB>
                    <a:noFill/>
                  </a:tcPr>
                </a:tc>
              </a:tr>
              <a:tr h="376123">
                <a:tc>
                  <a:txBody>
                    <a:bodyPr wrap="square"/>
                    <a:lstStyle/>
                    <a:p>
                      <a:pPr algn="l">
                        <a:lnSpc>
                          <a:spcPct val="100000"/>
                        </a:lnSpc>
                      </a:pPr>
                      <a:r>
                        <a:rPr sz="1200" b="1">
                          <a:solidFill>
                            <a:srgbClr val="15171A"/>
                          </a:solidFill>
                          <a:latin typeface="Noto Sans KR"/>
                          <a:ea typeface="Noto Sans KR"/>
                          <a:cs typeface="Noto Sans KR"/>
                        </a:rPr>
                        <a:t>설비 안전·인터록</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도입 지연</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통합 위험성 평가, 설비 인터록 유지, ISO 10218-2 검토</a:t>
                      </a:r>
                    </a:p>
                  </a:txBody>
                  <a:tcPr marL="73152" marR="73152" marT="73152" marB="73152" anchor="t">
                    <a:lnL w="0">
                      <a:noFill/>
                    </a:lnL>
                    <a:lnR w="0">
                      <a:noFill/>
                    </a:lnR>
                    <a:lnT w="0">
                      <a:noFill/>
                    </a:lnT>
                    <a:lnB w="9525">
                      <a:solidFill>
                        <a:srgbClr val="E2E4E7"/>
                      </a:solidFill>
                    </a:lnB>
                    <a:noFill/>
                  </a:tcPr>
                </a:tc>
              </a:tr>
              <a:tr h="376123">
                <a:tc>
                  <a:txBody>
                    <a:bodyPr wrap="square"/>
                    <a:lstStyle/>
                    <a:p>
                      <a:pPr algn="l">
                        <a:lnSpc>
                          <a:spcPct val="100000"/>
                        </a:lnSpc>
                      </a:pPr>
                      <a:r>
                        <a:rPr sz="1200" b="1">
                          <a:solidFill>
                            <a:srgbClr val="15171A"/>
                          </a:solidFill>
                          <a:latin typeface="Noto Sans KR"/>
                          <a:ea typeface="Noto Sans KR"/>
                          <a:cs typeface="Noto Sans KR"/>
                        </a:rPr>
                        <a:t>로봇 제조사 내재화</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OEM 채널 축소</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로봇 무관 통합, 여러 브랜드용 스킬, OEM 파트너십 우선</a:t>
                      </a:r>
                    </a:p>
                  </a:txBody>
                  <a:tcPr marL="73152" marR="73152" marT="73152" marB="73152" anchor="t">
                    <a:lnL w="0">
                      <a:noFill/>
                    </a:lnL>
                    <a:lnR w="0">
                      <a:noFill/>
                    </a:lnR>
                    <a:lnT w="0">
                      <a:noFill/>
                    </a:lnT>
                    <a:lnB w="9525">
                      <a:solidFill>
                        <a:srgbClr val="E2E4E7"/>
                      </a:solidFill>
                    </a:lnB>
                    <a:noFill/>
                  </a:tcPr>
                </a:tc>
              </a:tr>
              <a:tr h="376123">
                <a:tc>
                  <a:txBody>
                    <a:bodyPr wrap="square"/>
                    <a:lstStyle/>
                    <a:p>
                      <a:pPr algn="l">
                        <a:lnSpc>
                          <a:spcPct val="100000"/>
                        </a:lnSpc>
                      </a:pPr>
                      <a:r>
                        <a:rPr sz="1200" b="1">
                          <a:solidFill>
                            <a:srgbClr val="15171A"/>
                          </a:solidFill>
                          <a:latin typeface="Noto Sans KR"/>
                          <a:ea typeface="Noto Sans KR"/>
                          <a:cs typeface="Noto Sans KR"/>
                        </a:rPr>
                        <a:t>창업팀 구성 지연</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일정·실행력 저하</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공동창업자·핵심 2인 합류를 Seed 클로징 조건으로 설정</a:t>
                      </a:r>
                    </a:p>
                  </a:txBody>
                  <a:tcPr marL="73152" marR="73152" marT="73152" marB="73152" anchor="t">
                    <a:lnL w="0">
                      <a:noFill/>
                    </a:lnL>
                    <a:lnR w="0">
                      <a:noFill/>
                    </a:lnR>
                    <a:lnT w="0">
                      <a:noFill/>
                    </a:lnT>
                    <a:lnB w="9525">
                      <a:solidFill>
                        <a:srgbClr val="E2E4E7"/>
                      </a:solidFill>
                    </a:lnB>
                    <a:noFill/>
                  </a:tcPr>
                </a:tc>
              </a:tr>
              <a:tr h="376123">
                <a:tc>
                  <a:txBody>
                    <a:bodyPr wrap="square"/>
                    <a:lstStyle/>
                    <a:p>
                      <a:pPr algn="l">
                        <a:lnSpc>
                          <a:spcPct val="100000"/>
                        </a:lnSpc>
                      </a:pPr>
                      <a:r>
                        <a:rPr sz="1200" b="1">
                          <a:solidFill>
                            <a:srgbClr val="15171A"/>
                          </a:solidFill>
                          <a:latin typeface="Noto Sans KR"/>
                          <a:ea typeface="Noto Sans KR"/>
                          <a:cs typeface="Noto Sans KR"/>
                        </a:rPr>
                        <a:t>접촉부 마모·오염</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유지비 증가</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교체형 패드, 교체 주기 명시, 내구시험 (30만 회 목표)</a:t>
                      </a:r>
                    </a:p>
                  </a:txBody>
                  <a:tcPr marL="73152" marR="73152" marT="73152" marB="73152" anchor="t">
                    <a:lnL w="0">
                      <a:noFill/>
                    </a:lnL>
                    <a:lnR w="0">
                      <a:noFill/>
                    </a:lnR>
                    <a:lnT w="0">
                      <a:noFill/>
                    </a:lnT>
                    <a:lnB w="9525">
                      <a:solidFill>
                        <a:srgbClr val="E2E4E7"/>
                      </a:solidFill>
                    </a:lnB>
                    <a:noFill/>
                  </a:tcPr>
                </a:tc>
              </a:tr>
            </a:tbl>
          </a:graphicData>
        </a:graphic>
      </p:graphicFrame>
      <p:sp>
        <p:nvSpPr>
          <p:cNvPr id="5" name="TextBox 4"/>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SoftHand-4  |  Seed 투자 제안서</a:t>
            </a:r>
          </a:p>
        </p:txBody>
      </p:sp>
      <p:sp>
        <p:nvSpPr>
          <p:cNvPr id="6" name="TextBox 5"/>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A15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7315200" cy="256032"/>
          </a:xfrm>
          <a:prstGeom prst="rect">
            <a:avLst/>
          </a:prstGeom>
          <a:noFill/>
        </p:spPr>
        <p:txBody>
          <a:bodyPr wrap="square" lIns="0" rIns="0" tIns="0" bIns="0" anchor="t">
            <a:spAutoFit/>
          </a:bodyPr>
          <a:lstStyle/>
          <a:p>
            <a:pPr algn="l">
              <a:lnSpc>
                <a:spcPct val="100000"/>
              </a:lnSpc>
            </a:pPr>
            <a:r>
              <a:rPr sz="1100" b="1">
                <a:solidFill>
                  <a:srgbClr val="E2571B"/>
                </a:solidFill>
                <a:latin typeface="Noto Sans KR"/>
                <a:ea typeface="Noto Sans KR"/>
                <a:cs typeface="Noto Sans KR"/>
              </a:rPr>
              <a:t>부록 A16</a:t>
            </a:r>
          </a:p>
        </p:txBody>
      </p:sp>
      <p:sp>
        <p:nvSpPr>
          <p:cNvPr id="3" name="TextBox 2"/>
          <p:cNvSpPr txBox="1"/>
          <p:nvPr/>
        </p:nvSpPr>
        <p:spPr>
          <a:xfrm>
            <a:off x="685800" y="822960"/>
            <a:ext cx="10820095" cy="475488"/>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출처</a:t>
            </a:r>
          </a:p>
        </p:txBody>
      </p:sp>
      <p:sp>
        <p:nvSpPr>
          <p:cNvPr id="4" name="TextBox 3"/>
          <p:cNvSpPr txBox="1"/>
          <p:nvPr/>
        </p:nvSpPr>
        <p:spPr>
          <a:xfrm>
            <a:off x="685800" y="1353312"/>
            <a:ext cx="10820095" cy="274320"/>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열람 기준 2026-10-06 · 가격·원가·성능·고객 수·일정·매출은 출처 수치가 아닌 본 계획의 가정</a:t>
            </a:r>
          </a:p>
        </p:txBody>
      </p:sp>
      <p:graphicFrame>
        <p:nvGraphicFramePr>
          <p:cNvPr id="5" name="Table 4"/>
          <p:cNvGraphicFramePr>
            <a:graphicFrameLocks noGrp="1"/>
          </p:cNvGraphicFramePr>
          <p:nvPr/>
        </p:nvGraphicFramePr>
        <p:xfrm>
          <a:off x="685800" y="1847088"/>
          <a:ext cx="10817352" cy="4369816"/>
        </p:xfrm>
        <a:graphic>
          <a:graphicData uri="http://schemas.openxmlformats.org/drawingml/2006/table">
            <a:tbl>
              <a:tblPr firstRow="0" bandRow="0">
                <a:tableStyleId>{2D5ABB26-0587-4C30-8999-92F81FD0307C}</a:tableStyleId>
              </a:tblPr>
              <a:tblGrid>
                <a:gridCol w="548640"/>
                <a:gridCol w="4709160"/>
                <a:gridCol w="5559552"/>
              </a:tblGrid>
              <a:tr h="257048">
                <a:tc>
                  <a:txBody>
                    <a:bodyPr wrap="square"/>
                    <a:lstStyle/>
                    <a:p>
                      <a:pPr algn="l">
                        <a:lnSpc>
                          <a:spcPct val="100000"/>
                        </a:lnSpc>
                      </a:pPr>
                      <a:r>
                        <a:rPr sz="1000" b="1">
                          <a:solidFill>
                            <a:srgbClr val="15171A"/>
                          </a:solidFill>
                          <a:latin typeface="Noto Sans KR"/>
                          <a:ea typeface="Noto Sans KR"/>
                          <a:cs typeface="Noto Sans KR"/>
                        </a:rPr>
                        <a:t>번호</a:t>
                      </a:r>
                    </a:p>
                  </a:txBody>
                  <a:tcPr marL="73152" marR="73152" marT="32004" marB="3200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000" b="1">
                          <a:solidFill>
                            <a:srgbClr val="15171A"/>
                          </a:solidFill>
                          <a:latin typeface="Noto Sans KR"/>
                          <a:ea typeface="Noto Sans KR"/>
                          <a:cs typeface="Noto Sans KR"/>
                        </a:rPr>
                        <a:t>출처</a:t>
                      </a:r>
                    </a:p>
                  </a:txBody>
                  <a:tcPr marL="73152" marR="73152" marT="32004" marB="3200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000" b="1">
                          <a:solidFill>
                            <a:srgbClr val="15171A"/>
                          </a:solidFill>
                          <a:latin typeface="Noto Sans KR"/>
                          <a:ea typeface="Noto Sans KR"/>
                          <a:cs typeface="Noto Sans KR"/>
                        </a:rPr>
                        <a:t>링크</a:t>
                      </a:r>
                    </a:p>
                  </a:txBody>
                  <a:tcPr marL="73152" marR="73152" marT="32004" marB="32004" anchor="t">
                    <a:lnL w="0">
                      <a:noFill/>
                    </a:lnL>
                    <a:lnR w="0">
                      <a:noFill/>
                    </a:lnR>
                    <a:lnT w="12700">
                      <a:solidFill>
                        <a:srgbClr val="15171A"/>
                      </a:solidFill>
                    </a:lnT>
                    <a:lnB w="9525">
                      <a:solidFill>
                        <a:srgbClr val="15171A"/>
                      </a:solidFill>
                    </a:lnB>
                    <a:noFill/>
                  </a:tcPr>
                </a:tc>
              </a:tr>
              <a:tr h="257048">
                <a:tc>
                  <a:txBody>
                    <a:bodyPr wrap="square"/>
                    <a:lstStyle/>
                    <a:p>
                      <a:pPr algn="l">
                        <a:lnSpc>
                          <a:spcPct val="100000"/>
                        </a:lnSpc>
                      </a:pPr>
                      <a:r>
                        <a:rPr sz="1000" b="1">
                          <a:solidFill>
                            <a:srgbClr val="E2571B"/>
                          </a:solidFill>
                          <a:latin typeface="Noto Sans KR"/>
                          <a:ea typeface="Noto Sans KR"/>
                          <a:cs typeface="Noto Sans KR"/>
                        </a:rPr>
                        <a:t>S1</a:t>
                      </a:r>
                    </a:p>
                  </a:txBody>
                  <a:tcPr marL="73152" marR="73152" marT="32004" marB="3200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IFR, World Robotics 2026 보도자료 (2026-09-24)</a:t>
                      </a:r>
                    </a:p>
                  </a:txBody>
                  <a:tcPr marL="73152" marR="73152" marT="32004" marB="3200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4A4F57"/>
                          </a:solidFill>
                          <a:latin typeface="Noto Sans KR"/>
                          <a:ea typeface="Noto Sans KR"/>
                          <a:cs typeface="Noto Sans KR"/>
                        </a:rPr>
                        <a:t>ifr.org/ifr-press-releases/news/five-million-robots-now-operate-in-factories-globally</a:t>
                      </a:r>
                    </a:p>
                  </a:txBody>
                  <a:tcPr marL="73152" marR="73152" marT="32004" marB="32004" anchor="t">
                    <a:lnL w="0">
                      <a:noFill/>
                    </a:lnL>
                    <a:lnR w="0">
                      <a:noFill/>
                    </a:lnR>
                    <a:lnT w="0">
                      <a:noFill/>
                    </a:lnT>
                    <a:lnB w="9525">
                      <a:solidFill>
                        <a:srgbClr val="E2E4E7"/>
                      </a:solidFill>
                    </a:lnB>
                    <a:noFill/>
                  </a:tcPr>
                </a:tc>
              </a:tr>
              <a:tr h="257048">
                <a:tc>
                  <a:txBody>
                    <a:bodyPr wrap="square"/>
                    <a:lstStyle/>
                    <a:p>
                      <a:pPr algn="l">
                        <a:lnSpc>
                          <a:spcPct val="100000"/>
                        </a:lnSpc>
                      </a:pPr>
                      <a:r>
                        <a:rPr sz="1000" b="1">
                          <a:solidFill>
                            <a:srgbClr val="E2571B"/>
                          </a:solidFill>
                          <a:latin typeface="Noto Sans KR"/>
                          <a:ea typeface="Noto Sans KR"/>
                          <a:cs typeface="Noto Sans KR"/>
                        </a:rPr>
                        <a:t>S2</a:t>
                      </a:r>
                    </a:p>
                  </a:txBody>
                  <a:tcPr marL="73152" marR="73152" marT="32004" marB="3200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IFR, Robot Density: 한국 1,220대 / 직원 1만 명 (2026-04-08)</a:t>
                      </a:r>
                    </a:p>
                  </a:txBody>
                  <a:tcPr marL="73152" marR="73152" marT="32004" marB="3200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4A4F57"/>
                          </a:solidFill>
                          <a:latin typeface="Noto Sans KR"/>
                          <a:ea typeface="Noto Sans KR"/>
                          <a:cs typeface="Noto Sans KR"/>
                        </a:rPr>
                        <a:t>ifr.org (press release)</a:t>
                      </a:r>
                    </a:p>
                  </a:txBody>
                  <a:tcPr marL="73152" marR="73152" marT="32004" marB="32004" anchor="t">
                    <a:lnL w="0">
                      <a:noFill/>
                    </a:lnL>
                    <a:lnR w="0">
                      <a:noFill/>
                    </a:lnR>
                    <a:lnT w="0">
                      <a:noFill/>
                    </a:lnT>
                    <a:lnB w="9525">
                      <a:solidFill>
                        <a:srgbClr val="E2E4E7"/>
                      </a:solidFill>
                    </a:lnB>
                    <a:noFill/>
                  </a:tcPr>
                </a:tc>
              </a:tr>
              <a:tr h="257048">
                <a:tc>
                  <a:txBody>
                    <a:bodyPr wrap="square"/>
                    <a:lstStyle/>
                    <a:p>
                      <a:pPr algn="l">
                        <a:lnSpc>
                          <a:spcPct val="100000"/>
                        </a:lnSpc>
                      </a:pPr>
                      <a:r>
                        <a:rPr sz="1000" b="1">
                          <a:solidFill>
                            <a:srgbClr val="E2571B"/>
                          </a:solidFill>
                          <a:latin typeface="Noto Sans KR"/>
                          <a:ea typeface="Noto Sans KR"/>
                          <a:cs typeface="Noto Sans KR"/>
                        </a:rPr>
                        <a:t>S3</a:t>
                      </a:r>
                    </a:p>
                  </a:txBody>
                  <a:tcPr marL="73152" marR="73152" marT="32004" marB="3200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BCG, How Physical AI Is Reshaping Robotics Today (2026-04)</a:t>
                      </a:r>
                    </a:p>
                  </a:txBody>
                  <a:tcPr marL="73152" marR="73152" marT="32004" marB="3200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4A4F57"/>
                          </a:solidFill>
                          <a:latin typeface="Noto Sans KR"/>
                          <a:ea typeface="Noto Sans KR"/>
                          <a:cs typeface="Noto Sans KR"/>
                        </a:rPr>
                        <a:t>bcg.com/publications/2026/how-physical-ai-is-reshaping-robotics-today</a:t>
                      </a:r>
                    </a:p>
                  </a:txBody>
                  <a:tcPr marL="73152" marR="73152" marT="32004" marB="32004" anchor="t">
                    <a:lnL w="0">
                      <a:noFill/>
                    </a:lnL>
                    <a:lnR w="0">
                      <a:noFill/>
                    </a:lnR>
                    <a:lnT w="0">
                      <a:noFill/>
                    </a:lnT>
                    <a:lnB w="9525">
                      <a:solidFill>
                        <a:srgbClr val="E2E4E7"/>
                      </a:solidFill>
                    </a:lnB>
                    <a:noFill/>
                  </a:tcPr>
                </a:tc>
              </a:tr>
              <a:tr h="257048">
                <a:tc>
                  <a:txBody>
                    <a:bodyPr wrap="square"/>
                    <a:lstStyle/>
                    <a:p>
                      <a:pPr algn="l">
                        <a:lnSpc>
                          <a:spcPct val="100000"/>
                        </a:lnSpc>
                      </a:pPr>
                      <a:r>
                        <a:rPr sz="1000" b="1">
                          <a:solidFill>
                            <a:srgbClr val="E2571B"/>
                          </a:solidFill>
                          <a:latin typeface="Noto Sans KR"/>
                          <a:ea typeface="Noto Sans KR"/>
                          <a:cs typeface="Noto Sans KR"/>
                        </a:rPr>
                        <a:t>S4</a:t>
                      </a:r>
                    </a:p>
                  </a:txBody>
                  <a:tcPr marL="73152" marR="73152" marT="32004" marB="3200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Tesla 2025년 3분기 실적 발표 녹취, The Motley Fool (2025-10-22)</a:t>
                      </a:r>
                    </a:p>
                  </a:txBody>
                  <a:tcPr marL="73152" marR="73152" marT="32004" marB="3200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4A4F57"/>
                          </a:solidFill>
                          <a:latin typeface="Noto Sans KR"/>
                          <a:ea typeface="Noto Sans KR"/>
                          <a:cs typeface="Noto Sans KR"/>
                        </a:rPr>
                        <a:t>fool.com/earnings/call-transcripts/2025/10/22/tesla-tsla-q3-2025-earnings-call-transcript/</a:t>
                      </a:r>
                    </a:p>
                  </a:txBody>
                  <a:tcPr marL="73152" marR="73152" marT="32004" marB="32004" anchor="t">
                    <a:lnL w="0">
                      <a:noFill/>
                    </a:lnL>
                    <a:lnR w="0">
                      <a:noFill/>
                    </a:lnR>
                    <a:lnT w="0">
                      <a:noFill/>
                    </a:lnT>
                    <a:lnB w="9525">
                      <a:solidFill>
                        <a:srgbClr val="E2E4E7"/>
                      </a:solidFill>
                    </a:lnB>
                    <a:noFill/>
                  </a:tcPr>
                </a:tc>
              </a:tr>
              <a:tr h="257048">
                <a:tc>
                  <a:txBody>
                    <a:bodyPr wrap="square"/>
                    <a:lstStyle/>
                    <a:p>
                      <a:pPr algn="l">
                        <a:lnSpc>
                          <a:spcPct val="100000"/>
                        </a:lnSpc>
                      </a:pPr>
                      <a:r>
                        <a:rPr sz="1000" b="1">
                          <a:solidFill>
                            <a:srgbClr val="E2571B"/>
                          </a:solidFill>
                          <a:latin typeface="Noto Sans KR"/>
                          <a:ea typeface="Noto Sans KR"/>
                          <a:cs typeface="Noto Sans KR"/>
                        </a:rPr>
                        <a:t>S5</a:t>
                      </a:r>
                    </a:p>
                  </a:txBody>
                  <a:tcPr marL="73152" marR="73152" marT="32004" marB="3200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NVIDIA, Isaac GR00T Reference Humanoid Robot 발표 (2026-06-01)</a:t>
                      </a:r>
                    </a:p>
                  </a:txBody>
                  <a:tcPr marL="73152" marR="73152" marT="32004" marB="3200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4A4F57"/>
                          </a:solidFill>
                          <a:latin typeface="Noto Sans KR"/>
                          <a:ea typeface="Noto Sans KR"/>
                          <a:cs typeface="Noto Sans KR"/>
                        </a:rPr>
                        <a:t>investor.nvidia.com</a:t>
                      </a:r>
                    </a:p>
                  </a:txBody>
                  <a:tcPr marL="73152" marR="73152" marT="32004" marB="32004" anchor="t">
                    <a:lnL w="0">
                      <a:noFill/>
                    </a:lnL>
                    <a:lnR w="0">
                      <a:noFill/>
                    </a:lnR>
                    <a:lnT w="0">
                      <a:noFill/>
                    </a:lnT>
                    <a:lnB w="9525">
                      <a:solidFill>
                        <a:srgbClr val="E2E4E7"/>
                      </a:solidFill>
                    </a:lnB>
                    <a:noFill/>
                  </a:tcPr>
                </a:tc>
              </a:tr>
              <a:tr h="257048">
                <a:tc>
                  <a:txBody>
                    <a:bodyPr wrap="square"/>
                    <a:lstStyle/>
                    <a:p>
                      <a:pPr algn="l">
                        <a:lnSpc>
                          <a:spcPct val="100000"/>
                        </a:lnSpc>
                      </a:pPr>
                      <a:r>
                        <a:rPr sz="1000" b="1">
                          <a:solidFill>
                            <a:srgbClr val="E2571B"/>
                          </a:solidFill>
                          <a:latin typeface="Noto Sans KR"/>
                          <a:ea typeface="Noto Sans KR"/>
                          <a:cs typeface="Noto Sans KR"/>
                        </a:rPr>
                        <a:t>S6</a:t>
                      </a:r>
                    </a:p>
                  </a:txBody>
                  <a:tcPr marL="73152" marR="73152" marT="32004" marB="3200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NVIDIA, CES 2026 Physical AI 모델 발표, GR00T N1.6 (2026-01-05)</a:t>
                      </a:r>
                    </a:p>
                  </a:txBody>
                  <a:tcPr marL="73152" marR="73152" marT="32004" marB="3200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4A4F57"/>
                          </a:solidFill>
                          <a:latin typeface="Noto Sans KR"/>
                          <a:ea typeface="Noto Sans KR"/>
                          <a:cs typeface="Noto Sans KR"/>
                        </a:rPr>
                        <a:t>nvidianews.nvidia.com</a:t>
                      </a:r>
                    </a:p>
                  </a:txBody>
                  <a:tcPr marL="73152" marR="73152" marT="32004" marB="32004" anchor="t">
                    <a:lnL w="0">
                      <a:noFill/>
                    </a:lnL>
                    <a:lnR w="0">
                      <a:noFill/>
                    </a:lnR>
                    <a:lnT w="0">
                      <a:noFill/>
                    </a:lnT>
                    <a:lnB w="9525">
                      <a:solidFill>
                        <a:srgbClr val="E2E4E7"/>
                      </a:solidFill>
                    </a:lnB>
                    <a:noFill/>
                  </a:tcPr>
                </a:tc>
              </a:tr>
              <a:tr h="257048">
                <a:tc>
                  <a:txBody>
                    <a:bodyPr wrap="square"/>
                    <a:lstStyle/>
                    <a:p>
                      <a:pPr algn="l">
                        <a:lnSpc>
                          <a:spcPct val="100000"/>
                        </a:lnSpc>
                      </a:pPr>
                      <a:r>
                        <a:rPr sz="1000" b="1">
                          <a:solidFill>
                            <a:srgbClr val="E2571B"/>
                          </a:solidFill>
                          <a:latin typeface="Noto Sans KR"/>
                          <a:ea typeface="Noto Sans KR"/>
                          <a:cs typeface="Noto Sans KR"/>
                        </a:rPr>
                        <a:t>S7</a:t>
                      </a:r>
                    </a:p>
                  </a:txBody>
                  <a:tcPr marL="73152" marR="73152" marT="32004" marB="3200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CNBC, NVIDIA Jetson AGX Thor 출시 (2025-08-25)</a:t>
                      </a:r>
                    </a:p>
                  </a:txBody>
                  <a:tcPr marL="73152" marR="73152" marT="32004" marB="3200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4A4F57"/>
                          </a:solidFill>
                          <a:latin typeface="Noto Sans KR"/>
                          <a:ea typeface="Noto Sans KR"/>
                          <a:cs typeface="Noto Sans KR"/>
                        </a:rPr>
                        <a:t>cnbc.com/2025/08/25/nvidias-thor-t5000-robot-brain-chip.html</a:t>
                      </a:r>
                    </a:p>
                  </a:txBody>
                  <a:tcPr marL="73152" marR="73152" marT="32004" marB="32004" anchor="t">
                    <a:lnL w="0">
                      <a:noFill/>
                    </a:lnL>
                    <a:lnR w="0">
                      <a:noFill/>
                    </a:lnR>
                    <a:lnT w="0">
                      <a:noFill/>
                    </a:lnT>
                    <a:lnB w="9525">
                      <a:solidFill>
                        <a:srgbClr val="E2E4E7"/>
                      </a:solidFill>
                    </a:lnB>
                    <a:noFill/>
                  </a:tcPr>
                </a:tc>
              </a:tr>
              <a:tr h="257048">
                <a:tc>
                  <a:txBody>
                    <a:bodyPr wrap="square"/>
                    <a:lstStyle/>
                    <a:p>
                      <a:pPr algn="l">
                        <a:lnSpc>
                          <a:spcPct val="100000"/>
                        </a:lnSpc>
                      </a:pPr>
                      <a:r>
                        <a:rPr sz="1000" b="1">
                          <a:solidFill>
                            <a:srgbClr val="E2571B"/>
                          </a:solidFill>
                          <a:latin typeface="Noto Sans KR"/>
                          <a:ea typeface="Noto Sans KR"/>
                          <a:cs typeface="Noto Sans KR"/>
                        </a:rPr>
                        <a:t>S8</a:t>
                      </a:r>
                    </a:p>
                  </a:txBody>
                  <a:tcPr marL="73152" marR="73152" marT="32004" marB="3200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Google DeepMind, Gemini Robotics 1.5 (2025-09)</a:t>
                      </a:r>
                    </a:p>
                  </a:txBody>
                  <a:tcPr marL="73152" marR="73152" marT="32004" marB="3200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4A4F57"/>
                          </a:solidFill>
                          <a:latin typeface="Noto Sans KR"/>
                          <a:ea typeface="Noto Sans KR"/>
                          <a:cs typeface="Noto Sans KR"/>
                        </a:rPr>
                        <a:t>deepmind.google/blog/gemini-robotics-15-brings-ai-agents-into-the-physical-world/</a:t>
                      </a:r>
                    </a:p>
                  </a:txBody>
                  <a:tcPr marL="73152" marR="73152" marT="32004" marB="32004" anchor="t">
                    <a:lnL w="0">
                      <a:noFill/>
                    </a:lnL>
                    <a:lnR w="0">
                      <a:noFill/>
                    </a:lnR>
                    <a:lnT w="0">
                      <a:noFill/>
                    </a:lnT>
                    <a:lnB w="9525">
                      <a:solidFill>
                        <a:srgbClr val="E2E4E7"/>
                      </a:solidFill>
                    </a:lnB>
                    <a:noFill/>
                  </a:tcPr>
                </a:tc>
              </a:tr>
              <a:tr h="257048">
                <a:tc>
                  <a:txBody>
                    <a:bodyPr wrap="square"/>
                    <a:lstStyle/>
                    <a:p>
                      <a:pPr algn="l">
                        <a:lnSpc>
                          <a:spcPct val="100000"/>
                        </a:lnSpc>
                      </a:pPr>
                      <a:r>
                        <a:rPr sz="1000" b="1">
                          <a:solidFill>
                            <a:srgbClr val="E2571B"/>
                          </a:solidFill>
                          <a:latin typeface="Noto Sans KR"/>
                          <a:ea typeface="Noto Sans KR"/>
                          <a:cs typeface="Noto Sans KR"/>
                        </a:rPr>
                        <a:t>S9</a:t>
                      </a:r>
                    </a:p>
                  </a:txBody>
                  <a:tcPr marL="73152" marR="73152" marT="32004" marB="3200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Figure, Series C (2025-09) · Figure 03 공개 (2025-10-09)</a:t>
                      </a:r>
                    </a:p>
                  </a:txBody>
                  <a:tcPr marL="73152" marR="73152" marT="32004" marB="3200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4A4F57"/>
                          </a:solidFill>
                          <a:latin typeface="Noto Sans KR"/>
                          <a:ea typeface="Noto Sans KR"/>
                          <a:cs typeface="Noto Sans KR"/>
                        </a:rPr>
                        <a:t>figure.ai/news</a:t>
                      </a:r>
                    </a:p>
                  </a:txBody>
                  <a:tcPr marL="73152" marR="73152" marT="32004" marB="32004" anchor="t">
                    <a:lnL w="0">
                      <a:noFill/>
                    </a:lnL>
                    <a:lnR w="0">
                      <a:noFill/>
                    </a:lnR>
                    <a:lnT w="0">
                      <a:noFill/>
                    </a:lnT>
                    <a:lnB w="9525">
                      <a:solidFill>
                        <a:srgbClr val="E2E4E7"/>
                      </a:solidFill>
                    </a:lnB>
                    <a:noFill/>
                  </a:tcPr>
                </a:tc>
              </a:tr>
              <a:tr h="257048">
                <a:tc>
                  <a:txBody>
                    <a:bodyPr wrap="square"/>
                    <a:lstStyle/>
                    <a:p>
                      <a:pPr algn="l">
                        <a:lnSpc>
                          <a:spcPct val="100000"/>
                        </a:lnSpc>
                      </a:pPr>
                      <a:r>
                        <a:rPr sz="1000" b="1">
                          <a:solidFill>
                            <a:srgbClr val="E2571B"/>
                          </a:solidFill>
                          <a:latin typeface="Noto Sans KR"/>
                          <a:ea typeface="Noto Sans KR"/>
                          <a:cs typeface="Noto Sans KR"/>
                        </a:rPr>
                        <a:t>S10</a:t>
                      </a:r>
                    </a:p>
                  </a:txBody>
                  <a:tcPr marL="73152" marR="73152" marT="32004" marB="3200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Bloomberg, Physical Intelligence $5.6B 가치 평가 (2025-11-20)</a:t>
                      </a:r>
                    </a:p>
                  </a:txBody>
                  <a:tcPr marL="73152" marR="73152" marT="32004" marB="3200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4A4F57"/>
                          </a:solidFill>
                          <a:latin typeface="Noto Sans KR"/>
                          <a:ea typeface="Noto Sans KR"/>
                          <a:cs typeface="Noto Sans KR"/>
                        </a:rPr>
                        <a:t>bloomberg.com</a:t>
                      </a:r>
                    </a:p>
                  </a:txBody>
                  <a:tcPr marL="73152" marR="73152" marT="32004" marB="32004" anchor="t">
                    <a:lnL w="0">
                      <a:noFill/>
                    </a:lnL>
                    <a:lnR w="0">
                      <a:noFill/>
                    </a:lnR>
                    <a:lnT w="0">
                      <a:noFill/>
                    </a:lnT>
                    <a:lnB w="9525">
                      <a:solidFill>
                        <a:srgbClr val="E2E4E7"/>
                      </a:solidFill>
                    </a:lnB>
                    <a:noFill/>
                  </a:tcPr>
                </a:tc>
              </a:tr>
              <a:tr h="257048">
                <a:tc>
                  <a:txBody>
                    <a:bodyPr wrap="square"/>
                    <a:lstStyle/>
                    <a:p>
                      <a:pPr algn="l">
                        <a:lnSpc>
                          <a:spcPct val="100000"/>
                        </a:lnSpc>
                      </a:pPr>
                      <a:r>
                        <a:rPr sz="1000" b="1">
                          <a:solidFill>
                            <a:srgbClr val="E2571B"/>
                          </a:solidFill>
                          <a:latin typeface="Noto Sans KR"/>
                          <a:ea typeface="Noto Sans KR"/>
                          <a:cs typeface="Noto Sans KR"/>
                        </a:rPr>
                        <a:t>S11</a:t>
                      </a:r>
                    </a:p>
                  </a:txBody>
                  <a:tcPr marL="73152" marR="73152" marT="32004" marB="3200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Crunchbase News, Robotics startup funding record (2026-06-22)</a:t>
                      </a:r>
                    </a:p>
                  </a:txBody>
                  <a:tcPr marL="73152" marR="73152" marT="32004" marB="3200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4A4F57"/>
                          </a:solidFill>
                          <a:latin typeface="Noto Sans KR"/>
                          <a:ea typeface="Noto Sans KR"/>
                          <a:cs typeface="Noto Sans KR"/>
                        </a:rPr>
                        <a:t>news.crunchbase.com/robotics/startup-venture-funding-surges-2026-data/</a:t>
                      </a:r>
                    </a:p>
                  </a:txBody>
                  <a:tcPr marL="73152" marR="73152" marT="32004" marB="32004" anchor="t">
                    <a:lnL w="0">
                      <a:noFill/>
                    </a:lnL>
                    <a:lnR w="0">
                      <a:noFill/>
                    </a:lnR>
                    <a:lnT w="0">
                      <a:noFill/>
                    </a:lnT>
                    <a:lnB w="9525">
                      <a:solidFill>
                        <a:srgbClr val="E2E4E7"/>
                      </a:solidFill>
                    </a:lnB>
                    <a:noFill/>
                  </a:tcPr>
                </a:tc>
              </a:tr>
              <a:tr h="257048">
                <a:tc>
                  <a:txBody>
                    <a:bodyPr wrap="square"/>
                    <a:lstStyle/>
                    <a:p>
                      <a:pPr algn="l">
                        <a:lnSpc>
                          <a:spcPct val="100000"/>
                        </a:lnSpc>
                      </a:pPr>
                      <a:r>
                        <a:rPr sz="1000" b="1">
                          <a:solidFill>
                            <a:srgbClr val="E2571B"/>
                          </a:solidFill>
                          <a:latin typeface="Noto Sans KR"/>
                          <a:ea typeface="Noto Sans KR"/>
                          <a:cs typeface="Noto Sans KR"/>
                        </a:rPr>
                        <a:t>S12</a:t>
                      </a:r>
                    </a:p>
                  </a:txBody>
                  <a:tcPr marL="73152" marR="73152" marT="32004" marB="3200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Investing.com, Goldman Sachs 휴머노이드 전망 (2026-08-31)</a:t>
                      </a:r>
                    </a:p>
                  </a:txBody>
                  <a:tcPr marL="73152" marR="73152" marT="32004" marB="3200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4A4F57"/>
                          </a:solidFill>
                          <a:latin typeface="Noto Sans KR"/>
                          <a:ea typeface="Noto Sans KR"/>
                          <a:cs typeface="Noto Sans KR"/>
                        </a:rPr>
                        <a:t>investing.com</a:t>
                      </a:r>
                    </a:p>
                  </a:txBody>
                  <a:tcPr marL="73152" marR="73152" marT="32004" marB="32004" anchor="t">
                    <a:lnL w="0">
                      <a:noFill/>
                    </a:lnL>
                    <a:lnR w="0">
                      <a:noFill/>
                    </a:lnR>
                    <a:lnT w="0">
                      <a:noFill/>
                    </a:lnT>
                    <a:lnB w="9525">
                      <a:solidFill>
                        <a:srgbClr val="E2E4E7"/>
                      </a:solidFill>
                    </a:lnB>
                    <a:noFill/>
                  </a:tcPr>
                </a:tc>
              </a:tr>
              <a:tr h="257048">
                <a:tc>
                  <a:txBody>
                    <a:bodyPr wrap="square"/>
                    <a:lstStyle/>
                    <a:p>
                      <a:pPr algn="l">
                        <a:lnSpc>
                          <a:spcPct val="100000"/>
                        </a:lnSpc>
                      </a:pPr>
                      <a:r>
                        <a:rPr sz="1000" b="1">
                          <a:solidFill>
                            <a:srgbClr val="E2571B"/>
                          </a:solidFill>
                          <a:latin typeface="Noto Sans KR"/>
                          <a:ea typeface="Noto Sans KR"/>
                          <a:cs typeface="Noto Sans KR"/>
                        </a:rPr>
                        <a:t>S13</a:t>
                      </a:r>
                    </a:p>
                  </a:txBody>
                  <a:tcPr marL="73152" marR="73152" marT="32004" marB="3200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qbrobotics, qb SoftHand Industry 제품 사양 (제조사 공개)</a:t>
                      </a:r>
                    </a:p>
                  </a:txBody>
                  <a:tcPr marL="73152" marR="73152" marT="32004" marB="3200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4A4F57"/>
                          </a:solidFill>
                          <a:latin typeface="Noto Sans KR"/>
                          <a:ea typeface="Noto Sans KR"/>
                          <a:cs typeface="Noto Sans KR"/>
                        </a:rPr>
                        <a:t>qbrobotics.com/product/qb-softhand-industry/</a:t>
                      </a:r>
                    </a:p>
                  </a:txBody>
                  <a:tcPr marL="73152" marR="73152" marT="32004" marB="32004" anchor="t">
                    <a:lnL w="0">
                      <a:noFill/>
                    </a:lnL>
                    <a:lnR w="0">
                      <a:noFill/>
                    </a:lnR>
                    <a:lnT w="0">
                      <a:noFill/>
                    </a:lnT>
                    <a:lnB w="9525">
                      <a:solidFill>
                        <a:srgbClr val="E2E4E7"/>
                      </a:solidFill>
                    </a:lnB>
                    <a:noFill/>
                  </a:tcPr>
                </a:tc>
              </a:tr>
              <a:tr h="257048">
                <a:tc>
                  <a:txBody>
                    <a:bodyPr wrap="square"/>
                    <a:lstStyle/>
                    <a:p>
                      <a:pPr algn="l">
                        <a:lnSpc>
                          <a:spcPct val="100000"/>
                        </a:lnSpc>
                      </a:pPr>
                      <a:r>
                        <a:rPr sz="1000" b="1">
                          <a:solidFill>
                            <a:srgbClr val="E2571B"/>
                          </a:solidFill>
                          <a:latin typeface="Noto Sans KR"/>
                          <a:ea typeface="Noto Sans KR"/>
                          <a:cs typeface="Noto Sans KR"/>
                        </a:rPr>
                        <a:t>S14</a:t>
                      </a:r>
                    </a:p>
                  </a:txBody>
                  <a:tcPr marL="73152" marR="73152" marT="32004" marB="3200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Robotics &amp; Automation News, Tesollo DG-5F-S (2026-03-13)</a:t>
                      </a:r>
                    </a:p>
                  </a:txBody>
                  <a:tcPr marL="73152" marR="73152" marT="32004" marB="3200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4A4F57"/>
                          </a:solidFill>
                          <a:latin typeface="Noto Sans KR"/>
                          <a:ea typeface="Noto Sans KR"/>
                          <a:cs typeface="Noto Sans KR"/>
                        </a:rPr>
                        <a:t>roboticsandautomationnews.com</a:t>
                      </a:r>
                    </a:p>
                  </a:txBody>
                  <a:tcPr marL="73152" marR="73152" marT="32004" marB="32004" anchor="t">
                    <a:lnL w="0">
                      <a:noFill/>
                    </a:lnL>
                    <a:lnR w="0">
                      <a:noFill/>
                    </a:lnR>
                    <a:lnT w="0">
                      <a:noFill/>
                    </a:lnT>
                    <a:lnB w="9525">
                      <a:solidFill>
                        <a:srgbClr val="E2E4E7"/>
                      </a:solidFill>
                    </a:lnB>
                    <a:noFill/>
                  </a:tcPr>
                </a:tc>
              </a:tr>
              <a:tr h="257048">
                <a:tc>
                  <a:txBody>
                    <a:bodyPr wrap="square"/>
                    <a:lstStyle/>
                    <a:p>
                      <a:pPr algn="l">
                        <a:lnSpc>
                          <a:spcPct val="100000"/>
                        </a:lnSpc>
                      </a:pPr>
                      <a:r>
                        <a:rPr sz="1000" b="1">
                          <a:solidFill>
                            <a:srgbClr val="E2571B"/>
                          </a:solidFill>
                          <a:latin typeface="Noto Sans KR"/>
                          <a:ea typeface="Noto Sans KR"/>
                          <a:cs typeface="Noto Sans KR"/>
                        </a:rPr>
                        <a:t>S15</a:t>
                      </a:r>
                    </a:p>
                  </a:txBody>
                  <a:tcPr marL="73152" marR="73152" marT="32004" marB="3200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Moley Robotics, A-AiR kitchen (공급사 소개)</a:t>
                      </a:r>
                    </a:p>
                  </a:txBody>
                  <a:tcPr marL="73152" marR="73152" marT="32004" marB="3200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4A4F57"/>
                          </a:solidFill>
                          <a:latin typeface="Noto Sans KR"/>
                          <a:ea typeface="Noto Sans KR"/>
                          <a:cs typeface="Noto Sans KR"/>
                        </a:rPr>
                        <a:t>moley.com/a-air-kitchen/</a:t>
                      </a:r>
                    </a:p>
                  </a:txBody>
                  <a:tcPr marL="73152" marR="73152" marT="32004" marB="32004" anchor="t">
                    <a:lnL w="0">
                      <a:noFill/>
                    </a:lnL>
                    <a:lnR w="0">
                      <a:noFill/>
                    </a:lnR>
                    <a:lnT w="0">
                      <a:noFill/>
                    </a:lnT>
                    <a:lnB w="9525">
                      <a:solidFill>
                        <a:srgbClr val="E2E4E7"/>
                      </a:solidFill>
                    </a:lnB>
                    <a:noFill/>
                  </a:tcPr>
                </a:tc>
              </a:tr>
              <a:tr h="257048">
                <a:tc>
                  <a:txBody>
                    <a:bodyPr wrap="square"/>
                    <a:lstStyle/>
                    <a:p>
                      <a:pPr algn="l">
                        <a:lnSpc>
                          <a:spcPct val="100000"/>
                        </a:lnSpc>
                      </a:pPr>
                      <a:r>
                        <a:rPr sz="1000" b="1">
                          <a:solidFill>
                            <a:srgbClr val="E2571B"/>
                          </a:solidFill>
                          <a:latin typeface="Noto Sans KR"/>
                          <a:ea typeface="Noto Sans KR"/>
                          <a:cs typeface="Noto Sans KR"/>
                        </a:rPr>
                        <a:t>S16</a:t>
                      </a:r>
                    </a:p>
                  </a:txBody>
                  <a:tcPr marL="73152" marR="73152" marT="32004" marB="3200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ISO 10218-2:2025, Industrial robot applications and robot cells</a:t>
                      </a:r>
                    </a:p>
                  </a:txBody>
                  <a:tcPr marL="73152" marR="73152" marT="32004" marB="3200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4A4F57"/>
                          </a:solidFill>
                          <a:latin typeface="Noto Sans KR"/>
                          <a:ea typeface="Noto Sans KR"/>
                          <a:cs typeface="Noto Sans KR"/>
                        </a:rPr>
                        <a:t>iso.org/standard/73934.html</a:t>
                      </a:r>
                    </a:p>
                  </a:txBody>
                  <a:tcPr marL="73152" marR="73152" marT="32004" marB="32004" anchor="t">
                    <a:lnL w="0">
                      <a:noFill/>
                    </a:lnL>
                    <a:lnR w="0">
                      <a:noFill/>
                    </a:lnR>
                    <a:lnT w="0">
                      <a:noFill/>
                    </a:lnT>
                    <a:lnB w="9525">
                      <a:solidFill>
                        <a:srgbClr val="E2E4E7"/>
                      </a:solidFill>
                    </a:lnB>
                    <a:noFill/>
                  </a:tcPr>
                </a:tc>
              </a:tr>
            </a:tbl>
          </a:graphicData>
        </a:graphic>
      </p:graphicFrame>
      <p:sp>
        <p:nvSpPr>
          <p:cNvPr id="6" name="TextBox 5"/>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SoftHand-4  |  Seed 투자 제안서</a:t>
            </a:r>
          </a:p>
        </p:txBody>
      </p:sp>
      <p:sp>
        <p:nvSpPr>
          <p:cNvPr id="7" name="TextBox 6"/>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A16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Noto Sans KR"/>
        <a:ea typeface="Noto Sans KR"/>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KR"/>
        <a:ea typeface="Noto Sans KR"/>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SoftHand-4 Seed 투자 제안서</dc:title>
  <dc:subject>사람용 설비를 그대로 쓰는 로봇 핸드 · 머신텐딩 · Seed 20억 원</dc:subject>
  <dc:creator>[회사명 입력 필요]</dc:creator>
  <cp:keywords/>
  <dc:description>generated using python-pptx</dc:description>
  <cp:lastModifiedBy/>
  <cp:revision>1</cp:revision>
  <dcterms:created xsi:type="dcterms:W3CDTF">2026-10-06T09:00:00Z</dcterms:created>
  <dcterms:modified xsi:type="dcterms:W3CDTF">2026-10-06T09:00:00Z</dcterms:modified>
  <cp:category/>
</cp:coreProperties>
</file>