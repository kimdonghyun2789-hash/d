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8"/>
          <c:y val="0.14"/>
          <c:w val="0.84"/>
          <c:h val="0.72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시장</c:v>
                </c:pt>
              </c:strCache>
            </c:strRef>
          </c:tx>
          <c:spPr>
            <a:solidFill>
              <a:srgbClr val="C9CDD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2030 전망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18.1</c:v>
                </c:pt>
                <c:pt idx="1">
                  <c:v>68.1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>
            <a:solidFill>
              <a:srgbClr val="E2E4E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4F57"/>
          </a:solidFill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8"/>
          <c:w val="0.96"/>
          <c:h val="0.8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실증·통합</c:v>
                </c:pt>
              </c:strCache>
            </c:strRef>
          </c:tx>
          <c:spPr>
            <a:solidFill>
              <a:srgbClr val="C9CDD2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1년</c:v>
                </c:pt>
                <c:pt idx="1">
                  <c:v>2년</c:v>
                </c:pt>
                <c:pt idx="2">
                  <c:v>3년</c:v>
                </c:pt>
                <c:pt idx="3">
                  <c:v>4년</c:v>
                </c:pt>
                <c:pt idx="4">
                  <c:v>5년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2.8</c:v>
                </c:pt>
                <c:pt idx="2">
                  <c:v>4.9</c:v>
                </c:pt>
                <c:pt idx="3">
                  <c:v>6.2</c:v>
                </c:pt>
                <c:pt idx="4">
                  <c:v>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하드웨어 직판</c:v>
                </c:pt>
              </c:strCache>
            </c:strRef>
          </c:tx>
          <c:spPr>
            <a:solidFill>
              <a:srgbClr val="4A4F57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1년</c:v>
                </c:pt>
                <c:pt idx="1">
                  <c:v>2년</c:v>
                </c:pt>
                <c:pt idx="2">
                  <c:v>3년</c:v>
                </c:pt>
                <c:pt idx="3">
                  <c:v>4년</c:v>
                </c:pt>
                <c:pt idx="4">
                  <c:v>5년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0.8999999999999999</c:v>
                </c:pt>
                <c:pt idx="2">
                  <c:v>3.5999999999999996</c:v>
                </c:pt>
                <c:pt idx="3">
                  <c:v>7.5</c:v>
                </c:pt>
                <c:pt idx="4">
                  <c:v>12.0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파트너 판매</c:v>
                </c:pt>
              </c:strCache>
            </c:strRef>
          </c:tx>
          <c:spPr>
            <a:solidFill>
              <a:srgbClr val="8C9198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1년</c:v>
                </c:pt>
                <c:pt idx="1">
                  <c:v>2년</c:v>
                </c:pt>
                <c:pt idx="2">
                  <c:v>3년</c:v>
                </c:pt>
                <c:pt idx="3">
                  <c:v>4년</c:v>
                </c:pt>
                <c:pt idx="4">
                  <c:v>5년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1.7855999999999999</c:v>
                </c:pt>
                <c:pt idx="3">
                  <c:v>7.68</c:v>
                </c:pt>
                <c:pt idx="4">
                  <c:v>19.008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작업 소프트웨어</c:v>
                </c:pt>
              </c:strCache>
            </c:strRef>
          </c:tx>
          <c:spPr>
            <a:solidFill>
              <a:srgbClr val="E2571B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1년</c:v>
                </c:pt>
                <c:pt idx="1">
                  <c:v>2년</c:v>
                </c:pt>
                <c:pt idx="2">
                  <c:v>3년</c:v>
                </c:pt>
                <c:pt idx="3">
                  <c:v>4년</c:v>
                </c:pt>
                <c:pt idx="4">
                  <c:v>5년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</c:v>
                </c:pt>
                <c:pt idx="1">
                  <c:v>0.18</c:v>
                </c:pt>
                <c:pt idx="2">
                  <c:v>0.8639999999999999</c:v>
                </c:pt>
                <c:pt idx="3">
                  <c:v>2.1</c:v>
                </c:pt>
                <c:pt idx="4">
                  <c:v>3.84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제어 SW·유지보수</c:v>
                </c:pt>
              </c:strCache>
            </c:strRef>
          </c:tx>
          <c:spPr>
            <a:solidFill>
              <a:srgbClr val="F2A27E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1년</c:v>
                </c:pt>
                <c:pt idx="1">
                  <c:v>2년</c:v>
                </c:pt>
                <c:pt idx="2">
                  <c:v>3년</c:v>
                </c:pt>
                <c:pt idx="3">
                  <c:v>4년</c:v>
                </c:pt>
                <c:pt idx="4">
                  <c:v>5년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0.0</c:v>
                </c:pt>
                <c:pt idx="1">
                  <c:v>0.045</c:v>
                </c:pt>
                <c:pt idx="2">
                  <c:v>0.36</c:v>
                </c:pt>
                <c:pt idx="3">
                  <c:v>1.38</c:v>
                </c:pt>
                <c:pt idx="4">
                  <c:v>3.63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>
            <a:solidFill>
              <a:srgbClr val="E2E4E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4F57"/>
          </a:solidFill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주방 조리 자동화용 로봇 핸드 SoftHand 개발 및 사업화. Seed 20억 원, 24개월. 1차 목표 시장은 급식·외식 상업용 주방.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회사 현황은 확인된 정보가 없어 자리만 둠. 사업 요약: 문제(인력 부족·전용 장비), 제품(로봇 핸드 + 작업 소프트웨어), 1차 고객(가설), 수익 구조, 투자 요청, 24개월 목표, 5년차 계획(기본 계획).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수요: 숙박·음식점업 종사자 229만 명(2023), 조리·식당 서비스 인력 부족률 코로나 이전 대비 약 2배, 외식업체 27.6% 인력난, 미국 외식 운영자 49% 자동화 확대 예상. 공급: 지금의 조리 자동화는 공정·메뉴별 전용 장비 또는 로봇 전용 주방 방식이라 메뉴·공정이 늘수록 장비와 공간이 함께 증가.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제품은 로봇 핸드 하드웨어, 주방 작업 소프트웨어, 제어 소프트웨어·유지보수, 유료 실증으로 구성. 가격은 기존 계획의 가정. 고객 가치(주방 유지, 메뉴 추가 시 소프트웨어 추가, 로봇 호환)는 PoC에서 검증할 목표.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기술: 순응·강성 전환 구조, 힘·촉각 기반 제어, 주방 작업 소프트웨어, 교체형 위생 접촉부. 현재는 콘셉트·설계 단계로 시제품·시험 데이터 없음. 24개월 목표: 하중 2kg, 승인 작업 완료율 95%, 내구 30만 회, 로봇 2종 호환.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글로벌 식품 로봇 시장 18.1억 달러(2023) → 68.1억 달러(2030 전망, Grand View Research, 식품 제조·포장 포함). 국내 숙박·음식점업 사업체 86.2만 개, 종사자 229만 명(2023). 국내에서는 학교 급식(부산교육청 실증, 솥 앞 작업시간 69% 감소), 급식 위탁(삼성웰스토리), 외식(에니아이·로보아르테)에서 조리 로봇 도입이 시작. 당사 목표 시장은 1차 급식·센트럴키친·프랜차이즈(가설), 2차 외식 매장·파트너 판매, 3차 가정용·빌트인(장기).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상용 조리 자동화는 대부분 메뉴·공정 전용 장비. 해외에는 로봇 전용 주방(Moley), 튀김 스테이션(Miso), 식품 공장 조립(Chef Robotics). 당사는 사람용 도구를 그대로 쓰는 범용 핸드와 작업 소프트웨어로 차별화하되, 처리 속도·내구·위생은 검증 과제.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1단계: 고객 인터뷰 30곳 후 단체급식·센트럴키친에서 유료 PoC. 2단계: PoC·공동개발 고객 대상 첫 판매. 3단계: 직판 + 주방설비 업체·로봇 SI 파트너. 장기: 가정용 주방·로봇·가전 기업 협력. 가격은 기존 계획의 가정. 고객군은 가설.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초기 매출은 유료 실증·통합과 핸드 판매, 설치 대수가 늘면서 작업 소프트웨어·유지보수·파트너 판매 비중이 커지는 구조. 반복 매출 비중 5년차 86%(기본 계획). 라이선스·제품 탑재는 장기이며 수치 미반영.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기본 계획: 매출 0.5 → 44.7억 원(5년차), 영업손익 5년차 손익분기 근접. 대규모 체인·OEM·가정용 매출은 제외. 민감도: 판매량 −30% 시 5년차 매출 31.4억·영업손익 −7.1억. 3~5년차 영업손실은 시리즈 A로 조달.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24개월을 기술 검증(M0~M6), 고객 검증(M6~M12), 제품 검증(M12~M18), 확장 검증(M18~M24)으로 나누고, 각 점검 시점에 미달하면 범위 축소 또는 방향 전환 후 다음 자금 집행.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20억 원: 인건비 9.6억, 시제품·내구 시험 2.7억, 로봇 2종·시험 설비 1.3억, 실증·현장 통합 1.2억, 소프트웨어·데이터 0.6억, 제조·품질·안전·지재권 1.1억, 가정용 환경 벤치 0.3억, 운영비 1.5억, 예비비 1.7억. 18개월 핵심 운영 + 6개월 연장 구조. 매출이 없어도 24개월 운영.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창업자 2명(대표, CTO)과 6명 단계 채용. 창업자 경력·역량은 확인되지 않아 자리만 둠. 채용 순서: 기구·구동(M2), 제어·임베디드(M3), 로봇 SW(M5), 현장 통합(M8), 비전·AI(M10), 설계·품질(M13).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20억 원, 24개월. 투자 조건·라운드 현황은 입력 필요. 24개월 목표: 유료 PoC 5건, 재구매 2곳, 공동개발 3곳, 완료율 95%, 내구 30만 회, 로봇 2종, 양산 설계. 후속 투자는 시리즈 A, 회수는 전략적 인수·기술특례 상장 가능성(확정 논의 없음).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[회사명 입력 필요]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투자유치 사업계획서 (Seed)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820095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조리 자동화용 로봇 핸드</a:t>
            </a:r>
          </a:p>
          <a:p>
            <a:pPr algn="l">
              <a:lnSpc>
                <a:spcPct val="98000"/>
              </a:lnSpc>
            </a:pPr>
            <a:r>
              <a:rPr sz="3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SoftHand 개발 및 사업화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39312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사람용 조리도구와 가전을 그대로 사용하는 로봇 핸드와 주방 작업 소프트웨어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4434840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4617720"/>
            <a:ext cx="23849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투자 유치 금액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9204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20억 원 (Seed)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90823" y="4636007"/>
            <a:ext cx="0" cy="640081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573703" y="4617720"/>
            <a:ext cx="23849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자금 사용 기간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703" y="489204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24개월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4636007"/>
            <a:ext cx="0" cy="640081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278727" y="4617720"/>
            <a:ext cx="23849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1차 목표 시장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489204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급식·외식 상업용 주방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0871" y="4636007"/>
            <a:ext cx="0" cy="640081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983751" y="4617720"/>
            <a:ext cx="23849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작성일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3751" y="489204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2026년 10월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5486400"/>
            <a:ext cx="10820095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85800" y="614476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대표자 </a:t>
            </a:r>
            <a:r>
              <a:rPr sz="1100" b="0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[입력 필요]</a:t>
            </a:r>
            <a:r>
              <a:rPr sz="11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  ·  이메일·연락처 </a:t>
            </a:r>
            <a:r>
              <a:rPr sz="1100" b="0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[입력 필요]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본 자료의 매출·성능·일정은 계획 및 가정이며 실적이 아님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01  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급식·외식 주방의 반복 조리 작업을 자동화하는 로봇 핸드 사업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146304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회사 현황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810512"/>
            <a:ext cx="3931920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10512"/>
          <a:ext cx="3931920" cy="3073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2880360"/>
              </a:tblGrid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회사명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[입력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대표자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[입력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설립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[설립일 또는 예정일 입력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소재지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[입력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인원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창업자 2명, 24개월 내 6명 단계 채용 계획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사업 분야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핸드 · 주방 자동화 소프트웨어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개발 단계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콘셉트·기술 구조·초기 설계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(시제품 개발 전)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지식재산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확인된 출원 없음 </a:t>
                      </a:r>
                      <a:r>
                        <a:rPr sz="115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[보유 시 입력]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0" y="1463040"/>
            <a:ext cx="64766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사업 요약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1810512"/>
            <a:ext cx="64766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0" y="1810512"/>
          <a:ext cx="6476695" cy="3073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5150815"/>
              </a:tblGrid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해결할 문제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조리 인력 부족, 메뉴·공정마다 전용 장비가 필요한 기존 조리 자동화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제품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사람용 조리도구·가전을 그대로 쓰는 로봇 핸드(SoftHand) + 주방 작업 소프트웨어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1차 목표 고객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단체급식·센트럴키친·프랜차이즈 주방 (가설, 고객 인터뷰 30곳으로 검증 예정)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수익 구조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유료 실증(PoC) → 핸드 판매 → 작업 소프트웨어·유지보수 반복 매출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 요청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Seed 20억 원</a:t>
                      </a: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, 24개월 운영 (매출 없이도 운영 가능한 규모)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목표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유료 PoC 5건 · 재구매 고객 2곳 · 공동개발 고객 3곳 · 로봇 2종 호환 · 양산 설계 확정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5년차 계획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 44.7억 원, 영업손익 손익분기 근접 (기본 계획, 가정)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 방향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상업용·가정용 주방에서 사람용 도구를 쓰는 범용 로봇 조작 기술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02   문제 인식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조리 인력은 부족하고, 기존 조리 자동화는 공정마다 전용 장비가 필요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1463040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인력 현황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810512"/>
            <a:ext cx="3611880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1901952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229만 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920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숙박·음식점업 종사자 (사업체 86.2만 개, 2023)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596896"/>
            <a:ext cx="361188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85800" y="2688336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약 2배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706624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조리·식당 서비스 인력 부족률, 코로나19 이전 대비 (2023)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383279"/>
            <a:ext cx="361188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85800" y="3474720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27.6%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49300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인력난을 겪는 외식업체 비율 (952곳 조사, 2023)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4169663"/>
            <a:ext cx="361188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85800" y="4261103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49%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27939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인력 대응 자동화가 더 보편화될 것이라는 미국 외식 운영자 (2025)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956048"/>
            <a:ext cx="361188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754880" y="1463040"/>
            <a:ext cx="67510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기존 조리 자동화 방식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754880" y="1810512"/>
          <a:ext cx="6751015" cy="203779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824935"/>
                <a:gridCol w="1600200"/>
              </a:tblGrid>
              <a:tr h="35773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방식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사례 (공개 정보)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 시 부담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6001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공정별 전용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조리로봇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삼성웰스토리: 국·탕, 볶음, 면·튀김 로봇을 공정별로 배치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부산교육청: 학교 급식실 튀김·볶음·국 조리로봇 실증 (2025)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공정·메뉴 수만큼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장비·공간 증가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001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메뉴 전용 장비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패티 조리 로봇, 시간당 200장 이상 (에니아이 알파그릴)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튀김 스테이션 전용 로봇 (Miso Robotics Flippy)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메뉴·작업에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 어려움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001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전용 주방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천장 레일 양팔 로봇 + 전용 조리도구 (Moley Robotics)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구성별 약 13.4만~34만 달러 (2021 보도)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전체 재설계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높은 초기 비용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754880" y="4076903"/>
            <a:ext cx="6751015" cy="896112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4076903"/>
            <a:ext cx="6348679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공통점  </a:t>
            </a: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로봇에 맞춰 장비·도구·주방을 바꾸는 방식, 메뉴·공정이 늘수록 장비·공간·통합 비용 증가</a:t>
            </a:r>
          </a:p>
          <a:p>
            <a:pPr algn="l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참고  </a:t>
            </a: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로봇 도입 총비용의 약 75%가 초기 셋업·재설계 (BCG, 2026, 로봇 도입 전반 기준)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출처: 통계청 전국사업체조사(2023), 헤럴드경제(2025.5), Restaurant Dive(2025), 각 사 공개 자료 · 부록 A17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03   해결 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기존 조리도구와 가전을 그대로 쓰는 로봇 핸드와 작업 소프트웨어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685800" y="1463040"/>
            <a:ext cx="2240280" cy="324612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04" y="1572768"/>
            <a:ext cx="1341870" cy="3026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76402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SoftHand 콘셉트 설계안 (렌더링)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463040"/>
            <a:ext cx="8168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제품 구성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37560" y="1810512"/>
          <a:ext cx="8168335" cy="214751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83080"/>
                <a:gridCol w="3870655"/>
                <a:gridCol w="1097280"/>
                <a:gridCol w="1417320"/>
              </a:tblGrid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구성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형태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(가정)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5087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SoftHand 로봇 핸드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손가락 3개 + 대향 엄지, 부드러운 접촉면 + 하중 지지 골격, 힘·미끄러짐 감지, 기존 협동로봇에 장착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하드웨어 판매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1,500만 원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5087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작업 소프트웨어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재료 집기·뚜껑 열기·집게·국자 사용·노브 조작·플레이팅 등 작업 단위 패키지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작업 패키지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핸드당 300만 원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제어 SW·유지보수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힘·촉각 제어, 보정, 업데이트, 교체형 접촉부 공급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계약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핸드당 연 150만 원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유료 실증 (PoC)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주방 8~12주 적용, 고객 기존 수치 대비 측정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프로젝트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건당 5,000만 원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337560" y="4232351"/>
            <a:ext cx="8168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고객 입장에서 달라지는 점 (PoC에서 검증 예정)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37560" y="4561535"/>
            <a:ext cx="816833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37560" y="4671263"/>
            <a:ext cx="2494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4963871"/>
            <a:ext cx="249417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기존 레이아웃·조리도구·가전을 그대로 사용, 전용 장비·주방 개조 최소화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0338" y="4671263"/>
            <a:ext cx="2494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메뉴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0338" y="4963871"/>
            <a:ext cx="249417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공정·메뉴가 늘 때 장비 대신 작업 소프트웨어를 추가 (목표)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3116" y="4671263"/>
            <a:ext cx="2494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로봇 호환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3116" y="4963871"/>
            <a:ext cx="249417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고객이 가진 협동로봇에 장착, 로봇 2종 호환 검증 (목표)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가격은 기존 계획의 가정 (부록 A10) · 핸드 상세 설계는 부록 A3 · 적용 장면 콘셉트는 부록 A5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04   기술 및 개발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핵심 기술 4가지, 24개월 안에 시제품에서 양산 설계까지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63040"/>
          <a:ext cx="10817352" cy="20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4663440"/>
                <a:gridCol w="1325880"/>
                <a:gridCol w="2450592"/>
              </a:tblGrid>
              <a:tr h="3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기술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상태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목표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875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순응·강성 전환 구조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잡을 때는 부드럽게, 도구를 쓸 때는 단단하게 (탄성 요소·장력 제어·잠금 기구)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콘셉트 설계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알파 시제품 검증 (M6), 설계 확정 (M18)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힘·촉각 기반 조작 제어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손끝 접촉·미끄러짐 감지, 손목 6축 힘센서로 반력·토크 제어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구조 설계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작업 완료율 95% 이상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작업 소프트웨어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집기·열기·젓기 등 작업 단위로 표준화, 다른 메뉴·주방·로봇에 재사용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구조 설계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대상 6종 작업, 로봇 2종 호환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교체형 위생 접촉부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세척·교체 가능한 패드·외피, 식품 접촉 재질 적용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콘셉트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재질 시험, 교체 주기 확정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874922"/>
            <a:ext cx="51814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목표 사양 (24개월, 목표)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4222394"/>
            <a:ext cx="5181447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222394"/>
          <a:ext cx="5181447" cy="13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3626967"/>
              </a:tblGrid>
              <a:tr h="3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 하중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2kg (동일 조건 원통 물체)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작업 완료율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95% 이상 (최초 시도·재시도 분리 보고)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내구성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개폐 30만 회 (양산 목표 100만 회)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호환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협동로봇 2종에서 같은 작업 소프트웨어 사용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4447" y="3874922"/>
            <a:ext cx="51814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개발 현황과 지식재산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24447" y="4222394"/>
            <a:ext cx="5181448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24447" y="4222394"/>
          <a:ext cx="5181447" cy="13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3992727"/>
              </a:tblGrid>
              <a:tr h="3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단계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콘셉트·기술 구조·초기 설계, 시제품·시험 데이터 없음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구동 방식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전동 텐던 기준, 소형 유압·공압과 비교 후 결정 (창업 후 3개월)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지식재산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확인된 출원 없음, 선행기술 조사 후 출원 </a:t>
                      </a:r>
                      <a:r>
                        <a:rPr sz="115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[보유 시 입력]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방식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시험 횟수·성공 건수·신뢰구간 공개, 무편집 영상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모든 사양은 목표이며 실적 아님 · 구동·센서·하중 상세는 부록 A3, 시험 방법은 부록 A4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05   시장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국내 급식·외식 주방에서 조리 로봇 도입이 시작되는 단계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1463040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글로벌 식품 로봇 시장 (억 달러)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828800"/>
          <a:ext cx="338328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26871" y="374995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7848" y="374995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2030 전망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" y="30341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18.1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9288" y="206717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68.1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0682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연평균 20.6% 성장 전망 (Grand View Research)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식품 제조·포장 포함, 주방만의 수치 아님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892040"/>
            <a:ext cx="3383280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85800" y="4983479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국내 숙박·음식점업  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사업체 86.2만 개 · 종사자 229만 명 (2023, 통계청)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463040"/>
            <a:ext cx="6979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국내 도입 사례 (공개 정보)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26280" y="1810512"/>
          <a:ext cx="6979615" cy="124805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3000"/>
                <a:gridCol w="5836615"/>
              </a:tblGrid>
              <a:tr h="55087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학교 급식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부산교육청, 서비스로봇 실증사업으로 3개교에 다기능 조리로봇 도입 (2025)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솥 앞 작업시간 평균 69%, 근력 작업 72% 감소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급식 위탁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삼성웰스토리, 산업체 사업장에 국·볶음·면·튀김 조리로봇 운영 (2023~)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외식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버거 패티(에니아이), 치킨(로보아르테, Series A 75억 원) 조리 로봇 매장 적용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6" name="Connector 15"/>
          <p:cNvCxnSpPr/>
          <p:nvPr/>
        </p:nvCxnSpPr>
        <p:spPr>
          <a:xfrm>
            <a:off x="4526280" y="1810512"/>
            <a:ext cx="697961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526280" y="3332886"/>
            <a:ext cx="6979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당사 목표 시장 단계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26280" y="3680358"/>
          <a:ext cx="6979615" cy="104576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5562295"/>
              </a:tblGrid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1차 · Seed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단체급식·센트럴키친·프랜차이즈 주방의 반복 조리 보조 (가설)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2차 · 3~5년차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외식 매장 주방 확대, 주방설비 업체·로봇 SI 파트너 판매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3차 · 장기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주방 (가전·가정용 로봇 기업 협력), 빌트인 주방 (장기 확장 가능성)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4526280" y="3680358"/>
            <a:ext cx="697961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526280" y="4835855"/>
            <a:ext cx="6979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당사 5년차 목표 (기본 계획)  </a:t>
            </a: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신규 핸드 200대 · 누적 설치 342대 · 매출 44.7억 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조사기관별 전망 편차 큼 (2030년 49.7억~68.1억 달러) · 국내 주방 로봇 시장 규모는 공식 통계 부재로 미제시 · 부록 A8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06   경쟁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경쟁 제품은 메뉴·공정 전용 장비, 당사는 범용 핸드로 차별화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63040"/>
          <a:ext cx="10817352" cy="284469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40280"/>
                <a:gridCol w="2743200"/>
                <a:gridCol w="1920240"/>
                <a:gridCol w="2011680"/>
                <a:gridCol w="1901952"/>
              </a:tblGrid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사례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방식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강점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한계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5087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전용 조리 장비·로봇 (국내)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에니아이 알파그릴, 급식용 국·볶음·튀김 조리로봇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메뉴·공정 전용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높은 처리량, 상용 운영 중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메뉴·공정 추가 시 장비 추가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5087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전용 주방 (해외)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Moley Robotics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천장 레일 양팔 + 전용 조리도구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다양한 요리 시연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재설계, 약 13.4만~34만 달러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스테이션 로봇 (해외)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Miso Robotics Flippy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튀김 스테이션 전용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외식 매장 확산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튀김 외 작업 어려움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밀 조립 로봇 (해외)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Chef Robotics (Series A 4,310만 달러)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식품 공장 조립 라인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공장 대량 생산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매장 주방 조리 작업과 다름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산업용 그리퍼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평행·진공·적응형 그리퍼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범용 집기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저가·고신뢰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사람용 도구·노브 조작 제한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485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당사 SoftHand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핸드 + 주방 작업 소프트웨어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조리도구 사용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여러 공정을 핸드 하나로 (목표)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속도·내구·위생 검증 필요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58205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당사 차별화 요소 (모두 검증 예정)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4911242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5020970"/>
            <a:ext cx="2476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기존 도구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13578"/>
            <a:ext cx="24764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사람용 집게·국자·팬·노브를 그대로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0823" y="5020970"/>
            <a:ext cx="2476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공정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5313578"/>
            <a:ext cx="24764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핸드 하나로 여러 공정 처리, 툴 교체 최소화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5020970"/>
            <a:ext cx="2476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소프트웨어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5313578"/>
            <a:ext cx="24764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메뉴 추가 시 작업 소프트웨어 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0871" y="5020970"/>
            <a:ext cx="2476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로봇 무관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0871" y="5313578"/>
            <a:ext cx="24764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고객 보유 협동로봇에 장착, 로봇 2종 호환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공개 정보 기반 정성 비교, 독립 비교시험 아님 · 우열을 주장하지 않음 · 상세 부록 A7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07   사업화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급식·센트럴키친 유료 실증으로 시작해 파트너 판매로 확대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63040"/>
          <a:ext cx="7315200" cy="264352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914400"/>
                <a:gridCol w="1783080"/>
                <a:gridCol w="1965960"/>
                <a:gridCol w="1417320"/>
              </a:tblGrid>
              <a:tr h="3668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방식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691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1단계 실증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M0~M12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단체급식·센트럴키친 (가설)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인터뷰 30곳 → 유료 PoC (8~12주)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유료 PoC (M12)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91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2단계 첫 판매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M12~M24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PoC 고객·공동개발 고객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 + 작업 소프트웨어 판매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유료 PoC 5건, 재구매 2곳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91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3단계 확대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3~5년차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프랜차이즈·급식 위탁사·외식 매장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직판 + 주방설비 업체·로봇 SI 파트너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5년차 신규 200대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91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5년차 이후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주방, 로봇·가전 기업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라이선스·제품 탑재 협력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 가능성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463040"/>
            <a:ext cx="3093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판매 채널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0" y="1792224"/>
            <a:ext cx="309341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412480" y="1883664"/>
            <a:ext cx="3093415" cy="728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3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직판 (초기 고객·공동개발 고객)</a:t>
            </a:r>
          </a:p>
          <a:p>
            <a:pPr algn="l" marL="164592" indent="-164592">
              <a:lnSpc>
                <a:spcPct val="100000"/>
              </a:lnSpc>
              <a:spcAft>
                <a:spcPts val="3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주방설비 업체·로봇 SI 파트너 (3년차~)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정부 실증사업 참여 검토 (예: 서비스로봇 실증사업)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859328"/>
            <a:ext cx="3093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가격 정책 (가정)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0" y="3188512"/>
            <a:ext cx="309341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412480" y="3279952"/>
            <a:ext cx="3093415" cy="969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3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핸드 1,500만 원, 파트너 경유 1,200만 원</a:t>
            </a:r>
          </a:p>
          <a:p>
            <a:pPr algn="l" marL="164592" indent="-164592">
              <a:lnSpc>
                <a:spcPct val="100000"/>
              </a:lnSpc>
              <a:spcAft>
                <a:spcPts val="3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작업 소프트웨어 핸드당 300만 원</a:t>
            </a:r>
          </a:p>
          <a:p>
            <a:pPr algn="l" marL="164592" indent="-164592">
              <a:lnSpc>
                <a:spcPct val="100000"/>
              </a:lnSpc>
              <a:spcAft>
                <a:spcPts val="3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제어 SW·유지보수 연 150만 원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유료 PoC 건당 5,000만 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496003"/>
            <a:ext cx="3093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초기 영업 활동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0" y="4825187"/>
            <a:ext cx="309341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412480" y="4916627"/>
            <a:ext cx="3093415" cy="728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3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창업 후 90일 내 고객 인터뷰 30곳</a:t>
            </a:r>
          </a:p>
          <a:p>
            <a:pPr algn="l" marL="164592" indent="-164592">
              <a:lnSpc>
                <a:spcPct val="100000"/>
              </a:lnSpc>
              <a:spcAft>
                <a:spcPts val="3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공동개발 고객 3곳 확보 (목표)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비표준 요청은 별도 견적, 표준 작업 위주 수주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1차 고객군은 가설이며 실제 고객·계약 없음 · 고객 인터뷰 결과로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08   수익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하드웨어 판매로 시작해 소프트웨어·유지보수 반복 매출로 전환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63040"/>
          <a:ext cx="5669280" cy="260583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2103120"/>
                <a:gridCol w="1097280"/>
                <a:gridCol w="731520"/>
              </a:tblGrid>
              <a:tr h="5691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매출원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과금 (가정)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매출총이익률 (가정)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668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유료 실증·통합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건당 5,000만 원 / 4,000만 원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초기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91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 하드웨어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1,500만 원 (파트너 1,200만 원)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 950 → 750만 원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초기~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68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작업 소프트웨어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핸드당 300만 원, 1.0 → 1.6개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85%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초기~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68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제어 SW·유지보수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핸드당 연 150만 원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70%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중기~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68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라이선스·제품 탑재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출하량 연동 </a:t>
                      </a: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[협의 후 검증]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297476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반복 매출 비중 (기본 계획)  </a:t>
            </a:r>
            <a:r>
              <a:rPr sz="115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1년차 0% → 3년차 57% → 5년차 86%</a:t>
            </a:r>
          </a:p>
          <a:p>
            <a:pPr algn="l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정의  </a:t>
            </a: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고객별 엔지니어링(실증·통합)을 제외한 하드웨어·소프트웨어·유지보수·파트너 매출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463040"/>
            <a:ext cx="4693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매출 구성 계획 (억 원, 기본 계획)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2280" y="1856231"/>
            <a:ext cx="109728" cy="109728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7728" y="179222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실증·통합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574" y="1856231"/>
            <a:ext cx="109728" cy="109728"/>
          </a:xfrm>
          <a:prstGeom prst="rect">
            <a:avLst/>
          </a:prstGeom>
          <a:solidFill>
            <a:srgbClr val="4A4F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022" y="179222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하드웨어 직판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0202" y="1856231"/>
            <a:ext cx="109728" cy="109728"/>
          </a:xfrm>
          <a:prstGeom prst="rect">
            <a:avLst/>
          </a:prstGeom>
          <a:solidFill>
            <a:srgbClr val="8C91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5650" y="179222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파트너 판매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68831" y="1856231"/>
            <a:ext cx="109728" cy="109728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4279" y="179222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작업 소프트웨어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29457" y="1856231"/>
            <a:ext cx="109728" cy="109728"/>
          </a:xfrm>
          <a:prstGeom prst="rect">
            <a:avLst/>
          </a:prstGeom>
          <a:solidFill>
            <a:srgbClr val="F2A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84905" y="179222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제어 SW·유지보수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12280" y="2121408"/>
          <a:ext cx="4693615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716659" y="55686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1년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7833" y="55686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2년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9007" y="55686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3년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0181" y="55686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4년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21355" y="55686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5년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8099" y="5190481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9273" y="497989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3.9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0447" y="451356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11.5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1621" y="3692725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24.9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2795" y="247423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44.7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모든 가격·원가·마진은 검증 전 가정 · 상세 부록 A10 · 라이선스·제품 탑재 매출은 기본 계획에 미반영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09   매출·손익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5개년 매출·손익 계획 (기본 계획)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대규모 주방 체인·로봇 OEM·가정용 매출을 제외한 보수적 계획, 모든 수치는 가정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91056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10512"/>
          <a:ext cx="6400800" cy="2862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960120"/>
                <a:gridCol w="960120"/>
                <a:gridCol w="960120"/>
                <a:gridCol w="960120"/>
                <a:gridCol w="960120"/>
              </a:tblGrid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 (억 원)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1년차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2년차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3년차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4년차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5년차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매출액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3.9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24.9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44.7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매출총이익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5.0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12.0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23.6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매출총이익률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42%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44%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48%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53%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운영비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7.7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10.6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14.6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19.5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23.7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영업손익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−7.5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−8.9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−9.5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−7.5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−0.1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핸드 (대)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설치 (대)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142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342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947107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자금 흐름 (억 원, 기본 계획)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5276291"/>
          <a:ext cx="6400800" cy="715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960120"/>
                <a:gridCol w="960120"/>
                <a:gridCol w="960120"/>
                <a:gridCol w="960120"/>
                <a:gridCol w="960120"/>
              </a:tblGrid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영업손익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−7.5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−16.5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−26.0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−33.5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−33.6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조달 재원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Seed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Seed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시리즈 A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시리즈 A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시리즈 A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685800" y="5276291"/>
            <a:ext cx="6400800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85800" y="6044387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1·2년차 영업손실 </a:t>
            </a: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16.5억 원</a:t>
            </a: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은 Seed로 충당, 3~5년차 영업손실 </a:t>
            </a: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17.1억 원</a:t>
            </a: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은 시리즈 A로 조달 계획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810512"/>
            <a:ext cx="3962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주요 가정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43800" y="2130552"/>
            <a:ext cx="3962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543800" y="2212848"/>
            <a:ext cx="3962095" cy="931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핸드 1,500만 원 (원가 950 → 750만 원)</a:t>
            </a:r>
          </a:p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작업 소프트웨어 300만 원, 유지보수 연 150만 원</a:t>
            </a:r>
          </a:p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유료 PoC 1·4·5·6·6건 (연도별)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운영비 1·2년차 = Seed 집행 계획, 3~5년차 평균 14·19·23명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335934"/>
            <a:ext cx="3962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민감도 (5년차)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43800" y="3655974"/>
            <a:ext cx="3962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543800" y="3738270"/>
            <a:ext cx="3962095" cy="703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판매량 −30%: 매출 31.4억, 영업손익 −7.1억</a:t>
            </a:r>
          </a:p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파트너 채널 1년 지연: 매출 32.3억, 영업손익 −6.4억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판매량 −50%: 매출 22.4억, 영업손익 −11.9억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633671"/>
            <a:ext cx="3962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미반영 상승 요인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43800" y="4953711"/>
            <a:ext cx="3962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543800" y="5036007"/>
            <a:ext cx="3962095" cy="703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대규모 급식·외식 체인 반복 도입</a:t>
            </a:r>
          </a:p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로봇·가전 기업 제품 탑재·라이선스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가정용 주방 확대 (수치 미산정)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상세 손익·산정 기준은 부록 A11 · 3~5년차 누적 영업손실 약 17.1억 원은 후속 투자로 조달 계획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10   추진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24개월 4단계 추진, 단계별 점검 후 다음 자금 집행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3721607" y="1463040"/>
            <a:ext cx="1914067" cy="274320"/>
          </a:xfrm>
          <a:prstGeom prst="rect">
            <a:avLst/>
          </a:prstGeom>
          <a:solidFill>
            <a:srgbClr val="4A4F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21607" y="1463040"/>
            <a:ext cx="191406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기술 검증  M0~M6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72251" y="1463040"/>
            <a:ext cx="1914067" cy="274320"/>
          </a:xfrm>
          <a:prstGeom prst="rect">
            <a:avLst/>
          </a:prstGeom>
          <a:solidFill>
            <a:srgbClr val="4A4F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2251" y="1463040"/>
            <a:ext cx="191406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 검증  M6~M12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2895" y="1463040"/>
            <a:ext cx="1914067" cy="274320"/>
          </a:xfrm>
          <a:prstGeom prst="rect">
            <a:avLst/>
          </a:prstGeom>
          <a:solidFill>
            <a:srgbClr val="4A4F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2895" y="1463040"/>
            <a:ext cx="191406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검증  M12~M18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73539" y="1463040"/>
            <a:ext cx="1914067" cy="27432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73539" y="1463040"/>
            <a:ext cx="191406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확장 검증  M18~M24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792224"/>
            <a:ext cx="9753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1분기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8641" y="1792224"/>
            <a:ext cx="9753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2분기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3963" y="1792224"/>
            <a:ext cx="9753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3분기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285" y="1792224"/>
            <a:ext cx="9753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4분기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4607" y="1792224"/>
            <a:ext cx="9753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5분기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9929" y="1792224"/>
            <a:ext cx="9753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6분기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251" y="1792224"/>
            <a:ext cx="9753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7분기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30573" y="1792224"/>
            <a:ext cx="9753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8분기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2048256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85800" y="2121408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법인 설립·핵심 인력 채용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21607" y="2176272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96929" y="2176272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72251" y="2176272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47573" y="2176272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2895" y="2176272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8217" y="2176272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73539" y="2176272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48861" y="2176272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404872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구동 방식 비교·알파 시제품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21607" y="2459736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96929" y="2459736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2251" y="2459736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47573" y="2459736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22895" y="2459736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98217" y="2459736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73539" y="2459736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861" y="2459736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688336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고객 인터뷰 30곳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21607" y="2743200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96929" y="2743200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72251" y="2743200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47573" y="2743200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22895" y="2743200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8217" y="2743200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73539" y="2743200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548861" y="2743200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2971800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작업 소프트웨어 V1 (6종)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21607" y="3026664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96929" y="3026664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72251" y="3026664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47573" y="3026664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22895" y="3026664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98217" y="3026664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573539" y="3026664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548861" y="3026664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3255264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유료 실증 (PoC) 1건 → 5건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21607" y="3310128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96929" y="3310128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72251" y="3310128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47573" y="3310128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622895" y="3310128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98217" y="3310128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73539" y="3310128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48861" y="3310128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3538728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설계 확정·BOM·공급사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21607" y="3593592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696929" y="3593592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2251" y="3593592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47573" y="3593592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22895" y="3593592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98217" y="3593592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73539" y="3593592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548861" y="3593592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3822191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내구 시험 (30만 회 목표)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21607" y="3877055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696929" y="3877055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72251" y="3877055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47573" y="3877055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22895" y="3877055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598217" y="3877055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73539" y="3877055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48861" y="3877055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5800" y="4105655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로봇 B 통합·이식 검증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721607" y="4160519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696929" y="4160519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672251" y="4160519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647573" y="4160519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622895" y="4160519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598217" y="4160519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73539" y="4160519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48861" y="4160519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5800" y="4389119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가정용 주방 환경 벤치 검증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21607" y="4443983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696929" y="4443983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672251" y="4443983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647573" y="4443983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622895" y="4443983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98217" y="4443983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573539" y="4443983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548861" y="4443983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4672583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재구매·첫 판매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721607" y="4727447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696929" y="4727447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672251" y="4727447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647573" y="4727447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622895" y="4727447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98217" y="4727447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73539" y="4727447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548861" y="4727447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5800" y="4956047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시리즈 A 준비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721607" y="5010911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696929" y="5010911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672251" y="5010911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647573" y="5010911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622895" y="5010911"/>
            <a:ext cx="938745" cy="173736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598217" y="5010911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573539" y="5010911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548861" y="5010911"/>
            <a:ext cx="938745" cy="173736"/>
          </a:xfrm>
          <a:prstGeom prst="rect">
            <a:avLst/>
          </a:prstGeom>
          <a:solidFill>
            <a:srgbClr val="E257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685800" y="5276087"/>
            <a:ext cx="10820095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22" name="TextBox 121"/>
          <p:cNvSpPr txBox="1"/>
          <p:nvPr/>
        </p:nvSpPr>
        <p:spPr>
          <a:xfrm>
            <a:off x="685800" y="5367527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점검 시점 (미달 시 결정)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49039" y="5367527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M6  </a:t>
            </a: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토크·반복성 미확보 → 핸드 구조 재검토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99683" y="5367527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M12  </a:t>
            </a: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지불의사 없음 → 고객군·작업 재정의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650327" y="5367527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M18  </a:t>
            </a: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재사용률 낮음 → 제품 구조 재검토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00971" y="5367527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M24  </a:t>
            </a: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재구매 없음 → 시리즈 A 확장 보류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분기는 투자 집행일 기준 · 단계별 점검 기준 상세는 부록 A2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11   자금 소요 및 사용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Seed 20억 원으로 24개월 운영, 매출 없이도 운영 가능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63040"/>
          <a:ext cx="6949440" cy="353272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3108960"/>
                <a:gridCol w="1097280"/>
                <a:gridCol w="731520"/>
              </a:tblGrid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금액 (억 원)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비중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인건비 (8명 단계 채용)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창업자 2명 + 엔지니어 6명, 4대보험·퇴직충당 포함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9.6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시제품·내구 시험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알파·베타 시제품, 반복 내구 시험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2.7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2종·시험 설비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협동로봇 2종, 주방·산업 시험 셀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실증·현장 통합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주방 실증 중 비청구 비용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소프트웨어·데이터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작업 소프트웨어, 데이터 수집 장비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제조·품질·안전·지재권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BOM·공급사, 위생·안전 검토, 특허 출원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환경 벤치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주방 환경 재현 검증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임차·법무·회계·보험·출장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예비비·운전자본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후 잔존 (매출 없을 때)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463040"/>
            <a:ext cx="34134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집행 구조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92440" y="1783080"/>
            <a:ext cx="341345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092440" y="1865376"/>
            <a:ext cx="3413455" cy="703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18개월 핵심 운영 13.4억 원 (설계 확정·첫 재구매까지)</a:t>
            </a:r>
          </a:p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6개월 연장 5.0억 원 (M18 점검 통과 시 집행)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예비비·운전자본 1.7억 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779064"/>
            <a:ext cx="34134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손익 연결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92440" y="3099104"/>
            <a:ext cx="341345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092440" y="3181400"/>
            <a:ext cx="3413455" cy="4756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운영비 1년차 7.7억 + 2년차 10.6억 = 18.3억 원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매출원가는 매출로 충당, 정부지원금·공동개발비 미반영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867404"/>
            <a:ext cx="34134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후속 투자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4187444"/>
            <a:ext cx="341345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092440" y="4269740"/>
            <a:ext cx="3413455" cy="703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시리즈 A: M15부터 준비, M24 전후 유치 목표</a:t>
            </a:r>
          </a:p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3~5년차 누적 영업손실 약 17.1억 원 (기본 계획)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시리즈 A 목표 규모 </a:t>
            </a:r>
            <a:r>
              <a:rPr sz="1100" b="0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[입력 필요]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인건비 기준: 창업자 연 5,000만 원, 엔지니어 연 7,000만 원 + 15% · 채용 일정은 13장, 상세 부록 A12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12   조직 및 인력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창업자 2명과 핵심 인력 6명으로 구성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146304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창업자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10512"/>
          <a:ext cx="10817351" cy="110063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1645920"/>
                <a:gridCol w="3749039"/>
                <a:gridCol w="3319272"/>
              </a:tblGrid>
              <a:tr h="3668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성명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주요 경력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사업과의 연결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668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· 사업/제품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[성명 입력 필요]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[주방·자동화 관련 경력, 기간 입력 필요]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[창업 계기·현장에서 확인한 문제 입력 필요]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68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CTO · 핸드 메카트로닉스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[성명 입력 필요]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[핸드·로봇·제어 개발 이력, 시제품·논문·특허 입력 필요]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[핸드·제어 개발 역량 근거 입력 필요]</a:t>
                      </a:r>
                    </a:p>
                  </a:txBody>
                  <a:tcPr marL="73152" marR="73152" marT="77724" marB="7772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185464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핵심 인력 채용 계획 (6명)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3532936"/>
          <a:ext cx="6583680" cy="224809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731520"/>
                <a:gridCol w="3474720"/>
              </a:tblGrid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직무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주요 업무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기구·구동 엔지니어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손가락·구동부 설계, 시제품 제작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제어·임베디드 엔지니어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M3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힘·촉각 제어, 보드·펌웨어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SW·작업 소프트웨어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작업 소프트웨어, 로봇 연동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 통합 엔지니어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M8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주방 설치·실증 운영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비전·조작 AI 엔지니어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물체 인식, 작업 학습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설계·품질 엔지니어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M13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양산 설계, 품질·위생 검증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26679" y="3185464"/>
            <a:ext cx="3779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창업팀 역량 요약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26679" y="3532936"/>
            <a:ext cx="3779216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6679" y="3532936"/>
          <a:ext cx="3779215" cy="17623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2727655"/>
              </a:tblGrid>
              <a:tr h="33944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문제 이해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[현장에서 문제를 확인한 경험 입력 필요]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4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개발 역량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[핸드·로봇·제어·AI 개발 역량 입력 필요]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417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접근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[외식·급식·주방설비·로봇 SI 관계 입력 필요]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417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참여 조건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[전업 참여·자기자본 투자·공동창업 계약 입력 필요]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확인되지 않은 이력·성과는 기재하지 않음 · 외부 제출 전 실제 정보로 교체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13   투자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Seed 20억 원 투자 제안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43584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146304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투자 조건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810512"/>
            <a:ext cx="3840480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10512"/>
          <a:ext cx="3840480" cy="21467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2606040"/>
              </a:tblGrid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 금액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20억 원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 형태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[보통주·상환전환우선주 등 입력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기업가치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[투자 전 기업가치 입력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지분율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[입력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자금 사용 기간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(18개월 + 6개월 연장)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라운드 현황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[참여 투자자·진행 상황 입력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4630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투자 후 24개월 목표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37760" y="1810512"/>
            <a:ext cx="3474720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37760" y="1810512"/>
          <a:ext cx="3474720" cy="23764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1371600"/>
              </a:tblGrid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유료 PoC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5건 이상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재구매 고객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2곳 이상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공동개발 고객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3곳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작업 완료율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95% 이상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내구성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30만 회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호환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2종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양산 설계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확정·BOM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823959" y="1463040"/>
            <a:ext cx="2681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투자 의미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23959" y="1783080"/>
            <a:ext cx="2681936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823959" y="1865376"/>
            <a:ext cx="2681935" cy="880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콘셉트 단계에서 실제 주방 실증·첫 판매까지 가는 자금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세 가지 검증: 실제 주방 작동, 고객 지불, 작업 소프트웨어 재사용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2937662"/>
            <a:ext cx="2681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후속 투자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3959" y="3257702"/>
            <a:ext cx="2681936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823959" y="3339998"/>
            <a:ext cx="2681935" cy="4756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시리즈 A: 24개월 목표 달성 후 유치 계획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목표 규모 </a:t>
            </a:r>
            <a:r>
              <a:rPr sz="1100" b="0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[입력 필요]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59" y="4007713"/>
            <a:ext cx="2681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회수 방안 (장기 가능성)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23959" y="4327753"/>
            <a:ext cx="2681936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823959" y="4410049"/>
            <a:ext cx="2681935" cy="4756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2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로봇·주방설비·가전 기업의 전략적 인수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기술특례 상장 (확정된 논의 없음)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669280"/>
            <a:ext cx="10820095" cy="56692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연락처   </a:t>
            </a: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대표자 </a:t>
            </a:r>
            <a:r>
              <a:rPr sz="1150" b="0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[입력 필요]</a:t>
            </a: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·  이메일 </a:t>
            </a:r>
            <a:r>
              <a:rPr sz="1150" b="0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[입력 필요]</a:t>
            </a: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·  전화 </a:t>
            </a:r>
            <a:r>
              <a:rPr sz="1150" b="0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[입력 필요]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목표는 계획이며 실적 아님 · 단계별 점검 기준 부록 A2 · 사실·가정 구분 부록 A1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2296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본문의 근거와 상세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8686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868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사실·가정 구분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09160" y="1234439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709160" y="1325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325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단계별 점검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1691639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709160" y="17830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783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SoftHand 설계 상세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09160" y="21488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4709160" y="22402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성능 지표와 시험 방법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9160" y="26060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709160" y="2697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697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적용 장면 (콘셉트)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9160" y="30632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709160" y="31546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154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산업 검증 트랙 (머신텐딩)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9160" y="35204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709160" y="3611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611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경쟁사 상세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09160" y="39776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4709160" y="40690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069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시장 근거 상세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09160" y="44348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4709160" y="45262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526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로봇 기술 동향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09160" y="48920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366760" y="8686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868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수익 모델 가정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66760" y="1234439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8366760" y="1325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325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5개년 손익 상세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66760" y="1691639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366760" y="17830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1783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인건비·자금 사용 상세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66760" y="21488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8366760" y="22402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데이터 축적 계획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366760" y="26060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8366760" y="2697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2697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장기 확장 경로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366760" y="30632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8366760" y="31546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3154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안전·위생·인증·지재권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66760" y="35204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8366760" y="3611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611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위험 요인과 대응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66760" y="39776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8366760" y="40690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A17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069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66760" y="4434840"/>
            <a:ext cx="3291840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사실·가정 구분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확인된 사실, 계획, 가정, 장기 가능성, 확보가 필요한 자료를 구분해 표기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10817352" cy="368193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6793992"/>
                <a:gridCol w="2194560"/>
              </a:tblGrid>
              <a:tr h="3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내용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표기 원칙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7898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확인된 사실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사업 아이디어·기술 구상·사업계획서 초안 (2026.10)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외부 공개 자료(통계청·IFR·BCG·외식업 인력·NRA·조리 로봇 사례) 출처 확인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법인·창업팀·특허·시제품·고객 계약·매출·보유 자금은 미확인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 실적으로 표현하지 않음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784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계획 (목표)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SoftHand-4 V1, 주방 작업 소프트웨어 (검증 대상 6종 작업), 공동개발 고객 3곳, 유료 PoC 5건, 재구매 2곳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2종, 고객 인터뷰 30곳, 24개월 추진 일정, 단계별 점검 기준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"목표", "계획"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78988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 1,500만 원 (원가 950만 → 750만 원), 작업 소프트웨어 300만 원, 유지보수 연 150만 원, 유료 PoC 5,000만 원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5개년 매출·손익 (기본 계획), 성능 목표치 (기존 머신텐딩 기준 수치를 주방 작업에 적용)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"가정"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784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 가능성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주방 확대, 로봇·가전 기업 제품 탑재, 라이선스, 빌트인 주방 (건설사·디벨로퍼), 데이터 축적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"장기 가능성"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수치 미산정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784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확보 필요 자료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창업자·핵심 인력 이력, 시제품·무편집 시험 영상, 특허·FTO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인터뷰·LOI·공동개발 고객, 유료 PoC, BOM, 고객 기존 수치, 동일 조건 비교시험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[정보 입력 필요]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 실사 전 확보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07176"/>
            <a:ext cx="10820095" cy="20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이미지: SoftHand 이미지는 모두 같은 SoftHand-4 콘셉트 모델의 렌더링이며 실제 시험 장면이 아님. 실물 확보 시 시제품 사진 → 시험 영상 → 고객 현장 순으로 교체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단계별 점검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실패 조건과 결정을 먼저 정하고 자금을 단계별로 집행 · 모든 기준은 목표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10817352" cy="307543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2606040"/>
                <a:gridCol w="3090672"/>
                <a:gridCol w="2377440"/>
                <a:gridCol w="1965960"/>
              </a:tblGrid>
              <a:tr h="39441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가설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통과 기준 (목표)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미달 시 결정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자금 영향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61508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기술: 핸드 하나로 검증 대상 작업 수행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대상 6종 작업 벤치 반복 시연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토크·반복성 기록 공개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 구조 재검토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(구동 방식·골격·잠금)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후속 채용 보류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시제품 예산 재배분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61508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고객: 주방 고객이 비용 지불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유료 PoC 1건 이상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기존 수치 확보, 지불의사 확인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1차 고객군·작업 재정의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(다른 작업·다른 주방 유형)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6개월 연장 자금 집행 재검토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61508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제품: 반복 판매·작업 소프트웨어 재사용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확정, 첫 재구매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재사용률 측정 시작, 로봇 B 통합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제품 구조 재검토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제품 + 서비스 모델 검토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시리즈 A 착수 시점 조정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83576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M24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확장: 재구매·이식성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재구매 고객 2곳 이상, 로봇 2종 호환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상업용·가정용 환경 공통 작업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매출총이익률 검증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시리즈 A 확장 보류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축소 운영·브리지 검토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시리즈 A 규모·시점 결정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685800" y="5349240"/>
            <a:ext cx="1082009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5486400"/>
            <a:ext cx="10820095" cy="519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점검은 이사회·투자자와 분기별 지표 리뷰로 판단, 미달 시 범위 축소 또는 방향 전환을 결정한 뒤 다음 단계 자금 집행 (18개월 + 6개월 구조와 연동)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시험 결과는 횟수·성공 건수·재시도 분리·신뢰구간으로 보고, 산업 검증 트랙(A6)은 토크·반복성·내구성 확인에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SoftHand 설계 상세: 구성·구동·센싱·하중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구동 방식은 미확정, 창업 후 3개월 내 비교시험으로 선정 (M6 점검 연동)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7223760" cy="3561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3246120"/>
                <a:gridCol w="2743200"/>
              </a:tblGrid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 요소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개발 내용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기준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구성 (4지)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손가락 3 + 대향 엄지, 도구·손잡이·노브·버튼을 다루는 최소 구성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5지 대비 부품 수·비용·내구성·제어 복잡도 (5지는 시리즈 A 이후)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구동부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전동 텐던을 기준 후보로 소형 유압·공압과 비교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 무게·유지력·응답·누설·소음·소비전력·정비비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가변 순응성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탄성 요소·장력 제어, 필요 시 잠금 기구 (가변 강성)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접촉 충격 완화와 조작 토크 유지의 균형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감각부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손끝·손바닥 접촉센서, 관절·장력 센서, 손목 6축 힘·토크 센서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물·기름·열·오염 조건 편차와 재교정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접촉부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교체형 패드·외피, 용도별 재질 분리 (주방: 세척·내열·식품 접촉 / 산업: 내마모·내유)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미끄럼·마모·세척·재질 적합성 시험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장착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공통 손목 모듈·플랜지 어댑터·TCP 보정·통신 드라이버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2종 실제 통합, 이식성 측정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874519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하중 설계 예시 (계산 예)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321040" y="2203703"/>
            <a:ext cx="318485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321040" y="2313432"/>
            <a:ext cx="3184855" cy="201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3kg 냄비, 무게중심 0.20m: 정적 모멘트 약 5.9 N·m (가속·충격 시 증가), 큰 냄비는 양손·거치대 보조</a:t>
            </a:r>
          </a:p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산업 예: 소재 1.5kg, 무게중심 0.10m에서 약 1.5 N·m</a:t>
            </a:r>
          </a:p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팬 손잡이·노브 조작 토크는 대상 도구·가전 실측 후 사양 확정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손의 파지 하중 ≠ 로봇 팔 가반하중 (손·어댑터·도구 합산)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515002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제어 구조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4844186"/>
            <a:ext cx="318485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321040" y="4953914"/>
            <a:ext cx="3184855" cy="956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비전: 도구·용기·조작부 위치와 상태</a:t>
            </a:r>
          </a:p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촉각: 접촉·미끄러짐 / 손목 힘센서: 반력·토크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학습 기반 모델은 상위 작업 선택에 활용, 힘·속도·안전 한계는 독립 제어 계층에서 보장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공통 제어기·손목 모듈은 유지하고 접촉부만 용도별로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성능 지표와 시험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파지 성공률이 아닌 작업 완료 기준 · 모든 수치는 목표이며 실적 아님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10817352" cy="3423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80360"/>
                <a:gridCol w="2240280"/>
                <a:gridCol w="2514600"/>
                <a:gridCol w="3182112"/>
              </a:tblGrid>
              <a:tr h="3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지표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12개월 목표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목표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 정의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대상 작업 완료율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(집게·팬·용기·노브·버튼·문)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작업별 벤치 반복 시연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작업 95% 이상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최초 시도·재시도·중단 분리 보고, 신뢰구간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등록 물체 집기·투입 (재료·용기·도구)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10종, 95% 이상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20종, 98% 이상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종별 100회, 낙하 없이 투입 완료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문·노브·버튼 조작 (가전·조작부)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가전 2종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4종, 완료율 95% 이상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조작력·작업 시간 함께 보고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 하중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원통 물체 1kg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동일 조건 2kg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자세·속도·모멘트 한계 명시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내구성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개폐 10만 회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30만 회 (양산 목표 100만 회)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하중·패드 교체 주기·힘 저하율 명시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이식성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A 기준 기록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B 재사용 검증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엔지니어링 시간·완료율·재사용 모듈 비중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재사용률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 체계 수립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M12부터 측정, 상승 추세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고객 적용 시 그대로 쓴 모듈 비중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개입·메뉴 전환 시간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기존 수치 확보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수치 대비 감소 (PoC 측정)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재료 보충·복구 포함, 임의 목표치 없음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8C919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 트랙 (점검 제외)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스크루드라이버 저토크 체결 데모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썰기·유연체 등 고난도 작업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Seed 성공 조건이 아닌 기술 트랙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수치는 기존 계획(머신텐딩 기준)을 주방 작업에 그대로 적용 · 속도·위생·온도 지표는 PoC 설계 시 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적용 장면 (콘셉트 렌더링)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검증 대상 주방 작업을 하나의 핸드로 수행하는 장면 예시 · 실제 시험 장면 아님</a:t>
            </a:r>
          </a:p>
        </p:txBody>
      </p:sp>
      <p:pic>
        <p:nvPicPr>
          <p:cNvPr id="5" name="Picture 4" descr="lx_pick_light_280x162_50_50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2567863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29000"/>
            <a:ext cx="2567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1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재료 집기</a:t>
            </a:r>
          </a:p>
        </p:txBody>
      </p:sp>
      <p:pic>
        <p:nvPicPr>
          <p:cNvPr id="7" name="Picture 6" descr="lx_lid_light_280x162_50_50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543" y="1874519"/>
            <a:ext cx="2567863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36543" y="3429000"/>
            <a:ext cx="2567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2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용기 열기</a:t>
            </a:r>
          </a:p>
        </p:txBody>
      </p:sp>
      <p:pic>
        <p:nvPicPr>
          <p:cNvPr id="9" name="Picture 8" descr="lx_drop_light_280x162_50_50_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287" y="1874519"/>
            <a:ext cx="2567863" cy="1481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7287" y="3429000"/>
            <a:ext cx="2567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3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팬에 투입</a:t>
            </a:r>
          </a:p>
        </p:txBody>
      </p:sp>
      <p:pic>
        <p:nvPicPr>
          <p:cNvPr id="11" name="Picture 10" descr="lx_tongs_light_280x162_50_50_1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031" y="1874519"/>
            <a:ext cx="2567863" cy="1481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38031" y="3429000"/>
            <a:ext cx="2567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4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집게 사용</a:t>
            </a:r>
          </a:p>
        </p:txBody>
      </p:sp>
      <p:pic>
        <p:nvPicPr>
          <p:cNvPr id="13" name="Picture 12" descr="lx_stir_light_280x162_50_50_1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58768"/>
            <a:ext cx="2567863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413248"/>
            <a:ext cx="2567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5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국자로 젓기</a:t>
            </a:r>
          </a:p>
        </p:txBody>
      </p:sp>
      <p:pic>
        <p:nvPicPr>
          <p:cNvPr id="15" name="Picture 14" descr="lx_knob_light_280x162_50_50_1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6543" y="3858768"/>
            <a:ext cx="2567863" cy="1481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36543" y="5413248"/>
            <a:ext cx="2567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6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노브 조작</a:t>
            </a:r>
          </a:p>
        </p:txBody>
      </p:sp>
      <p:pic>
        <p:nvPicPr>
          <p:cNvPr id="17" name="Picture 16" descr="lx_plate_light_280x162_50_50_10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7287" y="3858768"/>
            <a:ext cx="2567863" cy="1481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87287" y="5413248"/>
            <a:ext cx="2567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7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플레이팅</a:t>
            </a:r>
          </a:p>
        </p:txBody>
      </p:sp>
      <p:pic>
        <p:nvPicPr>
          <p:cNvPr id="19" name="Picture 18" descr="pro_tongs_light_280x162_50_50_10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8031" y="3858768"/>
            <a:ext cx="2567863" cy="14813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38031" y="5413248"/>
            <a:ext cx="2567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8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상업용 주방 라인 (집게)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1~7 가정·프리미엄 주방, 8 상업용 주방 · 툴 교체 최소화는 목표이며 미검증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산업 검증 트랙: 머신텐딩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주 시장이 아닌 시험장 · 높은 반복 조건에서 핸드의 기본 성능을 검증</a:t>
            </a:r>
          </a:p>
        </p:txBody>
      </p:sp>
      <p:pic>
        <p:nvPicPr>
          <p:cNvPr id="5" name="Picture 4" descr="s1_door_color_light_209x145_50_50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1914144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273552"/>
            <a:ext cx="1914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1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문 열기</a:t>
            </a:r>
          </a:p>
        </p:txBody>
      </p:sp>
      <p:pic>
        <p:nvPicPr>
          <p:cNvPr id="7" name="Picture 6" descr="s2_pick_color_light_209x145_50_50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248" y="1874519"/>
            <a:ext cx="1914144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6248" y="3273552"/>
            <a:ext cx="1914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2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소재 집기</a:t>
            </a:r>
          </a:p>
        </p:txBody>
      </p:sp>
      <p:pic>
        <p:nvPicPr>
          <p:cNvPr id="9" name="Picture 8" descr="s3_load_color_light_209x145_50_50_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696" y="1874519"/>
            <a:ext cx="1914144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06696" y="3273552"/>
            <a:ext cx="1914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3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기계에 넣기</a:t>
            </a:r>
          </a:p>
        </p:txBody>
      </p:sp>
      <p:pic>
        <p:nvPicPr>
          <p:cNvPr id="11" name="Picture 10" descr="s4_press_color_light_209x145_50_50_1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57600"/>
            <a:ext cx="1914144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056632"/>
            <a:ext cx="1914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4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버튼 누르기</a:t>
            </a:r>
          </a:p>
        </p:txBody>
      </p:sp>
      <p:pic>
        <p:nvPicPr>
          <p:cNvPr id="13" name="Picture 12" descr="s5_unload_color_light_209x145_50_50_1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6248" y="3657600"/>
            <a:ext cx="1914144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6248" y="5056632"/>
            <a:ext cx="1914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5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완성품 꺼내기</a:t>
            </a:r>
          </a:p>
        </p:txBody>
      </p:sp>
      <p:pic>
        <p:nvPicPr>
          <p:cNvPr id="15" name="Picture 14" descr="s6_close_color_light_209x145_50_50_1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6696" y="3657600"/>
            <a:ext cx="1914144" cy="1325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6696" y="5056632"/>
            <a:ext cx="1914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6  </a:t>
            </a: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문 닫기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공작기계 소재 투입·배출 6단계 (콘셉트 렌더링)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19"/>
            <a:ext cx="4327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78040" y="2203703"/>
            <a:ext cx="432785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178040" y="2313432"/>
            <a:ext cx="4327855" cy="942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파지·문 개폐·버튼·레버·노브·토크·반복성·산업 내구성을 높은 반복 조건에서 시험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같은 핸드·제어 소프트웨어·기본 조작(열기·집기·누르기·돌리기)을 주방 작업 개발에 재사용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38753"/>
            <a:ext cx="4327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사업상 위치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78040" y="3767937"/>
            <a:ext cx="432785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7178040" y="3877665"/>
            <a:ext cx="4327855" cy="942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기존 계획의 산업 PoC·판매는 5개년 기본 계획에 포함 (주방·산업 비중은 PoC 후 재산정)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스크루드라이버 저토크 체결은 상용 작업이 아닌 기술 데모 (연구 트랙)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002987"/>
            <a:ext cx="4327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이전 사업계획 대비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40" y="5332171"/>
            <a:ext cx="4327855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178040" y="5441899"/>
            <a:ext cx="4327855" cy="2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첫 시장이던 머신텐딩을 검증 트랙으로 조정, 내용은 보존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경쟁사 상세: 전용 자동화 · 그리퍼 · 다른 핸드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공개 정보 기반 정성 비교, 독립 비교시험 아님 · 회사명은 범주 예시이며 우열을 주장하지 않음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55648"/>
          <a:ext cx="10817351" cy="31604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5897880"/>
                <a:gridCol w="1463040"/>
                <a:gridCol w="1856231"/>
              </a:tblGrid>
              <a:tr h="28453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범주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사례 (공개 정보)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강점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확장 관점 한계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12499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전용 조리 자동화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Moley Robotics: 천장 레일 양팔 로봇 주방·전용 조리도구 (약 13.4만~34만 달러, 2021)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Miso Robotics Flippy: 튀김 스테이션 전용 로봇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에니아이 알파그릴: 패티 조리 시간당 200장 이상, 국내 버거 브랜드 공급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로보아르테: 협동로봇 1대 치킨 조리 (Series A 75억 원, 2022)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삼성웰스토리: 급식 사업장 국·볶음·면·튀김 조리로봇 (2023~)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Chef Robotics: 식품 공장 밀 조립 (Series A 4,310만 달러, 2025)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특정 메뉴·작업 최적화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상용 운영 사례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메뉴·공정마다 추가 장비·설비·통합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7762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산업용 그리퍼 · EOAT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평행·진공·맞춤 EOAT, Robotiq 적응형 그리퍼 등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저가·고신뢰·통합 용이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사람용 도구·손잡이·노브 조작 제한, 툴 체인저 필요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6707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소프트·다지 핸드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qb SoftHand Industry · Shadow · Allegro · Tesollo · Sharpa · Tesla·Figure 자체 개발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형상 적응·고자유도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토크·강성 전환 제한 또는 비용·내구성, 연구·휴머노이드 중심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7762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당사 SoftHand (목표)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사람용 주방 도구 조작 + 재사용 작업 소프트웨어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미검증, Seed 기간 동일 조건 비교시험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062423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로봇·가전 기업이 직접 만든다면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5355031"/>
          <a:ext cx="10820095" cy="85359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10088575"/>
              </a:tblGrid>
              <a:tr h="28453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관찰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Tesla·Figure는 손 내재화, 다수 로봇 제조사는 그리퍼 파트너 의존, NVIDIA 레퍼런스 휴머노이드(2026.6)는 외부 촉각 핸드 채택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8453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해석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로봇·가전 기업은 경쟁자이자 판매 채널, 단일 기업은 여러 브랜드에서 쓰는 작업 소프트웨어를 만들기 어려움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8453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대응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무관 통합, 로봇 2종 이식성 검증, 로봇·가전 기업 협력 우선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출처: 부록 A17 · Moley 사진은 저작권 확인 전 사용하지 않음 (본 자료 이미지는 자체 콘셉트 렌더링)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시장 근거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공식 통계와 공개 보도 기준 · 시장조사기관 전망은 편차가 커서 범위로 표기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17352" cy="349772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6400800"/>
                <a:gridCol w="2953512"/>
              </a:tblGrid>
              <a:tr h="30281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0281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주방 규모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숙박·음식점업 사업체 861,863개, 종사자 2,293,381명 (2023, 전년 대비 +0.4%, +3.5%)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통계청 전국사업체조사 (2024.9 잠정)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9590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인력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조리·식당 서비스 인력 부족률, 2023년 코로나19 이전 대비 약 2배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외식업체 952곳 중 27.6% 인력난 응답 (2023)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한국외식산업연구원·고용노동부 자료 (헤럴드경제, 2025.5)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9590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학교 급식 실증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부산교육청, 서비스로봇 실증사업으로 3개교에 튀김·볶음·국 조리로봇 도입 (2025)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솥 앞 작업시간 평균 69%, 근력 작업 횟수 72% 감소, 확대 도입 긍정 응답 90% 이상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서울신문 등 (2025.12)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1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급식 위탁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삼성웰스토리, 2023년 조리로봇 코너 도입, 국·탕·볶음·면·튀김 조리로봇을 공정별 배치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인사이트코리아 등 보도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1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해외 운영자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 외식 운영자 49%: 인력 대응 기술·자동화가 2025년 자기 업종에서 더 보편화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NRA (Restaurant Dive, 2025)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9590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시장 전망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글로벌 식품 로봇 18.1억 달러 (2023) → 68.1억 달러 (2030), 연 20.6%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기관 2030년 전망 49.7억 달러 (식품 제조·포장 포함 광의)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Grand View Research · The Business Research Company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9590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 사례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Chef Robotics Series A 4,310만 달러 (2025, 지분 2,060만 + 장비 금융 2,250만 달러)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로보아르테 Series A 75억 원 (2022)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AgFunderNews · 파이낸셜뉴스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1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보급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산업용 로봇 가동 약 500만 대, 2025년 신규 60만 대 이상 · 한국 로봇 밀도 1,220대/직원 1만 명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IFR (2026)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국내 주방 로봇 시장 규모는 공식 통계 부재로 미제시 · 국내 수요는 고객 인터뷰 30곳으로 검증 예정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로봇 기술 동향: 판단·시각·로봇 팔은 상용화, 현실 조작은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각 수치는 출처 발표 기준이며 독립 검증 아님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10817352" cy="324916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325880"/>
                <a:gridCol w="7114032"/>
              </a:tblGrid>
              <a:tr h="39441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 (출처·시점)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61508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· AI 모델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빠르게 발전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Gemini Robotics 1.5 (2025.9) · NVIDIA Isaac GR00T N1.6 (2026.1) · Physical Intelligence 기업가치 56억 달러 (2025.11)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9441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시각 · 연산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상용 수준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NVIDIA Jetson AGX Thor: 2,070 FP4 TFLOPS, 이전 세대 대비 AI 연산 7.5배 (2025.8)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9441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팔·휴머노이드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대규모 보급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산업용 로봇 가동 약 500만 대, 연 60만 대 이상 설치 (IFR, 2026.9) · Figure 기업가치 390억 달러 (2025.9)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83576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 · 현실 세계 조작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남은 과제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"The forearm and hand are more difficult than the entire rest of the robot." Elon Musk, Tesla 2025년 3분기 실적 발표 (2025.10)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NVIDIA 레퍼런스 휴머노이드(2026.6) 외부 촉각 핸드 채택 · Figure 03 촉각 손끝 (3g 감지, 2025.10)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61508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자본 유입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로보틱스 스타트업 투자 2025년 150억 달러 (사상 최대), 2026년 상반기 188억 달러 (Crunchbase News, 2026.6)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07176"/>
            <a:ext cx="10820095" cy="20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해석: AI 모델·시각·로봇 팔이 상용화되면서 사람용 물체·도구·조작부를 다루는 손과 조작 소프트웨어가 남은 과제, 주방은 도구·형상·힘 조절이 가장 다양한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출처: 부록 A17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수익 모델 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모든 가격·원가·마진은 검증 전 가정 · 기존 계획의 수치를 그대로 유지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10817352" cy="351556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2651760"/>
                <a:gridCol w="3108960"/>
                <a:gridCol w="1691640"/>
                <a:gridCol w="2176272"/>
              </a:tblGrid>
              <a:tr h="37612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매출원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과금 단위·가정 가격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매출총이익률 가정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9679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초기 (Seed)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유료 PoC (주방 중심, 산업 검증 트랙 포함)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건당 5,000만 원 (8~12주, 대여 핸드 포함)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지불의사 검증·고객 기존 수치 확보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7612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초기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통합 엔지니어링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프로젝트당 4,000만 원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진입 수단, 비중 축소 목표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9679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초기~중기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SoftHand 하드웨어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 패키지 1,500만 원 (직판)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1,200만 원 (파트너 순매출)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 950만 → 750만 원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BOM·공급사 확정 후 재산정 (M18)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9679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초기~중기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작업 소프트웨어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핸드당 300만 원 (파트너 240만 원)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핸드당 1.0 → 1.6개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85%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작업 단위 판매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7612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중기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제어 SW·유지보수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핸드당 연 150만 원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70%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기반 반복 매출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9679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로봇·가전 기업 제품 탑재, 라이선스, 빌트인 협력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출하량·설치량 연동 </a:t>
                      </a:r>
                      <a:r>
                        <a:rPr sz="120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[협의 후 검증]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계획 미반영 (추가 성장 요인)</a:t>
                      </a:r>
                    </a:p>
                  </a:txBody>
                  <a:tcPr marL="73152" marR="73152" marT="73152" marB="7315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07176"/>
            <a:ext cx="10820095" cy="20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주방 고객의 가격 수용성은 유료 PoC에서 검증 · 통합 매출은 장기 모델이 아닌 진입·제품화 수단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5개년 손익 상세 (기본 계획)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단위: 억 원 · 대규모 주방 체인·로봇 OEM·가정용 매출 제외 · 1년차 = 투자 집행 첫해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47088"/>
          <a:ext cx="7086600" cy="41121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14600"/>
                <a:gridCol w="914400"/>
                <a:gridCol w="914400"/>
                <a:gridCol w="914400"/>
                <a:gridCol w="914400"/>
                <a:gridCol w="914400"/>
              </a:tblGrid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유료 PoC / 통합 (건)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/ 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 / 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/ 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 / 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 / 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핸드 (대) 직판 / 파트너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 / 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 / 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 / 12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 / 50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 / 120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핸드 누적 (대)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매출: 유료 PoC·통합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매출: SoftHand 하드웨어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매출: 작업 소프트웨어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매출: 제어 SW·유지보수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매출: 파트너 판매 (하드웨어+SW)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총매출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매출총이익 (이익률)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 (40%)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 (42%)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5.0 (44%)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12.0 (48%)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23.6 (53%)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영업손익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−7.5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−8.9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−9.5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−7.5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−0.1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매출 비중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86%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83879" y="1847088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민감도 (5년차)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83879" y="2176272"/>
            <a:ext cx="3322016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83879" y="2286000"/>
          <a:ext cx="3322014" cy="189148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74519"/>
                <a:gridCol w="1447495"/>
              </a:tblGrid>
              <a:tr h="52344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판매량 −30% (3~5년차)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 31.4억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영업손익 −7.1억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핸드 원가 절감 지연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영업손익 −3.1억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2344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파트너 채널 1년 지연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 32.3억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영업손익 −6.4억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2344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판매량 −50%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 22.4억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영업손익 −11.9억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83879" y="4406087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산정 기준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83879" y="4735271"/>
            <a:ext cx="3322016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183879" y="4844999"/>
            <a:ext cx="3322015" cy="1411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운영비 1·2년차 = Seed 24개월 집행 계획 (A12)</a:t>
            </a:r>
          </a:p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3~5년차 = 평균 인원 14·19·23명 × 1인 연 0.72~0.76억 + 비인건비 4.5~6.2억</a:t>
            </a:r>
          </a:p>
          <a:p>
            <a:pPr algn="l" marL="164592" indent="-164592">
              <a:lnSpc>
                <a:spcPct val="100000"/>
              </a:lnSpc>
              <a:spcAft>
                <a:spcPts val="400"/>
              </a:spcAft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매출원은 분야 무관 가정, 주방·산업 비중은 PoC 후 재산정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미반영 상승 요인은 본문 10장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인건비·자금 사용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18개월 핵심 운영 + 6개월 연장 · 정부지원금·공동개발비 미반영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핵심 인력 채용 계획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194560"/>
          <a:ext cx="4754880" cy="302869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14600"/>
                <a:gridCol w="822960"/>
                <a:gridCol w="1417320"/>
              </a:tblGrid>
              <a:tr h="3028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합류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인건비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028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· 사업/제품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1.15억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CTO · 핸드 메카트로닉스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1.15억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기구·구동 엔지니어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1.54억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제어·임베디드 엔지니어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1.48억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SW·작업 소프트웨어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1.34억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 통합 엔지니어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1.14억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비전·조작 AI 엔지니어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1.01억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설계·품질 엔지니어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0.81억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8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 · 8명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9.6억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31469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창업자 연 5,000만 원, 엔지니어 연 7,000만 원 + 4대보험·퇴직충당 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847088"/>
            <a:ext cx="5608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자금 사용 계획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97880" y="2194560"/>
          <a:ext cx="5608015" cy="323097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96335"/>
                <a:gridCol w="1097280"/>
                <a:gridCol w="914400"/>
              </a:tblGrid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금액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비중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인건비 (8명)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9.6억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시제품·내구 시험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2.7억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2종·주방/산업 시험 설비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실증·현장 통합 (비청구)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소프트웨어·데이터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제조·품질·안전·지재권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환경 벤치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 (임차·법무·회계·보험·출장)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예비비·운전자본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72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20.0억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97880" y="5562701"/>
            <a:ext cx="56080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손익 연결  </a:t>
            </a: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운영비(예비비 제외) 1년차 7.7억 + 2년차 10.6억 = 18.3억</a:t>
            </a:r>
          </a:p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집행 구조  </a:t>
            </a: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18개월 핵심 운영 13.4억 + 6개월 연장 5.0억 + 예비비 1.7억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매출이 없어도 24개월 운영, 예비비 잔존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A12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데이터 축적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현재 보유 데이터 없음 · 설치 대수가 늘면 실제 주방 작업 데이터가 쌓이는 구조 (계획)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10820095" cy="307543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8442655"/>
              </a:tblGrid>
              <a:tr h="39441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83576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Seed 수집 계획 (목표)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도구·용기·조작부 30종 이상, 시도 1만 회 이상, 영상·촉각·힘·관절 시간 동기화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 원인 라벨링: 미끄러짐·위치 오차·재파지·힘 보정·복구 행동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물체·세션·주방 단위로 나눠 검증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9441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활용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작업 소프트웨어 개선, 실패 복구 기능, 새 도구·메뉴 적용 시간 단축 (목표)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83576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권리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데이터의 수집·학습·재사용 범위를 계약으로 분리 합의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레시피·운영 정보는 고객 자산으로 보호, 작업 개선용 일반화 데이터만 회사 자산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가정용은 영상·개인정보 최소 수집 원칙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61508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함께 쌓이는 역량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소프트-리지드 하이브리드 구조, 교체형 접촉부, 강성 전환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힘·미끄러짐 기반 도구·조작부 제어, 주방 현장 통합·PoC 운영 경험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07176"/>
            <a:ext cx="10820095" cy="20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목표는 성공 영상이 아닌 "어떤 상황에서 실패했고 어떻게 복구했는가"의 기록 · 데이터는 작업 소프트웨어 재사용과 이식성 검증 이후에 강조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A13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장기 확장 경로: 단독 구매에서 기본 탑재로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건설사는 핵심 시장이 아닌 장기 유통·탑재 채널 · 현재 확인된 협업 없음 · 기본 계획 미반영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6766560" cy="21753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2834640"/>
                <a:gridCol w="1828800"/>
                <a:gridCol w="914400"/>
              </a:tblGrid>
              <a:tr h="3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형태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협력 대상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시기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966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단독형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별도로 구매해 설치하는 주방 로봇 (협동로봇 + SoftHand)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상업용 주방 · 가정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Seed~중기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966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 연동형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오븐·인덕션·냉장고 등 가전과 연동해 작업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 기업 · 스마트홈 플랫폼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966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빌트인형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설계 단계부터 로봇 설치 공간·전원·통신을 반영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건설사 · 디벨로퍼 · 호텔 · 시니어 주거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</a:t>
                      </a:r>
                    </a:p>
                  </a:txBody>
                  <a:tcPr marL="73152" marR="73152" marT="82296" marB="8229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36986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활용 공간 (장기 가능성)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4699050"/>
            <a:ext cx="6766560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480877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아파트 · 프리미엄 레지던스 · 시니어 주거 · 호텔 · 서비스드 레지던스</a:t>
            </a:r>
          </a:p>
        </p:txBody>
      </p:sp>
      <p:pic>
        <p:nvPicPr>
          <p:cNvPr id="9" name="Picture 8" descr="lx_wide_light_398x246_50_50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920240"/>
            <a:ext cx="3642055" cy="22580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4251466"/>
            <a:ext cx="36420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빌트인 주방 콘셉트 렌더링 (장기 가능성)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관련 네트워크·협의가 있다면 실제 정보로 기재, 없으면 가능성으로만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안전·위생·인증·지재권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인증·권리 확보 전에는 적합성·독자성을 주장하지 않음 · 표준은 적용 검토 대상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3393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안전 (주방·산업)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203703"/>
            <a:ext cx="3393338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2313432"/>
            <a:ext cx="3393338" cy="19661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6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소프트 핸드를 달아도 셀 전체가 자동으로 안전해지지 않음, 칼·고온·사람 근접을 포함한 통합 위험성 평가</a:t>
            </a:r>
          </a:p>
          <a:p>
            <a:pPr algn="l" marL="164592" indent="-164592">
              <a:lnSpc>
                <a:spcPct val="100000"/>
              </a:lnSpc>
              <a:spcAft>
                <a:spcPts val="6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상업용 주방·산업 셀: ISO 10218-2:2025 (로봇 응용·셀 안전) 적용 검토</a:t>
            </a:r>
          </a:p>
          <a:p>
            <a:pPr algn="l" marL="164592" indent="-164592">
              <a:lnSpc>
                <a:spcPct val="100000"/>
              </a:lnSpc>
              <a:spcAft>
                <a:spcPts val="6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가정용: ISO 13482 (개인 돌봄 로봇 안전) 등 적용 검토, 사람 근접 시 속도·힘 제한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고온 도구·칼·튀김: 차폐·접근 제한·독립 인터록 충족 전 기능 비활성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1874519"/>
            <a:ext cx="3393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위생 (주방)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99178" y="2203703"/>
            <a:ext cx="3393338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399178" y="2313432"/>
            <a:ext cx="3393338" cy="1543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6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식품 접촉 재질: 국내 「기구 및 용기·포장의 기준 및 규격」(식약처), 해외 NSF/ANSI 51 등 판매국 기준을 시험기관과 결정</a:t>
            </a:r>
          </a:p>
          <a:p>
            <a:pPr algn="l" marL="164592" indent="-164592">
              <a:lnSpc>
                <a:spcPct val="100000"/>
              </a:lnSpc>
              <a:spcAft>
                <a:spcPts val="6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교체형 접촉부·외피, 세척·건조 절차, 밀봉 구조</a:t>
            </a:r>
          </a:p>
          <a:p>
            <a:pPr algn="l" marL="164592" indent="-164592">
              <a:lnSpc>
                <a:spcPct val="100000"/>
              </a:lnSpc>
              <a:spcAft>
                <a:spcPts val="6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방수·방진 등급(IP) ≠ 위생 적합성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가전·설비 안전 인터록은 우회하지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2556" y="1874519"/>
            <a:ext cx="3393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지재권·영업비밀 (계획)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12556" y="2203703"/>
            <a:ext cx="3393339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112556" y="2313432"/>
            <a:ext cx="3393338" cy="19661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0000"/>
              </a:lnSpc>
              <a:spcAft>
                <a:spcPts val="6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출원 후보: 대향 엄지·관절 순응과 잠금 구조, 교체형 위생 손끝, 밀봉 구조</a:t>
            </a:r>
          </a:p>
          <a:p>
            <a:pPr algn="l" marL="164592" indent="-164592">
              <a:lnSpc>
                <a:spcPct val="100000"/>
              </a:lnSpc>
              <a:spcAft>
                <a:spcPts val="6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출원 후보: 사람용 도구 조작을 위한 핸드-작업 소프트웨어 구조, 로봇 독립 작업 표현, 보정 이식 방법</a:t>
            </a:r>
          </a:p>
          <a:p>
            <a:pPr algn="l" marL="164592" indent="-164592">
              <a:lnSpc>
                <a:spcPct val="100000"/>
              </a:lnSpc>
              <a:spcAft>
                <a:spcPts val="600"/>
              </a:spcAft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영업비밀 후보: 데이터 정제·장력 보정·실패 복구 파라미터</a:t>
            </a:r>
          </a:p>
          <a:p>
            <a:pPr algn="l" marL="164592" indent="-164592">
              <a:lnSpc>
                <a:spcPct val="100000"/>
              </a:lnSpc>
              <a:buClr>
                <a:srgbClr val="8C9198"/>
              </a:buClr>
              <a:buFont typeface="Noto Sans KR"/>
              <a:buChar char="•"/>
            </a:pPr>
            <a:r>
              <a:rPr sz="11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원칙: 선행기술 조사·FTO 후 출원, 그 전에는 비침해·독자성 주장 금지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6446520"/>
            <a:ext cx="78025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현재 확인된 특허 출원 없음 · 예산: 제조·품질·안전·지재권 1.1억 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위험 요인과 대응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08760"/>
          <a:ext cx="10817352" cy="40739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3108960"/>
                <a:gridCol w="4873752"/>
              </a:tblGrid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 요인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사업 영향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대응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순응성과 강성 충돌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팬·노브·문 조작 시 처짐·미끄러짐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골격·잠금 비교시험, 작업 토크별 출시 제한, M6 점검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위생·세척·열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세척 불가·오염 시 주방 도입 불가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교체형 위생 접촉부·밀봉 구조, 식품 접촉 재질 시험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속도·처리량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사람·전용 장비 대비 느리면 경제성 약화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보조 작업부터, PoC에서 처리량·가동률 측정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시장 범위 과대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상업용·가정용·산업 동시 추진으로 실행 분산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Seed는 검증 대상 6종 작업 집중, 가정용은 벤치 검증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과도한 맞춤 개발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낮은 마진, 확장 불가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표준 작업 목록, 비표준 요청 별도 견적, 재사용률 지표, M18 점검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이식성 실패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작업 소프트웨어 재사용 가설 약화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독립 작업 표현, 보정 도구, 로봇 2종 검증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지불의사 부족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 지연, 1차 고객군 오판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유료 PoC 선수금, 기존 수치 측정 계약, M12 점검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안전 (칼·고온·사람 근접)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사고·도입 지연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통합 위험성 평가, 기능 제한, 독립 인터록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로봇·가전 기업 내재화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협력 채널 축소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무관 통합, 여러 브랜드용 작업 소프트웨어, 협력 우선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긴 영업 주기·후속 조달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운전자금 부족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 + 6개월 집행, 예비비, 시리즈 A 조기 착수 (M15~)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창업팀 구성 지연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일정·실행력 저하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공동창업자·핵심 2인 합류를 Seed 클로징 조건으로 설정</a:t>
                      </a:r>
                    </a:p>
                  </a:txBody>
                  <a:tcPr marL="73152" marR="73152" marT="59436" marB="5943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A16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부록 A17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열람 기준 2026-10-06 · 가격·원가·성능·고객 수·일정·매출은 출처 수치가 아닌 본 계획의 가정 · 전체 URL은 수정 보고서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47088"/>
          <a:ext cx="5250027" cy="336001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3192627"/>
                <a:gridCol w="1600200"/>
              </a:tblGrid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번호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도메인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통계청, 2023년 전국사업체조사 결과 (잠정, 2024-09-27)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kostat.go.kr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헤럴드경제, 외식업계 인력난 (2025-05-10)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biz.heraldcorp.com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Restaurant Dive, NRA 2025 labor market·tech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restaurantdive.com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서울신문, 부산 학교 급식실 조리 로봇 (2025-12-30)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seoul.co.kr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인사이트코리아, 삼성웰스토리 급식 조리로봇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insightkorea.co.kr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S6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AI타임스, 에니아이 햄버거 조리 로봇 (2025)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aitimes.com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S7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파이낸셜뉴스, 로보아르테 75억 시리즈A (2022-05-12)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fnnews.com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S8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New Atlas, Moley robotic kitchen (2021)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newatlas.com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S9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The Robot Report, Miso Robotics Flippy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therobotreport.com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AgFunderNews, Chef Robotics $43m Series A (2025)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agfundernews.com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Grand View Research, Food Robotics Market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grandviewresearch.com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577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The Business Research Company, Food Robotics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thebusinessresearchcompany.com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847088"/>
          <a:ext cx="5250027" cy="357149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3192627"/>
                <a:gridCol w="1600200"/>
              </a:tblGrid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번호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도메인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422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S13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BCG, How Physical AI Is Reshaping Robotics Today (2026-04)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bcg.com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S14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IFR, World Robotics 2026 · Robot Density (2026)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ifr.org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Tesla 2025년 3분기 실적 발표 녹취 (2025-10-22)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fool.com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S16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NVIDIA, GR00T N1.6 · 레퍼런스 휴머노이드 (2026)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nvidia.com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S17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CNBC, NVIDIA Jetson AGX Thor (2025-08-25)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cnbc.com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S18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Google DeepMind, Gemini Robotics 1.5 (2025-09)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deepmind.google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S19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Figure, Series C · Figure 03 (2025)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figure.ai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Bloomberg, Physical Intelligence 가치 평가 (2025-11)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bloomberg.com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Crunchbase News, Robotics startup funding (2026-06)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news.crunchbase.com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qbrobotics, qb SoftHand Industry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qbrobotics.com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22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S23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Robotics &amp; Automation News, Tesollo DG-5F-S (2026-03)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roboticsandautomationnews.com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5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S24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ISO 10218-2:2025 · ISO 13482:2014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iso.org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[회사명 입력 필요]  |  투자유치 사업계획서 (Seed)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KR"/>
        <a:ea typeface="Noto Sans K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KR"/>
        <a:ea typeface="Noto Sans K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투자유치 사업계획서 (Seed) · 주방 조리 자동화용 로봇 핸드 SoftHand</dc:title>
  <dc:subject>로봇 핸드와 주방 작업 소프트웨어 개발·사업화 · Seed 20억 원 / 24개월</dc:subject>
  <dc:creator>[회사명 입력 필요]</dc:creator>
  <cp:keywords/>
  <dc:description>generated using python-pptx</dc:description>
  <cp:lastModifiedBy/>
  <cp:revision>1</cp:revision>
  <dcterms:created xsi:type="dcterms:W3CDTF">2026-10-06T09:00:00Z</dcterms:created>
  <dcterms:modified xsi:type="dcterms:W3CDTF">2026-10-06T09:00:00Z</dcterms:modified>
  <cp:category/>
</cp:coreProperties>
</file>