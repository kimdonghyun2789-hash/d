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Installations</c:v>
                </c:pt>
              </c:strCache>
            </c:strRef>
          </c:tx>
          <c:dPt>
            <c:idx val="0"/>
            <c:spPr>
              <a:solidFill>
                <a:srgbClr val="C9CCD1"/>
              </a:solidFill>
            </c:spPr>
          </c:dPt>
          <c:dPt>
            <c:idx val="1"/>
            <c:spPr>
              <a:solidFill>
                <a:srgbClr val="EC7A3C"/>
              </a:solidFill>
            </c:spPr>
          </c:dPt>
          <c:dPt>
            <c:idx val="2"/>
            <c:spPr>
              <a:solidFill>
                <a:srgbClr val="E3E1DC"/>
              </a:solidFill>
            </c:spPr>
          </c:dPt>
          <c:dPt>
            <c:idx val="3"/>
            <c:spPr>
              <a:solidFill>
                <a:srgbClr val="E3E1DC"/>
              </a:solidFill>
            </c:spPr>
          </c:dPt>
          <c:cat>
            <c:strRef>
              <c:f>Sheet1!$A$2:$A$5</c:f>
              <c:strCache>
                <c:ptCount val="4"/>
                <c:pt idx="0">
                  <c:v>2024</c:v>
                </c:pt>
                <c:pt idx="1">
                  <c:v>2025</c:v>
                </c:pt>
                <c:pt idx="2">
                  <c:v>2026F</c:v>
                </c:pt>
                <c:pt idx="3">
                  <c:v>2029F</c:v>
                </c:pt>
              </c:strCache>
            </c:strRef>
          </c:cat>
          <c:val>
            <c:numRef>
              <c:f>Sheet1!$B$2:$B$5</c:f>
              <c:numCache>
                <c:formatCode>General</c:formatCode>
                <c:ptCount val="4"/>
                <c:pt idx="0">
                  <c:v>542</c:v>
                </c:pt>
                <c:pt idx="1">
                  <c:v>603</c:v>
                </c:pt>
                <c:pt idx="2">
                  <c:v>655</c:v>
                </c:pt>
                <c:pt idx="3">
                  <c:v>806</c:v>
                </c:pt>
              </c:numCache>
            </c:numRef>
          </c:val>
        </c:ser>
        <c:dLbls>
          <c:txPr>
            <a:bodyPr/>
            <a:lstStyle/>
            <a:p>
              <a:pPr>
                <a:defRPr sz="1000" b="1">
                  <a:solidFill>
                    <a:srgbClr val="16181B"/>
                  </a:solidFill>
                  <a:latin typeface="Noto Sans KR SemiBold"/>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CDAD5"/>
            </a:solidFill>
          </a:ln>
        </c:spPr>
        <c:txPr>
          <a:bodyPr/>
          <a:lstStyle/>
          <a:p>
            <a:pPr>
              <a:defRPr sz="1000">
                <a:solidFill>
                  <a:srgbClr val="51565E"/>
                </a:solidFill>
                <a:latin typeface="Noto Sans KR"/>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저희는 사람이 쓰도록 만들어진 기존 생산설비를 크게 뜯어고치지 않고, 로봇이 그 설비를 그대로 사용할 수 있게 만드는 회사를 창업하려 합니다. 첫 제품은 SoftHand-4와 Machine Tending Skill Pack입니다. 하나의 Hand로 설비 문 열기, 부품 투입, 레버·버튼 조작, 완성품 배출까지 한 공정을 끝내는 것이 목표입니다. 이 자료는 운영 중인 회사의 성장자금 요청이 아니라, 회사를 설립하고 첫 고객을 확보하기 위한 Founding &amp; Seed 제안서입니다. 요청 금액은 20억원이며, 24개월 안에 기술이 아니라 사업성을 증명하는 계획을 말씀드리겠습니다. 화면의 이미지는 실제 시제품이 아니라 Concept Rendering입니다.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공장에는 문, 손잡이, 레버, 노브, 트레이처럼 사람 손에 맞춰 설계된 Interface가 이미 있습니다. 로봇 본체는 이제 표준 제품이라 사면 됩니다. 문제는 그 다음입니다. 작업마다 Custom Finger, Jig와 Fixture, 설비 개조, 엔지니어링, 티칭, 검증이 추가되고, 제품이나 작업이 바뀌면 이 과정이 반복됩니다. BCG는 2026년 4월 보고서에서 전통적인 로봇 도입 총소유비용의 약 75%가 초기 셋업과 재설계에 묶여 있다고 분석했습니다. 그래서 고객의 진짜 비용은 Robot Hand 가격이 아니라 자동화 전환비용입니다. 다품종·소량 현장일수록 이 비용 때문에 자동화가 성립하지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저희의 핵심 Insight는 단순합니다. 설비를 로봇에 맞게 바꾸는 대신, 로봇이 기존 설비를 사용하게 하자는 것입니다. 기존 방식은 자동문과 공압 액추에이터를 달고, 작업마다 전용 핑거와 지그를 만들고, 툴 체인저로 그리퍼를 바꿉니다. 저희 방식은 문, 손잡이, 레버, 트레이처럼 사람용 Interface를 그대로 사용합니다. 고객이 사는 것은 로봇 손이 아니라 Automation Flexibility이고, SoftHand-4는 그것을 가능하게 하는 하드웨어 Interface입니다. 그리고 이 시장은 이미 존재합니다. IFR에 따르면 2025년 말 전 세계 약 508만 대의 산업용 로봇이 가동 중이고, 2025년에만 60만 대 이상이 새로 설치됐습니다. 한국은 연 3만 대가 설치되는, 로봇밀도 세계 1위 시장입니다. 저희는 휴머노이드를 기다리지 않고 이미 설치된 로봇과 기존 설비에서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사람용 Interface를 쓰려면 손이 두 가지를 동시에 해야 합니다. 잡을 때는 형상 차이와 위치 오차, 미끄러짐을 흡수하는 부드러움이 필요하고, 일할 때는 레버의 토크와 문의 반력, 부품을 넣을 때의 모멘트를 견디는 단단함이 필요합니다. 부드럽기만 한 손은 잘 잡지만 일할 때 처지고, 단단한 그리퍼는 힘은 좋지만 형상에 적응하지 못합니다. 저희 방향은 Soft to Grasp, Rigid to Work입니다. 교체형 탄성 접촉면, 하중을 받는 골격, 손잡이와 레버를 감싸 쥐는 대향 엄지, 작업 순간 강성을 높이는 구조, 촉각과 손목 힘센서 기반 제어입니다. 4지 구조는 Machine Tending 작업에 필요한 최소 구성이며, 부품 수와 비용, 내구성을 우선했습니다. 5지는 Seed 성공조건에서 제외했고 Series A 이후 확장 제품입니다. 구동 방식은 창업 후 3개월 안에 비교시험으로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상용 Wedge는 기존 생산설비를 크게 개조하지 않는 다품종 머신텐딩입니다. 제품은 SoftHand-4와 Machine Tending Skill Pack, 즉 Hand, 컨트롤러, 로봇 어댑터와 문 열기, 부품 투입·배출, 레버·버튼 조작 Skill의 묶음입니다. 머신텐딩을 고른 이유는 세 가지입니다. 첫째, 문과 손잡이, 바이스 레버, 버튼, 트레이처럼 사람용 Interface가 한 Cell에 모여 있어 하나의 Hand가 주는 가치가 가장 크게 드러납니다. 둘째, SKU 변경과 엔지니어링 시간, 사람 개입을 고객의 현재 Baseline과 숫자로 비교할 수 있습니다. 셋째, 이미 SI가 판매하는 Application이라 새로운 시장을 만들 필요 없이 SI 채널로 진입할 수 있습니다. 그리고 원칙이 있습니다. 모든 공구를 Hand로 대체한다고 주장하지 않습니다. 고속 단일 SKU 반복 작업이나 고토크 체결은 전용 툴이 더 싸고 좋습니다. 그래서 Screwdriver는 기술 Demo로 옮겼습니다. Hand를 썼을 때 설비 개조와 End-effector 수가 줄어드는 작업부터 공략합니다. 첫 구매자는 다품종 가공 라인을 운영하는 중견·중소 제조기업의 생산기술팀이고, 도입은 Robot SI를 통해 이뤄진다는 것이 저희 가설이며 창업 후 90일 안에 인터뷰로 검증합니다.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저희 제품 비전을 가장 잘 보여줍니다. 하나의 로봇 팔에 SoftHand-4 하나를 달고, Hand를 바꾸지 않고 한 공정을 끝냅니다. 설비 문을 열고, 소재를 집고, 설비 안에 넣고, 레버나 버튼 같은 기존 Interface를 조작하고, 완성품을 꺼내고, 문을 닫습니다. 여섯 단계지만 문 열기와 닫기는 같은 Skill이므로 다섯 종류의 Task입니다. 기존 방식이라면 그리퍼 두 종과 툴 체인저, 자동문이나 I/O 개조가 필요한 공정입니다. 저희 목표는 1 Hand, 5 Tasks, 0 Hand Changes입니다. 화면은 Concept Workflow이고, 창업 후 6개월 안에 이 대표 Sequence로 반복시험을 하고 단계별 완료율과 사람 개입 시간을 분리해서 보고하겠습니다.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고객에게 1,500만원짜리 로봇 손을 파는 회사가 되려는 것이 아닙니다. 고객이 사는 것은 Automation Flexibility이고, SoftHand-4는 그것을 가능하게 하는 하드웨어 Interface입니다. 고객 가치는 세 가지로 단순화했습니다. 기존 설비 개조를 줄일 가능성, 반복 엔지니어링을 줄일 가능성, 그리고 같은 Hand와 Skill 구조를 다음 작업에서 재사용하는 것입니다. 다만 엔지니어링과 검증이 사라진다고 말하지 않겠습니다. 새 작업에는 기존 Skill 재사용 또는 새 Skill 구성, 캘리브레이션, 검증이 여전히 필요합니다. 얼마나 줄어드는지는 아직 모릅니다. 그래서 숫자를 물음표로 두었습니다. 엔지니어링 시간, 전용 툴링 비용, 통합 리드타임, 사람 개입, 전환 시간을 고객의 현재 Baseline 대비 PoC에서 측정하는 것이 Seed 투자의 Business Experiment입니다. Hand 가격 가정 1,500만원의 비교 대상은 다른 Hand가 아니라, 전용 툴링과 설비 개조, 엔지니어링 비용에 연간 전환 횟수를 곱한 금액입니다. 고객이 실제로 지불하는지는 Paid PoC로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경쟁을 손가락 수나 자유도로 비교하지 않겠습니다. 기준은 실제 작업을 얼마나 적은 설비변경으로 완료하느냐입니다. 전통 그리퍼는 정확하고 싸고 신뢰성이 높지만 특정 작업 중심이라, 작업이 바뀌면 핑거와 지그를 바꾸고 문이나 레버는 설비를 개조해야 합니다. Adaptive Gripper는 다양한 형상을 잘 잡습니다. 그러나 문 손잡이를 감싸 당기거나 레버를 돌리는 것처럼 사람용 Interface를 조작하고 토크를 쓰는 일은 제한적이라, 결국 그 부분은 설비 개조나 추가 End-effector로 해결합니다. 이것이 Adaptive Gripper로 충분하지 않은 이유입니다. Dexterous Hand는 자유도가 높지만 비용과 내구성, 통합 난이도 때문에 주로 연구와 휴머노이드에 쓰입니다. 저희 목표는 기존 Human Interface를 활용해 실제 Task를 끝내는 영역입니다. 아직 증명하지 않았기 때문에 Seed 기간에 동일 조건 비교시험, 완료율, 내구성, 총비용으로 증명하겠습니다.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투자자께서 반드시 물으실 질문이 있습니다. 고객마다 다른 작업을 개발하다가 결국 SI 회사가 되는 것 아니냐는 질문입니다. 이 장이 그 답입니다. 저희는 제품을 다 만든 뒤 고객을 찾지 않습니다. 창업 초기부터 머신텐딩, 다품종 핸들링, 검사·투입이라는 서로 다른 문제를 가진 Design Partner 세 곳과 함께 만듭니다. 아직 확보한 곳은 없으며 목표입니다. 각 고객 프로젝트에서 공통 Task를 추출해 재사용 Skill로 만들고, 검증을 거쳐 Skill Pack으로 묶어 다음 고객에게 판매합니다. 고객이 늘수록 Custom Code가 아니라 Product Library가 쌓입니다. 이를 숫자로 관리하기 위해 재사용률, 즉 신규 고객에 적용할 때 하드웨어, 제어 로직, ToolSkill, 소프트웨어 모듈 중 몇 퍼센트를 그대로 썼는지를 12개월차부터 측정하고, 24개월까지 상승 추세를 확인하겠습니다. 임의의 목표치는 쓰지 않았습니다. Base Case에서도 매출 구성은 Custom Engineering에서 재사용 가능한 제품과 Skill로 이동합니다. 승인된 Task 목록 안에서만 수주하고 비표준 요청은 별도 견적으로 처리하는 것이 SI가 되지 않는 운영 규칙입니다.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 AI Platform이라는 말이 실제 Platform이 되려면 조건이 하나 있습니다. 같은 Skill이 여러 로봇에서 재사용되어야 합니다. 예를 들어 손잡이 열기 Skill은 Grasp 전략, 힘 프로파일, 동작 순서처럼 로봇과 무관한 Task 정의로 만듭니다. 로봇이 바뀌면 로봇 어댑터, TCP, 카메라, 작업공간 캘리브레이션만 다시 맞추고 같은 Task를 수행해야 합니다. 그래서 Seed 24개월 목표로 동일 Task Skill을 최소 두 개의 로봇 플랫폼에서 재사용 검증하겠습니다. 이것은 기술 KPI이면서 동시에 비즈니스 모델 KPI입니다. 솔직하게 말씀드리면, 로봇 브랜드가 바뀔 때마다 처음부터 다시 티칭해야 한다면 저희는 Platform 회사가 아니라 SI에 가깝습니다. 그래서 이것을 Seed 기간에 반드시 검증할 가설로 두고, Platform B 적용 시 추가 엔지니어링 시간과 완료율, 재사용 모듈 비중으로 측정하겠습니다.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시장 진입은 SI가 이끕니다. Seed 기간에는 Robot SI와 Design Partner를 통해 Paid PoC로 들어가고, 매출은 Hand 하드웨어, 유료 PoC, 통합 엔지니어링, Task Skill 패키지입니다. 통합 매출을 숨기지 않겠습니다. 다만 이것은 장기 비즈니스 모델이 아니라 시장 진입과 제품화를 위한 수단입니다. 검증된 Skill Pack이 쌓이면 SI 파트너 네트워크를 통해 판매하고, 매출은 재사용 Skill 패키지와 Runtime·Support로 이동합니다. 결정적인 Scale Trigger는 OEM Design Win입니다. 로봇 OEM이 저희 Hand와 Runtime을 옵션이나 표준 모듈로 탑재하면, 고객 한 곳씩 영업하던 회사가 OEM 출하량에 따라 판매되는 회사로 바뀝니다. OEM 매출은 대상 로봇 출하량 곱하기 옵션 채택률 곱하기 Hand·Runtime 매출 구조이며, 각 숫자는 OEM 협의 후 검증하겠습니다. 현재 단계에서는 수백억, 수천억 같은 매출을 계산하지 않았습니다. OEM이 직접 만들지 않겠느냐는 질문에는, 다수 산업용·협동로봇 OEM은 Arm과 Controller에 집중하고 End-effector는 파트너 생태계에 의존한다는 점, 그리고 여러 브랜드에서 동작하는 Skill은 단일 OEM이 만들기 어렵다는 점에서 OEM은 경쟁자이면서 채널이라고 답하겠습니다.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Robot Kitchen의 역할을 한 문장으로 정리하면, 공장이 사업성을 증명하고 주방이 기술의 확장성을 증명한다는 것입니다. 첫 매출은 공장에서 나옵니다. 반복 공정이라 고객 Baseline 대비 개선을 숫자로 증명할 수 있고, SI 채널과 구매 예산이 이미 있습니다. Base Case 매출은 100% 공장에서 나옵니다. 주방은 문, 서랍, 손잡이, 노브, 팬, 냄비, 집게, 접시, 젖은 표면, 유연한 물체, 변하는 하중이 한 공간에 모여 있는, 사람을 위해 만들어진 환경의 집약체입니다. 그래서 Human-designed Environment를 로봇이 그대로 사용하는 궁극적인 Technology Demonstrator입니다. 다만 Seed 단계에서는 범위를 줄였습니다. 천장 레일 양팔 주방이 아니라, 이미 구매하는 로봇 한 대로 손잡이, 집게, 팬, 접시를 다루는 벤치 스케일 데모만 3천만원 예산으로 만듭니다. 천장형 양팔 Full Kitchen은 Series A 이후의 비전이며, 그 경우에도 로봇 대여나 공동개발 같은 실제 파트너 전제가 생긴 뒤에 진행합니다. 주방을 주력 시장에 두지 않는 이유는 회수기간이 가동률에 크게 좌우되고 위생·안전 요구가 높아, 첫 매출 엔진으로는 검증 속도가 느리기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24개월 계획의 목표는 기술개발 완료가 아니라 사업성 증명입니다. 네 개의 질문에 순서대로 답합니다. 첫 6개월은 기술이 되는가입니다. 법인 설립과 핵심 인력 합류, SoftHand-4 알파, 머신텐딩 대표 Sequence, 고객 인터뷰 30곳과 Design Partner 후보, 반복실험 로그를 만듭니다. 6~12개월은 고객이 돈을 낼 이유가 있는가입니다. 첫 Paid PoC를 하고 고객 Baseline을 확보해 엔지니어링 시간, 툴링 비용, 리드타임을 측정합니다. 12~18개월은 반복 가능한 제품이 되는가입니다. 설계 동결과 BOM, 공급사, 내구성과 제조원가, 첫 반복 주문, 첫 재사용 Skill 패키지, 재사용률 측정, 두 번째 로봇 플랫폼 통합입니다. 마지막 6개월은 확장 가능한가입니다. Paid PoC 5건 이상, 반복 고객 2곳 이상, 여러 재사용 Skill, 두 플랫폼에서의 Skill 이식성, 매출총이익률을 검증하고 Series A를 준비합니다. 주방 데모는 핵심 마일스톤이 아니라 보조 데모입니다. 그리고 실패 조건을 미리 정했습니다. 6개월에 토크와 반복성이 안 나오면 Hand 구조를 재검토하고, 12개월에 지불의사가 없으면 시장과 Task를 다시 정의하고, 18개월에 재사용률이 낮으면 Platform 가설을 재검토하고, 24개월에 반복 주문이 없으면 Series A 확장을 보류합니다. 투자금은 R&amp;D 소비가 아니라 가설검증 자본입니다.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Pre-seed 투자에서 가장 중요한 것은 Founder-Market Fit입니다. 이 장은 이력 나열이 아니라 세 가지 질문에 답해야 합니다. 왜 이 창업자가 이 문제를 발견했는가, 왜 이 창업자와 팀이 이 제품을 만들 수 있는가, 왜 이 팀이 첫 고객을 확보할 수 있는가입니다. [이 부분은 창업자의 실제 이력으로 채워야 합니다. Robot, Automation, Manufacturing, AI, 기구, 현장 통합, 고객 네트워크 중 사업과 직접 연결되는 경험만 고르고, 풀타임 여부, 자기자본 투자, 공동창업자, 프로토타입 경험, 연구실적, 특허, 고객 네트워크, 첫 Design Partner 후보, 현재 직장 정리 계획을 기재합니다. 정보가 없으면 만들지 않고 비워둡니다.] Seed 기간에는 창업자 2명과 기구·구동, 제어·임베디드, 로봇 소프트웨어·Skill, 현장 통합, 비전·AI, DFM·품질 엔지니어 6명을 단계적으로 채용합니다.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요청 금액은 Seed 20억원입니다. 이 돈은 시제품 하나를 만드는 개발비가 아니라, 기술 컨셉을 회사로 만드는 자금입니다. 집행은 18개월 Core Runway와 6개월 Milestone Extension으로 나눴습니다. 18개월까지 약 13.4억원으로 설계 동결과 첫 반복 주문까지 가고, 18개월 Gate를 통과하면 나머지 6개월 5.0억원을 집행합니다. 예비비 1.7억원은 매출이 0원이어도 24개월을 버틸 수 있게 하는 완충입니다. 인건비는 창업자 2명을 포함해 8명을 단계적으로 채용하는 기준으로 약 9.6억원, 전체의 48%입니다. 기존 계획의 개발인력 9억원은 시장 수준 연봉과 4대보험, 퇴직충당을 넣으면 빠듯해 현실적으로 다시 계산했습니다. 정부지원금과 공동개발비는 확정되지 않았기 때문에 기본 재원에 넣지 않았습니다. 24개월 후 Series A를 받을 수 있는 숫자는 Paid PoC 5건 이상, 반복 고객 2곳 이상, 승인 Task 완료율 95% 이상, 내구성 30만 회, 두 개 로봇 플랫폼에서의 Skill 이식성, 재사용률 상승 추세, BOM 기반 하드웨어 마진입니다. 밸류에이션과 지분 조건은 협의하겠습니다.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정리하겠습니다. One Hand, Many Tools. 저희는 기존 생산설비에서 시작합니다. 하나의 Hand로 여러 Task를 수행하고, 고객 프로젝트를 재사용 가능한 Skill로 제품화하고, 같은 Skill을 여러 로봇에서 쓸 수 있음을 증명합니다. 그 다음 로봇 OEM으로 확장해 Physical AI의 Manipulation Layer가 되는 것이 장기 목표입니다. 보고 판단하는 로봇의 두뇌와 눈, 몸은 빠르게 발전했지만, 실제 세상을 다루는 손은 여전히 가장 어려운 문제로 남아 있습니다. 저희는 완성된 회사의 성장자금이 아니라 이 회사를 시작하기 위한 Seed 20억원을 요청드립니다. 24개월 안에 제품, 유료 고객, 반복 발주, 그리고 재사용성을 증명하겠습니다.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 Id="rId6" Type="http://schemas.openxmlformats.org/officeDocument/2006/relationships/image" Target="../media/image10.jpg"/><Relationship Id="rId7" Type="http://schemas.openxmlformats.org/officeDocument/2006/relationships/image" Target="../media/image11.jp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14.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pic>
        <p:nvPicPr>
          <p:cNvPr id="2" name="Cover rendering" descr="cover_fullbleed.jpg"/>
          <p:cNvPicPr>
            <a:picLocks noChangeAspect="1"/>
          </p:cNvPicPr>
          <p:nvPr/>
        </p:nvPicPr>
        <p:blipFill>
          <a:blip r:embed="rId2"/>
          <a:stretch>
            <a:fillRect/>
          </a:stretch>
        </p:blipFill>
        <p:spPr>
          <a:xfrm>
            <a:off x="0" y="0"/>
            <a:ext cx="12191695" cy="6858000"/>
          </a:xfrm>
          <a:prstGeom prst="rect">
            <a:avLst/>
          </a:prstGeom>
        </p:spPr>
      </p:pic>
      <p:sp>
        <p:nvSpPr>
          <p:cNvPr id="3" name="Placeholder"/>
          <p:cNvSpPr/>
          <p:nvPr/>
        </p:nvSpPr>
        <p:spPr>
          <a:xfrm>
            <a:off x="548640" y="411480"/>
            <a:ext cx="1920240" cy="292608"/>
          </a:xfrm>
          <a:prstGeom prst="roundRect">
            <a:avLst>
              <a:gd name="adj" fmla="val 1875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91440" rIns="91440" tIns="18288" bIns="18288">
            <a:noAutofit/>
          </a:bodyPr>
          <a:lstStyle/>
          <a:p>
            <a:pPr algn="ctr">
              <a:lnSpc>
                <a:spcPct val="105000"/>
              </a:lnSpc>
            </a:pPr>
            <a:r>
              <a:rPr sz="950" b="0" i="0">
                <a:solidFill>
                  <a:srgbClr val="E8B649"/>
                </a:solidFill>
                <a:latin typeface="Noto Sans KR Medium"/>
                <a:ea typeface="Noto Sans KR Medium"/>
                <a:cs typeface="Noto Sans KR Medium"/>
              </a:rPr>
              <a:t>[회사명 입력 필요]</a:t>
            </a:r>
          </a:p>
        </p:txBody>
      </p:sp>
      <p:sp>
        <p:nvSpPr>
          <p:cNvPr id="4" name="Kicker"/>
          <p:cNvSpPr txBox="1"/>
          <p:nvPr/>
        </p:nvSpPr>
        <p:spPr>
          <a:xfrm>
            <a:off x="548640" y="1371600"/>
            <a:ext cx="6400800" cy="274320"/>
          </a:xfrm>
          <a:prstGeom prst="rect">
            <a:avLst/>
          </a:prstGeom>
          <a:noFill/>
        </p:spPr>
        <p:txBody>
          <a:bodyPr wrap="square" lIns="0" rIns="0" tIns="0" bIns="0" anchor="t">
            <a:noAutofit/>
          </a:bodyPr>
          <a:lstStyle/>
          <a:p>
            <a:pPr algn="l">
              <a:lnSpc>
                <a:spcPct val="112000"/>
              </a:lnSpc>
            </a:pPr>
            <a:r>
              <a:rPr sz="1100" b="0" i="0" spc="200">
                <a:solidFill>
                  <a:srgbClr val="EC7A3C"/>
                </a:solidFill>
                <a:latin typeface="Noto Sans KR SemiBold"/>
                <a:ea typeface="Noto Sans KR SemiBold"/>
                <a:cs typeface="Noto Sans KR SemiBold"/>
              </a:rPr>
              <a:t>FOUNDING &amp; SEED INVESTMENT PROPOSAL</a:t>
            </a:r>
          </a:p>
        </p:txBody>
      </p:sp>
      <p:sp>
        <p:nvSpPr>
          <p:cNvPr id="5" name="Title"/>
          <p:cNvSpPr txBox="1"/>
          <p:nvPr/>
        </p:nvSpPr>
        <p:spPr>
          <a:xfrm>
            <a:off x="548640" y="1719072"/>
            <a:ext cx="6583680" cy="1691640"/>
          </a:xfrm>
          <a:prstGeom prst="rect">
            <a:avLst/>
          </a:prstGeom>
          <a:noFill/>
        </p:spPr>
        <p:txBody>
          <a:bodyPr wrap="square" lIns="0" rIns="0" tIns="0" bIns="0" anchor="t">
            <a:noAutofit/>
          </a:bodyPr>
          <a:lstStyle/>
          <a:p>
            <a:pPr algn="l">
              <a:lnSpc>
                <a:spcPct val="90000"/>
              </a:lnSpc>
            </a:pPr>
            <a:r>
              <a:rPr sz="5000" b="0" i="0">
                <a:solidFill>
                  <a:srgbClr val="F2F2EF"/>
                </a:solidFill>
                <a:latin typeface="Noto Sans KR Black"/>
                <a:ea typeface="Noto Sans KR Black"/>
                <a:cs typeface="Noto Sans KR Black"/>
              </a:rPr>
              <a:t>ONE HAND.</a:t>
            </a:r>
          </a:p>
          <a:p>
            <a:pPr algn="l">
              <a:lnSpc>
                <a:spcPct val="90000"/>
              </a:lnSpc>
            </a:pPr>
            <a:r>
              <a:rPr sz="5000" b="0" i="0">
                <a:solidFill>
                  <a:srgbClr val="F2F2EF"/>
                </a:solidFill>
                <a:latin typeface="Noto Sans KR Black"/>
                <a:ea typeface="Noto Sans KR Black"/>
                <a:cs typeface="Noto Sans KR Black"/>
              </a:rPr>
              <a:t>MANY TOOLS.</a:t>
            </a:r>
          </a:p>
        </p:txBody>
      </p:sp>
      <p:sp>
        <p:nvSpPr>
          <p:cNvPr id="6" name="Statement"/>
          <p:cNvSpPr txBox="1"/>
          <p:nvPr/>
        </p:nvSpPr>
        <p:spPr>
          <a:xfrm>
            <a:off x="548640" y="3502152"/>
            <a:ext cx="6035040" cy="822960"/>
          </a:xfrm>
          <a:prstGeom prst="rect">
            <a:avLst/>
          </a:prstGeom>
          <a:noFill/>
        </p:spPr>
        <p:txBody>
          <a:bodyPr wrap="square" lIns="0" rIns="0" tIns="0" bIns="0" anchor="t">
            <a:noAutofit/>
          </a:bodyPr>
          <a:lstStyle/>
          <a:p>
            <a:pPr algn="l">
              <a:lnSpc>
                <a:spcPct val="118000"/>
              </a:lnSpc>
            </a:pPr>
            <a:r>
              <a:rPr sz="1800" b="0" i="0">
                <a:solidFill>
                  <a:srgbClr val="F2F2EF"/>
                </a:solidFill>
                <a:latin typeface="Noto Sans KR Medium"/>
                <a:ea typeface="Noto Sans KR Medium"/>
                <a:cs typeface="Noto Sans KR Medium"/>
              </a:rPr>
              <a:t>기존 설비를 크게 바꾸지 않고,</a:t>
            </a:r>
          </a:p>
          <a:p>
            <a:pPr algn="l">
              <a:lnSpc>
                <a:spcPct val="118000"/>
              </a:lnSpc>
            </a:pPr>
            <a:r>
              <a:rPr sz="1800" b="0" i="0">
                <a:solidFill>
                  <a:srgbClr val="F2F2EF"/>
                </a:solidFill>
                <a:latin typeface="Noto Sans KR Medium"/>
                <a:ea typeface="Noto Sans KR Medium"/>
                <a:cs typeface="Noto Sans KR Medium"/>
              </a:rPr>
              <a:t>Robot이 사람용 Interface를 사용할 수 있게 합니다.</a:t>
            </a:r>
          </a:p>
        </p:txBody>
      </p:sp>
      <p:sp>
        <p:nvSpPr>
          <p:cNvPr id="7" name="First product"/>
          <p:cNvSpPr txBox="1"/>
          <p:nvPr/>
        </p:nvSpPr>
        <p:spPr>
          <a:xfrm>
            <a:off x="548640" y="4370832"/>
            <a:ext cx="6035040" cy="274320"/>
          </a:xfrm>
          <a:prstGeom prst="rect">
            <a:avLst/>
          </a:prstGeom>
          <a:noFill/>
        </p:spPr>
        <p:txBody>
          <a:bodyPr wrap="square" lIns="0" rIns="0" tIns="0" bIns="0" anchor="t">
            <a:noAutofit/>
          </a:bodyPr>
          <a:lstStyle/>
          <a:p>
            <a:pPr algn="l">
              <a:lnSpc>
                <a:spcPct val="112000"/>
              </a:lnSpc>
            </a:pPr>
            <a:r>
              <a:rPr sz="1100" b="0" i="0">
                <a:solidFill>
                  <a:srgbClr val="8A8F97"/>
                </a:solidFill>
                <a:latin typeface="Noto Sans KR SemiBold"/>
                <a:ea typeface="Noto Sans KR SemiBold"/>
                <a:cs typeface="Noto Sans KR SemiBold"/>
              </a:rPr>
              <a:t>첫 제품   </a:t>
            </a:r>
            <a:r>
              <a:rPr sz="1250" b="0" i="0">
                <a:solidFill>
                  <a:srgbClr val="AEB3BB"/>
                </a:solidFill>
                <a:latin typeface="Noto Sans KR SemiBold"/>
                <a:ea typeface="Noto Sans KR SemiBold"/>
                <a:cs typeface="Noto Sans KR SemiBold"/>
              </a:rPr>
              <a:t>SoftHand-4 + Machine Tending Skill Pack</a:t>
            </a:r>
          </a:p>
        </p:txBody>
      </p:sp>
      <p:sp>
        <p:nvSpPr>
          <p:cNvPr id="8" name="TextBox 7"/>
          <p:cNvSpPr txBox="1"/>
          <p:nvPr/>
        </p:nvSpPr>
        <p:spPr>
          <a:xfrm>
            <a:off x="548640" y="4956048"/>
            <a:ext cx="1783080" cy="201168"/>
          </a:xfrm>
          <a:prstGeom prst="rect">
            <a:avLst/>
          </a:prstGeom>
          <a:noFill/>
        </p:spPr>
        <p:txBody>
          <a:bodyPr wrap="square" lIns="0" rIns="0" tIns="0" bIns="0" anchor="t">
            <a:noAutofit/>
          </a:bodyPr>
          <a:lstStyle/>
          <a:p>
            <a:pPr algn="l">
              <a:lnSpc>
                <a:spcPct val="112000"/>
              </a:lnSpc>
            </a:pPr>
            <a:r>
              <a:rPr sz="900" b="0" i="0" spc="120">
                <a:solidFill>
                  <a:srgbClr val="8A8F97"/>
                </a:solidFill>
                <a:latin typeface="Noto Sans KR SemiBold"/>
                <a:ea typeface="Noto Sans KR SemiBold"/>
                <a:cs typeface="Noto Sans KR SemiBold"/>
              </a:rPr>
              <a:t>SEED 투자 요청</a:t>
            </a:r>
          </a:p>
        </p:txBody>
      </p:sp>
      <p:sp>
        <p:nvSpPr>
          <p:cNvPr id="9" name="TextBox 8"/>
          <p:cNvSpPr txBox="1"/>
          <p:nvPr/>
        </p:nvSpPr>
        <p:spPr>
          <a:xfrm>
            <a:off x="548640" y="5175504"/>
            <a:ext cx="2148840" cy="411480"/>
          </a:xfrm>
          <a:prstGeom prst="rect">
            <a:avLst/>
          </a:prstGeom>
          <a:noFill/>
        </p:spPr>
        <p:txBody>
          <a:bodyPr wrap="square" lIns="0" rIns="0" tIns="0" bIns="0" anchor="t">
            <a:noAutofit/>
          </a:bodyPr>
          <a:lstStyle/>
          <a:p>
            <a:pPr algn="l">
              <a:lnSpc>
                <a:spcPct val="100000"/>
              </a:lnSpc>
            </a:pPr>
            <a:r>
              <a:rPr sz="2200" b="0" i="0">
                <a:solidFill>
                  <a:srgbClr val="EC7A3C"/>
                </a:solidFill>
                <a:latin typeface="Noto Sans KR Black"/>
                <a:ea typeface="Noto Sans KR Black"/>
                <a:cs typeface="Noto Sans KR Black"/>
              </a:rPr>
              <a:t>₩2.0B</a:t>
            </a:r>
          </a:p>
        </p:txBody>
      </p:sp>
      <p:sp>
        <p:nvSpPr>
          <p:cNvPr id="10" name="TextBox 9"/>
          <p:cNvSpPr txBox="1"/>
          <p:nvPr/>
        </p:nvSpPr>
        <p:spPr>
          <a:xfrm>
            <a:off x="548640" y="5596128"/>
            <a:ext cx="2057400"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20억원 · 회사 설립 자본</a:t>
            </a:r>
          </a:p>
        </p:txBody>
      </p:sp>
      <p:cxnSp>
        <p:nvCxnSpPr>
          <p:cNvPr id="11" name="Connector 10"/>
          <p:cNvCxnSpPr/>
          <p:nvPr/>
        </p:nvCxnSpPr>
        <p:spPr>
          <a:xfrm>
            <a:off x="2441448" y="4983480"/>
            <a:ext cx="0" cy="795528"/>
          </a:xfrm>
          <a:prstGeom prst="line">
            <a:avLst/>
          </a:prstGeom>
          <a:ln w="9525">
            <a:solidFill>
              <a:srgbClr val="3C424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60320" y="4956048"/>
            <a:ext cx="1874520" cy="201168"/>
          </a:xfrm>
          <a:prstGeom prst="rect">
            <a:avLst/>
          </a:prstGeom>
          <a:noFill/>
        </p:spPr>
        <p:txBody>
          <a:bodyPr wrap="square" lIns="0" rIns="0" tIns="0" bIns="0" anchor="t">
            <a:noAutofit/>
          </a:bodyPr>
          <a:lstStyle/>
          <a:p>
            <a:pPr algn="l">
              <a:lnSpc>
                <a:spcPct val="112000"/>
              </a:lnSpc>
            </a:pPr>
            <a:r>
              <a:rPr sz="900" b="0" i="0" spc="120">
                <a:solidFill>
                  <a:srgbClr val="8A8F97"/>
                </a:solidFill>
                <a:latin typeface="Noto Sans KR SemiBold"/>
                <a:ea typeface="Noto Sans KR SemiBold"/>
                <a:cs typeface="Noto Sans KR SemiBold"/>
              </a:rPr>
              <a:t>검증 기간</a:t>
            </a:r>
          </a:p>
        </p:txBody>
      </p:sp>
      <p:sp>
        <p:nvSpPr>
          <p:cNvPr id="13" name="TextBox 12"/>
          <p:cNvSpPr txBox="1"/>
          <p:nvPr/>
        </p:nvSpPr>
        <p:spPr>
          <a:xfrm>
            <a:off x="2560320" y="5175504"/>
            <a:ext cx="2240280" cy="411480"/>
          </a:xfrm>
          <a:prstGeom prst="rect">
            <a:avLst/>
          </a:prstGeom>
          <a:noFill/>
        </p:spPr>
        <p:txBody>
          <a:bodyPr wrap="square" lIns="0" rIns="0" tIns="0" bIns="0" anchor="t">
            <a:noAutofit/>
          </a:bodyPr>
          <a:lstStyle/>
          <a:p>
            <a:pPr algn="l">
              <a:lnSpc>
                <a:spcPct val="100000"/>
              </a:lnSpc>
            </a:pPr>
            <a:r>
              <a:rPr sz="2200" b="0" i="0">
                <a:solidFill>
                  <a:srgbClr val="F2F2EF"/>
                </a:solidFill>
                <a:latin typeface="Noto Sans KR Black"/>
                <a:ea typeface="Noto Sans KR Black"/>
                <a:cs typeface="Noto Sans KR Black"/>
              </a:rPr>
              <a:t>24개월</a:t>
            </a:r>
          </a:p>
        </p:txBody>
      </p:sp>
      <p:sp>
        <p:nvSpPr>
          <p:cNvPr id="14" name="TextBox 13"/>
          <p:cNvSpPr txBox="1"/>
          <p:nvPr/>
        </p:nvSpPr>
        <p:spPr>
          <a:xfrm>
            <a:off x="2560320" y="5596128"/>
            <a:ext cx="2148840"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제품 → 유료 고객 → 반복 발주</a:t>
            </a:r>
          </a:p>
        </p:txBody>
      </p:sp>
      <p:cxnSp>
        <p:nvCxnSpPr>
          <p:cNvPr id="15" name="Connector 14"/>
          <p:cNvCxnSpPr/>
          <p:nvPr/>
        </p:nvCxnSpPr>
        <p:spPr>
          <a:xfrm>
            <a:off x="4544568" y="4983480"/>
            <a:ext cx="0" cy="795528"/>
          </a:xfrm>
          <a:prstGeom prst="line">
            <a:avLst/>
          </a:prstGeom>
          <a:ln w="9525">
            <a:solidFill>
              <a:srgbClr val="3C424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663440" y="4956048"/>
            <a:ext cx="2331720" cy="201168"/>
          </a:xfrm>
          <a:prstGeom prst="rect">
            <a:avLst/>
          </a:prstGeom>
          <a:noFill/>
        </p:spPr>
        <p:txBody>
          <a:bodyPr wrap="square" lIns="0" rIns="0" tIns="0" bIns="0" anchor="t">
            <a:noAutofit/>
          </a:bodyPr>
          <a:lstStyle/>
          <a:p>
            <a:pPr algn="l">
              <a:lnSpc>
                <a:spcPct val="112000"/>
              </a:lnSpc>
            </a:pPr>
            <a:r>
              <a:rPr sz="900" b="0" i="0" spc="120">
                <a:solidFill>
                  <a:srgbClr val="8A8F97"/>
                </a:solidFill>
                <a:latin typeface="Noto Sans KR SemiBold"/>
                <a:ea typeface="Noto Sans KR SemiBold"/>
                <a:cs typeface="Noto Sans KR SemiBold"/>
              </a:rPr>
              <a:t>첫 시장</a:t>
            </a:r>
          </a:p>
        </p:txBody>
      </p:sp>
      <p:sp>
        <p:nvSpPr>
          <p:cNvPr id="17" name="TextBox 16"/>
          <p:cNvSpPr txBox="1"/>
          <p:nvPr/>
        </p:nvSpPr>
        <p:spPr>
          <a:xfrm>
            <a:off x="4663440" y="5175504"/>
            <a:ext cx="2697480" cy="411480"/>
          </a:xfrm>
          <a:prstGeom prst="rect">
            <a:avLst/>
          </a:prstGeom>
          <a:noFill/>
        </p:spPr>
        <p:txBody>
          <a:bodyPr wrap="square" lIns="0" rIns="0" tIns="0" bIns="0" anchor="t">
            <a:noAutofit/>
          </a:bodyPr>
          <a:lstStyle/>
          <a:p>
            <a:pPr algn="l">
              <a:lnSpc>
                <a:spcPct val="100000"/>
              </a:lnSpc>
            </a:pPr>
            <a:r>
              <a:rPr sz="2200" b="0" i="0">
                <a:solidFill>
                  <a:srgbClr val="F2F2EF"/>
                </a:solidFill>
                <a:latin typeface="Noto Sans KR Black"/>
                <a:ea typeface="Noto Sans KR Black"/>
                <a:cs typeface="Noto Sans KR Black"/>
              </a:rPr>
              <a:t>Machine Tending</a:t>
            </a:r>
          </a:p>
        </p:txBody>
      </p:sp>
      <p:sp>
        <p:nvSpPr>
          <p:cNvPr id="18" name="TextBox 17"/>
          <p:cNvSpPr txBox="1"/>
          <p:nvPr/>
        </p:nvSpPr>
        <p:spPr>
          <a:xfrm>
            <a:off x="4663440" y="5596128"/>
            <a:ext cx="2606040"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기존 생산설비 (Brownfield)</a:t>
            </a:r>
          </a:p>
        </p:txBody>
      </p:sp>
      <p:sp>
        <p:nvSpPr>
          <p:cNvPr id="19" name="Tag CONCEPT RENDERING"/>
          <p:cNvSpPr/>
          <p:nvPr/>
        </p:nvSpPr>
        <p:spPr>
          <a:xfrm>
            <a:off x="10060856" y="5989320"/>
            <a:ext cx="1579456" cy="246888"/>
          </a:xfrm>
          <a:prstGeom prst="roundRect">
            <a:avLst>
              <a:gd name="adj" fmla="val 50000"/>
            </a:avLst>
          </a:prstGeom>
          <a:solidFill>
            <a:srgbClr val="0B0C0E"/>
          </a:solid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CONCEPT RENDERING</a:t>
            </a:r>
          </a:p>
        </p:txBody>
      </p:sp>
      <p:sp>
        <p:nvSpPr>
          <p:cNvPr id="20" name="Footer"/>
          <p:cNvSpPr txBox="1"/>
          <p:nvPr/>
        </p:nvSpPr>
        <p:spPr>
          <a:xfrm>
            <a:off x="548640" y="6400800"/>
            <a:ext cx="96012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2026.10  ·  Pre-seed 창업 제안  ·  대외비  ·  이미지는 실제 시제품이 아닌 Concept Rendering입니다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02  ·  문제 정의</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기존 설비 자동화에는 여전히 너무 많은 재설계가 필요하다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Too Much Re-engineering for Every New Task.</a:t>
            </a:r>
          </a:p>
        </p:txBody>
      </p:sp>
      <p:sp>
        <p:nvSpPr>
          <p:cNvPr id="6" name="Tag CONCEPT RENDERING"/>
          <p:cNvSpPr/>
          <p:nvPr/>
        </p:nvSpPr>
        <p:spPr>
          <a:xfrm>
            <a:off x="10042568" y="365760"/>
            <a:ext cx="1597744" cy="24688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CONCEPT RENDERING</a:t>
            </a:r>
          </a:p>
        </p:txBody>
      </p:sp>
      <p:sp>
        <p:nvSpPr>
          <p:cNvPr id="7" name="Card"/>
          <p:cNvSpPr/>
          <p:nvPr/>
        </p:nvSpPr>
        <p:spPr>
          <a:xfrm>
            <a:off x="548640" y="1783080"/>
            <a:ext cx="2606040" cy="1417320"/>
          </a:xfrm>
          <a:prstGeom prst="roundRect">
            <a:avLst>
              <a:gd name="adj" fmla="val 5161"/>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abel"/>
          <p:cNvSpPr txBox="1"/>
          <p:nvPr/>
        </p:nvSpPr>
        <p:spPr>
          <a:xfrm>
            <a:off x="713232" y="1911096"/>
            <a:ext cx="2286000" cy="201168"/>
          </a:xfrm>
          <a:prstGeom prst="rect">
            <a:avLst/>
          </a:prstGeom>
          <a:noFill/>
        </p:spPr>
        <p:txBody>
          <a:bodyPr wrap="square" lIns="0" rIns="0" tIns="0" bIns="0" anchor="t">
            <a:noAutofit/>
          </a:bodyPr>
          <a:lstStyle/>
          <a:p>
            <a:pPr algn="l">
              <a:lnSpc>
                <a:spcPct val="112000"/>
              </a:lnSpc>
            </a:pPr>
            <a:r>
              <a:rPr sz="900" b="0" i="0" spc="120">
                <a:solidFill>
                  <a:srgbClr val="8A8F97"/>
                </a:solidFill>
                <a:latin typeface="Noto Sans KR SemiBold"/>
                <a:ea typeface="Noto Sans KR SemiBold"/>
                <a:cs typeface="Noto Sans KR SemiBold"/>
              </a:rPr>
              <a:t>① 기존 설비</a:t>
            </a:r>
          </a:p>
        </p:txBody>
      </p:sp>
      <p:sp>
        <p:nvSpPr>
          <p:cNvPr id="9" name="TextBox 8"/>
          <p:cNvSpPr txBox="1"/>
          <p:nvPr/>
        </p:nvSpPr>
        <p:spPr>
          <a:xfrm>
            <a:off x="713232" y="2130552"/>
            <a:ext cx="2377440" cy="292608"/>
          </a:xfrm>
          <a:prstGeom prst="rect">
            <a:avLst/>
          </a:prstGeom>
          <a:noFill/>
        </p:spPr>
        <p:txBody>
          <a:bodyPr wrap="square" lIns="0" rIns="0" tIns="0" bIns="0" anchor="t">
            <a:noAutofit/>
          </a:bodyPr>
          <a:lstStyle/>
          <a:p>
            <a:pPr algn="l">
              <a:lnSpc>
                <a:spcPct val="112000"/>
              </a:lnSpc>
            </a:pPr>
            <a:r>
              <a:rPr sz="1300" b="0" i="0">
                <a:solidFill>
                  <a:srgbClr val="F2F2EF"/>
                </a:solidFill>
                <a:latin typeface="Noto Sans KR Black"/>
                <a:ea typeface="Noto Sans KR Black"/>
                <a:cs typeface="Noto Sans KR Black"/>
              </a:rPr>
              <a:t>사람 손에 맞춰 설계됨</a:t>
            </a:r>
          </a:p>
        </p:txBody>
      </p:sp>
      <p:sp>
        <p:nvSpPr>
          <p:cNvPr id="10" name="Chip 문"/>
          <p:cNvSpPr/>
          <p:nvPr/>
        </p:nvSpPr>
        <p:spPr>
          <a:xfrm>
            <a:off x="713232" y="2532888"/>
            <a:ext cx="713232" cy="237744"/>
          </a:xfrm>
          <a:prstGeom prst="roundRect">
            <a:avLst>
              <a:gd name="adj" fmla="val 19230"/>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AEB3BB"/>
                </a:solidFill>
                <a:latin typeface="Noto Sans KR SemiBold"/>
                <a:ea typeface="Noto Sans KR SemiBold"/>
                <a:cs typeface="Noto Sans KR SemiBold"/>
              </a:rPr>
              <a:t>문</a:t>
            </a:r>
          </a:p>
        </p:txBody>
      </p:sp>
      <p:sp>
        <p:nvSpPr>
          <p:cNvPr id="11" name="Chip 손잡이"/>
          <p:cNvSpPr/>
          <p:nvPr/>
        </p:nvSpPr>
        <p:spPr>
          <a:xfrm>
            <a:off x="1499616" y="2532888"/>
            <a:ext cx="713232" cy="237744"/>
          </a:xfrm>
          <a:prstGeom prst="roundRect">
            <a:avLst>
              <a:gd name="adj" fmla="val 19230"/>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AEB3BB"/>
                </a:solidFill>
                <a:latin typeface="Noto Sans KR SemiBold"/>
                <a:ea typeface="Noto Sans KR SemiBold"/>
                <a:cs typeface="Noto Sans KR SemiBold"/>
              </a:rPr>
              <a:t>손잡이</a:t>
            </a:r>
          </a:p>
        </p:txBody>
      </p:sp>
      <p:sp>
        <p:nvSpPr>
          <p:cNvPr id="12" name="Chip 레버"/>
          <p:cNvSpPr/>
          <p:nvPr/>
        </p:nvSpPr>
        <p:spPr>
          <a:xfrm>
            <a:off x="2286000" y="2532888"/>
            <a:ext cx="713232" cy="237744"/>
          </a:xfrm>
          <a:prstGeom prst="roundRect">
            <a:avLst>
              <a:gd name="adj" fmla="val 19230"/>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AEB3BB"/>
                </a:solidFill>
                <a:latin typeface="Noto Sans KR SemiBold"/>
                <a:ea typeface="Noto Sans KR SemiBold"/>
                <a:cs typeface="Noto Sans KR SemiBold"/>
              </a:rPr>
              <a:t>레버</a:t>
            </a:r>
          </a:p>
        </p:txBody>
      </p:sp>
      <p:sp>
        <p:nvSpPr>
          <p:cNvPr id="13" name="Chip 노브"/>
          <p:cNvSpPr/>
          <p:nvPr/>
        </p:nvSpPr>
        <p:spPr>
          <a:xfrm>
            <a:off x="713232" y="2834640"/>
            <a:ext cx="713232" cy="237744"/>
          </a:xfrm>
          <a:prstGeom prst="roundRect">
            <a:avLst>
              <a:gd name="adj" fmla="val 19230"/>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AEB3BB"/>
                </a:solidFill>
                <a:latin typeface="Noto Sans KR SemiBold"/>
                <a:ea typeface="Noto Sans KR SemiBold"/>
                <a:cs typeface="Noto Sans KR SemiBold"/>
              </a:rPr>
              <a:t>노브</a:t>
            </a:r>
          </a:p>
        </p:txBody>
      </p:sp>
      <p:sp>
        <p:nvSpPr>
          <p:cNvPr id="14" name="Chip 트레이"/>
          <p:cNvSpPr/>
          <p:nvPr/>
        </p:nvSpPr>
        <p:spPr>
          <a:xfrm>
            <a:off x="1499616" y="2834640"/>
            <a:ext cx="713232" cy="237744"/>
          </a:xfrm>
          <a:prstGeom prst="roundRect">
            <a:avLst>
              <a:gd name="adj" fmla="val 19230"/>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AEB3BB"/>
                </a:solidFill>
                <a:latin typeface="Noto Sans KR SemiBold"/>
                <a:ea typeface="Noto Sans KR SemiBold"/>
                <a:cs typeface="Noto Sans KR SemiBold"/>
              </a:rPr>
              <a:t>트레이</a:t>
            </a:r>
          </a:p>
        </p:txBody>
      </p:sp>
      <p:sp>
        <p:nvSpPr>
          <p:cNvPr id="15" name="Chip 공구"/>
          <p:cNvSpPr/>
          <p:nvPr/>
        </p:nvSpPr>
        <p:spPr>
          <a:xfrm>
            <a:off x="2286000" y="2834640"/>
            <a:ext cx="713232" cy="237744"/>
          </a:xfrm>
          <a:prstGeom prst="roundRect">
            <a:avLst>
              <a:gd name="adj" fmla="val 19230"/>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AEB3BB"/>
                </a:solidFill>
                <a:latin typeface="Noto Sans KR SemiBold"/>
                <a:ea typeface="Noto Sans KR SemiBold"/>
                <a:cs typeface="Noto Sans KR SemiBold"/>
              </a:rPr>
              <a:t>공구</a:t>
            </a:r>
          </a:p>
        </p:txBody>
      </p:sp>
      <p:sp>
        <p:nvSpPr>
          <p:cNvPr id="16" name="Isosceles Triangle 15"/>
          <p:cNvSpPr/>
          <p:nvPr/>
        </p:nvSpPr>
        <p:spPr>
          <a:xfrm rot="5400000">
            <a:off x="3227832" y="2446020"/>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ard"/>
          <p:cNvSpPr/>
          <p:nvPr/>
        </p:nvSpPr>
        <p:spPr>
          <a:xfrm>
            <a:off x="3410712" y="1783080"/>
            <a:ext cx="1691640" cy="1417320"/>
          </a:xfrm>
          <a:prstGeom prst="roundRect">
            <a:avLst>
              <a:gd name="adj" fmla="val 5161"/>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abel"/>
          <p:cNvSpPr txBox="1"/>
          <p:nvPr/>
        </p:nvSpPr>
        <p:spPr>
          <a:xfrm>
            <a:off x="3566160" y="1911096"/>
            <a:ext cx="1463040" cy="201168"/>
          </a:xfrm>
          <a:prstGeom prst="rect">
            <a:avLst/>
          </a:prstGeom>
          <a:noFill/>
        </p:spPr>
        <p:txBody>
          <a:bodyPr wrap="square" lIns="0" rIns="0" tIns="0" bIns="0" anchor="t">
            <a:noAutofit/>
          </a:bodyPr>
          <a:lstStyle/>
          <a:p>
            <a:pPr algn="l">
              <a:lnSpc>
                <a:spcPct val="112000"/>
              </a:lnSpc>
            </a:pPr>
            <a:r>
              <a:rPr sz="900" b="0" i="0" spc="120">
                <a:solidFill>
                  <a:srgbClr val="8A8F97"/>
                </a:solidFill>
                <a:latin typeface="Noto Sans KR SemiBold"/>
                <a:ea typeface="Noto Sans KR SemiBold"/>
                <a:cs typeface="Noto Sans KR SemiBold"/>
              </a:rPr>
              <a:t>② Robot 도입</a:t>
            </a:r>
          </a:p>
        </p:txBody>
      </p:sp>
      <p:sp>
        <p:nvSpPr>
          <p:cNvPr id="19" name="TextBox 18"/>
          <p:cNvSpPr txBox="1"/>
          <p:nvPr/>
        </p:nvSpPr>
        <p:spPr>
          <a:xfrm>
            <a:off x="3566160" y="2130552"/>
            <a:ext cx="1463040" cy="566928"/>
          </a:xfrm>
          <a:prstGeom prst="rect">
            <a:avLst/>
          </a:prstGeom>
          <a:noFill/>
        </p:spPr>
        <p:txBody>
          <a:bodyPr wrap="square" lIns="0" rIns="0" tIns="0" bIns="0" anchor="t">
            <a:noAutofit/>
          </a:bodyPr>
          <a:lstStyle/>
          <a:p>
            <a:pPr algn="l">
              <a:lnSpc>
                <a:spcPct val="105000"/>
              </a:lnSpc>
            </a:pPr>
            <a:r>
              <a:rPr sz="1300" b="0" i="0">
                <a:solidFill>
                  <a:srgbClr val="F2F2EF"/>
                </a:solidFill>
                <a:latin typeface="Noto Sans KR Black"/>
                <a:ea typeface="Noto Sans KR Black"/>
                <a:cs typeface="Noto Sans KR Black"/>
              </a:rPr>
              <a:t>Robot은</a:t>
            </a:r>
          </a:p>
          <a:p>
            <a:pPr algn="l">
              <a:lnSpc>
                <a:spcPct val="105000"/>
              </a:lnSpc>
            </a:pPr>
            <a:r>
              <a:rPr sz="1300" b="0" i="0">
                <a:solidFill>
                  <a:srgbClr val="F2F2EF"/>
                </a:solidFill>
                <a:latin typeface="Noto Sans KR Black"/>
                <a:ea typeface="Noto Sans KR Black"/>
                <a:cs typeface="Noto Sans KR Black"/>
              </a:rPr>
              <a:t>이미 표준 제품</a:t>
            </a:r>
          </a:p>
        </p:txBody>
      </p:sp>
      <p:sp>
        <p:nvSpPr>
          <p:cNvPr id="20" name="TextBox 19"/>
          <p:cNvSpPr txBox="1"/>
          <p:nvPr/>
        </p:nvSpPr>
        <p:spPr>
          <a:xfrm>
            <a:off x="3566160" y="2743200"/>
            <a:ext cx="1463040" cy="347472"/>
          </a:xfrm>
          <a:prstGeom prst="rect">
            <a:avLst/>
          </a:prstGeom>
          <a:noFill/>
        </p:spPr>
        <p:txBody>
          <a:bodyPr wrap="square" lIns="0" rIns="0" tIns="0" bIns="0" anchor="t">
            <a:noAutofit/>
          </a:bodyPr>
          <a:lstStyle/>
          <a:p>
            <a:pPr algn="l">
              <a:lnSpc>
                <a:spcPct val="110000"/>
              </a:lnSpc>
            </a:pPr>
            <a:r>
              <a:rPr sz="850" b="0" i="0">
                <a:solidFill>
                  <a:srgbClr val="AEB3BB"/>
                </a:solidFill>
                <a:latin typeface="Noto Sans KR"/>
                <a:ea typeface="Noto Sans KR"/>
                <a:cs typeface="Noto Sans KR"/>
              </a:rPr>
              <a:t>Arm · Controller는 구매 가능</a:t>
            </a:r>
          </a:p>
        </p:txBody>
      </p:sp>
      <p:sp>
        <p:nvSpPr>
          <p:cNvPr id="21" name="Isosceles Triangle 20"/>
          <p:cNvSpPr/>
          <p:nvPr/>
        </p:nvSpPr>
        <p:spPr>
          <a:xfrm rot="5400000">
            <a:off x="5175504" y="2446020"/>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ard"/>
          <p:cNvSpPr/>
          <p:nvPr/>
        </p:nvSpPr>
        <p:spPr>
          <a:xfrm>
            <a:off x="5358384" y="1783080"/>
            <a:ext cx="3977640" cy="1417320"/>
          </a:xfrm>
          <a:prstGeom prst="roundRect">
            <a:avLst>
              <a:gd name="adj" fmla="val 5161"/>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bel"/>
          <p:cNvSpPr txBox="1"/>
          <p:nvPr/>
        </p:nvSpPr>
        <p:spPr>
          <a:xfrm>
            <a:off x="5522976" y="1911096"/>
            <a:ext cx="3657600" cy="201168"/>
          </a:xfrm>
          <a:prstGeom prst="rect">
            <a:avLst/>
          </a:prstGeom>
          <a:noFill/>
        </p:spPr>
        <p:txBody>
          <a:bodyPr wrap="square" lIns="0" rIns="0" tIns="0" bIns="0" anchor="t">
            <a:noAutofit/>
          </a:bodyPr>
          <a:lstStyle/>
          <a:p>
            <a:pPr algn="l">
              <a:lnSpc>
                <a:spcPct val="112000"/>
              </a:lnSpc>
            </a:pPr>
            <a:r>
              <a:rPr sz="900" b="0" i="0" spc="120">
                <a:solidFill>
                  <a:srgbClr val="EC7A3C"/>
                </a:solidFill>
                <a:latin typeface="Noto Sans KR SemiBold"/>
                <a:ea typeface="Noto Sans KR SemiBold"/>
                <a:cs typeface="Noto Sans KR SemiBold"/>
              </a:rPr>
              <a:t>③ 작업마다 추가되는 재설계</a:t>
            </a:r>
          </a:p>
        </p:txBody>
      </p:sp>
      <p:sp>
        <p:nvSpPr>
          <p:cNvPr id="24" name="Chip 전용 Finger"/>
          <p:cNvSpPr/>
          <p:nvPr/>
        </p:nvSpPr>
        <p:spPr>
          <a:xfrm>
            <a:off x="5522976" y="2240280"/>
            <a:ext cx="1161288" cy="347472"/>
          </a:xfrm>
          <a:prstGeom prst="roundRect">
            <a:avLst>
              <a:gd name="adj" fmla="val 13157"/>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1000" b="0" i="0">
                <a:solidFill>
                  <a:srgbClr val="F2F2EF"/>
                </a:solidFill>
                <a:latin typeface="Noto Sans KR SemiBold"/>
                <a:ea typeface="Noto Sans KR SemiBold"/>
                <a:cs typeface="Noto Sans KR SemiBold"/>
              </a:rPr>
              <a:t>전용 Finger</a:t>
            </a:r>
          </a:p>
        </p:txBody>
      </p:sp>
      <p:sp>
        <p:nvSpPr>
          <p:cNvPr id="25" name="Chip Jig · Fixture"/>
          <p:cNvSpPr/>
          <p:nvPr/>
        </p:nvSpPr>
        <p:spPr>
          <a:xfrm>
            <a:off x="6775704" y="2240280"/>
            <a:ext cx="1161288" cy="347472"/>
          </a:xfrm>
          <a:prstGeom prst="roundRect">
            <a:avLst>
              <a:gd name="adj" fmla="val 13157"/>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1000" b="0" i="0">
                <a:solidFill>
                  <a:srgbClr val="F2F2EF"/>
                </a:solidFill>
                <a:latin typeface="Noto Sans KR SemiBold"/>
                <a:ea typeface="Noto Sans KR SemiBold"/>
                <a:cs typeface="Noto Sans KR SemiBold"/>
              </a:rPr>
              <a:t>Jig · Fixture</a:t>
            </a:r>
          </a:p>
        </p:txBody>
      </p:sp>
      <p:sp>
        <p:nvSpPr>
          <p:cNvPr id="26" name="Chip 설비 개조"/>
          <p:cNvSpPr/>
          <p:nvPr/>
        </p:nvSpPr>
        <p:spPr>
          <a:xfrm>
            <a:off x="8028432" y="2240280"/>
            <a:ext cx="1161288" cy="347472"/>
          </a:xfrm>
          <a:prstGeom prst="roundRect">
            <a:avLst>
              <a:gd name="adj" fmla="val 13157"/>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1000" b="0" i="0">
                <a:solidFill>
                  <a:srgbClr val="F2F2EF"/>
                </a:solidFill>
                <a:latin typeface="Noto Sans KR SemiBold"/>
                <a:ea typeface="Noto Sans KR SemiBold"/>
                <a:cs typeface="Noto Sans KR SemiBold"/>
              </a:rPr>
              <a:t>설비 개조</a:t>
            </a:r>
          </a:p>
        </p:txBody>
      </p:sp>
      <p:sp>
        <p:nvSpPr>
          <p:cNvPr id="27" name="Chip 엔지니어링"/>
          <p:cNvSpPr/>
          <p:nvPr/>
        </p:nvSpPr>
        <p:spPr>
          <a:xfrm>
            <a:off x="5522976" y="2679192"/>
            <a:ext cx="1161288" cy="347472"/>
          </a:xfrm>
          <a:prstGeom prst="roundRect">
            <a:avLst>
              <a:gd name="adj" fmla="val 13157"/>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1000" b="0" i="0">
                <a:solidFill>
                  <a:srgbClr val="F2F2EF"/>
                </a:solidFill>
                <a:latin typeface="Noto Sans KR SemiBold"/>
                <a:ea typeface="Noto Sans KR SemiBold"/>
                <a:cs typeface="Noto Sans KR SemiBold"/>
              </a:rPr>
              <a:t>엔지니어링</a:t>
            </a:r>
          </a:p>
        </p:txBody>
      </p:sp>
      <p:sp>
        <p:nvSpPr>
          <p:cNvPr id="28" name="Chip 티칭"/>
          <p:cNvSpPr/>
          <p:nvPr/>
        </p:nvSpPr>
        <p:spPr>
          <a:xfrm>
            <a:off x="6775704" y="2679192"/>
            <a:ext cx="1161288" cy="347472"/>
          </a:xfrm>
          <a:prstGeom prst="roundRect">
            <a:avLst>
              <a:gd name="adj" fmla="val 13157"/>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1000" b="0" i="0">
                <a:solidFill>
                  <a:srgbClr val="F2F2EF"/>
                </a:solidFill>
                <a:latin typeface="Noto Sans KR SemiBold"/>
                <a:ea typeface="Noto Sans KR SemiBold"/>
                <a:cs typeface="Noto Sans KR SemiBold"/>
              </a:rPr>
              <a:t>티칭</a:t>
            </a:r>
          </a:p>
        </p:txBody>
      </p:sp>
      <p:sp>
        <p:nvSpPr>
          <p:cNvPr id="29" name="Chip 검증"/>
          <p:cNvSpPr/>
          <p:nvPr/>
        </p:nvSpPr>
        <p:spPr>
          <a:xfrm>
            <a:off x="8028432" y="2679192"/>
            <a:ext cx="1161288" cy="347472"/>
          </a:xfrm>
          <a:prstGeom prst="roundRect">
            <a:avLst>
              <a:gd name="adj" fmla="val 13157"/>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1000" b="0" i="0">
                <a:solidFill>
                  <a:srgbClr val="F2F2EF"/>
                </a:solidFill>
                <a:latin typeface="Noto Sans KR SemiBold"/>
                <a:ea typeface="Noto Sans KR SemiBold"/>
                <a:cs typeface="Noto Sans KR SemiBold"/>
              </a:rPr>
              <a:t>검증</a:t>
            </a:r>
          </a:p>
        </p:txBody>
      </p:sp>
      <p:sp>
        <p:nvSpPr>
          <p:cNvPr id="30" name="Isosceles Triangle 29"/>
          <p:cNvSpPr/>
          <p:nvPr/>
        </p:nvSpPr>
        <p:spPr>
          <a:xfrm rot="5400000">
            <a:off x="9409176" y="2446020"/>
            <a:ext cx="91440" cy="91440"/>
          </a:xfrm>
          <a:prstGeom prst="triangl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ard"/>
          <p:cNvSpPr/>
          <p:nvPr/>
        </p:nvSpPr>
        <p:spPr>
          <a:xfrm>
            <a:off x="9592056" y="1783080"/>
            <a:ext cx="2048256" cy="1417320"/>
          </a:xfrm>
          <a:prstGeom prst="roundRect">
            <a:avLst>
              <a:gd name="adj" fmla="val 5161"/>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Label"/>
          <p:cNvSpPr txBox="1"/>
          <p:nvPr/>
        </p:nvSpPr>
        <p:spPr>
          <a:xfrm>
            <a:off x="9756648" y="1911096"/>
            <a:ext cx="1828800" cy="201168"/>
          </a:xfrm>
          <a:prstGeom prst="rect">
            <a:avLst/>
          </a:prstGeom>
          <a:noFill/>
        </p:spPr>
        <p:txBody>
          <a:bodyPr wrap="square" lIns="0" rIns="0" tIns="0" bIns="0" anchor="t">
            <a:noAutofit/>
          </a:bodyPr>
          <a:lstStyle/>
          <a:p>
            <a:pPr algn="l">
              <a:lnSpc>
                <a:spcPct val="112000"/>
              </a:lnSpc>
            </a:pPr>
            <a:r>
              <a:rPr sz="900" b="0" i="0" spc="120">
                <a:solidFill>
                  <a:srgbClr val="EC7A3C"/>
                </a:solidFill>
                <a:latin typeface="Noto Sans KR SemiBold"/>
                <a:ea typeface="Noto Sans KR SemiBold"/>
                <a:cs typeface="Noto Sans KR SemiBold"/>
              </a:rPr>
              <a:t>④ 결과</a:t>
            </a:r>
          </a:p>
        </p:txBody>
      </p:sp>
      <p:sp>
        <p:nvSpPr>
          <p:cNvPr id="33" name="TextBox 32"/>
          <p:cNvSpPr txBox="1"/>
          <p:nvPr/>
        </p:nvSpPr>
        <p:spPr>
          <a:xfrm>
            <a:off x="9756648" y="2148840"/>
            <a:ext cx="1783080" cy="640080"/>
          </a:xfrm>
          <a:prstGeom prst="rect">
            <a:avLst/>
          </a:prstGeom>
          <a:noFill/>
        </p:spPr>
        <p:txBody>
          <a:bodyPr wrap="square" lIns="0" rIns="0" tIns="0" bIns="0" anchor="t">
            <a:noAutofit/>
          </a:bodyPr>
          <a:lstStyle/>
          <a:p>
            <a:pPr algn="l">
              <a:lnSpc>
                <a:spcPct val="105000"/>
              </a:lnSpc>
            </a:pPr>
            <a:r>
              <a:rPr sz="1600" b="0" i="0">
                <a:solidFill>
                  <a:srgbClr val="EC7A3C"/>
                </a:solidFill>
                <a:latin typeface="Noto Sans KR Black"/>
                <a:ea typeface="Noto Sans KR Black"/>
                <a:cs typeface="Noto Sans KR Black"/>
              </a:rPr>
              <a:t>높은</a:t>
            </a:r>
          </a:p>
          <a:p>
            <a:pPr algn="l">
              <a:lnSpc>
                <a:spcPct val="105000"/>
              </a:lnSpc>
            </a:pPr>
            <a:r>
              <a:rPr sz="1600" b="0" i="0">
                <a:solidFill>
                  <a:srgbClr val="EC7A3C"/>
                </a:solidFill>
                <a:latin typeface="Noto Sans KR Black"/>
                <a:ea typeface="Noto Sans KR Black"/>
                <a:cs typeface="Noto Sans KR Black"/>
              </a:rPr>
              <a:t>자동화 전환비용</a:t>
            </a:r>
          </a:p>
        </p:txBody>
      </p:sp>
      <p:sp>
        <p:nvSpPr>
          <p:cNvPr id="34" name="TextBox 33"/>
          <p:cNvSpPr txBox="1"/>
          <p:nvPr/>
        </p:nvSpPr>
        <p:spPr>
          <a:xfrm>
            <a:off x="9756648" y="2788920"/>
            <a:ext cx="1783080" cy="292608"/>
          </a:xfrm>
          <a:prstGeom prst="rect">
            <a:avLst/>
          </a:prstGeom>
          <a:noFill/>
        </p:spPr>
        <p:txBody>
          <a:bodyPr wrap="square" lIns="0" rIns="0" tIns="0" bIns="0" anchor="t">
            <a:noAutofit/>
          </a:bodyPr>
          <a:lstStyle/>
          <a:p>
            <a:pPr algn="l">
              <a:lnSpc>
                <a:spcPct val="112000"/>
              </a:lnSpc>
            </a:pPr>
            <a:r>
              <a:rPr sz="900" b="0" i="0">
                <a:solidFill>
                  <a:srgbClr val="F3A574"/>
                </a:solidFill>
                <a:latin typeface="Noto Sans KR"/>
                <a:ea typeface="Noto Sans KR"/>
                <a:cs typeface="Noto Sans KR"/>
              </a:rPr>
              <a:t>작업이 바뀔 때마다 반복</a:t>
            </a:r>
          </a:p>
        </p:txBody>
      </p:sp>
      <p:sp>
        <p:nvSpPr>
          <p:cNvPr id="35" name="Card"/>
          <p:cNvSpPr/>
          <p:nvPr/>
        </p:nvSpPr>
        <p:spPr>
          <a:xfrm>
            <a:off x="548640" y="3456432"/>
            <a:ext cx="5852160" cy="2395728"/>
          </a:xfrm>
          <a:prstGeom prst="roundRect">
            <a:avLst>
              <a:gd name="adj" fmla="val 305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77240" y="3621024"/>
            <a:ext cx="5394960" cy="274320"/>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오늘의 자동화  </a:t>
            </a:r>
            <a:r>
              <a:rPr sz="1100" b="0" i="0">
                <a:solidFill>
                  <a:srgbClr val="AEB3BB"/>
                </a:solidFill>
                <a:latin typeface="Noto Sans KR"/>
                <a:ea typeface="Noto Sans KR"/>
                <a:cs typeface="Noto Sans KR"/>
              </a:rPr>
              <a:t>작업마다 늘어나는 전용 End-effector · Jig</a:t>
            </a:r>
          </a:p>
        </p:txBody>
      </p:sp>
      <p:pic>
        <p:nvPicPr>
          <p:cNvPr id="37" name="HERO02 dedicated grippers" descr="hero02_dedicated_grippers.png"/>
          <p:cNvPicPr>
            <a:picLocks noChangeAspect="1"/>
          </p:cNvPicPr>
          <p:nvPr/>
        </p:nvPicPr>
        <p:blipFill>
          <a:blip r:embed="rId2"/>
          <a:srcRect l="4670" t="7330" r="6670" b="10150"/>
          <a:stretch>
            <a:fillRect/>
          </a:stretch>
        </p:blipFill>
        <p:spPr>
          <a:xfrm>
            <a:off x="2292409" y="3931920"/>
            <a:ext cx="2364622" cy="1536192"/>
          </a:xfrm>
          <a:prstGeom prst="rect">
            <a:avLst/>
          </a:prstGeom>
        </p:spPr>
      </p:pic>
      <p:sp>
        <p:nvSpPr>
          <p:cNvPr id="38" name="TextBox 37"/>
          <p:cNvSpPr txBox="1"/>
          <p:nvPr/>
        </p:nvSpPr>
        <p:spPr>
          <a:xfrm>
            <a:off x="777240" y="5532120"/>
            <a:ext cx="5394960" cy="219456"/>
          </a:xfrm>
          <a:prstGeom prst="rect">
            <a:avLst/>
          </a:prstGeom>
          <a:noFill/>
        </p:spPr>
        <p:txBody>
          <a:bodyPr wrap="square" lIns="0" rIns="0" tIns="0" bIns="0" anchor="t">
            <a:noAutofit/>
          </a:bodyPr>
          <a:lstStyle/>
          <a:p>
            <a:pPr algn="ctr">
              <a:lnSpc>
                <a:spcPct val="112000"/>
              </a:lnSpc>
            </a:pPr>
            <a:r>
              <a:rPr sz="900" b="0" i="0">
                <a:solidFill>
                  <a:srgbClr val="737882"/>
                </a:solidFill>
                <a:latin typeface="Noto Sans KR"/>
                <a:ea typeface="Noto Sans KR"/>
                <a:cs typeface="Noto Sans KR"/>
              </a:rPr>
              <a:t>Parallel · Vacuum · 3-Jaw · Custom Finger · Magnetic · Jig / Fixture</a:t>
            </a:r>
          </a:p>
        </p:txBody>
      </p:sp>
      <p:sp>
        <p:nvSpPr>
          <p:cNvPr id="39" name="Card"/>
          <p:cNvSpPr/>
          <p:nvPr/>
        </p:nvSpPr>
        <p:spPr>
          <a:xfrm>
            <a:off x="6629400" y="3456432"/>
            <a:ext cx="5010912" cy="2395728"/>
          </a:xfrm>
          <a:prstGeom prst="roundRect">
            <a:avLst>
              <a:gd name="adj" fmla="val 305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03720" y="3547872"/>
            <a:ext cx="4389120" cy="1005840"/>
          </a:xfrm>
          <a:prstGeom prst="rect">
            <a:avLst/>
          </a:prstGeom>
          <a:noFill/>
        </p:spPr>
        <p:txBody>
          <a:bodyPr wrap="square" lIns="0" rIns="0" tIns="0" bIns="0" anchor="t">
            <a:noAutofit/>
          </a:bodyPr>
          <a:lstStyle/>
          <a:p>
            <a:pPr algn="l">
              <a:lnSpc>
                <a:spcPct val="100000"/>
              </a:lnSpc>
            </a:pPr>
            <a:r>
              <a:rPr sz="5400" b="0" i="0">
                <a:solidFill>
                  <a:srgbClr val="EC7A3C"/>
                </a:solidFill>
                <a:latin typeface="Noto Sans KR Black"/>
                <a:ea typeface="Noto Sans KR Black"/>
                <a:cs typeface="Noto Sans KR Black"/>
              </a:rPr>
              <a:t>~75%</a:t>
            </a:r>
          </a:p>
        </p:txBody>
      </p:sp>
      <p:sp>
        <p:nvSpPr>
          <p:cNvPr id="41" name="TextBox 40"/>
          <p:cNvSpPr txBox="1"/>
          <p:nvPr/>
        </p:nvSpPr>
        <p:spPr>
          <a:xfrm>
            <a:off x="6903720" y="4480560"/>
            <a:ext cx="4526280" cy="310896"/>
          </a:xfrm>
          <a:prstGeom prst="rect">
            <a:avLst/>
          </a:prstGeom>
          <a:noFill/>
        </p:spPr>
        <p:txBody>
          <a:bodyPr wrap="square" lIns="0" rIns="0" tIns="0" bIns="0" anchor="t">
            <a:noAutofit/>
          </a:bodyPr>
          <a:lstStyle/>
          <a:p>
            <a:pPr algn="l">
              <a:lnSpc>
                <a:spcPct val="112000"/>
              </a:lnSpc>
            </a:pPr>
            <a:r>
              <a:rPr sz="1300" b="0" i="0">
                <a:solidFill>
                  <a:srgbClr val="F2F2EF"/>
                </a:solidFill>
                <a:latin typeface="Noto Sans KR Medium"/>
                <a:ea typeface="Noto Sans KR Medium"/>
                <a:cs typeface="Noto Sans KR Medium"/>
              </a:rPr>
              <a:t>로봇 시스템 TCO 중 초기 셋업 · 재설계에 묶인 비중</a:t>
            </a:r>
          </a:p>
        </p:txBody>
      </p:sp>
      <p:sp>
        <p:nvSpPr>
          <p:cNvPr id="42" name="TextBox 41"/>
          <p:cNvSpPr txBox="1"/>
          <p:nvPr/>
        </p:nvSpPr>
        <p:spPr>
          <a:xfrm>
            <a:off x="6903720" y="4873752"/>
            <a:ext cx="4526280" cy="566928"/>
          </a:xfrm>
          <a:prstGeom prst="rect">
            <a:avLst/>
          </a:prstGeom>
          <a:noFill/>
        </p:spPr>
        <p:txBody>
          <a:bodyPr wrap="square" lIns="0" rIns="0" tIns="0" bIns="0" anchor="t">
            <a:noAutofit/>
          </a:bodyPr>
          <a:lstStyle/>
          <a:p>
            <a:pPr algn="l">
              <a:lnSpc>
                <a:spcPct val="115000"/>
              </a:lnSpc>
            </a:pPr>
            <a:r>
              <a:rPr sz="1150" b="0" i="0">
                <a:solidFill>
                  <a:srgbClr val="AEB3BB"/>
                </a:solidFill>
                <a:latin typeface="Noto Sans KR"/>
                <a:ea typeface="Noto Sans KR"/>
                <a:cs typeface="Noto Sans KR"/>
              </a:rPr>
              <a:t>고객의 진짜 비용은 Robot Hand 가격이 아니라,</a:t>
            </a:r>
          </a:p>
          <a:p>
            <a:pPr algn="l">
              <a:lnSpc>
                <a:spcPct val="115000"/>
              </a:lnSpc>
            </a:pPr>
            <a:r>
              <a:rPr sz="1150" b="0" i="0">
                <a:solidFill>
                  <a:srgbClr val="AEB3BB"/>
                </a:solidFill>
                <a:latin typeface="Noto Sans KR"/>
                <a:ea typeface="Noto Sans KR"/>
                <a:cs typeface="Noto Sans KR"/>
              </a:rPr>
              <a:t>작업이 바뀔 때마다 반복되는 </a:t>
            </a:r>
            <a:r>
              <a:rPr sz="1150" b="0" i="0">
                <a:solidFill>
                  <a:srgbClr val="EC7A3C"/>
                </a:solidFill>
                <a:latin typeface="Noto Sans KR SemiBold"/>
                <a:ea typeface="Noto Sans KR SemiBold"/>
                <a:cs typeface="Noto Sans KR SemiBold"/>
              </a:rPr>
              <a:t>자동화 전환비용</a:t>
            </a:r>
            <a:r>
              <a:rPr sz="1150" b="0" i="0">
                <a:solidFill>
                  <a:srgbClr val="AEB3BB"/>
                </a:solidFill>
                <a:latin typeface="Noto Sans KR"/>
                <a:ea typeface="Noto Sans KR"/>
                <a:cs typeface="Noto Sans KR"/>
              </a:rPr>
              <a:t>이다</a:t>
            </a:r>
          </a:p>
        </p:txBody>
      </p:sp>
      <p:sp>
        <p:nvSpPr>
          <p:cNvPr id="43" name="TextBox 42"/>
          <p:cNvSpPr txBox="1"/>
          <p:nvPr/>
        </p:nvSpPr>
        <p:spPr>
          <a:xfrm>
            <a:off x="6903720" y="5532120"/>
            <a:ext cx="4526280" cy="219456"/>
          </a:xfrm>
          <a:prstGeom prst="rect">
            <a:avLst/>
          </a:prstGeom>
          <a:noFill/>
        </p:spPr>
        <p:txBody>
          <a:bodyPr wrap="square" lIns="0" rIns="0" tIns="0" bIns="0" anchor="t">
            <a:noAutofit/>
          </a:bodyPr>
          <a:lstStyle/>
          <a:p>
            <a:pPr algn="l">
              <a:lnSpc>
                <a:spcPct val="112000"/>
              </a:lnSpc>
            </a:pPr>
            <a:r>
              <a:rPr sz="850" b="0" i="0">
                <a:solidFill>
                  <a:srgbClr val="737882"/>
                </a:solidFill>
                <a:latin typeface="Noto Sans KR"/>
                <a:ea typeface="Noto Sans KR"/>
                <a:cs typeface="Noto Sans KR"/>
              </a:rPr>
              <a:t>Source: BCG, How Physical AI Is Reshaping Robotics Today (2026.4)</a:t>
            </a:r>
          </a:p>
        </p:txBody>
      </p:sp>
      <p:sp>
        <p:nvSpPr>
          <p:cNvPr id="44" name="TextBox 43"/>
          <p:cNvSpPr txBox="1"/>
          <p:nvPr/>
        </p:nvSpPr>
        <p:spPr>
          <a:xfrm>
            <a:off x="548640" y="6016752"/>
            <a:ext cx="11091672" cy="274320"/>
          </a:xfrm>
          <a:prstGeom prst="rect">
            <a:avLst/>
          </a:prstGeom>
          <a:noFill/>
        </p:spPr>
        <p:txBody>
          <a:bodyPr wrap="square" lIns="0" rIns="0" tIns="0" bIns="0" anchor="t">
            <a:noAutofit/>
          </a:bodyPr>
          <a:lstStyle/>
          <a:p>
            <a:pPr algn="l">
              <a:lnSpc>
                <a:spcPct val="112000"/>
              </a:lnSpc>
            </a:pPr>
            <a:r>
              <a:rPr sz="1100" b="0" i="0">
                <a:solidFill>
                  <a:srgbClr val="AEB3BB"/>
                </a:solidFill>
                <a:latin typeface="Noto Sans KR"/>
                <a:ea typeface="Noto Sans KR"/>
                <a:cs typeface="Noto Sans KR"/>
              </a:rPr>
              <a:t>다품종 · 소량 현장일수록 전환이 잦다 → 이 비용 때문에 자동화 자체가 성립하지 않는 공정이 남는다</a:t>
            </a:r>
          </a:p>
        </p:txBody>
      </p:sp>
      <p:sp>
        <p:nvSpPr>
          <p:cNvPr id="45"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46"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03  ·  핵심 Insight</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설비를 Robot에 맞추는 대신, Robot이 기존 설비를 사용하게 한다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Don't Rebuild the Workstation.</a:t>
            </a:r>
          </a:p>
        </p:txBody>
      </p:sp>
      <p:sp>
        <p:nvSpPr>
          <p:cNvPr id="6" name="Tag CONCEPT RENDERING"/>
          <p:cNvSpPr/>
          <p:nvPr/>
        </p:nvSpPr>
        <p:spPr>
          <a:xfrm>
            <a:off x="10042568" y="365760"/>
            <a:ext cx="1597744" cy="24688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CONCEPT RENDERING</a:t>
            </a:r>
          </a:p>
        </p:txBody>
      </p:sp>
      <p:sp>
        <p:nvSpPr>
          <p:cNvPr id="7" name="Card"/>
          <p:cNvSpPr/>
          <p:nvPr/>
        </p:nvSpPr>
        <p:spPr>
          <a:xfrm>
            <a:off x="548640" y="1783080"/>
            <a:ext cx="4069080" cy="3520440"/>
          </a:xfrm>
          <a:prstGeom prst="roundRect">
            <a:avLst>
              <a:gd name="adj" fmla="val 2077"/>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abel"/>
          <p:cNvSpPr txBox="1"/>
          <p:nvPr/>
        </p:nvSpPr>
        <p:spPr>
          <a:xfrm>
            <a:off x="777240" y="1965960"/>
            <a:ext cx="3657600" cy="201168"/>
          </a:xfrm>
          <a:prstGeom prst="rect">
            <a:avLst/>
          </a:prstGeom>
          <a:noFill/>
        </p:spPr>
        <p:txBody>
          <a:bodyPr wrap="square" lIns="0" rIns="0" tIns="0" bIns="0" anchor="t">
            <a:noAutofit/>
          </a:bodyPr>
          <a:lstStyle/>
          <a:p>
            <a:pPr algn="l">
              <a:lnSpc>
                <a:spcPct val="112000"/>
              </a:lnSpc>
            </a:pPr>
            <a:r>
              <a:rPr sz="950" b="0" i="0" spc="120">
                <a:solidFill>
                  <a:srgbClr val="8A8F97"/>
                </a:solidFill>
                <a:latin typeface="Noto Sans KR SemiBold"/>
                <a:ea typeface="Noto Sans KR SemiBold"/>
                <a:cs typeface="Noto Sans KR SemiBold"/>
              </a:rPr>
              <a:t>기존 방식</a:t>
            </a:r>
          </a:p>
        </p:txBody>
      </p:sp>
      <p:sp>
        <p:nvSpPr>
          <p:cNvPr id="9" name="TextBox 8"/>
          <p:cNvSpPr txBox="1"/>
          <p:nvPr/>
        </p:nvSpPr>
        <p:spPr>
          <a:xfrm>
            <a:off x="777240" y="2194560"/>
            <a:ext cx="3657600" cy="384048"/>
          </a:xfrm>
          <a:prstGeom prst="rect">
            <a:avLst/>
          </a:prstGeom>
          <a:noFill/>
        </p:spPr>
        <p:txBody>
          <a:bodyPr wrap="square" lIns="0" rIns="0" tIns="0" bIns="0" anchor="t">
            <a:noAutofit/>
          </a:bodyPr>
          <a:lstStyle/>
          <a:p>
            <a:pPr algn="l">
              <a:lnSpc>
                <a:spcPct val="112000"/>
              </a:lnSpc>
            </a:pPr>
            <a:r>
              <a:rPr sz="1700" b="0" i="0">
                <a:solidFill>
                  <a:srgbClr val="F2F2EF"/>
                </a:solidFill>
                <a:latin typeface="Noto Sans KR Black"/>
                <a:ea typeface="Noto Sans KR Black"/>
                <a:cs typeface="Noto Sans KR Black"/>
              </a:rPr>
              <a:t>설비를 Robot에 맞춘다</a:t>
            </a:r>
          </a:p>
        </p:txBody>
      </p:sp>
      <p:sp>
        <p:nvSpPr>
          <p:cNvPr id="10" name="TextBox 9"/>
          <p:cNvSpPr txBox="1"/>
          <p:nvPr/>
        </p:nvSpPr>
        <p:spPr>
          <a:xfrm>
            <a:off x="777240" y="2770632"/>
            <a:ext cx="1371600" cy="274320"/>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SemiBold"/>
                <a:ea typeface="Noto Sans KR SemiBold"/>
                <a:cs typeface="Noto Sans KR SemiBold"/>
              </a:rPr>
              <a:t>설비 개조</a:t>
            </a:r>
          </a:p>
        </p:txBody>
      </p:sp>
      <p:sp>
        <p:nvSpPr>
          <p:cNvPr id="11" name="TextBox 10"/>
          <p:cNvSpPr txBox="1"/>
          <p:nvPr/>
        </p:nvSpPr>
        <p:spPr>
          <a:xfrm>
            <a:off x="2148840" y="2788920"/>
            <a:ext cx="2377440" cy="457200"/>
          </a:xfrm>
          <a:prstGeom prst="rect">
            <a:avLst/>
          </a:prstGeom>
          <a:noFill/>
        </p:spPr>
        <p:txBody>
          <a:bodyPr wrap="square" lIns="0" rIns="0" tIns="0" bIns="0" anchor="t">
            <a:noAutofit/>
          </a:bodyPr>
          <a:lstStyle/>
          <a:p>
            <a:pPr algn="l">
              <a:lnSpc>
                <a:spcPct val="110000"/>
              </a:lnSpc>
            </a:pPr>
            <a:r>
              <a:rPr sz="1000" b="0" i="0">
                <a:solidFill>
                  <a:srgbClr val="AEB3BB"/>
                </a:solidFill>
                <a:latin typeface="Noto Sans KR"/>
                <a:ea typeface="Noto Sans KR"/>
                <a:cs typeface="Noto Sans KR"/>
              </a:rPr>
              <a:t>자동문 · 공압 구동기 · I/O 추가</a:t>
            </a:r>
          </a:p>
        </p:txBody>
      </p:sp>
      <p:sp>
        <p:nvSpPr>
          <p:cNvPr id="12" name="TextBox 11"/>
          <p:cNvSpPr txBox="1"/>
          <p:nvPr/>
        </p:nvSpPr>
        <p:spPr>
          <a:xfrm>
            <a:off x="777240" y="3319272"/>
            <a:ext cx="1371600" cy="274320"/>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SemiBold"/>
                <a:ea typeface="Noto Sans KR SemiBold"/>
                <a:cs typeface="Noto Sans KR SemiBold"/>
              </a:rPr>
              <a:t>전용 툴링</a:t>
            </a:r>
          </a:p>
        </p:txBody>
      </p:sp>
      <p:sp>
        <p:nvSpPr>
          <p:cNvPr id="13" name="TextBox 12"/>
          <p:cNvSpPr txBox="1"/>
          <p:nvPr/>
        </p:nvSpPr>
        <p:spPr>
          <a:xfrm>
            <a:off x="2148840" y="3337560"/>
            <a:ext cx="2377440" cy="457200"/>
          </a:xfrm>
          <a:prstGeom prst="rect">
            <a:avLst/>
          </a:prstGeom>
          <a:noFill/>
        </p:spPr>
        <p:txBody>
          <a:bodyPr wrap="square" lIns="0" rIns="0" tIns="0" bIns="0" anchor="t">
            <a:noAutofit/>
          </a:bodyPr>
          <a:lstStyle/>
          <a:p>
            <a:pPr algn="l">
              <a:lnSpc>
                <a:spcPct val="110000"/>
              </a:lnSpc>
            </a:pPr>
            <a:r>
              <a:rPr sz="1000" b="0" i="0">
                <a:solidFill>
                  <a:srgbClr val="AEB3BB"/>
                </a:solidFill>
                <a:latin typeface="Noto Sans KR"/>
                <a:ea typeface="Noto Sans KR"/>
                <a:cs typeface="Noto Sans KR"/>
              </a:rPr>
              <a:t>작업별 전용 Finger · Jig · Fixture</a:t>
            </a:r>
          </a:p>
        </p:txBody>
      </p:sp>
      <p:sp>
        <p:nvSpPr>
          <p:cNvPr id="14" name="TextBox 13"/>
          <p:cNvSpPr txBox="1"/>
          <p:nvPr/>
        </p:nvSpPr>
        <p:spPr>
          <a:xfrm>
            <a:off x="777240" y="3867912"/>
            <a:ext cx="1371600" cy="274320"/>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SemiBold"/>
                <a:ea typeface="Noto Sans KR SemiBold"/>
                <a:cs typeface="Noto Sans KR SemiBold"/>
              </a:rPr>
              <a:t>End-effector 추가</a:t>
            </a:r>
          </a:p>
        </p:txBody>
      </p:sp>
      <p:sp>
        <p:nvSpPr>
          <p:cNvPr id="15" name="TextBox 14"/>
          <p:cNvSpPr txBox="1"/>
          <p:nvPr/>
        </p:nvSpPr>
        <p:spPr>
          <a:xfrm>
            <a:off x="2148840" y="3886200"/>
            <a:ext cx="2377440" cy="457200"/>
          </a:xfrm>
          <a:prstGeom prst="rect">
            <a:avLst/>
          </a:prstGeom>
          <a:noFill/>
        </p:spPr>
        <p:txBody>
          <a:bodyPr wrap="square" lIns="0" rIns="0" tIns="0" bIns="0" anchor="t">
            <a:noAutofit/>
          </a:bodyPr>
          <a:lstStyle/>
          <a:p>
            <a:pPr algn="l">
              <a:lnSpc>
                <a:spcPct val="110000"/>
              </a:lnSpc>
            </a:pPr>
            <a:r>
              <a:rPr sz="1000" b="0" i="0">
                <a:solidFill>
                  <a:srgbClr val="AEB3BB"/>
                </a:solidFill>
                <a:latin typeface="Noto Sans KR"/>
                <a:ea typeface="Noto Sans KR"/>
                <a:cs typeface="Noto Sans KR"/>
              </a:rPr>
              <a:t>Tool Changer · Gripper 여러 개</a:t>
            </a:r>
          </a:p>
        </p:txBody>
      </p:sp>
      <p:sp>
        <p:nvSpPr>
          <p:cNvPr id="16" name="TextBox 15"/>
          <p:cNvSpPr txBox="1"/>
          <p:nvPr/>
        </p:nvSpPr>
        <p:spPr>
          <a:xfrm>
            <a:off x="777240" y="4416552"/>
            <a:ext cx="1371600" cy="274320"/>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SemiBold"/>
                <a:ea typeface="Noto Sans KR SemiBold"/>
                <a:cs typeface="Noto Sans KR SemiBold"/>
              </a:rPr>
              <a:t>반복</a:t>
            </a:r>
          </a:p>
        </p:txBody>
      </p:sp>
      <p:sp>
        <p:nvSpPr>
          <p:cNvPr id="17" name="TextBox 16"/>
          <p:cNvSpPr txBox="1"/>
          <p:nvPr/>
        </p:nvSpPr>
        <p:spPr>
          <a:xfrm>
            <a:off x="2148840" y="4434840"/>
            <a:ext cx="2377440" cy="457200"/>
          </a:xfrm>
          <a:prstGeom prst="rect">
            <a:avLst/>
          </a:prstGeom>
          <a:noFill/>
        </p:spPr>
        <p:txBody>
          <a:bodyPr wrap="square" lIns="0" rIns="0" tIns="0" bIns="0" anchor="t">
            <a:noAutofit/>
          </a:bodyPr>
          <a:lstStyle/>
          <a:p>
            <a:pPr algn="l">
              <a:lnSpc>
                <a:spcPct val="110000"/>
              </a:lnSpc>
            </a:pPr>
            <a:r>
              <a:rPr sz="1000" b="0" i="0">
                <a:solidFill>
                  <a:srgbClr val="AEB3BB"/>
                </a:solidFill>
                <a:latin typeface="Noto Sans KR"/>
                <a:ea typeface="Noto Sans KR"/>
                <a:cs typeface="Noto Sans KR"/>
              </a:rPr>
              <a:t>작업이 바뀌면 다시 설계 · 티칭 · 검증</a:t>
            </a:r>
          </a:p>
        </p:txBody>
      </p:sp>
      <p:cxnSp>
        <p:nvCxnSpPr>
          <p:cNvPr id="18" name="Connector 17"/>
          <p:cNvCxnSpPr/>
          <p:nvPr/>
        </p:nvCxnSpPr>
        <p:spPr>
          <a:xfrm>
            <a:off x="777240" y="4919472"/>
            <a:ext cx="3611880" cy="0"/>
          </a:xfrm>
          <a:prstGeom prst="line">
            <a:avLst/>
          </a:prstGeom>
          <a:ln w="9525">
            <a:solidFill>
              <a:srgbClr val="2E333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992624"/>
            <a:ext cx="3657600" cy="237744"/>
          </a:xfrm>
          <a:prstGeom prst="rect">
            <a:avLst/>
          </a:prstGeom>
          <a:noFill/>
        </p:spPr>
        <p:txBody>
          <a:bodyPr wrap="square" lIns="0" rIns="0" tIns="0" bIns="0" anchor="t">
            <a:noAutofit/>
          </a:bodyPr>
          <a:lstStyle/>
          <a:p>
            <a:pPr algn="l">
              <a:lnSpc>
                <a:spcPct val="112000"/>
              </a:lnSpc>
            </a:pPr>
            <a:r>
              <a:rPr sz="1050" b="0" i="0">
                <a:solidFill>
                  <a:srgbClr val="8A8F97"/>
                </a:solidFill>
                <a:latin typeface="Noto Sans KR SemiBold"/>
                <a:ea typeface="Noto Sans KR SemiBold"/>
                <a:cs typeface="Noto Sans KR SemiBold"/>
              </a:rPr>
              <a:t>→ 작업마다 재설계 비용이 반복된다</a:t>
            </a:r>
          </a:p>
        </p:txBody>
      </p:sp>
      <p:pic>
        <p:nvPicPr>
          <p:cNvPr id="20" name="SoftHand-4 product rendering" descr="product.png"/>
          <p:cNvPicPr>
            <a:picLocks noChangeAspect="1"/>
          </p:cNvPicPr>
          <p:nvPr/>
        </p:nvPicPr>
        <p:blipFill>
          <a:blip r:embed="rId2"/>
          <a:stretch>
            <a:fillRect/>
          </a:stretch>
        </p:blipFill>
        <p:spPr>
          <a:xfrm>
            <a:off x="5269962" y="1627632"/>
            <a:ext cx="1621596" cy="3657600"/>
          </a:xfrm>
          <a:prstGeom prst="rect">
            <a:avLst/>
          </a:prstGeom>
        </p:spPr>
      </p:pic>
      <p:sp>
        <p:nvSpPr>
          <p:cNvPr id="21" name="TextBox 20"/>
          <p:cNvSpPr txBox="1"/>
          <p:nvPr/>
        </p:nvSpPr>
        <p:spPr>
          <a:xfrm>
            <a:off x="4709160" y="5138928"/>
            <a:ext cx="2743200" cy="219456"/>
          </a:xfrm>
          <a:prstGeom prst="rect">
            <a:avLst/>
          </a:prstGeom>
          <a:noFill/>
        </p:spPr>
        <p:txBody>
          <a:bodyPr wrap="square" lIns="0" rIns="0" tIns="0" bIns="0" anchor="t">
            <a:noAutofit/>
          </a:bodyPr>
          <a:lstStyle/>
          <a:p>
            <a:pPr algn="ctr">
              <a:lnSpc>
                <a:spcPct val="112000"/>
              </a:lnSpc>
            </a:pPr>
            <a:r>
              <a:rPr sz="950" b="0" i="0">
                <a:solidFill>
                  <a:srgbClr val="AEB3BB"/>
                </a:solidFill>
                <a:latin typeface="Noto Sans KR SemiBold"/>
                <a:ea typeface="Noto Sans KR SemiBold"/>
                <a:cs typeface="Noto Sans KR SemiBold"/>
              </a:rPr>
              <a:t>SoftHand-4 (Concept)</a:t>
            </a:r>
          </a:p>
        </p:txBody>
      </p:sp>
      <p:sp>
        <p:nvSpPr>
          <p:cNvPr id="22" name="Card"/>
          <p:cNvSpPr/>
          <p:nvPr/>
        </p:nvSpPr>
        <p:spPr>
          <a:xfrm>
            <a:off x="7571232" y="1783080"/>
            <a:ext cx="4069080" cy="3520440"/>
          </a:xfrm>
          <a:prstGeom prst="roundRect">
            <a:avLst>
              <a:gd name="adj" fmla="val 2077"/>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bel"/>
          <p:cNvSpPr txBox="1"/>
          <p:nvPr/>
        </p:nvSpPr>
        <p:spPr>
          <a:xfrm>
            <a:off x="7799832" y="1965960"/>
            <a:ext cx="3657600" cy="201168"/>
          </a:xfrm>
          <a:prstGeom prst="rect">
            <a:avLst/>
          </a:prstGeom>
          <a:noFill/>
        </p:spPr>
        <p:txBody>
          <a:bodyPr wrap="square" lIns="0" rIns="0" tIns="0" bIns="0" anchor="t">
            <a:noAutofit/>
          </a:bodyPr>
          <a:lstStyle/>
          <a:p>
            <a:pPr algn="l">
              <a:lnSpc>
                <a:spcPct val="112000"/>
              </a:lnSpc>
            </a:pPr>
            <a:r>
              <a:rPr sz="950" b="0" i="0" spc="120">
                <a:solidFill>
                  <a:srgbClr val="EC7A3C"/>
                </a:solidFill>
                <a:latin typeface="Noto Sans KR SemiBold"/>
                <a:ea typeface="Noto Sans KR SemiBold"/>
                <a:cs typeface="Noto Sans KR SemiBold"/>
              </a:rPr>
              <a:t>우리 방식</a:t>
            </a:r>
          </a:p>
        </p:txBody>
      </p:sp>
      <p:sp>
        <p:nvSpPr>
          <p:cNvPr id="24" name="TextBox 23"/>
          <p:cNvSpPr txBox="1"/>
          <p:nvPr/>
        </p:nvSpPr>
        <p:spPr>
          <a:xfrm>
            <a:off x="7799832" y="2194560"/>
            <a:ext cx="3657600" cy="384048"/>
          </a:xfrm>
          <a:prstGeom prst="rect">
            <a:avLst/>
          </a:prstGeom>
          <a:noFill/>
        </p:spPr>
        <p:txBody>
          <a:bodyPr wrap="square" lIns="0" rIns="0" tIns="0" bIns="0" anchor="t">
            <a:noAutofit/>
          </a:bodyPr>
          <a:lstStyle/>
          <a:p>
            <a:pPr algn="l">
              <a:lnSpc>
                <a:spcPct val="112000"/>
              </a:lnSpc>
            </a:pPr>
            <a:r>
              <a:rPr sz="1700" b="0" i="0">
                <a:solidFill>
                  <a:srgbClr val="F2F2EF"/>
                </a:solidFill>
                <a:latin typeface="Noto Sans KR Black"/>
                <a:ea typeface="Noto Sans KR Black"/>
                <a:cs typeface="Noto Sans KR Black"/>
              </a:rPr>
              <a:t>Robot이 설비를 사용한다</a:t>
            </a:r>
          </a:p>
        </p:txBody>
      </p:sp>
      <p:sp>
        <p:nvSpPr>
          <p:cNvPr id="25" name="TextBox 24"/>
          <p:cNvSpPr txBox="1"/>
          <p:nvPr/>
        </p:nvSpPr>
        <p:spPr>
          <a:xfrm>
            <a:off x="7799832" y="2679192"/>
            <a:ext cx="3657600" cy="237744"/>
          </a:xfrm>
          <a:prstGeom prst="rect">
            <a:avLst/>
          </a:prstGeom>
          <a:noFill/>
        </p:spPr>
        <p:txBody>
          <a:bodyPr wrap="square" lIns="0" rIns="0" tIns="0" bIns="0" anchor="t">
            <a:noAutofit/>
          </a:bodyPr>
          <a:lstStyle/>
          <a:p>
            <a:pPr algn="l">
              <a:lnSpc>
                <a:spcPct val="112000"/>
              </a:lnSpc>
            </a:pPr>
            <a:r>
              <a:rPr sz="1050" b="0" i="0">
                <a:solidFill>
                  <a:srgbClr val="F3A574"/>
                </a:solidFill>
                <a:latin typeface="Noto Sans KR SemiBold"/>
                <a:ea typeface="Noto Sans KR SemiBold"/>
                <a:cs typeface="Noto Sans KR SemiBold"/>
              </a:rPr>
              <a:t>사람용 Interface를 고치지 않고 그대로 사용</a:t>
            </a:r>
          </a:p>
        </p:txBody>
      </p:sp>
      <p:sp>
        <p:nvSpPr>
          <p:cNvPr id="26" name="Chip 문"/>
          <p:cNvSpPr/>
          <p:nvPr/>
        </p:nvSpPr>
        <p:spPr>
          <a:xfrm>
            <a:off x="7799832" y="3026664"/>
            <a:ext cx="548640" cy="256032"/>
          </a:xfrm>
          <a:prstGeom prst="roundRect">
            <a:avLst>
              <a:gd name="adj" fmla="val 17857"/>
            </a:avLst>
          </a:prstGeom>
          <a:solidFill>
            <a:srgbClr val="3A26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F2F2EF"/>
                </a:solidFill>
                <a:latin typeface="Noto Sans KR SemiBold"/>
                <a:ea typeface="Noto Sans KR SemiBold"/>
                <a:cs typeface="Noto Sans KR SemiBold"/>
              </a:rPr>
              <a:t>문</a:t>
            </a:r>
          </a:p>
        </p:txBody>
      </p:sp>
      <p:sp>
        <p:nvSpPr>
          <p:cNvPr id="27" name="Chip 손잡이"/>
          <p:cNvSpPr/>
          <p:nvPr/>
        </p:nvSpPr>
        <p:spPr>
          <a:xfrm>
            <a:off x="8421624" y="3026664"/>
            <a:ext cx="749808" cy="256032"/>
          </a:xfrm>
          <a:prstGeom prst="roundRect">
            <a:avLst>
              <a:gd name="adj" fmla="val 17857"/>
            </a:avLst>
          </a:prstGeom>
          <a:solidFill>
            <a:srgbClr val="3A26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F2F2EF"/>
                </a:solidFill>
                <a:latin typeface="Noto Sans KR SemiBold"/>
                <a:ea typeface="Noto Sans KR SemiBold"/>
                <a:cs typeface="Noto Sans KR SemiBold"/>
              </a:rPr>
              <a:t>손잡이</a:t>
            </a:r>
          </a:p>
        </p:txBody>
      </p:sp>
      <p:sp>
        <p:nvSpPr>
          <p:cNvPr id="28" name="Chip 레버"/>
          <p:cNvSpPr/>
          <p:nvPr/>
        </p:nvSpPr>
        <p:spPr>
          <a:xfrm>
            <a:off x="9244584" y="3026664"/>
            <a:ext cx="640080" cy="256032"/>
          </a:xfrm>
          <a:prstGeom prst="roundRect">
            <a:avLst>
              <a:gd name="adj" fmla="val 17857"/>
            </a:avLst>
          </a:prstGeom>
          <a:solidFill>
            <a:srgbClr val="3A26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F2F2EF"/>
                </a:solidFill>
                <a:latin typeface="Noto Sans KR SemiBold"/>
                <a:ea typeface="Noto Sans KR SemiBold"/>
                <a:cs typeface="Noto Sans KR SemiBold"/>
              </a:rPr>
              <a:t>레버</a:t>
            </a:r>
          </a:p>
        </p:txBody>
      </p:sp>
      <p:sp>
        <p:nvSpPr>
          <p:cNvPr id="29" name="Chip 노브"/>
          <p:cNvSpPr/>
          <p:nvPr/>
        </p:nvSpPr>
        <p:spPr>
          <a:xfrm>
            <a:off x="9957816" y="3026664"/>
            <a:ext cx="640080" cy="256032"/>
          </a:xfrm>
          <a:prstGeom prst="roundRect">
            <a:avLst>
              <a:gd name="adj" fmla="val 17857"/>
            </a:avLst>
          </a:prstGeom>
          <a:solidFill>
            <a:srgbClr val="3A26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F2F2EF"/>
                </a:solidFill>
                <a:latin typeface="Noto Sans KR SemiBold"/>
                <a:ea typeface="Noto Sans KR SemiBold"/>
                <a:cs typeface="Noto Sans KR SemiBold"/>
              </a:rPr>
              <a:t>노브</a:t>
            </a:r>
          </a:p>
        </p:txBody>
      </p:sp>
      <p:sp>
        <p:nvSpPr>
          <p:cNvPr id="30" name="Chip 트레이"/>
          <p:cNvSpPr/>
          <p:nvPr/>
        </p:nvSpPr>
        <p:spPr>
          <a:xfrm>
            <a:off x="10671048" y="3026664"/>
            <a:ext cx="731520" cy="256032"/>
          </a:xfrm>
          <a:prstGeom prst="roundRect">
            <a:avLst>
              <a:gd name="adj" fmla="val 17857"/>
            </a:avLst>
          </a:prstGeom>
          <a:solidFill>
            <a:srgbClr val="3A26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F2F2EF"/>
                </a:solidFill>
                <a:latin typeface="Noto Sans KR SemiBold"/>
                <a:ea typeface="Noto Sans KR SemiBold"/>
                <a:cs typeface="Noto Sans KR SemiBold"/>
              </a:rPr>
              <a:t>트레이</a:t>
            </a:r>
          </a:p>
        </p:txBody>
      </p:sp>
      <p:sp>
        <p:nvSpPr>
          <p:cNvPr id="31" name="Chip 용기"/>
          <p:cNvSpPr/>
          <p:nvPr/>
        </p:nvSpPr>
        <p:spPr>
          <a:xfrm>
            <a:off x="7799832" y="3355848"/>
            <a:ext cx="548640" cy="256032"/>
          </a:xfrm>
          <a:prstGeom prst="roundRect">
            <a:avLst>
              <a:gd name="adj" fmla="val 17857"/>
            </a:avLst>
          </a:prstGeom>
          <a:solidFill>
            <a:srgbClr val="3A26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F2F2EF"/>
                </a:solidFill>
                <a:latin typeface="Noto Sans KR SemiBold"/>
                <a:ea typeface="Noto Sans KR SemiBold"/>
                <a:cs typeface="Noto Sans KR SemiBold"/>
              </a:rPr>
              <a:t>용기</a:t>
            </a:r>
          </a:p>
        </p:txBody>
      </p:sp>
      <p:sp>
        <p:nvSpPr>
          <p:cNvPr id="32" name="Chip 설비 조작부"/>
          <p:cNvSpPr/>
          <p:nvPr/>
        </p:nvSpPr>
        <p:spPr>
          <a:xfrm>
            <a:off x="8421624" y="3355848"/>
            <a:ext cx="1005840" cy="256032"/>
          </a:xfrm>
          <a:prstGeom prst="roundRect">
            <a:avLst>
              <a:gd name="adj" fmla="val 17857"/>
            </a:avLst>
          </a:prstGeom>
          <a:solidFill>
            <a:srgbClr val="3A26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F2F2EF"/>
                </a:solidFill>
                <a:latin typeface="Noto Sans KR SemiBold"/>
                <a:ea typeface="Noto Sans KR SemiBold"/>
                <a:cs typeface="Noto Sans KR SemiBold"/>
              </a:rPr>
              <a:t>설비 조작부</a:t>
            </a:r>
          </a:p>
        </p:txBody>
      </p:sp>
      <p:sp>
        <p:nvSpPr>
          <p:cNvPr id="33" name="Chip 공구"/>
          <p:cNvSpPr/>
          <p:nvPr/>
        </p:nvSpPr>
        <p:spPr>
          <a:xfrm>
            <a:off x="9500616" y="3355848"/>
            <a:ext cx="640080" cy="256032"/>
          </a:xfrm>
          <a:prstGeom prst="roundRect">
            <a:avLst>
              <a:gd name="adj" fmla="val 17857"/>
            </a:avLst>
          </a:prstGeom>
          <a:solidFill>
            <a:srgbClr val="3A26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a:solidFill>
                  <a:srgbClr val="F2F2EF"/>
                </a:solidFill>
                <a:latin typeface="Noto Sans KR SemiBold"/>
                <a:ea typeface="Noto Sans KR SemiBold"/>
                <a:cs typeface="Noto Sans KR SemiBold"/>
              </a:rPr>
              <a:t>공구</a:t>
            </a:r>
          </a:p>
        </p:txBody>
      </p:sp>
      <p:cxnSp>
        <p:nvCxnSpPr>
          <p:cNvPr id="34" name="Connector 33"/>
          <p:cNvCxnSpPr/>
          <p:nvPr/>
        </p:nvCxnSpPr>
        <p:spPr>
          <a:xfrm>
            <a:off x="7799832" y="3886200"/>
            <a:ext cx="3611880" cy="0"/>
          </a:xfrm>
          <a:prstGeom prst="line">
            <a:avLst/>
          </a:prstGeom>
          <a:ln w="9525">
            <a:solidFill>
              <a:srgbClr val="5A3A26"/>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799832" y="4023360"/>
            <a:ext cx="3657600" cy="822960"/>
          </a:xfrm>
          <a:prstGeom prst="rect">
            <a:avLst/>
          </a:prstGeom>
          <a:noFill/>
        </p:spPr>
        <p:txBody>
          <a:bodyPr wrap="square" lIns="0" rIns="0" tIns="0" bIns="0" anchor="t">
            <a:noAutofit/>
          </a:bodyPr>
          <a:lstStyle/>
          <a:p>
            <a:pPr algn="l">
              <a:lnSpc>
                <a:spcPct val="120000"/>
              </a:lnSpc>
            </a:pPr>
            <a:r>
              <a:rPr sz="1200" b="0" i="0">
                <a:solidFill>
                  <a:srgbClr val="F2F2EF"/>
                </a:solidFill>
                <a:latin typeface="Noto Sans KR Black"/>
                <a:ea typeface="Noto Sans KR Black"/>
                <a:cs typeface="Noto Sans KR Black"/>
              </a:rPr>
              <a:t>SoftHand-4</a:t>
            </a:r>
            <a:r>
              <a:rPr sz="1200" b="0" i="0">
                <a:solidFill>
                  <a:srgbClr val="AEB3BB"/>
                </a:solidFill>
                <a:latin typeface="Noto Sans KR Medium"/>
                <a:ea typeface="Noto Sans KR Medium"/>
                <a:cs typeface="Noto Sans KR Medium"/>
              </a:rPr>
              <a:t>는 자동화 유연성</a:t>
            </a:r>
          </a:p>
          <a:p>
            <a:pPr algn="l">
              <a:lnSpc>
                <a:spcPct val="120000"/>
              </a:lnSpc>
            </a:pPr>
            <a:r>
              <a:rPr sz="1200" b="0" i="0">
                <a:solidFill>
                  <a:srgbClr val="AEB3BB"/>
                </a:solidFill>
                <a:latin typeface="Noto Sans KR Medium"/>
                <a:ea typeface="Noto Sans KR Medium"/>
                <a:cs typeface="Noto Sans KR Medium"/>
              </a:rPr>
              <a:t>(Automation Flexibility)을 만드는 하드웨어 Interface</a:t>
            </a:r>
          </a:p>
        </p:txBody>
      </p:sp>
      <p:sp>
        <p:nvSpPr>
          <p:cNvPr id="36" name="Card"/>
          <p:cNvSpPr/>
          <p:nvPr/>
        </p:nvSpPr>
        <p:spPr>
          <a:xfrm>
            <a:off x="548640" y="5486400"/>
            <a:ext cx="11091672" cy="749808"/>
          </a:xfrm>
          <a:prstGeom prst="roundRect">
            <a:avLst>
              <a:gd name="adj" fmla="val 9756"/>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77240" y="5614416"/>
            <a:ext cx="2377440" cy="237744"/>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Black"/>
                <a:ea typeface="Noto Sans KR Black"/>
                <a:cs typeface="Noto Sans KR Black"/>
              </a:rPr>
              <a:t>첫 시장은 이미 설치된 Robot</a:t>
            </a:r>
          </a:p>
        </p:txBody>
      </p:sp>
      <p:sp>
        <p:nvSpPr>
          <p:cNvPr id="38" name="TextBox 37"/>
          <p:cNvSpPr txBox="1"/>
          <p:nvPr/>
        </p:nvSpPr>
        <p:spPr>
          <a:xfrm>
            <a:off x="777240" y="5888736"/>
            <a:ext cx="2468880"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휴머노이드를 기다리지 않는다</a:t>
            </a:r>
          </a:p>
        </p:txBody>
      </p:sp>
      <p:cxnSp>
        <p:nvCxnSpPr>
          <p:cNvPr id="39" name="Connector 38"/>
          <p:cNvCxnSpPr/>
          <p:nvPr/>
        </p:nvCxnSpPr>
        <p:spPr>
          <a:xfrm>
            <a:off x="3264408" y="5632704"/>
            <a:ext cx="0" cy="457200"/>
          </a:xfrm>
          <a:prstGeom prst="line">
            <a:avLst/>
          </a:prstGeom>
          <a:ln w="9525">
            <a:solidFill>
              <a:srgbClr val="3C424B"/>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3429000" y="5577840"/>
            <a:ext cx="1325880" cy="384048"/>
          </a:xfrm>
          <a:prstGeom prst="rect">
            <a:avLst/>
          </a:prstGeom>
          <a:noFill/>
        </p:spPr>
        <p:txBody>
          <a:bodyPr wrap="square" lIns="0" rIns="0" tIns="0" bIns="0" anchor="t">
            <a:noAutofit/>
          </a:bodyPr>
          <a:lstStyle/>
          <a:p>
            <a:pPr algn="l">
              <a:lnSpc>
                <a:spcPct val="100000"/>
              </a:lnSpc>
            </a:pPr>
            <a:r>
              <a:rPr sz="1900" b="0" i="0">
                <a:solidFill>
                  <a:srgbClr val="EC7A3C"/>
                </a:solidFill>
                <a:latin typeface="Noto Sans KR Black"/>
                <a:ea typeface="Noto Sans KR Black"/>
                <a:cs typeface="Noto Sans KR Black"/>
              </a:rPr>
              <a:t>508만 대</a:t>
            </a:r>
          </a:p>
        </p:txBody>
      </p:sp>
      <p:sp>
        <p:nvSpPr>
          <p:cNvPr id="41" name="TextBox 40"/>
          <p:cNvSpPr txBox="1"/>
          <p:nvPr/>
        </p:nvSpPr>
        <p:spPr>
          <a:xfrm>
            <a:off x="4727448" y="5715000"/>
            <a:ext cx="1371600" cy="411480"/>
          </a:xfrm>
          <a:prstGeom prst="rect">
            <a:avLst/>
          </a:prstGeom>
          <a:noFill/>
        </p:spPr>
        <p:txBody>
          <a:bodyPr wrap="square" lIns="0" rIns="0" tIns="0" bIns="0" anchor="t">
            <a:noAutofit/>
          </a:bodyPr>
          <a:lstStyle/>
          <a:p>
            <a:pPr algn="l">
              <a:lnSpc>
                <a:spcPct val="110000"/>
              </a:lnSpc>
            </a:pPr>
            <a:r>
              <a:rPr sz="900" b="0" i="0">
                <a:solidFill>
                  <a:srgbClr val="AEB3BB"/>
                </a:solidFill>
                <a:latin typeface="Noto Sans KR"/>
                <a:ea typeface="Noto Sans KR"/>
                <a:cs typeface="Noto Sans KR"/>
              </a:rPr>
              <a:t>가동 중 산업용 Robot (2025)</a:t>
            </a:r>
          </a:p>
        </p:txBody>
      </p:sp>
      <p:cxnSp>
        <p:nvCxnSpPr>
          <p:cNvPr id="42" name="Connector 41"/>
          <p:cNvCxnSpPr/>
          <p:nvPr/>
        </p:nvCxnSpPr>
        <p:spPr>
          <a:xfrm>
            <a:off x="6007608" y="5632704"/>
            <a:ext cx="0" cy="457200"/>
          </a:xfrm>
          <a:prstGeom prst="line">
            <a:avLst/>
          </a:prstGeom>
          <a:ln w="9525">
            <a:solidFill>
              <a:srgbClr val="3C424B"/>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172200" y="5577840"/>
            <a:ext cx="1325880" cy="384048"/>
          </a:xfrm>
          <a:prstGeom prst="rect">
            <a:avLst/>
          </a:prstGeom>
          <a:noFill/>
        </p:spPr>
        <p:txBody>
          <a:bodyPr wrap="square" lIns="0" rIns="0" tIns="0" bIns="0" anchor="t">
            <a:noAutofit/>
          </a:bodyPr>
          <a:lstStyle/>
          <a:p>
            <a:pPr algn="l">
              <a:lnSpc>
                <a:spcPct val="100000"/>
              </a:lnSpc>
            </a:pPr>
            <a:r>
              <a:rPr sz="1900" b="0" i="0">
                <a:solidFill>
                  <a:srgbClr val="F2F2EF"/>
                </a:solidFill>
                <a:latin typeface="Noto Sans KR Black"/>
                <a:ea typeface="Noto Sans KR Black"/>
                <a:cs typeface="Noto Sans KR Black"/>
              </a:rPr>
              <a:t>60만+ 대</a:t>
            </a:r>
          </a:p>
        </p:txBody>
      </p:sp>
      <p:sp>
        <p:nvSpPr>
          <p:cNvPr id="44" name="TextBox 43"/>
          <p:cNvSpPr txBox="1"/>
          <p:nvPr/>
        </p:nvSpPr>
        <p:spPr>
          <a:xfrm>
            <a:off x="7470648" y="5715000"/>
            <a:ext cx="1371600" cy="411480"/>
          </a:xfrm>
          <a:prstGeom prst="rect">
            <a:avLst/>
          </a:prstGeom>
          <a:noFill/>
        </p:spPr>
        <p:txBody>
          <a:bodyPr wrap="square" lIns="0" rIns="0" tIns="0" bIns="0" anchor="t">
            <a:noAutofit/>
          </a:bodyPr>
          <a:lstStyle/>
          <a:p>
            <a:pPr algn="l">
              <a:lnSpc>
                <a:spcPct val="110000"/>
              </a:lnSpc>
            </a:pPr>
            <a:r>
              <a:rPr sz="900" b="0" i="0">
                <a:solidFill>
                  <a:srgbClr val="AEB3BB"/>
                </a:solidFill>
                <a:latin typeface="Noto Sans KR"/>
                <a:ea typeface="Noto Sans KR"/>
                <a:cs typeface="Noto Sans KR"/>
              </a:rPr>
              <a:t>2025년 신규 설치 · +11%</a:t>
            </a:r>
          </a:p>
        </p:txBody>
      </p:sp>
      <p:cxnSp>
        <p:nvCxnSpPr>
          <p:cNvPr id="45" name="Connector 44"/>
          <p:cNvCxnSpPr/>
          <p:nvPr/>
        </p:nvCxnSpPr>
        <p:spPr>
          <a:xfrm>
            <a:off x="8750808" y="5632704"/>
            <a:ext cx="0" cy="457200"/>
          </a:xfrm>
          <a:prstGeom prst="line">
            <a:avLst/>
          </a:prstGeom>
          <a:ln w="9525">
            <a:solidFill>
              <a:srgbClr val="3C424B"/>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8915400" y="5577840"/>
            <a:ext cx="1325880" cy="384048"/>
          </a:xfrm>
          <a:prstGeom prst="rect">
            <a:avLst/>
          </a:prstGeom>
          <a:noFill/>
        </p:spPr>
        <p:txBody>
          <a:bodyPr wrap="square" lIns="0" rIns="0" tIns="0" bIns="0" anchor="t">
            <a:noAutofit/>
          </a:bodyPr>
          <a:lstStyle/>
          <a:p>
            <a:pPr algn="l">
              <a:lnSpc>
                <a:spcPct val="100000"/>
              </a:lnSpc>
            </a:pPr>
            <a:r>
              <a:rPr sz="1900" b="0" i="0">
                <a:solidFill>
                  <a:srgbClr val="F2F2EF"/>
                </a:solidFill>
                <a:latin typeface="Noto Sans KR Black"/>
                <a:ea typeface="Noto Sans KR Black"/>
                <a:cs typeface="Noto Sans KR Black"/>
              </a:rPr>
              <a:t>3.0만 대</a:t>
            </a:r>
          </a:p>
        </p:txBody>
      </p:sp>
      <p:sp>
        <p:nvSpPr>
          <p:cNvPr id="47" name="TextBox 46"/>
          <p:cNvSpPr txBox="1"/>
          <p:nvPr/>
        </p:nvSpPr>
        <p:spPr>
          <a:xfrm>
            <a:off x="10213848" y="5715000"/>
            <a:ext cx="1371600" cy="411480"/>
          </a:xfrm>
          <a:prstGeom prst="rect">
            <a:avLst/>
          </a:prstGeom>
          <a:noFill/>
        </p:spPr>
        <p:txBody>
          <a:bodyPr wrap="square" lIns="0" rIns="0" tIns="0" bIns="0" anchor="t">
            <a:noAutofit/>
          </a:bodyPr>
          <a:lstStyle/>
          <a:p>
            <a:pPr algn="l">
              <a:lnSpc>
                <a:spcPct val="110000"/>
              </a:lnSpc>
            </a:pPr>
            <a:r>
              <a:rPr sz="900" b="0" i="0">
                <a:solidFill>
                  <a:srgbClr val="AEB3BB"/>
                </a:solidFill>
                <a:latin typeface="Noto Sans KR"/>
                <a:ea typeface="Noto Sans KR"/>
                <a:cs typeface="Noto Sans KR"/>
              </a:rPr>
              <a:t>한국 연간 설치 · 로봇밀도 세계 1위</a:t>
            </a:r>
          </a:p>
        </p:txBody>
      </p:sp>
      <p:sp>
        <p:nvSpPr>
          <p:cNvPr id="48" name="TextBox 47"/>
          <p:cNvSpPr txBox="1"/>
          <p:nvPr/>
        </p:nvSpPr>
        <p:spPr>
          <a:xfrm>
            <a:off x="548640" y="6272784"/>
            <a:ext cx="11091672" cy="182880"/>
          </a:xfrm>
          <a:prstGeom prst="rect">
            <a:avLst/>
          </a:prstGeom>
          <a:noFill/>
        </p:spPr>
        <p:txBody>
          <a:bodyPr wrap="square" lIns="0" rIns="0" tIns="0" bIns="0" anchor="t">
            <a:noAutofit/>
          </a:bodyPr>
          <a:lstStyle/>
          <a:p>
            <a:pPr algn="r">
              <a:lnSpc>
                <a:spcPct val="112000"/>
              </a:lnSpc>
            </a:pPr>
            <a:r>
              <a:rPr sz="800" b="0" i="0">
                <a:solidFill>
                  <a:srgbClr val="737882"/>
                </a:solidFill>
                <a:latin typeface="Noto Sans KR"/>
                <a:ea typeface="Noto Sans KR"/>
                <a:cs typeface="Noto Sans KR"/>
              </a:rPr>
              <a:t>Source: IFR World Robotics 2026 (2026.9) · IFR Robot Density (2026.4)</a:t>
            </a:r>
          </a:p>
        </p:txBody>
      </p:sp>
      <p:sp>
        <p:nvSpPr>
          <p:cNvPr id="49"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50"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04  ·  핵심 기술</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잡을 때는 부드럽게, 일할 때는 단단하게</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Soft to Grasp. Rigid to Work.</a:t>
            </a:r>
          </a:p>
        </p:txBody>
      </p:sp>
      <p:sp>
        <p:nvSpPr>
          <p:cNvPr id="6" name="Tag CONCEPT RENDERING"/>
          <p:cNvSpPr/>
          <p:nvPr/>
        </p:nvSpPr>
        <p:spPr>
          <a:xfrm>
            <a:off x="10042568" y="365760"/>
            <a:ext cx="1597744" cy="24688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CONCEPT RENDERING</a:t>
            </a:r>
          </a:p>
        </p:txBody>
      </p:sp>
      <p:sp>
        <p:nvSpPr>
          <p:cNvPr id="7" name="Card"/>
          <p:cNvSpPr/>
          <p:nvPr/>
        </p:nvSpPr>
        <p:spPr>
          <a:xfrm>
            <a:off x="548640" y="1783080"/>
            <a:ext cx="3383280" cy="2395728"/>
          </a:xfrm>
          <a:prstGeom prst="roundRect">
            <a:avLst>
              <a:gd name="adj" fmla="val 305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abel"/>
          <p:cNvSpPr txBox="1"/>
          <p:nvPr/>
        </p:nvSpPr>
        <p:spPr>
          <a:xfrm>
            <a:off x="777240" y="1965960"/>
            <a:ext cx="2926080" cy="201168"/>
          </a:xfrm>
          <a:prstGeom prst="rect">
            <a:avLst/>
          </a:prstGeom>
          <a:noFill/>
        </p:spPr>
        <p:txBody>
          <a:bodyPr wrap="square" lIns="0" rIns="0" tIns="0" bIns="0" anchor="t">
            <a:noAutofit/>
          </a:bodyPr>
          <a:lstStyle/>
          <a:p>
            <a:pPr algn="l">
              <a:lnSpc>
                <a:spcPct val="112000"/>
              </a:lnSpc>
            </a:pPr>
            <a:r>
              <a:rPr sz="950" b="0" i="0" spc="120">
                <a:solidFill>
                  <a:srgbClr val="EC7A3C"/>
                </a:solidFill>
                <a:latin typeface="Noto Sans KR SemiBold"/>
                <a:ea typeface="Noto Sans KR SemiBold"/>
                <a:cs typeface="Noto Sans KR SemiBold"/>
              </a:rPr>
              <a:t>잡기 · GRASP</a:t>
            </a:r>
          </a:p>
        </p:txBody>
      </p:sp>
      <p:sp>
        <p:nvSpPr>
          <p:cNvPr id="9" name="TextBox 8"/>
          <p:cNvSpPr txBox="1"/>
          <p:nvPr/>
        </p:nvSpPr>
        <p:spPr>
          <a:xfrm>
            <a:off x="777240" y="2194560"/>
            <a:ext cx="3017520" cy="384048"/>
          </a:xfrm>
          <a:prstGeom prst="rect">
            <a:avLst/>
          </a:prstGeom>
          <a:noFill/>
        </p:spPr>
        <p:txBody>
          <a:bodyPr wrap="square" lIns="0" rIns="0" tIns="0" bIns="0" anchor="t">
            <a:noAutofit/>
          </a:bodyPr>
          <a:lstStyle/>
          <a:p>
            <a:pPr algn="l">
              <a:lnSpc>
                <a:spcPct val="112000"/>
              </a:lnSpc>
            </a:pPr>
            <a:r>
              <a:rPr sz="1700" b="0" i="0">
                <a:solidFill>
                  <a:srgbClr val="F2F2EF"/>
                </a:solidFill>
                <a:latin typeface="Noto Sans KR Black"/>
                <a:ea typeface="Noto Sans KR Black"/>
                <a:cs typeface="Noto Sans KR Black"/>
              </a:rPr>
              <a:t>부드러워야 잘 잡는다</a:t>
            </a:r>
          </a:p>
        </p:txBody>
      </p:sp>
      <p:sp>
        <p:nvSpPr>
          <p:cNvPr id="10" name="dot"/>
          <p:cNvSpPr/>
          <p:nvPr/>
        </p:nvSpPr>
        <p:spPr>
          <a:xfrm>
            <a:off x="795528" y="2834640"/>
            <a:ext cx="73152" cy="73152"/>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0120" y="2743200"/>
            <a:ext cx="2834640" cy="256032"/>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SemiBold"/>
                <a:ea typeface="Noto Sans KR SemiBold"/>
                <a:cs typeface="Noto Sans KR SemiBold"/>
              </a:rPr>
              <a:t>형상 차이 대응</a:t>
            </a:r>
            <a:r>
              <a:rPr sz="950" b="0" i="0">
                <a:solidFill>
                  <a:srgbClr val="AEB3BB"/>
                </a:solidFill>
                <a:latin typeface="Noto Sans KR"/>
                <a:ea typeface="Noto Sans KR"/>
                <a:cs typeface="Noto Sans KR"/>
              </a:rPr>
              <a:t>   다른 SKU · 용기 · 부품</a:t>
            </a:r>
          </a:p>
        </p:txBody>
      </p:sp>
      <p:sp>
        <p:nvSpPr>
          <p:cNvPr id="12" name="dot"/>
          <p:cNvSpPr/>
          <p:nvPr/>
        </p:nvSpPr>
        <p:spPr>
          <a:xfrm>
            <a:off x="795528" y="3182112"/>
            <a:ext cx="73152" cy="73152"/>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60120" y="3090672"/>
            <a:ext cx="2834640" cy="256032"/>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SemiBold"/>
                <a:ea typeface="Noto Sans KR SemiBold"/>
                <a:cs typeface="Noto Sans KR SemiBold"/>
              </a:rPr>
              <a:t>위치 오차 흡수</a:t>
            </a:r>
            <a:r>
              <a:rPr sz="950" b="0" i="0">
                <a:solidFill>
                  <a:srgbClr val="AEB3BB"/>
                </a:solidFill>
                <a:latin typeface="Noto Sans KR"/>
                <a:ea typeface="Noto Sans KR"/>
                <a:cs typeface="Noto Sans KR"/>
              </a:rPr>
              <a:t>   Jig 의존도 감소</a:t>
            </a:r>
          </a:p>
        </p:txBody>
      </p:sp>
      <p:sp>
        <p:nvSpPr>
          <p:cNvPr id="14" name="dot"/>
          <p:cNvSpPr/>
          <p:nvPr/>
        </p:nvSpPr>
        <p:spPr>
          <a:xfrm>
            <a:off x="795528" y="3529584"/>
            <a:ext cx="73152" cy="73152"/>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0120" y="3438144"/>
            <a:ext cx="2834640" cy="256032"/>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SemiBold"/>
                <a:ea typeface="Noto Sans KR SemiBold"/>
                <a:cs typeface="Noto Sans KR SemiBold"/>
              </a:rPr>
              <a:t>미끄러짐 대응</a:t>
            </a:r>
            <a:r>
              <a:rPr sz="950" b="0" i="0">
                <a:solidFill>
                  <a:srgbClr val="AEB3BB"/>
                </a:solidFill>
                <a:latin typeface="Noto Sans KR"/>
                <a:ea typeface="Noto Sans KR"/>
                <a:cs typeface="Noto Sans KR"/>
              </a:rPr>
              <a:t>   촉각 · 힘 제어</a:t>
            </a:r>
          </a:p>
        </p:txBody>
      </p:sp>
      <p:sp>
        <p:nvSpPr>
          <p:cNvPr id="16" name="Tag 순응성 Compliance"/>
          <p:cNvSpPr/>
          <p:nvPr/>
        </p:nvSpPr>
        <p:spPr>
          <a:xfrm>
            <a:off x="777240" y="3794760"/>
            <a:ext cx="1351938" cy="237744"/>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순응성 Compliance</a:t>
            </a:r>
          </a:p>
        </p:txBody>
      </p:sp>
      <p:sp>
        <p:nvSpPr>
          <p:cNvPr id="17" name="Card"/>
          <p:cNvSpPr/>
          <p:nvPr/>
        </p:nvSpPr>
        <p:spPr>
          <a:xfrm>
            <a:off x="8257032" y="1783080"/>
            <a:ext cx="3383280" cy="2395728"/>
          </a:xfrm>
          <a:prstGeom prst="roundRect">
            <a:avLst>
              <a:gd name="adj" fmla="val 305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abel"/>
          <p:cNvSpPr txBox="1"/>
          <p:nvPr/>
        </p:nvSpPr>
        <p:spPr>
          <a:xfrm>
            <a:off x="8485632" y="1965960"/>
            <a:ext cx="2926080" cy="201168"/>
          </a:xfrm>
          <a:prstGeom prst="rect">
            <a:avLst/>
          </a:prstGeom>
          <a:noFill/>
        </p:spPr>
        <p:txBody>
          <a:bodyPr wrap="square" lIns="0" rIns="0" tIns="0" bIns="0" anchor="t">
            <a:noAutofit/>
          </a:bodyPr>
          <a:lstStyle/>
          <a:p>
            <a:pPr algn="l">
              <a:lnSpc>
                <a:spcPct val="112000"/>
              </a:lnSpc>
            </a:pPr>
            <a:r>
              <a:rPr sz="950" b="0" i="0" spc="120">
                <a:solidFill>
                  <a:srgbClr val="EC7A3C"/>
                </a:solidFill>
                <a:latin typeface="Noto Sans KR SemiBold"/>
                <a:ea typeface="Noto Sans KR SemiBold"/>
                <a:cs typeface="Noto Sans KR SemiBold"/>
              </a:rPr>
              <a:t>일하기 · WORK</a:t>
            </a:r>
          </a:p>
        </p:txBody>
      </p:sp>
      <p:sp>
        <p:nvSpPr>
          <p:cNvPr id="19" name="TextBox 18"/>
          <p:cNvSpPr txBox="1"/>
          <p:nvPr/>
        </p:nvSpPr>
        <p:spPr>
          <a:xfrm>
            <a:off x="8485632" y="2194560"/>
            <a:ext cx="3017520" cy="384048"/>
          </a:xfrm>
          <a:prstGeom prst="rect">
            <a:avLst/>
          </a:prstGeom>
          <a:noFill/>
        </p:spPr>
        <p:txBody>
          <a:bodyPr wrap="square" lIns="0" rIns="0" tIns="0" bIns="0" anchor="t">
            <a:noAutofit/>
          </a:bodyPr>
          <a:lstStyle/>
          <a:p>
            <a:pPr algn="l">
              <a:lnSpc>
                <a:spcPct val="112000"/>
              </a:lnSpc>
            </a:pPr>
            <a:r>
              <a:rPr sz="1700" b="0" i="0">
                <a:solidFill>
                  <a:srgbClr val="F2F2EF"/>
                </a:solidFill>
                <a:latin typeface="Noto Sans KR Black"/>
                <a:ea typeface="Noto Sans KR Black"/>
                <a:cs typeface="Noto Sans KR Black"/>
              </a:rPr>
              <a:t>단단해야 일을 끝낸다</a:t>
            </a:r>
          </a:p>
        </p:txBody>
      </p:sp>
      <p:sp>
        <p:nvSpPr>
          <p:cNvPr id="20" name="dot"/>
          <p:cNvSpPr/>
          <p:nvPr/>
        </p:nvSpPr>
        <p:spPr>
          <a:xfrm>
            <a:off x="8503920" y="2834640"/>
            <a:ext cx="73152" cy="73152"/>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68512" y="2743200"/>
            <a:ext cx="2834640" cy="256032"/>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SemiBold"/>
                <a:ea typeface="Noto Sans KR SemiBold"/>
                <a:cs typeface="Noto Sans KR SemiBold"/>
              </a:rPr>
              <a:t>토크 전달</a:t>
            </a:r>
            <a:r>
              <a:rPr sz="950" b="0" i="0">
                <a:solidFill>
                  <a:srgbClr val="AEB3BB"/>
                </a:solidFill>
                <a:latin typeface="Noto Sans KR"/>
                <a:ea typeface="Noto Sans KR"/>
                <a:cs typeface="Noto Sans KR"/>
              </a:rPr>
              <a:t>   레버 · 노브</a:t>
            </a:r>
          </a:p>
        </p:txBody>
      </p:sp>
      <p:sp>
        <p:nvSpPr>
          <p:cNvPr id="22" name="dot"/>
          <p:cNvSpPr/>
          <p:nvPr/>
        </p:nvSpPr>
        <p:spPr>
          <a:xfrm>
            <a:off x="8503920" y="3182112"/>
            <a:ext cx="73152" cy="73152"/>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68512" y="3090672"/>
            <a:ext cx="2834640" cy="256032"/>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SemiBold"/>
                <a:ea typeface="Noto Sans KR SemiBold"/>
                <a:cs typeface="Noto Sans KR SemiBold"/>
              </a:rPr>
              <a:t>반력 지지</a:t>
            </a:r>
            <a:r>
              <a:rPr sz="950" b="0" i="0">
                <a:solidFill>
                  <a:srgbClr val="AEB3BB"/>
                </a:solidFill>
                <a:latin typeface="Noto Sans KR"/>
                <a:ea typeface="Noto Sans KR"/>
                <a:cs typeface="Noto Sans KR"/>
              </a:rPr>
              <a:t>   문 · 손잡이</a:t>
            </a:r>
          </a:p>
        </p:txBody>
      </p:sp>
      <p:sp>
        <p:nvSpPr>
          <p:cNvPr id="24" name="dot"/>
          <p:cNvSpPr/>
          <p:nvPr/>
        </p:nvSpPr>
        <p:spPr>
          <a:xfrm>
            <a:off x="8503920" y="3529584"/>
            <a:ext cx="73152" cy="73152"/>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68512" y="3438144"/>
            <a:ext cx="2834640" cy="256032"/>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SemiBold"/>
                <a:ea typeface="Noto Sans KR SemiBold"/>
                <a:cs typeface="Noto Sans KR SemiBold"/>
              </a:rPr>
              <a:t>모멘트 저항</a:t>
            </a:r>
            <a:r>
              <a:rPr sz="950" b="0" i="0">
                <a:solidFill>
                  <a:srgbClr val="AEB3BB"/>
                </a:solidFill>
                <a:latin typeface="Noto Sans KR"/>
                <a:ea typeface="Noto Sans KR"/>
                <a:cs typeface="Noto Sans KR"/>
              </a:rPr>
              <a:t>   투입 자세 유지</a:t>
            </a:r>
          </a:p>
        </p:txBody>
      </p:sp>
      <p:sp>
        <p:nvSpPr>
          <p:cNvPr id="26" name="Tag 강성 Stiffness"/>
          <p:cNvSpPr/>
          <p:nvPr/>
        </p:nvSpPr>
        <p:spPr>
          <a:xfrm>
            <a:off x="8485632" y="3794760"/>
            <a:ext cx="1067253" cy="237744"/>
          </a:xfrm>
          <a:prstGeom prst="roundRect">
            <a:avLst>
              <a:gd name="adj" fmla="val 50000"/>
            </a:avLst>
          </a:prstGeom>
          <a:noFill/>
          <a:ln w="952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EC7A3C"/>
                </a:solidFill>
                <a:latin typeface="Noto Sans KR SemiBold"/>
                <a:ea typeface="Noto Sans KR SemiBold"/>
                <a:cs typeface="Noto Sans KR SemiBold"/>
              </a:rPr>
              <a:t>강성 Stiffness</a:t>
            </a:r>
          </a:p>
        </p:txBody>
      </p:sp>
      <p:pic>
        <p:nvPicPr>
          <p:cNvPr id="27" name="SoftHand-4 cutaway rendering" descr="cutaway.png"/>
          <p:cNvPicPr>
            <a:picLocks noChangeAspect="1"/>
          </p:cNvPicPr>
          <p:nvPr/>
        </p:nvPicPr>
        <p:blipFill>
          <a:blip r:embed="rId2"/>
          <a:stretch>
            <a:fillRect/>
          </a:stretch>
        </p:blipFill>
        <p:spPr>
          <a:xfrm>
            <a:off x="5111383" y="1600200"/>
            <a:ext cx="1966185" cy="4434840"/>
          </a:xfrm>
          <a:prstGeom prst="rect">
            <a:avLst/>
          </a:prstGeom>
        </p:spPr>
      </p:pic>
      <p:sp>
        <p:nvSpPr>
          <p:cNvPr id="28" name="badge 1"/>
          <p:cNvSpPr/>
          <p:nvPr/>
        </p:nvSpPr>
        <p:spPr>
          <a:xfrm>
            <a:off x="5307101" y="1703070"/>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1</a:t>
            </a:r>
          </a:p>
        </p:txBody>
      </p:sp>
      <p:sp>
        <p:nvSpPr>
          <p:cNvPr id="29" name="badge 2"/>
          <p:cNvSpPr/>
          <p:nvPr/>
        </p:nvSpPr>
        <p:spPr>
          <a:xfrm>
            <a:off x="5975604" y="2456993"/>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2</a:t>
            </a:r>
          </a:p>
        </p:txBody>
      </p:sp>
      <p:sp>
        <p:nvSpPr>
          <p:cNvPr id="30" name="badge 3"/>
          <p:cNvSpPr/>
          <p:nvPr/>
        </p:nvSpPr>
        <p:spPr>
          <a:xfrm>
            <a:off x="6762078" y="2944825"/>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3</a:t>
            </a:r>
          </a:p>
        </p:txBody>
      </p:sp>
      <p:sp>
        <p:nvSpPr>
          <p:cNvPr id="31" name="badge 4"/>
          <p:cNvSpPr/>
          <p:nvPr/>
        </p:nvSpPr>
        <p:spPr>
          <a:xfrm>
            <a:off x="5582367" y="2523515"/>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4</a:t>
            </a:r>
          </a:p>
        </p:txBody>
      </p:sp>
      <p:sp>
        <p:nvSpPr>
          <p:cNvPr id="32" name="badge 5"/>
          <p:cNvSpPr/>
          <p:nvPr/>
        </p:nvSpPr>
        <p:spPr>
          <a:xfrm>
            <a:off x="6014928" y="5295290"/>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5</a:t>
            </a:r>
          </a:p>
        </p:txBody>
      </p:sp>
      <p:sp>
        <p:nvSpPr>
          <p:cNvPr id="33" name="TextBox 32"/>
          <p:cNvSpPr txBox="1"/>
          <p:nvPr/>
        </p:nvSpPr>
        <p:spPr>
          <a:xfrm>
            <a:off x="548640" y="4297680"/>
            <a:ext cx="3383280" cy="237744"/>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SemiBold"/>
                <a:ea typeface="Noto Sans KR SemiBold"/>
                <a:cs typeface="Noto Sans KR SemiBold"/>
              </a:rPr>
              <a:t>⇅  잡기와 일하기는 서로 충돌한다</a:t>
            </a:r>
          </a:p>
        </p:txBody>
      </p:sp>
      <p:sp>
        <p:nvSpPr>
          <p:cNvPr id="34" name="badge 1"/>
          <p:cNvSpPr/>
          <p:nvPr/>
        </p:nvSpPr>
        <p:spPr>
          <a:xfrm>
            <a:off x="548640" y="4636008"/>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1</a:t>
            </a:r>
          </a:p>
        </p:txBody>
      </p:sp>
      <p:sp>
        <p:nvSpPr>
          <p:cNvPr id="35" name="TextBox 34"/>
          <p:cNvSpPr txBox="1"/>
          <p:nvPr/>
        </p:nvSpPr>
        <p:spPr>
          <a:xfrm>
            <a:off x="877824" y="4617720"/>
            <a:ext cx="2103120" cy="237744"/>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SemiBold"/>
                <a:ea typeface="Noto Sans KR SemiBold"/>
                <a:cs typeface="Noto Sans KR SemiBold"/>
              </a:rPr>
              <a:t>부드러운 접촉면</a:t>
            </a:r>
            <a:r>
              <a:rPr sz="800" b="0" i="0">
                <a:solidFill>
                  <a:srgbClr val="8A8F97"/>
                </a:solidFill>
                <a:latin typeface="Noto Sans KR"/>
                <a:ea typeface="Noto Sans KR"/>
                <a:cs typeface="Noto Sans KR"/>
              </a:rPr>
              <a:t>  Soft Contact Surface</a:t>
            </a:r>
          </a:p>
        </p:txBody>
      </p:sp>
      <p:sp>
        <p:nvSpPr>
          <p:cNvPr id="36" name="TextBox 35"/>
          <p:cNvSpPr txBox="1"/>
          <p:nvPr/>
        </p:nvSpPr>
        <p:spPr>
          <a:xfrm>
            <a:off x="877824" y="4855464"/>
            <a:ext cx="2103120" cy="201168"/>
          </a:xfrm>
          <a:prstGeom prst="rect">
            <a:avLst/>
          </a:prstGeom>
          <a:noFill/>
        </p:spPr>
        <p:txBody>
          <a:bodyPr wrap="square" lIns="0" rIns="0" tIns="0" bIns="0" anchor="t">
            <a:noAutofit/>
          </a:bodyPr>
          <a:lstStyle/>
          <a:p>
            <a:pPr algn="l">
              <a:lnSpc>
                <a:spcPct val="112000"/>
              </a:lnSpc>
            </a:pPr>
            <a:r>
              <a:rPr sz="900" b="0" i="0">
                <a:solidFill>
                  <a:srgbClr val="AEB3BB"/>
                </a:solidFill>
                <a:latin typeface="Noto Sans KR"/>
                <a:ea typeface="Noto Sans KR"/>
                <a:cs typeface="Noto Sans KR"/>
              </a:rPr>
              <a:t>교체형 탄성 패드</a:t>
            </a:r>
          </a:p>
        </p:txBody>
      </p:sp>
      <p:sp>
        <p:nvSpPr>
          <p:cNvPr id="37" name="Tag CONCEPT"/>
          <p:cNvSpPr/>
          <p:nvPr/>
        </p:nvSpPr>
        <p:spPr>
          <a:xfrm>
            <a:off x="3200400" y="4654296"/>
            <a:ext cx="731520" cy="20116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750" b="0" i="0" spc="40">
                <a:solidFill>
                  <a:srgbClr val="AEB3BB"/>
                </a:solidFill>
                <a:latin typeface="Noto Sans KR SemiBold"/>
                <a:ea typeface="Noto Sans KR SemiBold"/>
                <a:cs typeface="Noto Sans KR SemiBold"/>
              </a:rPr>
              <a:t>CONCEPT</a:t>
            </a:r>
          </a:p>
        </p:txBody>
      </p:sp>
      <p:sp>
        <p:nvSpPr>
          <p:cNvPr id="38" name="badge 2"/>
          <p:cNvSpPr/>
          <p:nvPr/>
        </p:nvSpPr>
        <p:spPr>
          <a:xfrm>
            <a:off x="548640" y="5111496"/>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2</a:t>
            </a:r>
          </a:p>
        </p:txBody>
      </p:sp>
      <p:sp>
        <p:nvSpPr>
          <p:cNvPr id="39" name="TextBox 38"/>
          <p:cNvSpPr txBox="1"/>
          <p:nvPr/>
        </p:nvSpPr>
        <p:spPr>
          <a:xfrm>
            <a:off x="877824" y="5093208"/>
            <a:ext cx="2103120" cy="237744"/>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SemiBold"/>
                <a:ea typeface="Noto Sans KR SemiBold"/>
                <a:cs typeface="Noto Sans KR SemiBold"/>
              </a:rPr>
              <a:t>하중 지지 골격</a:t>
            </a:r>
            <a:r>
              <a:rPr sz="800" b="0" i="0">
                <a:solidFill>
                  <a:srgbClr val="8A8F97"/>
                </a:solidFill>
                <a:latin typeface="Noto Sans KR"/>
                <a:ea typeface="Noto Sans KR"/>
                <a:cs typeface="Noto Sans KR"/>
              </a:rPr>
              <a:t>  Load-bearing Skeleton</a:t>
            </a:r>
          </a:p>
        </p:txBody>
      </p:sp>
      <p:sp>
        <p:nvSpPr>
          <p:cNvPr id="40" name="TextBox 39"/>
          <p:cNvSpPr txBox="1"/>
          <p:nvPr/>
        </p:nvSpPr>
        <p:spPr>
          <a:xfrm>
            <a:off x="877824" y="5330952"/>
            <a:ext cx="2103120" cy="201168"/>
          </a:xfrm>
          <a:prstGeom prst="rect">
            <a:avLst/>
          </a:prstGeom>
          <a:noFill/>
        </p:spPr>
        <p:txBody>
          <a:bodyPr wrap="square" lIns="0" rIns="0" tIns="0" bIns="0" anchor="t">
            <a:noAutofit/>
          </a:bodyPr>
          <a:lstStyle/>
          <a:p>
            <a:pPr algn="l">
              <a:lnSpc>
                <a:spcPct val="112000"/>
              </a:lnSpc>
            </a:pPr>
            <a:r>
              <a:rPr sz="900" b="0" i="0">
                <a:solidFill>
                  <a:srgbClr val="AEB3BB"/>
                </a:solidFill>
                <a:latin typeface="Noto Sans KR"/>
                <a:ea typeface="Noto Sans KR"/>
                <a:cs typeface="Noto Sans KR"/>
              </a:rPr>
              <a:t>토크 · 반력은 골격이 부담</a:t>
            </a:r>
          </a:p>
        </p:txBody>
      </p:sp>
      <p:sp>
        <p:nvSpPr>
          <p:cNvPr id="41" name="Tag CONCEPT"/>
          <p:cNvSpPr/>
          <p:nvPr/>
        </p:nvSpPr>
        <p:spPr>
          <a:xfrm>
            <a:off x="3200400" y="5129784"/>
            <a:ext cx="731520" cy="20116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750" b="0" i="0" spc="40">
                <a:solidFill>
                  <a:srgbClr val="AEB3BB"/>
                </a:solidFill>
                <a:latin typeface="Noto Sans KR SemiBold"/>
                <a:ea typeface="Noto Sans KR SemiBold"/>
                <a:cs typeface="Noto Sans KR SemiBold"/>
              </a:rPr>
              <a:t>CONCEPT</a:t>
            </a:r>
          </a:p>
        </p:txBody>
      </p:sp>
      <p:sp>
        <p:nvSpPr>
          <p:cNvPr id="42" name="badge 3"/>
          <p:cNvSpPr/>
          <p:nvPr/>
        </p:nvSpPr>
        <p:spPr>
          <a:xfrm>
            <a:off x="548640" y="5586984"/>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3</a:t>
            </a:r>
          </a:p>
        </p:txBody>
      </p:sp>
      <p:sp>
        <p:nvSpPr>
          <p:cNvPr id="43" name="TextBox 42"/>
          <p:cNvSpPr txBox="1"/>
          <p:nvPr/>
        </p:nvSpPr>
        <p:spPr>
          <a:xfrm>
            <a:off x="877824" y="5568696"/>
            <a:ext cx="2103120" cy="237744"/>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SemiBold"/>
                <a:ea typeface="Noto Sans KR SemiBold"/>
                <a:cs typeface="Noto Sans KR SemiBold"/>
              </a:rPr>
              <a:t>대향 엄지</a:t>
            </a:r>
            <a:r>
              <a:rPr sz="800" b="0" i="0">
                <a:solidFill>
                  <a:srgbClr val="8A8F97"/>
                </a:solidFill>
                <a:latin typeface="Noto Sans KR"/>
                <a:ea typeface="Noto Sans KR"/>
                <a:cs typeface="Noto Sans KR"/>
              </a:rPr>
              <a:t>  Opposable Thumb</a:t>
            </a:r>
          </a:p>
        </p:txBody>
      </p:sp>
      <p:sp>
        <p:nvSpPr>
          <p:cNvPr id="44" name="TextBox 43"/>
          <p:cNvSpPr txBox="1"/>
          <p:nvPr/>
        </p:nvSpPr>
        <p:spPr>
          <a:xfrm>
            <a:off x="877824" y="5806440"/>
            <a:ext cx="2103120" cy="201168"/>
          </a:xfrm>
          <a:prstGeom prst="rect">
            <a:avLst/>
          </a:prstGeom>
          <a:noFill/>
        </p:spPr>
        <p:txBody>
          <a:bodyPr wrap="square" lIns="0" rIns="0" tIns="0" bIns="0" anchor="t">
            <a:noAutofit/>
          </a:bodyPr>
          <a:lstStyle/>
          <a:p>
            <a:pPr algn="l">
              <a:lnSpc>
                <a:spcPct val="112000"/>
              </a:lnSpc>
            </a:pPr>
            <a:r>
              <a:rPr sz="900" b="0" i="0">
                <a:solidFill>
                  <a:srgbClr val="AEB3BB"/>
                </a:solidFill>
                <a:latin typeface="Noto Sans KR"/>
                <a:ea typeface="Noto Sans KR"/>
                <a:cs typeface="Noto Sans KR"/>
              </a:rPr>
              <a:t>손잡이 · 레버를 감싸 쥔다</a:t>
            </a:r>
          </a:p>
        </p:txBody>
      </p:sp>
      <p:sp>
        <p:nvSpPr>
          <p:cNvPr id="45" name="Tag CONCEPT"/>
          <p:cNvSpPr/>
          <p:nvPr/>
        </p:nvSpPr>
        <p:spPr>
          <a:xfrm>
            <a:off x="3200400" y="5605272"/>
            <a:ext cx="731520" cy="20116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750" b="0" i="0" spc="40">
                <a:solidFill>
                  <a:srgbClr val="AEB3BB"/>
                </a:solidFill>
                <a:latin typeface="Noto Sans KR SemiBold"/>
                <a:ea typeface="Noto Sans KR SemiBold"/>
                <a:cs typeface="Noto Sans KR SemiBold"/>
              </a:rPr>
              <a:t>CONCEPT</a:t>
            </a:r>
          </a:p>
        </p:txBody>
      </p:sp>
      <p:sp>
        <p:nvSpPr>
          <p:cNvPr id="46" name="badge 4"/>
          <p:cNvSpPr/>
          <p:nvPr/>
        </p:nvSpPr>
        <p:spPr>
          <a:xfrm>
            <a:off x="8257032" y="4636008"/>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4</a:t>
            </a:r>
          </a:p>
        </p:txBody>
      </p:sp>
      <p:sp>
        <p:nvSpPr>
          <p:cNvPr id="47" name="TextBox 46"/>
          <p:cNvSpPr txBox="1"/>
          <p:nvPr/>
        </p:nvSpPr>
        <p:spPr>
          <a:xfrm>
            <a:off x="8586216" y="4617720"/>
            <a:ext cx="2103120" cy="237744"/>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SemiBold"/>
                <a:ea typeface="Noto Sans KR SemiBold"/>
                <a:cs typeface="Noto Sans KR SemiBold"/>
              </a:rPr>
              <a:t>가변 강성 · 잠금</a:t>
            </a:r>
            <a:r>
              <a:rPr sz="800" b="0" i="0">
                <a:solidFill>
                  <a:srgbClr val="8A8F97"/>
                </a:solidFill>
                <a:latin typeface="Noto Sans KR"/>
                <a:ea typeface="Noto Sans KR"/>
                <a:cs typeface="Noto Sans KR"/>
              </a:rPr>
              <a:t>  Variable Stiffness</a:t>
            </a:r>
          </a:p>
        </p:txBody>
      </p:sp>
      <p:sp>
        <p:nvSpPr>
          <p:cNvPr id="48" name="TextBox 47"/>
          <p:cNvSpPr txBox="1"/>
          <p:nvPr/>
        </p:nvSpPr>
        <p:spPr>
          <a:xfrm>
            <a:off x="8586216" y="4855464"/>
            <a:ext cx="2103120" cy="201168"/>
          </a:xfrm>
          <a:prstGeom prst="rect">
            <a:avLst/>
          </a:prstGeom>
          <a:noFill/>
        </p:spPr>
        <p:txBody>
          <a:bodyPr wrap="square" lIns="0" rIns="0" tIns="0" bIns="0" anchor="t">
            <a:noAutofit/>
          </a:bodyPr>
          <a:lstStyle/>
          <a:p>
            <a:pPr algn="l">
              <a:lnSpc>
                <a:spcPct val="112000"/>
              </a:lnSpc>
            </a:pPr>
            <a:r>
              <a:rPr sz="900" b="0" i="0">
                <a:solidFill>
                  <a:srgbClr val="AEB3BB"/>
                </a:solidFill>
                <a:latin typeface="Noto Sans KR"/>
                <a:ea typeface="Noto Sans KR"/>
                <a:cs typeface="Noto Sans KR"/>
              </a:rPr>
              <a:t>작업 순간 관절 강성 상승</a:t>
            </a:r>
          </a:p>
        </p:txBody>
      </p:sp>
      <p:sp>
        <p:nvSpPr>
          <p:cNvPr id="49" name="Tag 검증 예정"/>
          <p:cNvSpPr/>
          <p:nvPr/>
        </p:nvSpPr>
        <p:spPr>
          <a:xfrm>
            <a:off x="10908792" y="4654296"/>
            <a:ext cx="731520" cy="201168"/>
          </a:xfrm>
          <a:prstGeom prst="roundRect">
            <a:avLst>
              <a:gd name="adj" fmla="val 50000"/>
            </a:avLst>
          </a:prstGeom>
          <a:noFill/>
          <a:ln w="9525">
            <a:solidFill>
              <a:srgbClr val="E8B64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750" b="0" i="0" spc="40">
                <a:solidFill>
                  <a:srgbClr val="E8B649"/>
                </a:solidFill>
                <a:latin typeface="Noto Sans KR SemiBold"/>
                <a:ea typeface="Noto Sans KR SemiBold"/>
                <a:cs typeface="Noto Sans KR SemiBold"/>
              </a:rPr>
              <a:t>검증 예정</a:t>
            </a:r>
          </a:p>
        </p:txBody>
      </p:sp>
      <p:sp>
        <p:nvSpPr>
          <p:cNvPr id="50" name="badge 5"/>
          <p:cNvSpPr/>
          <p:nvPr/>
        </p:nvSpPr>
        <p:spPr>
          <a:xfrm>
            <a:off x="8257032" y="5111496"/>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5</a:t>
            </a:r>
          </a:p>
        </p:txBody>
      </p:sp>
      <p:sp>
        <p:nvSpPr>
          <p:cNvPr id="51" name="TextBox 50"/>
          <p:cNvSpPr txBox="1"/>
          <p:nvPr/>
        </p:nvSpPr>
        <p:spPr>
          <a:xfrm>
            <a:off x="8586216" y="5093208"/>
            <a:ext cx="2103120" cy="237744"/>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SemiBold"/>
                <a:ea typeface="Noto Sans KR SemiBold"/>
                <a:cs typeface="Noto Sans KR SemiBold"/>
              </a:rPr>
              <a:t>힘 · 미끄러짐 제어</a:t>
            </a:r>
            <a:r>
              <a:rPr sz="800" b="0" i="0">
                <a:solidFill>
                  <a:srgbClr val="8A8F97"/>
                </a:solidFill>
                <a:latin typeface="Noto Sans KR"/>
                <a:ea typeface="Noto Sans KR"/>
                <a:cs typeface="Noto Sans KR"/>
              </a:rPr>
              <a:t>  Force &amp; Slip Control</a:t>
            </a:r>
          </a:p>
        </p:txBody>
      </p:sp>
      <p:sp>
        <p:nvSpPr>
          <p:cNvPr id="52" name="TextBox 51"/>
          <p:cNvSpPr txBox="1"/>
          <p:nvPr/>
        </p:nvSpPr>
        <p:spPr>
          <a:xfrm>
            <a:off x="8586216" y="5330952"/>
            <a:ext cx="2103120" cy="201168"/>
          </a:xfrm>
          <a:prstGeom prst="rect">
            <a:avLst/>
          </a:prstGeom>
          <a:noFill/>
        </p:spPr>
        <p:txBody>
          <a:bodyPr wrap="square" lIns="0" rIns="0" tIns="0" bIns="0" anchor="t">
            <a:noAutofit/>
          </a:bodyPr>
          <a:lstStyle/>
          <a:p>
            <a:pPr algn="l">
              <a:lnSpc>
                <a:spcPct val="112000"/>
              </a:lnSpc>
            </a:pPr>
            <a:r>
              <a:rPr sz="900" b="0" i="0">
                <a:solidFill>
                  <a:srgbClr val="AEB3BB"/>
                </a:solidFill>
                <a:latin typeface="Noto Sans KR"/>
                <a:ea typeface="Noto Sans KR"/>
                <a:cs typeface="Noto Sans KR"/>
              </a:rPr>
              <a:t>촉각 + 손목 힘센서</a:t>
            </a:r>
          </a:p>
        </p:txBody>
      </p:sp>
      <p:sp>
        <p:nvSpPr>
          <p:cNvPr id="53" name="Tag TARGET"/>
          <p:cNvSpPr/>
          <p:nvPr/>
        </p:nvSpPr>
        <p:spPr>
          <a:xfrm>
            <a:off x="10908792" y="5129784"/>
            <a:ext cx="731520" cy="201168"/>
          </a:xfrm>
          <a:prstGeom prst="roundRect">
            <a:avLst>
              <a:gd name="adj" fmla="val 50000"/>
            </a:avLst>
          </a:prstGeom>
          <a:noFill/>
          <a:ln w="952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750" b="0" i="0" spc="40">
                <a:solidFill>
                  <a:srgbClr val="EC7A3C"/>
                </a:solidFill>
                <a:latin typeface="Noto Sans KR SemiBold"/>
                <a:ea typeface="Noto Sans KR SemiBold"/>
                <a:cs typeface="Noto Sans KR SemiBold"/>
              </a:rPr>
              <a:t>TARGET</a:t>
            </a:r>
          </a:p>
        </p:txBody>
      </p:sp>
      <p:sp>
        <p:nvSpPr>
          <p:cNvPr id="54" name="Card"/>
          <p:cNvSpPr/>
          <p:nvPr/>
        </p:nvSpPr>
        <p:spPr>
          <a:xfrm>
            <a:off x="8257032" y="5586984"/>
            <a:ext cx="3383280" cy="438912"/>
          </a:xfrm>
          <a:prstGeom prst="roundRect">
            <a:avLst>
              <a:gd name="adj" fmla="val 16666"/>
            </a:avLst>
          </a:prstGeom>
          <a:solidFill>
            <a:srgbClr val="2E1D14"/>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394192" y="5623560"/>
            <a:ext cx="3154680" cy="384048"/>
          </a:xfrm>
          <a:prstGeom prst="rect">
            <a:avLst/>
          </a:prstGeom>
          <a:noFill/>
        </p:spPr>
        <p:txBody>
          <a:bodyPr wrap="square" lIns="0" rIns="0" tIns="0" bIns="0" anchor="ctr">
            <a:noAutofit/>
          </a:bodyPr>
          <a:lstStyle/>
          <a:p>
            <a:pPr algn="l">
              <a:lnSpc>
                <a:spcPct val="105000"/>
              </a:lnSpc>
            </a:pPr>
            <a:r>
              <a:rPr sz="850" b="0" i="0" spc="60">
                <a:solidFill>
                  <a:srgbClr val="EC7A3C"/>
                </a:solidFill>
                <a:latin typeface="Noto Sans KR SemiBold"/>
                <a:ea typeface="Noto Sans KR SemiBold"/>
                <a:cs typeface="Noto Sans KR SemiBold"/>
              </a:rPr>
              <a:t>우리의 접근  </a:t>
            </a:r>
            <a:r>
              <a:rPr sz="950" b="0" i="0">
                <a:solidFill>
                  <a:srgbClr val="F2F2EF"/>
                </a:solidFill>
                <a:latin typeface="Noto Sans KR SemiBold"/>
                <a:ea typeface="Noto Sans KR SemiBold"/>
                <a:cs typeface="Noto Sans KR SemiBold"/>
              </a:rPr>
              <a:t>부드러운 접촉 + 단단한 골격 + 전환 가능한 강성</a:t>
            </a:r>
          </a:p>
        </p:txBody>
      </p:sp>
      <p:sp>
        <p:nvSpPr>
          <p:cNvPr id="56" name="TextBox 55"/>
          <p:cNvSpPr txBox="1"/>
          <p:nvPr/>
        </p:nvSpPr>
        <p:spPr>
          <a:xfrm>
            <a:off x="548640" y="6108192"/>
            <a:ext cx="11091672" cy="237744"/>
          </a:xfrm>
          <a:prstGeom prst="rect">
            <a:avLst/>
          </a:prstGeom>
          <a:noFill/>
        </p:spPr>
        <p:txBody>
          <a:bodyPr wrap="square" lIns="0" rIns="0" tIns="0" bIns="0" anchor="t">
            <a:noAutofit/>
          </a:bodyPr>
          <a:lstStyle/>
          <a:p>
            <a:pPr algn="l">
              <a:lnSpc>
                <a:spcPct val="112000"/>
              </a:lnSpc>
            </a:pPr>
            <a:r>
              <a:rPr sz="850" b="0" i="0">
                <a:solidFill>
                  <a:srgbClr val="737882"/>
                </a:solidFill>
                <a:latin typeface="Noto Sans KR"/>
                <a:ea typeface="Noto Sans KR"/>
                <a:cs typeface="Noto Sans KR"/>
              </a:rPr>
              <a:t>구조는 Concept · 구동 방식(전동 Tendon / 유압 / 공압)은 창업 후 3개월 내 비교시험으로 결정 · 4지(손가락 3 + 대향 엄지)는 머신텐딩에 필요한 최소 구성, 5지는 Series A 이후 (Appendix A7)</a:t>
            </a:r>
          </a:p>
        </p:txBody>
      </p:sp>
      <p:sp>
        <p:nvSpPr>
          <p:cNvPr id="57"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58"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05  ·  첫 번째 시장</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첫 번째 Product는 Machine Tending이다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Brownfield Machine Tending.</a:t>
            </a:r>
          </a:p>
        </p:txBody>
      </p:sp>
      <p:sp>
        <p:nvSpPr>
          <p:cNvPr id="6" name="Tag CONCEPT RENDERING"/>
          <p:cNvSpPr/>
          <p:nvPr/>
        </p:nvSpPr>
        <p:spPr>
          <a:xfrm>
            <a:off x="10042568" y="365760"/>
            <a:ext cx="1597744" cy="24688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CONCEPT RENDERING</a:t>
            </a:r>
          </a:p>
        </p:txBody>
      </p:sp>
      <p:pic>
        <p:nvPicPr>
          <p:cNvPr id="7" name="Machine tending cell rendering" descr="cell_overview.jpg"/>
          <p:cNvPicPr>
            <a:picLocks noChangeAspect="1"/>
          </p:cNvPicPr>
          <p:nvPr/>
        </p:nvPicPr>
        <p:blipFill>
          <a:blip r:embed="rId2"/>
          <a:stretch>
            <a:fillRect/>
          </a:stretch>
        </p:blipFill>
        <p:spPr>
          <a:xfrm>
            <a:off x="548640" y="1755648"/>
            <a:ext cx="5806440" cy="3709670"/>
          </a:xfrm>
          <a:prstGeom prst="rect">
            <a:avLst/>
          </a:prstGeom>
        </p:spPr>
      </p:pic>
      <p:sp>
        <p:nvSpPr>
          <p:cNvPr id="8" name="Tag SoftHand-4  +  Machi"/>
          <p:cNvSpPr/>
          <p:nvPr/>
        </p:nvSpPr>
        <p:spPr>
          <a:xfrm>
            <a:off x="713232" y="5138928"/>
            <a:ext cx="2911778" cy="256032"/>
          </a:xfrm>
          <a:prstGeom prst="roundRect">
            <a:avLst>
              <a:gd name="adj" fmla="val 50000"/>
            </a:avLst>
          </a:prstGeom>
          <a:solidFill>
            <a:srgbClr val="2E1D14"/>
          </a:solidFill>
          <a:ln w="952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900" b="0" i="0" spc="60">
                <a:solidFill>
                  <a:srgbClr val="F2F2EF"/>
                </a:solidFill>
                <a:latin typeface="Noto Sans KR SemiBold"/>
                <a:ea typeface="Noto Sans KR SemiBold"/>
                <a:cs typeface="Noto Sans KR SemiBold"/>
              </a:rPr>
              <a:t>SoftHand-4  +  Machine Tending Skill Pack</a:t>
            </a:r>
          </a:p>
        </p:txBody>
      </p:sp>
      <p:sp>
        <p:nvSpPr>
          <p:cNvPr id="9" name="TextBox 8"/>
          <p:cNvSpPr txBox="1"/>
          <p:nvPr/>
        </p:nvSpPr>
        <p:spPr>
          <a:xfrm>
            <a:off x="548640" y="5596128"/>
            <a:ext cx="5852160" cy="292608"/>
          </a:xfrm>
          <a:prstGeom prst="rect">
            <a:avLst/>
          </a:prstGeom>
          <a:noFill/>
        </p:spPr>
        <p:txBody>
          <a:bodyPr wrap="square" lIns="0" rIns="0" tIns="0" bIns="0" anchor="t">
            <a:noAutofit/>
          </a:bodyPr>
          <a:lstStyle/>
          <a:p>
            <a:pPr algn="l">
              <a:lnSpc>
                <a:spcPct val="112000"/>
              </a:lnSpc>
            </a:pPr>
            <a:r>
              <a:rPr sz="1400" b="0" i="0">
                <a:solidFill>
                  <a:srgbClr val="F2F2EF"/>
                </a:solidFill>
                <a:latin typeface="Noto Sans KR Black"/>
                <a:ea typeface="Noto Sans KR Black"/>
                <a:cs typeface="Noto Sans KR Black"/>
              </a:rPr>
              <a:t>기존 설비를 크게 개조하지 않는 다품종 머신텐딩 자동화</a:t>
            </a:r>
          </a:p>
        </p:txBody>
      </p:sp>
      <p:sp>
        <p:nvSpPr>
          <p:cNvPr id="10" name="TextBox 9"/>
          <p:cNvSpPr txBox="1"/>
          <p:nvPr/>
        </p:nvSpPr>
        <p:spPr>
          <a:xfrm>
            <a:off x="548640" y="5925312"/>
            <a:ext cx="5852160" cy="457200"/>
          </a:xfrm>
          <a:prstGeom prst="rect">
            <a:avLst/>
          </a:prstGeom>
          <a:noFill/>
        </p:spPr>
        <p:txBody>
          <a:bodyPr wrap="square" lIns="0" rIns="0" tIns="0" bIns="0" anchor="t">
            <a:noAutofit/>
          </a:bodyPr>
          <a:lstStyle/>
          <a:p>
            <a:pPr algn="l">
              <a:lnSpc>
                <a:spcPct val="115000"/>
              </a:lnSpc>
            </a:pPr>
            <a:r>
              <a:rPr sz="950" b="0" i="0">
                <a:solidFill>
                  <a:srgbClr val="F3A574"/>
                </a:solidFill>
                <a:latin typeface="Noto Sans KR SemiBold"/>
                <a:ea typeface="Noto Sans KR SemiBold"/>
                <a:cs typeface="Noto Sans KR SemiBold"/>
              </a:rPr>
              <a:t>첫 구매자 [가설]  </a:t>
            </a:r>
            <a:r>
              <a:rPr sz="950" b="0" i="0">
                <a:solidFill>
                  <a:srgbClr val="AEB3BB"/>
                </a:solidFill>
                <a:latin typeface="Noto Sans KR"/>
                <a:ea typeface="Noto Sans KR"/>
                <a:cs typeface="Noto Sans KR"/>
              </a:rPr>
              <a:t>다품종 가공 라인을 운영하는 중견 · 중소 제조기업 생산기술팀 · 도입 경로 Robot SI</a:t>
            </a:r>
          </a:p>
        </p:txBody>
      </p:sp>
      <p:sp>
        <p:nvSpPr>
          <p:cNvPr id="11" name="Label"/>
          <p:cNvSpPr txBox="1"/>
          <p:nvPr/>
        </p:nvSpPr>
        <p:spPr>
          <a:xfrm>
            <a:off x="6629400" y="1783080"/>
            <a:ext cx="5010912" cy="201168"/>
          </a:xfrm>
          <a:prstGeom prst="rect">
            <a:avLst/>
          </a:prstGeom>
          <a:noFill/>
        </p:spPr>
        <p:txBody>
          <a:bodyPr wrap="square" lIns="0" rIns="0" tIns="0" bIns="0" anchor="t">
            <a:noAutofit/>
          </a:bodyPr>
          <a:lstStyle/>
          <a:p>
            <a:pPr algn="l">
              <a:lnSpc>
                <a:spcPct val="112000"/>
              </a:lnSpc>
            </a:pPr>
            <a:r>
              <a:rPr sz="950" b="0" i="0" spc="120">
                <a:solidFill>
                  <a:srgbClr val="EC7A3C"/>
                </a:solidFill>
                <a:latin typeface="Noto Sans KR SemiBold"/>
                <a:ea typeface="Noto Sans KR SemiBold"/>
                <a:cs typeface="Noto Sans KR SemiBold"/>
              </a:rPr>
              <a:t>왜 Machine Tending부터 시작하는가</a:t>
            </a:r>
          </a:p>
        </p:txBody>
      </p:sp>
      <p:sp>
        <p:nvSpPr>
          <p:cNvPr id="12" name="badge 1"/>
          <p:cNvSpPr/>
          <p:nvPr/>
        </p:nvSpPr>
        <p:spPr>
          <a:xfrm>
            <a:off x="6629400" y="2103120"/>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1000" b="0" i="0">
                <a:solidFill>
                  <a:srgbClr val="FFFFFF"/>
                </a:solidFill>
                <a:latin typeface="Noto Sans KR Black"/>
                <a:ea typeface="Noto Sans KR Black"/>
                <a:cs typeface="Noto Sans KR Black"/>
              </a:rPr>
              <a:t>1</a:t>
            </a:r>
          </a:p>
        </p:txBody>
      </p:sp>
      <p:sp>
        <p:nvSpPr>
          <p:cNvPr id="13" name="TextBox 12"/>
          <p:cNvSpPr txBox="1"/>
          <p:nvPr/>
        </p:nvSpPr>
        <p:spPr>
          <a:xfrm>
            <a:off x="7040880" y="2084832"/>
            <a:ext cx="4599432" cy="274320"/>
          </a:xfrm>
          <a:prstGeom prst="rect">
            <a:avLst/>
          </a:prstGeom>
          <a:noFill/>
        </p:spPr>
        <p:txBody>
          <a:bodyPr wrap="square" lIns="0" rIns="0" tIns="0" bIns="0" anchor="t">
            <a:noAutofit/>
          </a:bodyPr>
          <a:lstStyle/>
          <a:p>
            <a:pPr algn="l">
              <a:lnSpc>
                <a:spcPct val="112000"/>
              </a:lnSpc>
            </a:pPr>
            <a:r>
              <a:rPr sz="1250" b="0" i="0">
                <a:solidFill>
                  <a:srgbClr val="F2F2EF"/>
                </a:solidFill>
                <a:latin typeface="Noto Sans KR Black"/>
                <a:ea typeface="Noto Sans KR Black"/>
                <a:cs typeface="Noto Sans KR Black"/>
              </a:rPr>
              <a:t>사람용 Interface가 한 Cell에 모여 있다</a:t>
            </a:r>
          </a:p>
        </p:txBody>
      </p:sp>
      <p:sp>
        <p:nvSpPr>
          <p:cNvPr id="14" name="TextBox 13"/>
          <p:cNvSpPr txBox="1"/>
          <p:nvPr/>
        </p:nvSpPr>
        <p:spPr>
          <a:xfrm>
            <a:off x="7040880" y="2377440"/>
            <a:ext cx="4599432" cy="384048"/>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문 · 손잡이 · 바이스 레버 · 버튼 · 트레이 — Hand 하나의 가치가 가장 크게 드러나는 공정</a:t>
            </a:r>
          </a:p>
        </p:txBody>
      </p:sp>
      <p:sp>
        <p:nvSpPr>
          <p:cNvPr id="15" name="badge 2"/>
          <p:cNvSpPr/>
          <p:nvPr/>
        </p:nvSpPr>
        <p:spPr>
          <a:xfrm>
            <a:off x="6629400" y="2889504"/>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1000" b="0" i="0">
                <a:solidFill>
                  <a:srgbClr val="FFFFFF"/>
                </a:solidFill>
                <a:latin typeface="Noto Sans KR Black"/>
                <a:ea typeface="Noto Sans KR Black"/>
                <a:cs typeface="Noto Sans KR Black"/>
              </a:rPr>
              <a:t>2</a:t>
            </a:r>
          </a:p>
        </p:txBody>
      </p:sp>
      <p:sp>
        <p:nvSpPr>
          <p:cNvPr id="16" name="TextBox 15"/>
          <p:cNvSpPr txBox="1"/>
          <p:nvPr/>
        </p:nvSpPr>
        <p:spPr>
          <a:xfrm>
            <a:off x="7040880" y="2871216"/>
            <a:ext cx="4599432" cy="274320"/>
          </a:xfrm>
          <a:prstGeom prst="rect">
            <a:avLst/>
          </a:prstGeom>
          <a:noFill/>
        </p:spPr>
        <p:txBody>
          <a:bodyPr wrap="square" lIns="0" rIns="0" tIns="0" bIns="0" anchor="t">
            <a:noAutofit/>
          </a:bodyPr>
          <a:lstStyle/>
          <a:p>
            <a:pPr algn="l">
              <a:lnSpc>
                <a:spcPct val="112000"/>
              </a:lnSpc>
            </a:pPr>
            <a:r>
              <a:rPr sz="1250" b="0" i="0">
                <a:solidFill>
                  <a:srgbClr val="F2F2EF"/>
                </a:solidFill>
                <a:latin typeface="Noto Sans KR Black"/>
                <a:ea typeface="Noto Sans KR Black"/>
                <a:cs typeface="Noto Sans KR Black"/>
              </a:rPr>
              <a:t>전환비용을 숫자로 측정할 수 있다</a:t>
            </a:r>
          </a:p>
        </p:txBody>
      </p:sp>
      <p:sp>
        <p:nvSpPr>
          <p:cNvPr id="17" name="TextBox 16"/>
          <p:cNvSpPr txBox="1"/>
          <p:nvPr/>
        </p:nvSpPr>
        <p:spPr>
          <a:xfrm>
            <a:off x="7040880" y="3163824"/>
            <a:ext cx="4599432" cy="384048"/>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SKU 변경 · 엔지니어링 시간 · 사람 개입을 PoC에서 고객 Baseline과 비교</a:t>
            </a:r>
          </a:p>
        </p:txBody>
      </p:sp>
      <p:sp>
        <p:nvSpPr>
          <p:cNvPr id="18" name="badge 3"/>
          <p:cNvSpPr/>
          <p:nvPr/>
        </p:nvSpPr>
        <p:spPr>
          <a:xfrm>
            <a:off x="6629400" y="3675888"/>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1000" b="0" i="0">
                <a:solidFill>
                  <a:srgbClr val="FFFFFF"/>
                </a:solidFill>
                <a:latin typeface="Noto Sans KR Black"/>
                <a:ea typeface="Noto Sans KR Black"/>
                <a:cs typeface="Noto Sans KR Black"/>
              </a:rPr>
              <a:t>3</a:t>
            </a:r>
          </a:p>
        </p:txBody>
      </p:sp>
      <p:sp>
        <p:nvSpPr>
          <p:cNvPr id="19" name="TextBox 18"/>
          <p:cNvSpPr txBox="1"/>
          <p:nvPr/>
        </p:nvSpPr>
        <p:spPr>
          <a:xfrm>
            <a:off x="7040880" y="3657600"/>
            <a:ext cx="4599432" cy="274320"/>
          </a:xfrm>
          <a:prstGeom prst="rect">
            <a:avLst/>
          </a:prstGeom>
          <a:noFill/>
        </p:spPr>
        <p:txBody>
          <a:bodyPr wrap="square" lIns="0" rIns="0" tIns="0" bIns="0" anchor="t">
            <a:noAutofit/>
          </a:bodyPr>
          <a:lstStyle/>
          <a:p>
            <a:pPr algn="l">
              <a:lnSpc>
                <a:spcPct val="112000"/>
              </a:lnSpc>
            </a:pPr>
            <a:r>
              <a:rPr sz="1250" b="0" i="0">
                <a:solidFill>
                  <a:srgbClr val="F2F2EF"/>
                </a:solidFill>
                <a:latin typeface="Noto Sans KR Black"/>
                <a:ea typeface="Noto Sans KR Black"/>
                <a:cs typeface="Noto Sans KR Black"/>
              </a:rPr>
              <a:t>SI가 이미 판매하는 Application이다</a:t>
            </a:r>
          </a:p>
        </p:txBody>
      </p:sp>
      <p:sp>
        <p:nvSpPr>
          <p:cNvPr id="20" name="TextBox 19"/>
          <p:cNvSpPr txBox="1"/>
          <p:nvPr/>
        </p:nvSpPr>
        <p:spPr>
          <a:xfrm>
            <a:off x="7040880" y="3950208"/>
            <a:ext cx="4599432" cy="384048"/>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새 시장을 만드는 대신 기존 Cell의 유연성을 높인다 — SI 채널로 바로 진입</a:t>
            </a:r>
          </a:p>
        </p:txBody>
      </p:sp>
      <p:sp>
        <p:nvSpPr>
          <p:cNvPr id="21" name="Card"/>
          <p:cNvSpPr/>
          <p:nvPr/>
        </p:nvSpPr>
        <p:spPr>
          <a:xfrm>
            <a:off x="6629400" y="4526280"/>
            <a:ext cx="5010912" cy="1737360"/>
          </a:xfrm>
          <a:prstGeom prst="roundRect">
            <a:avLst>
              <a:gd name="adj" fmla="val 4210"/>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30568" y="4654296"/>
            <a:ext cx="4645152" cy="274320"/>
          </a:xfrm>
          <a:prstGeom prst="rect">
            <a:avLst/>
          </a:prstGeom>
          <a:noFill/>
        </p:spPr>
        <p:txBody>
          <a:bodyPr wrap="square" lIns="0" rIns="0" tIns="0" bIns="0" anchor="t">
            <a:noAutofit/>
          </a:bodyPr>
          <a:lstStyle/>
          <a:p>
            <a:pPr algn="l">
              <a:lnSpc>
                <a:spcPct val="112000"/>
              </a:lnSpc>
            </a:pPr>
            <a:r>
              <a:rPr sz="950" b="0" i="0" spc="100">
                <a:solidFill>
                  <a:srgbClr val="EC7A3C"/>
                </a:solidFill>
                <a:latin typeface="Noto Sans KR SemiBold"/>
                <a:ea typeface="Noto Sans KR SemiBold"/>
                <a:cs typeface="Noto Sans KR SemiBold"/>
              </a:rPr>
              <a:t>원칙  </a:t>
            </a:r>
            <a:r>
              <a:rPr sz="1200" b="0" i="0">
                <a:solidFill>
                  <a:srgbClr val="F2F2EF"/>
                </a:solidFill>
                <a:latin typeface="Noto Sans KR Black"/>
                <a:ea typeface="Noto Sans KR Black"/>
                <a:cs typeface="Noto Sans KR Black"/>
              </a:rPr>
              <a:t>Hand가 경제적 가치를 만드는 작업부터 자동화한다</a:t>
            </a:r>
          </a:p>
        </p:txBody>
      </p:sp>
      <p:sp>
        <p:nvSpPr>
          <p:cNvPr id="23" name="TextBox 22"/>
          <p:cNvSpPr txBox="1"/>
          <p:nvPr/>
        </p:nvSpPr>
        <p:spPr>
          <a:xfrm>
            <a:off x="6830568" y="5029200"/>
            <a:ext cx="2231136" cy="201168"/>
          </a:xfrm>
          <a:prstGeom prst="rect">
            <a:avLst/>
          </a:prstGeom>
          <a:noFill/>
        </p:spPr>
        <p:txBody>
          <a:bodyPr wrap="square" lIns="0" rIns="0" tIns="0" bIns="0" anchor="t">
            <a:noAutofit/>
          </a:bodyPr>
          <a:lstStyle/>
          <a:p>
            <a:pPr algn="l">
              <a:lnSpc>
                <a:spcPct val="112000"/>
              </a:lnSpc>
            </a:pPr>
            <a:r>
              <a:rPr sz="950" b="0" i="0">
                <a:solidFill>
                  <a:srgbClr val="F3A574"/>
                </a:solidFill>
                <a:latin typeface="Noto Sans KR SemiBold"/>
                <a:ea typeface="Noto Sans KR SemiBold"/>
                <a:cs typeface="Noto Sans KR SemiBold"/>
              </a:rPr>
              <a:t>✓  우선 공략</a:t>
            </a:r>
          </a:p>
        </p:txBody>
      </p:sp>
      <p:sp>
        <p:nvSpPr>
          <p:cNvPr id="24" name="TextBox 23"/>
          <p:cNvSpPr txBox="1"/>
          <p:nvPr/>
        </p:nvSpPr>
        <p:spPr>
          <a:xfrm>
            <a:off x="6830568" y="5257800"/>
            <a:ext cx="2231136" cy="841248"/>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다품종 부품 Handling</a:t>
            </a:r>
          </a:p>
          <a:p>
            <a:pPr algn="l">
              <a:lnSpc>
                <a:spcPct val="112000"/>
              </a:lnSpc>
            </a:pPr>
            <a:r>
              <a:rPr sz="950" b="0" i="0">
                <a:solidFill>
                  <a:srgbClr val="F2F2EF"/>
                </a:solidFill>
                <a:latin typeface="Noto Sans KR"/>
                <a:ea typeface="Noto Sans KR"/>
                <a:cs typeface="Noto Sans KR"/>
              </a:rPr>
              <a:t>문 · 손잡이 개폐</a:t>
            </a:r>
          </a:p>
          <a:p>
            <a:pPr algn="l">
              <a:lnSpc>
                <a:spcPct val="112000"/>
              </a:lnSpc>
            </a:pPr>
            <a:r>
              <a:rPr sz="950" b="0" i="0">
                <a:solidFill>
                  <a:srgbClr val="F2F2EF"/>
                </a:solidFill>
                <a:latin typeface="Noto Sans KR"/>
                <a:ea typeface="Noto Sans KR"/>
                <a:cs typeface="Noto Sans KR"/>
              </a:rPr>
              <a:t>레버 · 노브 · 래치</a:t>
            </a:r>
          </a:p>
          <a:p>
            <a:pPr algn="l">
              <a:lnSpc>
                <a:spcPct val="112000"/>
              </a:lnSpc>
            </a:pPr>
            <a:r>
              <a:rPr sz="950" b="0" i="0">
                <a:solidFill>
                  <a:srgbClr val="F2F2EF"/>
                </a:solidFill>
                <a:latin typeface="Noto Sans KR"/>
                <a:ea typeface="Noto Sans KR"/>
                <a:cs typeface="Noto Sans KR"/>
              </a:rPr>
              <a:t>설비 조작부 조작</a:t>
            </a:r>
          </a:p>
        </p:txBody>
      </p:sp>
      <p:sp>
        <p:nvSpPr>
          <p:cNvPr id="25" name="TextBox 24"/>
          <p:cNvSpPr txBox="1"/>
          <p:nvPr/>
        </p:nvSpPr>
        <p:spPr>
          <a:xfrm>
            <a:off x="9208008" y="5029200"/>
            <a:ext cx="2231136" cy="201168"/>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SemiBold"/>
                <a:ea typeface="Noto Sans KR SemiBold"/>
                <a:cs typeface="Noto Sans KR SemiBold"/>
              </a:rPr>
              <a:t>×  공략하지 않음 (전용 툴이 유리)</a:t>
            </a:r>
          </a:p>
        </p:txBody>
      </p:sp>
      <p:sp>
        <p:nvSpPr>
          <p:cNvPr id="26" name="TextBox 25"/>
          <p:cNvSpPr txBox="1"/>
          <p:nvPr/>
        </p:nvSpPr>
        <p:spPr>
          <a:xfrm>
            <a:off x="9208008" y="5257800"/>
            <a:ext cx="2231136" cy="841248"/>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고속 단일 SKU 반복 집기</a:t>
            </a:r>
          </a:p>
          <a:p>
            <a:pPr algn="l">
              <a:lnSpc>
                <a:spcPct val="112000"/>
              </a:lnSpc>
            </a:pPr>
            <a:r>
              <a:rPr sz="950" b="0" i="0">
                <a:solidFill>
                  <a:srgbClr val="AEB3BB"/>
                </a:solidFill>
                <a:latin typeface="Noto Sans KR"/>
                <a:ea typeface="Noto Sans KR"/>
                <a:cs typeface="Noto Sans KR"/>
              </a:rPr>
              <a:t>고토크 · 정밀 체결 (Screwdriver)</a:t>
            </a:r>
          </a:p>
          <a:p>
            <a:pPr algn="l">
              <a:lnSpc>
                <a:spcPct val="112000"/>
              </a:lnSpc>
            </a:pPr>
            <a:r>
              <a:rPr sz="950" b="0" i="0">
                <a:solidFill>
                  <a:srgbClr val="AEB3BB"/>
                </a:solidFill>
                <a:latin typeface="Noto Sans KR"/>
                <a:ea typeface="Noto Sans KR"/>
                <a:cs typeface="Noto Sans KR"/>
              </a:rPr>
              <a:t>진공이 유리한 평판 Handling</a:t>
            </a:r>
          </a:p>
          <a:p>
            <a:pPr algn="l">
              <a:lnSpc>
                <a:spcPct val="112000"/>
              </a:lnSpc>
            </a:pPr>
            <a:r>
              <a:rPr sz="950" b="0" i="0">
                <a:solidFill>
                  <a:srgbClr val="AEB3BB"/>
                </a:solidFill>
                <a:latin typeface="Noto Sans KR"/>
                <a:ea typeface="Noto Sans KR"/>
                <a:cs typeface="Noto Sans KR"/>
              </a:rPr>
              <a:t>→ Screwdriver는 기술 Demo (A9)</a:t>
            </a:r>
          </a:p>
        </p:txBody>
      </p:sp>
      <p:sp>
        <p:nvSpPr>
          <p:cNvPr id="27"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28"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06  ·  Product Vision</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하나의 Hand로 하나의 공정을 끝낸다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One Hand. One Process.</a:t>
            </a:r>
          </a:p>
        </p:txBody>
      </p:sp>
      <p:sp>
        <p:nvSpPr>
          <p:cNvPr id="6" name="Tag CONCEPT RENDERING"/>
          <p:cNvSpPr/>
          <p:nvPr/>
        </p:nvSpPr>
        <p:spPr>
          <a:xfrm>
            <a:off x="10042568" y="365760"/>
            <a:ext cx="1597744" cy="24688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CONCEPT RENDERING</a:t>
            </a:r>
          </a:p>
        </p:txBody>
      </p:sp>
      <p:sp>
        <p:nvSpPr>
          <p:cNvPr id="7" name="Card"/>
          <p:cNvSpPr/>
          <p:nvPr/>
        </p:nvSpPr>
        <p:spPr>
          <a:xfrm>
            <a:off x="548640" y="1783080"/>
            <a:ext cx="1696212" cy="1973814"/>
          </a:xfrm>
          <a:prstGeom prst="roundRect">
            <a:avLst>
              <a:gd name="adj" fmla="val 431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Step 1 rendering" descr="s1_door.jpg"/>
          <p:cNvPicPr>
            <a:picLocks noChangeAspect="1"/>
          </p:cNvPicPr>
          <p:nvPr/>
        </p:nvPicPr>
        <p:blipFill>
          <a:blip r:embed="rId2"/>
          <a:stretch>
            <a:fillRect/>
          </a:stretch>
        </p:blipFill>
        <p:spPr>
          <a:xfrm>
            <a:off x="603504" y="1837944"/>
            <a:ext cx="1586484" cy="1205718"/>
          </a:xfrm>
          <a:prstGeom prst="rect">
            <a:avLst/>
          </a:prstGeom>
        </p:spPr>
      </p:pic>
      <p:sp>
        <p:nvSpPr>
          <p:cNvPr id="9" name="badge 1"/>
          <p:cNvSpPr/>
          <p:nvPr/>
        </p:nvSpPr>
        <p:spPr>
          <a:xfrm>
            <a:off x="640080" y="3135102"/>
            <a:ext cx="246888" cy="24688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1</a:t>
            </a:r>
          </a:p>
        </p:txBody>
      </p:sp>
      <p:sp>
        <p:nvSpPr>
          <p:cNvPr id="10" name="TextBox 9"/>
          <p:cNvSpPr txBox="1"/>
          <p:nvPr/>
        </p:nvSpPr>
        <p:spPr>
          <a:xfrm>
            <a:off x="941832" y="3116814"/>
            <a:ext cx="1257300" cy="274320"/>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Black"/>
                <a:ea typeface="Noto Sans KR Black"/>
                <a:cs typeface="Noto Sans KR Black"/>
              </a:rPr>
              <a:t>설비 문 열기</a:t>
            </a:r>
          </a:p>
        </p:txBody>
      </p:sp>
      <p:sp>
        <p:nvSpPr>
          <p:cNvPr id="11" name="TextBox 10"/>
          <p:cNvSpPr txBox="1"/>
          <p:nvPr/>
        </p:nvSpPr>
        <p:spPr>
          <a:xfrm>
            <a:off x="941832" y="3391134"/>
            <a:ext cx="125730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a:ea typeface="Noto Sans KR"/>
                <a:cs typeface="Noto Sans KR"/>
              </a:rPr>
              <a:t>문 · 손잡이</a:t>
            </a:r>
          </a:p>
        </p:txBody>
      </p:sp>
      <p:sp>
        <p:nvSpPr>
          <p:cNvPr id="12" name="Isosceles Triangle 11"/>
          <p:cNvSpPr/>
          <p:nvPr/>
        </p:nvSpPr>
        <p:spPr>
          <a:xfrm rot="5400000">
            <a:off x="2290572" y="2724267"/>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ard"/>
          <p:cNvSpPr/>
          <p:nvPr/>
        </p:nvSpPr>
        <p:spPr>
          <a:xfrm>
            <a:off x="2427732" y="1783080"/>
            <a:ext cx="1696212" cy="1973814"/>
          </a:xfrm>
          <a:prstGeom prst="roundRect">
            <a:avLst>
              <a:gd name="adj" fmla="val 431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Step 2 rendering" descr="s2_pick.jpg"/>
          <p:cNvPicPr>
            <a:picLocks noChangeAspect="1"/>
          </p:cNvPicPr>
          <p:nvPr/>
        </p:nvPicPr>
        <p:blipFill>
          <a:blip r:embed="rId3"/>
          <a:stretch>
            <a:fillRect/>
          </a:stretch>
        </p:blipFill>
        <p:spPr>
          <a:xfrm>
            <a:off x="2482596" y="1837944"/>
            <a:ext cx="1586484" cy="1205718"/>
          </a:xfrm>
          <a:prstGeom prst="rect">
            <a:avLst/>
          </a:prstGeom>
        </p:spPr>
      </p:pic>
      <p:sp>
        <p:nvSpPr>
          <p:cNvPr id="15" name="badge 2"/>
          <p:cNvSpPr/>
          <p:nvPr/>
        </p:nvSpPr>
        <p:spPr>
          <a:xfrm>
            <a:off x="2519172" y="3135102"/>
            <a:ext cx="246888" cy="24688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2</a:t>
            </a:r>
          </a:p>
        </p:txBody>
      </p:sp>
      <p:sp>
        <p:nvSpPr>
          <p:cNvPr id="16" name="TextBox 15"/>
          <p:cNvSpPr txBox="1"/>
          <p:nvPr/>
        </p:nvSpPr>
        <p:spPr>
          <a:xfrm>
            <a:off x="2820924" y="3116814"/>
            <a:ext cx="1257300" cy="274320"/>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Black"/>
                <a:ea typeface="Noto Sans KR Black"/>
                <a:cs typeface="Noto Sans KR Black"/>
              </a:rPr>
              <a:t>소재 집기</a:t>
            </a:r>
          </a:p>
        </p:txBody>
      </p:sp>
      <p:sp>
        <p:nvSpPr>
          <p:cNvPr id="17" name="TextBox 16"/>
          <p:cNvSpPr txBox="1"/>
          <p:nvPr/>
        </p:nvSpPr>
        <p:spPr>
          <a:xfrm>
            <a:off x="2820924" y="3391134"/>
            <a:ext cx="125730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a:ea typeface="Noto Sans KR"/>
                <a:cs typeface="Noto Sans KR"/>
              </a:rPr>
              <a:t>부품 Pick</a:t>
            </a:r>
          </a:p>
        </p:txBody>
      </p:sp>
      <p:sp>
        <p:nvSpPr>
          <p:cNvPr id="18" name="Isosceles Triangle 17"/>
          <p:cNvSpPr/>
          <p:nvPr/>
        </p:nvSpPr>
        <p:spPr>
          <a:xfrm rot="5400000">
            <a:off x="4169664" y="2724267"/>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ard"/>
          <p:cNvSpPr/>
          <p:nvPr/>
        </p:nvSpPr>
        <p:spPr>
          <a:xfrm>
            <a:off x="4306824" y="1783080"/>
            <a:ext cx="1696212" cy="1973814"/>
          </a:xfrm>
          <a:prstGeom prst="roundRect">
            <a:avLst>
              <a:gd name="adj" fmla="val 431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Step 3 rendering" descr="s3_load.jpg"/>
          <p:cNvPicPr>
            <a:picLocks noChangeAspect="1"/>
          </p:cNvPicPr>
          <p:nvPr/>
        </p:nvPicPr>
        <p:blipFill>
          <a:blip r:embed="rId4"/>
          <a:stretch>
            <a:fillRect/>
          </a:stretch>
        </p:blipFill>
        <p:spPr>
          <a:xfrm>
            <a:off x="4361688" y="1837944"/>
            <a:ext cx="1586484" cy="1205718"/>
          </a:xfrm>
          <a:prstGeom prst="rect">
            <a:avLst/>
          </a:prstGeom>
        </p:spPr>
      </p:pic>
      <p:sp>
        <p:nvSpPr>
          <p:cNvPr id="21" name="badge 3"/>
          <p:cNvSpPr/>
          <p:nvPr/>
        </p:nvSpPr>
        <p:spPr>
          <a:xfrm>
            <a:off x="4398264" y="3135102"/>
            <a:ext cx="246888" cy="24688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3</a:t>
            </a:r>
          </a:p>
        </p:txBody>
      </p:sp>
      <p:sp>
        <p:nvSpPr>
          <p:cNvPr id="22" name="TextBox 21"/>
          <p:cNvSpPr txBox="1"/>
          <p:nvPr/>
        </p:nvSpPr>
        <p:spPr>
          <a:xfrm>
            <a:off x="4700016" y="3116814"/>
            <a:ext cx="1257300" cy="274320"/>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Black"/>
                <a:ea typeface="Noto Sans KR Black"/>
                <a:cs typeface="Noto Sans KR Black"/>
              </a:rPr>
              <a:t>설비에 투입</a:t>
            </a:r>
          </a:p>
        </p:txBody>
      </p:sp>
      <p:sp>
        <p:nvSpPr>
          <p:cNvPr id="23" name="TextBox 22"/>
          <p:cNvSpPr txBox="1"/>
          <p:nvPr/>
        </p:nvSpPr>
        <p:spPr>
          <a:xfrm>
            <a:off x="4700016" y="3391134"/>
            <a:ext cx="125730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a:ea typeface="Noto Sans KR"/>
                <a:cs typeface="Noto Sans KR"/>
              </a:rPr>
              <a:t>Loading</a:t>
            </a:r>
          </a:p>
        </p:txBody>
      </p:sp>
      <p:sp>
        <p:nvSpPr>
          <p:cNvPr id="24" name="Isosceles Triangle 23"/>
          <p:cNvSpPr/>
          <p:nvPr/>
        </p:nvSpPr>
        <p:spPr>
          <a:xfrm rot="5400000">
            <a:off x="6048756" y="2724267"/>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ard"/>
          <p:cNvSpPr/>
          <p:nvPr/>
        </p:nvSpPr>
        <p:spPr>
          <a:xfrm>
            <a:off x="6185916" y="1783080"/>
            <a:ext cx="1696212" cy="1973814"/>
          </a:xfrm>
          <a:prstGeom prst="roundRect">
            <a:avLst>
              <a:gd name="adj" fmla="val 431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Step 4 rendering" descr="s4_press.jpg"/>
          <p:cNvPicPr>
            <a:picLocks noChangeAspect="1"/>
          </p:cNvPicPr>
          <p:nvPr/>
        </p:nvPicPr>
        <p:blipFill>
          <a:blip r:embed="rId5"/>
          <a:stretch>
            <a:fillRect/>
          </a:stretch>
        </p:blipFill>
        <p:spPr>
          <a:xfrm>
            <a:off x="6240780" y="1837944"/>
            <a:ext cx="1586484" cy="1205718"/>
          </a:xfrm>
          <a:prstGeom prst="rect">
            <a:avLst/>
          </a:prstGeom>
        </p:spPr>
      </p:pic>
      <p:sp>
        <p:nvSpPr>
          <p:cNvPr id="27" name="badge 4"/>
          <p:cNvSpPr/>
          <p:nvPr/>
        </p:nvSpPr>
        <p:spPr>
          <a:xfrm>
            <a:off x="6277356" y="3135102"/>
            <a:ext cx="246888" cy="24688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4</a:t>
            </a:r>
          </a:p>
        </p:txBody>
      </p:sp>
      <p:sp>
        <p:nvSpPr>
          <p:cNvPr id="28" name="TextBox 27"/>
          <p:cNvSpPr txBox="1"/>
          <p:nvPr/>
        </p:nvSpPr>
        <p:spPr>
          <a:xfrm>
            <a:off x="6579108" y="3116814"/>
            <a:ext cx="1257300" cy="274320"/>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Black"/>
                <a:ea typeface="Noto Sans KR Black"/>
                <a:cs typeface="Noto Sans KR Black"/>
              </a:rPr>
              <a:t>버튼 · 레버 조작</a:t>
            </a:r>
          </a:p>
        </p:txBody>
      </p:sp>
      <p:sp>
        <p:nvSpPr>
          <p:cNvPr id="29" name="TextBox 28"/>
          <p:cNvSpPr txBox="1"/>
          <p:nvPr/>
        </p:nvSpPr>
        <p:spPr>
          <a:xfrm>
            <a:off x="6579108" y="3391134"/>
            <a:ext cx="125730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a:ea typeface="Noto Sans KR"/>
                <a:cs typeface="Noto Sans KR"/>
              </a:rPr>
              <a:t>기존 Interface</a:t>
            </a:r>
          </a:p>
        </p:txBody>
      </p:sp>
      <p:sp>
        <p:nvSpPr>
          <p:cNvPr id="30" name="Isosceles Triangle 29"/>
          <p:cNvSpPr/>
          <p:nvPr/>
        </p:nvSpPr>
        <p:spPr>
          <a:xfrm rot="5400000">
            <a:off x="7927848" y="2724267"/>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ard"/>
          <p:cNvSpPr/>
          <p:nvPr/>
        </p:nvSpPr>
        <p:spPr>
          <a:xfrm>
            <a:off x="8065008" y="1783080"/>
            <a:ext cx="1696212" cy="1973814"/>
          </a:xfrm>
          <a:prstGeom prst="roundRect">
            <a:avLst>
              <a:gd name="adj" fmla="val 431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Step 5 rendering" descr="s5_unload.jpg"/>
          <p:cNvPicPr>
            <a:picLocks noChangeAspect="1"/>
          </p:cNvPicPr>
          <p:nvPr/>
        </p:nvPicPr>
        <p:blipFill>
          <a:blip r:embed="rId6"/>
          <a:stretch>
            <a:fillRect/>
          </a:stretch>
        </p:blipFill>
        <p:spPr>
          <a:xfrm>
            <a:off x="8119872" y="1837944"/>
            <a:ext cx="1586484" cy="1205718"/>
          </a:xfrm>
          <a:prstGeom prst="rect">
            <a:avLst/>
          </a:prstGeom>
        </p:spPr>
      </p:pic>
      <p:sp>
        <p:nvSpPr>
          <p:cNvPr id="33" name="badge 5"/>
          <p:cNvSpPr/>
          <p:nvPr/>
        </p:nvSpPr>
        <p:spPr>
          <a:xfrm>
            <a:off x="8156448" y="3135102"/>
            <a:ext cx="246888" cy="24688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5</a:t>
            </a:r>
          </a:p>
        </p:txBody>
      </p:sp>
      <p:sp>
        <p:nvSpPr>
          <p:cNvPr id="34" name="TextBox 33"/>
          <p:cNvSpPr txBox="1"/>
          <p:nvPr/>
        </p:nvSpPr>
        <p:spPr>
          <a:xfrm>
            <a:off x="8458200" y="3116814"/>
            <a:ext cx="1257300" cy="274320"/>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Black"/>
                <a:ea typeface="Noto Sans KR Black"/>
                <a:cs typeface="Noto Sans KR Black"/>
              </a:rPr>
              <a:t>완성품 꺼내기</a:t>
            </a:r>
          </a:p>
        </p:txBody>
      </p:sp>
      <p:sp>
        <p:nvSpPr>
          <p:cNvPr id="35" name="TextBox 34"/>
          <p:cNvSpPr txBox="1"/>
          <p:nvPr/>
        </p:nvSpPr>
        <p:spPr>
          <a:xfrm>
            <a:off x="8458200" y="3391134"/>
            <a:ext cx="125730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a:ea typeface="Noto Sans KR"/>
                <a:cs typeface="Noto Sans KR"/>
              </a:rPr>
              <a:t>Unload</a:t>
            </a:r>
          </a:p>
        </p:txBody>
      </p:sp>
      <p:sp>
        <p:nvSpPr>
          <p:cNvPr id="36" name="Isosceles Triangle 35"/>
          <p:cNvSpPr/>
          <p:nvPr/>
        </p:nvSpPr>
        <p:spPr>
          <a:xfrm rot="5400000">
            <a:off x="9806940" y="2724267"/>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ard"/>
          <p:cNvSpPr/>
          <p:nvPr/>
        </p:nvSpPr>
        <p:spPr>
          <a:xfrm>
            <a:off x="9944100" y="1783080"/>
            <a:ext cx="1696212" cy="1973814"/>
          </a:xfrm>
          <a:prstGeom prst="roundRect">
            <a:avLst>
              <a:gd name="adj" fmla="val 431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Step 6 rendering" descr="s6_close.jpg"/>
          <p:cNvPicPr>
            <a:picLocks noChangeAspect="1"/>
          </p:cNvPicPr>
          <p:nvPr/>
        </p:nvPicPr>
        <p:blipFill>
          <a:blip r:embed="rId7"/>
          <a:stretch>
            <a:fillRect/>
          </a:stretch>
        </p:blipFill>
        <p:spPr>
          <a:xfrm>
            <a:off x="9998964" y="1837944"/>
            <a:ext cx="1586484" cy="1205718"/>
          </a:xfrm>
          <a:prstGeom prst="rect">
            <a:avLst/>
          </a:prstGeom>
        </p:spPr>
      </p:pic>
      <p:sp>
        <p:nvSpPr>
          <p:cNvPr id="39" name="badge 6"/>
          <p:cNvSpPr/>
          <p:nvPr/>
        </p:nvSpPr>
        <p:spPr>
          <a:xfrm>
            <a:off x="10035540" y="3135102"/>
            <a:ext cx="246888" cy="24688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6</a:t>
            </a:r>
          </a:p>
        </p:txBody>
      </p:sp>
      <p:sp>
        <p:nvSpPr>
          <p:cNvPr id="40" name="TextBox 39"/>
          <p:cNvSpPr txBox="1"/>
          <p:nvPr/>
        </p:nvSpPr>
        <p:spPr>
          <a:xfrm>
            <a:off x="10337292" y="3116814"/>
            <a:ext cx="1257300" cy="274320"/>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Black"/>
                <a:ea typeface="Noto Sans KR Black"/>
                <a:cs typeface="Noto Sans KR Black"/>
              </a:rPr>
              <a:t>문 닫기</a:t>
            </a:r>
          </a:p>
        </p:txBody>
      </p:sp>
      <p:sp>
        <p:nvSpPr>
          <p:cNvPr id="41" name="TextBox 40"/>
          <p:cNvSpPr txBox="1"/>
          <p:nvPr/>
        </p:nvSpPr>
        <p:spPr>
          <a:xfrm>
            <a:off x="10337292" y="3391134"/>
            <a:ext cx="1257300" cy="219456"/>
          </a:xfrm>
          <a:prstGeom prst="rect">
            <a:avLst/>
          </a:prstGeom>
          <a:noFill/>
        </p:spPr>
        <p:txBody>
          <a:bodyPr wrap="square" lIns="0" rIns="0" tIns="0" bIns="0" anchor="t">
            <a:noAutofit/>
          </a:bodyPr>
          <a:lstStyle/>
          <a:p>
            <a:pPr algn="l">
              <a:lnSpc>
                <a:spcPct val="112000"/>
              </a:lnSpc>
            </a:pPr>
            <a:r>
              <a:rPr sz="850" b="0" i="0">
                <a:solidFill>
                  <a:srgbClr val="F3A574"/>
                </a:solidFill>
                <a:latin typeface="Noto Sans KR"/>
                <a:ea typeface="Noto Sans KR"/>
                <a:cs typeface="Noto Sans KR"/>
              </a:rPr>
              <a:t>같은 Skill 재사용</a:t>
            </a:r>
          </a:p>
        </p:txBody>
      </p:sp>
      <p:sp>
        <p:nvSpPr>
          <p:cNvPr id="42" name="TextBox 41"/>
          <p:cNvSpPr txBox="1"/>
          <p:nvPr/>
        </p:nvSpPr>
        <p:spPr>
          <a:xfrm>
            <a:off x="685800" y="3875766"/>
            <a:ext cx="960120" cy="1234440"/>
          </a:xfrm>
          <a:prstGeom prst="rect">
            <a:avLst/>
          </a:prstGeom>
          <a:noFill/>
        </p:spPr>
        <p:txBody>
          <a:bodyPr wrap="square" lIns="0" rIns="0" tIns="0" bIns="0" anchor="t">
            <a:noAutofit/>
          </a:bodyPr>
          <a:lstStyle/>
          <a:p>
            <a:pPr algn="r">
              <a:lnSpc>
                <a:spcPct val="100000"/>
              </a:lnSpc>
            </a:pPr>
            <a:r>
              <a:rPr sz="6600" b="0" i="0">
                <a:solidFill>
                  <a:srgbClr val="F2F2EF"/>
                </a:solidFill>
                <a:latin typeface="Noto Sans KR Black"/>
                <a:ea typeface="Noto Sans KR Black"/>
                <a:cs typeface="Noto Sans KR Black"/>
              </a:rPr>
              <a:t>1</a:t>
            </a:r>
          </a:p>
        </p:txBody>
      </p:sp>
      <p:sp>
        <p:nvSpPr>
          <p:cNvPr id="43" name="TextBox 42"/>
          <p:cNvSpPr txBox="1"/>
          <p:nvPr/>
        </p:nvSpPr>
        <p:spPr>
          <a:xfrm>
            <a:off x="1755648" y="4131798"/>
            <a:ext cx="2398776" cy="384048"/>
          </a:xfrm>
          <a:prstGeom prst="rect">
            <a:avLst/>
          </a:prstGeom>
          <a:noFill/>
        </p:spPr>
        <p:txBody>
          <a:bodyPr wrap="square" lIns="0" rIns="0" tIns="0" bIns="0" anchor="t">
            <a:noAutofit/>
          </a:bodyPr>
          <a:lstStyle/>
          <a:p>
            <a:pPr algn="l">
              <a:lnSpc>
                <a:spcPct val="100000"/>
              </a:lnSpc>
            </a:pPr>
            <a:r>
              <a:rPr sz="2100" b="0" i="0">
                <a:solidFill>
                  <a:srgbClr val="F2F2EF"/>
                </a:solidFill>
                <a:latin typeface="Noto Sans KR Black"/>
                <a:ea typeface="Noto Sans KR Black"/>
                <a:cs typeface="Noto Sans KR Black"/>
              </a:rPr>
              <a:t>HAND</a:t>
            </a:r>
          </a:p>
        </p:txBody>
      </p:sp>
      <p:sp>
        <p:nvSpPr>
          <p:cNvPr id="44" name="TextBox 43"/>
          <p:cNvSpPr txBox="1"/>
          <p:nvPr/>
        </p:nvSpPr>
        <p:spPr>
          <a:xfrm>
            <a:off x="1755648" y="4570710"/>
            <a:ext cx="2398776" cy="41148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SoftHand-4 하나로</a:t>
            </a:r>
          </a:p>
        </p:txBody>
      </p:sp>
      <p:cxnSp>
        <p:nvCxnSpPr>
          <p:cNvPr id="45" name="Connector 44"/>
          <p:cNvCxnSpPr/>
          <p:nvPr/>
        </p:nvCxnSpPr>
        <p:spPr>
          <a:xfrm>
            <a:off x="4245864" y="4058646"/>
            <a:ext cx="0" cy="987552"/>
          </a:xfrm>
          <a:prstGeom prst="line">
            <a:avLst/>
          </a:prstGeom>
          <a:ln w="9525">
            <a:solidFill>
              <a:srgbClr val="3C424B"/>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383024" y="3875766"/>
            <a:ext cx="960120" cy="1234440"/>
          </a:xfrm>
          <a:prstGeom prst="rect">
            <a:avLst/>
          </a:prstGeom>
          <a:noFill/>
        </p:spPr>
        <p:txBody>
          <a:bodyPr wrap="square" lIns="0" rIns="0" tIns="0" bIns="0" anchor="t">
            <a:noAutofit/>
          </a:bodyPr>
          <a:lstStyle/>
          <a:p>
            <a:pPr algn="r">
              <a:lnSpc>
                <a:spcPct val="100000"/>
              </a:lnSpc>
            </a:pPr>
            <a:r>
              <a:rPr sz="6600" b="0" i="0">
                <a:solidFill>
                  <a:srgbClr val="F2F2EF"/>
                </a:solidFill>
                <a:latin typeface="Noto Sans KR Black"/>
                <a:ea typeface="Noto Sans KR Black"/>
                <a:cs typeface="Noto Sans KR Black"/>
              </a:rPr>
              <a:t>5</a:t>
            </a:r>
          </a:p>
        </p:txBody>
      </p:sp>
      <p:sp>
        <p:nvSpPr>
          <p:cNvPr id="47" name="TextBox 46"/>
          <p:cNvSpPr txBox="1"/>
          <p:nvPr/>
        </p:nvSpPr>
        <p:spPr>
          <a:xfrm>
            <a:off x="5452872" y="4131798"/>
            <a:ext cx="2398776" cy="384048"/>
          </a:xfrm>
          <a:prstGeom prst="rect">
            <a:avLst/>
          </a:prstGeom>
          <a:noFill/>
        </p:spPr>
        <p:txBody>
          <a:bodyPr wrap="square" lIns="0" rIns="0" tIns="0" bIns="0" anchor="t">
            <a:noAutofit/>
          </a:bodyPr>
          <a:lstStyle/>
          <a:p>
            <a:pPr algn="l">
              <a:lnSpc>
                <a:spcPct val="100000"/>
              </a:lnSpc>
            </a:pPr>
            <a:r>
              <a:rPr sz="2100" b="0" i="0">
                <a:solidFill>
                  <a:srgbClr val="F2F2EF"/>
                </a:solidFill>
                <a:latin typeface="Noto Sans KR Black"/>
                <a:ea typeface="Noto Sans KR Black"/>
                <a:cs typeface="Noto Sans KR Black"/>
              </a:rPr>
              <a:t>TASKS</a:t>
            </a:r>
          </a:p>
        </p:txBody>
      </p:sp>
      <p:sp>
        <p:nvSpPr>
          <p:cNvPr id="48" name="TextBox 47"/>
          <p:cNvSpPr txBox="1"/>
          <p:nvPr/>
        </p:nvSpPr>
        <p:spPr>
          <a:xfrm>
            <a:off x="5452872" y="4570710"/>
            <a:ext cx="2398776" cy="41148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문 · 집기 · 투입 · 조작 · 배출</a:t>
            </a:r>
          </a:p>
        </p:txBody>
      </p:sp>
      <p:cxnSp>
        <p:nvCxnSpPr>
          <p:cNvPr id="49" name="Connector 48"/>
          <p:cNvCxnSpPr/>
          <p:nvPr/>
        </p:nvCxnSpPr>
        <p:spPr>
          <a:xfrm>
            <a:off x="7943088" y="4058646"/>
            <a:ext cx="0" cy="987552"/>
          </a:xfrm>
          <a:prstGeom prst="line">
            <a:avLst/>
          </a:prstGeom>
          <a:ln w="9525">
            <a:solidFill>
              <a:srgbClr val="3C424B"/>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080248" y="3875766"/>
            <a:ext cx="960120" cy="1234440"/>
          </a:xfrm>
          <a:prstGeom prst="rect">
            <a:avLst/>
          </a:prstGeom>
          <a:noFill/>
        </p:spPr>
        <p:txBody>
          <a:bodyPr wrap="square" lIns="0" rIns="0" tIns="0" bIns="0" anchor="t">
            <a:noAutofit/>
          </a:bodyPr>
          <a:lstStyle/>
          <a:p>
            <a:pPr algn="r">
              <a:lnSpc>
                <a:spcPct val="100000"/>
              </a:lnSpc>
            </a:pPr>
            <a:r>
              <a:rPr sz="6600" b="0" i="0">
                <a:solidFill>
                  <a:srgbClr val="EC7A3C"/>
                </a:solidFill>
                <a:latin typeface="Noto Sans KR Black"/>
                <a:ea typeface="Noto Sans KR Black"/>
                <a:cs typeface="Noto Sans KR Black"/>
              </a:rPr>
              <a:t>0</a:t>
            </a:r>
          </a:p>
        </p:txBody>
      </p:sp>
      <p:sp>
        <p:nvSpPr>
          <p:cNvPr id="51" name="TextBox 50"/>
          <p:cNvSpPr txBox="1"/>
          <p:nvPr/>
        </p:nvSpPr>
        <p:spPr>
          <a:xfrm>
            <a:off x="9150096" y="4131798"/>
            <a:ext cx="2398776" cy="384048"/>
          </a:xfrm>
          <a:prstGeom prst="rect">
            <a:avLst/>
          </a:prstGeom>
          <a:noFill/>
        </p:spPr>
        <p:txBody>
          <a:bodyPr wrap="square" lIns="0" rIns="0" tIns="0" bIns="0" anchor="t">
            <a:noAutofit/>
          </a:bodyPr>
          <a:lstStyle/>
          <a:p>
            <a:pPr algn="l">
              <a:lnSpc>
                <a:spcPct val="100000"/>
              </a:lnSpc>
            </a:pPr>
            <a:r>
              <a:rPr sz="2100" b="0" i="0">
                <a:solidFill>
                  <a:srgbClr val="EC7A3C"/>
                </a:solidFill>
                <a:latin typeface="Noto Sans KR Black"/>
                <a:ea typeface="Noto Sans KR Black"/>
                <a:cs typeface="Noto Sans KR Black"/>
              </a:rPr>
              <a:t>HAND CHANGES</a:t>
            </a:r>
          </a:p>
        </p:txBody>
      </p:sp>
      <p:sp>
        <p:nvSpPr>
          <p:cNvPr id="52" name="TextBox 51"/>
          <p:cNvSpPr txBox="1"/>
          <p:nvPr/>
        </p:nvSpPr>
        <p:spPr>
          <a:xfrm>
            <a:off x="9150096" y="4570710"/>
            <a:ext cx="2398776" cy="41148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Tool Changer · 추가 End-effector 없이</a:t>
            </a:r>
          </a:p>
          <a:p>
            <a:pPr algn="l">
              <a:lnSpc>
                <a:spcPct val="112000"/>
              </a:lnSpc>
            </a:pPr>
            <a:r>
              <a:rPr sz="950" b="0" i="0">
                <a:solidFill>
                  <a:srgbClr val="AEB3BB"/>
                </a:solidFill>
                <a:latin typeface="Noto Sans KR"/>
                <a:ea typeface="Noto Sans KR"/>
                <a:cs typeface="Noto Sans KR"/>
              </a:rPr>
              <a:t>Seed 기간 검증 목표</a:t>
            </a:r>
          </a:p>
        </p:txBody>
      </p:sp>
      <p:sp>
        <p:nvSpPr>
          <p:cNvPr id="53" name="Card"/>
          <p:cNvSpPr/>
          <p:nvPr/>
        </p:nvSpPr>
        <p:spPr>
          <a:xfrm>
            <a:off x="548640" y="5257800"/>
            <a:ext cx="11091672" cy="749808"/>
          </a:xfrm>
          <a:prstGeom prst="roundRect">
            <a:avLst>
              <a:gd name="adj" fmla="val 9756"/>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77240" y="5349240"/>
            <a:ext cx="1280160" cy="219456"/>
          </a:xfrm>
          <a:prstGeom prst="rect">
            <a:avLst/>
          </a:prstGeom>
          <a:noFill/>
        </p:spPr>
        <p:txBody>
          <a:bodyPr wrap="square" lIns="0" rIns="0" tIns="0" bIns="0" anchor="t">
            <a:noAutofit/>
          </a:bodyPr>
          <a:lstStyle/>
          <a:p>
            <a:pPr algn="l">
              <a:lnSpc>
                <a:spcPct val="112000"/>
              </a:lnSpc>
            </a:pPr>
            <a:r>
              <a:rPr sz="900" b="0" i="0" spc="80">
                <a:solidFill>
                  <a:srgbClr val="8A8F97"/>
                </a:solidFill>
                <a:latin typeface="Noto Sans KR SemiBold"/>
                <a:ea typeface="Noto Sans KR SemiBold"/>
                <a:cs typeface="Noto Sans KR SemiBold"/>
              </a:rPr>
              <a:t>기존 방식</a:t>
            </a:r>
          </a:p>
        </p:txBody>
      </p:sp>
      <p:sp>
        <p:nvSpPr>
          <p:cNvPr id="55" name="TextBox 54"/>
          <p:cNvSpPr txBox="1"/>
          <p:nvPr/>
        </p:nvSpPr>
        <p:spPr>
          <a:xfrm>
            <a:off x="777240" y="5586984"/>
            <a:ext cx="4572000" cy="329184"/>
          </a:xfrm>
          <a:prstGeom prst="rect">
            <a:avLst/>
          </a:prstGeom>
          <a:noFill/>
        </p:spPr>
        <p:txBody>
          <a:bodyPr wrap="square" lIns="0" rIns="0" tIns="0" bIns="0" anchor="t">
            <a:noAutofit/>
          </a:bodyPr>
          <a:lstStyle/>
          <a:p>
            <a:pPr algn="l">
              <a:lnSpc>
                <a:spcPct val="112000"/>
              </a:lnSpc>
            </a:pPr>
            <a:r>
              <a:rPr sz="1200" b="0" i="0">
                <a:solidFill>
                  <a:srgbClr val="AEB3BB"/>
                </a:solidFill>
                <a:latin typeface="Noto Sans KR SemiBold"/>
                <a:ea typeface="Noto Sans KR SemiBold"/>
                <a:cs typeface="Noto Sans KR SemiBold"/>
              </a:rPr>
              <a:t>Gripper 2종 + Tool Changer + 자동문 · I/O 개조</a:t>
            </a:r>
          </a:p>
        </p:txBody>
      </p:sp>
      <p:sp>
        <p:nvSpPr>
          <p:cNvPr id="56" name="Isosceles Triangle 55"/>
          <p:cNvSpPr/>
          <p:nvPr/>
        </p:nvSpPr>
        <p:spPr>
          <a:xfrm rot="5400000">
            <a:off x="5532120" y="5605272"/>
            <a:ext cx="109728" cy="109728"/>
          </a:xfrm>
          <a:prstGeom prst="triangl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52160" y="5349240"/>
            <a:ext cx="1280160" cy="219456"/>
          </a:xfrm>
          <a:prstGeom prst="rect">
            <a:avLst/>
          </a:prstGeom>
          <a:noFill/>
        </p:spPr>
        <p:txBody>
          <a:bodyPr wrap="square" lIns="0" rIns="0" tIns="0" bIns="0" anchor="t">
            <a:noAutofit/>
          </a:bodyPr>
          <a:lstStyle/>
          <a:p>
            <a:pPr algn="l">
              <a:lnSpc>
                <a:spcPct val="112000"/>
              </a:lnSpc>
            </a:pPr>
            <a:r>
              <a:rPr sz="900" b="0" i="0" spc="80">
                <a:solidFill>
                  <a:srgbClr val="EC7A3C"/>
                </a:solidFill>
                <a:latin typeface="Noto Sans KR SemiBold"/>
                <a:ea typeface="Noto Sans KR SemiBold"/>
                <a:cs typeface="Noto Sans KR SemiBold"/>
              </a:rPr>
              <a:t>SoftHand-4</a:t>
            </a:r>
          </a:p>
        </p:txBody>
      </p:sp>
      <p:sp>
        <p:nvSpPr>
          <p:cNvPr id="58" name="TextBox 57"/>
          <p:cNvSpPr txBox="1"/>
          <p:nvPr/>
        </p:nvSpPr>
        <p:spPr>
          <a:xfrm>
            <a:off x="5852160" y="5586984"/>
            <a:ext cx="5577840" cy="329184"/>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1 Hand + Machine Tending Skill Pack</a:t>
            </a:r>
            <a:r>
              <a:rPr sz="950" b="0" i="0">
                <a:solidFill>
                  <a:srgbClr val="AEB3BB"/>
                </a:solidFill>
                <a:latin typeface="Noto Sans KR"/>
                <a:ea typeface="Noto Sans KR"/>
                <a:cs typeface="Noto Sans KR"/>
              </a:rPr>
              <a:t>   6단계 = 5종 Task (열기 · 닫기는 같은 Skill)</a:t>
            </a:r>
          </a:p>
        </p:txBody>
      </p:sp>
      <p:sp>
        <p:nvSpPr>
          <p:cNvPr id="59" name="TextBox 58"/>
          <p:cNvSpPr txBox="1"/>
          <p:nvPr/>
        </p:nvSpPr>
        <p:spPr>
          <a:xfrm>
            <a:off x="548640" y="6108192"/>
            <a:ext cx="11091672" cy="201168"/>
          </a:xfrm>
          <a:prstGeom prst="rect">
            <a:avLst/>
          </a:prstGeom>
          <a:noFill/>
        </p:spPr>
        <p:txBody>
          <a:bodyPr wrap="square" lIns="0" rIns="0" tIns="0" bIns="0" anchor="t">
            <a:noAutofit/>
          </a:bodyPr>
          <a:lstStyle/>
          <a:p>
            <a:pPr algn="l">
              <a:lnSpc>
                <a:spcPct val="112000"/>
              </a:lnSpc>
            </a:pPr>
            <a:r>
              <a:rPr sz="850" b="0" i="0">
                <a:solidFill>
                  <a:srgbClr val="737882"/>
                </a:solidFill>
                <a:latin typeface="Noto Sans KR"/>
                <a:ea typeface="Noto Sans KR"/>
                <a:cs typeface="Noto Sans KR"/>
              </a:rPr>
              <a:t>개념 Workflow · 창업 후 6개월 내 대표 공정으로 반복시험, 단계별 완료율과 사람 개입 시간을 분리 보고</a:t>
            </a:r>
          </a:p>
        </p:txBody>
      </p:sp>
      <p:sp>
        <p:nvSpPr>
          <p:cNvPr id="60"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61"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07  ·  고객 가치</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고객은 Hand가 아니라 Automation Flexibility에 돈을 낸다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We Sell Automation Flexibility.</a:t>
            </a:r>
          </a:p>
        </p:txBody>
      </p:sp>
      <p:sp>
        <p:nvSpPr>
          <p:cNvPr id="6" name="Card"/>
          <p:cNvSpPr/>
          <p:nvPr/>
        </p:nvSpPr>
        <p:spPr>
          <a:xfrm>
            <a:off x="548640" y="1783080"/>
            <a:ext cx="3593592" cy="1024128"/>
          </a:xfrm>
          <a:prstGeom prst="roundRect">
            <a:avLst>
              <a:gd name="adj" fmla="val 714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adge 1"/>
          <p:cNvSpPr/>
          <p:nvPr/>
        </p:nvSpPr>
        <p:spPr>
          <a:xfrm>
            <a:off x="749808" y="1965960"/>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1000" b="0" i="0">
                <a:solidFill>
                  <a:srgbClr val="FFFFFF"/>
                </a:solidFill>
                <a:latin typeface="Noto Sans KR Black"/>
                <a:ea typeface="Noto Sans KR Black"/>
                <a:cs typeface="Noto Sans KR Black"/>
              </a:rPr>
              <a:t>1</a:t>
            </a:r>
          </a:p>
        </p:txBody>
      </p:sp>
      <p:sp>
        <p:nvSpPr>
          <p:cNvPr id="8" name="TextBox 7"/>
          <p:cNvSpPr txBox="1"/>
          <p:nvPr/>
        </p:nvSpPr>
        <p:spPr>
          <a:xfrm>
            <a:off x="1143000" y="1956816"/>
            <a:ext cx="2862072" cy="292608"/>
          </a:xfrm>
          <a:prstGeom prst="rect">
            <a:avLst/>
          </a:prstGeom>
          <a:noFill/>
        </p:spPr>
        <p:txBody>
          <a:bodyPr wrap="square" lIns="0" rIns="0" tIns="0" bIns="0" anchor="t">
            <a:noAutofit/>
          </a:bodyPr>
          <a:lstStyle/>
          <a:p>
            <a:pPr algn="l">
              <a:lnSpc>
                <a:spcPct val="112000"/>
              </a:lnSpc>
            </a:pPr>
            <a:r>
              <a:rPr sz="1350" b="0" i="0">
                <a:solidFill>
                  <a:srgbClr val="F2F2EF"/>
                </a:solidFill>
                <a:latin typeface="Noto Sans KR Black"/>
                <a:ea typeface="Noto Sans KR Black"/>
                <a:cs typeface="Noto Sans KR Black"/>
              </a:rPr>
              <a:t>기존 설비 개조 최소화</a:t>
            </a:r>
          </a:p>
        </p:txBody>
      </p:sp>
      <p:sp>
        <p:nvSpPr>
          <p:cNvPr id="9" name="TextBox 8"/>
          <p:cNvSpPr txBox="1"/>
          <p:nvPr/>
        </p:nvSpPr>
        <p:spPr>
          <a:xfrm>
            <a:off x="1143000" y="2295144"/>
            <a:ext cx="2862072" cy="41148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설비 개조 · Fixture · 추가 구동기를 줄일 가능성</a:t>
            </a:r>
          </a:p>
        </p:txBody>
      </p:sp>
      <p:sp>
        <p:nvSpPr>
          <p:cNvPr id="10" name="Card"/>
          <p:cNvSpPr/>
          <p:nvPr/>
        </p:nvSpPr>
        <p:spPr>
          <a:xfrm>
            <a:off x="4297680" y="1783080"/>
            <a:ext cx="3593592" cy="1024128"/>
          </a:xfrm>
          <a:prstGeom prst="roundRect">
            <a:avLst>
              <a:gd name="adj" fmla="val 714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adge 2"/>
          <p:cNvSpPr/>
          <p:nvPr/>
        </p:nvSpPr>
        <p:spPr>
          <a:xfrm>
            <a:off x="4498848" y="1965960"/>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1000" b="0" i="0">
                <a:solidFill>
                  <a:srgbClr val="FFFFFF"/>
                </a:solidFill>
                <a:latin typeface="Noto Sans KR Black"/>
                <a:ea typeface="Noto Sans KR Black"/>
                <a:cs typeface="Noto Sans KR Black"/>
              </a:rPr>
              <a:t>2</a:t>
            </a:r>
          </a:p>
        </p:txBody>
      </p:sp>
      <p:sp>
        <p:nvSpPr>
          <p:cNvPr id="12" name="TextBox 11"/>
          <p:cNvSpPr txBox="1"/>
          <p:nvPr/>
        </p:nvSpPr>
        <p:spPr>
          <a:xfrm>
            <a:off x="4892040" y="1956816"/>
            <a:ext cx="2862072" cy="292608"/>
          </a:xfrm>
          <a:prstGeom prst="rect">
            <a:avLst/>
          </a:prstGeom>
          <a:noFill/>
        </p:spPr>
        <p:txBody>
          <a:bodyPr wrap="square" lIns="0" rIns="0" tIns="0" bIns="0" anchor="t">
            <a:noAutofit/>
          </a:bodyPr>
          <a:lstStyle/>
          <a:p>
            <a:pPr algn="l">
              <a:lnSpc>
                <a:spcPct val="112000"/>
              </a:lnSpc>
            </a:pPr>
            <a:r>
              <a:rPr sz="1350" b="0" i="0">
                <a:solidFill>
                  <a:srgbClr val="F2F2EF"/>
                </a:solidFill>
                <a:latin typeface="Noto Sans KR Black"/>
                <a:ea typeface="Noto Sans KR Black"/>
                <a:cs typeface="Noto Sans KR Black"/>
              </a:rPr>
              <a:t>반복 엔지니어링 감소</a:t>
            </a:r>
          </a:p>
        </p:txBody>
      </p:sp>
      <p:sp>
        <p:nvSpPr>
          <p:cNvPr id="13" name="TextBox 12"/>
          <p:cNvSpPr txBox="1"/>
          <p:nvPr/>
        </p:nvSpPr>
        <p:spPr>
          <a:xfrm>
            <a:off x="4892040" y="2295144"/>
            <a:ext cx="2862072" cy="41148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전용 Finger · Jig · 티칭 · 통합 작업을 줄일 가능성</a:t>
            </a:r>
          </a:p>
        </p:txBody>
      </p:sp>
      <p:sp>
        <p:nvSpPr>
          <p:cNvPr id="14" name="Card"/>
          <p:cNvSpPr/>
          <p:nvPr/>
        </p:nvSpPr>
        <p:spPr>
          <a:xfrm>
            <a:off x="8046720" y="1783080"/>
            <a:ext cx="3593592" cy="1024128"/>
          </a:xfrm>
          <a:prstGeom prst="roundRect">
            <a:avLst>
              <a:gd name="adj" fmla="val 714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adge 3"/>
          <p:cNvSpPr/>
          <p:nvPr/>
        </p:nvSpPr>
        <p:spPr>
          <a:xfrm>
            <a:off x="8247888" y="1965960"/>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1000" b="0" i="0">
                <a:solidFill>
                  <a:srgbClr val="FFFFFF"/>
                </a:solidFill>
                <a:latin typeface="Noto Sans KR Black"/>
                <a:ea typeface="Noto Sans KR Black"/>
                <a:cs typeface="Noto Sans KR Black"/>
              </a:rPr>
              <a:t>3</a:t>
            </a:r>
          </a:p>
        </p:txBody>
      </p:sp>
      <p:sp>
        <p:nvSpPr>
          <p:cNvPr id="16" name="TextBox 15"/>
          <p:cNvSpPr txBox="1"/>
          <p:nvPr/>
        </p:nvSpPr>
        <p:spPr>
          <a:xfrm>
            <a:off x="8641080" y="1956816"/>
            <a:ext cx="2862072" cy="292608"/>
          </a:xfrm>
          <a:prstGeom prst="rect">
            <a:avLst/>
          </a:prstGeom>
          <a:noFill/>
        </p:spPr>
        <p:txBody>
          <a:bodyPr wrap="square" lIns="0" rIns="0" tIns="0" bIns="0" anchor="t">
            <a:noAutofit/>
          </a:bodyPr>
          <a:lstStyle/>
          <a:p>
            <a:pPr algn="l">
              <a:lnSpc>
                <a:spcPct val="112000"/>
              </a:lnSpc>
            </a:pPr>
            <a:r>
              <a:rPr sz="1350" b="0" i="0">
                <a:solidFill>
                  <a:srgbClr val="F2F2EF"/>
                </a:solidFill>
                <a:latin typeface="Noto Sans KR Black"/>
                <a:ea typeface="Noto Sans KR Black"/>
                <a:cs typeface="Noto Sans KR Black"/>
              </a:rPr>
              <a:t>다음 작업에서 재사용</a:t>
            </a:r>
          </a:p>
        </p:txBody>
      </p:sp>
      <p:sp>
        <p:nvSpPr>
          <p:cNvPr id="17" name="TextBox 16"/>
          <p:cNvSpPr txBox="1"/>
          <p:nvPr/>
        </p:nvSpPr>
        <p:spPr>
          <a:xfrm>
            <a:off x="8641080" y="2295144"/>
            <a:ext cx="2862072" cy="41148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같은 Hand와 Skill 구조를 새 SKU · 다른 설비에 재사용</a:t>
            </a:r>
          </a:p>
        </p:txBody>
      </p:sp>
      <p:sp>
        <p:nvSpPr>
          <p:cNvPr id="18" name="TextBox 17"/>
          <p:cNvSpPr txBox="1"/>
          <p:nvPr/>
        </p:nvSpPr>
        <p:spPr>
          <a:xfrm>
            <a:off x="548640" y="3054096"/>
            <a:ext cx="1234440" cy="274320"/>
          </a:xfrm>
          <a:prstGeom prst="rect">
            <a:avLst/>
          </a:prstGeom>
          <a:noFill/>
        </p:spPr>
        <p:txBody>
          <a:bodyPr wrap="square" lIns="0" rIns="0" tIns="0" bIns="0" anchor="t">
            <a:noAutofit/>
          </a:bodyPr>
          <a:lstStyle/>
          <a:p>
            <a:pPr algn="l">
              <a:lnSpc>
                <a:spcPct val="112000"/>
              </a:lnSpc>
            </a:pPr>
            <a:r>
              <a:rPr sz="1300" b="0" i="0">
                <a:solidFill>
                  <a:srgbClr val="AEB3BB"/>
                </a:solidFill>
                <a:latin typeface="Noto Sans KR Black"/>
                <a:ea typeface="Noto Sans KR Black"/>
                <a:cs typeface="Noto Sans KR Black"/>
              </a:rPr>
              <a:t>기존 방식</a:t>
            </a:r>
          </a:p>
        </p:txBody>
      </p:sp>
      <p:sp>
        <p:nvSpPr>
          <p:cNvPr id="19" name="TextBox 18"/>
          <p:cNvSpPr txBox="1"/>
          <p:nvPr/>
        </p:nvSpPr>
        <p:spPr>
          <a:xfrm>
            <a:off x="548640" y="3328416"/>
            <a:ext cx="123444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TODAY</a:t>
            </a:r>
          </a:p>
        </p:txBody>
      </p:sp>
      <p:sp>
        <p:nvSpPr>
          <p:cNvPr id="20" name="Rounded Rectangle 19"/>
          <p:cNvSpPr/>
          <p:nvPr/>
        </p:nvSpPr>
        <p:spPr>
          <a:xfrm>
            <a:off x="1874520" y="3035808"/>
            <a:ext cx="1229576"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새 작업</a:t>
            </a:r>
          </a:p>
        </p:txBody>
      </p:sp>
      <p:sp>
        <p:nvSpPr>
          <p:cNvPr id="21" name="Isosceles Triangle 20"/>
          <p:cNvSpPr/>
          <p:nvPr/>
        </p:nvSpPr>
        <p:spPr>
          <a:xfrm rot="5400000">
            <a:off x="3149816" y="3246120"/>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286976" y="3035808"/>
            <a:ext cx="1229576"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새 Gripper</a:t>
            </a:r>
          </a:p>
        </p:txBody>
      </p:sp>
      <p:sp>
        <p:nvSpPr>
          <p:cNvPr id="23" name="Isosceles Triangle 22"/>
          <p:cNvSpPr/>
          <p:nvPr/>
        </p:nvSpPr>
        <p:spPr>
          <a:xfrm rot="5400000">
            <a:off x="4562272" y="3246120"/>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699432" y="3035808"/>
            <a:ext cx="1229576"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새 Finger</a:t>
            </a:r>
          </a:p>
        </p:txBody>
      </p:sp>
      <p:sp>
        <p:nvSpPr>
          <p:cNvPr id="25" name="Isosceles Triangle 24"/>
          <p:cNvSpPr/>
          <p:nvPr/>
        </p:nvSpPr>
        <p:spPr>
          <a:xfrm rot="5400000">
            <a:off x="5974729" y="3246120"/>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11889" y="3035808"/>
            <a:ext cx="1229576"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새 Jig</a:t>
            </a:r>
          </a:p>
        </p:txBody>
      </p:sp>
      <p:sp>
        <p:nvSpPr>
          <p:cNvPr id="27" name="Isosceles Triangle 26"/>
          <p:cNvSpPr/>
          <p:nvPr/>
        </p:nvSpPr>
        <p:spPr>
          <a:xfrm rot="5400000">
            <a:off x="7387185" y="3246120"/>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524345" y="3035808"/>
            <a:ext cx="1291055"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엔지니어링</a:t>
            </a:r>
          </a:p>
        </p:txBody>
      </p:sp>
      <p:sp>
        <p:nvSpPr>
          <p:cNvPr id="29" name="Isosceles Triangle 28"/>
          <p:cNvSpPr/>
          <p:nvPr/>
        </p:nvSpPr>
        <p:spPr>
          <a:xfrm rot="5400000">
            <a:off x="8861120" y="3246120"/>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8280" y="3035808"/>
            <a:ext cx="1229576"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티칭</a:t>
            </a:r>
          </a:p>
        </p:txBody>
      </p:sp>
      <p:sp>
        <p:nvSpPr>
          <p:cNvPr id="31" name="Isosceles Triangle 30"/>
          <p:cNvSpPr/>
          <p:nvPr/>
        </p:nvSpPr>
        <p:spPr>
          <a:xfrm rot="5400000">
            <a:off x="10273576" y="3246120"/>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410736" y="3035808"/>
            <a:ext cx="1229576"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검증</a:t>
            </a:r>
          </a:p>
        </p:txBody>
      </p:sp>
      <p:sp>
        <p:nvSpPr>
          <p:cNvPr id="33" name="TextBox 32"/>
          <p:cNvSpPr txBox="1"/>
          <p:nvPr/>
        </p:nvSpPr>
        <p:spPr>
          <a:xfrm>
            <a:off x="548640" y="3803904"/>
            <a:ext cx="1234440" cy="274320"/>
          </a:xfrm>
          <a:prstGeom prst="rect">
            <a:avLst/>
          </a:prstGeom>
          <a:noFill/>
        </p:spPr>
        <p:txBody>
          <a:bodyPr wrap="square" lIns="0" rIns="0" tIns="0" bIns="0" anchor="t">
            <a:noAutofit/>
          </a:bodyPr>
          <a:lstStyle/>
          <a:p>
            <a:pPr algn="l">
              <a:lnSpc>
                <a:spcPct val="112000"/>
              </a:lnSpc>
            </a:pPr>
            <a:r>
              <a:rPr sz="1300" b="0" i="0">
                <a:solidFill>
                  <a:srgbClr val="EC7A3C"/>
                </a:solidFill>
                <a:latin typeface="Noto Sans KR Black"/>
                <a:ea typeface="Noto Sans KR Black"/>
                <a:cs typeface="Noto Sans KR Black"/>
              </a:rPr>
              <a:t>우리 방식</a:t>
            </a:r>
          </a:p>
        </p:txBody>
      </p:sp>
      <p:sp>
        <p:nvSpPr>
          <p:cNvPr id="34" name="TextBox 33"/>
          <p:cNvSpPr txBox="1"/>
          <p:nvPr/>
        </p:nvSpPr>
        <p:spPr>
          <a:xfrm>
            <a:off x="548640" y="4078224"/>
            <a:ext cx="123444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WITH US</a:t>
            </a:r>
          </a:p>
        </p:txBody>
      </p:sp>
      <p:sp>
        <p:nvSpPr>
          <p:cNvPr id="35" name="Rounded Rectangle 34"/>
          <p:cNvSpPr/>
          <p:nvPr/>
        </p:nvSpPr>
        <p:spPr>
          <a:xfrm>
            <a:off x="1874520" y="3785616"/>
            <a:ext cx="1338411"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새 작업</a:t>
            </a:r>
          </a:p>
        </p:txBody>
      </p:sp>
      <p:sp>
        <p:nvSpPr>
          <p:cNvPr id="36" name="Isosceles Triangle 35"/>
          <p:cNvSpPr/>
          <p:nvPr/>
        </p:nvSpPr>
        <p:spPr>
          <a:xfrm rot="5400000">
            <a:off x="3258651" y="3995928"/>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395811" y="3785616"/>
            <a:ext cx="1338411" cy="512064"/>
          </a:xfrm>
          <a:prstGeom prst="roundRect">
            <a:avLst>
              <a:gd name="adj" fmla="val 10714"/>
            </a:avLst>
          </a:prstGeom>
          <a:solidFill>
            <a:srgbClr val="2E1D14"/>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F2F2EF"/>
                </a:solidFill>
                <a:latin typeface="Noto Sans KR SemiBold"/>
                <a:ea typeface="Noto Sans KR SemiBold"/>
                <a:cs typeface="Noto Sans KR SemiBold"/>
              </a:rPr>
              <a:t>같은 Hand</a:t>
            </a:r>
          </a:p>
        </p:txBody>
      </p:sp>
      <p:sp>
        <p:nvSpPr>
          <p:cNvPr id="38" name="Isosceles Triangle 37"/>
          <p:cNvSpPr/>
          <p:nvPr/>
        </p:nvSpPr>
        <p:spPr>
          <a:xfrm rot="5400000">
            <a:off x="4779941" y="3995928"/>
            <a:ext cx="91440" cy="91440"/>
          </a:xfrm>
          <a:prstGeom prst="triangl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917101" y="3785616"/>
            <a:ext cx="3479868" cy="512064"/>
          </a:xfrm>
          <a:prstGeom prst="roundRect">
            <a:avLst>
              <a:gd name="adj" fmla="val 10714"/>
            </a:avLst>
          </a:prstGeom>
          <a:solidFill>
            <a:srgbClr val="2E1D14"/>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F2F2EF"/>
                </a:solidFill>
                <a:latin typeface="Noto Sans KR SemiBold"/>
                <a:ea typeface="Noto Sans KR SemiBold"/>
                <a:cs typeface="Noto Sans KR SemiBold"/>
              </a:rPr>
              <a:t>기존 Skill 재사용  또는  새 Skill 구성</a:t>
            </a:r>
          </a:p>
        </p:txBody>
      </p:sp>
      <p:sp>
        <p:nvSpPr>
          <p:cNvPr id="40" name="Isosceles Triangle 39"/>
          <p:cNvSpPr/>
          <p:nvPr/>
        </p:nvSpPr>
        <p:spPr>
          <a:xfrm rot="5400000">
            <a:off x="8442689" y="3995928"/>
            <a:ext cx="91440" cy="91440"/>
          </a:xfrm>
          <a:prstGeom prst="triangl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579849" y="3785616"/>
            <a:ext cx="1472252"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Calibration</a:t>
            </a:r>
          </a:p>
        </p:txBody>
      </p:sp>
      <p:sp>
        <p:nvSpPr>
          <p:cNvPr id="42" name="Isosceles Triangle 41"/>
          <p:cNvSpPr/>
          <p:nvPr/>
        </p:nvSpPr>
        <p:spPr>
          <a:xfrm rot="5400000">
            <a:off x="10097821" y="3995928"/>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234981" y="3785616"/>
            <a:ext cx="1405331" cy="512064"/>
          </a:xfrm>
          <a:prstGeom prst="roundRect">
            <a:avLst>
              <a:gd name="adj" fmla="val 10714"/>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AEB3BB"/>
                </a:solidFill>
                <a:latin typeface="Noto Sans KR SemiBold"/>
                <a:ea typeface="Noto Sans KR SemiBold"/>
                <a:cs typeface="Noto Sans KR SemiBold"/>
              </a:rPr>
              <a:t>검증</a:t>
            </a:r>
          </a:p>
        </p:txBody>
      </p:sp>
      <p:sp>
        <p:nvSpPr>
          <p:cNvPr id="44" name="TextBox 43"/>
          <p:cNvSpPr txBox="1"/>
          <p:nvPr/>
        </p:nvSpPr>
        <p:spPr>
          <a:xfrm>
            <a:off x="1874520" y="4370832"/>
            <a:ext cx="969264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Medium"/>
                <a:ea typeface="Noto Sans KR Medium"/>
                <a:cs typeface="Noto Sans KR Medium"/>
              </a:rPr>
              <a:t>엔지니어링과 검증은 사라지지 않는다 — 얼마나 줄어드는지를 고객 현장에서 측정한다</a:t>
            </a:r>
          </a:p>
        </p:txBody>
      </p:sp>
      <p:sp>
        <p:nvSpPr>
          <p:cNvPr id="45" name="Label"/>
          <p:cNvSpPr txBox="1"/>
          <p:nvPr/>
        </p:nvSpPr>
        <p:spPr>
          <a:xfrm>
            <a:off x="548640" y="4617720"/>
            <a:ext cx="7863840" cy="201168"/>
          </a:xfrm>
          <a:prstGeom prst="rect">
            <a:avLst/>
          </a:prstGeom>
          <a:noFill/>
        </p:spPr>
        <p:txBody>
          <a:bodyPr wrap="square" lIns="0" rIns="0" tIns="0" bIns="0" anchor="t">
            <a:noAutofit/>
          </a:bodyPr>
          <a:lstStyle/>
          <a:p>
            <a:pPr algn="l">
              <a:lnSpc>
                <a:spcPct val="112000"/>
              </a:lnSpc>
            </a:pPr>
            <a:r>
              <a:rPr sz="950" b="0" i="0" spc="120">
                <a:solidFill>
                  <a:srgbClr val="EC7A3C"/>
                </a:solidFill>
                <a:latin typeface="Noto Sans KR SemiBold"/>
                <a:ea typeface="Noto Sans KR SemiBold"/>
                <a:cs typeface="Noto Sans KR SemiBold"/>
              </a:rPr>
              <a:t>PoC에서 고객 Baseline 대비 측정할 KPI</a:t>
            </a:r>
          </a:p>
        </p:txBody>
      </p:sp>
      <p:sp>
        <p:nvSpPr>
          <p:cNvPr id="46" name="Card"/>
          <p:cNvSpPr/>
          <p:nvPr/>
        </p:nvSpPr>
        <p:spPr>
          <a:xfrm>
            <a:off x="548640" y="4892040"/>
            <a:ext cx="1463040" cy="1371600"/>
          </a:xfrm>
          <a:prstGeom prst="roundRect">
            <a:avLst>
              <a:gd name="adj" fmla="val 533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85800" y="5001768"/>
            <a:ext cx="1234440" cy="274320"/>
          </a:xfrm>
          <a:prstGeom prst="rect">
            <a:avLst/>
          </a:prstGeom>
          <a:noFill/>
        </p:spPr>
        <p:txBody>
          <a:bodyPr wrap="square" lIns="0" rIns="0" tIns="0" bIns="0" anchor="t">
            <a:noAutofit/>
          </a:bodyPr>
          <a:lstStyle/>
          <a:p>
            <a:pPr algn="l">
              <a:lnSpc>
                <a:spcPct val="100000"/>
              </a:lnSpc>
            </a:pPr>
            <a:r>
              <a:rPr sz="1100" b="0" i="0">
                <a:solidFill>
                  <a:srgbClr val="F2F2EF"/>
                </a:solidFill>
                <a:latin typeface="Noto Sans KR Black"/>
                <a:ea typeface="Noto Sans KR Black"/>
                <a:cs typeface="Noto Sans KR Black"/>
              </a:rPr>
              <a:t>엔지니어링 시간</a:t>
            </a:r>
          </a:p>
        </p:txBody>
      </p:sp>
      <p:sp>
        <p:nvSpPr>
          <p:cNvPr id="48" name="TextBox 47"/>
          <p:cNvSpPr txBox="1"/>
          <p:nvPr/>
        </p:nvSpPr>
        <p:spPr>
          <a:xfrm>
            <a:off x="685800" y="5294376"/>
            <a:ext cx="1234440" cy="219456"/>
          </a:xfrm>
          <a:prstGeom prst="rect">
            <a:avLst/>
          </a:prstGeom>
          <a:noFill/>
        </p:spPr>
        <p:txBody>
          <a:bodyPr wrap="square" lIns="0" rIns="0" tIns="0" bIns="0" anchor="t">
            <a:noAutofit/>
          </a:bodyPr>
          <a:lstStyle/>
          <a:p>
            <a:pPr algn="l">
              <a:lnSpc>
                <a:spcPct val="112000"/>
              </a:lnSpc>
            </a:pPr>
            <a:r>
              <a:rPr sz="800" b="0" i="0">
                <a:solidFill>
                  <a:srgbClr val="8A8F97"/>
                </a:solidFill>
                <a:latin typeface="Noto Sans KR"/>
                <a:ea typeface="Noto Sans KR"/>
                <a:cs typeface="Noto Sans KR"/>
              </a:rPr>
              <a:t>Engineering Hours</a:t>
            </a:r>
          </a:p>
        </p:txBody>
      </p:sp>
      <p:sp>
        <p:nvSpPr>
          <p:cNvPr id="49" name="TextBox 48"/>
          <p:cNvSpPr txBox="1"/>
          <p:nvPr/>
        </p:nvSpPr>
        <p:spPr>
          <a:xfrm>
            <a:off x="685800" y="5568696"/>
            <a:ext cx="1234440" cy="548640"/>
          </a:xfrm>
          <a:prstGeom prst="rect">
            <a:avLst/>
          </a:prstGeom>
          <a:noFill/>
        </p:spPr>
        <p:txBody>
          <a:bodyPr wrap="square" lIns="0" rIns="0" tIns="0" bIns="0" anchor="t">
            <a:noAutofit/>
          </a:bodyPr>
          <a:lstStyle/>
          <a:p>
            <a:pPr algn="l">
              <a:lnSpc>
                <a:spcPct val="100000"/>
              </a:lnSpc>
            </a:pPr>
            <a:r>
              <a:rPr sz="2000" b="0" i="0">
                <a:solidFill>
                  <a:srgbClr val="AEB3BB"/>
                </a:solidFill>
                <a:latin typeface="Noto Sans KR Black"/>
                <a:ea typeface="Noto Sans KR Black"/>
                <a:cs typeface="Noto Sans KR Black"/>
              </a:rPr>
              <a:t>↓ </a:t>
            </a:r>
            <a:r>
              <a:rPr sz="2400" b="0" i="0">
                <a:solidFill>
                  <a:srgbClr val="EC7A3C"/>
                </a:solidFill>
                <a:latin typeface="Noto Sans KR Black"/>
                <a:ea typeface="Noto Sans KR Black"/>
                <a:cs typeface="Noto Sans KR Black"/>
              </a:rPr>
              <a:t>?</a:t>
            </a:r>
          </a:p>
        </p:txBody>
      </p:sp>
      <p:sp>
        <p:nvSpPr>
          <p:cNvPr id="50" name="Card"/>
          <p:cNvSpPr/>
          <p:nvPr/>
        </p:nvSpPr>
        <p:spPr>
          <a:xfrm>
            <a:off x="2148840" y="4892040"/>
            <a:ext cx="1463040" cy="1371600"/>
          </a:xfrm>
          <a:prstGeom prst="roundRect">
            <a:avLst>
              <a:gd name="adj" fmla="val 533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286000" y="5001768"/>
            <a:ext cx="1234440" cy="274320"/>
          </a:xfrm>
          <a:prstGeom prst="rect">
            <a:avLst/>
          </a:prstGeom>
          <a:noFill/>
        </p:spPr>
        <p:txBody>
          <a:bodyPr wrap="square" lIns="0" rIns="0" tIns="0" bIns="0" anchor="t">
            <a:noAutofit/>
          </a:bodyPr>
          <a:lstStyle/>
          <a:p>
            <a:pPr algn="l">
              <a:lnSpc>
                <a:spcPct val="100000"/>
              </a:lnSpc>
            </a:pPr>
            <a:r>
              <a:rPr sz="1100" b="0" i="0">
                <a:solidFill>
                  <a:srgbClr val="F2F2EF"/>
                </a:solidFill>
                <a:latin typeface="Noto Sans KR Black"/>
                <a:ea typeface="Noto Sans KR Black"/>
                <a:cs typeface="Noto Sans KR Black"/>
              </a:rPr>
              <a:t>전용 툴링 비용</a:t>
            </a:r>
          </a:p>
        </p:txBody>
      </p:sp>
      <p:sp>
        <p:nvSpPr>
          <p:cNvPr id="52" name="TextBox 51"/>
          <p:cNvSpPr txBox="1"/>
          <p:nvPr/>
        </p:nvSpPr>
        <p:spPr>
          <a:xfrm>
            <a:off x="2286000" y="5294376"/>
            <a:ext cx="1234440" cy="219456"/>
          </a:xfrm>
          <a:prstGeom prst="rect">
            <a:avLst/>
          </a:prstGeom>
          <a:noFill/>
        </p:spPr>
        <p:txBody>
          <a:bodyPr wrap="square" lIns="0" rIns="0" tIns="0" bIns="0" anchor="t">
            <a:noAutofit/>
          </a:bodyPr>
          <a:lstStyle/>
          <a:p>
            <a:pPr algn="l">
              <a:lnSpc>
                <a:spcPct val="112000"/>
              </a:lnSpc>
            </a:pPr>
            <a:r>
              <a:rPr sz="800" b="0" i="0">
                <a:solidFill>
                  <a:srgbClr val="8A8F97"/>
                </a:solidFill>
                <a:latin typeface="Noto Sans KR"/>
                <a:ea typeface="Noto Sans KR"/>
                <a:cs typeface="Noto Sans KR"/>
              </a:rPr>
              <a:t>Custom Tooling Cost</a:t>
            </a:r>
          </a:p>
        </p:txBody>
      </p:sp>
      <p:sp>
        <p:nvSpPr>
          <p:cNvPr id="53" name="TextBox 52"/>
          <p:cNvSpPr txBox="1"/>
          <p:nvPr/>
        </p:nvSpPr>
        <p:spPr>
          <a:xfrm>
            <a:off x="2286000" y="5568696"/>
            <a:ext cx="1234440" cy="548640"/>
          </a:xfrm>
          <a:prstGeom prst="rect">
            <a:avLst/>
          </a:prstGeom>
          <a:noFill/>
        </p:spPr>
        <p:txBody>
          <a:bodyPr wrap="square" lIns="0" rIns="0" tIns="0" bIns="0" anchor="t">
            <a:noAutofit/>
          </a:bodyPr>
          <a:lstStyle/>
          <a:p>
            <a:pPr algn="l">
              <a:lnSpc>
                <a:spcPct val="100000"/>
              </a:lnSpc>
            </a:pPr>
            <a:r>
              <a:rPr sz="2000" b="0" i="0">
                <a:solidFill>
                  <a:srgbClr val="AEB3BB"/>
                </a:solidFill>
                <a:latin typeface="Noto Sans KR Black"/>
                <a:ea typeface="Noto Sans KR Black"/>
                <a:cs typeface="Noto Sans KR Black"/>
              </a:rPr>
              <a:t>↓ </a:t>
            </a:r>
            <a:r>
              <a:rPr sz="2400" b="0" i="0">
                <a:solidFill>
                  <a:srgbClr val="EC7A3C"/>
                </a:solidFill>
                <a:latin typeface="Noto Sans KR Black"/>
                <a:ea typeface="Noto Sans KR Black"/>
                <a:cs typeface="Noto Sans KR Black"/>
              </a:rPr>
              <a:t>?</a:t>
            </a:r>
          </a:p>
        </p:txBody>
      </p:sp>
      <p:sp>
        <p:nvSpPr>
          <p:cNvPr id="54" name="Card"/>
          <p:cNvSpPr/>
          <p:nvPr/>
        </p:nvSpPr>
        <p:spPr>
          <a:xfrm>
            <a:off x="3749040" y="4892040"/>
            <a:ext cx="1463040" cy="1371600"/>
          </a:xfrm>
          <a:prstGeom prst="roundRect">
            <a:avLst>
              <a:gd name="adj" fmla="val 533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3886200" y="5001768"/>
            <a:ext cx="1234440" cy="274320"/>
          </a:xfrm>
          <a:prstGeom prst="rect">
            <a:avLst/>
          </a:prstGeom>
          <a:noFill/>
        </p:spPr>
        <p:txBody>
          <a:bodyPr wrap="square" lIns="0" rIns="0" tIns="0" bIns="0" anchor="t">
            <a:noAutofit/>
          </a:bodyPr>
          <a:lstStyle/>
          <a:p>
            <a:pPr algn="l">
              <a:lnSpc>
                <a:spcPct val="100000"/>
              </a:lnSpc>
            </a:pPr>
            <a:r>
              <a:rPr sz="1100" b="0" i="0">
                <a:solidFill>
                  <a:srgbClr val="F2F2EF"/>
                </a:solidFill>
                <a:latin typeface="Noto Sans KR Black"/>
                <a:ea typeface="Noto Sans KR Black"/>
                <a:cs typeface="Noto Sans KR Black"/>
              </a:rPr>
              <a:t>통합 리드타임</a:t>
            </a:r>
          </a:p>
        </p:txBody>
      </p:sp>
      <p:sp>
        <p:nvSpPr>
          <p:cNvPr id="56" name="TextBox 55"/>
          <p:cNvSpPr txBox="1"/>
          <p:nvPr/>
        </p:nvSpPr>
        <p:spPr>
          <a:xfrm>
            <a:off x="3886200" y="5294376"/>
            <a:ext cx="1234440" cy="219456"/>
          </a:xfrm>
          <a:prstGeom prst="rect">
            <a:avLst/>
          </a:prstGeom>
          <a:noFill/>
        </p:spPr>
        <p:txBody>
          <a:bodyPr wrap="square" lIns="0" rIns="0" tIns="0" bIns="0" anchor="t">
            <a:noAutofit/>
          </a:bodyPr>
          <a:lstStyle/>
          <a:p>
            <a:pPr algn="l">
              <a:lnSpc>
                <a:spcPct val="112000"/>
              </a:lnSpc>
            </a:pPr>
            <a:r>
              <a:rPr sz="800" b="0" i="0">
                <a:solidFill>
                  <a:srgbClr val="8A8F97"/>
                </a:solidFill>
                <a:latin typeface="Noto Sans KR"/>
                <a:ea typeface="Noto Sans KR"/>
                <a:cs typeface="Noto Sans KR"/>
              </a:rPr>
              <a:t>Integration Lead Time</a:t>
            </a:r>
          </a:p>
        </p:txBody>
      </p:sp>
      <p:sp>
        <p:nvSpPr>
          <p:cNvPr id="57" name="TextBox 56"/>
          <p:cNvSpPr txBox="1"/>
          <p:nvPr/>
        </p:nvSpPr>
        <p:spPr>
          <a:xfrm>
            <a:off x="3886200" y="5568696"/>
            <a:ext cx="1234440" cy="548640"/>
          </a:xfrm>
          <a:prstGeom prst="rect">
            <a:avLst/>
          </a:prstGeom>
          <a:noFill/>
        </p:spPr>
        <p:txBody>
          <a:bodyPr wrap="square" lIns="0" rIns="0" tIns="0" bIns="0" anchor="t">
            <a:noAutofit/>
          </a:bodyPr>
          <a:lstStyle/>
          <a:p>
            <a:pPr algn="l">
              <a:lnSpc>
                <a:spcPct val="100000"/>
              </a:lnSpc>
            </a:pPr>
            <a:r>
              <a:rPr sz="2000" b="0" i="0">
                <a:solidFill>
                  <a:srgbClr val="AEB3BB"/>
                </a:solidFill>
                <a:latin typeface="Noto Sans KR Black"/>
                <a:ea typeface="Noto Sans KR Black"/>
                <a:cs typeface="Noto Sans KR Black"/>
              </a:rPr>
              <a:t>↓ </a:t>
            </a:r>
            <a:r>
              <a:rPr sz="2400" b="0" i="0">
                <a:solidFill>
                  <a:srgbClr val="EC7A3C"/>
                </a:solidFill>
                <a:latin typeface="Noto Sans KR Black"/>
                <a:ea typeface="Noto Sans KR Black"/>
                <a:cs typeface="Noto Sans KR Black"/>
              </a:rPr>
              <a:t>?</a:t>
            </a:r>
          </a:p>
        </p:txBody>
      </p:sp>
      <p:sp>
        <p:nvSpPr>
          <p:cNvPr id="58" name="Card"/>
          <p:cNvSpPr/>
          <p:nvPr/>
        </p:nvSpPr>
        <p:spPr>
          <a:xfrm>
            <a:off x="5349240" y="4892040"/>
            <a:ext cx="1463040" cy="1371600"/>
          </a:xfrm>
          <a:prstGeom prst="roundRect">
            <a:avLst>
              <a:gd name="adj" fmla="val 533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5486400" y="5001768"/>
            <a:ext cx="1234440" cy="274320"/>
          </a:xfrm>
          <a:prstGeom prst="rect">
            <a:avLst/>
          </a:prstGeom>
          <a:noFill/>
        </p:spPr>
        <p:txBody>
          <a:bodyPr wrap="square" lIns="0" rIns="0" tIns="0" bIns="0" anchor="t">
            <a:noAutofit/>
          </a:bodyPr>
          <a:lstStyle/>
          <a:p>
            <a:pPr algn="l">
              <a:lnSpc>
                <a:spcPct val="100000"/>
              </a:lnSpc>
            </a:pPr>
            <a:r>
              <a:rPr sz="1100" b="0" i="0">
                <a:solidFill>
                  <a:srgbClr val="F2F2EF"/>
                </a:solidFill>
                <a:latin typeface="Noto Sans KR Black"/>
                <a:ea typeface="Noto Sans KR Black"/>
                <a:cs typeface="Noto Sans KR Black"/>
              </a:rPr>
              <a:t>사람 개입</a:t>
            </a:r>
          </a:p>
        </p:txBody>
      </p:sp>
      <p:sp>
        <p:nvSpPr>
          <p:cNvPr id="60" name="TextBox 59"/>
          <p:cNvSpPr txBox="1"/>
          <p:nvPr/>
        </p:nvSpPr>
        <p:spPr>
          <a:xfrm>
            <a:off x="5486400" y="5294376"/>
            <a:ext cx="1234440" cy="219456"/>
          </a:xfrm>
          <a:prstGeom prst="rect">
            <a:avLst/>
          </a:prstGeom>
          <a:noFill/>
        </p:spPr>
        <p:txBody>
          <a:bodyPr wrap="square" lIns="0" rIns="0" tIns="0" bIns="0" anchor="t">
            <a:noAutofit/>
          </a:bodyPr>
          <a:lstStyle/>
          <a:p>
            <a:pPr algn="l">
              <a:lnSpc>
                <a:spcPct val="112000"/>
              </a:lnSpc>
            </a:pPr>
            <a:r>
              <a:rPr sz="800" b="0" i="0">
                <a:solidFill>
                  <a:srgbClr val="8A8F97"/>
                </a:solidFill>
                <a:latin typeface="Noto Sans KR"/>
                <a:ea typeface="Noto Sans KR"/>
                <a:cs typeface="Noto Sans KR"/>
              </a:rPr>
              <a:t>Human Intervention</a:t>
            </a:r>
          </a:p>
        </p:txBody>
      </p:sp>
      <p:sp>
        <p:nvSpPr>
          <p:cNvPr id="61" name="TextBox 60"/>
          <p:cNvSpPr txBox="1"/>
          <p:nvPr/>
        </p:nvSpPr>
        <p:spPr>
          <a:xfrm>
            <a:off x="5486400" y="5568696"/>
            <a:ext cx="1234440" cy="548640"/>
          </a:xfrm>
          <a:prstGeom prst="rect">
            <a:avLst/>
          </a:prstGeom>
          <a:noFill/>
        </p:spPr>
        <p:txBody>
          <a:bodyPr wrap="square" lIns="0" rIns="0" tIns="0" bIns="0" anchor="t">
            <a:noAutofit/>
          </a:bodyPr>
          <a:lstStyle/>
          <a:p>
            <a:pPr algn="l">
              <a:lnSpc>
                <a:spcPct val="100000"/>
              </a:lnSpc>
            </a:pPr>
            <a:r>
              <a:rPr sz="2000" b="0" i="0">
                <a:solidFill>
                  <a:srgbClr val="AEB3BB"/>
                </a:solidFill>
                <a:latin typeface="Noto Sans KR Black"/>
                <a:ea typeface="Noto Sans KR Black"/>
                <a:cs typeface="Noto Sans KR Black"/>
              </a:rPr>
              <a:t>↓ </a:t>
            </a:r>
            <a:r>
              <a:rPr sz="2400" b="0" i="0">
                <a:solidFill>
                  <a:srgbClr val="EC7A3C"/>
                </a:solidFill>
                <a:latin typeface="Noto Sans KR Black"/>
                <a:ea typeface="Noto Sans KR Black"/>
                <a:cs typeface="Noto Sans KR Black"/>
              </a:rPr>
              <a:t>?</a:t>
            </a:r>
          </a:p>
        </p:txBody>
      </p:sp>
      <p:sp>
        <p:nvSpPr>
          <p:cNvPr id="62" name="Card"/>
          <p:cNvSpPr/>
          <p:nvPr/>
        </p:nvSpPr>
        <p:spPr>
          <a:xfrm>
            <a:off x="6949440" y="4892040"/>
            <a:ext cx="1463040" cy="1371600"/>
          </a:xfrm>
          <a:prstGeom prst="roundRect">
            <a:avLst>
              <a:gd name="adj" fmla="val 533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7086600" y="5001768"/>
            <a:ext cx="1234440" cy="274320"/>
          </a:xfrm>
          <a:prstGeom prst="rect">
            <a:avLst/>
          </a:prstGeom>
          <a:noFill/>
        </p:spPr>
        <p:txBody>
          <a:bodyPr wrap="square" lIns="0" rIns="0" tIns="0" bIns="0" anchor="t">
            <a:noAutofit/>
          </a:bodyPr>
          <a:lstStyle/>
          <a:p>
            <a:pPr algn="l">
              <a:lnSpc>
                <a:spcPct val="100000"/>
              </a:lnSpc>
            </a:pPr>
            <a:r>
              <a:rPr sz="1100" b="0" i="0">
                <a:solidFill>
                  <a:srgbClr val="F2F2EF"/>
                </a:solidFill>
                <a:latin typeface="Noto Sans KR Black"/>
                <a:ea typeface="Noto Sans KR Black"/>
                <a:cs typeface="Noto Sans KR Black"/>
              </a:rPr>
              <a:t>전환 시간</a:t>
            </a:r>
          </a:p>
        </p:txBody>
      </p:sp>
      <p:sp>
        <p:nvSpPr>
          <p:cNvPr id="64" name="TextBox 63"/>
          <p:cNvSpPr txBox="1"/>
          <p:nvPr/>
        </p:nvSpPr>
        <p:spPr>
          <a:xfrm>
            <a:off x="7086600" y="5294376"/>
            <a:ext cx="1234440" cy="219456"/>
          </a:xfrm>
          <a:prstGeom prst="rect">
            <a:avLst/>
          </a:prstGeom>
          <a:noFill/>
        </p:spPr>
        <p:txBody>
          <a:bodyPr wrap="square" lIns="0" rIns="0" tIns="0" bIns="0" anchor="t">
            <a:noAutofit/>
          </a:bodyPr>
          <a:lstStyle/>
          <a:p>
            <a:pPr algn="l">
              <a:lnSpc>
                <a:spcPct val="112000"/>
              </a:lnSpc>
            </a:pPr>
            <a:r>
              <a:rPr sz="800" b="0" i="0">
                <a:solidFill>
                  <a:srgbClr val="8A8F97"/>
                </a:solidFill>
                <a:latin typeface="Noto Sans KR"/>
                <a:ea typeface="Noto Sans KR"/>
                <a:cs typeface="Noto Sans KR"/>
              </a:rPr>
              <a:t>Changeover Time</a:t>
            </a:r>
          </a:p>
        </p:txBody>
      </p:sp>
      <p:sp>
        <p:nvSpPr>
          <p:cNvPr id="65" name="TextBox 64"/>
          <p:cNvSpPr txBox="1"/>
          <p:nvPr/>
        </p:nvSpPr>
        <p:spPr>
          <a:xfrm>
            <a:off x="7086600" y="5568696"/>
            <a:ext cx="1234440" cy="548640"/>
          </a:xfrm>
          <a:prstGeom prst="rect">
            <a:avLst/>
          </a:prstGeom>
          <a:noFill/>
        </p:spPr>
        <p:txBody>
          <a:bodyPr wrap="square" lIns="0" rIns="0" tIns="0" bIns="0" anchor="t">
            <a:noAutofit/>
          </a:bodyPr>
          <a:lstStyle/>
          <a:p>
            <a:pPr algn="l">
              <a:lnSpc>
                <a:spcPct val="100000"/>
              </a:lnSpc>
            </a:pPr>
            <a:r>
              <a:rPr sz="2000" b="0" i="0">
                <a:solidFill>
                  <a:srgbClr val="AEB3BB"/>
                </a:solidFill>
                <a:latin typeface="Noto Sans KR Black"/>
                <a:ea typeface="Noto Sans KR Black"/>
                <a:cs typeface="Noto Sans KR Black"/>
              </a:rPr>
              <a:t>↓ </a:t>
            </a:r>
            <a:r>
              <a:rPr sz="2400" b="0" i="0">
                <a:solidFill>
                  <a:srgbClr val="EC7A3C"/>
                </a:solidFill>
                <a:latin typeface="Noto Sans KR Black"/>
                <a:ea typeface="Noto Sans KR Black"/>
                <a:cs typeface="Noto Sans KR Black"/>
              </a:rPr>
              <a:t>?</a:t>
            </a:r>
          </a:p>
        </p:txBody>
      </p:sp>
      <p:sp>
        <p:nvSpPr>
          <p:cNvPr id="66" name="Card"/>
          <p:cNvSpPr/>
          <p:nvPr/>
        </p:nvSpPr>
        <p:spPr>
          <a:xfrm>
            <a:off x="8549640" y="4892040"/>
            <a:ext cx="3090672" cy="1371600"/>
          </a:xfrm>
          <a:prstGeom prst="roundRect">
            <a:avLst>
              <a:gd name="adj" fmla="val 5333"/>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8732520" y="4983480"/>
            <a:ext cx="2770632" cy="237744"/>
          </a:xfrm>
          <a:prstGeom prst="rect">
            <a:avLst/>
          </a:prstGeom>
          <a:noFill/>
        </p:spPr>
        <p:txBody>
          <a:bodyPr wrap="square" lIns="0" rIns="0" tIns="0" bIns="0" anchor="t">
            <a:noAutofit/>
          </a:bodyPr>
          <a:lstStyle/>
          <a:p>
            <a:pPr algn="l">
              <a:lnSpc>
                <a:spcPct val="112000"/>
              </a:lnSpc>
            </a:pPr>
            <a:r>
              <a:rPr sz="1150" b="0" i="0">
                <a:solidFill>
                  <a:srgbClr val="EC7A3C"/>
                </a:solidFill>
                <a:latin typeface="Noto Sans KR Black"/>
                <a:ea typeface="Noto Sans KR Black"/>
                <a:cs typeface="Noto Sans KR Black"/>
              </a:rPr>
              <a:t>Seed 투자의 사업 실험</a:t>
            </a:r>
          </a:p>
        </p:txBody>
      </p:sp>
      <p:sp>
        <p:nvSpPr>
          <p:cNvPr id="68" name="TextBox 67"/>
          <p:cNvSpPr txBox="1"/>
          <p:nvPr/>
        </p:nvSpPr>
        <p:spPr>
          <a:xfrm>
            <a:off x="8732520" y="5257800"/>
            <a:ext cx="2770632" cy="960120"/>
          </a:xfrm>
          <a:prstGeom prst="rect">
            <a:avLst/>
          </a:prstGeom>
          <a:noFill/>
        </p:spPr>
        <p:txBody>
          <a:bodyPr wrap="square" lIns="0" rIns="0" tIns="0" bIns="0" anchor="t">
            <a:noAutofit/>
          </a:bodyPr>
          <a:lstStyle/>
          <a:p>
            <a:pPr algn="l">
              <a:lnSpc>
                <a:spcPct val="115000"/>
              </a:lnSpc>
            </a:pPr>
            <a:r>
              <a:rPr sz="950" b="0" i="0">
                <a:solidFill>
                  <a:srgbClr val="AEB3BB"/>
                </a:solidFill>
                <a:latin typeface="Noto Sans KR"/>
                <a:ea typeface="Noto Sans KR"/>
                <a:cs typeface="Noto Sans KR"/>
              </a:rPr>
              <a:t>Hand 가격(가정 ₩1,500만)의 비교 대상은</a:t>
            </a:r>
          </a:p>
          <a:p>
            <a:pPr algn="l">
              <a:lnSpc>
                <a:spcPct val="115000"/>
              </a:lnSpc>
            </a:pPr>
            <a:r>
              <a:rPr sz="950" b="0" i="0">
                <a:solidFill>
                  <a:srgbClr val="F2F2EF"/>
                </a:solidFill>
                <a:latin typeface="Noto Sans KR SemiBold"/>
                <a:ea typeface="Noto Sans KR SemiBold"/>
                <a:cs typeface="Noto Sans KR SemiBold"/>
              </a:rPr>
              <a:t>전용 툴링 + 설비 개조 + 엔지니어링</a:t>
            </a:r>
            <a:r>
              <a:rPr sz="950" b="0" i="0">
                <a:solidFill>
                  <a:srgbClr val="AEB3BB"/>
                </a:solidFill>
                <a:latin typeface="Noto Sans KR"/>
                <a:ea typeface="Noto Sans KR"/>
                <a:cs typeface="Noto Sans KR"/>
              </a:rPr>
              <a:t> × 연간 전환 횟수</a:t>
            </a:r>
          </a:p>
          <a:p>
            <a:pPr algn="l">
              <a:lnSpc>
                <a:spcPct val="115000"/>
              </a:lnSpc>
            </a:pPr>
            <a:r>
              <a:rPr sz="950" b="0" i="0">
                <a:solidFill>
                  <a:srgbClr val="AEB3BB"/>
                </a:solidFill>
                <a:latin typeface="Noto Sans KR"/>
                <a:ea typeface="Noto Sans KR"/>
                <a:cs typeface="Noto Sans KR"/>
              </a:rPr>
              <a:t>→ 유료 PoC에서 지불의사로 검증</a:t>
            </a:r>
          </a:p>
        </p:txBody>
      </p:sp>
      <p:sp>
        <p:nvSpPr>
          <p:cNvPr id="69"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70"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08  ·  경쟁 구도</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경쟁은 손가락 수가 아니라, 설비변경 없이 끝낸 작업 수다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Task Completion, Not Finger Count.</a:t>
            </a:r>
          </a:p>
        </p:txBody>
      </p:sp>
      <p:sp>
        <p:nvSpPr>
          <p:cNvPr id="6" name="Card"/>
          <p:cNvSpPr/>
          <p:nvPr/>
        </p:nvSpPr>
        <p:spPr>
          <a:xfrm>
            <a:off x="548640" y="1783080"/>
            <a:ext cx="2635758" cy="3063240"/>
          </a:xfrm>
          <a:prstGeom prst="roundRect">
            <a:avLst>
              <a:gd name="adj" fmla="val 2775"/>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1965960"/>
            <a:ext cx="2269998" cy="329184"/>
          </a:xfrm>
          <a:prstGeom prst="rect">
            <a:avLst/>
          </a:prstGeom>
          <a:noFill/>
        </p:spPr>
        <p:txBody>
          <a:bodyPr wrap="square" lIns="0" rIns="0" tIns="0" bIns="0" anchor="t">
            <a:noAutofit/>
          </a:bodyPr>
          <a:lstStyle/>
          <a:p>
            <a:pPr algn="l">
              <a:lnSpc>
                <a:spcPct val="112000"/>
              </a:lnSpc>
            </a:pPr>
            <a:r>
              <a:rPr sz="1600" b="0" i="0">
                <a:solidFill>
                  <a:srgbClr val="F2F2EF"/>
                </a:solidFill>
                <a:latin typeface="Noto Sans KR Black"/>
                <a:ea typeface="Noto Sans KR Black"/>
                <a:cs typeface="Noto Sans KR Black"/>
              </a:rPr>
              <a:t>전통 Gripper</a:t>
            </a:r>
          </a:p>
        </p:txBody>
      </p:sp>
      <p:sp>
        <p:nvSpPr>
          <p:cNvPr id="8" name="TextBox 7"/>
          <p:cNvSpPr txBox="1"/>
          <p:nvPr/>
        </p:nvSpPr>
        <p:spPr>
          <a:xfrm>
            <a:off x="749808" y="2350008"/>
            <a:ext cx="2269998" cy="457200"/>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Medium"/>
                <a:ea typeface="Noto Sans KR Medium"/>
                <a:cs typeface="Noto Sans KR Medium"/>
              </a:rPr>
              <a:t>정확성과 신뢰성이 높지만 특정 작업 중심</a:t>
            </a:r>
          </a:p>
        </p:txBody>
      </p:sp>
      <p:sp>
        <p:nvSpPr>
          <p:cNvPr id="9" name="TextBox 8"/>
          <p:cNvSpPr txBox="1"/>
          <p:nvPr/>
        </p:nvSpPr>
        <p:spPr>
          <a:xfrm>
            <a:off x="749808" y="2880360"/>
            <a:ext cx="2269998" cy="201168"/>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강점</a:t>
            </a:r>
          </a:p>
        </p:txBody>
      </p:sp>
      <p:sp>
        <p:nvSpPr>
          <p:cNvPr id="10" name="TextBox 9"/>
          <p:cNvSpPr txBox="1"/>
          <p:nvPr/>
        </p:nvSpPr>
        <p:spPr>
          <a:xfrm>
            <a:off x="749808" y="3081528"/>
            <a:ext cx="2269998" cy="274320"/>
          </a:xfrm>
          <a:prstGeom prst="rect">
            <a:avLst/>
          </a:prstGeom>
          <a:noFill/>
        </p:spPr>
        <p:txBody>
          <a:bodyPr wrap="square" lIns="0" rIns="0" tIns="0" bIns="0" anchor="t">
            <a:noAutofit/>
          </a:bodyPr>
          <a:lstStyle/>
          <a:p>
            <a:pPr algn="l">
              <a:lnSpc>
                <a:spcPct val="112000"/>
              </a:lnSpc>
            </a:pPr>
            <a:r>
              <a:rPr sz="1000" b="0" i="0">
                <a:solidFill>
                  <a:srgbClr val="AEB3BB"/>
                </a:solidFill>
                <a:latin typeface="Noto Sans KR"/>
                <a:ea typeface="Noto Sans KR"/>
                <a:cs typeface="Noto Sans KR"/>
              </a:rPr>
              <a:t>정밀 · 저가 · 고속</a:t>
            </a:r>
          </a:p>
        </p:txBody>
      </p:sp>
      <p:sp>
        <p:nvSpPr>
          <p:cNvPr id="11" name="TextBox 10"/>
          <p:cNvSpPr txBox="1"/>
          <p:nvPr/>
        </p:nvSpPr>
        <p:spPr>
          <a:xfrm>
            <a:off x="749808" y="3392424"/>
            <a:ext cx="2269998" cy="201168"/>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한계</a:t>
            </a:r>
          </a:p>
        </p:txBody>
      </p:sp>
      <p:sp>
        <p:nvSpPr>
          <p:cNvPr id="12" name="TextBox 11"/>
          <p:cNvSpPr txBox="1"/>
          <p:nvPr/>
        </p:nvSpPr>
        <p:spPr>
          <a:xfrm>
            <a:off x="749808" y="3593592"/>
            <a:ext cx="2269998" cy="45720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작업이 바뀌면 Finger · Jig 교체, 문 · 레버는 설비 개조</a:t>
            </a:r>
          </a:p>
        </p:txBody>
      </p:sp>
      <p:cxnSp>
        <p:nvCxnSpPr>
          <p:cNvPr id="13" name="Connector 12"/>
          <p:cNvCxnSpPr/>
          <p:nvPr/>
        </p:nvCxnSpPr>
        <p:spPr>
          <a:xfrm>
            <a:off x="749808" y="4160520"/>
            <a:ext cx="2233422" cy="0"/>
          </a:xfrm>
          <a:prstGeom prst="line">
            <a:avLst/>
          </a:prstGeom>
          <a:ln w="9525">
            <a:solidFill>
              <a:srgbClr val="2E333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9808" y="4270248"/>
            <a:ext cx="118872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설비변경 필요</a:t>
            </a:r>
          </a:p>
        </p:txBody>
      </p:sp>
      <p:sp>
        <p:nvSpPr>
          <p:cNvPr id="15" name="meter"/>
          <p:cNvSpPr/>
          <p:nvPr/>
        </p:nvSpPr>
        <p:spPr>
          <a:xfrm>
            <a:off x="1965960" y="4325112"/>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eter"/>
          <p:cNvSpPr/>
          <p:nvPr/>
        </p:nvSpPr>
        <p:spPr>
          <a:xfrm>
            <a:off x="2148840" y="4325112"/>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ter"/>
          <p:cNvSpPr/>
          <p:nvPr/>
        </p:nvSpPr>
        <p:spPr>
          <a:xfrm>
            <a:off x="2331720" y="4325112"/>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49808" y="4517136"/>
            <a:ext cx="118872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현장 적용성</a:t>
            </a:r>
          </a:p>
        </p:txBody>
      </p:sp>
      <p:sp>
        <p:nvSpPr>
          <p:cNvPr id="19" name="meter"/>
          <p:cNvSpPr/>
          <p:nvPr/>
        </p:nvSpPr>
        <p:spPr>
          <a:xfrm>
            <a:off x="1965960" y="4572000"/>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eter"/>
          <p:cNvSpPr/>
          <p:nvPr/>
        </p:nvSpPr>
        <p:spPr>
          <a:xfrm>
            <a:off x="2148840" y="4572000"/>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ter"/>
          <p:cNvSpPr/>
          <p:nvPr/>
        </p:nvSpPr>
        <p:spPr>
          <a:xfrm>
            <a:off x="2331720" y="4572000"/>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ard"/>
          <p:cNvSpPr/>
          <p:nvPr/>
        </p:nvSpPr>
        <p:spPr>
          <a:xfrm>
            <a:off x="3367278" y="1783080"/>
            <a:ext cx="2635758" cy="3063240"/>
          </a:xfrm>
          <a:prstGeom prst="roundRect">
            <a:avLst>
              <a:gd name="adj" fmla="val 2775"/>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568446" y="1965960"/>
            <a:ext cx="2269998" cy="329184"/>
          </a:xfrm>
          <a:prstGeom prst="rect">
            <a:avLst/>
          </a:prstGeom>
          <a:noFill/>
        </p:spPr>
        <p:txBody>
          <a:bodyPr wrap="square" lIns="0" rIns="0" tIns="0" bIns="0" anchor="t">
            <a:noAutofit/>
          </a:bodyPr>
          <a:lstStyle/>
          <a:p>
            <a:pPr algn="l">
              <a:lnSpc>
                <a:spcPct val="112000"/>
              </a:lnSpc>
            </a:pPr>
            <a:r>
              <a:rPr sz="1600" b="0" i="0">
                <a:solidFill>
                  <a:srgbClr val="F2F2EF"/>
                </a:solidFill>
                <a:latin typeface="Noto Sans KR Black"/>
                <a:ea typeface="Noto Sans KR Black"/>
                <a:cs typeface="Noto Sans KR Black"/>
              </a:rPr>
              <a:t>Adaptive Gripper</a:t>
            </a:r>
          </a:p>
        </p:txBody>
      </p:sp>
      <p:sp>
        <p:nvSpPr>
          <p:cNvPr id="24" name="TextBox 23"/>
          <p:cNvSpPr txBox="1"/>
          <p:nvPr/>
        </p:nvSpPr>
        <p:spPr>
          <a:xfrm>
            <a:off x="3568446" y="2350008"/>
            <a:ext cx="2269998" cy="457200"/>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Medium"/>
                <a:ea typeface="Noto Sans KR Medium"/>
                <a:cs typeface="Noto Sans KR Medium"/>
              </a:rPr>
              <a:t>다양한 형상 Handling에 강점</a:t>
            </a:r>
          </a:p>
        </p:txBody>
      </p:sp>
      <p:sp>
        <p:nvSpPr>
          <p:cNvPr id="25" name="TextBox 24"/>
          <p:cNvSpPr txBox="1"/>
          <p:nvPr/>
        </p:nvSpPr>
        <p:spPr>
          <a:xfrm>
            <a:off x="3568446" y="2880360"/>
            <a:ext cx="2269998" cy="201168"/>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강점</a:t>
            </a:r>
          </a:p>
        </p:txBody>
      </p:sp>
      <p:sp>
        <p:nvSpPr>
          <p:cNvPr id="26" name="TextBox 25"/>
          <p:cNvSpPr txBox="1"/>
          <p:nvPr/>
        </p:nvSpPr>
        <p:spPr>
          <a:xfrm>
            <a:off x="3568446" y="3081528"/>
            <a:ext cx="2269998" cy="274320"/>
          </a:xfrm>
          <a:prstGeom prst="rect">
            <a:avLst/>
          </a:prstGeom>
          <a:noFill/>
        </p:spPr>
        <p:txBody>
          <a:bodyPr wrap="square" lIns="0" rIns="0" tIns="0" bIns="0" anchor="t">
            <a:noAutofit/>
          </a:bodyPr>
          <a:lstStyle/>
          <a:p>
            <a:pPr algn="l">
              <a:lnSpc>
                <a:spcPct val="112000"/>
              </a:lnSpc>
            </a:pPr>
            <a:r>
              <a:rPr sz="1000" b="0" i="0">
                <a:solidFill>
                  <a:srgbClr val="AEB3BB"/>
                </a:solidFill>
                <a:latin typeface="Noto Sans KR"/>
                <a:ea typeface="Noto Sans KR"/>
                <a:cs typeface="Noto Sans KR"/>
              </a:rPr>
              <a:t>여러 형상을 하나로 집기</a:t>
            </a:r>
          </a:p>
        </p:txBody>
      </p:sp>
      <p:sp>
        <p:nvSpPr>
          <p:cNvPr id="27" name="TextBox 26"/>
          <p:cNvSpPr txBox="1"/>
          <p:nvPr/>
        </p:nvSpPr>
        <p:spPr>
          <a:xfrm>
            <a:off x="3568446" y="3392424"/>
            <a:ext cx="2269998" cy="201168"/>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한계</a:t>
            </a:r>
          </a:p>
        </p:txBody>
      </p:sp>
      <p:sp>
        <p:nvSpPr>
          <p:cNvPr id="28" name="TextBox 27"/>
          <p:cNvSpPr txBox="1"/>
          <p:nvPr/>
        </p:nvSpPr>
        <p:spPr>
          <a:xfrm>
            <a:off x="3568446" y="3593592"/>
            <a:ext cx="2269998" cy="45720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손잡이를 감싸 당기기 · 레버 토크는 제한적 → 결국 설비 개조</a:t>
            </a:r>
          </a:p>
        </p:txBody>
      </p:sp>
      <p:cxnSp>
        <p:nvCxnSpPr>
          <p:cNvPr id="29" name="Connector 28"/>
          <p:cNvCxnSpPr/>
          <p:nvPr/>
        </p:nvCxnSpPr>
        <p:spPr>
          <a:xfrm>
            <a:off x="3568446" y="4160520"/>
            <a:ext cx="2233422" cy="0"/>
          </a:xfrm>
          <a:prstGeom prst="line">
            <a:avLst/>
          </a:prstGeom>
          <a:ln w="9525">
            <a:solidFill>
              <a:srgbClr val="2E333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568446" y="4270248"/>
            <a:ext cx="118872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설비변경 필요</a:t>
            </a:r>
          </a:p>
        </p:txBody>
      </p:sp>
      <p:sp>
        <p:nvSpPr>
          <p:cNvPr id="31" name="meter"/>
          <p:cNvSpPr/>
          <p:nvPr/>
        </p:nvSpPr>
        <p:spPr>
          <a:xfrm>
            <a:off x="4784598" y="4325112"/>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meter"/>
          <p:cNvSpPr/>
          <p:nvPr/>
        </p:nvSpPr>
        <p:spPr>
          <a:xfrm>
            <a:off x="4967478" y="4325112"/>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ter"/>
          <p:cNvSpPr/>
          <p:nvPr/>
        </p:nvSpPr>
        <p:spPr>
          <a:xfrm>
            <a:off x="5150358" y="4325112"/>
            <a:ext cx="109728" cy="109728"/>
          </a:xfrm>
          <a:prstGeom prst="ellipse">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68446" y="4517136"/>
            <a:ext cx="118872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현장 적용성</a:t>
            </a:r>
          </a:p>
        </p:txBody>
      </p:sp>
      <p:sp>
        <p:nvSpPr>
          <p:cNvPr id="35" name="meter"/>
          <p:cNvSpPr/>
          <p:nvPr/>
        </p:nvSpPr>
        <p:spPr>
          <a:xfrm>
            <a:off x="4784598" y="4572000"/>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meter"/>
          <p:cNvSpPr/>
          <p:nvPr/>
        </p:nvSpPr>
        <p:spPr>
          <a:xfrm>
            <a:off x="4967478" y="4572000"/>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eter"/>
          <p:cNvSpPr/>
          <p:nvPr/>
        </p:nvSpPr>
        <p:spPr>
          <a:xfrm>
            <a:off x="5150358" y="4572000"/>
            <a:ext cx="109728" cy="109728"/>
          </a:xfrm>
          <a:prstGeom prst="ellipse">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ard"/>
          <p:cNvSpPr/>
          <p:nvPr/>
        </p:nvSpPr>
        <p:spPr>
          <a:xfrm>
            <a:off x="6185916" y="1783080"/>
            <a:ext cx="2635758" cy="3063240"/>
          </a:xfrm>
          <a:prstGeom prst="roundRect">
            <a:avLst>
              <a:gd name="adj" fmla="val 2775"/>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87084" y="1965960"/>
            <a:ext cx="2269998" cy="329184"/>
          </a:xfrm>
          <a:prstGeom prst="rect">
            <a:avLst/>
          </a:prstGeom>
          <a:noFill/>
        </p:spPr>
        <p:txBody>
          <a:bodyPr wrap="square" lIns="0" rIns="0" tIns="0" bIns="0" anchor="t">
            <a:noAutofit/>
          </a:bodyPr>
          <a:lstStyle/>
          <a:p>
            <a:pPr algn="l">
              <a:lnSpc>
                <a:spcPct val="112000"/>
              </a:lnSpc>
            </a:pPr>
            <a:r>
              <a:rPr sz="1600" b="0" i="0">
                <a:solidFill>
                  <a:srgbClr val="F2F2EF"/>
                </a:solidFill>
                <a:latin typeface="Noto Sans KR Black"/>
                <a:ea typeface="Noto Sans KR Black"/>
                <a:cs typeface="Noto Sans KR Black"/>
              </a:rPr>
              <a:t>Dexterous Hand</a:t>
            </a:r>
          </a:p>
        </p:txBody>
      </p:sp>
      <p:sp>
        <p:nvSpPr>
          <p:cNvPr id="40" name="TextBox 39"/>
          <p:cNvSpPr txBox="1"/>
          <p:nvPr/>
        </p:nvSpPr>
        <p:spPr>
          <a:xfrm>
            <a:off x="6387084" y="2350008"/>
            <a:ext cx="2269998" cy="457200"/>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Medium"/>
                <a:ea typeface="Noto Sans KR Medium"/>
                <a:cs typeface="Noto Sans KR Medium"/>
              </a:rPr>
              <a:t>높은 자유도와 복잡한 조작 가능성</a:t>
            </a:r>
          </a:p>
        </p:txBody>
      </p:sp>
      <p:sp>
        <p:nvSpPr>
          <p:cNvPr id="41" name="TextBox 40"/>
          <p:cNvSpPr txBox="1"/>
          <p:nvPr/>
        </p:nvSpPr>
        <p:spPr>
          <a:xfrm>
            <a:off x="6387084" y="2880360"/>
            <a:ext cx="2269998" cy="201168"/>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강점</a:t>
            </a:r>
          </a:p>
        </p:txBody>
      </p:sp>
      <p:sp>
        <p:nvSpPr>
          <p:cNvPr id="42" name="TextBox 41"/>
          <p:cNvSpPr txBox="1"/>
          <p:nvPr/>
        </p:nvSpPr>
        <p:spPr>
          <a:xfrm>
            <a:off x="6387084" y="3081528"/>
            <a:ext cx="2269998" cy="274320"/>
          </a:xfrm>
          <a:prstGeom prst="rect">
            <a:avLst/>
          </a:prstGeom>
          <a:noFill/>
        </p:spPr>
        <p:txBody>
          <a:bodyPr wrap="square" lIns="0" rIns="0" tIns="0" bIns="0" anchor="t">
            <a:noAutofit/>
          </a:bodyPr>
          <a:lstStyle/>
          <a:p>
            <a:pPr algn="l">
              <a:lnSpc>
                <a:spcPct val="112000"/>
              </a:lnSpc>
            </a:pPr>
            <a:r>
              <a:rPr sz="1000" b="0" i="0">
                <a:solidFill>
                  <a:srgbClr val="AEB3BB"/>
                </a:solidFill>
                <a:latin typeface="Noto Sans KR"/>
                <a:ea typeface="Noto Sans KR"/>
                <a:cs typeface="Noto Sans KR"/>
              </a:rPr>
              <a:t>사람 손에 가까운 조작</a:t>
            </a:r>
          </a:p>
        </p:txBody>
      </p:sp>
      <p:sp>
        <p:nvSpPr>
          <p:cNvPr id="43" name="TextBox 42"/>
          <p:cNvSpPr txBox="1"/>
          <p:nvPr/>
        </p:nvSpPr>
        <p:spPr>
          <a:xfrm>
            <a:off x="6387084" y="3392424"/>
            <a:ext cx="2269998" cy="201168"/>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한계</a:t>
            </a:r>
          </a:p>
        </p:txBody>
      </p:sp>
      <p:sp>
        <p:nvSpPr>
          <p:cNvPr id="44" name="TextBox 43"/>
          <p:cNvSpPr txBox="1"/>
          <p:nvPr/>
        </p:nvSpPr>
        <p:spPr>
          <a:xfrm>
            <a:off x="6387084" y="3593592"/>
            <a:ext cx="2269998" cy="45720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비용 · 내구성 · 통합 난이도 → 연구 · 휴머노이드 중심</a:t>
            </a:r>
          </a:p>
        </p:txBody>
      </p:sp>
      <p:cxnSp>
        <p:nvCxnSpPr>
          <p:cNvPr id="45" name="Connector 44"/>
          <p:cNvCxnSpPr/>
          <p:nvPr/>
        </p:nvCxnSpPr>
        <p:spPr>
          <a:xfrm>
            <a:off x="6387084" y="4160520"/>
            <a:ext cx="2233422" cy="0"/>
          </a:xfrm>
          <a:prstGeom prst="line">
            <a:avLst/>
          </a:prstGeom>
          <a:ln w="9525">
            <a:solidFill>
              <a:srgbClr val="2E333B"/>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387084" y="4270248"/>
            <a:ext cx="118872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설비변경 필요</a:t>
            </a:r>
          </a:p>
        </p:txBody>
      </p:sp>
      <p:sp>
        <p:nvSpPr>
          <p:cNvPr id="47" name="meter"/>
          <p:cNvSpPr/>
          <p:nvPr/>
        </p:nvSpPr>
        <p:spPr>
          <a:xfrm>
            <a:off x="7603236" y="4325112"/>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meter"/>
          <p:cNvSpPr/>
          <p:nvPr/>
        </p:nvSpPr>
        <p:spPr>
          <a:xfrm>
            <a:off x="7786116" y="4325112"/>
            <a:ext cx="109728" cy="109728"/>
          </a:xfrm>
          <a:prstGeom prst="ellipse">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eter"/>
          <p:cNvSpPr/>
          <p:nvPr/>
        </p:nvSpPr>
        <p:spPr>
          <a:xfrm>
            <a:off x="7968996" y="4325112"/>
            <a:ext cx="109728" cy="109728"/>
          </a:xfrm>
          <a:prstGeom prst="ellipse">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87084" y="4517136"/>
            <a:ext cx="118872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현장 적용성</a:t>
            </a:r>
          </a:p>
        </p:txBody>
      </p:sp>
      <p:sp>
        <p:nvSpPr>
          <p:cNvPr id="51" name="meter"/>
          <p:cNvSpPr/>
          <p:nvPr/>
        </p:nvSpPr>
        <p:spPr>
          <a:xfrm>
            <a:off x="7603236" y="4572000"/>
            <a:ext cx="109728" cy="109728"/>
          </a:xfrm>
          <a:prstGeom prst="ellipse">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meter"/>
          <p:cNvSpPr/>
          <p:nvPr/>
        </p:nvSpPr>
        <p:spPr>
          <a:xfrm>
            <a:off x="7786116" y="4572000"/>
            <a:ext cx="109728" cy="109728"/>
          </a:xfrm>
          <a:prstGeom prst="ellipse">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eter"/>
          <p:cNvSpPr/>
          <p:nvPr/>
        </p:nvSpPr>
        <p:spPr>
          <a:xfrm>
            <a:off x="7968996" y="4572000"/>
            <a:ext cx="109728" cy="109728"/>
          </a:xfrm>
          <a:prstGeom prst="ellipse">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ard"/>
          <p:cNvSpPr/>
          <p:nvPr/>
        </p:nvSpPr>
        <p:spPr>
          <a:xfrm>
            <a:off x="9004554" y="1783080"/>
            <a:ext cx="2635758" cy="3063240"/>
          </a:xfrm>
          <a:prstGeom prst="roundRect">
            <a:avLst>
              <a:gd name="adj" fmla="val 2775"/>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205722" y="1965960"/>
            <a:ext cx="2269998" cy="329184"/>
          </a:xfrm>
          <a:prstGeom prst="rect">
            <a:avLst/>
          </a:prstGeom>
          <a:noFill/>
        </p:spPr>
        <p:txBody>
          <a:bodyPr wrap="square" lIns="0" rIns="0" tIns="0" bIns="0" anchor="t">
            <a:noAutofit/>
          </a:bodyPr>
          <a:lstStyle/>
          <a:p>
            <a:pPr algn="l">
              <a:lnSpc>
                <a:spcPct val="112000"/>
              </a:lnSpc>
            </a:pPr>
            <a:r>
              <a:rPr sz="1600" b="0" i="0">
                <a:solidFill>
                  <a:srgbClr val="EC7A3C"/>
                </a:solidFill>
                <a:latin typeface="Noto Sans KR Black"/>
                <a:ea typeface="Noto Sans KR Black"/>
                <a:cs typeface="Noto Sans KR Black"/>
              </a:rPr>
              <a:t>Our Target</a:t>
            </a:r>
          </a:p>
        </p:txBody>
      </p:sp>
      <p:sp>
        <p:nvSpPr>
          <p:cNvPr id="56" name="TextBox 55"/>
          <p:cNvSpPr txBox="1"/>
          <p:nvPr/>
        </p:nvSpPr>
        <p:spPr>
          <a:xfrm>
            <a:off x="9205722" y="2350008"/>
            <a:ext cx="2269998" cy="457200"/>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Medium"/>
                <a:ea typeface="Noto Sans KR Medium"/>
                <a:cs typeface="Noto Sans KR Medium"/>
              </a:rPr>
              <a:t>기존 사람용 Interface를 활용해 실제 Task 완료</a:t>
            </a:r>
          </a:p>
        </p:txBody>
      </p:sp>
      <p:sp>
        <p:nvSpPr>
          <p:cNvPr id="57" name="TextBox 56"/>
          <p:cNvSpPr txBox="1"/>
          <p:nvPr/>
        </p:nvSpPr>
        <p:spPr>
          <a:xfrm>
            <a:off x="9205722" y="2880360"/>
            <a:ext cx="2269998" cy="201168"/>
          </a:xfrm>
          <a:prstGeom prst="rect">
            <a:avLst/>
          </a:prstGeom>
          <a:noFill/>
        </p:spPr>
        <p:txBody>
          <a:bodyPr wrap="square" lIns="0" rIns="0" tIns="0" bIns="0" anchor="t">
            <a:noAutofit/>
          </a:bodyPr>
          <a:lstStyle/>
          <a:p>
            <a:pPr algn="l">
              <a:lnSpc>
                <a:spcPct val="112000"/>
              </a:lnSpc>
            </a:pPr>
            <a:r>
              <a:rPr sz="850" b="0" i="0">
                <a:solidFill>
                  <a:srgbClr val="F3A574"/>
                </a:solidFill>
                <a:latin typeface="Noto Sans KR SemiBold"/>
                <a:ea typeface="Noto Sans KR SemiBold"/>
                <a:cs typeface="Noto Sans KR SemiBold"/>
              </a:rPr>
              <a:t>목표</a:t>
            </a:r>
          </a:p>
        </p:txBody>
      </p:sp>
      <p:sp>
        <p:nvSpPr>
          <p:cNvPr id="58" name="TextBox 57"/>
          <p:cNvSpPr txBox="1"/>
          <p:nvPr/>
        </p:nvSpPr>
        <p:spPr>
          <a:xfrm>
            <a:off x="9205722" y="3081528"/>
            <a:ext cx="2269998" cy="274320"/>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a:ea typeface="Noto Sans KR"/>
                <a:cs typeface="Noto Sans KR"/>
              </a:rPr>
              <a:t>부품 · 문 · 레버를 Hand 교체 없이</a:t>
            </a:r>
          </a:p>
        </p:txBody>
      </p:sp>
      <p:sp>
        <p:nvSpPr>
          <p:cNvPr id="59" name="TextBox 58"/>
          <p:cNvSpPr txBox="1"/>
          <p:nvPr/>
        </p:nvSpPr>
        <p:spPr>
          <a:xfrm>
            <a:off x="9205722" y="3392424"/>
            <a:ext cx="2269998" cy="201168"/>
          </a:xfrm>
          <a:prstGeom prst="rect">
            <a:avLst/>
          </a:prstGeom>
          <a:noFill/>
        </p:spPr>
        <p:txBody>
          <a:bodyPr wrap="square" lIns="0" rIns="0" tIns="0" bIns="0" anchor="t">
            <a:noAutofit/>
          </a:bodyPr>
          <a:lstStyle/>
          <a:p>
            <a:pPr algn="l">
              <a:lnSpc>
                <a:spcPct val="112000"/>
              </a:lnSpc>
            </a:pPr>
            <a:r>
              <a:rPr sz="850" b="0" i="0">
                <a:solidFill>
                  <a:srgbClr val="F3A574"/>
                </a:solidFill>
                <a:latin typeface="Noto Sans KR SemiBold"/>
                <a:ea typeface="Noto Sans KR SemiBold"/>
                <a:cs typeface="Noto Sans KR SemiBold"/>
              </a:rPr>
              <a:t>조건</a:t>
            </a:r>
          </a:p>
        </p:txBody>
      </p:sp>
      <p:sp>
        <p:nvSpPr>
          <p:cNvPr id="60" name="TextBox 59"/>
          <p:cNvSpPr txBox="1"/>
          <p:nvPr/>
        </p:nvSpPr>
        <p:spPr>
          <a:xfrm>
            <a:off x="9205722" y="3593592"/>
            <a:ext cx="2269998" cy="457200"/>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산업 내구성 · 재사용 Skill — Seed 기간 검증 대상</a:t>
            </a:r>
          </a:p>
        </p:txBody>
      </p:sp>
      <p:cxnSp>
        <p:nvCxnSpPr>
          <p:cNvPr id="61" name="Connector 60"/>
          <p:cNvCxnSpPr/>
          <p:nvPr/>
        </p:nvCxnSpPr>
        <p:spPr>
          <a:xfrm>
            <a:off x="9205722" y="4160520"/>
            <a:ext cx="2233422" cy="0"/>
          </a:xfrm>
          <a:prstGeom prst="line">
            <a:avLst/>
          </a:prstGeom>
          <a:ln w="9525">
            <a:solidFill>
              <a:srgbClr val="5A3A26"/>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9205722" y="4270248"/>
            <a:ext cx="118872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설비변경 필요</a:t>
            </a:r>
          </a:p>
        </p:txBody>
      </p:sp>
      <p:sp>
        <p:nvSpPr>
          <p:cNvPr id="63" name="meter"/>
          <p:cNvSpPr/>
          <p:nvPr/>
        </p:nvSpPr>
        <p:spPr>
          <a:xfrm>
            <a:off x="10421874" y="4325112"/>
            <a:ext cx="109728" cy="10972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meter"/>
          <p:cNvSpPr/>
          <p:nvPr/>
        </p:nvSpPr>
        <p:spPr>
          <a:xfrm>
            <a:off x="10604754" y="4325112"/>
            <a:ext cx="109728" cy="109728"/>
          </a:xfrm>
          <a:prstGeom prst="ellipse">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meter"/>
          <p:cNvSpPr/>
          <p:nvPr/>
        </p:nvSpPr>
        <p:spPr>
          <a:xfrm>
            <a:off x="10787634" y="4325112"/>
            <a:ext cx="109728" cy="109728"/>
          </a:xfrm>
          <a:prstGeom prst="ellipse">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205722" y="4517136"/>
            <a:ext cx="118872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현장 적용성</a:t>
            </a:r>
          </a:p>
        </p:txBody>
      </p:sp>
      <p:sp>
        <p:nvSpPr>
          <p:cNvPr id="67" name="meter"/>
          <p:cNvSpPr/>
          <p:nvPr/>
        </p:nvSpPr>
        <p:spPr>
          <a:xfrm>
            <a:off x="10421874" y="4572000"/>
            <a:ext cx="109728" cy="10972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meter"/>
          <p:cNvSpPr/>
          <p:nvPr/>
        </p:nvSpPr>
        <p:spPr>
          <a:xfrm>
            <a:off x="10604754" y="4572000"/>
            <a:ext cx="109728" cy="10972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meter"/>
          <p:cNvSpPr/>
          <p:nvPr/>
        </p:nvSpPr>
        <p:spPr>
          <a:xfrm>
            <a:off x="10787634" y="4572000"/>
            <a:ext cx="109728" cy="10972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ag TARGET"/>
          <p:cNvSpPr/>
          <p:nvPr/>
        </p:nvSpPr>
        <p:spPr>
          <a:xfrm>
            <a:off x="10758814" y="2002536"/>
            <a:ext cx="698618" cy="219456"/>
          </a:xfrm>
          <a:prstGeom prst="roundRect">
            <a:avLst>
              <a:gd name="adj" fmla="val 50000"/>
            </a:avLst>
          </a:prstGeom>
          <a:noFill/>
          <a:ln w="952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750" b="0" i="0" spc="40">
                <a:solidFill>
                  <a:srgbClr val="EC7A3C"/>
                </a:solidFill>
                <a:latin typeface="Noto Sans KR SemiBold"/>
                <a:ea typeface="Noto Sans KR SemiBold"/>
                <a:cs typeface="Noto Sans KR SemiBold"/>
              </a:rPr>
              <a:t>TARGET</a:t>
            </a:r>
          </a:p>
        </p:txBody>
      </p:sp>
      <p:sp>
        <p:nvSpPr>
          <p:cNvPr id="71" name="Card"/>
          <p:cNvSpPr/>
          <p:nvPr/>
        </p:nvSpPr>
        <p:spPr>
          <a:xfrm>
            <a:off x="548640" y="5029200"/>
            <a:ext cx="11091672" cy="1216152"/>
          </a:xfrm>
          <a:prstGeom prst="roundRect">
            <a:avLst>
              <a:gd name="adj" fmla="val 6015"/>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Label"/>
          <p:cNvSpPr txBox="1"/>
          <p:nvPr/>
        </p:nvSpPr>
        <p:spPr>
          <a:xfrm>
            <a:off x="777240" y="5157216"/>
            <a:ext cx="4572000" cy="201168"/>
          </a:xfrm>
          <a:prstGeom prst="rect">
            <a:avLst/>
          </a:prstGeom>
          <a:noFill/>
        </p:spPr>
        <p:txBody>
          <a:bodyPr wrap="square" lIns="0" rIns="0" tIns="0" bIns="0" anchor="t">
            <a:noAutofit/>
          </a:bodyPr>
          <a:lstStyle/>
          <a:p>
            <a:pPr algn="l">
              <a:lnSpc>
                <a:spcPct val="112000"/>
              </a:lnSpc>
            </a:pPr>
            <a:r>
              <a:rPr sz="950" b="0" i="0" spc="120">
                <a:solidFill>
                  <a:srgbClr val="EC7A3C"/>
                </a:solidFill>
                <a:latin typeface="Noto Sans KR SemiBold"/>
                <a:ea typeface="Noto Sans KR SemiBold"/>
                <a:cs typeface="Noto Sans KR SemiBold"/>
              </a:rPr>
              <a:t>Seed 기간에 증명할 것</a:t>
            </a:r>
          </a:p>
        </p:txBody>
      </p:sp>
      <p:sp>
        <p:nvSpPr>
          <p:cNvPr id="73" name="badge 1"/>
          <p:cNvSpPr/>
          <p:nvPr/>
        </p:nvSpPr>
        <p:spPr>
          <a:xfrm>
            <a:off x="777240" y="5458968"/>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1</a:t>
            </a:r>
          </a:p>
        </p:txBody>
      </p:sp>
      <p:sp>
        <p:nvSpPr>
          <p:cNvPr id="74" name="TextBox 73"/>
          <p:cNvSpPr txBox="1"/>
          <p:nvPr/>
        </p:nvSpPr>
        <p:spPr>
          <a:xfrm>
            <a:off x="1106424" y="5431536"/>
            <a:ext cx="2185416" cy="256032"/>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Black"/>
                <a:ea typeface="Noto Sans KR Black"/>
                <a:cs typeface="Noto Sans KR Black"/>
              </a:rPr>
              <a:t>동일 조건 비교시험</a:t>
            </a:r>
          </a:p>
        </p:txBody>
      </p:sp>
      <p:sp>
        <p:nvSpPr>
          <p:cNvPr id="75" name="TextBox 74"/>
          <p:cNvSpPr txBox="1"/>
          <p:nvPr/>
        </p:nvSpPr>
        <p:spPr>
          <a:xfrm>
            <a:off x="1106424" y="5705856"/>
            <a:ext cx="2185416" cy="411480"/>
          </a:xfrm>
          <a:prstGeom prst="rect">
            <a:avLst/>
          </a:prstGeom>
          <a:noFill/>
        </p:spPr>
        <p:txBody>
          <a:bodyPr wrap="square" lIns="0" rIns="0" tIns="0" bIns="0" anchor="t">
            <a:noAutofit/>
          </a:bodyPr>
          <a:lstStyle/>
          <a:p>
            <a:pPr algn="l">
              <a:lnSpc>
                <a:spcPct val="110000"/>
              </a:lnSpc>
            </a:pPr>
            <a:r>
              <a:rPr sz="900" b="0" i="0">
                <a:solidFill>
                  <a:srgbClr val="AEB3BB"/>
                </a:solidFill>
                <a:latin typeface="Noto Sans KR"/>
                <a:ea typeface="Noto Sans KR"/>
                <a:cs typeface="Noto Sans KR"/>
              </a:rPr>
              <a:t>같은 작업 · 같은 Robot에서 전용 Gripper 대비</a:t>
            </a:r>
          </a:p>
        </p:txBody>
      </p:sp>
      <p:sp>
        <p:nvSpPr>
          <p:cNvPr id="76" name="badge 2"/>
          <p:cNvSpPr/>
          <p:nvPr/>
        </p:nvSpPr>
        <p:spPr>
          <a:xfrm>
            <a:off x="3474720" y="5458968"/>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2</a:t>
            </a:r>
          </a:p>
        </p:txBody>
      </p:sp>
      <p:sp>
        <p:nvSpPr>
          <p:cNvPr id="77" name="TextBox 76"/>
          <p:cNvSpPr txBox="1"/>
          <p:nvPr/>
        </p:nvSpPr>
        <p:spPr>
          <a:xfrm>
            <a:off x="3803904" y="5431536"/>
            <a:ext cx="2185416" cy="256032"/>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Black"/>
                <a:ea typeface="Noto Sans KR Black"/>
                <a:cs typeface="Noto Sans KR Black"/>
              </a:rPr>
              <a:t>승인 Task 완료율</a:t>
            </a:r>
          </a:p>
        </p:txBody>
      </p:sp>
      <p:sp>
        <p:nvSpPr>
          <p:cNvPr id="78" name="TextBox 77"/>
          <p:cNvSpPr txBox="1"/>
          <p:nvPr/>
        </p:nvSpPr>
        <p:spPr>
          <a:xfrm>
            <a:off x="3803904" y="5705856"/>
            <a:ext cx="2185416" cy="411480"/>
          </a:xfrm>
          <a:prstGeom prst="rect">
            <a:avLst/>
          </a:prstGeom>
          <a:noFill/>
        </p:spPr>
        <p:txBody>
          <a:bodyPr wrap="square" lIns="0" rIns="0" tIns="0" bIns="0" anchor="t">
            <a:noAutofit/>
          </a:bodyPr>
          <a:lstStyle/>
          <a:p>
            <a:pPr algn="l">
              <a:lnSpc>
                <a:spcPct val="110000"/>
              </a:lnSpc>
            </a:pPr>
            <a:r>
              <a:rPr sz="900" b="0" i="0">
                <a:solidFill>
                  <a:srgbClr val="AEB3BB"/>
                </a:solidFill>
                <a:latin typeface="Noto Sans KR"/>
                <a:ea typeface="Noto Sans KR"/>
                <a:cs typeface="Noto Sans KR"/>
              </a:rPr>
              <a:t>≥ 95% (목표) · 최초 시도 / 재시도 분리</a:t>
            </a:r>
          </a:p>
        </p:txBody>
      </p:sp>
      <p:sp>
        <p:nvSpPr>
          <p:cNvPr id="79" name="badge 3"/>
          <p:cNvSpPr/>
          <p:nvPr/>
        </p:nvSpPr>
        <p:spPr>
          <a:xfrm>
            <a:off x="6172200" y="5458968"/>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3</a:t>
            </a:r>
          </a:p>
        </p:txBody>
      </p:sp>
      <p:sp>
        <p:nvSpPr>
          <p:cNvPr id="80" name="TextBox 79"/>
          <p:cNvSpPr txBox="1"/>
          <p:nvPr/>
        </p:nvSpPr>
        <p:spPr>
          <a:xfrm>
            <a:off x="6501384" y="5431536"/>
            <a:ext cx="2185416" cy="256032"/>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Black"/>
                <a:ea typeface="Noto Sans KR Black"/>
                <a:cs typeface="Noto Sans KR Black"/>
              </a:rPr>
              <a:t>산업 내구성</a:t>
            </a:r>
          </a:p>
        </p:txBody>
      </p:sp>
      <p:sp>
        <p:nvSpPr>
          <p:cNvPr id="81" name="TextBox 80"/>
          <p:cNvSpPr txBox="1"/>
          <p:nvPr/>
        </p:nvSpPr>
        <p:spPr>
          <a:xfrm>
            <a:off x="6501384" y="5705856"/>
            <a:ext cx="2185416" cy="411480"/>
          </a:xfrm>
          <a:prstGeom prst="rect">
            <a:avLst/>
          </a:prstGeom>
          <a:noFill/>
        </p:spPr>
        <p:txBody>
          <a:bodyPr wrap="square" lIns="0" rIns="0" tIns="0" bIns="0" anchor="t">
            <a:noAutofit/>
          </a:bodyPr>
          <a:lstStyle/>
          <a:p>
            <a:pPr algn="l">
              <a:lnSpc>
                <a:spcPct val="110000"/>
              </a:lnSpc>
            </a:pPr>
            <a:r>
              <a:rPr sz="900" b="0" i="0">
                <a:solidFill>
                  <a:srgbClr val="AEB3BB"/>
                </a:solidFill>
                <a:latin typeface="Noto Sans KR"/>
                <a:ea typeface="Noto Sans KR"/>
                <a:cs typeface="Noto Sans KR"/>
              </a:rPr>
              <a:t>30만 회 반복 (목표)</a:t>
            </a:r>
          </a:p>
        </p:txBody>
      </p:sp>
      <p:sp>
        <p:nvSpPr>
          <p:cNvPr id="82" name="badge 4"/>
          <p:cNvSpPr/>
          <p:nvPr/>
        </p:nvSpPr>
        <p:spPr>
          <a:xfrm>
            <a:off x="8869680" y="5458968"/>
            <a:ext cx="237744" cy="23774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00" b="0" i="0">
                <a:solidFill>
                  <a:srgbClr val="FFFFFF"/>
                </a:solidFill>
                <a:latin typeface="Noto Sans KR Black"/>
                <a:ea typeface="Noto Sans KR Black"/>
                <a:cs typeface="Noto Sans KR Black"/>
              </a:rPr>
              <a:t>4</a:t>
            </a:r>
          </a:p>
        </p:txBody>
      </p:sp>
      <p:sp>
        <p:nvSpPr>
          <p:cNvPr id="83" name="TextBox 82"/>
          <p:cNvSpPr txBox="1"/>
          <p:nvPr/>
        </p:nvSpPr>
        <p:spPr>
          <a:xfrm>
            <a:off x="9198864" y="5431536"/>
            <a:ext cx="2185416" cy="256032"/>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Black"/>
                <a:ea typeface="Noto Sans KR Black"/>
                <a:cs typeface="Noto Sans KR Black"/>
              </a:rPr>
              <a:t>총비용 우위</a:t>
            </a:r>
          </a:p>
        </p:txBody>
      </p:sp>
      <p:sp>
        <p:nvSpPr>
          <p:cNvPr id="84" name="TextBox 83"/>
          <p:cNvSpPr txBox="1"/>
          <p:nvPr/>
        </p:nvSpPr>
        <p:spPr>
          <a:xfrm>
            <a:off x="9198864" y="5705856"/>
            <a:ext cx="2185416" cy="411480"/>
          </a:xfrm>
          <a:prstGeom prst="rect">
            <a:avLst/>
          </a:prstGeom>
          <a:noFill/>
        </p:spPr>
        <p:txBody>
          <a:bodyPr wrap="square" lIns="0" rIns="0" tIns="0" bIns="0" anchor="t">
            <a:noAutofit/>
          </a:bodyPr>
          <a:lstStyle/>
          <a:p>
            <a:pPr algn="l">
              <a:lnSpc>
                <a:spcPct val="110000"/>
              </a:lnSpc>
            </a:pPr>
            <a:r>
              <a:rPr sz="900" b="0" i="0">
                <a:solidFill>
                  <a:srgbClr val="AEB3BB"/>
                </a:solidFill>
                <a:latin typeface="Noto Sans KR"/>
                <a:ea typeface="Noto Sans KR"/>
                <a:cs typeface="Noto Sans KR"/>
              </a:rPr>
              <a:t>'Hand + Skill' &lt; '전용 Gripper N개 + 엔지니어링'</a:t>
            </a:r>
          </a:p>
        </p:txBody>
      </p:sp>
      <p:sp>
        <p:nvSpPr>
          <p:cNvPr id="85" name="TextBox 84"/>
          <p:cNvSpPr txBox="1"/>
          <p:nvPr/>
        </p:nvSpPr>
        <p:spPr>
          <a:xfrm>
            <a:off x="4754880" y="5166360"/>
            <a:ext cx="6675120" cy="182880"/>
          </a:xfrm>
          <a:prstGeom prst="rect">
            <a:avLst/>
          </a:prstGeom>
          <a:noFill/>
        </p:spPr>
        <p:txBody>
          <a:bodyPr wrap="square" lIns="0" rIns="0" tIns="0" bIns="0" anchor="t">
            <a:noAutofit/>
          </a:bodyPr>
          <a:lstStyle/>
          <a:p>
            <a:pPr algn="r">
              <a:lnSpc>
                <a:spcPct val="112000"/>
              </a:lnSpc>
            </a:pPr>
            <a:r>
              <a:rPr sz="800" b="0" i="0">
                <a:solidFill>
                  <a:srgbClr val="737882"/>
                </a:solidFill>
                <a:latin typeface="Noto Sans KR"/>
                <a:ea typeface="Noto Sans KR"/>
                <a:cs typeface="Noto Sans KR"/>
              </a:rPr>
              <a:t>Category 비교는 공개 정보 기반 정성 비교 · 회사명 · 상세 Spec · OEM 내재화 분석은 Appendix A4</a:t>
            </a:r>
          </a:p>
        </p:txBody>
      </p:sp>
      <p:sp>
        <p:nvSpPr>
          <p:cNvPr id="86"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87"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09  ·  제품화 구조</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고객 프로젝트를 반복 가능한 Skill로 만든다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Every Project Leaves a Product Behind.</a:t>
            </a:r>
          </a:p>
        </p:txBody>
      </p:sp>
      <p:sp>
        <p:nvSpPr>
          <p:cNvPr id="6" name="TextBox 5"/>
          <p:cNvSpPr txBox="1"/>
          <p:nvPr/>
        </p:nvSpPr>
        <p:spPr>
          <a:xfrm>
            <a:off x="548640" y="1783080"/>
            <a:ext cx="2011680" cy="219456"/>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Black"/>
                <a:ea typeface="Noto Sans KR Black"/>
                <a:cs typeface="Noto Sans KR Black"/>
              </a:rPr>
              <a:t>Design Partner 3곳</a:t>
            </a:r>
          </a:p>
        </p:txBody>
      </p:sp>
      <p:sp>
        <p:nvSpPr>
          <p:cNvPr id="7" name="Tag TARGET · 미확보"/>
          <p:cNvSpPr/>
          <p:nvPr/>
        </p:nvSpPr>
        <p:spPr>
          <a:xfrm>
            <a:off x="2384148" y="1773936"/>
            <a:ext cx="1090572" cy="219456"/>
          </a:xfrm>
          <a:prstGeom prst="roundRect">
            <a:avLst>
              <a:gd name="adj" fmla="val 5000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750" b="0" i="0" spc="40">
                <a:solidFill>
                  <a:srgbClr val="E8B649"/>
                </a:solidFill>
                <a:latin typeface="Noto Sans KR SemiBold"/>
                <a:ea typeface="Noto Sans KR SemiBold"/>
                <a:cs typeface="Noto Sans KR SemiBold"/>
              </a:rPr>
              <a:t>TARGET · 미확보</a:t>
            </a:r>
          </a:p>
        </p:txBody>
      </p:sp>
      <p:sp>
        <p:nvSpPr>
          <p:cNvPr id="8" name="Card"/>
          <p:cNvSpPr/>
          <p:nvPr/>
        </p:nvSpPr>
        <p:spPr>
          <a:xfrm>
            <a:off x="548640" y="2112264"/>
            <a:ext cx="2926080" cy="786384"/>
          </a:xfrm>
          <a:prstGeom prst="roundRect">
            <a:avLst>
              <a:gd name="adj" fmla="val 930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94944" y="2295144"/>
            <a:ext cx="384048" cy="384048"/>
          </a:xfrm>
          <a:prstGeom prst="roundRect">
            <a:avLst>
              <a:gd name="adj" fmla="val 14285"/>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1300" b="0" i="0">
                <a:solidFill>
                  <a:srgbClr val="EC7A3C"/>
                </a:solidFill>
                <a:latin typeface="Noto Sans KR Black"/>
                <a:ea typeface="Noto Sans KR Black"/>
                <a:cs typeface="Noto Sans KR Black"/>
              </a:rPr>
              <a:t>A</a:t>
            </a:r>
          </a:p>
        </p:txBody>
      </p:sp>
      <p:sp>
        <p:nvSpPr>
          <p:cNvPr id="10" name="TextBox 9"/>
          <p:cNvSpPr txBox="1"/>
          <p:nvPr/>
        </p:nvSpPr>
        <p:spPr>
          <a:xfrm>
            <a:off x="1207008" y="2240280"/>
            <a:ext cx="2148840" cy="274320"/>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Black"/>
                <a:ea typeface="Noto Sans KR Black"/>
                <a:cs typeface="Noto Sans KR Black"/>
              </a:rPr>
              <a:t>Machine Tending</a:t>
            </a:r>
          </a:p>
        </p:txBody>
      </p:sp>
      <p:sp>
        <p:nvSpPr>
          <p:cNvPr id="11" name="TextBox 10"/>
          <p:cNvSpPr txBox="1"/>
          <p:nvPr/>
        </p:nvSpPr>
        <p:spPr>
          <a:xfrm>
            <a:off x="1207008" y="2532888"/>
            <a:ext cx="2148840" cy="27432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기존 CNC Cell · 문 · 바이스 · 버튼</a:t>
            </a:r>
          </a:p>
        </p:txBody>
      </p:sp>
      <p:sp>
        <p:nvSpPr>
          <p:cNvPr id="12" name="Card"/>
          <p:cNvSpPr/>
          <p:nvPr/>
        </p:nvSpPr>
        <p:spPr>
          <a:xfrm>
            <a:off x="548640" y="3008376"/>
            <a:ext cx="2926080" cy="786384"/>
          </a:xfrm>
          <a:prstGeom prst="roundRect">
            <a:avLst>
              <a:gd name="adj" fmla="val 930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94944" y="3191256"/>
            <a:ext cx="384048" cy="384048"/>
          </a:xfrm>
          <a:prstGeom prst="roundRect">
            <a:avLst>
              <a:gd name="adj" fmla="val 14285"/>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1300" b="0" i="0">
                <a:solidFill>
                  <a:srgbClr val="EC7A3C"/>
                </a:solidFill>
                <a:latin typeface="Noto Sans KR Black"/>
                <a:ea typeface="Noto Sans KR Black"/>
                <a:cs typeface="Noto Sans KR Black"/>
              </a:rPr>
              <a:t>B</a:t>
            </a:r>
          </a:p>
        </p:txBody>
      </p:sp>
      <p:sp>
        <p:nvSpPr>
          <p:cNvPr id="14" name="TextBox 13"/>
          <p:cNvSpPr txBox="1"/>
          <p:nvPr/>
        </p:nvSpPr>
        <p:spPr>
          <a:xfrm>
            <a:off x="1207008" y="3136392"/>
            <a:ext cx="2148840" cy="274320"/>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Black"/>
                <a:ea typeface="Noto Sans KR Black"/>
                <a:cs typeface="Noto Sans KR Black"/>
              </a:rPr>
              <a:t>High-mix Handling</a:t>
            </a:r>
          </a:p>
        </p:txBody>
      </p:sp>
      <p:sp>
        <p:nvSpPr>
          <p:cNvPr id="15" name="TextBox 14"/>
          <p:cNvSpPr txBox="1"/>
          <p:nvPr/>
        </p:nvSpPr>
        <p:spPr>
          <a:xfrm>
            <a:off x="1207008" y="3429000"/>
            <a:ext cx="2148840" cy="27432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다품종 부품 · 트레이 · 용기</a:t>
            </a:r>
          </a:p>
        </p:txBody>
      </p:sp>
      <p:sp>
        <p:nvSpPr>
          <p:cNvPr id="16" name="Card"/>
          <p:cNvSpPr/>
          <p:nvPr/>
        </p:nvSpPr>
        <p:spPr>
          <a:xfrm>
            <a:off x="548640" y="3904488"/>
            <a:ext cx="2926080" cy="786384"/>
          </a:xfrm>
          <a:prstGeom prst="roundRect">
            <a:avLst>
              <a:gd name="adj" fmla="val 9302"/>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4087368"/>
            <a:ext cx="384048" cy="384048"/>
          </a:xfrm>
          <a:prstGeom prst="roundRect">
            <a:avLst>
              <a:gd name="adj" fmla="val 14285"/>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1300" b="0" i="0">
                <a:solidFill>
                  <a:srgbClr val="EC7A3C"/>
                </a:solidFill>
                <a:latin typeface="Noto Sans KR Black"/>
                <a:ea typeface="Noto Sans KR Black"/>
                <a:cs typeface="Noto Sans KR Black"/>
              </a:rPr>
              <a:t>C</a:t>
            </a:r>
          </a:p>
        </p:txBody>
      </p:sp>
      <p:sp>
        <p:nvSpPr>
          <p:cNvPr id="18" name="TextBox 17"/>
          <p:cNvSpPr txBox="1"/>
          <p:nvPr/>
        </p:nvSpPr>
        <p:spPr>
          <a:xfrm>
            <a:off x="1207008" y="4032504"/>
            <a:ext cx="2148840" cy="274320"/>
          </a:xfrm>
          <a:prstGeom prst="rect">
            <a:avLst/>
          </a:prstGeom>
          <a:noFill/>
        </p:spPr>
        <p:txBody>
          <a:bodyPr wrap="square" lIns="0" rIns="0" tIns="0" bIns="0" anchor="t">
            <a:noAutofit/>
          </a:bodyPr>
          <a:lstStyle/>
          <a:p>
            <a:pPr algn="l">
              <a:lnSpc>
                <a:spcPct val="112000"/>
              </a:lnSpc>
            </a:pPr>
            <a:r>
              <a:rPr sz="1150" b="0" i="0">
                <a:solidFill>
                  <a:srgbClr val="F2F2EF"/>
                </a:solidFill>
                <a:latin typeface="Noto Sans KR Black"/>
                <a:ea typeface="Noto Sans KR Black"/>
                <a:cs typeface="Noto Sans KR Black"/>
              </a:rPr>
              <a:t>Inspection / Loading</a:t>
            </a:r>
          </a:p>
        </p:txBody>
      </p:sp>
      <p:sp>
        <p:nvSpPr>
          <p:cNvPr id="19" name="TextBox 18"/>
          <p:cNvSpPr txBox="1"/>
          <p:nvPr/>
        </p:nvSpPr>
        <p:spPr>
          <a:xfrm>
            <a:off x="1207008" y="4325112"/>
            <a:ext cx="2148840" cy="27432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검사기 투입 · 레버 · 래치</a:t>
            </a:r>
          </a:p>
        </p:txBody>
      </p:sp>
      <p:sp>
        <p:nvSpPr>
          <p:cNvPr id="20" name="TextBox 19"/>
          <p:cNvSpPr txBox="1"/>
          <p:nvPr/>
        </p:nvSpPr>
        <p:spPr>
          <a:xfrm>
            <a:off x="548640" y="4818888"/>
            <a:ext cx="2926080" cy="384048"/>
          </a:xfrm>
          <a:prstGeom prst="rect">
            <a:avLst/>
          </a:prstGeom>
          <a:noFill/>
        </p:spPr>
        <p:txBody>
          <a:bodyPr wrap="square" lIns="0" rIns="0" tIns="0" bIns="0" anchor="t">
            <a:noAutofit/>
          </a:bodyPr>
          <a:lstStyle/>
          <a:p>
            <a:pPr algn="l">
              <a:lnSpc>
                <a:spcPct val="115000"/>
              </a:lnSpc>
            </a:pPr>
            <a:r>
              <a:rPr sz="850" b="0" i="0">
                <a:solidFill>
                  <a:srgbClr val="8A8F97"/>
                </a:solidFill>
                <a:latin typeface="Noto Sans KR"/>
                <a:ea typeface="Noto Sans KR"/>
                <a:cs typeface="Noto Sans KR"/>
              </a:rPr>
              <a:t>대상: Robot SI · 제조기업 · Automation Integrator</a:t>
            </a:r>
          </a:p>
          <a:p>
            <a:pPr algn="l">
              <a:lnSpc>
                <a:spcPct val="115000"/>
              </a:lnSpc>
            </a:pPr>
            <a:r>
              <a:rPr sz="850" b="0" i="0">
                <a:solidFill>
                  <a:srgbClr val="8A8F97"/>
                </a:solidFill>
                <a:latin typeface="Noto Sans KR"/>
                <a:ea typeface="Noto Sans KR"/>
                <a:cs typeface="Noto Sans KR"/>
              </a:rPr>
              <a:t>서로 다른 문제에서 공통 Task를 추출</a:t>
            </a:r>
          </a:p>
        </p:txBody>
      </p:sp>
      <p:cxnSp>
        <p:nvCxnSpPr>
          <p:cNvPr id="21" name="Connector 20"/>
          <p:cNvCxnSpPr/>
          <p:nvPr/>
        </p:nvCxnSpPr>
        <p:spPr>
          <a:xfrm>
            <a:off x="6404981" y="2506789"/>
            <a:ext cx="648213" cy="399114"/>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053632" y="3552824"/>
            <a:ext cx="378341" cy="986792"/>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5711699" y="4874308"/>
            <a:ext cx="372362" cy="0"/>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4363787" y="3552824"/>
            <a:ext cx="378341" cy="986792"/>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742566" y="2506789"/>
            <a:ext cx="648213" cy="399114"/>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111496" y="1911096"/>
            <a:ext cx="1572768" cy="566928"/>
          </a:xfrm>
          <a:prstGeom prst="roundRect">
            <a:avLst>
              <a:gd name="adj" fmla="val 16129"/>
            </a:avLst>
          </a:prstGeom>
          <a:solidFill>
            <a:srgbClr val="1D2025"/>
          </a:solidFill>
          <a:ln w="12700">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1050" b="0" i="0">
                <a:solidFill>
                  <a:srgbClr val="F2F2EF"/>
                </a:solidFill>
                <a:latin typeface="Noto Sans KR Black"/>
                <a:ea typeface="Noto Sans KR Black"/>
                <a:cs typeface="Noto Sans KR Black"/>
              </a:rPr>
              <a:t>고객 프로젝트</a:t>
            </a:r>
          </a:p>
          <a:p>
            <a:pPr algn="ctr">
              <a:lnSpc>
                <a:spcPct val="105000"/>
              </a:lnSpc>
            </a:pPr>
            <a:r>
              <a:rPr sz="700" b="0" i="0" spc="40">
                <a:solidFill>
                  <a:srgbClr val="8A8F97"/>
                </a:solidFill>
                <a:latin typeface="Noto Sans KR SemiBold"/>
                <a:ea typeface="Noto Sans KR SemiBold"/>
                <a:cs typeface="Noto Sans KR SemiBold"/>
              </a:rPr>
              <a:t>CUSTOMER PROJECT</a:t>
            </a:r>
          </a:p>
        </p:txBody>
      </p:sp>
      <p:sp>
        <p:nvSpPr>
          <p:cNvPr id="27" name="Rounded Rectangle 26"/>
          <p:cNvSpPr/>
          <p:nvPr/>
        </p:nvSpPr>
        <p:spPr>
          <a:xfrm>
            <a:off x="6773911" y="2934668"/>
            <a:ext cx="1572768" cy="566928"/>
          </a:xfrm>
          <a:prstGeom prst="roundRect">
            <a:avLst>
              <a:gd name="adj" fmla="val 16129"/>
            </a:avLst>
          </a:prstGeom>
          <a:solidFill>
            <a:srgbClr val="1D2025"/>
          </a:solidFill>
          <a:ln w="12700">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1050" b="0" i="0">
                <a:solidFill>
                  <a:srgbClr val="F2F2EF"/>
                </a:solidFill>
                <a:latin typeface="Noto Sans KR Black"/>
                <a:ea typeface="Noto Sans KR Black"/>
                <a:cs typeface="Noto Sans KR Black"/>
              </a:rPr>
              <a:t>공통 Task 추출</a:t>
            </a:r>
          </a:p>
          <a:p>
            <a:pPr algn="ctr">
              <a:lnSpc>
                <a:spcPct val="105000"/>
              </a:lnSpc>
            </a:pPr>
            <a:r>
              <a:rPr sz="700" b="0" i="0" spc="40">
                <a:solidFill>
                  <a:srgbClr val="8A8F97"/>
                </a:solidFill>
                <a:latin typeface="Noto Sans KR SemiBold"/>
                <a:ea typeface="Noto Sans KR SemiBold"/>
                <a:cs typeface="Noto Sans KR SemiBold"/>
              </a:rPr>
              <a:t>COMMON TASK</a:t>
            </a:r>
          </a:p>
        </p:txBody>
      </p:sp>
      <p:sp>
        <p:nvSpPr>
          <p:cNvPr id="28" name="Rounded Rectangle 27"/>
          <p:cNvSpPr/>
          <p:nvPr/>
        </p:nvSpPr>
        <p:spPr>
          <a:xfrm>
            <a:off x="6138925" y="4590844"/>
            <a:ext cx="1572768" cy="566928"/>
          </a:xfrm>
          <a:prstGeom prst="roundRect">
            <a:avLst>
              <a:gd name="adj" fmla="val 16129"/>
            </a:avLst>
          </a:prstGeom>
          <a:solidFill>
            <a:srgbClr val="1D2025"/>
          </a:solidFill>
          <a:ln w="12700">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1050" b="0" i="0">
                <a:solidFill>
                  <a:srgbClr val="F2F2EF"/>
                </a:solidFill>
                <a:latin typeface="Noto Sans KR Black"/>
                <a:ea typeface="Noto Sans KR Black"/>
                <a:cs typeface="Noto Sans KR Black"/>
              </a:rPr>
              <a:t>재사용 Skill</a:t>
            </a:r>
          </a:p>
          <a:p>
            <a:pPr algn="ctr">
              <a:lnSpc>
                <a:spcPct val="105000"/>
              </a:lnSpc>
            </a:pPr>
            <a:r>
              <a:rPr sz="700" b="0" i="0" spc="40">
                <a:solidFill>
                  <a:srgbClr val="8A8F97"/>
                </a:solidFill>
                <a:latin typeface="Noto Sans KR SemiBold"/>
                <a:ea typeface="Noto Sans KR SemiBold"/>
                <a:cs typeface="Noto Sans KR SemiBold"/>
              </a:rPr>
              <a:t>REUSABLE SKILL</a:t>
            </a:r>
          </a:p>
        </p:txBody>
      </p:sp>
      <p:sp>
        <p:nvSpPr>
          <p:cNvPr id="29" name="Rounded Rectangle 28"/>
          <p:cNvSpPr/>
          <p:nvPr/>
        </p:nvSpPr>
        <p:spPr>
          <a:xfrm>
            <a:off x="4084067" y="4590844"/>
            <a:ext cx="1572768" cy="566928"/>
          </a:xfrm>
          <a:prstGeom prst="roundRect">
            <a:avLst>
              <a:gd name="adj" fmla="val 16129"/>
            </a:avLst>
          </a:prstGeom>
          <a:solidFill>
            <a:srgbClr val="2E1D14"/>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1050" b="0" i="0">
                <a:solidFill>
                  <a:srgbClr val="F2F2EF"/>
                </a:solidFill>
                <a:latin typeface="Noto Sans KR Black"/>
                <a:ea typeface="Noto Sans KR Black"/>
                <a:cs typeface="Noto Sans KR Black"/>
              </a:rPr>
              <a:t>검증된 Skill Pack</a:t>
            </a:r>
          </a:p>
          <a:p>
            <a:pPr algn="ctr">
              <a:lnSpc>
                <a:spcPct val="105000"/>
              </a:lnSpc>
            </a:pPr>
            <a:r>
              <a:rPr sz="700" b="0" i="0" spc="40">
                <a:solidFill>
                  <a:srgbClr val="F3A574"/>
                </a:solidFill>
                <a:latin typeface="Noto Sans KR SemiBold"/>
                <a:ea typeface="Noto Sans KR SemiBold"/>
                <a:cs typeface="Noto Sans KR SemiBold"/>
              </a:rPr>
              <a:t>VALIDATED PACK</a:t>
            </a:r>
          </a:p>
        </p:txBody>
      </p:sp>
      <p:sp>
        <p:nvSpPr>
          <p:cNvPr id="30" name="Rounded Rectangle 29"/>
          <p:cNvSpPr/>
          <p:nvPr/>
        </p:nvSpPr>
        <p:spPr>
          <a:xfrm>
            <a:off x="3449081" y="2934668"/>
            <a:ext cx="1572768" cy="566928"/>
          </a:xfrm>
          <a:prstGeom prst="roundRect">
            <a:avLst>
              <a:gd name="adj" fmla="val 16129"/>
            </a:avLst>
          </a:prstGeom>
          <a:solidFill>
            <a:srgbClr val="1D2025"/>
          </a:solidFill>
          <a:ln w="12700">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1050" b="0" i="0">
                <a:solidFill>
                  <a:srgbClr val="F2F2EF"/>
                </a:solidFill>
                <a:latin typeface="Noto Sans KR Black"/>
                <a:ea typeface="Noto Sans KR Black"/>
                <a:cs typeface="Noto Sans KR Black"/>
              </a:rPr>
              <a:t>다음 고객</a:t>
            </a:r>
          </a:p>
          <a:p>
            <a:pPr algn="ctr">
              <a:lnSpc>
                <a:spcPct val="105000"/>
              </a:lnSpc>
            </a:pPr>
            <a:r>
              <a:rPr sz="700" b="0" i="0" spc="40">
                <a:solidFill>
                  <a:srgbClr val="8A8F97"/>
                </a:solidFill>
                <a:latin typeface="Noto Sans KR SemiBold"/>
                <a:ea typeface="Noto Sans KR SemiBold"/>
                <a:cs typeface="Noto Sans KR SemiBold"/>
              </a:rPr>
              <a:t>NEXT CUSTOMER</a:t>
            </a:r>
          </a:p>
        </p:txBody>
      </p:sp>
      <p:sp>
        <p:nvSpPr>
          <p:cNvPr id="31" name="TextBox 30"/>
          <p:cNvSpPr txBox="1"/>
          <p:nvPr/>
        </p:nvSpPr>
        <p:spPr>
          <a:xfrm>
            <a:off x="4892040" y="3374136"/>
            <a:ext cx="2011680" cy="274320"/>
          </a:xfrm>
          <a:prstGeom prst="rect">
            <a:avLst/>
          </a:prstGeom>
          <a:noFill/>
        </p:spPr>
        <p:txBody>
          <a:bodyPr wrap="square" lIns="0" rIns="0" tIns="0" bIns="0" anchor="t">
            <a:noAutofit/>
          </a:bodyPr>
          <a:lstStyle/>
          <a:p>
            <a:pPr algn="ctr">
              <a:lnSpc>
                <a:spcPct val="112000"/>
              </a:lnSpc>
            </a:pPr>
            <a:r>
              <a:rPr sz="1300" b="0" i="0">
                <a:solidFill>
                  <a:srgbClr val="EC7A3C"/>
                </a:solidFill>
                <a:latin typeface="Noto Sans KR Black"/>
                <a:ea typeface="Noto Sans KR Black"/>
                <a:cs typeface="Noto Sans KR Black"/>
              </a:rPr>
              <a:t>Product Library</a:t>
            </a:r>
          </a:p>
        </p:txBody>
      </p:sp>
      <p:sp>
        <p:nvSpPr>
          <p:cNvPr id="32" name="TextBox 31"/>
          <p:cNvSpPr txBox="1"/>
          <p:nvPr/>
        </p:nvSpPr>
        <p:spPr>
          <a:xfrm>
            <a:off x="4892040" y="3675888"/>
            <a:ext cx="2011680" cy="384048"/>
          </a:xfrm>
          <a:prstGeom prst="rect">
            <a:avLst/>
          </a:prstGeom>
          <a:noFill/>
        </p:spPr>
        <p:txBody>
          <a:bodyPr wrap="square" lIns="0" rIns="0" tIns="0" bIns="0" anchor="t">
            <a:noAutofit/>
          </a:bodyPr>
          <a:lstStyle/>
          <a:p>
            <a:pPr algn="ctr">
              <a:lnSpc>
                <a:spcPct val="110000"/>
              </a:lnSpc>
            </a:pPr>
            <a:r>
              <a:rPr sz="850" b="0" i="0">
                <a:solidFill>
                  <a:srgbClr val="AEB3BB"/>
                </a:solidFill>
                <a:latin typeface="Noto Sans KR"/>
                <a:ea typeface="Noto Sans KR"/>
                <a:cs typeface="Noto Sans KR"/>
              </a:rPr>
              <a:t>Custom Code가 아니라</a:t>
            </a:r>
          </a:p>
          <a:p>
            <a:pPr algn="ctr">
              <a:lnSpc>
                <a:spcPct val="110000"/>
              </a:lnSpc>
            </a:pPr>
            <a:r>
              <a:rPr sz="850" b="0" i="0">
                <a:solidFill>
                  <a:srgbClr val="AEB3BB"/>
                </a:solidFill>
                <a:latin typeface="Noto Sans KR"/>
                <a:ea typeface="Noto Sans KR"/>
                <a:cs typeface="Noto Sans KR"/>
              </a:rPr>
              <a:t>재사용 자산이 쌓인다</a:t>
            </a:r>
          </a:p>
        </p:txBody>
      </p:sp>
      <p:sp>
        <p:nvSpPr>
          <p:cNvPr id="33" name="TextBox 32"/>
          <p:cNvSpPr txBox="1"/>
          <p:nvPr/>
        </p:nvSpPr>
        <p:spPr>
          <a:xfrm>
            <a:off x="3840480" y="5230368"/>
            <a:ext cx="4526280" cy="219456"/>
          </a:xfrm>
          <a:prstGeom prst="rect">
            <a:avLst/>
          </a:prstGeom>
          <a:noFill/>
        </p:spPr>
        <p:txBody>
          <a:bodyPr wrap="square" lIns="0" rIns="0" tIns="0" bIns="0" anchor="t">
            <a:noAutofit/>
          </a:bodyPr>
          <a:lstStyle/>
          <a:p>
            <a:pPr algn="l">
              <a:lnSpc>
                <a:spcPct val="112000"/>
              </a:lnSpc>
            </a:pPr>
            <a:r>
              <a:rPr sz="850" b="0" i="0">
                <a:solidFill>
                  <a:srgbClr val="EC7A3C"/>
                </a:solidFill>
                <a:latin typeface="Noto Sans KR SemiBold"/>
                <a:ea typeface="Noto Sans KR SemiBold"/>
                <a:cs typeface="Noto Sans KR SemiBold"/>
              </a:rPr>
              <a:t>2번째 고객부터 재사용  </a:t>
            </a:r>
            <a:r>
              <a:rPr sz="850" b="0" i="0">
                <a:solidFill>
                  <a:srgbClr val="F2F2EF"/>
                </a:solidFill>
                <a:latin typeface="Noto Sans KR"/>
                <a:ea typeface="Noto Sans KR"/>
                <a:cs typeface="Noto Sans KR"/>
              </a:rPr>
              <a:t>Hand · Runtime · Primitive · Task Skill · Calibration</a:t>
            </a:r>
          </a:p>
        </p:txBody>
      </p:sp>
      <p:sp>
        <p:nvSpPr>
          <p:cNvPr id="34" name="TextBox 33"/>
          <p:cNvSpPr txBox="1"/>
          <p:nvPr/>
        </p:nvSpPr>
        <p:spPr>
          <a:xfrm>
            <a:off x="3840480" y="5468112"/>
            <a:ext cx="452628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고객마다 새로 구성  </a:t>
            </a:r>
            <a:r>
              <a:rPr sz="850" b="0" i="0">
                <a:solidFill>
                  <a:srgbClr val="AEB3BB"/>
                </a:solidFill>
                <a:latin typeface="Noto Sans KR"/>
                <a:ea typeface="Noto Sans KR"/>
                <a:cs typeface="Noto Sans KR"/>
              </a:rPr>
              <a:t>부품 형상 등록 · Cell Layout · 안전 Validation</a:t>
            </a:r>
          </a:p>
        </p:txBody>
      </p:sp>
      <p:sp>
        <p:nvSpPr>
          <p:cNvPr id="35" name="Card"/>
          <p:cNvSpPr/>
          <p:nvPr/>
        </p:nvSpPr>
        <p:spPr>
          <a:xfrm>
            <a:off x="8641080" y="1783080"/>
            <a:ext cx="2999232" cy="1874520"/>
          </a:xfrm>
          <a:prstGeom prst="roundRect">
            <a:avLst>
              <a:gd name="adj" fmla="val 3902"/>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Label"/>
          <p:cNvSpPr txBox="1"/>
          <p:nvPr/>
        </p:nvSpPr>
        <p:spPr>
          <a:xfrm>
            <a:off x="8823960" y="1911096"/>
            <a:ext cx="2724912" cy="201168"/>
          </a:xfrm>
          <a:prstGeom prst="rect">
            <a:avLst/>
          </a:prstGeom>
          <a:noFill/>
        </p:spPr>
        <p:txBody>
          <a:bodyPr wrap="square" lIns="0" rIns="0" tIns="0" bIns="0" anchor="t">
            <a:noAutofit/>
          </a:bodyPr>
          <a:lstStyle/>
          <a:p>
            <a:pPr algn="l">
              <a:lnSpc>
                <a:spcPct val="112000"/>
              </a:lnSpc>
            </a:pPr>
            <a:r>
              <a:rPr sz="850" b="0" i="0" spc="120">
                <a:solidFill>
                  <a:srgbClr val="EC7A3C"/>
                </a:solidFill>
                <a:latin typeface="Noto Sans KR SemiBold"/>
                <a:ea typeface="Noto Sans KR SemiBold"/>
                <a:cs typeface="Noto Sans KR SemiBold"/>
              </a:rPr>
              <a:t>핵심 사업 KPI</a:t>
            </a:r>
          </a:p>
        </p:txBody>
      </p:sp>
      <p:sp>
        <p:nvSpPr>
          <p:cNvPr id="37" name="TextBox 36"/>
          <p:cNvSpPr txBox="1"/>
          <p:nvPr/>
        </p:nvSpPr>
        <p:spPr>
          <a:xfrm>
            <a:off x="8823960" y="2130552"/>
            <a:ext cx="2724912" cy="329184"/>
          </a:xfrm>
          <a:prstGeom prst="rect">
            <a:avLst/>
          </a:prstGeom>
          <a:noFill/>
        </p:spPr>
        <p:txBody>
          <a:bodyPr wrap="square" lIns="0" rIns="0" tIns="0" bIns="0" anchor="t">
            <a:noAutofit/>
          </a:bodyPr>
          <a:lstStyle/>
          <a:p>
            <a:pPr algn="l">
              <a:lnSpc>
                <a:spcPct val="112000"/>
              </a:lnSpc>
            </a:pPr>
            <a:r>
              <a:rPr sz="1600" b="0" i="0">
                <a:solidFill>
                  <a:srgbClr val="F2F2EF"/>
                </a:solidFill>
                <a:latin typeface="Noto Sans KR Black"/>
                <a:ea typeface="Noto Sans KR Black"/>
                <a:cs typeface="Noto Sans KR Black"/>
              </a:rPr>
              <a:t>재사용률</a:t>
            </a:r>
            <a:r>
              <a:rPr sz="950" b="0" i="0">
                <a:solidFill>
                  <a:srgbClr val="F3A574"/>
                </a:solidFill>
                <a:latin typeface="Noto Sans KR SemiBold"/>
                <a:ea typeface="Noto Sans KR SemiBold"/>
                <a:cs typeface="Noto Sans KR SemiBold"/>
              </a:rPr>
              <a:t>  Reusability Ratio</a:t>
            </a:r>
          </a:p>
        </p:txBody>
      </p:sp>
      <p:sp>
        <p:nvSpPr>
          <p:cNvPr id="38" name="TextBox 37"/>
          <p:cNvSpPr txBox="1"/>
          <p:nvPr/>
        </p:nvSpPr>
        <p:spPr>
          <a:xfrm>
            <a:off x="8823960" y="2514600"/>
            <a:ext cx="2679192" cy="566928"/>
          </a:xfrm>
          <a:prstGeom prst="rect">
            <a:avLst/>
          </a:prstGeom>
          <a:noFill/>
        </p:spPr>
        <p:txBody>
          <a:bodyPr wrap="square" lIns="0" rIns="0" tIns="0" bIns="0" anchor="t">
            <a:noAutofit/>
          </a:bodyPr>
          <a:lstStyle/>
          <a:p>
            <a:pPr algn="l">
              <a:lnSpc>
                <a:spcPct val="115000"/>
              </a:lnSpc>
            </a:pPr>
            <a:r>
              <a:rPr sz="900" b="0" i="0">
                <a:solidFill>
                  <a:srgbClr val="F2F2EF"/>
                </a:solidFill>
                <a:latin typeface="Noto Sans KR"/>
                <a:ea typeface="Noto Sans KR"/>
                <a:cs typeface="Noto Sans KR"/>
              </a:rPr>
              <a:t>신규 고객에 적용할 때 그대로 재사용한 하드웨어 · 제어 로직 · ToolSkill · 소프트웨어 모듈의 비중</a:t>
            </a:r>
          </a:p>
        </p:txBody>
      </p:sp>
      <p:sp>
        <p:nvSpPr>
          <p:cNvPr id="39" name="TextBox 38"/>
          <p:cNvSpPr txBox="1"/>
          <p:nvPr/>
        </p:nvSpPr>
        <p:spPr>
          <a:xfrm>
            <a:off x="8823960" y="3136392"/>
            <a:ext cx="2679192" cy="411480"/>
          </a:xfrm>
          <a:prstGeom prst="rect">
            <a:avLst/>
          </a:prstGeom>
          <a:noFill/>
        </p:spPr>
        <p:txBody>
          <a:bodyPr wrap="square" lIns="0" rIns="0" tIns="0" bIns="0" anchor="t">
            <a:noAutofit/>
          </a:bodyPr>
          <a:lstStyle/>
          <a:p>
            <a:pPr algn="l">
              <a:lnSpc>
                <a:spcPct val="112000"/>
              </a:lnSpc>
            </a:pPr>
            <a:r>
              <a:rPr sz="950" b="0" i="0">
                <a:solidFill>
                  <a:srgbClr val="EC7A3C"/>
                </a:solidFill>
                <a:latin typeface="Noto Sans KR Black"/>
                <a:ea typeface="Noto Sans KR Black"/>
                <a:cs typeface="Noto Sans KR Black"/>
              </a:rPr>
              <a:t>M12 </a:t>
            </a:r>
            <a:r>
              <a:rPr sz="950" b="0" i="0">
                <a:solidFill>
                  <a:srgbClr val="AEB3BB"/>
                </a:solidFill>
                <a:latin typeface="Noto Sans KR"/>
                <a:ea typeface="Noto Sans KR"/>
                <a:cs typeface="Noto Sans KR"/>
              </a:rPr>
              <a:t>측정 시작  →  </a:t>
            </a:r>
            <a:r>
              <a:rPr sz="950" b="0" i="0">
                <a:solidFill>
                  <a:srgbClr val="EC7A3C"/>
                </a:solidFill>
                <a:latin typeface="Noto Sans KR Black"/>
                <a:ea typeface="Noto Sans KR Black"/>
                <a:cs typeface="Noto Sans KR Black"/>
              </a:rPr>
              <a:t>M24 </a:t>
            </a:r>
            <a:r>
              <a:rPr sz="950" b="0" i="0">
                <a:solidFill>
                  <a:srgbClr val="AEB3BB"/>
                </a:solidFill>
                <a:latin typeface="Noto Sans KR"/>
                <a:ea typeface="Noto Sans KR"/>
                <a:cs typeface="Noto Sans KR"/>
              </a:rPr>
              <a:t>상승 추세 확인</a:t>
            </a:r>
          </a:p>
          <a:p>
            <a:pPr algn="l">
              <a:lnSpc>
                <a:spcPct val="112000"/>
              </a:lnSpc>
            </a:pPr>
            <a:r>
              <a:rPr sz="950" b="0" i="0">
                <a:solidFill>
                  <a:srgbClr val="AEB3BB"/>
                </a:solidFill>
                <a:latin typeface="Noto Sans KR"/>
                <a:ea typeface="Noto Sans KR"/>
                <a:cs typeface="Noto Sans KR"/>
              </a:rPr>
              <a:t>임의의 목표치를 쓰지 않는다</a:t>
            </a:r>
          </a:p>
        </p:txBody>
      </p:sp>
      <p:sp>
        <p:nvSpPr>
          <p:cNvPr id="40" name="Card"/>
          <p:cNvSpPr/>
          <p:nvPr/>
        </p:nvSpPr>
        <p:spPr>
          <a:xfrm>
            <a:off x="8641080" y="3794760"/>
            <a:ext cx="2999232" cy="2011680"/>
          </a:xfrm>
          <a:prstGeom prst="roundRect">
            <a:avLst>
              <a:gd name="adj" fmla="val 3636"/>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823960" y="3904488"/>
            <a:ext cx="2724912" cy="219456"/>
          </a:xfrm>
          <a:prstGeom prst="rect">
            <a:avLst/>
          </a:prstGeom>
          <a:noFill/>
        </p:spPr>
        <p:txBody>
          <a:bodyPr wrap="square" lIns="0" rIns="0" tIns="0" bIns="0" anchor="t">
            <a:noAutofit/>
          </a:bodyPr>
          <a:lstStyle/>
          <a:p>
            <a:pPr algn="l">
              <a:lnSpc>
                <a:spcPct val="112000"/>
              </a:lnSpc>
            </a:pPr>
            <a:r>
              <a:rPr sz="900" b="0" i="0">
                <a:solidFill>
                  <a:srgbClr val="F2F2EF"/>
                </a:solidFill>
                <a:latin typeface="Noto Sans KR SemiBold"/>
                <a:ea typeface="Noto Sans KR SemiBold"/>
                <a:cs typeface="Noto Sans KR SemiBold"/>
              </a:rPr>
              <a:t>매출 구성 변화  ·  Base Case 가정</a:t>
            </a:r>
          </a:p>
        </p:txBody>
      </p:sp>
      <p:sp>
        <p:nvSpPr>
          <p:cNvPr id="42" name="mix custom"/>
          <p:cNvSpPr/>
          <p:nvPr/>
        </p:nvSpPr>
        <p:spPr>
          <a:xfrm>
            <a:off x="8961120" y="4233672"/>
            <a:ext cx="347472" cy="11430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823960" y="5413248"/>
            <a:ext cx="621792" cy="182880"/>
          </a:xfrm>
          <a:prstGeom prst="rect">
            <a:avLst/>
          </a:prstGeom>
          <a:noFill/>
        </p:spPr>
        <p:txBody>
          <a:bodyPr wrap="square" lIns="0" rIns="0" tIns="0" bIns="0" anchor="t">
            <a:noAutofit/>
          </a:bodyPr>
          <a:lstStyle/>
          <a:p>
            <a:pPr algn="ctr">
              <a:lnSpc>
                <a:spcPct val="112000"/>
              </a:lnSpc>
            </a:pPr>
            <a:r>
              <a:rPr sz="800" b="0" i="0">
                <a:solidFill>
                  <a:srgbClr val="AEB3BB"/>
                </a:solidFill>
                <a:latin typeface="Noto Sans KR"/>
                <a:ea typeface="Noto Sans KR"/>
                <a:cs typeface="Noto Sans KR"/>
              </a:rPr>
              <a:t>Y1</a:t>
            </a:r>
          </a:p>
        </p:txBody>
      </p:sp>
      <p:sp>
        <p:nvSpPr>
          <p:cNvPr id="44" name="mix reusable"/>
          <p:cNvSpPr/>
          <p:nvPr/>
        </p:nvSpPr>
        <p:spPr>
          <a:xfrm>
            <a:off x="9464040" y="4233672"/>
            <a:ext cx="347472" cy="327611"/>
          </a:xfrm>
          <a:prstGeom prst="rect">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ix custom"/>
          <p:cNvSpPr/>
          <p:nvPr/>
        </p:nvSpPr>
        <p:spPr>
          <a:xfrm>
            <a:off x="9464040" y="4561283"/>
            <a:ext cx="347472" cy="81538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326880" y="5413248"/>
            <a:ext cx="621792" cy="182880"/>
          </a:xfrm>
          <a:prstGeom prst="rect">
            <a:avLst/>
          </a:prstGeom>
          <a:noFill/>
        </p:spPr>
        <p:txBody>
          <a:bodyPr wrap="square" lIns="0" rIns="0" tIns="0" bIns="0" anchor="t">
            <a:noAutofit/>
          </a:bodyPr>
          <a:lstStyle/>
          <a:p>
            <a:pPr algn="ctr">
              <a:lnSpc>
                <a:spcPct val="112000"/>
              </a:lnSpc>
            </a:pPr>
            <a:r>
              <a:rPr sz="800" b="0" i="0">
                <a:solidFill>
                  <a:srgbClr val="AEB3BB"/>
                </a:solidFill>
                <a:latin typeface="Noto Sans KR"/>
                <a:ea typeface="Noto Sans KR"/>
                <a:cs typeface="Noto Sans KR"/>
              </a:rPr>
              <a:t>Y2</a:t>
            </a:r>
          </a:p>
        </p:txBody>
      </p:sp>
      <p:sp>
        <p:nvSpPr>
          <p:cNvPr id="47" name="TextBox 46"/>
          <p:cNvSpPr txBox="1"/>
          <p:nvPr/>
        </p:nvSpPr>
        <p:spPr>
          <a:xfrm>
            <a:off x="9281160" y="4306038"/>
            <a:ext cx="713232" cy="182880"/>
          </a:xfrm>
          <a:prstGeom prst="rect">
            <a:avLst/>
          </a:prstGeom>
          <a:noFill/>
        </p:spPr>
        <p:txBody>
          <a:bodyPr wrap="square" lIns="0" rIns="0" tIns="0" bIns="0" anchor="t">
            <a:noAutofit/>
          </a:bodyPr>
          <a:lstStyle/>
          <a:p>
            <a:pPr algn="ctr">
              <a:lnSpc>
                <a:spcPct val="112000"/>
              </a:lnSpc>
            </a:pPr>
            <a:r>
              <a:rPr sz="750" b="0" i="0">
                <a:solidFill>
                  <a:srgbClr val="FFFFFF"/>
                </a:solidFill>
                <a:latin typeface="Noto Sans KR SemiBold"/>
                <a:ea typeface="Noto Sans KR SemiBold"/>
                <a:cs typeface="Noto Sans KR SemiBold"/>
              </a:rPr>
              <a:t>29%</a:t>
            </a:r>
          </a:p>
        </p:txBody>
      </p:sp>
      <p:sp>
        <p:nvSpPr>
          <p:cNvPr id="48" name="mix reusable"/>
          <p:cNvSpPr/>
          <p:nvPr/>
        </p:nvSpPr>
        <p:spPr>
          <a:xfrm>
            <a:off x="9966960" y="4233672"/>
            <a:ext cx="347472" cy="656389"/>
          </a:xfrm>
          <a:prstGeom prst="rect">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ix custom"/>
          <p:cNvSpPr/>
          <p:nvPr/>
        </p:nvSpPr>
        <p:spPr>
          <a:xfrm>
            <a:off x="9966960" y="4890061"/>
            <a:ext cx="347472" cy="48661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9829800" y="5413248"/>
            <a:ext cx="621792" cy="182880"/>
          </a:xfrm>
          <a:prstGeom prst="rect">
            <a:avLst/>
          </a:prstGeom>
          <a:noFill/>
        </p:spPr>
        <p:txBody>
          <a:bodyPr wrap="square" lIns="0" rIns="0" tIns="0" bIns="0" anchor="t">
            <a:noAutofit/>
          </a:bodyPr>
          <a:lstStyle/>
          <a:p>
            <a:pPr algn="ctr">
              <a:lnSpc>
                <a:spcPct val="112000"/>
              </a:lnSpc>
            </a:pPr>
            <a:r>
              <a:rPr sz="800" b="0" i="0">
                <a:solidFill>
                  <a:srgbClr val="AEB3BB"/>
                </a:solidFill>
                <a:latin typeface="Noto Sans KR"/>
                <a:ea typeface="Noto Sans KR"/>
                <a:cs typeface="Noto Sans KR"/>
              </a:rPr>
              <a:t>Y3</a:t>
            </a:r>
          </a:p>
        </p:txBody>
      </p:sp>
      <p:sp>
        <p:nvSpPr>
          <p:cNvPr id="51" name="TextBox 50"/>
          <p:cNvSpPr txBox="1"/>
          <p:nvPr/>
        </p:nvSpPr>
        <p:spPr>
          <a:xfrm>
            <a:off x="9784080" y="4470426"/>
            <a:ext cx="713232" cy="182880"/>
          </a:xfrm>
          <a:prstGeom prst="rect">
            <a:avLst/>
          </a:prstGeom>
          <a:noFill/>
        </p:spPr>
        <p:txBody>
          <a:bodyPr wrap="square" lIns="0" rIns="0" tIns="0" bIns="0" anchor="t">
            <a:noAutofit/>
          </a:bodyPr>
          <a:lstStyle/>
          <a:p>
            <a:pPr algn="ctr">
              <a:lnSpc>
                <a:spcPct val="112000"/>
              </a:lnSpc>
            </a:pPr>
            <a:r>
              <a:rPr sz="750" b="0" i="0">
                <a:solidFill>
                  <a:srgbClr val="FFFFFF"/>
                </a:solidFill>
                <a:latin typeface="Noto Sans KR SemiBold"/>
                <a:ea typeface="Noto Sans KR SemiBold"/>
                <a:cs typeface="Noto Sans KR SemiBold"/>
              </a:rPr>
              <a:t>57%</a:t>
            </a:r>
          </a:p>
        </p:txBody>
      </p:sp>
      <p:sp>
        <p:nvSpPr>
          <p:cNvPr id="52" name="mix reusable"/>
          <p:cNvSpPr/>
          <p:nvPr/>
        </p:nvSpPr>
        <p:spPr>
          <a:xfrm>
            <a:off x="10469880" y="4233672"/>
            <a:ext cx="347472" cy="857940"/>
          </a:xfrm>
          <a:prstGeom prst="rect">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ix custom"/>
          <p:cNvSpPr/>
          <p:nvPr/>
        </p:nvSpPr>
        <p:spPr>
          <a:xfrm>
            <a:off x="10469880" y="5091612"/>
            <a:ext cx="347472" cy="2850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332720" y="5413248"/>
            <a:ext cx="621792" cy="182880"/>
          </a:xfrm>
          <a:prstGeom prst="rect">
            <a:avLst/>
          </a:prstGeom>
          <a:noFill/>
        </p:spPr>
        <p:txBody>
          <a:bodyPr wrap="square" lIns="0" rIns="0" tIns="0" bIns="0" anchor="t">
            <a:noAutofit/>
          </a:bodyPr>
          <a:lstStyle/>
          <a:p>
            <a:pPr algn="ctr">
              <a:lnSpc>
                <a:spcPct val="112000"/>
              </a:lnSpc>
            </a:pPr>
            <a:r>
              <a:rPr sz="800" b="0" i="0">
                <a:solidFill>
                  <a:srgbClr val="AEB3BB"/>
                </a:solidFill>
                <a:latin typeface="Noto Sans KR"/>
                <a:ea typeface="Noto Sans KR"/>
                <a:cs typeface="Noto Sans KR"/>
              </a:rPr>
              <a:t>Y4</a:t>
            </a:r>
          </a:p>
        </p:txBody>
      </p:sp>
      <p:sp>
        <p:nvSpPr>
          <p:cNvPr id="55" name="TextBox 54"/>
          <p:cNvSpPr txBox="1"/>
          <p:nvPr/>
        </p:nvSpPr>
        <p:spPr>
          <a:xfrm>
            <a:off x="10287000" y="4571202"/>
            <a:ext cx="713232" cy="182880"/>
          </a:xfrm>
          <a:prstGeom prst="rect">
            <a:avLst/>
          </a:prstGeom>
          <a:noFill/>
        </p:spPr>
        <p:txBody>
          <a:bodyPr wrap="square" lIns="0" rIns="0" tIns="0" bIns="0" anchor="t">
            <a:noAutofit/>
          </a:bodyPr>
          <a:lstStyle/>
          <a:p>
            <a:pPr algn="ctr">
              <a:lnSpc>
                <a:spcPct val="112000"/>
              </a:lnSpc>
            </a:pPr>
            <a:r>
              <a:rPr sz="750" b="0" i="0">
                <a:solidFill>
                  <a:srgbClr val="FFFFFF"/>
                </a:solidFill>
                <a:latin typeface="Noto Sans KR SemiBold"/>
                <a:ea typeface="Noto Sans KR SemiBold"/>
                <a:cs typeface="Noto Sans KR SemiBold"/>
              </a:rPr>
              <a:t>75%</a:t>
            </a:r>
          </a:p>
        </p:txBody>
      </p:sp>
      <p:sp>
        <p:nvSpPr>
          <p:cNvPr id="56" name="mix reusable"/>
          <p:cNvSpPr/>
          <p:nvPr/>
        </p:nvSpPr>
        <p:spPr>
          <a:xfrm>
            <a:off x="10972800" y="4233672"/>
            <a:ext cx="347472" cy="984385"/>
          </a:xfrm>
          <a:prstGeom prst="rect">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mix custom"/>
          <p:cNvSpPr/>
          <p:nvPr/>
        </p:nvSpPr>
        <p:spPr>
          <a:xfrm>
            <a:off x="10972800" y="5218057"/>
            <a:ext cx="347472" cy="1586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0835640" y="5413248"/>
            <a:ext cx="621792" cy="182880"/>
          </a:xfrm>
          <a:prstGeom prst="rect">
            <a:avLst/>
          </a:prstGeom>
          <a:noFill/>
        </p:spPr>
        <p:txBody>
          <a:bodyPr wrap="square" lIns="0" rIns="0" tIns="0" bIns="0" anchor="t">
            <a:noAutofit/>
          </a:bodyPr>
          <a:lstStyle/>
          <a:p>
            <a:pPr algn="ctr">
              <a:lnSpc>
                <a:spcPct val="112000"/>
              </a:lnSpc>
            </a:pPr>
            <a:r>
              <a:rPr sz="800" b="0" i="0">
                <a:solidFill>
                  <a:srgbClr val="AEB3BB"/>
                </a:solidFill>
                <a:latin typeface="Noto Sans KR"/>
                <a:ea typeface="Noto Sans KR"/>
                <a:cs typeface="Noto Sans KR"/>
              </a:rPr>
              <a:t>Y5</a:t>
            </a:r>
          </a:p>
        </p:txBody>
      </p:sp>
      <p:sp>
        <p:nvSpPr>
          <p:cNvPr id="59" name="TextBox 58"/>
          <p:cNvSpPr txBox="1"/>
          <p:nvPr/>
        </p:nvSpPr>
        <p:spPr>
          <a:xfrm>
            <a:off x="10789920" y="4634425"/>
            <a:ext cx="713232" cy="182880"/>
          </a:xfrm>
          <a:prstGeom prst="rect">
            <a:avLst/>
          </a:prstGeom>
          <a:noFill/>
        </p:spPr>
        <p:txBody>
          <a:bodyPr wrap="square" lIns="0" rIns="0" tIns="0" bIns="0" anchor="t">
            <a:noAutofit/>
          </a:bodyPr>
          <a:lstStyle/>
          <a:p>
            <a:pPr algn="ctr">
              <a:lnSpc>
                <a:spcPct val="112000"/>
              </a:lnSpc>
            </a:pPr>
            <a:r>
              <a:rPr sz="750" b="0" i="0">
                <a:solidFill>
                  <a:srgbClr val="FFFFFF"/>
                </a:solidFill>
                <a:latin typeface="Noto Sans KR SemiBold"/>
                <a:ea typeface="Noto Sans KR SemiBold"/>
                <a:cs typeface="Noto Sans KR SemiBold"/>
              </a:rPr>
              <a:t>86%</a:t>
            </a:r>
          </a:p>
        </p:txBody>
      </p:sp>
      <p:sp>
        <p:nvSpPr>
          <p:cNvPr id="60" name="TextBox 59"/>
          <p:cNvSpPr txBox="1"/>
          <p:nvPr/>
        </p:nvSpPr>
        <p:spPr>
          <a:xfrm>
            <a:off x="8823960" y="5568696"/>
            <a:ext cx="2724912" cy="201168"/>
          </a:xfrm>
          <a:prstGeom prst="rect">
            <a:avLst/>
          </a:prstGeom>
          <a:noFill/>
        </p:spPr>
        <p:txBody>
          <a:bodyPr wrap="square" lIns="0" rIns="0" tIns="0" bIns="0" anchor="t">
            <a:noAutofit/>
          </a:bodyPr>
          <a:lstStyle/>
          <a:p>
            <a:pPr algn="l">
              <a:lnSpc>
                <a:spcPct val="112000"/>
              </a:lnSpc>
            </a:pPr>
            <a:r>
              <a:rPr sz="750" b="0" i="0">
                <a:solidFill>
                  <a:srgbClr val="EC7A3C"/>
                </a:solidFill>
                <a:latin typeface="Noto Sans KR"/>
                <a:ea typeface="Noto Sans KR"/>
                <a:cs typeface="Noto Sans KR"/>
              </a:rPr>
              <a:t>■ </a:t>
            </a:r>
            <a:r>
              <a:rPr sz="750" b="0" i="0">
                <a:solidFill>
                  <a:srgbClr val="AEB3BB"/>
                </a:solidFill>
                <a:latin typeface="Noto Sans KR"/>
                <a:ea typeface="Noto Sans KR"/>
                <a:cs typeface="Noto Sans KR"/>
              </a:rPr>
              <a:t>재사용 제품 · Skill   </a:t>
            </a:r>
            <a:r>
              <a:rPr sz="750" b="0" i="0">
                <a:solidFill>
                  <a:srgbClr val="4A4F57"/>
                </a:solidFill>
                <a:latin typeface="Noto Sans KR"/>
                <a:ea typeface="Noto Sans KR"/>
                <a:cs typeface="Noto Sans KR"/>
              </a:rPr>
              <a:t>■ </a:t>
            </a:r>
            <a:r>
              <a:rPr sz="750" b="0" i="0">
                <a:solidFill>
                  <a:srgbClr val="AEB3BB"/>
                </a:solidFill>
                <a:latin typeface="Noto Sans KR"/>
                <a:ea typeface="Noto Sans KR"/>
                <a:cs typeface="Noto Sans KR"/>
              </a:rPr>
              <a:t>고객별 엔지니어링</a:t>
            </a:r>
          </a:p>
        </p:txBody>
      </p:sp>
      <p:sp>
        <p:nvSpPr>
          <p:cNvPr id="61" name="TextBox 60"/>
          <p:cNvSpPr txBox="1"/>
          <p:nvPr/>
        </p:nvSpPr>
        <p:spPr>
          <a:xfrm>
            <a:off x="548640" y="5806440"/>
            <a:ext cx="11091672" cy="292608"/>
          </a:xfrm>
          <a:prstGeom prst="rect">
            <a:avLst/>
          </a:prstGeom>
          <a:noFill/>
        </p:spPr>
        <p:txBody>
          <a:bodyPr wrap="square" lIns="0" rIns="0" tIns="0" bIns="0" anchor="t">
            <a:noAutofit/>
          </a:bodyPr>
          <a:lstStyle/>
          <a:p>
            <a:pPr algn="l">
              <a:lnSpc>
                <a:spcPct val="112000"/>
              </a:lnSpc>
            </a:pPr>
            <a:r>
              <a:rPr sz="1400" b="0" i="0">
                <a:solidFill>
                  <a:srgbClr val="F2F2EF"/>
                </a:solidFill>
                <a:latin typeface="Noto Sans KR Black"/>
                <a:ea typeface="Noto Sans KR Black"/>
                <a:cs typeface="Noto Sans KR Black"/>
              </a:rPr>
              <a:t>고객이 늘어날수록 Custom Code가 아니라 </a:t>
            </a:r>
            <a:r>
              <a:rPr sz="1400" b="0" i="0">
                <a:solidFill>
                  <a:srgbClr val="EC7A3C"/>
                </a:solidFill>
                <a:latin typeface="Noto Sans KR Black"/>
                <a:ea typeface="Noto Sans KR Black"/>
                <a:cs typeface="Noto Sans KR Black"/>
              </a:rPr>
              <a:t>재사용 가능한 Product Library</a:t>
            </a:r>
            <a:r>
              <a:rPr sz="1400" b="0" i="0">
                <a:solidFill>
                  <a:srgbClr val="F2F2EF"/>
                </a:solidFill>
                <a:latin typeface="Noto Sans KR Black"/>
                <a:ea typeface="Noto Sans KR Black"/>
                <a:cs typeface="Noto Sans KR Black"/>
              </a:rPr>
              <a:t>가 쌓인다</a:t>
            </a:r>
          </a:p>
        </p:txBody>
      </p:sp>
      <p:sp>
        <p:nvSpPr>
          <p:cNvPr id="62" name="TextBox 61"/>
          <p:cNvSpPr txBox="1"/>
          <p:nvPr/>
        </p:nvSpPr>
        <p:spPr>
          <a:xfrm>
            <a:off x="548640" y="6135624"/>
            <a:ext cx="11091672" cy="219456"/>
          </a:xfrm>
          <a:prstGeom prst="rect">
            <a:avLst/>
          </a:prstGeom>
          <a:noFill/>
        </p:spPr>
        <p:txBody>
          <a:bodyPr wrap="square" lIns="0" rIns="0" tIns="0" bIns="0" anchor="t">
            <a:noAutofit/>
          </a:bodyPr>
          <a:lstStyle/>
          <a:p>
            <a:pPr algn="l">
              <a:lnSpc>
                <a:spcPct val="112000"/>
              </a:lnSpc>
            </a:pPr>
            <a:r>
              <a:rPr sz="900" b="0" i="0">
                <a:solidFill>
                  <a:srgbClr val="AEB3BB"/>
                </a:solidFill>
                <a:latin typeface="Noto Sans KR"/>
                <a:ea typeface="Noto Sans KR"/>
                <a:cs typeface="Noto Sans KR"/>
              </a:rPr>
              <a:t>SI가 되지 않는 규칙: 승인 Task 목록 안에서만 수주 · 비표준 요청은 별도 견적 · 프로젝트 종료 시 공통 모듈을 Library에 반영 · 재사용 매출 비중을 경영 KPI로 관리</a:t>
            </a:r>
          </a:p>
        </p:txBody>
      </p:sp>
      <p:sp>
        <p:nvSpPr>
          <p:cNvPr id="63"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64"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10  ·  Platform 검증</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하나의 Skill이 여러 Robot에서 동작해야 Platform이다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One Skill. Multiple Robots.</a:t>
            </a:r>
          </a:p>
        </p:txBody>
      </p:sp>
      <p:sp>
        <p:nvSpPr>
          <p:cNvPr id="6" name="Tag CONCEPT RENDERING"/>
          <p:cNvSpPr/>
          <p:nvPr/>
        </p:nvSpPr>
        <p:spPr>
          <a:xfrm>
            <a:off x="10042568" y="365760"/>
            <a:ext cx="1597744" cy="24688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CONCEPT RENDERING</a:t>
            </a:r>
          </a:p>
        </p:txBody>
      </p:sp>
      <p:sp>
        <p:nvSpPr>
          <p:cNvPr id="7" name="Card"/>
          <p:cNvSpPr/>
          <p:nvPr/>
        </p:nvSpPr>
        <p:spPr>
          <a:xfrm>
            <a:off x="548640" y="1783080"/>
            <a:ext cx="3840480" cy="3365062"/>
          </a:xfrm>
          <a:prstGeom prst="roundRect">
            <a:avLst>
              <a:gd name="adj" fmla="val 217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obot Platform A rendering" descr="portA.jpg"/>
          <p:cNvPicPr>
            <a:picLocks noChangeAspect="1"/>
          </p:cNvPicPr>
          <p:nvPr/>
        </p:nvPicPr>
        <p:blipFill>
          <a:blip r:embed="rId2"/>
          <a:stretch>
            <a:fillRect/>
          </a:stretch>
        </p:blipFill>
        <p:spPr>
          <a:xfrm>
            <a:off x="603504" y="1837944"/>
            <a:ext cx="3730752" cy="2798134"/>
          </a:xfrm>
          <a:prstGeom prst="rect">
            <a:avLst/>
          </a:prstGeom>
        </p:spPr>
      </p:pic>
      <p:sp>
        <p:nvSpPr>
          <p:cNvPr id="9" name="TextBox 8"/>
          <p:cNvSpPr txBox="1"/>
          <p:nvPr/>
        </p:nvSpPr>
        <p:spPr>
          <a:xfrm>
            <a:off x="731520" y="4709230"/>
            <a:ext cx="3474720"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Robot Platform A</a:t>
            </a:r>
            <a:r>
              <a:rPr sz="900" b="0" i="0">
                <a:solidFill>
                  <a:srgbClr val="AEB3BB"/>
                </a:solidFill>
                <a:latin typeface="Noto Sans KR"/>
                <a:ea typeface="Noto Sans KR"/>
                <a:cs typeface="Noto Sans KR"/>
              </a:rPr>
              <a:t>   협동로봇 · 화이트 6축</a:t>
            </a:r>
          </a:p>
        </p:txBody>
      </p:sp>
      <p:sp>
        <p:nvSpPr>
          <p:cNvPr id="10" name="Card"/>
          <p:cNvSpPr/>
          <p:nvPr/>
        </p:nvSpPr>
        <p:spPr>
          <a:xfrm>
            <a:off x="7799832" y="1783080"/>
            <a:ext cx="3840480" cy="3365062"/>
          </a:xfrm>
          <a:prstGeom prst="roundRect">
            <a:avLst>
              <a:gd name="adj" fmla="val 217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Robot Platform B rendering" descr="portB.jpg"/>
          <p:cNvPicPr>
            <a:picLocks noChangeAspect="1"/>
          </p:cNvPicPr>
          <p:nvPr/>
        </p:nvPicPr>
        <p:blipFill>
          <a:blip r:embed="rId3"/>
          <a:stretch>
            <a:fillRect/>
          </a:stretch>
        </p:blipFill>
        <p:spPr>
          <a:xfrm>
            <a:off x="7854696" y="1837944"/>
            <a:ext cx="3730752" cy="2798134"/>
          </a:xfrm>
          <a:prstGeom prst="rect">
            <a:avLst/>
          </a:prstGeom>
        </p:spPr>
      </p:pic>
      <p:sp>
        <p:nvSpPr>
          <p:cNvPr id="12" name="TextBox 11"/>
          <p:cNvSpPr txBox="1"/>
          <p:nvPr/>
        </p:nvSpPr>
        <p:spPr>
          <a:xfrm>
            <a:off x="7982712" y="4709230"/>
            <a:ext cx="3474720"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Robot Platform B</a:t>
            </a:r>
            <a:r>
              <a:rPr sz="900" b="0" i="0">
                <a:solidFill>
                  <a:srgbClr val="AEB3BB"/>
                </a:solidFill>
                <a:latin typeface="Noto Sans KR"/>
                <a:ea typeface="Noto Sans KR"/>
                <a:cs typeface="Noto Sans KR"/>
              </a:rPr>
              <a:t>   다른 브랜드 · 다른 링크 길이</a:t>
            </a:r>
          </a:p>
        </p:txBody>
      </p:sp>
      <p:sp>
        <p:nvSpPr>
          <p:cNvPr id="13" name="Rounded Rectangle 12"/>
          <p:cNvSpPr/>
          <p:nvPr/>
        </p:nvSpPr>
        <p:spPr>
          <a:xfrm>
            <a:off x="4572000" y="1828800"/>
            <a:ext cx="3044952" cy="868680"/>
          </a:xfrm>
          <a:prstGeom prst="roundRect">
            <a:avLst>
              <a:gd name="adj" fmla="val 8421"/>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54880" y="1938528"/>
            <a:ext cx="2770632" cy="256032"/>
          </a:xfrm>
          <a:prstGeom prst="rect">
            <a:avLst/>
          </a:prstGeom>
          <a:noFill/>
        </p:spPr>
        <p:txBody>
          <a:bodyPr wrap="square" lIns="0" rIns="0" tIns="0" bIns="0" anchor="t">
            <a:noAutofit/>
          </a:bodyPr>
          <a:lstStyle/>
          <a:p>
            <a:pPr algn="l">
              <a:lnSpc>
                <a:spcPct val="112000"/>
              </a:lnSpc>
            </a:pPr>
            <a:r>
              <a:rPr sz="1250" b="0" i="0">
                <a:solidFill>
                  <a:srgbClr val="EC7A3C"/>
                </a:solidFill>
                <a:latin typeface="Noto Sans KR Black"/>
                <a:ea typeface="Noto Sans KR Black"/>
                <a:cs typeface="Noto Sans KR Black"/>
              </a:rPr>
              <a:t>Handle Opening Skill</a:t>
            </a:r>
          </a:p>
        </p:txBody>
      </p:sp>
      <p:sp>
        <p:nvSpPr>
          <p:cNvPr id="15" name="TextBox 14"/>
          <p:cNvSpPr txBox="1"/>
          <p:nvPr/>
        </p:nvSpPr>
        <p:spPr>
          <a:xfrm>
            <a:off x="4754880" y="2231136"/>
            <a:ext cx="2770632" cy="411480"/>
          </a:xfrm>
          <a:prstGeom prst="rect">
            <a:avLst/>
          </a:prstGeom>
          <a:noFill/>
        </p:spPr>
        <p:txBody>
          <a:bodyPr wrap="square" lIns="0" rIns="0" tIns="0" bIns="0" anchor="t">
            <a:noAutofit/>
          </a:bodyPr>
          <a:lstStyle/>
          <a:p>
            <a:pPr algn="l">
              <a:lnSpc>
                <a:spcPct val="112000"/>
              </a:lnSpc>
            </a:pPr>
            <a:r>
              <a:rPr sz="900" b="0" i="0">
                <a:solidFill>
                  <a:srgbClr val="F2F2EF"/>
                </a:solidFill>
                <a:latin typeface="Noto Sans KR"/>
                <a:ea typeface="Noto Sans KR"/>
                <a:cs typeface="Noto Sans KR"/>
              </a:rPr>
              <a:t>파지 전략 · 힘 프로파일 · 동작 순서 — Robot과 무관한 Task 정의</a:t>
            </a:r>
          </a:p>
        </p:txBody>
      </p:sp>
      <p:sp>
        <p:nvSpPr>
          <p:cNvPr id="16" name="Isosceles Triangle 15"/>
          <p:cNvSpPr/>
          <p:nvPr/>
        </p:nvSpPr>
        <p:spPr>
          <a:xfrm rot="10800000">
            <a:off x="6039612" y="2788920"/>
            <a:ext cx="109728" cy="109728"/>
          </a:xfrm>
          <a:prstGeom prst="triangl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2990088"/>
            <a:ext cx="3044952" cy="868680"/>
          </a:xfrm>
          <a:prstGeom prst="roundRect">
            <a:avLst>
              <a:gd name="adj" fmla="val 8421"/>
            </a:avLst>
          </a:prstGeom>
          <a:solidFill>
            <a:srgbClr val="1D2025"/>
          </a:solidFill>
          <a:ln w="12700">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54880" y="3099816"/>
            <a:ext cx="2770632" cy="256032"/>
          </a:xfrm>
          <a:prstGeom prst="rect">
            <a:avLst/>
          </a:prstGeom>
          <a:noFill/>
        </p:spPr>
        <p:txBody>
          <a:bodyPr wrap="square" lIns="0" rIns="0" tIns="0" bIns="0" anchor="t">
            <a:noAutofit/>
          </a:bodyPr>
          <a:lstStyle/>
          <a:p>
            <a:pPr algn="l">
              <a:lnSpc>
                <a:spcPct val="112000"/>
              </a:lnSpc>
            </a:pPr>
            <a:r>
              <a:rPr sz="1250" b="0" i="0">
                <a:solidFill>
                  <a:srgbClr val="F2F2EF"/>
                </a:solidFill>
                <a:latin typeface="Noto Sans KR Black"/>
                <a:ea typeface="Noto Sans KR Black"/>
                <a:cs typeface="Noto Sans KR Black"/>
              </a:rPr>
              <a:t>Calibration</a:t>
            </a:r>
          </a:p>
        </p:txBody>
      </p:sp>
      <p:sp>
        <p:nvSpPr>
          <p:cNvPr id="19" name="TextBox 18"/>
          <p:cNvSpPr txBox="1"/>
          <p:nvPr/>
        </p:nvSpPr>
        <p:spPr>
          <a:xfrm>
            <a:off x="4754880" y="3392424"/>
            <a:ext cx="2770632" cy="411480"/>
          </a:xfrm>
          <a:prstGeom prst="rect">
            <a:avLst/>
          </a:prstGeom>
          <a:noFill/>
        </p:spPr>
        <p:txBody>
          <a:bodyPr wrap="square" lIns="0" rIns="0" tIns="0" bIns="0" anchor="t">
            <a:noAutofit/>
          </a:bodyPr>
          <a:lstStyle/>
          <a:p>
            <a:pPr algn="l">
              <a:lnSpc>
                <a:spcPct val="112000"/>
              </a:lnSpc>
            </a:pPr>
            <a:r>
              <a:rPr sz="900" b="0" i="0">
                <a:solidFill>
                  <a:srgbClr val="AEB3BB"/>
                </a:solidFill>
                <a:latin typeface="Noto Sans KR"/>
                <a:ea typeface="Noto Sans KR"/>
                <a:cs typeface="Noto Sans KR"/>
              </a:rPr>
              <a:t>Robot 어댑터 · TCP · 카메라 · 작업공간만 다시 맞춘다</a:t>
            </a:r>
          </a:p>
        </p:txBody>
      </p:sp>
      <p:sp>
        <p:nvSpPr>
          <p:cNvPr id="20" name="Isosceles Triangle 19"/>
          <p:cNvSpPr/>
          <p:nvPr/>
        </p:nvSpPr>
        <p:spPr>
          <a:xfrm rot="10800000">
            <a:off x="6039612" y="3950208"/>
            <a:ext cx="109728" cy="109728"/>
          </a:xfrm>
          <a:prstGeom prst="triangl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72000" y="4151376"/>
            <a:ext cx="3044952" cy="530352"/>
          </a:xfrm>
          <a:prstGeom prst="roundRect">
            <a:avLst>
              <a:gd name="adj" fmla="val 13793"/>
            </a:avLst>
          </a:prstGeom>
          <a:solidFill>
            <a:srgbClr val="1D2025"/>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1250" b="0" i="0">
                <a:solidFill>
                  <a:srgbClr val="F2F2EF"/>
                </a:solidFill>
                <a:latin typeface="Noto Sans KR Black"/>
                <a:ea typeface="Noto Sans KR Black"/>
                <a:cs typeface="Noto Sans KR Black"/>
              </a:rPr>
              <a:t>같은 Task 수행</a:t>
            </a:r>
            <a:r>
              <a:rPr sz="900" b="0" i="0">
                <a:solidFill>
                  <a:srgbClr val="F3A574"/>
                </a:solidFill>
                <a:latin typeface="Noto Sans KR SemiBold"/>
                <a:ea typeface="Noto Sans KR SemiBold"/>
                <a:cs typeface="Noto Sans KR SemiBold"/>
              </a:rPr>
              <a:t>  Robot B</a:t>
            </a:r>
          </a:p>
        </p:txBody>
      </p:sp>
      <p:cxnSp>
        <p:nvCxnSpPr>
          <p:cNvPr id="22" name="Connector 21"/>
          <p:cNvCxnSpPr/>
          <p:nvPr/>
        </p:nvCxnSpPr>
        <p:spPr>
          <a:xfrm>
            <a:off x="4416552" y="3154680"/>
            <a:ext cx="137160" cy="0"/>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35240" y="3154680"/>
            <a:ext cx="146304" cy="0"/>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Card"/>
          <p:cNvSpPr/>
          <p:nvPr/>
        </p:nvSpPr>
        <p:spPr>
          <a:xfrm>
            <a:off x="548640" y="5010912"/>
            <a:ext cx="6400800" cy="1261872"/>
          </a:xfrm>
          <a:prstGeom prst="roundRect">
            <a:avLst>
              <a:gd name="adj" fmla="val 5797"/>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bel"/>
          <p:cNvSpPr txBox="1"/>
          <p:nvPr/>
        </p:nvSpPr>
        <p:spPr>
          <a:xfrm>
            <a:off x="749808" y="5138928"/>
            <a:ext cx="5943600" cy="201168"/>
          </a:xfrm>
          <a:prstGeom prst="rect">
            <a:avLst/>
          </a:prstGeom>
          <a:noFill/>
        </p:spPr>
        <p:txBody>
          <a:bodyPr wrap="square" lIns="0" rIns="0" tIns="0" bIns="0" anchor="t">
            <a:noAutofit/>
          </a:bodyPr>
          <a:lstStyle/>
          <a:p>
            <a:pPr algn="l">
              <a:lnSpc>
                <a:spcPct val="112000"/>
              </a:lnSpc>
            </a:pPr>
            <a:r>
              <a:rPr sz="850" b="0" i="0" spc="120">
                <a:solidFill>
                  <a:srgbClr val="EC7A3C"/>
                </a:solidFill>
                <a:latin typeface="Noto Sans KR SemiBold"/>
                <a:ea typeface="Noto Sans KR SemiBold"/>
                <a:cs typeface="Noto Sans KR SemiBold"/>
              </a:rPr>
              <a:t>Seed 24개월 목표 · 기술 KPI이자 사업모델 KPI</a:t>
            </a:r>
          </a:p>
        </p:txBody>
      </p:sp>
      <p:sp>
        <p:nvSpPr>
          <p:cNvPr id="26" name="TextBox 25"/>
          <p:cNvSpPr txBox="1"/>
          <p:nvPr/>
        </p:nvSpPr>
        <p:spPr>
          <a:xfrm>
            <a:off x="749808" y="5376672"/>
            <a:ext cx="6035040" cy="310896"/>
          </a:xfrm>
          <a:prstGeom prst="rect">
            <a:avLst/>
          </a:prstGeom>
          <a:noFill/>
        </p:spPr>
        <p:txBody>
          <a:bodyPr wrap="square" lIns="0" rIns="0" tIns="0" bIns="0" anchor="t">
            <a:noAutofit/>
          </a:bodyPr>
          <a:lstStyle/>
          <a:p>
            <a:pPr algn="l">
              <a:lnSpc>
                <a:spcPct val="112000"/>
              </a:lnSpc>
            </a:pPr>
            <a:r>
              <a:rPr sz="1400" b="0" i="0">
                <a:solidFill>
                  <a:srgbClr val="F2F2EF"/>
                </a:solidFill>
                <a:latin typeface="Noto Sans KR Black"/>
                <a:ea typeface="Noto Sans KR Black"/>
                <a:cs typeface="Noto Sans KR Black"/>
              </a:rPr>
              <a:t>동일 Task Skill을 최소 2개 Robot Platform에서 재사용 검증</a:t>
            </a:r>
          </a:p>
        </p:txBody>
      </p:sp>
      <p:sp>
        <p:nvSpPr>
          <p:cNvPr id="27" name="TextBox 26"/>
          <p:cNvSpPr txBox="1"/>
          <p:nvPr/>
        </p:nvSpPr>
        <p:spPr>
          <a:xfrm>
            <a:off x="749808" y="5742432"/>
            <a:ext cx="6035040" cy="457200"/>
          </a:xfrm>
          <a:prstGeom prst="rect">
            <a:avLst/>
          </a:prstGeom>
          <a:noFill/>
        </p:spPr>
        <p:txBody>
          <a:bodyPr wrap="square" lIns="0" rIns="0" tIns="0" bIns="0" anchor="t">
            <a:noAutofit/>
          </a:bodyPr>
          <a:lstStyle/>
          <a:p>
            <a:pPr algn="l">
              <a:lnSpc>
                <a:spcPct val="115000"/>
              </a:lnSpc>
            </a:pPr>
            <a:r>
              <a:rPr sz="900" b="0" i="0">
                <a:solidFill>
                  <a:srgbClr val="AEB3BB"/>
                </a:solidFill>
                <a:latin typeface="Noto Sans KR"/>
                <a:ea typeface="Noto Sans KR"/>
                <a:cs typeface="Noto Sans KR"/>
              </a:rPr>
              <a:t>측정: Platform B 적용 시 추가 엔지니어링 시간 · Task 완료율 · 재사용 모듈 비중</a:t>
            </a:r>
          </a:p>
          <a:p>
            <a:pPr algn="l">
              <a:lnSpc>
                <a:spcPct val="115000"/>
              </a:lnSpc>
            </a:pPr>
            <a:r>
              <a:rPr sz="900" b="0" i="0">
                <a:solidFill>
                  <a:srgbClr val="AEB3BB"/>
                </a:solidFill>
                <a:latin typeface="Noto Sans KR"/>
                <a:ea typeface="Noto Sans KR"/>
                <a:cs typeface="Noto Sans KR"/>
              </a:rPr>
              <a:t>Platform B 통합은 M12~M18, 이식성 검증은 M18~M24</a:t>
            </a:r>
          </a:p>
        </p:txBody>
      </p:sp>
      <p:sp>
        <p:nvSpPr>
          <p:cNvPr id="28" name="Card"/>
          <p:cNvSpPr/>
          <p:nvPr/>
        </p:nvSpPr>
        <p:spPr>
          <a:xfrm>
            <a:off x="7132320" y="5010912"/>
            <a:ext cx="4507992" cy="1261872"/>
          </a:xfrm>
          <a:prstGeom prst="roundRect">
            <a:avLst>
              <a:gd name="adj" fmla="val 5797"/>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ag 스스로 인정하는 가설"/>
          <p:cNvSpPr/>
          <p:nvPr/>
        </p:nvSpPr>
        <p:spPr>
          <a:xfrm>
            <a:off x="7315200" y="5138928"/>
            <a:ext cx="1193422" cy="201168"/>
          </a:xfrm>
          <a:prstGeom prst="roundRect">
            <a:avLst>
              <a:gd name="adj" fmla="val 50000"/>
            </a:avLst>
          </a:prstGeom>
          <a:noFill/>
          <a:ln w="9525">
            <a:solidFill>
              <a:srgbClr val="E8B64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750" b="0" i="0" spc="40">
                <a:solidFill>
                  <a:srgbClr val="E8B649"/>
                </a:solidFill>
                <a:latin typeface="Noto Sans KR SemiBold"/>
                <a:ea typeface="Noto Sans KR SemiBold"/>
                <a:cs typeface="Noto Sans KR SemiBold"/>
              </a:rPr>
              <a:t>스스로 인정하는 가설</a:t>
            </a:r>
          </a:p>
        </p:txBody>
      </p:sp>
      <p:sp>
        <p:nvSpPr>
          <p:cNvPr id="30" name="TextBox 29"/>
          <p:cNvSpPr txBox="1"/>
          <p:nvPr/>
        </p:nvSpPr>
        <p:spPr>
          <a:xfrm>
            <a:off x="7315200" y="5422392"/>
            <a:ext cx="4206240" cy="777240"/>
          </a:xfrm>
          <a:prstGeom prst="rect">
            <a:avLst/>
          </a:prstGeom>
          <a:noFill/>
        </p:spPr>
        <p:txBody>
          <a:bodyPr wrap="square" lIns="0" rIns="0" tIns="0" bIns="0" anchor="t">
            <a:noAutofit/>
          </a:bodyPr>
          <a:lstStyle/>
          <a:p>
            <a:pPr algn="l">
              <a:lnSpc>
                <a:spcPct val="115000"/>
              </a:lnSpc>
            </a:pPr>
            <a:r>
              <a:rPr sz="950" b="0" i="0">
                <a:solidFill>
                  <a:srgbClr val="F2F2EF"/>
                </a:solidFill>
                <a:latin typeface="Noto Sans KR"/>
                <a:ea typeface="Noto Sans KR"/>
                <a:cs typeface="Noto Sans KR"/>
              </a:rPr>
              <a:t>Robot 브랜드가 바뀔 때마다 처음부터 다시 티칭해야 한다면,</a:t>
            </a:r>
          </a:p>
          <a:p>
            <a:pPr algn="l">
              <a:lnSpc>
                <a:spcPct val="115000"/>
              </a:lnSpc>
            </a:pPr>
            <a:r>
              <a:rPr sz="950" b="0" i="0">
                <a:solidFill>
                  <a:srgbClr val="F2F2EF"/>
                </a:solidFill>
                <a:latin typeface="Noto Sans KR"/>
                <a:ea typeface="Noto Sans KR"/>
                <a:cs typeface="Noto Sans KR"/>
              </a:rPr>
              <a:t>우리는 Platform이 아니라 SI 사업에 가깝다.</a:t>
            </a:r>
          </a:p>
          <a:p>
            <a:pPr algn="l">
              <a:lnSpc>
                <a:spcPct val="115000"/>
              </a:lnSpc>
            </a:pPr>
            <a:r>
              <a:rPr sz="950" b="0" i="0">
                <a:solidFill>
                  <a:srgbClr val="F2F2EF"/>
                </a:solidFill>
                <a:latin typeface="Noto Sans KR"/>
                <a:ea typeface="Noto Sans KR"/>
                <a:cs typeface="Noto Sans KR"/>
              </a:rPr>
              <a:t>→ Seed 기간에 반드시 검증할 가설</a:t>
            </a:r>
          </a:p>
        </p:txBody>
      </p:sp>
      <p:sp>
        <p:nvSpPr>
          <p:cNvPr id="31"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32"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11  ·  시장 진입과 확장</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SI를 통해 시장에 들어가고, OEM으로 확장한다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Integrator-led. OEM-scaled.</a:t>
            </a:r>
          </a:p>
        </p:txBody>
      </p:sp>
      <p:sp>
        <p:nvSpPr>
          <p:cNvPr id="6" name="Card"/>
          <p:cNvSpPr/>
          <p:nvPr/>
        </p:nvSpPr>
        <p:spPr>
          <a:xfrm>
            <a:off x="548640" y="1783080"/>
            <a:ext cx="3563112" cy="2395728"/>
          </a:xfrm>
          <a:prstGeom prst="roundRect">
            <a:avLst>
              <a:gd name="adj" fmla="val 305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1929384"/>
            <a:ext cx="3197352" cy="201168"/>
          </a:xfrm>
          <a:prstGeom prst="rect">
            <a:avLst/>
          </a:prstGeom>
          <a:noFill/>
        </p:spPr>
        <p:txBody>
          <a:bodyPr wrap="square" lIns="0" rIns="0" tIns="0" bIns="0" anchor="t">
            <a:noAutofit/>
          </a:bodyPr>
          <a:lstStyle/>
          <a:p>
            <a:pPr algn="l">
              <a:lnSpc>
                <a:spcPct val="112000"/>
              </a:lnSpc>
            </a:pPr>
            <a:r>
              <a:rPr sz="850" b="0" i="0" spc="80">
                <a:solidFill>
                  <a:srgbClr val="EC7A3C"/>
                </a:solidFill>
                <a:latin typeface="Noto Sans KR SemiBold"/>
                <a:ea typeface="Noto Sans KR SemiBold"/>
                <a:cs typeface="Noto Sans KR SemiBold"/>
              </a:rPr>
              <a:t>1단계 · M0–M24 (SEED)</a:t>
            </a:r>
          </a:p>
        </p:txBody>
      </p:sp>
      <p:sp>
        <p:nvSpPr>
          <p:cNvPr id="8" name="TextBox 7"/>
          <p:cNvSpPr txBox="1"/>
          <p:nvPr/>
        </p:nvSpPr>
        <p:spPr>
          <a:xfrm>
            <a:off x="749808" y="2167128"/>
            <a:ext cx="3197352" cy="347472"/>
          </a:xfrm>
          <a:prstGeom prst="rect">
            <a:avLst/>
          </a:prstGeom>
          <a:noFill/>
        </p:spPr>
        <p:txBody>
          <a:bodyPr wrap="square" lIns="0" rIns="0" tIns="0" bIns="0" anchor="t">
            <a:noAutofit/>
          </a:bodyPr>
          <a:lstStyle/>
          <a:p>
            <a:pPr algn="l">
              <a:lnSpc>
                <a:spcPct val="112000"/>
              </a:lnSpc>
            </a:pPr>
            <a:r>
              <a:rPr sz="1700" b="0" i="0">
                <a:solidFill>
                  <a:srgbClr val="F2F2EF"/>
                </a:solidFill>
                <a:latin typeface="Noto Sans KR Black"/>
                <a:ea typeface="Noto Sans KR Black"/>
                <a:cs typeface="Noto Sans KR Black"/>
              </a:rPr>
              <a:t>SI 주도 진입</a:t>
            </a:r>
          </a:p>
        </p:txBody>
      </p:sp>
      <p:sp>
        <p:nvSpPr>
          <p:cNvPr id="9" name="TextBox 8"/>
          <p:cNvSpPr txBox="1"/>
          <p:nvPr/>
        </p:nvSpPr>
        <p:spPr>
          <a:xfrm>
            <a:off x="749808" y="2651760"/>
            <a:ext cx="50292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채널</a:t>
            </a:r>
          </a:p>
        </p:txBody>
      </p:sp>
      <p:sp>
        <p:nvSpPr>
          <p:cNvPr id="10" name="TextBox 9"/>
          <p:cNvSpPr txBox="1"/>
          <p:nvPr/>
        </p:nvSpPr>
        <p:spPr>
          <a:xfrm>
            <a:off x="1280160" y="2642616"/>
            <a:ext cx="2648712" cy="512064"/>
          </a:xfrm>
          <a:prstGeom prst="rect">
            <a:avLst/>
          </a:prstGeom>
          <a:noFill/>
        </p:spPr>
        <p:txBody>
          <a:bodyPr wrap="square" lIns="0" rIns="0" tIns="0" bIns="0" anchor="t">
            <a:noAutofit/>
          </a:bodyPr>
          <a:lstStyle/>
          <a:p>
            <a:pPr algn="l">
              <a:lnSpc>
                <a:spcPct val="112000"/>
              </a:lnSpc>
            </a:pPr>
            <a:r>
              <a:rPr sz="1000" b="0" i="0">
                <a:solidFill>
                  <a:srgbClr val="AEB3BB"/>
                </a:solidFill>
                <a:latin typeface="Noto Sans KR"/>
                <a:ea typeface="Noto Sans KR"/>
                <a:cs typeface="Noto Sans KR"/>
              </a:rPr>
              <a:t>Robot SI · Design Partner · 유료 PoC</a:t>
            </a:r>
          </a:p>
        </p:txBody>
      </p:sp>
      <p:sp>
        <p:nvSpPr>
          <p:cNvPr id="11" name="TextBox 10"/>
          <p:cNvSpPr txBox="1"/>
          <p:nvPr/>
        </p:nvSpPr>
        <p:spPr>
          <a:xfrm>
            <a:off x="749808" y="3182112"/>
            <a:ext cx="50292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매출</a:t>
            </a:r>
          </a:p>
        </p:txBody>
      </p:sp>
      <p:sp>
        <p:nvSpPr>
          <p:cNvPr id="12" name="TextBox 11"/>
          <p:cNvSpPr txBox="1"/>
          <p:nvPr/>
        </p:nvSpPr>
        <p:spPr>
          <a:xfrm>
            <a:off x="1280160" y="3172968"/>
            <a:ext cx="2648712" cy="51206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SoftHand 하드웨어 + 유료 PoC + 통합 엔지니어링 + Task Skill 패키지</a:t>
            </a:r>
          </a:p>
        </p:txBody>
      </p:sp>
      <p:sp>
        <p:nvSpPr>
          <p:cNvPr id="13" name="TextBox 12"/>
          <p:cNvSpPr txBox="1"/>
          <p:nvPr/>
        </p:nvSpPr>
        <p:spPr>
          <a:xfrm>
            <a:off x="749808" y="3712464"/>
            <a:ext cx="50292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증명</a:t>
            </a:r>
          </a:p>
        </p:txBody>
      </p:sp>
      <p:sp>
        <p:nvSpPr>
          <p:cNvPr id="14" name="TextBox 13"/>
          <p:cNvSpPr txBox="1"/>
          <p:nvPr/>
        </p:nvSpPr>
        <p:spPr>
          <a:xfrm>
            <a:off x="1280160" y="3703320"/>
            <a:ext cx="2648712" cy="512064"/>
          </a:xfrm>
          <a:prstGeom prst="rect">
            <a:avLst/>
          </a:prstGeom>
          <a:noFill/>
        </p:spPr>
        <p:txBody>
          <a:bodyPr wrap="square" lIns="0" rIns="0" tIns="0" bIns="0" anchor="t">
            <a:noAutofit/>
          </a:bodyPr>
          <a:lstStyle/>
          <a:p>
            <a:pPr algn="l">
              <a:lnSpc>
                <a:spcPct val="112000"/>
              </a:lnSpc>
            </a:pPr>
            <a:r>
              <a:rPr sz="1000" b="0" i="0">
                <a:solidFill>
                  <a:srgbClr val="AEB3BB"/>
                </a:solidFill>
                <a:latin typeface="Noto Sans KR"/>
                <a:ea typeface="Noto Sans KR"/>
                <a:cs typeface="Noto Sans KR"/>
              </a:rPr>
              <a:t>Design Partner 3곳 → 유료 PoC 5건 → 반복 고객 2곳</a:t>
            </a:r>
          </a:p>
        </p:txBody>
      </p:sp>
      <p:sp>
        <p:nvSpPr>
          <p:cNvPr id="15" name="Isosceles Triangle 14"/>
          <p:cNvSpPr/>
          <p:nvPr/>
        </p:nvSpPr>
        <p:spPr>
          <a:xfrm rot="5400000">
            <a:off x="4166616" y="2935224"/>
            <a:ext cx="91440" cy="91440"/>
          </a:xfrm>
          <a:prstGeom prst="triangl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ard"/>
          <p:cNvSpPr/>
          <p:nvPr/>
        </p:nvSpPr>
        <p:spPr>
          <a:xfrm>
            <a:off x="4312920" y="1783080"/>
            <a:ext cx="3563112" cy="2395728"/>
          </a:xfrm>
          <a:prstGeom prst="roundRect">
            <a:avLst>
              <a:gd name="adj" fmla="val 305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14088" y="1929384"/>
            <a:ext cx="3197352" cy="201168"/>
          </a:xfrm>
          <a:prstGeom prst="rect">
            <a:avLst/>
          </a:prstGeom>
          <a:noFill/>
        </p:spPr>
        <p:txBody>
          <a:bodyPr wrap="square" lIns="0" rIns="0" tIns="0" bIns="0" anchor="t">
            <a:noAutofit/>
          </a:bodyPr>
          <a:lstStyle/>
          <a:p>
            <a:pPr algn="l">
              <a:lnSpc>
                <a:spcPct val="112000"/>
              </a:lnSpc>
            </a:pPr>
            <a:r>
              <a:rPr sz="850" b="0" i="0" spc="80">
                <a:solidFill>
                  <a:srgbClr val="EC7A3C"/>
                </a:solidFill>
                <a:latin typeface="Noto Sans KR SemiBold"/>
                <a:ea typeface="Noto Sans KR SemiBold"/>
                <a:cs typeface="Noto Sans KR SemiBold"/>
              </a:rPr>
              <a:t>2단계 · Y3–Y5</a:t>
            </a:r>
          </a:p>
        </p:txBody>
      </p:sp>
      <p:sp>
        <p:nvSpPr>
          <p:cNvPr id="18" name="TextBox 17"/>
          <p:cNvSpPr txBox="1"/>
          <p:nvPr/>
        </p:nvSpPr>
        <p:spPr>
          <a:xfrm>
            <a:off x="4514088" y="2167128"/>
            <a:ext cx="3197352" cy="347472"/>
          </a:xfrm>
          <a:prstGeom prst="rect">
            <a:avLst/>
          </a:prstGeom>
          <a:noFill/>
        </p:spPr>
        <p:txBody>
          <a:bodyPr wrap="square" lIns="0" rIns="0" tIns="0" bIns="0" anchor="t">
            <a:noAutofit/>
          </a:bodyPr>
          <a:lstStyle/>
          <a:p>
            <a:pPr algn="l">
              <a:lnSpc>
                <a:spcPct val="112000"/>
              </a:lnSpc>
            </a:pPr>
            <a:r>
              <a:rPr sz="1700" b="0" i="0">
                <a:solidFill>
                  <a:srgbClr val="F2F2EF"/>
                </a:solidFill>
                <a:latin typeface="Noto Sans KR Black"/>
                <a:ea typeface="Noto Sans KR Black"/>
                <a:cs typeface="Noto Sans KR Black"/>
              </a:rPr>
              <a:t>직판 + 파트너</a:t>
            </a:r>
          </a:p>
        </p:txBody>
      </p:sp>
      <p:sp>
        <p:nvSpPr>
          <p:cNvPr id="19" name="TextBox 18"/>
          <p:cNvSpPr txBox="1"/>
          <p:nvPr/>
        </p:nvSpPr>
        <p:spPr>
          <a:xfrm>
            <a:off x="4514088" y="2651760"/>
            <a:ext cx="50292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채널</a:t>
            </a:r>
          </a:p>
        </p:txBody>
      </p:sp>
      <p:sp>
        <p:nvSpPr>
          <p:cNvPr id="20" name="TextBox 19"/>
          <p:cNvSpPr txBox="1"/>
          <p:nvPr/>
        </p:nvSpPr>
        <p:spPr>
          <a:xfrm>
            <a:off x="5044440" y="2642616"/>
            <a:ext cx="2648712" cy="512064"/>
          </a:xfrm>
          <a:prstGeom prst="rect">
            <a:avLst/>
          </a:prstGeom>
          <a:noFill/>
        </p:spPr>
        <p:txBody>
          <a:bodyPr wrap="square" lIns="0" rIns="0" tIns="0" bIns="0" anchor="t">
            <a:noAutofit/>
          </a:bodyPr>
          <a:lstStyle/>
          <a:p>
            <a:pPr algn="l">
              <a:lnSpc>
                <a:spcPct val="112000"/>
              </a:lnSpc>
            </a:pPr>
            <a:r>
              <a:rPr sz="1000" b="0" i="0">
                <a:solidFill>
                  <a:srgbClr val="AEB3BB"/>
                </a:solidFill>
                <a:latin typeface="Noto Sans KR"/>
                <a:ea typeface="Noto Sans KR"/>
                <a:cs typeface="Noto Sans KR"/>
              </a:rPr>
              <a:t>검증된 Skill Pack을 SI 파트너 네트워크로 판매</a:t>
            </a:r>
          </a:p>
        </p:txBody>
      </p:sp>
      <p:sp>
        <p:nvSpPr>
          <p:cNvPr id="21" name="TextBox 20"/>
          <p:cNvSpPr txBox="1"/>
          <p:nvPr/>
        </p:nvSpPr>
        <p:spPr>
          <a:xfrm>
            <a:off x="4514088" y="3182112"/>
            <a:ext cx="50292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매출</a:t>
            </a:r>
          </a:p>
        </p:txBody>
      </p:sp>
      <p:sp>
        <p:nvSpPr>
          <p:cNvPr id="22" name="TextBox 21"/>
          <p:cNvSpPr txBox="1"/>
          <p:nvPr/>
        </p:nvSpPr>
        <p:spPr>
          <a:xfrm>
            <a:off x="5044440" y="3172968"/>
            <a:ext cx="2648712" cy="51206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재사용 Skill 패키지 + Runtime · 유지보수 (+ 하드웨어)</a:t>
            </a:r>
          </a:p>
        </p:txBody>
      </p:sp>
      <p:sp>
        <p:nvSpPr>
          <p:cNvPr id="23" name="TextBox 22"/>
          <p:cNvSpPr txBox="1"/>
          <p:nvPr/>
        </p:nvSpPr>
        <p:spPr>
          <a:xfrm>
            <a:off x="4514088" y="3712464"/>
            <a:ext cx="502920" cy="219456"/>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증명</a:t>
            </a:r>
          </a:p>
        </p:txBody>
      </p:sp>
      <p:sp>
        <p:nvSpPr>
          <p:cNvPr id="24" name="TextBox 23"/>
          <p:cNvSpPr txBox="1"/>
          <p:nvPr/>
        </p:nvSpPr>
        <p:spPr>
          <a:xfrm>
            <a:off x="5044440" y="3703320"/>
            <a:ext cx="2648712" cy="512064"/>
          </a:xfrm>
          <a:prstGeom prst="rect">
            <a:avLst/>
          </a:prstGeom>
          <a:noFill/>
        </p:spPr>
        <p:txBody>
          <a:bodyPr wrap="square" lIns="0" rIns="0" tIns="0" bIns="0" anchor="t">
            <a:noAutofit/>
          </a:bodyPr>
          <a:lstStyle/>
          <a:p>
            <a:pPr algn="l">
              <a:lnSpc>
                <a:spcPct val="112000"/>
              </a:lnSpc>
            </a:pPr>
            <a:r>
              <a:rPr sz="1000" b="0" i="0">
                <a:solidFill>
                  <a:srgbClr val="AEB3BB"/>
                </a:solidFill>
                <a:latin typeface="Noto Sans KR"/>
                <a:ea typeface="Noto Sans KR"/>
                <a:cs typeface="Noto Sans KR"/>
              </a:rPr>
              <a:t>재사용 매출 비중 ↑ · Base Case Y5 ₩44.7억 (OEM · Kitchen 0원)</a:t>
            </a:r>
          </a:p>
        </p:txBody>
      </p:sp>
      <p:sp>
        <p:nvSpPr>
          <p:cNvPr id="25" name="Isosceles Triangle 24"/>
          <p:cNvSpPr/>
          <p:nvPr/>
        </p:nvSpPr>
        <p:spPr>
          <a:xfrm rot="5400000">
            <a:off x="7930896" y="2935224"/>
            <a:ext cx="91440" cy="91440"/>
          </a:xfrm>
          <a:prstGeom prst="triangl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rd"/>
          <p:cNvSpPr/>
          <p:nvPr/>
        </p:nvSpPr>
        <p:spPr>
          <a:xfrm>
            <a:off x="8077200" y="1783080"/>
            <a:ext cx="3563112" cy="2395728"/>
          </a:xfrm>
          <a:prstGeom prst="roundRect">
            <a:avLst>
              <a:gd name="adj" fmla="val 3053"/>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78368" y="1929384"/>
            <a:ext cx="3197352" cy="201168"/>
          </a:xfrm>
          <a:prstGeom prst="rect">
            <a:avLst/>
          </a:prstGeom>
          <a:noFill/>
        </p:spPr>
        <p:txBody>
          <a:bodyPr wrap="square" lIns="0" rIns="0" tIns="0" bIns="0" anchor="t">
            <a:noAutofit/>
          </a:bodyPr>
          <a:lstStyle/>
          <a:p>
            <a:pPr algn="l">
              <a:lnSpc>
                <a:spcPct val="112000"/>
              </a:lnSpc>
            </a:pPr>
            <a:r>
              <a:rPr sz="850" b="0" i="0" spc="80">
                <a:solidFill>
                  <a:srgbClr val="EC7A3C"/>
                </a:solidFill>
                <a:latin typeface="Noto Sans KR SemiBold"/>
                <a:ea typeface="Noto Sans KR SemiBold"/>
                <a:cs typeface="Noto Sans KR SemiBold"/>
              </a:rPr>
              <a:t>3단계 · 확장 TRIGGER</a:t>
            </a:r>
          </a:p>
        </p:txBody>
      </p:sp>
      <p:sp>
        <p:nvSpPr>
          <p:cNvPr id="28" name="TextBox 27"/>
          <p:cNvSpPr txBox="1"/>
          <p:nvPr/>
        </p:nvSpPr>
        <p:spPr>
          <a:xfrm>
            <a:off x="8278368" y="2167128"/>
            <a:ext cx="3197352" cy="347472"/>
          </a:xfrm>
          <a:prstGeom prst="rect">
            <a:avLst/>
          </a:prstGeom>
          <a:noFill/>
        </p:spPr>
        <p:txBody>
          <a:bodyPr wrap="square" lIns="0" rIns="0" tIns="0" bIns="0" anchor="t">
            <a:noAutofit/>
          </a:bodyPr>
          <a:lstStyle/>
          <a:p>
            <a:pPr algn="l">
              <a:lnSpc>
                <a:spcPct val="112000"/>
              </a:lnSpc>
            </a:pPr>
            <a:r>
              <a:rPr sz="1700" b="0" i="0">
                <a:solidFill>
                  <a:srgbClr val="F2F2EF"/>
                </a:solidFill>
                <a:latin typeface="Noto Sans KR Black"/>
                <a:ea typeface="Noto Sans KR Black"/>
                <a:cs typeface="Noto Sans KR Black"/>
              </a:rPr>
              <a:t>OEM Design Win</a:t>
            </a:r>
          </a:p>
        </p:txBody>
      </p:sp>
      <p:sp>
        <p:nvSpPr>
          <p:cNvPr id="29" name="TextBox 28"/>
          <p:cNvSpPr txBox="1"/>
          <p:nvPr/>
        </p:nvSpPr>
        <p:spPr>
          <a:xfrm>
            <a:off x="8278368" y="2651760"/>
            <a:ext cx="502920" cy="219456"/>
          </a:xfrm>
          <a:prstGeom prst="rect">
            <a:avLst/>
          </a:prstGeom>
          <a:noFill/>
        </p:spPr>
        <p:txBody>
          <a:bodyPr wrap="square" lIns="0" rIns="0" tIns="0" bIns="0" anchor="t">
            <a:noAutofit/>
          </a:bodyPr>
          <a:lstStyle/>
          <a:p>
            <a:pPr algn="l">
              <a:lnSpc>
                <a:spcPct val="112000"/>
              </a:lnSpc>
            </a:pPr>
            <a:r>
              <a:rPr sz="850" b="0" i="0">
                <a:solidFill>
                  <a:srgbClr val="F3A574"/>
                </a:solidFill>
                <a:latin typeface="Noto Sans KR SemiBold"/>
                <a:ea typeface="Noto Sans KR SemiBold"/>
                <a:cs typeface="Noto Sans KR SemiBold"/>
              </a:rPr>
              <a:t>채널</a:t>
            </a:r>
          </a:p>
        </p:txBody>
      </p:sp>
      <p:sp>
        <p:nvSpPr>
          <p:cNvPr id="30" name="TextBox 29"/>
          <p:cNvSpPr txBox="1"/>
          <p:nvPr/>
        </p:nvSpPr>
        <p:spPr>
          <a:xfrm>
            <a:off x="8808720" y="2642616"/>
            <a:ext cx="2648712" cy="512064"/>
          </a:xfrm>
          <a:prstGeom prst="rect">
            <a:avLst/>
          </a:prstGeom>
          <a:noFill/>
        </p:spPr>
        <p:txBody>
          <a:bodyPr wrap="square" lIns="0" rIns="0" tIns="0" bIns="0" anchor="t">
            <a:noAutofit/>
          </a:bodyPr>
          <a:lstStyle/>
          <a:p>
            <a:pPr algn="l">
              <a:lnSpc>
                <a:spcPct val="112000"/>
              </a:lnSpc>
            </a:pPr>
            <a:r>
              <a:rPr sz="1000" b="0" i="0">
                <a:solidFill>
                  <a:srgbClr val="AEB3BB"/>
                </a:solidFill>
                <a:latin typeface="Noto Sans KR"/>
                <a:ea typeface="Noto Sans KR"/>
                <a:cs typeface="Noto Sans KR"/>
              </a:rPr>
              <a:t>Robot OEM이 Hand · Runtime을 옵션 · 표준 모듈로 탑재</a:t>
            </a:r>
          </a:p>
        </p:txBody>
      </p:sp>
      <p:sp>
        <p:nvSpPr>
          <p:cNvPr id="31" name="TextBox 30"/>
          <p:cNvSpPr txBox="1"/>
          <p:nvPr/>
        </p:nvSpPr>
        <p:spPr>
          <a:xfrm>
            <a:off x="8278368" y="3182112"/>
            <a:ext cx="502920" cy="219456"/>
          </a:xfrm>
          <a:prstGeom prst="rect">
            <a:avLst/>
          </a:prstGeom>
          <a:noFill/>
        </p:spPr>
        <p:txBody>
          <a:bodyPr wrap="square" lIns="0" rIns="0" tIns="0" bIns="0" anchor="t">
            <a:noAutofit/>
          </a:bodyPr>
          <a:lstStyle/>
          <a:p>
            <a:pPr algn="l">
              <a:lnSpc>
                <a:spcPct val="112000"/>
              </a:lnSpc>
            </a:pPr>
            <a:r>
              <a:rPr sz="850" b="0" i="0">
                <a:solidFill>
                  <a:srgbClr val="F3A574"/>
                </a:solidFill>
                <a:latin typeface="Noto Sans KR SemiBold"/>
                <a:ea typeface="Noto Sans KR SemiBold"/>
                <a:cs typeface="Noto Sans KR SemiBold"/>
              </a:rPr>
              <a:t>매출</a:t>
            </a:r>
          </a:p>
        </p:txBody>
      </p:sp>
      <p:sp>
        <p:nvSpPr>
          <p:cNvPr id="32" name="TextBox 31"/>
          <p:cNvSpPr txBox="1"/>
          <p:nvPr/>
        </p:nvSpPr>
        <p:spPr>
          <a:xfrm>
            <a:off x="8808720" y="3172968"/>
            <a:ext cx="2648712" cy="51206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OEM 라이선스 + 내장 Runtime + 출하량 연동 로열티</a:t>
            </a:r>
          </a:p>
        </p:txBody>
      </p:sp>
      <p:sp>
        <p:nvSpPr>
          <p:cNvPr id="33" name="TextBox 32"/>
          <p:cNvSpPr txBox="1"/>
          <p:nvPr/>
        </p:nvSpPr>
        <p:spPr>
          <a:xfrm>
            <a:off x="8278368" y="3712464"/>
            <a:ext cx="502920" cy="219456"/>
          </a:xfrm>
          <a:prstGeom prst="rect">
            <a:avLst/>
          </a:prstGeom>
          <a:noFill/>
        </p:spPr>
        <p:txBody>
          <a:bodyPr wrap="square" lIns="0" rIns="0" tIns="0" bIns="0" anchor="t">
            <a:noAutofit/>
          </a:bodyPr>
          <a:lstStyle/>
          <a:p>
            <a:pPr algn="l">
              <a:lnSpc>
                <a:spcPct val="112000"/>
              </a:lnSpc>
            </a:pPr>
            <a:r>
              <a:rPr sz="850" b="0" i="0">
                <a:solidFill>
                  <a:srgbClr val="F3A574"/>
                </a:solidFill>
                <a:latin typeface="Noto Sans KR SemiBold"/>
                <a:ea typeface="Noto Sans KR SemiBold"/>
                <a:cs typeface="Noto Sans KR SemiBold"/>
              </a:rPr>
              <a:t>증명</a:t>
            </a:r>
          </a:p>
        </p:txBody>
      </p:sp>
      <p:sp>
        <p:nvSpPr>
          <p:cNvPr id="34" name="TextBox 33"/>
          <p:cNvSpPr txBox="1"/>
          <p:nvPr/>
        </p:nvSpPr>
        <p:spPr>
          <a:xfrm>
            <a:off x="8808720" y="3703320"/>
            <a:ext cx="2648712" cy="512064"/>
          </a:xfrm>
          <a:prstGeom prst="rect">
            <a:avLst/>
          </a:prstGeom>
          <a:noFill/>
        </p:spPr>
        <p:txBody>
          <a:bodyPr wrap="square" lIns="0" rIns="0" tIns="0" bIns="0" anchor="t">
            <a:noAutofit/>
          </a:bodyPr>
          <a:lstStyle/>
          <a:p>
            <a:pPr algn="l">
              <a:lnSpc>
                <a:spcPct val="112000"/>
              </a:lnSpc>
            </a:pPr>
            <a:r>
              <a:rPr sz="1000" b="0" i="0">
                <a:solidFill>
                  <a:srgbClr val="AEB3BB"/>
                </a:solidFill>
                <a:latin typeface="Noto Sans KR"/>
                <a:ea typeface="Noto Sans KR"/>
                <a:cs typeface="Noto Sans KR"/>
              </a:rPr>
              <a:t>OEM Design Win 1건</a:t>
            </a:r>
          </a:p>
        </p:txBody>
      </p:sp>
      <p:sp>
        <p:nvSpPr>
          <p:cNvPr id="35" name="Card"/>
          <p:cNvSpPr/>
          <p:nvPr/>
        </p:nvSpPr>
        <p:spPr>
          <a:xfrm>
            <a:off x="548640" y="4288536"/>
            <a:ext cx="11091672" cy="365760"/>
          </a:xfrm>
          <a:prstGeom prst="roundRect">
            <a:avLst>
              <a:gd name="adj" fmla="val 2000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20" y="4352544"/>
            <a:ext cx="10789920" cy="256032"/>
          </a:xfrm>
          <a:prstGeom prst="rect">
            <a:avLst/>
          </a:prstGeom>
          <a:noFill/>
        </p:spPr>
        <p:txBody>
          <a:bodyPr wrap="square" lIns="0" rIns="0" tIns="0" bIns="0" anchor="t">
            <a:noAutofit/>
          </a:bodyPr>
          <a:lstStyle/>
          <a:p>
            <a:pPr algn="l">
              <a:lnSpc>
                <a:spcPct val="112000"/>
              </a:lnSpc>
            </a:pPr>
            <a:r>
              <a:rPr sz="900" b="0" i="0">
                <a:solidFill>
                  <a:srgbClr val="EC7A3C"/>
                </a:solidFill>
                <a:latin typeface="Noto Sans KR SemiBold"/>
                <a:ea typeface="Noto Sans KR SemiBold"/>
                <a:cs typeface="Noto Sans KR SemiBold"/>
              </a:rPr>
              <a:t>OEM이 직접 만들면?  </a:t>
            </a:r>
            <a:r>
              <a:rPr sz="900" b="0" i="0">
                <a:solidFill>
                  <a:srgbClr val="AEB3BB"/>
                </a:solidFill>
                <a:latin typeface="Noto Sans KR"/>
                <a:ea typeface="Noto Sans KR"/>
                <a:cs typeface="Noto Sans KR"/>
              </a:rPr>
              <a:t>다수 산업용 · 협동로봇 OEM은 Arm · Controller에 집중하고 End-effector는 파트너 생태계에 의존 — 여러 브랜드에서 동작하는 Skill은 독립 Layer가 유리 → OEM은 경쟁자이자 채널 (A4)</a:t>
            </a:r>
          </a:p>
        </p:txBody>
      </p:sp>
      <p:sp>
        <p:nvSpPr>
          <p:cNvPr id="37" name="Card"/>
          <p:cNvSpPr/>
          <p:nvPr/>
        </p:nvSpPr>
        <p:spPr>
          <a:xfrm>
            <a:off x="548640" y="4754880"/>
            <a:ext cx="6949440" cy="1536192"/>
          </a:xfrm>
          <a:prstGeom prst="roundRect">
            <a:avLst>
              <a:gd name="adj" fmla="val 4761"/>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49808" y="4882896"/>
            <a:ext cx="6583680" cy="237744"/>
          </a:xfrm>
          <a:prstGeom prst="rect">
            <a:avLst/>
          </a:prstGeom>
          <a:noFill/>
        </p:spPr>
        <p:txBody>
          <a:bodyPr wrap="square" lIns="0" rIns="0" tIns="0" bIns="0" anchor="t">
            <a:noAutofit/>
          </a:bodyPr>
          <a:lstStyle/>
          <a:p>
            <a:pPr algn="l">
              <a:lnSpc>
                <a:spcPct val="112000"/>
              </a:lnSpc>
            </a:pPr>
            <a:r>
              <a:rPr sz="1250" b="0" i="0">
                <a:solidFill>
                  <a:srgbClr val="F2F2EF"/>
                </a:solidFill>
                <a:latin typeface="Noto Sans KR Black"/>
                <a:ea typeface="Noto Sans KR Black"/>
                <a:cs typeface="Noto Sans KR Black"/>
              </a:rPr>
              <a:t>OEM Design Win = Scale Trigger</a:t>
            </a:r>
            <a:r>
              <a:rPr sz="950" b="0" i="0">
                <a:solidFill>
                  <a:srgbClr val="AEB3BB"/>
                </a:solidFill>
                <a:latin typeface="Noto Sans KR"/>
                <a:ea typeface="Noto Sans KR"/>
                <a:cs typeface="Noto Sans KR"/>
              </a:rPr>
              <a:t>    고객 한 곳씩 영업  →  OEM 출하량에 실려 판매</a:t>
            </a:r>
          </a:p>
        </p:txBody>
      </p:sp>
      <p:sp>
        <p:nvSpPr>
          <p:cNvPr id="39" name="Rounded Rectangle 38"/>
          <p:cNvSpPr/>
          <p:nvPr/>
        </p:nvSpPr>
        <p:spPr>
          <a:xfrm>
            <a:off x="749808" y="5285232"/>
            <a:ext cx="1600200" cy="457200"/>
          </a:xfrm>
          <a:prstGeom prst="roundRect">
            <a:avLst>
              <a:gd name="adj" fmla="val 12000"/>
            </a:avLst>
          </a:prstGeom>
          <a:solidFill>
            <a:srgbClr val="1D2025"/>
          </a:solidFill>
          <a:ln w="12700">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F2F2EF"/>
                </a:solidFill>
                <a:latin typeface="Noto Sans KR SemiBold"/>
                <a:ea typeface="Noto Sans KR SemiBold"/>
                <a:cs typeface="Noto Sans KR SemiBold"/>
              </a:rPr>
              <a:t>대상 Robot 출하량</a:t>
            </a:r>
          </a:p>
        </p:txBody>
      </p:sp>
      <p:sp>
        <p:nvSpPr>
          <p:cNvPr id="40" name="TextBox 39"/>
          <p:cNvSpPr txBox="1"/>
          <p:nvPr/>
        </p:nvSpPr>
        <p:spPr>
          <a:xfrm>
            <a:off x="749808" y="5797296"/>
            <a:ext cx="1600200" cy="329184"/>
          </a:xfrm>
          <a:prstGeom prst="rect">
            <a:avLst/>
          </a:prstGeom>
          <a:noFill/>
        </p:spPr>
        <p:txBody>
          <a:bodyPr wrap="square" lIns="0" rIns="0" tIns="0" bIns="0" anchor="t">
            <a:noAutofit/>
          </a:bodyPr>
          <a:lstStyle/>
          <a:p>
            <a:pPr algn="ctr">
              <a:lnSpc>
                <a:spcPct val="112000"/>
              </a:lnSpc>
            </a:pPr>
            <a:r>
              <a:rPr sz="800" b="0" i="0">
                <a:solidFill>
                  <a:srgbClr val="E8B649"/>
                </a:solidFill>
                <a:latin typeface="Noto Sans KR Medium"/>
                <a:ea typeface="Noto Sans KR Medium"/>
                <a:cs typeface="Noto Sans KR Medium"/>
              </a:rPr>
              <a:t>[OEM 협의 후 검증]</a:t>
            </a:r>
          </a:p>
        </p:txBody>
      </p:sp>
      <p:sp>
        <p:nvSpPr>
          <p:cNvPr id="41" name="TextBox 40"/>
          <p:cNvSpPr txBox="1"/>
          <p:nvPr/>
        </p:nvSpPr>
        <p:spPr>
          <a:xfrm>
            <a:off x="2350008" y="5358384"/>
            <a:ext cx="274320" cy="292608"/>
          </a:xfrm>
          <a:prstGeom prst="rect">
            <a:avLst/>
          </a:prstGeom>
          <a:noFill/>
        </p:spPr>
        <p:txBody>
          <a:bodyPr wrap="square" lIns="0" rIns="0" tIns="0" bIns="0" anchor="t">
            <a:noAutofit/>
          </a:bodyPr>
          <a:lstStyle/>
          <a:p>
            <a:pPr algn="ctr">
              <a:lnSpc>
                <a:spcPct val="112000"/>
              </a:lnSpc>
            </a:pPr>
            <a:r>
              <a:rPr sz="1400" b="0" i="0">
                <a:solidFill>
                  <a:srgbClr val="8A8F97"/>
                </a:solidFill>
                <a:latin typeface="Noto Sans KR Black"/>
                <a:ea typeface="Noto Sans KR Black"/>
                <a:cs typeface="Noto Sans KR Black"/>
              </a:rPr>
              <a:t>×</a:t>
            </a:r>
          </a:p>
        </p:txBody>
      </p:sp>
      <p:sp>
        <p:nvSpPr>
          <p:cNvPr id="42" name="Rounded Rectangle 41"/>
          <p:cNvSpPr/>
          <p:nvPr/>
        </p:nvSpPr>
        <p:spPr>
          <a:xfrm>
            <a:off x="2624328" y="5285232"/>
            <a:ext cx="1325880" cy="457200"/>
          </a:xfrm>
          <a:prstGeom prst="roundRect">
            <a:avLst>
              <a:gd name="adj" fmla="val 12000"/>
            </a:avLst>
          </a:prstGeom>
          <a:solidFill>
            <a:srgbClr val="1D2025"/>
          </a:solidFill>
          <a:ln w="12700">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F2F2EF"/>
                </a:solidFill>
                <a:latin typeface="Noto Sans KR SemiBold"/>
                <a:ea typeface="Noto Sans KR SemiBold"/>
                <a:cs typeface="Noto Sans KR SemiBold"/>
              </a:rPr>
              <a:t>옵션 채택률</a:t>
            </a:r>
          </a:p>
        </p:txBody>
      </p:sp>
      <p:sp>
        <p:nvSpPr>
          <p:cNvPr id="43" name="TextBox 42"/>
          <p:cNvSpPr txBox="1"/>
          <p:nvPr/>
        </p:nvSpPr>
        <p:spPr>
          <a:xfrm>
            <a:off x="2624328" y="5797296"/>
            <a:ext cx="1325880" cy="329184"/>
          </a:xfrm>
          <a:prstGeom prst="rect">
            <a:avLst/>
          </a:prstGeom>
          <a:noFill/>
        </p:spPr>
        <p:txBody>
          <a:bodyPr wrap="square" lIns="0" rIns="0" tIns="0" bIns="0" anchor="t">
            <a:noAutofit/>
          </a:bodyPr>
          <a:lstStyle/>
          <a:p>
            <a:pPr algn="ctr">
              <a:lnSpc>
                <a:spcPct val="112000"/>
              </a:lnSpc>
            </a:pPr>
            <a:r>
              <a:rPr sz="800" b="0" i="0">
                <a:solidFill>
                  <a:srgbClr val="E8B649"/>
                </a:solidFill>
                <a:latin typeface="Noto Sans KR Medium"/>
                <a:ea typeface="Noto Sans KR Medium"/>
                <a:cs typeface="Noto Sans KR Medium"/>
              </a:rPr>
              <a:t>[OEM 협의 후 검증]</a:t>
            </a:r>
          </a:p>
        </p:txBody>
      </p:sp>
      <p:sp>
        <p:nvSpPr>
          <p:cNvPr id="44" name="TextBox 43"/>
          <p:cNvSpPr txBox="1"/>
          <p:nvPr/>
        </p:nvSpPr>
        <p:spPr>
          <a:xfrm>
            <a:off x="3950208" y="5358384"/>
            <a:ext cx="274320" cy="292608"/>
          </a:xfrm>
          <a:prstGeom prst="rect">
            <a:avLst/>
          </a:prstGeom>
          <a:noFill/>
        </p:spPr>
        <p:txBody>
          <a:bodyPr wrap="square" lIns="0" rIns="0" tIns="0" bIns="0" anchor="t">
            <a:noAutofit/>
          </a:bodyPr>
          <a:lstStyle/>
          <a:p>
            <a:pPr algn="ctr">
              <a:lnSpc>
                <a:spcPct val="112000"/>
              </a:lnSpc>
            </a:pPr>
            <a:r>
              <a:rPr sz="1400" b="0" i="0">
                <a:solidFill>
                  <a:srgbClr val="8A8F97"/>
                </a:solidFill>
                <a:latin typeface="Noto Sans KR Black"/>
                <a:ea typeface="Noto Sans KR Black"/>
                <a:cs typeface="Noto Sans KR Black"/>
              </a:rPr>
              <a:t>×</a:t>
            </a:r>
          </a:p>
        </p:txBody>
      </p:sp>
      <p:sp>
        <p:nvSpPr>
          <p:cNvPr id="45" name="Rounded Rectangle 44"/>
          <p:cNvSpPr/>
          <p:nvPr/>
        </p:nvSpPr>
        <p:spPr>
          <a:xfrm>
            <a:off x="4224528" y="5285232"/>
            <a:ext cx="1600200" cy="457200"/>
          </a:xfrm>
          <a:prstGeom prst="roundRect">
            <a:avLst>
              <a:gd name="adj" fmla="val 12000"/>
            </a:avLst>
          </a:prstGeom>
          <a:solidFill>
            <a:srgbClr val="1D2025"/>
          </a:solidFill>
          <a:ln w="12700">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F2F2EF"/>
                </a:solidFill>
                <a:latin typeface="Noto Sans KR SemiBold"/>
                <a:ea typeface="Noto Sans KR SemiBold"/>
                <a:cs typeface="Noto Sans KR SemiBold"/>
              </a:rPr>
              <a:t>대당 Hand · Runtime 매출</a:t>
            </a:r>
          </a:p>
        </p:txBody>
      </p:sp>
      <p:sp>
        <p:nvSpPr>
          <p:cNvPr id="46" name="TextBox 45"/>
          <p:cNvSpPr txBox="1"/>
          <p:nvPr/>
        </p:nvSpPr>
        <p:spPr>
          <a:xfrm>
            <a:off x="4224528" y="5797296"/>
            <a:ext cx="1600200" cy="329184"/>
          </a:xfrm>
          <a:prstGeom prst="rect">
            <a:avLst/>
          </a:prstGeom>
          <a:noFill/>
        </p:spPr>
        <p:txBody>
          <a:bodyPr wrap="square" lIns="0" rIns="0" tIns="0" bIns="0" anchor="t">
            <a:noAutofit/>
          </a:bodyPr>
          <a:lstStyle/>
          <a:p>
            <a:pPr algn="ctr">
              <a:lnSpc>
                <a:spcPct val="112000"/>
              </a:lnSpc>
            </a:pPr>
            <a:r>
              <a:rPr sz="800" b="0" i="0">
                <a:solidFill>
                  <a:srgbClr val="E8B649"/>
                </a:solidFill>
                <a:latin typeface="Noto Sans KR Medium"/>
                <a:ea typeface="Noto Sans KR Medium"/>
                <a:cs typeface="Noto Sans KR Medium"/>
              </a:rPr>
              <a:t>[OEM 협의 후 검증]</a:t>
            </a:r>
          </a:p>
        </p:txBody>
      </p:sp>
      <p:sp>
        <p:nvSpPr>
          <p:cNvPr id="47" name="TextBox 46"/>
          <p:cNvSpPr txBox="1"/>
          <p:nvPr/>
        </p:nvSpPr>
        <p:spPr>
          <a:xfrm>
            <a:off x="5824728" y="5358384"/>
            <a:ext cx="274320" cy="292608"/>
          </a:xfrm>
          <a:prstGeom prst="rect">
            <a:avLst/>
          </a:prstGeom>
          <a:noFill/>
        </p:spPr>
        <p:txBody>
          <a:bodyPr wrap="square" lIns="0" rIns="0" tIns="0" bIns="0" anchor="t">
            <a:noAutofit/>
          </a:bodyPr>
          <a:lstStyle/>
          <a:p>
            <a:pPr algn="ctr">
              <a:lnSpc>
                <a:spcPct val="112000"/>
              </a:lnSpc>
            </a:pPr>
            <a:r>
              <a:rPr sz="1400" b="0" i="0">
                <a:solidFill>
                  <a:srgbClr val="8A8F97"/>
                </a:solidFill>
                <a:latin typeface="Noto Sans KR Black"/>
                <a:ea typeface="Noto Sans KR Black"/>
                <a:cs typeface="Noto Sans KR Black"/>
              </a:rPr>
              <a:t>=</a:t>
            </a:r>
          </a:p>
        </p:txBody>
      </p:sp>
      <p:sp>
        <p:nvSpPr>
          <p:cNvPr id="48" name="Rounded Rectangle 47"/>
          <p:cNvSpPr/>
          <p:nvPr/>
        </p:nvSpPr>
        <p:spPr>
          <a:xfrm>
            <a:off x="6099048" y="5285232"/>
            <a:ext cx="1234440" cy="457200"/>
          </a:xfrm>
          <a:prstGeom prst="roundRect">
            <a:avLst>
              <a:gd name="adj" fmla="val 12000"/>
            </a:avLst>
          </a:prstGeom>
          <a:solidFill>
            <a:srgbClr val="2E1D14"/>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EC7A3C"/>
                </a:solidFill>
                <a:latin typeface="Noto Sans KR SemiBold"/>
                <a:ea typeface="Noto Sans KR SemiBold"/>
                <a:cs typeface="Noto Sans KR SemiBold"/>
              </a:rPr>
              <a:t>OEM 매출</a:t>
            </a:r>
          </a:p>
        </p:txBody>
      </p:sp>
      <p:sp>
        <p:nvSpPr>
          <p:cNvPr id="49" name="TextBox 48"/>
          <p:cNvSpPr txBox="1"/>
          <p:nvPr/>
        </p:nvSpPr>
        <p:spPr>
          <a:xfrm>
            <a:off x="6099048" y="5797296"/>
            <a:ext cx="1234440" cy="329184"/>
          </a:xfrm>
          <a:prstGeom prst="rect">
            <a:avLst/>
          </a:prstGeom>
          <a:noFill/>
        </p:spPr>
        <p:txBody>
          <a:bodyPr wrap="square" lIns="0" rIns="0" tIns="0" bIns="0" anchor="t">
            <a:noAutofit/>
          </a:bodyPr>
          <a:lstStyle/>
          <a:p>
            <a:pPr algn="ctr">
              <a:lnSpc>
                <a:spcPct val="112000"/>
              </a:lnSpc>
            </a:pPr>
            <a:r>
              <a:rPr sz="800" b="0" i="0">
                <a:solidFill>
                  <a:srgbClr val="E8B649"/>
                </a:solidFill>
                <a:latin typeface="Noto Sans KR Medium"/>
                <a:ea typeface="Noto Sans KR Medium"/>
                <a:cs typeface="Noto Sans KR Medium"/>
              </a:rPr>
              <a:t>[OEM 협의 후 검증]</a:t>
            </a:r>
          </a:p>
        </p:txBody>
      </p:sp>
      <p:sp>
        <p:nvSpPr>
          <p:cNvPr id="50" name="Card"/>
          <p:cNvSpPr/>
          <p:nvPr/>
        </p:nvSpPr>
        <p:spPr>
          <a:xfrm>
            <a:off x="7680960" y="4754880"/>
            <a:ext cx="3959352" cy="1536192"/>
          </a:xfrm>
          <a:prstGeom prst="roundRect">
            <a:avLst>
              <a:gd name="adj" fmla="val 4761"/>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863840" y="4882896"/>
            <a:ext cx="3639312" cy="237744"/>
          </a:xfrm>
          <a:prstGeom prst="rect">
            <a:avLst/>
          </a:prstGeom>
          <a:noFill/>
        </p:spPr>
        <p:txBody>
          <a:bodyPr wrap="square" lIns="0" rIns="0" tIns="0" bIns="0" anchor="t">
            <a:noAutofit/>
          </a:bodyPr>
          <a:lstStyle/>
          <a:p>
            <a:pPr algn="l">
              <a:lnSpc>
                <a:spcPct val="112000"/>
              </a:lnSpc>
            </a:pPr>
            <a:r>
              <a:rPr sz="1050" b="0" i="0">
                <a:solidFill>
                  <a:srgbClr val="EC7A3C"/>
                </a:solidFill>
                <a:latin typeface="Noto Sans KR SemiBold"/>
                <a:ea typeface="Noto Sans KR SemiBold"/>
                <a:cs typeface="Noto Sans KR SemiBold"/>
              </a:rPr>
              <a:t>Hardware First. Skills Next. OEM at Scale.</a:t>
            </a:r>
          </a:p>
        </p:txBody>
      </p:sp>
      <p:sp>
        <p:nvSpPr>
          <p:cNvPr id="52" name="TextBox 51"/>
          <p:cNvSpPr txBox="1"/>
          <p:nvPr/>
        </p:nvSpPr>
        <p:spPr>
          <a:xfrm>
            <a:off x="7863840" y="5157216"/>
            <a:ext cx="3639312" cy="566928"/>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초기에는 제품회사처럼 돈을 벌고,</a:t>
            </a:r>
          </a:p>
          <a:p>
            <a:pPr algn="l">
              <a:lnSpc>
                <a:spcPct val="112000"/>
              </a:lnSpc>
            </a:pPr>
            <a:r>
              <a:rPr sz="1200" b="0" i="0">
                <a:solidFill>
                  <a:srgbClr val="F2F2EF"/>
                </a:solidFill>
                <a:latin typeface="Noto Sans KR Black"/>
                <a:ea typeface="Noto Sans KR Black"/>
                <a:cs typeface="Noto Sans KR Black"/>
              </a:rPr>
              <a:t>장기에는 Platform Economics로 확장한다</a:t>
            </a:r>
          </a:p>
        </p:txBody>
      </p:sp>
      <p:sp>
        <p:nvSpPr>
          <p:cNvPr id="53" name="TextBox 52"/>
          <p:cNvSpPr txBox="1"/>
          <p:nvPr/>
        </p:nvSpPr>
        <p:spPr>
          <a:xfrm>
            <a:off x="7863840" y="5742432"/>
            <a:ext cx="3639312" cy="502920"/>
          </a:xfrm>
          <a:prstGeom prst="rect">
            <a:avLst/>
          </a:prstGeom>
          <a:noFill/>
        </p:spPr>
        <p:txBody>
          <a:bodyPr wrap="square" lIns="0" rIns="0" tIns="0" bIns="0" anchor="t">
            <a:noAutofit/>
          </a:bodyPr>
          <a:lstStyle/>
          <a:p>
            <a:pPr algn="l">
              <a:lnSpc>
                <a:spcPct val="115000"/>
              </a:lnSpc>
            </a:pPr>
            <a:r>
              <a:rPr sz="850" b="0" i="0">
                <a:solidFill>
                  <a:srgbClr val="AEB3BB"/>
                </a:solidFill>
                <a:latin typeface="Noto Sans KR"/>
                <a:ea typeface="Noto Sans KR"/>
                <a:cs typeface="Noto Sans KR"/>
              </a:rPr>
              <a:t>Integration 매출은 숨기지 않는다 — 장기 모델이 아니라</a:t>
            </a:r>
          </a:p>
          <a:p>
            <a:pPr algn="l">
              <a:lnSpc>
                <a:spcPct val="115000"/>
              </a:lnSpc>
            </a:pPr>
            <a:r>
              <a:rPr sz="850" b="0" i="0">
                <a:solidFill>
                  <a:srgbClr val="AEB3BB"/>
                </a:solidFill>
                <a:latin typeface="Noto Sans KR"/>
                <a:ea typeface="Noto Sans KR"/>
                <a:cs typeface="Noto Sans KR"/>
              </a:rPr>
              <a:t>시장 진입과 제품화 수단 · 가격 가정 A10 · Base Case A11</a:t>
            </a:r>
          </a:p>
        </p:txBody>
      </p:sp>
      <p:sp>
        <p:nvSpPr>
          <p:cNvPr id="54"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55"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12  ·  확장 전략</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공장이 사업성을, 주방이 기술의 확장성을 증명한다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Factory Proves the Business. Kitchen Proves the Vision.</a:t>
            </a:r>
          </a:p>
        </p:txBody>
      </p:sp>
      <p:sp>
        <p:nvSpPr>
          <p:cNvPr id="6" name="Tag CONCEPT RENDERING"/>
          <p:cNvSpPr/>
          <p:nvPr/>
        </p:nvSpPr>
        <p:spPr>
          <a:xfrm>
            <a:off x="10042568" y="365760"/>
            <a:ext cx="1597744" cy="24688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CONCEPT RENDERING</a:t>
            </a:r>
          </a:p>
        </p:txBody>
      </p:sp>
      <p:sp>
        <p:nvSpPr>
          <p:cNvPr id="7" name="Card"/>
          <p:cNvSpPr/>
          <p:nvPr/>
        </p:nvSpPr>
        <p:spPr>
          <a:xfrm>
            <a:off x="548640" y="1783080"/>
            <a:ext cx="5449824" cy="4370832"/>
          </a:xfrm>
          <a:prstGeom prst="roundRect">
            <a:avLst>
              <a:gd name="adj" fmla="val 167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Factory rendering" descr="cell_overview.jpg"/>
          <p:cNvPicPr>
            <a:picLocks noChangeAspect="1"/>
          </p:cNvPicPr>
          <p:nvPr/>
        </p:nvPicPr>
        <p:blipFill>
          <a:blip r:embed="rId2"/>
          <a:srcRect t="13148" b="13148"/>
          <a:stretch>
            <a:fillRect/>
          </a:stretch>
        </p:blipFill>
        <p:spPr>
          <a:xfrm>
            <a:off x="603504" y="1837944"/>
            <a:ext cx="5340096" cy="2514600"/>
          </a:xfrm>
          <a:prstGeom prst="rect">
            <a:avLst/>
          </a:prstGeom>
        </p:spPr>
      </p:pic>
      <p:sp>
        <p:nvSpPr>
          <p:cNvPr id="9" name="Tag 공장 · 첫 매출 시장"/>
          <p:cNvSpPr/>
          <p:nvPr/>
        </p:nvSpPr>
        <p:spPr>
          <a:xfrm>
            <a:off x="731520" y="1965960"/>
            <a:ext cx="1250439" cy="237744"/>
          </a:xfrm>
          <a:prstGeom prst="roundRect">
            <a:avLst>
              <a:gd name="adj" fmla="val 50000"/>
            </a:avLst>
          </a:prstGeom>
          <a:solidFill>
            <a:srgbClr val="2E1D14"/>
          </a:solidFill>
          <a:ln w="952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F2F2EF"/>
                </a:solidFill>
                <a:latin typeface="Noto Sans KR SemiBold"/>
                <a:ea typeface="Noto Sans KR SemiBold"/>
                <a:cs typeface="Noto Sans KR SemiBold"/>
              </a:rPr>
              <a:t>공장 · 첫 매출 시장</a:t>
            </a:r>
          </a:p>
        </p:txBody>
      </p:sp>
      <p:sp>
        <p:nvSpPr>
          <p:cNvPr id="10" name="TextBox 9"/>
          <p:cNvSpPr txBox="1"/>
          <p:nvPr/>
        </p:nvSpPr>
        <p:spPr>
          <a:xfrm>
            <a:off x="777240" y="4480560"/>
            <a:ext cx="4992624" cy="329184"/>
          </a:xfrm>
          <a:prstGeom prst="rect">
            <a:avLst/>
          </a:prstGeom>
          <a:noFill/>
        </p:spPr>
        <p:txBody>
          <a:bodyPr wrap="square" lIns="0" rIns="0" tIns="0" bIns="0" anchor="t">
            <a:noAutofit/>
          </a:bodyPr>
          <a:lstStyle/>
          <a:p>
            <a:pPr algn="l">
              <a:lnSpc>
                <a:spcPct val="112000"/>
              </a:lnSpc>
            </a:pPr>
            <a:r>
              <a:rPr sz="1600" b="0" i="0">
                <a:solidFill>
                  <a:srgbClr val="F2F2EF"/>
                </a:solidFill>
                <a:latin typeface="Noto Sans KR Black"/>
                <a:ea typeface="Noto Sans KR Black"/>
                <a:cs typeface="Noto Sans KR Black"/>
              </a:rPr>
              <a:t>사업성을 증명한다</a:t>
            </a:r>
          </a:p>
        </p:txBody>
      </p:sp>
      <p:sp>
        <p:nvSpPr>
          <p:cNvPr id="11" name="TextBox 10"/>
          <p:cNvSpPr txBox="1"/>
          <p:nvPr/>
        </p:nvSpPr>
        <p:spPr>
          <a:xfrm>
            <a:off x="777240" y="4864608"/>
            <a:ext cx="4992624" cy="274320"/>
          </a:xfrm>
          <a:prstGeom prst="rect">
            <a:avLst/>
          </a:prstGeom>
          <a:noFill/>
        </p:spPr>
        <p:txBody>
          <a:bodyPr wrap="square" lIns="0" rIns="0" tIns="0" bIns="0" anchor="t">
            <a:noAutofit/>
          </a:bodyPr>
          <a:lstStyle/>
          <a:p>
            <a:pPr algn="l">
              <a:lnSpc>
                <a:spcPct val="112000"/>
              </a:lnSpc>
            </a:pPr>
            <a:r>
              <a:rPr sz="1050" b="0" i="0">
                <a:solidFill>
                  <a:srgbClr val="F3A574"/>
                </a:solidFill>
                <a:latin typeface="Noto Sans KR SemiBold"/>
                <a:ea typeface="Noto Sans KR SemiBold"/>
                <a:cs typeface="Noto Sans KR SemiBold"/>
              </a:rPr>
              <a:t>Machine Tending · 유료 PoC · 반복 발주 · 측정 가능한 ROI</a:t>
            </a:r>
          </a:p>
        </p:txBody>
      </p:sp>
      <p:sp>
        <p:nvSpPr>
          <p:cNvPr id="12" name="TextBox 11"/>
          <p:cNvSpPr txBox="1"/>
          <p:nvPr/>
        </p:nvSpPr>
        <p:spPr>
          <a:xfrm>
            <a:off x="777240" y="5193792"/>
            <a:ext cx="4992624" cy="749808"/>
          </a:xfrm>
          <a:prstGeom prst="rect">
            <a:avLst/>
          </a:prstGeom>
          <a:noFill/>
        </p:spPr>
        <p:txBody>
          <a:bodyPr wrap="square" lIns="0" rIns="0" tIns="0" bIns="0" anchor="t">
            <a:noAutofit/>
          </a:bodyPr>
          <a:lstStyle/>
          <a:p>
            <a:pPr algn="l">
              <a:lnSpc>
                <a:spcPct val="118000"/>
              </a:lnSpc>
            </a:pPr>
            <a:r>
              <a:rPr sz="950" b="0" i="0">
                <a:solidFill>
                  <a:srgbClr val="AEB3BB"/>
                </a:solidFill>
                <a:latin typeface="Noto Sans KR"/>
                <a:ea typeface="Noto Sans KR"/>
                <a:cs typeface="Noto Sans KR"/>
              </a:rPr>
              <a:t>반복 공정이라 Baseline 대비 개선을 숫자로 증명할 수 있고,</a:t>
            </a:r>
          </a:p>
          <a:p>
            <a:pPr algn="l">
              <a:lnSpc>
                <a:spcPct val="118000"/>
              </a:lnSpc>
            </a:pPr>
            <a:r>
              <a:rPr sz="950" b="0" i="0">
                <a:solidFill>
                  <a:srgbClr val="AEB3BB"/>
                </a:solidFill>
                <a:latin typeface="Noto Sans KR"/>
                <a:ea typeface="Noto Sans KR"/>
                <a:cs typeface="Noto Sans KR"/>
              </a:rPr>
              <a:t>SI 채널과 구매 예산이 이미 존재한다</a:t>
            </a:r>
          </a:p>
          <a:p>
            <a:pPr algn="l">
              <a:lnSpc>
                <a:spcPct val="118000"/>
              </a:lnSpc>
            </a:pPr>
            <a:r>
              <a:rPr sz="950" b="0" i="0">
                <a:solidFill>
                  <a:srgbClr val="AEB3BB"/>
                </a:solidFill>
                <a:latin typeface="Noto Sans KR"/>
                <a:ea typeface="Noto Sans KR"/>
                <a:cs typeface="Noto Sans KR"/>
              </a:rPr>
              <a:t>→ Base Case 매출의 100%</a:t>
            </a:r>
          </a:p>
        </p:txBody>
      </p:sp>
      <p:sp>
        <p:nvSpPr>
          <p:cNvPr id="13" name="Card"/>
          <p:cNvSpPr/>
          <p:nvPr/>
        </p:nvSpPr>
        <p:spPr>
          <a:xfrm>
            <a:off x="6190488" y="1783080"/>
            <a:ext cx="5449824" cy="4370832"/>
          </a:xfrm>
          <a:prstGeom prst="roundRect">
            <a:avLst>
              <a:gd name="adj" fmla="val 1673"/>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Kitchen bench rendering" descr="kitchen_bench.jpg"/>
          <p:cNvPicPr>
            <a:picLocks noChangeAspect="1"/>
          </p:cNvPicPr>
          <p:nvPr/>
        </p:nvPicPr>
        <p:blipFill>
          <a:blip r:embed="rId3"/>
          <a:srcRect t="13215" b="16152"/>
          <a:stretch>
            <a:fillRect/>
          </a:stretch>
        </p:blipFill>
        <p:spPr>
          <a:xfrm>
            <a:off x="6245352" y="1837944"/>
            <a:ext cx="5340096" cy="2514600"/>
          </a:xfrm>
          <a:prstGeom prst="rect">
            <a:avLst/>
          </a:prstGeom>
        </p:spPr>
      </p:pic>
      <p:sp>
        <p:nvSpPr>
          <p:cNvPr id="15" name="Tag 주방 · 기술 Demonstrator"/>
          <p:cNvSpPr/>
          <p:nvPr/>
        </p:nvSpPr>
        <p:spPr>
          <a:xfrm>
            <a:off x="6373368" y="1965960"/>
            <a:ext cx="1715554" cy="237744"/>
          </a:xfrm>
          <a:prstGeom prst="roundRect">
            <a:avLst>
              <a:gd name="adj" fmla="val 50000"/>
            </a:avLst>
          </a:prstGeom>
          <a:solidFill>
            <a:srgbClr val="0B0C0E"/>
          </a:solid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F2F2EF"/>
                </a:solidFill>
                <a:latin typeface="Noto Sans KR SemiBold"/>
                <a:ea typeface="Noto Sans KR SemiBold"/>
                <a:cs typeface="Noto Sans KR SemiBold"/>
              </a:rPr>
              <a:t>주방 · 기술 Demonstrator</a:t>
            </a:r>
          </a:p>
        </p:txBody>
      </p:sp>
      <p:sp>
        <p:nvSpPr>
          <p:cNvPr id="16" name="TextBox 15"/>
          <p:cNvSpPr txBox="1"/>
          <p:nvPr/>
        </p:nvSpPr>
        <p:spPr>
          <a:xfrm>
            <a:off x="6419088" y="4480560"/>
            <a:ext cx="4992624" cy="329184"/>
          </a:xfrm>
          <a:prstGeom prst="rect">
            <a:avLst/>
          </a:prstGeom>
          <a:noFill/>
        </p:spPr>
        <p:txBody>
          <a:bodyPr wrap="square" lIns="0" rIns="0" tIns="0" bIns="0" anchor="t">
            <a:noAutofit/>
          </a:bodyPr>
          <a:lstStyle/>
          <a:p>
            <a:pPr algn="l">
              <a:lnSpc>
                <a:spcPct val="112000"/>
              </a:lnSpc>
            </a:pPr>
            <a:r>
              <a:rPr sz="1600" b="0" i="0">
                <a:solidFill>
                  <a:srgbClr val="F2F2EF"/>
                </a:solidFill>
                <a:latin typeface="Noto Sans KR Black"/>
                <a:ea typeface="Noto Sans KR Black"/>
                <a:cs typeface="Noto Sans KR Black"/>
              </a:rPr>
              <a:t>기술의 확장성을 증명한다</a:t>
            </a:r>
          </a:p>
        </p:txBody>
      </p:sp>
      <p:sp>
        <p:nvSpPr>
          <p:cNvPr id="17" name="TextBox 16"/>
          <p:cNvSpPr txBox="1"/>
          <p:nvPr/>
        </p:nvSpPr>
        <p:spPr>
          <a:xfrm>
            <a:off x="6419088" y="4864608"/>
            <a:ext cx="4992624" cy="274320"/>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사람을 위해 만든 환경을 Robot이 그대로 쓰는 궁극의 Demonstrator</a:t>
            </a:r>
          </a:p>
        </p:txBody>
      </p:sp>
      <p:sp>
        <p:nvSpPr>
          <p:cNvPr id="18" name="Chip 문"/>
          <p:cNvSpPr/>
          <p:nvPr/>
        </p:nvSpPr>
        <p:spPr>
          <a:xfrm>
            <a:off x="6419088" y="5193792"/>
            <a:ext cx="294640"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문</a:t>
            </a:r>
          </a:p>
        </p:txBody>
      </p:sp>
      <p:sp>
        <p:nvSpPr>
          <p:cNvPr id="19" name="Chip 서랍"/>
          <p:cNvSpPr/>
          <p:nvPr/>
        </p:nvSpPr>
        <p:spPr>
          <a:xfrm>
            <a:off x="6777736" y="5193792"/>
            <a:ext cx="388112"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서랍</a:t>
            </a:r>
          </a:p>
        </p:txBody>
      </p:sp>
      <p:sp>
        <p:nvSpPr>
          <p:cNvPr id="20" name="Chip 손잡이"/>
          <p:cNvSpPr/>
          <p:nvPr/>
        </p:nvSpPr>
        <p:spPr>
          <a:xfrm>
            <a:off x="7229856" y="5193792"/>
            <a:ext cx="481584"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손잡이</a:t>
            </a:r>
          </a:p>
        </p:txBody>
      </p:sp>
      <p:sp>
        <p:nvSpPr>
          <p:cNvPr id="21" name="Chip 노브"/>
          <p:cNvSpPr/>
          <p:nvPr/>
        </p:nvSpPr>
        <p:spPr>
          <a:xfrm>
            <a:off x="7775448" y="5193792"/>
            <a:ext cx="388112"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노브</a:t>
            </a:r>
          </a:p>
        </p:txBody>
      </p:sp>
      <p:sp>
        <p:nvSpPr>
          <p:cNvPr id="22" name="Chip 팬"/>
          <p:cNvSpPr/>
          <p:nvPr/>
        </p:nvSpPr>
        <p:spPr>
          <a:xfrm>
            <a:off x="8227568" y="5193792"/>
            <a:ext cx="294640"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팬</a:t>
            </a:r>
          </a:p>
        </p:txBody>
      </p:sp>
      <p:sp>
        <p:nvSpPr>
          <p:cNvPr id="23" name="Chip 냄비"/>
          <p:cNvSpPr/>
          <p:nvPr/>
        </p:nvSpPr>
        <p:spPr>
          <a:xfrm>
            <a:off x="8586216" y="5193792"/>
            <a:ext cx="388112"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냄비</a:t>
            </a:r>
          </a:p>
        </p:txBody>
      </p:sp>
      <p:sp>
        <p:nvSpPr>
          <p:cNvPr id="24" name="Chip 집게"/>
          <p:cNvSpPr/>
          <p:nvPr/>
        </p:nvSpPr>
        <p:spPr>
          <a:xfrm>
            <a:off x="9038336" y="5193792"/>
            <a:ext cx="388112"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집게</a:t>
            </a:r>
          </a:p>
        </p:txBody>
      </p:sp>
      <p:sp>
        <p:nvSpPr>
          <p:cNvPr id="25" name="Chip 접시"/>
          <p:cNvSpPr/>
          <p:nvPr/>
        </p:nvSpPr>
        <p:spPr>
          <a:xfrm>
            <a:off x="9490456" y="5193792"/>
            <a:ext cx="388112"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접시</a:t>
            </a:r>
          </a:p>
        </p:txBody>
      </p:sp>
      <p:sp>
        <p:nvSpPr>
          <p:cNvPr id="26" name="Chip 젖은 표면"/>
          <p:cNvSpPr/>
          <p:nvPr/>
        </p:nvSpPr>
        <p:spPr>
          <a:xfrm>
            <a:off x="9942576" y="5193792"/>
            <a:ext cx="598019"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젖은 표면</a:t>
            </a:r>
          </a:p>
        </p:txBody>
      </p:sp>
      <p:sp>
        <p:nvSpPr>
          <p:cNvPr id="27" name="Chip 유연한 물체"/>
          <p:cNvSpPr/>
          <p:nvPr/>
        </p:nvSpPr>
        <p:spPr>
          <a:xfrm>
            <a:off x="10604603" y="5193792"/>
            <a:ext cx="691491"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유연한 물체</a:t>
            </a:r>
          </a:p>
        </p:txBody>
      </p:sp>
      <p:sp>
        <p:nvSpPr>
          <p:cNvPr id="28" name="Chip 변하는 하중"/>
          <p:cNvSpPr/>
          <p:nvPr/>
        </p:nvSpPr>
        <p:spPr>
          <a:xfrm>
            <a:off x="6419088" y="5468112"/>
            <a:ext cx="691491"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변하는 하중</a:t>
            </a:r>
          </a:p>
        </p:txBody>
      </p:sp>
      <p:sp>
        <p:nvSpPr>
          <p:cNvPr id="29" name="TextBox 28"/>
          <p:cNvSpPr txBox="1"/>
          <p:nvPr/>
        </p:nvSpPr>
        <p:spPr>
          <a:xfrm>
            <a:off x="6419088" y="5797296"/>
            <a:ext cx="4992624" cy="457200"/>
          </a:xfrm>
          <a:prstGeom prst="rect">
            <a:avLst/>
          </a:prstGeom>
          <a:noFill/>
        </p:spPr>
        <p:txBody>
          <a:bodyPr wrap="square" lIns="0" rIns="0" tIns="0" bIns="0" anchor="t">
            <a:noAutofit/>
          </a:bodyPr>
          <a:lstStyle/>
          <a:p>
            <a:pPr algn="l">
              <a:lnSpc>
                <a:spcPct val="118000"/>
              </a:lnSpc>
            </a:pPr>
            <a:r>
              <a:rPr sz="900" b="0" i="0">
                <a:solidFill>
                  <a:srgbClr val="F3A574"/>
                </a:solidFill>
                <a:latin typeface="Noto Sans KR SemiBold"/>
                <a:ea typeface="Noto Sans KR SemiBold"/>
                <a:cs typeface="Noto Sans KR SemiBold"/>
              </a:rPr>
              <a:t>Seed 범위  </a:t>
            </a:r>
            <a:r>
              <a:rPr sz="900" b="0" i="0">
                <a:solidFill>
                  <a:srgbClr val="AEB3BB"/>
                </a:solidFill>
                <a:latin typeface="Noto Sans KR"/>
                <a:ea typeface="Noto Sans KR"/>
                <a:cs typeface="Noto Sans KR"/>
              </a:rPr>
              <a:t>단일 팔 · 벤치 스케일 Demo (손잡이 · 집게 · 팬 · 접시) · ₩0.3억</a:t>
            </a:r>
          </a:p>
          <a:p>
            <a:pPr algn="l">
              <a:lnSpc>
                <a:spcPct val="118000"/>
              </a:lnSpc>
            </a:pPr>
            <a:r>
              <a:rPr sz="900" b="0" i="0">
                <a:solidFill>
                  <a:srgbClr val="8A8F97"/>
                </a:solidFill>
                <a:latin typeface="Noto Sans KR SemiBold"/>
                <a:ea typeface="Noto Sans KR SemiBold"/>
                <a:cs typeface="Noto Sans KR SemiBold"/>
              </a:rPr>
              <a:t>Series A 이후  </a:t>
            </a:r>
            <a:r>
              <a:rPr sz="900" b="0" i="0">
                <a:solidFill>
                  <a:srgbClr val="AEB3BB"/>
                </a:solidFill>
                <a:latin typeface="Noto Sans KR"/>
                <a:ea typeface="Noto Sans KR"/>
                <a:cs typeface="Noto Sans KR"/>
              </a:rPr>
              <a:t>천장형 양팔 Full Kitchen — 미래 비전 (A14)</a:t>
            </a:r>
          </a:p>
        </p:txBody>
      </p:sp>
      <p:sp>
        <p:nvSpPr>
          <p:cNvPr id="30" name="TextBox 29"/>
          <p:cNvSpPr txBox="1"/>
          <p:nvPr/>
        </p:nvSpPr>
        <p:spPr>
          <a:xfrm>
            <a:off x="548640" y="6236208"/>
            <a:ext cx="11091672" cy="182880"/>
          </a:xfrm>
          <a:prstGeom prst="rect">
            <a:avLst/>
          </a:prstGeom>
          <a:noFill/>
        </p:spPr>
        <p:txBody>
          <a:bodyPr wrap="square" lIns="0" rIns="0" tIns="0" bIns="0" anchor="t">
            <a:noAutofit/>
          </a:bodyPr>
          <a:lstStyle/>
          <a:p>
            <a:pPr algn="l">
              <a:lnSpc>
                <a:spcPct val="112000"/>
              </a:lnSpc>
            </a:pPr>
            <a:r>
              <a:rPr sz="850" b="0" i="0">
                <a:solidFill>
                  <a:srgbClr val="737882"/>
                </a:solidFill>
                <a:latin typeface="Noto Sans KR"/>
                <a:ea typeface="Noto Sans KR"/>
                <a:cs typeface="Noto Sans KR"/>
              </a:rPr>
              <a:t>주력시장이 아닌 이유: 회수기간이 가동률에 민감하고 위생 · 안전 부담이 커 검증이 느리다 — Kitchen은 Base Case 매출 0원, Upside로 분리 (A11 · A14)</a:t>
            </a:r>
          </a:p>
        </p:txBody>
      </p:sp>
      <p:sp>
        <p:nvSpPr>
          <p:cNvPr id="31"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32"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13  ·  24개월 로드맵</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24개월 안에 기술이 아니라 사업성을 증명한다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24 Months to Commercial Proof.</a:t>
            </a:r>
          </a:p>
        </p:txBody>
      </p:sp>
      <p:sp>
        <p:nvSpPr>
          <p:cNvPr id="6" name="Tag Seed 마일스톤"/>
          <p:cNvSpPr/>
          <p:nvPr/>
        </p:nvSpPr>
        <p:spPr>
          <a:xfrm>
            <a:off x="10497312" y="365760"/>
            <a:ext cx="1143000" cy="24688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Seed 마일스톤</a:t>
            </a:r>
          </a:p>
        </p:txBody>
      </p:sp>
      <p:cxnSp>
        <p:nvCxnSpPr>
          <p:cNvPr id="7" name="Connector 6"/>
          <p:cNvCxnSpPr/>
          <p:nvPr/>
        </p:nvCxnSpPr>
        <p:spPr>
          <a:xfrm>
            <a:off x="594360" y="1810512"/>
            <a:ext cx="11000232" cy="0"/>
          </a:xfrm>
          <a:prstGeom prst="line">
            <a:avLst/>
          </a:prstGeom>
          <a:ln w="15875">
            <a:solidFill>
              <a:srgbClr val="3C424B"/>
            </a:solidFill>
          </a:ln>
        </p:spPr>
        <p:style>
          <a:lnRef idx="2">
            <a:schemeClr val="accent1"/>
          </a:lnRef>
          <a:fillRef idx="0">
            <a:schemeClr val="accent1"/>
          </a:fillRef>
          <a:effectRef idx="1">
            <a:schemeClr val="accent1"/>
          </a:effectRef>
          <a:fontRef idx="minor">
            <a:schemeClr val="tx1"/>
          </a:fontRef>
        </p:style>
      </p:cxnSp>
      <p:sp>
        <p:nvSpPr>
          <p:cNvPr id="8" name="tick"/>
          <p:cNvSpPr/>
          <p:nvPr/>
        </p:nvSpPr>
        <p:spPr>
          <a:xfrm>
            <a:off x="539496" y="1755648"/>
            <a:ext cx="109728" cy="109728"/>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20040" y="1536192"/>
            <a:ext cx="548640" cy="182880"/>
          </a:xfrm>
          <a:prstGeom prst="rect">
            <a:avLst/>
          </a:prstGeom>
          <a:noFill/>
        </p:spPr>
        <p:txBody>
          <a:bodyPr wrap="square" lIns="0" rIns="0" tIns="0" bIns="0" anchor="t">
            <a:noAutofit/>
          </a:bodyPr>
          <a:lstStyle/>
          <a:p>
            <a:pPr algn="ctr">
              <a:lnSpc>
                <a:spcPct val="112000"/>
              </a:lnSpc>
            </a:pPr>
            <a:r>
              <a:rPr sz="850" b="0" i="0">
                <a:solidFill>
                  <a:srgbClr val="AEB3BB"/>
                </a:solidFill>
                <a:latin typeface="Noto Sans KR SemiBold"/>
                <a:ea typeface="Noto Sans KR SemiBold"/>
                <a:cs typeface="Noto Sans KR SemiBold"/>
              </a:rPr>
              <a:t>M0</a:t>
            </a:r>
          </a:p>
        </p:txBody>
      </p:sp>
      <p:sp>
        <p:nvSpPr>
          <p:cNvPr id="10" name="tick"/>
          <p:cNvSpPr/>
          <p:nvPr/>
        </p:nvSpPr>
        <p:spPr>
          <a:xfrm>
            <a:off x="3289554" y="1755648"/>
            <a:ext cx="109728" cy="109728"/>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70098" y="1536192"/>
            <a:ext cx="548640" cy="182880"/>
          </a:xfrm>
          <a:prstGeom prst="rect">
            <a:avLst/>
          </a:prstGeom>
          <a:noFill/>
        </p:spPr>
        <p:txBody>
          <a:bodyPr wrap="square" lIns="0" rIns="0" tIns="0" bIns="0" anchor="t">
            <a:noAutofit/>
          </a:bodyPr>
          <a:lstStyle/>
          <a:p>
            <a:pPr algn="ctr">
              <a:lnSpc>
                <a:spcPct val="112000"/>
              </a:lnSpc>
            </a:pPr>
            <a:r>
              <a:rPr sz="850" b="0" i="0">
                <a:solidFill>
                  <a:srgbClr val="AEB3BB"/>
                </a:solidFill>
                <a:latin typeface="Noto Sans KR SemiBold"/>
                <a:ea typeface="Noto Sans KR SemiBold"/>
                <a:cs typeface="Noto Sans KR SemiBold"/>
              </a:rPr>
              <a:t>M6</a:t>
            </a:r>
          </a:p>
        </p:txBody>
      </p:sp>
      <p:sp>
        <p:nvSpPr>
          <p:cNvPr id="12" name="tick"/>
          <p:cNvSpPr/>
          <p:nvPr/>
        </p:nvSpPr>
        <p:spPr>
          <a:xfrm>
            <a:off x="6039612" y="1755648"/>
            <a:ext cx="109728" cy="109728"/>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820156" y="1536192"/>
            <a:ext cx="548640" cy="182880"/>
          </a:xfrm>
          <a:prstGeom prst="rect">
            <a:avLst/>
          </a:prstGeom>
          <a:noFill/>
        </p:spPr>
        <p:txBody>
          <a:bodyPr wrap="square" lIns="0" rIns="0" tIns="0" bIns="0" anchor="t">
            <a:noAutofit/>
          </a:bodyPr>
          <a:lstStyle/>
          <a:p>
            <a:pPr algn="ctr">
              <a:lnSpc>
                <a:spcPct val="112000"/>
              </a:lnSpc>
            </a:pPr>
            <a:r>
              <a:rPr sz="850" b="0" i="0">
                <a:solidFill>
                  <a:srgbClr val="AEB3BB"/>
                </a:solidFill>
                <a:latin typeface="Noto Sans KR SemiBold"/>
                <a:ea typeface="Noto Sans KR SemiBold"/>
                <a:cs typeface="Noto Sans KR SemiBold"/>
              </a:rPr>
              <a:t>M12</a:t>
            </a:r>
          </a:p>
        </p:txBody>
      </p:sp>
      <p:sp>
        <p:nvSpPr>
          <p:cNvPr id="14" name="tick"/>
          <p:cNvSpPr/>
          <p:nvPr/>
        </p:nvSpPr>
        <p:spPr>
          <a:xfrm>
            <a:off x="8789670" y="1755648"/>
            <a:ext cx="109728" cy="109728"/>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570214" y="1536192"/>
            <a:ext cx="548640" cy="182880"/>
          </a:xfrm>
          <a:prstGeom prst="rect">
            <a:avLst/>
          </a:prstGeom>
          <a:noFill/>
        </p:spPr>
        <p:txBody>
          <a:bodyPr wrap="square" lIns="0" rIns="0" tIns="0" bIns="0" anchor="t">
            <a:noAutofit/>
          </a:bodyPr>
          <a:lstStyle/>
          <a:p>
            <a:pPr algn="ctr">
              <a:lnSpc>
                <a:spcPct val="112000"/>
              </a:lnSpc>
            </a:pPr>
            <a:r>
              <a:rPr sz="850" b="0" i="0">
                <a:solidFill>
                  <a:srgbClr val="AEB3BB"/>
                </a:solidFill>
                <a:latin typeface="Noto Sans KR SemiBold"/>
                <a:ea typeface="Noto Sans KR SemiBold"/>
                <a:cs typeface="Noto Sans KR SemiBold"/>
              </a:rPr>
              <a:t>M18</a:t>
            </a:r>
          </a:p>
        </p:txBody>
      </p:sp>
      <p:sp>
        <p:nvSpPr>
          <p:cNvPr id="16" name="tick"/>
          <p:cNvSpPr/>
          <p:nvPr/>
        </p:nvSpPr>
        <p:spPr>
          <a:xfrm>
            <a:off x="11539728" y="1755648"/>
            <a:ext cx="109728" cy="109728"/>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320272" y="1536192"/>
            <a:ext cx="548640" cy="182880"/>
          </a:xfrm>
          <a:prstGeom prst="rect">
            <a:avLst/>
          </a:prstGeom>
          <a:noFill/>
        </p:spPr>
        <p:txBody>
          <a:bodyPr wrap="square" lIns="0" rIns="0" tIns="0" bIns="0" anchor="t">
            <a:noAutofit/>
          </a:bodyPr>
          <a:lstStyle/>
          <a:p>
            <a:pPr algn="ctr">
              <a:lnSpc>
                <a:spcPct val="112000"/>
              </a:lnSpc>
            </a:pPr>
            <a:r>
              <a:rPr sz="850" b="0" i="0">
                <a:solidFill>
                  <a:srgbClr val="AEB3BB"/>
                </a:solidFill>
                <a:latin typeface="Noto Sans KR SemiBold"/>
                <a:ea typeface="Noto Sans KR SemiBold"/>
                <a:cs typeface="Noto Sans KR SemiBold"/>
              </a:rPr>
              <a:t>M24</a:t>
            </a:r>
          </a:p>
        </p:txBody>
      </p:sp>
      <p:sp>
        <p:nvSpPr>
          <p:cNvPr id="18" name="Card"/>
          <p:cNvSpPr/>
          <p:nvPr/>
        </p:nvSpPr>
        <p:spPr>
          <a:xfrm>
            <a:off x="548640" y="2029968"/>
            <a:ext cx="2635758" cy="2816352"/>
          </a:xfrm>
          <a:prstGeom prst="roundRect">
            <a:avLst>
              <a:gd name="adj" fmla="val 2775"/>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20" y="2157984"/>
            <a:ext cx="2361438" cy="201168"/>
          </a:xfrm>
          <a:prstGeom prst="rect">
            <a:avLst/>
          </a:prstGeom>
          <a:noFill/>
        </p:spPr>
        <p:txBody>
          <a:bodyPr wrap="square" lIns="0" rIns="0" tIns="0" bIns="0" anchor="t">
            <a:noAutofit/>
          </a:bodyPr>
          <a:lstStyle/>
          <a:p>
            <a:pPr algn="l">
              <a:lnSpc>
                <a:spcPct val="112000"/>
              </a:lnSpc>
            </a:pPr>
            <a:r>
              <a:rPr sz="900" b="0" i="0" spc="60">
                <a:solidFill>
                  <a:srgbClr val="EC7A3C"/>
                </a:solidFill>
                <a:latin typeface="Noto Sans KR SemiBold"/>
                <a:ea typeface="Noto Sans KR SemiBold"/>
                <a:cs typeface="Noto Sans KR SemiBold"/>
              </a:rPr>
              <a:t>M0–M6</a:t>
            </a:r>
          </a:p>
        </p:txBody>
      </p:sp>
      <p:sp>
        <p:nvSpPr>
          <p:cNvPr id="20" name="TextBox 19"/>
          <p:cNvSpPr txBox="1"/>
          <p:nvPr/>
        </p:nvSpPr>
        <p:spPr>
          <a:xfrm>
            <a:off x="731520" y="2377440"/>
            <a:ext cx="2315718" cy="566928"/>
          </a:xfrm>
          <a:prstGeom prst="rect">
            <a:avLst/>
          </a:prstGeom>
          <a:noFill/>
        </p:spPr>
        <p:txBody>
          <a:bodyPr wrap="square" lIns="0" rIns="0" tIns="0" bIns="0" anchor="t">
            <a:noAutofit/>
          </a:bodyPr>
          <a:lstStyle/>
          <a:p>
            <a:pPr algn="l">
              <a:lnSpc>
                <a:spcPct val="108000"/>
              </a:lnSpc>
            </a:pPr>
            <a:r>
              <a:rPr sz="1350" b="0" i="0">
                <a:solidFill>
                  <a:srgbClr val="F2F2EF"/>
                </a:solidFill>
                <a:latin typeface="Noto Sans KR Black"/>
                <a:ea typeface="Noto Sans KR Black"/>
                <a:cs typeface="Noto Sans KR Black"/>
              </a:rPr>
              <a:t>기술이 되는가?</a:t>
            </a:r>
          </a:p>
        </p:txBody>
      </p:sp>
      <p:sp>
        <p:nvSpPr>
          <p:cNvPr id="21" name="dot"/>
          <p:cNvSpPr/>
          <p:nvPr/>
        </p:nvSpPr>
        <p:spPr>
          <a:xfrm>
            <a:off x="749808" y="3017520"/>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77824" y="2944368"/>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법인 설립 · 핵심 인력 합류</a:t>
            </a:r>
          </a:p>
        </p:txBody>
      </p:sp>
      <p:sp>
        <p:nvSpPr>
          <p:cNvPr id="23" name="dot"/>
          <p:cNvSpPr/>
          <p:nvPr/>
        </p:nvSpPr>
        <p:spPr>
          <a:xfrm>
            <a:off x="749808" y="3264408"/>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 y="3191256"/>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SoftHand-4 Alpha 시제품</a:t>
            </a:r>
          </a:p>
        </p:txBody>
      </p:sp>
      <p:sp>
        <p:nvSpPr>
          <p:cNvPr id="25" name="dot"/>
          <p:cNvSpPr/>
          <p:nvPr/>
        </p:nvSpPr>
        <p:spPr>
          <a:xfrm>
            <a:off x="749808" y="3511296"/>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77824" y="3438144"/>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머신텐딩 대표 공정 시연</a:t>
            </a:r>
          </a:p>
        </p:txBody>
      </p:sp>
      <p:sp>
        <p:nvSpPr>
          <p:cNvPr id="27" name="dot"/>
          <p:cNvSpPr/>
          <p:nvPr/>
        </p:nvSpPr>
        <p:spPr>
          <a:xfrm>
            <a:off x="749808" y="3758184"/>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77824" y="3685032"/>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고객 인터뷰 30곳</a:t>
            </a:r>
          </a:p>
        </p:txBody>
      </p:sp>
      <p:sp>
        <p:nvSpPr>
          <p:cNvPr id="29" name="dot"/>
          <p:cNvSpPr/>
          <p:nvPr/>
        </p:nvSpPr>
        <p:spPr>
          <a:xfrm>
            <a:off x="749808" y="4005072"/>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77824" y="3931920"/>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Design Partner 후보 확보</a:t>
            </a:r>
          </a:p>
        </p:txBody>
      </p:sp>
      <p:sp>
        <p:nvSpPr>
          <p:cNvPr id="31" name="dot"/>
          <p:cNvSpPr/>
          <p:nvPr/>
        </p:nvSpPr>
        <p:spPr>
          <a:xfrm>
            <a:off x="749808" y="4251960"/>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77824" y="4178808"/>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반복실험 기록</a:t>
            </a:r>
          </a:p>
        </p:txBody>
      </p:sp>
      <p:cxnSp>
        <p:nvCxnSpPr>
          <p:cNvPr id="33" name="Connector 32"/>
          <p:cNvCxnSpPr/>
          <p:nvPr/>
        </p:nvCxnSpPr>
        <p:spPr>
          <a:xfrm>
            <a:off x="731520" y="4462272"/>
            <a:ext cx="2269998" cy="0"/>
          </a:xfrm>
          <a:prstGeom prst="line">
            <a:avLst/>
          </a:prstGeom>
          <a:ln w="9525">
            <a:solidFill>
              <a:srgbClr val="2E333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31520" y="4535424"/>
            <a:ext cx="2361438" cy="219456"/>
          </a:xfrm>
          <a:prstGeom prst="rect">
            <a:avLst/>
          </a:prstGeom>
          <a:noFill/>
        </p:spPr>
        <p:txBody>
          <a:bodyPr wrap="square" lIns="0" rIns="0" tIns="0" bIns="0" anchor="t">
            <a:noAutofit/>
          </a:bodyPr>
          <a:lstStyle/>
          <a:p>
            <a:pPr algn="l">
              <a:lnSpc>
                <a:spcPct val="112000"/>
              </a:lnSpc>
            </a:pPr>
            <a:r>
              <a:rPr sz="800" b="0" i="0">
                <a:solidFill>
                  <a:srgbClr val="8A8F97"/>
                </a:solidFill>
                <a:latin typeface="Noto Sans KR"/>
                <a:ea typeface="Noto Sans KR"/>
                <a:cs typeface="Noto Sans KR"/>
              </a:rPr>
              <a:t>해소하는 리스크  </a:t>
            </a:r>
            <a:r>
              <a:rPr sz="950" b="0" i="0">
                <a:solidFill>
                  <a:srgbClr val="F2F2EF"/>
                </a:solidFill>
                <a:latin typeface="Noto Sans KR SemiBold"/>
                <a:ea typeface="Noto Sans KR SemiBold"/>
                <a:cs typeface="Noto Sans KR SemiBold"/>
              </a:rPr>
              <a:t>기술 리스크</a:t>
            </a:r>
          </a:p>
        </p:txBody>
      </p:sp>
      <p:sp>
        <p:nvSpPr>
          <p:cNvPr id="35" name="Card"/>
          <p:cNvSpPr/>
          <p:nvPr/>
        </p:nvSpPr>
        <p:spPr>
          <a:xfrm>
            <a:off x="3367278" y="2029968"/>
            <a:ext cx="2635758" cy="2816352"/>
          </a:xfrm>
          <a:prstGeom prst="roundRect">
            <a:avLst>
              <a:gd name="adj" fmla="val 2775"/>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550158" y="2157984"/>
            <a:ext cx="2361438" cy="201168"/>
          </a:xfrm>
          <a:prstGeom prst="rect">
            <a:avLst/>
          </a:prstGeom>
          <a:noFill/>
        </p:spPr>
        <p:txBody>
          <a:bodyPr wrap="square" lIns="0" rIns="0" tIns="0" bIns="0" anchor="t">
            <a:noAutofit/>
          </a:bodyPr>
          <a:lstStyle/>
          <a:p>
            <a:pPr algn="l">
              <a:lnSpc>
                <a:spcPct val="112000"/>
              </a:lnSpc>
            </a:pPr>
            <a:r>
              <a:rPr sz="900" b="0" i="0" spc="60">
                <a:solidFill>
                  <a:srgbClr val="EC7A3C"/>
                </a:solidFill>
                <a:latin typeface="Noto Sans KR SemiBold"/>
                <a:ea typeface="Noto Sans KR SemiBold"/>
                <a:cs typeface="Noto Sans KR SemiBold"/>
              </a:rPr>
              <a:t>M6–M12</a:t>
            </a:r>
          </a:p>
        </p:txBody>
      </p:sp>
      <p:sp>
        <p:nvSpPr>
          <p:cNvPr id="37" name="TextBox 36"/>
          <p:cNvSpPr txBox="1"/>
          <p:nvPr/>
        </p:nvSpPr>
        <p:spPr>
          <a:xfrm>
            <a:off x="3550158" y="2377440"/>
            <a:ext cx="2315718" cy="566928"/>
          </a:xfrm>
          <a:prstGeom prst="rect">
            <a:avLst/>
          </a:prstGeom>
          <a:noFill/>
        </p:spPr>
        <p:txBody>
          <a:bodyPr wrap="square" lIns="0" rIns="0" tIns="0" bIns="0" anchor="t">
            <a:noAutofit/>
          </a:bodyPr>
          <a:lstStyle/>
          <a:p>
            <a:pPr algn="l">
              <a:lnSpc>
                <a:spcPct val="108000"/>
              </a:lnSpc>
            </a:pPr>
            <a:r>
              <a:rPr sz="1350" b="0" i="0">
                <a:solidFill>
                  <a:srgbClr val="F2F2EF"/>
                </a:solidFill>
                <a:latin typeface="Noto Sans KR Black"/>
                <a:ea typeface="Noto Sans KR Black"/>
                <a:cs typeface="Noto Sans KR Black"/>
              </a:rPr>
              <a:t>고객이 돈을 낼 이유가 있는가?</a:t>
            </a:r>
          </a:p>
        </p:txBody>
      </p:sp>
      <p:sp>
        <p:nvSpPr>
          <p:cNvPr id="38" name="dot"/>
          <p:cNvSpPr/>
          <p:nvPr/>
        </p:nvSpPr>
        <p:spPr>
          <a:xfrm>
            <a:off x="3568446" y="3017520"/>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696462" y="2944368"/>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첫 유료 PoC</a:t>
            </a:r>
          </a:p>
        </p:txBody>
      </p:sp>
      <p:sp>
        <p:nvSpPr>
          <p:cNvPr id="40" name="dot"/>
          <p:cNvSpPr/>
          <p:nvPr/>
        </p:nvSpPr>
        <p:spPr>
          <a:xfrm>
            <a:off x="3568446" y="3264408"/>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3696462" y="3191256"/>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고객 Baseline 확보</a:t>
            </a:r>
          </a:p>
        </p:txBody>
      </p:sp>
      <p:sp>
        <p:nvSpPr>
          <p:cNvPr id="42" name="dot"/>
          <p:cNvSpPr/>
          <p:nvPr/>
        </p:nvSpPr>
        <p:spPr>
          <a:xfrm>
            <a:off x="3568446" y="3511296"/>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696462" y="3438144"/>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엔지니어링 시간 측정</a:t>
            </a:r>
          </a:p>
        </p:txBody>
      </p:sp>
      <p:sp>
        <p:nvSpPr>
          <p:cNvPr id="44" name="dot"/>
          <p:cNvSpPr/>
          <p:nvPr/>
        </p:nvSpPr>
        <p:spPr>
          <a:xfrm>
            <a:off x="3568446" y="3758184"/>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696462" y="3685032"/>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툴링 비용 · 리드타임 측정</a:t>
            </a:r>
          </a:p>
        </p:txBody>
      </p:sp>
      <p:sp>
        <p:nvSpPr>
          <p:cNvPr id="46" name="dot"/>
          <p:cNvSpPr/>
          <p:nvPr/>
        </p:nvSpPr>
        <p:spPr>
          <a:xfrm>
            <a:off x="3568446" y="4005072"/>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696462" y="3931920"/>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ToolSkill V1</a:t>
            </a:r>
          </a:p>
        </p:txBody>
      </p:sp>
      <p:cxnSp>
        <p:nvCxnSpPr>
          <p:cNvPr id="48" name="Connector 47"/>
          <p:cNvCxnSpPr/>
          <p:nvPr/>
        </p:nvCxnSpPr>
        <p:spPr>
          <a:xfrm>
            <a:off x="3550158" y="4462272"/>
            <a:ext cx="2269998" cy="0"/>
          </a:xfrm>
          <a:prstGeom prst="line">
            <a:avLst/>
          </a:prstGeom>
          <a:ln w="9525">
            <a:solidFill>
              <a:srgbClr val="2E333B"/>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3550158" y="4535424"/>
            <a:ext cx="2361438" cy="219456"/>
          </a:xfrm>
          <a:prstGeom prst="rect">
            <a:avLst/>
          </a:prstGeom>
          <a:noFill/>
        </p:spPr>
        <p:txBody>
          <a:bodyPr wrap="square" lIns="0" rIns="0" tIns="0" bIns="0" anchor="t">
            <a:noAutofit/>
          </a:bodyPr>
          <a:lstStyle/>
          <a:p>
            <a:pPr algn="l">
              <a:lnSpc>
                <a:spcPct val="112000"/>
              </a:lnSpc>
            </a:pPr>
            <a:r>
              <a:rPr sz="800" b="0" i="0">
                <a:solidFill>
                  <a:srgbClr val="8A8F97"/>
                </a:solidFill>
                <a:latin typeface="Noto Sans KR"/>
                <a:ea typeface="Noto Sans KR"/>
                <a:cs typeface="Noto Sans KR"/>
              </a:rPr>
              <a:t>해소하는 리스크  </a:t>
            </a:r>
            <a:r>
              <a:rPr sz="950" b="0" i="0">
                <a:solidFill>
                  <a:srgbClr val="F2F2EF"/>
                </a:solidFill>
                <a:latin typeface="Noto Sans KR SemiBold"/>
                <a:ea typeface="Noto Sans KR SemiBold"/>
                <a:cs typeface="Noto Sans KR SemiBold"/>
              </a:rPr>
              <a:t>고객 리스크</a:t>
            </a:r>
          </a:p>
        </p:txBody>
      </p:sp>
      <p:sp>
        <p:nvSpPr>
          <p:cNvPr id="50" name="Card"/>
          <p:cNvSpPr/>
          <p:nvPr/>
        </p:nvSpPr>
        <p:spPr>
          <a:xfrm>
            <a:off x="6185916" y="2029968"/>
            <a:ext cx="2635758" cy="2816352"/>
          </a:xfrm>
          <a:prstGeom prst="roundRect">
            <a:avLst>
              <a:gd name="adj" fmla="val 2775"/>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368796" y="2157984"/>
            <a:ext cx="2361438" cy="201168"/>
          </a:xfrm>
          <a:prstGeom prst="rect">
            <a:avLst/>
          </a:prstGeom>
          <a:noFill/>
        </p:spPr>
        <p:txBody>
          <a:bodyPr wrap="square" lIns="0" rIns="0" tIns="0" bIns="0" anchor="t">
            <a:noAutofit/>
          </a:bodyPr>
          <a:lstStyle/>
          <a:p>
            <a:pPr algn="l">
              <a:lnSpc>
                <a:spcPct val="112000"/>
              </a:lnSpc>
            </a:pPr>
            <a:r>
              <a:rPr sz="900" b="0" i="0" spc="60">
                <a:solidFill>
                  <a:srgbClr val="EC7A3C"/>
                </a:solidFill>
                <a:latin typeface="Noto Sans KR SemiBold"/>
                <a:ea typeface="Noto Sans KR SemiBold"/>
                <a:cs typeface="Noto Sans KR SemiBold"/>
              </a:rPr>
              <a:t>M12–M18</a:t>
            </a:r>
          </a:p>
        </p:txBody>
      </p:sp>
      <p:sp>
        <p:nvSpPr>
          <p:cNvPr id="52" name="TextBox 51"/>
          <p:cNvSpPr txBox="1"/>
          <p:nvPr/>
        </p:nvSpPr>
        <p:spPr>
          <a:xfrm>
            <a:off x="6368796" y="2377440"/>
            <a:ext cx="2315718" cy="566928"/>
          </a:xfrm>
          <a:prstGeom prst="rect">
            <a:avLst/>
          </a:prstGeom>
          <a:noFill/>
        </p:spPr>
        <p:txBody>
          <a:bodyPr wrap="square" lIns="0" rIns="0" tIns="0" bIns="0" anchor="t">
            <a:noAutofit/>
          </a:bodyPr>
          <a:lstStyle/>
          <a:p>
            <a:pPr algn="l">
              <a:lnSpc>
                <a:spcPct val="108000"/>
              </a:lnSpc>
            </a:pPr>
            <a:r>
              <a:rPr sz="1350" b="0" i="0">
                <a:solidFill>
                  <a:srgbClr val="F2F2EF"/>
                </a:solidFill>
                <a:latin typeface="Noto Sans KR Black"/>
                <a:ea typeface="Noto Sans KR Black"/>
                <a:cs typeface="Noto Sans KR Black"/>
              </a:rPr>
              <a:t>반복 가능한 제품이 되는가?</a:t>
            </a:r>
          </a:p>
        </p:txBody>
      </p:sp>
      <p:sp>
        <p:nvSpPr>
          <p:cNvPr id="53" name="dot"/>
          <p:cNvSpPr/>
          <p:nvPr/>
        </p:nvSpPr>
        <p:spPr>
          <a:xfrm>
            <a:off x="6387084" y="3017520"/>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515100" y="2944368"/>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설계 동결 · BOM · 공급사</a:t>
            </a:r>
          </a:p>
        </p:txBody>
      </p:sp>
      <p:sp>
        <p:nvSpPr>
          <p:cNvPr id="55" name="dot"/>
          <p:cNvSpPr/>
          <p:nvPr/>
        </p:nvSpPr>
        <p:spPr>
          <a:xfrm>
            <a:off x="6387084" y="3264408"/>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515100" y="3191256"/>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내구성 · 제조원가 검증</a:t>
            </a:r>
          </a:p>
        </p:txBody>
      </p:sp>
      <p:sp>
        <p:nvSpPr>
          <p:cNvPr id="57" name="dot"/>
          <p:cNvSpPr/>
          <p:nvPr/>
        </p:nvSpPr>
        <p:spPr>
          <a:xfrm>
            <a:off x="6387084" y="3511296"/>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515100" y="3438144"/>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첫 반복 발주</a:t>
            </a:r>
          </a:p>
        </p:txBody>
      </p:sp>
      <p:sp>
        <p:nvSpPr>
          <p:cNvPr id="59" name="dot"/>
          <p:cNvSpPr/>
          <p:nvPr/>
        </p:nvSpPr>
        <p:spPr>
          <a:xfrm>
            <a:off x="6387084" y="3758184"/>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515100" y="3685032"/>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첫 재사용 Skill 패키지</a:t>
            </a:r>
          </a:p>
        </p:txBody>
      </p:sp>
      <p:sp>
        <p:nvSpPr>
          <p:cNvPr id="61" name="dot"/>
          <p:cNvSpPr/>
          <p:nvPr/>
        </p:nvSpPr>
        <p:spPr>
          <a:xfrm>
            <a:off x="6387084" y="4005072"/>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515100" y="3931920"/>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재사용률 측정 시작</a:t>
            </a:r>
          </a:p>
        </p:txBody>
      </p:sp>
      <p:sp>
        <p:nvSpPr>
          <p:cNvPr id="63" name="dot"/>
          <p:cNvSpPr/>
          <p:nvPr/>
        </p:nvSpPr>
        <p:spPr>
          <a:xfrm>
            <a:off x="6387084" y="4251960"/>
            <a:ext cx="54864" cy="54864"/>
          </a:xfrm>
          <a:prstGeom prst="ellipse">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515100" y="4178808"/>
            <a:ext cx="2178558" cy="219456"/>
          </a:xfrm>
          <a:prstGeom prst="rect">
            <a:avLst/>
          </a:prstGeom>
          <a:noFill/>
        </p:spPr>
        <p:txBody>
          <a:bodyPr wrap="square" lIns="0" rIns="0" tIns="0" bIns="0" anchor="t">
            <a:noAutofit/>
          </a:bodyPr>
          <a:lstStyle/>
          <a:p>
            <a:pPr algn="l">
              <a:lnSpc>
                <a:spcPct val="112000"/>
              </a:lnSpc>
            </a:pPr>
            <a:r>
              <a:rPr sz="950" b="0" i="0">
                <a:solidFill>
                  <a:srgbClr val="AEB3BB"/>
                </a:solidFill>
                <a:latin typeface="Noto Sans KR"/>
                <a:ea typeface="Noto Sans KR"/>
                <a:cs typeface="Noto Sans KR"/>
              </a:rPr>
              <a:t>두 번째 Robot 플랫폼 통합</a:t>
            </a:r>
          </a:p>
        </p:txBody>
      </p:sp>
      <p:cxnSp>
        <p:nvCxnSpPr>
          <p:cNvPr id="65" name="Connector 64"/>
          <p:cNvCxnSpPr/>
          <p:nvPr/>
        </p:nvCxnSpPr>
        <p:spPr>
          <a:xfrm>
            <a:off x="6368796" y="4462272"/>
            <a:ext cx="2269998" cy="0"/>
          </a:xfrm>
          <a:prstGeom prst="line">
            <a:avLst/>
          </a:prstGeom>
          <a:ln w="9525">
            <a:solidFill>
              <a:srgbClr val="2E333B"/>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6368796" y="4535424"/>
            <a:ext cx="2361438" cy="219456"/>
          </a:xfrm>
          <a:prstGeom prst="rect">
            <a:avLst/>
          </a:prstGeom>
          <a:noFill/>
        </p:spPr>
        <p:txBody>
          <a:bodyPr wrap="square" lIns="0" rIns="0" tIns="0" bIns="0" anchor="t">
            <a:noAutofit/>
          </a:bodyPr>
          <a:lstStyle/>
          <a:p>
            <a:pPr algn="l">
              <a:lnSpc>
                <a:spcPct val="112000"/>
              </a:lnSpc>
            </a:pPr>
            <a:r>
              <a:rPr sz="800" b="0" i="0">
                <a:solidFill>
                  <a:srgbClr val="8A8F97"/>
                </a:solidFill>
                <a:latin typeface="Noto Sans KR"/>
                <a:ea typeface="Noto Sans KR"/>
                <a:cs typeface="Noto Sans KR"/>
              </a:rPr>
              <a:t>해소하는 리스크  </a:t>
            </a:r>
            <a:r>
              <a:rPr sz="950" b="0" i="0">
                <a:solidFill>
                  <a:srgbClr val="F2F2EF"/>
                </a:solidFill>
                <a:latin typeface="Noto Sans KR SemiBold"/>
                <a:ea typeface="Noto Sans KR SemiBold"/>
                <a:cs typeface="Noto Sans KR SemiBold"/>
              </a:rPr>
              <a:t>제품 · 원가 리스크</a:t>
            </a:r>
          </a:p>
        </p:txBody>
      </p:sp>
      <p:sp>
        <p:nvSpPr>
          <p:cNvPr id="67" name="Card"/>
          <p:cNvSpPr/>
          <p:nvPr/>
        </p:nvSpPr>
        <p:spPr>
          <a:xfrm>
            <a:off x="9004554" y="2029968"/>
            <a:ext cx="2635758" cy="2816352"/>
          </a:xfrm>
          <a:prstGeom prst="roundRect">
            <a:avLst>
              <a:gd name="adj" fmla="val 2775"/>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187434" y="2157984"/>
            <a:ext cx="2361438" cy="201168"/>
          </a:xfrm>
          <a:prstGeom prst="rect">
            <a:avLst/>
          </a:prstGeom>
          <a:noFill/>
        </p:spPr>
        <p:txBody>
          <a:bodyPr wrap="square" lIns="0" rIns="0" tIns="0" bIns="0" anchor="t">
            <a:noAutofit/>
          </a:bodyPr>
          <a:lstStyle/>
          <a:p>
            <a:pPr algn="l">
              <a:lnSpc>
                <a:spcPct val="112000"/>
              </a:lnSpc>
            </a:pPr>
            <a:r>
              <a:rPr sz="900" b="0" i="0" spc="60">
                <a:solidFill>
                  <a:srgbClr val="EC7A3C"/>
                </a:solidFill>
                <a:latin typeface="Noto Sans KR SemiBold"/>
                <a:ea typeface="Noto Sans KR SemiBold"/>
                <a:cs typeface="Noto Sans KR SemiBold"/>
              </a:rPr>
              <a:t>M18–M24</a:t>
            </a:r>
          </a:p>
        </p:txBody>
      </p:sp>
      <p:sp>
        <p:nvSpPr>
          <p:cNvPr id="69" name="TextBox 68"/>
          <p:cNvSpPr txBox="1"/>
          <p:nvPr/>
        </p:nvSpPr>
        <p:spPr>
          <a:xfrm>
            <a:off x="9187434" y="2377440"/>
            <a:ext cx="2315718" cy="566928"/>
          </a:xfrm>
          <a:prstGeom prst="rect">
            <a:avLst/>
          </a:prstGeom>
          <a:noFill/>
        </p:spPr>
        <p:txBody>
          <a:bodyPr wrap="square" lIns="0" rIns="0" tIns="0" bIns="0" anchor="t">
            <a:noAutofit/>
          </a:bodyPr>
          <a:lstStyle/>
          <a:p>
            <a:pPr algn="l">
              <a:lnSpc>
                <a:spcPct val="108000"/>
              </a:lnSpc>
            </a:pPr>
            <a:r>
              <a:rPr sz="1350" b="0" i="0">
                <a:solidFill>
                  <a:srgbClr val="F2F2EF"/>
                </a:solidFill>
                <a:latin typeface="Noto Sans KR Black"/>
                <a:ea typeface="Noto Sans KR Black"/>
                <a:cs typeface="Noto Sans KR Black"/>
              </a:rPr>
              <a:t>확장 가능한가?</a:t>
            </a:r>
          </a:p>
        </p:txBody>
      </p:sp>
      <p:sp>
        <p:nvSpPr>
          <p:cNvPr id="70" name="dot"/>
          <p:cNvSpPr/>
          <p:nvPr/>
        </p:nvSpPr>
        <p:spPr>
          <a:xfrm>
            <a:off x="9205722" y="3017520"/>
            <a:ext cx="54864" cy="5486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9333738" y="2944368"/>
            <a:ext cx="2178558" cy="219456"/>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유료 PoC 5건+</a:t>
            </a:r>
          </a:p>
        </p:txBody>
      </p:sp>
      <p:sp>
        <p:nvSpPr>
          <p:cNvPr id="72" name="dot"/>
          <p:cNvSpPr/>
          <p:nvPr/>
        </p:nvSpPr>
        <p:spPr>
          <a:xfrm>
            <a:off x="9205722" y="3264408"/>
            <a:ext cx="54864" cy="5486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9333738" y="3191256"/>
            <a:ext cx="2178558" cy="219456"/>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반복 고객 2곳+</a:t>
            </a:r>
          </a:p>
        </p:txBody>
      </p:sp>
      <p:sp>
        <p:nvSpPr>
          <p:cNvPr id="74" name="dot"/>
          <p:cNvSpPr/>
          <p:nvPr/>
        </p:nvSpPr>
        <p:spPr>
          <a:xfrm>
            <a:off x="9205722" y="3511296"/>
            <a:ext cx="54864" cy="5486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9333738" y="3438144"/>
            <a:ext cx="2178558" cy="219456"/>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재사용 Skill 다수 확보</a:t>
            </a:r>
          </a:p>
        </p:txBody>
      </p:sp>
      <p:sp>
        <p:nvSpPr>
          <p:cNvPr id="76" name="dot"/>
          <p:cNvSpPr/>
          <p:nvPr/>
        </p:nvSpPr>
        <p:spPr>
          <a:xfrm>
            <a:off x="9205722" y="3758184"/>
            <a:ext cx="54864" cy="5486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333738" y="3685032"/>
            <a:ext cx="2178558" cy="219456"/>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Skill 이식성 · Robot 2종</a:t>
            </a:r>
          </a:p>
        </p:txBody>
      </p:sp>
      <p:sp>
        <p:nvSpPr>
          <p:cNvPr id="78" name="dot"/>
          <p:cNvSpPr/>
          <p:nvPr/>
        </p:nvSpPr>
        <p:spPr>
          <a:xfrm>
            <a:off x="9205722" y="4005072"/>
            <a:ext cx="54864" cy="5486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333738" y="3931920"/>
            <a:ext cx="2178558" cy="219456"/>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매출총이익률 검증</a:t>
            </a:r>
          </a:p>
        </p:txBody>
      </p:sp>
      <p:sp>
        <p:nvSpPr>
          <p:cNvPr id="80" name="dot"/>
          <p:cNvSpPr/>
          <p:nvPr/>
        </p:nvSpPr>
        <p:spPr>
          <a:xfrm>
            <a:off x="9205722" y="4251960"/>
            <a:ext cx="54864" cy="54864"/>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9333738" y="4178808"/>
            <a:ext cx="2178558" cy="219456"/>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Series A 준비</a:t>
            </a:r>
          </a:p>
        </p:txBody>
      </p:sp>
      <p:cxnSp>
        <p:nvCxnSpPr>
          <p:cNvPr id="82" name="Connector 81"/>
          <p:cNvCxnSpPr/>
          <p:nvPr/>
        </p:nvCxnSpPr>
        <p:spPr>
          <a:xfrm>
            <a:off x="9187434" y="4462272"/>
            <a:ext cx="2269998" cy="0"/>
          </a:xfrm>
          <a:prstGeom prst="line">
            <a:avLst/>
          </a:prstGeom>
          <a:ln w="9525">
            <a:solidFill>
              <a:srgbClr val="5A3A26"/>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9187434" y="4535424"/>
            <a:ext cx="2361438" cy="219456"/>
          </a:xfrm>
          <a:prstGeom prst="rect">
            <a:avLst/>
          </a:prstGeom>
          <a:noFill/>
        </p:spPr>
        <p:txBody>
          <a:bodyPr wrap="square" lIns="0" rIns="0" tIns="0" bIns="0" anchor="t">
            <a:noAutofit/>
          </a:bodyPr>
          <a:lstStyle/>
          <a:p>
            <a:pPr algn="l">
              <a:lnSpc>
                <a:spcPct val="112000"/>
              </a:lnSpc>
            </a:pPr>
            <a:r>
              <a:rPr sz="800" b="0" i="0">
                <a:solidFill>
                  <a:srgbClr val="8A8F97"/>
                </a:solidFill>
                <a:latin typeface="Noto Sans KR"/>
                <a:ea typeface="Noto Sans KR"/>
                <a:cs typeface="Noto Sans KR"/>
              </a:rPr>
              <a:t>해소하는 리스크  </a:t>
            </a:r>
            <a:r>
              <a:rPr sz="950" b="0" i="0">
                <a:solidFill>
                  <a:srgbClr val="EC7A3C"/>
                </a:solidFill>
                <a:latin typeface="Noto Sans KR SemiBold"/>
                <a:ea typeface="Noto Sans KR SemiBold"/>
                <a:cs typeface="Noto Sans KR SemiBold"/>
              </a:rPr>
              <a:t>확장 리스크</a:t>
            </a:r>
          </a:p>
        </p:txBody>
      </p:sp>
      <p:sp>
        <p:nvSpPr>
          <p:cNvPr id="84" name="Tag 보조: 주방 벤치 Demo"/>
          <p:cNvSpPr/>
          <p:nvPr/>
        </p:nvSpPr>
        <p:spPr>
          <a:xfrm>
            <a:off x="10326951" y="2148840"/>
            <a:ext cx="1176201" cy="201168"/>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700" b="0" i="0" spc="20">
                <a:solidFill>
                  <a:srgbClr val="AEB3BB"/>
                </a:solidFill>
                <a:latin typeface="Noto Sans KR SemiBold"/>
                <a:ea typeface="Noto Sans KR SemiBold"/>
                <a:cs typeface="Noto Sans KR SemiBold"/>
              </a:rPr>
              <a:t>보조: 주방 벤치 Demo</a:t>
            </a:r>
          </a:p>
        </p:txBody>
      </p:sp>
      <p:sp>
        <p:nvSpPr>
          <p:cNvPr id="85" name="Label"/>
          <p:cNvSpPr txBox="1"/>
          <p:nvPr/>
        </p:nvSpPr>
        <p:spPr>
          <a:xfrm>
            <a:off x="548640" y="4983480"/>
            <a:ext cx="5486400" cy="201168"/>
          </a:xfrm>
          <a:prstGeom prst="rect">
            <a:avLst/>
          </a:prstGeom>
          <a:noFill/>
        </p:spPr>
        <p:txBody>
          <a:bodyPr wrap="square" lIns="0" rIns="0" tIns="0" bIns="0" anchor="t">
            <a:noAutofit/>
          </a:bodyPr>
          <a:lstStyle/>
          <a:p>
            <a:pPr algn="l">
              <a:lnSpc>
                <a:spcPct val="112000"/>
              </a:lnSpc>
            </a:pPr>
            <a:r>
              <a:rPr sz="950" b="0" i="0" spc="120">
                <a:solidFill>
                  <a:srgbClr val="EC7A3C"/>
                </a:solidFill>
                <a:latin typeface="Noto Sans KR SemiBold"/>
                <a:ea typeface="Noto Sans KR SemiBold"/>
                <a:cs typeface="Noto Sans KR SemiBold"/>
              </a:rPr>
              <a:t>Seed Gate — 통과하지 못하면 이렇게 결정한다</a:t>
            </a:r>
          </a:p>
        </p:txBody>
      </p:sp>
      <p:sp>
        <p:nvSpPr>
          <p:cNvPr id="86" name="Card"/>
          <p:cNvSpPr/>
          <p:nvPr/>
        </p:nvSpPr>
        <p:spPr>
          <a:xfrm>
            <a:off x="548640" y="5257800"/>
            <a:ext cx="2635758" cy="1005840"/>
          </a:xfrm>
          <a:prstGeom prst="roundRect">
            <a:avLst>
              <a:gd name="adj" fmla="val 7272"/>
            </a:avLst>
          </a:prstGeom>
          <a:solidFill>
            <a:srgbClr val="15171B"/>
          </a:solidFill>
          <a:ln w="9525">
            <a:solidFill>
              <a:srgbClr val="3C424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713232" y="5349240"/>
            <a:ext cx="548640" cy="274320"/>
          </a:xfrm>
          <a:prstGeom prst="rect">
            <a:avLst/>
          </a:prstGeom>
          <a:noFill/>
        </p:spPr>
        <p:txBody>
          <a:bodyPr wrap="square" lIns="0" rIns="0" tIns="0" bIns="0" anchor="t">
            <a:noAutofit/>
          </a:bodyPr>
          <a:lstStyle/>
          <a:p>
            <a:pPr algn="l">
              <a:lnSpc>
                <a:spcPct val="112000"/>
              </a:lnSpc>
            </a:pPr>
            <a:r>
              <a:rPr sz="1300" b="0" i="0">
                <a:solidFill>
                  <a:srgbClr val="EC7A3C"/>
                </a:solidFill>
                <a:latin typeface="Noto Sans KR Black"/>
                <a:ea typeface="Noto Sans KR Black"/>
                <a:cs typeface="Noto Sans KR Black"/>
              </a:rPr>
              <a:t>M6</a:t>
            </a:r>
          </a:p>
        </p:txBody>
      </p:sp>
      <p:sp>
        <p:nvSpPr>
          <p:cNvPr id="88" name="TextBox 87"/>
          <p:cNvSpPr txBox="1"/>
          <p:nvPr/>
        </p:nvSpPr>
        <p:spPr>
          <a:xfrm>
            <a:off x="1261872" y="5367528"/>
            <a:ext cx="1812798"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SemiBold"/>
                <a:ea typeface="Noto Sans KR SemiBold"/>
                <a:cs typeface="Noto Sans KR SemiBold"/>
              </a:rPr>
              <a:t>도구 토크 · 반복성 미확보</a:t>
            </a:r>
          </a:p>
        </p:txBody>
      </p:sp>
      <p:sp>
        <p:nvSpPr>
          <p:cNvPr id="89" name="TextBox 88"/>
          <p:cNvSpPr txBox="1"/>
          <p:nvPr/>
        </p:nvSpPr>
        <p:spPr>
          <a:xfrm>
            <a:off x="1261872" y="5641848"/>
            <a:ext cx="1812798" cy="502920"/>
          </a:xfrm>
          <a:prstGeom prst="rect">
            <a:avLst/>
          </a:prstGeom>
          <a:noFill/>
        </p:spPr>
        <p:txBody>
          <a:bodyPr wrap="square" lIns="0" rIns="0" tIns="0" bIns="0" anchor="t">
            <a:noAutofit/>
          </a:bodyPr>
          <a:lstStyle/>
          <a:p>
            <a:pPr algn="l">
              <a:lnSpc>
                <a:spcPct val="110000"/>
              </a:lnSpc>
            </a:pPr>
            <a:r>
              <a:rPr sz="950" b="0" i="0">
                <a:solidFill>
                  <a:srgbClr val="EC7A3C"/>
                </a:solidFill>
                <a:latin typeface="Noto Sans KR"/>
                <a:ea typeface="Noto Sans KR"/>
                <a:cs typeface="Noto Sans KR"/>
              </a:rPr>
              <a:t>→ </a:t>
            </a:r>
            <a:r>
              <a:rPr sz="950" b="0" i="0">
                <a:solidFill>
                  <a:srgbClr val="AEB3BB"/>
                </a:solidFill>
                <a:latin typeface="Noto Sans KR"/>
                <a:ea typeface="Noto Sans KR"/>
                <a:cs typeface="Noto Sans KR"/>
              </a:rPr>
              <a:t>Hand 구조 재검토</a:t>
            </a:r>
          </a:p>
        </p:txBody>
      </p:sp>
      <p:sp>
        <p:nvSpPr>
          <p:cNvPr id="90" name="Card"/>
          <p:cNvSpPr/>
          <p:nvPr/>
        </p:nvSpPr>
        <p:spPr>
          <a:xfrm>
            <a:off x="3367278" y="5257800"/>
            <a:ext cx="2635758" cy="1005840"/>
          </a:xfrm>
          <a:prstGeom prst="roundRect">
            <a:avLst>
              <a:gd name="adj" fmla="val 7272"/>
            </a:avLst>
          </a:prstGeom>
          <a:solidFill>
            <a:srgbClr val="15171B"/>
          </a:solidFill>
          <a:ln w="9525">
            <a:solidFill>
              <a:srgbClr val="3C424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531870" y="5349240"/>
            <a:ext cx="548640" cy="274320"/>
          </a:xfrm>
          <a:prstGeom prst="rect">
            <a:avLst/>
          </a:prstGeom>
          <a:noFill/>
        </p:spPr>
        <p:txBody>
          <a:bodyPr wrap="square" lIns="0" rIns="0" tIns="0" bIns="0" anchor="t">
            <a:noAutofit/>
          </a:bodyPr>
          <a:lstStyle/>
          <a:p>
            <a:pPr algn="l">
              <a:lnSpc>
                <a:spcPct val="112000"/>
              </a:lnSpc>
            </a:pPr>
            <a:r>
              <a:rPr sz="1300" b="0" i="0">
                <a:solidFill>
                  <a:srgbClr val="EC7A3C"/>
                </a:solidFill>
                <a:latin typeface="Noto Sans KR Black"/>
                <a:ea typeface="Noto Sans KR Black"/>
                <a:cs typeface="Noto Sans KR Black"/>
              </a:rPr>
              <a:t>M12</a:t>
            </a:r>
          </a:p>
        </p:txBody>
      </p:sp>
      <p:sp>
        <p:nvSpPr>
          <p:cNvPr id="92" name="TextBox 91"/>
          <p:cNvSpPr txBox="1"/>
          <p:nvPr/>
        </p:nvSpPr>
        <p:spPr>
          <a:xfrm>
            <a:off x="4080510" y="5367528"/>
            <a:ext cx="1812798"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SemiBold"/>
                <a:ea typeface="Noto Sans KR SemiBold"/>
                <a:cs typeface="Noto Sans KR SemiBold"/>
              </a:rPr>
              <a:t>전환비용 개선에 지불의사 없음</a:t>
            </a:r>
          </a:p>
        </p:txBody>
      </p:sp>
      <p:sp>
        <p:nvSpPr>
          <p:cNvPr id="93" name="TextBox 92"/>
          <p:cNvSpPr txBox="1"/>
          <p:nvPr/>
        </p:nvSpPr>
        <p:spPr>
          <a:xfrm>
            <a:off x="4080510" y="5641848"/>
            <a:ext cx="1812798" cy="502920"/>
          </a:xfrm>
          <a:prstGeom prst="rect">
            <a:avLst/>
          </a:prstGeom>
          <a:noFill/>
        </p:spPr>
        <p:txBody>
          <a:bodyPr wrap="square" lIns="0" rIns="0" tIns="0" bIns="0" anchor="t">
            <a:noAutofit/>
          </a:bodyPr>
          <a:lstStyle/>
          <a:p>
            <a:pPr algn="l">
              <a:lnSpc>
                <a:spcPct val="110000"/>
              </a:lnSpc>
            </a:pPr>
            <a:r>
              <a:rPr sz="950" b="0" i="0">
                <a:solidFill>
                  <a:srgbClr val="EC7A3C"/>
                </a:solidFill>
                <a:latin typeface="Noto Sans KR"/>
                <a:ea typeface="Noto Sans KR"/>
                <a:cs typeface="Noto Sans KR"/>
              </a:rPr>
              <a:t>→ </a:t>
            </a:r>
            <a:r>
              <a:rPr sz="950" b="0" i="0">
                <a:solidFill>
                  <a:srgbClr val="AEB3BB"/>
                </a:solidFill>
                <a:latin typeface="Noto Sans KR"/>
                <a:ea typeface="Noto Sans KR"/>
                <a:cs typeface="Noto Sans KR"/>
              </a:rPr>
              <a:t>첫 시장 · Task 재정의</a:t>
            </a:r>
          </a:p>
        </p:txBody>
      </p:sp>
      <p:sp>
        <p:nvSpPr>
          <p:cNvPr id="94" name="Card"/>
          <p:cNvSpPr/>
          <p:nvPr/>
        </p:nvSpPr>
        <p:spPr>
          <a:xfrm>
            <a:off x="6185916" y="5257800"/>
            <a:ext cx="2635758" cy="1005840"/>
          </a:xfrm>
          <a:prstGeom prst="roundRect">
            <a:avLst>
              <a:gd name="adj" fmla="val 7272"/>
            </a:avLst>
          </a:prstGeom>
          <a:solidFill>
            <a:srgbClr val="15171B"/>
          </a:solidFill>
          <a:ln w="9525">
            <a:solidFill>
              <a:srgbClr val="3C424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6350508" y="5349240"/>
            <a:ext cx="548640" cy="274320"/>
          </a:xfrm>
          <a:prstGeom prst="rect">
            <a:avLst/>
          </a:prstGeom>
          <a:noFill/>
        </p:spPr>
        <p:txBody>
          <a:bodyPr wrap="square" lIns="0" rIns="0" tIns="0" bIns="0" anchor="t">
            <a:noAutofit/>
          </a:bodyPr>
          <a:lstStyle/>
          <a:p>
            <a:pPr algn="l">
              <a:lnSpc>
                <a:spcPct val="112000"/>
              </a:lnSpc>
            </a:pPr>
            <a:r>
              <a:rPr sz="1300" b="0" i="0">
                <a:solidFill>
                  <a:srgbClr val="EC7A3C"/>
                </a:solidFill>
                <a:latin typeface="Noto Sans KR Black"/>
                <a:ea typeface="Noto Sans KR Black"/>
                <a:cs typeface="Noto Sans KR Black"/>
              </a:rPr>
              <a:t>M18</a:t>
            </a:r>
          </a:p>
        </p:txBody>
      </p:sp>
      <p:sp>
        <p:nvSpPr>
          <p:cNvPr id="96" name="TextBox 95"/>
          <p:cNvSpPr txBox="1"/>
          <p:nvPr/>
        </p:nvSpPr>
        <p:spPr>
          <a:xfrm>
            <a:off x="6899148" y="5367528"/>
            <a:ext cx="1812798"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SemiBold"/>
                <a:ea typeface="Noto Sans KR SemiBold"/>
                <a:cs typeface="Noto Sans KR SemiBold"/>
              </a:rPr>
              <a:t>Skill 재사용률 낮음</a:t>
            </a:r>
          </a:p>
        </p:txBody>
      </p:sp>
      <p:sp>
        <p:nvSpPr>
          <p:cNvPr id="97" name="TextBox 96"/>
          <p:cNvSpPr txBox="1"/>
          <p:nvPr/>
        </p:nvSpPr>
        <p:spPr>
          <a:xfrm>
            <a:off x="6899148" y="5641848"/>
            <a:ext cx="1812798" cy="502920"/>
          </a:xfrm>
          <a:prstGeom prst="rect">
            <a:avLst/>
          </a:prstGeom>
          <a:noFill/>
        </p:spPr>
        <p:txBody>
          <a:bodyPr wrap="square" lIns="0" rIns="0" tIns="0" bIns="0" anchor="t">
            <a:noAutofit/>
          </a:bodyPr>
          <a:lstStyle/>
          <a:p>
            <a:pPr algn="l">
              <a:lnSpc>
                <a:spcPct val="110000"/>
              </a:lnSpc>
            </a:pPr>
            <a:r>
              <a:rPr sz="950" b="0" i="0">
                <a:solidFill>
                  <a:srgbClr val="EC7A3C"/>
                </a:solidFill>
                <a:latin typeface="Noto Sans KR"/>
                <a:ea typeface="Noto Sans KR"/>
                <a:cs typeface="Noto Sans KR"/>
              </a:rPr>
              <a:t>→ </a:t>
            </a:r>
            <a:r>
              <a:rPr sz="950" b="0" i="0">
                <a:solidFill>
                  <a:srgbClr val="AEB3BB"/>
                </a:solidFill>
                <a:latin typeface="Noto Sans KR"/>
                <a:ea typeface="Noto Sans KR"/>
                <a:cs typeface="Noto Sans KR"/>
              </a:rPr>
              <a:t>Platform 가설 재검토</a:t>
            </a:r>
          </a:p>
        </p:txBody>
      </p:sp>
      <p:sp>
        <p:nvSpPr>
          <p:cNvPr id="98" name="Card"/>
          <p:cNvSpPr/>
          <p:nvPr/>
        </p:nvSpPr>
        <p:spPr>
          <a:xfrm>
            <a:off x="9004554" y="5257800"/>
            <a:ext cx="2635758" cy="1005840"/>
          </a:xfrm>
          <a:prstGeom prst="roundRect">
            <a:avLst>
              <a:gd name="adj" fmla="val 7272"/>
            </a:avLst>
          </a:prstGeom>
          <a:solidFill>
            <a:srgbClr val="15171B"/>
          </a:solidFill>
          <a:ln w="9525">
            <a:solidFill>
              <a:srgbClr val="3C424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169146" y="5349240"/>
            <a:ext cx="548640" cy="274320"/>
          </a:xfrm>
          <a:prstGeom prst="rect">
            <a:avLst/>
          </a:prstGeom>
          <a:noFill/>
        </p:spPr>
        <p:txBody>
          <a:bodyPr wrap="square" lIns="0" rIns="0" tIns="0" bIns="0" anchor="t">
            <a:noAutofit/>
          </a:bodyPr>
          <a:lstStyle/>
          <a:p>
            <a:pPr algn="l">
              <a:lnSpc>
                <a:spcPct val="112000"/>
              </a:lnSpc>
            </a:pPr>
            <a:r>
              <a:rPr sz="1300" b="0" i="0">
                <a:solidFill>
                  <a:srgbClr val="EC7A3C"/>
                </a:solidFill>
                <a:latin typeface="Noto Sans KR Black"/>
                <a:ea typeface="Noto Sans KR Black"/>
                <a:cs typeface="Noto Sans KR Black"/>
              </a:rPr>
              <a:t>M24</a:t>
            </a:r>
          </a:p>
        </p:txBody>
      </p:sp>
      <p:sp>
        <p:nvSpPr>
          <p:cNvPr id="100" name="TextBox 99"/>
          <p:cNvSpPr txBox="1"/>
          <p:nvPr/>
        </p:nvSpPr>
        <p:spPr>
          <a:xfrm>
            <a:off x="9717786" y="5367528"/>
            <a:ext cx="1812798"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SemiBold"/>
                <a:ea typeface="Noto Sans KR SemiBold"/>
                <a:cs typeface="Noto Sans KR SemiBold"/>
              </a:rPr>
              <a:t>반복 발주 없음</a:t>
            </a:r>
          </a:p>
        </p:txBody>
      </p:sp>
      <p:sp>
        <p:nvSpPr>
          <p:cNvPr id="101" name="TextBox 100"/>
          <p:cNvSpPr txBox="1"/>
          <p:nvPr/>
        </p:nvSpPr>
        <p:spPr>
          <a:xfrm>
            <a:off x="9717786" y="5641848"/>
            <a:ext cx="1812798" cy="502920"/>
          </a:xfrm>
          <a:prstGeom prst="rect">
            <a:avLst/>
          </a:prstGeom>
          <a:noFill/>
        </p:spPr>
        <p:txBody>
          <a:bodyPr wrap="square" lIns="0" rIns="0" tIns="0" bIns="0" anchor="t">
            <a:noAutofit/>
          </a:bodyPr>
          <a:lstStyle/>
          <a:p>
            <a:pPr algn="l">
              <a:lnSpc>
                <a:spcPct val="110000"/>
              </a:lnSpc>
            </a:pPr>
            <a:r>
              <a:rPr sz="950" b="0" i="0">
                <a:solidFill>
                  <a:srgbClr val="EC7A3C"/>
                </a:solidFill>
                <a:latin typeface="Noto Sans KR"/>
                <a:ea typeface="Noto Sans KR"/>
                <a:cs typeface="Noto Sans KR"/>
              </a:rPr>
              <a:t>→ </a:t>
            </a:r>
            <a:r>
              <a:rPr sz="950" b="0" i="0">
                <a:solidFill>
                  <a:srgbClr val="AEB3BB"/>
                </a:solidFill>
                <a:latin typeface="Noto Sans KR"/>
                <a:ea typeface="Noto Sans KR"/>
                <a:cs typeface="Noto Sans KR"/>
              </a:rPr>
              <a:t>Series A 확장 보류</a:t>
            </a:r>
          </a:p>
        </p:txBody>
      </p:sp>
      <p:sp>
        <p:nvSpPr>
          <p:cNvPr id="102"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103"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14  ·  Founding Team</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왜 이 팀이 이 문제를 해결할 수 있는가</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Founder-Market Fit</a:t>
            </a:r>
          </a:p>
        </p:txBody>
      </p:sp>
      <p:sp>
        <p:nvSpPr>
          <p:cNvPr id="6" name="Tag [정보 입력 필요] · 외부 제출 전"/>
          <p:cNvSpPr/>
          <p:nvPr/>
        </p:nvSpPr>
        <p:spPr>
          <a:xfrm>
            <a:off x="9539444" y="365760"/>
            <a:ext cx="2100868" cy="246888"/>
          </a:xfrm>
          <a:prstGeom prst="roundRect">
            <a:avLst>
              <a:gd name="adj" fmla="val 5000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E8B649"/>
                </a:solidFill>
                <a:latin typeface="Noto Sans KR SemiBold"/>
                <a:ea typeface="Noto Sans KR SemiBold"/>
                <a:cs typeface="Noto Sans KR SemiBold"/>
              </a:rPr>
              <a:t>[정보 입력 필요] · 외부 제출 전 필수</a:t>
            </a:r>
          </a:p>
        </p:txBody>
      </p:sp>
      <p:sp>
        <p:nvSpPr>
          <p:cNvPr id="7" name="Card"/>
          <p:cNvSpPr/>
          <p:nvPr/>
        </p:nvSpPr>
        <p:spPr>
          <a:xfrm>
            <a:off x="548640" y="1783080"/>
            <a:ext cx="3520440" cy="4206240"/>
          </a:xfrm>
          <a:prstGeom prst="roundRect">
            <a:avLst>
              <a:gd name="adj" fmla="val 2077"/>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hoto"/>
          <p:cNvSpPr/>
          <p:nvPr/>
        </p:nvSpPr>
        <p:spPr>
          <a:xfrm>
            <a:off x="777240" y="2011680"/>
            <a:ext cx="960120" cy="960120"/>
          </a:xfrm>
          <a:prstGeom prst="ellipse">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350008"/>
            <a:ext cx="960120" cy="274320"/>
          </a:xfrm>
          <a:prstGeom prst="rect">
            <a:avLst/>
          </a:prstGeom>
          <a:noFill/>
        </p:spPr>
        <p:txBody>
          <a:bodyPr wrap="square" lIns="0" rIns="0" tIns="0" bIns="0" anchor="t">
            <a:noAutofit/>
          </a:bodyPr>
          <a:lstStyle/>
          <a:p>
            <a:pPr algn="ctr">
              <a:lnSpc>
                <a:spcPct val="112000"/>
              </a:lnSpc>
            </a:pPr>
            <a:r>
              <a:rPr sz="850" b="0" i="0">
                <a:solidFill>
                  <a:srgbClr val="E8B649"/>
                </a:solidFill>
                <a:latin typeface="Noto Sans KR SemiBold"/>
                <a:ea typeface="Noto Sans KR SemiBold"/>
                <a:cs typeface="Noto Sans KR SemiBold"/>
              </a:rPr>
              <a:t>PHOTO</a:t>
            </a:r>
          </a:p>
        </p:txBody>
      </p:sp>
      <p:sp>
        <p:nvSpPr>
          <p:cNvPr id="10" name="TextBox 9"/>
          <p:cNvSpPr txBox="1"/>
          <p:nvPr/>
        </p:nvSpPr>
        <p:spPr>
          <a:xfrm>
            <a:off x="1920240" y="2112264"/>
            <a:ext cx="2011680" cy="201168"/>
          </a:xfrm>
          <a:prstGeom prst="rect">
            <a:avLst/>
          </a:prstGeom>
          <a:noFill/>
        </p:spPr>
        <p:txBody>
          <a:bodyPr wrap="square" lIns="0" rIns="0" tIns="0" bIns="0" anchor="t">
            <a:noAutofit/>
          </a:bodyPr>
          <a:lstStyle/>
          <a:p>
            <a:pPr algn="l">
              <a:lnSpc>
                <a:spcPct val="112000"/>
              </a:lnSpc>
            </a:pPr>
            <a:r>
              <a:rPr sz="850" b="0" i="0" spc="80">
                <a:solidFill>
                  <a:srgbClr val="EC7A3C"/>
                </a:solidFill>
                <a:latin typeface="Noto Sans KR SemiBold"/>
                <a:ea typeface="Noto Sans KR SemiBold"/>
                <a:cs typeface="Noto Sans KR SemiBold"/>
              </a:rPr>
              <a:t>FOUNDER / CEO</a:t>
            </a:r>
          </a:p>
        </p:txBody>
      </p:sp>
      <p:sp>
        <p:nvSpPr>
          <p:cNvPr id="11" name="TextBox 10"/>
          <p:cNvSpPr txBox="1"/>
          <p:nvPr/>
        </p:nvSpPr>
        <p:spPr>
          <a:xfrm>
            <a:off x="1920240" y="2350008"/>
            <a:ext cx="2011680" cy="384048"/>
          </a:xfrm>
          <a:prstGeom prst="rect">
            <a:avLst/>
          </a:prstGeom>
          <a:noFill/>
        </p:spPr>
        <p:txBody>
          <a:bodyPr wrap="square" lIns="0" rIns="0" tIns="0" bIns="0" anchor="t">
            <a:noAutofit/>
          </a:bodyPr>
          <a:lstStyle/>
          <a:p>
            <a:pPr algn="l">
              <a:lnSpc>
                <a:spcPct val="112000"/>
              </a:lnSpc>
            </a:pPr>
            <a:r>
              <a:rPr sz="2000" b="0" i="0">
                <a:solidFill>
                  <a:srgbClr val="E8B649"/>
                </a:solidFill>
                <a:latin typeface="Noto Sans KR Black"/>
                <a:ea typeface="Noto Sans KR Black"/>
                <a:cs typeface="Noto Sans KR Black"/>
              </a:rPr>
              <a:t>[이름]</a:t>
            </a:r>
          </a:p>
        </p:txBody>
      </p:sp>
      <p:sp>
        <p:nvSpPr>
          <p:cNvPr id="12" name="TextBox 11"/>
          <p:cNvSpPr txBox="1"/>
          <p:nvPr/>
        </p:nvSpPr>
        <p:spPr>
          <a:xfrm>
            <a:off x="777240" y="3154680"/>
            <a:ext cx="3108960" cy="201168"/>
          </a:xfrm>
          <a:prstGeom prst="rect">
            <a:avLst/>
          </a:prstGeom>
          <a:noFill/>
        </p:spPr>
        <p:txBody>
          <a:bodyPr wrap="square" lIns="0" rIns="0" tIns="0" bIns="0" anchor="t">
            <a:noAutofit/>
          </a:bodyPr>
          <a:lstStyle/>
          <a:p>
            <a:pPr algn="l">
              <a:lnSpc>
                <a:spcPct val="112000"/>
              </a:lnSpc>
            </a:pPr>
            <a:r>
              <a:rPr sz="850" b="0" i="0">
                <a:solidFill>
                  <a:srgbClr val="8A8F97"/>
                </a:solidFill>
                <a:latin typeface="Noto Sans KR SemiBold"/>
                <a:ea typeface="Noto Sans KR SemiBold"/>
                <a:cs typeface="Noto Sans KR SemiBold"/>
              </a:rPr>
              <a:t>사업과 직접 연결되는 경험만 기재</a:t>
            </a:r>
          </a:p>
        </p:txBody>
      </p:sp>
      <p:sp>
        <p:nvSpPr>
          <p:cNvPr id="13" name="Chip Robot"/>
          <p:cNvSpPr/>
          <p:nvPr/>
        </p:nvSpPr>
        <p:spPr>
          <a:xfrm>
            <a:off x="777240" y="3410712"/>
            <a:ext cx="496618"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Robot</a:t>
            </a:r>
          </a:p>
        </p:txBody>
      </p:sp>
      <p:sp>
        <p:nvSpPr>
          <p:cNvPr id="14" name="Chip Automation"/>
          <p:cNvSpPr/>
          <p:nvPr/>
        </p:nvSpPr>
        <p:spPr>
          <a:xfrm>
            <a:off x="1337866" y="3410712"/>
            <a:ext cx="783034"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Automation</a:t>
            </a:r>
          </a:p>
        </p:txBody>
      </p:sp>
      <p:sp>
        <p:nvSpPr>
          <p:cNvPr id="15" name="Chip Manufacturing"/>
          <p:cNvSpPr/>
          <p:nvPr/>
        </p:nvSpPr>
        <p:spPr>
          <a:xfrm>
            <a:off x="2184908" y="3410712"/>
            <a:ext cx="920790"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Manufacturing</a:t>
            </a:r>
          </a:p>
        </p:txBody>
      </p:sp>
      <p:sp>
        <p:nvSpPr>
          <p:cNvPr id="16" name="Chip AI"/>
          <p:cNvSpPr/>
          <p:nvPr/>
        </p:nvSpPr>
        <p:spPr>
          <a:xfrm>
            <a:off x="3169706" y="3410712"/>
            <a:ext cx="297791"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AI</a:t>
            </a:r>
          </a:p>
        </p:txBody>
      </p:sp>
      <p:sp>
        <p:nvSpPr>
          <p:cNvPr id="17" name="Chip Mechanical"/>
          <p:cNvSpPr/>
          <p:nvPr/>
        </p:nvSpPr>
        <p:spPr>
          <a:xfrm>
            <a:off x="777240" y="3685032"/>
            <a:ext cx="757333"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Mechanical</a:t>
            </a:r>
          </a:p>
        </p:txBody>
      </p:sp>
      <p:sp>
        <p:nvSpPr>
          <p:cNvPr id="18" name="Chip Field Integratio"/>
          <p:cNvSpPr/>
          <p:nvPr/>
        </p:nvSpPr>
        <p:spPr>
          <a:xfrm>
            <a:off x="1598581" y="3685032"/>
            <a:ext cx="1013968"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Field Integration</a:t>
            </a:r>
          </a:p>
        </p:txBody>
      </p:sp>
      <p:sp>
        <p:nvSpPr>
          <p:cNvPr id="19" name="Chip Customer Network"/>
          <p:cNvSpPr/>
          <p:nvPr/>
        </p:nvSpPr>
        <p:spPr>
          <a:xfrm>
            <a:off x="2676557" y="3685032"/>
            <a:ext cx="1123371" cy="219456"/>
          </a:xfrm>
          <a:prstGeom prst="roundRect">
            <a:avLst>
              <a:gd name="adj" fmla="val 20833"/>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00" b="0" i="0">
                <a:solidFill>
                  <a:srgbClr val="AEB3BB"/>
                </a:solidFill>
                <a:latin typeface="Noto Sans KR SemiBold"/>
                <a:ea typeface="Noto Sans KR SemiBold"/>
                <a:cs typeface="Noto Sans KR SemiBold"/>
              </a:rPr>
              <a:t>Customer Network</a:t>
            </a:r>
          </a:p>
        </p:txBody>
      </p:sp>
      <p:sp>
        <p:nvSpPr>
          <p:cNvPr id="20" name="Placeholder"/>
          <p:cNvSpPr/>
          <p:nvPr/>
        </p:nvSpPr>
        <p:spPr>
          <a:xfrm>
            <a:off x="777240" y="4069080"/>
            <a:ext cx="3063240" cy="566928"/>
          </a:xfrm>
          <a:prstGeom prst="roundRect">
            <a:avLst>
              <a:gd name="adj" fmla="val 9677"/>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91440" rIns="91440" tIns="18288" bIns="18288">
            <a:noAutofit/>
          </a:bodyPr>
          <a:lstStyle/>
          <a:p>
            <a:pPr algn="l">
              <a:lnSpc>
                <a:spcPct val="105000"/>
              </a:lnSpc>
            </a:pPr>
            <a:r>
              <a:rPr sz="900" b="0" i="0">
                <a:solidFill>
                  <a:srgbClr val="E8B649"/>
                </a:solidFill>
                <a:latin typeface="Noto Sans KR Medium"/>
                <a:ea typeface="Noto Sans KR Medium"/>
                <a:cs typeface="Noto Sans KR Medium"/>
              </a:rPr>
              <a:t>[정보 입력 필요] 산업 경력 · 직무 · 기간</a:t>
            </a:r>
          </a:p>
        </p:txBody>
      </p:sp>
      <p:sp>
        <p:nvSpPr>
          <p:cNvPr id="21" name="Placeholder"/>
          <p:cNvSpPr/>
          <p:nvPr/>
        </p:nvSpPr>
        <p:spPr>
          <a:xfrm>
            <a:off x="777240" y="4727448"/>
            <a:ext cx="3063240" cy="566928"/>
          </a:xfrm>
          <a:prstGeom prst="roundRect">
            <a:avLst>
              <a:gd name="adj" fmla="val 9677"/>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91440" rIns="91440" tIns="18288" bIns="18288">
            <a:noAutofit/>
          </a:bodyPr>
          <a:lstStyle/>
          <a:p>
            <a:pPr algn="l">
              <a:lnSpc>
                <a:spcPct val="105000"/>
              </a:lnSpc>
            </a:pPr>
            <a:r>
              <a:rPr sz="900" b="0" i="0">
                <a:solidFill>
                  <a:srgbClr val="E8B649"/>
                </a:solidFill>
                <a:latin typeface="Noto Sans KR Medium"/>
                <a:ea typeface="Noto Sans KR Medium"/>
                <a:cs typeface="Noto Sans KR Medium"/>
              </a:rPr>
              <a:t>[정보 입력 필요] Prototype · 연구실적 · 특허</a:t>
            </a:r>
          </a:p>
        </p:txBody>
      </p:sp>
      <p:sp>
        <p:nvSpPr>
          <p:cNvPr id="22" name="Card"/>
          <p:cNvSpPr/>
          <p:nvPr/>
        </p:nvSpPr>
        <p:spPr>
          <a:xfrm>
            <a:off x="4251960" y="1783080"/>
            <a:ext cx="4206240" cy="1325880"/>
          </a:xfrm>
          <a:prstGeom prst="roundRect">
            <a:avLst>
              <a:gd name="adj" fmla="val 5517"/>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34840" y="1911096"/>
            <a:ext cx="457200" cy="274320"/>
          </a:xfrm>
          <a:prstGeom prst="rect">
            <a:avLst/>
          </a:prstGeom>
          <a:noFill/>
        </p:spPr>
        <p:txBody>
          <a:bodyPr wrap="square" lIns="0" rIns="0" tIns="0" bIns="0" anchor="t">
            <a:noAutofit/>
          </a:bodyPr>
          <a:lstStyle/>
          <a:p>
            <a:pPr algn="l">
              <a:lnSpc>
                <a:spcPct val="112000"/>
              </a:lnSpc>
            </a:pPr>
            <a:r>
              <a:rPr sz="1300" b="0" i="0">
                <a:solidFill>
                  <a:srgbClr val="EC7A3C"/>
                </a:solidFill>
                <a:latin typeface="Noto Sans KR Black"/>
                <a:ea typeface="Noto Sans KR Black"/>
                <a:cs typeface="Noto Sans KR Black"/>
              </a:rPr>
              <a:t>Q1</a:t>
            </a:r>
          </a:p>
        </p:txBody>
      </p:sp>
      <p:sp>
        <p:nvSpPr>
          <p:cNvPr id="24" name="TextBox 23"/>
          <p:cNvSpPr txBox="1"/>
          <p:nvPr/>
        </p:nvSpPr>
        <p:spPr>
          <a:xfrm>
            <a:off x="4892040" y="1929384"/>
            <a:ext cx="3429000" cy="274320"/>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Black"/>
                <a:ea typeface="Noto Sans KR Black"/>
                <a:cs typeface="Noto Sans KR Black"/>
              </a:rPr>
              <a:t>왜 이 Founder가 이 문제를 발견했는가?</a:t>
            </a:r>
          </a:p>
        </p:txBody>
      </p:sp>
      <p:sp>
        <p:nvSpPr>
          <p:cNvPr id="25" name="Placeholder"/>
          <p:cNvSpPr/>
          <p:nvPr/>
        </p:nvSpPr>
        <p:spPr>
          <a:xfrm>
            <a:off x="4434840" y="2313432"/>
            <a:ext cx="3840480" cy="621792"/>
          </a:xfrm>
          <a:prstGeom prst="roundRect">
            <a:avLst>
              <a:gd name="adj" fmla="val 8823"/>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91440" rIns="91440" tIns="18288" bIns="18288">
            <a:noAutofit/>
          </a:bodyPr>
          <a:lstStyle/>
          <a:p>
            <a:pPr algn="l">
              <a:lnSpc>
                <a:spcPct val="105000"/>
              </a:lnSpc>
            </a:pPr>
            <a:r>
              <a:rPr sz="900" b="0" i="0">
                <a:solidFill>
                  <a:srgbClr val="E8B649"/>
                </a:solidFill>
                <a:latin typeface="Noto Sans KR Medium"/>
                <a:ea typeface="Noto Sans KR Medium"/>
                <a:cs typeface="Noto Sans KR Medium"/>
              </a:rPr>
              <a:t>[정보 입력 필요]  창업 계기 · 현장에서 직접 겪은 전환비용 문제</a:t>
            </a:r>
          </a:p>
        </p:txBody>
      </p:sp>
      <p:sp>
        <p:nvSpPr>
          <p:cNvPr id="26" name="Card"/>
          <p:cNvSpPr/>
          <p:nvPr/>
        </p:nvSpPr>
        <p:spPr>
          <a:xfrm>
            <a:off x="4251960" y="3227832"/>
            <a:ext cx="4206240" cy="1325880"/>
          </a:xfrm>
          <a:prstGeom prst="roundRect">
            <a:avLst>
              <a:gd name="adj" fmla="val 5517"/>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434840" y="3355848"/>
            <a:ext cx="457200" cy="274320"/>
          </a:xfrm>
          <a:prstGeom prst="rect">
            <a:avLst/>
          </a:prstGeom>
          <a:noFill/>
        </p:spPr>
        <p:txBody>
          <a:bodyPr wrap="square" lIns="0" rIns="0" tIns="0" bIns="0" anchor="t">
            <a:noAutofit/>
          </a:bodyPr>
          <a:lstStyle/>
          <a:p>
            <a:pPr algn="l">
              <a:lnSpc>
                <a:spcPct val="112000"/>
              </a:lnSpc>
            </a:pPr>
            <a:r>
              <a:rPr sz="1300" b="0" i="0">
                <a:solidFill>
                  <a:srgbClr val="EC7A3C"/>
                </a:solidFill>
                <a:latin typeface="Noto Sans KR Black"/>
                <a:ea typeface="Noto Sans KR Black"/>
                <a:cs typeface="Noto Sans KR Black"/>
              </a:rPr>
              <a:t>Q2</a:t>
            </a:r>
          </a:p>
        </p:txBody>
      </p:sp>
      <p:sp>
        <p:nvSpPr>
          <p:cNvPr id="28" name="TextBox 27"/>
          <p:cNvSpPr txBox="1"/>
          <p:nvPr/>
        </p:nvSpPr>
        <p:spPr>
          <a:xfrm>
            <a:off x="4892040" y="3374136"/>
            <a:ext cx="3429000" cy="274320"/>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Black"/>
                <a:ea typeface="Noto Sans KR Black"/>
                <a:cs typeface="Noto Sans KR Black"/>
              </a:rPr>
              <a:t>왜 이 Founder와 팀이 이 제품을 만들 수 있는가?</a:t>
            </a:r>
          </a:p>
        </p:txBody>
      </p:sp>
      <p:sp>
        <p:nvSpPr>
          <p:cNvPr id="29" name="Placeholder"/>
          <p:cNvSpPr/>
          <p:nvPr/>
        </p:nvSpPr>
        <p:spPr>
          <a:xfrm>
            <a:off x="4434840" y="3758184"/>
            <a:ext cx="3840480" cy="621792"/>
          </a:xfrm>
          <a:prstGeom prst="roundRect">
            <a:avLst>
              <a:gd name="adj" fmla="val 8823"/>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91440" rIns="91440" tIns="18288" bIns="18288">
            <a:noAutofit/>
          </a:bodyPr>
          <a:lstStyle/>
          <a:p>
            <a:pPr algn="l">
              <a:lnSpc>
                <a:spcPct val="105000"/>
              </a:lnSpc>
            </a:pPr>
            <a:r>
              <a:rPr sz="900" b="0" i="0">
                <a:solidFill>
                  <a:srgbClr val="E8B649"/>
                </a:solidFill>
                <a:latin typeface="Noto Sans KR Medium"/>
                <a:ea typeface="Noto Sans KR Medium"/>
                <a:cs typeface="Noto Sans KR Medium"/>
              </a:rPr>
              <a:t>[정보 입력 필요]  Hand 메카트로닉스 · 제어 · 현장 통합 역량의 근거</a:t>
            </a:r>
          </a:p>
        </p:txBody>
      </p:sp>
      <p:sp>
        <p:nvSpPr>
          <p:cNvPr id="30" name="Card"/>
          <p:cNvSpPr/>
          <p:nvPr/>
        </p:nvSpPr>
        <p:spPr>
          <a:xfrm>
            <a:off x="4251960" y="4672584"/>
            <a:ext cx="4206240" cy="1325880"/>
          </a:xfrm>
          <a:prstGeom prst="roundRect">
            <a:avLst>
              <a:gd name="adj" fmla="val 5517"/>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434840" y="4800600"/>
            <a:ext cx="457200" cy="274320"/>
          </a:xfrm>
          <a:prstGeom prst="rect">
            <a:avLst/>
          </a:prstGeom>
          <a:noFill/>
        </p:spPr>
        <p:txBody>
          <a:bodyPr wrap="square" lIns="0" rIns="0" tIns="0" bIns="0" anchor="t">
            <a:noAutofit/>
          </a:bodyPr>
          <a:lstStyle/>
          <a:p>
            <a:pPr algn="l">
              <a:lnSpc>
                <a:spcPct val="112000"/>
              </a:lnSpc>
            </a:pPr>
            <a:r>
              <a:rPr sz="1300" b="0" i="0">
                <a:solidFill>
                  <a:srgbClr val="EC7A3C"/>
                </a:solidFill>
                <a:latin typeface="Noto Sans KR Black"/>
                <a:ea typeface="Noto Sans KR Black"/>
                <a:cs typeface="Noto Sans KR Black"/>
              </a:rPr>
              <a:t>Q3</a:t>
            </a:r>
          </a:p>
        </p:txBody>
      </p:sp>
      <p:sp>
        <p:nvSpPr>
          <p:cNvPr id="32" name="TextBox 31"/>
          <p:cNvSpPr txBox="1"/>
          <p:nvPr/>
        </p:nvSpPr>
        <p:spPr>
          <a:xfrm>
            <a:off x="4892040" y="4818888"/>
            <a:ext cx="3429000" cy="274320"/>
          </a:xfrm>
          <a:prstGeom prst="rect">
            <a:avLst/>
          </a:prstGeom>
          <a:noFill/>
        </p:spPr>
        <p:txBody>
          <a:bodyPr wrap="square" lIns="0" rIns="0" tIns="0" bIns="0" anchor="t">
            <a:noAutofit/>
          </a:bodyPr>
          <a:lstStyle/>
          <a:p>
            <a:pPr algn="l">
              <a:lnSpc>
                <a:spcPct val="112000"/>
              </a:lnSpc>
            </a:pPr>
            <a:r>
              <a:rPr sz="1100" b="0" i="0">
                <a:solidFill>
                  <a:srgbClr val="F2F2EF"/>
                </a:solidFill>
                <a:latin typeface="Noto Sans KR Black"/>
                <a:ea typeface="Noto Sans KR Black"/>
                <a:cs typeface="Noto Sans KR Black"/>
              </a:rPr>
              <a:t>왜 이 팀이 첫 고객을 확보할 수 있는가?</a:t>
            </a:r>
          </a:p>
        </p:txBody>
      </p:sp>
      <p:sp>
        <p:nvSpPr>
          <p:cNvPr id="33" name="Placeholder"/>
          <p:cNvSpPr/>
          <p:nvPr/>
        </p:nvSpPr>
        <p:spPr>
          <a:xfrm>
            <a:off x="4434840" y="5202936"/>
            <a:ext cx="3840480" cy="621792"/>
          </a:xfrm>
          <a:prstGeom prst="roundRect">
            <a:avLst>
              <a:gd name="adj" fmla="val 8823"/>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91440" rIns="91440" tIns="18288" bIns="18288">
            <a:noAutofit/>
          </a:bodyPr>
          <a:lstStyle/>
          <a:p>
            <a:pPr algn="l">
              <a:lnSpc>
                <a:spcPct val="105000"/>
              </a:lnSpc>
            </a:pPr>
            <a:r>
              <a:rPr sz="900" b="0" i="0">
                <a:solidFill>
                  <a:srgbClr val="E8B649"/>
                </a:solidFill>
                <a:latin typeface="Noto Sans KR Medium"/>
                <a:ea typeface="Noto Sans KR Medium"/>
                <a:cs typeface="Noto Sans KR Medium"/>
              </a:rPr>
              <a:t>[정보 입력 필요]  고객 Network · 첫 Design Partner 후보 · SI 관계</a:t>
            </a:r>
          </a:p>
        </p:txBody>
      </p:sp>
      <p:sp>
        <p:nvSpPr>
          <p:cNvPr id="34" name="Card"/>
          <p:cNvSpPr/>
          <p:nvPr/>
        </p:nvSpPr>
        <p:spPr>
          <a:xfrm>
            <a:off x="8641080" y="1783080"/>
            <a:ext cx="2999232" cy="4206240"/>
          </a:xfrm>
          <a:prstGeom prst="roundRect">
            <a:avLst>
              <a:gd name="adj" fmla="val 2439"/>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bel"/>
          <p:cNvSpPr txBox="1"/>
          <p:nvPr/>
        </p:nvSpPr>
        <p:spPr>
          <a:xfrm>
            <a:off x="8823960" y="1929384"/>
            <a:ext cx="2724912" cy="201168"/>
          </a:xfrm>
          <a:prstGeom prst="rect">
            <a:avLst/>
          </a:prstGeom>
          <a:noFill/>
        </p:spPr>
        <p:txBody>
          <a:bodyPr wrap="square" lIns="0" rIns="0" tIns="0" bIns="0" anchor="t">
            <a:noAutofit/>
          </a:bodyPr>
          <a:lstStyle/>
          <a:p>
            <a:pPr algn="l">
              <a:lnSpc>
                <a:spcPct val="112000"/>
              </a:lnSpc>
            </a:pPr>
            <a:r>
              <a:rPr sz="900" b="0" i="0" spc="120">
                <a:solidFill>
                  <a:srgbClr val="EC7A3C"/>
                </a:solidFill>
                <a:latin typeface="Noto Sans KR SemiBold"/>
                <a:ea typeface="Noto Sans KR SemiBold"/>
                <a:cs typeface="Noto Sans KR SemiBold"/>
              </a:rPr>
              <a:t>Founder Commitment</a:t>
            </a:r>
          </a:p>
        </p:txBody>
      </p:sp>
      <p:sp>
        <p:nvSpPr>
          <p:cNvPr id="36" name="TextBox 35"/>
          <p:cNvSpPr txBox="1"/>
          <p:nvPr/>
        </p:nvSpPr>
        <p:spPr>
          <a:xfrm>
            <a:off x="8823960" y="2240280"/>
            <a:ext cx="1901952"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Full-time 전념</a:t>
            </a:r>
          </a:p>
        </p:txBody>
      </p:sp>
      <p:sp>
        <p:nvSpPr>
          <p:cNvPr id="37" name="check"/>
          <p:cNvSpPr/>
          <p:nvPr/>
        </p:nvSpPr>
        <p:spPr>
          <a:xfrm>
            <a:off x="10771632" y="2231136"/>
            <a:ext cx="685800" cy="237744"/>
          </a:xfrm>
          <a:prstGeom prst="roundRect">
            <a:avLst>
              <a:gd name="adj" fmla="val 1923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8B649"/>
                </a:solidFill>
                <a:latin typeface="Noto Sans KR SemiBold"/>
                <a:ea typeface="Noto Sans KR SemiBold"/>
                <a:cs typeface="Noto Sans KR SemiBold"/>
              </a:rPr>
              <a:t>[  ]</a:t>
            </a:r>
          </a:p>
        </p:txBody>
      </p:sp>
      <p:sp>
        <p:nvSpPr>
          <p:cNvPr id="38" name="TextBox 37"/>
          <p:cNvSpPr txBox="1"/>
          <p:nvPr/>
        </p:nvSpPr>
        <p:spPr>
          <a:xfrm>
            <a:off x="8823960" y="2642616"/>
            <a:ext cx="1901952"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자기자본 투자</a:t>
            </a:r>
          </a:p>
        </p:txBody>
      </p:sp>
      <p:sp>
        <p:nvSpPr>
          <p:cNvPr id="39" name="check"/>
          <p:cNvSpPr/>
          <p:nvPr/>
        </p:nvSpPr>
        <p:spPr>
          <a:xfrm>
            <a:off x="10771632" y="2633472"/>
            <a:ext cx="685800" cy="237744"/>
          </a:xfrm>
          <a:prstGeom prst="roundRect">
            <a:avLst>
              <a:gd name="adj" fmla="val 1923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8B649"/>
                </a:solidFill>
                <a:latin typeface="Noto Sans KR SemiBold"/>
                <a:ea typeface="Noto Sans KR SemiBold"/>
                <a:cs typeface="Noto Sans KR SemiBold"/>
              </a:rPr>
              <a:t>[  ]</a:t>
            </a:r>
          </a:p>
        </p:txBody>
      </p:sp>
      <p:sp>
        <p:nvSpPr>
          <p:cNvPr id="40" name="TextBox 39"/>
          <p:cNvSpPr txBox="1"/>
          <p:nvPr/>
        </p:nvSpPr>
        <p:spPr>
          <a:xfrm>
            <a:off x="8823960" y="3044952"/>
            <a:ext cx="1901952"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공동창업자</a:t>
            </a:r>
          </a:p>
        </p:txBody>
      </p:sp>
      <p:sp>
        <p:nvSpPr>
          <p:cNvPr id="41" name="check"/>
          <p:cNvSpPr/>
          <p:nvPr/>
        </p:nvSpPr>
        <p:spPr>
          <a:xfrm>
            <a:off x="10771632" y="3035808"/>
            <a:ext cx="685800" cy="237744"/>
          </a:xfrm>
          <a:prstGeom prst="roundRect">
            <a:avLst>
              <a:gd name="adj" fmla="val 1923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8B649"/>
                </a:solidFill>
                <a:latin typeface="Noto Sans KR SemiBold"/>
                <a:ea typeface="Noto Sans KR SemiBold"/>
                <a:cs typeface="Noto Sans KR SemiBold"/>
              </a:rPr>
              <a:t>[  ]</a:t>
            </a:r>
          </a:p>
        </p:txBody>
      </p:sp>
      <p:sp>
        <p:nvSpPr>
          <p:cNvPr id="42" name="TextBox 41"/>
          <p:cNvSpPr txBox="1"/>
          <p:nvPr/>
        </p:nvSpPr>
        <p:spPr>
          <a:xfrm>
            <a:off x="8823960" y="3447288"/>
            <a:ext cx="1901952"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Prototype 경험</a:t>
            </a:r>
          </a:p>
        </p:txBody>
      </p:sp>
      <p:sp>
        <p:nvSpPr>
          <p:cNvPr id="43" name="check"/>
          <p:cNvSpPr/>
          <p:nvPr/>
        </p:nvSpPr>
        <p:spPr>
          <a:xfrm>
            <a:off x="10771632" y="3438144"/>
            <a:ext cx="685800" cy="237744"/>
          </a:xfrm>
          <a:prstGeom prst="roundRect">
            <a:avLst>
              <a:gd name="adj" fmla="val 1923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8B649"/>
                </a:solidFill>
                <a:latin typeface="Noto Sans KR SemiBold"/>
                <a:ea typeface="Noto Sans KR SemiBold"/>
                <a:cs typeface="Noto Sans KR SemiBold"/>
              </a:rPr>
              <a:t>[  ]</a:t>
            </a:r>
          </a:p>
        </p:txBody>
      </p:sp>
      <p:sp>
        <p:nvSpPr>
          <p:cNvPr id="44" name="TextBox 43"/>
          <p:cNvSpPr txBox="1"/>
          <p:nvPr/>
        </p:nvSpPr>
        <p:spPr>
          <a:xfrm>
            <a:off x="8823960" y="3849624"/>
            <a:ext cx="1901952"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연구실적</a:t>
            </a:r>
          </a:p>
        </p:txBody>
      </p:sp>
      <p:sp>
        <p:nvSpPr>
          <p:cNvPr id="45" name="check"/>
          <p:cNvSpPr/>
          <p:nvPr/>
        </p:nvSpPr>
        <p:spPr>
          <a:xfrm>
            <a:off x="10771632" y="3840480"/>
            <a:ext cx="685800" cy="237744"/>
          </a:xfrm>
          <a:prstGeom prst="roundRect">
            <a:avLst>
              <a:gd name="adj" fmla="val 1923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8B649"/>
                </a:solidFill>
                <a:latin typeface="Noto Sans KR SemiBold"/>
                <a:ea typeface="Noto Sans KR SemiBold"/>
                <a:cs typeface="Noto Sans KR SemiBold"/>
              </a:rPr>
              <a:t>[  ]</a:t>
            </a:r>
          </a:p>
        </p:txBody>
      </p:sp>
      <p:sp>
        <p:nvSpPr>
          <p:cNvPr id="46" name="TextBox 45"/>
          <p:cNvSpPr txBox="1"/>
          <p:nvPr/>
        </p:nvSpPr>
        <p:spPr>
          <a:xfrm>
            <a:off x="8823960" y="4251960"/>
            <a:ext cx="1901952"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특허</a:t>
            </a:r>
          </a:p>
        </p:txBody>
      </p:sp>
      <p:sp>
        <p:nvSpPr>
          <p:cNvPr id="47" name="check"/>
          <p:cNvSpPr/>
          <p:nvPr/>
        </p:nvSpPr>
        <p:spPr>
          <a:xfrm>
            <a:off x="10771632" y="4242816"/>
            <a:ext cx="685800" cy="237744"/>
          </a:xfrm>
          <a:prstGeom prst="roundRect">
            <a:avLst>
              <a:gd name="adj" fmla="val 1923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8B649"/>
                </a:solidFill>
                <a:latin typeface="Noto Sans KR SemiBold"/>
                <a:ea typeface="Noto Sans KR SemiBold"/>
                <a:cs typeface="Noto Sans KR SemiBold"/>
              </a:rPr>
              <a:t>[  ]</a:t>
            </a:r>
          </a:p>
        </p:txBody>
      </p:sp>
      <p:sp>
        <p:nvSpPr>
          <p:cNvPr id="48" name="TextBox 47"/>
          <p:cNvSpPr txBox="1"/>
          <p:nvPr/>
        </p:nvSpPr>
        <p:spPr>
          <a:xfrm>
            <a:off x="8823960" y="4654296"/>
            <a:ext cx="1901952"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고객 네트워크</a:t>
            </a:r>
          </a:p>
        </p:txBody>
      </p:sp>
      <p:sp>
        <p:nvSpPr>
          <p:cNvPr id="49" name="check"/>
          <p:cNvSpPr/>
          <p:nvPr/>
        </p:nvSpPr>
        <p:spPr>
          <a:xfrm>
            <a:off x="10771632" y="4645152"/>
            <a:ext cx="685800" cy="237744"/>
          </a:xfrm>
          <a:prstGeom prst="roundRect">
            <a:avLst>
              <a:gd name="adj" fmla="val 1923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8B649"/>
                </a:solidFill>
                <a:latin typeface="Noto Sans KR SemiBold"/>
                <a:ea typeface="Noto Sans KR SemiBold"/>
                <a:cs typeface="Noto Sans KR SemiBold"/>
              </a:rPr>
              <a:t>[  ]</a:t>
            </a:r>
          </a:p>
        </p:txBody>
      </p:sp>
      <p:sp>
        <p:nvSpPr>
          <p:cNvPr id="50" name="TextBox 49"/>
          <p:cNvSpPr txBox="1"/>
          <p:nvPr/>
        </p:nvSpPr>
        <p:spPr>
          <a:xfrm>
            <a:off x="8823960" y="5056632"/>
            <a:ext cx="1901952"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첫 Design Partner 후보</a:t>
            </a:r>
          </a:p>
        </p:txBody>
      </p:sp>
      <p:sp>
        <p:nvSpPr>
          <p:cNvPr id="51" name="check"/>
          <p:cNvSpPr/>
          <p:nvPr/>
        </p:nvSpPr>
        <p:spPr>
          <a:xfrm>
            <a:off x="10771632" y="5047488"/>
            <a:ext cx="685800" cy="237744"/>
          </a:xfrm>
          <a:prstGeom prst="roundRect">
            <a:avLst>
              <a:gd name="adj" fmla="val 1923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8B649"/>
                </a:solidFill>
                <a:latin typeface="Noto Sans KR SemiBold"/>
                <a:ea typeface="Noto Sans KR SemiBold"/>
                <a:cs typeface="Noto Sans KR SemiBold"/>
              </a:rPr>
              <a:t>[  ]</a:t>
            </a:r>
          </a:p>
        </p:txBody>
      </p:sp>
      <p:sp>
        <p:nvSpPr>
          <p:cNvPr id="52" name="TextBox 51"/>
          <p:cNvSpPr txBox="1"/>
          <p:nvPr/>
        </p:nvSpPr>
        <p:spPr>
          <a:xfrm>
            <a:off x="8823960" y="5458968"/>
            <a:ext cx="1901952"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SemiBold"/>
                <a:ea typeface="Noto Sans KR SemiBold"/>
                <a:cs typeface="Noto Sans KR SemiBold"/>
              </a:rPr>
              <a:t>현재 직장 정리 계획</a:t>
            </a:r>
          </a:p>
        </p:txBody>
      </p:sp>
      <p:sp>
        <p:nvSpPr>
          <p:cNvPr id="53" name="check"/>
          <p:cNvSpPr/>
          <p:nvPr/>
        </p:nvSpPr>
        <p:spPr>
          <a:xfrm>
            <a:off x="10771632" y="5449824"/>
            <a:ext cx="685800" cy="237744"/>
          </a:xfrm>
          <a:prstGeom prst="roundRect">
            <a:avLst>
              <a:gd name="adj" fmla="val 1923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8B649"/>
                </a:solidFill>
                <a:latin typeface="Noto Sans KR SemiBold"/>
                <a:ea typeface="Noto Sans KR SemiBold"/>
                <a:cs typeface="Noto Sans KR SemiBold"/>
              </a:rPr>
              <a:t>[  ]</a:t>
            </a:r>
          </a:p>
        </p:txBody>
      </p:sp>
      <p:sp>
        <p:nvSpPr>
          <p:cNvPr id="54" name="TextBox 53"/>
          <p:cNvSpPr txBox="1"/>
          <p:nvPr/>
        </p:nvSpPr>
        <p:spPr>
          <a:xfrm>
            <a:off x="548640" y="6108192"/>
            <a:ext cx="11091672" cy="274320"/>
          </a:xfrm>
          <a:prstGeom prst="rect">
            <a:avLst/>
          </a:prstGeom>
          <a:noFill/>
        </p:spPr>
        <p:txBody>
          <a:bodyPr wrap="square" lIns="0" rIns="0" tIns="0" bIns="0" anchor="t">
            <a:noAutofit/>
          </a:bodyPr>
          <a:lstStyle/>
          <a:p>
            <a:pPr algn="l">
              <a:lnSpc>
                <a:spcPct val="112000"/>
              </a:lnSpc>
            </a:pPr>
            <a:r>
              <a:rPr sz="900" b="0" i="0">
                <a:solidFill>
                  <a:srgbClr val="EC7A3C"/>
                </a:solidFill>
                <a:latin typeface="Noto Sans KR SemiBold"/>
                <a:ea typeface="Noto Sans KR SemiBold"/>
                <a:cs typeface="Noto Sans KR SemiBold"/>
              </a:rPr>
              <a:t>Seed 채용 계획  </a:t>
            </a:r>
            <a:r>
              <a:rPr sz="900" b="0" i="0">
                <a:solidFill>
                  <a:srgbClr val="AEB3BB"/>
                </a:solidFill>
                <a:latin typeface="Noto Sans KR"/>
                <a:ea typeface="Noto Sans KR"/>
                <a:cs typeface="Noto Sans KR"/>
              </a:rPr>
              <a:t>창업자 2 + 핵심 6명 단계 채용 — 기구·구동 · 제어·임베디드 · Robot SW·Skill · 현장 통합(FAE) · Vision·AI · DFM·품질   |   없는 정보는 만들지 않는다</a:t>
            </a:r>
          </a:p>
        </p:txBody>
      </p:sp>
      <p:sp>
        <p:nvSpPr>
          <p:cNvPr id="55"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56"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50" b="0" i="0" spc="160">
                <a:solidFill>
                  <a:srgbClr val="EC7A3C"/>
                </a:solidFill>
                <a:latin typeface="Noto Sans KR SemiBold"/>
                <a:ea typeface="Noto Sans KR SemiBold"/>
                <a:cs typeface="Noto Sans KR SemiBold"/>
              </a:rPr>
              <a:t>15  ·  투자 제안</a:t>
            </a:r>
          </a:p>
        </p:txBody>
      </p:sp>
      <p:sp>
        <p:nvSpPr>
          <p:cNvPr id="4" name="Title"/>
          <p:cNvSpPr txBox="1"/>
          <p:nvPr/>
        </p:nvSpPr>
        <p:spPr>
          <a:xfrm>
            <a:off x="548640" y="676656"/>
            <a:ext cx="11091672" cy="548640"/>
          </a:xfrm>
          <a:prstGeom prst="rect">
            <a:avLst/>
          </a:prstGeom>
          <a:noFill/>
        </p:spPr>
        <p:txBody>
          <a:bodyPr wrap="square" lIns="0" rIns="0" tIns="0" bIns="0" anchor="t">
            <a:noAutofit/>
          </a:bodyPr>
          <a:lstStyle/>
          <a:p>
            <a:pPr algn="l">
              <a:lnSpc>
                <a:spcPct val="100000"/>
              </a:lnSpc>
            </a:pPr>
            <a:r>
              <a:rPr sz="2800" b="0" i="0">
                <a:solidFill>
                  <a:srgbClr val="F2F2EF"/>
                </a:solidFill>
                <a:latin typeface="Noto Sans KR Black"/>
                <a:ea typeface="Noto Sans KR Black"/>
                <a:cs typeface="Noto Sans KR Black"/>
              </a:rPr>
              <a:t>20억원으로 제품이 아니라 회사를 만든다</a:t>
            </a:r>
          </a:p>
        </p:txBody>
      </p:sp>
      <p:sp>
        <p:nvSpPr>
          <p:cNvPr id="5" name="Subtitle EN"/>
          <p:cNvSpPr txBox="1"/>
          <p:nvPr/>
        </p:nvSpPr>
        <p:spPr>
          <a:xfrm>
            <a:off x="548640" y="1243584"/>
            <a:ext cx="11091672" cy="292608"/>
          </a:xfrm>
          <a:prstGeom prst="rect">
            <a:avLst/>
          </a:prstGeom>
          <a:noFill/>
        </p:spPr>
        <p:txBody>
          <a:bodyPr wrap="square" lIns="0" rIns="0" tIns="0" bIns="0" anchor="t">
            <a:noAutofit/>
          </a:bodyPr>
          <a:lstStyle/>
          <a:p>
            <a:pPr algn="l">
              <a:lnSpc>
                <a:spcPct val="112000"/>
              </a:lnSpc>
            </a:pPr>
            <a:r>
              <a:rPr sz="1300" b="0" i="0" spc="20">
                <a:solidFill>
                  <a:srgbClr val="8A8F97"/>
                </a:solidFill>
                <a:latin typeface="Noto Sans KR Medium"/>
                <a:ea typeface="Noto Sans KR Medium"/>
                <a:cs typeface="Noto Sans KR Medium"/>
              </a:rPr>
              <a:t>₩2.0B to Build the Company.</a:t>
            </a:r>
          </a:p>
        </p:txBody>
      </p:sp>
      <p:sp>
        <p:nvSpPr>
          <p:cNvPr id="6" name="Seed block"/>
          <p:cNvSpPr/>
          <p:nvPr/>
        </p:nvSpPr>
        <p:spPr>
          <a:xfrm>
            <a:off x="548640" y="1783080"/>
            <a:ext cx="2377440" cy="2103120"/>
          </a:xfrm>
          <a:prstGeom prst="roundRect">
            <a:avLst>
              <a:gd name="adj" fmla="val 4347"/>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984248"/>
            <a:ext cx="2377440" cy="219456"/>
          </a:xfrm>
          <a:prstGeom prst="rect">
            <a:avLst/>
          </a:prstGeom>
          <a:noFill/>
        </p:spPr>
        <p:txBody>
          <a:bodyPr wrap="square" lIns="0" rIns="0" tIns="0" bIns="0" anchor="t">
            <a:noAutofit/>
          </a:bodyPr>
          <a:lstStyle/>
          <a:p>
            <a:pPr algn="ctr">
              <a:lnSpc>
                <a:spcPct val="112000"/>
              </a:lnSpc>
            </a:pPr>
            <a:r>
              <a:rPr sz="1000" b="0" i="0" spc="200">
                <a:solidFill>
                  <a:srgbClr val="FFFFFF"/>
                </a:solidFill>
                <a:latin typeface="Noto Sans KR SemiBold"/>
                <a:ea typeface="Noto Sans KR SemiBold"/>
                <a:cs typeface="Noto Sans KR SemiBold"/>
              </a:rPr>
              <a:t>SEED</a:t>
            </a:r>
          </a:p>
        </p:txBody>
      </p:sp>
      <p:sp>
        <p:nvSpPr>
          <p:cNvPr id="8" name="TextBox 7"/>
          <p:cNvSpPr txBox="1"/>
          <p:nvPr/>
        </p:nvSpPr>
        <p:spPr>
          <a:xfrm>
            <a:off x="548640" y="2221992"/>
            <a:ext cx="2377440" cy="731520"/>
          </a:xfrm>
          <a:prstGeom prst="rect">
            <a:avLst/>
          </a:prstGeom>
          <a:noFill/>
        </p:spPr>
        <p:txBody>
          <a:bodyPr wrap="square" lIns="0" rIns="0" tIns="0" bIns="0" anchor="t">
            <a:noAutofit/>
          </a:bodyPr>
          <a:lstStyle/>
          <a:p>
            <a:pPr algn="ctr">
              <a:lnSpc>
                <a:spcPct val="100000"/>
              </a:lnSpc>
            </a:pPr>
            <a:r>
              <a:rPr sz="3800" b="0" i="0">
                <a:solidFill>
                  <a:srgbClr val="FFFFFF"/>
                </a:solidFill>
                <a:latin typeface="Noto Sans KR Black"/>
                <a:ea typeface="Noto Sans KR Black"/>
                <a:cs typeface="Noto Sans KR Black"/>
              </a:rPr>
              <a:t>₩2.0B</a:t>
            </a:r>
          </a:p>
        </p:txBody>
      </p:sp>
      <p:sp>
        <p:nvSpPr>
          <p:cNvPr id="9" name="TextBox 8"/>
          <p:cNvSpPr txBox="1"/>
          <p:nvPr/>
        </p:nvSpPr>
        <p:spPr>
          <a:xfrm>
            <a:off x="548640" y="2971800"/>
            <a:ext cx="2377440" cy="548640"/>
          </a:xfrm>
          <a:prstGeom prst="rect">
            <a:avLst/>
          </a:prstGeom>
          <a:noFill/>
        </p:spPr>
        <p:txBody>
          <a:bodyPr wrap="square" lIns="0" rIns="0" tIns="0" bIns="0" anchor="t">
            <a:noAutofit/>
          </a:bodyPr>
          <a:lstStyle/>
          <a:p>
            <a:pPr algn="ctr">
              <a:lnSpc>
                <a:spcPct val="115000"/>
              </a:lnSpc>
            </a:pPr>
            <a:r>
              <a:rPr sz="1000" b="0" i="0">
                <a:solidFill>
                  <a:srgbClr val="FFFFFF"/>
                </a:solidFill>
                <a:latin typeface="Noto Sans KR SemiBold"/>
                <a:ea typeface="Noto Sans KR SemiBold"/>
                <a:cs typeface="Noto Sans KR SemiBold"/>
              </a:rPr>
              <a:t>20억원 · 24개월</a:t>
            </a:r>
          </a:p>
          <a:p>
            <a:pPr algn="ctr">
              <a:lnSpc>
                <a:spcPct val="115000"/>
              </a:lnSpc>
            </a:pPr>
            <a:r>
              <a:rPr sz="1000" b="0" i="0">
                <a:solidFill>
                  <a:srgbClr val="FFFFFF"/>
                </a:solidFill>
                <a:latin typeface="Noto Sans KR SemiBold"/>
                <a:ea typeface="Noto Sans KR SemiBold"/>
                <a:cs typeface="Noto Sans KR SemiBold"/>
              </a:rPr>
              <a:t>Company Creation Capital</a:t>
            </a:r>
          </a:p>
        </p:txBody>
      </p:sp>
      <p:sp>
        <p:nvSpPr>
          <p:cNvPr id="10" name="Card"/>
          <p:cNvSpPr/>
          <p:nvPr/>
        </p:nvSpPr>
        <p:spPr>
          <a:xfrm>
            <a:off x="3108960" y="1783080"/>
            <a:ext cx="3931920" cy="2103120"/>
          </a:xfrm>
          <a:prstGeom prst="roundRect">
            <a:avLst>
              <a:gd name="adj" fmla="val 3478"/>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bel"/>
          <p:cNvSpPr txBox="1"/>
          <p:nvPr/>
        </p:nvSpPr>
        <p:spPr>
          <a:xfrm>
            <a:off x="3291840" y="1911096"/>
            <a:ext cx="3657600" cy="201168"/>
          </a:xfrm>
          <a:prstGeom prst="rect">
            <a:avLst/>
          </a:prstGeom>
          <a:noFill/>
        </p:spPr>
        <p:txBody>
          <a:bodyPr wrap="square" lIns="0" rIns="0" tIns="0" bIns="0" anchor="t">
            <a:noAutofit/>
          </a:bodyPr>
          <a:lstStyle/>
          <a:p>
            <a:pPr algn="l">
              <a:lnSpc>
                <a:spcPct val="112000"/>
              </a:lnSpc>
            </a:pPr>
            <a:r>
              <a:rPr sz="900" b="0" i="0" spc="120">
                <a:solidFill>
                  <a:srgbClr val="EC7A3C"/>
                </a:solidFill>
                <a:latin typeface="Noto Sans KR SemiBold"/>
                <a:ea typeface="Noto Sans KR SemiBold"/>
                <a:cs typeface="Noto Sans KR SemiBold"/>
              </a:rPr>
              <a:t>집행 구조 · 18 + 6개월</a:t>
            </a:r>
          </a:p>
        </p:txBody>
      </p:sp>
      <p:sp>
        <p:nvSpPr>
          <p:cNvPr id="12" name="TextBox 11"/>
          <p:cNvSpPr txBox="1"/>
          <p:nvPr/>
        </p:nvSpPr>
        <p:spPr>
          <a:xfrm>
            <a:off x="3291840" y="2194560"/>
            <a:ext cx="2377440" cy="237744"/>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SemiBold"/>
                <a:ea typeface="Noto Sans KR SemiBold"/>
                <a:cs typeface="Noto Sans KR SemiBold"/>
              </a:rPr>
              <a:t>18개월 Core Runway</a:t>
            </a:r>
          </a:p>
        </p:txBody>
      </p:sp>
      <p:sp>
        <p:nvSpPr>
          <p:cNvPr id="13" name="TextBox 12"/>
          <p:cNvSpPr txBox="1"/>
          <p:nvPr/>
        </p:nvSpPr>
        <p:spPr>
          <a:xfrm>
            <a:off x="5943600" y="2194560"/>
            <a:ext cx="914400" cy="237744"/>
          </a:xfrm>
          <a:prstGeom prst="rect">
            <a:avLst/>
          </a:prstGeom>
          <a:noFill/>
        </p:spPr>
        <p:txBody>
          <a:bodyPr wrap="square" lIns="0" rIns="0" tIns="0" bIns="0" anchor="t">
            <a:noAutofit/>
          </a:bodyPr>
          <a:lstStyle/>
          <a:p>
            <a:pPr algn="r">
              <a:lnSpc>
                <a:spcPct val="112000"/>
              </a:lnSpc>
            </a:pPr>
            <a:r>
              <a:rPr sz="1100" b="0" i="0">
                <a:solidFill>
                  <a:srgbClr val="EC7A3C"/>
                </a:solidFill>
                <a:latin typeface="Noto Sans KR Black"/>
                <a:ea typeface="Noto Sans KR Black"/>
                <a:cs typeface="Noto Sans KR Black"/>
              </a:rPr>
              <a:t>₩13.4억</a:t>
            </a:r>
          </a:p>
        </p:txBody>
      </p:sp>
      <p:sp>
        <p:nvSpPr>
          <p:cNvPr id="14" name="TextBox 13"/>
          <p:cNvSpPr txBox="1"/>
          <p:nvPr/>
        </p:nvSpPr>
        <p:spPr>
          <a:xfrm>
            <a:off x="3291840" y="2432304"/>
            <a:ext cx="356616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M0~M18 · 설계 동결 · 첫 반복 발주까지</a:t>
            </a:r>
          </a:p>
        </p:txBody>
      </p:sp>
      <p:sp>
        <p:nvSpPr>
          <p:cNvPr id="15" name="TextBox 14"/>
          <p:cNvSpPr txBox="1"/>
          <p:nvPr/>
        </p:nvSpPr>
        <p:spPr>
          <a:xfrm>
            <a:off x="3291840" y="2743200"/>
            <a:ext cx="2377440" cy="237744"/>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SemiBold"/>
                <a:ea typeface="Noto Sans KR SemiBold"/>
                <a:cs typeface="Noto Sans KR SemiBold"/>
              </a:rPr>
              <a:t>6개월 Milestone Extension</a:t>
            </a:r>
          </a:p>
        </p:txBody>
      </p:sp>
      <p:sp>
        <p:nvSpPr>
          <p:cNvPr id="16" name="TextBox 15"/>
          <p:cNvSpPr txBox="1"/>
          <p:nvPr/>
        </p:nvSpPr>
        <p:spPr>
          <a:xfrm>
            <a:off x="5943600" y="2743200"/>
            <a:ext cx="914400" cy="237744"/>
          </a:xfrm>
          <a:prstGeom prst="rect">
            <a:avLst/>
          </a:prstGeom>
          <a:noFill/>
        </p:spPr>
        <p:txBody>
          <a:bodyPr wrap="square" lIns="0" rIns="0" tIns="0" bIns="0" anchor="t">
            <a:noAutofit/>
          </a:bodyPr>
          <a:lstStyle/>
          <a:p>
            <a:pPr algn="r">
              <a:lnSpc>
                <a:spcPct val="112000"/>
              </a:lnSpc>
            </a:pPr>
            <a:r>
              <a:rPr sz="1100" b="0" i="0">
                <a:solidFill>
                  <a:srgbClr val="EC7A3C"/>
                </a:solidFill>
                <a:latin typeface="Noto Sans KR Black"/>
                <a:ea typeface="Noto Sans KR Black"/>
                <a:cs typeface="Noto Sans KR Black"/>
              </a:rPr>
              <a:t>₩5.0억</a:t>
            </a:r>
          </a:p>
        </p:txBody>
      </p:sp>
      <p:sp>
        <p:nvSpPr>
          <p:cNvPr id="17" name="TextBox 16"/>
          <p:cNvSpPr txBox="1"/>
          <p:nvPr/>
        </p:nvSpPr>
        <p:spPr>
          <a:xfrm>
            <a:off x="3291840" y="2980944"/>
            <a:ext cx="356616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M18 Gate 통과 시 집행</a:t>
            </a:r>
          </a:p>
        </p:txBody>
      </p:sp>
      <p:sp>
        <p:nvSpPr>
          <p:cNvPr id="18" name="TextBox 17"/>
          <p:cNvSpPr txBox="1"/>
          <p:nvPr/>
        </p:nvSpPr>
        <p:spPr>
          <a:xfrm>
            <a:off x="3291840" y="3291840"/>
            <a:ext cx="2377440" cy="237744"/>
          </a:xfrm>
          <a:prstGeom prst="rect">
            <a:avLst/>
          </a:prstGeom>
          <a:noFill/>
        </p:spPr>
        <p:txBody>
          <a:bodyPr wrap="square" lIns="0" rIns="0" tIns="0" bIns="0" anchor="t">
            <a:noAutofit/>
          </a:bodyPr>
          <a:lstStyle/>
          <a:p>
            <a:pPr algn="l">
              <a:lnSpc>
                <a:spcPct val="112000"/>
              </a:lnSpc>
            </a:pPr>
            <a:r>
              <a:rPr sz="1050" b="0" i="0">
                <a:solidFill>
                  <a:srgbClr val="F2F2EF"/>
                </a:solidFill>
                <a:latin typeface="Noto Sans KR SemiBold"/>
                <a:ea typeface="Noto Sans KR SemiBold"/>
                <a:cs typeface="Noto Sans KR SemiBold"/>
              </a:rPr>
              <a:t>예비비 · 운전자본</a:t>
            </a:r>
          </a:p>
        </p:txBody>
      </p:sp>
      <p:sp>
        <p:nvSpPr>
          <p:cNvPr id="19" name="TextBox 18"/>
          <p:cNvSpPr txBox="1"/>
          <p:nvPr/>
        </p:nvSpPr>
        <p:spPr>
          <a:xfrm>
            <a:off x="5943600" y="3291840"/>
            <a:ext cx="914400" cy="237744"/>
          </a:xfrm>
          <a:prstGeom prst="rect">
            <a:avLst/>
          </a:prstGeom>
          <a:noFill/>
        </p:spPr>
        <p:txBody>
          <a:bodyPr wrap="square" lIns="0" rIns="0" tIns="0" bIns="0" anchor="t">
            <a:noAutofit/>
          </a:bodyPr>
          <a:lstStyle/>
          <a:p>
            <a:pPr algn="r">
              <a:lnSpc>
                <a:spcPct val="112000"/>
              </a:lnSpc>
            </a:pPr>
            <a:r>
              <a:rPr sz="1100" b="0" i="0">
                <a:solidFill>
                  <a:srgbClr val="EC7A3C"/>
                </a:solidFill>
                <a:latin typeface="Noto Sans KR Black"/>
                <a:ea typeface="Noto Sans KR Black"/>
                <a:cs typeface="Noto Sans KR Black"/>
              </a:rPr>
              <a:t>₩1.7억</a:t>
            </a:r>
          </a:p>
        </p:txBody>
      </p:sp>
      <p:sp>
        <p:nvSpPr>
          <p:cNvPr id="20" name="TextBox 19"/>
          <p:cNvSpPr txBox="1"/>
          <p:nvPr/>
        </p:nvSpPr>
        <p:spPr>
          <a:xfrm>
            <a:off x="3291840" y="3529584"/>
            <a:ext cx="3566160" cy="201168"/>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매출 0원이어도 M24까지 집행 가능</a:t>
            </a:r>
          </a:p>
        </p:txBody>
      </p:sp>
      <p:sp>
        <p:nvSpPr>
          <p:cNvPr id="21" name="Card"/>
          <p:cNvSpPr/>
          <p:nvPr/>
        </p:nvSpPr>
        <p:spPr>
          <a:xfrm>
            <a:off x="7223760" y="1783080"/>
            <a:ext cx="4416552" cy="2103120"/>
          </a:xfrm>
          <a:prstGeom prst="roundRect">
            <a:avLst>
              <a:gd name="adj" fmla="val 3478"/>
            </a:avLst>
          </a:prstGeom>
          <a:solidFill>
            <a:srgbClr val="2E1D14"/>
          </a:solidFill>
          <a:ln w="15875">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Label"/>
          <p:cNvSpPr txBox="1"/>
          <p:nvPr/>
        </p:nvSpPr>
        <p:spPr>
          <a:xfrm>
            <a:off x="7406640" y="1911096"/>
            <a:ext cx="4142232" cy="201168"/>
          </a:xfrm>
          <a:prstGeom prst="rect">
            <a:avLst/>
          </a:prstGeom>
          <a:noFill/>
        </p:spPr>
        <p:txBody>
          <a:bodyPr wrap="square" lIns="0" rIns="0" tIns="0" bIns="0" anchor="t">
            <a:noAutofit/>
          </a:bodyPr>
          <a:lstStyle/>
          <a:p>
            <a:pPr algn="l">
              <a:lnSpc>
                <a:spcPct val="112000"/>
              </a:lnSpc>
            </a:pPr>
            <a:r>
              <a:rPr sz="900" b="0" i="0" spc="120">
                <a:solidFill>
                  <a:srgbClr val="EC7A3C"/>
                </a:solidFill>
                <a:latin typeface="Noto Sans KR SemiBold"/>
                <a:ea typeface="Noto Sans KR SemiBold"/>
                <a:cs typeface="Noto Sans KR SemiBold"/>
              </a:rPr>
              <a:t>24개월 후 Series A를 받을 수 있는 숫자</a:t>
            </a:r>
          </a:p>
        </p:txBody>
      </p:sp>
      <p:sp>
        <p:nvSpPr>
          <p:cNvPr id="23" name="TextBox 22"/>
          <p:cNvSpPr txBox="1"/>
          <p:nvPr/>
        </p:nvSpPr>
        <p:spPr>
          <a:xfrm>
            <a:off x="7406640" y="2185416"/>
            <a:ext cx="1933956" cy="18288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유료 PoC</a:t>
            </a:r>
          </a:p>
        </p:txBody>
      </p:sp>
      <p:sp>
        <p:nvSpPr>
          <p:cNvPr id="24" name="TextBox 23"/>
          <p:cNvSpPr txBox="1"/>
          <p:nvPr/>
        </p:nvSpPr>
        <p:spPr>
          <a:xfrm>
            <a:off x="7406640" y="2350008"/>
            <a:ext cx="1933956"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5건+</a:t>
            </a:r>
          </a:p>
        </p:txBody>
      </p:sp>
      <p:sp>
        <p:nvSpPr>
          <p:cNvPr id="25" name="TextBox 24"/>
          <p:cNvSpPr txBox="1"/>
          <p:nvPr/>
        </p:nvSpPr>
        <p:spPr>
          <a:xfrm>
            <a:off x="9432036" y="2185416"/>
            <a:ext cx="1933956" cy="18288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반복 고객</a:t>
            </a:r>
          </a:p>
        </p:txBody>
      </p:sp>
      <p:sp>
        <p:nvSpPr>
          <p:cNvPr id="26" name="TextBox 25"/>
          <p:cNvSpPr txBox="1"/>
          <p:nvPr/>
        </p:nvSpPr>
        <p:spPr>
          <a:xfrm>
            <a:off x="9432036" y="2350008"/>
            <a:ext cx="1933956"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2곳+</a:t>
            </a:r>
          </a:p>
        </p:txBody>
      </p:sp>
      <p:sp>
        <p:nvSpPr>
          <p:cNvPr id="27" name="TextBox 26"/>
          <p:cNvSpPr txBox="1"/>
          <p:nvPr/>
        </p:nvSpPr>
        <p:spPr>
          <a:xfrm>
            <a:off x="7406640" y="2596896"/>
            <a:ext cx="1933956" cy="18288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승인 Task 완료율</a:t>
            </a:r>
          </a:p>
        </p:txBody>
      </p:sp>
      <p:sp>
        <p:nvSpPr>
          <p:cNvPr id="28" name="TextBox 27"/>
          <p:cNvSpPr txBox="1"/>
          <p:nvPr/>
        </p:nvSpPr>
        <p:spPr>
          <a:xfrm>
            <a:off x="7406640" y="2761488"/>
            <a:ext cx="1933956"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≥95%</a:t>
            </a:r>
          </a:p>
        </p:txBody>
      </p:sp>
      <p:sp>
        <p:nvSpPr>
          <p:cNvPr id="29" name="TextBox 28"/>
          <p:cNvSpPr txBox="1"/>
          <p:nvPr/>
        </p:nvSpPr>
        <p:spPr>
          <a:xfrm>
            <a:off x="9432036" y="2596896"/>
            <a:ext cx="1933956" cy="18288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내구성</a:t>
            </a:r>
          </a:p>
        </p:txBody>
      </p:sp>
      <p:sp>
        <p:nvSpPr>
          <p:cNvPr id="30" name="TextBox 29"/>
          <p:cNvSpPr txBox="1"/>
          <p:nvPr/>
        </p:nvSpPr>
        <p:spPr>
          <a:xfrm>
            <a:off x="9432036" y="2761488"/>
            <a:ext cx="1933956"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30만 회</a:t>
            </a:r>
          </a:p>
        </p:txBody>
      </p:sp>
      <p:sp>
        <p:nvSpPr>
          <p:cNvPr id="31" name="TextBox 30"/>
          <p:cNvSpPr txBox="1"/>
          <p:nvPr/>
        </p:nvSpPr>
        <p:spPr>
          <a:xfrm>
            <a:off x="7406640" y="3008376"/>
            <a:ext cx="1933956" cy="18288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Skill 이식성</a:t>
            </a:r>
          </a:p>
        </p:txBody>
      </p:sp>
      <p:sp>
        <p:nvSpPr>
          <p:cNvPr id="32" name="TextBox 31"/>
          <p:cNvSpPr txBox="1"/>
          <p:nvPr/>
        </p:nvSpPr>
        <p:spPr>
          <a:xfrm>
            <a:off x="7406640" y="3172968"/>
            <a:ext cx="1933956"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Robot 2종</a:t>
            </a:r>
          </a:p>
        </p:txBody>
      </p:sp>
      <p:sp>
        <p:nvSpPr>
          <p:cNvPr id="33" name="TextBox 32"/>
          <p:cNvSpPr txBox="1"/>
          <p:nvPr/>
        </p:nvSpPr>
        <p:spPr>
          <a:xfrm>
            <a:off x="9432036" y="3008376"/>
            <a:ext cx="1933956" cy="18288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재사용률</a:t>
            </a:r>
          </a:p>
        </p:txBody>
      </p:sp>
      <p:sp>
        <p:nvSpPr>
          <p:cNvPr id="34" name="TextBox 33"/>
          <p:cNvSpPr txBox="1"/>
          <p:nvPr/>
        </p:nvSpPr>
        <p:spPr>
          <a:xfrm>
            <a:off x="9432036" y="3172968"/>
            <a:ext cx="1933956"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상승 추세</a:t>
            </a:r>
          </a:p>
        </p:txBody>
      </p:sp>
      <p:sp>
        <p:nvSpPr>
          <p:cNvPr id="35" name="TextBox 34"/>
          <p:cNvSpPr txBox="1"/>
          <p:nvPr/>
        </p:nvSpPr>
        <p:spPr>
          <a:xfrm>
            <a:off x="7406640" y="3419856"/>
            <a:ext cx="1933956" cy="18288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하드웨어 매출총이익률</a:t>
            </a:r>
          </a:p>
        </p:txBody>
      </p:sp>
      <p:sp>
        <p:nvSpPr>
          <p:cNvPr id="36" name="TextBox 35"/>
          <p:cNvSpPr txBox="1"/>
          <p:nvPr/>
        </p:nvSpPr>
        <p:spPr>
          <a:xfrm>
            <a:off x="7406640" y="3584448"/>
            <a:ext cx="1933956"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BOM 검증</a:t>
            </a:r>
          </a:p>
        </p:txBody>
      </p:sp>
      <p:sp>
        <p:nvSpPr>
          <p:cNvPr id="37" name="TextBox 36"/>
          <p:cNvSpPr txBox="1"/>
          <p:nvPr/>
        </p:nvSpPr>
        <p:spPr>
          <a:xfrm>
            <a:off x="9432036" y="3419856"/>
            <a:ext cx="1933956" cy="182880"/>
          </a:xfrm>
          <a:prstGeom prst="rect">
            <a:avLst/>
          </a:prstGeom>
          <a:noFill/>
        </p:spPr>
        <p:txBody>
          <a:bodyPr wrap="square" lIns="0" rIns="0" tIns="0" bIns="0" anchor="t">
            <a:noAutofit/>
          </a:bodyPr>
          <a:lstStyle/>
          <a:p>
            <a:pPr algn="l">
              <a:lnSpc>
                <a:spcPct val="112000"/>
              </a:lnSpc>
            </a:pPr>
            <a:r>
              <a:rPr sz="850" b="0" i="0">
                <a:solidFill>
                  <a:srgbClr val="AEB3BB"/>
                </a:solidFill>
                <a:latin typeface="Noto Sans KR"/>
                <a:ea typeface="Noto Sans KR"/>
                <a:cs typeface="Noto Sans KR"/>
              </a:rPr>
              <a:t>Design Partner</a:t>
            </a:r>
          </a:p>
        </p:txBody>
      </p:sp>
      <p:sp>
        <p:nvSpPr>
          <p:cNvPr id="38" name="TextBox 37"/>
          <p:cNvSpPr txBox="1"/>
          <p:nvPr/>
        </p:nvSpPr>
        <p:spPr>
          <a:xfrm>
            <a:off x="9432036" y="3584448"/>
            <a:ext cx="1933956" cy="256032"/>
          </a:xfrm>
          <a:prstGeom prst="rect">
            <a:avLst/>
          </a:prstGeom>
          <a:noFill/>
        </p:spPr>
        <p:txBody>
          <a:bodyPr wrap="square" lIns="0" rIns="0" tIns="0" bIns="0" anchor="t">
            <a:noAutofit/>
          </a:bodyPr>
          <a:lstStyle/>
          <a:p>
            <a:pPr algn="l">
              <a:lnSpc>
                <a:spcPct val="112000"/>
              </a:lnSpc>
            </a:pPr>
            <a:r>
              <a:rPr sz="1200" b="0" i="0">
                <a:solidFill>
                  <a:srgbClr val="F2F2EF"/>
                </a:solidFill>
                <a:latin typeface="Noto Sans KR Black"/>
                <a:ea typeface="Noto Sans KR Black"/>
                <a:cs typeface="Noto Sans KR Black"/>
              </a:rPr>
              <a:t>3곳</a:t>
            </a:r>
          </a:p>
        </p:txBody>
      </p:sp>
      <p:sp>
        <p:nvSpPr>
          <p:cNvPr id="39" name="Label"/>
          <p:cNvSpPr txBox="1"/>
          <p:nvPr/>
        </p:nvSpPr>
        <p:spPr>
          <a:xfrm>
            <a:off x="548640" y="4114800"/>
            <a:ext cx="7315200" cy="201168"/>
          </a:xfrm>
          <a:prstGeom prst="rect">
            <a:avLst/>
          </a:prstGeom>
          <a:noFill/>
        </p:spPr>
        <p:txBody>
          <a:bodyPr wrap="square" lIns="0" rIns="0" tIns="0" bIns="0" anchor="t">
            <a:noAutofit/>
          </a:bodyPr>
          <a:lstStyle/>
          <a:p>
            <a:pPr algn="l">
              <a:lnSpc>
                <a:spcPct val="112000"/>
              </a:lnSpc>
            </a:pPr>
            <a:r>
              <a:rPr sz="950" b="0" i="0" spc="120">
                <a:solidFill>
                  <a:srgbClr val="EC7A3C"/>
                </a:solidFill>
                <a:latin typeface="Noto Sans KR SemiBold"/>
                <a:ea typeface="Noto Sans KR SemiBold"/>
                <a:cs typeface="Noto Sans KR SemiBold"/>
              </a:rPr>
              <a:t>자금 사용 계획 · ₩20억 (24개월)</a:t>
            </a:r>
          </a:p>
        </p:txBody>
      </p:sp>
      <p:sp>
        <p:nvSpPr>
          <p:cNvPr id="40" name="uof 핵심 인력 (8명 단계 채용)"/>
          <p:cNvSpPr/>
          <p:nvPr/>
        </p:nvSpPr>
        <p:spPr>
          <a:xfrm>
            <a:off x="548640" y="4389120"/>
            <a:ext cx="5315642" cy="384048"/>
          </a:xfrm>
          <a:prstGeom prst="rect">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uof Prototype · 내구시험"/>
          <p:cNvSpPr/>
          <p:nvPr/>
        </p:nvSpPr>
        <p:spPr>
          <a:xfrm>
            <a:off x="5882570" y="4389120"/>
            <a:ext cx="1479088" cy="384048"/>
          </a:xfrm>
          <a:prstGeom prst="rect">
            <a:avLst/>
          </a:prstGeom>
          <a:solidFill>
            <a:srgbClr val="F3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uof Robot 2종 · 시험 Cell"/>
          <p:cNvSpPr/>
          <p:nvPr/>
        </p:nvSpPr>
        <p:spPr>
          <a:xfrm>
            <a:off x="7379945" y="4389120"/>
            <a:ext cx="702671" cy="384048"/>
          </a:xfrm>
          <a:prstGeom prst="rect">
            <a:avLst/>
          </a:prstGeom>
          <a:solidFill>
            <a:srgbClr val="E9E7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uof 고객 PoC · 현장통합(비청구)"/>
          <p:cNvSpPr/>
          <p:nvPr/>
        </p:nvSpPr>
        <p:spPr>
          <a:xfrm>
            <a:off x="8100904" y="4389120"/>
            <a:ext cx="647212" cy="384048"/>
          </a:xfrm>
          <a:prstGeom prst="rect">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uof SW · AI · Data"/>
          <p:cNvSpPr/>
          <p:nvPr/>
        </p:nvSpPr>
        <p:spPr>
          <a:xfrm>
            <a:off x="8766404" y="4389120"/>
            <a:ext cx="314462" cy="384048"/>
          </a:xfrm>
          <a:prstGeom prst="rect">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uof 제조 · 품질 · 안전 · IP"/>
          <p:cNvSpPr/>
          <p:nvPr/>
        </p:nvSpPr>
        <p:spPr>
          <a:xfrm>
            <a:off x="9099154" y="4389120"/>
            <a:ext cx="591754" cy="384048"/>
          </a:xfrm>
          <a:prstGeom prst="rect">
            <a:avLst/>
          </a:prstGeom>
          <a:solidFill>
            <a:srgbClr val="7378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uof Kitchen Bench Demo"/>
          <p:cNvSpPr/>
          <p:nvPr/>
        </p:nvSpPr>
        <p:spPr>
          <a:xfrm>
            <a:off x="9709196" y="4389120"/>
            <a:ext cx="148087" cy="384048"/>
          </a:xfrm>
          <a:prstGeom prst="rect">
            <a:avLst/>
          </a:prstGeom>
          <a:solidFill>
            <a:srgbClr val="4C51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uof 운영 (임차·법무·회계·보험·출장)"/>
          <p:cNvSpPr/>
          <p:nvPr/>
        </p:nvSpPr>
        <p:spPr>
          <a:xfrm>
            <a:off x="9875572" y="4389120"/>
            <a:ext cx="813587" cy="384048"/>
          </a:xfrm>
          <a:prstGeom prst="rect">
            <a:avLst/>
          </a:prstGeom>
          <a:solidFill>
            <a:srgbClr val="3B3F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uof 예비비 · 운전자본"/>
          <p:cNvSpPr/>
          <p:nvPr/>
        </p:nvSpPr>
        <p:spPr>
          <a:xfrm>
            <a:off x="10707447" y="4389120"/>
            <a:ext cx="914577" cy="384048"/>
          </a:xfrm>
          <a:prstGeom prst="rect">
            <a:avLst/>
          </a:prstGeom>
          <a:solidFill>
            <a:srgbClr val="2E3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egend"/>
          <p:cNvSpPr/>
          <p:nvPr/>
        </p:nvSpPr>
        <p:spPr>
          <a:xfrm>
            <a:off x="548640" y="4956048"/>
            <a:ext cx="118872" cy="118872"/>
          </a:xfrm>
          <a:prstGeom prst="rect">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49808" y="4901184"/>
            <a:ext cx="3474720"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핵심 인력 8명  </a:t>
            </a:r>
            <a:r>
              <a:rPr sz="950" b="0" i="0">
                <a:solidFill>
                  <a:srgbClr val="AEB3BB"/>
                </a:solidFill>
                <a:latin typeface="Noto Sans KR"/>
                <a:ea typeface="Noto Sans KR"/>
                <a:cs typeface="Noto Sans KR"/>
              </a:rPr>
              <a:t>9.6억 (48.1%)</a:t>
            </a:r>
          </a:p>
        </p:txBody>
      </p:sp>
      <p:sp>
        <p:nvSpPr>
          <p:cNvPr id="51" name="legend"/>
          <p:cNvSpPr/>
          <p:nvPr/>
        </p:nvSpPr>
        <p:spPr>
          <a:xfrm>
            <a:off x="4297680" y="4956048"/>
            <a:ext cx="118872" cy="118872"/>
          </a:xfrm>
          <a:prstGeom prst="rect">
            <a:avLst/>
          </a:prstGeom>
          <a:solidFill>
            <a:srgbClr val="F3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4498848" y="4901184"/>
            <a:ext cx="3474720"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Prototype · 내구시험  </a:t>
            </a:r>
            <a:r>
              <a:rPr sz="950" b="0" i="0">
                <a:solidFill>
                  <a:srgbClr val="AEB3BB"/>
                </a:solidFill>
                <a:latin typeface="Noto Sans KR"/>
                <a:ea typeface="Noto Sans KR"/>
                <a:cs typeface="Noto Sans KR"/>
              </a:rPr>
              <a:t>2.7억 (13.5%)</a:t>
            </a:r>
          </a:p>
        </p:txBody>
      </p:sp>
      <p:sp>
        <p:nvSpPr>
          <p:cNvPr id="53" name="legend"/>
          <p:cNvSpPr/>
          <p:nvPr/>
        </p:nvSpPr>
        <p:spPr>
          <a:xfrm>
            <a:off x="8046720" y="4956048"/>
            <a:ext cx="118872" cy="118872"/>
          </a:xfrm>
          <a:prstGeom prst="rect">
            <a:avLst/>
          </a:prstGeom>
          <a:solidFill>
            <a:srgbClr val="E9E7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247888" y="4901184"/>
            <a:ext cx="3474720"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Robot 2종 · 시험 Cell  </a:t>
            </a:r>
            <a:r>
              <a:rPr sz="950" b="0" i="0">
                <a:solidFill>
                  <a:srgbClr val="AEB3BB"/>
                </a:solidFill>
                <a:latin typeface="Noto Sans KR"/>
                <a:ea typeface="Noto Sans KR"/>
                <a:cs typeface="Noto Sans KR"/>
              </a:rPr>
              <a:t>1.3억 (6.5%)</a:t>
            </a:r>
          </a:p>
        </p:txBody>
      </p:sp>
      <p:sp>
        <p:nvSpPr>
          <p:cNvPr id="55" name="legend"/>
          <p:cNvSpPr/>
          <p:nvPr/>
        </p:nvSpPr>
        <p:spPr>
          <a:xfrm>
            <a:off x="548640" y="5230368"/>
            <a:ext cx="118872" cy="118872"/>
          </a:xfrm>
          <a:prstGeom prst="rect">
            <a:avLst/>
          </a:prstGeom>
          <a:solidFill>
            <a:srgbClr val="AEB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749808" y="5175504"/>
            <a:ext cx="3474720"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고객 PoC · 현장통합  </a:t>
            </a:r>
            <a:r>
              <a:rPr sz="950" b="0" i="0">
                <a:solidFill>
                  <a:srgbClr val="AEB3BB"/>
                </a:solidFill>
                <a:latin typeface="Noto Sans KR"/>
                <a:ea typeface="Noto Sans KR"/>
                <a:cs typeface="Noto Sans KR"/>
              </a:rPr>
              <a:t>1.2억 (6.0%)</a:t>
            </a:r>
          </a:p>
        </p:txBody>
      </p:sp>
      <p:sp>
        <p:nvSpPr>
          <p:cNvPr id="57" name="legend"/>
          <p:cNvSpPr/>
          <p:nvPr/>
        </p:nvSpPr>
        <p:spPr>
          <a:xfrm>
            <a:off x="4297680" y="5230368"/>
            <a:ext cx="118872" cy="118872"/>
          </a:xfrm>
          <a:prstGeom prst="rect">
            <a:avLst/>
          </a:prstGeom>
          <a:solidFill>
            <a:srgbClr val="8A8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498848" y="5175504"/>
            <a:ext cx="3474720"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SW · AI · Data  </a:t>
            </a:r>
            <a:r>
              <a:rPr sz="950" b="0" i="0">
                <a:solidFill>
                  <a:srgbClr val="AEB3BB"/>
                </a:solidFill>
                <a:latin typeface="Noto Sans KR"/>
                <a:ea typeface="Noto Sans KR"/>
                <a:cs typeface="Noto Sans KR"/>
              </a:rPr>
              <a:t>0.6억 (3.0%)</a:t>
            </a:r>
          </a:p>
        </p:txBody>
      </p:sp>
      <p:sp>
        <p:nvSpPr>
          <p:cNvPr id="59" name="legend"/>
          <p:cNvSpPr/>
          <p:nvPr/>
        </p:nvSpPr>
        <p:spPr>
          <a:xfrm>
            <a:off x="8046720" y="5230368"/>
            <a:ext cx="118872" cy="118872"/>
          </a:xfrm>
          <a:prstGeom prst="rect">
            <a:avLst/>
          </a:prstGeom>
          <a:solidFill>
            <a:srgbClr val="7378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247888" y="5175504"/>
            <a:ext cx="3474720"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제조 · 품질 · IP  </a:t>
            </a:r>
            <a:r>
              <a:rPr sz="950" b="0" i="0">
                <a:solidFill>
                  <a:srgbClr val="AEB3BB"/>
                </a:solidFill>
                <a:latin typeface="Noto Sans KR"/>
                <a:ea typeface="Noto Sans KR"/>
                <a:cs typeface="Noto Sans KR"/>
              </a:rPr>
              <a:t>1.1억 (5.5%)</a:t>
            </a:r>
          </a:p>
        </p:txBody>
      </p:sp>
      <p:sp>
        <p:nvSpPr>
          <p:cNvPr id="61" name="legend"/>
          <p:cNvSpPr/>
          <p:nvPr/>
        </p:nvSpPr>
        <p:spPr>
          <a:xfrm>
            <a:off x="548640" y="5504688"/>
            <a:ext cx="118872" cy="118872"/>
          </a:xfrm>
          <a:prstGeom prst="rect">
            <a:avLst/>
          </a:prstGeom>
          <a:solidFill>
            <a:srgbClr val="4C51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49808" y="5449824"/>
            <a:ext cx="3474720"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Kitchen Bench Demo  </a:t>
            </a:r>
            <a:r>
              <a:rPr sz="950" b="0" i="0">
                <a:solidFill>
                  <a:srgbClr val="AEB3BB"/>
                </a:solidFill>
                <a:latin typeface="Noto Sans KR"/>
                <a:ea typeface="Noto Sans KR"/>
                <a:cs typeface="Noto Sans KR"/>
              </a:rPr>
              <a:t>0.3억 (1.5%)</a:t>
            </a:r>
          </a:p>
        </p:txBody>
      </p:sp>
      <p:sp>
        <p:nvSpPr>
          <p:cNvPr id="63" name="legend"/>
          <p:cNvSpPr/>
          <p:nvPr/>
        </p:nvSpPr>
        <p:spPr>
          <a:xfrm>
            <a:off x="4297680" y="5504688"/>
            <a:ext cx="118872" cy="118872"/>
          </a:xfrm>
          <a:prstGeom prst="rect">
            <a:avLst/>
          </a:prstGeom>
          <a:solidFill>
            <a:srgbClr val="3B3F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4498848" y="5449824"/>
            <a:ext cx="3474720"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운영  </a:t>
            </a:r>
            <a:r>
              <a:rPr sz="950" b="0" i="0">
                <a:solidFill>
                  <a:srgbClr val="AEB3BB"/>
                </a:solidFill>
                <a:latin typeface="Noto Sans KR"/>
                <a:ea typeface="Noto Sans KR"/>
                <a:cs typeface="Noto Sans KR"/>
              </a:rPr>
              <a:t>1.5억 (7.5%)</a:t>
            </a:r>
          </a:p>
        </p:txBody>
      </p:sp>
      <p:sp>
        <p:nvSpPr>
          <p:cNvPr id="65" name="legend"/>
          <p:cNvSpPr/>
          <p:nvPr/>
        </p:nvSpPr>
        <p:spPr>
          <a:xfrm>
            <a:off x="8046720" y="5504688"/>
            <a:ext cx="118872" cy="118872"/>
          </a:xfrm>
          <a:prstGeom prst="rect">
            <a:avLst/>
          </a:prstGeom>
          <a:solidFill>
            <a:srgbClr val="2E3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8247888" y="5449824"/>
            <a:ext cx="3474720" cy="237744"/>
          </a:xfrm>
          <a:prstGeom prst="rect">
            <a:avLst/>
          </a:prstGeom>
          <a:noFill/>
        </p:spPr>
        <p:txBody>
          <a:bodyPr wrap="square" lIns="0" rIns="0" tIns="0" bIns="0" anchor="t">
            <a:noAutofit/>
          </a:bodyPr>
          <a:lstStyle/>
          <a:p>
            <a:pPr algn="l">
              <a:lnSpc>
                <a:spcPct val="112000"/>
              </a:lnSpc>
            </a:pPr>
            <a:r>
              <a:rPr sz="950" b="0" i="0">
                <a:solidFill>
                  <a:srgbClr val="F2F2EF"/>
                </a:solidFill>
                <a:latin typeface="Noto Sans KR"/>
                <a:ea typeface="Noto Sans KR"/>
                <a:cs typeface="Noto Sans KR"/>
              </a:rPr>
              <a:t>예비비 · 운전자본  </a:t>
            </a:r>
            <a:r>
              <a:rPr sz="950" b="0" i="0">
                <a:solidFill>
                  <a:srgbClr val="AEB3BB"/>
                </a:solidFill>
                <a:latin typeface="Noto Sans KR"/>
                <a:ea typeface="Noto Sans KR"/>
                <a:cs typeface="Noto Sans KR"/>
              </a:rPr>
              <a:t>1.7억 (8.4%)</a:t>
            </a:r>
          </a:p>
        </p:txBody>
      </p:sp>
      <p:sp>
        <p:nvSpPr>
          <p:cNvPr id="67" name="TextBox 66"/>
          <p:cNvSpPr txBox="1"/>
          <p:nvPr/>
        </p:nvSpPr>
        <p:spPr>
          <a:xfrm>
            <a:off x="548640" y="5897880"/>
            <a:ext cx="11091672" cy="411480"/>
          </a:xfrm>
          <a:prstGeom prst="rect">
            <a:avLst/>
          </a:prstGeom>
          <a:noFill/>
        </p:spPr>
        <p:txBody>
          <a:bodyPr wrap="square" lIns="0" rIns="0" tIns="0" bIns="0" anchor="t">
            <a:noAutofit/>
          </a:bodyPr>
          <a:lstStyle/>
          <a:p>
            <a:pPr algn="l">
              <a:lnSpc>
                <a:spcPct val="120000"/>
              </a:lnSpc>
            </a:pPr>
            <a:r>
              <a:rPr sz="900" b="0" i="0">
                <a:solidFill>
                  <a:srgbClr val="F3A574"/>
                </a:solidFill>
                <a:latin typeface="Noto Sans KR SemiBold"/>
                <a:ea typeface="Noto Sans KR SemiBold"/>
                <a:cs typeface="Noto Sans KR SemiBold"/>
              </a:rPr>
              <a:t>추가 재원 (미반영)  </a:t>
            </a:r>
            <a:r>
              <a:rPr sz="900" b="0" i="0">
                <a:solidFill>
                  <a:srgbClr val="AEB3BB"/>
                </a:solidFill>
                <a:latin typeface="Noto Sans KR"/>
                <a:ea typeface="Noto Sans KR"/>
                <a:cs typeface="Noto Sans KR"/>
              </a:rPr>
              <a:t>정부지원금 · 공동개발비는 확정 전이므로 기본 재원에서 제외   ·   </a:t>
            </a:r>
            <a:r>
              <a:rPr sz="900" b="0" i="0">
                <a:solidFill>
                  <a:srgbClr val="E8B649"/>
                </a:solidFill>
                <a:latin typeface="Noto Sans KR SemiBold"/>
                <a:ea typeface="Noto Sans KR SemiBold"/>
                <a:cs typeface="Noto Sans KR SemiBold"/>
              </a:rPr>
              <a:t>Valuation · 지분율  </a:t>
            </a:r>
            <a:r>
              <a:rPr sz="900" b="0" i="0">
                <a:solidFill>
                  <a:srgbClr val="E8B649"/>
                </a:solidFill>
                <a:latin typeface="Noto Sans KR"/>
                <a:ea typeface="Noto Sans KR"/>
                <a:cs typeface="Noto Sans KR"/>
              </a:rPr>
              <a:t>[투자 조건 입력 필요]</a:t>
            </a:r>
          </a:p>
          <a:p>
            <a:pPr algn="l">
              <a:lnSpc>
                <a:spcPct val="120000"/>
              </a:lnSpc>
            </a:pPr>
            <a:r>
              <a:rPr sz="900" b="0" i="0">
                <a:solidFill>
                  <a:srgbClr val="AEB3BB"/>
                </a:solidFill>
                <a:latin typeface="Noto Sans KR"/>
                <a:ea typeface="Noto Sans KR"/>
                <a:cs typeface="Noto Sans KR"/>
              </a:rPr>
              <a:t>인건비는 2026년 시장 수준 · 4대보험 · 퇴직충당 포함 (창업자 연 ₩5,000만, 엔지니어 연 ₩7,000만 기준) · 월별 계획과 손익계산서 연결은 Appendix A12</a:t>
            </a:r>
          </a:p>
        </p:txBody>
      </p:sp>
      <p:sp>
        <p:nvSpPr>
          <p:cNvPr id="68"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737882"/>
                </a:solidFill>
                <a:latin typeface="Noto Sans KR"/>
                <a:ea typeface="Noto Sans KR"/>
                <a:cs typeface="Noto Sans KR"/>
              </a:rPr>
              <a:t>[회사명 입력 필요]  ·  창업 및 Seed 투자 제안서  ·  대외비</a:t>
            </a:r>
          </a:p>
        </p:txBody>
      </p:sp>
      <p:sp>
        <p:nvSpPr>
          <p:cNvPr id="69"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pic>
        <p:nvPicPr>
          <p:cNvPr id="2" name="decorative glow" descr="_bg_glow.png"/>
          <p:cNvPicPr>
            <a:picLocks noChangeAspect="1"/>
          </p:cNvPicPr>
          <p:nvPr/>
        </p:nvPicPr>
        <p:blipFill>
          <a:blip r:embed="rId2"/>
          <a:stretch>
            <a:fillRect/>
          </a:stretch>
        </p:blipFill>
        <p:spPr>
          <a:xfrm>
            <a:off x="6949440" y="-548640"/>
            <a:ext cx="6035040" cy="6035040"/>
          </a:xfrm>
          <a:prstGeom prst="rect">
            <a:avLst/>
          </a:prstGeom>
        </p:spPr>
      </p:pic>
      <p:pic>
        <p:nvPicPr>
          <p:cNvPr id="3" name="SoftHand-4 on cobot rendering" descr="closing.png"/>
          <p:cNvPicPr>
            <a:picLocks noChangeAspect="1"/>
          </p:cNvPicPr>
          <p:nvPr/>
        </p:nvPicPr>
        <p:blipFill>
          <a:blip r:embed="rId3"/>
          <a:stretch>
            <a:fillRect/>
          </a:stretch>
        </p:blipFill>
        <p:spPr>
          <a:xfrm>
            <a:off x="9191322" y="502920"/>
            <a:ext cx="2099916" cy="4892040"/>
          </a:xfrm>
          <a:prstGeom prst="rect">
            <a:avLst/>
          </a:prstGeom>
        </p:spPr>
      </p:pic>
      <p:sp>
        <p:nvSpPr>
          <p:cNvPr id="4" name="Tag CONCEPT RENDERING"/>
          <p:cNvSpPr/>
          <p:nvPr/>
        </p:nvSpPr>
        <p:spPr>
          <a:xfrm>
            <a:off x="10060856" y="5413248"/>
            <a:ext cx="1579456" cy="237744"/>
          </a:xfrm>
          <a:prstGeom prst="roundRect">
            <a:avLst>
              <a:gd name="adj" fmla="val 50000"/>
            </a:avLst>
          </a:prstGeom>
          <a:noFill/>
          <a:ln w="9525">
            <a:solidFill>
              <a:srgbClr val="3C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lnSpc>
                <a:spcPct val="105000"/>
              </a:lnSpc>
            </a:pPr>
            <a:r>
              <a:rPr sz="850" b="0" i="0" spc="60">
                <a:solidFill>
                  <a:srgbClr val="AEB3BB"/>
                </a:solidFill>
                <a:latin typeface="Noto Sans KR SemiBold"/>
                <a:ea typeface="Noto Sans KR SemiBold"/>
                <a:cs typeface="Noto Sans KR SemiBold"/>
              </a:rPr>
              <a:t>CONCEPT RENDERING</a:t>
            </a:r>
          </a:p>
        </p:txBody>
      </p:sp>
      <p:sp>
        <p:nvSpPr>
          <p:cNvPr id="5" name="TextBox 4"/>
          <p:cNvSpPr txBox="1"/>
          <p:nvPr/>
        </p:nvSpPr>
        <p:spPr>
          <a:xfrm>
            <a:off x="548640" y="566928"/>
            <a:ext cx="7315200" cy="237744"/>
          </a:xfrm>
          <a:prstGeom prst="rect">
            <a:avLst/>
          </a:prstGeom>
          <a:noFill/>
        </p:spPr>
        <p:txBody>
          <a:bodyPr wrap="square" lIns="0" rIns="0" tIns="0" bIns="0" anchor="t">
            <a:noAutofit/>
          </a:bodyPr>
          <a:lstStyle/>
          <a:p>
            <a:pPr algn="l">
              <a:lnSpc>
                <a:spcPct val="112000"/>
              </a:lnSpc>
            </a:pPr>
            <a:r>
              <a:rPr sz="1050" b="0" i="0" spc="200">
                <a:solidFill>
                  <a:srgbClr val="EC7A3C"/>
                </a:solidFill>
                <a:latin typeface="Noto Sans KR SemiBold"/>
                <a:ea typeface="Noto Sans KR SemiBold"/>
                <a:cs typeface="Noto Sans KR SemiBold"/>
              </a:rPr>
              <a:t>FOUNDING &amp; SEED INVESTMENT PROPOSAL</a:t>
            </a:r>
          </a:p>
        </p:txBody>
      </p:sp>
      <p:sp>
        <p:nvSpPr>
          <p:cNvPr id="6" name="TextBox 5"/>
          <p:cNvSpPr txBox="1"/>
          <p:nvPr/>
        </p:nvSpPr>
        <p:spPr>
          <a:xfrm>
            <a:off x="548640" y="896112"/>
            <a:ext cx="7863840" cy="777240"/>
          </a:xfrm>
          <a:prstGeom prst="rect">
            <a:avLst/>
          </a:prstGeom>
          <a:noFill/>
        </p:spPr>
        <p:txBody>
          <a:bodyPr wrap="square" lIns="0" rIns="0" tIns="0" bIns="0" anchor="t">
            <a:noAutofit/>
          </a:bodyPr>
          <a:lstStyle/>
          <a:p>
            <a:pPr algn="l">
              <a:lnSpc>
                <a:spcPct val="100000"/>
              </a:lnSpc>
            </a:pPr>
            <a:r>
              <a:rPr sz="4200" b="0" i="0">
                <a:solidFill>
                  <a:srgbClr val="F2F2EF"/>
                </a:solidFill>
                <a:latin typeface="Noto Sans KR Black"/>
                <a:ea typeface="Noto Sans KR Black"/>
                <a:cs typeface="Noto Sans KR Black"/>
              </a:rPr>
              <a:t>ONE HAND. MANY TOOLS.</a:t>
            </a:r>
          </a:p>
        </p:txBody>
      </p:sp>
      <p:sp>
        <p:nvSpPr>
          <p:cNvPr id="7" name="TextBox 6"/>
          <p:cNvSpPr txBox="1"/>
          <p:nvPr/>
        </p:nvSpPr>
        <p:spPr>
          <a:xfrm>
            <a:off x="548640" y="1691640"/>
            <a:ext cx="7863840" cy="384048"/>
          </a:xfrm>
          <a:prstGeom prst="rect">
            <a:avLst/>
          </a:prstGeom>
          <a:noFill/>
        </p:spPr>
        <p:txBody>
          <a:bodyPr wrap="square" lIns="0" rIns="0" tIns="0" bIns="0" anchor="t">
            <a:noAutofit/>
          </a:bodyPr>
          <a:lstStyle/>
          <a:p>
            <a:pPr algn="l">
              <a:lnSpc>
                <a:spcPct val="112000"/>
              </a:lnSpc>
            </a:pPr>
            <a:r>
              <a:rPr sz="1900" b="0" i="0">
                <a:solidFill>
                  <a:srgbClr val="EC7A3C"/>
                </a:solidFill>
                <a:latin typeface="Noto Sans KR Black"/>
                <a:ea typeface="Noto Sans KR Black"/>
                <a:cs typeface="Noto Sans KR Black"/>
              </a:rPr>
              <a:t>Physical AI의 Manipulation Layer로 확장한다</a:t>
            </a:r>
          </a:p>
        </p:txBody>
      </p:sp>
      <p:sp>
        <p:nvSpPr>
          <p:cNvPr id="8" name="badge 1"/>
          <p:cNvSpPr/>
          <p:nvPr/>
        </p:nvSpPr>
        <p:spPr>
          <a:xfrm>
            <a:off x="548640" y="2350008"/>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50" b="0" i="0">
                <a:solidFill>
                  <a:srgbClr val="FFFFFF"/>
                </a:solidFill>
                <a:latin typeface="Noto Sans KR Black"/>
                <a:ea typeface="Noto Sans KR Black"/>
                <a:cs typeface="Noto Sans KR Black"/>
              </a:rPr>
              <a:t>1</a:t>
            </a:r>
          </a:p>
        </p:txBody>
      </p:sp>
      <p:sp>
        <p:nvSpPr>
          <p:cNvPr id="9" name="TextBox 8"/>
          <p:cNvSpPr txBox="1"/>
          <p:nvPr/>
        </p:nvSpPr>
        <p:spPr>
          <a:xfrm>
            <a:off x="960120" y="2331720"/>
            <a:ext cx="5257800" cy="310896"/>
          </a:xfrm>
          <a:prstGeom prst="rect">
            <a:avLst/>
          </a:prstGeom>
          <a:noFill/>
        </p:spPr>
        <p:txBody>
          <a:bodyPr wrap="square" lIns="0" rIns="0" tIns="0" bIns="0" anchor="t">
            <a:noAutofit/>
          </a:bodyPr>
          <a:lstStyle/>
          <a:p>
            <a:pPr algn="l">
              <a:lnSpc>
                <a:spcPct val="112000"/>
              </a:lnSpc>
            </a:pPr>
            <a:r>
              <a:rPr sz="1300" b="0" i="0">
                <a:solidFill>
                  <a:srgbClr val="F2F2EF"/>
                </a:solidFill>
                <a:latin typeface="Noto Sans KR SemiBold"/>
                <a:ea typeface="Noto Sans KR SemiBold"/>
                <a:cs typeface="Noto Sans KR SemiBold"/>
              </a:rPr>
              <a:t>기존 생산설비에서 시작합니다</a:t>
            </a:r>
          </a:p>
        </p:txBody>
      </p:sp>
      <p:sp>
        <p:nvSpPr>
          <p:cNvPr id="10" name="badge 2"/>
          <p:cNvSpPr/>
          <p:nvPr/>
        </p:nvSpPr>
        <p:spPr>
          <a:xfrm>
            <a:off x="548640" y="2862072"/>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50" b="0" i="0">
                <a:solidFill>
                  <a:srgbClr val="FFFFFF"/>
                </a:solidFill>
                <a:latin typeface="Noto Sans KR Black"/>
                <a:ea typeface="Noto Sans KR Black"/>
                <a:cs typeface="Noto Sans KR Black"/>
              </a:rPr>
              <a:t>2</a:t>
            </a:r>
          </a:p>
        </p:txBody>
      </p:sp>
      <p:sp>
        <p:nvSpPr>
          <p:cNvPr id="11" name="TextBox 10"/>
          <p:cNvSpPr txBox="1"/>
          <p:nvPr/>
        </p:nvSpPr>
        <p:spPr>
          <a:xfrm>
            <a:off x="960120" y="2843784"/>
            <a:ext cx="5257800" cy="310896"/>
          </a:xfrm>
          <a:prstGeom prst="rect">
            <a:avLst/>
          </a:prstGeom>
          <a:noFill/>
        </p:spPr>
        <p:txBody>
          <a:bodyPr wrap="square" lIns="0" rIns="0" tIns="0" bIns="0" anchor="t">
            <a:noAutofit/>
          </a:bodyPr>
          <a:lstStyle/>
          <a:p>
            <a:pPr algn="l">
              <a:lnSpc>
                <a:spcPct val="112000"/>
              </a:lnSpc>
            </a:pPr>
            <a:r>
              <a:rPr sz="1300" b="0" i="0">
                <a:solidFill>
                  <a:srgbClr val="F2F2EF"/>
                </a:solidFill>
                <a:latin typeface="Noto Sans KR SemiBold"/>
                <a:ea typeface="Noto Sans KR SemiBold"/>
                <a:cs typeface="Noto Sans KR SemiBold"/>
              </a:rPr>
              <a:t>하나의 Hand로 여러 Task를 수행하고</a:t>
            </a:r>
          </a:p>
        </p:txBody>
      </p:sp>
      <p:sp>
        <p:nvSpPr>
          <p:cNvPr id="12" name="badge 3"/>
          <p:cNvSpPr/>
          <p:nvPr/>
        </p:nvSpPr>
        <p:spPr>
          <a:xfrm>
            <a:off x="548640" y="3374136"/>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50" b="0" i="0">
                <a:solidFill>
                  <a:srgbClr val="FFFFFF"/>
                </a:solidFill>
                <a:latin typeface="Noto Sans KR Black"/>
                <a:ea typeface="Noto Sans KR Black"/>
                <a:cs typeface="Noto Sans KR Black"/>
              </a:rPr>
              <a:t>3</a:t>
            </a:r>
          </a:p>
        </p:txBody>
      </p:sp>
      <p:sp>
        <p:nvSpPr>
          <p:cNvPr id="13" name="TextBox 12"/>
          <p:cNvSpPr txBox="1"/>
          <p:nvPr/>
        </p:nvSpPr>
        <p:spPr>
          <a:xfrm>
            <a:off x="960120" y="3355848"/>
            <a:ext cx="5257800" cy="310896"/>
          </a:xfrm>
          <a:prstGeom prst="rect">
            <a:avLst/>
          </a:prstGeom>
          <a:noFill/>
        </p:spPr>
        <p:txBody>
          <a:bodyPr wrap="square" lIns="0" rIns="0" tIns="0" bIns="0" anchor="t">
            <a:noAutofit/>
          </a:bodyPr>
          <a:lstStyle/>
          <a:p>
            <a:pPr algn="l">
              <a:lnSpc>
                <a:spcPct val="112000"/>
              </a:lnSpc>
            </a:pPr>
            <a:r>
              <a:rPr sz="1300" b="0" i="0">
                <a:solidFill>
                  <a:srgbClr val="F2F2EF"/>
                </a:solidFill>
                <a:latin typeface="Noto Sans KR SemiBold"/>
                <a:ea typeface="Noto Sans KR SemiBold"/>
                <a:cs typeface="Noto Sans KR SemiBold"/>
              </a:rPr>
              <a:t>고객 프로젝트를 재사용 가능한 Skill로 제품화하고</a:t>
            </a:r>
          </a:p>
        </p:txBody>
      </p:sp>
      <p:sp>
        <p:nvSpPr>
          <p:cNvPr id="14" name="badge 4"/>
          <p:cNvSpPr/>
          <p:nvPr/>
        </p:nvSpPr>
        <p:spPr>
          <a:xfrm>
            <a:off x="548640" y="3886200"/>
            <a:ext cx="274320" cy="27432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50" b="0" i="0">
                <a:solidFill>
                  <a:srgbClr val="FFFFFF"/>
                </a:solidFill>
                <a:latin typeface="Noto Sans KR Black"/>
                <a:ea typeface="Noto Sans KR Black"/>
                <a:cs typeface="Noto Sans KR Black"/>
              </a:rPr>
              <a:t>4</a:t>
            </a:r>
          </a:p>
        </p:txBody>
      </p:sp>
      <p:sp>
        <p:nvSpPr>
          <p:cNvPr id="15" name="TextBox 14"/>
          <p:cNvSpPr txBox="1"/>
          <p:nvPr/>
        </p:nvSpPr>
        <p:spPr>
          <a:xfrm>
            <a:off x="960120" y="3867912"/>
            <a:ext cx="5257800" cy="310896"/>
          </a:xfrm>
          <a:prstGeom prst="rect">
            <a:avLst/>
          </a:prstGeom>
          <a:noFill/>
        </p:spPr>
        <p:txBody>
          <a:bodyPr wrap="square" lIns="0" rIns="0" tIns="0" bIns="0" anchor="t">
            <a:noAutofit/>
          </a:bodyPr>
          <a:lstStyle/>
          <a:p>
            <a:pPr algn="l">
              <a:lnSpc>
                <a:spcPct val="112000"/>
              </a:lnSpc>
            </a:pPr>
            <a:r>
              <a:rPr sz="1300" b="0" i="0">
                <a:solidFill>
                  <a:srgbClr val="F2F2EF"/>
                </a:solidFill>
                <a:latin typeface="Noto Sans KR SemiBold"/>
                <a:ea typeface="Noto Sans KR SemiBold"/>
                <a:cs typeface="Noto Sans KR SemiBold"/>
              </a:rPr>
              <a:t>동일 Skill을 여러 Robot에서 사용할 수 있음을 증명합니다</a:t>
            </a:r>
          </a:p>
        </p:txBody>
      </p:sp>
      <p:sp>
        <p:nvSpPr>
          <p:cNvPr id="16" name="badge 5"/>
          <p:cNvSpPr/>
          <p:nvPr/>
        </p:nvSpPr>
        <p:spPr>
          <a:xfrm>
            <a:off x="548640" y="4398264"/>
            <a:ext cx="274320" cy="274320"/>
          </a:xfrm>
          <a:prstGeom prst="ellipse">
            <a:avLst/>
          </a:prstGeom>
          <a:solidFill>
            <a:srgbClr val="2529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noAutofit/>
          </a:bodyPr>
          <a:lstStyle/>
          <a:p>
            <a:pPr algn="ctr">
              <a:lnSpc>
                <a:spcPct val="105000"/>
              </a:lnSpc>
            </a:pPr>
            <a:r>
              <a:rPr sz="950" b="0" i="0">
                <a:solidFill>
                  <a:srgbClr val="EC7A3C"/>
                </a:solidFill>
                <a:latin typeface="Noto Sans KR Black"/>
                <a:ea typeface="Noto Sans KR Black"/>
                <a:cs typeface="Noto Sans KR Black"/>
              </a:rPr>
              <a:t>5</a:t>
            </a:r>
          </a:p>
        </p:txBody>
      </p:sp>
      <p:sp>
        <p:nvSpPr>
          <p:cNvPr id="17" name="TextBox 16"/>
          <p:cNvSpPr txBox="1"/>
          <p:nvPr/>
        </p:nvSpPr>
        <p:spPr>
          <a:xfrm>
            <a:off x="960120" y="4379976"/>
            <a:ext cx="5257800" cy="310896"/>
          </a:xfrm>
          <a:prstGeom prst="rect">
            <a:avLst/>
          </a:prstGeom>
          <a:noFill/>
        </p:spPr>
        <p:txBody>
          <a:bodyPr wrap="square" lIns="0" rIns="0" tIns="0" bIns="0" anchor="t">
            <a:noAutofit/>
          </a:bodyPr>
          <a:lstStyle/>
          <a:p>
            <a:pPr algn="l">
              <a:lnSpc>
                <a:spcPct val="112000"/>
              </a:lnSpc>
            </a:pPr>
            <a:r>
              <a:rPr sz="1300" b="0" i="0">
                <a:solidFill>
                  <a:srgbClr val="F3A574"/>
                </a:solidFill>
                <a:latin typeface="Noto Sans KR Black"/>
                <a:ea typeface="Noto Sans KR Black"/>
                <a:cs typeface="Noto Sans KR Black"/>
              </a:rPr>
              <a:t>Robot OEM으로 확장해 Manipulation Layer가 됩니다</a:t>
            </a:r>
          </a:p>
        </p:txBody>
      </p:sp>
      <p:sp>
        <p:nvSpPr>
          <p:cNvPr id="18" name="TextBox 17"/>
          <p:cNvSpPr txBox="1"/>
          <p:nvPr/>
        </p:nvSpPr>
        <p:spPr>
          <a:xfrm>
            <a:off x="6355080" y="2286000"/>
            <a:ext cx="2377440" cy="420624"/>
          </a:xfrm>
          <a:prstGeom prst="rect">
            <a:avLst/>
          </a:prstGeom>
          <a:noFill/>
        </p:spPr>
        <p:txBody>
          <a:bodyPr wrap="square" lIns="0" rIns="0" tIns="0" bIns="0" anchor="t">
            <a:noAutofit/>
          </a:bodyPr>
          <a:lstStyle/>
          <a:p>
            <a:pPr algn="l">
              <a:lnSpc>
                <a:spcPct val="115000"/>
              </a:lnSpc>
            </a:pPr>
            <a:r>
              <a:rPr sz="900" b="0" i="0">
                <a:solidFill>
                  <a:srgbClr val="F2F2EF"/>
                </a:solidFill>
                <a:latin typeface="Noto Sans KR Medium"/>
                <a:ea typeface="Noto Sans KR Medium"/>
                <a:cs typeface="Noto Sans KR Medium"/>
              </a:rPr>
              <a:t>보고 판단하는 로봇은 빠르게 발전했다.</a:t>
            </a:r>
          </a:p>
          <a:p>
            <a:pPr algn="l">
              <a:lnSpc>
                <a:spcPct val="115000"/>
              </a:lnSpc>
            </a:pPr>
            <a:r>
              <a:rPr sz="900" b="0" i="0">
                <a:solidFill>
                  <a:srgbClr val="F2F2EF"/>
                </a:solidFill>
                <a:latin typeface="Noto Sans KR Medium"/>
                <a:ea typeface="Noto Sans KR Medium"/>
                <a:cs typeface="Noto Sans KR Medium"/>
              </a:rPr>
              <a:t>이제 실제 세상을 다루는 능력이 남았다.</a:t>
            </a:r>
          </a:p>
        </p:txBody>
      </p:sp>
      <p:sp>
        <p:nvSpPr>
          <p:cNvPr id="19" name="Rounded Rectangle 18"/>
          <p:cNvSpPr/>
          <p:nvPr/>
        </p:nvSpPr>
        <p:spPr>
          <a:xfrm>
            <a:off x="6355080" y="2834640"/>
            <a:ext cx="2377440" cy="457200"/>
          </a:xfrm>
          <a:prstGeom prst="roundRect">
            <a:avLst>
              <a:gd name="adj" fmla="val 1200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83096" y="2944368"/>
            <a:ext cx="640080"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Black"/>
                <a:ea typeface="Noto Sans KR Black"/>
                <a:cs typeface="Noto Sans KR Black"/>
              </a:rPr>
              <a:t>BRAIN</a:t>
            </a:r>
          </a:p>
        </p:txBody>
      </p:sp>
      <p:sp>
        <p:nvSpPr>
          <p:cNvPr id="21" name="TextBox 20"/>
          <p:cNvSpPr txBox="1"/>
          <p:nvPr/>
        </p:nvSpPr>
        <p:spPr>
          <a:xfrm>
            <a:off x="7132320" y="2880360"/>
            <a:ext cx="1508760" cy="384048"/>
          </a:xfrm>
          <a:prstGeom prst="rect">
            <a:avLst/>
          </a:prstGeom>
          <a:noFill/>
        </p:spPr>
        <p:txBody>
          <a:bodyPr wrap="square" lIns="0" rIns="0" tIns="0" bIns="0" anchor="t">
            <a:noAutofit/>
          </a:bodyPr>
          <a:lstStyle/>
          <a:p>
            <a:pPr algn="l">
              <a:lnSpc>
                <a:spcPct val="105000"/>
              </a:lnSpc>
            </a:pPr>
            <a:r>
              <a:rPr sz="850" b="0" i="0">
                <a:solidFill>
                  <a:srgbClr val="F2F2EF"/>
                </a:solidFill>
                <a:latin typeface="Noto Sans KR"/>
                <a:ea typeface="Noto Sans KR"/>
                <a:cs typeface="Noto Sans KR"/>
              </a:rPr>
              <a:t>AI / VLA</a:t>
            </a:r>
          </a:p>
          <a:p>
            <a:pPr algn="l">
              <a:lnSpc>
                <a:spcPct val="105000"/>
              </a:lnSpc>
            </a:pPr>
            <a:r>
              <a:rPr sz="850" b="0" i="0">
                <a:solidFill>
                  <a:srgbClr val="8A8F97"/>
                </a:solidFill>
                <a:latin typeface="Noto Sans KR"/>
                <a:ea typeface="Noto Sans KR"/>
                <a:cs typeface="Noto Sans KR"/>
              </a:rPr>
              <a:t>빠르게 발전</a:t>
            </a:r>
          </a:p>
        </p:txBody>
      </p:sp>
      <p:sp>
        <p:nvSpPr>
          <p:cNvPr id="22" name="Rounded Rectangle 21"/>
          <p:cNvSpPr/>
          <p:nvPr/>
        </p:nvSpPr>
        <p:spPr>
          <a:xfrm>
            <a:off x="6355080" y="3364992"/>
            <a:ext cx="2377440" cy="457200"/>
          </a:xfrm>
          <a:prstGeom prst="roundRect">
            <a:avLst>
              <a:gd name="adj" fmla="val 1200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83096" y="3474720"/>
            <a:ext cx="640080"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Black"/>
                <a:ea typeface="Noto Sans KR Black"/>
                <a:cs typeface="Noto Sans KR Black"/>
              </a:rPr>
              <a:t>EYES</a:t>
            </a:r>
          </a:p>
        </p:txBody>
      </p:sp>
      <p:sp>
        <p:nvSpPr>
          <p:cNvPr id="24" name="TextBox 23"/>
          <p:cNvSpPr txBox="1"/>
          <p:nvPr/>
        </p:nvSpPr>
        <p:spPr>
          <a:xfrm>
            <a:off x="7132320" y="3410712"/>
            <a:ext cx="1508760" cy="384048"/>
          </a:xfrm>
          <a:prstGeom prst="rect">
            <a:avLst/>
          </a:prstGeom>
          <a:noFill/>
        </p:spPr>
        <p:txBody>
          <a:bodyPr wrap="square" lIns="0" rIns="0" tIns="0" bIns="0" anchor="t">
            <a:noAutofit/>
          </a:bodyPr>
          <a:lstStyle/>
          <a:p>
            <a:pPr algn="l">
              <a:lnSpc>
                <a:spcPct val="105000"/>
              </a:lnSpc>
            </a:pPr>
            <a:r>
              <a:rPr sz="850" b="0" i="0">
                <a:solidFill>
                  <a:srgbClr val="F2F2EF"/>
                </a:solidFill>
                <a:latin typeface="Noto Sans KR"/>
                <a:ea typeface="Noto Sans KR"/>
                <a:cs typeface="Noto Sans KR"/>
              </a:rPr>
              <a:t>Vision / Edge Compute</a:t>
            </a:r>
          </a:p>
          <a:p>
            <a:pPr algn="l">
              <a:lnSpc>
                <a:spcPct val="105000"/>
              </a:lnSpc>
            </a:pPr>
            <a:r>
              <a:rPr sz="850" b="0" i="0">
                <a:solidFill>
                  <a:srgbClr val="8A8F97"/>
                </a:solidFill>
                <a:latin typeface="Noto Sans KR"/>
                <a:ea typeface="Noto Sans KR"/>
                <a:cs typeface="Noto Sans KR"/>
              </a:rPr>
              <a:t>상용 수준</a:t>
            </a:r>
          </a:p>
        </p:txBody>
      </p:sp>
      <p:sp>
        <p:nvSpPr>
          <p:cNvPr id="25" name="Rounded Rectangle 24"/>
          <p:cNvSpPr/>
          <p:nvPr/>
        </p:nvSpPr>
        <p:spPr>
          <a:xfrm>
            <a:off x="6355080" y="3895344"/>
            <a:ext cx="2377440" cy="457200"/>
          </a:xfrm>
          <a:prstGeom prst="roundRect">
            <a:avLst>
              <a:gd name="adj" fmla="val 1200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83096" y="4005072"/>
            <a:ext cx="640080" cy="237744"/>
          </a:xfrm>
          <a:prstGeom prst="rect">
            <a:avLst/>
          </a:prstGeom>
          <a:noFill/>
        </p:spPr>
        <p:txBody>
          <a:bodyPr wrap="square" lIns="0" rIns="0" tIns="0" bIns="0" anchor="t">
            <a:noAutofit/>
          </a:bodyPr>
          <a:lstStyle/>
          <a:p>
            <a:pPr algn="l">
              <a:lnSpc>
                <a:spcPct val="112000"/>
              </a:lnSpc>
            </a:pPr>
            <a:r>
              <a:rPr sz="1000" b="0" i="0">
                <a:solidFill>
                  <a:srgbClr val="F2F2EF"/>
                </a:solidFill>
                <a:latin typeface="Noto Sans KR Black"/>
                <a:ea typeface="Noto Sans KR Black"/>
                <a:cs typeface="Noto Sans KR Black"/>
              </a:rPr>
              <a:t>BODY</a:t>
            </a:r>
          </a:p>
        </p:txBody>
      </p:sp>
      <p:sp>
        <p:nvSpPr>
          <p:cNvPr id="27" name="TextBox 26"/>
          <p:cNvSpPr txBox="1"/>
          <p:nvPr/>
        </p:nvSpPr>
        <p:spPr>
          <a:xfrm>
            <a:off x="7132320" y="3941064"/>
            <a:ext cx="1508760" cy="384048"/>
          </a:xfrm>
          <a:prstGeom prst="rect">
            <a:avLst/>
          </a:prstGeom>
          <a:noFill/>
        </p:spPr>
        <p:txBody>
          <a:bodyPr wrap="square" lIns="0" rIns="0" tIns="0" bIns="0" anchor="t">
            <a:noAutofit/>
          </a:bodyPr>
          <a:lstStyle/>
          <a:p>
            <a:pPr algn="l">
              <a:lnSpc>
                <a:spcPct val="105000"/>
              </a:lnSpc>
            </a:pPr>
            <a:r>
              <a:rPr sz="850" b="0" i="0">
                <a:solidFill>
                  <a:srgbClr val="F2F2EF"/>
                </a:solidFill>
                <a:latin typeface="Noto Sans KR"/>
                <a:ea typeface="Noto Sans KR"/>
                <a:cs typeface="Noto Sans KR"/>
              </a:rPr>
              <a:t>Robot Arm / Cobot</a:t>
            </a:r>
          </a:p>
          <a:p>
            <a:pPr algn="l">
              <a:lnSpc>
                <a:spcPct val="105000"/>
              </a:lnSpc>
            </a:pPr>
            <a:r>
              <a:rPr sz="850" b="0" i="0">
                <a:solidFill>
                  <a:srgbClr val="8A8F97"/>
                </a:solidFill>
                <a:latin typeface="Noto Sans KR"/>
                <a:ea typeface="Noto Sans KR"/>
                <a:cs typeface="Noto Sans KR"/>
              </a:rPr>
              <a:t>이미 대규모 보급</a:t>
            </a:r>
          </a:p>
        </p:txBody>
      </p:sp>
      <p:sp>
        <p:nvSpPr>
          <p:cNvPr id="28" name="Rounded Rectangle 27"/>
          <p:cNvSpPr/>
          <p:nvPr/>
        </p:nvSpPr>
        <p:spPr>
          <a:xfrm>
            <a:off x="6355080" y="4425696"/>
            <a:ext cx="2377440" cy="457200"/>
          </a:xfrm>
          <a:prstGeom prst="roundRect">
            <a:avLst>
              <a:gd name="adj" fmla="val 12000"/>
            </a:avLst>
          </a:prstGeom>
          <a:solidFill>
            <a:srgbClr val="2E1D14"/>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83096" y="4535424"/>
            <a:ext cx="640080" cy="237744"/>
          </a:xfrm>
          <a:prstGeom prst="rect">
            <a:avLst/>
          </a:prstGeom>
          <a:noFill/>
        </p:spPr>
        <p:txBody>
          <a:bodyPr wrap="square" lIns="0" rIns="0" tIns="0" bIns="0" anchor="t">
            <a:noAutofit/>
          </a:bodyPr>
          <a:lstStyle/>
          <a:p>
            <a:pPr algn="l">
              <a:lnSpc>
                <a:spcPct val="112000"/>
              </a:lnSpc>
            </a:pPr>
            <a:r>
              <a:rPr sz="1000" b="0" i="0">
                <a:solidFill>
                  <a:srgbClr val="EC7A3C"/>
                </a:solidFill>
                <a:latin typeface="Noto Sans KR Black"/>
                <a:ea typeface="Noto Sans KR Black"/>
                <a:cs typeface="Noto Sans KR Black"/>
              </a:rPr>
              <a:t>HAND</a:t>
            </a:r>
          </a:p>
        </p:txBody>
      </p:sp>
      <p:sp>
        <p:nvSpPr>
          <p:cNvPr id="30" name="TextBox 29"/>
          <p:cNvSpPr txBox="1"/>
          <p:nvPr/>
        </p:nvSpPr>
        <p:spPr>
          <a:xfrm>
            <a:off x="7132320" y="4471416"/>
            <a:ext cx="1508760" cy="384048"/>
          </a:xfrm>
          <a:prstGeom prst="rect">
            <a:avLst/>
          </a:prstGeom>
          <a:noFill/>
        </p:spPr>
        <p:txBody>
          <a:bodyPr wrap="square" lIns="0" rIns="0" tIns="0" bIns="0" anchor="t">
            <a:noAutofit/>
          </a:bodyPr>
          <a:lstStyle/>
          <a:p>
            <a:pPr algn="l">
              <a:lnSpc>
                <a:spcPct val="105000"/>
              </a:lnSpc>
            </a:pPr>
            <a:r>
              <a:rPr sz="850" b="0" i="0">
                <a:solidFill>
                  <a:srgbClr val="F2F2EF"/>
                </a:solidFill>
                <a:latin typeface="Noto Sans KR"/>
                <a:ea typeface="Noto Sans KR"/>
                <a:cs typeface="Noto Sans KR"/>
              </a:rPr>
              <a:t>현실세계 Manipulation</a:t>
            </a:r>
          </a:p>
          <a:p>
            <a:pPr algn="l">
              <a:lnSpc>
                <a:spcPct val="105000"/>
              </a:lnSpc>
            </a:pPr>
            <a:r>
              <a:rPr sz="850" b="0" i="0">
                <a:solidFill>
                  <a:srgbClr val="F3A574"/>
                </a:solidFill>
                <a:latin typeface="Noto Sans KR SemiBold"/>
                <a:ea typeface="Noto Sans KR SemiBold"/>
                <a:cs typeface="Noto Sans KR SemiBold"/>
              </a:rPr>
              <a:t>여전히 어려운 문제</a:t>
            </a:r>
          </a:p>
        </p:txBody>
      </p:sp>
      <p:sp>
        <p:nvSpPr>
          <p:cNvPr id="31" name="strip"/>
          <p:cNvSpPr/>
          <p:nvPr/>
        </p:nvSpPr>
        <p:spPr>
          <a:xfrm>
            <a:off x="548640" y="5669280"/>
            <a:ext cx="1527048" cy="603504"/>
          </a:xfrm>
          <a:prstGeom prst="roundRect">
            <a:avLst>
              <a:gd name="adj" fmla="val 9090"/>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76656" y="5742432"/>
            <a:ext cx="1325880" cy="182880"/>
          </a:xfrm>
          <a:prstGeom prst="rect">
            <a:avLst/>
          </a:prstGeom>
          <a:noFill/>
        </p:spPr>
        <p:txBody>
          <a:bodyPr wrap="square" lIns="0" rIns="0" tIns="0" bIns="0" anchor="t">
            <a:noAutofit/>
          </a:bodyPr>
          <a:lstStyle/>
          <a:p>
            <a:pPr algn="l">
              <a:lnSpc>
                <a:spcPct val="112000"/>
              </a:lnSpc>
            </a:pPr>
            <a:r>
              <a:rPr sz="750" b="0" i="0" spc="100">
                <a:solidFill>
                  <a:srgbClr val="FFFFFF"/>
                </a:solidFill>
                <a:latin typeface="Noto Sans KR SemiBold"/>
                <a:ea typeface="Noto Sans KR SemiBold"/>
                <a:cs typeface="Noto Sans KR SemiBold"/>
              </a:rPr>
              <a:t>SEED ASK</a:t>
            </a:r>
          </a:p>
        </p:txBody>
      </p:sp>
      <p:sp>
        <p:nvSpPr>
          <p:cNvPr id="33" name="TextBox 32"/>
          <p:cNvSpPr txBox="1"/>
          <p:nvPr/>
        </p:nvSpPr>
        <p:spPr>
          <a:xfrm>
            <a:off x="676656" y="5925312"/>
            <a:ext cx="1325880" cy="292608"/>
          </a:xfrm>
          <a:prstGeom prst="rect">
            <a:avLst/>
          </a:prstGeom>
          <a:noFill/>
        </p:spPr>
        <p:txBody>
          <a:bodyPr wrap="square" lIns="0" rIns="0" tIns="0" bIns="0" anchor="t">
            <a:noAutofit/>
          </a:bodyPr>
          <a:lstStyle/>
          <a:p>
            <a:pPr algn="l">
              <a:lnSpc>
                <a:spcPct val="112000"/>
              </a:lnSpc>
            </a:pPr>
            <a:r>
              <a:rPr sz="1350" b="0" i="0">
                <a:solidFill>
                  <a:srgbClr val="FFFFFF"/>
                </a:solidFill>
                <a:latin typeface="Noto Sans KR Black"/>
                <a:ea typeface="Noto Sans KR Black"/>
                <a:cs typeface="Noto Sans KR Black"/>
              </a:rPr>
              <a:t>₩2.0B</a:t>
            </a:r>
          </a:p>
        </p:txBody>
      </p:sp>
      <p:sp>
        <p:nvSpPr>
          <p:cNvPr id="34" name="strip"/>
          <p:cNvSpPr/>
          <p:nvPr/>
        </p:nvSpPr>
        <p:spPr>
          <a:xfrm>
            <a:off x="2148840" y="5669280"/>
            <a:ext cx="1618488" cy="603504"/>
          </a:xfrm>
          <a:prstGeom prst="roundRect">
            <a:avLst>
              <a:gd name="adj" fmla="val 909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276856" y="5742432"/>
            <a:ext cx="1417320" cy="182880"/>
          </a:xfrm>
          <a:prstGeom prst="rect">
            <a:avLst/>
          </a:prstGeom>
          <a:noFill/>
        </p:spPr>
        <p:txBody>
          <a:bodyPr wrap="square" lIns="0" rIns="0" tIns="0" bIns="0" anchor="t">
            <a:noAutofit/>
          </a:bodyPr>
          <a:lstStyle/>
          <a:p>
            <a:pPr algn="l">
              <a:lnSpc>
                <a:spcPct val="112000"/>
              </a:lnSpc>
            </a:pPr>
            <a:r>
              <a:rPr sz="750" b="0" i="0" spc="100">
                <a:solidFill>
                  <a:srgbClr val="8A8F97"/>
                </a:solidFill>
                <a:latin typeface="Noto Sans KR SemiBold"/>
                <a:ea typeface="Noto Sans KR SemiBold"/>
                <a:cs typeface="Noto Sans KR SemiBold"/>
              </a:rPr>
              <a:t>TIMELINE</a:t>
            </a:r>
          </a:p>
        </p:txBody>
      </p:sp>
      <p:sp>
        <p:nvSpPr>
          <p:cNvPr id="36" name="TextBox 35"/>
          <p:cNvSpPr txBox="1"/>
          <p:nvPr/>
        </p:nvSpPr>
        <p:spPr>
          <a:xfrm>
            <a:off x="2276856" y="5925312"/>
            <a:ext cx="1417320" cy="292608"/>
          </a:xfrm>
          <a:prstGeom prst="rect">
            <a:avLst/>
          </a:prstGeom>
          <a:noFill/>
        </p:spPr>
        <p:txBody>
          <a:bodyPr wrap="square" lIns="0" rIns="0" tIns="0" bIns="0" anchor="t">
            <a:noAutofit/>
          </a:bodyPr>
          <a:lstStyle/>
          <a:p>
            <a:pPr algn="l">
              <a:lnSpc>
                <a:spcPct val="112000"/>
              </a:lnSpc>
            </a:pPr>
            <a:r>
              <a:rPr sz="1350" b="0" i="0">
                <a:solidFill>
                  <a:srgbClr val="F2F2EF"/>
                </a:solidFill>
                <a:latin typeface="Noto Sans KR Black"/>
                <a:ea typeface="Noto Sans KR Black"/>
                <a:cs typeface="Noto Sans KR Black"/>
              </a:rPr>
              <a:t>24 Months</a:t>
            </a:r>
          </a:p>
        </p:txBody>
      </p:sp>
      <p:sp>
        <p:nvSpPr>
          <p:cNvPr id="37" name="strip"/>
          <p:cNvSpPr/>
          <p:nvPr/>
        </p:nvSpPr>
        <p:spPr>
          <a:xfrm>
            <a:off x="3840480" y="5669280"/>
            <a:ext cx="1664208" cy="603504"/>
          </a:xfrm>
          <a:prstGeom prst="roundRect">
            <a:avLst>
              <a:gd name="adj" fmla="val 909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968496" y="5742432"/>
            <a:ext cx="1463040" cy="182880"/>
          </a:xfrm>
          <a:prstGeom prst="rect">
            <a:avLst/>
          </a:prstGeom>
          <a:noFill/>
        </p:spPr>
        <p:txBody>
          <a:bodyPr wrap="square" lIns="0" rIns="0" tIns="0" bIns="0" anchor="t">
            <a:noAutofit/>
          </a:bodyPr>
          <a:lstStyle/>
          <a:p>
            <a:pPr algn="l">
              <a:lnSpc>
                <a:spcPct val="112000"/>
              </a:lnSpc>
            </a:pPr>
            <a:r>
              <a:rPr sz="750" b="0" i="0" spc="100">
                <a:solidFill>
                  <a:srgbClr val="8A8F97"/>
                </a:solidFill>
                <a:latin typeface="Noto Sans KR SemiBold"/>
                <a:ea typeface="Noto Sans KR SemiBold"/>
                <a:cs typeface="Noto Sans KR SemiBold"/>
              </a:rPr>
              <a:t>PROVE</a:t>
            </a:r>
          </a:p>
        </p:txBody>
      </p:sp>
      <p:sp>
        <p:nvSpPr>
          <p:cNvPr id="39" name="TextBox 38"/>
          <p:cNvSpPr txBox="1"/>
          <p:nvPr/>
        </p:nvSpPr>
        <p:spPr>
          <a:xfrm>
            <a:off x="3968496" y="5925312"/>
            <a:ext cx="1463040" cy="292608"/>
          </a:xfrm>
          <a:prstGeom prst="rect">
            <a:avLst/>
          </a:prstGeom>
          <a:noFill/>
        </p:spPr>
        <p:txBody>
          <a:bodyPr wrap="square" lIns="0" rIns="0" tIns="0" bIns="0" anchor="t">
            <a:noAutofit/>
          </a:bodyPr>
          <a:lstStyle/>
          <a:p>
            <a:pPr algn="l">
              <a:lnSpc>
                <a:spcPct val="112000"/>
              </a:lnSpc>
            </a:pPr>
            <a:r>
              <a:rPr sz="1350" b="0" i="0">
                <a:solidFill>
                  <a:srgbClr val="F2F2EF"/>
                </a:solidFill>
                <a:latin typeface="Noto Sans KR Black"/>
                <a:ea typeface="Noto Sans KR Black"/>
                <a:cs typeface="Noto Sans KR Black"/>
              </a:rPr>
              <a:t>PRODUCT</a:t>
            </a:r>
          </a:p>
        </p:txBody>
      </p:sp>
      <p:sp>
        <p:nvSpPr>
          <p:cNvPr id="40" name="strip"/>
          <p:cNvSpPr/>
          <p:nvPr/>
        </p:nvSpPr>
        <p:spPr>
          <a:xfrm>
            <a:off x="5577840" y="5669280"/>
            <a:ext cx="2075688" cy="603504"/>
          </a:xfrm>
          <a:prstGeom prst="roundRect">
            <a:avLst>
              <a:gd name="adj" fmla="val 909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705856" y="5742432"/>
            <a:ext cx="1874520" cy="182880"/>
          </a:xfrm>
          <a:prstGeom prst="rect">
            <a:avLst/>
          </a:prstGeom>
          <a:noFill/>
        </p:spPr>
        <p:txBody>
          <a:bodyPr wrap="square" lIns="0" rIns="0" tIns="0" bIns="0" anchor="t">
            <a:noAutofit/>
          </a:bodyPr>
          <a:lstStyle/>
          <a:p>
            <a:pPr algn="l">
              <a:lnSpc>
                <a:spcPct val="112000"/>
              </a:lnSpc>
            </a:pPr>
            <a:r>
              <a:rPr sz="750" b="0" i="0" spc="100">
                <a:solidFill>
                  <a:srgbClr val="8A8F97"/>
                </a:solidFill>
                <a:latin typeface="Noto Sans KR SemiBold"/>
                <a:ea typeface="Noto Sans KR SemiBold"/>
                <a:cs typeface="Noto Sans KR SemiBold"/>
              </a:rPr>
              <a:t>PROVE</a:t>
            </a:r>
          </a:p>
        </p:txBody>
      </p:sp>
      <p:sp>
        <p:nvSpPr>
          <p:cNvPr id="42" name="TextBox 41"/>
          <p:cNvSpPr txBox="1"/>
          <p:nvPr/>
        </p:nvSpPr>
        <p:spPr>
          <a:xfrm>
            <a:off x="5705856" y="5925312"/>
            <a:ext cx="1874520" cy="292608"/>
          </a:xfrm>
          <a:prstGeom prst="rect">
            <a:avLst/>
          </a:prstGeom>
          <a:noFill/>
        </p:spPr>
        <p:txBody>
          <a:bodyPr wrap="square" lIns="0" rIns="0" tIns="0" bIns="0" anchor="t">
            <a:noAutofit/>
          </a:bodyPr>
          <a:lstStyle/>
          <a:p>
            <a:pPr algn="l">
              <a:lnSpc>
                <a:spcPct val="112000"/>
              </a:lnSpc>
            </a:pPr>
            <a:r>
              <a:rPr sz="1350" b="0" i="0">
                <a:solidFill>
                  <a:srgbClr val="F2F2EF"/>
                </a:solidFill>
                <a:latin typeface="Noto Sans KR Black"/>
                <a:ea typeface="Noto Sans KR Black"/>
                <a:cs typeface="Noto Sans KR Black"/>
              </a:rPr>
              <a:t>PAID CUSTOMER</a:t>
            </a:r>
          </a:p>
        </p:txBody>
      </p:sp>
      <p:sp>
        <p:nvSpPr>
          <p:cNvPr id="43" name="strip"/>
          <p:cNvSpPr/>
          <p:nvPr/>
        </p:nvSpPr>
        <p:spPr>
          <a:xfrm>
            <a:off x="7726680" y="5669280"/>
            <a:ext cx="1984248" cy="603504"/>
          </a:xfrm>
          <a:prstGeom prst="roundRect">
            <a:avLst>
              <a:gd name="adj" fmla="val 909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854696" y="5742432"/>
            <a:ext cx="1783080" cy="182880"/>
          </a:xfrm>
          <a:prstGeom prst="rect">
            <a:avLst/>
          </a:prstGeom>
          <a:noFill/>
        </p:spPr>
        <p:txBody>
          <a:bodyPr wrap="square" lIns="0" rIns="0" tIns="0" bIns="0" anchor="t">
            <a:noAutofit/>
          </a:bodyPr>
          <a:lstStyle/>
          <a:p>
            <a:pPr algn="l">
              <a:lnSpc>
                <a:spcPct val="112000"/>
              </a:lnSpc>
            </a:pPr>
            <a:r>
              <a:rPr sz="750" b="0" i="0" spc="100">
                <a:solidFill>
                  <a:srgbClr val="8A8F97"/>
                </a:solidFill>
                <a:latin typeface="Noto Sans KR SemiBold"/>
                <a:ea typeface="Noto Sans KR SemiBold"/>
                <a:cs typeface="Noto Sans KR SemiBold"/>
              </a:rPr>
              <a:t>PROVE</a:t>
            </a:r>
          </a:p>
        </p:txBody>
      </p:sp>
      <p:sp>
        <p:nvSpPr>
          <p:cNvPr id="45" name="TextBox 44"/>
          <p:cNvSpPr txBox="1"/>
          <p:nvPr/>
        </p:nvSpPr>
        <p:spPr>
          <a:xfrm>
            <a:off x="7854696" y="5925312"/>
            <a:ext cx="1783080" cy="292608"/>
          </a:xfrm>
          <a:prstGeom prst="rect">
            <a:avLst/>
          </a:prstGeom>
          <a:noFill/>
        </p:spPr>
        <p:txBody>
          <a:bodyPr wrap="square" lIns="0" rIns="0" tIns="0" bIns="0" anchor="t">
            <a:noAutofit/>
          </a:bodyPr>
          <a:lstStyle/>
          <a:p>
            <a:pPr algn="l">
              <a:lnSpc>
                <a:spcPct val="112000"/>
              </a:lnSpc>
            </a:pPr>
            <a:r>
              <a:rPr sz="1350" b="0" i="0">
                <a:solidFill>
                  <a:srgbClr val="F2F2EF"/>
                </a:solidFill>
                <a:latin typeface="Noto Sans KR Black"/>
                <a:ea typeface="Noto Sans KR Black"/>
                <a:cs typeface="Noto Sans KR Black"/>
              </a:rPr>
              <a:t>REPEATABILITY</a:t>
            </a:r>
          </a:p>
        </p:txBody>
      </p:sp>
      <p:sp>
        <p:nvSpPr>
          <p:cNvPr id="46" name="strip"/>
          <p:cNvSpPr/>
          <p:nvPr/>
        </p:nvSpPr>
        <p:spPr>
          <a:xfrm>
            <a:off x="9784080" y="5669280"/>
            <a:ext cx="1856232" cy="603504"/>
          </a:xfrm>
          <a:prstGeom prst="roundRect">
            <a:avLst>
              <a:gd name="adj" fmla="val 909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912096" y="5742432"/>
            <a:ext cx="1655064" cy="182880"/>
          </a:xfrm>
          <a:prstGeom prst="rect">
            <a:avLst/>
          </a:prstGeom>
          <a:noFill/>
        </p:spPr>
        <p:txBody>
          <a:bodyPr wrap="square" lIns="0" rIns="0" tIns="0" bIns="0" anchor="t">
            <a:noAutofit/>
          </a:bodyPr>
          <a:lstStyle/>
          <a:p>
            <a:pPr algn="l">
              <a:lnSpc>
                <a:spcPct val="112000"/>
              </a:lnSpc>
            </a:pPr>
            <a:r>
              <a:rPr sz="750" b="0" i="0" spc="100">
                <a:solidFill>
                  <a:srgbClr val="8A8F97"/>
                </a:solidFill>
                <a:latin typeface="Noto Sans KR SemiBold"/>
                <a:ea typeface="Noto Sans KR SemiBold"/>
                <a:cs typeface="Noto Sans KR SemiBold"/>
              </a:rPr>
              <a:t>PROVE</a:t>
            </a:r>
          </a:p>
        </p:txBody>
      </p:sp>
      <p:sp>
        <p:nvSpPr>
          <p:cNvPr id="48" name="TextBox 47"/>
          <p:cNvSpPr txBox="1"/>
          <p:nvPr/>
        </p:nvSpPr>
        <p:spPr>
          <a:xfrm>
            <a:off x="9912096" y="5925312"/>
            <a:ext cx="1655064" cy="292608"/>
          </a:xfrm>
          <a:prstGeom prst="rect">
            <a:avLst/>
          </a:prstGeom>
          <a:noFill/>
        </p:spPr>
        <p:txBody>
          <a:bodyPr wrap="square" lIns="0" rIns="0" tIns="0" bIns="0" anchor="t">
            <a:noAutofit/>
          </a:bodyPr>
          <a:lstStyle/>
          <a:p>
            <a:pPr algn="l">
              <a:lnSpc>
                <a:spcPct val="112000"/>
              </a:lnSpc>
            </a:pPr>
            <a:r>
              <a:rPr sz="1350" b="0" i="0">
                <a:solidFill>
                  <a:srgbClr val="F2F2EF"/>
                </a:solidFill>
                <a:latin typeface="Noto Sans KR Black"/>
                <a:ea typeface="Noto Sans KR Black"/>
                <a:cs typeface="Noto Sans KR Black"/>
              </a:rPr>
              <a:t>REUSABILITY</a:t>
            </a:r>
          </a:p>
        </p:txBody>
      </p:sp>
      <p:sp>
        <p:nvSpPr>
          <p:cNvPr id="49" name="Placeholder"/>
          <p:cNvSpPr/>
          <p:nvPr/>
        </p:nvSpPr>
        <p:spPr>
          <a:xfrm>
            <a:off x="548640" y="6400800"/>
            <a:ext cx="3840480" cy="274320"/>
          </a:xfrm>
          <a:prstGeom prst="roundRect">
            <a:avLst>
              <a:gd name="adj" fmla="val 20000"/>
            </a:avLst>
          </a:prstGeom>
          <a:solidFill>
            <a:srgbClr val="2C2615"/>
          </a:solidFill>
          <a:ln w="9525">
            <a:solidFill>
              <a:srgbClr val="E8B64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91440" rIns="91440" tIns="18288" bIns="18288">
            <a:noAutofit/>
          </a:bodyPr>
          <a:lstStyle/>
          <a:p>
            <a:pPr algn="l">
              <a:lnSpc>
                <a:spcPct val="105000"/>
              </a:lnSpc>
            </a:pPr>
            <a:r>
              <a:rPr sz="900" b="0" i="0">
                <a:solidFill>
                  <a:srgbClr val="E8B649"/>
                </a:solidFill>
                <a:latin typeface="Noto Sans KR Medium"/>
                <a:ea typeface="Noto Sans KR Medium"/>
                <a:cs typeface="Noto Sans KR Medium"/>
              </a:rPr>
              <a:t>[대표자명 · 이메일 · 연락처 입력 필요]</a:t>
            </a:r>
          </a:p>
        </p:txBody>
      </p:sp>
      <p:sp>
        <p:nvSpPr>
          <p:cNvPr id="50"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737882"/>
                </a:solidFill>
                <a:latin typeface="Noto Sans KR SemiBold"/>
                <a:ea typeface="Noto Sans KR SemiBold"/>
                <a:cs typeface="Noto Sans KR SemiBol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A1  ·  근거 상태</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무엇이 확인되었고, 무엇이 가설인가</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Evidence Status — 투자자는 미완성보다, 사실과 가설을 구분하는 Founder를 신뢰한다</a:t>
            </a:r>
          </a:p>
        </p:txBody>
      </p:sp>
      <p:graphicFrame>
        <p:nvGraphicFramePr>
          <p:cNvPr id="6" name="Evidence table"/>
          <p:cNvGraphicFramePr>
            <a:graphicFrameLocks noGrp="1"/>
          </p:cNvGraphicFramePr>
          <p:nvPr/>
        </p:nvGraphicFramePr>
        <p:xfrm>
          <a:off x="548640" y="1600200"/>
          <a:ext cx="11091672" cy="3639312"/>
        </p:xfrm>
        <a:graphic>
          <a:graphicData uri="http://schemas.openxmlformats.org/drawingml/2006/table">
            <a:tbl>
              <a:tblPr firstRow="0" bandRow="0">
                <a:tableStyleId>{5C22544A-7EE6-4342-B048-85BDC9FD1C3A}</a:tableStyleId>
              </a:tblPr>
              <a:tblGrid>
                <a:gridCol w="1833334"/>
                <a:gridCol w="6600003"/>
                <a:gridCol w="2658335"/>
              </a:tblGrid>
              <a:tr h="347472">
                <a:tc>
                  <a:txBody>
                    <a:bodyPr wrap="square"/>
                    <a:lstStyle/>
                    <a:p>
                      <a:pPr algn="l">
                        <a:lnSpc>
                          <a:spcPct val="105000"/>
                        </a:lnSpc>
                      </a:pPr>
                      <a:r>
                        <a:rPr sz="1000" b="0" i="0" spc="40">
                          <a:solidFill>
                            <a:srgbClr val="16181B"/>
                          </a:solidFill>
                          <a:latin typeface="Noto Sans KR SemiBold"/>
                          <a:ea typeface="Noto Sans KR SemiBold"/>
                          <a:cs typeface="Noto Sans KR SemiBold"/>
                        </a:rPr>
                        <a:t>구분</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spc="40">
                          <a:solidFill>
                            <a:srgbClr val="16181B"/>
                          </a:solidFill>
                          <a:latin typeface="Noto Sans KR SemiBold"/>
                          <a:ea typeface="Noto Sans KR SemiBold"/>
                          <a:cs typeface="Noto Sans KR SemiBold"/>
                        </a:rPr>
                        <a:t>현재 내용</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spc="40">
                          <a:solidFill>
                            <a:srgbClr val="16181B"/>
                          </a:solidFill>
                          <a:latin typeface="Noto Sans KR SemiBold"/>
                          <a:ea typeface="Noto Sans KR SemiBold"/>
                          <a:cs typeface="Noto Sans KR SemiBold"/>
                        </a:rPr>
                        <a:t>IR 표기 원칙</a:t>
                      </a:r>
                    </a:p>
                  </a:txBody>
                  <a:tcPr marL="73152" marR="54864" marT="27432" marB="27432" anchor="ctr">
                    <a:lnL w="9525">
                      <a:noFill/>
                    </a:lnL>
                    <a:lnR w="9525">
                      <a:noFill/>
                    </a:lnR>
                    <a:lnT w="9525">
                      <a:noFill/>
                    </a:lnT>
                    <a:lnB w="9525">
                      <a:solidFill>
                        <a:srgbClr val="DCDAD5"/>
                      </a:solidFill>
                    </a:lnB>
                    <a:noFill/>
                  </a:tcPr>
                </a:tc>
              </a:tr>
              <a:tr h="868680">
                <a:tc>
                  <a:txBody>
                    <a:bodyPr wrap="square"/>
                    <a:lstStyle/>
                    <a:p>
                      <a:pPr algn="l">
                        <a:lnSpc>
                          <a:spcPct val="105000"/>
                        </a:lnSpc>
                      </a:pPr>
                      <a:r>
                        <a:rPr sz="1000" b="0" i="0">
                          <a:solidFill>
                            <a:srgbClr val="16181B"/>
                          </a:solidFill>
                          <a:latin typeface="Noto Sans KR SemiBold"/>
                          <a:ea typeface="Noto Sans KR SemiBold"/>
                          <a:cs typeface="Noto Sans KR SemiBold"/>
                        </a:rPr>
                        <a:t>FACT (확인됨)</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사업 아이디어 · 기술 구상 · IR 초안(2026.10). 외부 시장 자료(IFR · BCG)는 출처 확인.</a:t>
                      </a:r>
                    </a:p>
                    <a:p>
                      <a:pPr algn="l">
                        <a:lnSpc>
                          <a:spcPct val="105000"/>
                        </a:lnSpc>
                      </a:pPr>
                      <a:r>
                        <a:rPr sz="1000" b="0" i="0">
                          <a:solidFill>
                            <a:srgbClr val="51565E"/>
                          </a:solidFill>
                          <a:latin typeface="Noto Sans KR"/>
                          <a:ea typeface="Noto Sans KR"/>
                          <a:cs typeface="Noto Sans KR"/>
                        </a:rPr>
                        <a:t>법인 · 창업팀 · 특허 · 시제품 · 고객계약 · 매출 · 보유자금은 확인되지 않음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회사 실적으로 표현하지 않음</a:t>
                      </a:r>
                    </a:p>
                    <a:p>
                      <a:pPr algn="l">
                        <a:lnSpc>
                          <a:spcPct val="105000"/>
                        </a:lnSpc>
                      </a:pPr>
                      <a:r>
                        <a:rPr sz="1000" b="0" i="0">
                          <a:solidFill>
                            <a:srgbClr val="51565E"/>
                          </a:solidFill>
                          <a:latin typeface="Noto Sans KR"/>
                          <a:ea typeface="Noto Sans KR"/>
                          <a:cs typeface="Noto Sans KR"/>
                        </a:rPr>
                        <a:t>→ Founding &amp; Seed Proposal</a:t>
                      </a:r>
                    </a:p>
                  </a:txBody>
                  <a:tcPr marL="73152" marR="54864" marT="27432" marB="27432" anchor="ctr">
                    <a:lnL w="9525">
                      <a:noFill/>
                    </a:lnL>
                    <a:lnR w="9525">
                      <a:noFill/>
                    </a:lnR>
                    <a:lnT w="9525">
                      <a:noFill/>
                    </a:lnT>
                    <a:lnB w="9525">
                      <a:solidFill>
                        <a:srgbClr val="DCDAD5"/>
                      </a:solidFill>
                    </a:lnB>
                    <a:noFill/>
                  </a:tcPr>
                </a:tc>
              </a:tr>
              <a:tr h="777240">
                <a:tc>
                  <a:txBody>
                    <a:bodyPr wrap="square"/>
                    <a:lstStyle/>
                    <a:p>
                      <a:pPr algn="l">
                        <a:lnSpc>
                          <a:spcPct val="105000"/>
                        </a:lnSpc>
                      </a:pPr>
                      <a:r>
                        <a:rPr sz="1000" b="0" i="0">
                          <a:solidFill>
                            <a:srgbClr val="16181B"/>
                          </a:solidFill>
                          <a:latin typeface="Noto Sans KR SemiBold"/>
                          <a:ea typeface="Noto Sans KR SemiBold"/>
                          <a:cs typeface="Noto Sans KR SemiBold"/>
                        </a:rPr>
                        <a:t>PLAN (계획)</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SoftHand-4 V1 · Machine Tending Skill Pack · Design Partner 3곳 · Paid PoC 5건 · Robot Platform 2종</a:t>
                      </a:r>
                    </a:p>
                    <a:p>
                      <a:pPr algn="l">
                        <a:lnSpc>
                          <a:spcPct val="105000"/>
                        </a:lnSpc>
                      </a:pPr>
                      <a:r>
                        <a:rPr sz="1000" b="0" i="0">
                          <a:solidFill>
                            <a:srgbClr val="51565E"/>
                          </a:solidFill>
                          <a:latin typeface="Noto Sans KR"/>
                          <a:ea typeface="Noto Sans KR"/>
                          <a:cs typeface="Noto Sans KR"/>
                        </a:rPr>
                        <a:t>고객 인터뷰 30곳 · 24개월 Roadmap · Seed Gate</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Planned · Target · Seed Milestone</a:t>
                      </a:r>
                    </a:p>
                  </a:txBody>
                  <a:tcPr marL="73152" marR="54864" marT="27432" marB="27432" anchor="ctr">
                    <a:lnL w="9525">
                      <a:noFill/>
                    </a:lnL>
                    <a:lnR w="9525">
                      <a:noFill/>
                    </a:lnR>
                    <a:lnT w="9525">
                      <a:noFill/>
                    </a:lnT>
                    <a:lnB w="9525">
                      <a:solidFill>
                        <a:srgbClr val="DCDAD5"/>
                      </a:solidFill>
                    </a:lnB>
                    <a:noFill/>
                  </a:tcPr>
                </a:tc>
              </a:tr>
              <a:tr h="777240">
                <a:tc>
                  <a:txBody>
                    <a:bodyPr wrap="square"/>
                    <a:lstStyle/>
                    <a:p>
                      <a:pPr algn="l">
                        <a:lnSpc>
                          <a:spcPct val="105000"/>
                        </a:lnSpc>
                      </a:pPr>
                      <a:r>
                        <a:rPr sz="1000" b="0" i="0">
                          <a:solidFill>
                            <a:srgbClr val="16181B"/>
                          </a:solidFill>
                          <a:latin typeface="Noto Sans KR SemiBold"/>
                          <a:ea typeface="Noto Sans KR SemiBold"/>
                          <a:cs typeface="Noto Sans KR SemiBold"/>
                        </a:rPr>
                        <a:t>ASSUMPTION (가정)</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Hand 패키지 ₩1,500만(원가 ₩950만→₩750만) · Skill Package ₩300만 · Runtime 연 ₩150만</a:t>
                      </a:r>
                    </a:p>
                    <a:p>
                      <a:pPr algn="l">
                        <a:lnSpc>
                          <a:spcPct val="105000"/>
                        </a:lnSpc>
                      </a:pPr>
                      <a:r>
                        <a:rPr sz="1000" b="0" i="0">
                          <a:solidFill>
                            <a:srgbClr val="51565E"/>
                          </a:solidFill>
                          <a:latin typeface="Noto Sans KR"/>
                          <a:ea typeface="Noto Sans KR"/>
                          <a:cs typeface="Noto Sans KR"/>
                        </a:rPr>
                        <a:t>Paid PoC ₩5,000만 · Base Case 매출 · 손익 · 성능 목표치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Assumption · Management Forecast</a:t>
                      </a:r>
                    </a:p>
                  </a:txBody>
                  <a:tcPr marL="73152" marR="54864" marT="27432" marB="27432" anchor="ctr">
                    <a:lnL w="9525">
                      <a:noFill/>
                    </a:lnL>
                    <a:lnR w="9525">
                      <a:noFill/>
                    </a:lnR>
                    <a:lnT w="9525">
                      <a:noFill/>
                    </a:lnT>
                    <a:lnB w="9525">
                      <a:solidFill>
                        <a:srgbClr val="DCDAD5"/>
                      </a:solidFill>
                    </a:lnB>
                    <a:noFill/>
                  </a:tcPr>
                </a:tc>
              </a:tr>
              <a:tr h="868680">
                <a:tc>
                  <a:txBody>
                    <a:bodyPr wrap="square"/>
                    <a:lstStyle/>
                    <a:p>
                      <a:pPr algn="l">
                        <a:lnSpc>
                          <a:spcPct val="105000"/>
                        </a:lnSpc>
                      </a:pPr>
                      <a:r>
                        <a:rPr sz="1000" b="0" i="0">
                          <a:solidFill>
                            <a:srgbClr val="16181B"/>
                          </a:solidFill>
                          <a:latin typeface="Noto Sans KR SemiBold"/>
                          <a:ea typeface="Noto Sans KR SemiBold"/>
                          <a:cs typeface="Noto Sans KR SemiBold"/>
                        </a:rPr>
                        <a:t>MISSING EVIDENCE</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Founder · 핵심인력 이력 · 시제품 / 무편집 시험영상 · 특허 / FTO · 고객 인터뷰 · LOI · Design Partner</a:t>
                      </a:r>
                    </a:p>
                    <a:p>
                      <a:pPr algn="l">
                        <a:lnSpc>
                          <a:spcPct val="105000"/>
                        </a:lnSpc>
                      </a:pPr>
                      <a:r>
                        <a:rPr sz="1000" b="0" i="0">
                          <a:solidFill>
                            <a:srgbClr val="51565E"/>
                          </a:solidFill>
                          <a:latin typeface="Noto Sans KR"/>
                          <a:ea typeface="Noto Sans KR"/>
                          <a:cs typeface="Noto Sans KR"/>
                        </a:rPr>
                        <a:t>Paid PoC · BOM · 고객 Baseline · 동일조건 비교시험 · 실측 현금계획</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[정보 입력 필요] 표기</a:t>
                      </a:r>
                    </a:p>
                    <a:p>
                      <a:pPr algn="l">
                        <a:lnSpc>
                          <a:spcPct val="105000"/>
                        </a:lnSpc>
                      </a:pPr>
                      <a:r>
                        <a:rPr sz="1000" b="0" i="0">
                          <a:solidFill>
                            <a:srgbClr val="51565E"/>
                          </a:solidFill>
                          <a:latin typeface="Noto Sans KR"/>
                          <a:ea typeface="Noto Sans KR"/>
                          <a:cs typeface="Noto Sans KR"/>
                        </a:rPr>
                        <a:t>→ 실사 전 확보</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TextBox 6"/>
          <p:cNvSpPr txBox="1"/>
          <p:nvPr/>
        </p:nvSpPr>
        <p:spPr>
          <a:xfrm>
            <a:off x="548640" y="5532120"/>
            <a:ext cx="11091672" cy="365760"/>
          </a:xfrm>
          <a:prstGeom prst="rect">
            <a:avLst/>
          </a:prstGeom>
          <a:noFill/>
        </p:spPr>
        <p:txBody>
          <a:bodyPr wrap="square" lIns="0" rIns="0" tIns="0" bIns="0" anchor="t">
            <a:noAutofit/>
          </a:bodyPr>
          <a:lstStyle/>
          <a:p>
            <a:pPr algn="l">
              <a:lnSpc>
                <a:spcPct val="115000"/>
              </a:lnSpc>
            </a:pPr>
            <a:r>
              <a:rPr sz="900" b="0" i="0">
                <a:solidFill>
                  <a:srgbClr val="51565E"/>
                </a:solidFill>
                <a:latin typeface="Noto Sans KR"/>
                <a:ea typeface="Noto Sans KR"/>
                <a:cs typeface="Noto Sans KR"/>
              </a:rPr>
              <a:t>Concept Rendering은 실제 시제품이 아니다 — 실제 Prototype 사진 → 시험 영상 → 고객 현장 → CAD → Concept 순으로 교체한다. 본 Deck의 SoftHand 이미지는 모두 동일한 SoftHand-4 Concept 모델(4지 · 대향 Thumb · Graphite Palm · Orange Pad · White Wrist Module)로 통일했다.</a:t>
            </a:r>
          </a:p>
        </p:txBody>
      </p:sp>
      <p:sp>
        <p:nvSpPr>
          <p:cNvPr id="8"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9"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A2  ·  Seed Gate</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Seed Gate: 실패 조건과 의사결정을 먼저 정한다</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투자금은 R&amp;D 소비가 아니라 가설검증 자본이다 — 각 Gate는 이사회 · 투자자와 분기별 KPI 리뷰로 판단</a:t>
            </a:r>
          </a:p>
        </p:txBody>
      </p:sp>
      <p:graphicFrame>
        <p:nvGraphicFramePr>
          <p:cNvPr id="6" name="Gate table"/>
          <p:cNvGraphicFramePr>
            <a:graphicFrameLocks noGrp="1"/>
          </p:cNvGraphicFramePr>
          <p:nvPr/>
        </p:nvGraphicFramePr>
        <p:xfrm>
          <a:off x="548640" y="1600200"/>
          <a:ext cx="11091672" cy="3456432"/>
        </p:xfrm>
        <a:graphic>
          <a:graphicData uri="http://schemas.openxmlformats.org/drawingml/2006/table">
            <a:tbl>
              <a:tblPr firstRow="0" bandRow="0">
                <a:tableStyleId>{5C22544A-7EE6-4342-B048-85BDC9FD1C3A}</a:tableStyleId>
              </a:tblPr>
              <a:tblGrid>
                <a:gridCol w="733334"/>
                <a:gridCol w="2383334"/>
                <a:gridCol w="3116668"/>
                <a:gridCol w="2658335"/>
                <a:gridCol w="2200001"/>
              </a:tblGrid>
              <a:tr h="347472">
                <a:tc>
                  <a:txBody>
                    <a:bodyPr wrap="square"/>
                    <a:lstStyle/>
                    <a:p>
                      <a:pPr algn="l">
                        <a:lnSpc>
                          <a:spcPct val="105000"/>
                        </a:lnSpc>
                      </a:pPr>
                      <a:r>
                        <a:rPr sz="1000" b="0" i="0" spc="40">
                          <a:solidFill>
                            <a:srgbClr val="16181B"/>
                          </a:solidFill>
                          <a:latin typeface="Noto Sans KR SemiBold"/>
                          <a:ea typeface="Noto Sans KR SemiBold"/>
                          <a:cs typeface="Noto Sans KR SemiBold"/>
                        </a:rPr>
                        <a:t>Gate</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spc="40">
                          <a:solidFill>
                            <a:srgbClr val="16181B"/>
                          </a:solidFill>
                          <a:latin typeface="Noto Sans KR SemiBold"/>
                          <a:ea typeface="Noto Sans KR SemiBold"/>
                          <a:cs typeface="Noto Sans KR SemiBold"/>
                        </a:rPr>
                        <a:t>검증하는 가설</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spc="40">
                          <a:solidFill>
                            <a:srgbClr val="16181B"/>
                          </a:solidFill>
                          <a:latin typeface="Noto Sans KR SemiBold"/>
                          <a:ea typeface="Noto Sans KR SemiBold"/>
                          <a:cs typeface="Noto Sans KR SemiBold"/>
                        </a:rPr>
                        <a:t>통과 기준 (Target)</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spc="40">
                          <a:solidFill>
                            <a:srgbClr val="16181B"/>
                          </a:solidFill>
                          <a:latin typeface="Noto Sans KR SemiBold"/>
                          <a:ea typeface="Noto Sans KR SemiBold"/>
                          <a:cs typeface="Noto Sans KR SemiBold"/>
                        </a:rPr>
                        <a:t>미달 시 결정</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spc="40">
                          <a:solidFill>
                            <a:srgbClr val="16181B"/>
                          </a:solidFill>
                          <a:latin typeface="Noto Sans KR SemiBold"/>
                          <a:ea typeface="Noto Sans KR SemiBold"/>
                          <a:cs typeface="Noto Sans KR SemiBold"/>
                        </a:rPr>
                        <a:t>자금 영향</a:t>
                      </a:r>
                    </a:p>
                  </a:txBody>
                  <a:tcPr marL="73152" marR="54864" marT="27432" marB="27432" anchor="ctr">
                    <a:lnL w="9525">
                      <a:noFill/>
                    </a:lnL>
                    <a:lnR w="9525">
                      <a:noFill/>
                    </a:lnR>
                    <a:lnT w="9525">
                      <a:noFill/>
                    </a:lnT>
                    <a:lnB w="9525">
                      <a:solidFill>
                        <a:srgbClr val="DCDAD5"/>
                      </a:solidFill>
                    </a:lnB>
                    <a:noFill/>
                  </a:tcPr>
                </a:tc>
              </a:tr>
              <a:tr h="777240">
                <a:tc>
                  <a:txBody>
                    <a:bodyPr wrap="square"/>
                    <a:lstStyle/>
                    <a:p>
                      <a:pPr algn="l">
                        <a:lnSpc>
                          <a:spcPct val="105000"/>
                        </a:lnSpc>
                      </a:pPr>
                      <a:r>
                        <a:rPr sz="1300" b="0" i="0">
                          <a:solidFill>
                            <a:srgbClr val="EC7A3C"/>
                          </a:solidFill>
                          <a:latin typeface="Noto Sans KR Black"/>
                          <a:ea typeface="Noto Sans KR Black"/>
                          <a:cs typeface="Noto Sans KR Black"/>
                        </a:rPr>
                        <a:t>M6</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기술: 하나의 Hand로 대표 Sequence 수행</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대표 Task 5종 반복 시연 · 목표 토크 · 반복성 Log 공개</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Hand Architecture 재검토</a:t>
                      </a:r>
                    </a:p>
                    <a:p>
                      <a:pPr algn="l">
                        <a:lnSpc>
                          <a:spcPct val="105000"/>
                        </a:lnSpc>
                      </a:pPr>
                      <a:r>
                        <a:rPr sz="1000" b="0" i="0">
                          <a:solidFill>
                            <a:srgbClr val="51565E"/>
                          </a:solidFill>
                          <a:latin typeface="Noto Sans KR"/>
                          <a:ea typeface="Noto Sans KR"/>
                          <a:cs typeface="Noto Sans KR"/>
                        </a:rPr>
                        <a:t>(구동 방식 · 골격 · 잠금)</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후속 채용 보류 · Prototype 예산 재배분</a:t>
                      </a:r>
                    </a:p>
                  </a:txBody>
                  <a:tcPr marL="73152" marR="54864" marT="27432" marB="27432" anchor="ctr">
                    <a:lnL w="9525">
                      <a:noFill/>
                    </a:lnL>
                    <a:lnR w="9525">
                      <a:noFill/>
                    </a:lnR>
                    <a:lnT w="9525">
                      <a:noFill/>
                    </a:lnT>
                    <a:lnB w="9525">
                      <a:solidFill>
                        <a:srgbClr val="DCDAD5"/>
                      </a:solidFill>
                    </a:lnB>
                    <a:noFill/>
                  </a:tcPr>
                </a:tc>
              </a:tr>
              <a:tr h="777240">
                <a:tc>
                  <a:txBody>
                    <a:bodyPr wrap="square"/>
                    <a:lstStyle/>
                    <a:p>
                      <a:pPr algn="l">
                        <a:lnSpc>
                          <a:spcPct val="105000"/>
                        </a:lnSpc>
                      </a:pPr>
                      <a:r>
                        <a:rPr sz="1300" b="0" i="0">
                          <a:solidFill>
                            <a:srgbClr val="EC7A3C"/>
                          </a:solidFill>
                          <a:latin typeface="Noto Sans KR Black"/>
                          <a:ea typeface="Noto Sans KR Black"/>
                          <a:cs typeface="Noto Sans KR Black"/>
                        </a:rPr>
                        <a:t>M12</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고객: 전환비용 개선에 돈을 낸다</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Paid PoC 1건+ · 고객 Baseline 데이터 · 지불의사 확인</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Beachhead · Task 재정의</a:t>
                      </a:r>
                    </a:p>
                    <a:p>
                      <a:pPr algn="l">
                        <a:lnSpc>
                          <a:spcPct val="105000"/>
                        </a:lnSpc>
                      </a:pPr>
                      <a:r>
                        <a:rPr sz="1000" b="0" i="0">
                          <a:solidFill>
                            <a:srgbClr val="51565E"/>
                          </a:solidFill>
                          <a:latin typeface="Noto Sans KR"/>
                          <a:ea typeface="Noto Sans KR"/>
                          <a:cs typeface="Noto Sans KR"/>
                        </a:rPr>
                        <a:t>(다른 공정 · 다른 고객군)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Milestone Extension 집행 재검토</a:t>
                      </a:r>
                    </a:p>
                  </a:txBody>
                  <a:tcPr marL="73152" marR="54864" marT="27432" marB="27432" anchor="ctr">
                    <a:lnL w="9525">
                      <a:noFill/>
                    </a:lnL>
                    <a:lnR w="9525">
                      <a:noFill/>
                    </a:lnR>
                    <a:lnT w="9525">
                      <a:noFill/>
                    </a:lnT>
                    <a:lnB w="9525">
                      <a:solidFill>
                        <a:srgbClr val="DCDAD5"/>
                      </a:solidFill>
                    </a:lnB>
                    <a:noFill/>
                  </a:tcPr>
                </a:tc>
              </a:tr>
              <a:tr h="777240">
                <a:tc>
                  <a:txBody>
                    <a:bodyPr wrap="square"/>
                    <a:lstStyle/>
                    <a:p>
                      <a:pPr algn="l">
                        <a:lnSpc>
                          <a:spcPct val="105000"/>
                        </a:lnSpc>
                      </a:pPr>
                      <a:r>
                        <a:rPr sz="1300" b="0" i="0">
                          <a:solidFill>
                            <a:srgbClr val="EC7A3C"/>
                          </a:solidFill>
                          <a:latin typeface="Noto Sans KR Black"/>
                          <a:ea typeface="Noto Sans KR Black"/>
                          <a:cs typeface="Noto Sans KR Black"/>
                        </a:rPr>
                        <a:t>M18</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제품: 반복 가능한 제품 · Skill 재사용</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Design Freeze · First Repeat Order · 재사용률 측정 시작 · Platform B 통합</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Platform Thesis 재검토</a:t>
                      </a:r>
                    </a:p>
                    <a:p>
                      <a:pPr algn="l">
                        <a:lnSpc>
                          <a:spcPct val="105000"/>
                        </a:lnSpc>
                      </a:pPr>
                      <a:r>
                        <a:rPr sz="1000" b="0" i="0">
                          <a:solidFill>
                            <a:srgbClr val="51565E"/>
                          </a:solidFill>
                          <a:latin typeface="Noto Sans KR"/>
                          <a:ea typeface="Noto Sans KR"/>
                          <a:cs typeface="Noto Sans KR"/>
                        </a:rPr>
                        <a:t>→ Product + Service 모델 검토</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Extension ₩5.0억 집행 여부 결정</a:t>
                      </a:r>
                    </a:p>
                  </a:txBody>
                  <a:tcPr marL="73152" marR="54864" marT="27432" marB="27432" anchor="ctr">
                    <a:lnL w="9525">
                      <a:noFill/>
                    </a:lnL>
                    <a:lnR w="9525">
                      <a:noFill/>
                    </a:lnR>
                    <a:lnT w="9525">
                      <a:noFill/>
                    </a:lnT>
                    <a:lnB w="9525">
                      <a:solidFill>
                        <a:srgbClr val="DCDAD5"/>
                      </a:solidFill>
                    </a:lnB>
                    <a:noFill/>
                  </a:tcPr>
                </a:tc>
              </a:tr>
              <a:tr h="777240">
                <a:tc>
                  <a:txBody>
                    <a:bodyPr wrap="square"/>
                    <a:lstStyle/>
                    <a:p>
                      <a:pPr algn="l">
                        <a:lnSpc>
                          <a:spcPct val="105000"/>
                        </a:lnSpc>
                      </a:pPr>
                      <a:r>
                        <a:rPr sz="1300" b="0" i="0">
                          <a:solidFill>
                            <a:srgbClr val="EC7A3C"/>
                          </a:solidFill>
                          <a:latin typeface="Noto Sans KR Black"/>
                          <a:ea typeface="Noto Sans KR Black"/>
                          <a:cs typeface="Noto Sans KR Black"/>
                        </a:rPr>
                        <a:t>M24</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확장: 반복 발주 · Skill 이식성</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Repeat Customer 2곳+ · 2 Platform Portability · Gross Margin 검증</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Series A Scale-up 보류</a:t>
                      </a:r>
                    </a:p>
                    <a:p>
                      <a:pPr algn="l">
                        <a:lnSpc>
                          <a:spcPct val="105000"/>
                        </a:lnSpc>
                      </a:pPr>
                      <a:r>
                        <a:rPr sz="1000" b="0" i="0">
                          <a:solidFill>
                            <a:srgbClr val="51565E"/>
                          </a:solidFill>
                          <a:latin typeface="Noto Sans KR"/>
                          <a:ea typeface="Noto Sans KR"/>
                          <a:cs typeface="Noto Sans KR"/>
                        </a:rPr>
                        <a:t>축소 운영 · Bridge 검토</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Series A 규모 · 시점 결정</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Light card"/>
          <p:cNvSpPr/>
          <p:nvPr/>
        </p:nvSpPr>
        <p:spPr>
          <a:xfrm>
            <a:off x="548640" y="5230368"/>
            <a:ext cx="11091672" cy="960120"/>
          </a:xfrm>
          <a:prstGeom prst="roundRect">
            <a:avLst>
              <a:gd name="adj" fmla="val 7619"/>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5376672"/>
            <a:ext cx="1077163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GATE 운영 원칙</a:t>
            </a:r>
          </a:p>
        </p:txBody>
      </p:sp>
      <p:sp>
        <p:nvSpPr>
          <p:cNvPr id="9" name="TextBox 8"/>
          <p:cNvSpPr txBox="1"/>
          <p:nvPr/>
        </p:nvSpPr>
        <p:spPr>
          <a:xfrm>
            <a:off x="731520" y="5650992"/>
            <a:ext cx="10789920" cy="502920"/>
          </a:xfrm>
          <a:prstGeom prst="rect">
            <a:avLst/>
          </a:prstGeom>
          <a:noFill/>
        </p:spPr>
        <p:txBody>
          <a:bodyPr wrap="square" lIns="0" rIns="0" tIns="0" bIns="0" anchor="t">
            <a:noAutofit/>
          </a:bodyPr>
          <a:lstStyle/>
          <a:p>
            <a:pPr algn="l">
              <a:lnSpc>
                <a:spcPct val="125000"/>
              </a:lnSpc>
            </a:pPr>
            <a:r>
              <a:rPr sz="1000" b="0" i="0">
                <a:solidFill>
                  <a:srgbClr val="51565E"/>
                </a:solidFill>
                <a:latin typeface="Noto Sans KR"/>
                <a:ea typeface="Noto Sans KR"/>
                <a:cs typeface="Noto Sans KR"/>
              </a:rPr>
              <a:t>Gate 통과 조건 미달 시 → 범위 축소 또는 피벗을 결정한 뒤 다음 단계 자금을 집행한다 (18개월 Core Runway + 6개월 Milestone Extension 구조와 연동)</a:t>
            </a:r>
          </a:p>
          <a:p>
            <a:pPr algn="l">
              <a:lnSpc>
                <a:spcPct val="125000"/>
              </a:lnSpc>
            </a:pPr>
            <a:r>
              <a:rPr sz="1000" b="0" i="0">
                <a:solidFill>
                  <a:srgbClr val="51565E"/>
                </a:solidFill>
                <a:latin typeface="Noto Sans KR"/>
                <a:ea typeface="Noto Sans KR"/>
                <a:cs typeface="Noto Sans KR"/>
              </a:rPr>
              <a:t>모든 시험 결과는 시험 횟수 · 성공 건수 · 최초 시도 / 재시도 분리 · 신뢰구간으로 보고한다 — 데모 영상이 아니라 Log로 판단</a:t>
            </a:r>
          </a:p>
        </p:txBody>
      </p:sp>
      <p:sp>
        <p:nvSpPr>
          <p:cNvPr id="10"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11"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A3  ·  VC Red-Team</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VC 예상 질문 17개와 본문 답변 위치</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실제 투자심의에서 나올 질문에 본문만으로 답할 수 있는지 점검한 결과</a:t>
            </a:r>
          </a:p>
        </p:txBody>
      </p:sp>
      <p:graphicFrame>
        <p:nvGraphicFramePr>
          <p:cNvPr id="6" name="Red team table"/>
          <p:cNvGraphicFramePr>
            <a:graphicFrameLocks noGrp="1"/>
          </p:cNvGraphicFramePr>
          <p:nvPr/>
        </p:nvGraphicFramePr>
        <p:xfrm>
          <a:off x="548640" y="1481328"/>
          <a:ext cx="11091671" cy="4564678"/>
        </p:xfrm>
        <a:graphic>
          <a:graphicData uri="http://schemas.openxmlformats.org/drawingml/2006/table">
            <a:tbl>
              <a:tblPr firstRow="0" bandRow="0">
                <a:tableStyleId>{5C22544A-7EE6-4342-B048-85BDC9FD1C3A}</a:tableStyleId>
              </a:tblPr>
              <a:tblGrid>
                <a:gridCol w="323507"/>
                <a:gridCol w="3604793"/>
                <a:gridCol w="6377711"/>
                <a:gridCol w="785660"/>
              </a:tblGrid>
              <a:tr h="274320">
                <a:tc>
                  <a:txBody>
                    <a:bodyPr wrap="square"/>
                    <a:lstStyle/>
                    <a:p>
                      <a:pPr algn="ctr">
                        <a:lnSpc>
                          <a:spcPct val="105000"/>
                        </a:lnSpc>
                      </a:pPr>
                      <a:r>
                        <a:rPr sz="900" b="0" i="0" spc="40">
                          <a:solidFill>
                            <a:srgbClr val="16181B"/>
                          </a:solidFill>
                          <a:latin typeface="Noto Sans KR SemiBold"/>
                          <a:ea typeface="Noto Sans KR SemiBold"/>
                          <a:cs typeface="Noto Sans KR SemiBold"/>
                        </a:rPr>
                        <a:t>#</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spc="40">
                          <a:solidFill>
                            <a:srgbClr val="16181B"/>
                          </a:solidFill>
                          <a:latin typeface="Noto Sans KR SemiBold"/>
                          <a:ea typeface="Noto Sans KR SemiBold"/>
                          <a:cs typeface="Noto Sans KR SemiBold"/>
                        </a:rPr>
                        <a:t>질문</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spc="40">
                          <a:solidFill>
                            <a:srgbClr val="16181B"/>
                          </a:solidFill>
                          <a:latin typeface="Noto Sans KR SemiBold"/>
                          <a:ea typeface="Noto Sans KR SemiBold"/>
                          <a:cs typeface="Noto Sans KR SemiBold"/>
                        </a:rPr>
                        <a:t>본문의 답 (요약)</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spc="40">
                          <a:solidFill>
                            <a:srgbClr val="16181B"/>
                          </a:solidFill>
                          <a:latin typeface="Noto Sans KR SemiBold"/>
                          <a:ea typeface="Noto Sans KR SemiBold"/>
                          <a:cs typeface="Noto Sans KR SemiBold"/>
                        </a:rPr>
                        <a:t>Slide</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1</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왜 기존 Adaptive Gripper로는 충분하지 않은가?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형상 Pick은 강하지만 Door · Lever 조작과 토크는 제한 → 결국 설비 개조 · 추가 툴</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08</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2</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왜 Machine Tending에서 SoftHand가 필요한가?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한 Cell에 Pick · Door · Lever · Button이 모여 Hand 하나의 가치가 가장 큼</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05·06</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3</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전용 End-effector가 더 싼 작업은 어떻게 하나?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고속 단일 SKU · 고토크 체결은 공략하지 않음 — Hand가 개조를 줄이는 작업부터</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05</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4</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첫 번째 실제 구매자는 누구인가?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다품종 가공 라인 제조기업 생산기술팀(가설) · 도입은 Robot SI 경유 · 90일 인터뷰</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05·11</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5</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왜 ₩1,500만 Hand를 사는가?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비교 대상은 전용 Tooling + 설비 개조 + Engineering × 전환 횟수 · Paid PoC로 검증</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07</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6</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SI 회사가 되는 것을 어떻게 막는가?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승인 Task 목록 내 수주 · 공통 Task를 Skill Pack으로 제품화 · 재사용 매출 KPI</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09</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7</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2 · 3번째 고객에서 무엇이 재사용되나?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Hand HW · Control Logic · ToolSkill · Runtime / Calibration Tool → 재사용률 측정</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09</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8</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동일 Skill이 다른 Robot에서도 동작하나?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아직 가설 — Robot 독립 Task 정의 + Calibration · 24개월 내 2 Platform 검증</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10</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9</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Soft 구조가 토크 · 내구성을 버티나?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하중은 골격이 부담 · 작업 순간 강성 상승 · 교체형 패드 · 30만 cycle · M6 Gate</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04·A7</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10</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왜 지금 5지 Hand가 아닌가?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4지가 Machine Tending 최소 구성 · 비용 · 내구성 우선 · 5지는 Series A 이후</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04</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11</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왜 Kitchen을 주력시장에 두지 않나?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회수기간이 가동률에 민감 · 위생 · 안전 부담 → 공장이 사업성, 주방은 Demonstrator</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12·A15</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12</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왜 Robot OEM이 직접 만들지 않나?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다수 OEM은 Arm · Controller 집중, EOAT는 생태계 의존 · 멀티브랜드 Skill은 독립 Layer</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11·A4</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13</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OEM Design Win 이전에도 생존 가능한가?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Base Case는 OEM · Kitchen 0원 — HW + Skill + Integration으로 Y5 손익분기 근접(가정)</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A11</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14</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20억원으로 24개월이 가능한가?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8명 단계 채용 ₩9.6억 포함 · 18M Core + 6M Extension · 매출 0원이어도 M24</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15·A12</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15</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24개월 후 어떤 숫자면 Series A인가?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Paid PoC 5+ · Repeat 2+ · 완료율 95%+ · 30만 cycle · 2 Platform · 재사용률 ↑</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15</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16</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Repeat Customer가 나오지 않으면?</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M24 Gate — Series A Scale-up 보류 · Beachhead 재정의 · 축소 운영</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13·A2</a:t>
                      </a:r>
                    </a:p>
                  </a:txBody>
                  <a:tcPr marL="73152" marR="54864" marT="27432" marB="27432" anchor="ctr">
                    <a:lnL w="9525">
                      <a:noFill/>
                    </a:lnL>
                    <a:lnR w="9525">
                      <a:noFill/>
                    </a:lnR>
                    <a:lnT w="9525">
                      <a:noFill/>
                    </a:lnT>
                    <a:lnB w="9525">
                      <a:solidFill>
                        <a:srgbClr val="DCDAD5"/>
                      </a:solidFill>
                    </a:lnB>
                    <a:noFill/>
                  </a:tcPr>
                </a:tc>
              </a:tr>
              <a:tr h="252374">
                <a:tc>
                  <a:txBody>
                    <a:bodyPr wrap="square"/>
                    <a:lstStyle/>
                    <a:p>
                      <a:pPr algn="ctr">
                        <a:lnSpc>
                          <a:spcPct val="105000"/>
                        </a:lnSpc>
                      </a:pPr>
                      <a:r>
                        <a:rPr sz="850" b="0" i="0">
                          <a:solidFill>
                            <a:srgbClr val="16181B"/>
                          </a:solidFill>
                          <a:latin typeface="Noto Sans KR SemiBold"/>
                          <a:ea typeface="Noto Sans KR SemiBold"/>
                          <a:cs typeface="Noto Sans KR SemiBold"/>
                        </a:rPr>
                        <a:t>17</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51565E"/>
                          </a:solidFill>
                          <a:latin typeface="Noto Sans KR"/>
                          <a:ea typeface="Noto Sans KR"/>
                          <a:cs typeface="Noto Sans KR"/>
                        </a:rPr>
                        <a:t>왜 이 Founder가 이 사업을 해야 하는가?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850" b="0" i="0">
                          <a:solidFill>
                            <a:srgbClr val="E8B649"/>
                          </a:solidFill>
                          <a:latin typeface="Noto Sans KR SemiBold"/>
                          <a:ea typeface="Noto Sans KR SemiBold"/>
                          <a:cs typeface="Noto Sans KR SemiBold"/>
                        </a:rPr>
                        <a:t>[정보 입력 필요] — Founder 정보 없이는 답할 수 없음 (외부 제출 전 필수)</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850" b="0" i="0">
                          <a:solidFill>
                            <a:srgbClr val="51565E"/>
                          </a:solidFill>
                          <a:latin typeface="Noto Sans KR"/>
                          <a:ea typeface="Noto Sans KR"/>
                          <a:cs typeface="Noto Sans KR"/>
                        </a:rPr>
                        <a:t>14</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8"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A4  ·  경쟁사 상세</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경쟁 Category 상세와 OEM 내재화 분석</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위치는 공개 정보 기반 정성 배치 · 독립 비교시험 아님 — Seed 기간 동일조건 비교시험으로 검증</a:t>
            </a:r>
          </a:p>
        </p:txBody>
      </p:sp>
      <p:graphicFrame>
        <p:nvGraphicFramePr>
          <p:cNvPr id="6" name="Competitor table"/>
          <p:cNvGraphicFramePr>
            <a:graphicFrameLocks noGrp="1"/>
          </p:cNvGraphicFramePr>
          <p:nvPr/>
        </p:nvGraphicFramePr>
        <p:xfrm>
          <a:off x="548640" y="1572768"/>
          <a:ext cx="7360921" cy="3730752"/>
        </p:xfrm>
        <a:graphic>
          <a:graphicData uri="http://schemas.openxmlformats.org/drawingml/2006/table">
            <a:tbl>
              <a:tblPr firstRow="0" bandRow="0">
                <a:tableStyleId>{5C22544A-7EE6-4342-B048-85BDC9FD1C3A}</a:tableStyleId>
              </a:tblPr>
              <a:tblGrid>
                <a:gridCol w="1589290"/>
                <a:gridCol w="2425758"/>
                <a:gridCol w="1421996"/>
                <a:gridCol w="1923877"/>
              </a:tblGrid>
              <a:tr h="329184">
                <a:tc>
                  <a:txBody>
                    <a:bodyPr wrap="square"/>
                    <a:lstStyle/>
                    <a:p>
                      <a:pPr algn="l">
                        <a:lnSpc>
                          <a:spcPct val="105000"/>
                        </a:lnSpc>
                      </a:pPr>
                      <a:r>
                        <a:rPr sz="950" b="0" i="0" spc="40">
                          <a:solidFill>
                            <a:srgbClr val="16181B"/>
                          </a:solidFill>
                          <a:latin typeface="Noto Sans KR SemiBold"/>
                          <a:ea typeface="Noto Sans KR SemiBold"/>
                          <a:cs typeface="Noto Sans KR SemiBold"/>
                        </a:rPr>
                        <a:t>Category</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대표 사례 (공개 정보)</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강점</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Machine Tending 관점 한계</a:t>
                      </a:r>
                    </a:p>
                  </a:txBody>
                  <a:tcPr marL="73152" marR="54864" marT="27432" marB="27432" anchor="ctr">
                    <a:lnL w="9525">
                      <a:noFill/>
                    </a:lnL>
                    <a:lnR w="9525">
                      <a:noFill/>
                    </a:lnR>
                    <a:lnT w="9525">
                      <a:noFill/>
                    </a:lnT>
                    <a:lnB w="9525">
                      <a:solidFill>
                        <a:srgbClr val="DCDAD5"/>
                      </a:solidFill>
                    </a:lnB>
                    <a:noFill/>
                  </a:tcPr>
                </a:tc>
              </a:tr>
              <a:tr h="566928">
                <a:tc>
                  <a:txBody>
                    <a:bodyPr wrap="square"/>
                    <a:lstStyle/>
                    <a:p>
                      <a:pPr algn="l">
                        <a:lnSpc>
                          <a:spcPct val="105000"/>
                        </a:lnSpc>
                      </a:pPr>
                      <a:r>
                        <a:rPr sz="900" b="0" i="0">
                          <a:solidFill>
                            <a:srgbClr val="16181B"/>
                          </a:solidFill>
                          <a:latin typeface="Noto Sans KR SemiBold"/>
                          <a:ea typeface="Noto Sans KR SemiBold"/>
                          <a:cs typeface="Noto Sans KR SemiBold"/>
                        </a:rPr>
                        <a:t>전통 Gripper · EOAT</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평행 · 진공 · 맞춤 EOAT (예: SCHUNK 등)</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정밀 · 저가 · 고신뢰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작업마다 교체 · Interface 조작은 설비 개조</a:t>
                      </a:r>
                    </a:p>
                  </a:txBody>
                  <a:tcPr marL="73152" marR="54864" marT="27432" marB="27432" anchor="ctr">
                    <a:lnL w="9525">
                      <a:noFill/>
                    </a:lnL>
                    <a:lnR w="9525">
                      <a:noFill/>
                    </a:lnR>
                    <a:lnT w="9525">
                      <a:noFill/>
                    </a:lnT>
                    <a:lnB w="9525">
                      <a:solidFill>
                        <a:srgbClr val="DCDAD5"/>
                      </a:solidFill>
                    </a:lnB>
                    <a:noFill/>
                  </a:tcPr>
                </a:tc>
              </a:tr>
              <a:tr h="566928">
                <a:tc>
                  <a:txBody>
                    <a:bodyPr wrap="square"/>
                    <a:lstStyle/>
                    <a:p>
                      <a:pPr algn="l">
                        <a:lnSpc>
                          <a:spcPct val="105000"/>
                        </a:lnSpc>
                      </a:pPr>
                      <a:r>
                        <a:rPr sz="900" b="0" i="0">
                          <a:solidFill>
                            <a:srgbClr val="16181B"/>
                          </a:solidFill>
                          <a:latin typeface="Noto Sans KR SemiBold"/>
                          <a:ea typeface="Noto Sans KR SemiBold"/>
                          <a:cs typeface="Noto Sans KR SemiBold"/>
                        </a:rPr>
                        <a:t>Adaptive Gripper</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Robotiq Adaptive Gripper</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다양한 형상 Pick · 통합 용이</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Door · Lever 조작 · 도구 토크 제한</a:t>
                      </a:r>
                    </a:p>
                  </a:txBody>
                  <a:tcPr marL="73152" marR="54864" marT="27432" marB="27432" anchor="ctr">
                    <a:lnL w="9525">
                      <a:noFill/>
                    </a:lnL>
                    <a:lnR w="9525">
                      <a:noFill/>
                    </a:lnR>
                    <a:lnT w="9525">
                      <a:noFill/>
                    </a:lnT>
                    <a:lnB w="9525">
                      <a:solidFill>
                        <a:srgbClr val="DCDAD5"/>
                      </a:solidFill>
                    </a:lnB>
                    <a:noFill/>
                  </a:tcPr>
                </a:tc>
              </a:tr>
              <a:tr h="566928">
                <a:tc>
                  <a:txBody>
                    <a:bodyPr wrap="square"/>
                    <a:lstStyle/>
                    <a:p>
                      <a:pPr algn="l">
                        <a:lnSpc>
                          <a:spcPct val="105000"/>
                        </a:lnSpc>
                      </a:pPr>
                      <a:r>
                        <a:rPr sz="900" b="0" i="0">
                          <a:solidFill>
                            <a:srgbClr val="16181B"/>
                          </a:solidFill>
                          <a:latin typeface="Noto Sans KR SemiBold"/>
                          <a:ea typeface="Noto Sans KR SemiBold"/>
                          <a:cs typeface="Noto Sans KR SemiBold"/>
                        </a:rPr>
                        <a:t>Soft Hand</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qb SoftHand Industry (5지 · 1모터 · 파워그립 2kg, 제조사 공개)</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형상 적응 · 안전한 접촉</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도구 토크 · 강성 전환 제한</a:t>
                      </a:r>
                    </a:p>
                  </a:txBody>
                  <a:tcPr marL="73152" marR="54864" marT="27432" marB="27432" anchor="ctr">
                    <a:lnL w="9525">
                      <a:noFill/>
                    </a:lnL>
                    <a:lnR w="9525">
                      <a:noFill/>
                    </a:lnR>
                    <a:lnT w="9525">
                      <a:noFill/>
                    </a:lnT>
                    <a:lnB w="9525">
                      <a:solidFill>
                        <a:srgbClr val="DCDAD5"/>
                      </a:solidFill>
                    </a:lnB>
                    <a:noFill/>
                  </a:tcPr>
                </a:tc>
              </a:tr>
              <a:tr h="566928">
                <a:tc>
                  <a:txBody>
                    <a:bodyPr wrap="square"/>
                    <a:lstStyle/>
                    <a:p>
                      <a:pPr algn="l">
                        <a:lnSpc>
                          <a:spcPct val="105000"/>
                        </a:lnSpc>
                      </a:pPr>
                      <a:r>
                        <a:rPr sz="900" b="0" i="0">
                          <a:solidFill>
                            <a:srgbClr val="16181B"/>
                          </a:solidFill>
                          <a:latin typeface="Noto Sans KR SemiBold"/>
                          <a:ea typeface="Noto Sans KR SemiBold"/>
                          <a:cs typeface="Noto Sans KR SemiBold"/>
                        </a:rPr>
                        <a:t>Dexterous / Humanoid Hand</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Shadow · Allegro · Tesollo DG-5F-S · Sharpa Wave · Tesla · Figure 자체</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고자유도 · 복잡 조작</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비용 · 복잡도 · 내구성 → 연구 · 휴머노이드 중심</a:t>
                      </a:r>
                    </a:p>
                  </a:txBody>
                  <a:tcPr marL="73152" marR="54864" marT="27432" marB="27432" anchor="ctr">
                    <a:lnL w="9525">
                      <a:noFill/>
                    </a:lnL>
                    <a:lnR w="9525">
                      <a:noFill/>
                    </a:lnR>
                    <a:lnT w="9525">
                      <a:noFill/>
                    </a:lnT>
                    <a:lnB w="9525">
                      <a:solidFill>
                        <a:srgbClr val="DCDAD5"/>
                      </a:solidFill>
                    </a:lnB>
                    <a:noFill/>
                  </a:tcPr>
                </a:tc>
              </a:tr>
              <a:tr h="566928">
                <a:tc>
                  <a:txBody>
                    <a:bodyPr wrap="square"/>
                    <a:lstStyle/>
                    <a:p>
                      <a:pPr algn="l">
                        <a:lnSpc>
                          <a:spcPct val="105000"/>
                        </a:lnSpc>
                      </a:pPr>
                      <a:r>
                        <a:rPr sz="900" b="0" i="0">
                          <a:solidFill>
                            <a:srgbClr val="16181B"/>
                          </a:solidFill>
                          <a:latin typeface="Noto Sans KR SemiBold"/>
                          <a:ea typeface="Noto Sans KR SemiBold"/>
                          <a:cs typeface="Noto Sans KR SemiBold"/>
                        </a:rPr>
                        <a:t>Dedicated Tool System</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전용 체결 툴 · 전용 조리 설비 (예: Moley형 로봇 주방)</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특정 작업 최적</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범용 아님 · 설비 투자 큼</a:t>
                      </a:r>
                    </a:p>
                  </a:txBody>
                  <a:tcPr marL="73152" marR="54864" marT="27432" marB="27432" anchor="ctr">
                    <a:lnL w="9525">
                      <a:noFill/>
                    </a:lnL>
                    <a:lnR w="9525">
                      <a:noFill/>
                    </a:lnR>
                    <a:lnT w="9525">
                      <a:noFill/>
                    </a:lnT>
                    <a:lnB w="9525">
                      <a:solidFill>
                        <a:srgbClr val="DCDAD5"/>
                      </a:solidFill>
                    </a:lnB>
                    <a:noFill/>
                  </a:tcPr>
                </a:tc>
              </a:tr>
              <a:tr h="566928">
                <a:tc>
                  <a:txBody>
                    <a:bodyPr wrap="square"/>
                    <a:lstStyle/>
                    <a:p>
                      <a:pPr algn="l">
                        <a:lnSpc>
                          <a:spcPct val="105000"/>
                        </a:lnSpc>
                      </a:pPr>
                      <a:r>
                        <a:rPr sz="900" b="0" i="0">
                          <a:solidFill>
                            <a:srgbClr val="EC7A3C"/>
                          </a:solidFill>
                          <a:latin typeface="Noto Sans KR Black"/>
                          <a:ea typeface="Noto Sans KR Black"/>
                          <a:cs typeface="Noto Sans KR Black"/>
                        </a:rPr>
                        <a:t>Our Target</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SoftHand-4 + Machine Tending Skill Pack</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Interface 조작 + 재사용 Skill (목표)</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EC7A3C"/>
                          </a:solidFill>
                          <a:latin typeface="Noto Sans KR SemiBold"/>
                          <a:ea typeface="Noto Sans KR SemiBold"/>
                          <a:cs typeface="Noto Sans KR SemiBold"/>
                        </a:rPr>
                        <a:t>미검증 — Seed 기간 비교시험 대상</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Light card"/>
          <p:cNvSpPr/>
          <p:nvPr/>
        </p:nvSpPr>
        <p:spPr>
          <a:xfrm>
            <a:off x="8138160" y="1572768"/>
            <a:ext cx="3502152" cy="3749040"/>
          </a:xfrm>
          <a:prstGeom prst="roundRect">
            <a:avLst>
              <a:gd name="adj" fmla="val 2088"/>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321040" y="1719072"/>
            <a:ext cx="318211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OEM이 직접 만든다면?</a:t>
            </a:r>
          </a:p>
        </p:txBody>
      </p:sp>
      <p:sp>
        <p:nvSpPr>
          <p:cNvPr id="9" name="TextBox 8"/>
          <p:cNvSpPr txBox="1"/>
          <p:nvPr/>
        </p:nvSpPr>
        <p:spPr>
          <a:xfrm>
            <a:off x="8321040" y="1993392"/>
            <a:ext cx="3200400" cy="3383280"/>
          </a:xfrm>
          <a:prstGeom prst="rect">
            <a:avLst/>
          </a:prstGeom>
          <a:noFill/>
        </p:spPr>
        <p:txBody>
          <a:bodyPr wrap="square" lIns="0" rIns="0" tIns="0" bIns="0" anchor="t">
            <a:noAutofit/>
          </a:bodyPr>
          <a:lstStyle/>
          <a:p>
            <a:pPr algn="l">
              <a:lnSpc>
                <a:spcPct val="118000"/>
              </a:lnSpc>
            </a:pPr>
            <a:r>
              <a:rPr sz="950" b="0" i="0">
                <a:solidFill>
                  <a:srgbClr val="16181B"/>
                </a:solidFill>
                <a:latin typeface="Noto Sans KR SemiBold"/>
                <a:ea typeface="Noto Sans KR SemiBold"/>
                <a:cs typeface="Noto Sans KR SemiBold"/>
              </a:rPr>
              <a:t>관찰</a:t>
            </a:r>
          </a:p>
          <a:p>
            <a:pPr algn="l">
              <a:lnSpc>
                <a:spcPct val="118000"/>
              </a:lnSpc>
            </a:pPr>
            <a:r>
              <a:rPr sz="950" b="0" i="0">
                <a:solidFill>
                  <a:srgbClr val="51565E"/>
                </a:solidFill>
                <a:latin typeface="Noto Sans KR"/>
                <a:ea typeface="Noto Sans KR"/>
                <a:cs typeface="Noto Sans KR"/>
              </a:rPr>
              <a:t>Tesla · Figure는 휴머노이드 손을 내재화</a:t>
            </a:r>
          </a:p>
          <a:p>
            <a:pPr algn="l">
              <a:lnSpc>
                <a:spcPct val="118000"/>
              </a:lnSpc>
            </a:pPr>
            <a:r>
              <a:rPr sz="950" b="0" i="0">
                <a:solidFill>
                  <a:srgbClr val="51565E"/>
                </a:solidFill>
                <a:latin typeface="Noto Sans KR"/>
                <a:ea typeface="Noto Sans KR"/>
                <a:cs typeface="Noto Sans KR"/>
              </a:rPr>
              <a:t>다수 산업용 · 협동로봇 OEM은 EOAT 파트너 생태계에 의존</a:t>
            </a:r>
          </a:p>
          <a:p>
            <a:pPr algn="l">
              <a:lnSpc>
                <a:spcPct val="118000"/>
              </a:lnSpc>
            </a:pPr>
            <a:r>
              <a:rPr sz="950" b="0" i="0">
                <a:solidFill>
                  <a:srgbClr val="51565E"/>
                </a:solidFill>
                <a:latin typeface="Noto Sans KR"/>
                <a:ea typeface="Noto Sans KR"/>
                <a:cs typeface="Noto Sans KR"/>
              </a:rPr>
              <a:t>NVIDIA Isaac GR00T 레퍼런스 휴머노이드(2026.6)도 외부 촉각 핸드(Sharpa Wave, 22 DoF) 채택</a:t>
            </a:r>
          </a:p>
          <a:p>
            <a:pPr algn="l">
              <a:lnSpc>
                <a:spcPct val="118000"/>
              </a:lnSpc>
            </a:pPr>
            <a:r>
              <a:rPr sz="950" b="0" i="0">
                <a:solidFill>
                  <a:srgbClr val="51565E"/>
                </a:solidFill>
                <a:latin typeface="Noto Sans KR"/>
                <a:ea typeface="Noto Sans KR"/>
                <a:cs typeface="Noto Sans KR"/>
              </a:rPr>
              <a:t/>
            </a:r>
          </a:p>
          <a:p>
            <a:pPr algn="l">
              <a:lnSpc>
                <a:spcPct val="118000"/>
              </a:lnSpc>
            </a:pPr>
            <a:r>
              <a:rPr sz="950" b="0" i="0">
                <a:solidFill>
                  <a:srgbClr val="16181B"/>
                </a:solidFill>
                <a:latin typeface="Noto Sans KR SemiBold"/>
                <a:ea typeface="Noto Sans KR SemiBold"/>
                <a:cs typeface="Noto Sans KR SemiBold"/>
              </a:rPr>
              <a:t>해석</a:t>
            </a:r>
          </a:p>
          <a:p>
            <a:pPr algn="l">
              <a:lnSpc>
                <a:spcPct val="118000"/>
              </a:lnSpc>
            </a:pPr>
            <a:r>
              <a:rPr sz="950" b="0" i="0">
                <a:solidFill>
                  <a:srgbClr val="51565E"/>
                </a:solidFill>
                <a:latin typeface="Noto Sans KR"/>
                <a:ea typeface="Noto Sans KR"/>
                <a:cs typeface="Noto Sans KR"/>
              </a:rPr>
              <a:t>OEM은 경쟁자이자 채널 — 단일 OEM은 멀티브랜드 Skill을 만들기 어렵다</a:t>
            </a:r>
          </a:p>
          <a:p>
            <a:pPr algn="l">
              <a:lnSpc>
                <a:spcPct val="118000"/>
              </a:lnSpc>
            </a:pPr>
            <a:r>
              <a:rPr sz="950" b="0" i="0">
                <a:solidFill>
                  <a:srgbClr val="51565E"/>
                </a:solidFill>
                <a:latin typeface="Noto Sans KR"/>
                <a:ea typeface="Noto Sans KR"/>
                <a:cs typeface="Noto Sans KR"/>
              </a:rPr>
              <a:t/>
            </a:r>
          </a:p>
          <a:p>
            <a:pPr algn="l">
              <a:lnSpc>
                <a:spcPct val="118000"/>
              </a:lnSpc>
            </a:pPr>
            <a:r>
              <a:rPr sz="950" b="0" i="0">
                <a:solidFill>
                  <a:srgbClr val="16181B"/>
                </a:solidFill>
                <a:latin typeface="Noto Sans KR SemiBold"/>
                <a:ea typeface="Noto Sans KR SemiBold"/>
                <a:cs typeface="Noto Sans KR SemiBold"/>
              </a:rPr>
              <a:t>대응</a:t>
            </a:r>
          </a:p>
          <a:p>
            <a:pPr algn="l">
              <a:lnSpc>
                <a:spcPct val="118000"/>
              </a:lnSpc>
            </a:pPr>
            <a:r>
              <a:rPr sz="950" b="0" i="0">
                <a:solidFill>
                  <a:srgbClr val="51565E"/>
                </a:solidFill>
                <a:latin typeface="Noto Sans KR"/>
                <a:ea typeface="Noto Sans KR"/>
                <a:cs typeface="Noto Sans KR"/>
              </a:rPr>
              <a:t>Robot-agnostic 통합 · 2 Platform 이식성 검증 · OEM 파트너십 우선 (Scale Trigger = Design Win)</a:t>
            </a:r>
          </a:p>
        </p:txBody>
      </p:sp>
      <p:sp>
        <p:nvSpPr>
          <p:cNvPr id="10" name="TextBox 9"/>
          <p:cNvSpPr txBox="1"/>
          <p:nvPr/>
        </p:nvSpPr>
        <p:spPr>
          <a:xfrm>
            <a:off x="548640" y="5623560"/>
            <a:ext cx="11091672" cy="365760"/>
          </a:xfrm>
          <a:prstGeom prst="rect">
            <a:avLst/>
          </a:prstGeom>
          <a:noFill/>
        </p:spPr>
        <p:txBody>
          <a:bodyPr wrap="square" lIns="0" rIns="0" tIns="0" bIns="0" anchor="t">
            <a:noAutofit/>
          </a:bodyPr>
          <a:lstStyle/>
          <a:p>
            <a:pPr algn="l">
              <a:lnSpc>
                <a:spcPct val="115000"/>
              </a:lnSpc>
            </a:pPr>
            <a:r>
              <a:rPr sz="900" b="0" i="0">
                <a:solidFill>
                  <a:srgbClr val="51565E"/>
                </a:solidFill>
                <a:latin typeface="Noto Sans KR"/>
                <a:ea typeface="Noto Sans KR"/>
                <a:cs typeface="Noto Sans KR"/>
              </a:rPr>
              <a:t>출처: 제조사 공개 사양 · 보도자료 (Sources A17: S5 · S15 · S16 · S17). 회사명은 범주 예시이며 성능 우열을 주장하지 않는다.</a:t>
            </a:r>
          </a:p>
        </p:txBody>
      </p:sp>
      <p:sp>
        <p:nvSpPr>
          <p:cNvPr id="11"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12"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A5  ·  Physical AI 시장 신호</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Physical AI Stack: 보고 판단하는 기술은 빨라졌고, 손이 남았다</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본문 Slide 16의 4단계 요약 근거 — 각 수치는 출처 발표 기준이며 독립 검증 아님</a:t>
            </a:r>
          </a:p>
        </p:txBody>
      </p:sp>
      <p:graphicFrame>
        <p:nvGraphicFramePr>
          <p:cNvPr id="6" name="Physical AI table"/>
          <p:cNvGraphicFramePr>
            <a:graphicFrameLocks noGrp="1"/>
          </p:cNvGraphicFramePr>
          <p:nvPr/>
        </p:nvGraphicFramePr>
        <p:xfrm>
          <a:off x="548640" y="1572768"/>
          <a:ext cx="11091671" cy="3337560"/>
        </p:xfrm>
        <a:graphic>
          <a:graphicData uri="http://schemas.openxmlformats.org/drawingml/2006/table">
            <a:tbl>
              <a:tblPr firstRow="0" bandRow="0">
                <a:tableStyleId>{5C22544A-7EE6-4342-B048-85BDC9FD1C3A}</a:tableStyleId>
              </a:tblPr>
              <a:tblGrid>
                <a:gridCol w="2383334"/>
                <a:gridCol w="1466667"/>
                <a:gridCol w="7241670"/>
              </a:tblGrid>
              <a:tr h="329184">
                <a:tc>
                  <a:txBody>
                    <a:bodyPr wrap="square"/>
                    <a:lstStyle/>
                    <a:p>
                      <a:pPr algn="l">
                        <a:lnSpc>
                          <a:spcPct val="105000"/>
                        </a:lnSpc>
                      </a:pPr>
                      <a:r>
                        <a:rPr sz="950" b="0" i="0" spc="40">
                          <a:solidFill>
                            <a:srgbClr val="16181B"/>
                          </a:solidFill>
                          <a:latin typeface="Noto Sans KR SemiBold"/>
                          <a:ea typeface="Noto Sans KR SemiBold"/>
                          <a:cs typeface="Noto Sans KR SemiBold"/>
                        </a:rPr>
                        <a:t>Layer</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상태</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근거 (출처 · 시점)</a:t>
                      </a:r>
                    </a:p>
                  </a:txBody>
                  <a:tcPr marL="73152" marR="54864" marT="27432" marB="27432" anchor="ctr">
                    <a:lnL w="9525">
                      <a:noFill/>
                    </a:lnL>
                    <a:lnR w="9525">
                      <a:noFill/>
                    </a:lnR>
                    <a:lnT w="9525">
                      <a:noFill/>
                    </a:lnT>
                    <a:lnB w="9525">
                      <a:solidFill>
                        <a:srgbClr val="DCDAD5"/>
                      </a:solidFill>
                    </a:lnB>
                    <a:noFill/>
                  </a:tcPr>
                </a:tc>
              </a:tr>
              <a:tr h="566928">
                <a:tc>
                  <a:txBody>
                    <a:bodyPr wrap="square"/>
                    <a:lstStyle/>
                    <a:p>
                      <a:pPr algn="l">
                        <a:lnSpc>
                          <a:spcPct val="105000"/>
                        </a:lnSpc>
                      </a:pPr>
                      <a:r>
                        <a:rPr sz="950" b="0" i="0">
                          <a:solidFill>
                            <a:srgbClr val="16181B"/>
                          </a:solidFill>
                          <a:latin typeface="Noto Sans KR SemiBold"/>
                          <a:ea typeface="Noto Sans KR SemiBold"/>
                          <a:cs typeface="Noto Sans KR SemiBold"/>
                        </a:rPr>
                        <a:t>BRAIN  · AI / VLA</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빠르게 발전</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Gemini Robotics 1.5 (2025.9) · NVIDIA Isaac GR00T N1.6 (2026.1) · Physical Intelligence 기업가치 $5.6B (2025.11)</a:t>
                      </a:r>
                    </a:p>
                  </a:txBody>
                  <a:tcPr marL="73152" marR="54864" marT="27432" marB="27432" anchor="ctr">
                    <a:lnL w="9525">
                      <a:noFill/>
                    </a:lnL>
                    <a:lnR w="9525">
                      <a:noFill/>
                    </a:lnR>
                    <a:lnT w="9525">
                      <a:noFill/>
                    </a:lnT>
                    <a:lnB w="9525">
                      <a:solidFill>
                        <a:srgbClr val="DCDAD5"/>
                      </a:solidFill>
                    </a:lnB>
                    <a:noFill/>
                  </a:tcPr>
                </a:tc>
              </a:tr>
              <a:tr h="502920">
                <a:tc>
                  <a:txBody>
                    <a:bodyPr wrap="square"/>
                    <a:lstStyle/>
                    <a:p>
                      <a:pPr algn="l">
                        <a:lnSpc>
                          <a:spcPct val="105000"/>
                        </a:lnSpc>
                      </a:pPr>
                      <a:r>
                        <a:rPr sz="950" b="0" i="0">
                          <a:solidFill>
                            <a:srgbClr val="16181B"/>
                          </a:solidFill>
                          <a:latin typeface="Noto Sans KR SemiBold"/>
                          <a:ea typeface="Noto Sans KR SemiBold"/>
                          <a:cs typeface="Noto Sans KR SemiBold"/>
                        </a:rPr>
                        <a:t>EYES  · Vision / Edge</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상용 수준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NVIDIA Jetson AGX Thor — 2,070 FP4 TFLOPS, 이전 세대 대비 AI 연산 7.5배 (2025.8)</a:t>
                      </a:r>
                    </a:p>
                  </a:txBody>
                  <a:tcPr marL="73152" marR="54864" marT="27432" marB="27432" anchor="ctr">
                    <a:lnL w="9525">
                      <a:noFill/>
                    </a:lnL>
                    <a:lnR w="9525">
                      <a:noFill/>
                    </a:lnR>
                    <a:lnT w="9525">
                      <a:noFill/>
                    </a:lnT>
                    <a:lnB w="9525">
                      <a:solidFill>
                        <a:srgbClr val="DCDAD5"/>
                      </a:solidFill>
                    </a:lnB>
                    <a:noFill/>
                  </a:tcPr>
                </a:tc>
              </a:tr>
              <a:tr h="566928">
                <a:tc>
                  <a:txBody>
                    <a:bodyPr wrap="square"/>
                    <a:lstStyle/>
                    <a:p>
                      <a:pPr algn="l">
                        <a:lnSpc>
                          <a:spcPct val="105000"/>
                        </a:lnSpc>
                      </a:pPr>
                      <a:r>
                        <a:rPr sz="950" b="0" i="0">
                          <a:solidFill>
                            <a:srgbClr val="16181B"/>
                          </a:solidFill>
                          <a:latin typeface="Noto Sans KR SemiBold"/>
                          <a:ea typeface="Noto Sans KR SemiBold"/>
                          <a:cs typeface="Noto Sans KR SemiBold"/>
                        </a:rPr>
                        <a:t>BODY  · Arm / Cobot / Humanoid</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대규모 보급</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산업용 로봇 가동 약 508만 대 · 연 60만 대+ 설치 (IFR 2026.9) · Figure 기업가치 $39B (2025.9)</a:t>
                      </a:r>
                    </a:p>
                  </a:txBody>
                  <a:tcPr marL="73152" marR="54864" marT="27432" marB="27432" anchor="ctr">
                    <a:lnL w="9525">
                      <a:noFill/>
                    </a:lnL>
                    <a:lnR w="9525">
                      <a:noFill/>
                    </a:lnR>
                    <a:lnT w="9525">
                      <a:noFill/>
                    </a:lnT>
                    <a:lnB w="9525">
                      <a:solidFill>
                        <a:srgbClr val="DCDAD5"/>
                      </a:solidFill>
                    </a:lnB>
                    <a:noFill/>
                  </a:tcPr>
                </a:tc>
              </a:tr>
              <a:tr h="868680">
                <a:tc>
                  <a:txBody>
                    <a:bodyPr wrap="square"/>
                    <a:lstStyle/>
                    <a:p>
                      <a:pPr algn="l">
                        <a:lnSpc>
                          <a:spcPct val="105000"/>
                        </a:lnSpc>
                      </a:pPr>
                      <a:r>
                        <a:rPr sz="950" b="0" i="0">
                          <a:solidFill>
                            <a:srgbClr val="EC7A3C"/>
                          </a:solidFill>
                          <a:latin typeface="Noto Sans KR Black"/>
                          <a:ea typeface="Noto Sans KR Black"/>
                          <a:cs typeface="Noto Sans KR Black"/>
                        </a:rPr>
                        <a:t>HAND  · Manipulation</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EC7A3C"/>
                          </a:solidFill>
                          <a:latin typeface="Noto Sans KR SemiBold"/>
                          <a:ea typeface="Noto Sans KR SemiBold"/>
                          <a:cs typeface="Noto Sans KR SemiBold"/>
                        </a:rPr>
                        <a:t>여전히 어려운 문제</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"The forearm and hand are more difficult than the entire rest of the robot." — Elon Musk, Tesla Q3 2025 Earnings Call (2025.10)</a:t>
                      </a:r>
                    </a:p>
                    <a:p>
                      <a:pPr algn="l">
                        <a:lnSpc>
                          <a:spcPct val="105000"/>
                        </a:lnSpc>
                      </a:pPr>
                      <a:r>
                        <a:rPr sz="950" b="0" i="0">
                          <a:solidFill>
                            <a:srgbClr val="51565E"/>
                          </a:solidFill>
                          <a:latin typeface="Noto Sans KR"/>
                          <a:ea typeface="Noto Sans KR"/>
                          <a:cs typeface="Noto Sans KR"/>
                        </a:rPr>
                        <a:t>NVIDIA 레퍼런스 휴머노이드(2026.6) 외부 촉각 핸드 채택 · Figure 03 촉각 손끝(3g 감지, 2025.10)</a:t>
                      </a:r>
                    </a:p>
                  </a:txBody>
                  <a:tcPr marL="73152" marR="54864" marT="27432" marB="27432" anchor="ctr">
                    <a:lnL w="9525">
                      <a:noFill/>
                    </a:lnL>
                    <a:lnR w="9525">
                      <a:noFill/>
                    </a:lnR>
                    <a:lnT w="9525">
                      <a:noFill/>
                    </a:lnT>
                    <a:lnB w="9525">
                      <a:solidFill>
                        <a:srgbClr val="DCDAD5"/>
                      </a:solidFill>
                    </a:lnB>
                    <a:noFill/>
                  </a:tcPr>
                </a:tc>
              </a:tr>
              <a:tr h="502920">
                <a:tc>
                  <a:txBody>
                    <a:bodyPr wrap="square"/>
                    <a:lstStyle/>
                    <a:p>
                      <a:pPr algn="l">
                        <a:lnSpc>
                          <a:spcPct val="105000"/>
                        </a:lnSpc>
                      </a:pPr>
                      <a:r>
                        <a:rPr sz="950" b="0" i="0">
                          <a:solidFill>
                            <a:srgbClr val="16181B"/>
                          </a:solidFill>
                          <a:latin typeface="Noto Sans KR SemiBold"/>
                          <a:ea typeface="Noto Sans KR SemiBold"/>
                          <a:cs typeface="Noto Sans KR SemiBold"/>
                        </a:rPr>
                        <a:t>CAPITAL</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자본 유입</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로보틱스 스타트업 투자 2025년 $15B(사상 최대) → 2026년 상반기 $18.8B (Crunchbase News, 2026.6)</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TextBox 6"/>
          <p:cNvSpPr txBox="1"/>
          <p:nvPr/>
        </p:nvSpPr>
        <p:spPr>
          <a:xfrm>
            <a:off x="548640" y="5166360"/>
            <a:ext cx="11091672" cy="365760"/>
          </a:xfrm>
          <a:prstGeom prst="rect">
            <a:avLst/>
          </a:prstGeom>
          <a:noFill/>
        </p:spPr>
        <p:txBody>
          <a:bodyPr wrap="square" lIns="0" rIns="0" tIns="0" bIns="0" anchor="t">
            <a:noAutofit/>
          </a:bodyPr>
          <a:lstStyle/>
          <a:p>
            <a:pPr algn="l">
              <a:lnSpc>
                <a:spcPct val="115000"/>
              </a:lnSpc>
            </a:pPr>
            <a:r>
              <a:rPr sz="900" b="0" i="0">
                <a:solidFill>
                  <a:srgbClr val="51565E"/>
                </a:solidFill>
                <a:latin typeface="Noto Sans KR"/>
                <a:ea typeface="Noto Sans KR"/>
                <a:cs typeface="Noto Sans KR"/>
              </a:rPr>
              <a:t>해석: Physical AI의 두뇌 · 눈 · 몸이 상용화되면서, 현실 세계의 사람용 Interface를 다루는 Manipulation Layer가 병목으로 남는다. 다만 이것은 장기 Vision의 근거이며, 회사의 첫 매출 근거는 기존 생산설비의 자동화 전환비용(Slide 02)이다.</a:t>
            </a:r>
          </a:p>
        </p:txBody>
      </p:sp>
      <p:sp>
        <p:nvSpPr>
          <p:cNvPr id="8"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9"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A6  ·  시장 규모</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첫 시장은 설치 기반, 상한은 OEM 출하량</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숫자의 크기보다 Scale Mechanism — OEM 매출을 단순 곱셈으로 계산하지 않는다</a:t>
            </a:r>
          </a:p>
        </p:txBody>
      </p:sp>
      <p:sp>
        <p:nvSpPr>
          <p:cNvPr id="6" name="Light card"/>
          <p:cNvSpPr/>
          <p:nvPr/>
        </p:nvSpPr>
        <p:spPr>
          <a:xfrm>
            <a:off x="548640" y="1572768"/>
            <a:ext cx="4572000" cy="3886200"/>
          </a:xfrm>
          <a:prstGeom prst="roundRect">
            <a:avLst>
              <a:gd name="adj" fmla="val 1882"/>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719072"/>
            <a:ext cx="4251960"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연간 산업용 로봇 신규 설치 (천 대) · IFR</a:t>
            </a:r>
          </a:p>
        </p:txBody>
      </p:sp>
      <p:graphicFrame>
        <p:nvGraphicFramePr>
          <p:cNvPr id="8" name="Chart 7"/>
          <p:cNvGraphicFramePr>
            <a:graphicFrameLocks noGrp="1"/>
          </p:cNvGraphicFramePr>
          <p:nvPr/>
        </p:nvGraphicFramePr>
        <p:xfrm>
          <a:off x="685800" y="1874520"/>
          <a:ext cx="4297680" cy="2743200"/>
        </p:xfrm>
        <a:graphic>
          <a:graphicData uri="http://schemas.openxmlformats.org/drawingml/2006/chart">
            <c:chart xmlns:c="http://schemas.openxmlformats.org/drawingml/2006/chart" r:id="rId2"/>
          </a:graphicData>
        </a:graphic>
      </p:graphicFrame>
      <p:sp>
        <p:nvSpPr>
          <p:cNvPr id="9" name="TextBox 8"/>
          <p:cNvSpPr txBox="1"/>
          <p:nvPr/>
        </p:nvSpPr>
        <p:spPr>
          <a:xfrm>
            <a:off x="731520" y="4709160"/>
            <a:ext cx="4206240" cy="640080"/>
          </a:xfrm>
          <a:prstGeom prst="rect">
            <a:avLst/>
          </a:prstGeom>
          <a:noFill/>
        </p:spPr>
        <p:txBody>
          <a:bodyPr wrap="square" lIns="0" rIns="0" tIns="0" bIns="0" anchor="t">
            <a:noAutofit/>
          </a:bodyPr>
          <a:lstStyle/>
          <a:p>
            <a:pPr algn="l">
              <a:lnSpc>
                <a:spcPct val="120000"/>
              </a:lnSpc>
            </a:pPr>
            <a:r>
              <a:rPr sz="1500" b="0" i="0">
                <a:solidFill>
                  <a:srgbClr val="16181B"/>
                </a:solidFill>
                <a:latin typeface="Noto Sans KR Black"/>
                <a:ea typeface="Noto Sans KR Black"/>
                <a:cs typeface="Noto Sans KR Black"/>
              </a:rPr>
              <a:t>약 508만 대  </a:t>
            </a:r>
            <a:r>
              <a:rPr sz="950" b="0" i="0">
                <a:solidFill>
                  <a:srgbClr val="51565E"/>
                </a:solidFill>
                <a:latin typeface="Noto Sans KR"/>
                <a:ea typeface="Noto Sans KR"/>
                <a:cs typeface="Noto Sans KR"/>
              </a:rPr>
              <a:t>가동 중 산업용 로봇 (2025년 말)</a:t>
            </a:r>
          </a:p>
          <a:p>
            <a:pPr algn="l">
              <a:lnSpc>
                <a:spcPct val="120000"/>
              </a:lnSpc>
            </a:pPr>
            <a:r>
              <a:rPr sz="950" b="0" i="0">
                <a:solidFill>
                  <a:srgbClr val="51565E"/>
                </a:solidFill>
                <a:latin typeface="Noto Sans KR"/>
                <a:ea typeface="Noto Sans KR"/>
                <a:cs typeface="Noto Sans KR"/>
              </a:rPr>
              <a:t>한국: 연 3.0만 대 설치 · 로봇밀도 1,220대 / 직원 1만 명 (세계 1위)</a:t>
            </a:r>
          </a:p>
        </p:txBody>
      </p:sp>
      <p:graphicFrame>
        <p:nvGraphicFramePr>
          <p:cNvPr id="10" name="Market table"/>
          <p:cNvGraphicFramePr>
            <a:graphicFrameLocks noGrp="1"/>
          </p:cNvGraphicFramePr>
          <p:nvPr/>
        </p:nvGraphicFramePr>
        <p:xfrm>
          <a:off x="5349240" y="1572768"/>
          <a:ext cx="6291072" cy="3026664"/>
        </p:xfrm>
        <a:graphic>
          <a:graphicData uri="http://schemas.openxmlformats.org/drawingml/2006/table">
            <a:tbl>
              <a:tblPr firstRow="0" bandRow="0">
                <a:tableStyleId>{5C22544A-7EE6-4342-B048-85BDC9FD1C3A}</a:tableStyleId>
              </a:tblPr>
              <a:tblGrid>
                <a:gridCol w="1051560"/>
                <a:gridCol w="1874520"/>
                <a:gridCol w="2057400"/>
                <a:gridCol w="1307592"/>
              </a:tblGrid>
              <a:tr h="329184">
                <a:tc>
                  <a:txBody>
                    <a:bodyPr wrap="square"/>
                    <a:lstStyle/>
                    <a:p>
                      <a:pPr algn="l">
                        <a:lnSpc>
                          <a:spcPct val="105000"/>
                        </a:lnSpc>
                      </a:pPr>
                      <a:r>
                        <a:rPr sz="950" b="0" i="0" spc="40">
                          <a:solidFill>
                            <a:srgbClr val="16181B"/>
                          </a:solidFill>
                          <a:latin typeface="Noto Sans KR SemiBold"/>
                          <a:ea typeface="Noto Sans KR SemiBold"/>
                          <a:cs typeface="Noto Sans KR SemiBold"/>
                        </a:rPr>
                        <a:t>단계</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정의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규모 근거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성격</a:t>
                      </a:r>
                    </a:p>
                  </a:txBody>
                  <a:tcPr marL="73152" marR="54864" marT="27432" marB="27432" anchor="ctr">
                    <a:lnL w="9525">
                      <a:noFill/>
                    </a:lnL>
                    <a:lnR w="9525">
                      <a:noFill/>
                    </a:lnR>
                    <a:lnT w="9525">
                      <a:noFill/>
                    </a:lnT>
                    <a:lnB w="9525">
                      <a:solidFill>
                        <a:srgbClr val="DCDAD5"/>
                      </a:solidFill>
                    </a:lnB>
                    <a:noFill/>
                  </a:tcPr>
                </a:tc>
              </a:tr>
              <a:tr h="868680">
                <a:tc>
                  <a:txBody>
                    <a:bodyPr wrap="square"/>
                    <a:lstStyle/>
                    <a:p>
                      <a:pPr algn="l">
                        <a:lnSpc>
                          <a:spcPct val="105000"/>
                        </a:lnSpc>
                      </a:pPr>
                      <a:r>
                        <a:rPr sz="900" b="0" i="0">
                          <a:solidFill>
                            <a:srgbClr val="16181B"/>
                          </a:solidFill>
                          <a:latin typeface="Noto Sans KR SemiBold"/>
                          <a:ea typeface="Noto Sans KR SemiBold"/>
                          <a:cs typeface="Noto Sans KR SemiBold"/>
                        </a:rPr>
                        <a:t>Beachhead</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국내 다품종 Machine Tending</a:t>
                      </a:r>
                    </a:p>
                    <a:p>
                      <a:pPr algn="l">
                        <a:lnSpc>
                          <a:spcPct val="105000"/>
                        </a:lnSpc>
                      </a:pPr>
                      <a:r>
                        <a:rPr sz="900" b="0" i="0">
                          <a:solidFill>
                            <a:srgbClr val="51565E"/>
                          </a:solidFill>
                          <a:latin typeface="Noto Sans KR"/>
                          <a:ea typeface="Noto Sans KR"/>
                          <a:cs typeface="Noto Sans KR"/>
                        </a:rPr>
                        <a:t>(Robot SI · 제조기업)</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국내 연 3.0만 대 설치 · 로봇밀도 세계 1위</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구매의향 미검증 → 고객 인터뷰 30곳</a:t>
                      </a:r>
                    </a:p>
                  </a:txBody>
                  <a:tcPr marL="73152" marR="54864" marT="27432" marB="27432" anchor="ctr">
                    <a:lnL w="9525">
                      <a:noFill/>
                    </a:lnL>
                    <a:lnR w="9525">
                      <a:noFill/>
                    </a:lnR>
                    <a:lnT w="9525">
                      <a:noFill/>
                    </a:lnT>
                    <a:lnB w="9525">
                      <a:solidFill>
                        <a:srgbClr val="DCDAD5"/>
                      </a:solidFill>
                    </a:lnB>
                    <a:noFill/>
                  </a:tcPr>
                </a:tc>
              </a:tr>
              <a:tr h="868680">
                <a:tc>
                  <a:txBody>
                    <a:bodyPr wrap="square"/>
                    <a:lstStyle/>
                    <a:p>
                      <a:pPr algn="l">
                        <a:lnSpc>
                          <a:spcPct val="105000"/>
                        </a:lnSpc>
                      </a:pPr>
                      <a:r>
                        <a:rPr sz="900" b="0" i="0">
                          <a:solidFill>
                            <a:srgbClr val="16181B"/>
                          </a:solidFill>
                          <a:latin typeface="Noto Sans KR SemiBold"/>
                          <a:ea typeface="Noto Sans KR SemiBold"/>
                          <a:cs typeface="Noto Sans KR SemiBold"/>
                        </a:rPr>
                        <a:t>Expansion</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글로벌 산업용 · 협동로봇 설치 기반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가동 약 508만 대 · 2025년 60만 대+ (+11%) · 2029F 80.6만 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IFR World Robotics 2026</a:t>
                      </a:r>
                    </a:p>
                  </a:txBody>
                  <a:tcPr marL="73152" marR="54864" marT="27432" marB="27432" anchor="ctr">
                    <a:lnL w="9525">
                      <a:noFill/>
                    </a:lnL>
                    <a:lnR w="9525">
                      <a:noFill/>
                    </a:lnR>
                    <a:lnT w="9525">
                      <a:noFill/>
                    </a:lnT>
                    <a:lnB w="9525">
                      <a:solidFill>
                        <a:srgbClr val="DCDAD5"/>
                      </a:solidFill>
                    </a:lnB>
                    <a:noFill/>
                  </a:tcPr>
                </a:tc>
              </a:tr>
              <a:tr h="960120">
                <a:tc>
                  <a:txBody>
                    <a:bodyPr wrap="square"/>
                    <a:lstStyle/>
                    <a:p>
                      <a:pPr algn="l">
                        <a:lnSpc>
                          <a:spcPct val="105000"/>
                        </a:lnSpc>
                      </a:pPr>
                      <a:r>
                        <a:rPr sz="900" b="0" i="0">
                          <a:solidFill>
                            <a:srgbClr val="16181B"/>
                          </a:solidFill>
                          <a:latin typeface="Noto Sans KR SemiBold"/>
                          <a:ea typeface="Noto Sans KR SemiBold"/>
                          <a:cs typeface="Noto Sans KR SemiBold"/>
                        </a:rPr>
                        <a:t>Scale</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Robot OEM 출하량 · Humanoid / Physical AI</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OEM Design Win 시 출하량 연동 (Slide 11 공식) · 휴머노이드 전망은 기관별 편차 큼</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매출 수치 계산하지 않음</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11" name="TextBox 10"/>
          <p:cNvSpPr txBox="1"/>
          <p:nvPr/>
        </p:nvSpPr>
        <p:spPr>
          <a:xfrm>
            <a:off x="5349240" y="4754880"/>
            <a:ext cx="6291072" cy="731520"/>
          </a:xfrm>
          <a:prstGeom prst="rect">
            <a:avLst/>
          </a:prstGeom>
          <a:noFill/>
        </p:spPr>
        <p:txBody>
          <a:bodyPr wrap="square" lIns="0" rIns="0" tIns="0" bIns="0" anchor="t">
            <a:noAutofit/>
          </a:bodyPr>
          <a:lstStyle/>
          <a:p>
            <a:pPr algn="l">
              <a:lnSpc>
                <a:spcPct val="120000"/>
              </a:lnSpc>
            </a:pPr>
            <a:r>
              <a:rPr sz="900" b="0" i="0">
                <a:solidFill>
                  <a:srgbClr val="51565E"/>
                </a:solidFill>
                <a:latin typeface="Noto Sans KR"/>
                <a:ea typeface="Noto Sans KR"/>
                <a:cs typeface="Noto Sans KR"/>
              </a:rPr>
              <a:t>삭제한 계산 — 기존 Deck의 OEM 채택률 × 단가 매출표(302억~1,810억)와 초기 기회 ₩75억(100개사 × 5대 × ₩1,500만)</a:t>
            </a:r>
          </a:p>
          <a:p>
            <a:pPr algn="l">
              <a:lnSpc>
                <a:spcPct val="120000"/>
              </a:lnSpc>
            </a:pPr>
            <a:r>
              <a:rPr sz="900" b="0" i="0">
                <a:solidFill>
                  <a:srgbClr val="51565E"/>
                </a:solidFill>
                <a:latin typeface="Noto Sans KR"/>
                <a:ea typeface="Noto Sans KR"/>
                <a:cs typeface="Noto Sans KR"/>
              </a:rPr>
              <a:t>EOAT 시장 추정치는 조사기관별 편차가 커 TAM 근거로 사용하지 않음</a:t>
            </a:r>
          </a:p>
        </p:txBody>
      </p:sp>
      <p:sp>
        <p:nvSpPr>
          <p:cNvPr id="12" name="TextBox 11"/>
          <p:cNvSpPr txBox="1"/>
          <p:nvPr/>
        </p:nvSpPr>
        <p:spPr>
          <a:xfrm>
            <a:off x="548640" y="5760720"/>
            <a:ext cx="11091672" cy="365760"/>
          </a:xfrm>
          <a:prstGeom prst="rect">
            <a:avLst/>
          </a:prstGeom>
          <a:noFill/>
        </p:spPr>
        <p:txBody>
          <a:bodyPr wrap="square" lIns="0" rIns="0" tIns="0" bIns="0" anchor="t">
            <a:noAutofit/>
          </a:bodyPr>
          <a:lstStyle/>
          <a:p>
            <a:pPr algn="l">
              <a:lnSpc>
                <a:spcPct val="115000"/>
              </a:lnSpc>
            </a:pPr>
            <a:r>
              <a:rPr sz="900" b="0" i="0">
                <a:solidFill>
                  <a:srgbClr val="51565E"/>
                </a:solidFill>
                <a:latin typeface="Noto Sans KR"/>
                <a:ea typeface="Noto Sans KR"/>
                <a:cs typeface="Noto Sans KR"/>
              </a:rPr>
              <a:t>Source: IFR World Robotics 2026 (2026.9) · IFR Robot Density (2026.4) · 휴머노이드 전망 예: Goldman Sachs 2035년 648만 대(2026.8, Investing.com 보도)</a:t>
            </a:r>
          </a:p>
        </p:txBody>
      </p:sp>
      <p:sp>
        <p:nvSpPr>
          <p:cNvPr id="13"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14"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A7  ·  Technical Due Diligence</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Hand Engineering: 구동 · 하중 · 센싱</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구동 방식은 미확정 — 창업 후 3개월 내 비교시험으로 선정 (M6 Gate와 연동)</a:t>
            </a:r>
          </a:p>
        </p:txBody>
      </p:sp>
      <p:graphicFrame>
        <p:nvGraphicFramePr>
          <p:cNvPr id="6" name="Engineering table"/>
          <p:cNvGraphicFramePr>
            <a:graphicFrameLocks noGrp="1"/>
          </p:cNvGraphicFramePr>
          <p:nvPr/>
        </p:nvGraphicFramePr>
        <p:xfrm>
          <a:off x="548640" y="1572768"/>
          <a:ext cx="7315200" cy="3511296"/>
        </p:xfrm>
        <a:graphic>
          <a:graphicData uri="http://schemas.openxmlformats.org/drawingml/2006/table">
            <a:tbl>
              <a:tblPr firstRow="0" bandRow="0">
                <a:tableStyleId>{5C22544A-7EE6-4342-B048-85BDC9FD1C3A}</a:tableStyleId>
              </a:tblPr>
              <a:tblGrid>
                <a:gridCol w="1188720"/>
                <a:gridCol w="3291840"/>
                <a:gridCol w="2834640"/>
              </a:tblGrid>
              <a:tr h="329184">
                <a:tc>
                  <a:txBody>
                    <a:bodyPr wrap="square"/>
                    <a:lstStyle/>
                    <a:p>
                      <a:pPr algn="l">
                        <a:lnSpc>
                          <a:spcPct val="105000"/>
                        </a:lnSpc>
                      </a:pPr>
                      <a:r>
                        <a:rPr sz="950" b="0" i="0" spc="40">
                          <a:solidFill>
                            <a:srgbClr val="16181B"/>
                          </a:solidFill>
                          <a:latin typeface="Noto Sans KR SemiBold"/>
                          <a:ea typeface="Noto Sans KR SemiBold"/>
                          <a:cs typeface="Noto Sans KR SemiBold"/>
                        </a:rPr>
                        <a:t>기술 요소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개발 내용</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검증 기준</a:t>
                      </a:r>
                    </a:p>
                  </a:txBody>
                  <a:tcPr marL="73152" marR="54864" marT="27432" marB="27432" anchor="ctr">
                    <a:lnL w="9525">
                      <a:noFill/>
                    </a:lnL>
                    <a:lnR w="9525">
                      <a:noFill/>
                    </a:lnR>
                    <a:lnT w="9525">
                      <a:noFill/>
                    </a:lnT>
                    <a:lnB w="9525">
                      <a:solidFill>
                        <a:srgbClr val="DCDAD5"/>
                      </a:solidFill>
                    </a:lnB>
                    <a:noFill/>
                  </a:tcPr>
                </a:tc>
              </a:tr>
              <a:tr h="530352">
                <a:tc>
                  <a:txBody>
                    <a:bodyPr wrap="square"/>
                    <a:lstStyle/>
                    <a:p>
                      <a:pPr algn="l">
                        <a:lnSpc>
                          <a:spcPct val="105000"/>
                        </a:lnSpc>
                      </a:pPr>
                      <a:r>
                        <a:rPr sz="900" b="0" i="0">
                          <a:solidFill>
                            <a:srgbClr val="16181B"/>
                          </a:solidFill>
                          <a:latin typeface="Noto Sans KR SemiBold"/>
                          <a:ea typeface="Noto Sans KR SemiBold"/>
                          <a:cs typeface="Noto Sans KR SemiBold"/>
                        </a:rPr>
                        <a:t>구성 (4지)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3 Finger + 대향 Thumb — Door · Pick · Lever · Button 수행 최소 구성</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5지 대비 부품 수 · 비용 · 내구성 · 제어 복잡도 (5지는 Series A 이후)</a:t>
                      </a:r>
                    </a:p>
                  </a:txBody>
                  <a:tcPr marL="73152" marR="54864" marT="27432" marB="27432" anchor="ctr">
                    <a:lnL w="9525">
                      <a:noFill/>
                    </a:lnL>
                    <a:lnR w="9525">
                      <a:noFill/>
                    </a:lnR>
                    <a:lnT w="9525">
                      <a:noFill/>
                    </a:lnT>
                    <a:lnB w="9525">
                      <a:solidFill>
                        <a:srgbClr val="DCDAD5"/>
                      </a:solidFill>
                    </a:lnB>
                    <a:noFill/>
                  </a:tcPr>
                </a:tc>
              </a:tr>
              <a:tr h="530352">
                <a:tc>
                  <a:txBody>
                    <a:bodyPr wrap="square"/>
                    <a:lstStyle/>
                    <a:p>
                      <a:pPr algn="l">
                        <a:lnSpc>
                          <a:spcPct val="105000"/>
                        </a:lnSpc>
                      </a:pPr>
                      <a:r>
                        <a:rPr sz="900" b="0" i="0">
                          <a:solidFill>
                            <a:srgbClr val="16181B"/>
                          </a:solidFill>
                          <a:latin typeface="Noto Sans KR SemiBold"/>
                          <a:ea typeface="Noto Sans KR SemiBold"/>
                          <a:cs typeface="Noto Sans KR SemiBold"/>
                        </a:rPr>
                        <a:t>구동부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전동 Tendon을 기준 후보로 소형 유압 · 공압과 비교</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손 무게 · 유지력 · 응답 · 누설 · 소음 · 소비전력 · 정비비</a:t>
                      </a:r>
                    </a:p>
                  </a:txBody>
                  <a:tcPr marL="73152" marR="54864" marT="27432" marB="27432" anchor="ctr">
                    <a:lnL w="9525">
                      <a:noFill/>
                    </a:lnL>
                    <a:lnR w="9525">
                      <a:noFill/>
                    </a:lnR>
                    <a:lnT w="9525">
                      <a:noFill/>
                    </a:lnT>
                    <a:lnB w="9525">
                      <a:solidFill>
                        <a:srgbClr val="DCDAD5"/>
                      </a:solidFill>
                    </a:lnB>
                    <a:noFill/>
                  </a:tcPr>
                </a:tc>
              </a:tr>
              <a:tr h="530352">
                <a:tc>
                  <a:txBody>
                    <a:bodyPr wrap="square"/>
                    <a:lstStyle/>
                    <a:p>
                      <a:pPr algn="l">
                        <a:lnSpc>
                          <a:spcPct val="105000"/>
                        </a:lnSpc>
                      </a:pPr>
                      <a:r>
                        <a:rPr sz="900" b="0" i="0">
                          <a:solidFill>
                            <a:srgbClr val="16181B"/>
                          </a:solidFill>
                          <a:latin typeface="Noto Sans KR SemiBold"/>
                          <a:ea typeface="Noto Sans KR SemiBold"/>
                          <a:cs typeface="Noto Sans KR SemiBold"/>
                        </a:rPr>
                        <a:t>가변 순응성</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탄성요소 · 장력 제어 · 필요 시 잠금기구</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접촉 충격 완화와 조작 토크 유지의 균형</a:t>
                      </a:r>
                    </a:p>
                  </a:txBody>
                  <a:tcPr marL="73152" marR="54864" marT="27432" marB="27432" anchor="ctr">
                    <a:lnL w="9525">
                      <a:noFill/>
                    </a:lnL>
                    <a:lnR w="9525">
                      <a:noFill/>
                    </a:lnR>
                    <a:lnT w="9525">
                      <a:noFill/>
                    </a:lnT>
                    <a:lnB w="9525">
                      <a:solidFill>
                        <a:srgbClr val="DCDAD5"/>
                      </a:solidFill>
                    </a:lnB>
                    <a:noFill/>
                  </a:tcPr>
                </a:tc>
              </a:tr>
              <a:tr h="530352">
                <a:tc>
                  <a:txBody>
                    <a:bodyPr wrap="square"/>
                    <a:lstStyle/>
                    <a:p>
                      <a:pPr algn="l">
                        <a:lnSpc>
                          <a:spcPct val="105000"/>
                        </a:lnSpc>
                      </a:pPr>
                      <a:r>
                        <a:rPr sz="900" b="0" i="0">
                          <a:solidFill>
                            <a:srgbClr val="16181B"/>
                          </a:solidFill>
                          <a:latin typeface="Noto Sans KR SemiBold"/>
                          <a:ea typeface="Noto Sans KR SemiBold"/>
                          <a:cs typeface="Noto Sans KR SemiBold"/>
                        </a:rPr>
                        <a:t>감각부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손끝 · 손바닥 접촉센서 · 관절 / 장력 센서 · 손목 6축 F/T</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절삭유 · 분진 · 오염 조건 편차와 재교정</a:t>
                      </a:r>
                    </a:p>
                  </a:txBody>
                  <a:tcPr marL="73152" marR="54864" marT="27432" marB="27432" anchor="ctr">
                    <a:lnL w="9525">
                      <a:noFill/>
                    </a:lnL>
                    <a:lnR w="9525">
                      <a:noFill/>
                    </a:lnR>
                    <a:lnT w="9525">
                      <a:noFill/>
                    </a:lnT>
                    <a:lnB w="9525">
                      <a:solidFill>
                        <a:srgbClr val="DCDAD5"/>
                      </a:solidFill>
                    </a:lnB>
                    <a:noFill/>
                  </a:tcPr>
                </a:tc>
              </a:tr>
              <a:tr h="530352">
                <a:tc>
                  <a:txBody>
                    <a:bodyPr wrap="square"/>
                    <a:lstStyle/>
                    <a:p>
                      <a:pPr algn="l">
                        <a:lnSpc>
                          <a:spcPct val="105000"/>
                        </a:lnSpc>
                      </a:pPr>
                      <a:r>
                        <a:rPr sz="900" b="0" i="0">
                          <a:solidFill>
                            <a:srgbClr val="16181B"/>
                          </a:solidFill>
                          <a:latin typeface="Noto Sans KR SemiBold"/>
                          <a:ea typeface="Noto Sans KR SemiBold"/>
                          <a:cs typeface="Noto Sans KR SemiBold"/>
                        </a:rPr>
                        <a:t>접촉부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교체형 패드 · 외피, 용도별 재질 분리 (제조: 내마모 · 내유 / 주방: 세척 · 내열)</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미끄럼 · 마모 · 세척 · 재질 적합성 시험</a:t>
                      </a:r>
                    </a:p>
                  </a:txBody>
                  <a:tcPr marL="73152" marR="54864" marT="27432" marB="27432" anchor="ctr">
                    <a:lnL w="9525">
                      <a:noFill/>
                    </a:lnL>
                    <a:lnR w="9525">
                      <a:noFill/>
                    </a:lnR>
                    <a:lnT w="9525">
                      <a:noFill/>
                    </a:lnT>
                    <a:lnB w="9525">
                      <a:solidFill>
                        <a:srgbClr val="DCDAD5"/>
                      </a:solidFill>
                    </a:lnB>
                    <a:noFill/>
                  </a:tcPr>
                </a:tc>
              </a:tr>
              <a:tr h="530352">
                <a:tc>
                  <a:txBody>
                    <a:bodyPr wrap="square"/>
                    <a:lstStyle/>
                    <a:p>
                      <a:pPr algn="l">
                        <a:lnSpc>
                          <a:spcPct val="105000"/>
                        </a:lnSpc>
                      </a:pPr>
                      <a:r>
                        <a:rPr sz="900" b="0" i="0">
                          <a:solidFill>
                            <a:srgbClr val="16181B"/>
                          </a:solidFill>
                          <a:latin typeface="Noto Sans KR SemiBold"/>
                          <a:ea typeface="Noto Sans KR SemiBold"/>
                          <a:cs typeface="Noto Sans KR SemiBold"/>
                        </a:rPr>
                        <a:t>로봇 장착</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공통 Wrist Module · 플랜지 어댑터 · TCP 교정 · 통신 드라이버</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00" b="0" i="0">
                          <a:solidFill>
                            <a:srgbClr val="51565E"/>
                          </a:solidFill>
                          <a:latin typeface="Noto Sans KR"/>
                          <a:ea typeface="Noto Sans KR"/>
                          <a:cs typeface="Noto Sans KR"/>
                        </a:rPr>
                        <a:t>Robot Platform 2종 실제 통합 · 이식성 측정</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Light card"/>
          <p:cNvSpPr/>
          <p:nvPr/>
        </p:nvSpPr>
        <p:spPr>
          <a:xfrm>
            <a:off x="8092440" y="1572768"/>
            <a:ext cx="3547872" cy="1965960"/>
          </a:xfrm>
          <a:prstGeom prst="roundRect">
            <a:avLst>
              <a:gd name="adj" fmla="val 3720"/>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75320" y="1719072"/>
            <a:ext cx="322783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LOAD DESIGN EXAMPLE · MACHINE TENDING</a:t>
            </a:r>
          </a:p>
        </p:txBody>
      </p:sp>
      <p:sp>
        <p:nvSpPr>
          <p:cNvPr id="9" name="TextBox 8"/>
          <p:cNvSpPr txBox="1"/>
          <p:nvPr/>
        </p:nvSpPr>
        <p:spPr>
          <a:xfrm>
            <a:off x="8275320" y="1993392"/>
            <a:ext cx="3246120" cy="1645920"/>
          </a:xfrm>
          <a:prstGeom prst="rect">
            <a:avLst/>
          </a:prstGeom>
          <a:noFill/>
        </p:spPr>
        <p:txBody>
          <a:bodyPr wrap="square" lIns="0" rIns="0" tIns="0" bIns="0" anchor="t">
            <a:noAutofit/>
          </a:bodyPr>
          <a:lstStyle/>
          <a:p>
            <a:pPr algn="l">
              <a:lnSpc>
                <a:spcPct val="120000"/>
              </a:lnSpc>
            </a:pPr>
            <a:r>
              <a:rPr sz="900" b="0" i="0">
                <a:solidFill>
                  <a:srgbClr val="51565E"/>
                </a:solidFill>
                <a:latin typeface="Noto Sans KR"/>
                <a:ea typeface="Noto Sans KR"/>
                <a:cs typeface="Noto Sans KR"/>
              </a:rPr>
              <a:t>소재 1.5kg, 파지점에서 무게중심 0.10m</a:t>
            </a:r>
          </a:p>
          <a:p>
            <a:pPr algn="l">
              <a:lnSpc>
                <a:spcPct val="120000"/>
              </a:lnSpc>
            </a:pPr>
            <a:r>
              <a:rPr sz="900" b="0" i="0">
                <a:solidFill>
                  <a:srgbClr val="51565E"/>
                </a:solidFill>
                <a:latin typeface="Noto Sans KR"/>
                <a:ea typeface="Noto Sans KR"/>
                <a:cs typeface="Noto Sans KR"/>
              </a:rPr>
              <a:t>→ 정적 모멘트 ≈ 1.5 N·m (가속 · 충격 시 증가)</a:t>
            </a:r>
          </a:p>
          <a:p>
            <a:pPr algn="l">
              <a:lnSpc>
                <a:spcPct val="120000"/>
              </a:lnSpc>
            </a:pPr>
            <a:r>
              <a:rPr sz="900" b="0" i="0">
                <a:solidFill>
                  <a:srgbClr val="51565E"/>
                </a:solidFill>
                <a:latin typeface="Noto Sans KR"/>
                <a:ea typeface="Noto Sans KR"/>
                <a:cs typeface="Noto Sans KR"/>
              </a:rPr>
              <a:t>Door 개방력 · Lever 조작 토크는 설비별 Baseline 측정 후 Spec 확정</a:t>
            </a:r>
          </a:p>
          <a:p>
            <a:pPr algn="l">
              <a:lnSpc>
                <a:spcPct val="120000"/>
              </a:lnSpc>
            </a:pPr>
            <a:r>
              <a:rPr sz="900" b="0" i="0">
                <a:solidFill>
                  <a:srgbClr val="51565E"/>
                </a:solidFill>
                <a:latin typeface="Noto Sans KR"/>
                <a:ea typeface="Noto Sans KR"/>
                <a:cs typeface="Noto Sans KR"/>
              </a:rPr>
              <a:t>손의 파지 하중 ≠ 로봇 팔 가반하중 (손 · 어댑터 · 소재 합산)</a:t>
            </a:r>
          </a:p>
        </p:txBody>
      </p:sp>
      <p:sp>
        <p:nvSpPr>
          <p:cNvPr id="10" name="Light card"/>
          <p:cNvSpPr/>
          <p:nvPr/>
        </p:nvSpPr>
        <p:spPr>
          <a:xfrm>
            <a:off x="8092440" y="3675888"/>
            <a:ext cx="3547872" cy="1783080"/>
          </a:xfrm>
          <a:prstGeom prst="roundRect">
            <a:avLst>
              <a:gd name="adj" fmla="val 4102"/>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75320" y="3822192"/>
            <a:ext cx="322783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SENSING ROLES</a:t>
            </a:r>
          </a:p>
        </p:txBody>
      </p:sp>
      <p:sp>
        <p:nvSpPr>
          <p:cNvPr id="12" name="TextBox 11"/>
          <p:cNvSpPr txBox="1"/>
          <p:nvPr/>
        </p:nvSpPr>
        <p:spPr>
          <a:xfrm>
            <a:off x="8275320" y="4096512"/>
            <a:ext cx="3246120" cy="1463040"/>
          </a:xfrm>
          <a:prstGeom prst="rect">
            <a:avLst/>
          </a:prstGeom>
          <a:noFill/>
        </p:spPr>
        <p:txBody>
          <a:bodyPr wrap="square" lIns="0" rIns="0" tIns="0" bIns="0" anchor="t">
            <a:noAutofit/>
          </a:bodyPr>
          <a:lstStyle/>
          <a:p>
            <a:pPr algn="l">
              <a:lnSpc>
                <a:spcPct val="120000"/>
              </a:lnSpc>
            </a:pPr>
            <a:r>
              <a:rPr sz="900" b="0" i="0">
                <a:solidFill>
                  <a:srgbClr val="51565E"/>
                </a:solidFill>
                <a:latin typeface="Noto Sans KR"/>
                <a:ea typeface="Noto Sans KR"/>
                <a:cs typeface="Noto Sans KR"/>
              </a:rPr>
              <a:t>비전: 형상 · Interface 위치 · 배치 상태</a:t>
            </a:r>
          </a:p>
          <a:p>
            <a:pPr algn="l">
              <a:lnSpc>
                <a:spcPct val="120000"/>
              </a:lnSpc>
            </a:pPr>
            <a:r>
              <a:rPr sz="900" b="0" i="0">
                <a:solidFill>
                  <a:srgbClr val="51565E"/>
                </a:solidFill>
                <a:latin typeface="Noto Sans KR"/>
                <a:ea typeface="Noto Sans KR"/>
                <a:cs typeface="Noto Sans KR"/>
              </a:rPr>
              <a:t>촉각: 접촉 · 미끄러짐</a:t>
            </a:r>
          </a:p>
          <a:p>
            <a:pPr algn="l">
              <a:lnSpc>
                <a:spcPct val="120000"/>
              </a:lnSpc>
            </a:pPr>
            <a:r>
              <a:rPr sz="900" b="0" i="0">
                <a:solidFill>
                  <a:srgbClr val="51565E"/>
                </a:solidFill>
                <a:latin typeface="Noto Sans KR"/>
                <a:ea typeface="Noto Sans KR"/>
                <a:cs typeface="Noto Sans KR"/>
              </a:rPr>
              <a:t>손목 F/T: 반력 · 토크</a:t>
            </a:r>
          </a:p>
          <a:p>
            <a:pPr algn="l">
              <a:lnSpc>
                <a:spcPct val="120000"/>
              </a:lnSpc>
            </a:pPr>
            <a:r>
              <a:rPr sz="900" b="0" i="0">
                <a:solidFill>
                  <a:srgbClr val="51565E"/>
                </a:solidFill>
                <a:latin typeface="Noto Sans KR"/>
                <a:ea typeface="Noto Sans KR"/>
                <a:cs typeface="Noto Sans KR"/>
              </a:rPr>
              <a:t>VLA · 모방학습은 상위 작업 선택에 활용, 힘 · 속도 · 안전 한계는 독립 제어 계층에서 보장</a:t>
            </a:r>
          </a:p>
        </p:txBody>
      </p:sp>
      <p:sp>
        <p:nvSpPr>
          <p:cNvPr id="13" name="TextBox 12"/>
          <p:cNvSpPr txBox="1"/>
          <p:nvPr/>
        </p:nvSpPr>
        <p:spPr>
          <a:xfrm>
            <a:off x="548640" y="5623560"/>
            <a:ext cx="11091672" cy="365760"/>
          </a:xfrm>
          <a:prstGeom prst="rect">
            <a:avLst/>
          </a:prstGeom>
          <a:noFill/>
        </p:spPr>
        <p:txBody>
          <a:bodyPr wrap="square" lIns="0" rIns="0" tIns="0" bIns="0" anchor="t">
            <a:noAutofit/>
          </a:bodyPr>
          <a:lstStyle/>
          <a:p>
            <a:pPr algn="l">
              <a:lnSpc>
                <a:spcPct val="115000"/>
              </a:lnSpc>
            </a:pPr>
            <a:r>
              <a:rPr sz="900" b="0" i="0">
                <a:solidFill>
                  <a:srgbClr val="51565E"/>
                </a:solidFill>
                <a:latin typeface="Noto Sans KR"/>
                <a:ea typeface="Noto Sans KR"/>
                <a:cs typeface="Noto Sans KR"/>
              </a:rPr>
              <a:t>공통 제어기 · 통신 · Wrist Module은 유지하고 접촉부만 용도별로 분리한다 — 모든 용도를 하나의 재질 · 손가락 사양으로 충족한다고 가정하지 않는다.</a:t>
            </a:r>
          </a:p>
        </p:txBody>
      </p:sp>
      <p:sp>
        <p:nvSpPr>
          <p:cNvPr id="14"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15"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A8  ·  성능 정의와 시험</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잘 잡는 손이 아니라, 일을 끝내는 손</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Tasks, Not Just Grasps. — 모든 수치는 Target(제안 목표)이며 실적이 아님 · 파지 성공률은 보조 지표</a:t>
            </a:r>
          </a:p>
        </p:txBody>
      </p:sp>
      <p:graphicFrame>
        <p:nvGraphicFramePr>
          <p:cNvPr id="6" name="Performance table"/>
          <p:cNvGraphicFramePr>
            <a:graphicFrameLocks noGrp="1"/>
          </p:cNvGraphicFramePr>
          <p:nvPr/>
        </p:nvGraphicFramePr>
        <p:xfrm>
          <a:off x="548640" y="1572768"/>
          <a:ext cx="11091672" cy="3867912"/>
        </p:xfrm>
        <a:graphic>
          <a:graphicData uri="http://schemas.openxmlformats.org/drawingml/2006/table">
            <a:tbl>
              <a:tblPr firstRow="0" bandRow="0">
                <a:tableStyleId>{5C22544A-7EE6-4342-B048-85BDC9FD1C3A}</a:tableStyleId>
              </a:tblPr>
              <a:tblGrid>
                <a:gridCol w="2566668"/>
                <a:gridCol w="2383334"/>
                <a:gridCol w="2658335"/>
                <a:gridCol w="3483335"/>
              </a:tblGrid>
              <a:tr h="329184">
                <a:tc>
                  <a:txBody>
                    <a:bodyPr wrap="square"/>
                    <a:lstStyle/>
                    <a:p>
                      <a:pPr algn="l">
                        <a:lnSpc>
                          <a:spcPct val="105000"/>
                        </a:lnSpc>
                      </a:pPr>
                      <a:r>
                        <a:rPr sz="950" b="0" i="0" spc="40">
                          <a:solidFill>
                            <a:srgbClr val="16181B"/>
                          </a:solidFill>
                          <a:latin typeface="Noto Sans KR SemiBold"/>
                          <a:ea typeface="Noto Sans KR SemiBold"/>
                          <a:cs typeface="Noto Sans KR SemiBold"/>
                        </a:rPr>
                        <a:t>지표</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12개월 Target</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24개월 Target</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시험 정의</a:t>
                      </a:r>
                    </a:p>
                  </a:txBody>
                  <a:tcPr marL="73152" marR="54864" marT="27432" marB="27432" anchor="ctr">
                    <a:lnL w="9525">
                      <a:noFill/>
                    </a:lnL>
                    <a:lnR w="9525">
                      <a:noFill/>
                    </a:lnR>
                    <a:lnT w="9525">
                      <a:noFill/>
                    </a:lnT>
                    <a:lnB w="9525">
                      <a:solidFill>
                        <a:srgbClr val="DCDAD5"/>
                      </a:solidFill>
                    </a:lnB>
                    <a:noFill/>
                  </a:tcPr>
                </a:tc>
              </a:tr>
              <a:tr h="393192">
                <a:tc>
                  <a:txBody>
                    <a:bodyPr wrap="square"/>
                    <a:lstStyle/>
                    <a:p>
                      <a:pPr algn="l">
                        <a:lnSpc>
                          <a:spcPct val="105000"/>
                        </a:lnSpc>
                      </a:pPr>
                      <a:r>
                        <a:rPr sz="950" b="0" i="0">
                          <a:solidFill>
                            <a:srgbClr val="16181B"/>
                          </a:solidFill>
                          <a:latin typeface="Noto Sans KR SemiBold"/>
                          <a:ea typeface="Noto Sans KR SemiBold"/>
                          <a:cs typeface="Noto Sans KR SemiBold"/>
                        </a:rPr>
                        <a:t>대표 Sequence 완료율 (6단계)</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단계별 반복 시연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승인 Task ≥ 95%</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최초 시도 / 재시도 / 중단 분리 보고 · 신뢰구간</a:t>
                      </a:r>
                    </a:p>
                  </a:txBody>
                  <a:tcPr marL="73152" marR="54864" marT="27432" marB="27432" anchor="ctr">
                    <a:lnL w="9525">
                      <a:noFill/>
                    </a:lnL>
                    <a:lnR w="9525">
                      <a:noFill/>
                    </a:lnR>
                    <a:lnT w="9525">
                      <a:noFill/>
                    </a:lnT>
                    <a:lnB w="9525">
                      <a:solidFill>
                        <a:srgbClr val="DCDAD5"/>
                      </a:solidFill>
                    </a:lnB>
                    <a:noFill/>
                  </a:tcPr>
                </a:tc>
              </a:tr>
              <a:tr h="393192">
                <a:tc>
                  <a:txBody>
                    <a:bodyPr wrap="square"/>
                    <a:lstStyle/>
                    <a:p>
                      <a:pPr algn="l">
                        <a:lnSpc>
                          <a:spcPct val="105000"/>
                        </a:lnSpc>
                      </a:pPr>
                      <a:r>
                        <a:rPr sz="950" b="0" i="0">
                          <a:solidFill>
                            <a:srgbClr val="16181B"/>
                          </a:solidFill>
                          <a:latin typeface="Noto Sans KR SemiBold"/>
                          <a:ea typeface="Noto Sans KR SemiBold"/>
                          <a:cs typeface="Noto Sans KR SemiBold"/>
                        </a:rPr>
                        <a:t>소재 Pick → Loading (등록 소재)</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10종 · 95%+</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20종 · 98%+</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종별 100회, 낙하 없이 Loading 완료</a:t>
                      </a:r>
                    </a:p>
                  </a:txBody>
                  <a:tcPr marL="73152" marR="54864" marT="27432" marB="27432" anchor="ctr">
                    <a:lnL w="9525">
                      <a:noFill/>
                    </a:lnL>
                    <a:lnR w="9525">
                      <a:noFill/>
                    </a:lnR>
                    <a:lnT w="9525">
                      <a:noFill/>
                    </a:lnT>
                    <a:lnB w="9525">
                      <a:solidFill>
                        <a:srgbClr val="DCDAD5"/>
                      </a:solidFill>
                    </a:lnB>
                    <a:noFill/>
                  </a:tcPr>
                </a:tc>
              </a:tr>
              <a:tr h="393192">
                <a:tc>
                  <a:txBody>
                    <a:bodyPr wrap="square"/>
                    <a:lstStyle/>
                    <a:p>
                      <a:pPr algn="l">
                        <a:lnSpc>
                          <a:spcPct val="105000"/>
                        </a:lnSpc>
                      </a:pPr>
                      <a:r>
                        <a:rPr sz="950" b="0" i="0">
                          <a:solidFill>
                            <a:srgbClr val="16181B"/>
                          </a:solidFill>
                          <a:latin typeface="Noto Sans KR SemiBold"/>
                          <a:ea typeface="Noto Sans KR SemiBold"/>
                          <a:cs typeface="Noto Sans KR SemiBold"/>
                        </a:rPr>
                        <a:t>Door · Lever · Button 조작</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대표 설비 2종</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설비 4종 · 완료율 95%+</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조작력 · 작업시간 동시 보고</a:t>
                      </a:r>
                    </a:p>
                  </a:txBody>
                  <a:tcPr marL="73152" marR="54864" marT="27432" marB="27432" anchor="ctr">
                    <a:lnL w="9525">
                      <a:noFill/>
                    </a:lnL>
                    <a:lnR w="9525">
                      <a:noFill/>
                    </a:lnR>
                    <a:lnT w="9525">
                      <a:noFill/>
                    </a:lnT>
                    <a:lnB w="9525">
                      <a:solidFill>
                        <a:srgbClr val="DCDAD5"/>
                      </a:solidFill>
                    </a:lnB>
                    <a:noFill/>
                  </a:tcPr>
                </a:tc>
              </a:tr>
              <a:tr h="393192">
                <a:tc>
                  <a:txBody>
                    <a:bodyPr wrap="square"/>
                    <a:lstStyle/>
                    <a:p>
                      <a:pPr algn="l">
                        <a:lnSpc>
                          <a:spcPct val="105000"/>
                        </a:lnSpc>
                      </a:pPr>
                      <a:r>
                        <a:rPr sz="950" b="0" i="0">
                          <a:solidFill>
                            <a:srgbClr val="16181B"/>
                          </a:solidFill>
                          <a:latin typeface="Noto Sans KR SemiBold"/>
                          <a:ea typeface="Noto Sans KR SemiBold"/>
                          <a:cs typeface="Noto Sans KR SemiBold"/>
                        </a:rPr>
                        <a:t>핸드 하중</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원통 소재 1kg</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동일 조건 2kg</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자세 · 속도 · 모멘트 한계 명시</a:t>
                      </a:r>
                    </a:p>
                  </a:txBody>
                  <a:tcPr marL="73152" marR="54864" marT="27432" marB="27432" anchor="ctr">
                    <a:lnL w="9525">
                      <a:noFill/>
                    </a:lnL>
                    <a:lnR w="9525">
                      <a:noFill/>
                    </a:lnR>
                    <a:lnT w="9525">
                      <a:noFill/>
                    </a:lnT>
                    <a:lnB w="9525">
                      <a:solidFill>
                        <a:srgbClr val="DCDAD5"/>
                      </a:solidFill>
                    </a:lnB>
                    <a:noFill/>
                  </a:tcPr>
                </a:tc>
              </a:tr>
              <a:tr h="393192">
                <a:tc>
                  <a:txBody>
                    <a:bodyPr wrap="square"/>
                    <a:lstStyle/>
                    <a:p>
                      <a:pPr algn="l">
                        <a:lnSpc>
                          <a:spcPct val="105000"/>
                        </a:lnSpc>
                      </a:pPr>
                      <a:r>
                        <a:rPr sz="950" b="0" i="0">
                          <a:solidFill>
                            <a:srgbClr val="16181B"/>
                          </a:solidFill>
                          <a:latin typeface="Noto Sans KR SemiBold"/>
                          <a:ea typeface="Noto Sans KR SemiBold"/>
                          <a:cs typeface="Noto Sans KR SemiBold"/>
                        </a:rPr>
                        <a:t>내구성</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반복 개폐 10만 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30만 회 (양산 목표 100만 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하중 · 패드 교체주기 · 힘 저하율 명시</a:t>
                      </a:r>
                    </a:p>
                  </a:txBody>
                  <a:tcPr marL="73152" marR="54864" marT="27432" marB="27432" anchor="ctr">
                    <a:lnL w="9525">
                      <a:noFill/>
                    </a:lnL>
                    <a:lnR w="9525">
                      <a:noFill/>
                    </a:lnR>
                    <a:lnT w="9525">
                      <a:noFill/>
                    </a:lnT>
                    <a:lnB w="9525">
                      <a:solidFill>
                        <a:srgbClr val="DCDAD5"/>
                      </a:solidFill>
                    </a:lnB>
                    <a:noFill/>
                  </a:tcPr>
                </a:tc>
              </a:tr>
              <a:tr h="393192">
                <a:tc>
                  <a:txBody>
                    <a:bodyPr wrap="square"/>
                    <a:lstStyle/>
                    <a:p>
                      <a:pPr algn="l">
                        <a:lnSpc>
                          <a:spcPct val="105000"/>
                        </a:lnSpc>
                      </a:pPr>
                      <a:r>
                        <a:rPr sz="950" b="0" i="0">
                          <a:solidFill>
                            <a:srgbClr val="16181B"/>
                          </a:solidFill>
                          <a:latin typeface="Noto Sans KR SemiBold"/>
                          <a:ea typeface="Noto Sans KR SemiBold"/>
                          <a:cs typeface="Noto Sans KR SemiBold"/>
                        </a:rPr>
                        <a:t>Skill 이식성</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Platform A 기준 Log</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Platform B 재사용 검증</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추가 Engineering 시간 · 완료율 · 재사용 Module 비중</a:t>
                      </a:r>
                    </a:p>
                  </a:txBody>
                  <a:tcPr marL="73152" marR="54864" marT="27432" marB="27432" anchor="ctr">
                    <a:lnL w="9525">
                      <a:noFill/>
                    </a:lnL>
                    <a:lnR w="9525">
                      <a:noFill/>
                    </a:lnR>
                    <a:lnT w="9525">
                      <a:noFill/>
                    </a:lnT>
                    <a:lnB w="9525">
                      <a:solidFill>
                        <a:srgbClr val="DCDAD5"/>
                      </a:solidFill>
                    </a:lnB>
                    <a:noFill/>
                  </a:tcPr>
                </a:tc>
              </a:tr>
              <a:tr h="393192">
                <a:tc>
                  <a:txBody>
                    <a:bodyPr wrap="square"/>
                    <a:lstStyle/>
                    <a:p>
                      <a:pPr algn="l">
                        <a:lnSpc>
                          <a:spcPct val="105000"/>
                        </a:lnSpc>
                      </a:pPr>
                      <a:r>
                        <a:rPr sz="950" b="0" i="0">
                          <a:solidFill>
                            <a:srgbClr val="16181B"/>
                          </a:solidFill>
                          <a:latin typeface="Noto Sans KR SemiBold"/>
                          <a:ea typeface="Noto Sans KR SemiBold"/>
                          <a:cs typeface="Noto Sans KR SemiBold"/>
                        </a:rPr>
                        <a:t>재사용률 (Reusability)</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측정 체계 수립</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M12부터 측정 · 상승 추세</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신규 고객 적용 시 그대로 쓴 Module 비중</a:t>
                      </a:r>
                    </a:p>
                  </a:txBody>
                  <a:tcPr marL="73152" marR="54864" marT="27432" marB="27432" anchor="ctr">
                    <a:lnL w="9525">
                      <a:noFill/>
                    </a:lnL>
                    <a:lnR w="9525">
                      <a:noFill/>
                    </a:lnR>
                    <a:lnT w="9525">
                      <a:noFill/>
                    </a:lnT>
                    <a:lnB w="9525">
                      <a:solidFill>
                        <a:srgbClr val="DCDAD5"/>
                      </a:solidFill>
                    </a:lnB>
                    <a:noFill/>
                  </a:tcPr>
                </a:tc>
              </a:tr>
              <a:tr h="393192">
                <a:tc>
                  <a:txBody>
                    <a:bodyPr wrap="square"/>
                    <a:lstStyle/>
                    <a:p>
                      <a:pPr algn="l">
                        <a:lnSpc>
                          <a:spcPct val="105000"/>
                        </a:lnSpc>
                      </a:pPr>
                      <a:r>
                        <a:rPr sz="950" b="0" i="0">
                          <a:solidFill>
                            <a:srgbClr val="16181B"/>
                          </a:solidFill>
                          <a:latin typeface="Noto Sans KR SemiBold"/>
                          <a:ea typeface="Noto Sans KR SemiBold"/>
                          <a:cs typeface="Noto Sans KR SemiBold"/>
                        </a:rPr>
                        <a:t>사람 개입 · 전환 시간</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공정별 고객 Baseline 확보</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Baseline 대비 감소 [PoC 측정]</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재료 보충 · 복구 포함 · 임의 목표치 없음</a:t>
                      </a:r>
                    </a:p>
                  </a:txBody>
                  <a:tcPr marL="73152" marR="54864" marT="27432" marB="27432" anchor="ctr">
                    <a:lnL w="9525">
                      <a:noFill/>
                    </a:lnL>
                    <a:lnR w="9525">
                      <a:noFill/>
                    </a:lnR>
                    <a:lnT w="9525">
                      <a:noFill/>
                    </a:lnT>
                    <a:lnB w="9525">
                      <a:solidFill>
                        <a:srgbClr val="DCDAD5"/>
                      </a:solidFill>
                    </a:lnB>
                    <a:noFill/>
                  </a:tcPr>
                </a:tc>
              </a:tr>
              <a:tr h="393192">
                <a:tc>
                  <a:txBody>
                    <a:bodyPr wrap="square"/>
                    <a:lstStyle/>
                    <a:p>
                      <a:pPr algn="l">
                        <a:lnSpc>
                          <a:spcPct val="105000"/>
                        </a:lnSpc>
                      </a:pPr>
                      <a:r>
                        <a:rPr sz="950" b="0" i="0">
                          <a:solidFill>
                            <a:srgbClr val="51565E"/>
                          </a:solidFill>
                          <a:latin typeface="Noto Sans KR SemiBold"/>
                          <a:ea typeface="Noto Sans KR SemiBold"/>
                          <a:cs typeface="Noto Sans KR SemiBold"/>
                        </a:rPr>
                        <a:t>R&amp;D 트랙 (Gate 제외)</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Screwdriver 저토크 체결 Demo</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유연체 · Kitchen Bench Demo</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Seed 성공조건이 아닌 기술 트랙</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TextBox 6"/>
          <p:cNvSpPr txBox="1"/>
          <p:nvPr/>
        </p:nvSpPr>
        <p:spPr>
          <a:xfrm>
            <a:off x="548640" y="5623560"/>
            <a:ext cx="11091672" cy="365760"/>
          </a:xfrm>
          <a:prstGeom prst="rect">
            <a:avLst/>
          </a:prstGeom>
          <a:noFill/>
        </p:spPr>
        <p:txBody>
          <a:bodyPr wrap="square" lIns="0" rIns="0" tIns="0" bIns="0" anchor="t">
            <a:noAutofit/>
          </a:bodyPr>
          <a:lstStyle/>
          <a:p>
            <a:pPr algn="l">
              <a:lnSpc>
                <a:spcPct val="115000"/>
              </a:lnSpc>
            </a:pPr>
            <a:r>
              <a:rPr sz="900" b="0" i="0">
                <a:solidFill>
                  <a:srgbClr val="51565E"/>
                </a:solidFill>
                <a:latin typeface="Noto Sans KR"/>
                <a:ea typeface="Noto Sans KR"/>
                <a:cs typeface="Noto Sans KR"/>
              </a:rPr>
              <a:t>보고 원칙: 시험 횟수 · 성공 건수 · 신뢰구간 공개, 편집 없는 시험 영상 제공. 기존 "사람 개입 −30%" 같은 감소율 목표는 고객 Baseline 확보 전이므로 삭제하고 PoC 측정 항목으로 전환했다.</a:t>
            </a:r>
          </a:p>
        </p:txBody>
      </p:sp>
      <p:sp>
        <p:nvSpPr>
          <p:cNvPr id="8"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9"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A9  ·  Technology Demonstration</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기술 Demo: Screwdriver는 핵심 상용 Use Case가 아니다</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Tool Use를 보여주는 Demo — 고객 ROI는 Door · Lever · 다품종 Handling에서 먼저 증명한다</a:t>
            </a:r>
          </a:p>
        </p:txBody>
      </p:sp>
      <p:sp>
        <p:nvSpPr>
          <p:cNvPr id="6" name="Dark card"/>
          <p:cNvSpPr/>
          <p:nvPr/>
        </p:nvSpPr>
        <p:spPr>
          <a:xfrm>
            <a:off x="548640" y="1572768"/>
            <a:ext cx="4754880" cy="3931920"/>
          </a:xfrm>
          <a:prstGeom prst="roundRect">
            <a:avLst>
              <a:gd name="adj" fmla="val 1860"/>
            </a:avLst>
          </a:prstGeom>
          <a:solidFill>
            <a:srgbClr val="151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Screwdriver demo rendering" descr="screwdriver.png"/>
          <p:cNvPicPr>
            <a:picLocks noChangeAspect="1"/>
          </p:cNvPicPr>
          <p:nvPr/>
        </p:nvPicPr>
        <p:blipFill>
          <a:blip r:embed="rId2"/>
          <a:stretch>
            <a:fillRect/>
          </a:stretch>
        </p:blipFill>
        <p:spPr>
          <a:xfrm>
            <a:off x="1177682" y="1737360"/>
            <a:ext cx="3496796" cy="3291840"/>
          </a:xfrm>
          <a:prstGeom prst="rect">
            <a:avLst/>
          </a:prstGeom>
        </p:spPr>
      </p:pic>
      <p:sp>
        <p:nvSpPr>
          <p:cNvPr id="8" name="TextBox 7"/>
          <p:cNvSpPr txBox="1"/>
          <p:nvPr/>
        </p:nvSpPr>
        <p:spPr>
          <a:xfrm>
            <a:off x="731520" y="5138928"/>
            <a:ext cx="4389120" cy="237744"/>
          </a:xfrm>
          <a:prstGeom prst="rect">
            <a:avLst/>
          </a:prstGeom>
          <a:noFill/>
        </p:spPr>
        <p:txBody>
          <a:bodyPr wrap="square" lIns="0" rIns="0" tIns="0" bIns="0" anchor="t">
            <a:noAutofit/>
          </a:bodyPr>
          <a:lstStyle/>
          <a:p>
            <a:pPr algn="ctr">
              <a:lnSpc>
                <a:spcPct val="112000"/>
              </a:lnSpc>
            </a:pPr>
            <a:r>
              <a:rPr sz="850" b="0" i="0" spc="60">
                <a:solidFill>
                  <a:srgbClr val="AEB3BB"/>
                </a:solidFill>
                <a:latin typeface="Noto Sans KR SemiBold"/>
                <a:ea typeface="Noto Sans KR SemiBold"/>
                <a:cs typeface="Noto Sans KR SemiBold"/>
              </a:rPr>
              <a:t>CONCEPT RENDERING · 저토크 체결 Demo</a:t>
            </a:r>
          </a:p>
        </p:txBody>
      </p:sp>
      <p:sp>
        <p:nvSpPr>
          <p:cNvPr id="9" name="Light card"/>
          <p:cNvSpPr/>
          <p:nvPr/>
        </p:nvSpPr>
        <p:spPr>
          <a:xfrm>
            <a:off x="5532120" y="1572768"/>
            <a:ext cx="6108192" cy="1234440"/>
          </a:xfrm>
          <a:prstGeom prst="roundRect">
            <a:avLst>
              <a:gd name="adj" fmla="val 5925"/>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15000" y="1719072"/>
            <a:ext cx="578815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이 Demo가 증명하는 것</a:t>
            </a:r>
          </a:p>
        </p:txBody>
      </p:sp>
      <p:sp>
        <p:nvSpPr>
          <p:cNvPr id="11" name="TextBox 10"/>
          <p:cNvSpPr txBox="1"/>
          <p:nvPr/>
        </p:nvSpPr>
        <p:spPr>
          <a:xfrm>
            <a:off x="5715000" y="1984248"/>
            <a:ext cx="5760720" cy="777240"/>
          </a:xfrm>
          <a:prstGeom prst="rect">
            <a:avLst/>
          </a:prstGeom>
          <a:noFill/>
        </p:spPr>
        <p:txBody>
          <a:bodyPr wrap="square" lIns="0" rIns="0" tIns="0" bIns="0" anchor="t">
            <a:noAutofit/>
          </a:bodyPr>
          <a:lstStyle/>
          <a:p>
            <a:pPr algn="l">
              <a:lnSpc>
                <a:spcPct val="120000"/>
              </a:lnSpc>
            </a:pPr>
            <a:r>
              <a:rPr sz="1000" b="0" i="0">
                <a:solidFill>
                  <a:srgbClr val="51565E"/>
                </a:solidFill>
                <a:latin typeface="Noto Sans KR"/>
                <a:ea typeface="Noto Sans KR"/>
                <a:cs typeface="Noto Sans KR"/>
              </a:rPr>
              <a:t>도구 토크 전달 — Rigid to Work</a:t>
            </a:r>
          </a:p>
          <a:p>
            <a:pPr algn="l">
              <a:lnSpc>
                <a:spcPct val="120000"/>
              </a:lnSpc>
            </a:pPr>
            <a:r>
              <a:rPr sz="1000" b="0" i="0">
                <a:solidFill>
                  <a:srgbClr val="51565E"/>
                </a:solidFill>
                <a:latin typeface="Noto Sans KR"/>
                <a:ea typeface="Noto Sans KR"/>
                <a:cs typeface="Noto Sans KR"/>
              </a:rPr>
              <a:t>대향 Thumb 파지 안정성</a:t>
            </a:r>
          </a:p>
          <a:p>
            <a:pPr algn="l">
              <a:lnSpc>
                <a:spcPct val="120000"/>
              </a:lnSpc>
            </a:pPr>
            <a:r>
              <a:rPr sz="1000" b="0" i="0">
                <a:solidFill>
                  <a:srgbClr val="51565E"/>
                </a:solidFill>
                <a:latin typeface="Noto Sans KR"/>
                <a:ea typeface="Noto Sans KR"/>
                <a:cs typeface="Noto Sans KR"/>
              </a:rPr>
              <a:t>작업 순간 강성 전환 (검증 예정)</a:t>
            </a:r>
          </a:p>
        </p:txBody>
      </p:sp>
      <p:sp>
        <p:nvSpPr>
          <p:cNvPr id="12" name="Light card"/>
          <p:cNvSpPr/>
          <p:nvPr/>
        </p:nvSpPr>
        <p:spPr>
          <a:xfrm>
            <a:off x="5532120" y="2916936"/>
            <a:ext cx="6108192" cy="1234440"/>
          </a:xfrm>
          <a:prstGeom prst="roundRect">
            <a:avLst>
              <a:gd name="adj" fmla="val 5925"/>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715000" y="3063240"/>
            <a:ext cx="578815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핵심 Use Case가 아닌 이유</a:t>
            </a:r>
          </a:p>
        </p:txBody>
      </p:sp>
      <p:sp>
        <p:nvSpPr>
          <p:cNvPr id="14" name="TextBox 13"/>
          <p:cNvSpPr txBox="1"/>
          <p:nvPr/>
        </p:nvSpPr>
        <p:spPr>
          <a:xfrm>
            <a:off x="5715000" y="3328416"/>
            <a:ext cx="5760720" cy="777240"/>
          </a:xfrm>
          <a:prstGeom prst="rect">
            <a:avLst/>
          </a:prstGeom>
          <a:noFill/>
        </p:spPr>
        <p:txBody>
          <a:bodyPr wrap="square" lIns="0" rIns="0" tIns="0" bIns="0" anchor="t">
            <a:noAutofit/>
          </a:bodyPr>
          <a:lstStyle/>
          <a:p>
            <a:pPr algn="l">
              <a:lnSpc>
                <a:spcPct val="120000"/>
              </a:lnSpc>
            </a:pPr>
            <a:r>
              <a:rPr sz="1000" b="0" i="0">
                <a:solidFill>
                  <a:srgbClr val="51565E"/>
                </a:solidFill>
                <a:latin typeface="Noto Sans KR"/>
                <a:ea typeface="Noto Sans KR"/>
                <a:cs typeface="Noto Sans KR"/>
              </a:rPr>
              <a:t>Robot Wrist에 전용 전동 Screwdriver를 직접 다는 편이 더 싸고 빠르고 정밀하다</a:t>
            </a:r>
          </a:p>
          <a:p>
            <a:pPr algn="l">
              <a:lnSpc>
                <a:spcPct val="120000"/>
              </a:lnSpc>
            </a:pPr>
            <a:r>
              <a:rPr sz="1000" b="0" i="0">
                <a:solidFill>
                  <a:srgbClr val="51565E"/>
                </a:solidFill>
                <a:latin typeface="Noto Sans KR"/>
                <a:ea typeface="Noto Sans KR"/>
                <a:cs typeface="Noto Sans KR"/>
              </a:rPr>
              <a:t>Hand를 써서 얻는 설비 · End-effector 절감 효과가 작다</a:t>
            </a:r>
          </a:p>
        </p:txBody>
      </p:sp>
      <p:sp>
        <p:nvSpPr>
          <p:cNvPr id="15" name="Light card"/>
          <p:cNvSpPr/>
          <p:nvPr/>
        </p:nvSpPr>
        <p:spPr>
          <a:xfrm>
            <a:off x="5532120" y="4261104"/>
            <a:ext cx="6108192" cy="1234440"/>
          </a:xfrm>
          <a:prstGeom prst="roundRect">
            <a:avLst>
              <a:gd name="adj" fmla="val 5925"/>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4407408"/>
            <a:ext cx="578815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언제 의미가 생기나</a:t>
            </a:r>
          </a:p>
        </p:txBody>
      </p:sp>
      <p:sp>
        <p:nvSpPr>
          <p:cNvPr id="17" name="TextBox 16"/>
          <p:cNvSpPr txBox="1"/>
          <p:nvPr/>
        </p:nvSpPr>
        <p:spPr>
          <a:xfrm>
            <a:off x="5715000" y="4672584"/>
            <a:ext cx="5760720" cy="777240"/>
          </a:xfrm>
          <a:prstGeom prst="rect">
            <a:avLst/>
          </a:prstGeom>
          <a:noFill/>
        </p:spPr>
        <p:txBody>
          <a:bodyPr wrap="square" lIns="0" rIns="0" tIns="0" bIns="0" anchor="t">
            <a:noAutofit/>
          </a:bodyPr>
          <a:lstStyle/>
          <a:p>
            <a:pPr algn="l">
              <a:lnSpc>
                <a:spcPct val="120000"/>
              </a:lnSpc>
            </a:pPr>
            <a:r>
              <a:rPr sz="1000" b="0" i="0">
                <a:solidFill>
                  <a:srgbClr val="51565E"/>
                </a:solidFill>
                <a:latin typeface="Noto Sans KR"/>
                <a:ea typeface="Noto Sans KR"/>
                <a:cs typeface="Noto Sans KR"/>
              </a:rPr>
              <a:t>한 Cell에서 체결이 가끔만 필요해 Tool Changer 추가가 과한 경우</a:t>
            </a:r>
          </a:p>
          <a:p>
            <a:pPr algn="l">
              <a:lnSpc>
                <a:spcPct val="120000"/>
              </a:lnSpc>
            </a:pPr>
            <a:r>
              <a:rPr sz="1000" b="0" i="0">
                <a:solidFill>
                  <a:srgbClr val="51565E"/>
                </a:solidFill>
                <a:latin typeface="Noto Sans KR"/>
                <a:ea typeface="Noto Sans KR"/>
                <a:cs typeface="Noto Sans KR"/>
              </a:rPr>
              <a:t>사람용 공구를 그대로 써야 하는 서비스 · 주방 환경 (Tongs 등은 Kitchen Bench Demo)</a:t>
            </a:r>
          </a:p>
        </p:txBody>
      </p:sp>
      <p:sp>
        <p:nvSpPr>
          <p:cNvPr id="18"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19"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A10  ·  Business Model</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제품회사로 시작해 Platform Economics로 확장한다</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Hardware First. Skills Next. OEM at Scale. — 모든 가격 · 원가 · 마진은 검증 전 가정</a:t>
            </a:r>
          </a:p>
        </p:txBody>
      </p:sp>
      <p:graphicFrame>
        <p:nvGraphicFramePr>
          <p:cNvPr id="6" name="Business model table"/>
          <p:cNvGraphicFramePr>
            <a:graphicFrameLocks noGrp="1"/>
          </p:cNvGraphicFramePr>
          <p:nvPr/>
        </p:nvGraphicFramePr>
        <p:xfrm>
          <a:off x="548640" y="1572768"/>
          <a:ext cx="11091671" cy="3182112"/>
        </p:xfrm>
        <a:graphic>
          <a:graphicData uri="http://schemas.openxmlformats.org/drawingml/2006/table">
            <a:tbl>
              <a:tblPr firstRow="0" bandRow="0">
                <a:tableStyleId>{5C22544A-7EE6-4342-B048-85BDC9FD1C3A}</a:tableStyleId>
              </a:tblPr>
              <a:tblGrid>
                <a:gridCol w="1283334"/>
                <a:gridCol w="2383334"/>
                <a:gridCol w="3666668"/>
                <a:gridCol w="1650001"/>
                <a:gridCol w="2108334"/>
              </a:tblGrid>
              <a:tr h="329184">
                <a:tc>
                  <a:txBody>
                    <a:bodyPr wrap="square"/>
                    <a:lstStyle/>
                    <a:p>
                      <a:pPr algn="l">
                        <a:lnSpc>
                          <a:spcPct val="105000"/>
                        </a:lnSpc>
                      </a:pPr>
                      <a:r>
                        <a:rPr sz="950" b="0" i="0" spc="40">
                          <a:solidFill>
                            <a:srgbClr val="16181B"/>
                          </a:solidFill>
                          <a:latin typeface="Noto Sans KR SemiBold"/>
                          <a:ea typeface="Noto Sans KR SemiBold"/>
                          <a:cs typeface="Noto Sans KR SemiBold"/>
                        </a:rPr>
                        <a:t>단계</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매출원</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과금 단위 · 가정 가격</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GM 가정</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역할</a:t>
                      </a:r>
                    </a:p>
                  </a:txBody>
                  <a:tcPr marL="73152" marR="54864" marT="27432" marB="27432" anchor="ctr">
                    <a:lnL w="9525">
                      <a:noFill/>
                    </a:lnL>
                    <a:lnR w="9525">
                      <a:noFill/>
                    </a:lnR>
                    <a:lnT w="9525">
                      <a:noFill/>
                    </a:lnT>
                    <a:lnB w="9525">
                      <a:solidFill>
                        <a:srgbClr val="DCDAD5"/>
                      </a:solidFill>
                    </a:lnB>
                    <a:noFill/>
                  </a:tcPr>
                </a:tc>
              </a:tr>
              <a:tr h="475488">
                <a:tc>
                  <a:txBody>
                    <a:bodyPr wrap="square"/>
                    <a:lstStyle/>
                    <a:p>
                      <a:pPr algn="l">
                        <a:lnSpc>
                          <a:spcPct val="105000"/>
                        </a:lnSpc>
                      </a:pPr>
                      <a:r>
                        <a:rPr sz="950" b="0" i="0">
                          <a:solidFill>
                            <a:srgbClr val="16181B"/>
                          </a:solidFill>
                          <a:latin typeface="Noto Sans KR SemiBold"/>
                          <a:ea typeface="Noto Sans KR SemiBold"/>
                          <a:cs typeface="Noto Sans KR SemiBold"/>
                        </a:rPr>
                        <a:t>초기 (Seed)</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Paid PoC</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건당 ₩5,000만 (8~12주 · 대여 Hand 포함)</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40%</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지불의사 검증 · Baseline 확보</a:t>
                      </a:r>
                    </a:p>
                  </a:txBody>
                  <a:tcPr marL="73152" marR="54864" marT="27432" marB="27432" anchor="ctr">
                    <a:lnL w="9525">
                      <a:noFill/>
                    </a:lnL>
                    <a:lnR w="9525">
                      <a:noFill/>
                    </a:lnR>
                    <a:lnT w="9525">
                      <a:noFill/>
                    </a:lnT>
                    <a:lnB w="9525">
                      <a:solidFill>
                        <a:srgbClr val="DCDAD5"/>
                      </a:solidFill>
                    </a:lnB>
                    <a:noFill/>
                  </a:tcPr>
                </a:tc>
              </a:tr>
              <a:tr h="475488">
                <a:tc>
                  <a:txBody>
                    <a:bodyPr wrap="square"/>
                    <a:lstStyle/>
                    <a:p>
                      <a:pPr algn="l">
                        <a:lnSpc>
                          <a:spcPct val="105000"/>
                        </a:lnSpc>
                      </a:pPr>
                      <a:r>
                        <a:rPr sz="950" b="0" i="0">
                          <a:solidFill>
                            <a:srgbClr val="16181B"/>
                          </a:solidFill>
                          <a:latin typeface="Noto Sans KR SemiBold"/>
                          <a:ea typeface="Noto Sans KR SemiBold"/>
                          <a:cs typeface="Noto Sans KR SemiBold"/>
                        </a:rPr>
                        <a:t>초기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Integration Engineering</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프로젝트당 ₩4,000만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40%</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진입 수단 — 비중 축소 목표</a:t>
                      </a:r>
                    </a:p>
                  </a:txBody>
                  <a:tcPr marL="73152" marR="54864" marT="27432" marB="27432" anchor="ctr">
                    <a:lnL w="9525">
                      <a:noFill/>
                    </a:lnL>
                    <a:lnR w="9525">
                      <a:noFill/>
                    </a:lnR>
                    <a:lnT w="9525">
                      <a:noFill/>
                    </a:lnT>
                    <a:lnB w="9525">
                      <a:solidFill>
                        <a:srgbClr val="DCDAD5"/>
                      </a:solidFill>
                    </a:lnB>
                    <a:noFill/>
                  </a:tcPr>
                </a:tc>
              </a:tr>
              <a:tr h="475488">
                <a:tc>
                  <a:txBody>
                    <a:bodyPr wrap="square"/>
                    <a:lstStyle/>
                    <a:p>
                      <a:pPr algn="l">
                        <a:lnSpc>
                          <a:spcPct val="105000"/>
                        </a:lnSpc>
                      </a:pPr>
                      <a:r>
                        <a:rPr sz="950" b="0" i="0">
                          <a:solidFill>
                            <a:srgbClr val="16181B"/>
                          </a:solidFill>
                          <a:latin typeface="Noto Sans KR SemiBold"/>
                          <a:ea typeface="Noto Sans KR SemiBold"/>
                          <a:cs typeface="Noto Sans KR SemiBold"/>
                        </a:rPr>
                        <a:t>초기 ~ 중기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SoftHand Hardware</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Hand 패키지 ₩1,500만 (직판) / ₩1,200만 (SI 파트너 순매출)</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원가 ₩950만 → ₩750만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BOM · 공급사 확정 후 재산정 (M18)</a:t>
                      </a:r>
                    </a:p>
                  </a:txBody>
                  <a:tcPr marL="73152" marR="54864" marT="27432" marB="27432" anchor="ctr">
                    <a:lnL w="9525">
                      <a:noFill/>
                    </a:lnL>
                    <a:lnR w="9525">
                      <a:noFill/>
                    </a:lnR>
                    <a:lnT w="9525">
                      <a:noFill/>
                    </a:lnT>
                    <a:lnB w="9525">
                      <a:solidFill>
                        <a:srgbClr val="DCDAD5"/>
                      </a:solidFill>
                    </a:lnB>
                    <a:noFill/>
                  </a:tcPr>
                </a:tc>
              </a:tr>
              <a:tr h="475488">
                <a:tc>
                  <a:txBody>
                    <a:bodyPr wrap="square"/>
                    <a:lstStyle/>
                    <a:p>
                      <a:pPr algn="l">
                        <a:lnSpc>
                          <a:spcPct val="105000"/>
                        </a:lnSpc>
                      </a:pPr>
                      <a:r>
                        <a:rPr sz="950" b="0" i="0">
                          <a:solidFill>
                            <a:srgbClr val="16181B"/>
                          </a:solidFill>
                          <a:latin typeface="Noto Sans KR SemiBold"/>
                          <a:ea typeface="Noto Sans KR SemiBold"/>
                          <a:cs typeface="Noto Sans KR SemiBold"/>
                        </a:rPr>
                        <a:t>초기 ~ 중기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Task Skill Package</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Hand당 ₩300만 (파트너 ₩240만) · Hand당 1.0 → 1.6개</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85%</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승인 Task 단위 판매</a:t>
                      </a:r>
                    </a:p>
                  </a:txBody>
                  <a:tcPr marL="73152" marR="54864" marT="27432" marB="27432" anchor="ctr">
                    <a:lnL w="9525">
                      <a:noFill/>
                    </a:lnL>
                    <a:lnR w="9525">
                      <a:noFill/>
                    </a:lnR>
                    <a:lnT w="9525">
                      <a:noFill/>
                    </a:lnT>
                    <a:lnB w="9525">
                      <a:solidFill>
                        <a:srgbClr val="DCDAD5"/>
                      </a:solidFill>
                    </a:lnB>
                    <a:noFill/>
                  </a:tcPr>
                </a:tc>
              </a:tr>
              <a:tr h="475488">
                <a:tc>
                  <a:txBody>
                    <a:bodyPr wrap="square"/>
                    <a:lstStyle/>
                    <a:p>
                      <a:pPr algn="l">
                        <a:lnSpc>
                          <a:spcPct val="105000"/>
                        </a:lnSpc>
                      </a:pPr>
                      <a:r>
                        <a:rPr sz="950" b="0" i="0">
                          <a:solidFill>
                            <a:srgbClr val="16181B"/>
                          </a:solidFill>
                          <a:latin typeface="Noto Sans KR SemiBold"/>
                          <a:ea typeface="Noto Sans KR SemiBold"/>
                          <a:cs typeface="Noto Sans KR SemiBold"/>
                        </a:rPr>
                        <a:t>중기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Runtime / Support</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설치 Hand당 연 ₩150만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70%</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설치 기반 반복 매출</a:t>
                      </a:r>
                    </a:p>
                  </a:txBody>
                  <a:tcPr marL="73152" marR="54864" marT="27432" marB="27432" anchor="ctr">
                    <a:lnL w="9525">
                      <a:noFill/>
                    </a:lnL>
                    <a:lnR w="9525">
                      <a:noFill/>
                    </a:lnR>
                    <a:lnT w="9525">
                      <a:noFill/>
                    </a:lnT>
                    <a:lnB w="9525">
                      <a:solidFill>
                        <a:srgbClr val="DCDAD5"/>
                      </a:solidFill>
                    </a:lnB>
                    <a:noFill/>
                  </a:tcPr>
                </a:tc>
              </a:tr>
              <a:tr h="475488">
                <a:tc>
                  <a:txBody>
                    <a:bodyPr wrap="square"/>
                    <a:lstStyle/>
                    <a:p>
                      <a:pPr algn="l">
                        <a:lnSpc>
                          <a:spcPct val="105000"/>
                        </a:lnSpc>
                      </a:pPr>
                      <a:r>
                        <a:rPr sz="950" b="0" i="0">
                          <a:solidFill>
                            <a:srgbClr val="EC7A3C"/>
                          </a:solidFill>
                          <a:latin typeface="Noto Sans KR SemiBold"/>
                          <a:ea typeface="Noto Sans KR SemiBold"/>
                          <a:cs typeface="Noto Sans KR SemiBold"/>
                        </a:rPr>
                        <a:t>장기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EC7A3C"/>
                          </a:solidFill>
                          <a:latin typeface="Noto Sans KR SemiBold"/>
                          <a:ea typeface="Noto Sans KR SemiBold"/>
                          <a:cs typeface="Noto Sans KR SemiBold"/>
                        </a:rPr>
                        <a:t>OEM License · Embedded Runtime · Royalty</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출하량 연동 [OEM 협의 후 검증]</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Base Case 미반영 (Scale Trigger)</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Light card"/>
          <p:cNvSpPr/>
          <p:nvPr/>
        </p:nvSpPr>
        <p:spPr>
          <a:xfrm>
            <a:off x="548640" y="4892040"/>
            <a:ext cx="11091672" cy="1097280"/>
          </a:xfrm>
          <a:prstGeom prst="roundRect">
            <a:avLst>
              <a:gd name="adj" fmla="val 6666"/>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5038344"/>
            <a:ext cx="1077163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기존 Deck 대비 변경</a:t>
            </a:r>
          </a:p>
        </p:txBody>
      </p:sp>
      <p:sp>
        <p:nvSpPr>
          <p:cNvPr id="9" name="TextBox 8"/>
          <p:cNvSpPr txBox="1"/>
          <p:nvPr/>
        </p:nvSpPr>
        <p:spPr>
          <a:xfrm>
            <a:off x="731520" y="5312664"/>
            <a:ext cx="10789920" cy="777240"/>
          </a:xfrm>
          <a:prstGeom prst="rect">
            <a:avLst/>
          </a:prstGeom>
          <a:noFill/>
        </p:spPr>
        <p:txBody>
          <a:bodyPr wrap="square" lIns="0" rIns="0" tIns="0" bIns="0" anchor="t">
            <a:noAutofit/>
          </a:bodyPr>
          <a:lstStyle/>
          <a:p>
            <a:pPr algn="l">
              <a:lnSpc>
                <a:spcPct val="125000"/>
              </a:lnSpc>
            </a:pPr>
            <a:r>
              <a:rPr sz="1000" b="0" i="0">
                <a:solidFill>
                  <a:srgbClr val="51565E"/>
                </a:solidFill>
                <a:latin typeface="Noto Sans KR"/>
                <a:ea typeface="Noto Sans KR"/>
                <a:cs typeface="Noto Sans KR"/>
              </a:rPr>
              <a:t>"Skill 연간 구독 ₩300만 · Software GM 70%" 확정 표현 삭제 → 단계별 매출원과 가정으로 전환</a:t>
            </a:r>
          </a:p>
          <a:p>
            <a:pPr algn="l">
              <a:lnSpc>
                <a:spcPct val="125000"/>
              </a:lnSpc>
            </a:pPr>
            <a:r>
              <a:rPr sz="1000" b="0" i="0">
                <a:solidFill>
                  <a:srgbClr val="51565E"/>
                </a:solidFill>
                <a:latin typeface="Noto Sans KR"/>
                <a:ea typeface="Noto Sans KR"/>
                <a:cs typeface="Noto Sans KR"/>
              </a:rPr>
              <a:t>Integration 매출을 숨기지 않되 장기 모델이 아닌 진입 · 제품화 수단으로 정의 · Kitchen 셀 판매(₩2억/셀)는 Base Case에서 제외</a:t>
            </a:r>
          </a:p>
        </p:txBody>
      </p:sp>
      <p:sp>
        <p:nvSpPr>
          <p:cNvPr id="10"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11"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A11  ·  Financial Model</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Base Case 5개년: Story와 같은 사업을 설명하는 숫자</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Management Forecast · 단위: 억원 · Y1 = 투자 집행 첫해 · Kitchen · OEM 매출 0원 (Upside로 분리)</a:t>
            </a:r>
          </a:p>
        </p:txBody>
      </p:sp>
      <p:graphicFrame>
        <p:nvGraphicFramePr>
          <p:cNvPr id="6" name="Base case table"/>
          <p:cNvGraphicFramePr>
            <a:graphicFrameLocks noGrp="1"/>
          </p:cNvGraphicFramePr>
          <p:nvPr/>
        </p:nvGraphicFramePr>
        <p:xfrm>
          <a:off x="548640" y="1481328"/>
          <a:ext cx="6949440" cy="4215384"/>
        </p:xfrm>
        <a:graphic>
          <a:graphicData uri="http://schemas.openxmlformats.org/drawingml/2006/table">
            <a:tbl>
              <a:tblPr firstRow="0" bandRow="0">
                <a:tableStyleId>{5C22544A-7EE6-4342-B048-85BDC9FD1C3A}</a:tableStyleId>
              </a:tblPr>
              <a:tblGrid>
                <a:gridCol w="2377440"/>
                <a:gridCol w="914400"/>
                <a:gridCol w="914400"/>
                <a:gridCol w="914400"/>
                <a:gridCol w="914400"/>
                <a:gridCol w="914400"/>
              </a:tblGrid>
              <a:tr h="292608">
                <a:tc>
                  <a:txBody>
                    <a:bodyPr wrap="square"/>
                    <a:lstStyle/>
                    <a:p>
                      <a:pPr algn="l">
                        <a:lnSpc>
                          <a:spcPct val="105000"/>
                        </a:lnSpc>
                      </a:pPr>
                      <a:r>
                        <a:rPr sz="950" b="0" i="0" spc="40">
                          <a:solidFill>
                            <a:srgbClr val="16181B"/>
                          </a:solidFill>
                          <a:latin typeface="Noto Sans KR SemiBold"/>
                          <a:ea typeface="Noto Sans KR SemiBold"/>
                          <a:cs typeface="Noto Sans KR SemiBold"/>
                        </a:rPr>
                        <a:t>항목</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Y1</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Y2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Y3</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Y4</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Y5</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Paid PoC / Integration (건)</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 / 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4 / 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5 / 6</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6 / 8</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6 / 8</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신규 Hand (대) 직판 / 파트너</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 / 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6 / 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24 / 12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50 / 50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80 / 120</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설치 Hand 누적 (대)</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6</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42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142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342</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매출 — Paid PoC · Integration</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2.8</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4.9</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6.2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6.2</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매출 — SoftHand Hardware</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0.9</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3.6</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7.5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12.0</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매출 — ToolSkill Package</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0.9</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2.1</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3.8</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매출 — Runtime / Support</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0.4</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1.4</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3.6</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매출 — Partner Sales (HW+Skill)</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1.8</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7.7</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19.0</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Black"/>
                          <a:ea typeface="Noto Sans KR Black"/>
                          <a:cs typeface="Noto Sans KR Black"/>
                        </a:rPr>
                        <a:t>총매출</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16181B"/>
                          </a:solidFill>
                          <a:latin typeface="Noto Sans KR Black"/>
                          <a:ea typeface="Noto Sans KR Black"/>
                          <a:cs typeface="Noto Sans KR Black"/>
                        </a:rPr>
                        <a:t>0.5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16181B"/>
                          </a:solidFill>
                          <a:latin typeface="Noto Sans KR Black"/>
                          <a:ea typeface="Noto Sans KR Black"/>
                          <a:cs typeface="Noto Sans KR Black"/>
                        </a:rPr>
                        <a:t>3.9</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16181B"/>
                          </a:solidFill>
                          <a:latin typeface="Noto Sans KR Black"/>
                          <a:ea typeface="Noto Sans KR Black"/>
                          <a:cs typeface="Noto Sans KR Black"/>
                        </a:rPr>
                        <a:t>11.5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16181B"/>
                          </a:solidFill>
                          <a:latin typeface="Noto Sans KR Black"/>
                          <a:ea typeface="Noto Sans KR Black"/>
                          <a:cs typeface="Noto Sans KR Black"/>
                        </a:rPr>
                        <a:t>24.9</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16181B"/>
                          </a:solidFill>
                          <a:latin typeface="Noto Sans KR Black"/>
                          <a:ea typeface="Noto Sans KR Black"/>
                          <a:cs typeface="Noto Sans KR Black"/>
                        </a:rPr>
                        <a:t>44.7</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매출총이익 (GM)</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0.2 (40%)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1.6 (42%)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5.0 (44%)</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12.0 (48%)</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23.6 (53%)</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운영비</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7.7</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10.6</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14.6</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19.5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23.7</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EC7A3C"/>
                          </a:solidFill>
                          <a:latin typeface="Noto Sans KR Black"/>
                          <a:ea typeface="Noto Sans KR Black"/>
                          <a:cs typeface="Noto Sans KR Black"/>
                        </a:rPr>
                        <a:t>영업손익</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EC7A3C"/>
                          </a:solidFill>
                          <a:latin typeface="Noto Sans KR Black"/>
                          <a:ea typeface="Noto Sans KR Black"/>
                          <a:cs typeface="Noto Sans KR Black"/>
                        </a:rPr>
                        <a:t>-7.5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EC7A3C"/>
                          </a:solidFill>
                          <a:latin typeface="Noto Sans KR Black"/>
                          <a:ea typeface="Noto Sans KR Black"/>
                          <a:cs typeface="Noto Sans KR Black"/>
                        </a:rPr>
                        <a:t>-8.9</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EC7A3C"/>
                          </a:solidFill>
                          <a:latin typeface="Noto Sans KR Black"/>
                          <a:ea typeface="Noto Sans KR Black"/>
                          <a:cs typeface="Noto Sans KR Black"/>
                        </a:rPr>
                        <a:t>-9.5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EC7A3C"/>
                          </a:solidFill>
                          <a:latin typeface="Noto Sans KR Black"/>
                          <a:ea typeface="Noto Sans KR Black"/>
                          <a:cs typeface="Noto Sans KR Black"/>
                        </a:rPr>
                        <a:t>-7.5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EC7A3C"/>
                          </a:solidFill>
                          <a:latin typeface="Noto Sans KR Black"/>
                          <a:ea typeface="Noto Sans KR Black"/>
                          <a:cs typeface="Noto Sans KR Black"/>
                        </a:rPr>
                        <a:t>-0.1</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재사용 매출 비중 (KPI)</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29%</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57%</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75%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86%</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Light card"/>
          <p:cNvSpPr/>
          <p:nvPr/>
        </p:nvSpPr>
        <p:spPr>
          <a:xfrm>
            <a:off x="7726680" y="1481328"/>
            <a:ext cx="3913632" cy="2331720"/>
          </a:xfrm>
          <a:prstGeom prst="roundRect">
            <a:avLst>
              <a:gd name="adj" fmla="val 3137"/>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909560" y="1627632"/>
            <a:ext cx="359359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SENSITIVITY (Y5)</a:t>
            </a:r>
          </a:p>
        </p:txBody>
      </p:sp>
      <p:sp>
        <p:nvSpPr>
          <p:cNvPr id="9" name="TextBox 8"/>
          <p:cNvSpPr txBox="1"/>
          <p:nvPr/>
        </p:nvSpPr>
        <p:spPr>
          <a:xfrm>
            <a:off x="7909560" y="1901952"/>
            <a:ext cx="3611880" cy="219456"/>
          </a:xfrm>
          <a:prstGeom prst="rect">
            <a:avLst/>
          </a:prstGeom>
          <a:noFill/>
        </p:spPr>
        <p:txBody>
          <a:bodyPr wrap="square" lIns="0" rIns="0" tIns="0" bIns="0" anchor="t">
            <a:noAutofit/>
          </a:bodyPr>
          <a:lstStyle/>
          <a:p>
            <a:pPr algn="l">
              <a:lnSpc>
                <a:spcPct val="112000"/>
              </a:lnSpc>
            </a:pPr>
            <a:r>
              <a:rPr sz="900" b="0" i="0">
                <a:solidFill>
                  <a:srgbClr val="16181B"/>
                </a:solidFill>
                <a:latin typeface="Noto Sans KR SemiBold"/>
                <a:ea typeface="Noto Sans KR SemiBold"/>
                <a:cs typeface="Noto Sans KR SemiBold"/>
              </a:rPr>
              <a:t>판매량 −30% (Y3~Y5)</a:t>
            </a:r>
          </a:p>
        </p:txBody>
      </p:sp>
      <p:sp>
        <p:nvSpPr>
          <p:cNvPr id="10" name="TextBox 9"/>
          <p:cNvSpPr txBox="1"/>
          <p:nvPr/>
        </p:nvSpPr>
        <p:spPr>
          <a:xfrm>
            <a:off x="7909560" y="2103120"/>
            <a:ext cx="3611880" cy="219456"/>
          </a:xfrm>
          <a:prstGeom prst="rect">
            <a:avLst/>
          </a:prstGeom>
          <a:noFill/>
        </p:spPr>
        <p:txBody>
          <a:bodyPr wrap="square" lIns="0" rIns="0" tIns="0" bIns="0" anchor="t">
            <a:noAutofit/>
          </a:bodyPr>
          <a:lstStyle/>
          <a:p>
            <a:pPr algn="l">
              <a:lnSpc>
                <a:spcPct val="112000"/>
              </a:lnSpc>
            </a:pPr>
            <a:r>
              <a:rPr sz="900" b="0" i="0">
                <a:solidFill>
                  <a:srgbClr val="51565E"/>
                </a:solidFill>
                <a:latin typeface="Noto Sans KR"/>
                <a:ea typeface="Noto Sans KR"/>
                <a:cs typeface="Noto Sans KR"/>
              </a:rPr>
              <a:t>매출 31.4억 · 영업손익 −7.1억</a:t>
            </a:r>
          </a:p>
        </p:txBody>
      </p:sp>
      <p:sp>
        <p:nvSpPr>
          <p:cNvPr id="11" name="TextBox 10"/>
          <p:cNvSpPr txBox="1"/>
          <p:nvPr/>
        </p:nvSpPr>
        <p:spPr>
          <a:xfrm>
            <a:off x="7909560" y="2368296"/>
            <a:ext cx="3611880" cy="219456"/>
          </a:xfrm>
          <a:prstGeom prst="rect">
            <a:avLst/>
          </a:prstGeom>
          <a:noFill/>
        </p:spPr>
        <p:txBody>
          <a:bodyPr wrap="square" lIns="0" rIns="0" tIns="0" bIns="0" anchor="t">
            <a:noAutofit/>
          </a:bodyPr>
          <a:lstStyle/>
          <a:p>
            <a:pPr algn="l">
              <a:lnSpc>
                <a:spcPct val="112000"/>
              </a:lnSpc>
            </a:pPr>
            <a:r>
              <a:rPr sz="900" b="0" i="0">
                <a:solidFill>
                  <a:srgbClr val="16181B"/>
                </a:solidFill>
                <a:latin typeface="Noto Sans KR SemiBold"/>
                <a:ea typeface="Noto Sans KR SemiBold"/>
                <a:cs typeface="Noto Sans KR SemiBold"/>
              </a:rPr>
              <a:t>Hand 원가 절감 지연 (₩900만 유지)</a:t>
            </a:r>
          </a:p>
        </p:txBody>
      </p:sp>
      <p:sp>
        <p:nvSpPr>
          <p:cNvPr id="12" name="TextBox 11"/>
          <p:cNvSpPr txBox="1"/>
          <p:nvPr/>
        </p:nvSpPr>
        <p:spPr>
          <a:xfrm>
            <a:off x="7909560" y="2569464"/>
            <a:ext cx="3611880" cy="219456"/>
          </a:xfrm>
          <a:prstGeom prst="rect">
            <a:avLst/>
          </a:prstGeom>
          <a:noFill/>
        </p:spPr>
        <p:txBody>
          <a:bodyPr wrap="square" lIns="0" rIns="0" tIns="0" bIns="0" anchor="t">
            <a:noAutofit/>
          </a:bodyPr>
          <a:lstStyle/>
          <a:p>
            <a:pPr algn="l">
              <a:lnSpc>
                <a:spcPct val="112000"/>
              </a:lnSpc>
            </a:pPr>
            <a:r>
              <a:rPr sz="900" b="0" i="0">
                <a:solidFill>
                  <a:srgbClr val="51565E"/>
                </a:solidFill>
                <a:latin typeface="Noto Sans KR"/>
                <a:ea typeface="Noto Sans KR"/>
                <a:cs typeface="Noto Sans KR"/>
              </a:rPr>
              <a:t>영업손익 −3.1억</a:t>
            </a:r>
          </a:p>
        </p:txBody>
      </p:sp>
      <p:sp>
        <p:nvSpPr>
          <p:cNvPr id="13" name="TextBox 12"/>
          <p:cNvSpPr txBox="1"/>
          <p:nvPr/>
        </p:nvSpPr>
        <p:spPr>
          <a:xfrm>
            <a:off x="7909560" y="2834640"/>
            <a:ext cx="3611880" cy="219456"/>
          </a:xfrm>
          <a:prstGeom prst="rect">
            <a:avLst/>
          </a:prstGeom>
          <a:noFill/>
        </p:spPr>
        <p:txBody>
          <a:bodyPr wrap="square" lIns="0" rIns="0" tIns="0" bIns="0" anchor="t">
            <a:noAutofit/>
          </a:bodyPr>
          <a:lstStyle/>
          <a:p>
            <a:pPr algn="l">
              <a:lnSpc>
                <a:spcPct val="112000"/>
              </a:lnSpc>
            </a:pPr>
            <a:r>
              <a:rPr sz="900" b="0" i="0">
                <a:solidFill>
                  <a:srgbClr val="16181B"/>
                </a:solidFill>
                <a:latin typeface="Noto Sans KR SemiBold"/>
                <a:ea typeface="Noto Sans KR SemiBold"/>
                <a:cs typeface="Noto Sans KR SemiBold"/>
              </a:rPr>
              <a:t>SI 파트너 채널 1년 지연</a:t>
            </a:r>
          </a:p>
        </p:txBody>
      </p:sp>
      <p:sp>
        <p:nvSpPr>
          <p:cNvPr id="14" name="TextBox 13"/>
          <p:cNvSpPr txBox="1"/>
          <p:nvPr/>
        </p:nvSpPr>
        <p:spPr>
          <a:xfrm>
            <a:off x="7909560" y="3035808"/>
            <a:ext cx="3611880" cy="219456"/>
          </a:xfrm>
          <a:prstGeom prst="rect">
            <a:avLst/>
          </a:prstGeom>
          <a:noFill/>
        </p:spPr>
        <p:txBody>
          <a:bodyPr wrap="square" lIns="0" rIns="0" tIns="0" bIns="0" anchor="t">
            <a:noAutofit/>
          </a:bodyPr>
          <a:lstStyle/>
          <a:p>
            <a:pPr algn="l">
              <a:lnSpc>
                <a:spcPct val="112000"/>
              </a:lnSpc>
            </a:pPr>
            <a:r>
              <a:rPr sz="900" b="0" i="0">
                <a:solidFill>
                  <a:srgbClr val="51565E"/>
                </a:solidFill>
                <a:latin typeface="Noto Sans KR"/>
                <a:ea typeface="Noto Sans KR"/>
                <a:cs typeface="Noto Sans KR"/>
              </a:rPr>
              <a:t>매출 32.3억 · 영업손익 −6.4억</a:t>
            </a:r>
          </a:p>
        </p:txBody>
      </p:sp>
      <p:sp>
        <p:nvSpPr>
          <p:cNvPr id="15" name="TextBox 14"/>
          <p:cNvSpPr txBox="1"/>
          <p:nvPr/>
        </p:nvSpPr>
        <p:spPr>
          <a:xfrm>
            <a:off x="7909560" y="3300984"/>
            <a:ext cx="3611880" cy="219456"/>
          </a:xfrm>
          <a:prstGeom prst="rect">
            <a:avLst/>
          </a:prstGeom>
          <a:noFill/>
        </p:spPr>
        <p:txBody>
          <a:bodyPr wrap="square" lIns="0" rIns="0" tIns="0" bIns="0" anchor="t">
            <a:noAutofit/>
          </a:bodyPr>
          <a:lstStyle/>
          <a:p>
            <a:pPr algn="l">
              <a:lnSpc>
                <a:spcPct val="112000"/>
              </a:lnSpc>
            </a:pPr>
            <a:r>
              <a:rPr sz="900" b="0" i="0">
                <a:solidFill>
                  <a:srgbClr val="16181B"/>
                </a:solidFill>
                <a:latin typeface="Noto Sans KR SemiBold"/>
                <a:ea typeface="Noto Sans KR SemiBold"/>
                <a:cs typeface="Noto Sans KR SemiBold"/>
              </a:rPr>
              <a:t>판매량 −50%</a:t>
            </a:r>
          </a:p>
        </p:txBody>
      </p:sp>
      <p:sp>
        <p:nvSpPr>
          <p:cNvPr id="16" name="TextBox 15"/>
          <p:cNvSpPr txBox="1"/>
          <p:nvPr/>
        </p:nvSpPr>
        <p:spPr>
          <a:xfrm>
            <a:off x="7909560" y="3502152"/>
            <a:ext cx="3611880" cy="219456"/>
          </a:xfrm>
          <a:prstGeom prst="rect">
            <a:avLst/>
          </a:prstGeom>
          <a:noFill/>
        </p:spPr>
        <p:txBody>
          <a:bodyPr wrap="square" lIns="0" rIns="0" tIns="0" bIns="0" anchor="t">
            <a:noAutofit/>
          </a:bodyPr>
          <a:lstStyle/>
          <a:p>
            <a:pPr algn="l">
              <a:lnSpc>
                <a:spcPct val="112000"/>
              </a:lnSpc>
            </a:pPr>
            <a:r>
              <a:rPr sz="900" b="0" i="0">
                <a:solidFill>
                  <a:srgbClr val="51565E"/>
                </a:solidFill>
                <a:latin typeface="Noto Sans KR"/>
                <a:ea typeface="Noto Sans KR"/>
                <a:cs typeface="Noto Sans KR"/>
              </a:rPr>
              <a:t>매출 22.4억 · 영업손익 −11.9억</a:t>
            </a:r>
          </a:p>
        </p:txBody>
      </p:sp>
      <p:sp>
        <p:nvSpPr>
          <p:cNvPr id="17" name="Light card"/>
          <p:cNvSpPr/>
          <p:nvPr/>
        </p:nvSpPr>
        <p:spPr>
          <a:xfrm>
            <a:off x="7726680" y="3950208"/>
            <a:ext cx="3913632" cy="2103120"/>
          </a:xfrm>
          <a:prstGeom prst="roundRect">
            <a:avLst>
              <a:gd name="adj" fmla="val 3478"/>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909560" y="4096512"/>
            <a:ext cx="359359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기존 Deck 대비 · 조달</a:t>
            </a:r>
          </a:p>
        </p:txBody>
      </p:sp>
      <p:sp>
        <p:nvSpPr>
          <p:cNvPr id="19" name="TextBox 18"/>
          <p:cNvSpPr txBox="1"/>
          <p:nvPr/>
        </p:nvSpPr>
        <p:spPr>
          <a:xfrm>
            <a:off x="7909560" y="4370832"/>
            <a:ext cx="3611880" cy="1783080"/>
          </a:xfrm>
          <a:prstGeom prst="rect">
            <a:avLst/>
          </a:prstGeom>
          <a:noFill/>
        </p:spPr>
        <p:txBody>
          <a:bodyPr wrap="square" lIns="0" rIns="0" tIns="0" bIns="0" anchor="t">
            <a:noAutofit/>
          </a:bodyPr>
          <a:lstStyle/>
          <a:p>
            <a:pPr algn="l">
              <a:lnSpc>
                <a:spcPct val="122000"/>
              </a:lnSpc>
            </a:pPr>
            <a:r>
              <a:rPr sz="900" b="0" i="0">
                <a:solidFill>
                  <a:srgbClr val="16181B"/>
                </a:solidFill>
                <a:latin typeface="Noto Sans KR SemiBold"/>
                <a:ea typeface="Noto Sans KR SemiBold"/>
                <a:cs typeface="Noto Sans KR SemiBold"/>
              </a:rPr>
              <a:t>기존: </a:t>
            </a:r>
            <a:r>
              <a:rPr sz="900" b="0" i="0">
                <a:solidFill>
                  <a:srgbClr val="51565E"/>
                </a:solidFill>
                <a:latin typeface="Noto Sans KR"/>
                <a:ea typeface="Noto Sans KR"/>
                <a:cs typeface="Noto Sans KR"/>
              </a:rPr>
              <a:t>Y5 ₩112억 (Kitchen 셀 ₩50억 = 45%)</a:t>
            </a:r>
          </a:p>
          <a:p>
            <a:pPr algn="l">
              <a:lnSpc>
                <a:spcPct val="122000"/>
              </a:lnSpc>
            </a:pPr>
            <a:r>
              <a:rPr sz="900" b="0" i="0">
                <a:solidFill>
                  <a:srgbClr val="EC7A3C"/>
                </a:solidFill>
                <a:latin typeface="Noto Sans KR SemiBold"/>
                <a:ea typeface="Noto Sans KR SemiBold"/>
                <a:cs typeface="Noto Sans KR SemiBold"/>
              </a:rPr>
              <a:t>수정: </a:t>
            </a:r>
            <a:r>
              <a:rPr sz="900" b="0" i="0">
                <a:solidFill>
                  <a:srgbClr val="51565E"/>
                </a:solidFill>
                <a:latin typeface="Noto Sans KR"/>
                <a:ea typeface="Noto Sans KR"/>
                <a:cs typeface="Noto Sans KR"/>
              </a:rPr>
              <a:t>Y5 ₩44.7억 (Kitchen 0 · OEM 0)</a:t>
            </a:r>
          </a:p>
          <a:p>
            <a:pPr algn="l">
              <a:lnSpc>
                <a:spcPct val="122000"/>
              </a:lnSpc>
            </a:pPr>
            <a:r>
              <a:rPr sz="900" b="0" i="0">
                <a:solidFill>
                  <a:srgbClr val="51565E"/>
                </a:solidFill>
                <a:latin typeface="Noto Sans KR"/>
                <a:ea typeface="Noto Sans KR"/>
                <a:cs typeface="Noto Sans KR"/>
              </a:rPr>
              <a:t>Y3~Y5 누적 영업손실 약 ₩17억 + 운전자본 → Series A 규모는 M18 KPI로 확정</a:t>
            </a:r>
          </a:p>
          <a:p>
            <a:pPr algn="l">
              <a:lnSpc>
                <a:spcPct val="122000"/>
              </a:lnSpc>
            </a:pPr>
            <a:r>
              <a:rPr sz="900" b="0" i="0">
                <a:solidFill>
                  <a:srgbClr val="51565E"/>
                </a:solidFill>
                <a:latin typeface="Noto Sans KR"/>
                <a:ea typeface="Noto Sans KR"/>
                <a:cs typeface="Noto Sans KR"/>
              </a:rPr>
              <a:t>Upside (미반영): Kitchen 파트너 공동 제품화(Hand · Skill · Engineering만 인식) · OEM Design Win</a:t>
            </a:r>
          </a:p>
        </p:txBody>
      </p:sp>
      <p:sp>
        <p:nvSpPr>
          <p:cNvPr id="20" name="TextBox 19"/>
          <p:cNvSpPr txBox="1"/>
          <p:nvPr/>
        </p:nvSpPr>
        <p:spPr>
          <a:xfrm>
            <a:off x="548640" y="6108192"/>
            <a:ext cx="11091672" cy="365760"/>
          </a:xfrm>
          <a:prstGeom prst="rect">
            <a:avLst/>
          </a:prstGeom>
          <a:noFill/>
        </p:spPr>
        <p:txBody>
          <a:bodyPr wrap="square" lIns="0" rIns="0" tIns="0" bIns="0" anchor="t">
            <a:noAutofit/>
          </a:bodyPr>
          <a:lstStyle/>
          <a:p>
            <a:pPr algn="l">
              <a:lnSpc>
                <a:spcPct val="115000"/>
              </a:lnSpc>
            </a:pPr>
            <a:r>
              <a:rPr sz="900" b="0" i="0">
                <a:solidFill>
                  <a:srgbClr val="51565E"/>
                </a:solidFill>
                <a:latin typeface="Noto Sans KR"/>
                <a:ea typeface="Noto Sans KR"/>
                <a:cs typeface="Noto Sans KR"/>
              </a:rPr>
              <a:t>운영비 Y1 · Y2 = Seed 24개월 집행계획과 동일(A12) · Y3~Y5 = 평균 인원 14 / 19 / 23명 × 1인 연 ₩0.72~0.76억 + 비인건비 ₩4.5~6.2억 · 매출원가 = PoC · Integration 60%, Hand 원가, Skill 15%, Runtime 30%</a:t>
            </a:r>
          </a:p>
        </p:txBody>
      </p:sp>
      <p:sp>
        <p:nvSpPr>
          <p:cNvPr id="21"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22"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A12  ·  Use of Funds</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Seed ₩20억 집행 계획과 P&amp;L 연결</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18개월 Core Runway + 6개월 Milestone Extension · 정부지원금 · 공동개발비 미반영</a:t>
            </a:r>
          </a:p>
        </p:txBody>
      </p:sp>
      <p:graphicFrame>
        <p:nvGraphicFramePr>
          <p:cNvPr id="6" name="Hiring table"/>
          <p:cNvGraphicFramePr>
            <a:graphicFrameLocks noGrp="1"/>
          </p:cNvGraphicFramePr>
          <p:nvPr/>
        </p:nvGraphicFramePr>
        <p:xfrm>
          <a:off x="548640" y="1481328"/>
          <a:ext cx="5120640" cy="3255264"/>
        </p:xfrm>
        <a:graphic>
          <a:graphicData uri="http://schemas.openxmlformats.org/drawingml/2006/table">
            <a:tbl>
              <a:tblPr firstRow="0" bandRow="0">
                <a:tableStyleId>{5C22544A-7EE6-4342-B048-85BDC9FD1C3A}</a:tableStyleId>
              </a:tblPr>
              <a:tblGrid>
                <a:gridCol w="3017520"/>
                <a:gridCol w="822960"/>
                <a:gridCol w="1280160"/>
              </a:tblGrid>
              <a:tr h="292608">
                <a:tc>
                  <a:txBody>
                    <a:bodyPr wrap="square"/>
                    <a:lstStyle/>
                    <a:p>
                      <a:pPr algn="l">
                        <a:lnSpc>
                          <a:spcPct val="105000"/>
                        </a:lnSpc>
                      </a:pPr>
                      <a:r>
                        <a:rPr sz="950" b="0" i="0" spc="40">
                          <a:solidFill>
                            <a:srgbClr val="16181B"/>
                          </a:solidFill>
                          <a:latin typeface="Noto Sans KR SemiBold"/>
                          <a:ea typeface="Noto Sans KR SemiBold"/>
                          <a:cs typeface="Noto Sans KR SemiBold"/>
                        </a:rPr>
                        <a:t>역할</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50" b="0" i="0" spc="40">
                          <a:solidFill>
                            <a:srgbClr val="16181B"/>
                          </a:solidFill>
                          <a:latin typeface="Noto Sans KR SemiBold"/>
                          <a:ea typeface="Noto Sans KR SemiBold"/>
                          <a:cs typeface="Noto Sans KR SemiBold"/>
                        </a:rPr>
                        <a:t>합류</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24M 인건비</a:t>
                      </a:r>
                    </a:p>
                  </a:txBody>
                  <a:tcPr marL="73152" marR="54864" marT="27432" marB="27432" anchor="ctr">
                    <a:lnL w="9525">
                      <a:noFill/>
                    </a:lnL>
                    <a:lnR w="9525">
                      <a:noFill/>
                    </a:lnR>
                    <a:lnT w="9525">
                      <a:noFill/>
                    </a:lnT>
                    <a:lnB w="9525">
                      <a:solidFill>
                        <a:srgbClr val="DCDAD5"/>
                      </a:solidFill>
                    </a:lnB>
                    <a:noFill/>
                  </a:tcPr>
                </a:tc>
              </a:tr>
              <a:tr h="329184">
                <a:tc>
                  <a:txBody>
                    <a:bodyPr wrap="square"/>
                    <a:lstStyle/>
                    <a:p>
                      <a:pPr algn="l">
                        <a:lnSpc>
                          <a:spcPct val="105000"/>
                        </a:lnSpc>
                      </a:pPr>
                      <a:r>
                        <a:rPr sz="900" b="0" i="0">
                          <a:solidFill>
                            <a:srgbClr val="16181B"/>
                          </a:solidFill>
                          <a:latin typeface="Noto Sans KR SemiBold"/>
                          <a:ea typeface="Noto Sans KR SemiBold"/>
                          <a:cs typeface="Noto Sans KR SemiBold"/>
                        </a:rPr>
                        <a:t>대표 · 사업/제품 (Founder)</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a:solidFill>
                            <a:srgbClr val="51565E"/>
                          </a:solidFill>
                          <a:latin typeface="Noto Sans KR"/>
                          <a:ea typeface="Noto Sans KR"/>
                          <a:cs typeface="Noto Sans KR"/>
                        </a:rPr>
                        <a:t>M1</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₩1.15억</a:t>
                      </a:r>
                    </a:p>
                  </a:txBody>
                  <a:tcPr marL="73152" marR="54864" marT="27432" marB="27432" anchor="ctr">
                    <a:lnL w="9525">
                      <a:noFill/>
                    </a:lnL>
                    <a:lnR w="9525">
                      <a:noFill/>
                    </a:lnR>
                    <a:lnT w="9525">
                      <a:noFill/>
                    </a:lnT>
                    <a:lnB w="9525">
                      <a:solidFill>
                        <a:srgbClr val="DCDAD5"/>
                      </a:solidFill>
                    </a:lnB>
                    <a:noFill/>
                  </a:tcPr>
                </a:tc>
              </a:tr>
              <a:tr h="329184">
                <a:tc>
                  <a:txBody>
                    <a:bodyPr wrap="square"/>
                    <a:lstStyle/>
                    <a:p>
                      <a:pPr algn="l">
                        <a:lnSpc>
                          <a:spcPct val="105000"/>
                        </a:lnSpc>
                      </a:pPr>
                      <a:r>
                        <a:rPr sz="900" b="0" i="0">
                          <a:solidFill>
                            <a:srgbClr val="16181B"/>
                          </a:solidFill>
                          <a:latin typeface="Noto Sans KR SemiBold"/>
                          <a:ea typeface="Noto Sans KR SemiBold"/>
                          <a:cs typeface="Noto Sans KR SemiBold"/>
                        </a:rPr>
                        <a:t>CTO · Hand 메카트로닉스 (Co-founder)</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a:solidFill>
                            <a:srgbClr val="51565E"/>
                          </a:solidFill>
                          <a:latin typeface="Noto Sans KR"/>
                          <a:ea typeface="Noto Sans KR"/>
                          <a:cs typeface="Noto Sans KR"/>
                        </a:rPr>
                        <a:t>M1</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₩1.15억</a:t>
                      </a:r>
                    </a:p>
                  </a:txBody>
                  <a:tcPr marL="73152" marR="54864" marT="27432" marB="27432" anchor="ctr">
                    <a:lnL w="9525">
                      <a:noFill/>
                    </a:lnL>
                    <a:lnR w="9525">
                      <a:noFill/>
                    </a:lnR>
                    <a:lnT w="9525">
                      <a:noFill/>
                    </a:lnT>
                    <a:lnB w="9525">
                      <a:solidFill>
                        <a:srgbClr val="DCDAD5"/>
                      </a:solidFill>
                    </a:lnB>
                    <a:noFill/>
                  </a:tcPr>
                </a:tc>
              </a:tr>
              <a:tr h="329184">
                <a:tc>
                  <a:txBody>
                    <a:bodyPr wrap="square"/>
                    <a:lstStyle/>
                    <a:p>
                      <a:pPr algn="l">
                        <a:lnSpc>
                          <a:spcPct val="105000"/>
                        </a:lnSpc>
                      </a:pPr>
                      <a:r>
                        <a:rPr sz="900" b="0" i="0">
                          <a:solidFill>
                            <a:srgbClr val="16181B"/>
                          </a:solidFill>
                          <a:latin typeface="Noto Sans KR SemiBold"/>
                          <a:ea typeface="Noto Sans KR SemiBold"/>
                          <a:cs typeface="Noto Sans KR SemiBold"/>
                        </a:rPr>
                        <a:t>기구·구동 엔지니어</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a:solidFill>
                            <a:srgbClr val="51565E"/>
                          </a:solidFill>
                          <a:latin typeface="Noto Sans KR"/>
                          <a:ea typeface="Noto Sans KR"/>
                          <a:cs typeface="Noto Sans KR"/>
                        </a:rPr>
                        <a:t>M2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₩1.54억</a:t>
                      </a:r>
                    </a:p>
                  </a:txBody>
                  <a:tcPr marL="73152" marR="54864" marT="27432" marB="27432" anchor="ctr">
                    <a:lnL w="9525">
                      <a:noFill/>
                    </a:lnL>
                    <a:lnR w="9525">
                      <a:noFill/>
                    </a:lnR>
                    <a:lnT w="9525">
                      <a:noFill/>
                    </a:lnT>
                    <a:lnB w="9525">
                      <a:solidFill>
                        <a:srgbClr val="DCDAD5"/>
                      </a:solidFill>
                    </a:lnB>
                    <a:noFill/>
                  </a:tcPr>
                </a:tc>
              </a:tr>
              <a:tr h="329184">
                <a:tc>
                  <a:txBody>
                    <a:bodyPr wrap="square"/>
                    <a:lstStyle/>
                    <a:p>
                      <a:pPr algn="l">
                        <a:lnSpc>
                          <a:spcPct val="105000"/>
                        </a:lnSpc>
                      </a:pPr>
                      <a:r>
                        <a:rPr sz="900" b="0" i="0">
                          <a:solidFill>
                            <a:srgbClr val="16181B"/>
                          </a:solidFill>
                          <a:latin typeface="Noto Sans KR SemiBold"/>
                          <a:ea typeface="Noto Sans KR SemiBold"/>
                          <a:cs typeface="Noto Sans KR SemiBold"/>
                        </a:rPr>
                        <a:t>제어·임베디드 엔지니어</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a:solidFill>
                            <a:srgbClr val="51565E"/>
                          </a:solidFill>
                          <a:latin typeface="Noto Sans KR"/>
                          <a:ea typeface="Noto Sans KR"/>
                          <a:cs typeface="Noto Sans KR"/>
                        </a:rPr>
                        <a:t>M3</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₩1.48억</a:t>
                      </a:r>
                    </a:p>
                  </a:txBody>
                  <a:tcPr marL="73152" marR="54864" marT="27432" marB="27432" anchor="ctr">
                    <a:lnL w="9525">
                      <a:noFill/>
                    </a:lnL>
                    <a:lnR w="9525">
                      <a:noFill/>
                    </a:lnR>
                    <a:lnT w="9525">
                      <a:noFill/>
                    </a:lnT>
                    <a:lnB w="9525">
                      <a:solidFill>
                        <a:srgbClr val="DCDAD5"/>
                      </a:solidFill>
                    </a:lnB>
                    <a:noFill/>
                  </a:tcPr>
                </a:tc>
              </a:tr>
              <a:tr h="329184">
                <a:tc>
                  <a:txBody>
                    <a:bodyPr wrap="square"/>
                    <a:lstStyle/>
                    <a:p>
                      <a:pPr algn="l">
                        <a:lnSpc>
                          <a:spcPct val="105000"/>
                        </a:lnSpc>
                      </a:pPr>
                      <a:r>
                        <a:rPr sz="900" b="0" i="0">
                          <a:solidFill>
                            <a:srgbClr val="16181B"/>
                          </a:solidFill>
                          <a:latin typeface="Noto Sans KR SemiBold"/>
                          <a:ea typeface="Noto Sans KR SemiBold"/>
                          <a:cs typeface="Noto Sans KR SemiBold"/>
                        </a:rPr>
                        <a:t>Robot SW · Skill 엔지니어</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a:solidFill>
                            <a:srgbClr val="51565E"/>
                          </a:solidFill>
                          <a:latin typeface="Noto Sans KR"/>
                          <a:ea typeface="Noto Sans KR"/>
                          <a:cs typeface="Noto Sans KR"/>
                        </a:rPr>
                        <a:t>M5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₩1.34억</a:t>
                      </a:r>
                    </a:p>
                  </a:txBody>
                  <a:tcPr marL="73152" marR="54864" marT="27432" marB="27432" anchor="ctr">
                    <a:lnL w="9525">
                      <a:noFill/>
                    </a:lnL>
                    <a:lnR w="9525">
                      <a:noFill/>
                    </a:lnR>
                    <a:lnT w="9525">
                      <a:noFill/>
                    </a:lnT>
                    <a:lnB w="9525">
                      <a:solidFill>
                        <a:srgbClr val="DCDAD5"/>
                      </a:solidFill>
                    </a:lnB>
                    <a:noFill/>
                  </a:tcPr>
                </a:tc>
              </a:tr>
              <a:tr h="329184">
                <a:tc>
                  <a:txBody>
                    <a:bodyPr wrap="square"/>
                    <a:lstStyle/>
                    <a:p>
                      <a:pPr algn="l">
                        <a:lnSpc>
                          <a:spcPct val="105000"/>
                        </a:lnSpc>
                      </a:pPr>
                      <a:r>
                        <a:rPr sz="900" b="0" i="0">
                          <a:solidFill>
                            <a:srgbClr val="16181B"/>
                          </a:solidFill>
                          <a:latin typeface="Noto Sans KR SemiBold"/>
                          <a:ea typeface="Noto Sans KR SemiBold"/>
                          <a:cs typeface="Noto Sans KR SemiBold"/>
                        </a:rPr>
                        <a:t>현장 통합(FAE) 엔지니어</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a:solidFill>
                            <a:srgbClr val="51565E"/>
                          </a:solidFill>
                          <a:latin typeface="Noto Sans KR"/>
                          <a:ea typeface="Noto Sans KR"/>
                          <a:cs typeface="Noto Sans KR"/>
                        </a:rPr>
                        <a:t>M8</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₩1.14억</a:t>
                      </a:r>
                    </a:p>
                  </a:txBody>
                  <a:tcPr marL="73152" marR="54864" marT="27432" marB="27432" anchor="ctr">
                    <a:lnL w="9525">
                      <a:noFill/>
                    </a:lnL>
                    <a:lnR w="9525">
                      <a:noFill/>
                    </a:lnR>
                    <a:lnT w="9525">
                      <a:noFill/>
                    </a:lnT>
                    <a:lnB w="9525">
                      <a:solidFill>
                        <a:srgbClr val="DCDAD5"/>
                      </a:solidFill>
                    </a:lnB>
                    <a:noFill/>
                  </a:tcPr>
                </a:tc>
              </a:tr>
              <a:tr h="329184">
                <a:tc>
                  <a:txBody>
                    <a:bodyPr wrap="square"/>
                    <a:lstStyle/>
                    <a:p>
                      <a:pPr algn="l">
                        <a:lnSpc>
                          <a:spcPct val="105000"/>
                        </a:lnSpc>
                      </a:pPr>
                      <a:r>
                        <a:rPr sz="900" b="0" i="0">
                          <a:solidFill>
                            <a:srgbClr val="16181B"/>
                          </a:solidFill>
                          <a:latin typeface="Noto Sans KR SemiBold"/>
                          <a:ea typeface="Noto Sans KR SemiBold"/>
                          <a:cs typeface="Noto Sans KR SemiBold"/>
                        </a:rPr>
                        <a:t>Vision · 조작 AI 엔지니어</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a:solidFill>
                            <a:srgbClr val="51565E"/>
                          </a:solidFill>
                          <a:latin typeface="Noto Sans KR"/>
                          <a:ea typeface="Noto Sans KR"/>
                          <a:cs typeface="Noto Sans KR"/>
                        </a:rPr>
                        <a:t>M10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₩1.01억</a:t>
                      </a:r>
                    </a:p>
                  </a:txBody>
                  <a:tcPr marL="73152" marR="54864" marT="27432" marB="27432" anchor="ctr">
                    <a:lnL w="9525">
                      <a:noFill/>
                    </a:lnL>
                    <a:lnR w="9525">
                      <a:noFill/>
                    </a:lnR>
                    <a:lnT w="9525">
                      <a:noFill/>
                    </a:lnT>
                    <a:lnB w="9525">
                      <a:solidFill>
                        <a:srgbClr val="DCDAD5"/>
                      </a:solidFill>
                    </a:lnB>
                    <a:noFill/>
                  </a:tcPr>
                </a:tc>
              </a:tr>
              <a:tr h="329184">
                <a:tc>
                  <a:txBody>
                    <a:bodyPr wrap="square"/>
                    <a:lstStyle/>
                    <a:p>
                      <a:pPr algn="l">
                        <a:lnSpc>
                          <a:spcPct val="105000"/>
                        </a:lnSpc>
                      </a:pPr>
                      <a:r>
                        <a:rPr sz="900" b="0" i="0">
                          <a:solidFill>
                            <a:srgbClr val="16181B"/>
                          </a:solidFill>
                          <a:latin typeface="Noto Sans KR SemiBold"/>
                          <a:ea typeface="Noto Sans KR SemiBold"/>
                          <a:cs typeface="Noto Sans KR SemiBold"/>
                        </a:rPr>
                        <a:t>DFM · 품질 엔지니어</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a:solidFill>
                            <a:srgbClr val="51565E"/>
                          </a:solidFill>
                          <a:latin typeface="Noto Sans KR"/>
                          <a:ea typeface="Noto Sans KR"/>
                          <a:cs typeface="Noto Sans KR"/>
                        </a:rPr>
                        <a:t>M13</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₩0.81억</a:t>
                      </a:r>
                    </a:p>
                  </a:txBody>
                  <a:tcPr marL="73152" marR="54864" marT="27432" marB="27432" anchor="ctr">
                    <a:lnL w="9525">
                      <a:noFill/>
                    </a:lnL>
                    <a:lnR w="9525">
                      <a:noFill/>
                    </a:lnR>
                    <a:lnT w="9525">
                      <a:noFill/>
                    </a:lnT>
                    <a:lnB w="9525">
                      <a:solidFill>
                        <a:srgbClr val="DCDAD5"/>
                      </a:solidFill>
                    </a:lnB>
                    <a:noFill/>
                  </a:tcPr>
                </a:tc>
              </a:tr>
              <a:tr h="329184">
                <a:tc>
                  <a:txBody>
                    <a:bodyPr wrap="square"/>
                    <a:lstStyle/>
                    <a:p>
                      <a:pPr algn="l">
                        <a:lnSpc>
                          <a:spcPct val="105000"/>
                        </a:lnSpc>
                      </a:pPr>
                      <a:r>
                        <a:rPr sz="900" b="0" i="0">
                          <a:solidFill>
                            <a:srgbClr val="16181B"/>
                          </a:solidFill>
                          <a:latin typeface="Noto Sans KR Black"/>
                          <a:ea typeface="Noto Sans KR Black"/>
                          <a:cs typeface="Noto Sans KR Black"/>
                        </a:rPr>
                        <a:t>합계 · 8명</a:t>
                      </a:r>
                    </a:p>
                  </a:txBody>
                  <a:tcPr marL="73152" marR="54864" marT="27432" marB="27432" anchor="ctr">
                    <a:lnL w="9525">
                      <a:noFill/>
                    </a:lnL>
                    <a:lnR w="9525">
                      <a:noFill/>
                    </a:lnR>
                    <a:lnT w="9525">
                      <a:noFill/>
                    </a:lnT>
                    <a:lnB w="9525">
                      <a:solidFill>
                        <a:srgbClr val="DCDAD5"/>
                      </a:solidFill>
                    </a:lnB>
                    <a:noFill/>
                  </a:tcPr>
                </a:tc>
                <a:tc>
                  <a:txBody>
                    <a:bodyPr wrap="square"/>
                    <a:lstStyle/>
                    <a:p>
                      <a:pPr algn="ctr">
                        <a:lnSpc>
                          <a:spcPct val="105000"/>
                        </a:lnSpc>
                      </a:pPr>
                      <a:r>
                        <a:rPr sz="900" b="0" i="0">
                          <a:solidFill>
                            <a:srgbClr val="51565E"/>
                          </a:solidFill>
                          <a:latin typeface="Noto Sans KR"/>
                          <a:ea typeface="Noto Sans KR"/>
                          <a:cs typeface="Noto Sans KR"/>
                        </a:rPr>
                        <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EC7A3C"/>
                          </a:solidFill>
                          <a:latin typeface="Noto Sans KR Black"/>
                          <a:ea typeface="Noto Sans KR Black"/>
                          <a:cs typeface="Noto Sans KR Black"/>
                        </a:rPr>
                        <a:t>₩9.6억</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7" name="TextBox 6"/>
          <p:cNvSpPr txBox="1"/>
          <p:nvPr/>
        </p:nvSpPr>
        <p:spPr>
          <a:xfrm>
            <a:off x="548640" y="4846320"/>
            <a:ext cx="5120640" cy="502920"/>
          </a:xfrm>
          <a:prstGeom prst="rect">
            <a:avLst/>
          </a:prstGeom>
          <a:noFill/>
        </p:spPr>
        <p:txBody>
          <a:bodyPr wrap="square" lIns="0" rIns="0" tIns="0" bIns="0" anchor="t">
            <a:noAutofit/>
          </a:bodyPr>
          <a:lstStyle/>
          <a:p>
            <a:pPr algn="l">
              <a:lnSpc>
                <a:spcPct val="120000"/>
              </a:lnSpc>
            </a:pPr>
            <a:r>
              <a:rPr sz="850" b="0" i="0">
                <a:solidFill>
                  <a:srgbClr val="51565E"/>
                </a:solidFill>
                <a:latin typeface="Noto Sans KR"/>
                <a:ea typeface="Noto Sans KR"/>
                <a:cs typeface="Noto Sans KR"/>
              </a:rPr>
              <a:t>인건비 기준: 창업자 연 ₩5,000만 · 엔지니어 연 ₩7,000만 + 4대보험 · 퇴직충당 15%</a:t>
            </a:r>
          </a:p>
          <a:p>
            <a:pPr algn="l">
              <a:lnSpc>
                <a:spcPct val="120000"/>
              </a:lnSpc>
            </a:pPr>
            <a:r>
              <a:rPr sz="850" b="0" i="0">
                <a:solidFill>
                  <a:srgbClr val="51565E"/>
                </a:solidFill>
                <a:latin typeface="Noto Sans KR"/>
                <a:ea typeface="Noto Sans KR"/>
                <a:cs typeface="Noto Sans KR"/>
              </a:rPr>
              <a:t>기존 "개발인력 9.0억"은 같은 채용 범위에서 과소 추정 → 9.6억으로 현실화</a:t>
            </a:r>
          </a:p>
        </p:txBody>
      </p:sp>
      <p:graphicFrame>
        <p:nvGraphicFramePr>
          <p:cNvPr id="8" name="UoF table"/>
          <p:cNvGraphicFramePr>
            <a:graphicFrameLocks noGrp="1"/>
          </p:cNvGraphicFramePr>
          <p:nvPr/>
        </p:nvGraphicFramePr>
        <p:xfrm>
          <a:off x="5897880" y="1481328"/>
          <a:ext cx="5742432" cy="3310128"/>
        </p:xfrm>
        <a:graphic>
          <a:graphicData uri="http://schemas.openxmlformats.org/drawingml/2006/table">
            <a:tbl>
              <a:tblPr firstRow="0" bandRow="0">
                <a:tableStyleId>{5C22544A-7EE6-4342-B048-85BDC9FD1C3A}</a:tableStyleId>
              </a:tblPr>
              <a:tblGrid>
                <a:gridCol w="2654065"/>
                <a:gridCol w="772092"/>
                <a:gridCol w="772092"/>
                <a:gridCol w="820347"/>
                <a:gridCol w="723836"/>
              </a:tblGrid>
              <a:tr h="292608">
                <a:tc>
                  <a:txBody>
                    <a:bodyPr wrap="square"/>
                    <a:lstStyle/>
                    <a:p>
                      <a:pPr algn="l">
                        <a:lnSpc>
                          <a:spcPct val="105000"/>
                        </a:lnSpc>
                      </a:pPr>
                      <a:r>
                        <a:rPr sz="950" b="0" i="0" spc="40">
                          <a:solidFill>
                            <a:srgbClr val="16181B"/>
                          </a:solidFill>
                          <a:latin typeface="Noto Sans KR SemiBold"/>
                          <a:ea typeface="Noto Sans KR SemiBold"/>
                          <a:cs typeface="Noto Sans KR SemiBold"/>
                        </a:rPr>
                        <a:t>Use of Funds</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Y1</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Y2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합계</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50" b="0" i="0" spc="40">
                          <a:solidFill>
                            <a:srgbClr val="16181B"/>
                          </a:solidFill>
                          <a:latin typeface="Noto Sans KR SemiBold"/>
                          <a:ea typeface="Noto Sans KR SemiBold"/>
                          <a:cs typeface="Noto Sans KR SemiBold"/>
                        </a:rPr>
                        <a:t>비중</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핵심 인력</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3.6</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6.0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9.6</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48%</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Prototype · 내구시험</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1.50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1.20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2.7</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13.5%</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Robot 2종 · 시험 Cell</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0.90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0.40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1.3</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6.5%</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고객 PoC · 현장통합(비청구)</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0.30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0.90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1.2</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6.0%</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SW · AI · Data</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0.30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0.30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0.6</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3.0%</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제조 · 품질 · 안전 · IP</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0.35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0.75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1.1</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5.5%</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Kitchen Bench Demo</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0.00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0.30</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0.3</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1.5%</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운영 (임차·법무·회계·보험·출장)</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0.75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0.75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1.5</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7.5%</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SemiBold"/>
                          <a:ea typeface="Noto Sans KR SemiBold"/>
                          <a:cs typeface="Noto Sans KR SemiBold"/>
                        </a:rPr>
                        <a:t>예비비 · 운전자본</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1.7</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8.4%</a:t>
                      </a:r>
                    </a:p>
                  </a:txBody>
                  <a:tcPr marL="73152" marR="54864" marT="27432" marB="27432" anchor="ctr">
                    <a:lnL w="9525">
                      <a:noFill/>
                    </a:lnL>
                    <a:lnR w="9525">
                      <a:noFill/>
                    </a:lnR>
                    <a:lnT w="9525">
                      <a:noFill/>
                    </a:lnT>
                    <a:lnB w="9525">
                      <a:solidFill>
                        <a:srgbClr val="DCDAD5"/>
                      </a:solidFill>
                    </a:lnB>
                    <a:noFill/>
                  </a:tcPr>
                </a:tc>
              </a:tr>
              <a:tr h="301752">
                <a:tc>
                  <a:txBody>
                    <a:bodyPr wrap="square"/>
                    <a:lstStyle/>
                    <a:p>
                      <a:pPr algn="l">
                        <a:lnSpc>
                          <a:spcPct val="105000"/>
                        </a:lnSpc>
                      </a:pPr>
                      <a:r>
                        <a:rPr sz="900" b="0" i="0">
                          <a:solidFill>
                            <a:srgbClr val="16181B"/>
                          </a:solidFill>
                          <a:latin typeface="Noto Sans KR Black"/>
                          <a:ea typeface="Noto Sans KR Black"/>
                          <a:cs typeface="Noto Sans KR Black"/>
                        </a:rPr>
                        <a:t>P&amp;L 운영비 (예비비 제외)</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Black"/>
                          <a:ea typeface="Noto Sans KR Black"/>
                          <a:cs typeface="Noto Sans KR Black"/>
                        </a:rPr>
                        <a:t>7.7</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Black"/>
                          <a:ea typeface="Noto Sans KR Black"/>
                          <a:cs typeface="Noto Sans KR Black"/>
                        </a:rPr>
                        <a:t>10.6</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EC7A3C"/>
                          </a:solidFill>
                          <a:latin typeface="Noto Sans KR Black"/>
                          <a:ea typeface="Noto Sans KR Black"/>
                          <a:cs typeface="Noto Sans KR Black"/>
                        </a:rPr>
                        <a:t>18.3</a:t>
                      </a:r>
                    </a:p>
                  </a:txBody>
                  <a:tcPr marL="73152" marR="54864" marT="27432" marB="27432" anchor="ctr">
                    <a:lnL w="9525">
                      <a:noFill/>
                    </a:lnL>
                    <a:lnR w="9525">
                      <a:noFill/>
                    </a:lnR>
                    <a:lnT w="9525">
                      <a:noFill/>
                    </a:lnT>
                    <a:lnB w="9525">
                      <a:solidFill>
                        <a:srgbClr val="DCDAD5"/>
                      </a:solidFill>
                    </a:lnB>
                    <a:noFill/>
                  </a:tcPr>
                </a:tc>
                <a:tc>
                  <a:txBody>
                    <a:bodyPr wrap="square"/>
                    <a:lstStyle/>
                    <a:p>
                      <a:pPr algn="r">
                        <a:lnSpc>
                          <a:spcPct val="105000"/>
                        </a:lnSpc>
                      </a:pPr>
                      <a:r>
                        <a:rPr sz="900" b="0" i="0">
                          <a:solidFill>
                            <a:srgbClr val="51565E"/>
                          </a:solidFill>
                          <a:latin typeface="Noto Sans KR"/>
                          <a:ea typeface="Noto Sans KR"/>
                          <a:cs typeface="Noto Sans KR"/>
                        </a:rPr>
                        <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9" name="Light card"/>
          <p:cNvSpPr/>
          <p:nvPr/>
        </p:nvSpPr>
        <p:spPr>
          <a:xfrm>
            <a:off x="5897880" y="4983480"/>
            <a:ext cx="5742432" cy="1143000"/>
          </a:xfrm>
          <a:prstGeom prst="roundRect">
            <a:avLst>
              <a:gd name="adj" fmla="val 6400"/>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80760" y="5129784"/>
            <a:ext cx="542239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P&amp;L 연결</a:t>
            </a:r>
          </a:p>
        </p:txBody>
      </p:sp>
      <p:sp>
        <p:nvSpPr>
          <p:cNvPr id="11" name="TextBox 10"/>
          <p:cNvSpPr txBox="1"/>
          <p:nvPr/>
        </p:nvSpPr>
        <p:spPr>
          <a:xfrm>
            <a:off x="6080760" y="5404104"/>
            <a:ext cx="5440680" cy="685800"/>
          </a:xfrm>
          <a:prstGeom prst="rect">
            <a:avLst/>
          </a:prstGeom>
          <a:noFill/>
        </p:spPr>
        <p:txBody>
          <a:bodyPr wrap="square" lIns="0" rIns="0" tIns="0" bIns="0" anchor="t">
            <a:noAutofit/>
          </a:bodyPr>
          <a:lstStyle/>
          <a:p>
            <a:pPr algn="l">
              <a:lnSpc>
                <a:spcPct val="120000"/>
              </a:lnSpc>
            </a:pPr>
            <a:r>
              <a:rPr sz="900" b="0" i="0">
                <a:solidFill>
                  <a:srgbClr val="51565E"/>
                </a:solidFill>
                <a:latin typeface="Noto Sans KR"/>
                <a:ea typeface="Noto Sans KR"/>
                <a:cs typeface="Noto Sans KR"/>
              </a:rPr>
              <a:t>P&amp;L 운영비 Y1 ₩7.7억 + Y2 ₩10.6억 = Use of Funds − 예비비 · 매출원가는 매출로 충당</a:t>
            </a:r>
          </a:p>
          <a:p>
            <a:pPr algn="l">
              <a:lnSpc>
                <a:spcPct val="120000"/>
              </a:lnSpc>
            </a:pPr>
            <a:r>
              <a:rPr sz="900" b="0" i="0">
                <a:solidFill>
                  <a:srgbClr val="51565E"/>
                </a:solidFill>
                <a:latin typeface="Noto Sans KR"/>
                <a:ea typeface="Noto Sans KR"/>
                <a:cs typeface="Noto Sans KR"/>
              </a:rPr>
              <a:t>Core 18M ₩13.4억 · Extension 6M ₩5.0억 · 월 Burn M6 ₩0.56억 → M18 ₩0.87억</a:t>
            </a:r>
          </a:p>
          <a:p>
            <a:pPr algn="l">
              <a:lnSpc>
                <a:spcPct val="120000"/>
              </a:lnSpc>
            </a:pPr>
            <a:r>
              <a:rPr sz="900" b="0" i="0">
                <a:solidFill>
                  <a:srgbClr val="51565E"/>
                </a:solidFill>
                <a:latin typeface="Noto Sans KR"/>
                <a:ea typeface="Noto Sans KR"/>
                <a:cs typeface="Noto Sans KR"/>
              </a:rPr>
              <a:t>매출 0원이어도 M24 잔액 ₩1.7억 (예비비)</a:t>
            </a:r>
          </a:p>
        </p:txBody>
      </p:sp>
      <p:sp>
        <p:nvSpPr>
          <p:cNvPr id="12"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13"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A12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A13  ·  Data Architecture</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데이터는 Productization Loop 위에 쌓이는 복리 자산이다</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현재 보유 데이터 없음 — Data Moat를 앞세우지 않고, 고객 프로젝트가 제품이 되는 구조(Slide 09) 다음에 둔다</a:t>
            </a:r>
          </a:p>
        </p:txBody>
      </p:sp>
      <p:sp>
        <p:nvSpPr>
          <p:cNvPr id="6" name="Light card"/>
          <p:cNvSpPr/>
          <p:nvPr/>
        </p:nvSpPr>
        <p:spPr>
          <a:xfrm>
            <a:off x="548640" y="1572768"/>
            <a:ext cx="3383280" cy="3566160"/>
          </a:xfrm>
          <a:prstGeom prst="roundRect">
            <a:avLst>
              <a:gd name="adj" fmla="val 2162"/>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719072"/>
            <a:ext cx="3063240"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TODAY'S MOAT · SEED에서 만드는 것</a:t>
            </a:r>
          </a:p>
        </p:txBody>
      </p:sp>
      <p:sp>
        <p:nvSpPr>
          <p:cNvPr id="8" name="TextBox 7"/>
          <p:cNvSpPr txBox="1"/>
          <p:nvPr/>
        </p:nvSpPr>
        <p:spPr>
          <a:xfrm>
            <a:off x="731520" y="1993392"/>
            <a:ext cx="3063240" cy="3200400"/>
          </a:xfrm>
          <a:prstGeom prst="rect">
            <a:avLst/>
          </a:prstGeom>
          <a:noFill/>
        </p:spPr>
        <p:txBody>
          <a:bodyPr wrap="square" lIns="0" rIns="0" tIns="0" bIns="0" anchor="t">
            <a:noAutofit/>
          </a:bodyPr>
          <a:lstStyle/>
          <a:p>
            <a:pPr algn="l">
              <a:lnSpc>
                <a:spcPct val="118000"/>
              </a:lnSpc>
            </a:pPr>
            <a:r>
              <a:rPr sz="950" b="0" i="0">
                <a:solidFill>
                  <a:srgbClr val="16181B"/>
                </a:solidFill>
                <a:latin typeface="Noto Sans KR SemiBold"/>
                <a:ea typeface="Noto Sans KR SemiBold"/>
                <a:cs typeface="Noto Sans KR SemiBold"/>
              </a:rPr>
              <a:t>Mechanical Architecture</a:t>
            </a:r>
          </a:p>
          <a:p>
            <a:pPr algn="l">
              <a:lnSpc>
                <a:spcPct val="118000"/>
              </a:lnSpc>
            </a:pPr>
            <a:r>
              <a:rPr sz="950" b="0" i="0">
                <a:solidFill>
                  <a:srgbClr val="51565E"/>
                </a:solidFill>
                <a:latin typeface="Noto Sans KR"/>
                <a:ea typeface="Noto Sans KR"/>
                <a:cs typeface="Noto Sans KR"/>
              </a:rPr>
              <a:t>Soft-Rigid 하이브리드 · 교체형 접촉부 · 강성 전환</a:t>
            </a:r>
          </a:p>
          <a:p>
            <a:pPr algn="l">
              <a:lnSpc>
                <a:spcPct val="118000"/>
              </a:lnSpc>
            </a:pPr>
            <a:r>
              <a:rPr sz="950" b="0" i="0">
                <a:solidFill>
                  <a:srgbClr val="51565E"/>
                </a:solidFill>
                <a:latin typeface="Noto Sans KR"/>
                <a:ea typeface="Noto Sans KR"/>
                <a:cs typeface="Noto Sans KR"/>
              </a:rPr>
              <a:t/>
            </a:r>
          </a:p>
          <a:p>
            <a:pPr algn="l">
              <a:lnSpc>
                <a:spcPct val="118000"/>
              </a:lnSpc>
            </a:pPr>
            <a:r>
              <a:rPr sz="950" b="0" i="0">
                <a:solidFill>
                  <a:srgbClr val="16181B"/>
                </a:solidFill>
                <a:latin typeface="Noto Sans KR SemiBold"/>
                <a:ea typeface="Noto Sans KR SemiBold"/>
                <a:cs typeface="Noto Sans KR SemiBold"/>
              </a:rPr>
              <a:t>Tool-oriented Control</a:t>
            </a:r>
          </a:p>
          <a:p>
            <a:pPr algn="l">
              <a:lnSpc>
                <a:spcPct val="118000"/>
              </a:lnSpc>
            </a:pPr>
            <a:r>
              <a:rPr sz="950" b="0" i="0">
                <a:solidFill>
                  <a:srgbClr val="51565E"/>
                </a:solidFill>
                <a:latin typeface="Noto Sans KR"/>
                <a:ea typeface="Noto Sans KR"/>
                <a:cs typeface="Noto Sans KR"/>
              </a:rPr>
              <a:t>힘 · 미끄러짐 기반 Interface 조작 제어</a:t>
            </a:r>
          </a:p>
          <a:p>
            <a:pPr algn="l">
              <a:lnSpc>
                <a:spcPct val="118000"/>
              </a:lnSpc>
            </a:pPr>
            <a:r>
              <a:rPr sz="950" b="0" i="0">
                <a:solidFill>
                  <a:srgbClr val="51565E"/>
                </a:solidFill>
                <a:latin typeface="Noto Sans KR"/>
                <a:ea typeface="Noto Sans KR"/>
                <a:cs typeface="Noto Sans KR"/>
              </a:rPr>
              <a:t/>
            </a:r>
          </a:p>
          <a:p>
            <a:pPr algn="l">
              <a:lnSpc>
                <a:spcPct val="118000"/>
              </a:lnSpc>
            </a:pPr>
            <a:r>
              <a:rPr sz="950" b="0" i="0">
                <a:solidFill>
                  <a:srgbClr val="16181B"/>
                </a:solidFill>
                <a:latin typeface="Noto Sans KR SemiBold"/>
                <a:ea typeface="Noto Sans KR SemiBold"/>
                <a:cs typeface="Noto Sans KR SemiBold"/>
              </a:rPr>
              <a:t>Task Integration Know-how</a:t>
            </a:r>
          </a:p>
          <a:p>
            <a:pPr algn="l">
              <a:lnSpc>
                <a:spcPct val="118000"/>
              </a:lnSpc>
            </a:pPr>
            <a:r>
              <a:rPr sz="950" b="0" i="0">
                <a:solidFill>
                  <a:srgbClr val="51565E"/>
                </a:solidFill>
                <a:latin typeface="Noto Sans KR"/>
                <a:ea typeface="Noto Sans KR"/>
                <a:cs typeface="Noto Sans KR"/>
              </a:rPr>
              <a:t>SI 현장 통합 · PoC 운영 경험</a:t>
            </a:r>
          </a:p>
          <a:p>
            <a:pPr algn="l">
              <a:lnSpc>
                <a:spcPct val="118000"/>
              </a:lnSpc>
            </a:pPr>
            <a:r>
              <a:rPr sz="950" b="0" i="0">
                <a:solidFill>
                  <a:srgbClr val="51565E"/>
                </a:solidFill>
                <a:latin typeface="Noto Sans KR"/>
                <a:ea typeface="Noto Sans KR"/>
                <a:cs typeface="Noto Sans KR"/>
              </a:rPr>
              <a:t/>
            </a:r>
          </a:p>
          <a:p>
            <a:pPr algn="l">
              <a:lnSpc>
                <a:spcPct val="118000"/>
              </a:lnSpc>
            </a:pPr>
            <a:r>
              <a:rPr sz="950" b="0" i="0">
                <a:solidFill>
                  <a:srgbClr val="16181B"/>
                </a:solidFill>
                <a:latin typeface="Noto Sans KR SemiBold"/>
                <a:ea typeface="Noto Sans KR SemiBold"/>
                <a:cs typeface="Noto Sans KR SemiBold"/>
              </a:rPr>
              <a:t>Reusable Skill Library</a:t>
            </a:r>
          </a:p>
          <a:p>
            <a:pPr algn="l">
              <a:lnSpc>
                <a:spcPct val="118000"/>
              </a:lnSpc>
            </a:pPr>
            <a:r>
              <a:rPr sz="950" b="0" i="0">
                <a:solidFill>
                  <a:srgbClr val="51565E"/>
                </a:solidFill>
                <a:latin typeface="Noto Sans KR"/>
                <a:ea typeface="Noto Sans KR"/>
                <a:cs typeface="Noto Sans KR"/>
              </a:rPr>
              <a:t>Productization Loop의 산출물</a:t>
            </a:r>
          </a:p>
        </p:txBody>
      </p:sp>
      <p:cxnSp>
        <p:nvCxnSpPr>
          <p:cNvPr id="9" name="Connector 8"/>
          <p:cNvCxnSpPr/>
          <p:nvPr/>
        </p:nvCxnSpPr>
        <p:spPr>
          <a:xfrm>
            <a:off x="6296306" y="2270138"/>
            <a:ext cx="615454" cy="399244"/>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872684" y="3207997"/>
            <a:ext cx="335550" cy="922066"/>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5788551" y="4410219"/>
            <a:ext cx="218658" cy="0"/>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4587526" y="3207997"/>
            <a:ext cx="335550" cy="922066"/>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884000" y="2270138"/>
            <a:ext cx="615454" cy="399244"/>
          </a:xfrm>
          <a:prstGeom prst="line">
            <a:avLst/>
          </a:prstGeom>
          <a:ln w="15875">
            <a:solidFill>
              <a:srgbClr val="EC7A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89220" y="1783080"/>
            <a:ext cx="1417320" cy="457200"/>
          </a:xfrm>
          <a:prstGeom prst="roundRect">
            <a:avLst>
              <a:gd name="adj" fmla="val 20000"/>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16181B"/>
                </a:solidFill>
                <a:latin typeface="Noto Sans KR SemiBold"/>
                <a:ea typeface="Noto Sans KR SemiBold"/>
                <a:cs typeface="Noto Sans KR SemiBold"/>
              </a:rPr>
              <a:t>더 많은 배치</a:t>
            </a:r>
          </a:p>
        </p:txBody>
      </p:sp>
      <p:sp>
        <p:nvSpPr>
          <p:cNvPr id="15" name="Rounded Rectangle 14"/>
          <p:cNvSpPr/>
          <p:nvPr/>
        </p:nvSpPr>
        <p:spPr>
          <a:xfrm>
            <a:off x="6601525" y="2699241"/>
            <a:ext cx="1417320" cy="457200"/>
          </a:xfrm>
          <a:prstGeom prst="roundRect">
            <a:avLst>
              <a:gd name="adj" fmla="val 20000"/>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16181B"/>
                </a:solidFill>
                <a:latin typeface="Noto Sans KR SemiBold"/>
                <a:ea typeface="Noto Sans KR SemiBold"/>
                <a:cs typeface="Noto Sans KR SemiBold"/>
              </a:rPr>
              <a:t>더 많은 실제 Task</a:t>
            </a:r>
          </a:p>
        </p:txBody>
      </p:sp>
      <p:sp>
        <p:nvSpPr>
          <p:cNvPr id="16" name="Rounded Rectangle 15"/>
          <p:cNvSpPr/>
          <p:nvPr/>
        </p:nvSpPr>
        <p:spPr>
          <a:xfrm>
            <a:off x="6062073" y="4181619"/>
            <a:ext cx="1417320" cy="457200"/>
          </a:xfrm>
          <a:prstGeom prst="roundRect">
            <a:avLst>
              <a:gd name="adj" fmla="val 20000"/>
            </a:avLst>
          </a:prstGeom>
          <a:solidFill>
            <a:srgbClr val="FFFFFF"/>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EC7A3C"/>
                </a:solidFill>
                <a:latin typeface="Noto Sans KR SemiBold"/>
                <a:ea typeface="Noto Sans KR SemiBold"/>
                <a:cs typeface="Noto Sans KR SemiBold"/>
              </a:rPr>
              <a:t>실패 · 복구 Data</a:t>
            </a:r>
          </a:p>
        </p:txBody>
      </p:sp>
      <p:sp>
        <p:nvSpPr>
          <p:cNvPr id="17" name="Rounded Rectangle 16"/>
          <p:cNvSpPr/>
          <p:nvPr/>
        </p:nvSpPr>
        <p:spPr>
          <a:xfrm>
            <a:off x="4316367" y="4181619"/>
            <a:ext cx="1417320" cy="457200"/>
          </a:xfrm>
          <a:prstGeom prst="roundRect">
            <a:avLst>
              <a:gd name="adj" fmla="val 20000"/>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16181B"/>
                </a:solidFill>
                <a:latin typeface="Noto Sans KR SemiBold"/>
                <a:ea typeface="Noto Sans KR SemiBold"/>
                <a:cs typeface="Noto Sans KR SemiBold"/>
              </a:rPr>
              <a:t>더 나은 Skill</a:t>
            </a:r>
          </a:p>
        </p:txBody>
      </p:sp>
      <p:sp>
        <p:nvSpPr>
          <p:cNvPr id="18" name="Rounded Rectangle 17"/>
          <p:cNvSpPr/>
          <p:nvPr/>
        </p:nvSpPr>
        <p:spPr>
          <a:xfrm>
            <a:off x="3776915" y="2699241"/>
            <a:ext cx="1417320" cy="457200"/>
          </a:xfrm>
          <a:prstGeom prst="roundRect">
            <a:avLst>
              <a:gd name="adj" fmla="val 20000"/>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950" b="0" i="0">
                <a:solidFill>
                  <a:srgbClr val="16181B"/>
                </a:solidFill>
                <a:latin typeface="Noto Sans KR SemiBold"/>
                <a:ea typeface="Noto Sans KR SemiBold"/>
                <a:cs typeface="Noto Sans KR SemiBold"/>
              </a:rPr>
              <a:t>더 높은 완료율</a:t>
            </a:r>
          </a:p>
        </p:txBody>
      </p:sp>
      <p:sp>
        <p:nvSpPr>
          <p:cNvPr id="19" name="TextBox 18"/>
          <p:cNvSpPr txBox="1"/>
          <p:nvPr/>
        </p:nvSpPr>
        <p:spPr>
          <a:xfrm>
            <a:off x="4983480" y="3154680"/>
            <a:ext cx="1828800" cy="384048"/>
          </a:xfrm>
          <a:prstGeom prst="rect">
            <a:avLst/>
          </a:prstGeom>
          <a:noFill/>
        </p:spPr>
        <p:txBody>
          <a:bodyPr wrap="square" lIns="0" rIns="0" tIns="0" bIns="0" anchor="t">
            <a:noAutofit/>
          </a:bodyPr>
          <a:lstStyle/>
          <a:p>
            <a:pPr algn="ctr">
              <a:lnSpc>
                <a:spcPct val="110000"/>
              </a:lnSpc>
            </a:pPr>
            <a:r>
              <a:rPr sz="900" b="0" i="0">
                <a:solidFill>
                  <a:srgbClr val="EC7A3C"/>
                </a:solidFill>
                <a:latin typeface="Noto Sans KR SemiBold"/>
                <a:ea typeface="Noto Sans KR SemiBold"/>
                <a:cs typeface="Noto Sans KR SemiBold"/>
              </a:rPr>
              <a:t>Manipulation Data</a:t>
            </a:r>
          </a:p>
          <a:p>
            <a:pPr algn="ctr">
              <a:lnSpc>
                <a:spcPct val="110000"/>
              </a:lnSpc>
            </a:pPr>
            <a:r>
              <a:rPr sz="900" b="0" i="0">
                <a:solidFill>
                  <a:srgbClr val="EC7A3C"/>
                </a:solidFill>
                <a:latin typeface="Noto Sans KR SemiBold"/>
                <a:ea typeface="Noto Sans KR SemiBold"/>
                <a:cs typeface="Noto Sans KR SemiBold"/>
              </a:rPr>
              <a:t>Compounding Asset</a:t>
            </a:r>
          </a:p>
        </p:txBody>
      </p:sp>
      <p:sp>
        <p:nvSpPr>
          <p:cNvPr id="20" name="Light card"/>
          <p:cNvSpPr/>
          <p:nvPr/>
        </p:nvSpPr>
        <p:spPr>
          <a:xfrm>
            <a:off x="8092440" y="1572768"/>
            <a:ext cx="3547872" cy="1737360"/>
          </a:xfrm>
          <a:prstGeom prst="roundRect">
            <a:avLst>
              <a:gd name="adj" fmla="val 4210"/>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75320" y="1719072"/>
            <a:ext cx="322783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SEED DATA PLAN · PLANNED</a:t>
            </a:r>
          </a:p>
        </p:txBody>
      </p:sp>
      <p:sp>
        <p:nvSpPr>
          <p:cNvPr id="22" name="TextBox 21"/>
          <p:cNvSpPr txBox="1"/>
          <p:nvPr/>
        </p:nvSpPr>
        <p:spPr>
          <a:xfrm>
            <a:off x="8275320" y="1993392"/>
            <a:ext cx="3246120" cy="1417320"/>
          </a:xfrm>
          <a:prstGeom prst="rect">
            <a:avLst/>
          </a:prstGeom>
          <a:noFill/>
        </p:spPr>
        <p:txBody>
          <a:bodyPr wrap="square" lIns="0" rIns="0" tIns="0" bIns="0" anchor="t">
            <a:noAutofit/>
          </a:bodyPr>
          <a:lstStyle/>
          <a:p>
            <a:pPr algn="l">
              <a:lnSpc>
                <a:spcPct val="120000"/>
              </a:lnSpc>
            </a:pPr>
            <a:r>
              <a:rPr sz="950" b="0" i="0">
                <a:solidFill>
                  <a:srgbClr val="51565E"/>
                </a:solidFill>
                <a:latin typeface="Noto Sans KR"/>
                <a:ea typeface="Noto Sans KR"/>
                <a:cs typeface="Noto Sans KR"/>
              </a:rPr>
              <a:t>도구 · 부품 · 설비 Interface 30종+</a:t>
            </a:r>
          </a:p>
          <a:p>
            <a:pPr algn="l">
              <a:lnSpc>
                <a:spcPct val="120000"/>
              </a:lnSpc>
            </a:pPr>
            <a:r>
              <a:rPr sz="950" b="0" i="0">
                <a:solidFill>
                  <a:srgbClr val="51565E"/>
                </a:solidFill>
                <a:latin typeface="Noto Sans KR"/>
                <a:ea typeface="Noto Sans KR"/>
                <a:cs typeface="Noto Sans KR"/>
              </a:rPr>
              <a:t>시도 1만 회+ · 시간동기화</a:t>
            </a:r>
          </a:p>
          <a:p>
            <a:pPr algn="l">
              <a:lnSpc>
                <a:spcPct val="120000"/>
              </a:lnSpc>
            </a:pPr>
            <a:r>
              <a:rPr sz="950" b="0" i="0">
                <a:solidFill>
                  <a:srgbClr val="51565E"/>
                </a:solidFill>
                <a:latin typeface="Noto Sans KR"/>
                <a:ea typeface="Noto Sans KR"/>
                <a:cs typeface="Noto Sans KR"/>
              </a:rPr>
              <a:t>실패 원인 라벨링 · 복구 Log</a:t>
            </a:r>
          </a:p>
          <a:p>
            <a:pPr algn="l">
              <a:lnSpc>
                <a:spcPct val="120000"/>
              </a:lnSpc>
            </a:pPr>
            <a:r>
              <a:rPr sz="950" b="0" i="0">
                <a:solidFill>
                  <a:srgbClr val="51565E"/>
                </a:solidFill>
                <a:latin typeface="Noto Sans KR"/>
                <a:ea typeface="Noto Sans KR"/>
                <a:cs typeface="Noto Sans KR"/>
              </a:rPr>
              <a:t>물체 · 세션 · 현장 단위 분리 검증</a:t>
            </a:r>
          </a:p>
        </p:txBody>
      </p:sp>
      <p:sp>
        <p:nvSpPr>
          <p:cNvPr id="23" name="Light card"/>
          <p:cNvSpPr/>
          <p:nvPr/>
        </p:nvSpPr>
        <p:spPr>
          <a:xfrm>
            <a:off x="8092440" y="3429000"/>
            <a:ext cx="3547872" cy="1709928"/>
          </a:xfrm>
          <a:prstGeom prst="roundRect">
            <a:avLst>
              <a:gd name="adj" fmla="val 4278"/>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75320" y="3575304"/>
            <a:ext cx="322783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DATA RIGHTS</a:t>
            </a:r>
          </a:p>
        </p:txBody>
      </p:sp>
      <p:sp>
        <p:nvSpPr>
          <p:cNvPr id="25" name="TextBox 24"/>
          <p:cNvSpPr txBox="1"/>
          <p:nvPr/>
        </p:nvSpPr>
        <p:spPr>
          <a:xfrm>
            <a:off x="8275320" y="3849624"/>
            <a:ext cx="3246120" cy="1371600"/>
          </a:xfrm>
          <a:prstGeom prst="rect">
            <a:avLst/>
          </a:prstGeom>
          <a:noFill/>
        </p:spPr>
        <p:txBody>
          <a:bodyPr wrap="square" lIns="0" rIns="0" tIns="0" bIns="0" anchor="t">
            <a:noAutofit/>
          </a:bodyPr>
          <a:lstStyle/>
          <a:p>
            <a:pPr algn="l">
              <a:lnSpc>
                <a:spcPct val="120000"/>
              </a:lnSpc>
            </a:pPr>
            <a:r>
              <a:rPr sz="950" b="0" i="0">
                <a:solidFill>
                  <a:srgbClr val="51565E"/>
                </a:solidFill>
                <a:latin typeface="Noto Sans KR"/>
                <a:ea typeface="Noto Sans KR"/>
                <a:cs typeface="Noto Sans KR"/>
              </a:rPr>
              <a:t>고객 데이터의 수집 · 학습 · 재사용 범위를 계약으로 분리 합의</a:t>
            </a:r>
          </a:p>
          <a:p>
            <a:pPr algn="l">
              <a:lnSpc>
                <a:spcPct val="120000"/>
              </a:lnSpc>
            </a:pPr>
            <a:r>
              <a:rPr sz="950" b="0" i="0">
                <a:solidFill>
                  <a:srgbClr val="51565E"/>
                </a:solidFill>
                <a:latin typeface="Noto Sans KR"/>
                <a:ea typeface="Noto Sans KR"/>
                <a:cs typeface="Noto Sans KR"/>
              </a:rPr>
              <a:t>고객 고유 공정 정보는 고객 자산으로 보호</a:t>
            </a:r>
          </a:p>
          <a:p>
            <a:pPr algn="l">
              <a:lnSpc>
                <a:spcPct val="120000"/>
              </a:lnSpc>
            </a:pPr>
            <a:r>
              <a:rPr sz="950" b="0" i="0">
                <a:solidFill>
                  <a:srgbClr val="51565E"/>
                </a:solidFill>
                <a:latin typeface="Noto Sans KR"/>
                <a:ea typeface="Noto Sans KR"/>
                <a:cs typeface="Noto Sans KR"/>
              </a:rPr>
              <a:t>Skill 개선에 쓰는 일반화 데이터만 회사 자산</a:t>
            </a:r>
          </a:p>
        </p:txBody>
      </p:sp>
      <p:sp>
        <p:nvSpPr>
          <p:cNvPr id="26" name="Rounded Rectangle 25"/>
          <p:cNvSpPr/>
          <p:nvPr/>
        </p:nvSpPr>
        <p:spPr>
          <a:xfrm>
            <a:off x="548640" y="5349240"/>
            <a:ext cx="1290447" cy="384048"/>
          </a:xfrm>
          <a:prstGeom prst="roundRect">
            <a:avLst>
              <a:gd name="adj" fmla="val 14285"/>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16181B"/>
                </a:solidFill>
                <a:latin typeface="Noto Sans KR SemiBold"/>
                <a:ea typeface="Noto Sans KR SemiBold"/>
                <a:cs typeface="Noto Sans KR SemiBold"/>
              </a:rPr>
              <a:t>OBJECT</a:t>
            </a:r>
          </a:p>
        </p:txBody>
      </p:sp>
      <p:sp>
        <p:nvSpPr>
          <p:cNvPr id="27" name="Rounded Rectangle 26"/>
          <p:cNvSpPr/>
          <p:nvPr/>
        </p:nvSpPr>
        <p:spPr>
          <a:xfrm>
            <a:off x="1948815" y="5349240"/>
            <a:ext cx="1290447" cy="384048"/>
          </a:xfrm>
          <a:prstGeom prst="roundRect">
            <a:avLst>
              <a:gd name="adj" fmla="val 14285"/>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16181B"/>
                </a:solidFill>
                <a:latin typeface="Noto Sans KR SemiBold"/>
                <a:ea typeface="Noto Sans KR SemiBold"/>
                <a:cs typeface="Noto Sans KR SemiBold"/>
              </a:rPr>
              <a:t>TOOL / INTERFACE</a:t>
            </a:r>
          </a:p>
        </p:txBody>
      </p:sp>
      <p:sp>
        <p:nvSpPr>
          <p:cNvPr id="28" name="Rounded Rectangle 27"/>
          <p:cNvSpPr/>
          <p:nvPr/>
        </p:nvSpPr>
        <p:spPr>
          <a:xfrm>
            <a:off x="3348990" y="5349240"/>
            <a:ext cx="1290447" cy="384048"/>
          </a:xfrm>
          <a:prstGeom prst="roundRect">
            <a:avLst>
              <a:gd name="adj" fmla="val 14285"/>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16181B"/>
                </a:solidFill>
                <a:latin typeface="Noto Sans KR SemiBold"/>
                <a:ea typeface="Noto Sans KR SemiBold"/>
                <a:cs typeface="Noto Sans KR SemiBold"/>
              </a:rPr>
              <a:t>GRIP</a:t>
            </a:r>
          </a:p>
        </p:txBody>
      </p:sp>
      <p:sp>
        <p:nvSpPr>
          <p:cNvPr id="29" name="Rounded Rectangle 28"/>
          <p:cNvSpPr/>
          <p:nvPr/>
        </p:nvSpPr>
        <p:spPr>
          <a:xfrm>
            <a:off x="4749165" y="5349240"/>
            <a:ext cx="1290447" cy="384048"/>
          </a:xfrm>
          <a:prstGeom prst="roundRect">
            <a:avLst>
              <a:gd name="adj" fmla="val 14285"/>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16181B"/>
                </a:solidFill>
                <a:latin typeface="Noto Sans KR SemiBold"/>
                <a:ea typeface="Noto Sans KR SemiBold"/>
                <a:cs typeface="Noto Sans KR SemiBold"/>
              </a:rPr>
              <a:t>FORCE</a:t>
            </a:r>
          </a:p>
        </p:txBody>
      </p:sp>
      <p:sp>
        <p:nvSpPr>
          <p:cNvPr id="30" name="Rounded Rectangle 29"/>
          <p:cNvSpPr/>
          <p:nvPr/>
        </p:nvSpPr>
        <p:spPr>
          <a:xfrm>
            <a:off x="6149340" y="5349240"/>
            <a:ext cx="1290447" cy="384048"/>
          </a:xfrm>
          <a:prstGeom prst="roundRect">
            <a:avLst>
              <a:gd name="adj" fmla="val 14285"/>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16181B"/>
                </a:solidFill>
                <a:latin typeface="Noto Sans KR SemiBold"/>
                <a:ea typeface="Noto Sans KR SemiBold"/>
                <a:cs typeface="Noto Sans KR SemiBold"/>
              </a:rPr>
              <a:t>POSE</a:t>
            </a:r>
          </a:p>
        </p:txBody>
      </p:sp>
      <p:sp>
        <p:nvSpPr>
          <p:cNvPr id="31" name="Rounded Rectangle 30"/>
          <p:cNvSpPr/>
          <p:nvPr/>
        </p:nvSpPr>
        <p:spPr>
          <a:xfrm>
            <a:off x="7549515" y="5349240"/>
            <a:ext cx="1290447" cy="384048"/>
          </a:xfrm>
          <a:prstGeom prst="roundRect">
            <a:avLst>
              <a:gd name="adj" fmla="val 14285"/>
            </a:avLst>
          </a:prstGeom>
          <a:solidFill>
            <a:srgbClr val="FFFFFF"/>
          </a:solidFill>
          <a:ln w="12700">
            <a:solidFill>
              <a:srgbClr val="DCDAD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16181B"/>
                </a:solidFill>
                <a:latin typeface="Noto Sans KR SemiBold"/>
                <a:ea typeface="Noto Sans KR SemiBold"/>
                <a:cs typeface="Noto Sans KR SemiBold"/>
              </a:rPr>
              <a:t>MOTION</a:t>
            </a:r>
          </a:p>
        </p:txBody>
      </p:sp>
      <p:sp>
        <p:nvSpPr>
          <p:cNvPr id="32" name="Rounded Rectangle 31"/>
          <p:cNvSpPr/>
          <p:nvPr/>
        </p:nvSpPr>
        <p:spPr>
          <a:xfrm>
            <a:off x="8949690" y="5349240"/>
            <a:ext cx="1290447" cy="384048"/>
          </a:xfrm>
          <a:prstGeom prst="roundRect">
            <a:avLst>
              <a:gd name="adj" fmla="val 14285"/>
            </a:avLst>
          </a:prstGeom>
          <a:solidFill>
            <a:srgbClr val="FFFFFF"/>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C7A3C"/>
                </a:solidFill>
                <a:latin typeface="Noto Sans KR SemiBold"/>
                <a:ea typeface="Noto Sans KR SemiBold"/>
                <a:cs typeface="Noto Sans KR SemiBold"/>
              </a:rPr>
              <a:t>FAILURE</a:t>
            </a:r>
          </a:p>
        </p:txBody>
      </p:sp>
      <p:sp>
        <p:nvSpPr>
          <p:cNvPr id="33" name="Rounded Rectangle 32"/>
          <p:cNvSpPr/>
          <p:nvPr/>
        </p:nvSpPr>
        <p:spPr>
          <a:xfrm>
            <a:off x="10349865" y="5349240"/>
            <a:ext cx="1290447" cy="384048"/>
          </a:xfrm>
          <a:prstGeom prst="roundRect">
            <a:avLst>
              <a:gd name="adj" fmla="val 14285"/>
            </a:avLst>
          </a:prstGeom>
          <a:solidFill>
            <a:srgbClr val="FFFFFF"/>
          </a:solidFill>
          <a:ln w="12700">
            <a:solidFill>
              <a:srgbClr val="EC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noAutofit/>
          </a:bodyPr>
          <a:lstStyle/>
          <a:p>
            <a:pPr algn="ctr">
              <a:lnSpc>
                <a:spcPct val="105000"/>
              </a:lnSpc>
            </a:pPr>
            <a:r>
              <a:rPr sz="850" b="0" i="0">
                <a:solidFill>
                  <a:srgbClr val="EC7A3C"/>
                </a:solidFill>
                <a:latin typeface="Noto Sans KR SemiBold"/>
                <a:ea typeface="Noto Sans KR SemiBold"/>
                <a:cs typeface="Noto Sans KR SemiBold"/>
              </a:rPr>
              <a:t>RECOVERY</a:t>
            </a:r>
          </a:p>
        </p:txBody>
      </p:sp>
      <p:sp>
        <p:nvSpPr>
          <p:cNvPr id="34" name="TextBox 33"/>
          <p:cNvSpPr txBox="1"/>
          <p:nvPr/>
        </p:nvSpPr>
        <p:spPr>
          <a:xfrm>
            <a:off x="548640" y="5870448"/>
            <a:ext cx="11091672" cy="365760"/>
          </a:xfrm>
          <a:prstGeom prst="rect">
            <a:avLst/>
          </a:prstGeom>
          <a:noFill/>
        </p:spPr>
        <p:txBody>
          <a:bodyPr wrap="square" lIns="0" rIns="0" tIns="0" bIns="0" anchor="t">
            <a:noAutofit/>
          </a:bodyPr>
          <a:lstStyle/>
          <a:p>
            <a:pPr algn="l">
              <a:lnSpc>
                <a:spcPct val="115000"/>
              </a:lnSpc>
            </a:pPr>
            <a:r>
              <a:rPr sz="900" b="0" i="0">
                <a:solidFill>
                  <a:srgbClr val="51565E"/>
                </a:solidFill>
                <a:latin typeface="Noto Sans KR"/>
                <a:ea typeface="Noto Sans KR"/>
                <a:cs typeface="Noto Sans KR"/>
              </a:rPr>
              <a:t>성공 영상이 아니라 "어떤 상황에서 실패했고 어떻게 복구했는가"를 축적하는 것이 목표 — Data Flywheel은 Productization Loop와 Skill Portability가 검증된 이후의 보조 해자다.</a:t>
            </a:r>
          </a:p>
        </p:txBody>
      </p:sp>
      <p:sp>
        <p:nvSpPr>
          <p:cNvPr id="35"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36"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A13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A14  ·  Robot Kitchen</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Robot Kitchen: Seed 범위 · 경제성 · 안전</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Future Application — Seed 매출 목표가 아닌 Technology Demonstrator의 설계 조건</a:t>
            </a:r>
          </a:p>
        </p:txBody>
      </p:sp>
      <p:graphicFrame>
        <p:nvGraphicFramePr>
          <p:cNvPr id="6" name="Kitchen scope table"/>
          <p:cNvGraphicFramePr>
            <a:graphicFrameLocks noGrp="1"/>
          </p:cNvGraphicFramePr>
          <p:nvPr/>
        </p:nvGraphicFramePr>
        <p:xfrm>
          <a:off x="548640" y="1572768"/>
          <a:ext cx="6400800" cy="2615184"/>
        </p:xfrm>
        <a:graphic>
          <a:graphicData uri="http://schemas.openxmlformats.org/drawingml/2006/table">
            <a:tbl>
              <a:tblPr firstRow="0" bandRow="0">
                <a:tableStyleId>{5C22544A-7EE6-4342-B048-85BDC9FD1C3A}</a:tableStyleId>
              </a:tblPr>
              <a:tblGrid>
                <a:gridCol w="1188720"/>
                <a:gridCol w="2514600"/>
                <a:gridCol w="2697480"/>
              </a:tblGrid>
              <a:tr h="329184">
                <a:tc>
                  <a:txBody>
                    <a:bodyPr wrap="square"/>
                    <a:lstStyle/>
                    <a:p>
                      <a:pPr algn="l">
                        <a:lnSpc>
                          <a:spcPct val="105000"/>
                        </a:lnSpc>
                      </a:pPr>
                      <a:r>
                        <a:rPr sz="950" b="0" i="0" spc="40">
                          <a:solidFill>
                            <a:srgbClr val="16181B"/>
                          </a:solidFill>
                          <a:latin typeface="Noto Sans KR SemiBold"/>
                          <a:ea typeface="Noto Sans KR SemiBold"/>
                          <a:cs typeface="Noto Sans KR SemiBold"/>
                        </a:rPr>
                        <a:t>구분</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Seed (M18~M24)</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spc="40">
                          <a:solidFill>
                            <a:srgbClr val="16181B"/>
                          </a:solidFill>
                          <a:latin typeface="Noto Sans KR SemiBold"/>
                          <a:ea typeface="Noto Sans KR SemiBold"/>
                          <a:cs typeface="Noto Sans KR SemiBold"/>
                        </a:rPr>
                        <a:t>Series A 이후 (Future Vision)</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950" b="0" i="0">
                          <a:solidFill>
                            <a:srgbClr val="16181B"/>
                          </a:solidFill>
                          <a:latin typeface="Noto Sans KR SemiBold"/>
                          <a:ea typeface="Noto Sans KR SemiBold"/>
                          <a:cs typeface="Noto Sans KR SemiBold"/>
                        </a:rPr>
                        <a:t>형태</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Single-arm · Bench-scale Demo</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Ceiling Rail · Dual-arm Full Kitchen</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950" b="0" i="0">
                          <a:solidFill>
                            <a:srgbClr val="16181B"/>
                          </a:solidFill>
                          <a:latin typeface="Noto Sans KR SemiBold"/>
                          <a:ea typeface="Noto Sans KR SemiBold"/>
                          <a:cs typeface="Noto Sans KR SemiBold"/>
                        </a:rPr>
                        <a:t>대표 작업</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Handle · Tongs · Pan · Plate</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재료 투입 · 세척 · 가열 · 배식 · 수납</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950" b="0" i="0">
                          <a:solidFill>
                            <a:srgbClr val="16181B"/>
                          </a:solidFill>
                          <a:latin typeface="Noto Sans KR SemiBold"/>
                          <a:ea typeface="Noto Sans KR SemiBold"/>
                          <a:cs typeface="Noto Sans KR SemiBold"/>
                        </a:rPr>
                        <a:t>Hardware</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기존 Robot Platform 활용 (추가 구매 없음)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Robot Arm Loan · Partner Hardware · 공동개발 전제</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950" b="0" i="0">
                          <a:solidFill>
                            <a:srgbClr val="16181B"/>
                          </a:solidFill>
                          <a:latin typeface="Noto Sans KR SemiBold"/>
                          <a:ea typeface="Noto Sans KR SemiBold"/>
                          <a:cs typeface="Noto Sans KR SemiBold"/>
                        </a:rPr>
                        <a:t>예산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₩0.3억 (기존 ₩0.5억에서 축소)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파트너 확보 후 별도 산정</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950" b="0" i="0">
                          <a:solidFill>
                            <a:srgbClr val="16181B"/>
                          </a:solidFill>
                          <a:latin typeface="Noto Sans KR SemiBold"/>
                          <a:ea typeface="Noto Sans KR SemiBold"/>
                          <a:cs typeface="Noto Sans KR SemiBold"/>
                        </a:rPr>
                        <a:t>전제 조건</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없음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950" b="0" i="0">
                          <a:solidFill>
                            <a:srgbClr val="51565E"/>
                          </a:solidFill>
                          <a:latin typeface="Noto Sans KR"/>
                          <a:ea typeface="Noto Sans KR"/>
                          <a:cs typeface="Noto Sans KR"/>
                        </a:rPr>
                        <a:t>실제 파트너 · 공동개발 계약 (현재 미확보)</a:t>
                      </a:r>
                    </a:p>
                  </a:txBody>
                  <a:tcPr marL="73152" marR="54864" marT="27432" marB="27432" anchor="ctr">
                    <a:lnL w="9525">
                      <a:noFill/>
                    </a:lnL>
                    <a:lnR w="9525">
                      <a:noFill/>
                    </a:lnR>
                    <a:lnT w="9525">
                      <a:noFill/>
                    </a:lnT>
                    <a:lnB w="9525">
                      <a:solidFill>
                        <a:srgbClr val="DCDAD5"/>
                      </a:solidFill>
                    </a:lnB>
                    <a:noFill/>
                  </a:tcPr>
                </a:tc>
              </a:tr>
            </a:tbl>
          </a:graphicData>
        </a:graphic>
      </p:graphicFrame>
      <p:pic>
        <p:nvPicPr>
          <p:cNvPr id="7" name="Future vision kitchen rendering" descr="hero05_ceiling_dual_arm_kitchen.png"/>
          <p:cNvPicPr>
            <a:picLocks noChangeAspect="1"/>
          </p:cNvPicPr>
          <p:nvPr/>
        </p:nvPicPr>
        <p:blipFill>
          <a:blip r:embed="rId2"/>
          <a:stretch>
            <a:fillRect/>
          </a:stretch>
        </p:blipFill>
        <p:spPr>
          <a:xfrm>
            <a:off x="548640" y="4343400"/>
            <a:ext cx="2514600" cy="1414462"/>
          </a:xfrm>
          <a:prstGeom prst="rect">
            <a:avLst/>
          </a:prstGeom>
        </p:spPr>
      </p:pic>
      <p:sp>
        <p:nvSpPr>
          <p:cNvPr id="8" name="TextBox 7"/>
          <p:cNvSpPr txBox="1"/>
          <p:nvPr/>
        </p:nvSpPr>
        <p:spPr>
          <a:xfrm>
            <a:off x="3200400" y="4389120"/>
            <a:ext cx="3749040" cy="822960"/>
          </a:xfrm>
          <a:prstGeom prst="rect">
            <a:avLst/>
          </a:prstGeom>
          <a:noFill/>
        </p:spPr>
        <p:txBody>
          <a:bodyPr wrap="square" lIns="0" rIns="0" tIns="0" bIns="0" anchor="t">
            <a:noAutofit/>
          </a:bodyPr>
          <a:lstStyle/>
          <a:p>
            <a:pPr algn="l">
              <a:lnSpc>
                <a:spcPct val="120000"/>
              </a:lnSpc>
            </a:pPr>
            <a:r>
              <a:rPr sz="850" b="0" i="0">
                <a:solidFill>
                  <a:srgbClr val="51565E"/>
                </a:solidFill>
                <a:latin typeface="Noto Sans KR"/>
                <a:ea typeface="Noto Sans KR"/>
                <a:cs typeface="Noto Sans KR"/>
              </a:rPr>
              <a:t>FUTURE VISION · CONCEPT RENDERING</a:t>
            </a:r>
          </a:p>
          <a:p>
            <a:pPr algn="l">
              <a:lnSpc>
                <a:spcPct val="120000"/>
              </a:lnSpc>
            </a:pPr>
            <a:r>
              <a:rPr sz="850" b="0" i="0">
                <a:solidFill>
                  <a:srgbClr val="51565E"/>
                </a:solidFill>
                <a:latin typeface="Noto Sans KR"/>
                <a:ea typeface="Noto Sans KR"/>
                <a:cs typeface="Noto Sans KR"/>
              </a:rPr>
              <a:t>천장형 양팔 Full Kitchen은 Series A 이후 비전이며, 실제 파트너 전제가 생긴 뒤 진행한다</a:t>
            </a:r>
          </a:p>
        </p:txBody>
      </p:sp>
      <p:sp>
        <p:nvSpPr>
          <p:cNvPr id="9" name="Light card"/>
          <p:cNvSpPr/>
          <p:nvPr/>
        </p:nvSpPr>
        <p:spPr>
          <a:xfrm>
            <a:off x="7178040" y="1572768"/>
            <a:ext cx="4462272" cy="2651760"/>
          </a:xfrm>
          <a:prstGeom prst="roundRect">
            <a:avLst>
              <a:gd name="adj" fmla="val 2758"/>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60920" y="1719072"/>
            <a:ext cx="414223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CUSTOMER ROI — ILLUSTRATIVE (가정)</a:t>
            </a:r>
          </a:p>
        </p:txBody>
      </p:sp>
      <p:sp>
        <p:nvSpPr>
          <p:cNvPr id="11" name="TextBox 10"/>
          <p:cNvSpPr txBox="1"/>
          <p:nvPr/>
        </p:nvSpPr>
        <p:spPr>
          <a:xfrm>
            <a:off x="7360920" y="1993392"/>
            <a:ext cx="4114800" cy="2286000"/>
          </a:xfrm>
          <a:prstGeom prst="rect">
            <a:avLst/>
          </a:prstGeom>
          <a:noFill/>
        </p:spPr>
        <p:txBody>
          <a:bodyPr wrap="square" lIns="0" rIns="0" tIns="0" bIns="0" anchor="t">
            <a:noAutofit/>
          </a:bodyPr>
          <a:lstStyle/>
          <a:p>
            <a:pPr algn="l">
              <a:lnSpc>
                <a:spcPct val="125000"/>
              </a:lnSpc>
            </a:pPr>
            <a:r>
              <a:rPr sz="950" b="0" i="0">
                <a:solidFill>
                  <a:srgbClr val="51565E"/>
                </a:solidFill>
                <a:latin typeface="Noto Sans KR"/>
                <a:ea typeface="Noto Sans KR"/>
                <a:cs typeface="Noto Sans KR"/>
              </a:rPr>
              <a:t>셀 투자 ₩2억 · 인건비 ₩2.5만/h · 연 300일 · 추가 운영비 ₩1,000만/년</a:t>
            </a:r>
          </a:p>
          <a:p>
            <a:pPr algn="l">
              <a:lnSpc>
                <a:spcPct val="125000"/>
              </a:lnSpc>
            </a:pPr>
            <a:r>
              <a:rPr sz="950" b="0" i="0">
                <a:solidFill>
                  <a:srgbClr val="16181B"/>
                </a:solidFill>
                <a:latin typeface="Noto Sans KR SemiBold"/>
                <a:ea typeface="Noto Sans KR SemiBold"/>
                <a:cs typeface="Noto Sans KR SemiBold"/>
              </a:rPr>
              <a:t>6h/일 절감  </a:t>
            </a:r>
            <a:r>
              <a:rPr sz="950" b="0" i="0">
                <a:solidFill>
                  <a:srgbClr val="51565E"/>
                </a:solidFill>
                <a:latin typeface="Noto Sans KR"/>
                <a:ea typeface="Noto Sans KR"/>
                <a:cs typeface="Noto Sans KR"/>
              </a:rPr>
              <a:t>연 순절감 ₩3,500만 → 단순 회수 ≈ 5.7년</a:t>
            </a:r>
          </a:p>
          <a:p>
            <a:pPr algn="l">
              <a:lnSpc>
                <a:spcPct val="125000"/>
              </a:lnSpc>
            </a:pPr>
            <a:r>
              <a:rPr sz="950" b="0" i="0">
                <a:solidFill>
                  <a:srgbClr val="16181B"/>
                </a:solidFill>
                <a:latin typeface="Noto Sans KR SemiBold"/>
                <a:ea typeface="Noto Sans KR SemiBold"/>
                <a:cs typeface="Noto Sans KR SemiBold"/>
              </a:rPr>
              <a:t>10h/일 절감  </a:t>
            </a:r>
            <a:r>
              <a:rPr sz="950" b="0" i="0">
                <a:solidFill>
                  <a:srgbClr val="51565E"/>
                </a:solidFill>
                <a:latin typeface="Noto Sans KR"/>
                <a:ea typeface="Noto Sans KR"/>
                <a:cs typeface="Noto Sans KR"/>
              </a:rPr>
              <a:t>연 순절감 ₩6,500만 → 단순 회수 ≈ 3.1년</a:t>
            </a:r>
          </a:p>
          <a:p>
            <a:pPr algn="l">
              <a:lnSpc>
                <a:spcPct val="125000"/>
              </a:lnSpc>
            </a:pPr>
            <a:r>
              <a:rPr sz="950" b="0" i="0">
                <a:solidFill>
                  <a:srgbClr val="51565E"/>
                </a:solidFill>
                <a:latin typeface="Noto Sans KR"/>
                <a:ea typeface="Noto Sans KR"/>
                <a:cs typeface="Noto Sans KR"/>
              </a:rPr>
              <a:t>→ 회수기간이 가동률에 민감 · 초기 매출 엔진으로 두지 않음</a:t>
            </a:r>
          </a:p>
          <a:p>
            <a:pPr algn="l">
              <a:lnSpc>
                <a:spcPct val="125000"/>
              </a:lnSpc>
            </a:pPr>
            <a:r>
              <a:rPr sz="950" b="0" i="0">
                <a:solidFill>
                  <a:srgbClr val="51565E"/>
                </a:solidFill>
                <a:latin typeface="Noto Sans KR"/>
                <a:ea typeface="Noto Sans KR"/>
                <a:cs typeface="Noto Sans KR"/>
              </a:rPr>
              <a:t>→ 금융 · 세금 · 잔존가치 제외</a:t>
            </a:r>
          </a:p>
        </p:txBody>
      </p:sp>
      <p:sp>
        <p:nvSpPr>
          <p:cNvPr id="12" name="Light card"/>
          <p:cNvSpPr/>
          <p:nvPr/>
        </p:nvSpPr>
        <p:spPr>
          <a:xfrm>
            <a:off x="7178040" y="4343400"/>
            <a:ext cx="4462272" cy="1600200"/>
          </a:xfrm>
          <a:prstGeom prst="roundRect">
            <a:avLst>
              <a:gd name="adj" fmla="val 4571"/>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360920" y="4489704"/>
            <a:ext cx="4142232"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LOAD · SAFETY</a:t>
            </a:r>
          </a:p>
        </p:txBody>
      </p:sp>
      <p:sp>
        <p:nvSpPr>
          <p:cNvPr id="14" name="TextBox 13"/>
          <p:cNvSpPr txBox="1"/>
          <p:nvPr/>
        </p:nvSpPr>
        <p:spPr>
          <a:xfrm>
            <a:off x="7360920" y="4764024"/>
            <a:ext cx="4114800" cy="1280160"/>
          </a:xfrm>
          <a:prstGeom prst="rect">
            <a:avLst/>
          </a:prstGeom>
          <a:noFill/>
        </p:spPr>
        <p:txBody>
          <a:bodyPr wrap="square" lIns="0" rIns="0" tIns="0" bIns="0" anchor="t">
            <a:noAutofit/>
          </a:bodyPr>
          <a:lstStyle/>
          <a:p>
            <a:pPr algn="l">
              <a:lnSpc>
                <a:spcPct val="120000"/>
              </a:lnSpc>
            </a:pPr>
            <a:r>
              <a:rPr sz="900" b="0" i="0">
                <a:solidFill>
                  <a:srgbClr val="51565E"/>
                </a:solidFill>
                <a:latin typeface="Noto Sans KR"/>
                <a:ea typeface="Noto Sans KR"/>
                <a:cs typeface="Noto Sans KR"/>
              </a:rPr>
              <a:t>3kg 냄비, 무게중심 0.20m → 정적 모멘트 ≈ 5.9 N·m → 큰 냄비는 양손 · 거치대 보조</a:t>
            </a:r>
          </a:p>
          <a:p>
            <a:pPr algn="l">
              <a:lnSpc>
                <a:spcPct val="120000"/>
              </a:lnSpc>
            </a:pPr>
            <a:r>
              <a:rPr sz="900" b="0" i="0">
                <a:solidFill>
                  <a:srgbClr val="51565E"/>
                </a:solidFill>
                <a:latin typeface="Noto Sans KR"/>
                <a:ea typeface="Noto Sans KR"/>
                <a:cs typeface="Noto Sans KR"/>
              </a:rPr>
              <a:t>고온 도구 · 칼 · 튀김: 차폐 · 접근 제한 · 독립 인터록 충족 전 기능 비활성</a:t>
            </a:r>
          </a:p>
        </p:txBody>
      </p:sp>
      <p:sp>
        <p:nvSpPr>
          <p:cNvPr id="15"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16"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A14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A15  ·  Safety · IP</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안전 · 인증 · IP 전략</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인증 · 권리 확보 전에는 적합성 · 독자성 · 세계 최초를 주장하지 않는다</a:t>
            </a:r>
          </a:p>
        </p:txBody>
      </p:sp>
      <p:sp>
        <p:nvSpPr>
          <p:cNvPr id="6" name="Light card"/>
          <p:cNvSpPr/>
          <p:nvPr/>
        </p:nvSpPr>
        <p:spPr>
          <a:xfrm>
            <a:off x="548640" y="1572768"/>
            <a:ext cx="5440680" cy="3931920"/>
          </a:xfrm>
          <a:prstGeom prst="roundRect">
            <a:avLst>
              <a:gd name="adj" fmla="val 1860"/>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719072"/>
            <a:ext cx="5120640"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SAFETY · MACHINE TENDING CELL</a:t>
            </a:r>
          </a:p>
        </p:txBody>
      </p:sp>
      <p:sp>
        <p:nvSpPr>
          <p:cNvPr id="8" name="TextBox 7"/>
          <p:cNvSpPr txBox="1"/>
          <p:nvPr/>
        </p:nvSpPr>
        <p:spPr>
          <a:xfrm>
            <a:off x="731520" y="1993392"/>
            <a:ext cx="5120640" cy="3840480"/>
          </a:xfrm>
          <a:prstGeom prst="rect">
            <a:avLst/>
          </a:prstGeom>
          <a:noFill/>
        </p:spPr>
        <p:txBody>
          <a:bodyPr wrap="square" lIns="0" rIns="0" tIns="0" bIns="0" anchor="t">
            <a:noAutofit/>
          </a:bodyPr>
          <a:lstStyle/>
          <a:p>
            <a:pPr algn="l">
              <a:lnSpc>
                <a:spcPct val="140000"/>
              </a:lnSpc>
              <a:spcAft>
                <a:spcPts val="600"/>
              </a:spcAft>
            </a:pPr>
            <a:r>
              <a:rPr sz="1100" b="0" i="0">
                <a:solidFill>
                  <a:srgbClr val="51565E"/>
                </a:solidFill>
                <a:latin typeface="Noto Sans KR"/>
                <a:ea typeface="Noto Sans KR"/>
                <a:cs typeface="Noto Sans KR"/>
              </a:rPr>
              <a:t>Soft Hand를 달아도 Cell 전체가 자동으로 안전해지지 않는다 → 설비 · 공구 · 소재 · 이동 범위를 포함한 통합 위험성 평가</a:t>
            </a:r>
          </a:p>
          <a:p>
            <a:pPr algn="l">
              <a:lnSpc>
                <a:spcPct val="140000"/>
              </a:lnSpc>
              <a:spcAft>
                <a:spcPts val="600"/>
              </a:spcAft>
            </a:pPr>
            <a:r>
              <a:rPr sz="1100" b="0" i="0">
                <a:solidFill>
                  <a:srgbClr val="51565E"/>
                </a:solidFill>
                <a:latin typeface="Noto Sans KR"/>
                <a:ea typeface="Noto Sans KR"/>
                <a:cs typeface="Noto Sans KR"/>
              </a:rPr>
              <a:t>적용 검토: ISO 10218-2:2025 (산업용 로봇 응용 · 로봇 Cell 안전)</a:t>
            </a:r>
          </a:p>
          <a:p>
            <a:pPr algn="l">
              <a:lnSpc>
                <a:spcPct val="140000"/>
              </a:lnSpc>
              <a:spcAft>
                <a:spcPts val="600"/>
              </a:spcAft>
            </a:pPr>
            <a:r>
              <a:rPr sz="1100" b="0" i="0">
                <a:solidFill>
                  <a:srgbClr val="51565E"/>
                </a:solidFill>
                <a:latin typeface="Noto Sans KR"/>
                <a:ea typeface="Noto Sans KR"/>
                <a:cs typeface="Noto Sans KR"/>
              </a:rPr>
              <a:t>Robot이 설비 Door를 여는 경우에도 설비의 안전 인터록은 우회하지 않는다 — 사람 작업자와 같은 조건으로 운전</a:t>
            </a:r>
          </a:p>
          <a:p>
            <a:pPr algn="l">
              <a:lnSpc>
                <a:spcPct val="140000"/>
              </a:lnSpc>
              <a:spcAft>
                <a:spcPts val="600"/>
              </a:spcAft>
            </a:pPr>
            <a:r>
              <a:rPr sz="1100" b="0" i="0">
                <a:solidFill>
                  <a:srgbClr val="51565E"/>
                </a:solidFill>
                <a:latin typeface="Noto Sans KR"/>
                <a:ea typeface="Noto Sans KR"/>
                <a:cs typeface="Noto Sans KR"/>
              </a:rPr>
              <a:t>절삭유 · 분진 환경의 접촉부 재질 · 센서 신뢰성 별도 검증</a:t>
            </a:r>
          </a:p>
          <a:p>
            <a:pPr algn="l">
              <a:lnSpc>
                <a:spcPct val="140000"/>
              </a:lnSpc>
              <a:spcAft>
                <a:spcPts val="600"/>
              </a:spcAft>
            </a:pPr>
            <a:r>
              <a:rPr sz="1100" b="0" i="0">
                <a:solidFill>
                  <a:srgbClr val="51565E"/>
                </a:solidFill>
                <a:latin typeface="Noto Sans KR"/>
                <a:ea typeface="Noto Sans KR"/>
                <a:cs typeface="Noto Sans KR"/>
              </a:rPr>
              <a:t>주방 확장 시 식품접촉 · 세척 · 내열 요구는 판매국별로 시험기관과 결정 (IP 등급 ≠ 위생 적합성)</a:t>
            </a:r>
          </a:p>
        </p:txBody>
      </p:sp>
      <p:sp>
        <p:nvSpPr>
          <p:cNvPr id="9" name="Light card"/>
          <p:cNvSpPr/>
          <p:nvPr/>
        </p:nvSpPr>
        <p:spPr>
          <a:xfrm>
            <a:off x="6199632" y="1572768"/>
            <a:ext cx="5440680" cy="3931920"/>
          </a:xfrm>
          <a:prstGeom prst="roundRect">
            <a:avLst>
              <a:gd name="adj" fmla="val 1860"/>
            </a:avLst>
          </a:prstGeom>
          <a:solidFill>
            <a:srgbClr val="FFFFFF"/>
          </a:solidFill>
          <a:ln>
            <a:noFill/>
          </a:ln>
          <a:effectLst>
            <a:outerShdw blurRad="76200" dist="1905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82512" y="1719072"/>
            <a:ext cx="5120640" cy="201168"/>
          </a:xfrm>
          <a:prstGeom prst="rect">
            <a:avLst/>
          </a:prstGeom>
          <a:noFill/>
        </p:spPr>
        <p:txBody>
          <a:bodyPr wrap="square" lIns="0" rIns="0" tIns="0" bIns="0" anchor="t">
            <a:noAutofit/>
          </a:bodyPr>
          <a:lstStyle/>
          <a:p>
            <a:pPr algn="l">
              <a:lnSpc>
                <a:spcPct val="112000"/>
              </a:lnSpc>
            </a:pPr>
            <a:r>
              <a:rPr sz="900" b="0" i="0" spc="100">
                <a:solidFill>
                  <a:srgbClr val="EC7A3C"/>
                </a:solidFill>
                <a:latin typeface="Noto Sans KR SemiBold"/>
                <a:ea typeface="Noto Sans KR SemiBold"/>
                <a:cs typeface="Noto Sans KR SemiBold"/>
              </a:rPr>
              <a:t>IP · TRADE SECRETS (PLANNED)</a:t>
            </a:r>
          </a:p>
        </p:txBody>
      </p:sp>
      <p:sp>
        <p:nvSpPr>
          <p:cNvPr id="11" name="TextBox 10"/>
          <p:cNvSpPr txBox="1"/>
          <p:nvPr/>
        </p:nvSpPr>
        <p:spPr>
          <a:xfrm>
            <a:off x="6382512" y="1993392"/>
            <a:ext cx="5120640" cy="3840480"/>
          </a:xfrm>
          <a:prstGeom prst="rect">
            <a:avLst/>
          </a:prstGeom>
          <a:noFill/>
        </p:spPr>
        <p:txBody>
          <a:bodyPr wrap="square" lIns="0" rIns="0" tIns="0" bIns="0" anchor="t">
            <a:noAutofit/>
          </a:bodyPr>
          <a:lstStyle/>
          <a:p>
            <a:pPr algn="l">
              <a:lnSpc>
                <a:spcPct val="130000"/>
              </a:lnSpc>
            </a:pPr>
            <a:r>
              <a:rPr sz="1050" b="0" i="0">
                <a:solidFill>
                  <a:srgbClr val="16181B"/>
                </a:solidFill>
                <a:latin typeface="Noto Sans KR SemiBold"/>
                <a:ea typeface="Noto Sans KR SemiBold"/>
                <a:cs typeface="Noto Sans KR SemiBold"/>
              </a:rPr>
              <a:t>출원 후보 </a:t>
            </a:r>
          </a:p>
          <a:p>
            <a:pPr algn="l">
              <a:lnSpc>
                <a:spcPct val="130000"/>
              </a:lnSpc>
            </a:pPr>
            <a:r>
              <a:rPr sz="1050" b="0" i="0">
                <a:solidFill>
                  <a:srgbClr val="51565E"/>
                </a:solidFill>
                <a:latin typeface="Noto Sans KR"/>
                <a:ea typeface="Noto Sans KR"/>
                <a:cs typeface="Noto Sans KR"/>
              </a:rPr>
              <a:t>대향 Thumb · 관절 순응 / 잠금 구조 · 교체형 손끝 · 밀봉 구조</a:t>
            </a:r>
          </a:p>
          <a:p>
            <a:pPr algn="l">
              <a:lnSpc>
                <a:spcPct val="130000"/>
              </a:lnSpc>
            </a:pPr>
            <a:r>
              <a:rPr sz="1050" b="0" i="0">
                <a:solidFill>
                  <a:srgbClr val="51565E"/>
                </a:solidFill>
                <a:latin typeface="Noto Sans KR"/>
                <a:ea typeface="Noto Sans KR"/>
                <a:cs typeface="Noto Sans KR"/>
              </a:rPr>
              <a:t>사람용 Interface 조작을 위한 Hand-Skill 구조 · Robot 독립 Task Skill 표현 · Calibration 이식 방법</a:t>
            </a:r>
          </a:p>
          <a:p>
            <a:pPr algn="l">
              <a:lnSpc>
                <a:spcPct val="130000"/>
              </a:lnSpc>
            </a:pPr>
            <a:r>
              <a:rPr sz="1050" b="0" i="0">
                <a:solidFill>
                  <a:srgbClr val="51565E"/>
                </a:solidFill>
                <a:latin typeface="Noto Sans KR"/>
                <a:ea typeface="Noto Sans KR"/>
                <a:cs typeface="Noto Sans KR"/>
              </a:rPr>
              <a:t/>
            </a:r>
          </a:p>
          <a:p>
            <a:pPr algn="l">
              <a:lnSpc>
                <a:spcPct val="130000"/>
              </a:lnSpc>
            </a:pPr>
            <a:r>
              <a:rPr sz="1050" b="0" i="0">
                <a:solidFill>
                  <a:srgbClr val="16181B"/>
                </a:solidFill>
                <a:latin typeface="Noto Sans KR SemiBold"/>
                <a:ea typeface="Noto Sans KR SemiBold"/>
                <a:cs typeface="Noto Sans KR SemiBold"/>
              </a:rPr>
              <a:t>영업비밀 후보</a:t>
            </a:r>
          </a:p>
          <a:p>
            <a:pPr algn="l">
              <a:lnSpc>
                <a:spcPct val="130000"/>
              </a:lnSpc>
            </a:pPr>
            <a:r>
              <a:rPr sz="1050" b="0" i="0">
                <a:solidFill>
                  <a:srgbClr val="51565E"/>
                </a:solidFill>
                <a:latin typeface="Noto Sans KR"/>
                <a:ea typeface="Noto Sans KR"/>
                <a:cs typeface="Noto Sans KR"/>
              </a:rPr>
              <a:t>데이터 정제 · 장력 보정 · 실패 복구 Parameter</a:t>
            </a:r>
          </a:p>
          <a:p>
            <a:pPr algn="l">
              <a:lnSpc>
                <a:spcPct val="130000"/>
              </a:lnSpc>
            </a:pPr>
            <a:r>
              <a:rPr sz="1050" b="0" i="0">
                <a:solidFill>
                  <a:srgbClr val="51565E"/>
                </a:solidFill>
                <a:latin typeface="Noto Sans KR"/>
                <a:ea typeface="Noto Sans KR"/>
                <a:cs typeface="Noto Sans KR"/>
              </a:rPr>
              <a:t/>
            </a:r>
          </a:p>
          <a:p>
            <a:pPr algn="l">
              <a:lnSpc>
                <a:spcPct val="130000"/>
              </a:lnSpc>
            </a:pPr>
            <a:r>
              <a:rPr sz="1050" b="0" i="0">
                <a:solidFill>
                  <a:srgbClr val="16181B"/>
                </a:solidFill>
                <a:latin typeface="Noto Sans KR SemiBold"/>
                <a:ea typeface="Noto Sans KR SemiBold"/>
                <a:cs typeface="Noto Sans KR SemiBold"/>
              </a:rPr>
              <a:t>원칙</a:t>
            </a:r>
          </a:p>
          <a:p>
            <a:pPr algn="l">
              <a:lnSpc>
                <a:spcPct val="130000"/>
              </a:lnSpc>
            </a:pPr>
            <a:r>
              <a:rPr sz="1050" b="0" i="0">
                <a:solidFill>
                  <a:srgbClr val="51565E"/>
                </a:solidFill>
                <a:latin typeface="Noto Sans KR"/>
                <a:ea typeface="Noto Sans KR"/>
                <a:cs typeface="Noto Sans KR"/>
              </a:rPr>
              <a:t>선행기술 조사 · 권리범위 검토(FTO) 후 출원 — 그 전에는 비침해 · 독자성 주장 금지</a:t>
            </a:r>
          </a:p>
          <a:p>
            <a:pPr algn="l">
              <a:lnSpc>
                <a:spcPct val="130000"/>
              </a:lnSpc>
            </a:pPr>
            <a:r>
              <a:rPr sz="1050" b="0" i="0">
                <a:solidFill>
                  <a:srgbClr val="51565E"/>
                </a:solidFill>
                <a:latin typeface="Noto Sans KR"/>
                <a:ea typeface="Noto Sans KR"/>
                <a:cs typeface="Noto Sans KR"/>
              </a:rPr>
              <a:t>오픈소스 모델 · 라이브러리 상업 이용 조건 출시 전 확인</a:t>
            </a:r>
          </a:p>
          <a:p>
            <a:pPr algn="l">
              <a:lnSpc>
                <a:spcPct val="130000"/>
              </a:lnSpc>
            </a:pPr>
            <a:r>
              <a:rPr sz="1050" b="0" i="0">
                <a:solidFill>
                  <a:srgbClr val="EC7A3C"/>
                </a:solidFill>
                <a:latin typeface="Noto Sans KR SemiBold"/>
                <a:ea typeface="Noto Sans KR SemiBold"/>
                <a:cs typeface="Noto Sans KR SemiBold"/>
              </a:rPr>
              <a:t>현재 특허 출원 없음 </a:t>
            </a:r>
            <a:r>
              <a:rPr sz="1050" b="0" i="0">
                <a:solidFill>
                  <a:srgbClr val="51565E"/>
                </a:solidFill>
                <a:latin typeface="Noto Sans KR"/>
                <a:ea typeface="Noto Sans KR"/>
                <a:cs typeface="Noto Sans KR"/>
              </a:rPr>
              <a:t>· 예산: 제조 · 품질 · 안전 · IP ₩1.1억</a:t>
            </a:r>
          </a:p>
        </p:txBody>
      </p:sp>
      <p:sp>
        <p:nvSpPr>
          <p:cNvPr id="12"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13"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A15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A16  ·  Risk</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주요 위험과 대응 · 판정 기준</a:t>
            </a:r>
          </a:p>
        </p:txBody>
      </p:sp>
      <p:graphicFrame>
        <p:nvGraphicFramePr>
          <p:cNvPr id="5" name="Risk table"/>
          <p:cNvGraphicFramePr>
            <a:graphicFrameLocks noGrp="1"/>
          </p:cNvGraphicFramePr>
          <p:nvPr/>
        </p:nvGraphicFramePr>
        <p:xfrm>
          <a:off x="548640" y="1325880"/>
          <a:ext cx="11091671" cy="4443984"/>
        </p:xfrm>
        <a:graphic>
          <a:graphicData uri="http://schemas.openxmlformats.org/drawingml/2006/table">
            <a:tbl>
              <a:tblPr firstRow="0" bandRow="0">
                <a:tableStyleId>{5C22544A-7EE6-4342-B048-85BDC9FD1C3A}</a:tableStyleId>
              </a:tblPr>
              <a:tblGrid>
                <a:gridCol w="2383334"/>
                <a:gridCol w="2750001"/>
                <a:gridCol w="5958336"/>
              </a:tblGrid>
              <a:tr h="329184">
                <a:tc>
                  <a:txBody>
                    <a:bodyPr wrap="square"/>
                    <a:lstStyle/>
                    <a:p>
                      <a:pPr algn="l">
                        <a:lnSpc>
                          <a:spcPct val="105000"/>
                        </a:lnSpc>
                      </a:pPr>
                      <a:r>
                        <a:rPr sz="1000" b="0" i="0" spc="40">
                          <a:solidFill>
                            <a:srgbClr val="16181B"/>
                          </a:solidFill>
                          <a:latin typeface="Noto Sans KR SemiBold"/>
                          <a:ea typeface="Noto Sans KR SemiBold"/>
                          <a:cs typeface="Noto Sans KR SemiBold"/>
                        </a:rPr>
                        <a:t>주요 위험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spc="40">
                          <a:solidFill>
                            <a:srgbClr val="16181B"/>
                          </a:solidFill>
                          <a:latin typeface="Noto Sans KR SemiBold"/>
                          <a:ea typeface="Noto Sans KR SemiBold"/>
                          <a:cs typeface="Noto Sans KR SemiBold"/>
                        </a:rPr>
                        <a:t>사업 영향</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spc="40">
                          <a:solidFill>
                            <a:srgbClr val="16181B"/>
                          </a:solidFill>
                          <a:latin typeface="Noto Sans KR SemiBold"/>
                          <a:ea typeface="Noto Sans KR SemiBold"/>
                          <a:cs typeface="Noto Sans KR SemiBold"/>
                        </a:rPr>
                        <a:t>대응 · 판정</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1000" b="0" i="0">
                          <a:solidFill>
                            <a:srgbClr val="16181B"/>
                          </a:solidFill>
                          <a:latin typeface="Noto Sans KR SemiBold"/>
                          <a:ea typeface="Noto Sans KR SemiBold"/>
                          <a:cs typeface="Noto Sans KR SemiBold"/>
                        </a:rPr>
                        <a:t>순응성과 강성 충돌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Lever · Door 조작 시 처짐 · 미끄러짐</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골격 · 잠금 비교시험 · 작업 토크별 출시 제한 · M6 Gate</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1000" b="0" i="0">
                          <a:solidFill>
                            <a:srgbClr val="16181B"/>
                          </a:solidFill>
                          <a:latin typeface="Noto Sans KR SemiBold"/>
                          <a:ea typeface="Noto Sans KR SemiBold"/>
                          <a:cs typeface="Noto Sans KR SemiBold"/>
                        </a:rPr>
                        <a:t>과도한 맞춤 개발 (SI화)</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낮은 마진 · 확장 불가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승인 Task 목록 · 비표준 요청 별도 견적 · 재사용률 KPI · M18 Gate</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1000" b="0" i="0">
                          <a:solidFill>
                            <a:srgbClr val="16181B"/>
                          </a:solidFill>
                          <a:latin typeface="Noto Sans KR SemiBold"/>
                          <a:ea typeface="Noto Sans KR SemiBold"/>
                          <a:cs typeface="Noto Sans KR SemiBold"/>
                        </a:rPr>
                        <a:t>Skill 이식성 실패</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Platform Thesis 약화</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Robot 독립 Task 표현 · Calibration Tool · 2 Platform 검증</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1000" b="0" i="0">
                          <a:solidFill>
                            <a:srgbClr val="16181B"/>
                          </a:solidFill>
                          <a:latin typeface="Noto Sans KR SemiBold"/>
                          <a:ea typeface="Noto Sans KR SemiBold"/>
                          <a:cs typeface="Noto Sans KR SemiBold"/>
                        </a:rPr>
                        <a:t>지불의사 부족</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매출 지연 · Beachhead 오류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Paid PoC 선수금 · Baseline 계약 · M12 Gate</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1000" b="0" i="0">
                          <a:solidFill>
                            <a:srgbClr val="16181B"/>
                          </a:solidFill>
                          <a:latin typeface="Noto Sans KR SemiBold"/>
                          <a:ea typeface="Noto Sans KR SemiBold"/>
                          <a:cs typeface="Noto Sans KR SemiBold"/>
                        </a:rPr>
                        <a:t>긴 영업주기 · 후속 조달</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운전자금 부족</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18 + 6 집행 · 예비비 · Series A 조기 착수 (M15~)</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1000" b="0" i="0">
                          <a:solidFill>
                            <a:srgbClr val="16181B"/>
                          </a:solidFill>
                          <a:latin typeface="Noto Sans KR SemiBold"/>
                          <a:ea typeface="Noto Sans KR SemiBold"/>
                          <a:cs typeface="Noto Sans KR SemiBold"/>
                        </a:rPr>
                        <a:t>설비 안전 · 인터록</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도입 지연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통합 위험성 평가 · 설비 인터록 유지 · ISO 10218-2 검토</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1000" b="0" i="0">
                          <a:solidFill>
                            <a:srgbClr val="16181B"/>
                          </a:solidFill>
                          <a:latin typeface="Noto Sans KR SemiBold"/>
                          <a:ea typeface="Noto Sans KR SemiBold"/>
                          <a:cs typeface="Noto Sans KR SemiBold"/>
                        </a:rPr>
                        <a:t>OEM 내재화</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OEM 채널 축소</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Robot-agnostic 통합 · 멀티브랜드 Skill · OEM 파트너십 우선</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1000" b="0" i="0">
                          <a:solidFill>
                            <a:srgbClr val="16181B"/>
                          </a:solidFill>
                          <a:latin typeface="Noto Sans KR SemiBold"/>
                          <a:ea typeface="Noto Sans KR SemiBold"/>
                          <a:cs typeface="Noto Sans KR SemiBold"/>
                        </a:rPr>
                        <a:t>창업팀 구성 지연</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일정 · 실행력 저하</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공동창업자 · 핵심 2인 합류를 Seed 클로징 조건으로 설정</a:t>
                      </a:r>
                    </a:p>
                  </a:txBody>
                  <a:tcPr marL="73152" marR="54864" marT="27432" marB="27432" anchor="ctr">
                    <a:lnL w="9525">
                      <a:noFill/>
                    </a:lnL>
                    <a:lnR w="9525">
                      <a:noFill/>
                    </a:lnR>
                    <a:lnT w="9525">
                      <a:noFill/>
                    </a:lnT>
                    <a:lnB w="9525">
                      <a:solidFill>
                        <a:srgbClr val="DCDAD5"/>
                      </a:solidFill>
                    </a:lnB>
                    <a:noFill/>
                  </a:tcPr>
                </a:tc>
              </a:tr>
              <a:tr h="457200">
                <a:tc>
                  <a:txBody>
                    <a:bodyPr wrap="square"/>
                    <a:lstStyle/>
                    <a:p>
                      <a:pPr algn="l">
                        <a:lnSpc>
                          <a:spcPct val="105000"/>
                        </a:lnSpc>
                      </a:pPr>
                      <a:r>
                        <a:rPr sz="1000" b="0" i="0">
                          <a:solidFill>
                            <a:srgbClr val="16181B"/>
                          </a:solidFill>
                          <a:latin typeface="Noto Sans KR SemiBold"/>
                          <a:ea typeface="Noto Sans KR SemiBold"/>
                          <a:cs typeface="Noto Sans KR SemiBold"/>
                        </a:rPr>
                        <a:t>접촉부 마모 · 오염</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유지비 증가</a:t>
                      </a:r>
                    </a:p>
                  </a:txBody>
                  <a:tcPr marL="73152" marR="54864" marT="27432" marB="27432" anchor="ctr">
                    <a:lnL w="9525">
                      <a:noFill/>
                    </a:lnL>
                    <a:lnR w="9525">
                      <a:noFill/>
                    </a:lnR>
                    <a:lnT w="9525">
                      <a:noFill/>
                    </a:lnT>
                    <a:lnB w="9525">
                      <a:solidFill>
                        <a:srgbClr val="DCDAD5"/>
                      </a:solidFill>
                    </a:lnB>
                    <a:noFill/>
                  </a:tcPr>
                </a:tc>
                <a:tc>
                  <a:txBody>
                    <a:bodyPr wrap="square"/>
                    <a:lstStyle/>
                    <a:p>
                      <a:pPr algn="l">
                        <a:lnSpc>
                          <a:spcPct val="105000"/>
                        </a:lnSpc>
                      </a:pPr>
                      <a:r>
                        <a:rPr sz="1000" b="0" i="0">
                          <a:solidFill>
                            <a:srgbClr val="51565E"/>
                          </a:solidFill>
                          <a:latin typeface="Noto Sans KR"/>
                          <a:ea typeface="Noto Sans KR"/>
                          <a:cs typeface="Noto Sans KR"/>
                        </a:rPr>
                        <a:t>교체형 패드 · 교체주기 명시 · 내구시험 (30만 cycle Target)</a:t>
                      </a:r>
                    </a:p>
                  </a:txBody>
                  <a:tcPr marL="73152" marR="54864" marT="27432" marB="27432" anchor="ctr">
                    <a:lnL w="9525">
                      <a:noFill/>
                    </a:lnL>
                    <a:lnR w="9525">
                      <a:noFill/>
                    </a:lnR>
                    <a:lnT w="9525">
                      <a:noFill/>
                    </a:lnT>
                    <a:lnB w="9525">
                      <a:solidFill>
                        <a:srgbClr val="DCDAD5"/>
                      </a:solidFill>
                    </a:lnB>
                    <a:noFill/>
                  </a:tcPr>
                </a:tc>
              </a:tr>
            </a:tbl>
          </a:graphicData>
        </a:graphic>
      </p:graphicFrame>
      <p:sp>
        <p:nvSpPr>
          <p:cNvPr id="6"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7"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4F1"/>
        </a:solidFill>
        <a:effectLst/>
      </p:bgPr>
    </p:bg>
    <p:spTree>
      <p:nvGrpSpPr>
        <p:cNvPr id="1" name=""/>
        <p:cNvGrpSpPr/>
        <p:nvPr/>
      </p:nvGrpSpPr>
      <p:grpSpPr/>
      <p:sp>
        <p:nvSpPr>
          <p:cNvPr id="2" name="dot"/>
          <p:cNvSpPr/>
          <p:nvPr/>
        </p:nvSpPr>
        <p:spPr>
          <a:xfrm>
            <a:off x="548640" y="452628"/>
            <a:ext cx="91440" cy="91440"/>
          </a:xfrm>
          <a:prstGeom prst="ellipse">
            <a:avLst/>
          </a:prstGeom>
          <a:solidFill>
            <a:srgbClr val="EC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Kicker"/>
          <p:cNvSpPr txBox="1"/>
          <p:nvPr/>
        </p:nvSpPr>
        <p:spPr>
          <a:xfrm>
            <a:off x="731520" y="384048"/>
            <a:ext cx="8686800" cy="237744"/>
          </a:xfrm>
          <a:prstGeom prst="rect">
            <a:avLst/>
          </a:prstGeom>
          <a:noFill/>
        </p:spPr>
        <p:txBody>
          <a:bodyPr wrap="square" lIns="0" rIns="0" tIns="0" bIns="0" anchor="t">
            <a:noAutofit/>
          </a:bodyPr>
          <a:lstStyle/>
          <a:p>
            <a:pPr algn="l">
              <a:lnSpc>
                <a:spcPct val="112000"/>
              </a:lnSpc>
            </a:pPr>
            <a:r>
              <a:rPr sz="1000" b="0" i="0" spc="140">
                <a:solidFill>
                  <a:srgbClr val="EC7A3C"/>
                </a:solidFill>
                <a:latin typeface="Noto Sans KR SemiBold"/>
                <a:ea typeface="Noto Sans KR SemiBold"/>
                <a:cs typeface="Noto Sans KR SemiBold"/>
              </a:rPr>
              <a:t>APPENDIX  ·  A17  ·  Sources</a:t>
            </a:r>
          </a:p>
        </p:txBody>
      </p:sp>
      <p:sp>
        <p:nvSpPr>
          <p:cNvPr id="4" name="Title"/>
          <p:cNvSpPr txBox="1"/>
          <p:nvPr/>
        </p:nvSpPr>
        <p:spPr>
          <a:xfrm>
            <a:off x="548640" y="658368"/>
            <a:ext cx="11091672" cy="438912"/>
          </a:xfrm>
          <a:prstGeom prst="rect">
            <a:avLst/>
          </a:prstGeom>
          <a:noFill/>
        </p:spPr>
        <p:txBody>
          <a:bodyPr wrap="square" lIns="0" rIns="0" tIns="0" bIns="0" anchor="t">
            <a:noAutofit/>
          </a:bodyPr>
          <a:lstStyle/>
          <a:p>
            <a:pPr algn="l">
              <a:lnSpc>
                <a:spcPct val="105000"/>
              </a:lnSpc>
            </a:pPr>
            <a:r>
              <a:rPr sz="2200" b="0" i="0">
                <a:solidFill>
                  <a:srgbClr val="16181B"/>
                </a:solidFill>
                <a:latin typeface="Noto Sans KR Black"/>
                <a:ea typeface="Noto Sans KR Black"/>
                <a:cs typeface="Noto Sans KR Black"/>
              </a:rPr>
              <a:t>출처</a:t>
            </a:r>
          </a:p>
        </p:txBody>
      </p:sp>
      <p:sp>
        <p:nvSpPr>
          <p:cNvPr id="5" name="Subtitle"/>
          <p:cNvSpPr txBox="1"/>
          <p:nvPr/>
        </p:nvSpPr>
        <p:spPr>
          <a:xfrm>
            <a:off x="548640" y="1097280"/>
            <a:ext cx="11091672" cy="274320"/>
          </a:xfrm>
          <a:prstGeom prst="rect">
            <a:avLst/>
          </a:prstGeom>
          <a:noFill/>
        </p:spPr>
        <p:txBody>
          <a:bodyPr wrap="square" lIns="0" rIns="0" tIns="0" bIns="0" anchor="t">
            <a:noAutofit/>
          </a:bodyPr>
          <a:lstStyle/>
          <a:p>
            <a:pPr algn="l">
              <a:lnSpc>
                <a:spcPct val="112000"/>
              </a:lnSpc>
            </a:pPr>
            <a:r>
              <a:rPr sz="1150" b="0" i="0">
                <a:solidFill>
                  <a:srgbClr val="51565E"/>
                </a:solidFill>
                <a:latin typeface="Noto Sans KR"/>
                <a:ea typeface="Noto Sans KR"/>
                <a:cs typeface="Noto Sans KR"/>
              </a:rPr>
              <a:t>열람 기준 2026-10-06 · 가격 · 원가 · 성능 · 고객수 · 일정 · 매출은 출처 수치가 아닌 본 계획의 가정</a:t>
            </a:r>
          </a:p>
        </p:txBody>
      </p:sp>
      <p:sp>
        <p:nvSpPr>
          <p:cNvPr id="6" name="TextBox 5"/>
          <p:cNvSpPr txBox="1"/>
          <p:nvPr/>
        </p:nvSpPr>
        <p:spPr>
          <a:xfrm>
            <a:off x="548640" y="148132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 </a:t>
            </a:r>
            <a:r>
              <a:rPr sz="850" b="0" i="0">
                <a:solidFill>
                  <a:srgbClr val="16181B"/>
                </a:solidFill>
                <a:latin typeface="Noto Sans KR"/>
                <a:ea typeface="Noto Sans KR"/>
                <a:cs typeface="Noto Sans KR"/>
              </a:rPr>
              <a:t>IFR, World Robotics 2026 — 'Five Million Robots now Operate in Factories Globally' (2026-09-24)</a:t>
            </a:r>
          </a:p>
          <a:p>
            <a:pPr algn="l">
              <a:lnSpc>
                <a:spcPct val="110000"/>
              </a:lnSpc>
            </a:pPr>
            <a:r>
              <a:rPr sz="750" b="0" i="0">
                <a:solidFill>
                  <a:srgbClr val="8A8F97"/>
                </a:solidFill>
                <a:latin typeface="Noto Sans KR"/>
                <a:ea typeface="Noto Sans KR"/>
                <a:cs typeface="Noto Sans KR"/>
              </a:rPr>
              <a:t>ifr.org/ifr-press-releases/news/five-million-robots-now-operate-in-factories-globally</a:t>
            </a:r>
          </a:p>
        </p:txBody>
      </p:sp>
      <p:sp>
        <p:nvSpPr>
          <p:cNvPr id="7" name="TextBox 6"/>
          <p:cNvSpPr txBox="1"/>
          <p:nvPr/>
        </p:nvSpPr>
        <p:spPr>
          <a:xfrm>
            <a:off x="548640" y="198424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[S2] </a:t>
            </a:r>
            <a:r>
              <a:rPr sz="850" b="0" i="0">
                <a:solidFill>
                  <a:srgbClr val="16181B"/>
                </a:solidFill>
                <a:latin typeface="Noto Sans KR"/>
                <a:ea typeface="Noto Sans KR"/>
                <a:cs typeface="Noto Sans KR"/>
              </a:rPr>
              <a:t>IFR, Robot Density — Republic of Korea 1,220 robots per 10,000 employees (2026-04)</a:t>
            </a:r>
          </a:p>
          <a:p>
            <a:pPr algn="l">
              <a:lnSpc>
                <a:spcPct val="110000"/>
              </a:lnSpc>
            </a:pPr>
            <a:r>
              <a:rPr sz="750" b="0" i="0">
                <a:solidFill>
                  <a:srgbClr val="8A8F97"/>
                </a:solidFill>
                <a:latin typeface="Noto Sans KR"/>
                <a:ea typeface="Noto Sans KR"/>
                <a:cs typeface="Noto Sans KR"/>
              </a:rPr>
              <a:t>ifr.org (press release, 2026-04-08)</a:t>
            </a:r>
          </a:p>
        </p:txBody>
      </p:sp>
      <p:sp>
        <p:nvSpPr>
          <p:cNvPr id="8" name="TextBox 7"/>
          <p:cNvSpPr txBox="1"/>
          <p:nvPr/>
        </p:nvSpPr>
        <p:spPr>
          <a:xfrm>
            <a:off x="548640" y="248716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[S3] </a:t>
            </a:r>
            <a:r>
              <a:rPr sz="850" b="0" i="0">
                <a:solidFill>
                  <a:srgbClr val="16181B"/>
                </a:solidFill>
                <a:latin typeface="Noto Sans KR"/>
                <a:ea typeface="Noto Sans KR"/>
                <a:cs typeface="Noto Sans KR"/>
              </a:rPr>
              <a:t>BCG, 'How Physical AI Is Reshaping Robotics Today—and What Comes Next' (2026-04-14)</a:t>
            </a:r>
          </a:p>
          <a:p>
            <a:pPr algn="l">
              <a:lnSpc>
                <a:spcPct val="110000"/>
              </a:lnSpc>
            </a:pPr>
            <a:r>
              <a:rPr sz="750" b="0" i="0">
                <a:solidFill>
                  <a:srgbClr val="8A8F97"/>
                </a:solidFill>
                <a:latin typeface="Noto Sans KR"/>
                <a:ea typeface="Noto Sans KR"/>
                <a:cs typeface="Noto Sans KR"/>
              </a:rPr>
              <a:t>bcg.com/publications/2026/how-physical-ai-is-reshaping-robotics-today</a:t>
            </a:r>
          </a:p>
        </p:txBody>
      </p:sp>
      <p:sp>
        <p:nvSpPr>
          <p:cNvPr id="9" name="TextBox 8"/>
          <p:cNvSpPr txBox="1"/>
          <p:nvPr/>
        </p:nvSpPr>
        <p:spPr>
          <a:xfrm>
            <a:off x="548640" y="299008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[S4] </a:t>
            </a:r>
            <a:r>
              <a:rPr sz="850" b="0" i="0">
                <a:solidFill>
                  <a:srgbClr val="16181B"/>
                </a:solidFill>
                <a:latin typeface="Noto Sans KR"/>
                <a:ea typeface="Noto Sans KR"/>
                <a:cs typeface="Noto Sans KR"/>
              </a:rPr>
              <a:t>Tesla Q3 2025 Earnings Call Transcript, The Motley Fool (2025-10-22)</a:t>
            </a:r>
          </a:p>
          <a:p>
            <a:pPr algn="l">
              <a:lnSpc>
                <a:spcPct val="110000"/>
              </a:lnSpc>
            </a:pPr>
            <a:r>
              <a:rPr sz="750" b="0" i="0">
                <a:solidFill>
                  <a:srgbClr val="8A8F97"/>
                </a:solidFill>
                <a:latin typeface="Noto Sans KR"/>
                <a:ea typeface="Noto Sans KR"/>
                <a:cs typeface="Noto Sans KR"/>
              </a:rPr>
              <a:t>fool.com/earnings/call-transcripts/2025/10/22/tesla-tsla-q3-2025-earnings-call-transcript/</a:t>
            </a:r>
          </a:p>
        </p:txBody>
      </p:sp>
      <p:sp>
        <p:nvSpPr>
          <p:cNvPr id="10" name="TextBox 9"/>
          <p:cNvSpPr txBox="1"/>
          <p:nvPr/>
        </p:nvSpPr>
        <p:spPr>
          <a:xfrm>
            <a:off x="548640" y="349300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[S5] </a:t>
            </a:r>
            <a:r>
              <a:rPr sz="850" b="0" i="0">
                <a:solidFill>
                  <a:srgbClr val="16181B"/>
                </a:solidFill>
                <a:latin typeface="Noto Sans KR"/>
                <a:ea typeface="Noto Sans KR"/>
                <a:cs typeface="Noto Sans KR"/>
              </a:rPr>
              <a:t>NVIDIA, Isaac GR00T Reference Humanoid Robot 발표 (2026-06-01)</a:t>
            </a:r>
          </a:p>
          <a:p>
            <a:pPr algn="l">
              <a:lnSpc>
                <a:spcPct val="110000"/>
              </a:lnSpc>
            </a:pPr>
            <a:r>
              <a:rPr sz="750" b="0" i="0">
                <a:solidFill>
                  <a:srgbClr val="8A8F97"/>
                </a:solidFill>
                <a:latin typeface="Noto Sans KR"/>
                <a:ea typeface="Noto Sans KR"/>
                <a:cs typeface="Noto Sans KR"/>
              </a:rPr>
              <a:t>investor.nvidia.com</a:t>
            </a:r>
          </a:p>
        </p:txBody>
      </p:sp>
      <p:sp>
        <p:nvSpPr>
          <p:cNvPr id="11" name="TextBox 10"/>
          <p:cNvSpPr txBox="1"/>
          <p:nvPr/>
        </p:nvSpPr>
        <p:spPr>
          <a:xfrm>
            <a:off x="548640" y="399592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[S6] </a:t>
            </a:r>
            <a:r>
              <a:rPr sz="850" b="0" i="0">
                <a:solidFill>
                  <a:srgbClr val="16181B"/>
                </a:solidFill>
                <a:latin typeface="Noto Sans KR"/>
                <a:ea typeface="Noto Sans KR"/>
                <a:cs typeface="Noto Sans KR"/>
              </a:rPr>
              <a:t>NVIDIA, CES 2026 Physical AI 모델 발표 — GR00T N1.6 (2026-01-05)</a:t>
            </a:r>
          </a:p>
          <a:p>
            <a:pPr algn="l">
              <a:lnSpc>
                <a:spcPct val="110000"/>
              </a:lnSpc>
            </a:pPr>
            <a:r>
              <a:rPr sz="750" b="0" i="0">
                <a:solidFill>
                  <a:srgbClr val="8A8F97"/>
                </a:solidFill>
                <a:latin typeface="Noto Sans KR"/>
                <a:ea typeface="Noto Sans KR"/>
                <a:cs typeface="Noto Sans KR"/>
              </a:rPr>
              <a:t>nvidianews.nvidia.com</a:t>
            </a:r>
          </a:p>
        </p:txBody>
      </p:sp>
      <p:sp>
        <p:nvSpPr>
          <p:cNvPr id="12" name="TextBox 11"/>
          <p:cNvSpPr txBox="1"/>
          <p:nvPr/>
        </p:nvSpPr>
        <p:spPr>
          <a:xfrm>
            <a:off x="548640" y="449884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[S7] </a:t>
            </a:r>
            <a:r>
              <a:rPr sz="850" b="0" i="0">
                <a:solidFill>
                  <a:srgbClr val="16181B"/>
                </a:solidFill>
                <a:latin typeface="Noto Sans KR"/>
                <a:ea typeface="Noto Sans KR"/>
                <a:cs typeface="Noto Sans KR"/>
              </a:rPr>
              <a:t>CNBC, NVIDIA Jetson AGX Thor 출시 (2025-08-25)</a:t>
            </a:r>
          </a:p>
          <a:p>
            <a:pPr algn="l">
              <a:lnSpc>
                <a:spcPct val="110000"/>
              </a:lnSpc>
            </a:pPr>
            <a:r>
              <a:rPr sz="750" b="0" i="0">
                <a:solidFill>
                  <a:srgbClr val="8A8F97"/>
                </a:solidFill>
                <a:latin typeface="Noto Sans KR"/>
                <a:ea typeface="Noto Sans KR"/>
                <a:cs typeface="Noto Sans KR"/>
              </a:rPr>
              <a:t>cnbc.com/2025/08/25/nvidias-thor-t5000-robot-brain-chip.html</a:t>
            </a:r>
          </a:p>
        </p:txBody>
      </p:sp>
      <p:sp>
        <p:nvSpPr>
          <p:cNvPr id="13" name="TextBox 12"/>
          <p:cNvSpPr txBox="1"/>
          <p:nvPr/>
        </p:nvSpPr>
        <p:spPr>
          <a:xfrm>
            <a:off x="548640" y="500176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[S8] </a:t>
            </a:r>
            <a:r>
              <a:rPr sz="850" b="0" i="0">
                <a:solidFill>
                  <a:srgbClr val="16181B"/>
                </a:solidFill>
                <a:latin typeface="Noto Sans KR"/>
                <a:ea typeface="Noto Sans KR"/>
                <a:cs typeface="Noto Sans KR"/>
              </a:rPr>
              <a:t>Google DeepMind, Gemini Robotics 1.5 (2025-09)</a:t>
            </a:r>
          </a:p>
          <a:p>
            <a:pPr algn="l">
              <a:lnSpc>
                <a:spcPct val="110000"/>
              </a:lnSpc>
            </a:pPr>
            <a:r>
              <a:rPr sz="750" b="0" i="0">
                <a:solidFill>
                  <a:srgbClr val="8A8F97"/>
                </a:solidFill>
                <a:latin typeface="Noto Sans KR"/>
                <a:ea typeface="Noto Sans KR"/>
                <a:cs typeface="Noto Sans KR"/>
              </a:rPr>
              <a:t>deepmind.google/blog/gemini-robotics-15-brings-ai-agents-into-the-physical-world/</a:t>
            </a:r>
          </a:p>
        </p:txBody>
      </p:sp>
      <p:sp>
        <p:nvSpPr>
          <p:cNvPr id="14" name="TextBox 13"/>
          <p:cNvSpPr txBox="1"/>
          <p:nvPr/>
        </p:nvSpPr>
        <p:spPr>
          <a:xfrm>
            <a:off x="548640" y="550468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[S9] </a:t>
            </a:r>
            <a:r>
              <a:rPr sz="850" b="0" i="0">
                <a:solidFill>
                  <a:srgbClr val="16181B"/>
                </a:solidFill>
                <a:latin typeface="Noto Sans KR"/>
                <a:ea typeface="Noto Sans KR"/>
                <a:cs typeface="Noto Sans KR"/>
              </a:rPr>
              <a:t>Figure, Series C — $39B post-money (2025-09) · Introducing Figure 03 (2025-10-09)</a:t>
            </a:r>
          </a:p>
          <a:p>
            <a:pPr algn="l">
              <a:lnSpc>
                <a:spcPct val="110000"/>
              </a:lnSpc>
            </a:pPr>
            <a:r>
              <a:rPr sz="750" b="0" i="0">
                <a:solidFill>
                  <a:srgbClr val="8A8F97"/>
                </a:solidFill>
                <a:latin typeface="Noto Sans KR"/>
                <a:ea typeface="Noto Sans KR"/>
                <a:cs typeface="Noto Sans KR"/>
              </a:rPr>
              <a:t>figure.ai/news</a:t>
            </a:r>
          </a:p>
        </p:txBody>
      </p:sp>
      <p:sp>
        <p:nvSpPr>
          <p:cNvPr id="15" name="TextBox 14"/>
          <p:cNvSpPr txBox="1"/>
          <p:nvPr/>
        </p:nvSpPr>
        <p:spPr>
          <a:xfrm>
            <a:off x="6199632" y="148132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[S10] </a:t>
            </a:r>
            <a:r>
              <a:rPr sz="850" b="0" i="0">
                <a:solidFill>
                  <a:srgbClr val="16181B"/>
                </a:solidFill>
                <a:latin typeface="Noto Sans KR"/>
                <a:ea typeface="Noto Sans KR"/>
                <a:cs typeface="Noto Sans KR"/>
              </a:rPr>
              <a:t>Bloomberg, Physical Intelligence $5.6B 가치 평가 (2025-11-20)</a:t>
            </a:r>
          </a:p>
          <a:p>
            <a:pPr algn="l">
              <a:lnSpc>
                <a:spcPct val="110000"/>
              </a:lnSpc>
            </a:pPr>
            <a:r>
              <a:rPr sz="750" b="0" i="0">
                <a:solidFill>
                  <a:srgbClr val="8A8F97"/>
                </a:solidFill>
                <a:latin typeface="Noto Sans KR"/>
                <a:ea typeface="Noto Sans KR"/>
                <a:cs typeface="Noto Sans KR"/>
              </a:rPr>
              <a:t>bloomberg.com</a:t>
            </a:r>
          </a:p>
        </p:txBody>
      </p:sp>
      <p:sp>
        <p:nvSpPr>
          <p:cNvPr id="16" name="TextBox 15"/>
          <p:cNvSpPr txBox="1"/>
          <p:nvPr/>
        </p:nvSpPr>
        <p:spPr>
          <a:xfrm>
            <a:off x="6199632" y="198424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[S11] </a:t>
            </a:r>
            <a:r>
              <a:rPr sz="850" b="0" i="0">
                <a:solidFill>
                  <a:srgbClr val="16181B"/>
                </a:solidFill>
                <a:latin typeface="Noto Sans KR"/>
                <a:ea typeface="Noto Sans KR"/>
                <a:cs typeface="Noto Sans KR"/>
              </a:rPr>
              <a:t>Crunchbase News, Robotics startup funding record (2026-06-22)</a:t>
            </a:r>
          </a:p>
          <a:p>
            <a:pPr algn="l">
              <a:lnSpc>
                <a:spcPct val="110000"/>
              </a:lnSpc>
            </a:pPr>
            <a:r>
              <a:rPr sz="750" b="0" i="0">
                <a:solidFill>
                  <a:srgbClr val="8A8F97"/>
                </a:solidFill>
                <a:latin typeface="Noto Sans KR"/>
                <a:ea typeface="Noto Sans KR"/>
                <a:cs typeface="Noto Sans KR"/>
              </a:rPr>
              <a:t>news.crunchbase.com/robotics/startup-venture-funding-surges-2026-data/</a:t>
            </a:r>
          </a:p>
        </p:txBody>
      </p:sp>
      <p:sp>
        <p:nvSpPr>
          <p:cNvPr id="17" name="TextBox 16"/>
          <p:cNvSpPr txBox="1"/>
          <p:nvPr/>
        </p:nvSpPr>
        <p:spPr>
          <a:xfrm>
            <a:off x="6199632" y="248716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[S12] </a:t>
            </a:r>
            <a:r>
              <a:rPr sz="850" b="0" i="0">
                <a:solidFill>
                  <a:srgbClr val="16181B"/>
                </a:solidFill>
                <a:latin typeface="Noto Sans KR"/>
                <a:ea typeface="Noto Sans KR"/>
                <a:cs typeface="Noto Sans KR"/>
              </a:rPr>
              <a:t>Investing.com, Goldman Sachs 휴머노이드 전망 — 2035년 648만 대 (2026-08-31)</a:t>
            </a:r>
          </a:p>
          <a:p>
            <a:pPr algn="l">
              <a:lnSpc>
                <a:spcPct val="110000"/>
              </a:lnSpc>
            </a:pPr>
            <a:r>
              <a:rPr sz="750" b="0" i="0">
                <a:solidFill>
                  <a:srgbClr val="8A8F97"/>
                </a:solidFill>
                <a:latin typeface="Noto Sans KR"/>
                <a:ea typeface="Noto Sans KR"/>
                <a:cs typeface="Noto Sans KR"/>
              </a:rPr>
              <a:t>investing.com</a:t>
            </a:r>
          </a:p>
        </p:txBody>
      </p:sp>
      <p:sp>
        <p:nvSpPr>
          <p:cNvPr id="18" name="TextBox 17"/>
          <p:cNvSpPr txBox="1"/>
          <p:nvPr/>
        </p:nvSpPr>
        <p:spPr>
          <a:xfrm>
            <a:off x="6199632" y="299008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[S13] </a:t>
            </a:r>
            <a:r>
              <a:rPr sz="850" b="0" i="0">
                <a:solidFill>
                  <a:srgbClr val="16181B"/>
                </a:solidFill>
                <a:latin typeface="Noto Sans KR"/>
                <a:ea typeface="Noto Sans KR"/>
                <a:cs typeface="Noto Sans KR"/>
              </a:rPr>
              <a:t>qbrobotics, qb SoftHand Industry 제품 사양 (제조사 공개)</a:t>
            </a:r>
          </a:p>
          <a:p>
            <a:pPr algn="l">
              <a:lnSpc>
                <a:spcPct val="110000"/>
              </a:lnSpc>
            </a:pPr>
            <a:r>
              <a:rPr sz="750" b="0" i="0">
                <a:solidFill>
                  <a:srgbClr val="8A8F97"/>
                </a:solidFill>
                <a:latin typeface="Noto Sans KR"/>
                <a:ea typeface="Noto Sans KR"/>
                <a:cs typeface="Noto Sans KR"/>
              </a:rPr>
              <a:t>qbrobotics.com/product/qb-softhand-industry/</a:t>
            </a:r>
          </a:p>
        </p:txBody>
      </p:sp>
      <p:sp>
        <p:nvSpPr>
          <p:cNvPr id="19" name="TextBox 18"/>
          <p:cNvSpPr txBox="1"/>
          <p:nvPr/>
        </p:nvSpPr>
        <p:spPr>
          <a:xfrm>
            <a:off x="6199632" y="349300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[S14] </a:t>
            </a:r>
            <a:r>
              <a:rPr sz="850" b="0" i="0">
                <a:solidFill>
                  <a:srgbClr val="16181B"/>
                </a:solidFill>
                <a:latin typeface="Noto Sans KR"/>
                <a:ea typeface="Noto Sans KR"/>
                <a:cs typeface="Noto Sans KR"/>
              </a:rPr>
              <a:t>Robotics &amp; Automation News, Tesollo DG-5F-S (2026-03-13)</a:t>
            </a:r>
          </a:p>
          <a:p>
            <a:pPr algn="l">
              <a:lnSpc>
                <a:spcPct val="110000"/>
              </a:lnSpc>
            </a:pPr>
            <a:r>
              <a:rPr sz="750" b="0" i="0">
                <a:solidFill>
                  <a:srgbClr val="8A8F97"/>
                </a:solidFill>
                <a:latin typeface="Noto Sans KR"/>
                <a:ea typeface="Noto Sans KR"/>
                <a:cs typeface="Noto Sans KR"/>
              </a:rPr>
              <a:t>roboticsandautomationnews.com</a:t>
            </a:r>
          </a:p>
        </p:txBody>
      </p:sp>
      <p:sp>
        <p:nvSpPr>
          <p:cNvPr id="20" name="TextBox 19"/>
          <p:cNvSpPr txBox="1"/>
          <p:nvPr/>
        </p:nvSpPr>
        <p:spPr>
          <a:xfrm>
            <a:off x="6199632" y="399592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[S15] </a:t>
            </a:r>
            <a:r>
              <a:rPr sz="850" b="0" i="0">
                <a:solidFill>
                  <a:srgbClr val="16181B"/>
                </a:solidFill>
                <a:latin typeface="Noto Sans KR"/>
                <a:ea typeface="Noto Sans KR"/>
                <a:cs typeface="Noto Sans KR"/>
              </a:rPr>
              <a:t>Moley Robotics, A-AiR kitchen (공급사 소개)</a:t>
            </a:r>
          </a:p>
          <a:p>
            <a:pPr algn="l">
              <a:lnSpc>
                <a:spcPct val="110000"/>
              </a:lnSpc>
            </a:pPr>
            <a:r>
              <a:rPr sz="750" b="0" i="0">
                <a:solidFill>
                  <a:srgbClr val="8A8F97"/>
                </a:solidFill>
                <a:latin typeface="Noto Sans KR"/>
                <a:ea typeface="Noto Sans KR"/>
                <a:cs typeface="Noto Sans KR"/>
              </a:rPr>
              <a:t>moley.com/a-air-kitchen/</a:t>
            </a:r>
          </a:p>
        </p:txBody>
      </p:sp>
      <p:sp>
        <p:nvSpPr>
          <p:cNvPr id="21" name="TextBox 20"/>
          <p:cNvSpPr txBox="1"/>
          <p:nvPr/>
        </p:nvSpPr>
        <p:spPr>
          <a:xfrm>
            <a:off x="6199632" y="449884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[S16] </a:t>
            </a:r>
            <a:r>
              <a:rPr sz="850" b="0" i="0">
                <a:solidFill>
                  <a:srgbClr val="16181B"/>
                </a:solidFill>
                <a:latin typeface="Noto Sans KR"/>
                <a:ea typeface="Noto Sans KR"/>
                <a:cs typeface="Noto Sans KR"/>
              </a:rPr>
              <a:t>ISO 10218-2:2025 — Industrial robot applications and robot cells</a:t>
            </a:r>
          </a:p>
          <a:p>
            <a:pPr algn="l">
              <a:lnSpc>
                <a:spcPct val="110000"/>
              </a:lnSpc>
            </a:pPr>
            <a:r>
              <a:rPr sz="750" b="0" i="0">
                <a:solidFill>
                  <a:srgbClr val="8A8F97"/>
                </a:solidFill>
                <a:latin typeface="Noto Sans KR"/>
                <a:ea typeface="Noto Sans KR"/>
                <a:cs typeface="Noto Sans KR"/>
              </a:rPr>
              <a:t>iso.org/standard/73934.html</a:t>
            </a:r>
          </a:p>
        </p:txBody>
      </p:sp>
      <p:sp>
        <p:nvSpPr>
          <p:cNvPr id="22" name="TextBox 21"/>
          <p:cNvSpPr txBox="1"/>
          <p:nvPr/>
        </p:nvSpPr>
        <p:spPr>
          <a:xfrm>
            <a:off x="6199632" y="500176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[S17] </a:t>
            </a:r>
            <a:r>
              <a:rPr sz="850" b="0" i="0">
                <a:solidFill>
                  <a:srgbClr val="16181B"/>
                </a:solidFill>
                <a:latin typeface="Noto Sans KR"/>
                <a:ea typeface="Noto Sans KR"/>
                <a:cs typeface="Noto Sans KR"/>
              </a:rPr>
              <a:t>Noh et al., YORI — Yummy Operations Robot Initiative, arXiv:2405.11094</a:t>
            </a:r>
          </a:p>
          <a:p>
            <a:pPr algn="l">
              <a:lnSpc>
                <a:spcPct val="110000"/>
              </a:lnSpc>
            </a:pPr>
            <a:r>
              <a:rPr sz="750" b="0" i="0">
                <a:solidFill>
                  <a:srgbClr val="8A8F97"/>
                </a:solidFill>
                <a:latin typeface="Noto Sans KR"/>
                <a:ea typeface="Noto Sans KR"/>
                <a:cs typeface="Noto Sans KR"/>
              </a:rPr>
              <a:t>arxiv.org/abs/2405.11094</a:t>
            </a:r>
          </a:p>
        </p:txBody>
      </p:sp>
      <p:sp>
        <p:nvSpPr>
          <p:cNvPr id="23" name="TextBox 22"/>
          <p:cNvSpPr txBox="1"/>
          <p:nvPr/>
        </p:nvSpPr>
        <p:spPr>
          <a:xfrm>
            <a:off x="6199632" y="5504688"/>
            <a:ext cx="5440680" cy="457200"/>
          </a:xfrm>
          <a:prstGeom prst="rect">
            <a:avLst/>
          </a:prstGeom>
          <a:noFill/>
        </p:spPr>
        <p:txBody>
          <a:bodyPr wrap="square" lIns="0" rIns="0" tIns="0" bIns="0" anchor="t">
            <a:noAutofit/>
          </a:bodyPr>
          <a:lstStyle/>
          <a:p>
            <a:pPr algn="l">
              <a:lnSpc>
                <a:spcPct val="110000"/>
              </a:lnSpc>
            </a:pPr>
            <a:r>
              <a:rPr sz="850" b="0" i="0">
                <a:solidFill>
                  <a:srgbClr val="EC7A3C"/>
                </a:solidFill>
                <a:latin typeface="Noto Sans KR SemiBold"/>
                <a:ea typeface="Noto Sans KR SemiBold"/>
                <a:cs typeface="Noto Sans KR SemiBold"/>
              </a:rPr>
              <a:t>[S18] </a:t>
            </a:r>
            <a:r>
              <a:rPr sz="850" b="0" i="0">
                <a:solidFill>
                  <a:srgbClr val="16181B"/>
                </a:solidFill>
                <a:latin typeface="Noto Sans KR"/>
                <a:ea typeface="Noto Sans KR"/>
                <a:cs typeface="Noto Sans KR"/>
              </a:rPr>
              <a:t>PR Newswire, Chef Robotics $43M Series A (2025-04) · 헤럴드경제 외식업계 인력난 (2025-05-10)</a:t>
            </a:r>
          </a:p>
          <a:p>
            <a:pPr algn="l">
              <a:lnSpc>
                <a:spcPct val="110000"/>
              </a:lnSpc>
            </a:pPr>
            <a:r>
              <a:rPr sz="750" b="0" i="0">
                <a:solidFill>
                  <a:srgbClr val="8A8F97"/>
                </a:solidFill>
                <a:latin typeface="Noto Sans KR"/>
                <a:ea typeface="Noto Sans KR"/>
                <a:cs typeface="Noto Sans KR"/>
              </a:rPr>
              <a:t>prnewswire.com · biz.heraldcorp.com</a:t>
            </a:r>
          </a:p>
        </p:txBody>
      </p:sp>
      <p:sp>
        <p:nvSpPr>
          <p:cNvPr id="24" name="Footer"/>
          <p:cNvSpPr txBox="1"/>
          <p:nvPr/>
        </p:nvSpPr>
        <p:spPr>
          <a:xfrm>
            <a:off x="548640" y="6473952"/>
            <a:ext cx="7772400" cy="219456"/>
          </a:xfrm>
          <a:prstGeom prst="rect">
            <a:avLst/>
          </a:prstGeom>
          <a:noFill/>
        </p:spPr>
        <p:txBody>
          <a:bodyPr wrap="square" lIns="0" rIns="0" tIns="0" bIns="0" anchor="t">
            <a:noAutofit/>
          </a:bodyPr>
          <a:lstStyle/>
          <a:p>
            <a:pPr algn="l">
              <a:lnSpc>
                <a:spcPct val="112000"/>
              </a:lnSpc>
            </a:pPr>
            <a:r>
              <a:rPr sz="950" b="0" i="0">
                <a:solidFill>
                  <a:srgbClr val="8A8F97"/>
                </a:solidFill>
                <a:latin typeface="Noto Sans KR"/>
                <a:ea typeface="Noto Sans KR"/>
                <a:cs typeface="Noto Sans KR"/>
              </a:rPr>
              <a:t>[회사명 입력 필요]  ·  Appendix  ·  대외비</a:t>
            </a:r>
          </a:p>
        </p:txBody>
      </p:sp>
      <p:sp>
        <p:nvSpPr>
          <p:cNvPr id="25" name="Page number"/>
          <p:cNvSpPr txBox="1"/>
          <p:nvPr/>
        </p:nvSpPr>
        <p:spPr>
          <a:xfrm>
            <a:off x="10543032" y="6473952"/>
            <a:ext cx="1097280" cy="219456"/>
          </a:xfrm>
          <a:prstGeom prst="rect">
            <a:avLst/>
          </a:prstGeom>
          <a:noFill/>
        </p:spPr>
        <p:txBody>
          <a:bodyPr wrap="square" lIns="0" rIns="0" tIns="0" bIns="0" anchor="t">
            <a:noAutofit/>
          </a:bodyPr>
          <a:lstStyle/>
          <a:p>
            <a:pPr algn="r">
              <a:lnSpc>
                <a:spcPct val="112000"/>
              </a:lnSpc>
            </a:pPr>
            <a:r>
              <a:rPr sz="950" b="0" i="0">
                <a:solidFill>
                  <a:srgbClr val="8A8F97"/>
                </a:solidFill>
                <a:latin typeface="Noto Sans KR SemiBold"/>
                <a:ea typeface="Noto Sans KR SemiBold"/>
                <a:cs typeface="Noto Sans KR SemiBold"/>
              </a:rPr>
              <a:t>A17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HAND. MANY TOOLS. — 창업 및 Seed 투자 제안서 (최종본)</dc:title>
  <dc:subject>기존 설비를 크게 바꾸지 않는 Machine Tending 자동화 · SoftHand-4 + Skill Pack · Seed ₩2.0B</dc:subject>
  <dc:creator>[회사명 입력 필요]</dc:creator>
  <cp:keywords/>
  <dc:description>generated using python-pptx</dc:description>
  <cp:lastModifiedBy/>
  <cp:revision>1</cp:revision>
  <dcterms:created xsi:type="dcterms:W3CDTF">2026-10-06T09:00:00Z</dcterms:created>
  <dcterms:modified xsi:type="dcterms:W3CDTF">2026-10-06T09:00:00Z</dcterms:modified>
  <cp:category/>
</cp:coreProperties>
</file>