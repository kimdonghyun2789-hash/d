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layout>
        <c:manualLayout>
          <c:layoutTarget val="inner"/>
          <c:xMode val="edge"/>
          <c:yMode val="edge"/>
          <c:x val="0.02"/>
          <c:y val="0.12"/>
          <c:w val="0.96"/>
          <c:h val="0.72"/>
        </c:manualLayout>
      </c:layout>
      <c:barChart>
        <c:barDir val="col"/>
        <c:grouping val="clustered"/>
        <c:ser>
          <c:idx val="0"/>
          <c:order val="0"/>
          <c:tx>
            <c:strRef>
              <c:f>Sheet1!$B$1</c:f>
              <c:strCache>
                <c:ptCount val="1"/>
                <c:pt idx="0">
                  <c:v>매출</c:v>
                </c:pt>
              </c:strCache>
            </c:strRef>
          </c:tx>
          <c:spPr>
            <a:solidFill>
              <a:srgbClr val="C9CDD2"/>
            </a:solidFill>
            <a:ln>
              <a:noFill/>
            </a:ln>
          </c:spPr>
          <c:invertIfNegative val="0"/>
          <c:cat>
            <c:strRef>
              <c:f>Sheet1!$A$2:$A$6</c:f>
              <c:strCache>
                <c:ptCount val="5"/>
                <c:pt idx="0">
                  <c:v>1년</c:v>
                </c:pt>
                <c:pt idx="1">
                  <c:v>2년</c:v>
                </c:pt>
                <c:pt idx="2">
                  <c:v>3년</c:v>
                </c:pt>
                <c:pt idx="3">
                  <c:v>4년</c:v>
                </c:pt>
                <c:pt idx="4">
                  <c:v>5년</c:v>
                </c:pt>
              </c:strCache>
            </c:strRef>
          </c:cat>
          <c:val>
            <c:numRef>
              <c:f>Sheet1!$B$2:$B$6</c:f>
              <c:numCache>
                <c:formatCode>General</c:formatCode>
                <c:ptCount val="5"/>
                <c:pt idx="0">
                  <c:v>0.5</c:v>
                </c:pt>
                <c:pt idx="1">
                  <c:v>3.925</c:v>
                </c:pt>
                <c:pt idx="2">
                  <c:v>11.5096</c:v>
                </c:pt>
                <c:pt idx="3">
                  <c:v>24.86</c:v>
                </c:pt>
                <c:pt idx="4">
                  <c:v>44.678</c:v>
                </c:pt>
              </c:numCache>
            </c:numRef>
          </c:val>
        </c:ser>
        <c:gapWidth val="45"/>
        <c:axId val="-2068027336"/>
        <c:axId val="-2113994440"/>
      </c:barChart>
      <c:catAx>
        <c:axId val="-2068027336"/>
        <c:scaling>
          <c:orientation val="minMax"/>
        </c:scaling>
        <c:delete val="0"/>
        <c:axPos val="b"/>
        <c:majorTickMark val="none"/>
        <c:minorTickMark val="none"/>
        <c:tickLblPos val="none"/>
        <c:spPr>
          <a:ln>
            <a:solidFill>
              <a:srgbClr val="E2E4E7"/>
            </a:solidFill>
          </a:ln>
        </c:spPr>
        <c:crossAx val="-2113994440"/>
        <c:crosses val="autoZero"/>
        <c:auto val="1"/>
        <c:lblAlgn val="ctr"/>
        <c:lblOffset val="100"/>
        <c:noMultiLvlLbl val="0"/>
      </c:catAx>
      <c:valAx>
        <c:axId val="-2113994440"/>
        <c:scaling>
          <c:max val="52.0"/>
          <c:min val="0.0"/>
        </c:scaling>
        <c:delete/>
        <c:axPos val="l"/>
        <c:majorTickMark val="none"/>
        <c:minorTickMark val="none"/>
        <c:tickLblPos val="nextTo"/>
        <c:crossAx val="-2068027336"/>
        <c:crosses val="autoZero"/>
      </c:valAx>
    </c:plotArea>
    <c:dispBlanksAs val="gap"/>
  </c:chart>
  <c:txPr>
    <a:bodyPr/>
    <a:lstStyle/>
    <a:p>
      <a:pPr>
        <a:defRPr sz="1000">
          <a:solidFill>
            <a:srgbClr val="4A4F57"/>
          </a:solidFill>
          <a:latin typeface="Noto Sans KR"/>
          <a:ea typeface="Noto Sans KR"/>
          <a:cs typeface="Noto Sans KR"/>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layout>
        <c:manualLayout>
          <c:layoutTarget val="inner"/>
          <c:xMode val="edge"/>
          <c:yMode val="edge"/>
          <c:x val="0.03"/>
          <c:y val="0.1"/>
          <c:w val="0.94"/>
          <c:h val="0.78"/>
        </c:manualLayout>
      </c:layout>
      <c:barChart>
        <c:barDir val="col"/>
        <c:grouping val="clustered"/>
        <c:ser>
          <c:idx val="0"/>
          <c:order val="0"/>
          <c:tx>
            <c:strRef>
              <c:f>Sheet1!$B$1</c:f>
              <c:strCache>
                <c:ptCount val="1"/>
                <c:pt idx="0">
                  <c:v>설치</c:v>
                </c:pt>
              </c:strCache>
            </c:strRef>
          </c:tx>
          <c:spPr>
            <a:solidFill>
              <a:srgbClr val="C9CDD2"/>
            </a:solidFill>
            <a:ln>
              <a:noFill/>
            </a:ln>
          </c:spPr>
          <c:invertIfNegative val="0"/>
          <c:cat>
            <c:strRef>
              <c:f>Sheet1!$A$2:$A$5</c:f>
              <c:strCache>
                <c:ptCount val="4"/>
                <c:pt idx="0">
                  <c:v>2024</c:v>
                </c:pt>
                <c:pt idx="1">
                  <c:v>2025</c:v>
                </c:pt>
                <c:pt idx="2">
                  <c:v>2026F</c:v>
                </c:pt>
                <c:pt idx="3">
                  <c:v>2029F</c:v>
                </c:pt>
              </c:strCache>
            </c:strRef>
          </c:cat>
          <c:val>
            <c:numRef>
              <c:f>Sheet1!$B$2:$B$5</c:f>
              <c:numCache>
                <c:formatCode>General</c:formatCode>
                <c:ptCount val="4"/>
                <c:pt idx="0">
                  <c:v>542</c:v>
                </c:pt>
                <c:pt idx="1">
                  <c:v>603</c:v>
                </c:pt>
                <c:pt idx="2">
                  <c:v>655</c:v>
                </c:pt>
                <c:pt idx="3">
                  <c:v>806</c:v>
                </c:pt>
              </c:numCache>
            </c:numRef>
          </c:val>
        </c:ser>
        <c:dLbls>
          <c:numFmt formatCode="0" sourceLinked="0"/>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none"/>
        <c:minorTickMark val="none"/>
        <c:tickLblPos val="none"/>
        <c:spPr>
          <a:ln>
            <a:solidFill>
              <a:srgbClr val="E2E4E7"/>
            </a:solidFill>
          </a:ln>
        </c:spPr>
        <c:crossAx val="-2113994440"/>
        <c:crosses val="autoZero"/>
        <c:auto val="1"/>
        <c:lblAlgn val="ctr"/>
        <c:lblOffset val="100"/>
        <c:noMultiLvlLbl val="0"/>
      </c:catAx>
      <c:valAx>
        <c:axId val="-2113994440"/>
        <c:scaling>
          <c:max val="950.0"/>
          <c:min val="0.0"/>
        </c:scaling>
        <c:delete/>
        <c:axPos val="l"/>
        <c:majorTickMark val="none"/>
        <c:minorTickMark val="none"/>
        <c:tickLblPos val="nextTo"/>
        <c:crossAx val="-2068027336"/>
        <c:crosses val="autoZero"/>
      </c:valAx>
    </c:plotArea>
    <c:dispBlanksAs val="gap"/>
  </c:chart>
  <c:txPr>
    <a:bodyPr/>
    <a:lstStyle/>
    <a:p>
      <a:pPr>
        <a:defRPr sz="1200">
          <a:solidFill>
            <a:srgbClr val="4A4F57"/>
          </a:solidFill>
          <a:latin typeface="Noto Sans KR"/>
          <a:ea typeface="Noto Sans KR"/>
          <a:cs typeface="Noto Sans KR"/>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모든 주방에서 일할 수 있는 로봇. 주방을 로봇에 맞게 다시 만들지 않고, 로봇이 사람이 쓰던 주방·도구·가전을 그대로 쓰게 하는 Kitchen Robotics Platform. 상업용 주방과 가정용 주방이 모두 핵심 시장, 제품은 SoftHand + Kitchen Skills, Seed 20억 원 / 24개월.</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기존 주방 자동화는 메뉴·작업마다 전용 그리퍼, 전용 조리장비, 전용 투입장치, 전용 레이아웃, 작업별 통합을 새로 만듦. 메뉴가 바뀌면 같은 과정 반복. BCG(2026.4): 로봇 도입 총소유비용의 약 75%가 초기 셋업과 재설계(로봇 도입 전반 기준, 주방 한정 수치 아님).</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주방은 이미 사람 손 기준으로 표준화: 팬·냄비·집게·국자·칼·용기·손잡이·노브·버튼·서랍·냉장고·가전. 상업용과 가정용 모두 같은 형태. 주방을 로봇에 맞추는 대신 로봇에게 사람처럼 도구를 쓰는 능력을 주면, 기존 주방이 곧 설치 환경.</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SoftHand는 세 문장으로 설명: 잡을 때는 부드럽게(형상·도구 적응), 사용할 때는 단단하게(팬·손잡이·노브·레버의 힘과 반력), 느끼면서 제어(힘·미끄러짐 감지). 회사가 만드는 것은 손 하나가 아니라 Hardware + Manipulation + Skill 계층. 로봇 팔과 주방 애플리케이션은 고객·파트너 영역.</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실제 주방 작업 흐름: 재료 집기 → 용기 열기 → 팬에 투입 → 집게 사용 → 젓기 → 노브 조작 → 플레이팅. 핸드 1개, 사람용 도구 여러 개, 작업 7종. 툴 교체 0회는 검증되지 않았으므로 "툴 교체 최소화"를 목표로 표기.</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투자 논리: AI·VLA 발전 → 로봇의 인지·판단 향상 → 로봇 팔과 컴퓨팅은 이미 상용화 → 현실 세계와 접촉하는 조작이 새 병목 → 주방은 도구가 다양하고 형상이 바뀌고 힘 조절이 필요하며 모두 사람 손 기준이라 가장 다양한 조작 환경 → Kitchen Robotics가 커질수록 손과 Skill 계층의 가치 증가. "왜 Kitchen Robotics인가"가 아니라 "왜 지금 조작 계층인가"에 대한 답.</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상업용과 가정용 모두 핵심 시장. 제품 요구조건은 다르지만 집기·열기·붓기·젓기·뒤집기·돌리기·누르기·썰기·옮기기·담기 같은 기본 조작은 공통. 두 시장을 잇는 자산은 "사람이 주방에서 하는 기본 조작 Skill". 비전은 두 시장 전체, Seed 실행은 집게·팬·용기·노브·버튼·문 반복 작업으로 좁힘 (큰 목표 + 좁은 첫 실행). 실제 첫 적용처는 미확정이므로 검증 대상으로 표기.</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고객은 손을 사는 것이 아니라 메뉴가 바뀌어도 다시 만들지 않는 자동화를 산다. 기존 방식은 새 메뉴마다 전용 하드웨어·툴링·주방 개조·통합·검증, SoftHand는 같은 핸드에서 기존 Skill을 재사용하고 필요한 Skill만 추가. 실제 수치가 없으므로 절감률·ROI를 만들지 않고 PoC 측정 지표로 제시.</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기존 자동화는 메뉴 수만큼 장비가 늘어남. SoftHand는 같은 핸드에 Skill을 조합·추가해 여러 레시피와 여러 주방으로 확장하는 구조를 목표. From Hardware Expansion to Skill Expansion. 배치가 늘수록 실패·미끄러짐·위치 오차·재파지·힘 보정·복구 데이터가 쌓여 Skill이 좋아지는 구조. 현재 보유 데이터는 없으며 "향후 축적될 데이터 구조"로 표기.</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가장 큰 경쟁자는 다른 로봇 손이 아니라 작업마다 새 전용 자동화를 만드는 방식. 전용 주방 자동화(예: Moley 로봇 주방, Miso Flippy, 에니아이 알파그릴, 로보아르테)는 특정 메뉴에 강하지만 다른 메뉴·주방 확장이 어려움. 그리퍼·EOAT는 산업용 집기에 강하지만 사람용 도구 조작에 한계 가능. 다른 핸드 회사가 들어오면? 해자는 Hand + Skill Library + Recovery Data + Cross-Robot Runtime + Installed Base의 누적. 모두 현재 목표 단계.</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초기에는 유료 PoC·하드웨어·통합으로 검증하고, 고객이 늘수록 Kitchen Skill 패키지·Runtime·유지보수 반복매출 비중을 높임(Base Case 재사용 매출 비중 5년차 86%, 가정). 장기에는 로봇·가전 OEM, 라이선스, 내장 Runtime, Built-in 파트너십. 건설사는 핵심 시장이 아닌 장기 B2B2C 채널. Base Case(5년차 44.7억 원)는 기존 계획 기반으로 대규모 주방·OEM 매출을 제외한 하방, Scale Triggers가 상방이며 상방 수치는 만들지 않음.</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20억 원으로 회사가 무엇으로 바뀌는가: 오늘은 콘셉트·기술 구조·초기 설계, 24개월 뒤 목표는 실제 주방 시제품·실제 주방 조작·유료 PoC·재구매·재사용 Skill·로봇 2종 검증·양산 가능 설계·Series A 준비. 가장 중요한 세 가지 증명: 실제 주방에서 일한다, 고객이 돈을 낸다, 다른 메뉴·주방·로봇에서 Skill이 재사용된다. 현재 확보된 증거는 확인되지 않아 빈 칸으로 두고, 확보 시 Proof를 로드맵보다 앞에 배치.</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가지만 답함. Problem Insight: 왜 이 창업자가 이 문제를 발견했는가. Build Capability: 왜 이 팀이 Hand·Robotics·Control·AI를 만들 수 있는가. Market Access: 왜 첫 Kitchen 고객과 파트너를 확보할 수 있는가. 질문이 아닌 답을 보여주는 구조, 실제 정보가 없으므로 자리 표시만 유지.</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 메시지. 모든 주방에서 일할 수 있는 로봇. 상업용 주방 + 가정용 주방, SoftHand + Kitchen Skills, Seed 20억 원 / 24개월. 사람이 사용하는 주방을 바꾸지 않고 로봇이 그 주방에서 일하게 만든다. 전 세계 Kitchen Robotics의 표준 조작 플랫폼을 만든다.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image" Target="../media/image5.jpg"/><Relationship Id="rId4" Type="http://schemas.openxmlformats.org/officeDocument/2006/relationships/image" Target="../media/image6.jpg"/><Relationship Id="rId5" Type="http://schemas.openxmlformats.org/officeDocument/2006/relationships/image" Target="../media/image7.jpg"/><Relationship Id="rId6" Type="http://schemas.openxmlformats.org/officeDocument/2006/relationships/image" Target="../media/image8.jpg"/><Relationship Id="rId7" Type="http://schemas.openxmlformats.org/officeDocument/2006/relationships/image" Target="../media/image9.jpg"/><Relationship Id="rId8" Type="http://schemas.openxmlformats.org/officeDocument/2006/relationships/image" Target="../media/image10.jpg"/><Relationship Id="rId9"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 Id="rId3" Type="http://schemas.openxmlformats.org/officeDocument/2006/relationships/image" Target="../media/image12.jp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jpg"/><Relationship Id="rId3" Type="http://schemas.openxmlformats.org/officeDocument/2006/relationships/image" Target="../media/image14.jp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jp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jpg"/><Relationship Id="rId3" Type="http://schemas.openxmlformats.org/officeDocument/2006/relationships/image" Target="../media/image17.jpg"/><Relationship Id="rId4" Type="http://schemas.openxmlformats.org/officeDocument/2006/relationships/image" Target="../media/image18.jpg"/><Relationship Id="rId5" Type="http://schemas.openxmlformats.org/officeDocument/2006/relationships/image" Target="../media/image19.jpg"/><Relationship Id="rId6" Type="http://schemas.openxmlformats.org/officeDocument/2006/relationships/image" Target="../media/image20.jpg"/><Relationship Id="rId7" Type="http://schemas.openxmlformats.org/officeDocument/2006/relationships/image" Target="../media/image21.jp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jp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lx_hero_light_748x750_60_50_100.jpg"/>
          <p:cNvPicPr>
            <a:picLocks noChangeAspect="1"/>
          </p:cNvPicPr>
          <p:nvPr/>
        </p:nvPicPr>
        <p:blipFill>
          <a:blip r:embed="rId2"/>
          <a:stretch>
            <a:fillRect/>
          </a:stretch>
        </p:blipFill>
        <p:spPr>
          <a:xfrm>
            <a:off x="5349240" y="0"/>
            <a:ext cx="6842455" cy="6858000"/>
          </a:xfrm>
          <a:prstGeom prst="rect">
            <a:avLst/>
          </a:prstGeom>
        </p:spPr>
      </p:pic>
      <p:sp>
        <p:nvSpPr>
          <p:cNvPr id="3" name="TextBox 2"/>
          <p:cNvSpPr txBox="1"/>
          <p:nvPr/>
        </p:nvSpPr>
        <p:spPr>
          <a:xfrm>
            <a:off x="685800" y="566928"/>
            <a:ext cx="4389120" cy="237744"/>
          </a:xfrm>
          <a:prstGeom prst="rect">
            <a:avLst/>
          </a:prstGeom>
          <a:noFill/>
        </p:spPr>
        <p:txBody>
          <a:bodyPr wrap="square" lIns="0" rIns="0" tIns="0" bIns="0" anchor="t">
            <a:spAutoFit/>
          </a:bodyPr>
          <a:lstStyle/>
          <a:p>
            <a:pPr algn="l">
              <a:lnSpc>
                <a:spcPct val="100000"/>
              </a:lnSpc>
            </a:pPr>
            <a:r>
              <a:rPr sz="1100" b="0">
                <a:solidFill>
                  <a:srgbClr val="8C9198"/>
                </a:solidFill>
                <a:latin typeface="Noto Sans KR"/>
                <a:ea typeface="Noto Sans KR"/>
                <a:cs typeface="Noto Sans KR"/>
              </a:rPr>
              <a:t>[회사명 입력 필요]</a:t>
            </a:r>
          </a:p>
        </p:txBody>
      </p:sp>
      <p:sp>
        <p:nvSpPr>
          <p:cNvPr id="4" name="TextBox 3"/>
          <p:cNvSpPr txBox="1"/>
          <p:nvPr/>
        </p:nvSpPr>
        <p:spPr>
          <a:xfrm>
            <a:off x="685800" y="1298448"/>
            <a:ext cx="4480560" cy="274320"/>
          </a:xfrm>
          <a:prstGeom prst="rect">
            <a:avLst/>
          </a:prstGeom>
          <a:noFill/>
        </p:spPr>
        <p:txBody>
          <a:bodyPr wrap="square" lIns="0" rIns="0" tIns="0" bIns="0" anchor="t">
            <a:spAutoFit/>
          </a:bodyPr>
          <a:lstStyle/>
          <a:p>
            <a:pPr algn="l">
              <a:lnSpc>
                <a:spcPct val="100000"/>
              </a:lnSpc>
            </a:pPr>
            <a:r>
              <a:rPr sz="1300" b="1">
                <a:solidFill>
                  <a:srgbClr val="E2571B"/>
                </a:solidFill>
                <a:latin typeface="Noto Sans KR"/>
                <a:ea typeface="Noto Sans KR"/>
                <a:cs typeface="Noto Sans KR"/>
              </a:rPr>
              <a:t>KITCHEN ROBOTICS PLATFORM</a:t>
            </a:r>
          </a:p>
        </p:txBody>
      </p:sp>
      <p:sp>
        <p:nvSpPr>
          <p:cNvPr id="5" name="TextBox 4"/>
          <p:cNvSpPr txBox="1"/>
          <p:nvPr/>
        </p:nvSpPr>
        <p:spPr>
          <a:xfrm>
            <a:off x="685800" y="1700784"/>
            <a:ext cx="4526280" cy="1517904"/>
          </a:xfrm>
          <a:prstGeom prst="rect">
            <a:avLst/>
          </a:prstGeom>
          <a:noFill/>
        </p:spPr>
        <p:txBody>
          <a:bodyPr wrap="square" lIns="0" rIns="0" tIns="0" bIns="0" anchor="t">
            <a:spAutoFit/>
          </a:bodyPr>
          <a:lstStyle/>
          <a:p>
            <a:pPr algn="l">
              <a:lnSpc>
                <a:spcPct val="95000"/>
              </a:lnSpc>
            </a:pPr>
            <a:r>
              <a:rPr sz="4200" b="1">
                <a:solidFill>
                  <a:srgbClr val="15171A"/>
                </a:solidFill>
                <a:latin typeface="Noto Sans KR"/>
                <a:ea typeface="Noto Sans KR"/>
                <a:cs typeface="Noto Sans KR"/>
              </a:rPr>
              <a:t>모든 주방에서</a:t>
            </a:r>
          </a:p>
          <a:p>
            <a:pPr algn="l">
              <a:lnSpc>
                <a:spcPct val="95000"/>
              </a:lnSpc>
            </a:pPr>
            <a:r>
              <a:rPr sz="4200" b="1">
                <a:solidFill>
                  <a:srgbClr val="15171A"/>
                </a:solidFill>
                <a:latin typeface="Noto Sans KR"/>
                <a:ea typeface="Noto Sans KR"/>
                <a:cs typeface="Noto Sans KR"/>
              </a:rPr>
              <a:t>일할 수 있는 로봇</a:t>
            </a:r>
          </a:p>
        </p:txBody>
      </p:sp>
      <p:sp>
        <p:nvSpPr>
          <p:cNvPr id="6" name="TextBox 5"/>
          <p:cNvSpPr txBox="1"/>
          <p:nvPr/>
        </p:nvSpPr>
        <p:spPr>
          <a:xfrm>
            <a:off x="685800" y="3291840"/>
            <a:ext cx="4526280" cy="292608"/>
          </a:xfrm>
          <a:prstGeom prst="rect">
            <a:avLst/>
          </a:prstGeom>
          <a:noFill/>
        </p:spPr>
        <p:txBody>
          <a:bodyPr wrap="square" lIns="0" rIns="0" tIns="0" bIns="0" anchor="t">
            <a:spAutoFit/>
          </a:bodyPr>
          <a:lstStyle/>
          <a:p>
            <a:pPr algn="l">
              <a:lnSpc>
                <a:spcPct val="100000"/>
              </a:lnSpc>
            </a:pPr>
            <a:r>
              <a:rPr sz="1500" b="0">
                <a:solidFill>
                  <a:srgbClr val="4A4F57"/>
                </a:solidFill>
                <a:latin typeface="Noto Sans KR"/>
                <a:ea typeface="Noto Sans KR"/>
                <a:cs typeface="Noto Sans KR"/>
              </a:rPr>
              <a:t>The Robot That Can Work in Any Kitchen</a:t>
            </a:r>
          </a:p>
        </p:txBody>
      </p:sp>
      <p:sp>
        <p:nvSpPr>
          <p:cNvPr id="7" name="TextBox 6"/>
          <p:cNvSpPr txBox="1"/>
          <p:nvPr/>
        </p:nvSpPr>
        <p:spPr>
          <a:xfrm>
            <a:off x="685800" y="3749039"/>
            <a:ext cx="4526280" cy="566928"/>
          </a:xfrm>
          <a:prstGeom prst="rect">
            <a:avLst/>
          </a:prstGeom>
          <a:noFill/>
        </p:spPr>
        <p:txBody>
          <a:bodyPr wrap="square" lIns="0" rIns="0" tIns="0" bIns="0" anchor="t">
            <a:spAutoFit/>
          </a:bodyPr>
          <a:lstStyle/>
          <a:p>
            <a:pPr algn="l">
              <a:lnSpc>
                <a:spcPct val="100000"/>
              </a:lnSpc>
            </a:pPr>
            <a:r>
              <a:rPr sz="1400" b="0">
                <a:solidFill>
                  <a:srgbClr val="15171A"/>
                </a:solidFill>
                <a:latin typeface="Noto Sans KR"/>
                <a:ea typeface="Noto Sans KR"/>
                <a:cs typeface="Noto Sans KR"/>
              </a:rPr>
              <a:t>사람이 사용하는 기존 주방과 도구를</a:t>
            </a:r>
          </a:p>
          <a:p>
            <a:pPr algn="l">
              <a:lnSpc>
                <a:spcPct val="100000"/>
              </a:lnSpc>
            </a:pPr>
            <a:r>
              <a:rPr sz="1400" b="0">
                <a:solidFill>
                  <a:srgbClr val="15171A"/>
                </a:solidFill>
                <a:latin typeface="Noto Sans KR"/>
                <a:ea typeface="Noto Sans KR"/>
                <a:cs typeface="Noto Sans KR"/>
              </a:rPr>
              <a:t>그대로 사용하는 Kitchen Robotics Platform</a:t>
            </a:r>
          </a:p>
        </p:txBody>
      </p:sp>
      <p:cxnSp>
        <p:nvCxnSpPr>
          <p:cNvPr id="8" name="Connector 7"/>
          <p:cNvCxnSpPr/>
          <p:nvPr/>
        </p:nvCxnSpPr>
        <p:spPr>
          <a:xfrm>
            <a:off x="685800" y="4590288"/>
            <a:ext cx="4434840" cy="0"/>
          </a:xfrm>
          <a:prstGeom prst="line">
            <a:avLst/>
          </a:prstGeom>
          <a:ln w="12700">
            <a:solidFill>
              <a:srgbClr val="15171A"/>
            </a:solidFill>
          </a:ln>
        </p:spPr>
      </p:cxnSp>
      <p:sp>
        <p:nvSpPr>
          <p:cNvPr id="9" name="TextBox 8"/>
          <p:cNvSpPr txBox="1"/>
          <p:nvPr/>
        </p:nvSpPr>
        <p:spPr>
          <a:xfrm>
            <a:off x="685800" y="4709159"/>
            <a:ext cx="914400" cy="237744"/>
          </a:xfrm>
          <a:prstGeom prst="rect">
            <a:avLst/>
          </a:prstGeom>
          <a:noFill/>
        </p:spPr>
        <p:txBody>
          <a:bodyPr wrap="square" lIns="0" rIns="0" tIns="0" bIns="0" anchor="t">
            <a:spAutoFit/>
          </a:bodyPr>
          <a:lstStyle/>
          <a:p>
            <a:pPr algn="l">
              <a:lnSpc>
                <a:spcPct val="100000"/>
              </a:lnSpc>
            </a:pPr>
            <a:r>
              <a:rPr sz="1100" b="0">
                <a:solidFill>
                  <a:srgbClr val="8C9198"/>
                </a:solidFill>
                <a:latin typeface="Noto Sans KR"/>
                <a:ea typeface="Noto Sans KR"/>
                <a:cs typeface="Noto Sans KR"/>
              </a:rPr>
              <a:t>시장</a:t>
            </a:r>
          </a:p>
        </p:txBody>
      </p:sp>
      <p:sp>
        <p:nvSpPr>
          <p:cNvPr id="10" name="TextBox 9"/>
          <p:cNvSpPr txBox="1"/>
          <p:nvPr/>
        </p:nvSpPr>
        <p:spPr>
          <a:xfrm>
            <a:off x="1600200" y="4672583"/>
            <a:ext cx="3520440" cy="292608"/>
          </a:xfrm>
          <a:prstGeom prst="rect">
            <a:avLst/>
          </a:prstGeom>
          <a:noFill/>
        </p:spPr>
        <p:txBody>
          <a:bodyPr wrap="square" lIns="0" rIns="0" tIns="0" bIns="0" anchor="t">
            <a:spAutoFit/>
          </a:bodyPr>
          <a:lstStyle/>
          <a:p>
            <a:pPr algn="l">
              <a:lnSpc>
                <a:spcPct val="100000"/>
              </a:lnSpc>
            </a:pPr>
            <a:r>
              <a:rPr sz="1450" b="1">
                <a:solidFill>
                  <a:srgbClr val="15171A"/>
                </a:solidFill>
                <a:latin typeface="Noto Sans KR"/>
                <a:ea typeface="Noto Sans KR"/>
                <a:cs typeface="Noto Sans KR"/>
              </a:rPr>
              <a:t>상업용 주방 + 가정용 주방</a:t>
            </a:r>
          </a:p>
        </p:txBody>
      </p:sp>
      <p:cxnSp>
        <p:nvCxnSpPr>
          <p:cNvPr id="11" name="Connector 10"/>
          <p:cNvCxnSpPr/>
          <p:nvPr/>
        </p:nvCxnSpPr>
        <p:spPr>
          <a:xfrm>
            <a:off x="685800" y="5029200"/>
            <a:ext cx="4434840" cy="0"/>
          </a:xfrm>
          <a:prstGeom prst="line">
            <a:avLst/>
          </a:prstGeom>
          <a:ln w="9525">
            <a:solidFill>
              <a:srgbClr val="E2E4E7"/>
            </a:solidFill>
          </a:ln>
        </p:spPr>
      </p:cxnSp>
      <p:sp>
        <p:nvSpPr>
          <p:cNvPr id="12" name="TextBox 11"/>
          <p:cNvSpPr txBox="1"/>
          <p:nvPr/>
        </p:nvSpPr>
        <p:spPr>
          <a:xfrm>
            <a:off x="685800" y="5148072"/>
            <a:ext cx="914400" cy="237744"/>
          </a:xfrm>
          <a:prstGeom prst="rect">
            <a:avLst/>
          </a:prstGeom>
          <a:noFill/>
        </p:spPr>
        <p:txBody>
          <a:bodyPr wrap="square" lIns="0" rIns="0" tIns="0" bIns="0" anchor="t">
            <a:spAutoFit/>
          </a:bodyPr>
          <a:lstStyle/>
          <a:p>
            <a:pPr algn="l">
              <a:lnSpc>
                <a:spcPct val="100000"/>
              </a:lnSpc>
            </a:pPr>
            <a:r>
              <a:rPr sz="1100" b="0">
                <a:solidFill>
                  <a:srgbClr val="8C9198"/>
                </a:solidFill>
                <a:latin typeface="Noto Sans KR"/>
                <a:ea typeface="Noto Sans KR"/>
                <a:cs typeface="Noto Sans KR"/>
              </a:rPr>
              <a:t>제품</a:t>
            </a:r>
          </a:p>
        </p:txBody>
      </p:sp>
      <p:sp>
        <p:nvSpPr>
          <p:cNvPr id="13" name="TextBox 12"/>
          <p:cNvSpPr txBox="1"/>
          <p:nvPr/>
        </p:nvSpPr>
        <p:spPr>
          <a:xfrm>
            <a:off x="1600200" y="5111496"/>
            <a:ext cx="3520440" cy="292608"/>
          </a:xfrm>
          <a:prstGeom prst="rect">
            <a:avLst/>
          </a:prstGeom>
          <a:noFill/>
        </p:spPr>
        <p:txBody>
          <a:bodyPr wrap="square" lIns="0" rIns="0" tIns="0" bIns="0" anchor="t">
            <a:spAutoFit/>
          </a:bodyPr>
          <a:lstStyle/>
          <a:p>
            <a:pPr algn="l">
              <a:lnSpc>
                <a:spcPct val="100000"/>
              </a:lnSpc>
            </a:pPr>
            <a:r>
              <a:rPr sz="1450" b="1">
                <a:solidFill>
                  <a:srgbClr val="15171A"/>
                </a:solidFill>
                <a:latin typeface="Noto Sans KR"/>
                <a:ea typeface="Noto Sans KR"/>
                <a:cs typeface="Noto Sans KR"/>
              </a:rPr>
              <a:t>Powered by SoftHand + Kitchen Skills</a:t>
            </a:r>
          </a:p>
        </p:txBody>
      </p:sp>
      <p:cxnSp>
        <p:nvCxnSpPr>
          <p:cNvPr id="14" name="Connector 13"/>
          <p:cNvCxnSpPr/>
          <p:nvPr/>
        </p:nvCxnSpPr>
        <p:spPr>
          <a:xfrm>
            <a:off x="685800" y="5468112"/>
            <a:ext cx="4434840" cy="0"/>
          </a:xfrm>
          <a:prstGeom prst="line">
            <a:avLst/>
          </a:prstGeom>
          <a:ln w="9525">
            <a:solidFill>
              <a:srgbClr val="E2E4E7"/>
            </a:solidFill>
          </a:ln>
        </p:spPr>
      </p:cxnSp>
      <p:sp>
        <p:nvSpPr>
          <p:cNvPr id="15" name="TextBox 14"/>
          <p:cNvSpPr txBox="1"/>
          <p:nvPr/>
        </p:nvSpPr>
        <p:spPr>
          <a:xfrm>
            <a:off x="685800" y="5586984"/>
            <a:ext cx="914400" cy="237744"/>
          </a:xfrm>
          <a:prstGeom prst="rect">
            <a:avLst/>
          </a:prstGeom>
          <a:noFill/>
        </p:spPr>
        <p:txBody>
          <a:bodyPr wrap="square" lIns="0" rIns="0" tIns="0" bIns="0" anchor="t">
            <a:spAutoFit/>
          </a:bodyPr>
          <a:lstStyle/>
          <a:p>
            <a:pPr algn="l">
              <a:lnSpc>
                <a:spcPct val="100000"/>
              </a:lnSpc>
            </a:pPr>
            <a:r>
              <a:rPr sz="1100" b="0">
                <a:solidFill>
                  <a:srgbClr val="8C9198"/>
                </a:solidFill>
                <a:latin typeface="Noto Sans KR"/>
                <a:ea typeface="Noto Sans KR"/>
                <a:cs typeface="Noto Sans KR"/>
              </a:rPr>
              <a:t>투자 요청</a:t>
            </a:r>
          </a:p>
        </p:txBody>
      </p:sp>
      <p:sp>
        <p:nvSpPr>
          <p:cNvPr id="16" name="TextBox 15"/>
          <p:cNvSpPr txBox="1"/>
          <p:nvPr/>
        </p:nvSpPr>
        <p:spPr>
          <a:xfrm>
            <a:off x="1600200" y="5550408"/>
            <a:ext cx="3520440" cy="292608"/>
          </a:xfrm>
          <a:prstGeom prst="rect">
            <a:avLst/>
          </a:prstGeom>
          <a:noFill/>
        </p:spPr>
        <p:txBody>
          <a:bodyPr wrap="square" lIns="0" rIns="0" tIns="0" bIns="0" anchor="t">
            <a:spAutoFit/>
          </a:bodyPr>
          <a:lstStyle/>
          <a:p>
            <a:pPr algn="l">
              <a:lnSpc>
                <a:spcPct val="100000"/>
              </a:lnSpc>
            </a:pPr>
            <a:r>
              <a:rPr sz="1450" b="1">
                <a:solidFill>
                  <a:srgbClr val="E2571B"/>
                </a:solidFill>
                <a:latin typeface="Noto Sans KR"/>
                <a:ea typeface="Noto Sans KR"/>
                <a:cs typeface="Noto Sans KR"/>
              </a:rPr>
              <a:t>Seed 20억 원 · 24개월</a:t>
            </a:r>
          </a:p>
        </p:txBody>
      </p:sp>
      <p:cxnSp>
        <p:nvCxnSpPr>
          <p:cNvPr id="17" name="Connector 16"/>
          <p:cNvCxnSpPr/>
          <p:nvPr/>
        </p:nvCxnSpPr>
        <p:spPr>
          <a:xfrm>
            <a:off x="685800" y="5907024"/>
            <a:ext cx="4434840" cy="0"/>
          </a:xfrm>
          <a:prstGeom prst="line">
            <a:avLst/>
          </a:prstGeom>
          <a:ln w="9525">
            <a:solidFill>
              <a:srgbClr val="E2E4E7"/>
            </a:solidFill>
          </a:ln>
        </p:spPr>
      </p:cxnSp>
      <p:sp>
        <p:nvSpPr>
          <p:cNvPr id="18" name="TextBox 17"/>
          <p:cNvSpPr txBox="1"/>
          <p:nvPr/>
        </p:nvSpPr>
        <p:spPr>
          <a:xfrm>
            <a:off x="685800" y="6355080"/>
            <a:ext cx="4389120" cy="201168"/>
          </a:xfrm>
          <a:prstGeom prst="rect">
            <a:avLst/>
          </a:prstGeom>
          <a:noFill/>
        </p:spPr>
        <p:txBody>
          <a:bodyPr wrap="square" lIns="0" rIns="0" tIns="0" bIns="0" anchor="t">
            <a:spAutoFit/>
          </a:bodyPr>
          <a:lstStyle/>
          <a:p>
            <a:pPr algn="l">
              <a:lnSpc>
                <a:spcPct val="100000"/>
              </a:lnSpc>
            </a:pPr>
            <a:r>
              <a:rPr sz="900" b="0">
                <a:solidFill>
                  <a:srgbClr val="8C9198"/>
                </a:solidFill>
                <a:latin typeface="Noto Sans KR"/>
                <a:ea typeface="Noto Sans KR"/>
                <a:cs typeface="Noto Sans KR"/>
              </a:rPr>
              <a:t>2026. 10  ·  이미지: 콘셉트 렌더링</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548640"/>
            <a:ext cx="7315200" cy="274320"/>
          </a:xfrm>
          <a:prstGeom prst="rect">
            <a:avLst/>
          </a:prstGeom>
          <a:noFill/>
        </p:spPr>
        <p:txBody>
          <a:bodyPr wrap="square" lIns="0" rIns="0" tIns="0" bIns="0" anchor="t">
            <a:spAutoFit/>
          </a:bodyPr>
          <a:lstStyle/>
          <a:p>
            <a:pPr algn="l">
              <a:lnSpc>
                <a:spcPct val="100000"/>
              </a:lnSpc>
            </a:pPr>
            <a:r>
              <a:rPr sz="1200" b="1">
                <a:solidFill>
                  <a:srgbClr val="E2571B"/>
                </a:solidFill>
                <a:latin typeface="Noto Sans KR"/>
                <a:ea typeface="Noto Sans KR"/>
                <a:cs typeface="Noto Sans KR"/>
              </a:rPr>
              <a:t>PROBLEM</a:t>
            </a:r>
          </a:p>
        </p:txBody>
      </p:sp>
      <p:sp>
        <p:nvSpPr>
          <p:cNvPr id="3" name="TextBox 2"/>
          <p:cNvSpPr txBox="1"/>
          <p:nvPr/>
        </p:nvSpPr>
        <p:spPr>
          <a:xfrm>
            <a:off x="685800" y="932688"/>
            <a:ext cx="10820095" cy="542391"/>
          </a:xfrm>
          <a:prstGeom prst="rect">
            <a:avLst/>
          </a:prstGeom>
          <a:noFill/>
        </p:spPr>
        <p:txBody>
          <a:bodyPr wrap="square" lIns="0" rIns="0" tIns="0" bIns="0" anchor="t">
            <a:spAutoFit/>
          </a:bodyPr>
          <a:lstStyle/>
          <a:p>
            <a:pPr algn="l">
              <a:lnSpc>
                <a:spcPct val="95000"/>
              </a:lnSpc>
            </a:pPr>
            <a:r>
              <a:rPr sz="3000" b="1">
                <a:solidFill>
                  <a:srgbClr val="15171A"/>
                </a:solidFill>
                <a:latin typeface="Noto Sans KR"/>
                <a:ea typeface="Noto Sans KR"/>
                <a:cs typeface="Noto Sans KR"/>
              </a:rPr>
              <a:t>현재 주방 자동화는 로봇보다 주방을 더 많이 바꿉니다</a:t>
            </a:r>
          </a:p>
        </p:txBody>
      </p:sp>
      <p:sp>
        <p:nvSpPr>
          <p:cNvPr id="4" name="TextBox 3"/>
          <p:cNvSpPr txBox="1"/>
          <p:nvPr/>
        </p:nvSpPr>
        <p:spPr>
          <a:xfrm>
            <a:off x="685800" y="1584807"/>
            <a:ext cx="10820095" cy="329184"/>
          </a:xfrm>
          <a:prstGeom prst="rect">
            <a:avLst/>
          </a:prstGeom>
          <a:noFill/>
        </p:spPr>
        <p:txBody>
          <a:bodyPr wrap="square" lIns="0" rIns="0" tIns="0" bIns="0" anchor="t">
            <a:spAutoFit/>
          </a:bodyPr>
          <a:lstStyle/>
          <a:p>
            <a:pPr algn="l">
              <a:lnSpc>
                <a:spcPct val="100000"/>
              </a:lnSpc>
            </a:pPr>
            <a:r>
              <a:rPr sz="1600" b="0">
                <a:solidFill>
                  <a:srgbClr val="4A4F57"/>
                </a:solidFill>
                <a:latin typeface="Noto Sans KR"/>
                <a:ea typeface="Noto Sans KR"/>
                <a:cs typeface="Noto Sans KR"/>
              </a:rPr>
              <a:t>메뉴와 작업이 바뀔 때마다 새 하드웨어와 엔지니어링이 다시 필요</a:t>
            </a:r>
          </a:p>
        </p:txBody>
      </p:sp>
      <p:sp>
        <p:nvSpPr>
          <p:cNvPr id="5" name="Rectangle 4"/>
          <p:cNvSpPr/>
          <p:nvPr/>
        </p:nvSpPr>
        <p:spPr>
          <a:xfrm>
            <a:off x="685800" y="2234031"/>
            <a:ext cx="1481328" cy="512064"/>
          </a:xfrm>
          <a:prstGeom prst="rect">
            <a:avLst/>
          </a:prstGeom>
          <a:solidFill>
            <a:srgbClr val="15171A"/>
          </a:solidFill>
          <a:ln>
            <a:noFill/>
          </a:ln>
        </p:spPr>
        <p:txBody>
          <a:bodyPr rtlCol="0" anchor="ctr"/>
          <a:lstStyle/>
          <a:p>
            <a:pPr algn="ctr"/>
          </a:p>
        </p:txBody>
      </p:sp>
      <p:sp>
        <p:nvSpPr>
          <p:cNvPr id="6" name="TextBox 5"/>
          <p:cNvSpPr txBox="1"/>
          <p:nvPr/>
        </p:nvSpPr>
        <p:spPr>
          <a:xfrm>
            <a:off x="758952" y="2234031"/>
            <a:ext cx="1335024" cy="512064"/>
          </a:xfrm>
          <a:prstGeom prst="rect">
            <a:avLst/>
          </a:prstGeom>
          <a:noFill/>
        </p:spPr>
        <p:txBody>
          <a:bodyPr wrap="square" lIns="0" rIns="0" tIns="0" bIns="0" anchor="ctr">
            <a:spAutoFit/>
          </a:bodyPr>
          <a:lstStyle/>
          <a:p>
            <a:pPr algn="ctr">
              <a:lnSpc>
                <a:spcPct val="100000"/>
              </a:lnSpc>
            </a:pPr>
            <a:r>
              <a:rPr sz="1150" b="1">
                <a:solidFill>
                  <a:srgbClr val="FFFFFF"/>
                </a:solidFill>
                <a:latin typeface="Noto Sans KR"/>
                <a:ea typeface="Noto Sans KR"/>
                <a:cs typeface="Noto Sans KR"/>
              </a:rPr>
              <a:t>전용 그리퍼</a:t>
            </a:r>
          </a:p>
        </p:txBody>
      </p:sp>
      <p:sp>
        <p:nvSpPr>
          <p:cNvPr id="7" name="Rectangle 6"/>
          <p:cNvSpPr/>
          <p:nvPr/>
        </p:nvSpPr>
        <p:spPr>
          <a:xfrm>
            <a:off x="685800" y="2819247"/>
            <a:ext cx="1481328" cy="512064"/>
          </a:xfrm>
          <a:prstGeom prst="rect">
            <a:avLst/>
          </a:prstGeom>
          <a:solidFill>
            <a:srgbClr val="15171A"/>
          </a:solidFill>
          <a:ln>
            <a:noFill/>
          </a:ln>
        </p:spPr>
        <p:txBody>
          <a:bodyPr rtlCol="0" anchor="ctr"/>
          <a:lstStyle/>
          <a:p>
            <a:pPr algn="ctr"/>
          </a:p>
        </p:txBody>
      </p:sp>
      <p:sp>
        <p:nvSpPr>
          <p:cNvPr id="8" name="TextBox 7"/>
          <p:cNvSpPr txBox="1"/>
          <p:nvPr/>
        </p:nvSpPr>
        <p:spPr>
          <a:xfrm>
            <a:off x="758952" y="2819247"/>
            <a:ext cx="1335024" cy="512064"/>
          </a:xfrm>
          <a:prstGeom prst="rect">
            <a:avLst/>
          </a:prstGeom>
          <a:noFill/>
        </p:spPr>
        <p:txBody>
          <a:bodyPr wrap="square" lIns="0" rIns="0" tIns="0" bIns="0" anchor="ctr">
            <a:spAutoFit/>
          </a:bodyPr>
          <a:lstStyle/>
          <a:p>
            <a:pPr algn="ctr">
              <a:lnSpc>
                <a:spcPct val="100000"/>
              </a:lnSpc>
            </a:pPr>
            <a:r>
              <a:rPr sz="1150" b="1">
                <a:solidFill>
                  <a:srgbClr val="FFFFFF"/>
                </a:solidFill>
                <a:latin typeface="Noto Sans KR"/>
                <a:ea typeface="Noto Sans KR"/>
                <a:cs typeface="Noto Sans KR"/>
              </a:rPr>
              <a:t>전용 조리장비</a:t>
            </a:r>
          </a:p>
        </p:txBody>
      </p:sp>
      <p:sp>
        <p:nvSpPr>
          <p:cNvPr id="9" name="Rectangle 8"/>
          <p:cNvSpPr/>
          <p:nvPr/>
        </p:nvSpPr>
        <p:spPr>
          <a:xfrm>
            <a:off x="685800" y="3404463"/>
            <a:ext cx="1481328" cy="512064"/>
          </a:xfrm>
          <a:prstGeom prst="rect">
            <a:avLst/>
          </a:prstGeom>
          <a:solidFill>
            <a:srgbClr val="15171A"/>
          </a:solidFill>
          <a:ln>
            <a:noFill/>
          </a:ln>
        </p:spPr>
        <p:txBody>
          <a:bodyPr rtlCol="0" anchor="ctr"/>
          <a:lstStyle/>
          <a:p>
            <a:pPr algn="ctr"/>
          </a:p>
        </p:txBody>
      </p:sp>
      <p:sp>
        <p:nvSpPr>
          <p:cNvPr id="10" name="TextBox 9"/>
          <p:cNvSpPr txBox="1"/>
          <p:nvPr/>
        </p:nvSpPr>
        <p:spPr>
          <a:xfrm>
            <a:off x="758952" y="3404463"/>
            <a:ext cx="1335024" cy="512064"/>
          </a:xfrm>
          <a:prstGeom prst="rect">
            <a:avLst/>
          </a:prstGeom>
          <a:noFill/>
        </p:spPr>
        <p:txBody>
          <a:bodyPr wrap="square" lIns="0" rIns="0" tIns="0" bIns="0" anchor="ctr">
            <a:spAutoFit/>
          </a:bodyPr>
          <a:lstStyle/>
          <a:p>
            <a:pPr algn="ctr">
              <a:lnSpc>
                <a:spcPct val="100000"/>
              </a:lnSpc>
            </a:pPr>
            <a:r>
              <a:rPr sz="1150" b="1">
                <a:solidFill>
                  <a:srgbClr val="FFFFFF"/>
                </a:solidFill>
                <a:latin typeface="Noto Sans KR"/>
                <a:ea typeface="Noto Sans KR"/>
                <a:cs typeface="Noto Sans KR"/>
              </a:rPr>
              <a:t>전용 투입장치</a:t>
            </a:r>
          </a:p>
        </p:txBody>
      </p:sp>
      <p:sp>
        <p:nvSpPr>
          <p:cNvPr id="11" name="Rectangle 10"/>
          <p:cNvSpPr/>
          <p:nvPr/>
        </p:nvSpPr>
        <p:spPr>
          <a:xfrm>
            <a:off x="685800" y="3989679"/>
            <a:ext cx="1481328" cy="512064"/>
          </a:xfrm>
          <a:prstGeom prst="rect">
            <a:avLst/>
          </a:prstGeom>
          <a:solidFill>
            <a:srgbClr val="15171A"/>
          </a:solidFill>
          <a:ln>
            <a:noFill/>
          </a:ln>
        </p:spPr>
        <p:txBody>
          <a:bodyPr rtlCol="0" anchor="ctr"/>
          <a:lstStyle/>
          <a:p>
            <a:pPr algn="ctr"/>
          </a:p>
        </p:txBody>
      </p:sp>
      <p:sp>
        <p:nvSpPr>
          <p:cNvPr id="12" name="TextBox 11"/>
          <p:cNvSpPr txBox="1"/>
          <p:nvPr/>
        </p:nvSpPr>
        <p:spPr>
          <a:xfrm>
            <a:off x="758952" y="3989679"/>
            <a:ext cx="1335024" cy="512064"/>
          </a:xfrm>
          <a:prstGeom prst="rect">
            <a:avLst/>
          </a:prstGeom>
          <a:noFill/>
        </p:spPr>
        <p:txBody>
          <a:bodyPr wrap="square" lIns="0" rIns="0" tIns="0" bIns="0" anchor="ctr">
            <a:spAutoFit/>
          </a:bodyPr>
          <a:lstStyle/>
          <a:p>
            <a:pPr algn="ctr">
              <a:lnSpc>
                <a:spcPct val="100000"/>
              </a:lnSpc>
            </a:pPr>
            <a:r>
              <a:rPr sz="1150" b="1">
                <a:solidFill>
                  <a:srgbClr val="FFFFFF"/>
                </a:solidFill>
                <a:latin typeface="Noto Sans KR"/>
                <a:ea typeface="Noto Sans KR"/>
                <a:cs typeface="Noto Sans KR"/>
              </a:rPr>
              <a:t>전용 레이아웃</a:t>
            </a:r>
          </a:p>
        </p:txBody>
      </p:sp>
      <p:sp>
        <p:nvSpPr>
          <p:cNvPr id="13" name="Rectangle 12"/>
          <p:cNvSpPr/>
          <p:nvPr/>
        </p:nvSpPr>
        <p:spPr>
          <a:xfrm>
            <a:off x="685800" y="4574895"/>
            <a:ext cx="1481328" cy="512064"/>
          </a:xfrm>
          <a:prstGeom prst="rect">
            <a:avLst/>
          </a:prstGeom>
          <a:solidFill>
            <a:srgbClr val="15171A"/>
          </a:solidFill>
          <a:ln>
            <a:noFill/>
          </a:ln>
        </p:spPr>
        <p:txBody>
          <a:bodyPr rtlCol="0" anchor="ctr"/>
          <a:lstStyle/>
          <a:p>
            <a:pPr algn="ctr"/>
          </a:p>
        </p:txBody>
      </p:sp>
      <p:sp>
        <p:nvSpPr>
          <p:cNvPr id="14" name="TextBox 13"/>
          <p:cNvSpPr txBox="1"/>
          <p:nvPr/>
        </p:nvSpPr>
        <p:spPr>
          <a:xfrm>
            <a:off x="758952" y="4574895"/>
            <a:ext cx="1335024" cy="512064"/>
          </a:xfrm>
          <a:prstGeom prst="rect">
            <a:avLst/>
          </a:prstGeom>
          <a:noFill/>
        </p:spPr>
        <p:txBody>
          <a:bodyPr wrap="square" lIns="0" rIns="0" tIns="0" bIns="0" anchor="ctr">
            <a:spAutoFit/>
          </a:bodyPr>
          <a:lstStyle/>
          <a:p>
            <a:pPr algn="ctr">
              <a:lnSpc>
                <a:spcPct val="100000"/>
              </a:lnSpc>
            </a:pPr>
            <a:r>
              <a:rPr sz="1150" b="1">
                <a:solidFill>
                  <a:srgbClr val="FFFFFF"/>
                </a:solidFill>
                <a:latin typeface="Noto Sans KR"/>
                <a:ea typeface="Noto Sans KR"/>
                <a:cs typeface="Noto Sans KR"/>
              </a:rPr>
              <a:t>작업별 통합</a:t>
            </a:r>
          </a:p>
        </p:txBody>
      </p:sp>
      <p:sp>
        <p:nvSpPr>
          <p:cNvPr id="15" name="TextBox 14"/>
          <p:cNvSpPr txBox="1"/>
          <p:nvPr/>
        </p:nvSpPr>
        <p:spPr>
          <a:xfrm>
            <a:off x="685800" y="5214975"/>
            <a:ext cx="1481328" cy="274320"/>
          </a:xfrm>
          <a:prstGeom prst="rect">
            <a:avLst/>
          </a:prstGeom>
          <a:noFill/>
        </p:spPr>
        <p:txBody>
          <a:bodyPr wrap="square" lIns="0" rIns="0" tIns="0" bIns="0" anchor="t">
            <a:spAutoFit/>
          </a:bodyPr>
          <a:lstStyle/>
          <a:p>
            <a:pPr algn="ctr">
              <a:lnSpc>
                <a:spcPct val="100000"/>
              </a:lnSpc>
            </a:pPr>
            <a:r>
              <a:rPr sz="1300" b="1">
                <a:solidFill>
                  <a:srgbClr val="15171A"/>
                </a:solidFill>
                <a:latin typeface="Noto Sans KR"/>
                <a:ea typeface="Noto Sans KR"/>
                <a:cs typeface="Noto Sans KR"/>
              </a:rPr>
              <a:t>메뉴 A</a:t>
            </a:r>
          </a:p>
        </p:txBody>
      </p:sp>
      <p:sp>
        <p:nvSpPr>
          <p:cNvPr id="16" name="Rectangle 15"/>
          <p:cNvSpPr/>
          <p:nvPr/>
        </p:nvSpPr>
        <p:spPr>
          <a:xfrm>
            <a:off x="2368296" y="2234031"/>
            <a:ext cx="1481328" cy="512064"/>
          </a:xfrm>
          <a:prstGeom prst="rect">
            <a:avLst/>
          </a:prstGeom>
          <a:solidFill>
            <a:srgbClr val="4A4F57"/>
          </a:solidFill>
          <a:ln>
            <a:noFill/>
          </a:ln>
        </p:spPr>
        <p:txBody>
          <a:bodyPr rtlCol="0" anchor="ctr"/>
          <a:lstStyle/>
          <a:p>
            <a:pPr algn="ctr"/>
          </a:p>
        </p:txBody>
      </p:sp>
      <p:sp>
        <p:nvSpPr>
          <p:cNvPr id="17" name="TextBox 16"/>
          <p:cNvSpPr txBox="1"/>
          <p:nvPr/>
        </p:nvSpPr>
        <p:spPr>
          <a:xfrm>
            <a:off x="2441448" y="2234031"/>
            <a:ext cx="1335024" cy="512064"/>
          </a:xfrm>
          <a:prstGeom prst="rect">
            <a:avLst/>
          </a:prstGeom>
          <a:noFill/>
        </p:spPr>
        <p:txBody>
          <a:bodyPr wrap="square" lIns="0" rIns="0" tIns="0" bIns="0" anchor="ctr">
            <a:spAutoFit/>
          </a:bodyPr>
          <a:lstStyle/>
          <a:p>
            <a:pPr algn="ctr">
              <a:lnSpc>
                <a:spcPct val="100000"/>
              </a:lnSpc>
            </a:pPr>
            <a:r>
              <a:rPr sz="1150" b="0">
                <a:solidFill>
                  <a:srgbClr val="FFFFFF"/>
                </a:solidFill>
                <a:latin typeface="Noto Sans KR"/>
                <a:ea typeface="Noto Sans KR"/>
                <a:cs typeface="Noto Sans KR"/>
              </a:rPr>
              <a:t>전용 그리퍼</a:t>
            </a:r>
          </a:p>
        </p:txBody>
      </p:sp>
      <p:sp>
        <p:nvSpPr>
          <p:cNvPr id="18" name="Rectangle 17"/>
          <p:cNvSpPr/>
          <p:nvPr/>
        </p:nvSpPr>
        <p:spPr>
          <a:xfrm>
            <a:off x="2368296" y="2819247"/>
            <a:ext cx="1481328" cy="512064"/>
          </a:xfrm>
          <a:prstGeom prst="rect">
            <a:avLst/>
          </a:prstGeom>
          <a:solidFill>
            <a:srgbClr val="4A4F57"/>
          </a:solidFill>
          <a:ln>
            <a:noFill/>
          </a:ln>
        </p:spPr>
        <p:txBody>
          <a:bodyPr rtlCol="0" anchor="ctr"/>
          <a:lstStyle/>
          <a:p>
            <a:pPr algn="ctr"/>
          </a:p>
        </p:txBody>
      </p:sp>
      <p:sp>
        <p:nvSpPr>
          <p:cNvPr id="19" name="TextBox 18"/>
          <p:cNvSpPr txBox="1"/>
          <p:nvPr/>
        </p:nvSpPr>
        <p:spPr>
          <a:xfrm>
            <a:off x="2441448" y="2819247"/>
            <a:ext cx="1335024" cy="512064"/>
          </a:xfrm>
          <a:prstGeom prst="rect">
            <a:avLst/>
          </a:prstGeom>
          <a:noFill/>
        </p:spPr>
        <p:txBody>
          <a:bodyPr wrap="square" lIns="0" rIns="0" tIns="0" bIns="0" anchor="ctr">
            <a:spAutoFit/>
          </a:bodyPr>
          <a:lstStyle/>
          <a:p>
            <a:pPr algn="ctr">
              <a:lnSpc>
                <a:spcPct val="100000"/>
              </a:lnSpc>
            </a:pPr>
            <a:r>
              <a:rPr sz="1150" b="0">
                <a:solidFill>
                  <a:srgbClr val="FFFFFF"/>
                </a:solidFill>
                <a:latin typeface="Noto Sans KR"/>
                <a:ea typeface="Noto Sans KR"/>
                <a:cs typeface="Noto Sans KR"/>
              </a:rPr>
              <a:t>전용 조리장비</a:t>
            </a:r>
          </a:p>
        </p:txBody>
      </p:sp>
      <p:sp>
        <p:nvSpPr>
          <p:cNvPr id="20" name="Rectangle 19"/>
          <p:cNvSpPr/>
          <p:nvPr/>
        </p:nvSpPr>
        <p:spPr>
          <a:xfrm>
            <a:off x="2368296" y="3404463"/>
            <a:ext cx="1481328" cy="512064"/>
          </a:xfrm>
          <a:prstGeom prst="rect">
            <a:avLst/>
          </a:prstGeom>
          <a:solidFill>
            <a:srgbClr val="4A4F57"/>
          </a:solidFill>
          <a:ln>
            <a:noFill/>
          </a:ln>
        </p:spPr>
        <p:txBody>
          <a:bodyPr rtlCol="0" anchor="ctr"/>
          <a:lstStyle/>
          <a:p>
            <a:pPr algn="ctr"/>
          </a:p>
        </p:txBody>
      </p:sp>
      <p:sp>
        <p:nvSpPr>
          <p:cNvPr id="21" name="TextBox 20"/>
          <p:cNvSpPr txBox="1"/>
          <p:nvPr/>
        </p:nvSpPr>
        <p:spPr>
          <a:xfrm>
            <a:off x="2441448" y="3404463"/>
            <a:ext cx="1335024" cy="512064"/>
          </a:xfrm>
          <a:prstGeom prst="rect">
            <a:avLst/>
          </a:prstGeom>
          <a:noFill/>
        </p:spPr>
        <p:txBody>
          <a:bodyPr wrap="square" lIns="0" rIns="0" tIns="0" bIns="0" anchor="ctr">
            <a:spAutoFit/>
          </a:bodyPr>
          <a:lstStyle/>
          <a:p>
            <a:pPr algn="ctr">
              <a:lnSpc>
                <a:spcPct val="100000"/>
              </a:lnSpc>
            </a:pPr>
            <a:r>
              <a:rPr sz="1150" b="0">
                <a:solidFill>
                  <a:srgbClr val="FFFFFF"/>
                </a:solidFill>
                <a:latin typeface="Noto Sans KR"/>
                <a:ea typeface="Noto Sans KR"/>
                <a:cs typeface="Noto Sans KR"/>
              </a:rPr>
              <a:t>전용 투입장치</a:t>
            </a:r>
          </a:p>
        </p:txBody>
      </p:sp>
      <p:sp>
        <p:nvSpPr>
          <p:cNvPr id="22" name="Rectangle 21"/>
          <p:cNvSpPr/>
          <p:nvPr/>
        </p:nvSpPr>
        <p:spPr>
          <a:xfrm>
            <a:off x="2368296" y="3989679"/>
            <a:ext cx="1481328" cy="512064"/>
          </a:xfrm>
          <a:prstGeom prst="rect">
            <a:avLst/>
          </a:prstGeom>
          <a:solidFill>
            <a:srgbClr val="4A4F57"/>
          </a:solidFill>
          <a:ln>
            <a:noFill/>
          </a:ln>
        </p:spPr>
        <p:txBody>
          <a:bodyPr rtlCol="0" anchor="ctr"/>
          <a:lstStyle/>
          <a:p>
            <a:pPr algn="ctr"/>
          </a:p>
        </p:txBody>
      </p:sp>
      <p:sp>
        <p:nvSpPr>
          <p:cNvPr id="23" name="TextBox 22"/>
          <p:cNvSpPr txBox="1"/>
          <p:nvPr/>
        </p:nvSpPr>
        <p:spPr>
          <a:xfrm>
            <a:off x="2441448" y="3989679"/>
            <a:ext cx="1335024" cy="512064"/>
          </a:xfrm>
          <a:prstGeom prst="rect">
            <a:avLst/>
          </a:prstGeom>
          <a:noFill/>
        </p:spPr>
        <p:txBody>
          <a:bodyPr wrap="square" lIns="0" rIns="0" tIns="0" bIns="0" anchor="ctr">
            <a:spAutoFit/>
          </a:bodyPr>
          <a:lstStyle/>
          <a:p>
            <a:pPr algn="ctr">
              <a:lnSpc>
                <a:spcPct val="100000"/>
              </a:lnSpc>
            </a:pPr>
            <a:r>
              <a:rPr sz="1150" b="0">
                <a:solidFill>
                  <a:srgbClr val="FFFFFF"/>
                </a:solidFill>
                <a:latin typeface="Noto Sans KR"/>
                <a:ea typeface="Noto Sans KR"/>
                <a:cs typeface="Noto Sans KR"/>
              </a:rPr>
              <a:t>전용 레이아웃</a:t>
            </a:r>
          </a:p>
        </p:txBody>
      </p:sp>
      <p:sp>
        <p:nvSpPr>
          <p:cNvPr id="24" name="Rectangle 23"/>
          <p:cNvSpPr/>
          <p:nvPr/>
        </p:nvSpPr>
        <p:spPr>
          <a:xfrm>
            <a:off x="2368296" y="4574895"/>
            <a:ext cx="1481328" cy="512064"/>
          </a:xfrm>
          <a:prstGeom prst="rect">
            <a:avLst/>
          </a:prstGeom>
          <a:solidFill>
            <a:srgbClr val="4A4F57"/>
          </a:solidFill>
          <a:ln>
            <a:noFill/>
          </a:ln>
        </p:spPr>
        <p:txBody>
          <a:bodyPr rtlCol="0" anchor="ctr"/>
          <a:lstStyle/>
          <a:p>
            <a:pPr algn="ctr"/>
          </a:p>
        </p:txBody>
      </p:sp>
      <p:sp>
        <p:nvSpPr>
          <p:cNvPr id="25" name="TextBox 24"/>
          <p:cNvSpPr txBox="1"/>
          <p:nvPr/>
        </p:nvSpPr>
        <p:spPr>
          <a:xfrm>
            <a:off x="2441448" y="4574895"/>
            <a:ext cx="1335024" cy="512064"/>
          </a:xfrm>
          <a:prstGeom prst="rect">
            <a:avLst/>
          </a:prstGeom>
          <a:noFill/>
        </p:spPr>
        <p:txBody>
          <a:bodyPr wrap="square" lIns="0" rIns="0" tIns="0" bIns="0" anchor="ctr">
            <a:spAutoFit/>
          </a:bodyPr>
          <a:lstStyle/>
          <a:p>
            <a:pPr algn="ctr">
              <a:lnSpc>
                <a:spcPct val="100000"/>
              </a:lnSpc>
            </a:pPr>
            <a:r>
              <a:rPr sz="1150" b="0">
                <a:solidFill>
                  <a:srgbClr val="FFFFFF"/>
                </a:solidFill>
                <a:latin typeface="Noto Sans KR"/>
                <a:ea typeface="Noto Sans KR"/>
                <a:cs typeface="Noto Sans KR"/>
              </a:rPr>
              <a:t>작업별 통합</a:t>
            </a:r>
          </a:p>
        </p:txBody>
      </p:sp>
      <p:sp>
        <p:nvSpPr>
          <p:cNvPr id="26" name="TextBox 25"/>
          <p:cNvSpPr txBox="1"/>
          <p:nvPr/>
        </p:nvSpPr>
        <p:spPr>
          <a:xfrm>
            <a:off x="2368296" y="5214975"/>
            <a:ext cx="1481328" cy="274320"/>
          </a:xfrm>
          <a:prstGeom prst="rect">
            <a:avLst/>
          </a:prstGeom>
          <a:noFill/>
        </p:spPr>
        <p:txBody>
          <a:bodyPr wrap="square" lIns="0" rIns="0" tIns="0" bIns="0" anchor="t">
            <a:spAutoFit/>
          </a:bodyPr>
          <a:lstStyle/>
          <a:p>
            <a:pPr algn="ctr">
              <a:lnSpc>
                <a:spcPct val="100000"/>
              </a:lnSpc>
            </a:pPr>
            <a:r>
              <a:rPr sz="1300" b="1">
                <a:solidFill>
                  <a:srgbClr val="15171A"/>
                </a:solidFill>
                <a:latin typeface="Noto Sans KR"/>
                <a:ea typeface="Noto Sans KR"/>
                <a:cs typeface="Noto Sans KR"/>
              </a:rPr>
              <a:t>메뉴 B</a:t>
            </a:r>
          </a:p>
        </p:txBody>
      </p:sp>
      <p:sp>
        <p:nvSpPr>
          <p:cNvPr id="27" name="Rectangle 26"/>
          <p:cNvSpPr/>
          <p:nvPr/>
        </p:nvSpPr>
        <p:spPr>
          <a:xfrm>
            <a:off x="4050791" y="2234031"/>
            <a:ext cx="1481328" cy="512064"/>
          </a:xfrm>
          <a:prstGeom prst="rect">
            <a:avLst/>
          </a:prstGeom>
          <a:solidFill>
            <a:srgbClr val="7D838B"/>
          </a:solidFill>
          <a:ln>
            <a:noFill/>
          </a:ln>
        </p:spPr>
        <p:txBody>
          <a:bodyPr rtlCol="0" anchor="ctr"/>
          <a:lstStyle/>
          <a:p>
            <a:pPr algn="ctr"/>
          </a:p>
        </p:txBody>
      </p:sp>
      <p:sp>
        <p:nvSpPr>
          <p:cNvPr id="28" name="TextBox 27"/>
          <p:cNvSpPr txBox="1"/>
          <p:nvPr/>
        </p:nvSpPr>
        <p:spPr>
          <a:xfrm>
            <a:off x="4123944" y="2234031"/>
            <a:ext cx="1335024" cy="512064"/>
          </a:xfrm>
          <a:prstGeom prst="rect">
            <a:avLst/>
          </a:prstGeom>
          <a:noFill/>
        </p:spPr>
        <p:txBody>
          <a:bodyPr wrap="square" lIns="0" rIns="0" tIns="0" bIns="0" anchor="ctr">
            <a:spAutoFit/>
          </a:bodyPr>
          <a:lstStyle/>
          <a:p>
            <a:pPr algn="ctr">
              <a:lnSpc>
                <a:spcPct val="100000"/>
              </a:lnSpc>
            </a:pPr>
            <a:r>
              <a:rPr sz="1150" b="0">
                <a:solidFill>
                  <a:srgbClr val="FFFFFF"/>
                </a:solidFill>
                <a:latin typeface="Noto Sans KR"/>
                <a:ea typeface="Noto Sans KR"/>
                <a:cs typeface="Noto Sans KR"/>
              </a:rPr>
              <a:t>전용 그리퍼</a:t>
            </a:r>
          </a:p>
        </p:txBody>
      </p:sp>
      <p:sp>
        <p:nvSpPr>
          <p:cNvPr id="29" name="Rectangle 28"/>
          <p:cNvSpPr/>
          <p:nvPr/>
        </p:nvSpPr>
        <p:spPr>
          <a:xfrm>
            <a:off x="4050791" y="2819247"/>
            <a:ext cx="1481328" cy="512064"/>
          </a:xfrm>
          <a:prstGeom prst="rect">
            <a:avLst/>
          </a:prstGeom>
          <a:solidFill>
            <a:srgbClr val="7D838B"/>
          </a:solidFill>
          <a:ln>
            <a:noFill/>
          </a:ln>
        </p:spPr>
        <p:txBody>
          <a:bodyPr rtlCol="0" anchor="ctr"/>
          <a:lstStyle/>
          <a:p>
            <a:pPr algn="ctr"/>
          </a:p>
        </p:txBody>
      </p:sp>
      <p:sp>
        <p:nvSpPr>
          <p:cNvPr id="30" name="TextBox 29"/>
          <p:cNvSpPr txBox="1"/>
          <p:nvPr/>
        </p:nvSpPr>
        <p:spPr>
          <a:xfrm>
            <a:off x="4123944" y="2819247"/>
            <a:ext cx="1335024" cy="512064"/>
          </a:xfrm>
          <a:prstGeom prst="rect">
            <a:avLst/>
          </a:prstGeom>
          <a:noFill/>
        </p:spPr>
        <p:txBody>
          <a:bodyPr wrap="square" lIns="0" rIns="0" tIns="0" bIns="0" anchor="ctr">
            <a:spAutoFit/>
          </a:bodyPr>
          <a:lstStyle/>
          <a:p>
            <a:pPr algn="ctr">
              <a:lnSpc>
                <a:spcPct val="100000"/>
              </a:lnSpc>
            </a:pPr>
            <a:r>
              <a:rPr sz="1150" b="0">
                <a:solidFill>
                  <a:srgbClr val="FFFFFF"/>
                </a:solidFill>
                <a:latin typeface="Noto Sans KR"/>
                <a:ea typeface="Noto Sans KR"/>
                <a:cs typeface="Noto Sans KR"/>
              </a:rPr>
              <a:t>전용 조리장비</a:t>
            </a:r>
          </a:p>
        </p:txBody>
      </p:sp>
      <p:sp>
        <p:nvSpPr>
          <p:cNvPr id="31" name="Rectangle 30"/>
          <p:cNvSpPr/>
          <p:nvPr/>
        </p:nvSpPr>
        <p:spPr>
          <a:xfrm>
            <a:off x="4050791" y="3404463"/>
            <a:ext cx="1481328" cy="512064"/>
          </a:xfrm>
          <a:prstGeom prst="rect">
            <a:avLst/>
          </a:prstGeom>
          <a:solidFill>
            <a:srgbClr val="7D838B"/>
          </a:solidFill>
          <a:ln>
            <a:noFill/>
          </a:ln>
        </p:spPr>
        <p:txBody>
          <a:bodyPr rtlCol="0" anchor="ctr"/>
          <a:lstStyle/>
          <a:p>
            <a:pPr algn="ctr"/>
          </a:p>
        </p:txBody>
      </p:sp>
      <p:sp>
        <p:nvSpPr>
          <p:cNvPr id="32" name="TextBox 31"/>
          <p:cNvSpPr txBox="1"/>
          <p:nvPr/>
        </p:nvSpPr>
        <p:spPr>
          <a:xfrm>
            <a:off x="4123944" y="3404463"/>
            <a:ext cx="1335024" cy="512064"/>
          </a:xfrm>
          <a:prstGeom prst="rect">
            <a:avLst/>
          </a:prstGeom>
          <a:noFill/>
        </p:spPr>
        <p:txBody>
          <a:bodyPr wrap="square" lIns="0" rIns="0" tIns="0" bIns="0" anchor="ctr">
            <a:spAutoFit/>
          </a:bodyPr>
          <a:lstStyle/>
          <a:p>
            <a:pPr algn="ctr">
              <a:lnSpc>
                <a:spcPct val="100000"/>
              </a:lnSpc>
            </a:pPr>
            <a:r>
              <a:rPr sz="1150" b="0">
                <a:solidFill>
                  <a:srgbClr val="FFFFFF"/>
                </a:solidFill>
                <a:latin typeface="Noto Sans KR"/>
                <a:ea typeface="Noto Sans KR"/>
                <a:cs typeface="Noto Sans KR"/>
              </a:rPr>
              <a:t>전용 투입장치</a:t>
            </a:r>
          </a:p>
        </p:txBody>
      </p:sp>
      <p:sp>
        <p:nvSpPr>
          <p:cNvPr id="33" name="Rectangle 32"/>
          <p:cNvSpPr/>
          <p:nvPr/>
        </p:nvSpPr>
        <p:spPr>
          <a:xfrm>
            <a:off x="4050791" y="3989679"/>
            <a:ext cx="1481328" cy="512064"/>
          </a:xfrm>
          <a:prstGeom prst="rect">
            <a:avLst/>
          </a:prstGeom>
          <a:solidFill>
            <a:srgbClr val="7D838B"/>
          </a:solidFill>
          <a:ln>
            <a:noFill/>
          </a:ln>
        </p:spPr>
        <p:txBody>
          <a:bodyPr rtlCol="0" anchor="ctr"/>
          <a:lstStyle/>
          <a:p>
            <a:pPr algn="ctr"/>
          </a:p>
        </p:txBody>
      </p:sp>
      <p:sp>
        <p:nvSpPr>
          <p:cNvPr id="34" name="TextBox 33"/>
          <p:cNvSpPr txBox="1"/>
          <p:nvPr/>
        </p:nvSpPr>
        <p:spPr>
          <a:xfrm>
            <a:off x="4123944" y="3989679"/>
            <a:ext cx="1335024" cy="512064"/>
          </a:xfrm>
          <a:prstGeom prst="rect">
            <a:avLst/>
          </a:prstGeom>
          <a:noFill/>
        </p:spPr>
        <p:txBody>
          <a:bodyPr wrap="square" lIns="0" rIns="0" tIns="0" bIns="0" anchor="ctr">
            <a:spAutoFit/>
          </a:bodyPr>
          <a:lstStyle/>
          <a:p>
            <a:pPr algn="ctr">
              <a:lnSpc>
                <a:spcPct val="100000"/>
              </a:lnSpc>
            </a:pPr>
            <a:r>
              <a:rPr sz="1150" b="0">
                <a:solidFill>
                  <a:srgbClr val="FFFFFF"/>
                </a:solidFill>
                <a:latin typeface="Noto Sans KR"/>
                <a:ea typeface="Noto Sans KR"/>
                <a:cs typeface="Noto Sans KR"/>
              </a:rPr>
              <a:t>전용 레이아웃</a:t>
            </a:r>
          </a:p>
        </p:txBody>
      </p:sp>
      <p:sp>
        <p:nvSpPr>
          <p:cNvPr id="35" name="Rectangle 34"/>
          <p:cNvSpPr/>
          <p:nvPr/>
        </p:nvSpPr>
        <p:spPr>
          <a:xfrm>
            <a:off x="4050791" y="4574895"/>
            <a:ext cx="1481328" cy="512064"/>
          </a:xfrm>
          <a:prstGeom prst="rect">
            <a:avLst/>
          </a:prstGeom>
          <a:solidFill>
            <a:srgbClr val="7D838B"/>
          </a:solidFill>
          <a:ln>
            <a:noFill/>
          </a:ln>
        </p:spPr>
        <p:txBody>
          <a:bodyPr rtlCol="0" anchor="ctr"/>
          <a:lstStyle/>
          <a:p>
            <a:pPr algn="ctr"/>
          </a:p>
        </p:txBody>
      </p:sp>
      <p:sp>
        <p:nvSpPr>
          <p:cNvPr id="36" name="TextBox 35"/>
          <p:cNvSpPr txBox="1"/>
          <p:nvPr/>
        </p:nvSpPr>
        <p:spPr>
          <a:xfrm>
            <a:off x="4123944" y="4574895"/>
            <a:ext cx="1335024" cy="512064"/>
          </a:xfrm>
          <a:prstGeom prst="rect">
            <a:avLst/>
          </a:prstGeom>
          <a:noFill/>
        </p:spPr>
        <p:txBody>
          <a:bodyPr wrap="square" lIns="0" rIns="0" tIns="0" bIns="0" anchor="ctr">
            <a:spAutoFit/>
          </a:bodyPr>
          <a:lstStyle/>
          <a:p>
            <a:pPr algn="ctr">
              <a:lnSpc>
                <a:spcPct val="100000"/>
              </a:lnSpc>
            </a:pPr>
            <a:r>
              <a:rPr sz="1150" b="0">
                <a:solidFill>
                  <a:srgbClr val="FFFFFF"/>
                </a:solidFill>
                <a:latin typeface="Noto Sans KR"/>
                <a:ea typeface="Noto Sans KR"/>
                <a:cs typeface="Noto Sans KR"/>
              </a:rPr>
              <a:t>작업별 통합</a:t>
            </a:r>
          </a:p>
        </p:txBody>
      </p:sp>
      <p:sp>
        <p:nvSpPr>
          <p:cNvPr id="37" name="TextBox 36"/>
          <p:cNvSpPr txBox="1"/>
          <p:nvPr/>
        </p:nvSpPr>
        <p:spPr>
          <a:xfrm>
            <a:off x="4050791" y="5214975"/>
            <a:ext cx="1481328" cy="274320"/>
          </a:xfrm>
          <a:prstGeom prst="rect">
            <a:avLst/>
          </a:prstGeom>
          <a:noFill/>
        </p:spPr>
        <p:txBody>
          <a:bodyPr wrap="square" lIns="0" rIns="0" tIns="0" bIns="0" anchor="t">
            <a:spAutoFit/>
          </a:bodyPr>
          <a:lstStyle/>
          <a:p>
            <a:pPr algn="ctr">
              <a:lnSpc>
                <a:spcPct val="100000"/>
              </a:lnSpc>
            </a:pPr>
            <a:r>
              <a:rPr sz="1300" b="1">
                <a:solidFill>
                  <a:srgbClr val="15171A"/>
                </a:solidFill>
                <a:latin typeface="Noto Sans KR"/>
                <a:ea typeface="Noto Sans KR"/>
                <a:cs typeface="Noto Sans KR"/>
              </a:rPr>
              <a:t>메뉴 C</a:t>
            </a:r>
          </a:p>
        </p:txBody>
      </p:sp>
      <p:sp>
        <p:nvSpPr>
          <p:cNvPr id="38" name="Rectangle 37"/>
          <p:cNvSpPr/>
          <p:nvPr/>
        </p:nvSpPr>
        <p:spPr>
          <a:xfrm>
            <a:off x="5733288" y="2234031"/>
            <a:ext cx="1481328" cy="512064"/>
          </a:xfrm>
          <a:prstGeom prst="rect">
            <a:avLst/>
          </a:prstGeom>
          <a:noFill/>
          <a:ln w="12700">
            <a:solidFill>
              <a:srgbClr val="E2571B"/>
            </a:solidFill>
            <a:prstDash val="dash"/>
          </a:ln>
        </p:spPr>
        <p:txBody>
          <a:bodyPr rtlCol="0" anchor="ctr"/>
          <a:lstStyle/>
          <a:p>
            <a:pPr algn="ctr"/>
          </a:p>
        </p:txBody>
      </p:sp>
      <p:sp>
        <p:nvSpPr>
          <p:cNvPr id="39" name="TextBox 38"/>
          <p:cNvSpPr txBox="1"/>
          <p:nvPr/>
        </p:nvSpPr>
        <p:spPr>
          <a:xfrm>
            <a:off x="5733288" y="2234031"/>
            <a:ext cx="1481328" cy="512064"/>
          </a:xfrm>
          <a:prstGeom prst="rect">
            <a:avLst/>
          </a:prstGeom>
          <a:noFill/>
        </p:spPr>
        <p:txBody>
          <a:bodyPr wrap="square" lIns="0" rIns="0" tIns="0" bIns="0" anchor="ctr">
            <a:spAutoFit/>
          </a:bodyPr>
          <a:lstStyle/>
          <a:p>
            <a:pPr algn="ctr">
              <a:lnSpc>
                <a:spcPct val="100000"/>
              </a:lnSpc>
            </a:pPr>
            <a:r>
              <a:rPr sz="1150" b="0">
                <a:solidFill>
                  <a:srgbClr val="E2571B"/>
                </a:solidFill>
                <a:latin typeface="Noto Sans KR"/>
                <a:ea typeface="Noto Sans KR"/>
                <a:cs typeface="Noto Sans KR"/>
              </a:rPr>
              <a:t>전용 그리퍼</a:t>
            </a:r>
          </a:p>
        </p:txBody>
      </p:sp>
      <p:sp>
        <p:nvSpPr>
          <p:cNvPr id="40" name="Rectangle 39"/>
          <p:cNvSpPr/>
          <p:nvPr/>
        </p:nvSpPr>
        <p:spPr>
          <a:xfrm>
            <a:off x="5733288" y="2819247"/>
            <a:ext cx="1481328" cy="512064"/>
          </a:xfrm>
          <a:prstGeom prst="rect">
            <a:avLst/>
          </a:prstGeom>
          <a:noFill/>
          <a:ln w="12700">
            <a:solidFill>
              <a:srgbClr val="E2571B"/>
            </a:solidFill>
            <a:prstDash val="dash"/>
          </a:ln>
        </p:spPr>
        <p:txBody>
          <a:bodyPr rtlCol="0" anchor="ctr"/>
          <a:lstStyle/>
          <a:p>
            <a:pPr algn="ctr"/>
          </a:p>
        </p:txBody>
      </p:sp>
      <p:sp>
        <p:nvSpPr>
          <p:cNvPr id="41" name="TextBox 40"/>
          <p:cNvSpPr txBox="1"/>
          <p:nvPr/>
        </p:nvSpPr>
        <p:spPr>
          <a:xfrm>
            <a:off x="5733288" y="2819247"/>
            <a:ext cx="1481328" cy="512064"/>
          </a:xfrm>
          <a:prstGeom prst="rect">
            <a:avLst/>
          </a:prstGeom>
          <a:noFill/>
        </p:spPr>
        <p:txBody>
          <a:bodyPr wrap="square" lIns="0" rIns="0" tIns="0" bIns="0" anchor="ctr">
            <a:spAutoFit/>
          </a:bodyPr>
          <a:lstStyle/>
          <a:p>
            <a:pPr algn="ctr">
              <a:lnSpc>
                <a:spcPct val="100000"/>
              </a:lnSpc>
            </a:pPr>
            <a:r>
              <a:rPr sz="1150" b="0">
                <a:solidFill>
                  <a:srgbClr val="E2571B"/>
                </a:solidFill>
                <a:latin typeface="Noto Sans KR"/>
                <a:ea typeface="Noto Sans KR"/>
                <a:cs typeface="Noto Sans KR"/>
              </a:rPr>
              <a:t>전용 조리장비</a:t>
            </a:r>
          </a:p>
        </p:txBody>
      </p:sp>
      <p:sp>
        <p:nvSpPr>
          <p:cNvPr id="42" name="Rectangle 41"/>
          <p:cNvSpPr/>
          <p:nvPr/>
        </p:nvSpPr>
        <p:spPr>
          <a:xfrm>
            <a:off x="5733288" y="3404463"/>
            <a:ext cx="1481328" cy="512064"/>
          </a:xfrm>
          <a:prstGeom prst="rect">
            <a:avLst/>
          </a:prstGeom>
          <a:noFill/>
          <a:ln w="12700">
            <a:solidFill>
              <a:srgbClr val="E2571B"/>
            </a:solidFill>
            <a:prstDash val="dash"/>
          </a:ln>
        </p:spPr>
        <p:txBody>
          <a:bodyPr rtlCol="0" anchor="ctr"/>
          <a:lstStyle/>
          <a:p>
            <a:pPr algn="ctr"/>
          </a:p>
        </p:txBody>
      </p:sp>
      <p:sp>
        <p:nvSpPr>
          <p:cNvPr id="43" name="TextBox 42"/>
          <p:cNvSpPr txBox="1"/>
          <p:nvPr/>
        </p:nvSpPr>
        <p:spPr>
          <a:xfrm>
            <a:off x="5733288" y="3404463"/>
            <a:ext cx="1481328" cy="512064"/>
          </a:xfrm>
          <a:prstGeom prst="rect">
            <a:avLst/>
          </a:prstGeom>
          <a:noFill/>
        </p:spPr>
        <p:txBody>
          <a:bodyPr wrap="square" lIns="0" rIns="0" tIns="0" bIns="0" anchor="ctr">
            <a:spAutoFit/>
          </a:bodyPr>
          <a:lstStyle/>
          <a:p>
            <a:pPr algn="ctr">
              <a:lnSpc>
                <a:spcPct val="100000"/>
              </a:lnSpc>
            </a:pPr>
            <a:r>
              <a:rPr sz="1150" b="0">
                <a:solidFill>
                  <a:srgbClr val="E2571B"/>
                </a:solidFill>
                <a:latin typeface="Noto Sans KR"/>
                <a:ea typeface="Noto Sans KR"/>
                <a:cs typeface="Noto Sans KR"/>
              </a:rPr>
              <a:t>전용 투입장치</a:t>
            </a:r>
          </a:p>
        </p:txBody>
      </p:sp>
      <p:sp>
        <p:nvSpPr>
          <p:cNvPr id="44" name="Rectangle 43"/>
          <p:cNvSpPr/>
          <p:nvPr/>
        </p:nvSpPr>
        <p:spPr>
          <a:xfrm>
            <a:off x="5733288" y="3989679"/>
            <a:ext cx="1481328" cy="512064"/>
          </a:xfrm>
          <a:prstGeom prst="rect">
            <a:avLst/>
          </a:prstGeom>
          <a:noFill/>
          <a:ln w="12700">
            <a:solidFill>
              <a:srgbClr val="E2571B"/>
            </a:solidFill>
            <a:prstDash val="dash"/>
          </a:ln>
        </p:spPr>
        <p:txBody>
          <a:bodyPr rtlCol="0" anchor="ctr"/>
          <a:lstStyle/>
          <a:p>
            <a:pPr algn="ctr"/>
          </a:p>
        </p:txBody>
      </p:sp>
      <p:sp>
        <p:nvSpPr>
          <p:cNvPr id="45" name="TextBox 44"/>
          <p:cNvSpPr txBox="1"/>
          <p:nvPr/>
        </p:nvSpPr>
        <p:spPr>
          <a:xfrm>
            <a:off x="5733288" y="3989679"/>
            <a:ext cx="1481328" cy="512064"/>
          </a:xfrm>
          <a:prstGeom prst="rect">
            <a:avLst/>
          </a:prstGeom>
          <a:noFill/>
        </p:spPr>
        <p:txBody>
          <a:bodyPr wrap="square" lIns="0" rIns="0" tIns="0" bIns="0" anchor="ctr">
            <a:spAutoFit/>
          </a:bodyPr>
          <a:lstStyle/>
          <a:p>
            <a:pPr algn="ctr">
              <a:lnSpc>
                <a:spcPct val="100000"/>
              </a:lnSpc>
            </a:pPr>
            <a:r>
              <a:rPr sz="1150" b="0">
                <a:solidFill>
                  <a:srgbClr val="E2571B"/>
                </a:solidFill>
                <a:latin typeface="Noto Sans KR"/>
                <a:ea typeface="Noto Sans KR"/>
                <a:cs typeface="Noto Sans KR"/>
              </a:rPr>
              <a:t>전용 레이아웃</a:t>
            </a:r>
          </a:p>
        </p:txBody>
      </p:sp>
      <p:sp>
        <p:nvSpPr>
          <p:cNvPr id="46" name="Rectangle 45"/>
          <p:cNvSpPr/>
          <p:nvPr/>
        </p:nvSpPr>
        <p:spPr>
          <a:xfrm>
            <a:off x="5733288" y="4574895"/>
            <a:ext cx="1481328" cy="512064"/>
          </a:xfrm>
          <a:prstGeom prst="rect">
            <a:avLst/>
          </a:prstGeom>
          <a:noFill/>
          <a:ln w="12700">
            <a:solidFill>
              <a:srgbClr val="E2571B"/>
            </a:solidFill>
            <a:prstDash val="dash"/>
          </a:ln>
        </p:spPr>
        <p:txBody>
          <a:bodyPr rtlCol="0" anchor="ctr"/>
          <a:lstStyle/>
          <a:p>
            <a:pPr algn="ctr"/>
          </a:p>
        </p:txBody>
      </p:sp>
      <p:sp>
        <p:nvSpPr>
          <p:cNvPr id="47" name="TextBox 46"/>
          <p:cNvSpPr txBox="1"/>
          <p:nvPr/>
        </p:nvSpPr>
        <p:spPr>
          <a:xfrm>
            <a:off x="5733288" y="4574895"/>
            <a:ext cx="1481328" cy="512064"/>
          </a:xfrm>
          <a:prstGeom prst="rect">
            <a:avLst/>
          </a:prstGeom>
          <a:noFill/>
        </p:spPr>
        <p:txBody>
          <a:bodyPr wrap="square" lIns="0" rIns="0" tIns="0" bIns="0" anchor="ctr">
            <a:spAutoFit/>
          </a:bodyPr>
          <a:lstStyle/>
          <a:p>
            <a:pPr algn="ctr">
              <a:lnSpc>
                <a:spcPct val="100000"/>
              </a:lnSpc>
            </a:pPr>
            <a:r>
              <a:rPr sz="1150" b="0">
                <a:solidFill>
                  <a:srgbClr val="E2571B"/>
                </a:solidFill>
                <a:latin typeface="Noto Sans KR"/>
                <a:ea typeface="Noto Sans KR"/>
                <a:cs typeface="Noto Sans KR"/>
              </a:rPr>
              <a:t>작업별 통합</a:t>
            </a:r>
          </a:p>
        </p:txBody>
      </p:sp>
      <p:sp>
        <p:nvSpPr>
          <p:cNvPr id="48" name="TextBox 47"/>
          <p:cNvSpPr txBox="1"/>
          <p:nvPr/>
        </p:nvSpPr>
        <p:spPr>
          <a:xfrm>
            <a:off x="5733288" y="5214975"/>
            <a:ext cx="1481328" cy="274320"/>
          </a:xfrm>
          <a:prstGeom prst="rect">
            <a:avLst/>
          </a:prstGeom>
          <a:noFill/>
        </p:spPr>
        <p:txBody>
          <a:bodyPr wrap="square" lIns="0" rIns="0" tIns="0" bIns="0" anchor="t">
            <a:spAutoFit/>
          </a:bodyPr>
          <a:lstStyle/>
          <a:p>
            <a:pPr algn="ctr">
              <a:lnSpc>
                <a:spcPct val="100000"/>
              </a:lnSpc>
            </a:pPr>
            <a:r>
              <a:rPr sz="1300" b="1">
                <a:solidFill>
                  <a:srgbClr val="E2571B"/>
                </a:solidFill>
                <a:latin typeface="Noto Sans KR"/>
                <a:ea typeface="Noto Sans KR"/>
                <a:cs typeface="Noto Sans KR"/>
              </a:rPr>
              <a:t>새 메뉴</a:t>
            </a:r>
          </a:p>
        </p:txBody>
      </p:sp>
      <p:sp>
        <p:nvSpPr>
          <p:cNvPr id="49" name="TextBox 48"/>
          <p:cNvSpPr txBox="1"/>
          <p:nvPr/>
        </p:nvSpPr>
        <p:spPr>
          <a:xfrm>
            <a:off x="685800" y="5599023"/>
            <a:ext cx="6528816" cy="256032"/>
          </a:xfrm>
          <a:prstGeom prst="rect">
            <a:avLst/>
          </a:prstGeom>
          <a:noFill/>
        </p:spPr>
        <p:txBody>
          <a:bodyPr wrap="square" lIns="0" rIns="0" tIns="0" bIns="0" anchor="t">
            <a:spAutoFit/>
          </a:bodyPr>
          <a:lstStyle/>
          <a:p>
            <a:pPr algn="ctr">
              <a:lnSpc>
                <a:spcPct val="100000"/>
              </a:lnSpc>
            </a:pPr>
            <a:r>
              <a:rPr sz="1100" b="0">
                <a:solidFill>
                  <a:srgbClr val="8C9198"/>
                </a:solidFill>
                <a:latin typeface="Noto Sans KR"/>
                <a:ea typeface="Noto Sans KR"/>
                <a:cs typeface="Noto Sans KR"/>
              </a:rPr>
              <a:t>메뉴가 늘수록 같은 과정 반복 (개념도)</a:t>
            </a:r>
          </a:p>
        </p:txBody>
      </p:sp>
      <p:cxnSp>
        <p:nvCxnSpPr>
          <p:cNvPr id="50" name="Connector 49"/>
          <p:cNvCxnSpPr/>
          <p:nvPr/>
        </p:nvCxnSpPr>
        <p:spPr>
          <a:xfrm>
            <a:off x="7552944" y="2234031"/>
            <a:ext cx="0" cy="3429000"/>
          </a:xfrm>
          <a:prstGeom prst="line">
            <a:avLst/>
          </a:prstGeom>
          <a:ln w="9525">
            <a:solidFill>
              <a:srgbClr val="E2E4E7"/>
            </a:solidFill>
          </a:ln>
        </p:spPr>
      </p:cxnSp>
      <p:sp>
        <p:nvSpPr>
          <p:cNvPr id="51" name="TextBox 50"/>
          <p:cNvSpPr txBox="1"/>
          <p:nvPr/>
        </p:nvSpPr>
        <p:spPr>
          <a:xfrm>
            <a:off x="7900416" y="2078583"/>
            <a:ext cx="3605479" cy="1188720"/>
          </a:xfrm>
          <a:prstGeom prst="rect">
            <a:avLst/>
          </a:prstGeom>
          <a:noFill/>
        </p:spPr>
        <p:txBody>
          <a:bodyPr wrap="square" lIns="0" rIns="0" tIns="0" bIns="0" anchor="t">
            <a:spAutoFit/>
          </a:bodyPr>
          <a:lstStyle/>
          <a:p>
            <a:pPr algn="l">
              <a:lnSpc>
                <a:spcPct val="90000"/>
              </a:lnSpc>
            </a:pPr>
            <a:r>
              <a:rPr sz="7200" b="1">
                <a:solidFill>
                  <a:srgbClr val="E2571B"/>
                </a:solidFill>
                <a:latin typeface="Noto Sans KR"/>
                <a:ea typeface="Noto Sans KR"/>
                <a:cs typeface="Noto Sans KR"/>
              </a:rPr>
              <a:t>75%</a:t>
            </a:r>
          </a:p>
        </p:txBody>
      </p:sp>
      <p:sp>
        <p:nvSpPr>
          <p:cNvPr id="52" name="TextBox 51"/>
          <p:cNvSpPr txBox="1"/>
          <p:nvPr/>
        </p:nvSpPr>
        <p:spPr>
          <a:xfrm>
            <a:off x="7900416" y="3285591"/>
            <a:ext cx="3605479" cy="566928"/>
          </a:xfrm>
          <a:prstGeom prst="rect">
            <a:avLst/>
          </a:prstGeom>
          <a:noFill/>
        </p:spPr>
        <p:txBody>
          <a:bodyPr wrap="square" lIns="0" rIns="0" tIns="0" bIns="0" anchor="t">
            <a:spAutoFit/>
          </a:bodyPr>
          <a:lstStyle/>
          <a:p>
            <a:pPr algn="l">
              <a:lnSpc>
                <a:spcPct val="100000"/>
              </a:lnSpc>
            </a:pPr>
            <a:r>
              <a:rPr sz="1500" b="1">
                <a:solidFill>
                  <a:srgbClr val="15171A"/>
                </a:solidFill>
                <a:latin typeface="Noto Sans KR"/>
                <a:ea typeface="Noto Sans KR"/>
                <a:cs typeface="Noto Sans KR"/>
              </a:rPr>
              <a:t>로봇 도입 총비용(TCO) 중</a:t>
            </a:r>
          </a:p>
          <a:p>
            <a:pPr algn="l">
              <a:lnSpc>
                <a:spcPct val="100000"/>
              </a:lnSpc>
            </a:pPr>
            <a:r>
              <a:rPr sz="1500" b="1">
                <a:solidFill>
                  <a:srgbClr val="15171A"/>
                </a:solidFill>
                <a:latin typeface="Noto Sans KR"/>
                <a:ea typeface="Noto Sans KR"/>
                <a:cs typeface="Noto Sans KR"/>
              </a:rPr>
              <a:t>초기 셋업·재설계 비중</a:t>
            </a:r>
          </a:p>
        </p:txBody>
      </p:sp>
      <p:sp>
        <p:nvSpPr>
          <p:cNvPr id="53" name="TextBox 52"/>
          <p:cNvSpPr txBox="1"/>
          <p:nvPr/>
        </p:nvSpPr>
        <p:spPr>
          <a:xfrm>
            <a:off x="7900416" y="3907383"/>
            <a:ext cx="3605479" cy="228600"/>
          </a:xfrm>
          <a:prstGeom prst="rect">
            <a:avLst/>
          </a:prstGeom>
          <a:noFill/>
        </p:spPr>
        <p:txBody>
          <a:bodyPr wrap="square" lIns="0" rIns="0" tIns="0" bIns="0" anchor="t">
            <a:spAutoFit/>
          </a:bodyPr>
          <a:lstStyle/>
          <a:p>
            <a:pPr algn="l">
              <a:lnSpc>
                <a:spcPct val="100000"/>
              </a:lnSpc>
            </a:pPr>
            <a:r>
              <a:rPr sz="1000" b="0">
                <a:solidFill>
                  <a:srgbClr val="8C9198"/>
                </a:solidFill>
                <a:latin typeface="Noto Sans KR"/>
                <a:ea typeface="Noto Sans KR"/>
                <a:cs typeface="Noto Sans KR"/>
              </a:rPr>
              <a:t>출처: BCG (2026.4), 로봇 도입 전반 기준</a:t>
            </a:r>
          </a:p>
        </p:txBody>
      </p:sp>
      <p:sp>
        <p:nvSpPr>
          <p:cNvPr id="54" name="TextBox 53"/>
          <p:cNvSpPr txBox="1"/>
          <p:nvPr/>
        </p:nvSpPr>
        <p:spPr>
          <a:xfrm>
            <a:off x="7900416" y="4428591"/>
            <a:ext cx="3605479" cy="914400"/>
          </a:xfrm>
          <a:prstGeom prst="rect">
            <a:avLst/>
          </a:prstGeom>
          <a:noFill/>
        </p:spPr>
        <p:txBody>
          <a:bodyPr wrap="square" lIns="0" rIns="0" tIns="0" bIns="0" anchor="t">
            <a:spAutoFit/>
          </a:bodyPr>
          <a:lstStyle/>
          <a:p>
            <a:pPr algn="l" marL="201168" indent="-201168">
              <a:lnSpc>
                <a:spcPct val="100000"/>
              </a:lnSpc>
              <a:spcAft>
                <a:spcPts val="600"/>
              </a:spcAft>
              <a:buClr>
                <a:srgbClr val="8C9198"/>
              </a:buClr>
              <a:buFont typeface="Noto Sans KR"/>
              <a:buChar char="–"/>
            </a:pPr>
            <a:r>
              <a:rPr sz="1300" b="0">
                <a:solidFill>
                  <a:srgbClr val="4A4F57"/>
                </a:solidFill>
                <a:latin typeface="Noto Sans KR"/>
                <a:ea typeface="Noto Sans KR"/>
                <a:cs typeface="Noto Sans KR"/>
              </a:rPr>
              <a:t>로봇 가격보다 환경을 맞추는 비용이 큼</a:t>
            </a:r>
          </a:p>
          <a:p>
            <a:pPr algn="l" marL="201168" indent="-201168">
              <a:lnSpc>
                <a:spcPct val="100000"/>
              </a:lnSpc>
              <a:buClr>
                <a:srgbClr val="8C9198"/>
              </a:buClr>
              <a:buFont typeface="Noto Sans KR"/>
              <a:buChar char="–"/>
            </a:pPr>
            <a:r>
              <a:rPr sz="1300" b="0">
                <a:solidFill>
                  <a:srgbClr val="4A4F57"/>
                </a:solidFill>
                <a:latin typeface="Noto Sans KR"/>
                <a:ea typeface="Noto Sans KR"/>
                <a:cs typeface="Noto Sans KR"/>
              </a:rPr>
              <a:t>메뉴·도구가 바뀌면 같은 비용 반복</a:t>
            </a:r>
          </a:p>
        </p:txBody>
      </p:sp>
      <p:sp>
        <p:nvSpPr>
          <p:cNvPr id="55" name="TextBox 54"/>
          <p:cNvSpPr txBox="1"/>
          <p:nvPr/>
        </p:nvSpPr>
        <p:spPr>
          <a:xfrm>
            <a:off x="685800" y="6446520"/>
            <a:ext cx="5486400" cy="201168"/>
          </a:xfrm>
          <a:prstGeom prst="rect">
            <a:avLst/>
          </a:prstGeom>
          <a:noFill/>
        </p:spPr>
        <p:txBody>
          <a:bodyPr wrap="square" lIns="0" rIns="0" tIns="0" bIns="0" anchor="t">
            <a:spAutoFit/>
          </a:bodyPr>
          <a:lstStyle/>
          <a:p>
            <a:pPr algn="l">
              <a:lnSpc>
                <a:spcPct val="100000"/>
              </a:lnSpc>
            </a:pPr>
            <a:r>
              <a:rPr sz="900" b="0">
                <a:solidFill>
                  <a:srgbClr val="8C9198"/>
                </a:solidFill>
                <a:latin typeface="Noto Sans KR"/>
                <a:ea typeface="Noto Sans KR"/>
                <a:cs typeface="Noto Sans KR"/>
              </a:rPr>
              <a:t>SoftHand  |  주방 로봇 조작 플랫폼  |  Seed 투자 제안서</a:t>
            </a:r>
          </a:p>
        </p:txBody>
      </p:sp>
      <p:sp>
        <p:nvSpPr>
          <p:cNvPr id="56" name="TextBox 55"/>
          <p:cNvSpPr txBox="1"/>
          <p:nvPr/>
        </p:nvSpPr>
        <p:spPr>
          <a:xfrm>
            <a:off x="3154680" y="6446520"/>
            <a:ext cx="7802575" cy="201168"/>
          </a:xfrm>
          <a:prstGeom prst="rect">
            <a:avLst/>
          </a:prstGeom>
          <a:noFill/>
        </p:spPr>
        <p:txBody>
          <a:bodyPr wrap="square" lIns="0" rIns="0" tIns="0" bIns="0" anchor="t">
            <a:spAutoFit/>
          </a:bodyPr>
          <a:lstStyle/>
          <a:p>
            <a:pPr algn="r">
              <a:lnSpc>
                <a:spcPct val="100000"/>
              </a:lnSpc>
            </a:pPr>
            <a:r>
              <a:rPr sz="900" b="0">
                <a:solidFill>
                  <a:srgbClr val="8C9198"/>
                </a:solidFill>
                <a:latin typeface="Noto Sans KR"/>
                <a:ea typeface="Noto Sans KR"/>
                <a:cs typeface="Noto Sans KR"/>
              </a:rPr>
              <a:t>개념도 · 전용 주방 자동화 사례는 10장·부록 A6</a:t>
            </a:r>
          </a:p>
        </p:txBody>
      </p:sp>
      <p:sp>
        <p:nvSpPr>
          <p:cNvPr id="57" name="TextBox 56"/>
          <p:cNvSpPr txBox="1"/>
          <p:nvPr/>
        </p:nvSpPr>
        <p:spPr>
          <a:xfrm>
            <a:off x="11048695" y="6446520"/>
            <a:ext cx="457200" cy="201168"/>
          </a:xfrm>
          <a:prstGeom prst="rect">
            <a:avLst/>
          </a:prstGeom>
          <a:noFill/>
        </p:spPr>
        <p:txBody>
          <a:bodyPr wrap="square" lIns="0" rIns="0" tIns="0" bIns="0" anchor="t">
            <a:spAutoFit/>
          </a:bodyPr>
          <a:lstStyle/>
          <a:p>
            <a:pPr algn="r">
              <a:lnSpc>
                <a:spcPct val="100000"/>
              </a:lnSpc>
            </a:pPr>
            <a:r>
              <a:rPr sz="900" b="0">
                <a:solidFill>
                  <a:srgbClr val="8C9198"/>
                </a:solidFill>
                <a:latin typeface="Noto Sans KR"/>
                <a:ea typeface="Noto Sans KR"/>
                <a:cs typeface="Noto Sans KR"/>
              </a:rPr>
              <a:t>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548640"/>
            <a:ext cx="7315200" cy="274320"/>
          </a:xfrm>
          <a:prstGeom prst="rect">
            <a:avLst/>
          </a:prstGeom>
          <a:noFill/>
        </p:spPr>
        <p:txBody>
          <a:bodyPr wrap="square" lIns="0" rIns="0" tIns="0" bIns="0" anchor="t">
            <a:spAutoFit/>
          </a:bodyPr>
          <a:lstStyle/>
          <a:p>
            <a:pPr algn="l">
              <a:lnSpc>
                <a:spcPct val="100000"/>
              </a:lnSpc>
            </a:pPr>
            <a:r>
              <a:rPr sz="1200" b="1">
                <a:solidFill>
                  <a:srgbClr val="E2571B"/>
                </a:solidFill>
                <a:latin typeface="Noto Sans KR"/>
                <a:ea typeface="Noto Sans KR"/>
                <a:cs typeface="Noto Sans KR"/>
              </a:rPr>
              <a:t>INSIGHT</a:t>
            </a:r>
          </a:p>
        </p:txBody>
      </p:sp>
      <p:sp>
        <p:nvSpPr>
          <p:cNvPr id="3" name="TextBox 2"/>
          <p:cNvSpPr txBox="1"/>
          <p:nvPr/>
        </p:nvSpPr>
        <p:spPr>
          <a:xfrm>
            <a:off x="685800" y="932688"/>
            <a:ext cx="10820095" cy="542391"/>
          </a:xfrm>
          <a:prstGeom prst="rect">
            <a:avLst/>
          </a:prstGeom>
          <a:noFill/>
        </p:spPr>
        <p:txBody>
          <a:bodyPr wrap="square" lIns="0" rIns="0" tIns="0" bIns="0" anchor="t">
            <a:spAutoFit/>
          </a:bodyPr>
          <a:lstStyle/>
          <a:p>
            <a:pPr algn="l">
              <a:lnSpc>
                <a:spcPct val="95000"/>
              </a:lnSpc>
            </a:pPr>
            <a:r>
              <a:rPr sz="3000" b="1">
                <a:solidFill>
                  <a:srgbClr val="15171A"/>
                </a:solidFill>
                <a:latin typeface="Noto Sans KR"/>
                <a:ea typeface="Noto Sans KR"/>
                <a:cs typeface="Noto Sans KR"/>
              </a:rPr>
              <a:t>주방은 이미 사람 손에 맞춰 표준화되어 있습니다</a:t>
            </a:r>
          </a:p>
        </p:txBody>
      </p:sp>
      <p:pic>
        <p:nvPicPr>
          <p:cNvPr id="4" name="Picture 3" descr="lx_insight_light_730x495_50_50_100.jpg"/>
          <p:cNvPicPr>
            <a:picLocks noChangeAspect="1"/>
          </p:cNvPicPr>
          <p:nvPr/>
        </p:nvPicPr>
        <p:blipFill>
          <a:blip r:embed="rId2"/>
          <a:stretch>
            <a:fillRect/>
          </a:stretch>
        </p:blipFill>
        <p:spPr>
          <a:xfrm>
            <a:off x="685800" y="1740255"/>
            <a:ext cx="6675120" cy="4526280"/>
          </a:xfrm>
          <a:prstGeom prst="rect">
            <a:avLst/>
          </a:prstGeom>
        </p:spPr>
      </p:pic>
      <p:sp>
        <p:nvSpPr>
          <p:cNvPr id="5" name="TextBox 4"/>
          <p:cNvSpPr txBox="1"/>
          <p:nvPr/>
        </p:nvSpPr>
        <p:spPr>
          <a:xfrm>
            <a:off x="7818120" y="1740255"/>
            <a:ext cx="3687775" cy="256032"/>
          </a:xfrm>
          <a:prstGeom prst="rect">
            <a:avLst/>
          </a:prstGeom>
          <a:noFill/>
        </p:spPr>
        <p:txBody>
          <a:bodyPr wrap="square" lIns="0" rIns="0" tIns="0" bIns="0" anchor="t">
            <a:spAutoFit/>
          </a:bodyPr>
          <a:lstStyle/>
          <a:p>
            <a:pPr algn="l">
              <a:lnSpc>
                <a:spcPct val="100000"/>
              </a:lnSpc>
            </a:pPr>
            <a:r>
              <a:rPr sz="1200" b="1">
                <a:solidFill>
                  <a:srgbClr val="8C9198"/>
                </a:solidFill>
                <a:latin typeface="Noto Sans KR"/>
                <a:ea typeface="Noto Sans KR"/>
                <a:cs typeface="Noto Sans KR"/>
              </a:rPr>
              <a:t>어느 주방에나 있는 사람용 인터페이스</a:t>
            </a:r>
          </a:p>
        </p:txBody>
      </p:sp>
      <p:cxnSp>
        <p:nvCxnSpPr>
          <p:cNvPr id="6" name="Connector 5"/>
          <p:cNvCxnSpPr/>
          <p:nvPr/>
        </p:nvCxnSpPr>
        <p:spPr>
          <a:xfrm>
            <a:off x="7818120" y="2124303"/>
            <a:ext cx="1119530" cy="0"/>
          </a:xfrm>
          <a:prstGeom prst="line">
            <a:avLst/>
          </a:prstGeom>
          <a:ln w="12700">
            <a:solidFill>
              <a:srgbClr val="15171A"/>
            </a:solidFill>
          </a:ln>
        </p:spPr>
      </p:cxnSp>
      <p:sp>
        <p:nvSpPr>
          <p:cNvPr id="7" name="TextBox 6"/>
          <p:cNvSpPr txBox="1"/>
          <p:nvPr/>
        </p:nvSpPr>
        <p:spPr>
          <a:xfrm>
            <a:off x="7818120" y="2215743"/>
            <a:ext cx="1119530" cy="347472"/>
          </a:xfrm>
          <a:prstGeom prst="rect">
            <a:avLst/>
          </a:prstGeom>
          <a:noFill/>
        </p:spPr>
        <p:txBody>
          <a:bodyPr wrap="square" lIns="0" rIns="0" tIns="0" bIns="0" anchor="t">
            <a:spAutoFit/>
          </a:bodyPr>
          <a:lstStyle/>
          <a:p>
            <a:pPr algn="l">
              <a:lnSpc>
                <a:spcPct val="100000"/>
              </a:lnSpc>
            </a:pPr>
            <a:r>
              <a:rPr sz="1800" b="1">
                <a:solidFill>
                  <a:srgbClr val="15171A"/>
                </a:solidFill>
                <a:latin typeface="Noto Sans KR"/>
                <a:ea typeface="Noto Sans KR"/>
                <a:cs typeface="Noto Sans KR"/>
              </a:rPr>
              <a:t>팬</a:t>
            </a:r>
          </a:p>
        </p:txBody>
      </p:sp>
      <p:cxnSp>
        <p:nvCxnSpPr>
          <p:cNvPr id="8" name="Connector 7"/>
          <p:cNvCxnSpPr/>
          <p:nvPr/>
        </p:nvCxnSpPr>
        <p:spPr>
          <a:xfrm>
            <a:off x="9047378" y="2124303"/>
            <a:ext cx="1119530" cy="0"/>
          </a:xfrm>
          <a:prstGeom prst="line">
            <a:avLst/>
          </a:prstGeom>
          <a:ln w="12700">
            <a:solidFill>
              <a:srgbClr val="15171A"/>
            </a:solidFill>
          </a:ln>
        </p:spPr>
      </p:cxnSp>
      <p:sp>
        <p:nvSpPr>
          <p:cNvPr id="9" name="TextBox 8"/>
          <p:cNvSpPr txBox="1"/>
          <p:nvPr/>
        </p:nvSpPr>
        <p:spPr>
          <a:xfrm>
            <a:off x="9047378" y="2215743"/>
            <a:ext cx="1119530" cy="347472"/>
          </a:xfrm>
          <a:prstGeom prst="rect">
            <a:avLst/>
          </a:prstGeom>
          <a:noFill/>
        </p:spPr>
        <p:txBody>
          <a:bodyPr wrap="square" lIns="0" rIns="0" tIns="0" bIns="0" anchor="t">
            <a:spAutoFit/>
          </a:bodyPr>
          <a:lstStyle/>
          <a:p>
            <a:pPr algn="l">
              <a:lnSpc>
                <a:spcPct val="100000"/>
              </a:lnSpc>
            </a:pPr>
            <a:r>
              <a:rPr sz="1800" b="1">
                <a:solidFill>
                  <a:srgbClr val="15171A"/>
                </a:solidFill>
                <a:latin typeface="Noto Sans KR"/>
                <a:ea typeface="Noto Sans KR"/>
                <a:cs typeface="Noto Sans KR"/>
              </a:rPr>
              <a:t>냄비</a:t>
            </a:r>
          </a:p>
        </p:txBody>
      </p:sp>
      <p:cxnSp>
        <p:nvCxnSpPr>
          <p:cNvPr id="10" name="Connector 9"/>
          <p:cNvCxnSpPr/>
          <p:nvPr/>
        </p:nvCxnSpPr>
        <p:spPr>
          <a:xfrm>
            <a:off x="10276636" y="2124303"/>
            <a:ext cx="1119531" cy="0"/>
          </a:xfrm>
          <a:prstGeom prst="line">
            <a:avLst/>
          </a:prstGeom>
          <a:ln w="12700">
            <a:solidFill>
              <a:srgbClr val="15171A"/>
            </a:solidFill>
          </a:ln>
        </p:spPr>
      </p:cxnSp>
      <p:sp>
        <p:nvSpPr>
          <p:cNvPr id="11" name="TextBox 10"/>
          <p:cNvSpPr txBox="1"/>
          <p:nvPr/>
        </p:nvSpPr>
        <p:spPr>
          <a:xfrm>
            <a:off x="10276636" y="2215743"/>
            <a:ext cx="1119530" cy="347472"/>
          </a:xfrm>
          <a:prstGeom prst="rect">
            <a:avLst/>
          </a:prstGeom>
          <a:noFill/>
        </p:spPr>
        <p:txBody>
          <a:bodyPr wrap="square" lIns="0" rIns="0" tIns="0" bIns="0" anchor="t">
            <a:spAutoFit/>
          </a:bodyPr>
          <a:lstStyle/>
          <a:p>
            <a:pPr algn="l">
              <a:lnSpc>
                <a:spcPct val="100000"/>
              </a:lnSpc>
            </a:pPr>
            <a:r>
              <a:rPr sz="1800" b="1">
                <a:solidFill>
                  <a:srgbClr val="15171A"/>
                </a:solidFill>
                <a:latin typeface="Noto Sans KR"/>
                <a:ea typeface="Noto Sans KR"/>
                <a:cs typeface="Noto Sans KR"/>
              </a:rPr>
              <a:t>집게</a:t>
            </a:r>
          </a:p>
        </p:txBody>
      </p:sp>
      <p:cxnSp>
        <p:nvCxnSpPr>
          <p:cNvPr id="12" name="Connector 11"/>
          <p:cNvCxnSpPr/>
          <p:nvPr/>
        </p:nvCxnSpPr>
        <p:spPr>
          <a:xfrm>
            <a:off x="7818120" y="2636367"/>
            <a:ext cx="1119530" cy="0"/>
          </a:xfrm>
          <a:prstGeom prst="line">
            <a:avLst/>
          </a:prstGeom>
          <a:ln w="9525">
            <a:solidFill>
              <a:srgbClr val="E2E4E7"/>
            </a:solidFill>
          </a:ln>
        </p:spPr>
      </p:cxnSp>
      <p:sp>
        <p:nvSpPr>
          <p:cNvPr id="13" name="TextBox 12"/>
          <p:cNvSpPr txBox="1"/>
          <p:nvPr/>
        </p:nvSpPr>
        <p:spPr>
          <a:xfrm>
            <a:off x="7818120" y="2727807"/>
            <a:ext cx="1119530" cy="347472"/>
          </a:xfrm>
          <a:prstGeom prst="rect">
            <a:avLst/>
          </a:prstGeom>
          <a:noFill/>
        </p:spPr>
        <p:txBody>
          <a:bodyPr wrap="square" lIns="0" rIns="0" tIns="0" bIns="0" anchor="t">
            <a:spAutoFit/>
          </a:bodyPr>
          <a:lstStyle/>
          <a:p>
            <a:pPr algn="l">
              <a:lnSpc>
                <a:spcPct val="100000"/>
              </a:lnSpc>
            </a:pPr>
            <a:r>
              <a:rPr sz="1800" b="1">
                <a:solidFill>
                  <a:srgbClr val="15171A"/>
                </a:solidFill>
                <a:latin typeface="Noto Sans KR"/>
                <a:ea typeface="Noto Sans KR"/>
                <a:cs typeface="Noto Sans KR"/>
              </a:rPr>
              <a:t>국자</a:t>
            </a:r>
          </a:p>
        </p:txBody>
      </p:sp>
      <p:cxnSp>
        <p:nvCxnSpPr>
          <p:cNvPr id="14" name="Connector 13"/>
          <p:cNvCxnSpPr/>
          <p:nvPr/>
        </p:nvCxnSpPr>
        <p:spPr>
          <a:xfrm>
            <a:off x="9047378" y="2636367"/>
            <a:ext cx="1119530" cy="0"/>
          </a:xfrm>
          <a:prstGeom prst="line">
            <a:avLst/>
          </a:prstGeom>
          <a:ln w="9525">
            <a:solidFill>
              <a:srgbClr val="E2E4E7"/>
            </a:solidFill>
          </a:ln>
        </p:spPr>
      </p:cxnSp>
      <p:sp>
        <p:nvSpPr>
          <p:cNvPr id="15" name="TextBox 14"/>
          <p:cNvSpPr txBox="1"/>
          <p:nvPr/>
        </p:nvSpPr>
        <p:spPr>
          <a:xfrm>
            <a:off x="9047378" y="2727807"/>
            <a:ext cx="1119530" cy="347472"/>
          </a:xfrm>
          <a:prstGeom prst="rect">
            <a:avLst/>
          </a:prstGeom>
          <a:noFill/>
        </p:spPr>
        <p:txBody>
          <a:bodyPr wrap="square" lIns="0" rIns="0" tIns="0" bIns="0" anchor="t">
            <a:spAutoFit/>
          </a:bodyPr>
          <a:lstStyle/>
          <a:p>
            <a:pPr algn="l">
              <a:lnSpc>
                <a:spcPct val="100000"/>
              </a:lnSpc>
            </a:pPr>
            <a:r>
              <a:rPr sz="1800" b="1">
                <a:solidFill>
                  <a:srgbClr val="15171A"/>
                </a:solidFill>
                <a:latin typeface="Noto Sans KR"/>
                <a:ea typeface="Noto Sans KR"/>
                <a:cs typeface="Noto Sans KR"/>
              </a:rPr>
              <a:t>칼</a:t>
            </a:r>
          </a:p>
        </p:txBody>
      </p:sp>
      <p:cxnSp>
        <p:nvCxnSpPr>
          <p:cNvPr id="16" name="Connector 15"/>
          <p:cNvCxnSpPr/>
          <p:nvPr/>
        </p:nvCxnSpPr>
        <p:spPr>
          <a:xfrm>
            <a:off x="10276636" y="2636367"/>
            <a:ext cx="1119531" cy="0"/>
          </a:xfrm>
          <a:prstGeom prst="line">
            <a:avLst/>
          </a:prstGeom>
          <a:ln w="9525">
            <a:solidFill>
              <a:srgbClr val="E2E4E7"/>
            </a:solidFill>
          </a:ln>
        </p:spPr>
      </p:cxnSp>
      <p:sp>
        <p:nvSpPr>
          <p:cNvPr id="17" name="TextBox 16"/>
          <p:cNvSpPr txBox="1"/>
          <p:nvPr/>
        </p:nvSpPr>
        <p:spPr>
          <a:xfrm>
            <a:off x="10276636" y="2727807"/>
            <a:ext cx="1119530" cy="347472"/>
          </a:xfrm>
          <a:prstGeom prst="rect">
            <a:avLst/>
          </a:prstGeom>
          <a:noFill/>
        </p:spPr>
        <p:txBody>
          <a:bodyPr wrap="square" lIns="0" rIns="0" tIns="0" bIns="0" anchor="t">
            <a:spAutoFit/>
          </a:bodyPr>
          <a:lstStyle/>
          <a:p>
            <a:pPr algn="l">
              <a:lnSpc>
                <a:spcPct val="100000"/>
              </a:lnSpc>
            </a:pPr>
            <a:r>
              <a:rPr sz="1800" b="1">
                <a:solidFill>
                  <a:srgbClr val="15171A"/>
                </a:solidFill>
                <a:latin typeface="Noto Sans KR"/>
                <a:ea typeface="Noto Sans KR"/>
                <a:cs typeface="Noto Sans KR"/>
              </a:rPr>
              <a:t>용기</a:t>
            </a:r>
          </a:p>
        </p:txBody>
      </p:sp>
      <p:cxnSp>
        <p:nvCxnSpPr>
          <p:cNvPr id="18" name="Connector 17"/>
          <p:cNvCxnSpPr/>
          <p:nvPr/>
        </p:nvCxnSpPr>
        <p:spPr>
          <a:xfrm>
            <a:off x="7818120" y="3148431"/>
            <a:ext cx="1119530" cy="0"/>
          </a:xfrm>
          <a:prstGeom prst="line">
            <a:avLst/>
          </a:prstGeom>
          <a:ln w="9525">
            <a:solidFill>
              <a:srgbClr val="E2E4E7"/>
            </a:solidFill>
          </a:ln>
        </p:spPr>
      </p:cxnSp>
      <p:sp>
        <p:nvSpPr>
          <p:cNvPr id="19" name="TextBox 18"/>
          <p:cNvSpPr txBox="1"/>
          <p:nvPr/>
        </p:nvSpPr>
        <p:spPr>
          <a:xfrm>
            <a:off x="7818120" y="3239871"/>
            <a:ext cx="1119530" cy="347472"/>
          </a:xfrm>
          <a:prstGeom prst="rect">
            <a:avLst/>
          </a:prstGeom>
          <a:noFill/>
        </p:spPr>
        <p:txBody>
          <a:bodyPr wrap="square" lIns="0" rIns="0" tIns="0" bIns="0" anchor="t">
            <a:spAutoFit/>
          </a:bodyPr>
          <a:lstStyle/>
          <a:p>
            <a:pPr algn="l">
              <a:lnSpc>
                <a:spcPct val="100000"/>
              </a:lnSpc>
            </a:pPr>
            <a:r>
              <a:rPr sz="1800" b="1">
                <a:solidFill>
                  <a:srgbClr val="15171A"/>
                </a:solidFill>
                <a:latin typeface="Noto Sans KR"/>
                <a:ea typeface="Noto Sans KR"/>
                <a:cs typeface="Noto Sans KR"/>
              </a:rPr>
              <a:t>손잡이</a:t>
            </a:r>
          </a:p>
        </p:txBody>
      </p:sp>
      <p:cxnSp>
        <p:nvCxnSpPr>
          <p:cNvPr id="20" name="Connector 19"/>
          <p:cNvCxnSpPr/>
          <p:nvPr/>
        </p:nvCxnSpPr>
        <p:spPr>
          <a:xfrm>
            <a:off x="9047378" y="3148431"/>
            <a:ext cx="1119530" cy="0"/>
          </a:xfrm>
          <a:prstGeom prst="line">
            <a:avLst/>
          </a:prstGeom>
          <a:ln w="9525">
            <a:solidFill>
              <a:srgbClr val="E2E4E7"/>
            </a:solidFill>
          </a:ln>
        </p:spPr>
      </p:cxnSp>
      <p:sp>
        <p:nvSpPr>
          <p:cNvPr id="21" name="TextBox 20"/>
          <p:cNvSpPr txBox="1"/>
          <p:nvPr/>
        </p:nvSpPr>
        <p:spPr>
          <a:xfrm>
            <a:off x="9047378" y="3239871"/>
            <a:ext cx="1119530" cy="347472"/>
          </a:xfrm>
          <a:prstGeom prst="rect">
            <a:avLst/>
          </a:prstGeom>
          <a:noFill/>
        </p:spPr>
        <p:txBody>
          <a:bodyPr wrap="square" lIns="0" rIns="0" tIns="0" bIns="0" anchor="t">
            <a:spAutoFit/>
          </a:bodyPr>
          <a:lstStyle/>
          <a:p>
            <a:pPr algn="l">
              <a:lnSpc>
                <a:spcPct val="100000"/>
              </a:lnSpc>
            </a:pPr>
            <a:r>
              <a:rPr sz="1800" b="1">
                <a:solidFill>
                  <a:srgbClr val="15171A"/>
                </a:solidFill>
                <a:latin typeface="Noto Sans KR"/>
                <a:ea typeface="Noto Sans KR"/>
                <a:cs typeface="Noto Sans KR"/>
              </a:rPr>
              <a:t>노브</a:t>
            </a:r>
          </a:p>
        </p:txBody>
      </p:sp>
      <p:cxnSp>
        <p:nvCxnSpPr>
          <p:cNvPr id="22" name="Connector 21"/>
          <p:cNvCxnSpPr/>
          <p:nvPr/>
        </p:nvCxnSpPr>
        <p:spPr>
          <a:xfrm>
            <a:off x="10276636" y="3148431"/>
            <a:ext cx="1119531" cy="0"/>
          </a:xfrm>
          <a:prstGeom prst="line">
            <a:avLst/>
          </a:prstGeom>
          <a:ln w="9525">
            <a:solidFill>
              <a:srgbClr val="E2E4E7"/>
            </a:solidFill>
          </a:ln>
        </p:spPr>
      </p:cxnSp>
      <p:sp>
        <p:nvSpPr>
          <p:cNvPr id="23" name="TextBox 22"/>
          <p:cNvSpPr txBox="1"/>
          <p:nvPr/>
        </p:nvSpPr>
        <p:spPr>
          <a:xfrm>
            <a:off x="10276636" y="3239871"/>
            <a:ext cx="1119530" cy="347472"/>
          </a:xfrm>
          <a:prstGeom prst="rect">
            <a:avLst/>
          </a:prstGeom>
          <a:noFill/>
        </p:spPr>
        <p:txBody>
          <a:bodyPr wrap="square" lIns="0" rIns="0" tIns="0" bIns="0" anchor="t">
            <a:spAutoFit/>
          </a:bodyPr>
          <a:lstStyle/>
          <a:p>
            <a:pPr algn="l">
              <a:lnSpc>
                <a:spcPct val="100000"/>
              </a:lnSpc>
            </a:pPr>
            <a:r>
              <a:rPr sz="1800" b="1">
                <a:solidFill>
                  <a:srgbClr val="15171A"/>
                </a:solidFill>
                <a:latin typeface="Noto Sans KR"/>
                <a:ea typeface="Noto Sans KR"/>
                <a:cs typeface="Noto Sans KR"/>
              </a:rPr>
              <a:t>버튼</a:t>
            </a:r>
          </a:p>
        </p:txBody>
      </p:sp>
      <p:cxnSp>
        <p:nvCxnSpPr>
          <p:cNvPr id="24" name="Connector 23"/>
          <p:cNvCxnSpPr/>
          <p:nvPr/>
        </p:nvCxnSpPr>
        <p:spPr>
          <a:xfrm>
            <a:off x="7818120" y="3660495"/>
            <a:ext cx="1119530" cy="0"/>
          </a:xfrm>
          <a:prstGeom prst="line">
            <a:avLst/>
          </a:prstGeom>
          <a:ln w="9525">
            <a:solidFill>
              <a:srgbClr val="E2E4E7"/>
            </a:solidFill>
          </a:ln>
        </p:spPr>
      </p:cxnSp>
      <p:sp>
        <p:nvSpPr>
          <p:cNvPr id="25" name="TextBox 24"/>
          <p:cNvSpPr txBox="1"/>
          <p:nvPr/>
        </p:nvSpPr>
        <p:spPr>
          <a:xfrm>
            <a:off x="7818120" y="3751935"/>
            <a:ext cx="1119530" cy="347472"/>
          </a:xfrm>
          <a:prstGeom prst="rect">
            <a:avLst/>
          </a:prstGeom>
          <a:noFill/>
        </p:spPr>
        <p:txBody>
          <a:bodyPr wrap="square" lIns="0" rIns="0" tIns="0" bIns="0" anchor="t">
            <a:spAutoFit/>
          </a:bodyPr>
          <a:lstStyle/>
          <a:p>
            <a:pPr algn="l">
              <a:lnSpc>
                <a:spcPct val="100000"/>
              </a:lnSpc>
            </a:pPr>
            <a:r>
              <a:rPr sz="1800" b="1">
                <a:solidFill>
                  <a:srgbClr val="15171A"/>
                </a:solidFill>
                <a:latin typeface="Noto Sans KR"/>
                <a:ea typeface="Noto Sans KR"/>
                <a:cs typeface="Noto Sans KR"/>
              </a:rPr>
              <a:t>서랍</a:t>
            </a:r>
          </a:p>
        </p:txBody>
      </p:sp>
      <p:cxnSp>
        <p:nvCxnSpPr>
          <p:cNvPr id="26" name="Connector 25"/>
          <p:cNvCxnSpPr/>
          <p:nvPr/>
        </p:nvCxnSpPr>
        <p:spPr>
          <a:xfrm>
            <a:off x="9047378" y="3660495"/>
            <a:ext cx="1119530" cy="0"/>
          </a:xfrm>
          <a:prstGeom prst="line">
            <a:avLst/>
          </a:prstGeom>
          <a:ln w="9525">
            <a:solidFill>
              <a:srgbClr val="E2E4E7"/>
            </a:solidFill>
          </a:ln>
        </p:spPr>
      </p:cxnSp>
      <p:sp>
        <p:nvSpPr>
          <p:cNvPr id="27" name="TextBox 26"/>
          <p:cNvSpPr txBox="1"/>
          <p:nvPr/>
        </p:nvSpPr>
        <p:spPr>
          <a:xfrm>
            <a:off x="9047378" y="3751935"/>
            <a:ext cx="1119530" cy="347472"/>
          </a:xfrm>
          <a:prstGeom prst="rect">
            <a:avLst/>
          </a:prstGeom>
          <a:noFill/>
        </p:spPr>
        <p:txBody>
          <a:bodyPr wrap="square" lIns="0" rIns="0" tIns="0" bIns="0" anchor="t">
            <a:spAutoFit/>
          </a:bodyPr>
          <a:lstStyle/>
          <a:p>
            <a:pPr algn="l">
              <a:lnSpc>
                <a:spcPct val="100000"/>
              </a:lnSpc>
            </a:pPr>
            <a:r>
              <a:rPr sz="1800" b="1">
                <a:solidFill>
                  <a:srgbClr val="15171A"/>
                </a:solidFill>
                <a:latin typeface="Noto Sans KR"/>
                <a:ea typeface="Noto Sans KR"/>
                <a:cs typeface="Noto Sans KR"/>
              </a:rPr>
              <a:t>냉장고</a:t>
            </a:r>
          </a:p>
        </p:txBody>
      </p:sp>
      <p:cxnSp>
        <p:nvCxnSpPr>
          <p:cNvPr id="28" name="Connector 27"/>
          <p:cNvCxnSpPr/>
          <p:nvPr/>
        </p:nvCxnSpPr>
        <p:spPr>
          <a:xfrm>
            <a:off x="10276636" y="3660495"/>
            <a:ext cx="1119531" cy="0"/>
          </a:xfrm>
          <a:prstGeom prst="line">
            <a:avLst/>
          </a:prstGeom>
          <a:ln w="9525">
            <a:solidFill>
              <a:srgbClr val="E2E4E7"/>
            </a:solidFill>
          </a:ln>
        </p:spPr>
      </p:cxnSp>
      <p:sp>
        <p:nvSpPr>
          <p:cNvPr id="29" name="TextBox 28"/>
          <p:cNvSpPr txBox="1"/>
          <p:nvPr/>
        </p:nvSpPr>
        <p:spPr>
          <a:xfrm>
            <a:off x="10276636" y="3751935"/>
            <a:ext cx="1119530" cy="347472"/>
          </a:xfrm>
          <a:prstGeom prst="rect">
            <a:avLst/>
          </a:prstGeom>
          <a:noFill/>
        </p:spPr>
        <p:txBody>
          <a:bodyPr wrap="square" lIns="0" rIns="0" tIns="0" bIns="0" anchor="t">
            <a:spAutoFit/>
          </a:bodyPr>
          <a:lstStyle/>
          <a:p>
            <a:pPr algn="l">
              <a:lnSpc>
                <a:spcPct val="100000"/>
              </a:lnSpc>
            </a:pPr>
            <a:r>
              <a:rPr sz="1800" b="1">
                <a:solidFill>
                  <a:srgbClr val="15171A"/>
                </a:solidFill>
                <a:latin typeface="Noto Sans KR"/>
                <a:ea typeface="Noto Sans KR"/>
                <a:cs typeface="Noto Sans KR"/>
              </a:rPr>
              <a:t>가전</a:t>
            </a:r>
          </a:p>
        </p:txBody>
      </p:sp>
      <p:sp>
        <p:nvSpPr>
          <p:cNvPr id="30" name="TextBox 29"/>
          <p:cNvSpPr txBox="1"/>
          <p:nvPr/>
        </p:nvSpPr>
        <p:spPr>
          <a:xfrm>
            <a:off x="7818120" y="4300575"/>
            <a:ext cx="3687775" cy="566928"/>
          </a:xfrm>
          <a:prstGeom prst="rect">
            <a:avLst/>
          </a:prstGeom>
          <a:noFill/>
        </p:spPr>
        <p:txBody>
          <a:bodyPr wrap="square" lIns="0" rIns="0" tIns="0" bIns="0" anchor="t">
            <a:spAutoFit/>
          </a:bodyPr>
          <a:lstStyle/>
          <a:p>
            <a:pPr algn="l" marL="201168" indent="-201168">
              <a:lnSpc>
                <a:spcPct val="100000"/>
              </a:lnSpc>
              <a:spcAft>
                <a:spcPts val="400"/>
              </a:spcAft>
              <a:buClr>
                <a:srgbClr val="8C9198"/>
              </a:buClr>
              <a:buFont typeface="Noto Sans KR"/>
              <a:buChar char="–"/>
            </a:pPr>
            <a:r>
              <a:rPr sz="1250" b="0">
                <a:solidFill>
                  <a:srgbClr val="4A4F57"/>
                </a:solidFill>
                <a:latin typeface="Noto Sans KR"/>
                <a:ea typeface="Noto Sans KR"/>
                <a:cs typeface="Noto Sans KR"/>
              </a:rPr>
              <a:t>상업용·가정용 주방 모두 같은 형태</a:t>
            </a:r>
          </a:p>
          <a:p>
            <a:pPr algn="l" marL="201168" indent="-201168">
              <a:lnSpc>
                <a:spcPct val="100000"/>
              </a:lnSpc>
              <a:buClr>
                <a:srgbClr val="8C9198"/>
              </a:buClr>
              <a:buFont typeface="Noto Sans KR"/>
              <a:buChar char="–"/>
            </a:pPr>
            <a:r>
              <a:rPr sz="1250" b="0">
                <a:solidFill>
                  <a:srgbClr val="4A4F57"/>
                </a:solidFill>
                <a:latin typeface="Noto Sans KR"/>
                <a:ea typeface="Noto Sans KR"/>
                <a:cs typeface="Noto Sans KR"/>
              </a:rPr>
              <a:t>새 주방도 같은 인터페이스 = 설치 환경</a:t>
            </a:r>
          </a:p>
        </p:txBody>
      </p:sp>
      <p:sp>
        <p:nvSpPr>
          <p:cNvPr id="31" name="Rectangle 30"/>
          <p:cNvSpPr/>
          <p:nvPr/>
        </p:nvSpPr>
        <p:spPr>
          <a:xfrm>
            <a:off x="7818120" y="5123535"/>
            <a:ext cx="3687775" cy="1143000"/>
          </a:xfrm>
          <a:prstGeom prst="rect">
            <a:avLst/>
          </a:prstGeom>
          <a:solidFill>
            <a:srgbClr val="15171A"/>
          </a:solidFill>
          <a:ln>
            <a:noFill/>
          </a:ln>
        </p:spPr>
        <p:txBody>
          <a:bodyPr rtlCol="0" anchor="ctr"/>
          <a:lstStyle/>
          <a:p>
            <a:pPr algn="ctr"/>
          </a:p>
        </p:txBody>
      </p:sp>
      <p:sp>
        <p:nvSpPr>
          <p:cNvPr id="32" name="TextBox 31"/>
          <p:cNvSpPr txBox="1"/>
          <p:nvPr/>
        </p:nvSpPr>
        <p:spPr>
          <a:xfrm>
            <a:off x="8074152" y="5123535"/>
            <a:ext cx="3230575" cy="1143000"/>
          </a:xfrm>
          <a:prstGeom prst="rect">
            <a:avLst/>
          </a:prstGeom>
          <a:noFill/>
        </p:spPr>
        <p:txBody>
          <a:bodyPr wrap="square" lIns="0" rIns="0" tIns="0" bIns="0" anchor="ctr">
            <a:spAutoFit/>
          </a:bodyPr>
          <a:lstStyle/>
          <a:p>
            <a:pPr algn="l">
              <a:lnSpc>
                <a:spcPct val="100000"/>
              </a:lnSpc>
            </a:pPr>
            <a:r>
              <a:rPr sz="1500" b="1">
                <a:solidFill>
                  <a:srgbClr val="F3F3F1"/>
                </a:solidFill>
                <a:latin typeface="Noto Sans KR"/>
                <a:ea typeface="Noto Sans KR"/>
                <a:cs typeface="Noto Sans KR"/>
              </a:rPr>
              <a:t>주방을 로봇에 맞추는 대신,</a:t>
            </a:r>
          </a:p>
          <a:p>
            <a:pPr algn="l">
              <a:lnSpc>
                <a:spcPct val="100000"/>
              </a:lnSpc>
            </a:pPr>
            <a:r>
              <a:rPr sz="1500" b="1">
                <a:solidFill>
                  <a:srgbClr val="F3F3F1"/>
                </a:solidFill>
                <a:latin typeface="Noto Sans KR"/>
                <a:ea typeface="Noto Sans KR"/>
                <a:cs typeface="Noto Sans KR"/>
              </a:rPr>
              <a:t>로봇에게 </a:t>
            </a:r>
            <a:r>
              <a:rPr sz="1500" b="1">
                <a:solidFill>
                  <a:srgbClr val="E2571B"/>
                </a:solidFill>
                <a:latin typeface="Noto Sans KR"/>
                <a:ea typeface="Noto Sans KR"/>
                <a:cs typeface="Noto Sans KR"/>
              </a:rPr>
              <a:t>사람처럼 도구를 사용하는 능력</a:t>
            </a:r>
            <a:r>
              <a:rPr sz="1500" b="1">
                <a:solidFill>
                  <a:srgbClr val="F3F3F1"/>
                </a:solidFill>
                <a:latin typeface="Noto Sans KR"/>
                <a:ea typeface="Noto Sans KR"/>
                <a:cs typeface="Noto Sans KR"/>
              </a:rPr>
              <a:t>을 준다</a:t>
            </a:r>
          </a:p>
        </p:txBody>
      </p:sp>
      <p:sp>
        <p:nvSpPr>
          <p:cNvPr id="33" name="TextBox 32"/>
          <p:cNvSpPr txBox="1"/>
          <p:nvPr/>
        </p:nvSpPr>
        <p:spPr>
          <a:xfrm>
            <a:off x="685800" y="6446520"/>
            <a:ext cx="5486400" cy="201168"/>
          </a:xfrm>
          <a:prstGeom prst="rect">
            <a:avLst/>
          </a:prstGeom>
          <a:noFill/>
        </p:spPr>
        <p:txBody>
          <a:bodyPr wrap="square" lIns="0" rIns="0" tIns="0" bIns="0" anchor="t">
            <a:spAutoFit/>
          </a:bodyPr>
          <a:lstStyle/>
          <a:p>
            <a:pPr algn="l">
              <a:lnSpc>
                <a:spcPct val="100000"/>
              </a:lnSpc>
            </a:pPr>
            <a:r>
              <a:rPr sz="900" b="0">
                <a:solidFill>
                  <a:srgbClr val="8C9198"/>
                </a:solidFill>
                <a:latin typeface="Noto Sans KR"/>
                <a:ea typeface="Noto Sans KR"/>
                <a:cs typeface="Noto Sans KR"/>
              </a:rPr>
              <a:t>SoftHand  |  주방 로봇 조작 플랫폼  |  Seed 투자 제안서</a:t>
            </a:r>
          </a:p>
        </p:txBody>
      </p:sp>
      <p:sp>
        <p:nvSpPr>
          <p:cNvPr id="34" name="TextBox 33"/>
          <p:cNvSpPr txBox="1"/>
          <p:nvPr/>
        </p:nvSpPr>
        <p:spPr>
          <a:xfrm>
            <a:off x="3154680" y="6446520"/>
            <a:ext cx="7802575" cy="201168"/>
          </a:xfrm>
          <a:prstGeom prst="rect">
            <a:avLst/>
          </a:prstGeom>
          <a:noFill/>
        </p:spPr>
        <p:txBody>
          <a:bodyPr wrap="square" lIns="0" rIns="0" tIns="0" bIns="0" anchor="t">
            <a:spAutoFit/>
          </a:bodyPr>
          <a:lstStyle/>
          <a:p>
            <a:pPr algn="r">
              <a:lnSpc>
                <a:spcPct val="100000"/>
              </a:lnSpc>
            </a:pPr>
            <a:r>
              <a:rPr sz="900" b="0">
                <a:solidFill>
                  <a:srgbClr val="8C9198"/>
                </a:solidFill>
                <a:latin typeface="Noto Sans KR"/>
                <a:ea typeface="Noto Sans KR"/>
                <a:cs typeface="Noto Sans KR"/>
              </a:rPr>
              <a:t>사람용 조리도구·용기·수전·화구를 그대로 둔 주방 · 콘셉트 렌더링</a:t>
            </a:r>
          </a:p>
        </p:txBody>
      </p:sp>
      <p:sp>
        <p:nvSpPr>
          <p:cNvPr id="35" name="TextBox 34"/>
          <p:cNvSpPr txBox="1"/>
          <p:nvPr/>
        </p:nvSpPr>
        <p:spPr>
          <a:xfrm>
            <a:off x="11048695" y="6446520"/>
            <a:ext cx="457200" cy="201168"/>
          </a:xfrm>
          <a:prstGeom prst="rect">
            <a:avLst/>
          </a:prstGeom>
          <a:noFill/>
        </p:spPr>
        <p:txBody>
          <a:bodyPr wrap="square" lIns="0" rIns="0" tIns="0" bIns="0" anchor="t">
            <a:spAutoFit/>
          </a:bodyPr>
          <a:lstStyle/>
          <a:p>
            <a:pPr algn="r">
              <a:lnSpc>
                <a:spcPct val="100000"/>
              </a:lnSpc>
            </a:pPr>
            <a:r>
              <a:rPr sz="900" b="0">
                <a:solidFill>
                  <a:srgbClr val="8C9198"/>
                </a:solidFill>
                <a:latin typeface="Noto Sans KR"/>
                <a:ea typeface="Noto Sans KR"/>
                <a:cs typeface="Noto Sans KR"/>
              </a:rPr>
              <a:t>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548640"/>
            <a:ext cx="7315200" cy="274320"/>
          </a:xfrm>
          <a:prstGeom prst="rect">
            <a:avLst/>
          </a:prstGeom>
          <a:noFill/>
        </p:spPr>
        <p:txBody>
          <a:bodyPr wrap="square" lIns="0" rIns="0" tIns="0" bIns="0" anchor="t">
            <a:spAutoFit/>
          </a:bodyPr>
          <a:lstStyle/>
          <a:p>
            <a:pPr algn="l">
              <a:lnSpc>
                <a:spcPct val="100000"/>
              </a:lnSpc>
            </a:pPr>
            <a:r>
              <a:rPr sz="1200" b="1">
                <a:solidFill>
                  <a:srgbClr val="E2571B"/>
                </a:solidFill>
                <a:latin typeface="Noto Sans KR"/>
                <a:ea typeface="Noto Sans KR"/>
                <a:cs typeface="Noto Sans KR"/>
              </a:rPr>
              <a:t>SOLUTION</a:t>
            </a:r>
          </a:p>
        </p:txBody>
      </p:sp>
      <p:sp>
        <p:nvSpPr>
          <p:cNvPr id="3" name="TextBox 2"/>
          <p:cNvSpPr txBox="1"/>
          <p:nvPr/>
        </p:nvSpPr>
        <p:spPr>
          <a:xfrm>
            <a:off x="685800" y="932688"/>
            <a:ext cx="10820095" cy="542391"/>
          </a:xfrm>
          <a:prstGeom prst="rect">
            <a:avLst/>
          </a:prstGeom>
          <a:noFill/>
        </p:spPr>
        <p:txBody>
          <a:bodyPr wrap="square" lIns="0" rIns="0" tIns="0" bIns="0" anchor="t">
            <a:spAutoFit/>
          </a:bodyPr>
          <a:lstStyle/>
          <a:p>
            <a:pPr algn="l">
              <a:lnSpc>
                <a:spcPct val="95000"/>
              </a:lnSpc>
            </a:pPr>
            <a:r>
              <a:rPr sz="3000" b="1">
                <a:solidFill>
                  <a:srgbClr val="15171A"/>
                </a:solidFill>
                <a:latin typeface="Noto Sans KR"/>
                <a:ea typeface="Noto Sans KR"/>
                <a:cs typeface="Noto Sans KR"/>
              </a:rPr>
              <a:t>SoftHand + Kitchen Skills: 사람용 도구를 그대로 쓰는 손</a:t>
            </a:r>
          </a:p>
        </p:txBody>
      </p:sp>
      <p:sp>
        <p:nvSpPr>
          <p:cNvPr id="4" name="TextBox 3"/>
          <p:cNvSpPr txBox="1"/>
          <p:nvPr/>
        </p:nvSpPr>
        <p:spPr>
          <a:xfrm>
            <a:off x="685800" y="1584807"/>
            <a:ext cx="10820095" cy="329184"/>
          </a:xfrm>
          <a:prstGeom prst="rect">
            <a:avLst/>
          </a:prstGeom>
          <a:noFill/>
        </p:spPr>
        <p:txBody>
          <a:bodyPr wrap="square" lIns="0" rIns="0" tIns="0" bIns="0" anchor="t">
            <a:spAutoFit/>
          </a:bodyPr>
          <a:lstStyle/>
          <a:p>
            <a:pPr algn="l">
              <a:lnSpc>
                <a:spcPct val="100000"/>
              </a:lnSpc>
            </a:pPr>
            <a:r>
              <a:rPr sz="1600" b="0">
                <a:solidFill>
                  <a:srgbClr val="4A4F57"/>
                </a:solidFill>
                <a:latin typeface="Noto Sans KR"/>
                <a:ea typeface="Noto Sans KR"/>
                <a:cs typeface="Noto Sans KR"/>
              </a:rPr>
              <a:t>로봇 팔에 장착하는 손(SoftHand)과 주방 조작 Skill, 기존 주방·도구·가전은 그대로</a:t>
            </a:r>
          </a:p>
        </p:txBody>
      </p:sp>
      <p:sp>
        <p:nvSpPr>
          <p:cNvPr id="5" name="Rectangle 4"/>
          <p:cNvSpPr/>
          <p:nvPr/>
        </p:nvSpPr>
        <p:spPr>
          <a:xfrm>
            <a:off x="685800" y="2096871"/>
            <a:ext cx="2514600" cy="4206240"/>
          </a:xfrm>
          <a:prstGeom prst="rect">
            <a:avLst/>
          </a:prstGeom>
          <a:solidFill>
            <a:srgbClr val="EEF0F2"/>
          </a:solidFill>
          <a:ln>
            <a:noFill/>
          </a:ln>
        </p:spPr>
        <p:txBody>
          <a:bodyPr rtlCol="0" anchor="ctr"/>
          <a:lstStyle/>
          <a:p>
            <a:pPr algn="ctr"/>
          </a:p>
        </p:txBody>
      </p:sp>
      <p:pic>
        <p:nvPicPr>
          <p:cNvPr id="6" name="Picture 5" descr="product.png"/>
          <p:cNvPicPr>
            <a:picLocks noChangeAspect="1"/>
          </p:cNvPicPr>
          <p:nvPr/>
        </p:nvPicPr>
        <p:blipFill>
          <a:blip r:embed="rId2"/>
          <a:stretch>
            <a:fillRect/>
          </a:stretch>
        </p:blipFill>
        <p:spPr>
          <a:xfrm>
            <a:off x="1071492" y="2234031"/>
            <a:ext cx="1743215" cy="3931920"/>
          </a:xfrm>
          <a:prstGeom prst="rect">
            <a:avLst/>
          </a:prstGeom>
        </p:spPr>
      </p:pic>
      <p:cxnSp>
        <p:nvCxnSpPr>
          <p:cNvPr id="7" name="Connector 6"/>
          <p:cNvCxnSpPr/>
          <p:nvPr/>
        </p:nvCxnSpPr>
        <p:spPr>
          <a:xfrm>
            <a:off x="3566160" y="2096871"/>
            <a:ext cx="3246119" cy="0"/>
          </a:xfrm>
          <a:prstGeom prst="line">
            <a:avLst/>
          </a:prstGeom>
          <a:ln w="12700">
            <a:solidFill>
              <a:srgbClr val="15171A"/>
            </a:solidFill>
          </a:ln>
        </p:spPr>
      </p:cxnSp>
      <p:sp>
        <p:nvSpPr>
          <p:cNvPr id="8" name="TextBox 7"/>
          <p:cNvSpPr txBox="1"/>
          <p:nvPr/>
        </p:nvSpPr>
        <p:spPr>
          <a:xfrm>
            <a:off x="3566160" y="2224887"/>
            <a:ext cx="3246120" cy="219456"/>
          </a:xfrm>
          <a:prstGeom prst="rect">
            <a:avLst/>
          </a:prstGeom>
          <a:noFill/>
        </p:spPr>
        <p:txBody>
          <a:bodyPr wrap="square" lIns="0" rIns="0" tIns="0" bIns="0" anchor="t">
            <a:spAutoFit/>
          </a:bodyPr>
          <a:lstStyle/>
          <a:p>
            <a:pPr algn="l">
              <a:lnSpc>
                <a:spcPct val="100000"/>
              </a:lnSpc>
            </a:pPr>
            <a:r>
              <a:rPr sz="1100" b="1">
                <a:solidFill>
                  <a:srgbClr val="E2571B"/>
                </a:solidFill>
                <a:latin typeface="Noto Sans KR"/>
                <a:ea typeface="Noto Sans KR"/>
                <a:cs typeface="Noto Sans KR"/>
              </a:rPr>
              <a:t>Soft Contact</a:t>
            </a:r>
          </a:p>
        </p:txBody>
      </p:sp>
      <p:sp>
        <p:nvSpPr>
          <p:cNvPr id="9" name="TextBox 8"/>
          <p:cNvSpPr txBox="1"/>
          <p:nvPr/>
        </p:nvSpPr>
        <p:spPr>
          <a:xfrm>
            <a:off x="3566160" y="2480919"/>
            <a:ext cx="3246120" cy="384048"/>
          </a:xfrm>
          <a:prstGeom prst="rect">
            <a:avLst/>
          </a:prstGeom>
          <a:noFill/>
        </p:spPr>
        <p:txBody>
          <a:bodyPr wrap="square" lIns="0" rIns="0" tIns="0" bIns="0" anchor="t">
            <a:spAutoFit/>
          </a:bodyPr>
          <a:lstStyle/>
          <a:p>
            <a:pPr algn="l">
              <a:lnSpc>
                <a:spcPct val="100000"/>
              </a:lnSpc>
            </a:pPr>
            <a:r>
              <a:rPr sz="2000" b="1">
                <a:solidFill>
                  <a:srgbClr val="15171A"/>
                </a:solidFill>
                <a:latin typeface="Noto Sans KR"/>
                <a:ea typeface="Noto Sans KR"/>
                <a:cs typeface="Noto Sans KR"/>
              </a:rPr>
              <a:t>잡을 때는 부드럽게</a:t>
            </a:r>
          </a:p>
        </p:txBody>
      </p:sp>
      <p:sp>
        <p:nvSpPr>
          <p:cNvPr id="10" name="TextBox 9"/>
          <p:cNvSpPr txBox="1"/>
          <p:nvPr/>
        </p:nvSpPr>
        <p:spPr>
          <a:xfrm>
            <a:off x="3566160" y="2901543"/>
            <a:ext cx="3246120" cy="457200"/>
          </a:xfrm>
          <a:prstGeom prst="rect">
            <a:avLst/>
          </a:prstGeom>
          <a:noFill/>
        </p:spPr>
        <p:txBody>
          <a:bodyPr wrap="square" lIns="0" rIns="0" tIns="0" bIns="0" anchor="t">
            <a:spAutoFit/>
          </a:bodyPr>
          <a:lstStyle/>
          <a:p>
            <a:pPr algn="l">
              <a:lnSpc>
                <a:spcPct val="100000"/>
              </a:lnSpc>
            </a:pPr>
            <a:r>
              <a:rPr sz="1250" b="0">
                <a:solidFill>
                  <a:srgbClr val="4A4F57"/>
                </a:solidFill>
                <a:latin typeface="Noto Sans KR"/>
                <a:ea typeface="Noto Sans KR"/>
                <a:cs typeface="Noto Sans KR"/>
              </a:rPr>
              <a:t>다양한 형상과 도구에 적응</a:t>
            </a:r>
          </a:p>
        </p:txBody>
      </p:sp>
      <p:cxnSp>
        <p:nvCxnSpPr>
          <p:cNvPr id="11" name="Connector 10"/>
          <p:cNvCxnSpPr/>
          <p:nvPr/>
        </p:nvCxnSpPr>
        <p:spPr>
          <a:xfrm>
            <a:off x="3566160" y="3486759"/>
            <a:ext cx="3246119" cy="0"/>
          </a:xfrm>
          <a:prstGeom prst="line">
            <a:avLst/>
          </a:prstGeom>
          <a:ln w="12700">
            <a:solidFill>
              <a:srgbClr val="15171A"/>
            </a:solidFill>
          </a:ln>
        </p:spPr>
      </p:cxnSp>
      <p:sp>
        <p:nvSpPr>
          <p:cNvPr id="12" name="TextBox 11"/>
          <p:cNvSpPr txBox="1"/>
          <p:nvPr/>
        </p:nvSpPr>
        <p:spPr>
          <a:xfrm>
            <a:off x="3566160" y="3614775"/>
            <a:ext cx="3246120" cy="219456"/>
          </a:xfrm>
          <a:prstGeom prst="rect">
            <a:avLst/>
          </a:prstGeom>
          <a:noFill/>
        </p:spPr>
        <p:txBody>
          <a:bodyPr wrap="square" lIns="0" rIns="0" tIns="0" bIns="0" anchor="t">
            <a:spAutoFit/>
          </a:bodyPr>
          <a:lstStyle/>
          <a:p>
            <a:pPr algn="l">
              <a:lnSpc>
                <a:spcPct val="100000"/>
              </a:lnSpc>
            </a:pPr>
            <a:r>
              <a:rPr sz="1100" b="1">
                <a:solidFill>
                  <a:srgbClr val="E2571B"/>
                </a:solidFill>
                <a:latin typeface="Noto Sans KR"/>
                <a:ea typeface="Noto Sans KR"/>
                <a:cs typeface="Noto Sans KR"/>
              </a:rPr>
              <a:t>Rigid Work</a:t>
            </a:r>
          </a:p>
        </p:txBody>
      </p:sp>
      <p:sp>
        <p:nvSpPr>
          <p:cNvPr id="13" name="TextBox 12"/>
          <p:cNvSpPr txBox="1"/>
          <p:nvPr/>
        </p:nvSpPr>
        <p:spPr>
          <a:xfrm>
            <a:off x="3566160" y="3870807"/>
            <a:ext cx="3246120" cy="384048"/>
          </a:xfrm>
          <a:prstGeom prst="rect">
            <a:avLst/>
          </a:prstGeom>
          <a:noFill/>
        </p:spPr>
        <p:txBody>
          <a:bodyPr wrap="square" lIns="0" rIns="0" tIns="0" bIns="0" anchor="t">
            <a:spAutoFit/>
          </a:bodyPr>
          <a:lstStyle/>
          <a:p>
            <a:pPr algn="l">
              <a:lnSpc>
                <a:spcPct val="100000"/>
              </a:lnSpc>
            </a:pPr>
            <a:r>
              <a:rPr sz="2000" b="1">
                <a:solidFill>
                  <a:srgbClr val="15171A"/>
                </a:solidFill>
                <a:latin typeface="Noto Sans KR"/>
                <a:ea typeface="Noto Sans KR"/>
                <a:cs typeface="Noto Sans KR"/>
              </a:rPr>
              <a:t>사용할 때는 단단하게</a:t>
            </a:r>
          </a:p>
        </p:txBody>
      </p:sp>
      <p:sp>
        <p:nvSpPr>
          <p:cNvPr id="14" name="TextBox 13"/>
          <p:cNvSpPr txBox="1"/>
          <p:nvPr/>
        </p:nvSpPr>
        <p:spPr>
          <a:xfrm>
            <a:off x="3566160" y="4291431"/>
            <a:ext cx="3246120" cy="457200"/>
          </a:xfrm>
          <a:prstGeom prst="rect">
            <a:avLst/>
          </a:prstGeom>
          <a:noFill/>
        </p:spPr>
        <p:txBody>
          <a:bodyPr wrap="square" lIns="0" rIns="0" tIns="0" bIns="0" anchor="t">
            <a:spAutoFit/>
          </a:bodyPr>
          <a:lstStyle/>
          <a:p>
            <a:pPr algn="l">
              <a:lnSpc>
                <a:spcPct val="100000"/>
              </a:lnSpc>
            </a:pPr>
            <a:r>
              <a:rPr sz="1250" b="0">
                <a:solidFill>
                  <a:srgbClr val="4A4F57"/>
                </a:solidFill>
                <a:latin typeface="Noto Sans KR"/>
                <a:ea typeface="Noto Sans KR"/>
                <a:cs typeface="Noto Sans KR"/>
              </a:rPr>
              <a:t>팬·손잡이·노브·레버의 힘과 반력을 버팀</a:t>
            </a:r>
          </a:p>
        </p:txBody>
      </p:sp>
      <p:cxnSp>
        <p:nvCxnSpPr>
          <p:cNvPr id="15" name="Connector 14"/>
          <p:cNvCxnSpPr/>
          <p:nvPr/>
        </p:nvCxnSpPr>
        <p:spPr>
          <a:xfrm>
            <a:off x="3566160" y="4876647"/>
            <a:ext cx="3246119" cy="0"/>
          </a:xfrm>
          <a:prstGeom prst="line">
            <a:avLst/>
          </a:prstGeom>
          <a:ln w="12700">
            <a:solidFill>
              <a:srgbClr val="15171A"/>
            </a:solidFill>
          </a:ln>
        </p:spPr>
      </p:cxnSp>
      <p:sp>
        <p:nvSpPr>
          <p:cNvPr id="16" name="TextBox 15"/>
          <p:cNvSpPr txBox="1"/>
          <p:nvPr/>
        </p:nvSpPr>
        <p:spPr>
          <a:xfrm>
            <a:off x="3566160" y="5004663"/>
            <a:ext cx="3246120" cy="219456"/>
          </a:xfrm>
          <a:prstGeom prst="rect">
            <a:avLst/>
          </a:prstGeom>
          <a:noFill/>
        </p:spPr>
        <p:txBody>
          <a:bodyPr wrap="square" lIns="0" rIns="0" tIns="0" bIns="0" anchor="t">
            <a:spAutoFit/>
          </a:bodyPr>
          <a:lstStyle/>
          <a:p>
            <a:pPr algn="l">
              <a:lnSpc>
                <a:spcPct val="100000"/>
              </a:lnSpc>
            </a:pPr>
            <a:r>
              <a:rPr sz="1100" b="1">
                <a:solidFill>
                  <a:srgbClr val="E2571B"/>
                </a:solidFill>
                <a:latin typeface="Noto Sans KR"/>
                <a:ea typeface="Noto Sans KR"/>
                <a:cs typeface="Noto Sans KR"/>
              </a:rPr>
              <a:t>Force · Tactile Control</a:t>
            </a:r>
          </a:p>
        </p:txBody>
      </p:sp>
      <p:sp>
        <p:nvSpPr>
          <p:cNvPr id="17" name="TextBox 16"/>
          <p:cNvSpPr txBox="1"/>
          <p:nvPr/>
        </p:nvSpPr>
        <p:spPr>
          <a:xfrm>
            <a:off x="3566160" y="5260695"/>
            <a:ext cx="3246120" cy="384048"/>
          </a:xfrm>
          <a:prstGeom prst="rect">
            <a:avLst/>
          </a:prstGeom>
          <a:noFill/>
        </p:spPr>
        <p:txBody>
          <a:bodyPr wrap="square" lIns="0" rIns="0" tIns="0" bIns="0" anchor="t">
            <a:spAutoFit/>
          </a:bodyPr>
          <a:lstStyle/>
          <a:p>
            <a:pPr algn="l">
              <a:lnSpc>
                <a:spcPct val="100000"/>
              </a:lnSpc>
            </a:pPr>
            <a:r>
              <a:rPr sz="2000" b="1">
                <a:solidFill>
                  <a:srgbClr val="15171A"/>
                </a:solidFill>
                <a:latin typeface="Noto Sans KR"/>
                <a:ea typeface="Noto Sans KR"/>
                <a:cs typeface="Noto Sans KR"/>
              </a:rPr>
              <a:t>느끼면서 제어</a:t>
            </a:r>
          </a:p>
        </p:txBody>
      </p:sp>
      <p:sp>
        <p:nvSpPr>
          <p:cNvPr id="18" name="TextBox 17"/>
          <p:cNvSpPr txBox="1"/>
          <p:nvPr/>
        </p:nvSpPr>
        <p:spPr>
          <a:xfrm>
            <a:off x="3566160" y="5681319"/>
            <a:ext cx="3246120" cy="457200"/>
          </a:xfrm>
          <a:prstGeom prst="rect">
            <a:avLst/>
          </a:prstGeom>
          <a:noFill/>
        </p:spPr>
        <p:txBody>
          <a:bodyPr wrap="square" lIns="0" rIns="0" tIns="0" bIns="0" anchor="t">
            <a:spAutoFit/>
          </a:bodyPr>
          <a:lstStyle/>
          <a:p>
            <a:pPr algn="l">
              <a:lnSpc>
                <a:spcPct val="100000"/>
              </a:lnSpc>
            </a:pPr>
            <a:r>
              <a:rPr sz="1250" b="0">
                <a:solidFill>
                  <a:srgbClr val="4A4F57"/>
                </a:solidFill>
                <a:latin typeface="Noto Sans KR"/>
                <a:ea typeface="Noto Sans KR"/>
                <a:cs typeface="Noto Sans KR"/>
              </a:rPr>
              <a:t>힘과 미끄러짐을 감지하며 작업</a:t>
            </a:r>
          </a:p>
        </p:txBody>
      </p:sp>
      <p:sp>
        <p:nvSpPr>
          <p:cNvPr id="19" name="TextBox 18"/>
          <p:cNvSpPr txBox="1"/>
          <p:nvPr/>
        </p:nvSpPr>
        <p:spPr>
          <a:xfrm>
            <a:off x="7223759" y="2096871"/>
            <a:ext cx="4282135" cy="237744"/>
          </a:xfrm>
          <a:prstGeom prst="rect">
            <a:avLst/>
          </a:prstGeom>
          <a:noFill/>
        </p:spPr>
        <p:txBody>
          <a:bodyPr wrap="square" lIns="0" rIns="0" tIns="0" bIns="0" anchor="t">
            <a:spAutoFit/>
          </a:bodyPr>
          <a:lstStyle/>
          <a:p>
            <a:pPr algn="l">
              <a:lnSpc>
                <a:spcPct val="100000"/>
              </a:lnSpc>
            </a:pPr>
            <a:r>
              <a:rPr sz="1100" b="1">
                <a:solidFill>
                  <a:srgbClr val="8C9198"/>
                </a:solidFill>
                <a:latin typeface="Noto Sans KR"/>
                <a:ea typeface="Noto Sans KR"/>
                <a:cs typeface="Noto Sans KR"/>
              </a:rPr>
              <a:t>KITCHEN ROBOTICS PLATFORM</a:t>
            </a:r>
          </a:p>
        </p:txBody>
      </p:sp>
      <p:sp>
        <p:nvSpPr>
          <p:cNvPr id="20" name="Rectangle 19"/>
          <p:cNvSpPr/>
          <p:nvPr/>
        </p:nvSpPr>
        <p:spPr>
          <a:xfrm>
            <a:off x="7223759" y="2444343"/>
            <a:ext cx="4282135" cy="603504"/>
          </a:xfrm>
          <a:prstGeom prst="rect">
            <a:avLst/>
          </a:prstGeom>
          <a:solidFill>
            <a:srgbClr val="F4F5F6"/>
          </a:solidFill>
          <a:ln>
            <a:noFill/>
          </a:ln>
        </p:spPr>
        <p:txBody>
          <a:bodyPr rtlCol="0" anchor="ctr"/>
          <a:lstStyle/>
          <a:p>
            <a:pPr algn="ctr"/>
          </a:p>
        </p:txBody>
      </p:sp>
      <p:sp>
        <p:nvSpPr>
          <p:cNvPr id="21" name="TextBox 20"/>
          <p:cNvSpPr txBox="1"/>
          <p:nvPr/>
        </p:nvSpPr>
        <p:spPr>
          <a:xfrm>
            <a:off x="7388352" y="2444343"/>
            <a:ext cx="1280160" cy="603504"/>
          </a:xfrm>
          <a:prstGeom prst="rect">
            <a:avLst/>
          </a:prstGeom>
          <a:noFill/>
        </p:spPr>
        <p:txBody>
          <a:bodyPr wrap="square" lIns="0" rIns="0" tIns="0" bIns="0" anchor="ctr">
            <a:spAutoFit/>
          </a:bodyPr>
          <a:lstStyle/>
          <a:p>
            <a:pPr algn="l">
              <a:lnSpc>
                <a:spcPct val="100000"/>
              </a:lnSpc>
            </a:pPr>
            <a:r>
              <a:rPr sz="1200" b="1">
                <a:solidFill>
                  <a:srgbClr val="15171A"/>
                </a:solidFill>
                <a:latin typeface="Noto Sans KR"/>
                <a:ea typeface="Noto Sans KR"/>
                <a:cs typeface="Noto Sans KR"/>
              </a:rPr>
              <a:t>Application</a:t>
            </a:r>
          </a:p>
        </p:txBody>
      </p:sp>
      <p:sp>
        <p:nvSpPr>
          <p:cNvPr id="22" name="TextBox 21"/>
          <p:cNvSpPr txBox="1"/>
          <p:nvPr/>
        </p:nvSpPr>
        <p:spPr>
          <a:xfrm>
            <a:off x="8686800" y="2444343"/>
            <a:ext cx="2681935" cy="603504"/>
          </a:xfrm>
          <a:prstGeom prst="rect">
            <a:avLst/>
          </a:prstGeom>
          <a:noFill/>
        </p:spPr>
        <p:txBody>
          <a:bodyPr wrap="square" lIns="0" rIns="0" tIns="0" bIns="0" anchor="ctr">
            <a:spAutoFit/>
          </a:bodyPr>
          <a:lstStyle/>
          <a:p>
            <a:pPr algn="l">
              <a:lnSpc>
                <a:spcPct val="100000"/>
              </a:lnSpc>
            </a:pPr>
            <a:r>
              <a:rPr sz="1150" b="0">
                <a:solidFill>
                  <a:srgbClr val="4A4F57"/>
                </a:solidFill>
                <a:latin typeface="Noto Sans KR"/>
                <a:ea typeface="Noto Sans KR"/>
                <a:cs typeface="Noto Sans KR"/>
              </a:rPr>
              <a:t>상업용 주방 · 가정용 주방</a:t>
            </a:r>
          </a:p>
        </p:txBody>
      </p:sp>
      <p:sp>
        <p:nvSpPr>
          <p:cNvPr id="23" name="Rectangle 22"/>
          <p:cNvSpPr/>
          <p:nvPr/>
        </p:nvSpPr>
        <p:spPr>
          <a:xfrm>
            <a:off x="7223759" y="3111855"/>
            <a:ext cx="4282135" cy="603504"/>
          </a:xfrm>
          <a:prstGeom prst="rect">
            <a:avLst/>
          </a:prstGeom>
          <a:solidFill>
            <a:srgbClr val="15171A"/>
          </a:solidFill>
          <a:ln>
            <a:noFill/>
          </a:ln>
        </p:spPr>
        <p:txBody>
          <a:bodyPr rtlCol="0" anchor="ctr"/>
          <a:lstStyle/>
          <a:p>
            <a:pPr algn="ctr"/>
          </a:p>
        </p:txBody>
      </p:sp>
      <p:sp>
        <p:nvSpPr>
          <p:cNvPr id="24" name="TextBox 23"/>
          <p:cNvSpPr txBox="1"/>
          <p:nvPr/>
        </p:nvSpPr>
        <p:spPr>
          <a:xfrm>
            <a:off x="7388352" y="3111855"/>
            <a:ext cx="1280160" cy="603504"/>
          </a:xfrm>
          <a:prstGeom prst="rect">
            <a:avLst/>
          </a:prstGeom>
          <a:noFill/>
        </p:spPr>
        <p:txBody>
          <a:bodyPr wrap="square" lIns="0" rIns="0" tIns="0" bIns="0" anchor="ctr">
            <a:spAutoFit/>
          </a:bodyPr>
          <a:lstStyle/>
          <a:p>
            <a:pPr algn="l">
              <a:lnSpc>
                <a:spcPct val="100000"/>
              </a:lnSpc>
            </a:pPr>
            <a:r>
              <a:rPr sz="1200" b="1">
                <a:solidFill>
                  <a:srgbClr val="FFFFFF"/>
                </a:solidFill>
                <a:latin typeface="Noto Sans KR"/>
                <a:ea typeface="Noto Sans KR"/>
                <a:cs typeface="Noto Sans KR"/>
              </a:rPr>
              <a:t>Skill</a:t>
            </a:r>
          </a:p>
        </p:txBody>
      </p:sp>
      <p:sp>
        <p:nvSpPr>
          <p:cNvPr id="25" name="TextBox 24"/>
          <p:cNvSpPr txBox="1"/>
          <p:nvPr/>
        </p:nvSpPr>
        <p:spPr>
          <a:xfrm>
            <a:off x="8686800" y="3111855"/>
            <a:ext cx="2681935" cy="603504"/>
          </a:xfrm>
          <a:prstGeom prst="rect">
            <a:avLst/>
          </a:prstGeom>
          <a:noFill/>
        </p:spPr>
        <p:txBody>
          <a:bodyPr wrap="square" lIns="0" rIns="0" tIns="0" bIns="0" anchor="ctr">
            <a:spAutoFit/>
          </a:bodyPr>
          <a:lstStyle/>
          <a:p>
            <a:pPr algn="l">
              <a:lnSpc>
                <a:spcPct val="100000"/>
              </a:lnSpc>
            </a:pPr>
            <a:r>
              <a:rPr sz="1150" b="0">
                <a:solidFill>
                  <a:srgbClr val="FFFFFF"/>
                </a:solidFill>
                <a:latin typeface="Noto Sans KR"/>
                <a:ea typeface="Noto Sans KR"/>
                <a:cs typeface="Noto Sans KR"/>
              </a:rPr>
              <a:t>집기 · 붓기 · 젓기 · 뒤집기 · 열기</a:t>
            </a:r>
          </a:p>
          <a:p>
            <a:pPr algn="l">
              <a:lnSpc>
                <a:spcPct val="100000"/>
              </a:lnSpc>
            </a:pPr>
            <a:r>
              <a:rPr sz="1150" b="0">
                <a:solidFill>
                  <a:srgbClr val="FFFFFF"/>
                </a:solidFill>
                <a:latin typeface="Noto Sans KR"/>
                <a:ea typeface="Noto Sans KR"/>
                <a:cs typeface="Noto Sans KR"/>
              </a:rPr>
              <a:t>누르기 · 돌리기 · 썰기 · 담기</a:t>
            </a:r>
          </a:p>
        </p:txBody>
      </p:sp>
      <p:sp>
        <p:nvSpPr>
          <p:cNvPr id="26" name="Rectangle 25"/>
          <p:cNvSpPr/>
          <p:nvPr/>
        </p:nvSpPr>
        <p:spPr>
          <a:xfrm>
            <a:off x="7223759" y="3779367"/>
            <a:ext cx="4282135" cy="603504"/>
          </a:xfrm>
          <a:prstGeom prst="rect">
            <a:avLst/>
          </a:prstGeom>
          <a:solidFill>
            <a:srgbClr val="15171A"/>
          </a:solidFill>
          <a:ln>
            <a:noFill/>
          </a:ln>
        </p:spPr>
        <p:txBody>
          <a:bodyPr rtlCol="0" anchor="ctr"/>
          <a:lstStyle/>
          <a:p>
            <a:pPr algn="ctr"/>
          </a:p>
        </p:txBody>
      </p:sp>
      <p:sp>
        <p:nvSpPr>
          <p:cNvPr id="27" name="TextBox 26"/>
          <p:cNvSpPr txBox="1"/>
          <p:nvPr/>
        </p:nvSpPr>
        <p:spPr>
          <a:xfrm>
            <a:off x="7388352" y="3779367"/>
            <a:ext cx="1280160" cy="603504"/>
          </a:xfrm>
          <a:prstGeom prst="rect">
            <a:avLst/>
          </a:prstGeom>
          <a:noFill/>
        </p:spPr>
        <p:txBody>
          <a:bodyPr wrap="square" lIns="0" rIns="0" tIns="0" bIns="0" anchor="ctr">
            <a:spAutoFit/>
          </a:bodyPr>
          <a:lstStyle/>
          <a:p>
            <a:pPr algn="l">
              <a:lnSpc>
                <a:spcPct val="100000"/>
              </a:lnSpc>
            </a:pPr>
            <a:r>
              <a:rPr sz="1200" b="1">
                <a:solidFill>
                  <a:srgbClr val="FFFFFF"/>
                </a:solidFill>
                <a:latin typeface="Noto Sans KR"/>
                <a:ea typeface="Noto Sans KR"/>
                <a:cs typeface="Noto Sans KR"/>
              </a:rPr>
              <a:t>Manipulation</a:t>
            </a:r>
          </a:p>
        </p:txBody>
      </p:sp>
      <p:sp>
        <p:nvSpPr>
          <p:cNvPr id="28" name="TextBox 27"/>
          <p:cNvSpPr txBox="1"/>
          <p:nvPr/>
        </p:nvSpPr>
        <p:spPr>
          <a:xfrm>
            <a:off x="8686800" y="3779367"/>
            <a:ext cx="2681935" cy="603504"/>
          </a:xfrm>
          <a:prstGeom prst="rect">
            <a:avLst/>
          </a:prstGeom>
          <a:noFill/>
        </p:spPr>
        <p:txBody>
          <a:bodyPr wrap="square" lIns="0" rIns="0" tIns="0" bIns="0" anchor="ctr">
            <a:spAutoFit/>
          </a:bodyPr>
          <a:lstStyle/>
          <a:p>
            <a:pPr algn="l">
              <a:lnSpc>
                <a:spcPct val="100000"/>
              </a:lnSpc>
            </a:pPr>
            <a:r>
              <a:rPr sz="1150" b="0">
                <a:solidFill>
                  <a:srgbClr val="FFFFFF"/>
                </a:solidFill>
                <a:latin typeface="Noto Sans KR"/>
                <a:ea typeface="Noto Sans KR"/>
                <a:cs typeface="Noto Sans KR"/>
              </a:rPr>
              <a:t>힘·촉각 제어 · 순응 · 가변 강성 · 실패 복구</a:t>
            </a:r>
          </a:p>
        </p:txBody>
      </p:sp>
      <p:sp>
        <p:nvSpPr>
          <p:cNvPr id="29" name="Rectangle 28"/>
          <p:cNvSpPr/>
          <p:nvPr/>
        </p:nvSpPr>
        <p:spPr>
          <a:xfrm>
            <a:off x="7223759" y="4446879"/>
            <a:ext cx="4282135" cy="603504"/>
          </a:xfrm>
          <a:prstGeom prst="rect">
            <a:avLst/>
          </a:prstGeom>
          <a:solidFill>
            <a:srgbClr val="E2571B"/>
          </a:solidFill>
          <a:ln>
            <a:noFill/>
          </a:ln>
        </p:spPr>
        <p:txBody>
          <a:bodyPr rtlCol="0" anchor="ctr"/>
          <a:lstStyle/>
          <a:p>
            <a:pPr algn="ctr"/>
          </a:p>
        </p:txBody>
      </p:sp>
      <p:sp>
        <p:nvSpPr>
          <p:cNvPr id="30" name="TextBox 29"/>
          <p:cNvSpPr txBox="1"/>
          <p:nvPr/>
        </p:nvSpPr>
        <p:spPr>
          <a:xfrm>
            <a:off x="7388352" y="4446879"/>
            <a:ext cx="1280160" cy="603504"/>
          </a:xfrm>
          <a:prstGeom prst="rect">
            <a:avLst/>
          </a:prstGeom>
          <a:noFill/>
        </p:spPr>
        <p:txBody>
          <a:bodyPr wrap="square" lIns="0" rIns="0" tIns="0" bIns="0" anchor="ctr">
            <a:spAutoFit/>
          </a:bodyPr>
          <a:lstStyle/>
          <a:p>
            <a:pPr algn="l">
              <a:lnSpc>
                <a:spcPct val="100000"/>
              </a:lnSpc>
            </a:pPr>
            <a:r>
              <a:rPr sz="1200" b="1">
                <a:solidFill>
                  <a:srgbClr val="FFFFFF"/>
                </a:solidFill>
                <a:latin typeface="Noto Sans KR"/>
                <a:ea typeface="Noto Sans KR"/>
                <a:cs typeface="Noto Sans KR"/>
              </a:rPr>
              <a:t>Hardware</a:t>
            </a:r>
          </a:p>
        </p:txBody>
      </p:sp>
      <p:sp>
        <p:nvSpPr>
          <p:cNvPr id="31" name="TextBox 30"/>
          <p:cNvSpPr txBox="1"/>
          <p:nvPr/>
        </p:nvSpPr>
        <p:spPr>
          <a:xfrm>
            <a:off x="8686800" y="4446879"/>
            <a:ext cx="2681935" cy="603504"/>
          </a:xfrm>
          <a:prstGeom prst="rect">
            <a:avLst/>
          </a:prstGeom>
          <a:noFill/>
        </p:spPr>
        <p:txBody>
          <a:bodyPr wrap="square" lIns="0" rIns="0" tIns="0" bIns="0" anchor="ctr">
            <a:spAutoFit/>
          </a:bodyPr>
          <a:lstStyle/>
          <a:p>
            <a:pPr algn="l">
              <a:lnSpc>
                <a:spcPct val="100000"/>
              </a:lnSpc>
            </a:pPr>
            <a:r>
              <a:rPr sz="1500" b="1">
                <a:solidFill>
                  <a:srgbClr val="FFFFFF"/>
                </a:solidFill>
                <a:latin typeface="Noto Sans KR"/>
                <a:ea typeface="Noto Sans KR"/>
                <a:cs typeface="Noto Sans KR"/>
              </a:rPr>
              <a:t>SoftHand</a:t>
            </a:r>
          </a:p>
        </p:txBody>
      </p:sp>
      <p:sp>
        <p:nvSpPr>
          <p:cNvPr id="32" name="Rectangle 31"/>
          <p:cNvSpPr/>
          <p:nvPr/>
        </p:nvSpPr>
        <p:spPr>
          <a:xfrm>
            <a:off x="7223759" y="5114391"/>
            <a:ext cx="4282135" cy="603504"/>
          </a:xfrm>
          <a:prstGeom prst="rect">
            <a:avLst/>
          </a:prstGeom>
          <a:solidFill>
            <a:srgbClr val="F4F5F6"/>
          </a:solidFill>
          <a:ln>
            <a:noFill/>
          </a:ln>
        </p:spPr>
        <p:txBody>
          <a:bodyPr rtlCol="0" anchor="ctr"/>
          <a:lstStyle/>
          <a:p>
            <a:pPr algn="ctr"/>
          </a:p>
        </p:txBody>
      </p:sp>
      <p:sp>
        <p:nvSpPr>
          <p:cNvPr id="33" name="TextBox 32"/>
          <p:cNvSpPr txBox="1"/>
          <p:nvPr/>
        </p:nvSpPr>
        <p:spPr>
          <a:xfrm>
            <a:off x="7388352" y="5114391"/>
            <a:ext cx="1280160" cy="603504"/>
          </a:xfrm>
          <a:prstGeom prst="rect">
            <a:avLst/>
          </a:prstGeom>
          <a:noFill/>
        </p:spPr>
        <p:txBody>
          <a:bodyPr wrap="square" lIns="0" rIns="0" tIns="0" bIns="0" anchor="ctr">
            <a:spAutoFit/>
          </a:bodyPr>
          <a:lstStyle/>
          <a:p>
            <a:pPr algn="l">
              <a:lnSpc>
                <a:spcPct val="100000"/>
              </a:lnSpc>
            </a:pPr>
            <a:r>
              <a:rPr sz="1200" b="1">
                <a:solidFill>
                  <a:srgbClr val="15171A"/>
                </a:solidFill>
                <a:latin typeface="Noto Sans KR"/>
                <a:ea typeface="Noto Sans KR"/>
                <a:cs typeface="Noto Sans KR"/>
              </a:rPr>
              <a:t>Robot</a:t>
            </a:r>
          </a:p>
        </p:txBody>
      </p:sp>
      <p:sp>
        <p:nvSpPr>
          <p:cNvPr id="34" name="TextBox 33"/>
          <p:cNvSpPr txBox="1"/>
          <p:nvPr/>
        </p:nvSpPr>
        <p:spPr>
          <a:xfrm>
            <a:off x="8686800" y="5114391"/>
            <a:ext cx="2681935" cy="603504"/>
          </a:xfrm>
          <a:prstGeom prst="rect">
            <a:avLst/>
          </a:prstGeom>
          <a:noFill/>
        </p:spPr>
        <p:txBody>
          <a:bodyPr wrap="square" lIns="0" rIns="0" tIns="0" bIns="0" anchor="ctr">
            <a:spAutoFit/>
          </a:bodyPr>
          <a:lstStyle/>
          <a:p>
            <a:pPr algn="l">
              <a:lnSpc>
                <a:spcPct val="100000"/>
              </a:lnSpc>
            </a:pPr>
            <a:r>
              <a:rPr sz="1150" b="0">
                <a:solidFill>
                  <a:srgbClr val="4A4F57"/>
                </a:solidFill>
                <a:latin typeface="Noto Sans KR"/>
                <a:ea typeface="Noto Sans KR"/>
                <a:cs typeface="Noto Sans KR"/>
              </a:rPr>
              <a:t>로봇 팔 · 가정용 로봇 · 주방 로봇</a:t>
            </a:r>
          </a:p>
        </p:txBody>
      </p:sp>
      <p:sp>
        <p:nvSpPr>
          <p:cNvPr id="35" name="Rectangle 34"/>
          <p:cNvSpPr/>
          <p:nvPr/>
        </p:nvSpPr>
        <p:spPr>
          <a:xfrm>
            <a:off x="7223759" y="5891631"/>
            <a:ext cx="128016" cy="128016"/>
          </a:xfrm>
          <a:prstGeom prst="rect">
            <a:avLst/>
          </a:prstGeom>
          <a:solidFill>
            <a:srgbClr val="15171A"/>
          </a:solidFill>
          <a:ln>
            <a:noFill/>
          </a:ln>
        </p:spPr>
        <p:txBody>
          <a:bodyPr rtlCol="0" anchor="ctr"/>
          <a:lstStyle/>
          <a:p>
            <a:pPr algn="ctr"/>
          </a:p>
        </p:txBody>
      </p:sp>
      <p:sp>
        <p:nvSpPr>
          <p:cNvPr id="36" name="TextBox 35"/>
          <p:cNvSpPr txBox="1"/>
          <p:nvPr/>
        </p:nvSpPr>
        <p:spPr>
          <a:xfrm>
            <a:off x="7424927" y="5836767"/>
            <a:ext cx="2011680" cy="237744"/>
          </a:xfrm>
          <a:prstGeom prst="rect">
            <a:avLst/>
          </a:prstGeom>
          <a:noFill/>
        </p:spPr>
        <p:txBody>
          <a:bodyPr wrap="square" lIns="0" rIns="0" tIns="0" bIns="0" anchor="t">
            <a:spAutoFit/>
          </a:bodyPr>
          <a:lstStyle/>
          <a:p>
            <a:pPr algn="l">
              <a:lnSpc>
                <a:spcPct val="100000"/>
              </a:lnSpc>
            </a:pPr>
            <a:r>
              <a:rPr sz="1050" b="0">
                <a:solidFill>
                  <a:srgbClr val="4A4F57"/>
                </a:solidFill>
                <a:latin typeface="Noto Sans KR"/>
                <a:ea typeface="Noto Sans KR"/>
                <a:cs typeface="Noto Sans KR"/>
              </a:rPr>
              <a:t>SoftHand가 만드는 범위</a:t>
            </a:r>
          </a:p>
        </p:txBody>
      </p:sp>
      <p:sp>
        <p:nvSpPr>
          <p:cNvPr id="37" name="Rectangle 36"/>
          <p:cNvSpPr/>
          <p:nvPr/>
        </p:nvSpPr>
        <p:spPr>
          <a:xfrm>
            <a:off x="9175923" y="5891631"/>
            <a:ext cx="128016" cy="128016"/>
          </a:xfrm>
          <a:prstGeom prst="rect">
            <a:avLst/>
          </a:prstGeom>
          <a:solidFill>
            <a:srgbClr val="F4F5F6"/>
          </a:solidFill>
          <a:ln w="9525">
            <a:solidFill>
              <a:srgbClr val="C9CDD2"/>
            </a:solidFill>
          </a:ln>
        </p:spPr>
        <p:txBody>
          <a:bodyPr rtlCol="0" anchor="ctr"/>
          <a:lstStyle/>
          <a:p>
            <a:pPr algn="ctr"/>
          </a:p>
        </p:txBody>
      </p:sp>
      <p:sp>
        <p:nvSpPr>
          <p:cNvPr id="38" name="TextBox 37"/>
          <p:cNvSpPr txBox="1"/>
          <p:nvPr/>
        </p:nvSpPr>
        <p:spPr>
          <a:xfrm>
            <a:off x="9377091" y="5836767"/>
            <a:ext cx="2011680" cy="237744"/>
          </a:xfrm>
          <a:prstGeom prst="rect">
            <a:avLst/>
          </a:prstGeom>
          <a:noFill/>
        </p:spPr>
        <p:txBody>
          <a:bodyPr wrap="square" lIns="0" rIns="0" tIns="0" bIns="0" anchor="t">
            <a:spAutoFit/>
          </a:bodyPr>
          <a:lstStyle/>
          <a:p>
            <a:pPr algn="l">
              <a:lnSpc>
                <a:spcPct val="100000"/>
              </a:lnSpc>
            </a:pPr>
            <a:r>
              <a:rPr sz="1050" b="0">
                <a:solidFill>
                  <a:srgbClr val="4A4F57"/>
                </a:solidFill>
                <a:latin typeface="Noto Sans KR"/>
                <a:ea typeface="Noto Sans KR"/>
                <a:cs typeface="Noto Sans KR"/>
              </a:rPr>
              <a:t>고객·파트너·기존 로봇</a:t>
            </a:r>
          </a:p>
        </p:txBody>
      </p:sp>
      <p:sp>
        <p:nvSpPr>
          <p:cNvPr id="39" name="TextBox 38"/>
          <p:cNvSpPr txBox="1"/>
          <p:nvPr/>
        </p:nvSpPr>
        <p:spPr>
          <a:xfrm>
            <a:off x="685800" y="6446520"/>
            <a:ext cx="5486400" cy="201168"/>
          </a:xfrm>
          <a:prstGeom prst="rect">
            <a:avLst/>
          </a:prstGeom>
          <a:noFill/>
        </p:spPr>
        <p:txBody>
          <a:bodyPr wrap="square" lIns="0" rIns="0" tIns="0" bIns="0" anchor="t">
            <a:spAutoFit/>
          </a:bodyPr>
          <a:lstStyle/>
          <a:p>
            <a:pPr algn="l">
              <a:lnSpc>
                <a:spcPct val="100000"/>
              </a:lnSpc>
            </a:pPr>
            <a:r>
              <a:rPr sz="900" b="0">
                <a:solidFill>
                  <a:srgbClr val="8C9198"/>
                </a:solidFill>
                <a:latin typeface="Noto Sans KR"/>
                <a:ea typeface="Noto Sans KR"/>
                <a:cs typeface="Noto Sans KR"/>
              </a:rPr>
              <a:t>SoftHand  |  주방 로봇 조작 플랫폼  |  Seed 투자 제안서</a:t>
            </a:r>
          </a:p>
        </p:txBody>
      </p:sp>
      <p:sp>
        <p:nvSpPr>
          <p:cNvPr id="40" name="TextBox 39"/>
          <p:cNvSpPr txBox="1"/>
          <p:nvPr/>
        </p:nvSpPr>
        <p:spPr>
          <a:xfrm>
            <a:off x="3154680" y="6446520"/>
            <a:ext cx="7802575" cy="201168"/>
          </a:xfrm>
          <a:prstGeom prst="rect">
            <a:avLst/>
          </a:prstGeom>
          <a:noFill/>
        </p:spPr>
        <p:txBody>
          <a:bodyPr wrap="square" lIns="0" rIns="0" tIns="0" bIns="0" anchor="t">
            <a:spAutoFit/>
          </a:bodyPr>
          <a:lstStyle/>
          <a:p>
            <a:pPr algn="r">
              <a:lnSpc>
                <a:spcPct val="100000"/>
              </a:lnSpc>
            </a:pPr>
            <a:r>
              <a:rPr sz="900" b="0">
                <a:solidFill>
                  <a:srgbClr val="8C9198"/>
                </a:solidFill>
                <a:latin typeface="Noto Sans KR"/>
                <a:ea typeface="Noto Sans KR"/>
                <a:cs typeface="Noto Sans KR"/>
              </a:rPr>
              <a:t>4지(손가락 3 + 대향 엄지) 콘셉트 · 구동·센서·하중 상세는 부록 A3 · 콘셉트 렌더링</a:t>
            </a:r>
          </a:p>
        </p:txBody>
      </p:sp>
      <p:sp>
        <p:nvSpPr>
          <p:cNvPr id="41" name="TextBox 40"/>
          <p:cNvSpPr txBox="1"/>
          <p:nvPr/>
        </p:nvSpPr>
        <p:spPr>
          <a:xfrm>
            <a:off x="11048695" y="6446520"/>
            <a:ext cx="457200" cy="201168"/>
          </a:xfrm>
          <a:prstGeom prst="rect">
            <a:avLst/>
          </a:prstGeom>
          <a:noFill/>
        </p:spPr>
        <p:txBody>
          <a:bodyPr wrap="square" lIns="0" rIns="0" tIns="0" bIns="0" anchor="t">
            <a:spAutoFit/>
          </a:bodyPr>
          <a:lstStyle/>
          <a:p>
            <a:pPr algn="r">
              <a:lnSpc>
                <a:spcPct val="100000"/>
              </a:lnSpc>
            </a:pPr>
            <a:r>
              <a:rPr sz="900" b="0">
                <a:solidFill>
                  <a:srgbClr val="8C9198"/>
                </a:solidFill>
                <a:latin typeface="Noto Sans KR"/>
                <a:ea typeface="Noto Sans KR"/>
                <a:cs typeface="Noto Sans KR"/>
              </a:rPr>
              <a:t>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548640"/>
            <a:ext cx="7315200" cy="274320"/>
          </a:xfrm>
          <a:prstGeom prst="rect">
            <a:avLst/>
          </a:prstGeom>
          <a:noFill/>
        </p:spPr>
        <p:txBody>
          <a:bodyPr wrap="square" lIns="0" rIns="0" tIns="0" bIns="0" anchor="t">
            <a:spAutoFit/>
          </a:bodyPr>
          <a:lstStyle/>
          <a:p>
            <a:pPr algn="l">
              <a:lnSpc>
                <a:spcPct val="100000"/>
              </a:lnSpc>
            </a:pPr>
            <a:r>
              <a:rPr sz="1200" b="1">
                <a:solidFill>
                  <a:srgbClr val="E2571B"/>
                </a:solidFill>
                <a:latin typeface="Noto Sans KR"/>
                <a:ea typeface="Noto Sans KR"/>
                <a:cs typeface="Noto Sans KR"/>
              </a:rPr>
              <a:t>KITCHEN WORKFLOW</a:t>
            </a:r>
          </a:p>
        </p:txBody>
      </p:sp>
      <p:sp>
        <p:nvSpPr>
          <p:cNvPr id="3" name="TextBox 2"/>
          <p:cNvSpPr txBox="1"/>
          <p:nvPr/>
        </p:nvSpPr>
        <p:spPr>
          <a:xfrm>
            <a:off x="685800" y="932688"/>
            <a:ext cx="10820095" cy="542391"/>
          </a:xfrm>
          <a:prstGeom prst="rect">
            <a:avLst/>
          </a:prstGeom>
          <a:noFill/>
        </p:spPr>
        <p:txBody>
          <a:bodyPr wrap="square" lIns="0" rIns="0" tIns="0" bIns="0" anchor="t">
            <a:spAutoFit/>
          </a:bodyPr>
          <a:lstStyle/>
          <a:p>
            <a:pPr algn="l">
              <a:lnSpc>
                <a:spcPct val="95000"/>
              </a:lnSpc>
            </a:pPr>
            <a:r>
              <a:rPr sz="3000" b="1">
                <a:solidFill>
                  <a:srgbClr val="15171A"/>
                </a:solidFill>
                <a:latin typeface="Noto Sans KR"/>
                <a:ea typeface="Noto Sans KR"/>
                <a:cs typeface="Noto Sans KR"/>
              </a:rPr>
              <a:t>One Hand. Many Tools. Many Tasks.</a:t>
            </a:r>
          </a:p>
        </p:txBody>
      </p:sp>
      <p:sp>
        <p:nvSpPr>
          <p:cNvPr id="4" name="TextBox 3"/>
          <p:cNvSpPr txBox="1"/>
          <p:nvPr/>
        </p:nvSpPr>
        <p:spPr>
          <a:xfrm>
            <a:off x="685800" y="1584807"/>
            <a:ext cx="10820095" cy="329184"/>
          </a:xfrm>
          <a:prstGeom prst="rect">
            <a:avLst/>
          </a:prstGeom>
          <a:noFill/>
        </p:spPr>
        <p:txBody>
          <a:bodyPr wrap="square" lIns="0" rIns="0" tIns="0" bIns="0" anchor="t">
            <a:spAutoFit/>
          </a:bodyPr>
          <a:lstStyle/>
          <a:p>
            <a:pPr algn="l">
              <a:lnSpc>
                <a:spcPct val="100000"/>
              </a:lnSpc>
            </a:pPr>
            <a:r>
              <a:rPr sz="1600" b="0">
                <a:solidFill>
                  <a:srgbClr val="4A4F57"/>
                </a:solidFill>
                <a:latin typeface="Noto Sans KR"/>
                <a:ea typeface="Noto Sans KR"/>
                <a:cs typeface="Noto Sans KR"/>
              </a:rPr>
              <a:t>핸드 하나로 재료 집기부터 플레이팅까지, 사람용 도구를 그대로 사용 (콘셉트)</a:t>
            </a:r>
          </a:p>
        </p:txBody>
      </p:sp>
      <p:pic>
        <p:nvPicPr>
          <p:cNvPr id="5" name="Picture 4" descr="lx_pick_light_280x158_50_50_100.jpg"/>
          <p:cNvPicPr>
            <a:picLocks noChangeAspect="1"/>
          </p:cNvPicPr>
          <p:nvPr/>
        </p:nvPicPr>
        <p:blipFill>
          <a:blip r:embed="rId2"/>
          <a:stretch>
            <a:fillRect/>
          </a:stretch>
        </p:blipFill>
        <p:spPr>
          <a:xfrm>
            <a:off x="685800" y="2023719"/>
            <a:ext cx="2567863" cy="1444752"/>
          </a:xfrm>
          <a:prstGeom prst="rect">
            <a:avLst/>
          </a:prstGeom>
        </p:spPr>
      </p:pic>
      <p:sp>
        <p:nvSpPr>
          <p:cNvPr id="6" name="TextBox 5"/>
          <p:cNvSpPr txBox="1"/>
          <p:nvPr/>
        </p:nvSpPr>
        <p:spPr>
          <a:xfrm>
            <a:off x="685800" y="3559911"/>
            <a:ext cx="2567863" cy="274320"/>
          </a:xfrm>
          <a:prstGeom prst="rect">
            <a:avLst/>
          </a:prstGeom>
          <a:noFill/>
        </p:spPr>
        <p:txBody>
          <a:bodyPr wrap="square" lIns="0" rIns="0" tIns="0" bIns="0" anchor="t">
            <a:spAutoFit/>
          </a:bodyPr>
          <a:lstStyle/>
          <a:p>
            <a:pPr algn="l">
              <a:lnSpc>
                <a:spcPct val="100000"/>
              </a:lnSpc>
            </a:pPr>
            <a:r>
              <a:rPr sz="1400" b="1">
                <a:solidFill>
                  <a:srgbClr val="E2571B"/>
                </a:solidFill>
                <a:latin typeface="Noto Sans KR"/>
                <a:ea typeface="Noto Sans KR"/>
                <a:cs typeface="Noto Sans KR"/>
              </a:rPr>
              <a:t>1  </a:t>
            </a:r>
            <a:r>
              <a:rPr sz="1400" b="1">
                <a:solidFill>
                  <a:srgbClr val="15171A"/>
                </a:solidFill>
                <a:latin typeface="Noto Sans KR"/>
                <a:ea typeface="Noto Sans KR"/>
                <a:cs typeface="Noto Sans KR"/>
              </a:rPr>
              <a:t>재료 집기</a:t>
            </a:r>
          </a:p>
        </p:txBody>
      </p:sp>
      <p:sp>
        <p:nvSpPr>
          <p:cNvPr id="7" name="TextBox 6"/>
          <p:cNvSpPr txBox="1"/>
          <p:nvPr/>
        </p:nvSpPr>
        <p:spPr>
          <a:xfrm>
            <a:off x="923544" y="3852519"/>
            <a:ext cx="2330119" cy="237744"/>
          </a:xfrm>
          <a:prstGeom prst="rect">
            <a:avLst/>
          </a:prstGeom>
          <a:noFill/>
        </p:spPr>
        <p:txBody>
          <a:bodyPr wrap="square" lIns="0" rIns="0" tIns="0" bIns="0" anchor="t">
            <a:spAutoFit/>
          </a:bodyPr>
          <a:lstStyle/>
          <a:p>
            <a:pPr algn="l">
              <a:lnSpc>
                <a:spcPct val="100000"/>
              </a:lnSpc>
            </a:pPr>
            <a:r>
              <a:rPr sz="1100" b="0">
                <a:solidFill>
                  <a:srgbClr val="4A4F57"/>
                </a:solidFill>
                <a:latin typeface="Noto Sans KR"/>
                <a:ea typeface="Noto Sans KR"/>
                <a:cs typeface="Noto Sans KR"/>
              </a:rPr>
              <a:t>그릇의 재료</a:t>
            </a:r>
          </a:p>
        </p:txBody>
      </p:sp>
      <p:pic>
        <p:nvPicPr>
          <p:cNvPr id="8" name="Picture 7" descr="lx_lid_light_280x158_50_50_100.jpg"/>
          <p:cNvPicPr>
            <a:picLocks noChangeAspect="1"/>
          </p:cNvPicPr>
          <p:nvPr/>
        </p:nvPicPr>
        <p:blipFill>
          <a:blip r:embed="rId3"/>
          <a:stretch>
            <a:fillRect/>
          </a:stretch>
        </p:blipFill>
        <p:spPr>
          <a:xfrm>
            <a:off x="3436543" y="2023719"/>
            <a:ext cx="2567863" cy="1444752"/>
          </a:xfrm>
          <a:prstGeom prst="rect">
            <a:avLst/>
          </a:prstGeom>
        </p:spPr>
      </p:pic>
      <p:sp>
        <p:nvSpPr>
          <p:cNvPr id="9" name="TextBox 8"/>
          <p:cNvSpPr txBox="1"/>
          <p:nvPr/>
        </p:nvSpPr>
        <p:spPr>
          <a:xfrm>
            <a:off x="3436543" y="3559911"/>
            <a:ext cx="2567863" cy="274320"/>
          </a:xfrm>
          <a:prstGeom prst="rect">
            <a:avLst/>
          </a:prstGeom>
          <a:noFill/>
        </p:spPr>
        <p:txBody>
          <a:bodyPr wrap="square" lIns="0" rIns="0" tIns="0" bIns="0" anchor="t">
            <a:spAutoFit/>
          </a:bodyPr>
          <a:lstStyle/>
          <a:p>
            <a:pPr algn="l">
              <a:lnSpc>
                <a:spcPct val="100000"/>
              </a:lnSpc>
            </a:pPr>
            <a:r>
              <a:rPr sz="1400" b="1">
                <a:solidFill>
                  <a:srgbClr val="E2571B"/>
                </a:solidFill>
                <a:latin typeface="Noto Sans KR"/>
                <a:ea typeface="Noto Sans KR"/>
                <a:cs typeface="Noto Sans KR"/>
              </a:rPr>
              <a:t>2  </a:t>
            </a:r>
            <a:r>
              <a:rPr sz="1400" b="1">
                <a:solidFill>
                  <a:srgbClr val="15171A"/>
                </a:solidFill>
                <a:latin typeface="Noto Sans KR"/>
                <a:ea typeface="Noto Sans KR"/>
                <a:cs typeface="Noto Sans KR"/>
              </a:rPr>
              <a:t>용기 열기</a:t>
            </a:r>
          </a:p>
        </p:txBody>
      </p:sp>
      <p:sp>
        <p:nvSpPr>
          <p:cNvPr id="10" name="TextBox 9"/>
          <p:cNvSpPr txBox="1"/>
          <p:nvPr/>
        </p:nvSpPr>
        <p:spPr>
          <a:xfrm>
            <a:off x="3674287" y="3852519"/>
            <a:ext cx="2330119" cy="237744"/>
          </a:xfrm>
          <a:prstGeom prst="rect">
            <a:avLst/>
          </a:prstGeom>
          <a:noFill/>
        </p:spPr>
        <p:txBody>
          <a:bodyPr wrap="square" lIns="0" rIns="0" tIns="0" bIns="0" anchor="t">
            <a:spAutoFit/>
          </a:bodyPr>
          <a:lstStyle/>
          <a:p>
            <a:pPr algn="l">
              <a:lnSpc>
                <a:spcPct val="100000"/>
              </a:lnSpc>
            </a:pPr>
            <a:r>
              <a:rPr sz="1100" b="0">
                <a:solidFill>
                  <a:srgbClr val="4A4F57"/>
                </a:solidFill>
                <a:latin typeface="Noto Sans KR"/>
                <a:ea typeface="Noto Sans KR"/>
                <a:cs typeface="Noto Sans KR"/>
              </a:rPr>
              <a:t>뚜껑 손잡이</a:t>
            </a:r>
          </a:p>
        </p:txBody>
      </p:sp>
      <p:pic>
        <p:nvPicPr>
          <p:cNvPr id="11" name="Picture 10" descr="lx_drop_light_280x158_50_50_100.jpg"/>
          <p:cNvPicPr>
            <a:picLocks noChangeAspect="1"/>
          </p:cNvPicPr>
          <p:nvPr/>
        </p:nvPicPr>
        <p:blipFill>
          <a:blip r:embed="rId4"/>
          <a:stretch>
            <a:fillRect/>
          </a:stretch>
        </p:blipFill>
        <p:spPr>
          <a:xfrm>
            <a:off x="6187287" y="2023719"/>
            <a:ext cx="2567863" cy="1444752"/>
          </a:xfrm>
          <a:prstGeom prst="rect">
            <a:avLst/>
          </a:prstGeom>
        </p:spPr>
      </p:pic>
      <p:sp>
        <p:nvSpPr>
          <p:cNvPr id="12" name="TextBox 11"/>
          <p:cNvSpPr txBox="1"/>
          <p:nvPr/>
        </p:nvSpPr>
        <p:spPr>
          <a:xfrm>
            <a:off x="6187287" y="3559911"/>
            <a:ext cx="2567863" cy="274320"/>
          </a:xfrm>
          <a:prstGeom prst="rect">
            <a:avLst/>
          </a:prstGeom>
          <a:noFill/>
        </p:spPr>
        <p:txBody>
          <a:bodyPr wrap="square" lIns="0" rIns="0" tIns="0" bIns="0" anchor="t">
            <a:spAutoFit/>
          </a:bodyPr>
          <a:lstStyle/>
          <a:p>
            <a:pPr algn="l">
              <a:lnSpc>
                <a:spcPct val="100000"/>
              </a:lnSpc>
            </a:pPr>
            <a:r>
              <a:rPr sz="1400" b="1">
                <a:solidFill>
                  <a:srgbClr val="E2571B"/>
                </a:solidFill>
                <a:latin typeface="Noto Sans KR"/>
                <a:ea typeface="Noto Sans KR"/>
                <a:cs typeface="Noto Sans KR"/>
              </a:rPr>
              <a:t>3  </a:t>
            </a:r>
            <a:r>
              <a:rPr sz="1400" b="1">
                <a:solidFill>
                  <a:srgbClr val="15171A"/>
                </a:solidFill>
                <a:latin typeface="Noto Sans KR"/>
                <a:ea typeface="Noto Sans KR"/>
                <a:cs typeface="Noto Sans KR"/>
              </a:rPr>
              <a:t>팬에 투입</a:t>
            </a:r>
          </a:p>
        </p:txBody>
      </p:sp>
      <p:sp>
        <p:nvSpPr>
          <p:cNvPr id="13" name="TextBox 12"/>
          <p:cNvSpPr txBox="1"/>
          <p:nvPr/>
        </p:nvSpPr>
        <p:spPr>
          <a:xfrm>
            <a:off x="6425031" y="3852519"/>
            <a:ext cx="2330119" cy="237744"/>
          </a:xfrm>
          <a:prstGeom prst="rect">
            <a:avLst/>
          </a:prstGeom>
          <a:noFill/>
        </p:spPr>
        <p:txBody>
          <a:bodyPr wrap="square" lIns="0" rIns="0" tIns="0" bIns="0" anchor="t">
            <a:spAutoFit/>
          </a:bodyPr>
          <a:lstStyle/>
          <a:p>
            <a:pPr algn="l">
              <a:lnSpc>
                <a:spcPct val="100000"/>
              </a:lnSpc>
            </a:pPr>
            <a:r>
              <a:rPr sz="1100" b="0">
                <a:solidFill>
                  <a:srgbClr val="4A4F57"/>
                </a:solidFill>
                <a:latin typeface="Noto Sans KR"/>
                <a:ea typeface="Noto Sans KR"/>
                <a:cs typeface="Noto Sans KR"/>
              </a:rPr>
              <a:t>재료 넣기</a:t>
            </a:r>
          </a:p>
        </p:txBody>
      </p:sp>
      <p:pic>
        <p:nvPicPr>
          <p:cNvPr id="14" name="Picture 13" descr="lx_tongs_light_280x158_50_50_100.jpg"/>
          <p:cNvPicPr>
            <a:picLocks noChangeAspect="1"/>
          </p:cNvPicPr>
          <p:nvPr/>
        </p:nvPicPr>
        <p:blipFill>
          <a:blip r:embed="rId5"/>
          <a:stretch>
            <a:fillRect/>
          </a:stretch>
        </p:blipFill>
        <p:spPr>
          <a:xfrm>
            <a:off x="8938031" y="2023719"/>
            <a:ext cx="2567863" cy="1444752"/>
          </a:xfrm>
          <a:prstGeom prst="rect">
            <a:avLst/>
          </a:prstGeom>
        </p:spPr>
      </p:pic>
      <p:sp>
        <p:nvSpPr>
          <p:cNvPr id="15" name="TextBox 14"/>
          <p:cNvSpPr txBox="1"/>
          <p:nvPr/>
        </p:nvSpPr>
        <p:spPr>
          <a:xfrm>
            <a:off x="8938031" y="3559911"/>
            <a:ext cx="2567863" cy="274320"/>
          </a:xfrm>
          <a:prstGeom prst="rect">
            <a:avLst/>
          </a:prstGeom>
          <a:noFill/>
        </p:spPr>
        <p:txBody>
          <a:bodyPr wrap="square" lIns="0" rIns="0" tIns="0" bIns="0" anchor="t">
            <a:spAutoFit/>
          </a:bodyPr>
          <a:lstStyle/>
          <a:p>
            <a:pPr algn="l">
              <a:lnSpc>
                <a:spcPct val="100000"/>
              </a:lnSpc>
            </a:pPr>
            <a:r>
              <a:rPr sz="1400" b="1">
                <a:solidFill>
                  <a:srgbClr val="E2571B"/>
                </a:solidFill>
                <a:latin typeface="Noto Sans KR"/>
                <a:ea typeface="Noto Sans KR"/>
                <a:cs typeface="Noto Sans KR"/>
              </a:rPr>
              <a:t>4  </a:t>
            </a:r>
            <a:r>
              <a:rPr sz="1400" b="1">
                <a:solidFill>
                  <a:srgbClr val="15171A"/>
                </a:solidFill>
                <a:latin typeface="Noto Sans KR"/>
                <a:ea typeface="Noto Sans KR"/>
                <a:cs typeface="Noto Sans KR"/>
              </a:rPr>
              <a:t>집게 사용</a:t>
            </a:r>
          </a:p>
        </p:txBody>
      </p:sp>
      <p:sp>
        <p:nvSpPr>
          <p:cNvPr id="16" name="TextBox 15"/>
          <p:cNvSpPr txBox="1"/>
          <p:nvPr/>
        </p:nvSpPr>
        <p:spPr>
          <a:xfrm>
            <a:off x="9175775" y="3852519"/>
            <a:ext cx="2330119" cy="237744"/>
          </a:xfrm>
          <a:prstGeom prst="rect">
            <a:avLst/>
          </a:prstGeom>
          <a:noFill/>
        </p:spPr>
        <p:txBody>
          <a:bodyPr wrap="square" lIns="0" rIns="0" tIns="0" bIns="0" anchor="t">
            <a:spAutoFit/>
          </a:bodyPr>
          <a:lstStyle/>
          <a:p>
            <a:pPr algn="l">
              <a:lnSpc>
                <a:spcPct val="100000"/>
              </a:lnSpc>
            </a:pPr>
            <a:r>
              <a:rPr sz="1100" b="0">
                <a:solidFill>
                  <a:srgbClr val="4A4F57"/>
                </a:solidFill>
                <a:latin typeface="Noto Sans KR"/>
                <a:ea typeface="Noto Sans KR"/>
                <a:cs typeface="Noto Sans KR"/>
              </a:rPr>
              <a:t>사람용 집게</a:t>
            </a:r>
          </a:p>
        </p:txBody>
      </p:sp>
      <p:pic>
        <p:nvPicPr>
          <p:cNvPr id="17" name="Picture 16" descr="lx_stir_light_280x158_50_50_100.jpg"/>
          <p:cNvPicPr>
            <a:picLocks noChangeAspect="1"/>
          </p:cNvPicPr>
          <p:nvPr/>
        </p:nvPicPr>
        <p:blipFill>
          <a:blip r:embed="rId6"/>
          <a:stretch>
            <a:fillRect/>
          </a:stretch>
        </p:blipFill>
        <p:spPr>
          <a:xfrm>
            <a:off x="685800" y="4181703"/>
            <a:ext cx="2567863" cy="1444752"/>
          </a:xfrm>
          <a:prstGeom prst="rect">
            <a:avLst/>
          </a:prstGeom>
        </p:spPr>
      </p:pic>
      <p:sp>
        <p:nvSpPr>
          <p:cNvPr id="18" name="TextBox 17"/>
          <p:cNvSpPr txBox="1"/>
          <p:nvPr/>
        </p:nvSpPr>
        <p:spPr>
          <a:xfrm>
            <a:off x="685800" y="5717895"/>
            <a:ext cx="2567863" cy="274320"/>
          </a:xfrm>
          <a:prstGeom prst="rect">
            <a:avLst/>
          </a:prstGeom>
          <a:noFill/>
        </p:spPr>
        <p:txBody>
          <a:bodyPr wrap="square" lIns="0" rIns="0" tIns="0" bIns="0" anchor="t">
            <a:spAutoFit/>
          </a:bodyPr>
          <a:lstStyle/>
          <a:p>
            <a:pPr algn="l">
              <a:lnSpc>
                <a:spcPct val="100000"/>
              </a:lnSpc>
            </a:pPr>
            <a:r>
              <a:rPr sz="1400" b="1">
                <a:solidFill>
                  <a:srgbClr val="E2571B"/>
                </a:solidFill>
                <a:latin typeface="Noto Sans KR"/>
                <a:ea typeface="Noto Sans KR"/>
                <a:cs typeface="Noto Sans KR"/>
              </a:rPr>
              <a:t>5  </a:t>
            </a:r>
            <a:r>
              <a:rPr sz="1400" b="1">
                <a:solidFill>
                  <a:srgbClr val="15171A"/>
                </a:solidFill>
                <a:latin typeface="Noto Sans KR"/>
                <a:ea typeface="Noto Sans KR"/>
                <a:cs typeface="Noto Sans KR"/>
              </a:rPr>
              <a:t>젓기</a:t>
            </a:r>
          </a:p>
        </p:txBody>
      </p:sp>
      <p:sp>
        <p:nvSpPr>
          <p:cNvPr id="19" name="TextBox 18"/>
          <p:cNvSpPr txBox="1"/>
          <p:nvPr/>
        </p:nvSpPr>
        <p:spPr>
          <a:xfrm>
            <a:off x="923544" y="6010503"/>
            <a:ext cx="2330119" cy="237744"/>
          </a:xfrm>
          <a:prstGeom prst="rect">
            <a:avLst/>
          </a:prstGeom>
          <a:noFill/>
        </p:spPr>
        <p:txBody>
          <a:bodyPr wrap="square" lIns="0" rIns="0" tIns="0" bIns="0" anchor="t">
            <a:spAutoFit/>
          </a:bodyPr>
          <a:lstStyle/>
          <a:p>
            <a:pPr algn="l">
              <a:lnSpc>
                <a:spcPct val="100000"/>
              </a:lnSpc>
            </a:pPr>
            <a:r>
              <a:rPr sz="1100" b="0">
                <a:solidFill>
                  <a:srgbClr val="4A4F57"/>
                </a:solidFill>
                <a:latin typeface="Noto Sans KR"/>
                <a:ea typeface="Noto Sans KR"/>
                <a:cs typeface="Noto Sans KR"/>
              </a:rPr>
              <a:t>사람용 국자</a:t>
            </a:r>
          </a:p>
        </p:txBody>
      </p:sp>
      <p:pic>
        <p:nvPicPr>
          <p:cNvPr id="20" name="Picture 19" descr="lx_knob_light_280x158_50_50_100.jpg"/>
          <p:cNvPicPr>
            <a:picLocks noChangeAspect="1"/>
          </p:cNvPicPr>
          <p:nvPr/>
        </p:nvPicPr>
        <p:blipFill>
          <a:blip r:embed="rId7"/>
          <a:stretch>
            <a:fillRect/>
          </a:stretch>
        </p:blipFill>
        <p:spPr>
          <a:xfrm>
            <a:off x="3436543" y="4181703"/>
            <a:ext cx="2567863" cy="1444752"/>
          </a:xfrm>
          <a:prstGeom prst="rect">
            <a:avLst/>
          </a:prstGeom>
        </p:spPr>
      </p:pic>
      <p:sp>
        <p:nvSpPr>
          <p:cNvPr id="21" name="TextBox 20"/>
          <p:cNvSpPr txBox="1"/>
          <p:nvPr/>
        </p:nvSpPr>
        <p:spPr>
          <a:xfrm>
            <a:off x="3436543" y="5717895"/>
            <a:ext cx="2567863" cy="274320"/>
          </a:xfrm>
          <a:prstGeom prst="rect">
            <a:avLst/>
          </a:prstGeom>
          <a:noFill/>
        </p:spPr>
        <p:txBody>
          <a:bodyPr wrap="square" lIns="0" rIns="0" tIns="0" bIns="0" anchor="t">
            <a:spAutoFit/>
          </a:bodyPr>
          <a:lstStyle/>
          <a:p>
            <a:pPr algn="l">
              <a:lnSpc>
                <a:spcPct val="100000"/>
              </a:lnSpc>
            </a:pPr>
            <a:r>
              <a:rPr sz="1400" b="1">
                <a:solidFill>
                  <a:srgbClr val="E2571B"/>
                </a:solidFill>
                <a:latin typeface="Noto Sans KR"/>
                <a:ea typeface="Noto Sans KR"/>
                <a:cs typeface="Noto Sans KR"/>
              </a:rPr>
              <a:t>6  </a:t>
            </a:r>
            <a:r>
              <a:rPr sz="1400" b="1">
                <a:solidFill>
                  <a:srgbClr val="15171A"/>
                </a:solidFill>
                <a:latin typeface="Noto Sans KR"/>
                <a:ea typeface="Noto Sans KR"/>
                <a:cs typeface="Noto Sans KR"/>
              </a:rPr>
              <a:t>노브 조작</a:t>
            </a:r>
          </a:p>
        </p:txBody>
      </p:sp>
      <p:sp>
        <p:nvSpPr>
          <p:cNvPr id="22" name="TextBox 21"/>
          <p:cNvSpPr txBox="1"/>
          <p:nvPr/>
        </p:nvSpPr>
        <p:spPr>
          <a:xfrm>
            <a:off x="3674287" y="6010503"/>
            <a:ext cx="2330119" cy="237744"/>
          </a:xfrm>
          <a:prstGeom prst="rect">
            <a:avLst/>
          </a:prstGeom>
          <a:noFill/>
        </p:spPr>
        <p:txBody>
          <a:bodyPr wrap="square" lIns="0" rIns="0" tIns="0" bIns="0" anchor="t">
            <a:spAutoFit/>
          </a:bodyPr>
          <a:lstStyle/>
          <a:p>
            <a:pPr algn="l">
              <a:lnSpc>
                <a:spcPct val="100000"/>
              </a:lnSpc>
            </a:pPr>
            <a:r>
              <a:rPr sz="1100" b="0">
                <a:solidFill>
                  <a:srgbClr val="4A4F57"/>
                </a:solidFill>
                <a:latin typeface="Noto Sans KR"/>
                <a:ea typeface="Noto Sans KR"/>
                <a:cs typeface="Noto Sans KR"/>
              </a:rPr>
              <a:t>화구 노브</a:t>
            </a:r>
          </a:p>
        </p:txBody>
      </p:sp>
      <p:pic>
        <p:nvPicPr>
          <p:cNvPr id="23" name="Picture 22" descr="lx_plate_light_280x158_50_50_100.jpg"/>
          <p:cNvPicPr>
            <a:picLocks noChangeAspect="1"/>
          </p:cNvPicPr>
          <p:nvPr/>
        </p:nvPicPr>
        <p:blipFill>
          <a:blip r:embed="rId8"/>
          <a:stretch>
            <a:fillRect/>
          </a:stretch>
        </p:blipFill>
        <p:spPr>
          <a:xfrm>
            <a:off x="6187287" y="4181703"/>
            <a:ext cx="2567863" cy="1444752"/>
          </a:xfrm>
          <a:prstGeom prst="rect">
            <a:avLst/>
          </a:prstGeom>
        </p:spPr>
      </p:pic>
      <p:sp>
        <p:nvSpPr>
          <p:cNvPr id="24" name="TextBox 23"/>
          <p:cNvSpPr txBox="1"/>
          <p:nvPr/>
        </p:nvSpPr>
        <p:spPr>
          <a:xfrm>
            <a:off x="6187287" y="5717895"/>
            <a:ext cx="2567863" cy="274320"/>
          </a:xfrm>
          <a:prstGeom prst="rect">
            <a:avLst/>
          </a:prstGeom>
          <a:noFill/>
        </p:spPr>
        <p:txBody>
          <a:bodyPr wrap="square" lIns="0" rIns="0" tIns="0" bIns="0" anchor="t">
            <a:spAutoFit/>
          </a:bodyPr>
          <a:lstStyle/>
          <a:p>
            <a:pPr algn="l">
              <a:lnSpc>
                <a:spcPct val="100000"/>
              </a:lnSpc>
            </a:pPr>
            <a:r>
              <a:rPr sz="1400" b="1">
                <a:solidFill>
                  <a:srgbClr val="E2571B"/>
                </a:solidFill>
                <a:latin typeface="Noto Sans KR"/>
                <a:ea typeface="Noto Sans KR"/>
                <a:cs typeface="Noto Sans KR"/>
              </a:rPr>
              <a:t>7  </a:t>
            </a:r>
            <a:r>
              <a:rPr sz="1400" b="1">
                <a:solidFill>
                  <a:srgbClr val="15171A"/>
                </a:solidFill>
                <a:latin typeface="Noto Sans KR"/>
                <a:ea typeface="Noto Sans KR"/>
                <a:cs typeface="Noto Sans KR"/>
              </a:rPr>
              <a:t>플레이팅</a:t>
            </a:r>
          </a:p>
        </p:txBody>
      </p:sp>
      <p:sp>
        <p:nvSpPr>
          <p:cNvPr id="25" name="TextBox 24"/>
          <p:cNvSpPr txBox="1"/>
          <p:nvPr/>
        </p:nvSpPr>
        <p:spPr>
          <a:xfrm>
            <a:off x="6425031" y="6010503"/>
            <a:ext cx="2330119" cy="237744"/>
          </a:xfrm>
          <a:prstGeom prst="rect">
            <a:avLst/>
          </a:prstGeom>
          <a:noFill/>
        </p:spPr>
        <p:txBody>
          <a:bodyPr wrap="square" lIns="0" rIns="0" tIns="0" bIns="0" anchor="t">
            <a:spAutoFit/>
          </a:bodyPr>
          <a:lstStyle/>
          <a:p>
            <a:pPr algn="l">
              <a:lnSpc>
                <a:spcPct val="100000"/>
              </a:lnSpc>
            </a:pPr>
            <a:r>
              <a:rPr sz="1100" b="0">
                <a:solidFill>
                  <a:srgbClr val="4A4F57"/>
                </a:solidFill>
                <a:latin typeface="Noto Sans KR"/>
                <a:ea typeface="Noto Sans KR"/>
                <a:cs typeface="Noto Sans KR"/>
              </a:rPr>
              <a:t>집게 · 접시</a:t>
            </a:r>
          </a:p>
        </p:txBody>
      </p:sp>
      <p:sp>
        <p:nvSpPr>
          <p:cNvPr id="26" name="Rectangle 25"/>
          <p:cNvSpPr/>
          <p:nvPr/>
        </p:nvSpPr>
        <p:spPr>
          <a:xfrm>
            <a:off x="8938031" y="4181703"/>
            <a:ext cx="2567863" cy="2048256"/>
          </a:xfrm>
          <a:prstGeom prst="rect">
            <a:avLst/>
          </a:prstGeom>
          <a:solidFill>
            <a:srgbClr val="15171A"/>
          </a:solidFill>
          <a:ln>
            <a:noFill/>
          </a:ln>
        </p:spPr>
        <p:txBody>
          <a:bodyPr rtlCol="0" anchor="ctr"/>
          <a:lstStyle/>
          <a:p>
            <a:pPr algn="ctr"/>
          </a:p>
        </p:txBody>
      </p:sp>
      <p:sp>
        <p:nvSpPr>
          <p:cNvPr id="27" name="TextBox 26"/>
          <p:cNvSpPr txBox="1"/>
          <p:nvPr/>
        </p:nvSpPr>
        <p:spPr>
          <a:xfrm>
            <a:off x="9166631" y="4382871"/>
            <a:ext cx="2202103" cy="1645920"/>
          </a:xfrm>
          <a:prstGeom prst="rect">
            <a:avLst/>
          </a:prstGeom>
          <a:noFill/>
        </p:spPr>
        <p:txBody>
          <a:bodyPr wrap="square" lIns="0" rIns="0" tIns="0" bIns="0" anchor="t">
            <a:spAutoFit/>
          </a:bodyPr>
          <a:lstStyle/>
          <a:p>
            <a:pPr algn="l">
              <a:lnSpc>
                <a:spcPct val="100000"/>
              </a:lnSpc>
              <a:spcAft>
                <a:spcPts val="500"/>
              </a:spcAft>
            </a:pPr>
            <a:r>
              <a:rPr sz="2200" b="1">
                <a:solidFill>
                  <a:srgbClr val="F3F3F1"/>
                </a:solidFill>
                <a:latin typeface="Noto Sans KR"/>
                <a:ea typeface="Noto Sans KR"/>
                <a:cs typeface="Noto Sans KR"/>
              </a:rPr>
              <a:t>핸드 1개</a:t>
            </a:r>
          </a:p>
          <a:p>
            <a:pPr algn="l">
              <a:lnSpc>
                <a:spcPct val="100000"/>
              </a:lnSpc>
              <a:spcAft>
                <a:spcPts val="500"/>
              </a:spcAft>
            </a:pPr>
            <a:r>
              <a:rPr sz="1500" b="1">
                <a:solidFill>
                  <a:srgbClr val="F3F3F1"/>
                </a:solidFill>
                <a:latin typeface="Noto Sans KR"/>
                <a:ea typeface="Noto Sans KR"/>
                <a:cs typeface="Noto Sans KR"/>
              </a:rPr>
              <a:t>사람용 도구 여러 개</a:t>
            </a:r>
          </a:p>
          <a:p>
            <a:pPr algn="l">
              <a:lnSpc>
                <a:spcPct val="100000"/>
              </a:lnSpc>
              <a:spcAft>
                <a:spcPts val="500"/>
              </a:spcAft>
            </a:pPr>
            <a:r>
              <a:rPr sz="1500" b="1">
                <a:solidFill>
                  <a:srgbClr val="F3F3F1"/>
                </a:solidFill>
                <a:latin typeface="Noto Sans KR"/>
                <a:ea typeface="Noto Sans KR"/>
                <a:cs typeface="Noto Sans KR"/>
              </a:rPr>
              <a:t>작업 7종</a:t>
            </a:r>
          </a:p>
          <a:p>
            <a:pPr algn="l">
              <a:lnSpc>
                <a:spcPct val="100000"/>
              </a:lnSpc>
            </a:pPr>
            <a:r>
              <a:rPr sz="1500" b="1">
                <a:solidFill>
                  <a:srgbClr val="E2571B"/>
                </a:solidFill>
                <a:latin typeface="Noto Sans KR"/>
                <a:ea typeface="Noto Sans KR"/>
                <a:cs typeface="Noto Sans KR"/>
              </a:rPr>
              <a:t>툴 교체 최소화</a:t>
            </a:r>
          </a:p>
        </p:txBody>
      </p:sp>
      <p:sp>
        <p:nvSpPr>
          <p:cNvPr id="28" name="TextBox 27"/>
          <p:cNvSpPr txBox="1"/>
          <p:nvPr/>
        </p:nvSpPr>
        <p:spPr>
          <a:xfrm>
            <a:off x="9166631" y="5900775"/>
            <a:ext cx="2202103" cy="237744"/>
          </a:xfrm>
          <a:prstGeom prst="rect">
            <a:avLst/>
          </a:prstGeom>
          <a:noFill/>
        </p:spPr>
        <p:txBody>
          <a:bodyPr wrap="square" lIns="0" rIns="0" tIns="0" bIns="0" anchor="t">
            <a:spAutoFit/>
          </a:bodyPr>
          <a:lstStyle/>
          <a:p>
            <a:pPr algn="l">
              <a:lnSpc>
                <a:spcPct val="100000"/>
              </a:lnSpc>
            </a:pPr>
            <a:r>
              <a:rPr sz="1000" b="0">
                <a:solidFill>
                  <a:srgbClr val="A9AEB5"/>
                </a:solidFill>
                <a:latin typeface="Noto Sans KR"/>
                <a:ea typeface="Noto Sans KR"/>
                <a:cs typeface="Noto Sans KR"/>
              </a:rPr>
              <a:t>툴 교체 최소화는 목표 (미검증)</a:t>
            </a:r>
          </a:p>
        </p:txBody>
      </p:sp>
      <p:sp>
        <p:nvSpPr>
          <p:cNvPr id="29" name="TextBox 28"/>
          <p:cNvSpPr txBox="1"/>
          <p:nvPr/>
        </p:nvSpPr>
        <p:spPr>
          <a:xfrm>
            <a:off x="685800" y="6446520"/>
            <a:ext cx="5486400" cy="201168"/>
          </a:xfrm>
          <a:prstGeom prst="rect">
            <a:avLst/>
          </a:prstGeom>
          <a:noFill/>
        </p:spPr>
        <p:txBody>
          <a:bodyPr wrap="square" lIns="0" rIns="0" tIns="0" bIns="0" anchor="t">
            <a:spAutoFit/>
          </a:bodyPr>
          <a:lstStyle/>
          <a:p>
            <a:pPr algn="l">
              <a:lnSpc>
                <a:spcPct val="100000"/>
              </a:lnSpc>
            </a:pPr>
            <a:r>
              <a:rPr sz="900" b="0">
                <a:solidFill>
                  <a:srgbClr val="8C9198"/>
                </a:solidFill>
                <a:latin typeface="Noto Sans KR"/>
                <a:ea typeface="Noto Sans KR"/>
                <a:cs typeface="Noto Sans KR"/>
              </a:rPr>
              <a:t>SoftHand  |  주방 로봇 조작 플랫폼  |  Seed 투자 제안서</a:t>
            </a:r>
          </a:p>
        </p:txBody>
      </p:sp>
      <p:sp>
        <p:nvSpPr>
          <p:cNvPr id="30" name="TextBox 29"/>
          <p:cNvSpPr txBox="1"/>
          <p:nvPr/>
        </p:nvSpPr>
        <p:spPr>
          <a:xfrm>
            <a:off x="3154680" y="6446520"/>
            <a:ext cx="7802575" cy="201168"/>
          </a:xfrm>
          <a:prstGeom prst="rect">
            <a:avLst/>
          </a:prstGeom>
          <a:noFill/>
        </p:spPr>
        <p:txBody>
          <a:bodyPr wrap="square" lIns="0" rIns="0" tIns="0" bIns="0" anchor="t">
            <a:spAutoFit/>
          </a:bodyPr>
          <a:lstStyle/>
          <a:p>
            <a:pPr algn="r">
              <a:lnSpc>
                <a:spcPct val="100000"/>
              </a:lnSpc>
            </a:pPr>
            <a:r>
              <a:rPr sz="900" b="0">
                <a:solidFill>
                  <a:srgbClr val="8C9198"/>
                </a:solidFill>
                <a:latin typeface="Noto Sans KR"/>
                <a:ea typeface="Noto Sans KR"/>
                <a:cs typeface="Noto Sans KR"/>
              </a:rPr>
              <a:t>콘셉트 렌더링 · Seed 기간 실제 주방 반복시험으로 단계별 완료율·사람 개입 시간 검증</a:t>
            </a:r>
          </a:p>
        </p:txBody>
      </p:sp>
      <p:sp>
        <p:nvSpPr>
          <p:cNvPr id="31" name="TextBox 30"/>
          <p:cNvSpPr txBox="1"/>
          <p:nvPr/>
        </p:nvSpPr>
        <p:spPr>
          <a:xfrm>
            <a:off x="11048695" y="6446520"/>
            <a:ext cx="457200" cy="201168"/>
          </a:xfrm>
          <a:prstGeom prst="rect">
            <a:avLst/>
          </a:prstGeom>
          <a:noFill/>
        </p:spPr>
        <p:txBody>
          <a:bodyPr wrap="square" lIns="0" rIns="0" tIns="0" bIns="0" anchor="t">
            <a:spAutoFit/>
          </a:bodyPr>
          <a:lstStyle/>
          <a:p>
            <a:pPr algn="r">
              <a:lnSpc>
                <a:spcPct val="100000"/>
              </a:lnSpc>
            </a:pPr>
            <a:r>
              <a:rPr sz="900" b="0">
                <a:solidFill>
                  <a:srgbClr val="8C9198"/>
                </a:solidFill>
                <a:latin typeface="Noto Sans KR"/>
                <a:ea typeface="Noto Sans KR"/>
                <a:cs typeface="Noto Sans KR"/>
              </a:rPr>
              <a:t>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548640"/>
            <a:ext cx="7315200" cy="274320"/>
          </a:xfrm>
          <a:prstGeom prst="rect">
            <a:avLst/>
          </a:prstGeom>
          <a:noFill/>
        </p:spPr>
        <p:txBody>
          <a:bodyPr wrap="square" lIns="0" rIns="0" tIns="0" bIns="0" anchor="t">
            <a:spAutoFit/>
          </a:bodyPr>
          <a:lstStyle/>
          <a:p>
            <a:pPr algn="l">
              <a:lnSpc>
                <a:spcPct val="100000"/>
              </a:lnSpc>
            </a:pPr>
            <a:r>
              <a:rPr sz="1200" b="1">
                <a:solidFill>
                  <a:srgbClr val="E2571B"/>
                </a:solidFill>
                <a:latin typeface="Noto Sans KR"/>
                <a:ea typeface="Noto Sans KR"/>
                <a:cs typeface="Noto Sans KR"/>
              </a:rPr>
              <a:t>WHY NOW</a:t>
            </a:r>
          </a:p>
        </p:txBody>
      </p:sp>
      <p:sp>
        <p:nvSpPr>
          <p:cNvPr id="3" name="TextBox 2"/>
          <p:cNvSpPr txBox="1"/>
          <p:nvPr/>
        </p:nvSpPr>
        <p:spPr>
          <a:xfrm>
            <a:off x="685800" y="932688"/>
            <a:ext cx="10820095" cy="542391"/>
          </a:xfrm>
          <a:prstGeom prst="rect">
            <a:avLst/>
          </a:prstGeom>
          <a:noFill/>
        </p:spPr>
        <p:txBody>
          <a:bodyPr wrap="square" lIns="0" rIns="0" tIns="0" bIns="0" anchor="t">
            <a:spAutoFit/>
          </a:bodyPr>
          <a:lstStyle/>
          <a:p>
            <a:pPr algn="l">
              <a:lnSpc>
                <a:spcPct val="95000"/>
              </a:lnSpc>
            </a:pPr>
            <a:r>
              <a:rPr sz="3000" b="1">
                <a:solidFill>
                  <a:srgbClr val="15171A"/>
                </a:solidFill>
                <a:latin typeface="Noto Sans KR"/>
                <a:ea typeface="Noto Sans KR"/>
                <a:cs typeface="Noto Sans KR"/>
              </a:rPr>
              <a:t>AI가 발전할수록 병목은 '손'으로 이동합니다</a:t>
            </a:r>
          </a:p>
        </p:txBody>
      </p:sp>
      <p:sp>
        <p:nvSpPr>
          <p:cNvPr id="4" name="TextBox 3"/>
          <p:cNvSpPr txBox="1"/>
          <p:nvPr/>
        </p:nvSpPr>
        <p:spPr>
          <a:xfrm>
            <a:off x="685800" y="1584807"/>
            <a:ext cx="10820095" cy="329184"/>
          </a:xfrm>
          <a:prstGeom prst="rect">
            <a:avLst/>
          </a:prstGeom>
          <a:noFill/>
        </p:spPr>
        <p:txBody>
          <a:bodyPr wrap="square" lIns="0" rIns="0" tIns="0" bIns="0" anchor="t">
            <a:spAutoFit/>
          </a:bodyPr>
          <a:lstStyle/>
          <a:p>
            <a:pPr algn="l">
              <a:lnSpc>
                <a:spcPct val="100000"/>
              </a:lnSpc>
            </a:pPr>
            <a:r>
              <a:rPr sz="1600" b="0">
                <a:solidFill>
                  <a:srgbClr val="4A4F57"/>
                </a:solidFill>
                <a:latin typeface="Noto Sans KR"/>
                <a:ea typeface="Noto Sans KR"/>
                <a:cs typeface="Noto Sans KR"/>
              </a:rPr>
              <a:t>주방은 가장 다양한 현실 조작 환경, 손과 Skill 계층의 가치가 커지는 시점</a:t>
            </a:r>
          </a:p>
        </p:txBody>
      </p:sp>
      <p:sp>
        <p:nvSpPr>
          <p:cNvPr id="5" name="Rectangle 4"/>
          <p:cNvSpPr/>
          <p:nvPr/>
        </p:nvSpPr>
        <p:spPr>
          <a:xfrm>
            <a:off x="685800" y="3246120"/>
            <a:ext cx="1727149" cy="1709928"/>
          </a:xfrm>
          <a:prstGeom prst="rect">
            <a:avLst/>
          </a:prstGeom>
          <a:solidFill>
            <a:srgbClr val="ECEEF0"/>
          </a:solidFill>
          <a:ln>
            <a:noFill/>
          </a:ln>
        </p:spPr>
        <p:txBody>
          <a:bodyPr rtlCol="0" anchor="ctr"/>
          <a:lstStyle/>
          <a:p>
            <a:pPr algn="ctr"/>
          </a:p>
        </p:txBody>
      </p:sp>
      <p:sp>
        <p:nvSpPr>
          <p:cNvPr id="6" name="TextBox 5"/>
          <p:cNvSpPr txBox="1"/>
          <p:nvPr/>
        </p:nvSpPr>
        <p:spPr>
          <a:xfrm>
            <a:off x="822960" y="3383279"/>
            <a:ext cx="548640" cy="237744"/>
          </a:xfrm>
          <a:prstGeom prst="rect">
            <a:avLst/>
          </a:prstGeom>
          <a:noFill/>
        </p:spPr>
        <p:txBody>
          <a:bodyPr wrap="square" lIns="0" rIns="0" tIns="0" bIns="0" anchor="t">
            <a:spAutoFit/>
          </a:bodyPr>
          <a:lstStyle/>
          <a:p>
            <a:pPr algn="l">
              <a:lnSpc>
                <a:spcPct val="100000"/>
              </a:lnSpc>
            </a:pPr>
            <a:r>
              <a:rPr sz="1100" b="1">
                <a:solidFill>
                  <a:srgbClr val="E2571B"/>
                </a:solidFill>
                <a:latin typeface="Noto Sans KR"/>
                <a:ea typeface="Noto Sans KR"/>
                <a:cs typeface="Noto Sans KR"/>
              </a:rPr>
              <a:t>01</a:t>
            </a:r>
          </a:p>
        </p:txBody>
      </p:sp>
      <p:sp>
        <p:nvSpPr>
          <p:cNvPr id="7" name="TextBox 6"/>
          <p:cNvSpPr txBox="1"/>
          <p:nvPr/>
        </p:nvSpPr>
        <p:spPr>
          <a:xfrm>
            <a:off x="822960" y="3666744"/>
            <a:ext cx="1471117" cy="566928"/>
          </a:xfrm>
          <a:prstGeom prst="rect">
            <a:avLst/>
          </a:prstGeom>
          <a:noFill/>
        </p:spPr>
        <p:txBody>
          <a:bodyPr wrap="square" lIns="0" rIns="0" tIns="0" bIns="0" anchor="t">
            <a:spAutoFit/>
          </a:bodyPr>
          <a:lstStyle/>
          <a:p>
            <a:pPr algn="l">
              <a:lnSpc>
                <a:spcPct val="100000"/>
              </a:lnSpc>
            </a:pPr>
            <a:r>
              <a:rPr sz="1400" b="1">
                <a:solidFill>
                  <a:srgbClr val="15171A"/>
                </a:solidFill>
                <a:latin typeface="Noto Sans KR"/>
                <a:ea typeface="Noto Sans KR"/>
                <a:cs typeface="Noto Sans KR"/>
              </a:rPr>
              <a:t>AI · VLA 발전</a:t>
            </a:r>
          </a:p>
        </p:txBody>
      </p:sp>
      <p:sp>
        <p:nvSpPr>
          <p:cNvPr id="8" name="TextBox 7"/>
          <p:cNvSpPr txBox="1"/>
          <p:nvPr/>
        </p:nvSpPr>
        <p:spPr>
          <a:xfrm>
            <a:off x="822960" y="4251960"/>
            <a:ext cx="1471117" cy="640080"/>
          </a:xfrm>
          <a:prstGeom prst="rect">
            <a:avLst/>
          </a:prstGeom>
          <a:noFill/>
        </p:spPr>
        <p:txBody>
          <a:bodyPr wrap="square" lIns="0" rIns="0" tIns="0" bIns="0" anchor="t">
            <a:spAutoFit/>
          </a:bodyPr>
          <a:lstStyle/>
          <a:p>
            <a:pPr algn="l">
              <a:lnSpc>
                <a:spcPct val="100000"/>
              </a:lnSpc>
            </a:pPr>
            <a:r>
              <a:rPr sz="1100" b="0">
                <a:solidFill>
                  <a:srgbClr val="4A4F57"/>
                </a:solidFill>
                <a:latin typeface="Noto Sans KR"/>
                <a:ea typeface="Noto Sans KR"/>
                <a:cs typeface="Noto Sans KR"/>
              </a:rPr>
              <a:t>로봇이 할 일을 이해하기 시작</a:t>
            </a:r>
          </a:p>
        </p:txBody>
      </p:sp>
      <p:sp>
        <p:nvSpPr>
          <p:cNvPr id="9" name="Rectangle 8"/>
          <p:cNvSpPr/>
          <p:nvPr/>
        </p:nvSpPr>
        <p:spPr>
          <a:xfrm>
            <a:off x="2504389" y="3017520"/>
            <a:ext cx="1727149" cy="1938528"/>
          </a:xfrm>
          <a:prstGeom prst="rect">
            <a:avLst/>
          </a:prstGeom>
          <a:solidFill>
            <a:srgbClr val="ECEEF0"/>
          </a:solidFill>
          <a:ln>
            <a:noFill/>
          </a:ln>
        </p:spPr>
        <p:txBody>
          <a:bodyPr rtlCol="0" anchor="ctr"/>
          <a:lstStyle/>
          <a:p>
            <a:pPr algn="ctr"/>
          </a:p>
        </p:txBody>
      </p:sp>
      <p:sp>
        <p:nvSpPr>
          <p:cNvPr id="10" name="TextBox 9"/>
          <p:cNvSpPr txBox="1"/>
          <p:nvPr/>
        </p:nvSpPr>
        <p:spPr>
          <a:xfrm>
            <a:off x="2641549" y="3154679"/>
            <a:ext cx="548640" cy="237744"/>
          </a:xfrm>
          <a:prstGeom prst="rect">
            <a:avLst/>
          </a:prstGeom>
          <a:noFill/>
        </p:spPr>
        <p:txBody>
          <a:bodyPr wrap="square" lIns="0" rIns="0" tIns="0" bIns="0" anchor="t">
            <a:spAutoFit/>
          </a:bodyPr>
          <a:lstStyle/>
          <a:p>
            <a:pPr algn="l">
              <a:lnSpc>
                <a:spcPct val="100000"/>
              </a:lnSpc>
            </a:pPr>
            <a:r>
              <a:rPr sz="1100" b="1">
                <a:solidFill>
                  <a:srgbClr val="E2571B"/>
                </a:solidFill>
                <a:latin typeface="Noto Sans KR"/>
                <a:ea typeface="Noto Sans KR"/>
                <a:cs typeface="Noto Sans KR"/>
              </a:rPr>
              <a:t>02</a:t>
            </a:r>
          </a:p>
        </p:txBody>
      </p:sp>
      <p:sp>
        <p:nvSpPr>
          <p:cNvPr id="11" name="TextBox 10"/>
          <p:cNvSpPr txBox="1"/>
          <p:nvPr/>
        </p:nvSpPr>
        <p:spPr>
          <a:xfrm>
            <a:off x="2641549" y="3438144"/>
            <a:ext cx="1471117" cy="566928"/>
          </a:xfrm>
          <a:prstGeom prst="rect">
            <a:avLst/>
          </a:prstGeom>
          <a:noFill/>
        </p:spPr>
        <p:txBody>
          <a:bodyPr wrap="square" lIns="0" rIns="0" tIns="0" bIns="0" anchor="t">
            <a:spAutoFit/>
          </a:bodyPr>
          <a:lstStyle/>
          <a:p>
            <a:pPr algn="l">
              <a:lnSpc>
                <a:spcPct val="100000"/>
              </a:lnSpc>
            </a:pPr>
            <a:r>
              <a:rPr sz="1400" b="1">
                <a:solidFill>
                  <a:srgbClr val="15171A"/>
                </a:solidFill>
                <a:latin typeface="Noto Sans KR"/>
                <a:ea typeface="Noto Sans KR"/>
                <a:cs typeface="Noto Sans KR"/>
              </a:rPr>
              <a:t>인지·판단 향상</a:t>
            </a:r>
          </a:p>
        </p:txBody>
      </p:sp>
      <p:sp>
        <p:nvSpPr>
          <p:cNvPr id="12" name="TextBox 11"/>
          <p:cNvSpPr txBox="1"/>
          <p:nvPr/>
        </p:nvSpPr>
        <p:spPr>
          <a:xfrm>
            <a:off x="2641549" y="4023360"/>
            <a:ext cx="1471117" cy="640080"/>
          </a:xfrm>
          <a:prstGeom prst="rect">
            <a:avLst/>
          </a:prstGeom>
          <a:noFill/>
        </p:spPr>
        <p:txBody>
          <a:bodyPr wrap="square" lIns="0" rIns="0" tIns="0" bIns="0" anchor="t">
            <a:spAutoFit/>
          </a:bodyPr>
          <a:lstStyle/>
          <a:p>
            <a:pPr algn="l">
              <a:lnSpc>
                <a:spcPct val="100000"/>
              </a:lnSpc>
            </a:pPr>
            <a:r>
              <a:rPr sz="1100" b="0">
                <a:solidFill>
                  <a:srgbClr val="4A4F57"/>
                </a:solidFill>
                <a:latin typeface="Noto Sans KR"/>
                <a:ea typeface="Noto Sans KR"/>
                <a:cs typeface="Noto Sans KR"/>
              </a:rPr>
              <a:t>보고 계획하는 능력 향상</a:t>
            </a:r>
          </a:p>
        </p:txBody>
      </p:sp>
      <p:sp>
        <p:nvSpPr>
          <p:cNvPr id="13" name="Rectangle 12"/>
          <p:cNvSpPr/>
          <p:nvPr/>
        </p:nvSpPr>
        <p:spPr>
          <a:xfrm>
            <a:off x="4322978" y="2788920"/>
            <a:ext cx="1727149" cy="2167128"/>
          </a:xfrm>
          <a:prstGeom prst="rect">
            <a:avLst/>
          </a:prstGeom>
          <a:solidFill>
            <a:srgbClr val="ECEEF0"/>
          </a:solidFill>
          <a:ln>
            <a:noFill/>
          </a:ln>
        </p:spPr>
        <p:txBody>
          <a:bodyPr rtlCol="0" anchor="ctr"/>
          <a:lstStyle/>
          <a:p>
            <a:pPr algn="ctr"/>
          </a:p>
        </p:txBody>
      </p:sp>
      <p:sp>
        <p:nvSpPr>
          <p:cNvPr id="14" name="TextBox 13"/>
          <p:cNvSpPr txBox="1"/>
          <p:nvPr/>
        </p:nvSpPr>
        <p:spPr>
          <a:xfrm>
            <a:off x="4460138" y="2926079"/>
            <a:ext cx="548640" cy="237744"/>
          </a:xfrm>
          <a:prstGeom prst="rect">
            <a:avLst/>
          </a:prstGeom>
          <a:noFill/>
        </p:spPr>
        <p:txBody>
          <a:bodyPr wrap="square" lIns="0" rIns="0" tIns="0" bIns="0" anchor="t">
            <a:spAutoFit/>
          </a:bodyPr>
          <a:lstStyle/>
          <a:p>
            <a:pPr algn="l">
              <a:lnSpc>
                <a:spcPct val="100000"/>
              </a:lnSpc>
            </a:pPr>
            <a:r>
              <a:rPr sz="1100" b="1">
                <a:solidFill>
                  <a:srgbClr val="E2571B"/>
                </a:solidFill>
                <a:latin typeface="Noto Sans KR"/>
                <a:ea typeface="Noto Sans KR"/>
                <a:cs typeface="Noto Sans KR"/>
              </a:rPr>
              <a:t>03</a:t>
            </a:r>
          </a:p>
        </p:txBody>
      </p:sp>
      <p:sp>
        <p:nvSpPr>
          <p:cNvPr id="15" name="TextBox 14"/>
          <p:cNvSpPr txBox="1"/>
          <p:nvPr/>
        </p:nvSpPr>
        <p:spPr>
          <a:xfrm>
            <a:off x="4460138" y="3209544"/>
            <a:ext cx="1471117" cy="566928"/>
          </a:xfrm>
          <a:prstGeom prst="rect">
            <a:avLst/>
          </a:prstGeom>
          <a:noFill/>
        </p:spPr>
        <p:txBody>
          <a:bodyPr wrap="square" lIns="0" rIns="0" tIns="0" bIns="0" anchor="t">
            <a:spAutoFit/>
          </a:bodyPr>
          <a:lstStyle/>
          <a:p>
            <a:pPr algn="l">
              <a:lnSpc>
                <a:spcPct val="100000"/>
              </a:lnSpc>
            </a:pPr>
            <a:r>
              <a:rPr sz="1400" b="1">
                <a:solidFill>
                  <a:srgbClr val="15171A"/>
                </a:solidFill>
                <a:latin typeface="Noto Sans KR"/>
                <a:ea typeface="Noto Sans KR"/>
                <a:cs typeface="Noto Sans KR"/>
              </a:rPr>
              <a:t>로봇 팔·컴퓨팅 상용화</a:t>
            </a:r>
          </a:p>
        </p:txBody>
      </p:sp>
      <p:sp>
        <p:nvSpPr>
          <p:cNvPr id="16" name="TextBox 15"/>
          <p:cNvSpPr txBox="1"/>
          <p:nvPr/>
        </p:nvSpPr>
        <p:spPr>
          <a:xfrm>
            <a:off x="4460138" y="3794760"/>
            <a:ext cx="1471117" cy="640080"/>
          </a:xfrm>
          <a:prstGeom prst="rect">
            <a:avLst/>
          </a:prstGeom>
          <a:noFill/>
        </p:spPr>
        <p:txBody>
          <a:bodyPr wrap="square" lIns="0" rIns="0" tIns="0" bIns="0" anchor="t">
            <a:spAutoFit/>
          </a:bodyPr>
          <a:lstStyle/>
          <a:p>
            <a:pPr algn="l">
              <a:lnSpc>
                <a:spcPct val="100000"/>
              </a:lnSpc>
            </a:pPr>
            <a:r>
              <a:rPr sz="1100" b="0">
                <a:solidFill>
                  <a:srgbClr val="4A4F57"/>
                </a:solidFill>
                <a:latin typeface="Noto Sans KR"/>
                <a:ea typeface="Noto Sans KR"/>
                <a:cs typeface="Noto Sans KR"/>
              </a:rPr>
              <a:t>몸과 연산은 이미 보급</a:t>
            </a:r>
          </a:p>
        </p:txBody>
      </p:sp>
      <p:sp>
        <p:nvSpPr>
          <p:cNvPr id="17" name="Rectangle 16"/>
          <p:cNvSpPr/>
          <p:nvPr/>
        </p:nvSpPr>
        <p:spPr>
          <a:xfrm>
            <a:off x="6141567" y="2560320"/>
            <a:ext cx="1727149" cy="2395728"/>
          </a:xfrm>
          <a:prstGeom prst="rect">
            <a:avLst/>
          </a:prstGeom>
          <a:solidFill>
            <a:srgbClr val="15171A"/>
          </a:solidFill>
          <a:ln>
            <a:noFill/>
          </a:ln>
        </p:spPr>
        <p:txBody>
          <a:bodyPr rtlCol="0" anchor="ctr"/>
          <a:lstStyle/>
          <a:p>
            <a:pPr algn="ctr"/>
          </a:p>
        </p:txBody>
      </p:sp>
      <p:sp>
        <p:nvSpPr>
          <p:cNvPr id="18" name="TextBox 17"/>
          <p:cNvSpPr txBox="1"/>
          <p:nvPr/>
        </p:nvSpPr>
        <p:spPr>
          <a:xfrm>
            <a:off x="6278727" y="2697479"/>
            <a:ext cx="548640" cy="237744"/>
          </a:xfrm>
          <a:prstGeom prst="rect">
            <a:avLst/>
          </a:prstGeom>
          <a:noFill/>
        </p:spPr>
        <p:txBody>
          <a:bodyPr wrap="square" lIns="0" rIns="0" tIns="0" bIns="0" anchor="t">
            <a:spAutoFit/>
          </a:bodyPr>
          <a:lstStyle/>
          <a:p>
            <a:pPr algn="l">
              <a:lnSpc>
                <a:spcPct val="100000"/>
              </a:lnSpc>
            </a:pPr>
            <a:r>
              <a:rPr sz="1100" b="1">
                <a:solidFill>
                  <a:srgbClr val="E2571B"/>
                </a:solidFill>
                <a:latin typeface="Noto Sans KR"/>
                <a:ea typeface="Noto Sans KR"/>
                <a:cs typeface="Noto Sans KR"/>
              </a:rPr>
              <a:t>04</a:t>
            </a:r>
          </a:p>
        </p:txBody>
      </p:sp>
      <p:sp>
        <p:nvSpPr>
          <p:cNvPr id="19" name="TextBox 18"/>
          <p:cNvSpPr txBox="1"/>
          <p:nvPr/>
        </p:nvSpPr>
        <p:spPr>
          <a:xfrm>
            <a:off x="6278727" y="2980944"/>
            <a:ext cx="1471117" cy="566928"/>
          </a:xfrm>
          <a:prstGeom prst="rect">
            <a:avLst/>
          </a:prstGeom>
          <a:noFill/>
        </p:spPr>
        <p:txBody>
          <a:bodyPr wrap="square" lIns="0" rIns="0" tIns="0" bIns="0" anchor="t">
            <a:spAutoFit/>
          </a:bodyPr>
          <a:lstStyle/>
          <a:p>
            <a:pPr algn="l">
              <a:lnSpc>
                <a:spcPct val="100000"/>
              </a:lnSpc>
            </a:pPr>
            <a:r>
              <a:rPr sz="1400" b="1">
                <a:solidFill>
                  <a:srgbClr val="FFFFFF"/>
                </a:solidFill>
                <a:latin typeface="Noto Sans KR"/>
                <a:ea typeface="Noto Sans KR"/>
                <a:cs typeface="Noto Sans KR"/>
              </a:rPr>
              <a:t>현실 조작이 새 병목</a:t>
            </a:r>
          </a:p>
        </p:txBody>
      </p:sp>
      <p:sp>
        <p:nvSpPr>
          <p:cNvPr id="20" name="TextBox 19"/>
          <p:cNvSpPr txBox="1"/>
          <p:nvPr/>
        </p:nvSpPr>
        <p:spPr>
          <a:xfrm>
            <a:off x="6278727" y="3566160"/>
            <a:ext cx="1471117" cy="640080"/>
          </a:xfrm>
          <a:prstGeom prst="rect">
            <a:avLst/>
          </a:prstGeom>
          <a:noFill/>
        </p:spPr>
        <p:txBody>
          <a:bodyPr wrap="square" lIns="0" rIns="0" tIns="0" bIns="0" anchor="t">
            <a:spAutoFit/>
          </a:bodyPr>
          <a:lstStyle/>
          <a:p>
            <a:pPr algn="l">
              <a:lnSpc>
                <a:spcPct val="100000"/>
              </a:lnSpc>
            </a:pPr>
            <a:r>
              <a:rPr sz="1100" b="0">
                <a:solidFill>
                  <a:srgbClr val="B9BEC5"/>
                </a:solidFill>
                <a:latin typeface="Noto Sans KR"/>
                <a:ea typeface="Noto Sans KR"/>
                <a:cs typeface="Noto Sans KR"/>
              </a:rPr>
              <a:t>사람용 물체·도구·손잡이를 안정적으로 다루기</a:t>
            </a:r>
          </a:p>
        </p:txBody>
      </p:sp>
      <p:sp>
        <p:nvSpPr>
          <p:cNvPr id="21" name="Rectangle 20"/>
          <p:cNvSpPr/>
          <p:nvPr/>
        </p:nvSpPr>
        <p:spPr>
          <a:xfrm>
            <a:off x="7960156" y="2331720"/>
            <a:ext cx="1727149" cy="2624328"/>
          </a:xfrm>
          <a:prstGeom prst="rect">
            <a:avLst/>
          </a:prstGeom>
          <a:solidFill>
            <a:srgbClr val="15171A"/>
          </a:solidFill>
          <a:ln>
            <a:noFill/>
          </a:ln>
        </p:spPr>
        <p:txBody>
          <a:bodyPr rtlCol="0" anchor="ctr"/>
          <a:lstStyle/>
          <a:p>
            <a:pPr algn="ctr"/>
          </a:p>
        </p:txBody>
      </p:sp>
      <p:sp>
        <p:nvSpPr>
          <p:cNvPr id="22" name="TextBox 21"/>
          <p:cNvSpPr txBox="1"/>
          <p:nvPr/>
        </p:nvSpPr>
        <p:spPr>
          <a:xfrm>
            <a:off x="8097316" y="2468879"/>
            <a:ext cx="548640" cy="237744"/>
          </a:xfrm>
          <a:prstGeom prst="rect">
            <a:avLst/>
          </a:prstGeom>
          <a:noFill/>
        </p:spPr>
        <p:txBody>
          <a:bodyPr wrap="square" lIns="0" rIns="0" tIns="0" bIns="0" anchor="t">
            <a:spAutoFit/>
          </a:bodyPr>
          <a:lstStyle/>
          <a:p>
            <a:pPr algn="l">
              <a:lnSpc>
                <a:spcPct val="100000"/>
              </a:lnSpc>
            </a:pPr>
            <a:r>
              <a:rPr sz="1100" b="1">
                <a:solidFill>
                  <a:srgbClr val="E2571B"/>
                </a:solidFill>
                <a:latin typeface="Noto Sans KR"/>
                <a:ea typeface="Noto Sans KR"/>
                <a:cs typeface="Noto Sans KR"/>
              </a:rPr>
              <a:t>05</a:t>
            </a:r>
          </a:p>
        </p:txBody>
      </p:sp>
      <p:sp>
        <p:nvSpPr>
          <p:cNvPr id="23" name="TextBox 22"/>
          <p:cNvSpPr txBox="1"/>
          <p:nvPr/>
        </p:nvSpPr>
        <p:spPr>
          <a:xfrm>
            <a:off x="8097316" y="2752344"/>
            <a:ext cx="1471117" cy="566928"/>
          </a:xfrm>
          <a:prstGeom prst="rect">
            <a:avLst/>
          </a:prstGeom>
          <a:noFill/>
        </p:spPr>
        <p:txBody>
          <a:bodyPr wrap="square" lIns="0" rIns="0" tIns="0" bIns="0" anchor="t">
            <a:spAutoFit/>
          </a:bodyPr>
          <a:lstStyle/>
          <a:p>
            <a:pPr algn="l">
              <a:lnSpc>
                <a:spcPct val="100000"/>
              </a:lnSpc>
            </a:pPr>
            <a:r>
              <a:rPr sz="1400" b="1">
                <a:solidFill>
                  <a:srgbClr val="FFFFFF"/>
                </a:solidFill>
                <a:latin typeface="Noto Sans KR"/>
                <a:ea typeface="Noto Sans KR"/>
                <a:cs typeface="Noto Sans KR"/>
              </a:rPr>
              <a:t>주방 = 가장 다양한 조작 환경</a:t>
            </a:r>
          </a:p>
        </p:txBody>
      </p:sp>
      <p:sp>
        <p:nvSpPr>
          <p:cNvPr id="24" name="TextBox 23"/>
          <p:cNvSpPr txBox="1"/>
          <p:nvPr/>
        </p:nvSpPr>
        <p:spPr>
          <a:xfrm>
            <a:off x="8097316" y="3337560"/>
            <a:ext cx="1471117" cy="640080"/>
          </a:xfrm>
          <a:prstGeom prst="rect">
            <a:avLst/>
          </a:prstGeom>
          <a:noFill/>
        </p:spPr>
        <p:txBody>
          <a:bodyPr wrap="square" lIns="0" rIns="0" tIns="0" bIns="0" anchor="t">
            <a:spAutoFit/>
          </a:bodyPr>
          <a:lstStyle/>
          <a:p>
            <a:pPr algn="l">
              <a:lnSpc>
                <a:spcPct val="100000"/>
              </a:lnSpc>
            </a:pPr>
            <a:r>
              <a:rPr sz="1100" b="0">
                <a:solidFill>
                  <a:srgbClr val="B9BEC5"/>
                </a:solidFill>
                <a:latin typeface="Noto Sans KR"/>
                <a:ea typeface="Noto Sans KR"/>
                <a:cs typeface="Noto Sans KR"/>
              </a:rPr>
              <a:t>도구·형상·힘 조절, 모두 사람 손 기준</a:t>
            </a:r>
          </a:p>
        </p:txBody>
      </p:sp>
      <p:sp>
        <p:nvSpPr>
          <p:cNvPr id="25" name="Rectangle 24"/>
          <p:cNvSpPr/>
          <p:nvPr/>
        </p:nvSpPr>
        <p:spPr>
          <a:xfrm>
            <a:off x="9778746" y="2103120"/>
            <a:ext cx="1727149" cy="2852928"/>
          </a:xfrm>
          <a:prstGeom prst="rect">
            <a:avLst/>
          </a:prstGeom>
          <a:solidFill>
            <a:srgbClr val="E2571B"/>
          </a:solidFill>
          <a:ln>
            <a:noFill/>
          </a:ln>
        </p:spPr>
        <p:txBody>
          <a:bodyPr rtlCol="0" anchor="ctr"/>
          <a:lstStyle/>
          <a:p>
            <a:pPr algn="ctr"/>
          </a:p>
        </p:txBody>
      </p:sp>
      <p:sp>
        <p:nvSpPr>
          <p:cNvPr id="26" name="TextBox 25"/>
          <p:cNvSpPr txBox="1"/>
          <p:nvPr/>
        </p:nvSpPr>
        <p:spPr>
          <a:xfrm>
            <a:off x="9915906" y="2240279"/>
            <a:ext cx="548640" cy="237744"/>
          </a:xfrm>
          <a:prstGeom prst="rect">
            <a:avLst/>
          </a:prstGeom>
          <a:noFill/>
        </p:spPr>
        <p:txBody>
          <a:bodyPr wrap="square" lIns="0" rIns="0" tIns="0" bIns="0" anchor="t">
            <a:spAutoFit/>
          </a:bodyPr>
          <a:lstStyle/>
          <a:p>
            <a:pPr algn="l">
              <a:lnSpc>
                <a:spcPct val="100000"/>
              </a:lnSpc>
            </a:pPr>
            <a:r>
              <a:rPr sz="1100" b="1">
                <a:solidFill>
                  <a:srgbClr val="FFFFFF"/>
                </a:solidFill>
                <a:latin typeface="Noto Sans KR"/>
                <a:ea typeface="Noto Sans KR"/>
                <a:cs typeface="Noto Sans KR"/>
              </a:rPr>
              <a:t>06</a:t>
            </a:r>
          </a:p>
        </p:txBody>
      </p:sp>
      <p:sp>
        <p:nvSpPr>
          <p:cNvPr id="27" name="TextBox 26"/>
          <p:cNvSpPr txBox="1"/>
          <p:nvPr/>
        </p:nvSpPr>
        <p:spPr>
          <a:xfrm>
            <a:off x="9915906" y="2523744"/>
            <a:ext cx="1471117" cy="566928"/>
          </a:xfrm>
          <a:prstGeom prst="rect">
            <a:avLst/>
          </a:prstGeom>
          <a:noFill/>
        </p:spPr>
        <p:txBody>
          <a:bodyPr wrap="square" lIns="0" rIns="0" tIns="0" bIns="0" anchor="t">
            <a:spAutoFit/>
          </a:bodyPr>
          <a:lstStyle/>
          <a:p>
            <a:pPr algn="l">
              <a:lnSpc>
                <a:spcPct val="100000"/>
              </a:lnSpc>
            </a:pPr>
            <a:r>
              <a:rPr sz="1400" b="1">
                <a:solidFill>
                  <a:srgbClr val="FFFFFF"/>
                </a:solidFill>
                <a:latin typeface="Noto Sans KR"/>
                <a:ea typeface="Noto Sans KR"/>
                <a:cs typeface="Noto Sans KR"/>
              </a:rPr>
              <a:t>손 · Skill 계층 가치 증가</a:t>
            </a:r>
          </a:p>
        </p:txBody>
      </p:sp>
      <p:sp>
        <p:nvSpPr>
          <p:cNvPr id="28" name="TextBox 27"/>
          <p:cNvSpPr txBox="1"/>
          <p:nvPr/>
        </p:nvSpPr>
        <p:spPr>
          <a:xfrm>
            <a:off x="9915906" y="3108960"/>
            <a:ext cx="1471117" cy="640080"/>
          </a:xfrm>
          <a:prstGeom prst="rect">
            <a:avLst/>
          </a:prstGeom>
          <a:noFill/>
        </p:spPr>
        <p:txBody>
          <a:bodyPr wrap="square" lIns="0" rIns="0" tIns="0" bIns="0" anchor="t">
            <a:spAutoFit/>
          </a:bodyPr>
          <a:lstStyle/>
          <a:p>
            <a:pPr algn="l">
              <a:lnSpc>
                <a:spcPct val="100000"/>
              </a:lnSpc>
            </a:pPr>
            <a:r>
              <a:rPr sz="1100" b="0">
                <a:solidFill>
                  <a:srgbClr val="FFE6DA"/>
                </a:solidFill>
                <a:latin typeface="Noto Sans KR"/>
                <a:ea typeface="Noto Sans KR"/>
                <a:cs typeface="Noto Sans KR"/>
              </a:rPr>
              <a:t>SoftHand가 선점하려는 계층</a:t>
            </a:r>
          </a:p>
        </p:txBody>
      </p:sp>
      <p:sp>
        <p:nvSpPr>
          <p:cNvPr id="29" name="TextBox 28"/>
          <p:cNvSpPr txBox="1"/>
          <p:nvPr/>
        </p:nvSpPr>
        <p:spPr>
          <a:xfrm>
            <a:off x="685800" y="5175504"/>
            <a:ext cx="5486400" cy="237744"/>
          </a:xfrm>
          <a:prstGeom prst="rect">
            <a:avLst/>
          </a:prstGeom>
          <a:noFill/>
        </p:spPr>
        <p:txBody>
          <a:bodyPr wrap="square" lIns="0" rIns="0" tIns="0" bIns="0" anchor="t">
            <a:spAutoFit/>
          </a:bodyPr>
          <a:lstStyle/>
          <a:p>
            <a:pPr algn="l">
              <a:lnSpc>
                <a:spcPct val="100000"/>
              </a:lnSpc>
            </a:pPr>
            <a:r>
              <a:rPr sz="1200" b="1">
                <a:solidFill>
                  <a:srgbClr val="8C9198"/>
                </a:solidFill>
                <a:latin typeface="Noto Sans KR"/>
                <a:ea typeface="Noto Sans KR"/>
                <a:cs typeface="Noto Sans KR"/>
              </a:rPr>
              <a:t>주방이 어려운 조작 환경인 이유</a:t>
            </a:r>
          </a:p>
        </p:txBody>
      </p:sp>
      <p:sp>
        <p:nvSpPr>
          <p:cNvPr id="30" name="TextBox 29"/>
          <p:cNvSpPr txBox="1"/>
          <p:nvPr/>
        </p:nvSpPr>
        <p:spPr>
          <a:xfrm>
            <a:off x="685800" y="5504688"/>
            <a:ext cx="2476423" cy="274320"/>
          </a:xfrm>
          <a:prstGeom prst="rect">
            <a:avLst/>
          </a:prstGeom>
          <a:noFill/>
        </p:spPr>
        <p:txBody>
          <a:bodyPr wrap="square" lIns="0" rIns="0" tIns="0" bIns="0" anchor="t">
            <a:spAutoFit/>
          </a:bodyPr>
          <a:lstStyle/>
          <a:p>
            <a:pPr algn="l">
              <a:lnSpc>
                <a:spcPct val="100000"/>
              </a:lnSpc>
            </a:pPr>
            <a:r>
              <a:rPr sz="1400" b="1">
                <a:solidFill>
                  <a:srgbClr val="15171A"/>
                </a:solidFill>
                <a:latin typeface="Noto Sans KR"/>
                <a:ea typeface="Noto Sans KR"/>
                <a:cs typeface="Noto Sans KR"/>
              </a:rPr>
              <a:t>도구가 다양</a:t>
            </a:r>
          </a:p>
        </p:txBody>
      </p:sp>
      <p:sp>
        <p:nvSpPr>
          <p:cNvPr id="31" name="TextBox 30"/>
          <p:cNvSpPr txBox="1"/>
          <p:nvPr/>
        </p:nvSpPr>
        <p:spPr>
          <a:xfrm>
            <a:off x="685800" y="5797296"/>
            <a:ext cx="2476423" cy="256032"/>
          </a:xfrm>
          <a:prstGeom prst="rect">
            <a:avLst/>
          </a:prstGeom>
          <a:noFill/>
        </p:spPr>
        <p:txBody>
          <a:bodyPr wrap="square" lIns="0" rIns="0" tIns="0" bIns="0" anchor="t">
            <a:spAutoFit/>
          </a:bodyPr>
          <a:lstStyle/>
          <a:p>
            <a:pPr algn="l">
              <a:lnSpc>
                <a:spcPct val="100000"/>
              </a:lnSpc>
            </a:pPr>
            <a:r>
              <a:rPr sz="1150" b="0">
                <a:solidFill>
                  <a:srgbClr val="4A4F57"/>
                </a:solidFill>
                <a:latin typeface="Noto Sans KR"/>
                <a:ea typeface="Noto Sans KR"/>
                <a:cs typeface="Noto Sans KR"/>
              </a:rPr>
              <a:t>팬·냄비·집게·국자·칼·용기</a:t>
            </a:r>
          </a:p>
        </p:txBody>
      </p:sp>
      <p:cxnSp>
        <p:nvCxnSpPr>
          <p:cNvPr id="32" name="Connector 31"/>
          <p:cNvCxnSpPr/>
          <p:nvPr/>
        </p:nvCxnSpPr>
        <p:spPr>
          <a:xfrm>
            <a:off x="3281095" y="5541264"/>
            <a:ext cx="0" cy="548640"/>
          </a:xfrm>
          <a:prstGeom prst="line">
            <a:avLst/>
          </a:prstGeom>
          <a:ln w="9525">
            <a:solidFill>
              <a:srgbClr val="E2E4E7"/>
            </a:solidFill>
          </a:ln>
        </p:spPr>
      </p:cxnSp>
      <p:sp>
        <p:nvSpPr>
          <p:cNvPr id="33" name="TextBox 32"/>
          <p:cNvSpPr txBox="1"/>
          <p:nvPr/>
        </p:nvSpPr>
        <p:spPr>
          <a:xfrm>
            <a:off x="3390823" y="5504688"/>
            <a:ext cx="2476423" cy="274320"/>
          </a:xfrm>
          <a:prstGeom prst="rect">
            <a:avLst/>
          </a:prstGeom>
          <a:noFill/>
        </p:spPr>
        <p:txBody>
          <a:bodyPr wrap="square" lIns="0" rIns="0" tIns="0" bIns="0" anchor="t">
            <a:spAutoFit/>
          </a:bodyPr>
          <a:lstStyle/>
          <a:p>
            <a:pPr algn="l">
              <a:lnSpc>
                <a:spcPct val="100000"/>
              </a:lnSpc>
            </a:pPr>
            <a:r>
              <a:rPr sz="1400" b="1">
                <a:solidFill>
                  <a:srgbClr val="15171A"/>
                </a:solidFill>
                <a:latin typeface="Noto Sans KR"/>
                <a:ea typeface="Noto Sans KR"/>
                <a:cs typeface="Noto Sans KR"/>
              </a:rPr>
              <a:t>형상이 계속 바뀜</a:t>
            </a:r>
          </a:p>
        </p:txBody>
      </p:sp>
      <p:sp>
        <p:nvSpPr>
          <p:cNvPr id="34" name="TextBox 33"/>
          <p:cNvSpPr txBox="1"/>
          <p:nvPr/>
        </p:nvSpPr>
        <p:spPr>
          <a:xfrm>
            <a:off x="3390823" y="5797296"/>
            <a:ext cx="2476423" cy="256032"/>
          </a:xfrm>
          <a:prstGeom prst="rect">
            <a:avLst/>
          </a:prstGeom>
          <a:noFill/>
        </p:spPr>
        <p:txBody>
          <a:bodyPr wrap="square" lIns="0" rIns="0" tIns="0" bIns="0" anchor="t">
            <a:spAutoFit/>
          </a:bodyPr>
          <a:lstStyle/>
          <a:p>
            <a:pPr algn="l">
              <a:lnSpc>
                <a:spcPct val="100000"/>
              </a:lnSpc>
            </a:pPr>
            <a:r>
              <a:rPr sz="1150" b="0">
                <a:solidFill>
                  <a:srgbClr val="4A4F57"/>
                </a:solidFill>
                <a:latin typeface="Noto Sans KR"/>
                <a:ea typeface="Noto Sans KR"/>
                <a:cs typeface="Noto Sans KR"/>
              </a:rPr>
              <a:t>재료·메뉴·용기마다 다름</a:t>
            </a:r>
          </a:p>
        </p:txBody>
      </p:sp>
      <p:cxnSp>
        <p:nvCxnSpPr>
          <p:cNvPr id="35" name="Connector 34"/>
          <p:cNvCxnSpPr/>
          <p:nvPr/>
        </p:nvCxnSpPr>
        <p:spPr>
          <a:xfrm>
            <a:off x="5986119" y="5541264"/>
            <a:ext cx="0" cy="548640"/>
          </a:xfrm>
          <a:prstGeom prst="line">
            <a:avLst/>
          </a:prstGeom>
          <a:ln w="9525">
            <a:solidFill>
              <a:srgbClr val="E2E4E7"/>
            </a:solidFill>
          </a:ln>
        </p:spPr>
      </p:cxnSp>
      <p:sp>
        <p:nvSpPr>
          <p:cNvPr id="36" name="TextBox 35"/>
          <p:cNvSpPr txBox="1"/>
          <p:nvPr/>
        </p:nvSpPr>
        <p:spPr>
          <a:xfrm>
            <a:off x="6095847" y="5504688"/>
            <a:ext cx="2476423" cy="274320"/>
          </a:xfrm>
          <a:prstGeom prst="rect">
            <a:avLst/>
          </a:prstGeom>
          <a:noFill/>
        </p:spPr>
        <p:txBody>
          <a:bodyPr wrap="square" lIns="0" rIns="0" tIns="0" bIns="0" anchor="t">
            <a:spAutoFit/>
          </a:bodyPr>
          <a:lstStyle/>
          <a:p>
            <a:pPr algn="l">
              <a:lnSpc>
                <a:spcPct val="100000"/>
              </a:lnSpc>
            </a:pPr>
            <a:r>
              <a:rPr sz="1400" b="1">
                <a:solidFill>
                  <a:srgbClr val="15171A"/>
                </a:solidFill>
                <a:latin typeface="Noto Sans KR"/>
                <a:ea typeface="Noto Sans KR"/>
                <a:cs typeface="Noto Sans KR"/>
              </a:rPr>
              <a:t>접촉·힘 조절 필요</a:t>
            </a:r>
          </a:p>
        </p:txBody>
      </p:sp>
      <p:sp>
        <p:nvSpPr>
          <p:cNvPr id="37" name="TextBox 36"/>
          <p:cNvSpPr txBox="1"/>
          <p:nvPr/>
        </p:nvSpPr>
        <p:spPr>
          <a:xfrm>
            <a:off x="6095847" y="5797296"/>
            <a:ext cx="2476423" cy="256032"/>
          </a:xfrm>
          <a:prstGeom prst="rect">
            <a:avLst/>
          </a:prstGeom>
          <a:noFill/>
        </p:spPr>
        <p:txBody>
          <a:bodyPr wrap="square" lIns="0" rIns="0" tIns="0" bIns="0" anchor="t">
            <a:spAutoFit/>
          </a:bodyPr>
          <a:lstStyle/>
          <a:p>
            <a:pPr algn="l">
              <a:lnSpc>
                <a:spcPct val="100000"/>
              </a:lnSpc>
            </a:pPr>
            <a:r>
              <a:rPr sz="1150" b="0">
                <a:solidFill>
                  <a:srgbClr val="4A4F57"/>
                </a:solidFill>
                <a:latin typeface="Noto Sans KR"/>
                <a:ea typeface="Noto Sans KR"/>
                <a:cs typeface="Noto Sans KR"/>
              </a:rPr>
              <a:t>젓기·뒤집기·누르기·돌리기</a:t>
            </a:r>
          </a:p>
        </p:txBody>
      </p:sp>
      <p:cxnSp>
        <p:nvCxnSpPr>
          <p:cNvPr id="38" name="Connector 37"/>
          <p:cNvCxnSpPr/>
          <p:nvPr/>
        </p:nvCxnSpPr>
        <p:spPr>
          <a:xfrm>
            <a:off x="8691143" y="5541264"/>
            <a:ext cx="0" cy="548640"/>
          </a:xfrm>
          <a:prstGeom prst="line">
            <a:avLst/>
          </a:prstGeom>
          <a:ln w="9525">
            <a:solidFill>
              <a:srgbClr val="E2E4E7"/>
            </a:solidFill>
          </a:ln>
        </p:spPr>
      </p:cxnSp>
      <p:sp>
        <p:nvSpPr>
          <p:cNvPr id="39" name="TextBox 38"/>
          <p:cNvSpPr txBox="1"/>
          <p:nvPr/>
        </p:nvSpPr>
        <p:spPr>
          <a:xfrm>
            <a:off x="8800871" y="5504688"/>
            <a:ext cx="2476423" cy="274320"/>
          </a:xfrm>
          <a:prstGeom prst="rect">
            <a:avLst/>
          </a:prstGeom>
          <a:noFill/>
        </p:spPr>
        <p:txBody>
          <a:bodyPr wrap="square" lIns="0" rIns="0" tIns="0" bIns="0" anchor="t">
            <a:spAutoFit/>
          </a:bodyPr>
          <a:lstStyle/>
          <a:p>
            <a:pPr algn="l">
              <a:lnSpc>
                <a:spcPct val="100000"/>
              </a:lnSpc>
            </a:pPr>
            <a:r>
              <a:rPr sz="1400" b="1">
                <a:solidFill>
                  <a:srgbClr val="15171A"/>
                </a:solidFill>
                <a:latin typeface="Noto Sans KR"/>
                <a:ea typeface="Noto Sans KR"/>
                <a:cs typeface="Noto Sans KR"/>
              </a:rPr>
              <a:t>사람 손 기준 설계</a:t>
            </a:r>
          </a:p>
        </p:txBody>
      </p:sp>
      <p:sp>
        <p:nvSpPr>
          <p:cNvPr id="40" name="TextBox 39"/>
          <p:cNvSpPr txBox="1"/>
          <p:nvPr/>
        </p:nvSpPr>
        <p:spPr>
          <a:xfrm>
            <a:off x="8800871" y="5797296"/>
            <a:ext cx="2476423" cy="256032"/>
          </a:xfrm>
          <a:prstGeom prst="rect">
            <a:avLst/>
          </a:prstGeom>
          <a:noFill/>
        </p:spPr>
        <p:txBody>
          <a:bodyPr wrap="square" lIns="0" rIns="0" tIns="0" bIns="0" anchor="t">
            <a:spAutoFit/>
          </a:bodyPr>
          <a:lstStyle/>
          <a:p>
            <a:pPr algn="l">
              <a:lnSpc>
                <a:spcPct val="100000"/>
              </a:lnSpc>
            </a:pPr>
            <a:r>
              <a:rPr sz="1150" b="0">
                <a:solidFill>
                  <a:srgbClr val="4A4F57"/>
                </a:solidFill>
                <a:latin typeface="Noto Sans KR"/>
                <a:ea typeface="Noto Sans KR"/>
                <a:cs typeface="Noto Sans KR"/>
              </a:rPr>
              <a:t>손잡이·노브·버튼·문</a:t>
            </a:r>
          </a:p>
        </p:txBody>
      </p:sp>
      <p:sp>
        <p:nvSpPr>
          <p:cNvPr id="41" name="TextBox 40"/>
          <p:cNvSpPr txBox="1"/>
          <p:nvPr/>
        </p:nvSpPr>
        <p:spPr>
          <a:xfrm>
            <a:off x="685800" y="6446520"/>
            <a:ext cx="5486400" cy="201168"/>
          </a:xfrm>
          <a:prstGeom prst="rect">
            <a:avLst/>
          </a:prstGeom>
          <a:noFill/>
        </p:spPr>
        <p:txBody>
          <a:bodyPr wrap="square" lIns="0" rIns="0" tIns="0" bIns="0" anchor="t">
            <a:spAutoFit/>
          </a:bodyPr>
          <a:lstStyle/>
          <a:p>
            <a:pPr algn="l">
              <a:lnSpc>
                <a:spcPct val="100000"/>
              </a:lnSpc>
            </a:pPr>
            <a:r>
              <a:rPr sz="900" b="0">
                <a:solidFill>
                  <a:srgbClr val="8C9198"/>
                </a:solidFill>
                <a:latin typeface="Noto Sans KR"/>
                <a:ea typeface="Noto Sans KR"/>
                <a:cs typeface="Noto Sans KR"/>
              </a:rPr>
              <a:t>SoftHand  |  주방 로봇 조작 플랫폼  |  Seed 투자 제안서</a:t>
            </a:r>
          </a:p>
        </p:txBody>
      </p:sp>
      <p:sp>
        <p:nvSpPr>
          <p:cNvPr id="42" name="TextBox 41"/>
          <p:cNvSpPr txBox="1"/>
          <p:nvPr/>
        </p:nvSpPr>
        <p:spPr>
          <a:xfrm>
            <a:off x="3154680" y="6446520"/>
            <a:ext cx="7802575" cy="201168"/>
          </a:xfrm>
          <a:prstGeom prst="rect">
            <a:avLst/>
          </a:prstGeom>
          <a:noFill/>
        </p:spPr>
        <p:txBody>
          <a:bodyPr wrap="square" lIns="0" rIns="0" tIns="0" bIns="0" anchor="t">
            <a:spAutoFit/>
          </a:bodyPr>
          <a:lstStyle/>
          <a:p>
            <a:pPr algn="r">
              <a:lnSpc>
                <a:spcPct val="100000"/>
              </a:lnSpc>
            </a:pPr>
            <a:r>
              <a:rPr sz="900" b="0">
                <a:solidFill>
                  <a:srgbClr val="8C9198"/>
                </a:solidFill>
                <a:latin typeface="Noto Sans KR"/>
                <a:ea typeface="Noto Sans KR"/>
                <a:cs typeface="Noto Sans KR"/>
              </a:rPr>
              <a:t>근거: AI·VLA, 로봇 보급, 손이 병목이라는 업계 발언과 사례는 부록 A7</a:t>
            </a:r>
          </a:p>
        </p:txBody>
      </p:sp>
      <p:sp>
        <p:nvSpPr>
          <p:cNvPr id="43" name="TextBox 42"/>
          <p:cNvSpPr txBox="1"/>
          <p:nvPr/>
        </p:nvSpPr>
        <p:spPr>
          <a:xfrm>
            <a:off x="11048695" y="6446520"/>
            <a:ext cx="457200" cy="201168"/>
          </a:xfrm>
          <a:prstGeom prst="rect">
            <a:avLst/>
          </a:prstGeom>
          <a:noFill/>
        </p:spPr>
        <p:txBody>
          <a:bodyPr wrap="square" lIns="0" rIns="0" tIns="0" bIns="0" anchor="t">
            <a:spAutoFit/>
          </a:bodyPr>
          <a:lstStyle/>
          <a:p>
            <a:pPr algn="r">
              <a:lnSpc>
                <a:spcPct val="100000"/>
              </a:lnSpc>
            </a:pPr>
            <a:r>
              <a:rPr sz="900" b="0">
                <a:solidFill>
                  <a:srgbClr val="8C9198"/>
                </a:solidFill>
                <a:latin typeface="Noto Sans KR"/>
                <a:ea typeface="Noto Sans KR"/>
                <a:cs typeface="Noto Sans KR"/>
              </a:rPr>
              <a:t>06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548640"/>
            <a:ext cx="7315200" cy="274320"/>
          </a:xfrm>
          <a:prstGeom prst="rect">
            <a:avLst/>
          </a:prstGeom>
          <a:noFill/>
        </p:spPr>
        <p:txBody>
          <a:bodyPr wrap="square" lIns="0" rIns="0" tIns="0" bIns="0" anchor="t">
            <a:spAutoFit/>
          </a:bodyPr>
          <a:lstStyle/>
          <a:p>
            <a:pPr algn="l">
              <a:lnSpc>
                <a:spcPct val="100000"/>
              </a:lnSpc>
            </a:pPr>
            <a:r>
              <a:rPr sz="1200" b="1">
                <a:solidFill>
                  <a:srgbClr val="E2571B"/>
                </a:solidFill>
                <a:latin typeface="Noto Sans KR"/>
                <a:ea typeface="Noto Sans KR"/>
                <a:cs typeface="Noto Sans KR"/>
              </a:rPr>
              <a:t>MARKET</a:t>
            </a:r>
          </a:p>
        </p:txBody>
      </p:sp>
      <p:sp>
        <p:nvSpPr>
          <p:cNvPr id="3" name="TextBox 2"/>
          <p:cNvSpPr txBox="1"/>
          <p:nvPr/>
        </p:nvSpPr>
        <p:spPr>
          <a:xfrm>
            <a:off x="685800" y="932688"/>
            <a:ext cx="10820095" cy="542391"/>
          </a:xfrm>
          <a:prstGeom prst="rect">
            <a:avLst/>
          </a:prstGeom>
          <a:noFill/>
        </p:spPr>
        <p:txBody>
          <a:bodyPr wrap="square" lIns="0" rIns="0" tIns="0" bIns="0" anchor="t">
            <a:spAutoFit/>
          </a:bodyPr>
          <a:lstStyle/>
          <a:p>
            <a:pPr algn="l">
              <a:lnSpc>
                <a:spcPct val="95000"/>
              </a:lnSpc>
            </a:pPr>
            <a:r>
              <a:rPr sz="3000" b="1">
                <a:solidFill>
                  <a:srgbClr val="15171A"/>
                </a:solidFill>
                <a:latin typeface="Noto Sans KR"/>
                <a:ea typeface="Noto Sans KR"/>
                <a:cs typeface="Noto Sans KR"/>
              </a:rPr>
              <a:t>하나의 조작 플랫폼, 두 개의 큰 시장</a:t>
            </a:r>
          </a:p>
        </p:txBody>
      </p:sp>
      <p:sp>
        <p:nvSpPr>
          <p:cNvPr id="4" name="TextBox 3"/>
          <p:cNvSpPr txBox="1"/>
          <p:nvPr/>
        </p:nvSpPr>
        <p:spPr>
          <a:xfrm>
            <a:off x="685800" y="1584807"/>
            <a:ext cx="10820095" cy="329184"/>
          </a:xfrm>
          <a:prstGeom prst="rect">
            <a:avLst/>
          </a:prstGeom>
          <a:noFill/>
        </p:spPr>
        <p:txBody>
          <a:bodyPr wrap="square" lIns="0" rIns="0" tIns="0" bIns="0" anchor="t">
            <a:spAutoFit/>
          </a:bodyPr>
          <a:lstStyle/>
          <a:p>
            <a:pPr algn="l">
              <a:lnSpc>
                <a:spcPct val="100000"/>
              </a:lnSpc>
            </a:pPr>
            <a:r>
              <a:rPr sz="1600" b="0">
                <a:solidFill>
                  <a:srgbClr val="4A4F57"/>
                </a:solidFill>
                <a:latin typeface="Noto Sans KR"/>
                <a:ea typeface="Noto Sans KR"/>
                <a:cs typeface="Noto Sans KR"/>
              </a:rPr>
              <a:t>상업용 주방과 가정용 주방을 같은 손과 Skill로 연결</a:t>
            </a:r>
          </a:p>
        </p:txBody>
      </p:sp>
      <p:pic>
        <p:nvPicPr>
          <p:cNvPr id="5" name="Picture 4" descr="pro_wide_light_459x229_50_42_100.jpg"/>
          <p:cNvPicPr>
            <a:picLocks noChangeAspect="1"/>
          </p:cNvPicPr>
          <p:nvPr/>
        </p:nvPicPr>
        <p:blipFill>
          <a:blip r:embed="rId2"/>
          <a:stretch>
            <a:fillRect/>
          </a:stretch>
        </p:blipFill>
        <p:spPr>
          <a:xfrm>
            <a:off x="685800" y="2051151"/>
            <a:ext cx="4206240" cy="2103120"/>
          </a:xfrm>
          <a:prstGeom prst="rect">
            <a:avLst/>
          </a:prstGeom>
        </p:spPr>
      </p:pic>
      <p:sp>
        <p:nvSpPr>
          <p:cNvPr id="6" name="TextBox 5"/>
          <p:cNvSpPr txBox="1"/>
          <p:nvPr/>
        </p:nvSpPr>
        <p:spPr>
          <a:xfrm>
            <a:off x="685800" y="4282287"/>
            <a:ext cx="4206240" cy="329184"/>
          </a:xfrm>
          <a:prstGeom prst="rect">
            <a:avLst/>
          </a:prstGeom>
          <a:noFill/>
        </p:spPr>
        <p:txBody>
          <a:bodyPr wrap="square" lIns="0" rIns="0" tIns="0" bIns="0" anchor="t">
            <a:spAutoFit/>
          </a:bodyPr>
          <a:lstStyle/>
          <a:p>
            <a:pPr algn="l">
              <a:lnSpc>
                <a:spcPct val="100000"/>
              </a:lnSpc>
            </a:pPr>
            <a:r>
              <a:rPr sz="1800" b="1">
                <a:solidFill>
                  <a:srgbClr val="15171A"/>
                </a:solidFill>
                <a:latin typeface="Noto Sans KR"/>
                <a:ea typeface="Noto Sans KR"/>
                <a:cs typeface="Noto Sans KR"/>
              </a:rPr>
              <a:t>상업용 주방</a:t>
            </a:r>
            <a:r>
              <a:rPr sz="1100" b="0">
                <a:solidFill>
                  <a:srgbClr val="8C9198"/>
                </a:solidFill>
                <a:latin typeface="Noto Sans KR"/>
                <a:ea typeface="Noto Sans KR"/>
                <a:cs typeface="Noto Sans KR"/>
              </a:rPr>
              <a:t>   Commercial Kitchen</a:t>
            </a:r>
          </a:p>
        </p:txBody>
      </p:sp>
      <p:sp>
        <p:nvSpPr>
          <p:cNvPr id="7" name="TextBox 6"/>
          <p:cNvSpPr txBox="1"/>
          <p:nvPr/>
        </p:nvSpPr>
        <p:spPr>
          <a:xfrm>
            <a:off x="685800" y="4666335"/>
            <a:ext cx="4206240" cy="237744"/>
          </a:xfrm>
          <a:prstGeom prst="rect">
            <a:avLst/>
          </a:prstGeom>
          <a:noFill/>
        </p:spPr>
        <p:txBody>
          <a:bodyPr wrap="square" lIns="0" rIns="0" tIns="0" bIns="0" anchor="t">
            <a:spAutoFit/>
          </a:bodyPr>
          <a:lstStyle/>
          <a:p>
            <a:pPr algn="l">
              <a:lnSpc>
                <a:spcPct val="100000"/>
              </a:lnSpc>
            </a:pPr>
            <a:r>
              <a:rPr sz="1100" b="0">
                <a:solidFill>
                  <a:srgbClr val="4A4F57"/>
                </a:solidFill>
                <a:latin typeface="Noto Sans KR"/>
                <a:ea typeface="Noto Sans KR"/>
                <a:cs typeface="Noto Sans KR"/>
              </a:rPr>
              <a:t>식당 · 프랜차이즈 · 급식 · 호텔 · 케이터링 · 센트럴키친</a:t>
            </a:r>
          </a:p>
        </p:txBody>
      </p:sp>
      <p:sp>
        <p:nvSpPr>
          <p:cNvPr id="8" name="TextBox 7"/>
          <p:cNvSpPr txBox="1"/>
          <p:nvPr/>
        </p:nvSpPr>
        <p:spPr>
          <a:xfrm>
            <a:off x="685800" y="4995519"/>
            <a:ext cx="4206240" cy="777240"/>
          </a:xfrm>
          <a:prstGeom prst="rect">
            <a:avLst/>
          </a:prstGeom>
          <a:noFill/>
        </p:spPr>
        <p:txBody>
          <a:bodyPr wrap="square" lIns="0" rIns="0" tIns="0" bIns="0" anchor="t">
            <a:spAutoFit/>
          </a:bodyPr>
          <a:lstStyle/>
          <a:p>
            <a:pPr algn="l" marL="155448" indent="-155448">
              <a:lnSpc>
                <a:spcPct val="100000"/>
              </a:lnSpc>
              <a:spcAft>
                <a:spcPts val="300"/>
              </a:spcAft>
              <a:buClr>
                <a:srgbClr val="8C9198"/>
              </a:buClr>
              <a:buFont typeface="Noto Sans KR"/>
              <a:buChar char="•"/>
            </a:pPr>
            <a:r>
              <a:rPr sz="1250" b="0">
                <a:solidFill>
                  <a:srgbClr val="15171A"/>
                </a:solidFill>
                <a:latin typeface="Noto Sans KR"/>
                <a:ea typeface="Noto Sans KR"/>
                <a:cs typeface="Noto Sans KR"/>
              </a:rPr>
              <a:t>인력 부족 · 인건비 · 반복 작업</a:t>
            </a:r>
          </a:p>
          <a:p>
            <a:pPr algn="l" marL="155448" indent="-155448">
              <a:lnSpc>
                <a:spcPct val="100000"/>
              </a:lnSpc>
              <a:spcAft>
                <a:spcPts val="300"/>
              </a:spcAft>
              <a:buClr>
                <a:srgbClr val="8C9198"/>
              </a:buClr>
              <a:buFont typeface="Noto Sans KR"/>
              <a:buChar char="•"/>
            </a:pPr>
            <a:r>
              <a:rPr sz="1250" b="0">
                <a:solidFill>
                  <a:srgbClr val="15171A"/>
                </a:solidFill>
                <a:latin typeface="Noto Sans KR"/>
                <a:ea typeface="Noto Sans KR"/>
                <a:cs typeface="Noto Sans KR"/>
              </a:rPr>
              <a:t>긴 가동시간 · 다메뉴 대응</a:t>
            </a:r>
          </a:p>
          <a:p>
            <a:pPr algn="l" marL="155448" indent="-155448">
              <a:lnSpc>
                <a:spcPct val="100000"/>
              </a:lnSpc>
              <a:buClr>
                <a:srgbClr val="8C9198"/>
              </a:buClr>
              <a:buFont typeface="Noto Sans KR"/>
              <a:buChar char="•"/>
            </a:pPr>
            <a:r>
              <a:rPr sz="1250" b="0">
                <a:solidFill>
                  <a:srgbClr val="15171A"/>
                </a:solidFill>
                <a:latin typeface="Noto Sans KR"/>
                <a:ea typeface="Noto Sans KR"/>
                <a:cs typeface="Noto Sans KR"/>
              </a:rPr>
              <a:t>프랜차이즈 확산 · 운영 표준화</a:t>
            </a:r>
          </a:p>
        </p:txBody>
      </p:sp>
      <p:pic>
        <p:nvPicPr>
          <p:cNvPr id="9" name="Picture 8" descr="lx_wide_light_459x229_56_50_100.jpg"/>
          <p:cNvPicPr>
            <a:picLocks noChangeAspect="1"/>
          </p:cNvPicPr>
          <p:nvPr/>
        </p:nvPicPr>
        <p:blipFill>
          <a:blip r:embed="rId3"/>
          <a:stretch>
            <a:fillRect/>
          </a:stretch>
        </p:blipFill>
        <p:spPr>
          <a:xfrm>
            <a:off x="7299655" y="2051151"/>
            <a:ext cx="4206240" cy="2103120"/>
          </a:xfrm>
          <a:prstGeom prst="rect">
            <a:avLst/>
          </a:prstGeom>
        </p:spPr>
      </p:pic>
      <p:sp>
        <p:nvSpPr>
          <p:cNvPr id="10" name="TextBox 9"/>
          <p:cNvSpPr txBox="1"/>
          <p:nvPr/>
        </p:nvSpPr>
        <p:spPr>
          <a:xfrm>
            <a:off x="7299655" y="4282287"/>
            <a:ext cx="4206240" cy="329184"/>
          </a:xfrm>
          <a:prstGeom prst="rect">
            <a:avLst/>
          </a:prstGeom>
          <a:noFill/>
        </p:spPr>
        <p:txBody>
          <a:bodyPr wrap="square" lIns="0" rIns="0" tIns="0" bIns="0" anchor="t">
            <a:spAutoFit/>
          </a:bodyPr>
          <a:lstStyle/>
          <a:p>
            <a:pPr algn="l">
              <a:lnSpc>
                <a:spcPct val="100000"/>
              </a:lnSpc>
            </a:pPr>
            <a:r>
              <a:rPr sz="1800" b="1">
                <a:solidFill>
                  <a:srgbClr val="15171A"/>
                </a:solidFill>
                <a:latin typeface="Noto Sans KR"/>
                <a:ea typeface="Noto Sans KR"/>
                <a:cs typeface="Noto Sans KR"/>
              </a:rPr>
              <a:t>가정용 주방</a:t>
            </a:r>
            <a:r>
              <a:rPr sz="1100" b="0">
                <a:solidFill>
                  <a:srgbClr val="8C9198"/>
                </a:solidFill>
                <a:latin typeface="Noto Sans KR"/>
                <a:ea typeface="Noto Sans KR"/>
                <a:cs typeface="Noto Sans KR"/>
              </a:rPr>
              <a:t>   Home Kitchen</a:t>
            </a:r>
          </a:p>
        </p:txBody>
      </p:sp>
      <p:sp>
        <p:nvSpPr>
          <p:cNvPr id="11" name="TextBox 10"/>
          <p:cNvSpPr txBox="1"/>
          <p:nvPr/>
        </p:nvSpPr>
        <p:spPr>
          <a:xfrm>
            <a:off x="7299655" y="4666335"/>
            <a:ext cx="4206240" cy="237744"/>
          </a:xfrm>
          <a:prstGeom prst="rect">
            <a:avLst/>
          </a:prstGeom>
          <a:noFill/>
        </p:spPr>
        <p:txBody>
          <a:bodyPr wrap="square" lIns="0" rIns="0" tIns="0" bIns="0" anchor="t">
            <a:spAutoFit/>
          </a:bodyPr>
          <a:lstStyle/>
          <a:p>
            <a:pPr algn="l">
              <a:lnSpc>
                <a:spcPct val="100000"/>
              </a:lnSpc>
            </a:pPr>
            <a:r>
              <a:rPr sz="1100" b="0">
                <a:solidFill>
                  <a:srgbClr val="4A4F57"/>
                </a:solidFill>
                <a:latin typeface="Noto Sans KR"/>
                <a:ea typeface="Noto Sans KR"/>
                <a:cs typeface="Noto Sans KR"/>
              </a:rPr>
              <a:t>조리 · 식사 준비 · 재료 손질 · 가전 조작 · 수납 · 식기 정리</a:t>
            </a:r>
          </a:p>
        </p:txBody>
      </p:sp>
      <p:sp>
        <p:nvSpPr>
          <p:cNvPr id="12" name="TextBox 11"/>
          <p:cNvSpPr txBox="1"/>
          <p:nvPr/>
        </p:nvSpPr>
        <p:spPr>
          <a:xfrm>
            <a:off x="7299655" y="4995519"/>
            <a:ext cx="4206240" cy="777240"/>
          </a:xfrm>
          <a:prstGeom prst="rect">
            <a:avLst/>
          </a:prstGeom>
          <a:noFill/>
        </p:spPr>
        <p:txBody>
          <a:bodyPr wrap="square" lIns="0" rIns="0" tIns="0" bIns="0" anchor="t">
            <a:spAutoFit/>
          </a:bodyPr>
          <a:lstStyle/>
          <a:p>
            <a:pPr algn="l" marL="155448" indent="-155448">
              <a:lnSpc>
                <a:spcPct val="100000"/>
              </a:lnSpc>
              <a:spcAft>
                <a:spcPts val="300"/>
              </a:spcAft>
              <a:buClr>
                <a:srgbClr val="8C9198"/>
              </a:buClr>
              <a:buFont typeface="Noto Sans KR"/>
              <a:buChar char="•"/>
            </a:pPr>
            <a:r>
              <a:rPr sz="1250" b="0">
                <a:solidFill>
                  <a:srgbClr val="15171A"/>
                </a:solidFill>
                <a:latin typeface="Noto Sans KR"/>
                <a:ea typeface="Noto Sans KR"/>
                <a:cs typeface="Noto Sans KR"/>
              </a:rPr>
              <a:t>다양한 메뉴 · 물체 · 도구</a:t>
            </a:r>
          </a:p>
          <a:p>
            <a:pPr algn="l" marL="155448" indent="-155448">
              <a:lnSpc>
                <a:spcPct val="100000"/>
              </a:lnSpc>
              <a:spcAft>
                <a:spcPts val="300"/>
              </a:spcAft>
              <a:buClr>
                <a:srgbClr val="8C9198"/>
              </a:buClr>
              <a:buFont typeface="Noto Sans KR"/>
              <a:buChar char="•"/>
            </a:pPr>
            <a:r>
              <a:rPr sz="1250" b="0">
                <a:solidFill>
                  <a:srgbClr val="15171A"/>
                </a:solidFill>
                <a:latin typeface="Noto Sans KR"/>
                <a:ea typeface="Noto Sans KR"/>
                <a:cs typeface="Noto Sans KR"/>
              </a:rPr>
              <a:t>기존 가전 · 냉장고 · 수납 사용</a:t>
            </a:r>
          </a:p>
          <a:p>
            <a:pPr algn="l" marL="155448" indent="-155448">
              <a:lnSpc>
                <a:spcPct val="100000"/>
              </a:lnSpc>
              <a:buClr>
                <a:srgbClr val="8C9198"/>
              </a:buClr>
              <a:buFont typeface="Noto Sans KR"/>
              <a:buChar char="•"/>
            </a:pPr>
            <a:r>
              <a:rPr sz="1250" b="0">
                <a:solidFill>
                  <a:srgbClr val="15171A"/>
                </a:solidFill>
                <a:latin typeface="Noto Sans KR"/>
                <a:ea typeface="Noto Sans KR"/>
                <a:cs typeface="Noto Sans KR"/>
              </a:rPr>
              <a:t>가사 부담 감소 · 가정용 로봇과 결합</a:t>
            </a:r>
          </a:p>
        </p:txBody>
      </p:sp>
      <p:sp>
        <p:nvSpPr>
          <p:cNvPr id="13" name="TextBox 12"/>
          <p:cNvSpPr txBox="1"/>
          <p:nvPr/>
        </p:nvSpPr>
        <p:spPr>
          <a:xfrm>
            <a:off x="5212079" y="2051151"/>
            <a:ext cx="1767535" cy="256032"/>
          </a:xfrm>
          <a:prstGeom prst="rect">
            <a:avLst/>
          </a:prstGeom>
          <a:noFill/>
        </p:spPr>
        <p:txBody>
          <a:bodyPr wrap="square" lIns="0" rIns="0" tIns="0" bIns="0" anchor="t">
            <a:spAutoFit/>
          </a:bodyPr>
          <a:lstStyle/>
          <a:p>
            <a:pPr algn="ctr">
              <a:lnSpc>
                <a:spcPct val="100000"/>
              </a:lnSpc>
            </a:pPr>
            <a:r>
              <a:rPr sz="1200" b="1">
                <a:solidFill>
                  <a:srgbClr val="E2571B"/>
                </a:solidFill>
                <a:latin typeface="Noto Sans KR"/>
                <a:ea typeface="Noto Sans KR"/>
                <a:cs typeface="Noto Sans KR"/>
              </a:rPr>
              <a:t>공통 조작 Skill</a:t>
            </a:r>
          </a:p>
        </p:txBody>
      </p:sp>
      <p:sp>
        <p:nvSpPr>
          <p:cNvPr id="14" name="TextBox 13"/>
          <p:cNvSpPr txBox="1"/>
          <p:nvPr/>
        </p:nvSpPr>
        <p:spPr>
          <a:xfrm>
            <a:off x="5212079" y="2416911"/>
            <a:ext cx="1767535" cy="274320"/>
          </a:xfrm>
          <a:prstGeom prst="rect">
            <a:avLst/>
          </a:prstGeom>
          <a:noFill/>
        </p:spPr>
        <p:txBody>
          <a:bodyPr wrap="square" lIns="0" rIns="0" tIns="0" bIns="0" anchor="t">
            <a:spAutoFit/>
          </a:bodyPr>
          <a:lstStyle/>
          <a:p>
            <a:pPr algn="ctr">
              <a:lnSpc>
                <a:spcPct val="100000"/>
              </a:lnSpc>
            </a:pPr>
            <a:r>
              <a:rPr sz="1350" b="1">
                <a:solidFill>
                  <a:srgbClr val="15171A"/>
                </a:solidFill>
                <a:latin typeface="Noto Sans KR"/>
                <a:ea typeface="Noto Sans KR"/>
                <a:cs typeface="Noto Sans KR"/>
              </a:rPr>
              <a:t>집기</a:t>
            </a:r>
            <a:r>
              <a:rPr sz="1050" b="0">
                <a:solidFill>
                  <a:srgbClr val="8C9198"/>
                </a:solidFill>
                <a:latin typeface="Noto Sans KR"/>
                <a:ea typeface="Noto Sans KR"/>
                <a:cs typeface="Noto Sans KR"/>
              </a:rPr>
              <a:t>  Pick</a:t>
            </a:r>
          </a:p>
        </p:txBody>
      </p:sp>
      <p:sp>
        <p:nvSpPr>
          <p:cNvPr id="15" name="TextBox 14"/>
          <p:cNvSpPr txBox="1"/>
          <p:nvPr/>
        </p:nvSpPr>
        <p:spPr>
          <a:xfrm>
            <a:off x="5212079" y="2732379"/>
            <a:ext cx="1767535" cy="274320"/>
          </a:xfrm>
          <a:prstGeom prst="rect">
            <a:avLst/>
          </a:prstGeom>
          <a:noFill/>
        </p:spPr>
        <p:txBody>
          <a:bodyPr wrap="square" lIns="0" rIns="0" tIns="0" bIns="0" anchor="t">
            <a:spAutoFit/>
          </a:bodyPr>
          <a:lstStyle/>
          <a:p>
            <a:pPr algn="ctr">
              <a:lnSpc>
                <a:spcPct val="100000"/>
              </a:lnSpc>
            </a:pPr>
            <a:r>
              <a:rPr sz="1350" b="1">
                <a:solidFill>
                  <a:srgbClr val="15171A"/>
                </a:solidFill>
                <a:latin typeface="Noto Sans KR"/>
                <a:ea typeface="Noto Sans KR"/>
                <a:cs typeface="Noto Sans KR"/>
              </a:rPr>
              <a:t>열기</a:t>
            </a:r>
            <a:r>
              <a:rPr sz="1050" b="0">
                <a:solidFill>
                  <a:srgbClr val="8C9198"/>
                </a:solidFill>
                <a:latin typeface="Noto Sans KR"/>
                <a:ea typeface="Noto Sans KR"/>
                <a:cs typeface="Noto Sans KR"/>
              </a:rPr>
              <a:t>  Open</a:t>
            </a:r>
          </a:p>
        </p:txBody>
      </p:sp>
      <p:sp>
        <p:nvSpPr>
          <p:cNvPr id="16" name="TextBox 15"/>
          <p:cNvSpPr txBox="1"/>
          <p:nvPr/>
        </p:nvSpPr>
        <p:spPr>
          <a:xfrm>
            <a:off x="5212079" y="3047847"/>
            <a:ext cx="1767535" cy="274320"/>
          </a:xfrm>
          <a:prstGeom prst="rect">
            <a:avLst/>
          </a:prstGeom>
          <a:noFill/>
        </p:spPr>
        <p:txBody>
          <a:bodyPr wrap="square" lIns="0" rIns="0" tIns="0" bIns="0" anchor="t">
            <a:spAutoFit/>
          </a:bodyPr>
          <a:lstStyle/>
          <a:p>
            <a:pPr algn="ctr">
              <a:lnSpc>
                <a:spcPct val="100000"/>
              </a:lnSpc>
            </a:pPr>
            <a:r>
              <a:rPr sz="1350" b="1">
                <a:solidFill>
                  <a:srgbClr val="15171A"/>
                </a:solidFill>
                <a:latin typeface="Noto Sans KR"/>
                <a:ea typeface="Noto Sans KR"/>
                <a:cs typeface="Noto Sans KR"/>
              </a:rPr>
              <a:t>붓기</a:t>
            </a:r>
            <a:r>
              <a:rPr sz="1050" b="0">
                <a:solidFill>
                  <a:srgbClr val="8C9198"/>
                </a:solidFill>
                <a:latin typeface="Noto Sans KR"/>
                <a:ea typeface="Noto Sans KR"/>
                <a:cs typeface="Noto Sans KR"/>
              </a:rPr>
              <a:t>  Pour</a:t>
            </a:r>
          </a:p>
        </p:txBody>
      </p:sp>
      <p:sp>
        <p:nvSpPr>
          <p:cNvPr id="17" name="TextBox 16"/>
          <p:cNvSpPr txBox="1"/>
          <p:nvPr/>
        </p:nvSpPr>
        <p:spPr>
          <a:xfrm>
            <a:off x="5212079" y="3363315"/>
            <a:ext cx="1767535" cy="274320"/>
          </a:xfrm>
          <a:prstGeom prst="rect">
            <a:avLst/>
          </a:prstGeom>
          <a:noFill/>
        </p:spPr>
        <p:txBody>
          <a:bodyPr wrap="square" lIns="0" rIns="0" tIns="0" bIns="0" anchor="t">
            <a:spAutoFit/>
          </a:bodyPr>
          <a:lstStyle/>
          <a:p>
            <a:pPr algn="ctr">
              <a:lnSpc>
                <a:spcPct val="100000"/>
              </a:lnSpc>
            </a:pPr>
            <a:r>
              <a:rPr sz="1350" b="1">
                <a:solidFill>
                  <a:srgbClr val="15171A"/>
                </a:solidFill>
                <a:latin typeface="Noto Sans KR"/>
                <a:ea typeface="Noto Sans KR"/>
                <a:cs typeface="Noto Sans KR"/>
              </a:rPr>
              <a:t>젓기</a:t>
            </a:r>
            <a:r>
              <a:rPr sz="1050" b="0">
                <a:solidFill>
                  <a:srgbClr val="8C9198"/>
                </a:solidFill>
                <a:latin typeface="Noto Sans KR"/>
                <a:ea typeface="Noto Sans KR"/>
                <a:cs typeface="Noto Sans KR"/>
              </a:rPr>
              <a:t>  Stir</a:t>
            </a:r>
          </a:p>
        </p:txBody>
      </p:sp>
      <p:sp>
        <p:nvSpPr>
          <p:cNvPr id="18" name="TextBox 17"/>
          <p:cNvSpPr txBox="1"/>
          <p:nvPr/>
        </p:nvSpPr>
        <p:spPr>
          <a:xfrm>
            <a:off x="5212079" y="3678783"/>
            <a:ext cx="1767535" cy="274320"/>
          </a:xfrm>
          <a:prstGeom prst="rect">
            <a:avLst/>
          </a:prstGeom>
          <a:noFill/>
        </p:spPr>
        <p:txBody>
          <a:bodyPr wrap="square" lIns="0" rIns="0" tIns="0" bIns="0" anchor="t">
            <a:spAutoFit/>
          </a:bodyPr>
          <a:lstStyle/>
          <a:p>
            <a:pPr algn="ctr">
              <a:lnSpc>
                <a:spcPct val="100000"/>
              </a:lnSpc>
            </a:pPr>
            <a:r>
              <a:rPr sz="1350" b="1">
                <a:solidFill>
                  <a:srgbClr val="15171A"/>
                </a:solidFill>
                <a:latin typeface="Noto Sans KR"/>
                <a:ea typeface="Noto Sans KR"/>
                <a:cs typeface="Noto Sans KR"/>
              </a:rPr>
              <a:t>뒤집기</a:t>
            </a:r>
            <a:r>
              <a:rPr sz="1050" b="0">
                <a:solidFill>
                  <a:srgbClr val="8C9198"/>
                </a:solidFill>
                <a:latin typeface="Noto Sans KR"/>
                <a:ea typeface="Noto Sans KR"/>
                <a:cs typeface="Noto Sans KR"/>
              </a:rPr>
              <a:t>  Flip</a:t>
            </a:r>
          </a:p>
        </p:txBody>
      </p:sp>
      <p:sp>
        <p:nvSpPr>
          <p:cNvPr id="19" name="TextBox 18"/>
          <p:cNvSpPr txBox="1"/>
          <p:nvPr/>
        </p:nvSpPr>
        <p:spPr>
          <a:xfrm>
            <a:off x="5212079" y="3994251"/>
            <a:ext cx="1767535" cy="274320"/>
          </a:xfrm>
          <a:prstGeom prst="rect">
            <a:avLst/>
          </a:prstGeom>
          <a:noFill/>
        </p:spPr>
        <p:txBody>
          <a:bodyPr wrap="square" lIns="0" rIns="0" tIns="0" bIns="0" anchor="t">
            <a:spAutoFit/>
          </a:bodyPr>
          <a:lstStyle/>
          <a:p>
            <a:pPr algn="ctr">
              <a:lnSpc>
                <a:spcPct val="100000"/>
              </a:lnSpc>
            </a:pPr>
            <a:r>
              <a:rPr sz="1350" b="1">
                <a:solidFill>
                  <a:srgbClr val="15171A"/>
                </a:solidFill>
                <a:latin typeface="Noto Sans KR"/>
                <a:ea typeface="Noto Sans KR"/>
                <a:cs typeface="Noto Sans KR"/>
              </a:rPr>
              <a:t>돌리기</a:t>
            </a:r>
            <a:r>
              <a:rPr sz="1050" b="0">
                <a:solidFill>
                  <a:srgbClr val="8C9198"/>
                </a:solidFill>
                <a:latin typeface="Noto Sans KR"/>
                <a:ea typeface="Noto Sans KR"/>
                <a:cs typeface="Noto Sans KR"/>
              </a:rPr>
              <a:t>  Turn</a:t>
            </a:r>
          </a:p>
        </p:txBody>
      </p:sp>
      <p:sp>
        <p:nvSpPr>
          <p:cNvPr id="20" name="TextBox 19"/>
          <p:cNvSpPr txBox="1"/>
          <p:nvPr/>
        </p:nvSpPr>
        <p:spPr>
          <a:xfrm>
            <a:off x="5212079" y="4309719"/>
            <a:ext cx="1767535" cy="274320"/>
          </a:xfrm>
          <a:prstGeom prst="rect">
            <a:avLst/>
          </a:prstGeom>
          <a:noFill/>
        </p:spPr>
        <p:txBody>
          <a:bodyPr wrap="square" lIns="0" rIns="0" tIns="0" bIns="0" anchor="t">
            <a:spAutoFit/>
          </a:bodyPr>
          <a:lstStyle/>
          <a:p>
            <a:pPr algn="ctr">
              <a:lnSpc>
                <a:spcPct val="100000"/>
              </a:lnSpc>
            </a:pPr>
            <a:r>
              <a:rPr sz="1350" b="1">
                <a:solidFill>
                  <a:srgbClr val="15171A"/>
                </a:solidFill>
                <a:latin typeface="Noto Sans KR"/>
                <a:ea typeface="Noto Sans KR"/>
                <a:cs typeface="Noto Sans KR"/>
              </a:rPr>
              <a:t>누르기</a:t>
            </a:r>
            <a:r>
              <a:rPr sz="1050" b="0">
                <a:solidFill>
                  <a:srgbClr val="8C9198"/>
                </a:solidFill>
                <a:latin typeface="Noto Sans KR"/>
                <a:ea typeface="Noto Sans KR"/>
                <a:cs typeface="Noto Sans KR"/>
              </a:rPr>
              <a:t>  Press</a:t>
            </a:r>
          </a:p>
        </p:txBody>
      </p:sp>
      <p:sp>
        <p:nvSpPr>
          <p:cNvPr id="21" name="TextBox 20"/>
          <p:cNvSpPr txBox="1"/>
          <p:nvPr/>
        </p:nvSpPr>
        <p:spPr>
          <a:xfrm>
            <a:off x="5212079" y="4625187"/>
            <a:ext cx="1767535" cy="274320"/>
          </a:xfrm>
          <a:prstGeom prst="rect">
            <a:avLst/>
          </a:prstGeom>
          <a:noFill/>
        </p:spPr>
        <p:txBody>
          <a:bodyPr wrap="square" lIns="0" rIns="0" tIns="0" bIns="0" anchor="t">
            <a:spAutoFit/>
          </a:bodyPr>
          <a:lstStyle/>
          <a:p>
            <a:pPr algn="ctr">
              <a:lnSpc>
                <a:spcPct val="100000"/>
              </a:lnSpc>
            </a:pPr>
            <a:r>
              <a:rPr sz="1350" b="1">
                <a:solidFill>
                  <a:srgbClr val="15171A"/>
                </a:solidFill>
                <a:latin typeface="Noto Sans KR"/>
                <a:ea typeface="Noto Sans KR"/>
                <a:cs typeface="Noto Sans KR"/>
              </a:rPr>
              <a:t>썰기</a:t>
            </a:r>
            <a:r>
              <a:rPr sz="1050" b="0">
                <a:solidFill>
                  <a:srgbClr val="8C9198"/>
                </a:solidFill>
                <a:latin typeface="Noto Sans KR"/>
                <a:ea typeface="Noto Sans KR"/>
                <a:cs typeface="Noto Sans KR"/>
              </a:rPr>
              <a:t>  Cut</a:t>
            </a:r>
          </a:p>
        </p:txBody>
      </p:sp>
      <p:sp>
        <p:nvSpPr>
          <p:cNvPr id="22" name="TextBox 21"/>
          <p:cNvSpPr txBox="1"/>
          <p:nvPr/>
        </p:nvSpPr>
        <p:spPr>
          <a:xfrm>
            <a:off x="5212079" y="4940655"/>
            <a:ext cx="1767535" cy="274320"/>
          </a:xfrm>
          <a:prstGeom prst="rect">
            <a:avLst/>
          </a:prstGeom>
          <a:noFill/>
        </p:spPr>
        <p:txBody>
          <a:bodyPr wrap="square" lIns="0" rIns="0" tIns="0" bIns="0" anchor="t">
            <a:spAutoFit/>
          </a:bodyPr>
          <a:lstStyle/>
          <a:p>
            <a:pPr algn="ctr">
              <a:lnSpc>
                <a:spcPct val="100000"/>
              </a:lnSpc>
            </a:pPr>
            <a:r>
              <a:rPr sz="1350" b="1">
                <a:solidFill>
                  <a:srgbClr val="15171A"/>
                </a:solidFill>
                <a:latin typeface="Noto Sans KR"/>
                <a:ea typeface="Noto Sans KR"/>
                <a:cs typeface="Noto Sans KR"/>
              </a:rPr>
              <a:t>옮기기</a:t>
            </a:r>
            <a:r>
              <a:rPr sz="1050" b="0">
                <a:solidFill>
                  <a:srgbClr val="8C9198"/>
                </a:solidFill>
                <a:latin typeface="Noto Sans KR"/>
                <a:ea typeface="Noto Sans KR"/>
                <a:cs typeface="Noto Sans KR"/>
              </a:rPr>
              <a:t>  Move</a:t>
            </a:r>
          </a:p>
        </p:txBody>
      </p:sp>
      <p:sp>
        <p:nvSpPr>
          <p:cNvPr id="23" name="TextBox 22"/>
          <p:cNvSpPr txBox="1"/>
          <p:nvPr/>
        </p:nvSpPr>
        <p:spPr>
          <a:xfrm>
            <a:off x="5212079" y="5256123"/>
            <a:ext cx="1767535" cy="274320"/>
          </a:xfrm>
          <a:prstGeom prst="rect">
            <a:avLst/>
          </a:prstGeom>
          <a:noFill/>
        </p:spPr>
        <p:txBody>
          <a:bodyPr wrap="square" lIns="0" rIns="0" tIns="0" bIns="0" anchor="t">
            <a:spAutoFit/>
          </a:bodyPr>
          <a:lstStyle/>
          <a:p>
            <a:pPr algn="ctr">
              <a:lnSpc>
                <a:spcPct val="100000"/>
              </a:lnSpc>
            </a:pPr>
            <a:r>
              <a:rPr sz="1350" b="1">
                <a:solidFill>
                  <a:srgbClr val="15171A"/>
                </a:solidFill>
                <a:latin typeface="Noto Sans KR"/>
                <a:ea typeface="Noto Sans KR"/>
                <a:cs typeface="Noto Sans KR"/>
              </a:rPr>
              <a:t>담기</a:t>
            </a:r>
            <a:r>
              <a:rPr sz="1050" b="0">
                <a:solidFill>
                  <a:srgbClr val="8C9198"/>
                </a:solidFill>
                <a:latin typeface="Noto Sans KR"/>
                <a:ea typeface="Noto Sans KR"/>
                <a:cs typeface="Noto Sans KR"/>
              </a:rPr>
              <a:t>  Plate</a:t>
            </a:r>
          </a:p>
        </p:txBody>
      </p:sp>
      <p:cxnSp>
        <p:nvCxnSpPr>
          <p:cNvPr id="24" name="Connector 23"/>
          <p:cNvCxnSpPr/>
          <p:nvPr/>
        </p:nvCxnSpPr>
        <p:spPr>
          <a:xfrm flipH="1">
            <a:off x="4946903" y="3102711"/>
            <a:ext cx="283464" cy="0"/>
          </a:xfrm>
          <a:prstGeom prst="line">
            <a:avLst/>
          </a:prstGeom>
          <a:ln w="19050">
            <a:solidFill>
              <a:srgbClr val="E2571B"/>
            </a:solidFill>
            <a:tailEnd type="triangle" w="med" len="med"/>
          </a:ln>
        </p:spPr>
      </p:cxnSp>
      <p:cxnSp>
        <p:nvCxnSpPr>
          <p:cNvPr id="25" name="Connector 24"/>
          <p:cNvCxnSpPr/>
          <p:nvPr/>
        </p:nvCxnSpPr>
        <p:spPr>
          <a:xfrm>
            <a:off x="6961327" y="3102711"/>
            <a:ext cx="283464" cy="0"/>
          </a:xfrm>
          <a:prstGeom prst="line">
            <a:avLst/>
          </a:prstGeom>
          <a:ln w="19050">
            <a:solidFill>
              <a:srgbClr val="E2571B"/>
            </a:solidFill>
            <a:tailEnd type="triangle" w="med" len="med"/>
          </a:ln>
        </p:spPr>
      </p:cxnSp>
      <p:sp>
        <p:nvSpPr>
          <p:cNvPr id="26" name="Rectangle 25"/>
          <p:cNvSpPr/>
          <p:nvPr/>
        </p:nvSpPr>
        <p:spPr>
          <a:xfrm>
            <a:off x="685800" y="5742432"/>
            <a:ext cx="10820095" cy="566928"/>
          </a:xfrm>
          <a:prstGeom prst="rect">
            <a:avLst/>
          </a:prstGeom>
          <a:solidFill>
            <a:srgbClr val="F4F5F6"/>
          </a:solidFill>
          <a:ln>
            <a:noFill/>
          </a:ln>
        </p:spPr>
        <p:txBody>
          <a:bodyPr rtlCol="0" anchor="ctr"/>
          <a:lstStyle/>
          <a:p>
            <a:pPr algn="ctr"/>
          </a:p>
        </p:txBody>
      </p:sp>
      <p:sp>
        <p:nvSpPr>
          <p:cNvPr id="27" name="TextBox 26"/>
          <p:cNvSpPr txBox="1"/>
          <p:nvPr/>
        </p:nvSpPr>
        <p:spPr>
          <a:xfrm>
            <a:off x="886968" y="5742432"/>
            <a:ext cx="10417759" cy="566928"/>
          </a:xfrm>
          <a:prstGeom prst="rect">
            <a:avLst/>
          </a:prstGeom>
          <a:noFill/>
        </p:spPr>
        <p:txBody>
          <a:bodyPr wrap="square" lIns="0" rIns="0" tIns="0" bIns="0" anchor="ctr">
            <a:spAutoFit/>
          </a:bodyPr>
          <a:lstStyle/>
          <a:p>
            <a:pPr algn="l">
              <a:lnSpc>
                <a:spcPct val="100000"/>
              </a:lnSpc>
              <a:spcAft>
                <a:spcPts val="200"/>
              </a:spcAft>
            </a:pPr>
            <a:r>
              <a:rPr sz="1100" b="1">
                <a:solidFill>
                  <a:srgbClr val="E2571B"/>
                </a:solidFill>
                <a:latin typeface="Noto Sans KR"/>
                <a:ea typeface="Noto Sans KR"/>
                <a:cs typeface="Noto Sans KR"/>
              </a:rPr>
              <a:t>Seed 첫 실행 (검증 대상)   </a:t>
            </a:r>
            <a:r>
              <a:rPr sz="1100" b="0">
                <a:solidFill>
                  <a:srgbClr val="15171A"/>
                </a:solidFill>
                <a:latin typeface="Noto Sans KR"/>
                <a:ea typeface="Noto Sans KR"/>
                <a:cs typeface="Noto Sans KR"/>
              </a:rPr>
              <a:t>두 시장 공통 작업 중 집게·팬·용기·노브·버튼·문 반복 작업부터  ·  상업용 주방 유료 PoC + 가정용 주방 환경 벤치 검증</a:t>
            </a:r>
          </a:p>
          <a:p>
            <a:pPr algn="l">
              <a:lnSpc>
                <a:spcPct val="100000"/>
              </a:lnSpc>
            </a:pPr>
            <a:r>
              <a:rPr sz="1100" b="1">
                <a:solidFill>
                  <a:srgbClr val="15171A"/>
                </a:solidFill>
                <a:latin typeface="Noto Sans KR"/>
                <a:ea typeface="Noto Sans KR"/>
                <a:cs typeface="Noto Sans KR"/>
              </a:rPr>
              <a:t>PoC 대상 고객군 (가설)   </a:t>
            </a:r>
            <a:r>
              <a:rPr sz="1100" b="0">
                <a:solidFill>
                  <a:srgbClr val="15171A"/>
                </a:solidFill>
                <a:latin typeface="Noto Sans KR"/>
                <a:ea typeface="Noto Sans KR"/>
                <a:cs typeface="Noto Sans KR"/>
              </a:rPr>
              <a:t>다메뉴 조리 라인을 운영하는 외식·급식·센트럴키친, 창업 후 90일 내 고객 인터뷰 30곳으로 검증</a:t>
            </a:r>
          </a:p>
        </p:txBody>
      </p:sp>
      <p:sp>
        <p:nvSpPr>
          <p:cNvPr id="28" name="TextBox 27"/>
          <p:cNvSpPr txBox="1"/>
          <p:nvPr/>
        </p:nvSpPr>
        <p:spPr>
          <a:xfrm>
            <a:off x="685800" y="6446520"/>
            <a:ext cx="5486400" cy="201168"/>
          </a:xfrm>
          <a:prstGeom prst="rect">
            <a:avLst/>
          </a:prstGeom>
          <a:noFill/>
        </p:spPr>
        <p:txBody>
          <a:bodyPr wrap="square" lIns="0" rIns="0" tIns="0" bIns="0" anchor="t">
            <a:spAutoFit/>
          </a:bodyPr>
          <a:lstStyle/>
          <a:p>
            <a:pPr algn="l">
              <a:lnSpc>
                <a:spcPct val="100000"/>
              </a:lnSpc>
            </a:pPr>
            <a:r>
              <a:rPr sz="900" b="0">
                <a:solidFill>
                  <a:srgbClr val="8C9198"/>
                </a:solidFill>
                <a:latin typeface="Noto Sans KR"/>
                <a:ea typeface="Noto Sans KR"/>
                <a:cs typeface="Noto Sans KR"/>
              </a:rPr>
              <a:t>SoftHand  |  주방 로봇 조작 플랫폼  |  Seed 투자 제안서</a:t>
            </a:r>
          </a:p>
        </p:txBody>
      </p:sp>
      <p:sp>
        <p:nvSpPr>
          <p:cNvPr id="29" name="TextBox 28"/>
          <p:cNvSpPr txBox="1"/>
          <p:nvPr/>
        </p:nvSpPr>
        <p:spPr>
          <a:xfrm>
            <a:off x="3154680" y="6446520"/>
            <a:ext cx="7802575" cy="201168"/>
          </a:xfrm>
          <a:prstGeom prst="rect">
            <a:avLst/>
          </a:prstGeom>
          <a:noFill/>
        </p:spPr>
        <p:txBody>
          <a:bodyPr wrap="square" lIns="0" rIns="0" tIns="0" bIns="0" anchor="t">
            <a:spAutoFit/>
          </a:bodyPr>
          <a:lstStyle/>
          <a:p>
            <a:pPr algn="r">
              <a:lnSpc>
                <a:spcPct val="100000"/>
              </a:lnSpc>
            </a:pPr>
            <a:r>
              <a:rPr sz="900" b="0">
                <a:solidFill>
                  <a:srgbClr val="8C9198"/>
                </a:solidFill>
                <a:latin typeface="Noto Sans KR"/>
                <a:ea typeface="Noto Sans KR"/>
                <a:cs typeface="Noto Sans KR"/>
              </a:rPr>
              <a:t>조리·식당 서비스 인력 부족률, 코로나 이전 대비 약 2배 (2023, 부록 A8) · 콘셉트 렌더링</a:t>
            </a:r>
          </a:p>
        </p:txBody>
      </p:sp>
      <p:sp>
        <p:nvSpPr>
          <p:cNvPr id="30" name="TextBox 29"/>
          <p:cNvSpPr txBox="1"/>
          <p:nvPr/>
        </p:nvSpPr>
        <p:spPr>
          <a:xfrm>
            <a:off x="11048695" y="6446520"/>
            <a:ext cx="457200" cy="201168"/>
          </a:xfrm>
          <a:prstGeom prst="rect">
            <a:avLst/>
          </a:prstGeom>
          <a:noFill/>
        </p:spPr>
        <p:txBody>
          <a:bodyPr wrap="square" lIns="0" rIns="0" tIns="0" bIns="0" anchor="t">
            <a:spAutoFit/>
          </a:bodyPr>
          <a:lstStyle/>
          <a:p>
            <a:pPr algn="r">
              <a:lnSpc>
                <a:spcPct val="100000"/>
              </a:lnSpc>
            </a:pPr>
            <a:r>
              <a:rPr sz="900" b="0">
                <a:solidFill>
                  <a:srgbClr val="8C9198"/>
                </a:solidFill>
                <a:latin typeface="Noto Sans KR"/>
                <a:ea typeface="Noto Sans KR"/>
                <a:cs typeface="Noto Sans KR"/>
              </a:rPr>
              <a:t>07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548640"/>
            <a:ext cx="7315200" cy="274320"/>
          </a:xfrm>
          <a:prstGeom prst="rect">
            <a:avLst/>
          </a:prstGeom>
          <a:noFill/>
        </p:spPr>
        <p:txBody>
          <a:bodyPr wrap="square" lIns="0" rIns="0" tIns="0" bIns="0" anchor="t">
            <a:spAutoFit/>
          </a:bodyPr>
          <a:lstStyle/>
          <a:p>
            <a:pPr algn="l">
              <a:lnSpc>
                <a:spcPct val="100000"/>
              </a:lnSpc>
            </a:pPr>
            <a:r>
              <a:rPr sz="1200" b="1">
                <a:solidFill>
                  <a:srgbClr val="E2571B"/>
                </a:solidFill>
                <a:latin typeface="Noto Sans KR"/>
                <a:ea typeface="Noto Sans KR"/>
                <a:cs typeface="Noto Sans KR"/>
              </a:rPr>
              <a:t>CUSTOMER VALUE</a:t>
            </a:r>
          </a:p>
        </p:txBody>
      </p:sp>
      <p:sp>
        <p:nvSpPr>
          <p:cNvPr id="3" name="TextBox 2"/>
          <p:cNvSpPr txBox="1"/>
          <p:nvPr/>
        </p:nvSpPr>
        <p:spPr>
          <a:xfrm>
            <a:off x="685800" y="932688"/>
            <a:ext cx="10820095" cy="542391"/>
          </a:xfrm>
          <a:prstGeom prst="rect">
            <a:avLst/>
          </a:prstGeom>
          <a:noFill/>
        </p:spPr>
        <p:txBody>
          <a:bodyPr wrap="square" lIns="0" rIns="0" tIns="0" bIns="0" anchor="t">
            <a:spAutoFit/>
          </a:bodyPr>
          <a:lstStyle/>
          <a:p>
            <a:pPr algn="l">
              <a:lnSpc>
                <a:spcPct val="95000"/>
              </a:lnSpc>
            </a:pPr>
            <a:r>
              <a:rPr sz="3000" b="1">
                <a:solidFill>
                  <a:srgbClr val="15171A"/>
                </a:solidFill>
                <a:latin typeface="Noto Sans KR"/>
                <a:ea typeface="Noto Sans KR"/>
                <a:cs typeface="Noto Sans KR"/>
              </a:rPr>
              <a:t>메뉴가 바뀌어도 다시 만들지 않는 자동화</a:t>
            </a:r>
          </a:p>
        </p:txBody>
      </p:sp>
      <p:sp>
        <p:nvSpPr>
          <p:cNvPr id="4" name="TextBox 3"/>
          <p:cNvSpPr txBox="1"/>
          <p:nvPr/>
        </p:nvSpPr>
        <p:spPr>
          <a:xfrm>
            <a:off x="685800" y="1584807"/>
            <a:ext cx="10820095" cy="329184"/>
          </a:xfrm>
          <a:prstGeom prst="rect">
            <a:avLst/>
          </a:prstGeom>
          <a:noFill/>
        </p:spPr>
        <p:txBody>
          <a:bodyPr wrap="square" lIns="0" rIns="0" tIns="0" bIns="0" anchor="t">
            <a:spAutoFit/>
          </a:bodyPr>
          <a:lstStyle/>
          <a:p>
            <a:pPr algn="l">
              <a:lnSpc>
                <a:spcPct val="100000"/>
              </a:lnSpc>
            </a:pPr>
            <a:r>
              <a:rPr sz="1600" b="0">
                <a:solidFill>
                  <a:srgbClr val="4A4F57"/>
                </a:solidFill>
                <a:latin typeface="Noto Sans KR"/>
                <a:ea typeface="Noto Sans KR"/>
                <a:cs typeface="Noto Sans KR"/>
              </a:rPr>
              <a:t>고객의 비교 기준: 핸드 가격이 아닌, 메뉴·작업이 바뀔 때마다 드는 하드웨어·주방 개조·통합 비용</a:t>
            </a:r>
          </a:p>
        </p:txBody>
      </p:sp>
      <p:sp>
        <p:nvSpPr>
          <p:cNvPr id="5" name="TextBox 4"/>
          <p:cNvSpPr txBox="1"/>
          <p:nvPr/>
        </p:nvSpPr>
        <p:spPr>
          <a:xfrm>
            <a:off x="685800" y="2206599"/>
            <a:ext cx="1417320" cy="603504"/>
          </a:xfrm>
          <a:prstGeom prst="rect">
            <a:avLst/>
          </a:prstGeom>
          <a:noFill/>
        </p:spPr>
        <p:txBody>
          <a:bodyPr wrap="square" lIns="0" rIns="0" tIns="0" bIns="0" anchor="ctr">
            <a:spAutoFit/>
          </a:bodyPr>
          <a:lstStyle/>
          <a:p>
            <a:pPr algn="l">
              <a:lnSpc>
                <a:spcPct val="100000"/>
              </a:lnSpc>
            </a:pPr>
            <a:r>
              <a:rPr sz="1600" b="1">
                <a:solidFill>
                  <a:srgbClr val="15171A"/>
                </a:solidFill>
                <a:latin typeface="Noto Sans KR"/>
                <a:ea typeface="Noto Sans KR"/>
                <a:cs typeface="Noto Sans KR"/>
              </a:rPr>
              <a:t>기존 방식</a:t>
            </a:r>
          </a:p>
        </p:txBody>
      </p:sp>
      <p:sp>
        <p:nvSpPr>
          <p:cNvPr id="6" name="Rectangle 5"/>
          <p:cNvSpPr/>
          <p:nvPr/>
        </p:nvSpPr>
        <p:spPr>
          <a:xfrm>
            <a:off x="2103120" y="2206599"/>
            <a:ext cx="1338529" cy="603504"/>
          </a:xfrm>
          <a:prstGeom prst="rect">
            <a:avLst/>
          </a:prstGeom>
          <a:solidFill>
            <a:srgbClr val="F4F5F6"/>
          </a:solidFill>
          <a:ln>
            <a:noFill/>
          </a:ln>
        </p:spPr>
        <p:txBody>
          <a:bodyPr rtlCol="0" anchor="ctr"/>
          <a:lstStyle/>
          <a:p>
            <a:pPr algn="ctr"/>
          </a:p>
        </p:txBody>
      </p:sp>
      <p:sp>
        <p:nvSpPr>
          <p:cNvPr id="7" name="TextBox 6"/>
          <p:cNvSpPr txBox="1"/>
          <p:nvPr/>
        </p:nvSpPr>
        <p:spPr>
          <a:xfrm>
            <a:off x="2176272" y="2206599"/>
            <a:ext cx="1192225" cy="603504"/>
          </a:xfrm>
          <a:prstGeom prst="rect">
            <a:avLst/>
          </a:prstGeom>
          <a:noFill/>
        </p:spPr>
        <p:txBody>
          <a:bodyPr wrap="square" lIns="0" rIns="0" tIns="0" bIns="0" anchor="ctr">
            <a:spAutoFit/>
          </a:bodyPr>
          <a:lstStyle/>
          <a:p>
            <a:pPr algn="ctr">
              <a:lnSpc>
                <a:spcPct val="100000"/>
              </a:lnSpc>
            </a:pPr>
            <a:r>
              <a:rPr sz="1250" b="1">
                <a:solidFill>
                  <a:srgbClr val="15171A"/>
                </a:solidFill>
                <a:latin typeface="Noto Sans KR"/>
                <a:ea typeface="Noto Sans KR"/>
                <a:cs typeface="Noto Sans KR"/>
              </a:rPr>
              <a:t>새 작업·메뉴</a:t>
            </a:r>
          </a:p>
        </p:txBody>
      </p:sp>
      <p:sp>
        <p:nvSpPr>
          <p:cNvPr id="8" name="Rectangle 7"/>
          <p:cNvSpPr/>
          <p:nvPr/>
        </p:nvSpPr>
        <p:spPr>
          <a:xfrm>
            <a:off x="3715969" y="2206599"/>
            <a:ext cx="1338529" cy="603504"/>
          </a:xfrm>
          <a:prstGeom prst="rect">
            <a:avLst/>
          </a:prstGeom>
          <a:solidFill>
            <a:srgbClr val="3A3E44"/>
          </a:solidFill>
          <a:ln>
            <a:noFill/>
          </a:ln>
        </p:spPr>
        <p:txBody>
          <a:bodyPr rtlCol="0" anchor="ctr"/>
          <a:lstStyle/>
          <a:p>
            <a:pPr algn="ctr"/>
          </a:p>
        </p:txBody>
      </p:sp>
      <p:sp>
        <p:nvSpPr>
          <p:cNvPr id="9" name="TextBox 8"/>
          <p:cNvSpPr txBox="1"/>
          <p:nvPr/>
        </p:nvSpPr>
        <p:spPr>
          <a:xfrm>
            <a:off x="3789121" y="2206599"/>
            <a:ext cx="1192225" cy="603504"/>
          </a:xfrm>
          <a:prstGeom prst="rect">
            <a:avLst/>
          </a:prstGeom>
          <a:noFill/>
        </p:spPr>
        <p:txBody>
          <a:bodyPr wrap="square" lIns="0" rIns="0" tIns="0" bIns="0" anchor="ctr">
            <a:spAutoFit/>
          </a:bodyPr>
          <a:lstStyle/>
          <a:p>
            <a:pPr algn="ctr">
              <a:lnSpc>
                <a:spcPct val="100000"/>
              </a:lnSpc>
            </a:pPr>
            <a:r>
              <a:rPr sz="1250" b="1">
                <a:solidFill>
                  <a:srgbClr val="FFFFFF"/>
                </a:solidFill>
                <a:latin typeface="Noto Sans KR"/>
                <a:ea typeface="Noto Sans KR"/>
                <a:cs typeface="Noto Sans KR"/>
              </a:rPr>
              <a:t>전용 하드웨어</a:t>
            </a:r>
          </a:p>
        </p:txBody>
      </p:sp>
      <p:cxnSp>
        <p:nvCxnSpPr>
          <p:cNvPr id="10" name="Connector 9"/>
          <p:cNvCxnSpPr/>
          <p:nvPr/>
        </p:nvCxnSpPr>
        <p:spPr>
          <a:xfrm>
            <a:off x="3496513" y="2508351"/>
            <a:ext cx="164592" cy="0"/>
          </a:xfrm>
          <a:prstGeom prst="line">
            <a:avLst/>
          </a:prstGeom>
          <a:ln w="12700">
            <a:solidFill>
              <a:srgbClr val="8C9198"/>
            </a:solidFill>
            <a:tailEnd type="triangle" w="med" len="med"/>
          </a:ln>
        </p:spPr>
      </p:cxnSp>
      <p:sp>
        <p:nvSpPr>
          <p:cNvPr id="11" name="Rectangle 10"/>
          <p:cNvSpPr/>
          <p:nvPr/>
        </p:nvSpPr>
        <p:spPr>
          <a:xfrm>
            <a:off x="5328818" y="2206599"/>
            <a:ext cx="1338529" cy="603504"/>
          </a:xfrm>
          <a:prstGeom prst="rect">
            <a:avLst/>
          </a:prstGeom>
          <a:solidFill>
            <a:srgbClr val="3A3E44"/>
          </a:solidFill>
          <a:ln>
            <a:noFill/>
          </a:ln>
        </p:spPr>
        <p:txBody>
          <a:bodyPr rtlCol="0" anchor="ctr"/>
          <a:lstStyle/>
          <a:p>
            <a:pPr algn="ctr"/>
          </a:p>
        </p:txBody>
      </p:sp>
      <p:sp>
        <p:nvSpPr>
          <p:cNvPr id="12" name="TextBox 11"/>
          <p:cNvSpPr txBox="1"/>
          <p:nvPr/>
        </p:nvSpPr>
        <p:spPr>
          <a:xfrm>
            <a:off x="5401970" y="2206599"/>
            <a:ext cx="1192225" cy="603504"/>
          </a:xfrm>
          <a:prstGeom prst="rect">
            <a:avLst/>
          </a:prstGeom>
          <a:noFill/>
        </p:spPr>
        <p:txBody>
          <a:bodyPr wrap="square" lIns="0" rIns="0" tIns="0" bIns="0" anchor="ctr">
            <a:spAutoFit/>
          </a:bodyPr>
          <a:lstStyle/>
          <a:p>
            <a:pPr algn="ctr">
              <a:lnSpc>
                <a:spcPct val="100000"/>
              </a:lnSpc>
            </a:pPr>
            <a:r>
              <a:rPr sz="1250" b="1">
                <a:solidFill>
                  <a:srgbClr val="FFFFFF"/>
                </a:solidFill>
                <a:latin typeface="Noto Sans KR"/>
                <a:ea typeface="Noto Sans KR"/>
                <a:cs typeface="Noto Sans KR"/>
              </a:rPr>
              <a:t>툴링</a:t>
            </a:r>
          </a:p>
        </p:txBody>
      </p:sp>
      <p:cxnSp>
        <p:nvCxnSpPr>
          <p:cNvPr id="13" name="Connector 12"/>
          <p:cNvCxnSpPr/>
          <p:nvPr/>
        </p:nvCxnSpPr>
        <p:spPr>
          <a:xfrm>
            <a:off x="5109362" y="2508351"/>
            <a:ext cx="164592" cy="0"/>
          </a:xfrm>
          <a:prstGeom prst="line">
            <a:avLst/>
          </a:prstGeom>
          <a:ln w="12700">
            <a:solidFill>
              <a:srgbClr val="8C9198"/>
            </a:solidFill>
            <a:tailEnd type="triangle" w="med" len="med"/>
          </a:ln>
        </p:spPr>
      </p:cxnSp>
      <p:sp>
        <p:nvSpPr>
          <p:cNvPr id="14" name="Rectangle 13"/>
          <p:cNvSpPr/>
          <p:nvPr/>
        </p:nvSpPr>
        <p:spPr>
          <a:xfrm>
            <a:off x="6941667" y="2206599"/>
            <a:ext cx="1338529" cy="603504"/>
          </a:xfrm>
          <a:prstGeom prst="rect">
            <a:avLst/>
          </a:prstGeom>
          <a:solidFill>
            <a:srgbClr val="3A3E44"/>
          </a:solidFill>
          <a:ln>
            <a:noFill/>
          </a:ln>
        </p:spPr>
        <p:txBody>
          <a:bodyPr rtlCol="0" anchor="ctr"/>
          <a:lstStyle/>
          <a:p>
            <a:pPr algn="ctr"/>
          </a:p>
        </p:txBody>
      </p:sp>
      <p:sp>
        <p:nvSpPr>
          <p:cNvPr id="15" name="TextBox 14"/>
          <p:cNvSpPr txBox="1"/>
          <p:nvPr/>
        </p:nvSpPr>
        <p:spPr>
          <a:xfrm>
            <a:off x="7014819" y="2206599"/>
            <a:ext cx="1192225" cy="603504"/>
          </a:xfrm>
          <a:prstGeom prst="rect">
            <a:avLst/>
          </a:prstGeom>
          <a:noFill/>
        </p:spPr>
        <p:txBody>
          <a:bodyPr wrap="square" lIns="0" rIns="0" tIns="0" bIns="0" anchor="ctr">
            <a:spAutoFit/>
          </a:bodyPr>
          <a:lstStyle/>
          <a:p>
            <a:pPr algn="ctr">
              <a:lnSpc>
                <a:spcPct val="100000"/>
              </a:lnSpc>
            </a:pPr>
            <a:r>
              <a:rPr sz="1250" b="1">
                <a:solidFill>
                  <a:srgbClr val="FFFFFF"/>
                </a:solidFill>
                <a:latin typeface="Noto Sans KR"/>
                <a:ea typeface="Noto Sans KR"/>
                <a:cs typeface="Noto Sans KR"/>
              </a:rPr>
              <a:t>주방 개조</a:t>
            </a:r>
          </a:p>
        </p:txBody>
      </p:sp>
      <p:cxnSp>
        <p:nvCxnSpPr>
          <p:cNvPr id="16" name="Connector 15"/>
          <p:cNvCxnSpPr/>
          <p:nvPr/>
        </p:nvCxnSpPr>
        <p:spPr>
          <a:xfrm>
            <a:off x="6722211" y="2508351"/>
            <a:ext cx="164592" cy="0"/>
          </a:xfrm>
          <a:prstGeom prst="line">
            <a:avLst/>
          </a:prstGeom>
          <a:ln w="12700">
            <a:solidFill>
              <a:srgbClr val="8C9198"/>
            </a:solidFill>
            <a:tailEnd type="triangle" w="med" len="med"/>
          </a:ln>
        </p:spPr>
      </p:cxnSp>
      <p:sp>
        <p:nvSpPr>
          <p:cNvPr id="17" name="Rectangle 16"/>
          <p:cNvSpPr/>
          <p:nvPr/>
        </p:nvSpPr>
        <p:spPr>
          <a:xfrm>
            <a:off x="8554516" y="2206599"/>
            <a:ext cx="1338529" cy="603504"/>
          </a:xfrm>
          <a:prstGeom prst="rect">
            <a:avLst/>
          </a:prstGeom>
          <a:solidFill>
            <a:srgbClr val="3A3E44"/>
          </a:solidFill>
          <a:ln>
            <a:noFill/>
          </a:ln>
        </p:spPr>
        <p:txBody>
          <a:bodyPr rtlCol="0" anchor="ctr"/>
          <a:lstStyle/>
          <a:p>
            <a:pPr algn="ctr"/>
          </a:p>
        </p:txBody>
      </p:sp>
      <p:sp>
        <p:nvSpPr>
          <p:cNvPr id="18" name="TextBox 17"/>
          <p:cNvSpPr txBox="1"/>
          <p:nvPr/>
        </p:nvSpPr>
        <p:spPr>
          <a:xfrm>
            <a:off x="8627668" y="2206599"/>
            <a:ext cx="1192225" cy="603504"/>
          </a:xfrm>
          <a:prstGeom prst="rect">
            <a:avLst/>
          </a:prstGeom>
          <a:noFill/>
        </p:spPr>
        <p:txBody>
          <a:bodyPr wrap="square" lIns="0" rIns="0" tIns="0" bIns="0" anchor="ctr">
            <a:spAutoFit/>
          </a:bodyPr>
          <a:lstStyle/>
          <a:p>
            <a:pPr algn="ctr">
              <a:lnSpc>
                <a:spcPct val="100000"/>
              </a:lnSpc>
            </a:pPr>
            <a:r>
              <a:rPr sz="1250" b="1">
                <a:solidFill>
                  <a:srgbClr val="FFFFFF"/>
                </a:solidFill>
                <a:latin typeface="Noto Sans KR"/>
                <a:ea typeface="Noto Sans KR"/>
                <a:cs typeface="Noto Sans KR"/>
              </a:rPr>
              <a:t>통합</a:t>
            </a:r>
          </a:p>
        </p:txBody>
      </p:sp>
      <p:cxnSp>
        <p:nvCxnSpPr>
          <p:cNvPr id="19" name="Connector 18"/>
          <p:cNvCxnSpPr/>
          <p:nvPr/>
        </p:nvCxnSpPr>
        <p:spPr>
          <a:xfrm>
            <a:off x="8335060" y="2508351"/>
            <a:ext cx="164592" cy="0"/>
          </a:xfrm>
          <a:prstGeom prst="line">
            <a:avLst/>
          </a:prstGeom>
          <a:ln w="12700">
            <a:solidFill>
              <a:srgbClr val="8C9198"/>
            </a:solidFill>
            <a:tailEnd type="triangle" w="med" len="med"/>
          </a:ln>
        </p:spPr>
      </p:cxnSp>
      <p:sp>
        <p:nvSpPr>
          <p:cNvPr id="20" name="Rectangle 19"/>
          <p:cNvSpPr/>
          <p:nvPr/>
        </p:nvSpPr>
        <p:spPr>
          <a:xfrm>
            <a:off x="10167366" y="2206599"/>
            <a:ext cx="1338529" cy="603504"/>
          </a:xfrm>
          <a:prstGeom prst="rect">
            <a:avLst/>
          </a:prstGeom>
          <a:solidFill>
            <a:srgbClr val="F4F5F6"/>
          </a:solidFill>
          <a:ln>
            <a:noFill/>
          </a:ln>
        </p:spPr>
        <p:txBody>
          <a:bodyPr rtlCol="0" anchor="ctr"/>
          <a:lstStyle/>
          <a:p>
            <a:pPr algn="ctr"/>
          </a:p>
        </p:txBody>
      </p:sp>
      <p:sp>
        <p:nvSpPr>
          <p:cNvPr id="21" name="TextBox 20"/>
          <p:cNvSpPr txBox="1"/>
          <p:nvPr/>
        </p:nvSpPr>
        <p:spPr>
          <a:xfrm>
            <a:off x="10240518" y="2206599"/>
            <a:ext cx="1192225" cy="603504"/>
          </a:xfrm>
          <a:prstGeom prst="rect">
            <a:avLst/>
          </a:prstGeom>
          <a:noFill/>
        </p:spPr>
        <p:txBody>
          <a:bodyPr wrap="square" lIns="0" rIns="0" tIns="0" bIns="0" anchor="ctr">
            <a:spAutoFit/>
          </a:bodyPr>
          <a:lstStyle/>
          <a:p>
            <a:pPr algn="ctr">
              <a:lnSpc>
                <a:spcPct val="100000"/>
              </a:lnSpc>
            </a:pPr>
            <a:r>
              <a:rPr sz="1250" b="1">
                <a:solidFill>
                  <a:srgbClr val="15171A"/>
                </a:solidFill>
                <a:latin typeface="Noto Sans KR"/>
                <a:ea typeface="Noto Sans KR"/>
                <a:cs typeface="Noto Sans KR"/>
              </a:rPr>
              <a:t>검증</a:t>
            </a:r>
          </a:p>
        </p:txBody>
      </p:sp>
      <p:cxnSp>
        <p:nvCxnSpPr>
          <p:cNvPr id="22" name="Connector 21"/>
          <p:cNvCxnSpPr/>
          <p:nvPr/>
        </p:nvCxnSpPr>
        <p:spPr>
          <a:xfrm>
            <a:off x="9947910" y="2508351"/>
            <a:ext cx="164592" cy="0"/>
          </a:xfrm>
          <a:prstGeom prst="line">
            <a:avLst/>
          </a:prstGeom>
          <a:ln w="12700">
            <a:solidFill>
              <a:srgbClr val="8C9198"/>
            </a:solidFill>
            <a:tailEnd type="triangle" w="med" len="med"/>
          </a:ln>
        </p:spPr>
      </p:cxnSp>
      <p:sp>
        <p:nvSpPr>
          <p:cNvPr id="23" name="TextBox 22"/>
          <p:cNvSpPr txBox="1"/>
          <p:nvPr/>
        </p:nvSpPr>
        <p:spPr>
          <a:xfrm>
            <a:off x="685800" y="3139287"/>
            <a:ext cx="1417320" cy="603504"/>
          </a:xfrm>
          <a:prstGeom prst="rect">
            <a:avLst/>
          </a:prstGeom>
          <a:noFill/>
        </p:spPr>
        <p:txBody>
          <a:bodyPr wrap="square" lIns="0" rIns="0" tIns="0" bIns="0" anchor="ctr">
            <a:spAutoFit/>
          </a:bodyPr>
          <a:lstStyle/>
          <a:p>
            <a:pPr algn="l">
              <a:lnSpc>
                <a:spcPct val="100000"/>
              </a:lnSpc>
            </a:pPr>
            <a:r>
              <a:rPr sz="1600" b="1">
                <a:solidFill>
                  <a:srgbClr val="E2571B"/>
                </a:solidFill>
                <a:latin typeface="Noto Sans KR"/>
                <a:ea typeface="Noto Sans KR"/>
                <a:cs typeface="Noto Sans KR"/>
              </a:rPr>
              <a:t>SoftHand</a:t>
            </a:r>
          </a:p>
        </p:txBody>
      </p:sp>
      <p:sp>
        <p:nvSpPr>
          <p:cNvPr id="24" name="Rectangle 23"/>
          <p:cNvSpPr/>
          <p:nvPr/>
        </p:nvSpPr>
        <p:spPr>
          <a:xfrm>
            <a:off x="2103120" y="3139287"/>
            <a:ext cx="1338529" cy="603504"/>
          </a:xfrm>
          <a:prstGeom prst="rect">
            <a:avLst/>
          </a:prstGeom>
          <a:solidFill>
            <a:srgbClr val="F4F5F6"/>
          </a:solidFill>
          <a:ln>
            <a:noFill/>
          </a:ln>
        </p:spPr>
        <p:txBody>
          <a:bodyPr rtlCol="0" anchor="ctr"/>
          <a:lstStyle/>
          <a:p>
            <a:pPr algn="ctr"/>
          </a:p>
        </p:txBody>
      </p:sp>
      <p:sp>
        <p:nvSpPr>
          <p:cNvPr id="25" name="TextBox 24"/>
          <p:cNvSpPr txBox="1"/>
          <p:nvPr/>
        </p:nvSpPr>
        <p:spPr>
          <a:xfrm>
            <a:off x="2176272" y="3139287"/>
            <a:ext cx="1192225" cy="603504"/>
          </a:xfrm>
          <a:prstGeom prst="rect">
            <a:avLst/>
          </a:prstGeom>
          <a:noFill/>
        </p:spPr>
        <p:txBody>
          <a:bodyPr wrap="square" lIns="0" rIns="0" tIns="0" bIns="0" anchor="ctr">
            <a:spAutoFit/>
          </a:bodyPr>
          <a:lstStyle/>
          <a:p>
            <a:pPr algn="ctr">
              <a:lnSpc>
                <a:spcPct val="100000"/>
              </a:lnSpc>
            </a:pPr>
            <a:r>
              <a:rPr sz="1250" b="1">
                <a:solidFill>
                  <a:srgbClr val="15171A"/>
                </a:solidFill>
                <a:latin typeface="Noto Sans KR"/>
                <a:ea typeface="Noto Sans KR"/>
                <a:cs typeface="Noto Sans KR"/>
              </a:rPr>
              <a:t>새 작업·메뉴</a:t>
            </a:r>
          </a:p>
        </p:txBody>
      </p:sp>
      <p:sp>
        <p:nvSpPr>
          <p:cNvPr id="26" name="Rectangle 25"/>
          <p:cNvSpPr/>
          <p:nvPr/>
        </p:nvSpPr>
        <p:spPr>
          <a:xfrm>
            <a:off x="3715969" y="3139287"/>
            <a:ext cx="1338529" cy="603504"/>
          </a:xfrm>
          <a:prstGeom prst="rect">
            <a:avLst/>
          </a:prstGeom>
          <a:solidFill>
            <a:srgbClr val="E2571B"/>
          </a:solidFill>
          <a:ln>
            <a:noFill/>
          </a:ln>
        </p:spPr>
        <p:txBody>
          <a:bodyPr rtlCol="0" anchor="ctr"/>
          <a:lstStyle/>
          <a:p>
            <a:pPr algn="ctr"/>
          </a:p>
        </p:txBody>
      </p:sp>
      <p:sp>
        <p:nvSpPr>
          <p:cNvPr id="27" name="TextBox 26"/>
          <p:cNvSpPr txBox="1"/>
          <p:nvPr/>
        </p:nvSpPr>
        <p:spPr>
          <a:xfrm>
            <a:off x="3789121" y="3139287"/>
            <a:ext cx="1192225" cy="603504"/>
          </a:xfrm>
          <a:prstGeom prst="rect">
            <a:avLst/>
          </a:prstGeom>
          <a:noFill/>
        </p:spPr>
        <p:txBody>
          <a:bodyPr wrap="square" lIns="0" rIns="0" tIns="0" bIns="0" anchor="ctr">
            <a:spAutoFit/>
          </a:bodyPr>
          <a:lstStyle/>
          <a:p>
            <a:pPr algn="ctr">
              <a:lnSpc>
                <a:spcPct val="100000"/>
              </a:lnSpc>
            </a:pPr>
            <a:r>
              <a:rPr sz="1250" b="1">
                <a:solidFill>
                  <a:srgbClr val="FFFFFF"/>
                </a:solidFill>
                <a:latin typeface="Noto Sans KR"/>
                <a:ea typeface="Noto Sans KR"/>
                <a:cs typeface="Noto Sans KR"/>
              </a:rPr>
              <a:t>같은 핸드</a:t>
            </a:r>
          </a:p>
        </p:txBody>
      </p:sp>
      <p:cxnSp>
        <p:nvCxnSpPr>
          <p:cNvPr id="28" name="Connector 27"/>
          <p:cNvCxnSpPr/>
          <p:nvPr/>
        </p:nvCxnSpPr>
        <p:spPr>
          <a:xfrm>
            <a:off x="3496513" y="3441039"/>
            <a:ext cx="164592" cy="0"/>
          </a:xfrm>
          <a:prstGeom prst="line">
            <a:avLst/>
          </a:prstGeom>
          <a:ln w="12700">
            <a:solidFill>
              <a:srgbClr val="8C9198"/>
            </a:solidFill>
            <a:tailEnd type="triangle" w="med" len="med"/>
          </a:ln>
        </p:spPr>
      </p:cxnSp>
      <p:sp>
        <p:nvSpPr>
          <p:cNvPr id="29" name="Rectangle 28"/>
          <p:cNvSpPr/>
          <p:nvPr/>
        </p:nvSpPr>
        <p:spPr>
          <a:xfrm>
            <a:off x="5328818" y="3139287"/>
            <a:ext cx="1338529" cy="603504"/>
          </a:xfrm>
          <a:prstGeom prst="rect">
            <a:avLst/>
          </a:prstGeom>
          <a:solidFill>
            <a:srgbClr val="FBEDE6"/>
          </a:solidFill>
          <a:ln>
            <a:noFill/>
          </a:ln>
        </p:spPr>
        <p:txBody>
          <a:bodyPr rtlCol="0" anchor="ctr"/>
          <a:lstStyle/>
          <a:p>
            <a:pPr algn="ctr"/>
          </a:p>
        </p:txBody>
      </p:sp>
      <p:sp>
        <p:nvSpPr>
          <p:cNvPr id="30" name="TextBox 29"/>
          <p:cNvSpPr txBox="1"/>
          <p:nvPr/>
        </p:nvSpPr>
        <p:spPr>
          <a:xfrm>
            <a:off x="5401970" y="3139287"/>
            <a:ext cx="1192225" cy="603504"/>
          </a:xfrm>
          <a:prstGeom prst="rect">
            <a:avLst/>
          </a:prstGeom>
          <a:noFill/>
        </p:spPr>
        <p:txBody>
          <a:bodyPr wrap="square" lIns="0" rIns="0" tIns="0" bIns="0" anchor="ctr">
            <a:spAutoFit/>
          </a:bodyPr>
          <a:lstStyle/>
          <a:p>
            <a:pPr algn="ctr">
              <a:lnSpc>
                <a:spcPct val="100000"/>
              </a:lnSpc>
            </a:pPr>
            <a:r>
              <a:rPr sz="1250" b="1">
                <a:solidFill>
                  <a:srgbClr val="E2571B"/>
                </a:solidFill>
                <a:latin typeface="Noto Sans KR"/>
                <a:ea typeface="Noto Sans KR"/>
                <a:cs typeface="Noto Sans KR"/>
              </a:rPr>
              <a:t>기존 Skill 재사용</a:t>
            </a:r>
          </a:p>
        </p:txBody>
      </p:sp>
      <p:cxnSp>
        <p:nvCxnSpPr>
          <p:cNvPr id="31" name="Connector 30"/>
          <p:cNvCxnSpPr/>
          <p:nvPr/>
        </p:nvCxnSpPr>
        <p:spPr>
          <a:xfrm>
            <a:off x="5109362" y="3441039"/>
            <a:ext cx="164592" cy="0"/>
          </a:xfrm>
          <a:prstGeom prst="line">
            <a:avLst/>
          </a:prstGeom>
          <a:ln w="12700">
            <a:solidFill>
              <a:srgbClr val="8C9198"/>
            </a:solidFill>
            <a:tailEnd type="triangle" w="med" len="med"/>
          </a:ln>
        </p:spPr>
      </p:cxnSp>
      <p:sp>
        <p:nvSpPr>
          <p:cNvPr id="32" name="Rectangle 31"/>
          <p:cNvSpPr/>
          <p:nvPr/>
        </p:nvSpPr>
        <p:spPr>
          <a:xfrm>
            <a:off x="6941667" y="3139287"/>
            <a:ext cx="1338529" cy="603504"/>
          </a:xfrm>
          <a:prstGeom prst="rect">
            <a:avLst/>
          </a:prstGeom>
          <a:solidFill>
            <a:srgbClr val="F4F5F6"/>
          </a:solidFill>
          <a:ln>
            <a:noFill/>
          </a:ln>
        </p:spPr>
        <p:txBody>
          <a:bodyPr rtlCol="0" anchor="ctr"/>
          <a:lstStyle/>
          <a:p>
            <a:pPr algn="ctr"/>
          </a:p>
        </p:txBody>
      </p:sp>
      <p:sp>
        <p:nvSpPr>
          <p:cNvPr id="33" name="TextBox 32"/>
          <p:cNvSpPr txBox="1"/>
          <p:nvPr/>
        </p:nvSpPr>
        <p:spPr>
          <a:xfrm>
            <a:off x="7014819" y="3139287"/>
            <a:ext cx="1192225" cy="603504"/>
          </a:xfrm>
          <a:prstGeom prst="rect">
            <a:avLst/>
          </a:prstGeom>
          <a:noFill/>
        </p:spPr>
        <p:txBody>
          <a:bodyPr wrap="square" lIns="0" rIns="0" tIns="0" bIns="0" anchor="ctr">
            <a:spAutoFit/>
          </a:bodyPr>
          <a:lstStyle/>
          <a:p>
            <a:pPr algn="ctr">
              <a:lnSpc>
                <a:spcPct val="100000"/>
              </a:lnSpc>
            </a:pPr>
            <a:r>
              <a:rPr sz="1250" b="1">
                <a:solidFill>
                  <a:srgbClr val="15171A"/>
                </a:solidFill>
                <a:latin typeface="Noto Sans KR"/>
                <a:ea typeface="Noto Sans KR"/>
                <a:cs typeface="Noto Sans KR"/>
              </a:rPr>
              <a:t>필요한 Skill 추가</a:t>
            </a:r>
          </a:p>
        </p:txBody>
      </p:sp>
      <p:cxnSp>
        <p:nvCxnSpPr>
          <p:cNvPr id="34" name="Connector 33"/>
          <p:cNvCxnSpPr/>
          <p:nvPr/>
        </p:nvCxnSpPr>
        <p:spPr>
          <a:xfrm>
            <a:off x="6722211" y="3441039"/>
            <a:ext cx="164592" cy="0"/>
          </a:xfrm>
          <a:prstGeom prst="line">
            <a:avLst/>
          </a:prstGeom>
          <a:ln w="12700">
            <a:solidFill>
              <a:srgbClr val="8C9198"/>
            </a:solidFill>
            <a:tailEnd type="triangle" w="med" len="med"/>
          </a:ln>
        </p:spPr>
      </p:cxnSp>
      <p:sp>
        <p:nvSpPr>
          <p:cNvPr id="35" name="Rectangle 34"/>
          <p:cNvSpPr/>
          <p:nvPr/>
        </p:nvSpPr>
        <p:spPr>
          <a:xfrm>
            <a:off x="8554516" y="3139287"/>
            <a:ext cx="1338529" cy="603504"/>
          </a:xfrm>
          <a:prstGeom prst="rect">
            <a:avLst/>
          </a:prstGeom>
          <a:solidFill>
            <a:srgbClr val="F4F5F6"/>
          </a:solidFill>
          <a:ln>
            <a:noFill/>
          </a:ln>
        </p:spPr>
        <p:txBody>
          <a:bodyPr rtlCol="0" anchor="ctr"/>
          <a:lstStyle/>
          <a:p>
            <a:pPr algn="ctr"/>
          </a:p>
        </p:txBody>
      </p:sp>
      <p:sp>
        <p:nvSpPr>
          <p:cNvPr id="36" name="TextBox 35"/>
          <p:cNvSpPr txBox="1"/>
          <p:nvPr/>
        </p:nvSpPr>
        <p:spPr>
          <a:xfrm>
            <a:off x="8627668" y="3139287"/>
            <a:ext cx="1192225" cy="603504"/>
          </a:xfrm>
          <a:prstGeom prst="rect">
            <a:avLst/>
          </a:prstGeom>
          <a:noFill/>
        </p:spPr>
        <p:txBody>
          <a:bodyPr wrap="square" lIns="0" rIns="0" tIns="0" bIns="0" anchor="ctr">
            <a:spAutoFit/>
          </a:bodyPr>
          <a:lstStyle/>
          <a:p>
            <a:pPr algn="ctr">
              <a:lnSpc>
                <a:spcPct val="100000"/>
              </a:lnSpc>
            </a:pPr>
            <a:r>
              <a:rPr sz="1250" b="1">
                <a:solidFill>
                  <a:srgbClr val="15171A"/>
                </a:solidFill>
                <a:latin typeface="Noto Sans KR"/>
                <a:ea typeface="Noto Sans KR"/>
                <a:cs typeface="Noto Sans KR"/>
              </a:rPr>
              <a:t>보정</a:t>
            </a:r>
          </a:p>
        </p:txBody>
      </p:sp>
      <p:cxnSp>
        <p:nvCxnSpPr>
          <p:cNvPr id="37" name="Connector 36"/>
          <p:cNvCxnSpPr/>
          <p:nvPr/>
        </p:nvCxnSpPr>
        <p:spPr>
          <a:xfrm>
            <a:off x="8335060" y="3441039"/>
            <a:ext cx="164592" cy="0"/>
          </a:xfrm>
          <a:prstGeom prst="line">
            <a:avLst/>
          </a:prstGeom>
          <a:ln w="12700">
            <a:solidFill>
              <a:srgbClr val="8C9198"/>
            </a:solidFill>
            <a:tailEnd type="triangle" w="med" len="med"/>
          </a:ln>
        </p:spPr>
      </p:cxnSp>
      <p:sp>
        <p:nvSpPr>
          <p:cNvPr id="38" name="Rectangle 37"/>
          <p:cNvSpPr/>
          <p:nvPr/>
        </p:nvSpPr>
        <p:spPr>
          <a:xfrm>
            <a:off x="10167366" y="3139287"/>
            <a:ext cx="1338529" cy="603504"/>
          </a:xfrm>
          <a:prstGeom prst="rect">
            <a:avLst/>
          </a:prstGeom>
          <a:solidFill>
            <a:srgbClr val="F4F5F6"/>
          </a:solidFill>
          <a:ln>
            <a:noFill/>
          </a:ln>
        </p:spPr>
        <p:txBody>
          <a:bodyPr rtlCol="0" anchor="ctr"/>
          <a:lstStyle/>
          <a:p>
            <a:pPr algn="ctr"/>
          </a:p>
        </p:txBody>
      </p:sp>
      <p:sp>
        <p:nvSpPr>
          <p:cNvPr id="39" name="TextBox 38"/>
          <p:cNvSpPr txBox="1"/>
          <p:nvPr/>
        </p:nvSpPr>
        <p:spPr>
          <a:xfrm>
            <a:off x="10240518" y="3139287"/>
            <a:ext cx="1192225" cy="603504"/>
          </a:xfrm>
          <a:prstGeom prst="rect">
            <a:avLst/>
          </a:prstGeom>
          <a:noFill/>
        </p:spPr>
        <p:txBody>
          <a:bodyPr wrap="square" lIns="0" rIns="0" tIns="0" bIns="0" anchor="ctr">
            <a:spAutoFit/>
          </a:bodyPr>
          <a:lstStyle/>
          <a:p>
            <a:pPr algn="ctr">
              <a:lnSpc>
                <a:spcPct val="100000"/>
              </a:lnSpc>
            </a:pPr>
            <a:r>
              <a:rPr sz="1250" b="1">
                <a:solidFill>
                  <a:srgbClr val="15171A"/>
                </a:solidFill>
                <a:latin typeface="Noto Sans KR"/>
                <a:ea typeface="Noto Sans KR"/>
                <a:cs typeface="Noto Sans KR"/>
              </a:rPr>
              <a:t>검증</a:t>
            </a:r>
          </a:p>
        </p:txBody>
      </p:sp>
      <p:cxnSp>
        <p:nvCxnSpPr>
          <p:cNvPr id="40" name="Connector 39"/>
          <p:cNvCxnSpPr/>
          <p:nvPr/>
        </p:nvCxnSpPr>
        <p:spPr>
          <a:xfrm>
            <a:off x="9947910" y="3441039"/>
            <a:ext cx="164592" cy="0"/>
          </a:xfrm>
          <a:prstGeom prst="line">
            <a:avLst/>
          </a:prstGeom>
          <a:ln w="12700">
            <a:solidFill>
              <a:srgbClr val="8C9198"/>
            </a:solidFill>
            <a:tailEnd type="triangle" w="med" len="med"/>
          </a:ln>
        </p:spPr>
      </p:cxnSp>
      <p:sp>
        <p:nvSpPr>
          <p:cNvPr id="41" name="TextBox 40"/>
          <p:cNvSpPr txBox="1"/>
          <p:nvPr/>
        </p:nvSpPr>
        <p:spPr>
          <a:xfrm>
            <a:off x="2103120" y="3834231"/>
            <a:ext cx="9402775" cy="237744"/>
          </a:xfrm>
          <a:prstGeom prst="rect">
            <a:avLst/>
          </a:prstGeom>
          <a:noFill/>
        </p:spPr>
        <p:txBody>
          <a:bodyPr wrap="square" lIns="0" rIns="0" tIns="0" bIns="0" anchor="t">
            <a:spAutoFit/>
          </a:bodyPr>
          <a:lstStyle/>
          <a:p>
            <a:pPr algn="l">
              <a:lnSpc>
                <a:spcPct val="100000"/>
              </a:lnSpc>
            </a:pPr>
            <a:r>
              <a:rPr sz="1100" b="0">
                <a:solidFill>
                  <a:srgbClr val="8C9198"/>
                </a:solidFill>
                <a:latin typeface="Noto Sans KR"/>
                <a:ea typeface="Noto Sans KR"/>
                <a:cs typeface="Noto Sans KR"/>
              </a:rPr>
              <a:t>엔지니어링·검증은 계속 필요, 줄어드는 폭을 고객 현장에서 측정</a:t>
            </a:r>
          </a:p>
        </p:txBody>
      </p:sp>
      <p:cxnSp>
        <p:nvCxnSpPr>
          <p:cNvPr id="42" name="Connector 41"/>
          <p:cNvCxnSpPr/>
          <p:nvPr/>
        </p:nvCxnSpPr>
        <p:spPr>
          <a:xfrm>
            <a:off x="685800" y="4236567"/>
            <a:ext cx="10820095" cy="0"/>
          </a:xfrm>
          <a:prstGeom prst="line">
            <a:avLst/>
          </a:prstGeom>
          <a:ln w="12700">
            <a:solidFill>
              <a:srgbClr val="15171A"/>
            </a:solidFill>
          </a:ln>
        </p:spPr>
      </p:cxnSp>
      <p:sp>
        <p:nvSpPr>
          <p:cNvPr id="43" name="TextBox 42"/>
          <p:cNvSpPr txBox="1"/>
          <p:nvPr/>
        </p:nvSpPr>
        <p:spPr>
          <a:xfrm>
            <a:off x="685800" y="4364583"/>
            <a:ext cx="3657600" cy="274320"/>
          </a:xfrm>
          <a:prstGeom prst="rect">
            <a:avLst/>
          </a:prstGeom>
          <a:noFill/>
        </p:spPr>
        <p:txBody>
          <a:bodyPr wrap="square" lIns="0" rIns="0" tIns="0" bIns="0" anchor="t">
            <a:spAutoFit/>
          </a:bodyPr>
          <a:lstStyle/>
          <a:p>
            <a:pPr algn="l">
              <a:lnSpc>
                <a:spcPct val="100000"/>
              </a:lnSpc>
            </a:pPr>
            <a:r>
              <a:rPr sz="1500" b="1">
                <a:solidFill>
                  <a:srgbClr val="15171A"/>
                </a:solidFill>
                <a:latin typeface="Noto Sans KR"/>
                <a:ea typeface="Noto Sans KR"/>
                <a:cs typeface="Noto Sans KR"/>
              </a:rPr>
              <a:t>Seed PoC에서 측정할 지표</a:t>
            </a:r>
          </a:p>
        </p:txBody>
      </p:sp>
      <p:sp>
        <p:nvSpPr>
          <p:cNvPr id="44" name="TextBox 43"/>
          <p:cNvSpPr txBox="1"/>
          <p:nvPr/>
        </p:nvSpPr>
        <p:spPr>
          <a:xfrm>
            <a:off x="3703320" y="4401159"/>
            <a:ext cx="7772400" cy="237744"/>
          </a:xfrm>
          <a:prstGeom prst="rect">
            <a:avLst/>
          </a:prstGeom>
          <a:noFill/>
        </p:spPr>
        <p:txBody>
          <a:bodyPr wrap="square" lIns="0" rIns="0" tIns="0" bIns="0" anchor="t">
            <a:spAutoFit/>
          </a:bodyPr>
          <a:lstStyle/>
          <a:p>
            <a:pPr algn="l">
              <a:lnSpc>
                <a:spcPct val="100000"/>
              </a:lnSpc>
            </a:pPr>
            <a:r>
              <a:rPr sz="1100" b="0">
                <a:solidFill>
                  <a:srgbClr val="8C9198"/>
                </a:solidFill>
                <a:latin typeface="Noto Sans KR"/>
                <a:ea typeface="Noto Sans KR"/>
                <a:cs typeface="Noto Sans KR"/>
              </a:rPr>
              <a:t>고객 기존 수치 대비 · 가상의 절감률·ROI는 제시하지 않음</a:t>
            </a:r>
          </a:p>
        </p:txBody>
      </p:sp>
      <p:sp>
        <p:nvSpPr>
          <p:cNvPr id="45" name="TextBox 44"/>
          <p:cNvSpPr txBox="1"/>
          <p:nvPr/>
        </p:nvSpPr>
        <p:spPr>
          <a:xfrm>
            <a:off x="685800" y="4821783"/>
            <a:ext cx="1344559" cy="548640"/>
          </a:xfrm>
          <a:prstGeom prst="rect">
            <a:avLst/>
          </a:prstGeom>
          <a:noFill/>
        </p:spPr>
        <p:txBody>
          <a:bodyPr wrap="square" lIns="0" rIns="0" tIns="0" bIns="0" anchor="t">
            <a:spAutoFit/>
          </a:bodyPr>
          <a:lstStyle/>
          <a:p>
            <a:pPr algn="l">
              <a:lnSpc>
                <a:spcPct val="100000"/>
              </a:lnSpc>
            </a:pPr>
            <a:r>
              <a:rPr sz="1400" b="1">
                <a:solidFill>
                  <a:srgbClr val="15171A"/>
                </a:solidFill>
                <a:latin typeface="Noto Sans KR"/>
                <a:ea typeface="Noto Sans KR"/>
                <a:cs typeface="Noto Sans KR"/>
              </a:rPr>
              <a:t>인력 투입 시간</a:t>
            </a:r>
          </a:p>
        </p:txBody>
      </p:sp>
      <p:sp>
        <p:nvSpPr>
          <p:cNvPr id="46" name="TextBox 45"/>
          <p:cNvSpPr txBox="1"/>
          <p:nvPr/>
        </p:nvSpPr>
        <p:spPr>
          <a:xfrm>
            <a:off x="685800" y="5425287"/>
            <a:ext cx="1344559" cy="237744"/>
          </a:xfrm>
          <a:prstGeom prst="rect">
            <a:avLst/>
          </a:prstGeom>
          <a:noFill/>
        </p:spPr>
        <p:txBody>
          <a:bodyPr wrap="square" lIns="0" rIns="0" tIns="0" bIns="0" anchor="t">
            <a:spAutoFit/>
          </a:bodyPr>
          <a:lstStyle/>
          <a:p>
            <a:pPr algn="l">
              <a:lnSpc>
                <a:spcPct val="100000"/>
              </a:lnSpc>
            </a:pPr>
            <a:r>
              <a:rPr sz="1100" b="0">
                <a:solidFill>
                  <a:srgbClr val="E2571B"/>
                </a:solidFill>
                <a:latin typeface="Noto Sans KR"/>
                <a:ea typeface="Noto Sans KR"/>
                <a:cs typeface="Noto Sans KR"/>
              </a:rPr>
              <a:t>PoC에서 측정</a:t>
            </a:r>
          </a:p>
        </p:txBody>
      </p:sp>
      <p:cxnSp>
        <p:nvCxnSpPr>
          <p:cNvPr id="47" name="Connector 46"/>
          <p:cNvCxnSpPr/>
          <p:nvPr/>
        </p:nvCxnSpPr>
        <p:spPr>
          <a:xfrm>
            <a:off x="2140087" y="4840071"/>
            <a:ext cx="0" cy="868680"/>
          </a:xfrm>
          <a:prstGeom prst="line">
            <a:avLst/>
          </a:prstGeom>
          <a:ln w="9525">
            <a:solidFill>
              <a:srgbClr val="E2E4E7"/>
            </a:solidFill>
          </a:ln>
        </p:spPr>
      </p:cxnSp>
      <p:sp>
        <p:nvSpPr>
          <p:cNvPr id="48" name="TextBox 47"/>
          <p:cNvSpPr txBox="1"/>
          <p:nvPr/>
        </p:nvSpPr>
        <p:spPr>
          <a:xfrm>
            <a:off x="2268103" y="4821783"/>
            <a:ext cx="1344559" cy="548640"/>
          </a:xfrm>
          <a:prstGeom prst="rect">
            <a:avLst/>
          </a:prstGeom>
          <a:noFill/>
        </p:spPr>
        <p:txBody>
          <a:bodyPr wrap="square" lIns="0" rIns="0" tIns="0" bIns="0" anchor="t">
            <a:spAutoFit/>
          </a:bodyPr>
          <a:lstStyle/>
          <a:p>
            <a:pPr algn="l">
              <a:lnSpc>
                <a:spcPct val="100000"/>
              </a:lnSpc>
            </a:pPr>
            <a:r>
              <a:rPr sz="1400" b="1">
                <a:solidFill>
                  <a:srgbClr val="15171A"/>
                </a:solidFill>
                <a:latin typeface="Noto Sans KR"/>
                <a:ea typeface="Noto Sans KR"/>
                <a:cs typeface="Noto Sans KR"/>
              </a:rPr>
              <a:t>자동화 CapEx</a:t>
            </a:r>
          </a:p>
        </p:txBody>
      </p:sp>
      <p:sp>
        <p:nvSpPr>
          <p:cNvPr id="49" name="TextBox 48"/>
          <p:cNvSpPr txBox="1"/>
          <p:nvPr/>
        </p:nvSpPr>
        <p:spPr>
          <a:xfrm>
            <a:off x="2268103" y="5425287"/>
            <a:ext cx="1344559" cy="237744"/>
          </a:xfrm>
          <a:prstGeom prst="rect">
            <a:avLst/>
          </a:prstGeom>
          <a:noFill/>
        </p:spPr>
        <p:txBody>
          <a:bodyPr wrap="square" lIns="0" rIns="0" tIns="0" bIns="0" anchor="t">
            <a:spAutoFit/>
          </a:bodyPr>
          <a:lstStyle/>
          <a:p>
            <a:pPr algn="l">
              <a:lnSpc>
                <a:spcPct val="100000"/>
              </a:lnSpc>
            </a:pPr>
            <a:r>
              <a:rPr sz="1100" b="0">
                <a:solidFill>
                  <a:srgbClr val="E2571B"/>
                </a:solidFill>
                <a:latin typeface="Noto Sans KR"/>
                <a:ea typeface="Noto Sans KR"/>
                <a:cs typeface="Noto Sans KR"/>
              </a:rPr>
              <a:t>PoC에서 측정</a:t>
            </a:r>
          </a:p>
        </p:txBody>
      </p:sp>
      <p:cxnSp>
        <p:nvCxnSpPr>
          <p:cNvPr id="50" name="Connector 49"/>
          <p:cNvCxnSpPr/>
          <p:nvPr/>
        </p:nvCxnSpPr>
        <p:spPr>
          <a:xfrm>
            <a:off x="3685815" y="4840071"/>
            <a:ext cx="0" cy="868680"/>
          </a:xfrm>
          <a:prstGeom prst="line">
            <a:avLst/>
          </a:prstGeom>
          <a:ln w="9525">
            <a:solidFill>
              <a:srgbClr val="E2E4E7"/>
            </a:solidFill>
          </a:ln>
        </p:spPr>
      </p:cxnSp>
      <p:sp>
        <p:nvSpPr>
          <p:cNvPr id="51" name="TextBox 50"/>
          <p:cNvSpPr txBox="1"/>
          <p:nvPr/>
        </p:nvSpPr>
        <p:spPr>
          <a:xfrm>
            <a:off x="3813831" y="4821783"/>
            <a:ext cx="1344559" cy="548640"/>
          </a:xfrm>
          <a:prstGeom prst="rect">
            <a:avLst/>
          </a:prstGeom>
          <a:noFill/>
        </p:spPr>
        <p:txBody>
          <a:bodyPr wrap="square" lIns="0" rIns="0" tIns="0" bIns="0" anchor="t">
            <a:spAutoFit/>
          </a:bodyPr>
          <a:lstStyle/>
          <a:p>
            <a:pPr algn="l">
              <a:lnSpc>
                <a:spcPct val="100000"/>
              </a:lnSpc>
            </a:pPr>
            <a:r>
              <a:rPr sz="1400" b="1">
                <a:solidFill>
                  <a:srgbClr val="15171A"/>
                </a:solidFill>
                <a:latin typeface="Noto Sans KR"/>
                <a:ea typeface="Noto Sans KR"/>
                <a:cs typeface="Noto Sans KR"/>
              </a:rPr>
              <a:t>메뉴 추가 비용</a:t>
            </a:r>
          </a:p>
        </p:txBody>
      </p:sp>
      <p:sp>
        <p:nvSpPr>
          <p:cNvPr id="52" name="TextBox 51"/>
          <p:cNvSpPr txBox="1"/>
          <p:nvPr/>
        </p:nvSpPr>
        <p:spPr>
          <a:xfrm>
            <a:off x="3813831" y="5425287"/>
            <a:ext cx="1344559" cy="237744"/>
          </a:xfrm>
          <a:prstGeom prst="rect">
            <a:avLst/>
          </a:prstGeom>
          <a:noFill/>
        </p:spPr>
        <p:txBody>
          <a:bodyPr wrap="square" lIns="0" rIns="0" tIns="0" bIns="0" anchor="t">
            <a:spAutoFit/>
          </a:bodyPr>
          <a:lstStyle/>
          <a:p>
            <a:pPr algn="l">
              <a:lnSpc>
                <a:spcPct val="100000"/>
              </a:lnSpc>
            </a:pPr>
            <a:r>
              <a:rPr sz="1100" b="0">
                <a:solidFill>
                  <a:srgbClr val="E2571B"/>
                </a:solidFill>
                <a:latin typeface="Noto Sans KR"/>
                <a:ea typeface="Noto Sans KR"/>
                <a:cs typeface="Noto Sans KR"/>
              </a:rPr>
              <a:t>PoC에서 측정</a:t>
            </a:r>
          </a:p>
        </p:txBody>
      </p:sp>
      <p:cxnSp>
        <p:nvCxnSpPr>
          <p:cNvPr id="53" name="Connector 52"/>
          <p:cNvCxnSpPr/>
          <p:nvPr/>
        </p:nvCxnSpPr>
        <p:spPr>
          <a:xfrm>
            <a:off x="5231543" y="4840071"/>
            <a:ext cx="0" cy="868680"/>
          </a:xfrm>
          <a:prstGeom prst="line">
            <a:avLst/>
          </a:prstGeom>
          <a:ln w="9525">
            <a:solidFill>
              <a:srgbClr val="E2E4E7"/>
            </a:solidFill>
          </a:ln>
        </p:spPr>
      </p:cxnSp>
      <p:sp>
        <p:nvSpPr>
          <p:cNvPr id="54" name="TextBox 53"/>
          <p:cNvSpPr txBox="1"/>
          <p:nvPr/>
        </p:nvSpPr>
        <p:spPr>
          <a:xfrm>
            <a:off x="5359559" y="4821783"/>
            <a:ext cx="1344559" cy="548640"/>
          </a:xfrm>
          <a:prstGeom prst="rect">
            <a:avLst/>
          </a:prstGeom>
          <a:noFill/>
        </p:spPr>
        <p:txBody>
          <a:bodyPr wrap="square" lIns="0" rIns="0" tIns="0" bIns="0" anchor="t">
            <a:spAutoFit/>
          </a:bodyPr>
          <a:lstStyle/>
          <a:p>
            <a:pPr algn="l">
              <a:lnSpc>
                <a:spcPct val="100000"/>
              </a:lnSpc>
            </a:pPr>
            <a:r>
              <a:rPr sz="1400" b="1">
                <a:solidFill>
                  <a:srgbClr val="15171A"/>
                </a:solidFill>
                <a:latin typeface="Noto Sans KR"/>
                <a:ea typeface="Noto Sans KR"/>
                <a:cs typeface="Noto Sans KR"/>
              </a:rPr>
              <a:t>통합 엔지니어링 시간</a:t>
            </a:r>
          </a:p>
        </p:txBody>
      </p:sp>
      <p:sp>
        <p:nvSpPr>
          <p:cNvPr id="55" name="TextBox 54"/>
          <p:cNvSpPr txBox="1"/>
          <p:nvPr/>
        </p:nvSpPr>
        <p:spPr>
          <a:xfrm>
            <a:off x="5359559" y="5425287"/>
            <a:ext cx="1344559" cy="237744"/>
          </a:xfrm>
          <a:prstGeom prst="rect">
            <a:avLst/>
          </a:prstGeom>
          <a:noFill/>
        </p:spPr>
        <p:txBody>
          <a:bodyPr wrap="square" lIns="0" rIns="0" tIns="0" bIns="0" anchor="t">
            <a:spAutoFit/>
          </a:bodyPr>
          <a:lstStyle/>
          <a:p>
            <a:pPr algn="l">
              <a:lnSpc>
                <a:spcPct val="100000"/>
              </a:lnSpc>
            </a:pPr>
            <a:r>
              <a:rPr sz="1100" b="0">
                <a:solidFill>
                  <a:srgbClr val="E2571B"/>
                </a:solidFill>
                <a:latin typeface="Noto Sans KR"/>
                <a:ea typeface="Noto Sans KR"/>
                <a:cs typeface="Noto Sans KR"/>
              </a:rPr>
              <a:t>PoC에서 측정</a:t>
            </a:r>
          </a:p>
        </p:txBody>
      </p:sp>
      <p:cxnSp>
        <p:nvCxnSpPr>
          <p:cNvPr id="56" name="Connector 55"/>
          <p:cNvCxnSpPr/>
          <p:nvPr/>
        </p:nvCxnSpPr>
        <p:spPr>
          <a:xfrm>
            <a:off x="6777271" y="4840071"/>
            <a:ext cx="0" cy="868680"/>
          </a:xfrm>
          <a:prstGeom prst="line">
            <a:avLst/>
          </a:prstGeom>
          <a:ln w="9525">
            <a:solidFill>
              <a:srgbClr val="E2E4E7"/>
            </a:solidFill>
          </a:ln>
        </p:spPr>
      </p:cxnSp>
      <p:sp>
        <p:nvSpPr>
          <p:cNvPr id="57" name="TextBox 56"/>
          <p:cNvSpPr txBox="1"/>
          <p:nvPr/>
        </p:nvSpPr>
        <p:spPr>
          <a:xfrm>
            <a:off x="6905287" y="4821783"/>
            <a:ext cx="1344559" cy="548640"/>
          </a:xfrm>
          <a:prstGeom prst="rect">
            <a:avLst/>
          </a:prstGeom>
          <a:noFill/>
        </p:spPr>
        <p:txBody>
          <a:bodyPr wrap="square" lIns="0" rIns="0" tIns="0" bIns="0" anchor="t">
            <a:spAutoFit/>
          </a:bodyPr>
          <a:lstStyle/>
          <a:p>
            <a:pPr algn="l">
              <a:lnSpc>
                <a:spcPct val="100000"/>
              </a:lnSpc>
            </a:pPr>
            <a:r>
              <a:rPr sz="1400" b="1">
                <a:solidFill>
                  <a:srgbClr val="15171A"/>
                </a:solidFill>
                <a:latin typeface="Noto Sans KR"/>
                <a:ea typeface="Noto Sans KR"/>
                <a:cs typeface="Noto Sans KR"/>
              </a:rPr>
              <a:t>메뉴 전환 시간</a:t>
            </a:r>
          </a:p>
        </p:txBody>
      </p:sp>
      <p:sp>
        <p:nvSpPr>
          <p:cNvPr id="58" name="TextBox 57"/>
          <p:cNvSpPr txBox="1"/>
          <p:nvPr/>
        </p:nvSpPr>
        <p:spPr>
          <a:xfrm>
            <a:off x="6905287" y="5425287"/>
            <a:ext cx="1344559" cy="237744"/>
          </a:xfrm>
          <a:prstGeom prst="rect">
            <a:avLst/>
          </a:prstGeom>
          <a:noFill/>
        </p:spPr>
        <p:txBody>
          <a:bodyPr wrap="square" lIns="0" rIns="0" tIns="0" bIns="0" anchor="t">
            <a:spAutoFit/>
          </a:bodyPr>
          <a:lstStyle/>
          <a:p>
            <a:pPr algn="l">
              <a:lnSpc>
                <a:spcPct val="100000"/>
              </a:lnSpc>
            </a:pPr>
            <a:r>
              <a:rPr sz="1100" b="0">
                <a:solidFill>
                  <a:srgbClr val="E2571B"/>
                </a:solidFill>
                <a:latin typeface="Noto Sans KR"/>
                <a:ea typeface="Noto Sans KR"/>
                <a:cs typeface="Noto Sans KR"/>
              </a:rPr>
              <a:t>PoC에서 측정</a:t>
            </a:r>
          </a:p>
        </p:txBody>
      </p:sp>
      <p:cxnSp>
        <p:nvCxnSpPr>
          <p:cNvPr id="59" name="Connector 58"/>
          <p:cNvCxnSpPr/>
          <p:nvPr/>
        </p:nvCxnSpPr>
        <p:spPr>
          <a:xfrm>
            <a:off x="8322999" y="4840071"/>
            <a:ext cx="0" cy="868680"/>
          </a:xfrm>
          <a:prstGeom prst="line">
            <a:avLst/>
          </a:prstGeom>
          <a:ln w="9525">
            <a:solidFill>
              <a:srgbClr val="E2E4E7"/>
            </a:solidFill>
          </a:ln>
        </p:spPr>
      </p:cxnSp>
      <p:sp>
        <p:nvSpPr>
          <p:cNvPr id="60" name="TextBox 59"/>
          <p:cNvSpPr txBox="1"/>
          <p:nvPr/>
        </p:nvSpPr>
        <p:spPr>
          <a:xfrm>
            <a:off x="8451015" y="4821783"/>
            <a:ext cx="1344559" cy="548640"/>
          </a:xfrm>
          <a:prstGeom prst="rect">
            <a:avLst/>
          </a:prstGeom>
          <a:noFill/>
        </p:spPr>
        <p:txBody>
          <a:bodyPr wrap="square" lIns="0" rIns="0" tIns="0" bIns="0" anchor="t">
            <a:spAutoFit/>
          </a:bodyPr>
          <a:lstStyle/>
          <a:p>
            <a:pPr algn="l">
              <a:lnSpc>
                <a:spcPct val="100000"/>
              </a:lnSpc>
            </a:pPr>
            <a:r>
              <a:rPr sz="1400" b="1">
                <a:solidFill>
                  <a:srgbClr val="15171A"/>
                </a:solidFill>
                <a:latin typeface="Noto Sans KR"/>
                <a:ea typeface="Noto Sans KR"/>
                <a:cs typeface="Noto Sans KR"/>
              </a:rPr>
              <a:t>로봇 가동률</a:t>
            </a:r>
          </a:p>
        </p:txBody>
      </p:sp>
      <p:sp>
        <p:nvSpPr>
          <p:cNvPr id="61" name="TextBox 60"/>
          <p:cNvSpPr txBox="1"/>
          <p:nvPr/>
        </p:nvSpPr>
        <p:spPr>
          <a:xfrm>
            <a:off x="8451015" y="5425287"/>
            <a:ext cx="1344559" cy="237744"/>
          </a:xfrm>
          <a:prstGeom prst="rect">
            <a:avLst/>
          </a:prstGeom>
          <a:noFill/>
        </p:spPr>
        <p:txBody>
          <a:bodyPr wrap="square" lIns="0" rIns="0" tIns="0" bIns="0" anchor="t">
            <a:spAutoFit/>
          </a:bodyPr>
          <a:lstStyle/>
          <a:p>
            <a:pPr algn="l">
              <a:lnSpc>
                <a:spcPct val="100000"/>
              </a:lnSpc>
            </a:pPr>
            <a:r>
              <a:rPr sz="1100" b="0">
                <a:solidFill>
                  <a:srgbClr val="E2571B"/>
                </a:solidFill>
                <a:latin typeface="Noto Sans KR"/>
                <a:ea typeface="Noto Sans KR"/>
                <a:cs typeface="Noto Sans KR"/>
              </a:rPr>
              <a:t>PoC에서 측정</a:t>
            </a:r>
          </a:p>
        </p:txBody>
      </p:sp>
      <p:cxnSp>
        <p:nvCxnSpPr>
          <p:cNvPr id="62" name="Connector 61"/>
          <p:cNvCxnSpPr/>
          <p:nvPr/>
        </p:nvCxnSpPr>
        <p:spPr>
          <a:xfrm>
            <a:off x="9868727" y="4840071"/>
            <a:ext cx="0" cy="868680"/>
          </a:xfrm>
          <a:prstGeom prst="line">
            <a:avLst/>
          </a:prstGeom>
          <a:ln w="9525">
            <a:solidFill>
              <a:srgbClr val="E2E4E7"/>
            </a:solidFill>
          </a:ln>
        </p:spPr>
      </p:cxnSp>
      <p:sp>
        <p:nvSpPr>
          <p:cNvPr id="63" name="TextBox 62"/>
          <p:cNvSpPr txBox="1"/>
          <p:nvPr/>
        </p:nvSpPr>
        <p:spPr>
          <a:xfrm>
            <a:off x="9996743" y="4821783"/>
            <a:ext cx="1344559" cy="548640"/>
          </a:xfrm>
          <a:prstGeom prst="rect">
            <a:avLst/>
          </a:prstGeom>
          <a:noFill/>
        </p:spPr>
        <p:txBody>
          <a:bodyPr wrap="square" lIns="0" rIns="0" tIns="0" bIns="0" anchor="t">
            <a:spAutoFit/>
          </a:bodyPr>
          <a:lstStyle/>
          <a:p>
            <a:pPr algn="l">
              <a:lnSpc>
                <a:spcPct val="100000"/>
              </a:lnSpc>
            </a:pPr>
            <a:r>
              <a:rPr sz="1400" b="1">
                <a:solidFill>
                  <a:srgbClr val="15171A"/>
                </a:solidFill>
                <a:latin typeface="Noto Sans KR"/>
                <a:ea typeface="Noto Sans KR"/>
                <a:cs typeface="Noto Sans KR"/>
              </a:rPr>
              <a:t>투자 회수기간</a:t>
            </a:r>
          </a:p>
        </p:txBody>
      </p:sp>
      <p:sp>
        <p:nvSpPr>
          <p:cNvPr id="64" name="TextBox 63"/>
          <p:cNvSpPr txBox="1"/>
          <p:nvPr/>
        </p:nvSpPr>
        <p:spPr>
          <a:xfrm>
            <a:off x="9996743" y="5425287"/>
            <a:ext cx="1344559" cy="237744"/>
          </a:xfrm>
          <a:prstGeom prst="rect">
            <a:avLst/>
          </a:prstGeom>
          <a:noFill/>
        </p:spPr>
        <p:txBody>
          <a:bodyPr wrap="square" lIns="0" rIns="0" tIns="0" bIns="0" anchor="t">
            <a:spAutoFit/>
          </a:bodyPr>
          <a:lstStyle/>
          <a:p>
            <a:pPr algn="l">
              <a:lnSpc>
                <a:spcPct val="100000"/>
              </a:lnSpc>
            </a:pPr>
            <a:r>
              <a:rPr sz="1100" b="0">
                <a:solidFill>
                  <a:srgbClr val="E2571B"/>
                </a:solidFill>
                <a:latin typeface="Noto Sans KR"/>
                <a:ea typeface="Noto Sans KR"/>
                <a:cs typeface="Noto Sans KR"/>
              </a:rPr>
              <a:t>PoC에서 측정</a:t>
            </a:r>
          </a:p>
        </p:txBody>
      </p:sp>
      <p:sp>
        <p:nvSpPr>
          <p:cNvPr id="65" name="TextBox 64"/>
          <p:cNvSpPr txBox="1"/>
          <p:nvPr/>
        </p:nvSpPr>
        <p:spPr>
          <a:xfrm>
            <a:off x="685800" y="6446520"/>
            <a:ext cx="5486400" cy="201168"/>
          </a:xfrm>
          <a:prstGeom prst="rect">
            <a:avLst/>
          </a:prstGeom>
          <a:noFill/>
        </p:spPr>
        <p:txBody>
          <a:bodyPr wrap="square" lIns="0" rIns="0" tIns="0" bIns="0" anchor="t">
            <a:spAutoFit/>
          </a:bodyPr>
          <a:lstStyle/>
          <a:p>
            <a:pPr algn="l">
              <a:lnSpc>
                <a:spcPct val="100000"/>
              </a:lnSpc>
            </a:pPr>
            <a:r>
              <a:rPr sz="900" b="0">
                <a:solidFill>
                  <a:srgbClr val="8C9198"/>
                </a:solidFill>
                <a:latin typeface="Noto Sans KR"/>
                <a:ea typeface="Noto Sans KR"/>
                <a:cs typeface="Noto Sans KR"/>
              </a:rPr>
              <a:t>SoftHand  |  주방 로봇 조작 플랫폼  |  Seed 투자 제안서</a:t>
            </a:r>
          </a:p>
        </p:txBody>
      </p:sp>
      <p:sp>
        <p:nvSpPr>
          <p:cNvPr id="66" name="TextBox 65"/>
          <p:cNvSpPr txBox="1"/>
          <p:nvPr/>
        </p:nvSpPr>
        <p:spPr>
          <a:xfrm>
            <a:off x="3154680" y="6446520"/>
            <a:ext cx="7802575" cy="201168"/>
          </a:xfrm>
          <a:prstGeom prst="rect">
            <a:avLst/>
          </a:prstGeom>
          <a:noFill/>
        </p:spPr>
        <p:txBody>
          <a:bodyPr wrap="square" lIns="0" rIns="0" tIns="0" bIns="0" anchor="t">
            <a:spAutoFit/>
          </a:bodyPr>
          <a:lstStyle/>
          <a:p>
            <a:pPr algn="r">
              <a:lnSpc>
                <a:spcPct val="100000"/>
              </a:lnSpc>
            </a:pPr>
            <a:r>
              <a:rPr sz="900" b="0">
                <a:solidFill>
                  <a:srgbClr val="8C9198"/>
                </a:solidFill>
                <a:latin typeface="Noto Sans KR"/>
                <a:ea typeface="Noto Sans KR"/>
                <a:cs typeface="Noto Sans KR"/>
              </a:rPr>
              <a:t>감소 폭은 고객 기존 수치 확보 후 PoC 결과로 산정 · 유료 PoC 자체가 지불의사 검증</a:t>
            </a:r>
          </a:p>
        </p:txBody>
      </p:sp>
      <p:sp>
        <p:nvSpPr>
          <p:cNvPr id="67" name="TextBox 66"/>
          <p:cNvSpPr txBox="1"/>
          <p:nvPr/>
        </p:nvSpPr>
        <p:spPr>
          <a:xfrm>
            <a:off x="11048695" y="6446520"/>
            <a:ext cx="457200" cy="201168"/>
          </a:xfrm>
          <a:prstGeom prst="rect">
            <a:avLst/>
          </a:prstGeom>
          <a:noFill/>
        </p:spPr>
        <p:txBody>
          <a:bodyPr wrap="square" lIns="0" rIns="0" tIns="0" bIns="0" anchor="t">
            <a:spAutoFit/>
          </a:bodyPr>
          <a:lstStyle/>
          <a:p>
            <a:pPr algn="r">
              <a:lnSpc>
                <a:spcPct val="100000"/>
              </a:lnSpc>
            </a:pPr>
            <a:r>
              <a:rPr sz="900" b="0">
                <a:solidFill>
                  <a:srgbClr val="8C9198"/>
                </a:solidFill>
                <a:latin typeface="Noto Sans KR"/>
                <a:ea typeface="Noto Sans KR"/>
                <a:cs typeface="Noto Sans KR"/>
              </a:rPr>
              <a:t>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548640"/>
            <a:ext cx="7315200" cy="274320"/>
          </a:xfrm>
          <a:prstGeom prst="rect">
            <a:avLst/>
          </a:prstGeom>
          <a:noFill/>
        </p:spPr>
        <p:txBody>
          <a:bodyPr wrap="square" lIns="0" rIns="0" tIns="0" bIns="0" anchor="t">
            <a:spAutoFit/>
          </a:bodyPr>
          <a:lstStyle/>
          <a:p>
            <a:pPr algn="l">
              <a:lnSpc>
                <a:spcPct val="100000"/>
              </a:lnSpc>
            </a:pPr>
            <a:r>
              <a:rPr sz="1200" b="1">
                <a:solidFill>
                  <a:srgbClr val="E2571B"/>
                </a:solidFill>
                <a:latin typeface="Noto Sans KR"/>
                <a:ea typeface="Noto Sans KR"/>
                <a:cs typeface="Noto Sans KR"/>
              </a:rPr>
              <a:t>PLATFORM</a:t>
            </a:r>
          </a:p>
        </p:txBody>
      </p:sp>
      <p:sp>
        <p:nvSpPr>
          <p:cNvPr id="3" name="TextBox 2"/>
          <p:cNvSpPr txBox="1"/>
          <p:nvPr/>
        </p:nvSpPr>
        <p:spPr>
          <a:xfrm>
            <a:off x="685800" y="932688"/>
            <a:ext cx="10820095" cy="542391"/>
          </a:xfrm>
          <a:prstGeom prst="rect">
            <a:avLst/>
          </a:prstGeom>
          <a:noFill/>
        </p:spPr>
        <p:txBody>
          <a:bodyPr wrap="square" lIns="0" rIns="0" tIns="0" bIns="0" anchor="t">
            <a:spAutoFit/>
          </a:bodyPr>
          <a:lstStyle/>
          <a:p>
            <a:pPr algn="l">
              <a:lnSpc>
                <a:spcPct val="95000"/>
              </a:lnSpc>
            </a:pPr>
            <a:r>
              <a:rPr sz="3000" b="1">
                <a:solidFill>
                  <a:srgbClr val="15171A"/>
                </a:solidFill>
                <a:latin typeface="Noto Sans KR"/>
                <a:ea typeface="Noto Sans KR"/>
                <a:cs typeface="Noto Sans KR"/>
              </a:rPr>
              <a:t>메뉴가 늘수록 장비가 아니라 Skill이 쌓입니다</a:t>
            </a:r>
          </a:p>
        </p:txBody>
      </p:sp>
      <p:sp>
        <p:nvSpPr>
          <p:cNvPr id="4" name="TextBox 3"/>
          <p:cNvSpPr txBox="1"/>
          <p:nvPr/>
        </p:nvSpPr>
        <p:spPr>
          <a:xfrm>
            <a:off x="685800" y="1584807"/>
            <a:ext cx="10820095" cy="329184"/>
          </a:xfrm>
          <a:prstGeom prst="rect">
            <a:avLst/>
          </a:prstGeom>
          <a:noFill/>
        </p:spPr>
        <p:txBody>
          <a:bodyPr wrap="square" lIns="0" rIns="0" tIns="0" bIns="0" anchor="t">
            <a:spAutoFit/>
          </a:bodyPr>
          <a:lstStyle/>
          <a:p>
            <a:pPr algn="l">
              <a:lnSpc>
                <a:spcPct val="100000"/>
              </a:lnSpc>
            </a:pPr>
            <a:r>
              <a:rPr sz="1600" b="0">
                <a:solidFill>
                  <a:srgbClr val="4A4F57"/>
                </a:solidFill>
                <a:latin typeface="Noto Sans KR"/>
                <a:ea typeface="Noto Sans KR"/>
                <a:cs typeface="Noto Sans KR"/>
              </a:rPr>
              <a:t>From Hardware Expansion to Skill Expansion</a:t>
            </a:r>
          </a:p>
        </p:txBody>
      </p:sp>
      <p:sp>
        <p:nvSpPr>
          <p:cNvPr id="5" name="TextBox 4"/>
          <p:cNvSpPr txBox="1"/>
          <p:nvPr/>
        </p:nvSpPr>
        <p:spPr>
          <a:xfrm>
            <a:off x="685800" y="2096871"/>
            <a:ext cx="2743200" cy="237744"/>
          </a:xfrm>
          <a:prstGeom prst="rect">
            <a:avLst/>
          </a:prstGeom>
          <a:noFill/>
        </p:spPr>
        <p:txBody>
          <a:bodyPr wrap="square" lIns="0" rIns="0" tIns="0" bIns="0" anchor="t">
            <a:spAutoFit/>
          </a:bodyPr>
          <a:lstStyle/>
          <a:p>
            <a:pPr algn="l">
              <a:lnSpc>
                <a:spcPct val="100000"/>
              </a:lnSpc>
            </a:pPr>
            <a:r>
              <a:rPr sz="1200" b="1">
                <a:solidFill>
                  <a:srgbClr val="8C9198"/>
                </a:solidFill>
                <a:latin typeface="Noto Sans KR"/>
                <a:ea typeface="Noto Sans KR"/>
                <a:cs typeface="Noto Sans KR"/>
              </a:rPr>
              <a:t>기존 자동화</a:t>
            </a:r>
          </a:p>
        </p:txBody>
      </p:sp>
      <p:sp>
        <p:nvSpPr>
          <p:cNvPr id="6" name="Rectangle 5"/>
          <p:cNvSpPr/>
          <p:nvPr/>
        </p:nvSpPr>
        <p:spPr>
          <a:xfrm>
            <a:off x="685800" y="2407767"/>
            <a:ext cx="786384" cy="384048"/>
          </a:xfrm>
          <a:prstGeom prst="rect">
            <a:avLst/>
          </a:prstGeom>
          <a:solidFill>
            <a:srgbClr val="F4F5F6"/>
          </a:solidFill>
          <a:ln>
            <a:noFill/>
          </a:ln>
        </p:spPr>
        <p:txBody>
          <a:bodyPr rtlCol="0" anchor="ctr"/>
          <a:lstStyle/>
          <a:p>
            <a:pPr algn="ctr"/>
          </a:p>
        </p:txBody>
      </p:sp>
      <p:sp>
        <p:nvSpPr>
          <p:cNvPr id="7" name="TextBox 6"/>
          <p:cNvSpPr txBox="1"/>
          <p:nvPr/>
        </p:nvSpPr>
        <p:spPr>
          <a:xfrm>
            <a:off x="758952" y="2407767"/>
            <a:ext cx="640080" cy="384048"/>
          </a:xfrm>
          <a:prstGeom prst="rect">
            <a:avLst/>
          </a:prstGeom>
          <a:noFill/>
        </p:spPr>
        <p:txBody>
          <a:bodyPr wrap="square" lIns="0" rIns="0" tIns="0" bIns="0" anchor="ctr">
            <a:spAutoFit/>
          </a:bodyPr>
          <a:lstStyle/>
          <a:p>
            <a:pPr algn="ctr">
              <a:lnSpc>
                <a:spcPct val="100000"/>
              </a:lnSpc>
            </a:pPr>
            <a:r>
              <a:rPr sz="1150" b="1">
                <a:solidFill>
                  <a:srgbClr val="15171A"/>
                </a:solidFill>
                <a:latin typeface="Noto Sans KR"/>
                <a:ea typeface="Noto Sans KR"/>
                <a:cs typeface="Noto Sans KR"/>
              </a:rPr>
              <a:t>메뉴 A</a:t>
            </a:r>
          </a:p>
        </p:txBody>
      </p:sp>
      <p:cxnSp>
        <p:nvCxnSpPr>
          <p:cNvPr id="8" name="Connector 7"/>
          <p:cNvCxnSpPr/>
          <p:nvPr/>
        </p:nvCxnSpPr>
        <p:spPr>
          <a:xfrm>
            <a:off x="1508760" y="2599791"/>
            <a:ext cx="201168" cy="0"/>
          </a:xfrm>
          <a:prstGeom prst="line">
            <a:avLst/>
          </a:prstGeom>
          <a:ln w="15875">
            <a:solidFill>
              <a:srgbClr val="8C9198"/>
            </a:solidFill>
            <a:tailEnd type="triangle" w="med" len="med"/>
          </a:ln>
        </p:spPr>
      </p:cxnSp>
      <p:sp>
        <p:nvSpPr>
          <p:cNvPr id="9" name="Rectangle 8"/>
          <p:cNvSpPr/>
          <p:nvPr/>
        </p:nvSpPr>
        <p:spPr>
          <a:xfrm>
            <a:off x="1746504" y="2407767"/>
            <a:ext cx="786384" cy="384048"/>
          </a:xfrm>
          <a:prstGeom prst="rect">
            <a:avLst/>
          </a:prstGeom>
          <a:solidFill>
            <a:srgbClr val="5A5F66"/>
          </a:solidFill>
          <a:ln>
            <a:noFill/>
          </a:ln>
        </p:spPr>
        <p:txBody>
          <a:bodyPr rtlCol="0" anchor="ctr"/>
          <a:lstStyle/>
          <a:p>
            <a:pPr algn="ctr"/>
          </a:p>
        </p:txBody>
      </p:sp>
      <p:sp>
        <p:nvSpPr>
          <p:cNvPr id="10" name="TextBox 9"/>
          <p:cNvSpPr txBox="1"/>
          <p:nvPr/>
        </p:nvSpPr>
        <p:spPr>
          <a:xfrm>
            <a:off x="1819656" y="2407767"/>
            <a:ext cx="640080" cy="384048"/>
          </a:xfrm>
          <a:prstGeom prst="rect">
            <a:avLst/>
          </a:prstGeom>
          <a:noFill/>
        </p:spPr>
        <p:txBody>
          <a:bodyPr wrap="square" lIns="0" rIns="0" tIns="0" bIns="0" anchor="ctr">
            <a:spAutoFit/>
          </a:bodyPr>
          <a:lstStyle/>
          <a:p>
            <a:pPr algn="ctr">
              <a:lnSpc>
                <a:spcPct val="100000"/>
              </a:lnSpc>
            </a:pPr>
            <a:r>
              <a:rPr sz="1150" b="1">
                <a:solidFill>
                  <a:srgbClr val="FFFFFF"/>
                </a:solidFill>
                <a:latin typeface="Noto Sans KR"/>
                <a:ea typeface="Noto Sans KR"/>
                <a:cs typeface="Noto Sans KR"/>
              </a:rPr>
              <a:t>장비 A</a:t>
            </a:r>
          </a:p>
        </p:txBody>
      </p:sp>
      <p:sp>
        <p:nvSpPr>
          <p:cNvPr id="11" name="Rectangle 10"/>
          <p:cNvSpPr/>
          <p:nvPr/>
        </p:nvSpPr>
        <p:spPr>
          <a:xfrm>
            <a:off x="2715768" y="2407767"/>
            <a:ext cx="786384" cy="384048"/>
          </a:xfrm>
          <a:prstGeom prst="rect">
            <a:avLst/>
          </a:prstGeom>
          <a:solidFill>
            <a:srgbClr val="F4F5F6"/>
          </a:solidFill>
          <a:ln>
            <a:noFill/>
          </a:ln>
        </p:spPr>
        <p:txBody>
          <a:bodyPr rtlCol="0" anchor="ctr"/>
          <a:lstStyle/>
          <a:p>
            <a:pPr algn="ctr"/>
          </a:p>
        </p:txBody>
      </p:sp>
      <p:sp>
        <p:nvSpPr>
          <p:cNvPr id="12" name="TextBox 11"/>
          <p:cNvSpPr txBox="1"/>
          <p:nvPr/>
        </p:nvSpPr>
        <p:spPr>
          <a:xfrm>
            <a:off x="2788920" y="2407767"/>
            <a:ext cx="640080" cy="384048"/>
          </a:xfrm>
          <a:prstGeom prst="rect">
            <a:avLst/>
          </a:prstGeom>
          <a:noFill/>
        </p:spPr>
        <p:txBody>
          <a:bodyPr wrap="square" lIns="0" rIns="0" tIns="0" bIns="0" anchor="ctr">
            <a:spAutoFit/>
          </a:bodyPr>
          <a:lstStyle/>
          <a:p>
            <a:pPr algn="ctr">
              <a:lnSpc>
                <a:spcPct val="100000"/>
              </a:lnSpc>
            </a:pPr>
            <a:r>
              <a:rPr sz="1150" b="1">
                <a:solidFill>
                  <a:srgbClr val="15171A"/>
                </a:solidFill>
                <a:latin typeface="Noto Sans KR"/>
                <a:ea typeface="Noto Sans KR"/>
                <a:cs typeface="Noto Sans KR"/>
              </a:rPr>
              <a:t>메뉴 B</a:t>
            </a:r>
          </a:p>
        </p:txBody>
      </p:sp>
      <p:cxnSp>
        <p:nvCxnSpPr>
          <p:cNvPr id="13" name="Connector 12"/>
          <p:cNvCxnSpPr/>
          <p:nvPr/>
        </p:nvCxnSpPr>
        <p:spPr>
          <a:xfrm>
            <a:off x="3538728" y="2599791"/>
            <a:ext cx="201168" cy="0"/>
          </a:xfrm>
          <a:prstGeom prst="line">
            <a:avLst/>
          </a:prstGeom>
          <a:ln w="15875">
            <a:solidFill>
              <a:srgbClr val="8C9198"/>
            </a:solidFill>
            <a:tailEnd type="triangle" w="med" len="med"/>
          </a:ln>
        </p:spPr>
      </p:cxnSp>
      <p:sp>
        <p:nvSpPr>
          <p:cNvPr id="14" name="Rectangle 13"/>
          <p:cNvSpPr/>
          <p:nvPr/>
        </p:nvSpPr>
        <p:spPr>
          <a:xfrm>
            <a:off x="3776472" y="2407767"/>
            <a:ext cx="786384" cy="384048"/>
          </a:xfrm>
          <a:prstGeom prst="rect">
            <a:avLst/>
          </a:prstGeom>
          <a:solidFill>
            <a:srgbClr val="5A5F66"/>
          </a:solidFill>
          <a:ln>
            <a:noFill/>
          </a:ln>
        </p:spPr>
        <p:txBody>
          <a:bodyPr rtlCol="0" anchor="ctr"/>
          <a:lstStyle/>
          <a:p>
            <a:pPr algn="ctr"/>
          </a:p>
        </p:txBody>
      </p:sp>
      <p:sp>
        <p:nvSpPr>
          <p:cNvPr id="15" name="TextBox 14"/>
          <p:cNvSpPr txBox="1"/>
          <p:nvPr/>
        </p:nvSpPr>
        <p:spPr>
          <a:xfrm>
            <a:off x="3849624" y="2407767"/>
            <a:ext cx="640080" cy="384048"/>
          </a:xfrm>
          <a:prstGeom prst="rect">
            <a:avLst/>
          </a:prstGeom>
          <a:noFill/>
        </p:spPr>
        <p:txBody>
          <a:bodyPr wrap="square" lIns="0" rIns="0" tIns="0" bIns="0" anchor="ctr">
            <a:spAutoFit/>
          </a:bodyPr>
          <a:lstStyle/>
          <a:p>
            <a:pPr algn="ctr">
              <a:lnSpc>
                <a:spcPct val="100000"/>
              </a:lnSpc>
            </a:pPr>
            <a:r>
              <a:rPr sz="1150" b="1">
                <a:solidFill>
                  <a:srgbClr val="FFFFFF"/>
                </a:solidFill>
                <a:latin typeface="Noto Sans KR"/>
                <a:ea typeface="Noto Sans KR"/>
                <a:cs typeface="Noto Sans KR"/>
              </a:rPr>
              <a:t>장비 B</a:t>
            </a:r>
          </a:p>
        </p:txBody>
      </p:sp>
      <p:sp>
        <p:nvSpPr>
          <p:cNvPr id="16" name="Rectangle 15"/>
          <p:cNvSpPr/>
          <p:nvPr/>
        </p:nvSpPr>
        <p:spPr>
          <a:xfrm>
            <a:off x="4745736" y="2407767"/>
            <a:ext cx="786384" cy="384048"/>
          </a:xfrm>
          <a:prstGeom prst="rect">
            <a:avLst/>
          </a:prstGeom>
          <a:solidFill>
            <a:srgbClr val="F4F5F6"/>
          </a:solidFill>
          <a:ln>
            <a:noFill/>
          </a:ln>
        </p:spPr>
        <p:txBody>
          <a:bodyPr rtlCol="0" anchor="ctr"/>
          <a:lstStyle/>
          <a:p>
            <a:pPr algn="ctr"/>
          </a:p>
        </p:txBody>
      </p:sp>
      <p:sp>
        <p:nvSpPr>
          <p:cNvPr id="17" name="TextBox 16"/>
          <p:cNvSpPr txBox="1"/>
          <p:nvPr/>
        </p:nvSpPr>
        <p:spPr>
          <a:xfrm>
            <a:off x="4818888" y="2407767"/>
            <a:ext cx="640080" cy="384048"/>
          </a:xfrm>
          <a:prstGeom prst="rect">
            <a:avLst/>
          </a:prstGeom>
          <a:noFill/>
        </p:spPr>
        <p:txBody>
          <a:bodyPr wrap="square" lIns="0" rIns="0" tIns="0" bIns="0" anchor="ctr">
            <a:spAutoFit/>
          </a:bodyPr>
          <a:lstStyle/>
          <a:p>
            <a:pPr algn="ctr">
              <a:lnSpc>
                <a:spcPct val="100000"/>
              </a:lnSpc>
            </a:pPr>
            <a:r>
              <a:rPr sz="1150" b="1">
                <a:solidFill>
                  <a:srgbClr val="15171A"/>
                </a:solidFill>
                <a:latin typeface="Noto Sans KR"/>
                <a:ea typeface="Noto Sans KR"/>
                <a:cs typeface="Noto Sans KR"/>
              </a:rPr>
              <a:t>메뉴 C</a:t>
            </a:r>
          </a:p>
        </p:txBody>
      </p:sp>
      <p:cxnSp>
        <p:nvCxnSpPr>
          <p:cNvPr id="18" name="Connector 17"/>
          <p:cNvCxnSpPr/>
          <p:nvPr/>
        </p:nvCxnSpPr>
        <p:spPr>
          <a:xfrm>
            <a:off x="5568696" y="2599791"/>
            <a:ext cx="201168" cy="0"/>
          </a:xfrm>
          <a:prstGeom prst="line">
            <a:avLst/>
          </a:prstGeom>
          <a:ln w="15875">
            <a:solidFill>
              <a:srgbClr val="8C9198"/>
            </a:solidFill>
            <a:tailEnd type="triangle" w="med" len="med"/>
          </a:ln>
        </p:spPr>
      </p:cxnSp>
      <p:sp>
        <p:nvSpPr>
          <p:cNvPr id="19" name="Rectangle 18"/>
          <p:cNvSpPr/>
          <p:nvPr/>
        </p:nvSpPr>
        <p:spPr>
          <a:xfrm>
            <a:off x="5806440" y="2407767"/>
            <a:ext cx="786384" cy="384048"/>
          </a:xfrm>
          <a:prstGeom prst="rect">
            <a:avLst/>
          </a:prstGeom>
          <a:solidFill>
            <a:srgbClr val="5A5F66"/>
          </a:solidFill>
          <a:ln>
            <a:noFill/>
          </a:ln>
        </p:spPr>
        <p:txBody>
          <a:bodyPr rtlCol="0" anchor="ctr"/>
          <a:lstStyle/>
          <a:p>
            <a:pPr algn="ctr"/>
          </a:p>
        </p:txBody>
      </p:sp>
      <p:sp>
        <p:nvSpPr>
          <p:cNvPr id="20" name="TextBox 19"/>
          <p:cNvSpPr txBox="1"/>
          <p:nvPr/>
        </p:nvSpPr>
        <p:spPr>
          <a:xfrm>
            <a:off x="5879592" y="2407767"/>
            <a:ext cx="640080" cy="384048"/>
          </a:xfrm>
          <a:prstGeom prst="rect">
            <a:avLst/>
          </a:prstGeom>
          <a:noFill/>
        </p:spPr>
        <p:txBody>
          <a:bodyPr wrap="square" lIns="0" rIns="0" tIns="0" bIns="0" anchor="ctr">
            <a:spAutoFit/>
          </a:bodyPr>
          <a:lstStyle/>
          <a:p>
            <a:pPr algn="ctr">
              <a:lnSpc>
                <a:spcPct val="100000"/>
              </a:lnSpc>
            </a:pPr>
            <a:r>
              <a:rPr sz="1150" b="1">
                <a:solidFill>
                  <a:srgbClr val="FFFFFF"/>
                </a:solidFill>
                <a:latin typeface="Noto Sans KR"/>
                <a:ea typeface="Noto Sans KR"/>
                <a:cs typeface="Noto Sans KR"/>
              </a:rPr>
              <a:t>장비 C</a:t>
            </a:r>
          </a:p>
        </p:txBody>
      </p:sp>
      <p:sp>
        <p:nvSpPr>
          <p:cNvPr id="21" name="TextBox 20"/>
          <p:cNvSpPr txBox="1"/>
          <p:nvPr/>
        </p:nvSpPr>
        <p:spPr>
          <a:xfrm>
            <a:off x="685800" y="3011271"/>
            <a:ext cx="2743200" cy="237744"/>
          </a:xfrm>
          <a:prstGeom prst="rect">
            <a:avLst/>
          </a:prstGeom>
          <a:noFill/>
        </p:spPr>
        <p:txBody>
          <a:bodyPr wrap="square" lIns="0" rIns="0" tIns="0" bIns="0" anchor="t">
            <a:spAutoFit/>
          </a:bodyPr>
          <a:lstStyle/>
          <a:p>
            <a:pPr algn="l">
              <a:lnSpc>
                <a:spcPct val="100000"/>
              </a:lnSpc>
            </a:pPr>
            <a:r>
              <a:rPr sz="1200" b="1">
                <a:solidFill>
                  <a:srgbClr val="E2571B"/>
                </a:solidFill>
                <a:latin typeface="Noto Sans KR"/>
                <a:ea typeface="Noto Sans KR"/>
                <a:cs typeface="Noto Sans KR"/>
              </a:rPr>
              <a:t>SoftHand</a:t>
            </a:r>
          </a:p>
        </p:txBody>
      </p:sp>
      <p:sp>
        <p:nvSpPr>
          <p:cNvPr id="22" name="Rectangle 21"/>
          <p:cNvSpPr/>
          <p:nvPr/>
        </p:nvSpPr>
        <p:spPr>
          <a:xfrm>
            <a:off x="685800" y="3322167"/>
            <a:ext cx="2103120" cy="384048"/>
          </a:xfrm>
          <a:prstGeom prst="rect">
            <a:avLst/>
          </a:prstGeom>
          <a:solidFill>
            <a:srgbClr val="E2571B"/>
          </a:solidFill>
          <a:ln>
            <a:noFill/>
          </a:ln>
        </p:spPr>
        <p:txBody>
          <a:bodyPr rtlCol="0" anchor="ctr"/>
          <a:lstStyle/>
          <a:p>
            <a:pPr algn="ctr"/>
          </a:p>
        </p:txBody>
      </p:sp>
      <p:sp>
        <p:nvSpPr>
          <p:cNvPr id="23" name="TextBox 22"/>
          <p:cNvSpPr txBox="1"/>
          <p:nvPr/>
        </p:nvSpPr>
        <p:spPr>
          <a:xfrm>
            <a:off x="758952" y="3322167"/>
            <a:ext cx="1956815" cy="384048"/>
          </a:xfrm>
          <a:prstGeom prst="rect">
            <a:avLst/>
          </a:prstGeom>
          <a:noFill/>
        </p:spPr>
        <p:txBody>
          <a:bodyPr wrap="square" lIns="0" rIns="0" tIns="0" bIns="0" anchor="ctr">
            <a:spAutoFit/>
          </a:bodyPr>
          <a:lstStyle/>
          <a:p>
            <a:pPr algn="ctr">
              <a:lnSpc>
                <a:spcPct val="100000"/>
              </a:lnSpc>
            </a:pPr>
            <a:r>
              <a:rPr sz="1150" b="1">
                <a:solidFill>
                  <a:srgbClr val="FFFFFF"/>
                </a:solidFill>
                <a:latin typeface="Noto Sans KR"/>
                <a:ea typeface="Noto Sans KR"/>
                <a:cs typeface="Noto Sans KR"/>
              </a:rPr>
              <a:t>핸드 1개 + Kitchen Skills</a:t>
            </a:r>
          </a:p>
        </p:txBody>
      </p:sp>
      <p:cxnSp>
        <p:nvCxnSpPr>
          <p:cNvPr id="24" name="Connector 23"/>
          <p:cNvCxnSpPr/>
          <p:nvPr/>
        </p:nvCxnSpPr>
        <p:spPr>
          <a:xfrm>
            <a:off x="2834639" y="3514191"/>
            <a:ext cx="228600" cy="0"/>
          </a:xfrm>
          <a:prstGeom prst="line">
            <a:avLst/>
          </a:prstGeom>
          <a:ln w="15875">
            <a:solidFill>
              <a:srgbClr val="8C9198"/>
            </a:solidFill>
            <a:tailEnd type="triangle" w="med" len="med"/>
          </a:ln>
        </p:spPr>
      </p:cxnSp>
      <p:sp>
        <p:nvSpPr>
          <p:cNvPr id="25" name="Rectangle 24"/>
          <p:cNvSpPr/>
          <p:nvPr/>
        </p:nvSpPr>
        <p:spPr>
          <a:xfrm>
            <a:off x="3108960" y="3322167"/>
            <a:ext cx="1371600" cy="384048"/>
          </a:xfrm>
          <a:prstGeom prst="rect">
            <a:avLst/>
          </a:prstGeom>
          <a:solidFill>
            <a:srgbClr val="15171A"/>
          </a:solidFill>
          <a:ln>
            <a:noFill/>
          </a:ln>
        </p:spPr>
        <p:txBody>
          <a:bodyPr rtlCol="0" anchor="ctr"/>
          <a:lstStyle/>
          <a:p>
            <a:pPr algn="ctr"/>
          </a:p>
        </p:txBody>
      </p:sp>
      <p:sp>
        <p:nvSpPr>
          <p:cNvPr id="26" name="TextBox 25"/>
          <p:cNvSpPr txBox="1"/>
          <p:nvPr/>
        </p:nvSpPr>
        <p:spPr>
          <a:xfrm>
            <a:off x="3182112" y="3322167"/>
            <a:ext cx="1225296" cy="384048"/>
          </a:xfrm>
          <a:prstGeom prst="rect">
            <a:avLst/>
          </a:prstGeom>
          <a:noFill/>
        </p:spPr>
        <p:txBody>
          <a:bodyPr wrap="square" lIns="0" rIns="0" tIns="0" bIns="0" anchor="ctr">
            <a:spAutoFit/>
          </a:bodyPr>
          <a:lstStyle/>
          <a:p>
            <a:pPr algn="ctr">
              <a:lnSpc>
                <a:spcPct val="100000"/>
              </a:lnSpc>
            </a:pPr>
            <a:r>
              <a:rPr sz="1150" b="1">
                <a:solidFill>
                  <a:srgbClr val="FFFFFF"/>
                </a:solidFill>
                <a:latin typeface="Noto Sans KR"/>
                <a:ea typeface="Noto Sans KR"/>
                <a:cs typeface="Noto Sans KR"/>
              </a:rPr>
              <a:t>여러 레시피</a:t>
            </a:r>
          </a:p>
        </p:txBody>
      </p:sp>
      <p:cxnSp>
        <p:nvCxnSpPr>
          <p:cNvPr id="27" name="Connector 26"/>
          <p:cNvCxnSpPr/>
          <p:nvPr/>
        </p:nvCxnSpPr>
        <p:spPr>
          <a:xfrm>
            <a:off x="4526280" y="3514191"/>
            <a:ext cx="228600" cy="0"/>
          </a:xfrm>
          <a:prstGeom prst="line">
            <a:avLst/>
          </a:prstGeom>
          <a:ln w="15875">
            <a:solidFill>
              <a:srgbClr val="8C9198"/>
            </a:solidFill>
            <a:tailEnd type="triangle" w="med" len="med"/>
          </a:ln>
        </p:spPr>
      </p:cxnSp>
      <p:sp>
        <p:nvSpPr>
          <p:cNvPr id="28" name="Rectangle 27"/>
          <p:cNvSpPr/>
          <p:nvPr/>
        </p:nvSpPr>
        <p:spPr>
          <a:xfrm>
            <a:off x="4800600" y="3322167"/>
            <a:ext cx="1371600" cy="384048"/>
          </a:xfrm>
          <a:prstGeom prst="rect">
            <a:avLst/>
          </a:prstGeom>
          <a:solidFill>
            <a:srgbClr val="15171A"/>
          </a:solidFill>
          <a:ln>
            <a:noFill/>
          </a:ln>
        </p:spPr>
        <p:txBody>
          <a:bodyPr rtlCol="0" anchor="ctr"/>
          <a:lstStyle/>
          <a:p>
            <a:pPr algn="ctr"/>
          </a:p>
        </p:txBody>
      </p:sp>
      <p:sp>
        <p:nvSpPr>
          <p:cNvPr id="29" name="TextBox 28"/>
          <p:cNvSpPr txBox="1"/>
          <p:nvPr/>
        </p:nvSpPr>
        <p:spPr>
          <a:xfrm>
            <a:off x="4873752" y="3322167"/>
            <a:ext cx="1225296" cy="384048"/>
          </a:xfrm>
          <a:prstGeom prst="rect">
            <a:avLst/>
          </a:prstGeom>
          <a:noFill/>
        </p:spPr>
        <p:txBody>
          <a:bodyPr wrap="square" lIns="0" rIns="0" tIns="0" bIns="0" anchor="ctr">
            <a:spAutoFit/>
          </a:bodyPr>
          <a:lstStyle/>
          <a:p>
            <a:pPr algn="ctr">
              <a:lnSpc>
                <a:spcPct val="100000"/>
              </a:lnSpc>
            </a:pPr>
            <a:r>
              <a:rPr sz="1150" b="1">
                <a:solidFill>
                  <a:srgbClr val="FFFFFF"/>
                </a:solidFill>
                <a:latin typeface="Noto Sans KR"/>
                <a:ea typeface="Noto Sans KR"/>
                <a:cs typeface="Noto Sans KR"/>
              </a:rPr>
              <a:t>여러 주방</a:t>
            </a:r>
          </a:p>
        </p:txBody>
      </p:sp>
      <p:sp>
        <p:nvSpPr>
          <p:cNvPr id="30" name="TextBox 29"/>
          <p:cNvSpPr txBox="1"/>
          <p:nvPr/>
        </p:nvSpPr>
        <p:spPr>
          <a:xfrm>
            <a:off x="685800" y="3779367"/>
            <a:ext cx="5760720" cy="237744"/>
          </a:xfrm>
          <a:prstGeom prst="rect">
            <a:avLst/>
          </a:prstGeom>
          <a:noFill/>
        </p:spPr>
        <p:txBody>
          <a:bodyPr wrap="square" lIns="0" rIns="0" tIns="0" bIns="0" anchor="t">
            <a:spAutoFit/>
          </a:bodyPr>
          <a:lstStyle/>
          <a:p>
            <a:pPr algn="l">
              <a:lnSpc>
                <a:spcPct val="100000"/>
              </a:lnSpc>
            </a:pPr>
            <a:r>
              <a:rPr sz="1100" b="0">
                <a:solidFill>
                  <a:srgbClr val="4A4F57"/>
                </a:solidFill>
                <a:latin typeface="Noto Sans KR"/>
                <a:ea typeface="Noto Sans KR"/>
                <a:cs typeface="Noto Sans KR"/>
              </a:rPr>
              <a:t>집기 · 붓기 · 젓기 · 뒤집기 · 돌리기 · 담기의 조합 + 필요한 Skill 추가 (목표)</a:t>
            </a:r>
          </a:p>
        </p:txBody>
      </p:sp>
      <p:sp>
        <p:nvSpPr>
          <p:cNvPr id="31" name="TextBox 30"/>
          <p:cNvSpPr txBox="1"/>
          <p:nvPr/>
        </p:nvSpPr>
        <p:spPr>
          <a:xfrm>
            <a:off x="685800" y="4254855"/>
            <a:ext cx="5760720" cy="237744"/>
          </a:xfrm>
          <a:prstGeom prst="rect">
            <a:avLst/>
          </a:prstGeom>
          <a:noFill/>
        </p:spPr>
        <p:txBody>
          <a:bodyPr wrap="square" lIns="0" rIns="0" tIns="0" bIns="0" anchor="t">
            <a:spAutoFit/>
          </a:bodyPr>
          <a:lstStyle/>
          <a:p>
            <a:pPr algn="l">
              <a:lnSpc>
                <a:spcPct val="100000"/>
              </a:lnSpc>
            </a:pPr>
            <a:r>
              <a:rPr sz="1200" b="1">
                <a:solidFill>
                  <a:srgbClr val="8C9198"/>
                </a:solidFill>
                <a:latin typeface="Noto Sans KR"/>
                <a:ea typeface="Noto Sans KR"/>
                <a:cs typeface="Noto Sans KR"/>
              </a:rPr>
              <a:t>같은 '집게 사용' Skill, 다른 주방</a:t>
            </a:r>
          </a:p>
        </p:txBody>
      </p:sp>
      <p:pic>
        <p:nvPicPr>
          <p:cNvPr id="32" name="Picture 31" descr="lx_tongs_light_305x172_50_50_100.jpg"/>
          <p:cNvPicPr>
            <a:picLocks noChangeAspect="1"/>
          </p:cNvPicPr>
          <p:nvPr/>
        </p:nvPicPr>
        <p:blipFill>
          <a:blip r:embed="rId2"/>
          <a:stretch>
            <a:fillRect/>
          </a:stretch>
        </p:blipFill>
        <p:spPr>
          <a:xfrm>
            <a:off x="685800" y="4565751"/>
            <a:ext cx="2788920" cy="1572768"/>
          </a:xfrm>
          <a:prstGeom prst="rect">
            <a:avLst/>
          </a:prstGeom>
        </p:spPr>
      </p:pic>
      <p:sp>
        <p:nvSpPr>
          <p:cNvPr id="33" name="TextBox 32"/>
          <p:cNvSpPr txBox="1"/>
          <p:nvPr/>
        </p:nvSpPr>
        <p:spPr>
          <a:xfrm>
            <a:off x="685800" y="6193383"/>
            <a:ext cx="2788920" cy="237744"/>
          </a:xfrm>
          <a:prstGeom prst="rect">
            <a:avLst/>
          </a:prstGeom>
          <a:noFill/>
        </p:spPr>
        <p:txBody>
          <a:bodyPr wrap="square" lIns="0" rIns="0" tIns="0" bIns="0" anchor="t">
            <a:spAutoFit/>
          </a:bodyPr>
          <a:lstStyle/>
          <a:p>
            <a:pPr algn="l">
              <a:lnSpc>
                <a:spcPct val="100000"/>
              </a:lnSpc>
            </a:pPr>
            <a:r>
              <a:rPr sz="1100" b="0">
                <a:solidFill>
                  <a:srgbClr val="4A4F57"/>
                </a:solidFill>
                <a:latin typeface="Noto Sans KR"/>
                <a:ea typeface="Noto Sans KR"/>
                <a:cs typeface="Noto Sans KR"/>
              </a:rPr>
              <a:t>가정용 주방</a:t>
            </a:r>
          </a:p>
        </p:txBody>
      </p:sp>
      <p:pic>
        <p:nvPicPr>
          <p:cNvPr id="34" name="Picture 33" descr="pro_tongs_light_305x172_50_50_100.jpg"/>
          <p:cNvPicPr>
            <a:picLocks noChangeAspect="1"/>
          </p:cNvPicPr>
          <p:nvPr/>
        </p:nvPicPr>
        <p:blipFill>
          <a:blip r:embed="rId3"/>
          <a:stretch>
            <a:fillRect/>
          </a:stretch>
        </p:blipFill>
        <p:spPr>
          <a:xfrm>
            <a:off x="3657600" y="4565751"/>
            <a:ext cx="2788920" cy="1572768"/>
          </a:xfrm>
          <a:prstGeom prst="rect">
            <a:avLst/>
          </a:prstGeom>
        </p:spPr>
      </p:pic>
      <p:sp>
        <p:nvSpPr>
          <p:cNvPr id="35" name="TextBox 34"/>
          <p:cNvSpPr txBox="1"/>
          <p:nvPr/>
        </p:nvSpPr>
        <p:spPr>
          <a:xfrm>
            <a:off x="3657600" y="6193383"/>
            <a:ext cx="2788920" cy="237744"/>
          </a:xfrm>
          <a:prstGeom prst="rect">
            <a:avLst/>
          </a:prstGeom>
          <a:noFill/>
        </p:spPr>
        <p:txBody>
          <a:bodyPr wrap="square" lIns="0" rIns="0" tIns="0" bIns="0" anchor="t">
            <a:spAutoFit/>
          </a:bodyPr>
          <a:lstStyle/>
          <a:p>
            <a:pPr algn="l">
              <a:lnSpc>
                <a:spcPct val="100000"/>
              </a:lnSpc>
            </a:pPr>
            <a:r>
              <a:rPr sz="1100" b="0">
                <a:solidFill>
                  <a:srgbClr val="4A4F57"/>
                </a:solidFill>
                <a:latin typeface="Noto Sans KR"/>
                <a:ea typeface="Noto Sans KR"/>
                <a:cs typeface="Noto Sans KR"/>
              </a:rPr>
              <a:t>상업용 주방</a:t>
            </a:r>
          </a:p>
        </p:txBody>
      </p:sp>
      <p:sp>
        <p:nvSpPr>
          <p:cNvPr id="36" name="TextBox 35"/>
          <p:cNvSpPr txBox="1"/>
          <p:nvPr/>
        </p:nvSpPr>
        <p:spPr>
          <a:xfrm>
            <a:off x="6949440" y="2096871"/>
            <a:ext cx="4556455" cy="237744"/>
          </a:xfrm>
          <a:prstGeom prst="rect">
            <a:avLst/>
          </a:prstGeom>
          <a:noFill/>
        </p:spPr>
        <p:txBody>
          <a:bodyPr wrap="square" lIns="0" rIns="0" tIns="0" bIns="0" anchor="t">
            <a:spAutoFit/>
          </a:bodyPr>
          <a:lstStyle/>
          <a:p>
            <a:pPr algn="l">
              <a:lnSpc>
                <a:spcPct val="100000"/>
              </a:lnSpc>
            </a:pPr>
            <a:r>
              <a:rPr sz="1200" b="1">
                <a:solidFill>
                  <a:srgbClr val="8C9198"/>
                </a:solidFill>
                <a:latin typeface="Noto Sans KR"/>
                <a:ea typeface="Noto Sans KR"/>
                <a:cs typeface="Noto Sans KR"/>
              </a:rPr>
              <a:t>DATA FLYWHEEL  ·  향후 축적될 데이터 구조</a:t>
            </a:r>
          </a:p>
        </p:txBody>
      </p:sp>
      <p:sp>
        <p:nvSpPr>
          <p:cNvPr id="37" name="Oval 36"/>
          <p:cNvSpPr/>
          <p:nvPr/>
        </p:nvSpPr>
        <p:spPr>
          <a:xfrm>
            <a:off x="7929219" y="2672943"/>
            <a:ext cx="2596896" cy="2596896"/>
          </a:xfrm>
          <a:prstGeom prst="ellipse">
            <a:avLst/>
          </a:prstGeom>
          <a:noFill/>
          <a:ln w="19050">
            <a:solidFill>
              <a:srgbClr val="C9CDD2"/>
            </a:solidFill>
          </a:ln>
        </p:spPr>
        <p:txBody>
          <a:bodyPr rtlCol="0" anchor="ctr"/>
          <a:lstStyle/>
          <a:p>
            <a:pPr algn="ctr"/>
          </a:p>
        </p:txBody>
      </p:sp>
      <p:sp>
        <p:nvSpPr>
          <p:cNvPr id="38" name="Isosceles Triangle 37"/>
          <p:cNvSpPr/>
          <p:nvPr/>
        </p:nvSpPr>
        <p:spPr>
          <a:xfrm rot="7560000">
            <a:off x="9908580" y="2847773"/>
            <a:ext cx="164592" cy="146304"/>
          </a:xfrm>
          <a:prstGeom prst="triangle">
            <a:avLst/>
          </a:prstGeom>
          <a:solidFill>
            <a:srgbClr val="8C9198"/>
          </a:solidFill>
          <a:ln>
            <a:noFill/>
          </a:ln>
        </p:spPr>
        <p:txBody>
          <a:bodyPr rtlCol="0" anchor="ctr"/>
          <a:lstStyle/>
          <a:p>
            <a:pPr algn="ctr"/>
          </a:p>
        </p:txBody>
      </p:sp>
      <p:sp>
        <p:nvSpPr>
          <p:cNvPr id="39" name="Isosceles Triangle 38"/>
          <p:cNvSpPr/>
          <p:nvPr/>
        </p:nvSpPr>
        <p:spPr>
          <a:xfrm rot="11880000">
            <a:off x="10380269" y="4299482"/>
            <a:ext cx="164592" cy="146304"/>
          </a:xfrm>
          <a:prstGeom prst="triangle">
            <a:avLst/>
          </a:prstGeom>
          <a:solidFill>
            <a:srgbClr val="8C9198"/>
          </a:solidFill>
          <a:ln>
            <a:noFill/>
          </a:ln>
        </p:spPr>
        <p:txBody>
          <a:bodyPr rtlCol="0" anchor="ctr"/>
          <a:lstStyle/>
          <a:p>
            <a:pPr algn="ctr"/>
          </a:p>
        </p:txBody>
      </p:sp>
      <p:sp>
        <p:nvSpPr>
          <p:cNvPr id="40" name="Isosceles Triangle 39"/>
          <p:cNvSpPr/>
          <p:nvPr/>
        </p:nvSpPr>
        <p:spPr>
          <a:xfrm rot="16200000">
            <a:off x="9145371" y="5196687"/>
            <a:ext cx="164592" cy="146304"/>
          </a:xfrm>
          <a:prstGeom prst="triangle">
            <a:avLst/>
          </a:prstGeom>
          <a:solidFill>
            <a:srgbClr val="8C9198"/>
          </a:solidFill>
          <a:ln>
            <a:noFill/>
          </a:ln>
        </p:spPr>
        <p:txBody>
          <a:bodyPr rtlCol="0" anchor="ctr"/>
          <a:lstStyle/>
          <a:p>
            <a:pPr algn="ctr"/>
          </a:p>
        </p:txBody>
      </p:sp>
      <p:sp>
        <p:nvSpPr>
          <p:cNvPr id="41" name="Isosceles Triangle 40"/>
          <p:cNvSpPr/>
          <p:nvPr/>
        </p:nvSpPr>
        <p:spPr>
          <a:xfrm rot="20520000">
            <a:off x="7910474" y="4299482"/>
            <a:ext cx="164592" cy="146304"/>
          </a:xfrm>
          <a:prstGeom prst="triangle">
            <a:avLst/>
          </a:prstGeom>
          <a:solidFill>
            <a:srgbClr val="8C9198"/>
          </a:solidFill>
          <a:ln>
            <a:noFill/>
          </a:ln>
        </p:spPr>
        <p:txBody>
          <a:bodyPr rtlCol="0" anchor="ctr"/>
          <a:lstStyle/>
          <a:p>
            <a:pPr algn="ctr"/>
          </a:p>
        </p:txBody>
      </p:sp>
      <p:sp>
        <p:nvSpPr>
          <p:cNvPr id="42" name="Isosceles Triangle 41"/>
          <p:cNvSpPr/>
          <p:nvPr/>
        </p:nvSpPr>
        <p:spPr>
          <a:xfrm rot="3240000">
            <a:off x="8382163" y="2847773"/>
            <a:ext cx="164592" cy="146304"/>
          </a:xfrm>
          <a:prstGeom prst="triangle">
            <a:avLst/>
          </a:prstGeom>
          <a:solidFill>
            <a:srgbClr val="8C9198"/>
          </a:solidFill>
          <a:ln>
            <a:noFill/>
          </a:ln>
        </p:spPr>
        <p:txBody>
          <a:bodyPr rtlCol="0" anchor="ctr"/>
          <a:lstStyle/>
          <a:p>
            <a:pPr algn="ctr"/>
          </a:p>
        </p:txBody>
      </p:sp>
      <p:sp>
        <p:nvSpPr>
          <p:cNvPr id="43" name="Rectangle 42"/>
          <p:cNvSpPr/>
          <p:nvPr/>
        </p:nvSpPr>
        <p:spPr>
          <a:xfrm>
            <a:off x="8487003" y="2416911"/>
            <a:ext cx="1481328" cy="512064"/>
          </a:xfrm>
          <a:prstGeom prst="rect">
            <a:avLst/>
          </a:prstGeom>
          <a:solidFill>
            <a:srgbClr val="FFFFFF"/>
          </a:solidFill>
          <a:ln w="12700">
            <a:solidFill>
              <a:srgbClr val="15171A"/>
            </a:solidFill>
          </a:ln>
        </p:spPr>
        <p:txBody>
          <a:bodyPr rtlCol="0" anchor="ctr"/>
          <a:lstStyle/>
          <a:p>
            <a:pPr algn="ctr"/>
          </a:p>
        </p:txBody>
      </p:sp>
      <p:sp>
        <p:nvSpPr>
          <p:cNvPr id="44" name="TextBox 43"/>
          <p:cNvSpPr txBox="1"/>
          <p:nvPr/>
        </p:nvSpPr>
        <p:spPr>
          <a:xfrm>
            <a:off x="8541867" y="2416911"/>
            <a:ext cx="1371600" cy="512064"/>
          </a:xfrm>
          <a:prstGeom prst="rect">
            <a:avLst/>
          </a:prstGeom>
          <a:noFill/>
        </p:spPr>
        <p:txBody>
          <a:bodyPr wrap="square" lIns="0" rIns="0" tIns="0" bIns="0" anchor="ctr">
            <a:spAutoFit/>
          </a:bodyPr>
          <a:lstStyle/>
          <a:p>
            <a:pPr algn="ctr">
              <a:lnSpc>
                <a:spcPct val="100000"/>
              </a:lnSpc>
            </a:pPr>
            <a:r>
              <a:rPr sz="1200" b="1">
                <a:solidFill>
                  <a:srgbClr val="15171A"/>
                </a:solidFill>
                <a:latin typeface="Noto Sans KR"/>
                <a:ea typeface="Noto Sans KR"/>
                <a:cs typeface="Noto Sans KR"/>
              </a:rPr>
              <a:t>더 많은 주방</a:t>
            </a:r>
          </a:p>
        </p:txBody>
      </p:sp>
      <p:sp>
        <p:nvSpPr>
          <p:cNvPr id="45" name="Rectangle 44"/>
          <p:cNvSpPr/>
          <p:nvPr/>
        </p:nvSpPr>
        <p:spPr>
          <a:xfrm>
            <a:off x="9721901" y="3314117"/>
            <a:ext cx="1481328" cy="512064"/>
          </a:xfrm>
          <a:prstGeom prst="rect">
            <a:avLst/>
          </a:prstGeom>
          <a:solidFill>
            <a:srgbClr val="FFFFFF"/>
          </a:solidFill>
          <a:ln w="12700">
            <a:solidFill>
              <a:srgbClr val="15171A"/>
            </a:solidFill>
          </a:ln>
        </p:spPr>
        <p:txBody>
          <a:bodyPr rtlCol="0" anchor="ctr"/>
          <a:lstStyle/>
          <a:p>
            <a:pPr algn="ctr"/>
          </a:p>
        </p:txBody>
      </p:sp>
      <p:sp>
        <p:nvSpPr>
          <p:cNvPr id="46" name="TextBox 45"/>
          <p:cNvSpPr txBox="1"/>
          <p:nvPr/>
        </p:nvSpPr>
        <p:spPr>
          <a:xfrm>
            <a:off x="9776765" y="3314117"/>
            <a:ext cx="1371600" cy="512064"/>
          </a:xfrm>
          <a:prstGeom prst="rect">
            <a:avLst/>
          </a:prstGeom>
          <a:noFill/>
        </p:spPr>
        <p:txBody>
          <a:bodyPr wrap="square" lIns="0" rIns="0" tIns="0" bIns="0" anchor="ctr">
            <a:spAutoFit/>
          </a:bodyPr>
          <a:lstStyle/>
          <a:p>
            <a:pPr algn="ctr">
              <a:lnSpc>
                <a:spcPct val="100000"/>
              </a:lnSpc>
            </a:pPr>
            <a:r>
              <a:rPr sz="1200" b="1">
                <a:solidFill>
                  <a:srgbClr val="15171A"/>
                </a:solidFill>
                <a:latin typeface="Noto Sans KR"/>
                <a:ea typeface="Noto Sans KR"/>
                <a:cs typeface="Noto Sans KR"/>
              </a:rPr>
              <a:t>더 많은 실제 작업</a:t>
            </a:r>
          </a:p>
        </p:txBody>
      </p:sp>
      <p:sp>
        <p:nvSpPr>
          <p:cNvPr id="47" name="Rectangle 46"/>
          <p:cNvSpPr/>
          <p:nvPr/>
        </p:nvSpPr>
        <p:spPr>
          <a:xfrm>
            <a:off x="9250212" y="4765826"/>
            <a:ext cx="1481328" cy="512064"/>
          </a:xfrm>
          <a:prstGeom prst="rect">
            <a:avLst/>
          </a:prstGeom>
          <a:solidFill>
            <a:srgbClr val="E2571B"/>
          </a:solidFill>
          <a:ln>
            <a:noFill/>
          </a:ln>
        </p:spPr>
        <p:txBody>
          <a:bodyPr rtlCol="0" anchor="ctr"/>
          <a:lstStyle/>
          <a:p>
            <a:pPr algn="ctr"/>
          </a:p>
        </p:txBody>
      </p:sp>
      <p:sp>
        <p:nvSpPr>
          <p:cNvPr id="48" name="TextBox 47"/>
          <p:cNvSpPr txBox="1"/>
          <p:nvPr/>
        </p:nvSpPr>
        <p:spPr>
          <a:xfrm>
            <a:off x="9305076" y="4765826"/>
            <a:ext cx="1371600" cy="512064"/>
          </a:xfrm>
          <a:prstGeom prst="rect">
            <a:avLst/>
          </a:prstGeom>
          <a:noFill/>
        </p:spPr>
        <p:txBody>
          <a:bodyPr wrap="square" lIns="0" rIns="0" tIns="0" bIns="0" anchor="ctr">
            <a:spAutoFit/>
          </a:bodyPr>
          <a:lstStyle/>
          <a:p>
            <a:pPr algn="ctr">
              <a:lnSpc>
                <a:spcPct val="100000"/>
              </a:lnSpc>
            </a:pPr>
            <a:r>
              <a:rPr sz="1200" b="1">
                <a:solidFill>
                  <a:srgbClr val="FFFFFF"/>
                </a:solidFill>
                <a:latin typeface="Noto Sans KR"/>
                <a:ea typeface="Noto Sans KR"/>
                <a:cs typeface="Noto Sans KR"/>
              </a:rPr>
              <a:t>조작·실패 데이터</a:t>
            </a:r>
          </a:p>
        </p:txBody>
      </p:sp>
      <p:sp>
        <p:nvSpPr>
          <p:cNvPr id="49" name="Rectangle 48"/>
          <p:cNvSpPr/>
          <p:nvPr/>
        </p:nvSpPr>
        <p:spPr>
          <a:xfrm>
            <a:off x="7723795" y="4765826"/>
            <a:ext cx="1481328" cy="512064"/>
          </a:xfrm>
          <a:prstGeom prst="rect">
            <a:avLst/>
          </a:prstGeom>
          <a:solidFill>
            <a:srgbClr val="FFFFFF"/>
          </a:solidFill>
          <a:ln w="12700">
            <a:solidFill>
              <a:srgbClr val="15171A"/>
            </a:solidFill>
          </a:ln>
        </p:spPr>
        <p:txBody>
          <a:bodyPr rtlCol="0" anchor="ctr"/>
          <a:lstStyle/>
          <a:p>
            <a:pPr algn="ctr"/>
          </a:p>
        </p:txBody>
      </p:sp>
      <p:sp>
        <p:nvSpPr>
          <p:cNvPr id="50" name="TextBox 49"/>
          <p:cNvSpPr txBox="1"/>
          <p:nvPr/>
        </p:nvSpPr>
        <p:spPr>
          <a:xfrm>
            <a:off x="7778659" y="4765826"/>
            <a:ext cx="1371600" cy="512064"/>
          </a:xfrm>
          <a:prstGeom prst="rect">
            <a:avLst/>
          </a:prstGeom>
          <a:noFill/>
        </p:spPr>
        <p:txBody>
          <a:bodyPr wrap="square" lIns="0" rIns="0" tIns="0" bIns="0" anchor="ctr">
            <a:spAutoFit/>
          </a:bodyPr>
          <a:lstStyle/>
          <a:p>
            <a:pPr algn="ctr">
              <a:lnSpc>
                <a:spcPct val="100000"/>
              </a:lnSpc>
            </a:pPr>
            <a:r>
              <a:rPr sz="1200" b="1">
                <a:solidFill>
                  <a:srgbClr val="15171A"/>
                </a:solidFill>
                <a:latin typeface="Noto Sans KR"/>
                <a:ea typeface="Noto Sans KR"/>
                <a:cs typeface="Noto Sans KR"/>
              </a:rPr>
              <a:t>더 나은 Skill·복구</a:t>
            </a:r>
          </a:p>
        </p:txBody>
      </p:sp>
      <p:sp>
        <p:nvSpPr>
          <p:cNvPr id="51" name="Rectangle 50"/>
          <p:cNvSpPr/>
          <p:nvPr/>
        </p:nvSpPr>
        <p:spPr>
          <a:xfrm>
            <a:off x="7252106" y="3314117"/>
            <a:ext cx="1481328" cy="512064"/>
          </a:xfrm>
          <a:prstGeom prst="rect">
            <a:avLst/>
          </a:prstGeom>
          <a:solidFill>
            <a:srgbClr val="FFFFFF"/>
          </a:solidFill>
          <a:ln w="12700">
            <a:solidFill>
              <a:srgbClr val="15171A"/>
            </a:solidFill>
          </a:ln>
        </p:spPr>
        <p:txBody>
          <a:bodyPr rtlCol="0" anchor="ctr"/>
          <a:lstStyle/>
          <a:p>
            <a:pPr algn="ctr"/>
          </a:p>
        </p:txBody>
      </p:sp>
      <p:sp>
        <p:nvSpPr>
          <p:cNvPr id="52" name="TextBox 51"/>
          <p:cNvSpPr txBox="1"/>
          <p:nvPr/>
        </p:nvSpPr>
        <p:spPr>
          <a:xfrm>
            <a:off x="7306970" y="3314117"/>
            <a:ext cx="1371600" cy="512064"/>
          </a:xfrm>
          <a:prstGeom prst="rect">
            <a:avLst/>
          </a:prstGeom>
          <a:noFill/>
        </p:spPr>
        <p:txBody>
          <a:bodyPr wrap="square" lIns="0" rIns="0" tIns="0" bIns="0" anchor="ctr">
            <a:spAutoFit/>
          </a:bodyPr>
          <a:lstStyle/>
          <a:p>
            <a:pPr algn="ctr">
              <a:lnSpc>
                <a:spcPct val="100000"/>
              </a:lnSpc>
            </a:pPr>
            <a:r>
              <a:rPr sz="1200" b="1">
                <a:solidFill>
                  <a:srgbClr val="15171A"/>
                </a:solidFill>
                <a:latin typeface="Noto Sans KR"/>
                <a:ea typeface="Noto Sans KR"/>
                <a:cs typeface="Noto Sans KR"/>
              </a:rPr>
              <a:t>더 많은 도구·레시피</a:t>
            </a:r>
          </a:p>
        </p:txBody>
      </p:sp>
      <p:sp>
        <p:nvSpPr>
          <p:cNvPr id="53" name="TextBox 52"/>
          <p:cNvSpPr txBox="1"/>
          <p:nvPr/>
        </p:nvSpPr>
        <p:spPr>
          <a:xfrm>
            <a:off x="8404707" y="3697071"/>
            <a:ext cx="1645920" cy="548640"/>
          </a:xfrm>
          <a:prstGeom prst="rect">
            <a:avLst/>
          </a:prstGeom>
          <a:noFill/>
        </p:spPr>
        <p:txBody>
          <a:bodyPr wrap="square" lIns="0" rIns="0" tIns="0" bIns="0" anchor="t">
            <a:spAutoFit/>
          </a:bodyPr>
          <a:lstStyle/>
          <a:p>
            <a:pPr algn="ctr">
              <a:lnSpc>
                <a:spcPct val="100000"/>
              </a:lnSpc>
            </a:pPr>
            <a:r>
              <a:rPr sz="1100" b="0">
                <a:solidFill>
                  <a:srgbClr val="4A4F57"/>
                </a:solidFill>
                <a:latin typeface="Noto Sans KR"/>
                <a:ea typeface="Noto Sans KR"/>
                <a:cs typeface="Noto Sans KR"/>
              </a:rPr>
              <a:t>배치가 늘수록</a:t>
            </a:r>
          </a:p>
          <a:p>
            <a:pPr algn="ctr">
              <a:lnSpc>
                <a:spcPct val="100000"/>
              </a:lnSpc>
            </a:pPr>
            <a:r>
              <a:rPr sz="1100" b="0">
                <a:solidFill>
                  <a:srgbClr val="4A4F57"/>
                </a:solidFill>
                <a:latin typeface="Noto Sans KR"/>
                <a:ea typeface="Noto Sans KR"/>
                <a:cs typeface="Noto Sans KR"/>
              </a:rPr>
              <a:t>Skill이 좋아지는 구조</a:t>
            </a:r>
          </a:p>
        </p:txBody>
      </p:sp>
      <p:sp>
        <p:nvSpPr>
          <p:cNvPr id="54" name="TextBox 53"/>
          <p:cNvSpPr txBox="1"/>
          <p:nvPr/>
        </p:nvSpPr>
        <p:spPr>
          <a:xfrm>
            <a:off x="6949440" y="5727039"/>
            <a:ext cx="4556455" cy="237744"/>
          </a:xfrm>
          <a:prstGeom prst="rect">
            <a:avLst/>
          </a:prstGeom>
          <a:noFill/>
        </p:spPr>
        <p:txBody>
          <a:bodyPr wrap="square" lIns="0" rIns="0" tIns="0" bIns="0" anchor="t">
            <a:spAutoFit/>
          </a:bodyPr>
          <a:lstStyle/>
          <a:p>
            <a:pPr algn="l">
              <a:lnSpc>
                <a:spcPct val="100000"/>
              </a:lnSpc>
            </a:pPr>
            <a:r>
              <a:rPr sz="1150" b="1">
                <a:solidFill>
                  <a:srgbClr val="15171A"/>
                </a:solidFill>
                <a:latin typeface="Noto Sans KR"/>
                <a:ea typeface="Noto Sans KR"/>
                <a:cs typeface="Noto Sans KR"/>
              </a:rPr>
              <a:t>축적 대상: 실패 · 미끄러짐 · 위치 오차 · 재파지 · 힘 보정 · 복구 행동</a:t>
            </a:r>
          </a:p>
        </p:txBody>
      </p:sp>
      <p:sp>
        <p:nvSpPr>
          <p:cNvPr id="55" name="TextBox 54"/>
          <p:cNvSpPr txBox="1"/>
          <p:nvPr/>
        </p:nvSpPr>
        <p:spPr>
          <a:xfrm>
            <a:off x="6949440" y="6019647"/>
            <a:ext cx="4556455" cy="237744"/>
          </a:xfrm>
          <a:prstGeom prst="rect">
            <a:avLst/>
          </a:prstGeom>
          <a:noFill/>
        </p:spPr>
        <p:txBody>
          <a:bodyPr wrap="square" lIns="0" rIns="0" tIns="0" bIns="0" anchor="t">
            <a:spAutoFit/>
          </a:bodyPr>
          <a:lstStyle/>
          <a:p>
            <a:pPr algn="l">
              <a:lnSpc>
                <a:spcPct val="100000"/>
              </a:lnSpc>
            </a:pPr>
            <a:r>
              <a:rPr sz="1100" b="0">
                <a:solidFill>
                  <a:srgbClr val="E2571B"/>
                </a:solidFill>
                <a:latin typeface="Noto Sans KR"/>
                <a:ea typeface="Noto Sans KR"/>
                <a:cs typeface="Noto Sans KR"/>
              </a:rPr>
              <a:t>현재 보유 데이터 없음, Seed 기간 수집 시작 (목표)</a:t>
            </a:r>
          </a:p>
        </p:txBody>
      </p:sp>
      <p:sp>
        <p:nvSpPr>
          <p:cNvPr id="56" name="TextBox 55"/>
          <p:cNvSpPr txBox="1"/>
          <p:nvPr/>
        </p:nvSpPr>
        <p:spPr>
          <a:xfrm>
            <a:off x="685800" y="6446520"/>
            <a:ext cx="5486400" cy="201168"/>
          </a:xfrm>
          <a:prstGeom prst="rect">
            <a:avLst/>
          </a:prstGeom>
          <a:noFill/>
        </p:spPr>
        <p:txBody>
          <a:bodyPr wrap="square" lIns="0" rIns="0" tIns="0" bIns="0" anchor="t">
            <a:spAutoFit/>
          </a:bodyPr>
          <a:lstStyle/>
          <a:p>
            <a:pPr algn="l">
              <a:lnSpc>
                <a:spcPct val="100000"/>
              </a:lnSpc>
            </a:pPr>
            <a:r>
              <a:rPr sz="900" b="0">
                <a:solidFill>
                  <a:srgbClr val="8C9198"/>
                </a:solidFill>
                <a:latin typeface="Noto Sans KR"/>
                <a:ea typeface="Noto Sans KR"/>
                <a:cs typeface="Noto Sans KR"/>
              </a:rPr>
              <a:t>SoftHand  |  주방 로봇 조작 플랫폼  |  Seed 투자 제안서</a:t>
            </a:r>
          </a:p>
        </p:txBody>
      </p:sp>
      <p:sp>
        <p:nvSpPr>
          <p:cNvPr id="57" name="TextBox 56"/>
          <p:cNvSpPr txBox="1"/>
          <p:nvPr/>
        </p:nvSpPr>
        <p:spPr>
          <a:xfrm>
            <a:off x="3154680" y="6446520"/>
            <a:ext cx="7802575" cy="201168"/>
          </a:xfrm>
          <a:prstGeom prst="rect">
            <a:avLst/>
          </a:prstGeom>
          <a:noFill/>
        </p:spPr>
        <p:txBody>
          <a:bodyPr wrap="square" lIns="0" rIns="0" tIns="0" bIns="0" anchor="t">
            <a:spAutoFit/>
          </a:bodyPr>
          <a:lstStyle/>
          <a:p>
            <a:pPr algn="r">
              <a:lnSpc>
                <a:spcPct val="100000"/>
              </a:lnSpc>
            </a:pPr>
            <a:r>
              <a:rPr sz="900" b="0">
                <a:solidFill>
                  <a:srgbClr val="8C9198"/>
                </a:solidFill>
                <a:latin typeface="Noto Sans KR"/>
                <a:ea typeface="Noto Sans KR"/>
                <a:cs typeface="Noto Sans KR"/>
              </a:rPr>
              <a:t>콘셉트 렌더링 · 데이터 계획·권리 원칙은 부록 A12</a:t>
            </a:r>
          </a:p>
        </p:txBody>
      </p:sp>
      <p:sp>
        <p:nvSpPr>
          <p:cNvPr id="58" name="TextBox 57"/>
          <p:cNvSpPr txBox="1"/>
          <p:nvPr/>
        </p:nvSpPr>
        <p:spPr>
          <a:xfrm>
            <a:off x="11048695" y="6446520"/>
            <a:ext cx="457200" cy="201168"/>
          </a:xfrm>
          <a:prstGeom prst="rect">
            <a:avLst/>
          </a:prstGeom>
          <a:noFill/>
        </p:spPr>
        <p:txBody>
          <a:bodyPr wrap="square" lIns="0" rIns="0" tIns="0" bIns="0" anchor="t">
            <a:spAutoFit/>
          </a:bodyPr>
          <a:lstStyle/>
          <a:p>
            <a:pPr algn="r">
              <a:lnSpc>
                <a:spcPct val="100000"/>
              </a:lnSpc>
            </a:pPr>
            <a:r>
              <a:rPr sz="900" b="0">
                <a:solidFill>
                  <a:srgbClr val="8C9198"/>
                </a:solidFill>
                <a:latin typeface="Noto Sans KR"/>
                <a:ea typeface="Noto Sans KR"/>
                <a:cs typeface="Noto Sans KR"/>
              </a:rPr>
              <a:t>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548640"/>
            <a:ext cx="7315200" cy="274320"/>
          </a:xfrm>
          <a:prstGeom prst="rect">
            <a:avLst/>
          </a:prstGeom>
          <a:noFill/>
        </p:spPr>
        <p:txBody>
          <a:bodyPr wrap="square" lIns="0" rIns="0" tIns="0" bIns="0" anchor="t">
            <a:spAutoFit/>
          </a:bodyPr>
          <a:lstStyle/>
          <a:p>
            <a:pPr algn="l">
              <a:lnSpc>
                <a:spcPct val="100000"/>
              </a:lnSpc>
            </a:pPr>
            <a:r>
              <a:rPr sz="1200" b="1">
                <a:solidFill>
                  <a:srgbClr val="E2571B"/>
                </a:solidFill>
                <a:latin typeface="Noto Sans KR"/>
                <a:ea typeface="Noto Sans KR"/>
                <a:cs typeface="Noto Sans KR"/>
              </a:rPr>
              <a:t>COMPETITION · MOAT</a:t>
            </a:r>
          </a:p>
        </p:txBody>
      </p:sp>
      <p:sp>
        <p:nvSpPr>
          <p:cNvPr id="3" name="TextBox 2"/>
          <p:cNvSpPr txBox="1"/>
          <p:nvPr/>
        </p:nvSpPr>
        <p:spPr>
          <a:xfrm>
            <a:off x="685800" y="932688"/>
            <a:ext cx="10820095" cy="542391"/>
          </a:xfrm>
          <a:prstGeom prst="rect">
            <a:avLst/>
          </a:prstGeom>
          <a:noFill/>
        </p:spPr>
        <p:txBody>
          <a:bodyPr wrap="square" lIns="0" rIns="0" tIns="0" bIns="0" anchor="t">
            <a:spAutoFit/>
          </a:bodyPr>
          <a:lstStyle/>
          <a:p>
            <a:pPr algn="l">
              <a:lnSpc>
                <a:spcPct val="95000"/>
              </a:lnSpc>
            </a:pPr>
            <a:r>
              <a:rPr sz="3000" b="1">
                <a:solidFill>
                  <a:srgbClr val="15171A"/>
                </a:solidFill>
                <a:latin typeface="Noto Sans KR"/>
                <a:ea typeface="Noto Sans KR"/>
                <a:cs typeface="Noto Sans KR"/>
              </a:rPr>
              <a:t>경쟁자는 다른 로봇 손이 아니라, 작업마다 새로 만드는 전용 자동화</a:t>
            </a:r>
          </a:p>
        </p:txBody>
      </p:sp>
      <p:sp>
        <p:nvSpPr>
          <p:cNvPr id="4" name="TextBox 3"/>
          <p:cNvSpPr txBox="1"/>
          <p:nvPr/>
        </p:nvSpPr>
        <p:spPr>
          <a:xfrm>
            <a:off x="685800" y="1877415"/>
            <a:ext cx="3399434" cy="329184"/>
          </a:xfrm>
          <a:prstGeom prst="rect">
            <a:avLst/>
          </a:prstGeom>
          <a:noFill/>
        </p:spPr>
        <p:txBody>
          <a:bodyPr wrap="square" lIns="0" rIns="0" tIns="0" bIns="0" anchor="t">
            <a:spAutoFit/>
          </a:bodyPr>
          <a:lstStyle/>
          <a:p>
            <a:pPr algn="l">
              <a:lnSpc>
                <a:spcPct val="100000"/>
              </a:lnSpc>
            </a:pPr>
            <a:r>
              <a:rPr sz="1700" b="1">
                <a:solidFill>
                  <a:srgbClr val="15171A"/>
                </a:solidFill>
                <a:latin typeface="Noto Sans KR"/>
                <a:ea typeface="Noto Sans KR"/>
                <a:cs typeface="Noto Sans KR"/>
              </a:rPr>
              <a:t>전용 주방 자동화</a:t>
            </a:r>
          </a:p>
        </p:txBody>
      </p:sp>
      <p:sp>
        <p:nvSpPr>
          <p:cNvPr id="5" name="TextBox 4"/>
          <p:cNvSpPr txBox="1"/>
          <p:nvPr/>
        </p:nvSpPr>
        <p:spPr>
          <a:xfrm>
            <a:off x="685800" y="2261463"/>
            <a:ext cx="3399434" cy="237744"/>
          </a:xfrm>
          <a:prstGeom prst="rect">
            <a:avLst/>
          </a:prstGeom>
          <a:noFill/>
        </p:spPr>
        <p:txBody>
          <a:bodyPr wrap="square" lIns="0" rIns="0" tIns="0" bIns="0" anchor="t">
            <a:spAutoFit/>
          </a:bodyPr>
          <a:lstStyle/>
          <a:p>
            <a:pPr algn="l">
              <a:lnSpc>
                <a:spcPct val="100000"/>
              </a:lnSpc>
            </a:pPr>
            <a:r>
              <a:rPr sz="1150" b="0">
                <a:solidFill>
                  <a:srgbClr val="4A4F57"/>
                </a:solidFill>
                <a:latin typeface="Noto Sans KR"/>
                <a:ea typeface="Noto Sans KR"/>
                <a:cs typeface="Noto Sans KR"/>
              </a:rPr>
              <a:t>예: 로봇 전용 주방, 튀김·패티·치킨 조리 로봇</a:t>
            </a:r>
          </a:p>
        </p:txBody>
      </p:sp>
      <p:cxnSp>
        <p:nvCxnSpPr>
          <p:cNvPr id="6" name="Connector 5"/>
          <p:cNvCxnSpPr/>
          <p:nvPr/>
        </p:nvCxnSpPr>
        <p:spPr>
          <a:xfrm>
            <a:off x="685800" y="2627223"/>
            <a:ext cx="3399434" cy="0"/>
          </a:xfrm>
          <a:prstGeom prst="line">
            <a:avLst/>
          </a:prstGeom>
          <a:ln w="12700">
            <a:solidFill>
              <a:srgbClr val="15171A"/>
            </a:solidFill>
          </a:ln>
        </p:spPr>
      </p:cxnSp>
      <p:sp>
        <p:nvSpPr>
          <p:cNvPr id="7" name="TextBox 6"/>
          <p:cNvSpPr txBox="1"/>
          <p:nvPr/>
        </p:nvSpPr>
        <p:spPr>
          <a:xfrm>
            <a:off x="685800" y="2736951"/>
            <a:ext cx="548640" cy="237744"/>
          </a:xfrm>
          <a:prstGeom prst="rect">
            <a:avLst/>
          </a:prstGeom>
          <a:noFill/>
        </p:spPr>
        <p:txBody>
          <a:bodyPr wrap="square" lIns="0" rIns="0" tIns="0" bIns="0" anchor="t">
            <a:spAutoFit/>
          </a:bodyPr>
          <a:lstStyle/>
          <a:p>
            <a:pPr algn="l">
              <a:lnSpc>
                <a:spcPct val="100000"/>
              </a:lnSpc>
            </a:pPr>
            <a:r>
              <a:rPr sz="1100" b="0">
                <a:solidFill>
                  <a:srgbClr val="8C9198"/>
                </a:solidFill>
                <a:latin typeface="Noto Sans KR"/>
                <a:ea typeface="Noto Sans KR"/>
                <a:cs typeface="Noto Sans KR"/>
              </a:rPr>
              <a:t>강점</a:t>
            </a:r>
          </a:p>
        </p:txBody>
      </p:sp>
      <p:sp>
        <p:nvSpPr>
          <p:cNvPr id="8" name="TextBox 7"/>
          <p:cNvSpPr txBox="1"/>
          <p:nvPr/>
        </p:nvSpPr>
        <p:spPr>
          <a:xfrm>
            <a:off x="1234440" y="2718663"/>
            <a:ext cx="2850794" cy="512064"/>
          </a:xfrm>
          <a:prstGeom prst="rect">
            <a:avLst/>
          </a:prstGeom>
          <a:noFill/>
        </p:spPr>
        <p:txBody>
          <a:bodyPr wrap="square" lIns="0" rIns="0" tIns="0" bIns="0" anchor="t">
            <a:spAutoFit/>
          </a:bodyPr>
          <a:lstStyle/>
          <a:p>
            <a:pPr algn="l">
              <a:lnSpc>
                <a:spcPct val="100000"/>
              </a:lnSpc>
            </a:pPr>
            <a:r>
              <a:rPr sz="1300" b="0">
                <a:solidFill>
                  <a:srgbClr val="15171A"/>
                </a:solidFill>
                <a:latin typeface="Noto Sans KR"/>
                <a:ea typeface="Noto Sans KR"/>
                <a:cs typeface="Noto Sans KR"/>
              </a:rPr>
              <a:t>특정 메뉴·작업에 최적화, 높은 반복성 가능</a:t>
            </a:r>
          </a:p>
        </p:txBody>
      </p:sp>
      <p:cxnSp>
        <p:nvCxnSpPr>
          <p:cNvPr id="9" name="Connector 8"/>
          <p:cNvCxnSpPr/>
          <p:nvPr/>
        </p:nvCxnSpPr>
        <p:spPr>
          <a:xfrm>
            <a:off x="685800" y="3212439"/>
            <a:ext cx="3399434" cy="0"/>
          </a:xfrm>
          <a:prstGeom prst="line">
            <a:avLst/>
          </a:prstGeom>
          <a:ln w="9525">
            <a:solidFill>
              <a:srgbClr val="E2E4E7"/>
            </a:solidFill>
          </a:ln>
        </p:spPr>
      </p:cxnSp>
      <p:sp>
        <p:nvSpPr>
          <p:cNvPr id="10" name="TextBox 9"/>
          <p:cNvSpPr txBox="1"/>
          <p:nvPr/>
        </p:nvSpPr>
        <p:spPr>
          <a:xfrm>
            <a:off x="685800" y="3303879"/>
            <a:ext cx="548640" cy="237744"/>
          </a:xfrm>
          <a:prstGeom prst="rect">
            <a:avLst/>
          </a:prstGeom>
          <a:noFill/>
        </p:spPr>
        <p:txBody>
          <a:bodyPr wrap="square" lIns="0" rIns="0" tIns="0" bIns="0" anchor="t">
            <a:spAutoFit/>
          </a:bodyPr>
          <a:lstStyle/>
          <a:p>
            <a:pPr algn="l">
              <a:lnSpc>
                <a:spcPct val="100000"/>
              </a:lnSpc>
            </a:pPr>
            <a:r>
              <a:rPr sz="1100" b="0">
                <a:solidFill>
                  <a:srgbClr val="8C9198"/>
                </a:solidFill>
                <a:latin typeface="Noto Sans KR"/>
                <a:ea typeface="Noto Sans KR"/>
                <a:cs typeface="Noto Sans KR"/>
              </a:rPr>
              <a:t>한계</a:t>
            </a:r>
          </a:p>
        </p:txBody>
      </p:sp>
      <p:sp>
        <p:nvSpPr>
          <p:cNvPr id="11" name="TextBox 10"/>
          <p:cNvSpPr txBox="1"/>
          <p:nvPr/>
        </p:nvSpPr>
        <p:spPr>
          <a:xfrm>
            <a:off x="1234440" y="3285591"/>
            <a:ext cx="2850794" cy="512064"/>
          </a:xfrm>
          <a:prstGeom prst="rect">
            <a:avLst/>
          </a:prstGeom>
          <a:noFill/>
        </p:spPr>
        <p:txBody>
          <a:bodyPr wrap="square" lIns="0" rIns="0" tIns="0" bIns="0" anchor="t">
            <a:spAutoFit/>
          </a:bodyPr>
          <a:lstStyle/>
          <a:p>
            <a:pPr algn="l">
              <a:lnSpc>
                <a:spcPct val="100000"/>
              </a:lnSpc>
            </a:pPr>
            <a:r>
              <a:rPr sz="1300" b="0">
                <a:solidFill>
                  <a:srgbClr val="15171A"/>
                </a:solidFill>
                <a:latin typeface="Noto Sans KR"/>
                <a:ea typeface="Noto Sans KR"/>
                <a:cs typeface="Noto Sans KR"/>
              </a:rPr>
              <a:t>다른 메뉴·주방으로 확장 어려움</a:t>
            </a:r>
          </a:p>
        </p:txBody>
      </p:sp>
      <p:sp>
        <p:nvSpPr>
          <p:cNvPr id="12" name="TextBox 11"/>
          <p:cNvSpPr txBox="1"/>
          <p:nvPr/>
        </p:nvSpPr>
        <p:spPr>
          <a:xfrm>
            <a:off x="4396130" y="1877415"/>
            <a:ext cx="3399434" cy="329184"/>
          </a:xfrm>
          <a:prstGeom prst="rect">
            <a:avLst/>
          </a:prstGeom>
          <a:noFill/>
        </p:spPr>
        <p:txBody>
          <a:bodyPr wrap="square" lIns="0" rIns="0" tIns="0" bIns="0" anchor="t">
            <a:spAutoFit/>
          </a:bodyPr>
          <a:lstStyle/>
          <a:p>
            <a:pPr algn="l">
              <a:lnSpc>
                <a:spcPct val="100000"/>
              </a:lnSpc>
            </a:pPr>
            <a:r>
              <a:rPr sz="1700" b="1">
                <a:solidFill>
                  <a:srgbClr val="15171A"/>
                </a:solidFill>
                <a:latin typeface="Noto Sans KR"/>
                <a:ea typeface="Noto Sans KR"/>
                <a:cs typeface="Noto Sans KR"/>
              </a:rPr>
              <a:t>전통 그리퍼 · EOAT</a:t>
            </a:r>
          </a:p>
        </p:txBody>
      </p:sp>
      <p:sp>
        <p:nvSpPr>
          <p:cNvPr id="13" name="TextBox 12"/>
          <p:cNvSpPr txBox="1"/>
          <p:nvPr/>
        </p:nvSpPr>
        <p:spPr>
          <a:xfrm>
            <a:off x="4396130" y="2261463"/>
            <a:ext cx="3399434" cy="237744"/>
          </a:xfrm>
          <a:prstGeom prst="rect">
            <a:avLst/>
          </a:prstGeom>
          <a:noFill/>
        </p:spPr>
        <p:txBody>
          <a:bodyPr wrap="square" lIns="0" rIns="0" tIns="0" bIns="0" anchor="t">
            <a:spAutoFit/>
          </a:bodyPr>
          <a:lstStyle/>
          <a:p>
            <a:pPr algn="l">
              <a:lnSpc>
                <a:spcPct val="100000"/>
              </a:lnSpc>
            </a:pPr>
            <a:r>
              <a:rPr sz="1150" b="0">
                <a:solidFill>
                  <a:srgbClr val="4A4F57"/>
                </a:solidFill>
                <a:latin typeface="Noto Sans KR"/>
                <a:ea typeface="Noto Sans KR"/>
                <a:cs typeface="Noto Sans KR"/>
              </a:rPr>
              <a:t>예: 평행·진공·맞춤 그리퍼</a:t>
            </a:r>
          </a:p>
        </p:txBody>
      </p:sp>
      <p:cxnSp>
        <p:nvCxnSpPr>
          <p:cNvPr id="14" name="Connector 13"/>
          <p:cNvCxnSpPr/>
          <p:nvPr/>
        </p:nvCxnSpPr>
        <p:spPr>
          <a:xfrm>
            <a:off x="4396130" y="2627223"/>
            <a:ext cx="3399434" cy="0"/>
          </a:xfrm>
          <a:prstGeom prst="line">
            <a:avLst/>
          </a:prstGeom>
          <a:ln w="12700">
            <a:solidFill>
              <a:srgbClr val="15171A"/>
            </a:solidFill>
          </a:ln>
        </p:spPr>
      </p:cxnSp>
      <p:sp>
        <p:nvSpPr>
          <p:cNvPr id="15" name="TextBox 14"/>
          <p:cNvSpPr txBox="1"/>
          <p:nvPr/>
        </p:nvSpPr>
        <p:spPr>
          <a:xfrm>
            <a:off x="4396130" y="2736951"/>
            <a:ext cx="548640" cy="237744"/>
          </a:xfrm>
          <a:prstGeom prst="rect">
            <a:avLst/>
          </a:prstGeom>
          <a:noFill/>
        </p:spPr>
        <p:txBody>
          <a:bodyPr wrap="square" lIns="0" rIns="0" tIns="0" bIns="0" anchor="t">
            <a:spAutoFit/>
          </a:bodyPr>
          <a:lstStyle/>
          <a:p>
            <a:pPr algn="l">
              <a:lnSpc>
                <a:spcPct val="100000"/>
              </a:lnSpc>
            </a:pPr>
            <a:r>
              <a:rPr sz="1100" b="0">
                <a:solidFill>
                  <a:srgbClr val="8C9198"/>
                </a:solidFill>
                <a:latin typeface="Noto Sans KR"/>
                <a:ea typeface="Noto Sans KR"/>
                <a:cs typeface="Noto Sans KR"/>
              </a:rPr>
              <a:t>강점</a:t>
            </a:r>
          </a:p>
        </p:txBody>
      </p:sp>
      <p:sp>
        <p:nvSpPr>
          <p:cNvPr id="16" name="TextBox 15"/>
          <p:cNvSpPr txBox="1"/>
          <p:nvPr/>
        </p:nvSpPr>
        <p:spPr>
          <a:xfrm>
            <a:off x="4944770" y="2718663"/>
            <a:ext cx="2850794" cy="512064"/>
          </a:xfrm>
          <a:prstGeom prst="rect">
            <a:avLst/>
          </a:prstGeom>
          <a:noFill/>
        </p:spPr>
        <p:txBody>
          <a:bodyPr wrap="square" lIns="0" rIns="0" tIns="0" bIns="0" anchor="t">
            <a:spAutoFit/>
          </a:bodyPr>
          <a:lstStyle/>
          <a:p>
            <a:pPr algn="l">
              <a:lnSpc>
                <a:spcPct val="100000"/>
              </a:lnSpc>
            </a:pPr>
            <a:r>
              <a:rPr sz="1300" b="0">
                <a:solidFill>
                  <a:srgbClr val="15171A"/>
                </a:solidFill>
                <a:latin typeface="Noto Sans KR"/>
                <a:ea typeface="Noto Sans KR"/>
                <a:cs typeface="Noto Sans KR"/>
              </a:rPr>
              <a:t>산업용 집기·놓기에 강함</a:t>
            </a:r>
          </a:p>
        </p:txBody>
      </p:sp>
      <p:cxnSp>
        <p:nvCxnSpPr>
          <p:cNvPr id="17" name="Connector 16"/>
          <p:cNvCxnSpPr/>
          <p:nvPr/>
        </p:nvCxnSpPr>
        <p:spPr>
          <a:xfrm>
            <a:off x="4396130" y="3212439"/>
            <a:ext cx="3399434" cy="0"/>
          </a:xfrm>
          <a:prstGeom prst="line">
            <a:avLst/>
          </a:prstGeom>
          <a:ln w="9525">
            <a:solidFill>
              <a:srgbClr val="E2E4E7"/>
            </a:solidFill>
          </a:ln>
        </p:spPr>
      </p:cxnSp>
      <p:sp>
        <p:nvSpPr>
          <p:cNvPr id="18" name="TextBox 17"/>
          <p:cNvSpPr txBox="1"/>
          <p:nvPr/>
        </p:nvSpPr>
        <p:spPr>
          <a:xfrm>
            <a:off x="4396130" y="3303879"/>
            <a:ext cx="548640" cy="237744"/>
          </a:xfrm>
          <a:prstGeom prst="rect">
            <a:avLst/>
          </a:prstGeom>
          <a:noFill/>
        </p:spPr>
        <p:txBody>
          <a:bodyPr wrap="square" lIns="0" rIns="0" tIns="0" bIns="0" anchor="t">
            <a:spAutoFit/>
          </a:bodyPr>
          <a:lstStyle/>
          <a:p>
            <a:pPr algn="l">
              <a:lnSpc>
                <a:spcPct val="100000"/>
              </a:lnSpc>
            </a:pPr>
            <a:r>
              <a:rPr sz="1100" b="0">
                <a:solidFill>
                  <a:srgbClr val="8C9198"/>
                </a:solidFill>
                <a:latin typeface="Noto Sans KR"/>
                <a:ea typeface="Noto Sans KR"/>
                <a:cs typeface="Noto Sans KR"/>
              </a:rPr>
              <a:t>한계</a:t>
            </a:r>
          </a:p>
        </p:txBody>
      </p:sp>
      <p:sp>
        <p:nvSpPr>
          <p:cNvPr id="19" name="TextBox 18"/>
          <p:cNvSpPr txBox="1"/>
          <p:nvPr/>
        </p:nvSpPr>
        <p:spPr>
          <a:xfrm>
            <a:off x="4944770" y="3285591"/>
            <a:ext cx="2850794" cy="512064"/>
          </a:xfrm>
          <a:prstGeom prst="rect">
            <a:avLst/>
          </a:prstGeom>
          <a:noFill/>
        </p:spPr>
        <p:txBody>
          <a:bodyPr wrap="square" lIns="0" rIns="0" tIns="0" bIns="0" anchor="t">
            <a:spAutoFit/>
          </a:bodyPr>
          <a:lstStyle/>
          <a:p>
            <a:pPr algn="l">
              <a:lnSpc>
                <a:spcPct val="100000"/>
              </a:lnSpc>
            </a:pPr>
            <a:r>
              <a:rPr sz="1300" b="0">
                <a:solidFill>
                  <a:srgbClr val="15171A"/>
                </a:solidFill>
                <a:latin typeface="Noto Sans KR"/>
                <a:ea typeface="Noto Sans KR"/>
                <a:cs typeface="Noto Sans KR"/>
              </a:rPr>
              <a:t>사람용 도구·다양한 주방 조작부에 한계 가능</a:t>
            </a:r>
          </a:p>
        </p:txBody>
      </p:sp>
      <p:sp>
        <p:nvSpPr>
          <p:cNvPr id="20" name="Rectangle 19"/>
          <p:cNvSpPr/>
          <p:nvPr/>
        </p:nvSpPr>
        <p:spPr>
          <a:xfrm>
            <a:off x="7960156" y="1731111"/>
            <a:ext cx="3692042" cy="2212848"/>
          </a:xfrm>
          <a:prstGeom prst="rect">
            <a:avLst/>
          </a:prstGeom>
          <a:solidFill>
            <a:srgbClr val="FBEDE6"/>
          </a:solidFill>
          <a:ln>
            <a:noFill/>
          </a:ln>
        </p:spPr>
        <p:txBody>
          <a:bodyPr rtlCol="0" anchor="ctr"/>
          <a:lstStyle/>
          <a:p>
            <a:pPr algn="ctr"/>
          </a:p>
        </p:txBody>
      </p:sp>
      <p:sp>
        <p:nvSpPr>
          <p:cNvPr id="21" name="TextBox 20"/>
          <p:cNvSpPr txBox="1"/>
          <p:nvPr/>
        </p:nvSpPr>
        <p:spPr>
          <a:xfrm>
            <a:off x="8106460" y="1877415"/>
            <a:ext cx="3399434" cy="329184"/>
          </a:xfrm>
          <a:prstGeom prst="rect">
            <a:avLst/>
          </a:prstGeom>
          <a:noFill/>
        </p:spPr>
        <p:txBody>
          <a:bodyPr wrap="square" lIns="0" rIns="0" tIns="0" bIns="0" anchor="t">
            <a:spAutoFit/>
          </a:bodyPr>
          <a:lstStyle/>
          <a:p>
            <a:pPr algn="l">
              <a:lnSpc>
                <a:spcPct val="100000"/>
              </a:lnSpc>
            </a:pPr>
            <a:r>
              <a:rPr sz="1700" b="1">
                <a:solidFill>
                  <a:srgbClr val="E2571B"/>
                </a:solidFill>
                <a:latin typeface="Noto Sans KR"/>
                <a:ea typeface="Noto Sans KR"/>
                <a:cs typeface="Noto Sans KR"/>
              </a:rPr>
              <a:t>SoftHand + Kitchen Skills</a:t>
            </a:r>
          </a:p>
        </p:txBody>
      </p:sp>
      <p:sp>
        <p:nvSpPr>
          <p:cNvPr id="22" name="TextBox 21"/>
          <p:cNvSpPr txBox="1"/>
          <p:nvPr/>
        </p:nvSpPr>
        <p:spPr>
          <a:xfrm>
            <a:off x="8106460" y="2261463"/>
            <a:ext cx="3399434" cy="237744"/>
          </a:xfrm>
          <a:prstGeom prst="rect">
            <a:avLst/>
          </a:prstGeom>
          <a:noFill/>
        </p:spPr>
        <p:txBody>
          <a:bodyPr wrap="square" lIns="0" rIns="0" tIns="0" bIns="0" anchor="t">
            <a:spAutoFit/>
          </a:bodyPr>
          <a:lstStyle/>
          <a:p>
            <a:pPr algn="l">
              <a:lnSpc>
                <a:spcPct val="100000"/>
              </a:lnSpc>
            </a:pPr>
            <a:r>
              <a:rPr sz="1150" b="0">
                <a:solidFill>
                  <a:srgbClr val="4A4F57"/>
                </a:solidFill>
                <a:latin typeface="Noto Sans KR"/>
                <a:ea typeface="Noto Sans KR"/>
                <a:cs typeface="Noto Sans KR"/>
              </a:rPr>
              <a:t>기존 사람용 주방·도구를 그대로 사용</a:t>
            </a:r>
          </a:p>
        </p:txBody>
      </p:sp>
      <p:cxnSp>
        <p:nvCxnSpPr>
          <p:cNvPr id="23" name="Connector 22"/>
          <p:cNvCxnSpPr/>
          <p:nvPr/>
        </p:nvCxnSpPr>
        <p:spPr>
          <a:xfrm>
            <a:off x="8106460" y="2627223"/>
            <a:ext cx="3399435" cy="0"/>
          </a:xfrm>
          <a:prstGeom prst="line">
            <a:avLst/>
          </a:prstGeom>
          <a:ln w="12700">
            <a:solidFill>
              <a:srgbClr val="15171A"/>
            </a:solidFill>
          </a:ln>
        </p:spPr>
      </p:cxnSp>
      <p:sp>
        <p:nvSpPr>
          <p:cNvPr id="24" name="TextBox 23"/>
          <p:cNvSpPr txBox="1"/>
          <p:nvPr/>
        </p:nvSpPr>
        <p:spPr>
          <a:xfrm>
            <a:off x="8106460" y="2736951"/>
            <a:ext cx="548640" cy="237744"/>
          </a:xfrm>
          <a:prstGeom prst="rect">
            <a:avLst/>
          </a:prstGeom>
          <a:noFill/>
        </p:spPr>
        <p:txBody>
          <a:bodyPr wrap="square" lIns="0" rIns="0" tIns="0" bIns="0" anchor="t">
            <a:spAutoFit/>
          </a:bodyPr>
          <a:lstStyle/>
          <a:p>
            <a:pPr algn="l">
              <a:lnSpc>
                <a:spcPct val="100000"/>
              </a:lnSpc>
            </a:pPr>
            <a:r>
              <a:rPr sz="1100" b="0">
                <a:solidFill>
                  <a:srgbClr val="8C9198"/>
                </a:solidFill>
                <a:latin typeface="Noto Sans KR"/>
                <a:ea typeface="Noto Sans KR"/>
                <a:cs typeface="Noto Sans KR"/>
              </a:rPr>
              <a:t>목표</a:t>
            </a:r>
          </a:p>
        </p:txBody>
      </p:sp>
      <p:sp>
        <p:nvSpPr>
          <p:cNvPr id="25" name="TextBox 24"/>
          <p:cNvSpPr txBox="1"/>
          <p:nvPr/>
        </p:nvSpPr>
        <p:spPr>
          <a:xfrm>
            <a:off x="8655100" y="2718663"/>
            <a:ext cx="2850794" cy="512064"/>
          </a:xfrm>
          <a:prstGeom prst="rect">
            <a:avLst/>
          </a:prstGeom>
          <a:noFill/>
        </p:spPr>
        <p:txBody>
          <a:bodyPr wrap="square" lIns="0" rIns="0" tIns="0" bIns="0" anchor="t">
            <a:spAutoFit/>
          </a:bodyPr>
          <a:lstStyle/>
          <a:p>
            <a:pPr algn="l">
              <a:lnSpc>
                <a:spcPct val="100000"/>
              </a:lnSpc>
            </a:pPr>
            <a:r>
              <a:rPr sz="1300" b="0">
                <a:solidFill>
                  <a:srgbClr val="15171A"/>
                </a:solidFill>
                <a:latin typeface="Noto Sans KR"/>
                <a:ea typeface="Noto Sans KR"/>
                <a:cs typeface="Noto Sans KR"/>
              </a:rPr>
              <a:t>여러 작업을 하나의 조작 구조로 수행</a:t>
            </a:r>
          </a:p>
        </p:txBody>
      </p:sp>
      <p:cxnSp>
        <p:nvCxnSpPr>
          <p:cNvPr id="26" name="Connector 25"/>
          <p:cNvCxnSpPr/>
          <p:nvPr/>
        </p:nvCxnSpPr>
        <p:spPr>
          <a:xfrm>
            <a:off x="8106460" y="3212439"/>
            <a:ext cx="3399435" cy="0"/>
          </a:xfrm>
          <a:prstGeom prst="line">
            <a:avLst/>
          </a:prstGeom>
          <a:ln w="9525">
            <a:solidFill>
              <a:srgbClr val="E2E4E7"/>
            </a:solidFill>
          </a:ln>
        </p:spPr>
      </p:cxnSp>
      <p:sp>
        <p:nvSpPr>
          <p:cNvPr id="27" name="TextBox 26"/>
          <p:cNvSpPr txBox="1"/>
          <p:nvPr/>
        </p:nvSpPr>
        <p:spPr>
          <a:xfrm>
            <a:off x="8106460" y="3303879"/>
            <a:ext cx="548640" cy="237744"/>
          </a:xfrm>
          <a:prstGeom prst="rect">
            <a:avLst/>
          </a:prstGeom>
          <a:noFill/>
        </p:spPr>
        <p:txBody>
          <a:bodyPr wrap="square" lIns="0" rIns="0" tIns="0" bIns="0" anchor="t">
            <a:spAutoFit/>
          </a:bodyPr>
          <a:lstStyle/>
          <a:p>
            <a:pPr algn="l">
              <a:lnSpc>
                <a:spcPct val="100000"/>
              </a:lnSpc>
            </a:pPr>
            <a:r>
              <a:rPr sz="1100" b="0">
                <a:solidFill>
                  <a:srgbClr val="8C9198"/>
                </a:solidFill>
                <a:latin typeface="Noto Sans KR"/>
                <a:ea typeface="Noto Sans KR"/>
                <a:cs typeface="Noto Sans KR"/>
              </a:rPr>
              <a:t>과제</a:t>
            </a:r>
          </a:p>
        </p:txBody>
      </p:sp>
      <p:sp>
        <p:nvSpPr>
          <p:cNvPr id="28" name="TextBox 27"/>
          <p:cNvSpPr txBox="1"/>
          <p:nvPr/>
        </p:nvSpPr>
        <p:spPr>
          <a:xfrm>
            <a:off x="8655100" y="3285591"/>
            <a:ext cx="2850794" cy="512064"/>
          </a:xfrm>
          <a:prstGeom prst="rect">
            <a:avLst/>
          </a:prstGeom>
          <a:noFill/>
        </p:spPr>
        <p:txBody>
          <a:bodyPr wrap="square" lIns="0" rIns="0" tIns="0" bIns="0" anchor="t">
            <a:spAutoFit/>
          </a:bodyPr>
          <a:lstStyle/>
          <a:p>
            <a:pPr algn="l">
              <a:lnSpc>
                <a:spcPct val="100000"/>
              </a:lnSpc>
            </a:pPr>
            <a:r>
              <a:rPr sz="1300" b="0">
                <a:solidFill>
                  <a:srgbClr val="15171A"/>
                </a:solidFill>
                <a:latin typeface="Noto Sans KR"/>
                <a:ea typeface="Noto Sans KR"/>
                <a:cs typeface="Noto Sans KR"/>
              </a:rPr>
              <a:t>실제 주방 검증 전, 우위는 미검증</a:t>
            </a:r>
          </a:p>
        </p:txBody>
      </p:sp>
      <p:sp>
        <p:nvSpPr>
          <p:cNvPr id="29" name="TextBox 28"/>
          <p:cNvSpPr txBox="1"/>
          <p:nvPr/>
        </p:nvSpPr>
        <p:spPr>
          <a:xfrm>
            <a:off x="685800" y="4163415"/>
            <a:ext cx="10820095" cy="274320"/>
          </a:xfrm>
          <a:prstGeom prst="rect">
            <a:avLst/>
          </a:prstGeom>
          <a:noFill/>
        </p:spPr>
        <p:txBody>
          <a:bodyPr wrap="square" lIns="0" rIns="0" tIns="0" bIns="0" anchor="t">
            <a:spAutoFit/>
          </a:bodyPr>
          <a:lstStyle/>
          <a:p>
            <a:pPr algn="l">
              <a:lnSpc>
                <a:spcPct val="100000"/>
              </a:lnSpc>
            </a:pPr>
            <a:r>
              <a:rPr sz="1400" b="1">
                <a:solidFill>
                  <a:srgbClr val="E2571B"/>
                </a:solidFill>
                <a:latin typeface="Noto Sans KR"/>
                <a:ea typeface="Noto Sans KR"/>
                <a:cs typeface="Noto Sans KR"/>
              </a:rPr>
              <a:t>SOFTHAND MOAT   </a:t>
            </a:r>
            <a:r>
              <a:rPr sz="1400" b="1">
                <a:solidFill>
                  <a:srgbClr val="15171A"/>
                </a:solidFill>
                <a:latin typeface="Noto Sans KR"/>
                <a:ea typeface="Noto Sans KR"/>
                <a:cs typeface="Noto Sans KR"/>
              </a:rPr>
              <a:t>해자는 Hand 하나가 아니라 Hand + Skill + Runtime + Data의 누적 구조</a:t>
            </a:r>
          </a:p>
        </p:txBody>
      </p:sp>
      <p:sp>
        <p:nvSpPr>
          <p:cNvPr id="30" name="Rectangle 29"/>
          <p:cNvSpPr/>
          <p:nvPr/>
        </p:nvSpPr>
        <p:spPr>
          <a:xfrm>
            <a:off x="685800" y="4574895"/>
            <a:ext cx="1944563" cy="1280160"/>
          </a:xfrm>
          <a:prstGeom prst="rect">
            <a:avLst/>
          </a:prstGeom>
          <a:solidFill>
            <a:srgbClr val="15171A"/>
          </a:solidFill>
          <a:ln>
            <a:noFill/>
          </a:ln>
        </p:spPr>
        <p:txBody>
          <a:bodyPr rtlCol="0" anchor="ctr"/>
          <a:lstStyle/>
          <a:p>
            <a:pPr algn="ctr"/>
          </a:p>
        </p:txBody>
      </p:sp>
      <p:sp>
        <p:nvSpPr>
          <p:cNvPr id="31" name="TextBox 30"/>
          <p:cNvSpPr txBox="1"/>
          <p:nvPr/>
        </p:nvSpPr>
        <p:spPr>
          <a:xfrm>
            <a:off x="850392" y="4684623"/>
            <a:ext cx="1670243" cy="512064"/>
          </a:xfrm>
          <a:prstGeom prst="rect">
            <a:avLst/>
          </a:prstGeom>
          <a:noFill/>
        </p:spPr>
        <p:txBody>
          <a:bodyPr wrap="square" lIns="0" rIns="0" tIns="0" bIns="0" anchor="t">
            <a:spAutoFit/>
          </a:bodyPr>
          <a:lstStyle/>
          <a:p>
            <a:pPr algn="l">
              <a:lnSpc>
                <a:spcPct val="100000"/>
              </a:lnSpc>
            </a:pPr>
            <a:r>
              <a:rPr sz="1350" b="1">
                <a:solidFill>
                  <a:srgbClr val="FFFFFF"/>
                </a:solidFill>
                <a:latin typeface="Noto Sans KR"/>
                <a:ea typeface="Noto Sans KR"/>
                <a:cs typeface="Noto Sans KR"/>
              </a:rPr>
              <a:t>Hardware</a:t>
            </a:r>
          </a:p>
        </p:txBody>
      </p:sp>
      <p:sp>
        <p:nvSpPr>
          <p:cNvPr id="32" name="TextBox 31"/>
          <p:cNvSpPr txBox="1"/>
          <p:nvPr/>
        </p:nvSpPr>
        <p:spPr>
          <a:xfrm>
            <a:off x="850392" y="5196687"/>
            <a:ext cx="1670243" cy="420624"/>
          </a:xfrm>
          <a:prstGeom prst="rect">
            <a:avLst/>
          </a:prstGeom>
          <a:noFill/>
        </p:spPr>
        <p:txBody>
          <a:bodyPr wrap="square" lIns="0" rIns="0" tIns="0" bIns="0" anchor="t">
            <a:spAutoFit/>
          </a:bodyPr>
          <a:lstStyle/>
          <a:p>
            <a:pPr algn="l">
              <a:lnSpc>
                <a:spcPct val="100000"/>
              </a:lnSpc>
            </a:pPr>
            <a:r>
              <a:rPr sz="1100" b="0">
                <a:solidFill>
                  <a:srgbClr val="B9BEC5"/>
                </a:solidFill>
                <a:latin typeface="Noto Sans KR"/>
                <a:ea typeface="Noto Sans KR"/>
                <a:cs typeface="Noto Sans KR"/>
              </a:rPr>
              <a:t>주방용 Soft-Rigid 조작</a:t>
            </a:r>
          </a:p>
        </p:txBody>
      </p:sp>
      <p:sp>
        <p:nvSpPr>
          <p:cNvPr id="33" name="TextBox 32"/>
          <p:cNvSpPr txBox="1"/>
          <p:nvPr/>
        </p:nvSpPr>
        <p:spPr>
          <a:xfrm>
            <a:off x="850392" y="5544159"/>
            <a:ext cx="1670243" cy="219456"/>
          </a:xfrm>
          <a:prstGeom prst="rect">
            <a:avLst/>
          </a:prstGeom>
          <a:noFill/>
        </p:spPr>
        <p:txBody>
          <a:bodyPr wrap="square" lIns="0" rIns="0" tIns="0" bIns="0" anchor="t">
            <a:spAutoFit/>
          </a:bodyPr>
          <a:lstStyle/>
          <a:p>
            <a:pPr algn="l">
              <a:lnSpc>
                <a:spcPct val="100000"/>
              </a:lnSpc>
            </a:pPr>
            <a:r>
              <a:rPr sz="1050" b="1">
                <a:solidFill>
                  <a:srgbClr val="E2571B"/>
                </a:solidFill>
                <a:latin typeface="Noto Sans KR"/>
                <a:ea typeface="Noto Sans KR"/>
                <a:cs typeface="Noto Sans KR"/>
              </a:rPr>
              <a:t>설계 목표</a:t>
            </a:r>
          </a:p>
        </p:txBody>
      </p:sp>
      <p:sp>
        <p:nvSpPr>
          <p:cNvPr id="34" name="Rectangle 33"/>
          <p:cNvSpPr/>
          <p:nvPr/>
        </p:nvSpPr>
        <p:spPr>
          <a:xfrm>
            <a:off x="2904683" y="4574895"/>
            <a:ext cx="1944563" cy="1280160"/>
          </a:xfrm>
          <a:prstGeom prst="rect">
            <a:avLst/>
          </a:prstGeom>
          <a:solidFill>
            <a:srgbClr val="15171A"/>
          </a:solidFill>
          <a:ln>
            <a:noFill/>
          </a:ln>
        </p:spPr>
        <p:txBody>
          <a:bodyPr rtlCol="0" anchor="ctr"/>
          <a:lstStyle/>
          <a:p>
            <a:pPr algn="ctr"/>
          </a:p>
        </p:txBody>
      </p:sp>
      <p:sp>
        <p:nvSpPr>
          <p:cNvPr id="35" name="TextBox 34"/>
          <p:cNvSpPr txBox="1"/>
          <p:nvPr/>
        </p:nvSpPr>
        <p:spPr>
          <a:xfrm>
            <a:off x="3069275" y="4684623"/>
            <a:ext cx="1670243" cy="512064"/>
          </a:xfrm>
          <a:prstGeom prst="rect">
            <a:avLst/>
          </a:prstGeom>
          <a:noFill/>
        </p:spPr>
        <p:txBody>
          <a:bodyPr wrap="square" lIns="0" rIns="0" tIns="0" bIns="0" anchor="t">
            <a:spAutoFit/>
          </a:bodyPr>
          <a:lstStyle/>
          <a:p>
            <a:pPr algn="l">
              <a:lnSpc>
                <a:spcPct val="100000"/>
              </a:lnSpc>
            </a:pPr>
            <a:r>
              <a:rPr sz="1350" b="1">
                <a:solidFill>
                  <a:srgbClr val="FFFFFF"/>
                </a:solidFill>
                <a:latin typeface="Noto Sans KR"/>
                <a:ea typeface="Noto Sans KR"/>
                <a:cs typeface="Noto Sans KR"/>
              </a:rPr>
              <a:t>Skill Library</a:t>
            </a:r>
          </a:p>
        </p:txBody>
      </p:sp>
      <p:sp>
        <p:nvSpPr>
          <p:cNvPr id="36" name="TextBox 35"/>
          <p:cNvSpPr txBox="1"/>
          <p:nvPr/>
        </p:nvSpPr>
        <p:spPr>
          <a:xfrm>
            <a:off x="3069275" y="5196687"/>
            <a:ext cx="1670243" cy="420624"/>
          </a:xfrm>
          <a:prstGeom prst="rect">
            <a:avLst/>
          </a:prstGeom>
          <a:noFill/>
        </p:spPr>
        <p:txBody>
          <a:bodyPr wrap="square" lIns="0" rIns="0" tIns="0" bIns="0" anchor="t">
            <a:spAutoFit/>
          </a:bodyPr>
          <a:lstStyle/>
          <a:p>
            <a:pPr algn="l">
              <a:lnSpc>
                <a:spcPct val="100000"/>
              </a:lnSpc>
            </a:pPr>
            <a:r>
              <a:rPr sz="1100" b="0">
                <a:solidFill>
                  <a:srgbClr val="B9BEC5"/>
                </a:solidFill>
                <a:latin typeface="Noto Sans KR"/>
                <a:ea typeface="Noto Sans KR"/>
                <a:cs typeface="Noto Sans KR"/>
              </a:rPr>
              <a:t>반복 사용 가능한 조작 Skill</a:t>
            </a:r>
          </a:p>
        </p:txBody>
      </p:sp>
      <p:sp>
        <p:nvSpPr>
          <p:cNvPr id="37" name="TextBox 36"/>
          <p:cNvSpPr txBox="1"/>
          <p:nvPr/>
        </p:nvSpPr>
        <p:spPr>
          <a:xfrm>
            <a:off x="3069275" y="5544159"/>
            <a:ext cx="1670243" cy="219456"/>
          </a:xfrm>
          <a:prstGeom prst="rect">
            <a:avLst/>
          </a:prstGeom>
          <a:noFill/>
        </p:spPr>
        <p:txBody>
          <a:bodyPr wrap="square" lIns="0" rIns="0" tIns="0" bIns="0" anchor="t">
            <a:spAutoFit/>
          </a:bodyPr>
          <a:lstStyle/>
          <a:p>
            <a:pPr algn="l">
              <a:lnSpc>
                <a:spcPct val="100000"/>
              </a:lnSpc>
            </a:pPr>
            <a:r>
              <a:rPr sz="1050" b="1">
                <a:solidFill>
                  <a:srgbClr val="E2571B"/>
                </a:solidFill>
                <a:latin typeface="Noto Sans KR"/>
                <a:ea typeface="Noto Sans KR"/>
                <a:cs typeface="Noto Sans KR"/>
              </a:rPr>
              <a:t>구축 목표</a:t>
            </a:r>
          </a:p>
        </p:txBody>
      </p:sp>
      <p:cxnSp>
        <p:nvCxnSpPr>
          <p:cNvPr id="38" name="Connector 37"/>
          <p:cNvCxnSpPr/>
          <p:nvPr/>
        </p:nvCxnSpPr>
        <p:spPr>
          <a:xfrm>
            <a:off x="2676083" y="5214975"/>
            <a:ext cx="182880" cy="0"/>
          </a:xfrm>
          <a:prstGeom prst="line">
            <a:avLst/>
          </a:prstGeom>
          <a:ln w="15875">
            <a:solidFill>
              <a:srgbClr val="15171A"/>
            </a:solidFill>
            <a:tailEnd type="triangle" w="med" len="med"/>
          </a:ln>
        </p:spPr>
      </p:cxnSp>
      <p:sp>
        <p:nvSpPr>
          <p:cNvPr id="39" name="Rectangle 38"/>
          <p:cNvSpPr/>
          <p:nvPr/>
        </p:nvSpPr>
        <p:spPr>
          <a:xfrm>
            <a:off x="5123566" y="4574895"/>
            <a:ext cx="1944563" cy="1280160"/>
          </a:xfrm>
          <a:prstGeom prst="rect">
            <a:avLst/>
          </a:prstGeom>
          <a:solidFill>
            <a:srgbClr val="15171A"/>
          </a:solidFill>
          <a:ln>
            <a:noFill/>
          </a:ln>
        </p:spPr>
        <p:txBody>
          <a:bodyPr rtlCol="0" anchor="ctr"/>
          <a:lstStyle/>
          <a:p>
            <a:pPr algn="ctr"/>
          </a:p>
        </p:txBody>
      </p:sp>
      <p:sp>
        <p:nvSpPr>
          <p:cNvPr id="40" name="TextBox 39"/>
          <p:cNvSpPr txBox="1"/>
          <p:nvPr/>
        </p:nvSpPr>
        <p:spPr>
          <a:xfrm>
            <a:off x="5288158" y="4684623"/>
            <a:ext cx="1670243" cy="512064"/>
          </a:xfrm>
          <a:prstGeom prst="rect">
            <a:avLst/>
          </a:prstGeom>
          <a:noFill/>
        </p:spPr>
        <p:txBody>
          <a:bodyPr wrap="square" lIns="0" rIns="0" tIns="0" bIns="0" anchor="t">
            <a:spAutoFit/>
          </a:bodyPr>
          <a:lstStyle/>
          <a:p>
            <a:pPr algn="l">
              <a:lnSpc>
                <a:spcPct val="100000"/>
              </a:lnSpc>
            </a:pPr>
            <a:r>
              <a:rPr sz="1350" b="1">
                <a:solidFill>
                  <a:srgbClr val="FFFFFF"/>
                </a:solidFill>
                <a:latin typeface="Noto Sans KR"/>
                <a:ea typeface="Noto Sans KR"/>
                <a:cs typeface="Noto Sans KR"/>
              </a:rPr>
              <a:t>Recovery Data</a:t>
            </a:r>
          </a:p>
        </p:txBody>
      </p:sp>
      <p:sp>
        <p:nvSpPr>
          <p:cNvPr id="41" name="TextBox 40"/>
          <p:cNvSpPr txBox="1"/>
          <p:nvPr/>
        </p:nvSpPr>
        <p:spPr>
          <a:xfrm>
            <a:off x="5288158" y="5196687"/>
            <a:ext cx="1670243" cy="420624"/>
          </a:xfrm>
          <a:prstGeom prst="rect">
            <a:avLst/>
          </a:prstGeom>
          <a:noFill/>
        </p:spPr>
        <p:txBody>
          <a:bodyPr wrap="square" lIns="0" rIns="0" tIns="0" bIns="0" anchor="t">
            <a:spAutoFit/>
          </a:bodyPr>
          <a:lstStyle/>
          <a:p>
            <a:pPr algn="l">
              <a:lnSpc>
                <a:spcPct val="100000"/>
              </a:lnSpc>
            </a:pPr>
            <a:r>
              <a:rPr sz="1100" b="0">
                <a:solidFill>
                  <a:srgbClr val="B9BEC5"/>
                </a:solidFill>
                <a:latin typeface="Noto Sans KR"/>
                <a:ea typeface="Noto Sans KR"/>
                <a:cs typeface="Noto Sans KR"/>
              </a:rPr>
              <a:t>실패와 복구 데이터</a:t>
            </a:r>
          </a:p>
        </p:txBody>
      </p:sp>
      <p:sp>
        <p:nvSpPr>
          <p:cNvPr id="42" name="TextBox 41"/>
          <p:cNvSpPr txBox="1"/>
          <p:nvPr/>
        </p:nvSpPr>
        <p:spPr>
          <a:xfrm>
            <a:off x="5288158" y="5544159"/>
            <a:ext cx="1670243" cy="219456"/>
          </a:xfrm>
          <a:prstGeom prst="rect">
            <a:avLst/>
          </a:prstGeom>
          <a:noFill/>
        </p:spPr>
        <p:txBody>
          <a:bodyPr wrap="square" lIns="0" rIns="0" tIns="0" bIns="0" anchor="t">
            <a:spAutoFit/>
          </a:bodyPr>
          <a:lstStyle/>
          <a:p>
            <a:pPr algn="l">
              <a:lnSpc>
                <a:spcPct val="100000"/>
              </a:lnSpc>
            </a:pPr>
            <a:r>
              <a:rPr sz="1050" b="1">
                <a:solidFill>
                  <a:srgbClr val="E2571B"/>
                </a:solidFill>
                <a:latin typeface="Noto Sans KR"/>
                <a:ea typeface="Noto Sans KR"/>
                <a:cs typeface="Noto Sans KR"/>
              </a:rPr>
              <a:t>향후 축적</a:t>
            </a:r>
          </a:p>
        </p:txBody>
      </p:sp>
      <p:cxnSp>
        <p:nvCxnSpPr>
          <p:cNvPr id="43" name="Connector 42"/>
          <p:cNvCxnSpPr/>
          <p:nvPr/>
        </p:nvCxnSpPr>
        <p:spPr>
          <a:xfrm>
            <a:off x="4894966" y="5214975"/>
            <a:ext cx="182880" cy="0"/>
          </a:xfrm>
          <a:prstGeom prst="line">
            <a:avLst/>
          </a:prstGeom>
          <a:ln w="15875">
            <a:solidFill>
              <a:srgbClr val="15171A"/>
            </a:solidFill>
            <a:tailEnd type="triangle" w="med" len="med"/>
          </a:ln>
        </p:spPr>
      </p:cxnSp>
      <p:sp>
        <p:nvSpPr>
          <p:cNvPr id="44" name="Rectangle 43"/>
          <p:cNvSpPr/>
          <p:nvPr/>
        </p:nvSpPr>
        <p:spPr>
          <a:xfrm>
            <a:off x="7342449" y="4574895"/>
            <a:ext cx="1944563" cy="1280160"/>
          </a:xfrm>
          <a:prstGeom prst="rect">
            <a:avLst/>
          </a:prstGeom>
          <a:solidFill>
            <a:srgbClr val="15171A"/>
          </a:solidFill>
          <a:ln>
            <a:noFill/>
          </a:ln>
        </p:spPr>
        <p:txBody>
          <a:bodyPr rtlCol="0" anchor="ctr"/>
          <a:lstStyle/>
          <a:p>
            <a:pPr algn="ctr"/>
          </a:p>
        </p:txBody>
      </p:sp>
      <p:sp>
        <p:nvSpPr>
          <p:cNvPr id="45" name="TextBox 44"/>
          <p:cNvSpPr txBox="1"/>
          <p:nvPr/>
        </p:nvSpPr>
        <p:spPr>
          <a:xfrm>
            <a:off x="7507041" y="4684623"/>
            <a:ext cx="1670243" cy="512064"/>
          </a:xfrm>
          <a:prstGeom prst="rect">
            <a:avLst/>
          </a:prstGeom>
          <a:noFill/>
        </p:spPr>
        <p:txBody>
          <a:bodyPr wrap="square" lIns="0" rIns="0" tIns="0" bIns="0" anchor="t">
            <a:spAutoFit/>
          </a:bodyPr>
          <a:lstStyle/>
          <a:p>
            <a:pPr algn="l">
              <a:lnSpc>
                <a:spcPct val="100000"/>
              </a:lnSpc>
            </a:pPr>
            <a:r>
              <a:rPr sz="1350" b="1">
                <a:solidFill>
                  <a:srgbClr val="FFFFFF"/>
                </a:solidFill>
                <a:latin typeface="Noto Sans KR"/>
                <a:ea typeface="Noto Sans KR"/>
                <a:cs typeface="Noto Sans KR"/>
              </a:rPr>
              <a:t>Cross-Robot Runtime</a:t>
            </a:r>
          </a:p>
        </p:txBody>
      </p:sp>
      <p:sp>
        <p:nvSpPr>
          <p:cNvPr id="46" name="TextBox 45"/>
          <p:cNvSpPr txBox="1"/>
          <p:nvPr/>
        </p:nvSpPr>
        <p:spPr>
          <a:xfrm>
            <a:off x="7507041" y="5196687"/>
            <a:ext cx="1670243" cy="420624"/>
          </a:xfrm>
          <a:prstGeom prst="rect">
            <a:avLst/>
          </a:prstGeom>
          <a:noFill/>
        </p:spPr>
        <p:txBody>
          <a:bodyPr wrap="square" lIns="0" rIns="0" tIns="0" bIns="0" anchor="t">
            <a:spAutoFit/>
          </a:bodyPr>
          <a:lstStyle/>
          <a:p>
            <a:pPr algn="l">
              <a:lnSpc>
                <a:spcPct val="100000"/>
              </a:lnSpc>
            </a:pPr>
            <a:r>
              <a:rPr sz="1100" b="0">
                <a:solidFill>
                  <a:srgbClr val="B9BEC5"/>
                </a:solidFill>
                <a:latin typeface="Noto Sans KR"/>
                <a:ea typeface="Noto Sans KR"/>
                <a:cs typeface="Noto Sans KR"/>
              </a:rPr>
              <a:t>다른 로봇에서 Skill 재사용</a:t>
            </a:r>
          </a:p>
        </p:txBody>
      </p:sp>
      <p:sp>
        <p:nvSpPr>
          <p:cNvPr id="47" name="TextBox 46"/>
          <p:cNvSpPr txBox="1"/>
          <p:nvPr/>
        </p:nvSpPr>
        <p:spPr>
          <a:xfrm>
            <a:off x="7507041" y="5544159"/>
            <a:ext cx="1670243" cy="219456"/>
          </a:xfrm>
          <a:prstGeom prst="rect">
            <a:avLst/>
          </a:prstGeom>
          <a:noFill/>
        </p:spPr>
        <p:txBody>
          <a:bodyPr wrap="square" lIns="0" rIns="0" tIns="0" bIns="0" anchor="t">
            <a:spAutoFit/>
          </a:bodyPr>
          <a:lstStyle/>
          <a:p>
            <a:pPr algn="l">
              <a:lnSpc>
                <a:spcPct val="100000"/>
              </a:lnSpc>
            </a:pPr>
            <a:r>
              <a:rPr sz="1050" b="1">
                <a:solidFill>
                  <a:srgbClr val="E2571B"/>
                </a:solidFill>
                <a:latin typeface="Noto Sans KR"/>
                <a:ea typeface="Noto Sans KR"/>
                <a:cs typeface="Noto Sans KR"/>
              </a:rPr>
              <a:t>검증 예정</a:t>
            </a:r>
          </a:p>
        </p:txBody>
      </p:sp>
      <p:cxnSp>
        <p:nvCxnSpPr>
          <p:cNvPr id="48" name="Connector 47"/>
          <p:cNvCxnSpPr/>
          <p:nvPr/>
        </p:nvCxnSpPr>
        <p:spPr>
          <a:xfrm>
            <a:off x="7113849" y="5214975"/>
            <a:ext cx="182880" cy="0"/>
          </a:xfrm>
          <a:prstGeom prst="line">
            <a:avLst/>
          </a:prstGeom>
          <a:ln w="15875">
            <a:solidFill>
              <a:srgbClr val="15171A"/>
            </a:solidFill>
            <a:tailEnd type="triangle" w="med" len="med"/>
          </a:ln>
        </p:spPr>
      </p:cxnSp>
      <p:sp>
        <p:nvSpPr>
          <p:cNvPr id="49" name="Rectangle 48"/>
          <p:cNvSpPr/>
          <p:nvPr/>
        </p:nvSpPr>
        <p:spPr>
          <a:xfrm>
            <a:off x="9561332" y="4574895"/>
            <a:ext cx="1944563" cy="1280160"/>
          </a:xfrm>
          <a:prstGeom prst="rect">
            <a:avLst/>
          </a:prstGeom>
          <a:solidFill>
            <a:srgbClr val="15171A"/>
          </a:solidFill>
          <a:ln>
            <a:noFill/>
          </a:ln>
        </p:spPr>
        <p:txBody>
          <a:bodyPr rtlCol="0" anchor="ctr"/>
          <a:lstStyle/>
          <a:p>
            <a:pPr algn="ctr"/>
          </a:p>
        </p:txBody>
      </p:sp>
      <p:sp>
        <p:nvSpPr>
          <p:cNvPr id="50" name="TextBox 49"/>
          <p:cNvSpPr txBox="1"/>
          <p:nvPr/>
        </p:nvSpPr>
        <p:spPr>
          <a:xfrm>
            <a:off x="9725924" y="4684623"/>
            <a:ext cx="1670243" cy="512064"/>
          </a:xfrm>
          <a:prstGeom prst="rect">
            <a:avLst/>
          </a:prstGeom>
          <a:noFill/>
        </p:spPr>
        <p:txBody>
          <a:bodyPr wrap="square" lIns="0" rIns="0" tIns="0" bIns="0" anchor="t">
            <a:spAutoFit/>
          </a:bodyPr>
          <a:lstStyle/>
          <a:p>
            <a:pPr algn="l">
              <a:lnSpc>
                <a:spcPct val="100000"/>
              </a:lnSpc>
            </a:pPr>
            <a:r>
              <a:rPr sz="1350" b="1">
                <a:solidFill>
                  <a:srgbClr val="FFFFFF"/>
                </a:solidFill>
                <a:latin typeface="Noto Sans KR"/>
                <a:ea typeface="Noto Sans KR"/>
                <a:cs typeface="Noto Sans KR"/>
              </a:rPr>
              <a:t>Installed Base</a:t>
            </a:r>
          </a:p>
        </p:txBody>
      </p:sp>
      <p:sp>
        <p:nvSpPr>
          <p:cNvPr id="51" name="TextBox 50"/>
          <p:cNvSpPr txBox="1"/>
          <p:nvPr/>
        </p:nvSpPr>
        <p:spPr>
          <a:xfrm>
            <a:off x="9725924" y="5196687"/>
            <a:ext cx="1670243" cy="420624"/>
          </a:xfrm>
          <a:prstGeom prst="rect">
            <a:avLst/>
          </a:prstGeom>
          <a:noFill/>
        </p:spPr>
        <p:txBody>
          <a:bodyPr wrap="square" lIns="0" rIns="0" tIns="0" bIns="0" anchor="t">
            <a:spAutoFit/>
          </a:bodyPr>
          <a:lstStyle/>
          <a:p>
            <a:pPr algn="l">
              <a:lnSpc>
                <a:spcPct val="100000"/>
              </a:lnSpc>
            </a:pPr>
            <a:r>
              <a:rPr sz="1100" b="0">
                <a:solidFill>
                  <a:srgbClr val="B9BEC5"/>
                </a:solidFill>
                <a:latin typeface="Noto Sans KR"/>
                <a:ea typeface="Noto Sans KR"/>
                <a:cs typeface="Noto Sans KR"/>
              </a:rPr>
              <a:t>다양한 주방의 실제 작업 경험</a:t>
            </a:r>
          </a:p>
        </p:txBody>
      </p:sp>
      <p:sp>
        <p:nvSpPr>
          <p:cNvPr id="52" name="TextBox 51"/>
          <p:cNvSpPr txBox="1"/>
          <p:nvPr/>
        </p:nvSpPr>
        <p:spPr>
          <a:xfrm>
            <a:off x="9725924" y="5544159"/>
            <a:ext cx="1670243" cy="219456"/>
          </a:xfrm>
          <a:prstGeom prst="rect">
            <a:avLst/>
          </a:prstGeom>
          <a:noFill/>
        </p:spPr>
        <p:txBody>
          <a:bodyPr wrap="square" lIns="0" rIns="0" tIns="0" bIns="0" anchor="t">
            <a:spAutoFit/>
          </a:bodyPr>
          <a:lstStyle/>
          <a:p>
            <a:pPr algn="l">
              <a:lnSpc>
                <a:spcPct val="100000"/>
              </a:lnSpc>
            </a:pPr>
            <a:r>
              <a:rPr sz="1050" b="1">
                <a:solidFill>
                  <a:srgbClr val="E2571B"/>
                </a:solidFill>
                <a:latin typeface="Noto Sans KR"/>
                <a:ea typeface="Noto Sans KR"/>
                <a:cs typeface="Noto Sans KR"/>
              </a:rPr>
              <a:t>장기 목표</a:t>
            </a:r>
          </a:p>
        </p:txBody>
      </p:sp>
      <p:cxnSp>
        <p:nvCxnSpPr>
          <p:cNvPr id="53" name="Connector 52"/>
          <p:cNvCxnSpPr/>
          <p:nvPr/>
        </p:nvCxnSpPr>
        <p:spPr>
          <a:xfrm>
            <a:off x="9332732" y="5214975"/>
            <a:ext cx="182880" cy="0"/>
          </a:xfrm>
          <a:prstGeom prst="line">
            <a:avLst/>
          </a:prstGeom>
          <a:ln w="15875">
            <a:solidFill>
              <a:srgbClr val="15171A"/>
            </a:solidFill>
            <a:tailEnd type="triangle" w="med" len="med"/>
          </a:ln>
        </p:spPr>
      </p:cxnSp>
      <p:sp>
        <p:nvSpPr>
          <p:cNvPr id="54" name="TextBox 53"/>
          <p:cNvSpPr txBox="1"/>
          <p:nvPr/>
        </p:nvSpPr>
        <p:spPr>
          <a:xfrm>
            <a:off x="685800" y="6446520"/>
            <a:ext cx="5486400" cy="201168"/>
          </a:xfrm>
          <a:prstGeom prst="rect">
            <a:avLst/>
          </a:prstGeom>
          <a:noFill/>
        </p:spPr>
        <p:txBody>
          <a:bodyPr wrap="square" lIns="0" rIns="0" tIns="0" bIns="0" anchor="t">
            <a:spAutoFit/>
          </a:bodyPr>
          <a:lstStyle/>
          <a:p>
            <a:pPr algn="l">
              <a:lnSpc>
                <a:spcPct val="100000"/>
              </a:lnSpc>
            </a:pPr>
            <a:r>
              <a:rPr sz="900" b="0">
                <a:solidFill>
                  <a:srgbClr val="8C9198"/>
                </a:solidFill>
                <a:latin typeface="Noto Sans KR"/>
                <a:ea typeface="Noto Sans KR"/>
                <a:cs typeface="Noto Sans KR"/>
              </a:rPr>
              <a:t>SoftHand  |  주방 로봇 조작 플랫폼  |  Seed 투자 제안서</a:t>
            </a:r>
          </a:p>
        </p:txBody>
      </p:sp>
      <p:sp>
        <p:nvSpPr>
          <p:cNvPr id="55" name="TextBox 54"/>
          <p:cNvSpPr txBox="1"/>
          <p:nvPr/>
        </p:nvSpPr>
        <p:spPr>
          <a:xfrm>
            <a:off x="3154680" y="6446520"/>
            <a:ext cx="7802575" cy="201168"/>
          </a:xfrm>
          <a:prstGeom prst="rect">
            <a:avLst/>
          </a:prstGeom>
          <a:noFill/>
        </p:spPr>
        <p:txBody>
          <a:bodyPr wrap="square" lIns="0" rIns="0" tIns="0" bIns="0" anchor="t">
            <a:spAutoFit/>
          </a:bodyPr>
          <a:lstStyle/>
          <a:p>
            <a:pPr algn="r">
              <a:lnSpc>
                <a:spcPct val="100000"/>
              </a:lnSpc>
            </a:pPr>
            <a:r>
              <a:rPr sz="900" b="0">
                <a:solidFill>
                  <a:srgbClr val="8C9198"/>
                </a:solidFill>
                <a:latin typeface="Noto Sans KR"/>
                <a:ea typeface="Noto Sans KR"/>
                <a:cs typeface="Noto Sans KR"/>
              </a:rPr>
              <a:t>공개 정보 기반 정성 비교, 독립 비교시험 아님 · 회사별 사례·출처는 부록 A6</a:t>
            </a:r>
          </a:p>
        </p:txBody>
      </p:sp>
      <p:sp>
        <p:nvSpPr>
          <p:cNvPr id="56" name="TextBox 55"/>
          <p:cNvSpPr txBox="1"/>
          <p:nvPr/>
        </p:nvSpPr>
        <p:spPr>
          <a:xfrm>
            <a:off x="11048695" y="6446520"/>
            <a:ext cx="457200" cy="201168"/>
          </a:xfrm>
          <a:prstGeom prst="rect">
            <a:avLst/>
          </a:prstGeom>
          <a:noFill/>
        </p:spPr>
        <p:txBody>
          <a:bodyPr wrap="square" lIns="0" rIns="0" tIns="0" bIns="0" anchor="t">
            <a:spAutoFit/>
          </a:bodyPr>
          <a:lstStyle/>
          <a:p>
            <a:pPr algn="r">
              <a:lnSpc>
                <a:spcPct val="100000"/>
              </a:lnSpc>
            </a:pPr>
            <a:r>
              <a:rPr sz="900" b="0">
                <a:solidFill>
                  <a:srgbClr val="8C9198"/>
                </a:solidFill>
                <a:latin typeface="Noto Sans KR"/>
                <a:ea typeface="Noto Sans KR"/>
                <a:cs typeface="Noto Sans KR"/>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548640"/>
            <a:ext cx="7315200" cy="274320"/>
          </a:xfrm>
          <a:prstGeom prst="rect">
            <a:avLst/>
          </a:prstGeom>
          <a:noFill/>
        </p:spPr>
        <p:txBody>
          <a:bodyPr wrap="square" lIns="0" rIns="0" tIns="0" bIns="0" anchor="t">
            <a:spAutoFit/>
          </a:bodyPr>
          <a:lstStyle/>
          <a:p>
            <a:pPr algn="l">
              <a:lnSpc>
                <a:spcPct val="100000"/>
              </a:lnSpc>
            </a:pPr>
            <a:r>
              <a:rPr sz="1200" b="1">
                <a:solidFill>
                  <a:srgbClr val="E2571B"/>
                </a:solidFill>
                <a:latin typeface="Noto Sans KR"/>
                <a:ea typeface="Noto Sans KR"/>
                <a:cs typeface="Noto Sans KR"/>
              </a:rPr>
              <a:t>BUSINESS MODEL</a:t>
            </a:r>
          </a:p>
        </p:txBody>
      </p:sp>
      <p:sp>
        <p:nvSpPr>
          <p:cNvPr id="3" name="TextBox 2"/>
          <p:cNvSpPr txBox="1"/>
          <p:nvPr/>
        </p:nvSpPr>
        <p:spPr>
          <a:xfrm>
            <a:off x="685800" y="932688"/>
            <a:ext cx="10820095" cy="542391"/>
          </a:xfrm>
          <a:prstGeom prst="rect">
            <a:avLst/>
          </a:prstGeom>
          <a:noFill/>
        </p:spPr>
        <p:txBody>
          <a:bodyPr wrap="square" lIns="0" rIns="0" tIns="0" bIns="0" anchor="t">
            <a:spAutoFit/>
          </a:bodyPr>
          <a:lstStyle/>
          <a:p>
            <a:pPr algn="l">
              <a:lnSpc>
                <a:spcPct val="95000"/>
              </a:lnSpc>
            </a:pPr>
            <a:r>
              <a:rPr sz="3000" b="1">
                <a:solidFill>
                  <a:srgbClr val="15171A"/>
                </a:solidFill>
                <a:latin typeface="Noto Sans KR"/>
                <a:ea typeface="Noto Sans KR"/>
                <a:cs typeface="Noto Sans KR"/>
              </a:rPr>
              <a:t>하드웨어로 검증하고, Skill·Runtime 반복매출로 확장합니다</a:t>
            </a:r>
          </a:p>
        </p:txBody>
      </p:sp>
      <p:sp>
        <p:nvSpPr>
          <p:cNvPr id="4" name="TextBox 3"/>
          <p:cNvSpPr txBox="1"/>
          <p:nvPr/>
        </p:nvSpPr>
        <p:spPr>
          <a:xfrm>
            <a:off x="685800" y="1804263"/>
            <a:ext cx="2499283" cy="237744"/>
          </a:xfrm>
          <a:prstGeom prst="rect">
            <a:avLst/>
          </a:prstGeom>
          <a:noFill/>
        </p:spPr>
        <p:txBody>
          <a:bodyPr wrap="square" lIns="0" rIns="0" tIns="0" bIns="0" anchor="t">
            <a:spAutoFit/>
          </a:bodyPr>
          <a:lstStyle/>
          <a:p>
            <a:pPr algn="l">
              <a:lnSpc>
                <a:spcPct val="100000"/>
              </a:lnSpc>
            </a:pPr>
            <a:r>
              <a:rPr sz="1150" b="1">
                <a:solidFill>
                  <a:srgbClr val="E2571B"/>
                </a:solidFill>
                <a:latin typeface="Noto Sans KR"/>
                <a:ea typeface="Noto Sans KR"/>
                <a:cs typeface="Noto Sans KR"/>
              </a:rPr>
              <a:t>1 · 핵심 시장</a:t>
            </a:r>
          </a:p>
        </p:txBody>
      </p:sp>
      <p:sp>
        <p:nvSpPr>
          <p:cNvPr id="5" name="TextBox 4"/>
          <p:cNvSpPr txBox="1"/>
          <p:nvPr/>
        </p:nvSpPr>
        <p:spPr>
          <a:xfrm>
            <a:off x="685800" y="2078583"/>
            <a:ext cx="2499283" cy="329184"/>
          </a:xfrm>
          <a:prstGeom prst="rect">
            <a:avLst/>
          </a:prstGeom>
          <a:noFill/>
        </p:spPr>
        <p:txBody>
          <a:bodyPr wrap="square" lIns="0" rIns="0" tIns="0" bIns="0" anchor="t">
            <a:spAutoFit/>
          </a:bodyPr>
          <a:lstStyle/>
          <a:p>
            <a:pPr algn="l">
              <a:lnSpc>
                <a:spcPct val="100000"/>
              </a:lnSpc>
            </a:pPr>
            <a:r>
              <a:rPr sz="1600" b="1">
                <a:solidFill>
                  <a:srgbClr val="15171A"/>
                </a:solidFill>
                <a:latin typeface="Noto Sans KR"/>
                <a:ea typeface="Noto Sans KR"/>
                <a:cs typeface="Noto Sans KR"/>
              </a:rPr>
              <a:t>상업용 + 가정용 주방</a:t>
            </a:r>
          </a:p>
        </p:txBody>
      </p:sp>
      <p:cxnSp>
        <p:nvCxnSpPr>
          <p:cNvPr id="6" name="Connector 5"/>
          <p:cNvCxnSpPr/>
          <p:nvPr/>
        </p:nvCxnSpPr>
        <p:spPr>
          <a:xfrm>
            <a:off x="685800" y="2480919"/>
            <a:ext cx="2499283" cy="0"/>
          </a:xfrm>
          <a:prstGeom prst="line">
            <a:avLst/>
          </a:prstGeom>
          <a:ln w="12700">
            <a:solidFill>
              <a:srgbClr val="15171A"/>
            </a:solidFill>
          </a:ln>
        </p:spPr>
      </p:cxnSp>
      <p:sp>
        <p:nvSpPr>
          <p:cNvPr id="7" name="TextBox 6"/>
          <p:cNvSpPr txBox="1"/>
          <p:nvPr/>
        </p:nvSpPr>
        <p:spPr>
          <a:xfrm>
            <a:off x="685800" y="2572359"/>
            <a:ext cx="2499283" cy="457200"/>
          </a:xfrm>
          <a:prstGeom prst="rect">
            <a:avLst/>
          </a:prstGeom>
          <a:noFill/>
        </p:spPr>
        <p:txBody>
          <a:bodyPr wrap="square" lIns="0" rIns="0" tIns="0" bIns="0" anchor="t">
            <a:spAutoFit/>
          </a:bodyPr>
          <a:lstStyle/>
          <a:p>
            <a:pPr algn="l">
              <a:lnSpc>
                <a:spcPct val="100000"/>
              </a:lnSpc>
            </a:pPr>
            <a:r>
              <a:rPr sz="1150" b="0">
                <a:solidFill>
                  <a:srgbClr val="4A4F57"/>
                </a:solidFill>
                <a:latin typeface="Noto Sans KR"/>
                <a:ea typeface="Noto Sans KR"/>
                <a:cs typeface="Noto Sans KR"/>
              </a:rPr>
              <a:t>식당 · 프랜차이즈 · 급식 · 호텔</a:t>
            </a:r>
          </a:p>
          <a:p>
            <a:pPr algn="l">
              <a:lnSpc>
                <a:spcPct val="100000"/>
              </a:lnSpc>
            </a:pPr>
            <a:r>
              <a:rPr sz="1150" b="0">
                <a:solidFill>
                  <a:srgbClr val="4A4F57"/>
                </a:solidFill>
                <a:latin typeface="Noto Sans KR"/>
                <a:ea typeface="Noto Sans KR"/>
                <a:cs typeface="Noto Sans KR"/>
              </a:rPr>
              <a:t>가정 조리 · 식사 준비 · 가전 조작</a:t>
            </a:r>
          </a:p>
        </p:txBody>
      </p:sp>
      <p:cxnSp>
        <p:nvCxnSpPr>
          <p:cNvPr id="8" name="Connector 7"/>
          <p:cNvCxnSpPr/>
          <p:nvPr/>
        </p:nvCxnSpPr>
        <p:spPr>
          <a:xfrm>
            <a:off x="685800" y="3102711"/>
            <a:ext cx="2499283" cy="0"/>
          </a:xfrm>
          <a:prstGeom prst="line">
            <a:avLst/>
          </a:prstGeom>
          <a:ln w="9525">
            <a:solidFill>
              <a:srgbClr val="E2E4E7"/>
            </a:solidFill>
          </a:ln>
        </p:spPr>
      </p:cxnSp>
      <p:sp>
        <p:nvSpPr>
          <p:cNvPr id="9" name="TextBox 8"/>
          <p:cNvSpPr txBox="1"/>
          <p:nvPr/>
        </p:nvSpPr>
        <p:spPr>
          <a:xfrm>
            <a:off x="685800" y="3194151"/>
            <a:ext cx="2499283" cy="219456"/>
          </a:xfrm>
          <a:prstGeom prst="rect">
            <a:avLst/>
          </a:prstGeom>
          <a:noFill/>
        </p:spPr>
        <p:txBody>
          <a:bodyPr wrap="square" lIns="0" rIns="0" tIns="0" bIns="0" anchor="t">
            <a:spAutoFit/>
          </a:bodyPr>
          <a:lstStyle/>
          <a:p>
            <a:pPr algn="l">
              <a:lnSpc>
                <a:spcPct val="100000"/>
              </a:lnSpc>
            </a:pPr>
            <a:r>
              <a:rPr sz="1050" b="1">
                <a:solidFill>
                  <a:srgbClr val="8C9198"/>
                </a:solidFill>
                <a:latin typeface="Noto Sans KR"/>
                <a:ea typeface="Noto Sans KR"/>
                <a:cs typeface="Noto Sans KR"/>
              </a:rPr>
              <a:t>초기 매출</a:t>
            </a:r>
          </a:p>
        </p:txBody>
      </p:sp>
      <p:sp>
        <p:nvSpPr>
          <p:cNvPr id="10" name="TextBox 9"/>
          <p:cNvSpPr txBox="1"/>
          <p:nvPr/>
        </p:nvSpPr>
        <p:spPr>
          <a:xfrm>
            <a:off x="685800" y="3431895"/>
            <a:ext cx="2499283" cy="457200"/>
          </a:xfrm>
          <a:prstGeom prst="rect">
            <a:avLst/>
          </a:prstGeom>
          <a:noFill/>
        </p:spPr>
        <p:txBody>
          <a:bodyPr wrap="square" lIns="0" rIns="0" tIns="0" bIns="0" anchor="t">
            <a:spAutoFit/>
          </a:bodyPr>
          <a:lstStyle/>
          <a:p>
            <a:pPr algn="l">
              <a:lnSpc>
                <a:spcPct val="100000"/>
              </a:lnSpc>
            </a:pPr>
            <a:r>
              <a:rPr sz="1200" b="1">
                <a:solidFill>
                  <a:srgbClr val="15171A"/>
                </a:solidFill>
                <a:latin typeface="Noto Sans KR"/>
                <a:ea typeface="Noto Sans KR"/>
                <a:cs typeface="Noto Sans KR"/>
              </a:rPr>
              <a:t>유료 PoC · 하드웨어 · 통합</a:t>
            </a:r>
          </a:p>
        </p:txBody>
      </p:sp>
      <p:cxnSp>
        <p:nvCxnSpPr>
          <p:cNvPr id="11" name="Connector 10"/>
          <p:cNvCxnSpPr/>
          <p:nvPr/>
        </p:nvCxnSpPr>
        <p:spPr>
          <a:xfrm>
            <a:off x="3221659" y="1923135"/>
            <a:ext cx="182880" cy="0"/>
          </a:xfrm>
          <a:prstGeom prst="line">
            <a:avLst/>
          </a:prstGeom>
          <a:ln w="15875">
            <a:solidFill>
              <a:srgbClr val="E2571B"/>
            </a:solidFill>
            <a:tailEnd type="triangle" w="med" len="med"/>
          </a:ln>
        </p:spPr>
      </p:cxnSp>
      <p:sp>
        <p:nvSpPr>
          <p:cNvPr id="12" name="TextBox 11"/>
          <p:cNvSpPr txBox="1"/>
          <p:nvPr/>
        </p:nvSpPr>
        <p:spPr>
          <a:xfrm>
            <a:off x="3459403" y="1804263"/>
            <a:ext cx="2499283" cy="237744"/>
          </a:xfrm>
          <a:prstGeom prst="rect">
            <a:avLst/>
          </a:prstGeom>
          <a:noFill/>
        </p:spPr>
        <p:txBody>
          <a:bodyPr wrap="square" lIns="0" rIns="0" tIns="0" bIns="0" anchor="t">
            <a:spAutoFit/>
          </a:bodyPr>
          <a:lstStyle/>
          <a:p>
            <a:pPr algn="l">
              <a:lnSpc>
                <a:spcPct val="100000"/>
              </a:lnSpc>
            </a:pPr>
            <a:r>
              <a:rPr sz="1150" b="1">
                <a:solidFill>
                  <a:srgbClr val="E2571B"/>
                </a:solidFill>
                <a:latin typeface="Noto Sans KR"/>
                <a:ea typeface="Noto Sans KR"/>
                <a:cs typeface="Noto Sans KR"/>
              </a:rPr>
              <a:t>2 · 제품 확장</a:t>
            </a:r>
          </a:p>
        </p:txBody>
      </p:sp>
      <p:sp>
        <p:nvSpPr>
          <p:cNvPr id="13" name="TextBox 12"/>
          <p:cNvSpPr txBox="1"/>
          <p:nvPr/>
        </p:nvSpPr>
        <p:spPr>
          <a:xfrm>
            <a:off x="3459403" y="2078583"/>
            <a:ext cx="2499283" cy="329184"/>
          </a:xfrm>
          <a:prstGeom prst="rect">
            <a:avLst/>
          </a:prstGeom>
          <a:noFill/>
        </p:spPr>
        <p:txBody>
          <a:bodyPr wrap="square" lIns="0" rIns="0" tIns="0" bIns="0" anchor="t">
            <a:spAutoFit/>
          </a:bodyPr>
          <a:lstStyle/>
          <a:p>
            <a:pPr algn="l">
              <a:lnSpc>
                <a:spcPct val="100000"/>
              </a:lnSpc>
            </a:pPr>
            <a:r>
              <a:rPr sz="1600" b="1">
                <a:solidFill>
                  <a:srgbClr val="15171A"/>
                </a:solidFill>
                <a:latin typeface="Noto Sans KR"/>
                <a:ea typeface="Noto Sans KR"/>
                <a:cs typeface="Noto Sans KR"/>
              </a:rPr>
              <a:t>도구 · Skill · 레시피</a:t>
            </a:r>
          </a:p>
        </p:txBody>
      </p:sp>
      <p:cxnSp>
        <p:nvCxnSpPr>
          <p:cNvPr id="14" name="Connector 13"/>
          <p:cNvCxnSpPr/>
          <p:nvPr/>
        </p:nvCxnSpPr>
        <p:spPr>
          <a:xfrm>
            <a:off x="3459403" y="2480919"/>
            <a:ext cx="2499284" cy="0"/>
          </a:xfrm>
          <a:prstGeom prst="line">
            <a:avLst/>
          </a:prstGeom>
          <a:ln w="12700">
            <a:solidFill>
              <a:srgbClr val="15171A"/>
            </a:solidFill>
          </a:ln>
        </p:spPr>
      </p:cxnSp>
      <p:sp>
        <p:nvSpPr>
          <p:cNvPr id="15" name="TextBox 14"/>
          <p:cNvSpPr txBox="1"/>
          <p:nvPr/>
        </p:nvSpPr>
        <p:spPr>
          <a:xfrm>
            <a:off x="3459403" y="2572359"/>
            <a:ext cx="2499283" cy="457200"/>
          </a:xfrm>
          <a:prstGeom prst="rect">
            <a:avLst/>
          </a:prstGeom>
          <a:noFill/>
        </p:spPr>
        <p:txBody>
          <a:bodyPr wrap="square" lIns="0" rIns="0" tIns="0" bIns="0" anchor="t">
            <a:spAutoFit/>
          </a:bodyPr>
          <a:lstStyle/>
          <a:p>
            <a:pPr algn="l">
              <a:lnSpc>
                <a:spcPct val="100000"/>
              </a:lnSpc>
            </a:pPr>
            <a:r>
              <a:rPr sz="1150" b="0">
                <a:solidFill>
                  <a:srgbClr val="4A4F57"/>
                </a:solidFill>
                <a:latin typeface="Noto Sans KR"/>
                <a:ea typeface="Noto Sans KR"/>
                <a:cs typeface="Noto Sans KR"/>
              </a:rPr>
              <a:t>더 많은 도구 · 더 많은 Skill</a:t>
            </a:r>
          </a:p>
          <a:p>
            <a:pPr algn="l">
              <a:lnSpc>
                <a:spcPct val="100000"/>
              </a:lnSpc>
            </a:pPr>
            <a:r>
              <a:rPr sz="1150" b="0">
                <a:solidFill>
                  <a:srgbClr val="4A4F57"/>
                </a:solidFill>
                <a:latin typeface="Noto Sans KR"/>
                <a:ea typeface="Noto Sans KR"/>
                <a:cs typeface="Noto Sans KR"/>
              </a:rPr>
              <a:t>더 많은 레시피 · 더 많은 주방</a:t>
            </a:r>
          </a:p>
        </p:txBody>
      </p:sp>
      <p:cxnSp>
        <p:nvCxnSpPr>
          <p:cNvPr id="16" name="Connector 15"/>
          <p:cNvCxnSpPr/>
          <p:nvPr/>
        </p:nvCxnSpPr>
        <p:spPr>
          <a:xfrm>
            <a:off x="3459403" y="3102711"/>
            <a:ext cx="2499284" cy="0"/>
          </a:xfrm>
          <a:prstGeom prst="line">
            <a:avLst/>
          </a:prstGeom>
          <a:ln w="9525">
            <a:solidFill>
              <a:srgbClr val="E2E4E7"/>
            </a:solidFill>
          </a:ln>
        </p:spPr>
      </p:cxnSp>
      <p:sp>
        <p:nvSpPr>
          <p:cNvPr id="17" name="TextBox 16"/>
          <p:cNvSpPr txBox="1"/>
          <p:nvPr/>
        </p:nvSpPr>
        <p:spPr>
          <a:xfrm>
            <a:off x="3459403" y="3194151"/>
            <a:ext cx="2499283" cy="219456"/>
          </a:xfrm>
          <a:prstGeom prst="rect">
            <a:avLst/>
          </a:prstGeom>
          <a:noFill/>
        </p:spPr>
        <p:txBody>
          <a:bodyPr wrap="square" lIns="0" rIns="0" tIns="0" bIns="0" anchor="t">
            <a:spAutoFit/>
          </a:bodyPr>
          <a:lstStyle/>
          <a:p>
            <a:pPr algn="l">
              <a:lnSpc>
                <a:spcPct val="100000"/>
              </a:lnSpc>
            </a:pPr>
            <a:r>
              <a:rPr sz="1050" b="1">
                <a:solidFill>
                  <a:srgbClr val="8C9198"/>
                </a:solidFill>
                <a:latin typeface="Noto Sans KR"/>
                <a:ea typeface="Noto Sans KR"/>
                <a:cs typeface="Noto Sans KR"/>
              </a:rPr>
              <a:t>중기 매출</a:t>
            </a:r>
          </a:p>
        </p:txBody>
      </p:sp>
      <p:sp>
        <p:nvSpPr>
          <p:cNvPr id="18" name="TextBox 17"/>
          <p:cNvSpPr txBox="1"/>
          <p:nvPr/>
        </p:nvSpPr>
        <p:spPr>
          <a:xfrm>
            <a:off x="3459403" y="3431895"/>
            <a:ext cx="2499283" cy="457200"/>
          </a:xfrm>
          <a:prstGeom prst="rect">
            <a:avLst/>
          </a:prstGeom>
          <a:noFill/>
        </p:spPr>
        <p:txBody>
          <a:bodyPr wrap="square" lIns="0" rIns="0" tIns="0" bIns="0" anchor="t">
            <a:spAutoFit/>
          </a:bodyPr>
          <a:lstStyle/>
          <a:p>
            <a:pPr algn="l">
              <a:lnSpc>
                <a:spcPct val="100000"/>
              </a:lnSpc>
            </a:pPr>
            <a:r>
              <a:rPr sz="1200" b="1">
                <a:solidFill>
                  <a:srgbClr val="15171A"/>
                </a:solidFill>
                <a:latin typeface="Noto Sans KR"/>
                <a:ea typeface="Noto Sans KR"/>
                <a:cs typeface="Noto Sans KR"/>
              </a:rPr>
              <a:t>SoftHand · Kitchen Skill 패키지 · Runtime · 유지보수</a:t>
            </a:r>
          </a:p>
        </p:txBody>
      </p:sp>
      <p:cxnSp>
        <p:nvCxnSpPr>
          <p:cNvPr id="19" name="Connector 18"/>
          <p:cNvCxnSpPr/>
          <p:nvPr/>
        </p:nvCxnSpPr>
        <p:spPr>
          <a:xfrm>
            <a:off x="5995263" y="1923135"/>
            <a:ext cx="182880" cy="0"/>
          </a:xfrm>
          <a:prstGeom prst="line">
            <a:avLst/>
          </a:prstGeom>
          <a:ln w="15875">
            <a:solidFill>
              <a:srgbClr val="E2571B"/>
            </a:solidFill>
            <a:tailEnd type="triangle" w="med" len="med"/>
          </a:ln>
        </p:spPr>
      </p:cxnSp>
      <p:sp>
        <p:nvSpPr>
          <p:cNvPr id="20" name="TextBox 19"/>
          <p:cNvSpPr txBox="1"/>
          <p:nvPr/>
        </p:nvSpPr>
        <p:spPr>
          <a:xfrm>
            <a:off x="6233007" y="1804263"/>
            <a:ext cx="2499283" cy="237744"/>
          </a:xfrm>
          <a:prstGeom prst="rect">
            <a:avLst/>
          </a:prstGeom>
          <a:noFill/>
        </p:spPr>
        <p:txBody>
          <a:bodyPr wrap="square" lIns="0" rIns="0" tIns="0" bIns="0" anchor="t">
            <a:spAutoFit/>
          </a:bodyPr>
          <a:lstStyle/>
          <a:p>
            <a:pPr algn="l">
              <a:lnSpc>
                <a:spcPct val="100000"/>
              </a:lnSpc>
            </a:pPr>
            <a:r>
              <a:rPr sz="1150" b="1">
                <a:solidFill>
                  <a:srgbClr val="E2571B"/>
                </a:solidFill>
                <a:latin typeface="Noto Sans KR"/>
                <a:ea typeface="Noto Sans KR"/>
                <a:cs typeface="Noto Sans KR"/>
              </a:rPr>
              <a:t>3 · 유통 확장</a:t>
            </a:r>
          </a:p>
        </p:txBody>
      </p:sp>
      <p:sp>
        <p:nvSpPr>
          <p:cNvPr id="21" name="TextBox 20"/>
          <p:cNvSpPr txBox="1"/>
          <p:nvPr/>
        </p:nvSpPr>
        <p:spPr>
          <a:xfrm>
            <a:off x="6233007" y="2078583"/>
            <a:ext cx="2499283" cy="329184"/>
          </a:xfrm>
          <a:prstGeom prst="rect">
            <a:avLst/>
          </a:prstGeom>
          <a:noFill/>
        </p:spPr>
        <p:txBody>
          <a:bodyPr wrap="square" lIns="0" rIns="0" tIns="0" bIns="0" anchor="t">
            <a:spAutoFit/>
          </a:bodyPr>
          <a:lstStyle/>
          <a:p>
            <a:pPr algn="l">
              <a:lnSpc>
                <a:spcPct val="100000"/>
              </a:lnSpc>
            </a:pPr>
            <a:r>
              <a:rPr sz="1600" b="1">
                <a:solidFill>
                  <a:srgbClr val="15171A"/>
                </a:solidFill>
                <a:latin typeface="Noto Sans KR"/>
                <a:ea typeface="Noto Sans KR"/>
                <a:cs typeface="Noto Sans KR"/>
              </a:rPr>
              <a:t>파트너 · OEM 채널</a:t>
            </a:r>
          </a:p>
        </p:txBody>
      </p:sp>
      <p:cxnSp>
        <p:nvCxnSpPr>
          <p:cNvPr id="22" name="Connector 21"/>
          <p:cNvCxnSpPr/>
          <p:nvPr/>
        </p:nvCxnSpPr>
        <p:spPr>
          <a:xfrm>
            <a:off x="6233007" y="2480919"/>
            <a:ext cx="2499284" cy="0"/>
          </a:xfrm>
          <a:prstGeom prst="line">
            <a:avLst/>
          </a:prstGeom>
          <a:ln w="12700">
            <a:solidFill>
              <a:srgbClr val="15171A"/>
            </a:solidFill>
          </a:ln>
        </p:spPr>
      </p:cxnSp>
      <p:sp>
        <p:nvSpPr>
          <p:cNvPr id="23" name="TextBox 22"/>
          <p:cNvSpPr txBox="1"/>
          <p:nvPr/>
        </p:nvSpPr>
        <p:spPr>
          <a:xfrm>
            <a:off x="6233007" y="2572359"/>
            <a:ext cx="2499283" cy="457200"/>
          </a:xfrm>
          <a:prstGeom prst="rect">
            <a:avLst/>
          </a:prstGeom>
          <a:noFill/>
        </p:spPr>
        <p:txBody>
          <a:bodyPr wrap="square" lIns="0" rIns="0" tIns="0" bIns="0" anchor="t">
            <a:spAutoFit/>
          </a:bodyPr>
          <a:lstStyle/>
          <a:p>
            <a:pPr algn="l">
              <a:lnSpc>
                <a:spcPct val="100000"/>
              </a:lnSpc>
            </a:pPr>
            <a:r>
              <a:rPr sz="1150" b="0">
                <a:solidFill>
                  <a:srgbClr val="4A4F57"/>
                </a:solidFill>
                <a:latin typeface="Noto Sans KR"/>
                <a:ea typeface="Noto Sans KR"/>
                <a:cs typeface="Noto Sans KR"/>
              </a:rPr>
              <a:t>직접 B2B · 주방 자동화 파트너</a:t>
            </a:r>
          </a:p>
          <a:p>
            <a:pPr algn="l">
              <a:lnSpc>
                <a:spcPct val="100000"/>
              </a:lnSpc>
            </a:pPr>
            <a:r>
              <a:rPr sz="1150" b="0">
                <a:solidFill>
                  <a:srgbClr val="4A4F57"/>
                </a:solidFill>
                <a:latin typeface="Noto Sans KR"/>
                <a:ea typeface="Noto Sans KR"/>
                <a:cs typeface="Noto Sans KR"/>
              </a:rPr>
              <a:t>로봇 OEM · 가전 OEM · 스마트홈</a:t>
            </a:r>
          </a:p>
        </p:txBody>
      </p:sp>
      <p:cxnSp>
        <p:nvCxnSpPr>
          <p:cNvPr id="24" name="Connector 23"/>
          <p:cNvCxnSpPr/>
          <p:nvPr/>
        </p:nvCxnSpPr>
        <p:spPr>
          <a:xfrm>
            <a:off x="6233007" y="3102711"/>
            <a:ext cx="2499284" cy="0"/>
          </a:xfrm>
          <a:prstGeom prst="line">
            <a:avLst/>
          </a:prstGeom>
          <a:ln w="9525">
            <a:solidFill>
              <a:srgbClr val="E2E4E7"/>
            </a:solidFill>
          </a:ln>
        </p:spPr>
      </p:cxnSp>
      <p:sp>
        <p:nvSpPr>
          <p:cNvPr id="25" name="TextBox 24"/>
          <p:cNvSpPr txBox="1"/>
          <p:nvPr/>
        </p:nvSpPr>
        <p:spPr>
          <a:xfrm>
            <a:off x="6233007" y="3194151"/>
            <a:ext cx="2499283" cy="219456"/>
          </a:xfrm>
          <a:prstGeom prst="rect">
            <a:avLst/>
          </a:prstGeom>
          <a:noFill/>
        </p:spPr>
        <p:txBody>
          <a:bodyPr wrap="square" lIns="0" rIns="0" tIns="0" bIns="0" anchor="t">
            <a:spAutoFit/>
          </a:bodyPr>
          <a:lstStyle/>
          <a:p>
            <a:pPr algn="l">
              <a:lnSpc>
                <a:spcPct val="100000"/>
              </a:lnSpc>
            </a:pPr>
            <a:r>
              <a:rPr sz="1050" b="1">
                <a:solidFill>
                  <a:srgbClr val="8C9198"/>
                </a:solidFill>
                <a:latin typeface="Noto Sans KR"/>
                <a:ea typeface="Noto Sans KR"/>
                <a:cs typeface="Noto Sans KR"/>
              </a:rPr>
              <a:t>중기~장기 매출</a:t>
            </a:r>
          </a:p>
        </p:txBody>
      </p:sp>
      <p:sp>
        <p:nvSpPr>
          <p:cNvPr id="26" name="TextBox 25"/>
          <p:cNvSpPr txBox="1"/>
          <p:nvPr/>
        </p:nvSpPr>
        <p:spPr>
          <a:xfrm>
            <a:off x="6233007" y="3431895"/>
            <a:ext cx="2499283" cy="457200"/>
          </a:xfrm>
          <a:prstGeom prst="rect">
            <a:avLst/>
          </a:prstGeom>
          <a:noFill/>
        </p:spPr>
        <p:txBody>
          <a:bodyPr wrap="square" lIns="0" rIns="0" tIns="0" bIns="0" anchor="t">
            <a:spAutoFit/>
          </a:bodyPr>
          <a:lstStyle/>
          <a:p>
            <a:pPr algn="l">
              <a:lnSpc>
                <a:spcPct val="100000"/>
              </a:lnSpc>
            </a:pPr>
            <a:r>
              <a:rPr sz="1200" b="1">
                <a:solidFill>
                  <a:srgbClr val="15171A"/>
                </a:solidFill>
                <a:latin typeface="Noto Sans KR"/>
                <a:ea typeface="Noto Sans KR"/>
                <a:cs typeface="Noto Sans KR"/>
              </a:rPr>
              <a:t>파트너 판매 · OEM · 라이선스</a:t>
            </a:r>
          </a:p>
        </p:txBody>
      </p:sp>
      <p:cxnSp>
        <p:nvCxnSpPr>
          <p:cNvPr id="27" name="Connector 26"/>
          <p:cNvCxnSpPr/>
          <p:nvPr/>
        </p:nvCxnSpPr>
        <p:spPr>
          <a:xfrm>
            <a:off x="8768867" y="1923135"/>
            <a:ext cx="182880" cy="0"/>
          </a:xfrm>
          <a:prstGeom prst="line">
            <a:avLst/>
          </a:prstGeom>
          <a:ln w="15875">
            <a:solidFill>
              <a:srgbClr val="E2571B"/>
            </a:solidFill>
            <a:tailEnd type="triangle" w="med" len="med"/>
          </a:ln>
        </p:spPr>
      </p:cxnSp>
      <p:sp>
        <p:nvSpPr>
          <p:cNvPr id="28" name="TextBox 27"/>
          <p:cNvSpPr txBox="1"/>
          <p:nvPr/>
        </p:nvSpPr>
        <p:spPr>
          <a:xfrm>
            <a:off x="9006611" y="1804263"/>
            <a:ext cx="2499283" cy="237744"/>
          </a:xfrm>
          <a:prstGeom prst="rect">
            <a:avLst/>
          </a:prstGeom>
          <a:noFill/>
        </p:spPr>
        <p:txBody>
          <a:bodyPr wrap="square" lIns="0" rIns="0" tIns="0" bIns="0" anchor="t">
            <a:spAutoFit/>
          </a:bodyPr>
          <a:lstStyle/>
          <a:p>
            <a:pPr algn="l">
              <a:lnSpc>
                <a:spcPct val="100000"/>
              </a:lnSpc>
            </a:pPr>
            <a:r>
              <a:rPr sz="1150" b="1">
                <a:solidFill>
                  <a:srgbClr val="E2571B"/>
                </a:solidFill>
                <a:latin typeface="Noto Sans KR"/>
                <a:ea typeface="Noto Sans KR"/>
                <a:cs typeface="Noto Sans KR"/>
              </a:rPr>
              <a:t>4 · 장기 Scale 채널</a:t>
            </a:r>
          </a:p>
        </p:txBody>
      </p:sp>
      <p:sp>
        <p:nvSpPr>
          <p:cNvPr id="29" name="TextBox 28"/>
          <p:cNvSpPr txBox="1"/>
          <p:nvPr/>
        </p:nvSpPr>
        <p:spPr>
          <a:xfrm>
            <a:off x="9006611" y="2078583"/>
            <a:ext cx="2499283" cy="329184"/>
          </a:xfrm>
          <a:prstGeom prst="rect">
            <a:avLst/>
          </a:prstGeom>
          <a:noFill/>
        </p:spPr>
        <p:txBody>
          <a:bodyPr wrap="square" lIns="0" rIns="0" tIns="0" bIns="0" anchor="t">
            <a:spAutoFit/>
          </a:bodyPr>
          <a:lstStyle/>
          <a:p>
            <a:pPr algn="l">
              <a:lnSpc>
                <a:spcPct val="100000"/>
              </a:lnSpc>
            </a:pPr>
            <a:r>
              <a:rPr sz="1600" b="1">
                <a:solidFill>
                  <a:srgbClr val="15171A"/>
                </a:solidFill>
                <a:latin typeface="Noto Sans KR"/>
                <a:ea typeface="Noto Sans KR"/>
                <a:cs typeface="Noto Sans KR"/>
              </a:rPr>
              <a:t>Built-in 보급 (B2B2C)</a:t>
            </a:r>
          </a:p>
        </p:txBody>
      </p:sp>
      <p:cxnSp>
        <p:nvCxnSpPr>
          <p:cNvPr id="30" name="Connector 29"/>
          <p:cNvCxnSpPr/>
          <p:nvPr/>
        </p:nvCxnSpPr>
        <p:spPr>
          <a:xfrm>
            <a:off x="9006611" y="2480919"/>
            <a:ext cx="2499284" cy="0"/>
          </a:xfrm>
          <a:prstGeom prst="line">
            <a:avLst/>
          </a:prstGeom>
          <a:ln w="12700">
            <a:solidFill>
              <a:srgbClr val="15171A"/>
            </a:solidFill>
          </a:ln>
        </p:spPr>
      </p:cxnSp>
      <p:sp>
        <p:nvSpPr>
          <p:cNvPr id="31" name="TextBox 30"/>
          <p:cNvSpPr txBox="1"/>
          <p:nvPr/>
        </p:nvSpPr>
        <p:spPr>
          <a:xfrm>
            <a:off x="9006611" y="2572359"/>
            <a:ext cx="2499283" cy="457200"/>
          </a:xfrm>
          <a:prstGeom prst="rect">
            <a:avLst/>
          </a:prstGeom>
          <a:noFill/>
        </p:spPr>
        <p:txBody>
          <a:bodyPr wrap="square" lIns="0" rIns="0" tIns="0" bIns="0" anchor="t">
            <a:spAutoFit/>
          </a:bodyPr>
          <a:lstStyle/>
          <a:p>
            <a:pPr algn="l">
              <a:lnSpc>
                <a:spcPct val="100000"/>
              </a:lnSpc>
            </a:pPr>
            <a:r>
              <a:rPr sz="1150" b="0">
                <a:solidFill>
                  <a:srgbClr val="4A4F57"/>
                </a:solidFill>
                <a:latin typeface="Noto Sans KR"/>
                <a:ea typeface="Noto Sans KR"/>
                <a:cs typeface="Noto Sans KR"/>
              </a:rPr>
              <a:t>건설사 · 디벨로퍼 · 호텔</a:t>
            </a:r>
          </a:p>
          <a:p>
            <a:pPr algn="l">
              <a:lnSpc>
                <a:spcPct val="100000"/>
              </a:lnSpc>
            </a:pPr>
            <a:r>
              <a:rPr sz="1150" b="0">
                <a:solidFill>
                  <a:srgbClr val="4A4F57"/>
                </a:solidFill>
                <a:latin typeface="Noto Sans KR"/>
                <a:ea typeface="Noto Sans KR"/>
                <a:cs typeface="Noto Sans KR"/>
              </a:rPr>
              <a:t>시니어 주거 · 주거 플랫폼</a:t>
            </a:r>
          </a:p>
        </p:txBody>
      </p:sp>
      <p:cxnSp>
        <p:nvCxnSpPr>
          <p:cNvPr id="32" name="Connector 31"/>
          <p:cNvCxnSpPr/>
          <p:nvPr/>
        </p:nvCxnSpPr>
        <p:spPr>
          <a:xfrm>
            <a:off x="9006611" y="3102711"/>
            <a:ext cx="2499284" cy="0"/>
          </a:xfrm>
          <a:prstGeom prst="line">
            <a:avLst/>
          </a:prstGeom>
          <a:ln w="9525">
            <a:solidFill>
              <a:srgbClr val="E2E4E7"/>
            </a:solidFill>
          </a:ln>
        </p:spPr>
      </p:cxnSp>
      <p:sp>
        <p:nvSpPr>
          <p:cNvPr id="33" name="TextBox 32"/>
          <p:cNvSpPr txBox="1"/>
          <p:nvPr/>
        </p:nvSpPr>
        <p:spPr>
          <a:xfrm>
            <a:off x="9006611" y="3194151"/>
            <a:ext cx="2499283" cy="219456"/>
          </a:xfrm>
          <a:prstGeom prst="rect">
            <a:avLst/>
          </a:prstGeom>
          <a:noFill/>
        </p:spPr>
        <p:txBody>
          <a:bodyPr wrap="square" lIns="0" rIns="0" tIns="0" bIns="0" anchor="t">
            <a:spAutoFit/>
          </a:bodyPr>
          <a:lstStyle/>
          <a:p>
            <a:pPr algn="l">
              <a:lnSpc>
                <a:spcPct val="100000"/>
              </a:lnSpc>
            </a:pPr>
            <a:r>
              <a:rPr sz="1050" b="1">
                <a:solidFill>
                  <a:srgbClr val="8C9198"/>
                </a:solidFill>
                <a:latin typeface="Noto Sans KR"/>
                <a:ea typeface="Noto Sans KR"/>
                <a:cs typeface="Noto Sans KR"/>
              </a:rPr>
              <a:t>장기 매출</a:t>
            </a:r>
          </a:p>
        </p:txBody>
      </p:sp>
      <p:sp>
        <p:nvSpPr>
          <p:cNvPr id="34" name="TextBox 33"/>
          <p:cNvSpPr txBox="1"/>
          <p:nvPr/>
        </p:nvSpPr>
        <p:spPr>
          <a:xfrm>
            <a:off x="9006611" y="3431895"/>
            <a:ext cx="2499283" cy="457200"/>
          </a:xfrm>
          <a:prstGeom prst="rect">
            <a:avLst/>
          </a:prstGeom>
          <a:noFill/>
        </p:spPr>
        <p:txBody>
          <a:bodyPr wrap="square" lIns="0" rIns="0" tIns="0" bIns="0" anchor="t">
            <a:spAutoFit/>
          </a:bodyPr>
          <a:lstStyle/>
          <a:p>
            <a:pPr algn="l">
              <a:lnSpc>
                <a:spcPct val="100000"/>
              </a:lnSpc>
            </a:pPr>
            <a:r>
              <a:rPr sz="1200" b="1">
                <a:solidFill>
                  <a:srgbClr val="15171A"/>
                </a:solidFill>
                <a:latin typeface="Noto Sans KR"/>
                <a:ea typeface="Noto Sans KR"/>
                <a:cs typeface="Noto Sans KR"/>
              </a:rPr>
              <a:t>내장 Runtime · Built-in 파트너십</a:t>
            </a:r>
          </a:p>
        </p:txBody>
      </p:sp>
      <p:sp>
        <p:nvSpPr>
          <p:cNvPr id="35" name="Rectangle 34"/>
          <p:cNvSpPr/>
          <p:nvPr/>
        </p:nvSpPr>
        <p:spPr>
          <a:xfrm>
            <a:off x="685800" y="4224528"/>
            <a:ext cx="5212080" cy="2029968"/>
          </a:xfrm>
          <a:prstGeom prst="rect">
            <a:avLst/>
          </a:prstGeom>
          <a:solidFill>
            <a:srgbClr val="F4F5F6"/>
          </a:solidFill>
          <a:ln>
            <a:noFill/>
          </a:ln>
        </p:spPr>
        <p:txBody>
          <a:bodyPr rtlCol="0" anchor="ctr"/>
          <a:lstStyle/>
          <a:p>
            <a:pPr algn="ctr"/>
          </a:p>
        </p:txBody>
      </p:sp>
      <p:sp>
        <p:nvSpPr>
          <p:cNvPr id="36" name="TextBox 35"/>
          <p:cNvSpPr txBox="1"/>
          <p:nvPr/>
        </p:nvSpPr>
        <p:spPr>
          <a:xfrm>
            <a:off x="914400" y="4370832"/>
            <a:ext cx="4754880" cy="274320"/>
          </a:xfrm>
          <a:prstGeom prst="rect">
            <a:avLst/>
          </a:prstGeom>
          <a:noFill/>
        </p:spPr>
        <p:txBody>
          <a:bodyPr wrap="square" lIns="0" rIns="0" tIns="0" bIns="0" anchor="t">
            <a:spAutoFit/>
          </a:bodyPr>
          <a:lstStyle/>
          <a:p>
            <a:pPr algn="l">
              <a:lnSpc>
                <a:spcPct val="100000"/>
              </a:lnSpc>
            </a:pPr>
            <a:r>
              <a:rPr sz="1500" b="1">
                <a:solidFill>
                  <a:srgbClr val="15171A"/>
                </a:solidFill>
                <a:latin typeface="Noto Sans KR"/>
                <a:ea typeface="Noto Sans KR"/>
                <a:cs typeface="Noto Sans KR"/>
              </a:rPr>
              <a:t>Base Case  </a:t>
            </a:r>
            <a:r>
              <a:rPr sz="1500" b="1">
                <a:solidFill>
                  <a:srgbClr val="E2571B"/>
                </a:solidFill>
                <a:latin typeface="Noto Sans KR"/>
                <a:ea typeface="Noto Sans KR"/>
                <a:cs typeface="Noto Sans KR"/>
              </a:rPr>
              <a:t>하방</a:t>
            </a:r>
          </a:p>
        </p:txBody>
      </p:sp>
      <p:sp>
        <p:nvSpPr>
          <p:cNvPr id="37" name="TextBox 36"/>
          <p:cNvSpPr txBox="1"/>
          <p:nvPr/>
        </p:nvSpPr>
        <p:spPr>
          <a:xfrm>
            <a:off x="914400" y="4700016"/>
            <a:ext cx="2103120" cy="457200"/>
          </a:xfrm>
          <a:prstGeom prst="rect">
            <a:avLst/>
          </a:prstGeom>
          <a:noFill/>
        </p:spPr>
        <p:txBody>
          <a:bodyPr wrap="square" lIns="0" rIns="0" tIns="0" bIns="0" anchor="t">
            <a:spAutoFit/>
          </a:bodyPr>
          <a:lstStyle/>
          <a:p>
            <a:pPr algn="l">
              <a:lnSpc>
                <a:spcPct val="100000"/>
              </a:lnSpc>
            </a:pPr>
            <a:r>
              <a:rPr sz="1100" b="0">
                <a:solidFill>
                  <a:srgbClr val="4A4F57"/>
                </a:solidFill>
                <a:latin typeface="Noto Sans KR"/>
                <a:ea typeface="Noto Sans KR"/>
                <a:cs typeface="Noto Sans KR"/>
              </a:rPr>
              <a:t>기존 계획 기반</a:t>
            </a:r>
          </a:p>
          <a:p>
            <a:pPr algn="l">
              <a:lnSpc>
                <a:spcPct val="100000"/>
              </a:lnSpc>
            </a:pPr>
            <a:r>
              <a:rPr sz="1100" b="0">
                <a:solidFill>
                  <a:srgbClr val="4A4F57"/>
                </a:solidFill>
                <a:latin typeface="Noto Sans KR"/>
                <a:ea typeface="Noto Sans KR"/>
                <a:cs typeface="Noto Sans KR"/>
              </a:rPr>
              <a:t>대규모 주방·OEM 매출 제외</a:t>
            </a:r>
          </a:p>
        </p:txBody>
      </p:sp>
      <p:sp>
        <p:nvSpPr>
          <p:cNvPr id="38" name="TextBox 37"/>
          <p:cNvSpPr txBox="1"/>
          <p:nvPr/>
        </p:nvSpPr>
        <p:spPr>
          <a:xfrm>
            <a:off x="914400" y="5285232"/>
            <a:ext cx="2103120" cy="457200"/>
          </a:xfrm>
          <a:prstGeom prst="rect">
            <a:avLst/>
          </a:prstGeom>
          <a:noFill/>
        </p:spPr>
        <p:txBody>
          <a:bodyPr wrap="square" lIns="0" rIns="0" tIns="0" bIns="0" anchor="t">
            <a:spAutoFit/>
          </a:bodyPr>
          <a:lstStyle/>
          <a:p>
            <a:pPr algn="l">
              <a:lnSpc>
                <a:spcPct val="100000"/>
              </a:lnSpc>
            </a:pPr>
            <a:r>
              <a:rPr sz="2400" b="1">
                <a:solidFill>
                  <a:srgbClr val="15171A"/>
                </a:solidFill>
                <a:latin typeface="Noto Sans KR"/>
                <a:ea typeface="Noto Sans KR"/>
                <a:cs typeface="Noto Sans KR"/>
              </a:rPr>
              <a:t>44.7억 원</a:t>
            </a:r>
          </a:p>
        </p:txBody>
      </p:sp>
      <p:sp>
        <p:nvSpPr>
          <p:cNvPr id="39" name="TextBox 38"/>
          <p:cNvSpPr txBox="1"/>
          <p:nvPr/>
        </p:nvSpPr>
        <p:spPr>
          <a:xfrm>
            <a:off x="914400" y="5742432"/>
            <a:ext cx="2103120" cy="237744"/>
          </a:xfrm>
          <a:prstGeom prst="rect">
            <a:avLst/>
          </a:prstGeom>
          <a:noFill/>
        </p:spPr>
        <p:txBody>
          <a:bodyPr wrap="square" lIns="0" rIns="0" tIns="0" bIns="0" anchor="t">
            <a:spAutoFit/>
          </a:bodyPr>
          <a:lstStyle/>
          <a:p>
            <a:pPr algn="l">
              <a:lnSpc>
                <a:spcPct val="100000"/>
              </a:lnSpc>
            </a:pPr>
            <a:r>
              <a:rPr sz="1100" b="0">
                <a:solidFill>
                  <a:srgbClr val="4A4F57"/>
                </a:solidFill>
                <a:latin typeface="Noto Sans KR"/>
                <a:ea typeface="Noto Sans KR"/>
                <a:cs typeface="Noto Sans KR"/>
              </a:rPr>
              <a:t>5년차 매출 (가정)</a:t>
            </a:r>
          </a:p>
        </p:txBody>
      </p:sp>
      <p:graphicFrame>
        <p:nvGraphicFramePr>
          <p:cNvPr id="40" name="Chart 39"/>
          <p:cNvGraphicFramePr>
            <a:graphicFrameLocks noGrp="1"/>
          </p:cNvGraphicFramePr>
          <p:nvPr/>
        </p:nvGraphicFramePr>
        <p:xfrm>
          <a:off x="3017520" y="4453128"/>
          <a:ext cx="2697480" cy="1664208"/>
        </p:xfrm>
        <a:graphic>
          <a:graphicData uri="http://schemas.openxmlformats.org/drawingml/2006/chart">
            <c:chart xmlns:c="http://schemas.openxmlformats.org/drawingml/2006/chart" r:id="rId2"/>
          </a:graphicData>
        </a:graphic>
      </p:graphicFrame>
      <p:sp>
        <p:nvSpPr>
          <p:cNvPr id="41" name="TextBox 40"/>
          <p:cNvSpPr txBox="1"/>
          <p:nvPr/>
        </p:nvSpPr>
        <p:spPr>
          <a:xfrm>
            <a:off x="2690347" y="5924214"/>
            <a:ext cx="1280160" cy="274320"/>
          </a:xfrm>
          <a:prstGeom prst="rect">
            <a:avLst/>
          </a:prstGeom>
          <a:noFill/>
        </p:spPr>
        <p:txBody>
          <a:bodyPr wrap="square" lIns="0" rIns="0" tIns="0" bIns="0" anchor="t">
            <a:spAutoFit/>
          </a:bodyPr>
          <a:lstStyle/>
          <a:p>
            <a:pPr algn="ctr">
              <a:lnSpc>
                <a:spcPct val="100000"/>
              </a:lnSpc>
            </a:pPr>
            <a:r>
              <a:rPr sz="1000" b="0">
                <a:solidFill>
                  <a:srgbClr val="4A4F57"/>
                </a:solidFill>
                <a:latin typeface="Noto Sans KR"/>
                <a:ea typeface="Noto Sans KR"/>
                <a:cs typeface="Noto Sans KR"/>
              </a:rPr>
              <a:t>1년</a:t>
            </a:r>
          </a:p>
        </p:txBody>
      </p:sp>
      <p:sp>
        <p:nvSpPr>
          <p:cNvPr id="42" name="TextBox 41"/>
          <p:cNvSpPr txBox="1"/>
          <p:nvPr/>
        </p:nvSpPr>
        <p:spPr>
          <a:xfrm>
            <a:off x="3208263" y="5924214"/>
            <a:ext cx="1280160" cy="274320"/>
          </a:xfrm>
          <a:prstGeom prst="rect">
            <a:avLst/>
          </a:prstGeom>
          <a:noFill/>
        </p:spPr>
        <p:txBody>
          <a:bodyPr wrap="square" lIns="0" rIns="0" tIns="0" bIns="0" anchor="t">
            <a:spAutoFit/>
          </a:bodyPr>
          <a:lstStyle/>
          <a:p>
            <a:pPr algn="ctr">
              <a:lnSpc>
                <a:spcPct val="100000"/>
              </a:lnSpc>
            </a:pPr>
            <a:r>
              <a:rPr sz="1000" b="0">
                <a:solidFill>
                  <a:srgbClr val="4A4F57"/>
                </a:solidFill>
                <a:latin typeface="Noto Sans KR"/>
                <a:ea typeface="Noto Sans KR"/>
                <a:cs typeface="Noto Sans KR"/>
              </a:rPr>
              <a:t>2년</a:t>
            </a:r>
          </a:p>
        </p:txBody>
      </p:sp>
      <p:sp>
        <p:nvSpPr>
          <p:cNvPr id="43" name="TextBox 42"/>
          <p:cNvSpPr txBox="1"/>
          <p:nvPr/>
        </p:nvSpPr>
        <p:spPr>
          <a:xfrm>
            <a:off x="3726180" y="5924214"/>
            <a:ext cx="1280160" cy="274320"/>
          </a:xfrm>
          <a:prstGeom prst="rect">
            <a:avLst/>
          </a:prstGeom>
          <a:noFill/>
        </p:spPr>
        <p:txBody>
          <a:bodyPr wrap="square" lIns="0" rIns="0" tIns="0" bIns="0" anchor="t">
            <a:spAutoFit/>
          </a:bodyPr>
          <a:lstStyle/>
          <a:p>
            <a:pPr algn="ctr">
              <a:lnSpc>
                <a:spcPct val="100000"/>
              </a:lnSpc>
            </a:pPr>
            <a:r>
              <a:rPr sz="1000" b="0">
                <a:solidFill>
                  <a:srgbClr val="4A4F57"/>
                </a:solidFill>
                <a:latin typeface="Noto Sans KR"/>
                <a:ea typeface="Noto Sans KR"/>
                <a:cs typeface="Noto Sans KR"/>
              </a:rPr>
              <a:t>3년</a:t>
            </a:r>
          </a:p>
        </p:txBody>
      </p:sp>
      <p:sp>
        <p:nvSpPr>
          <p:cNvPr id="44" name="TextBox 43"/>
          <p:cNvSpPr txBox="1"/>
          <p:nvPr/>
        </p:nvSpPr>
        <p:spPr>
          <a:xfrm>
            <a:off x="4244096" y="5924214"/>
            <a:ext cx="1280160" cy="274320"/>
          </a:xfrm>
          <a:prstGeom prst="rect">
            <a:avLst/>
          </a:prstGeom>
          <a:noFill/>
        </p:spPr>
        <p:txBody>
          <a:bodyPr wrap="square" lIns="0" rIns="0" tIns="0" bIns="0" anchor="t">
            <a:spAutoFit/>
          </a:bodyPr>
          <a:lstStyle/>
          <a:p>
            <a:pPr algn="ctr">
              <a:lnSpc>
                <a:spcPct val="100000"/>
              </a:lnSpc>
            </a:pPr>
            <a:r>
              <a:rPr sz="1000" b="0">
                <a:solidFill>
                  <a:srgbClr val="4A4F57"/>
                </a:solidFill>
                <a:latin typeface="Noto Sans KR"/>
                <a:ea typeface="Noto Sans KR"/>
                <a:cs typeface="Noto Sans KR"/>
              </a:rPr>
              <a:t>4년</a:t>
            </a:r>
          </a:p>
        </p:txBody>
      </p:sp>
      <p:sp>
        <p:nvSpPr>
          <p:cNvPr id="45" name="TextBox 44"/>
          <p:cNvSpPr txBox="1"/>
          <p:nvPr/>
        </p:nvSpPr>
        <p:spPr>
          <a:xfrm>
            <a:off x="4762012" y="5924214"/>
            <a:ext cx="1280160" cy="274320"/>
          </a:xfrm>
          <a:prstGeom prst="rect">
            <a:avLst/>
          </a:prstGeom>
          <a:noFill/>
        </p:spPr>
        <p:txBody>
          <a:bodyPr wrap="square" lIns="0" rIns="0" tIns="0" bIns="0" anchor="t">
            <a:spAutoFit/>
          </a:bodyPr>
          <a:lstStyle/>
          <a:p>
            <a:pPr algn="ctr">
              <a:lnSpc>
                <a:spcPct val="100000"/>
              </a:lnSpc>
            </a:pPr>
            <a:r>
              <a:rPr sz="1000" b="0">
                <a:solidFill>
                  <a:srgbClr val="4A4F57"/>
                </a:solidFill>
                <a:latin typeface="Noto Sans KR"/>
                <a:ea typeface="Noto Sans KR"/>
                <a:cs typeface="Noto Sans KR"/>
              </a:rPr>
              <a:t>5년</a:t>
            </a:r>
          </a:p>
        </p:txBody>
      </p:sp>
      <p:sp>
        <p:nvSpPr>
          <p:cNvPr id="46" name="TextBox 45"/>
          <p:cNvSpPr txBox="1"/>
          <p:nvPr/>
        </p:nvSpPr>
        <p:spPr>
          <a:xfrm>
            <a:off x="2964667" y="5592653"/>
            <a:ext cx="731520" cy="219456"/>
          </a:xfrm>
          <a:prstGeom prst="rect">
            <a:avLst/>
          </a:prstGeom>
          <a:noFill/>
        </p:spPr>
        <p:txBody>
          <a:bodyPr wrap="square" lIns="0" rIns="0" tIns="0" bIns="0" anchor="t">
            <a:spAutoFit/>
          </a:bodyPr>
          <a:lstStyle/>
          <a:p>
            <a:pPr algn="ctr">
              <a:lnSpc>
                <a:spcPct val="100000"/>
              </a:lnSpc>
            </a:pPr>
            <a:r>
              <a:rPr sz="1000" b="0">
                <a:solidFill>
                  <a:srgbClr val="15171A"/>
                </a:solidFill>
                <a:latin typeface="Noto Sans KR"/>
                <a:ea typeface="Noto Sans KR"/>
                <a:cs typeface="Noto Sans KR"/>
              </a:rPr>
              <a:t>0.5</a:t>
            </a:r>
          </a:p>
        </p:txBody>
      </p:sp>
      <p:sp>
        <p:nvSpPr>
          <p:cNvPr id="47" name="TextBox 46"/>
          <p:cNvSpPr txBox="1"/>
          <p:nvPr/>
        </p:nvSpPr>
        <p:spPr>
          <a:xfrm>
            <a:off x="3482583" y="5513731"/>
            <a:ext cx="731520" cy="219456"/>
          </a:xfrm>
          <a:prstGeom prst="rect">
            <a:avLst/>
          </a:prstGeom>
          <a:noFill/>
        </p:spPr>
        <p:txBody>
          <a:bodyPr wrap="square" lIns="0" rIns="0" tIns="0" bIns="0" anchor="t">
            <a:spAutoFit/>
          </a:bodyPr>
          <a:lstStyle/>
          <a:p>
            <a:pPr algn="ctr">
              <a:lnSpc>
                <a:spcPct val="100000"/>
              </a:lnSpc>
            </a:pPr>
            <a:r>
              <a:rPr sz="1000" b="0">
                <a:solidFill>
                  <a:srgbClr val="15171A"/>
                </a:solidFill>
                <a:latin typeface="Noto Sans KR"/>
                <a:ea typeface="Noto Sans KR"/>
                <a:cs typeface="Noto Sans KR"/>
              </a:rPr>
              <a:t>3.9</a:t>
            </a:r>
          </a:p>
        </p:txBody>
      </p:sp>
      <p:sp>
        <p:nvSpPr>
          <p:cNvPr id="48" name="TextBox 47"/>
          <p:cNvSpPr txBox="1"/>
          <p:nvPr/>
        </p:nvSpPr>
        <p:spPr>
          <a:xfrm>
            <a:off x="4000500" y="5338960"/>
            <a:ext cx="731520" cy="219456"/>
          </a:xfrm>
          <a:prstGeom prst="rect">
            <a:avLst/>
          </a:prstGeom>
          <a:noFill/>
        </p:spPr>
        <p:txBody>
          <a:bodyPr wrap="square" lIns="0" rIns="0" tIns="0" bIns="0" anchor="t">
            <a:spAutoFit/>
          </a:bodyPr>
          <a:lstStyle/>
          <a:p>
            <a:pPr algn="ctr">
              <a:lnSpc>
                <a:spcPct val="100000"/>
              </a:lnSpc>
            </a:pPr>
            <a:r>
              <a:rPr sz="1000" b="0">
                <a:solidFill>
                  <a:srgbClr val="15171A"/>
                </a:solidFill>
                <a:latin typeface="Noto Sans KR"/>
                <a:ea typeface="Noto Sans KR"/>
                <a:cs typeface="Noto Sans KR"/>
              </a:rPr>
              <a:t>11.5</a:t>
            </a:r>
          </a:p>
        </p:txBody>
      </p:sp>
      <p:sp>
        <p:nvSpPr>
          <p:cNvPr id="49" name="TextBox 48"/>
          <p:cNvSpPr txBox="1"/>
          <p:nvPr/>
        </p:nvSpPr>
        <p:spPr>
          <a:xfrm>
            <a:off x="4518416" y="5031328"/>
            <a:ext cx="731520" cy="219456"/>
          </a:xfrm>
          <a:prstGeom prst="rect">
            <a:avLst/>
          </a:prstGeom>
          <a:noFill/>
        </p:spPr>
        <p:txBody>
          <a:bodyPr wrap="square" lIns="0" rIns="0" tIns="0" bIns="0" anchor="t">
            <a:spAutoFit/>
          </a:bodyPr>
          <a:lstStyle/>
          <a:p>
            <a:pPr algn="ctr">
              <a:lnSpc>
                <a:spcPct val="100000"/>
              </a:lnSpc>
            </a:pPr>
            <a:r>
              <a:rPr sz="1000" b="0">
                <a:solidFill>
                  <a:srgbClr val="15171A"/>
                </a:solidFill>
                <a:latin typeface="Noto Sans KR"/>
                <a:ea typeface="Noto Sans KR"/>
                <a:cs typeface="Noto Sans KR"/>
              </a:rPr>
              <a:t>24.9</a:t>
            </a:r>
          </a:p>
        </p:txBody>
      </p:sp>
      <p:sp>
        <p:nvSpPr>
          <p:cNvPr id="50" name="TextBox 49"/>
          <p:cNvSpPr txBox="1"/>
          <p:nvPr/>
        </p:nvSpPr>
        <p:spPr>
          <a:xfrm>
            <a:off x="5036332" y="4574664"/>
            <a:ext cx="731520" cy="219456"/>
          </a:xfrm>
          <a:prstGeom prst="rect">
            <a:avLst/>
          </a:prstGeom>
          <a:noFill/>
        </p:spPr>
        <p:txBody>
          <a:bodyPr wrap="square" lIns="0" rIns="0" tIns="0" bIns="0" anchor="t">
            <a:spAutoFit/>
          </a:bodyPr>
          <a:lstStyle/>
          <a:p>
            <a:pPr algn="ctr">
              <a:lnSpc>
                <a:spcPct val="100000"/>
              </a:lnSpc>
            </a:pPr>
            <a:r>
              <a:rPr sz="1000" b="1">
                <a:solidFill>
                  <a:srgbClr val="15171A"/>
                </a:solidFill>
                <a:latin typeface="Noto Sans KR"/>
                <a:ea typeface="Noto Sans KR"/>
                <a:cs typeface="Noto Sans KR"/>
              </a:rPr>
              <a:t>44.7</a:t>
            </a:r>
          </a:p>
        </p:txBody>
      </p:sp>
      <p:sp>
        <p:nvSpPr>
          <p:cNvPr id="51" name="Rectangle 50"/>
          <p:cNvSpPr/>
          <p:nvPr/>
        </p:nvSpPr>
        <p:spPr>
          <a:xfrm>
            <a:off x="6172200" y="4224528"/>
            <a:ext cx="5333695" cy="2029968"/>
          </a:xfrm>
          <a:prstGeom prst="rect">
            <a:avLst/>
          </a:prstGeom>
          <a:solidFill>
            <a:srgbClr val="15171A"/>
          </a:solidFill>
          <a:ln>
            <a:noFill/>
          </a:ln>
        </p:spPr>
        <p:txBody>
          <a:bodyPr rtlCol="0" anchor="ctr"/>
          <a:lstStyle/>
          <a:p>
            <a:pPr algn="ctr"/>
          </a:p>
        </p:txBody>
      </p:sp>
      <p:sp>
        <p:nvSpPr>
          <p:cNvPr id="52" name="TextBox 51"/>
          <p:cNvSpPr txBox="1"/>
          <p:nvPr/>
        </p:nvSpPr>
        <p:spPr>
          <a:xfrm>
            <a:off x="6428232" y="4370832"/>
            <a:ext cx="4876495" cy="274320"/>
          </a:xfrm>
          <a:prstGeom prst="rect">
            <a:avLst/>
          </a:prstGeom>
          <a:noFill/>
        </p:spPr>
        <p:txBody>
          <a:bodyPr wrap="square" lIns="0" rIns="0" tIns="0" bIns="0" anchor="t">
            <a:spAutoFit/>
          </a:bodyPr>
          <a:lstStyle/>
          <a:p>
            <a:pPr algn="l">
              <a:lnSpc>
                <a:spcPct val="100000"/>
              </a:lnSpc>
            </a:pPr>
            <a:r>
              <a:rPr sz="1500" b="1">
                <a:solidFill>
                  <a:srgbClr val="F3F3F1"/>
                </a:solidFill>
                <a:latin typeface="Noto Sans KR"/>
                <a:ea typeface="Noto Sans KR"/>
                <a:cs typeface="Noto Sans KR"/>
              </a:rPr>
              <a:t>Scale Triggers  </a:t>
            </a:r>
            <a:r>
              <a:rPr sz="1500" b="1">
                <a:solidFill>
                  <a:srgbClr val="E2571B"/>
                </a:solidFill>
                <a:latin typeface="Noto Sans KR"/>
                <a:ea typeface="Noto Sans KR"/>
                <a:cs typeface="Noto Sans KR"/>
              </a:rPr>
              <a:t>상방 · 수치 미산정</a:t>
            </a:r>
          </a:p>
        </p:txBody>
      </p:sp>
      <p:cxnSp>
        <p:nvCxnSpPr>
          <p:cNvPr id="53" name="Connector 52"/>
          <p:cNvCxnSpPr/>
          <p:nvPr/>
        </p:nvCxnSpPr>
        <p:spPr>
          <a:xfrm>
            <a:off x="6428232" y="4864608"/>
            <a:ext cx="1424330" cy="0"/>
          </a:xfrm>
          <a:prstGeom prst="line">
            <a:avLst/>
          </a:prstGeom>
          <a:ln w="9525">
            <a:solidFill>
              <a:srgbClr val="3A3E44"/>
            </a:solidFill>
          </a:ln>
        </p:spPr>
      </p:cxnSp>
      <p:sp>
        <p:nvSpPr>
          <p:cNvPr id="54" name="TextBox 53"/>
          <p:cNvSpPr txBox="1"/>
          <p:nvPr/>
        </p:nvSpPr>
        <p:spPr>
          <a:xfrm>
            <a:off x="6428232" y="4956048"/>
            <a:ext cx="320040" cy="274320"/>
          </a:xfrm>
          <a:prstGeom prst="rect">
            <a:avLst/>
          </a:prstGeom>
          <a:noFill/>
        </p:spPr>
        <p:txBody>
          <a:bodyPr wrap="square" lIns="0" rIns="0" tIns="0" bIns="0" anchor="t">
            <a:spAutoFit/>
          </a:bodyPr>
          <a:lstStyle/>
          <a:p>
            <a:pPr algn="l">
              <a:lnSpc>
                <a:spcPct val="100000"/>
              </a:lnSpc>
            </a:pPr>
            <a:r>
              <a:rPr sz="1300" b="1">
                <a:solidFill>
                  <a:srgbClr val="E2571B"/>
                </a:solidFill>
                <a:latin typeface="Noto Sans KR"/>
                <a:ea typeface="Noto Sans KR"/>
                <a:cs typeface="Noto Sans KR"/>
              </a:rPr>
              <a:t>1</a:t>
            </a:r>
          </a:p>
        </p:txBody>
      </p:sp>
      <p:sp>
        <p:nvSpPr>
          <p:cNvPr id="55" name="TextBox 54"/>
          <p:cNvSpPr txBox="1"/>
          <p:nvPr/>
        </p:nvSpPr>
        <p:spPr>
          <a:xfrm>
            <a:off x="6720840" y="4956048"/>
            <a:ext cx="1104290" cy="512064"/>
          </a:xfrm>
          <a:prstGeom prst="rect">
            <a:avLst/>
          </a:prstGeom>
          <a:noFill/>
        </p:spPr>
        <p:txBody>
          <a:bodyPr wrap="square" lIns="0" rIns="0" tIns="0" bIns="0" anchor="t">
            <a:spAutoFit/>
          </a:bodyPr>
          <a:lstStyle/>
          <a:p>
            <a:pPr algn="l">
              <a:lnSpc>
                <a:spcPct val="100000"/>
              </a:lnSpc>
            </a:pPr>
            <a:r>
              <a:rPr sz="1300" b="1">
                <a:solidFill>
                  <a:srgbClr val="F3F3F1"/>
                </a:solidFill>
                <a:latin typeface="Noto Sans KR"/>
                <a:ea typeface="Noto Sans KR"/>
                <a:cs typeface="Noto Sans KR"/>
              </a:rPr>
              <a:t>주방 제품 검증</a:t>
            </a:r>
          </a:p>
        </p:txBody>
      </p:sp>
      <p:cxnSp>
        <p:nvCxnSpPr>
          <p:cNvPr id="56" name="Connector 55"/>
          <p:cNvCxnSpPr/>
          <p:nvPr/>
        </p:nvCxnSpPr>
        <p:spPr>
          <a:xfrm>
            <a:off x="8035442" y="4864608"/>
            <a:ext cx="1424330" cy="0"/>
          </a:xfrm>
          <a:prstGeom prst="line">
            <a:avLst/>
          </a:prstGeom>
          <a:ln w="9525">
            <a:solidFill>
              <a:srgbClr val="3A3E44"/>
            </a:solidFill>
          </a:ln>
        </p:spPr>
      </p:cxnSp>
      <p:sp>
        <p:nvSpPr>
          <p:cNvPr id="57" name="TextBox 56"/>
          <p:cNvSpPr txBox="1"/>
          <p:nvPr/>
        </p:nvSpPr>
        <p:spPr>
          <a:xfrm>
            <a:off x="8035442" y="4956048"/>
            <a:ext cx="320040" cy="274320"/>
          </a:xfrm>
          <a:prstGeom prst="rect">
            <a:avLst/>
          </a:prstGeom>
          <a:noFill/>
        </p:spPr>
        <p:txBody>
          <a:bodyPr wrap="square" lIns="0" rIns="0" tIns="0" bIns="0" anchor="t">
            <a:spAutoFit/>
          </a:bodyPr>
          <a:lstStyle/>
          <a:p>
            <a:pPr algn="l">
              <a:lnSpc>
                <a:spcPct val="100000"/>
              </a:lnSpc>
            </a:pPr>
            <a:r>
              <a:rPr sz="1300" b="1">
                <a:solidFill>
                  <a:srgbClr val="E2571B"/>
                </a:solidFill>
                <a:latin typeface="Noto Sans KR"/>
                <a:ea typeface="Noto Sans KR"/>
                <a:cs typeface="Noto Sans KR"/>
              </a:rPr>
              <a:t>2</a:t>
            </a:r>
          </a:p>
        </p:txBody>
      </p:sp>
      <p:sp>
        <p:nvSpPr>
          <p:cNvPr id="58" name="TextBox 57"/>
          <p:cNvSpPr txBox="1"/>
          <p:nvPr/>
        </p:nvSpPr>
        <p:spPr>
          <a:xfrm>
            <a:off x="8328050" y="4956048"/>
            <a:ext cx="1104290" cy="512064"/>
          </a:xfrm>
          <a:prstGeom prst="rect">
            <a:avLst/>
          </a:prstGeom>
          <a:noFill/>
        </p:spPr>
        <p:txBody>
          <a:bodyPr wrap="square" lIns="0" rIns="0" tIns="0" bIns="0" anchor="t">
            <a:spAutoFit/>
          </a:bodyPr>
          <a:lstStyle/>
          <a:p>
            <a:pPr algn="l">
              <a:lnSpc>
                <a:spcPct val="100000"/>
              </a:lnSpc>
            </a:pPr>
            <a:r>
              <a:rPr sz="1300" b="1">
                <a:solidFill>
                  <a:srgbClr val="F3F3F1"/>
                </a:solidFill>
                <a:latin typeface="Noto Sans KR"/>
                <a:ea typeface="Noto Sans KR"/>
                <a:cs typeface="Noto Sans KR"/>
              </a:rPr>
              <a:t>Skill 재사용</a:t>
            </a:r>
          </a:p>
        </p:txBody>
      </p:sp>
      <p:cxnSp>
        <p:nvCxnSpPr>
          <p:cNvPr id="59" name="Connector 58"/>
          <p:cNvCxnSpPr/>
          <p:nvPr/>
        </p:nvCxnSpPr>
        <p:spPr>
          <a:xfrm>
            <a:off x="9642652" y="4864608"/>
            <a:ext cx="1424331" cy="0"/>
          </a:xfrm>
          <a:prstGeom prst="line">
            <a:avLst/>
          </a:prstGeom>
          <a:ln w="9525">
            <a:solidFill>
              <a:srgbClr val="3A3E44"/>
            </a:solidFill>
          </a:ln>
        </p:spPr>
      </p:cxnSp>
      <p:sp>
        <p:nvSpPr>
          <p:cNvPr id="60" name="TextBox 59"/>
          <p:cNvSpPr txBox="1"/>
          <p:nvPr/>
        </p:nvSpPr>
        <p:spPr>
          <a:xfrm>
            <a:off x="9642652" y="4956048"/>
            <a:ext cx="320040" cy="274320"/>
          </a:xfrm>
          <a:prstGeom prst="rect">
            <a:avLst/>
          </a:prstGeom>
          <a:noFill/>
        </p:spPr>
        <p:txBody>
          <a:bodyPr wrap="square" lIns="0" rIns="0" tIns="0" bIns="0" anchor="t">
            <a:spAutoFit/>
          </a:bodyPr>
          <a:lstStyle/>
          <a:p>
            <a:pPr algn="l">
              <a:lnSpc>
                <a:spcPct val="100000"/>
              </a:lnSpc>
            </a:pPr>
            <a:r>
              <a:rPr sz="1300" b="1">
                <a:solidFill>
                  <a:srgbClr val="E2571B"/>
                </a:solidFill>
                <a:latin typeface="Noto Sans KR"/>
                <a:ea typeface="Noto Sans KR"/>
                <a:cs typeface="Noto Sans KR"/>
              </a:rPr>
              <a:t>3</a:t>
            </a:r>
          </a:p>
        </p:txBody>
      </p:sp>
      <p:sp>
        <p:nvSpPr>
          <p:cNvPr id="61" name="TextBox 60"/>
          <p:cNvSpPr txBox="1"/>
          <p:nvPr/>
        </p:nvSpPr>
        <p:spPr>
          <a:xfrm>
            <a:off x="9935260" y="4956048"/>
            <a:ext cx="1104290" cy="512064"/>
          </a:xfrm>
          <a:prstGeom prst="rect">
            <a:avLst/>
          </a:prstGeom>
          <a:noFill/>
        </p:spPr>
        <p:txBody>
          <a:bodyPr wrap="square" lIns="0" rIns="0" tIns="0" bIns="0" anchor="t">
            <a:spAutoFit/>
          </a:bodyPr>
          <a:lstStyle/>
          <a:p>
            <a:pPr algn="l">
              <a:lnSpc>
                <a:spcPct val="100000"/>
              </a:lnSpc>
            </a:pPr>
            <a:r>
              <a:rPr sz="1300" b="1">
                <a:solidFill>
                  <a:srgbClr val="F3F3F1"/>
                </a:solidFill>
                <a:latin typeface="Noto Sans KR"/>
                <a:ea typeface="Noto Sans KR"/>
                <a:cs typeface="Noto Sans KR"/>
              </a:rPr>
              <a:t>로봇 OEM 채택</a:t>
            </a:r>
          </a:p>
        </p:txBody>
      </p:sp>
      <p:cxnSp>
        <p:nvCxnSpPr>
          <p:cNvPr id="62" name="Connector 61"/>
          <p:cNvCxnSpPr/>
          <p:nvPr/>
        </p:nvCxnSpPr>
        <p:spPr>
          <a:xfrm>
            <a:off x="6428232" y="5522976"/>
            <a:ext cx="1424330" cy="0"/>
          </a:xfrm>
          <a:prstGeom prst="line">
            <a:avLst/>
          </a:prstGeom>
          <a:ln w="9525">
            <a:solidFill>
              <a:srgbClr val="3A3E44"/>
            </a:solidFill>
          </a:ln>
        </p:spPr>
      </p:cxnSp>
      <p:sp>
        <p:nvSpPr>
          <p:cNvPr id="63" name="TextBox 62"/>
          <p:cNvSpPr txBox="1"/>
          <p:nvPr/>
        </p:nvSpPr>
        <p:spPr>
          <a:xfrm>
            <a:off x="6428232" y="5614416"/>
            <a:ext cx="320040" cy="274320"/>
          </a:xfrm>
          <a:prstGeom prst="rect">
            <a:avLst/>
          </a:prstGeom>
          <a:noFill/>
        </p:spPr>
        <p:txBody>
          <a:bodyPr wrap="square" lIns="0" rIns="0" tIns="0" bIns="0" anchor="t">
            <a:spAutoFit/>
          </a:bodyPr>
          <a:lstStyle/>
          <a:p>
            <a:pPr algn="l">
              <a:lnSpc>
                <a:spcPct val="100000"/>
              </a:lnSpc>
            </a:pPr>
            <a:r>
              <a:rPr sz="1300" b="1">
                <a:solidFill>
                  <a:srgbClr val="E2571B"/>
                </a:solidFill>
                <a:latin typeface="Noto Sans KR"/>
                <a:ea typeface="Noto Sans KR"/>
                <a:cs typeface="Noto Sans KR"/>
              </a:rPr>
              <a:t>4</a:t>
            </a:r>
          </a:p>
        </p:txBody>
      </p:sp>
      <p:sp>
        <p:nvSpPr>
          <p:cNvPr id="64" name="TextBox 63"/>
          <p:cNvSpPr txBox="1"/>
          <p:nvPr/>
        </p:nvSpPr>
        <p:spPr>
          <a:xfrm>
            <a:off x="6720840" y="5614416"/>
            <a:ext cx="1104290" cy="512064"/>
          </a:xfrm>
          <a:prstGeom prst="rect">
            <a:avLst/>
          </a:prstGeom>
          <a:noFill/>
        </p:spPr>
        <p:txBody>
          <a:bodyPr wrap="square" lIns="0" rIns="0" tIns="0" bIns="0" anchor="t">
            <a:spAutoFit/>
          </a:bodyPr>
          <a:lstStyle/>
          <a:p>
            <a:pPr algn="l">
              <a:lnSpc>
                <a:spcPct val="100000"/>
              </a:lnSpc>
            </a:pPr>
            <a:r>
              <a:rPr sz="1300" b="1">
                <a:solidFill>
                  <a:srgbClr val="F3F3F1"/>
                </a:solidFill>
                <a:latin typeface="Noto Sans KR"/>
                <a:ea typeface="Noto Sans KR"/>
                <a:cs typeface="Noto Sans KR"/>
              </a:rPr>
              <a:t>가전사 파트너십</a:t>
            </a:r>
          </a:p>
        </p:txBody>
      </p:sp>
      <p:cxnSp>
        <p:nvCxnSpPr>
          <p:cNvPr id="65" name="Connector 64"/>
          <p:cNvCxnSpPr/>
          <p:nvPr/>
        </p:nvCxnSpPr>
        <p:spPr>
          <a:xfrm>
            <a:off x="8035442" y="5522976"/>
            <a:ext cx="1424330" cy="0"/>
          </a:xfrm>
          <a:prstGeom prst="line">
            <a:avLst/>
          </a:prstGeom>
          <a:ln w="9525">
            <a:solidFill>
              <a:srgbClr val="3A3E44"/>
            </a:solidFill>
          </a:ln>
        </p:spPr>
      </p:cxnSp>
      <p:sp>
        <p:nvSpPr>
          <p:cNvPr id="66" name="TextBox 65"/>
          <p:cNvSpPr txBox="1"/>
          <p:nvPr/>
        </p:nvSpPr>
        <p:spPr>
          <a:xfrm>
            <a:off x="8035442" y="5614416"/>
            <a:ext cx="320040" cy="274320"/>
          </a:xfrm>
          <a:prstGeom prst="rect">
            <a:avLst/>
          </a:prstGeom>
          <a:noFill/>
        </p:spPr>
        <p:txBody>
          <a:bodyPr wrap="square" lIns="0" rIns="0" tIns="0" bIns="0" anchor="t">
            <a:spAutoFit/>
          </a:bodyPr>
          <a:lstStyle/>
          <a:p>
            <a:pPr algn="l">
              <a:lnSpc>
                <a:spcPct val="100000"/>
              </a:lnSpc>
            </a:pPr>
            <a:r>
              <a:rPr sz="1300" b="1">
                <a:solidFill>
                  <a:srgbClr val="E2571B"/>
                </a:solidFill>
                <a:latin typeface="Noto Sans KR"/>
                <a:ea typeface="Noto Sans KR"/>
                <a:cs typeface="Noto Sans KR"/>
              </a:rPr>
              <a:t>5</a:t>
            </a:r>
          </a:p>
        </p:txBody>
      </p:sp>
      <p:sp>
        <p:nvSpPr>
          <p:cNvPr id="67" name="TextBox 66"/>
          <p:cNvSpPr txBox="1"/>
          <p:nvPr/>
        </p:nvSpPr>
        <p:spPr>
          <a:xfrm>
            <a:off x="8328050" y="5614416"/>
            <a:ext cx="1104290" cy="512064"/>
          </a:xfrm>
          <a:prstGeom prst="rect">
            <a:avLst/>
          </a:prstGeom>
          <a:noFill/>
        </p:spPr>
        <p:txBody>
          <a:bodyPr wrap="square" lIns="0" rIns="0" tIns="0" bIns="0" anchor="t">
            <a:spAutoFit/>
          </a:bodyPr>
          <a:lstStyle/>
          <a:p>
            <a:pPr algn="l">
              <a:lnSpc>
                <a:spcPct val="100000"/>
              </a:lnSpc>
            </a:pPr>
            <a:r>
              <a:rPr sz="1300" b="1">
                <a:solidFill>
                  <a:srgbClr val="F3F3F1"/>
                </a:solidFill>
                <a:latin typeface="Noto Sans KR"/>
                <a:ea typeface="Noto Sans KR"/>
                <a:cs typeface="Noto Sans KR"/>
              </a:rPr>
              <a:t>가정용 주방 확장</a:t>
            </a:r>
          </a:p>
        </p:txBody>
      </p:sp>
      <p:cxnSp>
        <p:nvCxnSpPr>
          <p:cNvPr id="68" name="Connector 67"/>
          <p:cNvCxnSpPr/>
          <p:nvPr/>
        </p:nvCxnSpPr>
        <p:spPr>
          <a:xfrm>
            <a:off x="9642652" y="5522976"/>
            <a:ext cx="1424331" cy="0"/>
          </a:xfrm>
          <a:prstGeom prst="line">
            <a:avLst/>
          </a:prstGeom>
          <a:ln w="9525">
            <a:solidFill>
              <a:srgbClr val="3A3E44"/>
            </a:solidFill>
          </a:ln>
        </p:spPr>
      </p:cxnSp>
      <p:sp>
        <p:nvSpPr>
          <p:cNvPr id="69" name="TextBox 68"/>
          <p:cNvSpPr txBox="1"/>
          <p:nvPr/>
        </p:nvSpPr>
        <p:spPr>
          <a:xfrm>
            <a:off x="9642652" y="5614416"/>
            <a:ext cx="320040" cy="274320"/>
          </a:xfrm>
          <a:prstGeom prst="rect">
            <a:avLst/>
          </a:prstGeom>
          <a:noFill/>
        </p:spPr>
        <p:txBody>
          <a:bodyPr wrap="square" lIns="0" rIns="0" tIns="0" bIns="0" anchor="t">
            <a:spAutoFit/>
          </a:bodyPr>
          <a:lstStyle/>
          <a:p>
            <a:pPr algn="l">
              <a:lnSpc>
                <a:spcPct val="100000"/>
              </a:lnSpc>
            </a:pPr>
            <a:r>
              <a:rPr sz="1300" b="1">
                <a:solidFill>
                  <a:srgbClr val="E2571B"/>
                </a:solidFill>
                <a:latin typeface="Noto Sans KR"/>
                <a:ea typeface="Noto Sans KR"/>
                <a:cs typeface="Noto Sans KR"/>
              </a:rPr>
              <a:t>6</a:t>
            </a:r>
          </a:p>
        </p:txBody>
      </p:sp>
      <p:sp>
        <p:nvSpPr>
          <p:cNvPr id="70" name="TextBox 69"/>
          <p:cNvSpPr txBox="1"/>
          <p:nvPr/>
        </p:nvSpPr>
        <p:spPr>
          <a:xfrm>
            <a:off x="9935260" y="5614416"/>
            <a:ext cx="1104290" cy="512064"/>
          </a:xfrm>
          <a:prstGeom prst="rect">
            <a:avLst/>
          </a:prstGeom>
          <a:noFill/>
        </p:spPr>
        <p:txBody>
          <a:bodyPr wrap="square" lIns="0" rIns="0" tIns="0" bIns="0" anchor="t">
            <a:spAutoFit/>
          </a:bodyPr>
          <a:lstStyle/>
          <a:p>
            <a:pPr algn="l">
              <a:lnSpc>
                <a:spcPct val="100000"/>
              </a:lnSpc>
            </a:pPr>
            <a:r>
              <a:rPr sz="1300" b="1">
                <a:solidFill>
                  <a:srgbClr val="F3F3F1"/>
                </a:solidFill>
                <a:latin typeface="Noto Sans KR"/>
                <a:ea typeface="Noto Sans KR"/>
                <a:cs typeface="Noto Sans KR"/>
              </a:rPr>
              <a:t>Built-in 채널</a:t>
            </a:r>
          </a:p>
        </p:txBody>
      </p:sp>
      <p:sp>
        <p:nvSpPr>
          <p:cNvPr id="71" name="TextBox 70"/>
          <p:cNvSpPr txBox="1"/>
          <p:nvPr/>
        </p:nvSpPr>
        <p:spPr>
          <a:xfrm>
            <a:off x="685800" y="6446520"/>
            <a:ext cx="5486400" cy="201168"/>
          </a:xfrm>
          <a:prstGeom prst="rect">
            <a:avLst/>
          </a:prstGeom>
          <a:noFill/>
        </p:spPr>
        <p:txBody>
          <a:bodyPr wrap="square" lIns="0" rIns="0" tIns="0" bIns="0" anchor="t">
            <a:spAutoFit/>
          </a:bodyPr>
          <a:lstStyle/>
          <a:p>
            <a:pPr algn="l">
              <a:lnSpc>
                <a:spcPct val="100000"/>
              </a:lnSpc>
            </a:pPr>
            <a:r>
              <a:rPr sz="900" b="0">
                <a:solidFill>
                  <a:srgbClr val="8C9198"/>
                </a:solidFill>
                <a:latin typeface="Noto Sans KR"/>
                <a:ea typeface="Noto Sans KR"/>
                <a:cs typeface="Noto Sans KR"/>
              </a:rPr>
              <a:t>SoftHand  |  주방 로봇 조작 플랫폼  |  Seed 투자 제안서</a:t>
            </a:r>
          </a:p>
        </p:txBody>
      </p:sp>
      <p:sp>
        <p:nvSpPr>
          <p:cNvPr id="72" name="TextBox 71"/>
          <p:cNvSpPr txBox="1"/>
          <p:nvPr/>
        </p:nvSpPr>
        <p:spPr>
          <a:xfrm>
            <a:off x="3154680" y="6446520"/>
            <a:ext cx="7802575" cy="201168"/>
          </a:xfrm>
          <a:prstGeom prst="rect">
            <a:avLst/>
          </a:prstGeom>
          <a:noFill/>
        </p:spPr>
        <p:txBody>
          <a:bodyPr wrap="square" lIns="0" rIns="0" tIns="0" bIns="0" anchor="t">
            <a:spAutoFit/>
          </a:bodyPr>
          <a:lstStyle/>
          <a:p>
            <a:pPr algn="r">
              <a:lnSpc>
                <a:spcPct val="100000"/>
              </a:lnSpc>
            </a:pPr>
            <a:r>
              <a:rPr sz="900" b="0">
                <a:solidFill>
                  <a:srgbClr val="8C9198"/>
                </a:solidFill>
                <a:latin typeface="Noto Sans KR"/>
                <a:ea typeface="Noto Sans KR"/>
                <a:cs typeface="Noto Sans KR"/>
              </a:rPr>
              <a:t>건설사는 핵심 시장이 아닌 장기 채널 (부록 A13) · Base Case 손익·민감도 부록 A10 · 상방 매출은 산정하지 않음</a:t>
            </a:r>
          </a:p>
        </p:txBody>
      </p:sp>
      <p:sp>
        <p:nvSpPr>
          <p:cNvPr id="73" name="TextBox 72"/>
          <p:cNvSpPr txBox="1"/>
          <p:nvPr/>
        </p:nvSpPr>
        <p:spPr>
          <a:xfrm>
            <a:off x="11048695" y="6446520"/>
            <a:ext cx="457200" cy="201168"/>
          </a:xfrm>
          <a:prstGeom prst="rect">
            <a:avLst/>
          </a:prstGeom>
          <a:noFill/>
        </p:spPr>
        <p:txBody>
          <a:bodyPr wrap="square" lIns="0" rIns="0" tIns="0" bIns="0" anchor="t">
            <a:spAutoFit/>
          </a:bodyPr>
          <a:lstStyle/>
          <a:p>
            <a:pPr algn="r">
              <a:lnSpc>
                <a:spcPct val="100000"/>
              </a:lnSpc>
            </a:pPr>
            <a:r>
              <a:rPr sz="900" b="0">
                <a:solidFill>
                  <a:srgbClr val="8C9198"/>
                </a:solidFill>
                <a:latin typeface="Noto Sans KR"/>
                <a:ea typeface="Noto Sans KR"/>
                <a:cs typeface="Noto Sans KR"/>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548640"/>
            <a:ext cx="7315200" cy="274320"/>
          </a:xfrm>
          <a:prstGeom prst="rect">
            <a:avLst/>
          </a:prstGeom>
          <a:noFill/>
        </p:spPr>
        <p:txBody>
          <a:bodyPr wrap="square" lIns="0" rIns="0" tIns="0" bIns="0" anchor="t">
            <a:spAutoFit/>
          </a:bodyPr>
          <a:lstStyle/>
          <a:p>
            <a:pPr algn="l">
              <a:lnSpc>
                <a:spcPct val="100000"/>
              </a:lnSpc>
            </a:pPr>
            <a:r>
              <a:rPr sz="1200" b="1">
                <a:solidFill>
                  <a:srgbClr val="E2571B"/>
                </a:solidFill>
                <a:latin typeface="Noto Sans KR"/>
                <a:ea typeface="Noto Sans KR"/>
                <a:cs typeface="Noto Sans KR"/>
              </a:rPr>
              <a:t>SEED VALIDATION PLAN</a:t>
            </a:r>
          </a:p>
        </p:txBody>
      </p:sp>
      <p:sp>
        <p:nvSpPr>
          <p:cNvPr id="3" name="TextBox 2"/>
          <p:cNvSpPr txBox="1"/>
          <p:nvPr/>
        </p:nvSpPr>
        <p:spPr>
          <a:xfrm>
            <a:off x="685800" y="932688"/>
            <a:ext cx="10820095" cy="542391"/>
          </a:xfrm>
          <a:prstGeom prst="rect">
            <a:avLst/>
          </a:prstGeom>
          <a:noFill/>
        </p:spPr>
        <p:txBody>
          <a:bodyPr wrap="square" lIns="0" rIns="0" tIns="0" bIns="0" anchor="t">
            <a:spAutoFit/>
          </a:bodyPr>
          <a:lstStyle/>
          <a:p>
            <a:pPr algn="l">
              <a:lnSpc>
                <a:spcPct val="95000"/>
              </a:lnSpc>
            </a:pPr>
            <a:r>
              <a:rPr sz="3000" b="1">
                <a:solidFill>
                  <a:srgbClr val="15171A"/>
                </a:solidFill>
                <a:latin typeface="Noto Sans KR"/>
                <a:ea typeface="Noto Sans KR"/>
                <a:cs typeface="Noto Sans KR"/>
              </a:rPr>
              <a:t>20억 원 · 24개월로 증명할 3가지</a:t>
            </a:r>
          </a:p>
        </p:txBody>
      </p:sp>
      <p:sp>
        <p:nvSpPr>
          <p:cNvPr id="4" name="TextBox 3"/>
          <p:cNvSpPr txBox="1"/>
          <p:nvPr/>
        </p:nvSpPr>
        <p:spPr>
          <a:xfrm>
            <a:off x="685800" y="1584807"/>
            <a:ext cx="10820095" cy="329184"/>
          </a:xfrm>
          <a:prstGeom prst="rect">
            <a:avLst/>
          </a:prstGeom>
          <a:noFill/>
        </p:spPr>
        <p:txBody>
          <a:bodyPr wrap="square" lIns="0" rIns="0" tIns="0" bIns="0" anchor="t">
            <a:spAutoFit/>
          </a:bodyPr>
          <a:lstStyle/>
          <a:p>
            <a:pPr algn="l">
              <a:lnSpc>
                <a:spcPct val="100000"/>
              </a:lnSpc>
            </a:pPr>
            <a:r>
              <a:rPr sz="1600" b="0">
                <a:solidFill>
                  <a:srgbClr val="4A4F57"/>
                </a:solidFill>
                <a:latin typeface="Noto Sans KR"/>
                <a:ea typeface="Noto Sans KR"/>
                <a:cs typeface="Noto Sans KR"/>
              </a:rPr>
              <a:t>로봇 핸드 아이디어를 반복 판매 가능한 Kitchen Robotics Platform으로 증명</a:t>
            </a:r>
          </a:p>
        </p:txBody>
      </p:sp>
      <p:sp>
        <p:nvSpPr>
          <p:cNvPr id="5" name="Rectangle 4"/>
          <p:cNvSpPr/>
          <p:nvPr/>
        </p:nvSpPr>
        <p:spPr>
          <a:xfrm>
            <a:off x="685800" y="2096871"/>
            <a:ext cx="2240280" cy="1298448"/>
          </a:xfrm>
          <a:prstGeom prst="rect">
            <a:avLst/>
          </a:prstGeom>
          <a:solidFill>
            <a:srgbClr val="F4F5F6"/>
          </a:solidFill>
          <a:ln>
            <a:noFill/>
          </a:ln>
        </p:spPr>
        <p:txBody>
          <a:bodyPr rtlCol="0" anchor="ctr"/>
          <a:lstStyle/>
          <a:p>
            <a:pPr algn="ctr"/>
          </a:p>
        </p:txBody>
      </p:sp>
      <p:sp>
        <p:nvSpPr>
          <p:cNvPr id="6" name="TextBox 5"/>
          <p:cNvSpPr txBox="1"/>
          <p:nvPr/>
        </p:nvSpPr>
        <p:spPr>
          <a:xfrm>
            <a:off x="886968" y="2243175"/>
            <a:ext cx="1874520" cy="237744"/>
          </a:xfrm>
          <a:prstGeom prst="rect">
            <a:avLst/>
          </a:prstGeom>
          <a:noFill/>
        </p:spPr>
        <p:txBody>
          <a:bodyPr wrap="square" lIns="0" rIns="0" tIns="0" bIns="0" anchor="t">
            <a:spAutoFit/>
          </a:bodyPr>
          <a:lstStyle/>
          <a:p>
            <a:pPr algn="l">
              <a:lnSpc>
                <a:spcPct val="100000"/>
              </a:lnSpc>
            </a:pPr>
            <a:r>
              <a:rPr sz="1100" b="1">
                <a:solidFill>
                  <a:srgbClr val="8C9198"/>
                </a:solidFill>
                <a:latin typeface="Noto Sans KR"/>
                <a:ea typeface="Noto Sans KR"/>
                <a:cs typeface="Noto Sans KR"/>
              </a:rPr>
              <a:t>TODAY</a:t>
            </a:r>
          </a:p>
        </p:txBody>
      </p:sp>
      <p:sp>
        <p:nvSpPr>
          <p:cNvPr id="7" name="TextBox 6"/>
          <p:cNvSpPr txBox="1"/>
          <p:nvPr/>
        </p:nvSpPr>
        <p:spPr>
          <a:xfrm>
            <a:off x="886968" y="2517495"/>
            <a:ext cx="1874520" cy="822960"/>
          </a:xfrm>
          <a:prstGeom prst="rect">
            <a:avLst/>
          </a:prstGeom>
          <a:noFill/>
        </p:spPr>
        <p:txBody>
          <a:bodyPr wrap="square" lIns="0" rIns="0" tIns="0" bIns="0" anchor="t">
            <a:spAutoFit/>
          </a:bodyPr>
          <a:lstStyle/>
          <a:p>
            <a:pPr algn="l">
              <a:lnSpc>
                <a:spcPct val="100000"/>
              </a:lnSpc>
              <a:spcAft>
                <a:spcPts val="200"/>
              </a:spcAft>
            </a:pPr>
            <a:r>
              <a:rPr sz="1350" b="1">
                <a:solidFill>
                  <a:srgbClr val="15171A"/>
                </a:solidFill>
                <a:latin typeface="Noto Sans KR"/>
                <a:ea typeface="Noto Sans KR"/>
                <a:cs typeface="Noto Sans KR"/>
              </a:rPr>
              <a:t>콘셉트</a:t>
            </a:r>
          </a:p>
          <a:p>
            <a:pPr algn="l">
              <a:lnSpc>
                <a:spcPct val="100000"/>
              </a:lnSpc>
              <a:spcAft>
                <a:spcPts val="200"/>
              </a:spcAft>
            </a:pPr>
            <a:r>
              <a:rPr sz="1350" b="1">
                <a:solidFill>
                  <a:srgbClr val="15171A"/>
                </a:solidFill>
                <a:latin typeface="Noto Sans KR"/>
                <a:ea typeface="Noto Sans KR"/>
                <a:cs typeface="Noto Sans KR"/>
              </a:rPr>
              <a:t>기술 구조</a:t>
            </a:r>
          </a:p>
          <a:p>
            <a:pPr algn="l">
              <a:lnSpc>
                <a:spcPct val="100000"/>
              </a:lnSpc>
            </a:pPr>
            <a:r>
              <a:rPr sz="1350" b="1">
                <a:solidFill>
                  <a:srgbClr val="15171A"/>
                </a:solidFill>
                <a:latin typeface="Noto Sans KR"/>
                <a:ea typeface="Noto Sans KR"/>
                <a:cs typeface="Noto Sans KR"/>
              </a:rPr>
              <a:t>초기 설계</a:t>
            </a:r>
          </a:p>
        </p:txBody>
      </p:sp>
      <p:sp>
        <p:nvSpPr>
          <p:cNvPr id="8" name="Rectangle 7"/>
          <p:cNvSpPr/>
          <p:nvPr/>
        </p:nvSpPr>
        <p:spPr>
          <a:xfrm>
            <a:off x="3310128" y="2096871"/>
            <a:ext cx="3246120" cy="1298448"/>
          </a:xfrm>
          <a:prstGeom prst="rect">
            <a:avLst/>
          </a:prstGeom>
          <a:solidFill>
            <a:srgbClr val="E2571B"/>
          </a:solidFill>
          <a:ln>
            <a:noFill/>
          </a:ln>
        </p:spPr>
        <p:txBody>
          <a:bodyPr rtlCol="0" anchor="ctr"/>
          <a:lstStyle/>
          <a:p>
            <a:pPr algn="ctr"/>
          </a:p>
        </p:txBody>
      </p:sp>
      <p:sp>
        <p:nvSpPr>
          <p:cNvPr id="9" name="TextBox 8"/>
          <p:cNvSpPr txBox="1"/>
          <p:nvPr/>
        </p:nvSpPr>
        <p:spPr>
          <a:xfrm>
            <a:off x="3511296" y="2243175"/>
            <a:ext cx="2880360" cy="237744"/>
          </a:xfrm>
          <a:prstGeom prst="rect">
            <a:avLst/>
          </a:prstGeom>
          <a:noFill/>
        </p:spPr>
        <p:txBody>
          <a:bodyPr wrap="square" lIns="0" rIns="0" tIns="0" bIns="0" anchor="t">
            <a:spAutoFit/>
          </a:bodyPr>
          <a:lstStyle/>
          <a:p>
            <a:pPr algn="l">
              <a:lnSpc>
                <a:spcPct val="100000"/>
              </a:lnSpc>
            </a:pPr>
            <a:r>
              <a:rPr sz="1100" b="1">
                <a:solidFill>
                  <a:srgbClr val="FFE6DA"/>
                </a:solidFill>
                <a:latin typeface="Noto Sans KR"/>
                <a:ea typeface="Noto Sans KR"/>
                <a:cs typeface="Noto Sans KR"/>
              </a:rPr>
              <a:t>SEED</a:t>
            </a:r>
          </a:p>
        </p:txBody>
      </p:sp>
      <p:sp>
        <p:nvSpPr>
          <p:cNvPr id="10" name="TextBox 9"/>
          <p:cNvSpPr txBox="1"/>
          <p:nvPr/>
        </p:nvSpPr>
        <p:spPr>
          <a:xfrm>
            <a:off x="3511296" y="2480919"/>
            <a:ext cx="2880360" cy="384048"/>
          </a:xfrm>
          <a:prstGeom prst="rect">
            <a:avLst/>
          </a:prstGeom>
          <a:noFill/>
        </p:spPr>
        <p:txBody>
          <a:bodyPr wrap="square" lIns="0" rIns="0" tIns="0" bIns="0" anchor="t">
            <a:spAutoFit/>
          </a:bodyPr>
          <a:lstStyle/>
          <a:p>
            <a:pPr algn="l">
              <a:lnSpc>
                <a:spcPct val="100000"/>
              </a:lnSpc>
            </a:pPr>
            <a:r>
              <a:rPr sz="2100" b="1">
                <a:solidFill>
                  <a:srgbClr val="FFFFFF"/>
                </a:solidFill>
                <a:latin typeface="Noto Sans KR"/>
                <a:ea typeface="Noto Sans KR"/>
                <a:cs typeface="Noto Sans KR"/>
              </a:rPr>
              <a:t>20억 원 · 24개월</a:t>
            </a:r>
          </a:p>
        </p:txBody>
      </p:sp>
      <p:sp>
        <p:nvSpPr>
          <p:cNvPr id="11" name="TextBox 10"/>
          <p:cNvSpPr txBox="1"/>
          <p:nvPr/>
        </p:nvSpPr>
        <p:spPr>
          <a:xfrm>
            <a:off x="3511296" y="2901543"/>
            <a:ext cx="2880360" cy="457200"/>
          </a:xfrm>
          <a:prstGeom prst="rect">
            <a:avLst/>
          </a:prstGeom>
          <a:noFill/>
        </p:spPr>
        <p:txBody>
          <a:bodyPr wrap="square" lIns="0" rIns="0" tIns="0" bIns="0" anchor="t">
            <a:spAutoFit/>
          </a:bodyPr>
          <a:lstStyle/>
          <a:p>
            <a:pPr algn="l">
              <a:lnSpc>
                <a:spcPct val="100000"/>
              </a:lnSpc>
            </a:pPr>
            <a:r>
              <a:rPr sz="1000" b="0">
                <a:solidFill>
                  <a:srgbClr val="FFFFFF"/>
                </a:solidFill>
                <a:latin typeface="Noto Sans KR"/>
                <a:ea typeface="Noto Sans KR"/>
                <a:cs typeface="Noto Sans KR"/>
              </a:rPr>
              <a:t>인력 9.6 · 시제품·내구 2.7 · 시험 셀·주방 PoC 2.8</a:t>
            </a:r>
          </a:p>
          <a:p>
            <a:pPr algn="l">
              <a:lnSpc>
                <a:spcPct val="100000"/>
              </a:lnSpc>
            </a:pPr>
            <a:r>
              <a:rPr sz="1000" b="0">
                <a:solidFill>
                  <a:srgbClr val="FFFFFF"/>
                </a:solidFill>
                <a:latin typeface="Noto Sans KR"/>
                <a:ea typeface="Noto Sans KR"/>
                <a:cs typeface="Noto Sans KR"/>
              </a:rPr>
              <a:t>SW·품질·IP 1.7 · 운영 1.5 · 예비비 1.7 (억 원)</a:t>
            </a:r>
          </a:p>
        </p:txBody>
      </p:sp>
      <p:sp>
        <p:nvSpPr>
          <p:cNvPr id="12" name="Rectangle 11"/>
          <p:cNvSpPr/>
          <p:nvPr/>
        </p:nvSpPr>
        <p:spPr>
          <a:xfrm>
            <a:off x="6940296" y="2096871"/>
            <a:ext cx="4565599" cy="1298448"/>
          </a:xfrm>
          <a:prstGeom prst="rect">
            <a:avLst/>
          </a:prstGeom>
          <a:solidFill>
            <a:srgbClr val="15171A"/>
          </a:solidFill>
          <a:ln>
            <a:noFill/>
          </a:ln>
        </p:spPr>
        <p:txBody>
          <a:bodyPr rtlCol="0" anchor="ctr"/>
          <a:lstStyle/>
          <a:p>
            <a:pPr algn="ctr"/>
          </a:p>
        </p:txBody>
      </p:sp>
      <p:sp>
        <p:nvSpPr>
          <p:cNvPr id="13" name="TextBox 12"/>
          <p:cNvSpPr txBox="1"/>
          <p:nvPr/>
        </p:nvSpPr>
        <p:spPr>
          <a:xfrm>
            <a:off x="7141464" y="2243175"/>
            <a:ext cx="4199839" cy="237744"/>
          </a:xfrm>
          <a:prstGeom prst="rect">
            <a:avLst/>
          </a:prstGeom>
          <a:noFill/>
        </p:spPr>
        <p:txBody>
          <a:bodyPr wrap="square" lIns="0" rIns="0" tIns="0" bIns="0" anchor="t">
            <a:spAutoFit/>
          </a:bodyPr>
          <a:lstStyle/>
          <a:p>
            <a:pPr algn="l">
              <a:lnSpc>
                <a:spcPct val="100000"/>
              </a:lnSpc>
            </a:pPr>
            <a:r>
              <a:rPr sz="1100" b="1">
                <a:solidFill>
                  <a:srgbClr val="E2571B"/>
                </a:solidFill>
                <a:latin typeface="Noto Sans KR"/>
                <a:ea typeface="Noto Sans KR"/>
                <a:cs typeface="Noto Sans KR"/>
              </a:rPr>
              <a:t>VALUE INFLECTION  ·  24개월 목표</a:t>
            </a:r>
          </a:p>
        </p:txBody>
      </p:sp>
      <p:sp>
        <p:nvSpPr>
          <p:cNvPr id="14" name="TextBox 13"/>
          <p:cNvSpPr txBox="1"/>
          <p:nvPr/>
        </p:nvSpPr>
        <p:spPr>
          <a:xfrm>
            <a:off x="7141464" y="2517495"/>
            <a:ext cx="1990191" cy="219456"/>
          </a:xfrm>
          <a:prstGeom prst="rect">
            <a:avLst/>
          </a:prstGeom>
          <a:noFill/>
        </p:spPr>
        <p:txBody>
          <a:bodyPr wrap="square" lIns="0" rIns="0" tIns="0" bIns="0" anchor="t">
            <a:spAutoFit/>
          </a:bodyPr>
          <a:lstStyle/>
          <a:p>
            <a:pPr algn="l">
              <a:lnSpc>
                <a:spcPct val="100000"/>
              </a:lnSpc>
            </a:pPr>
            <a:r>
              <a:rPr sz="1150" b="1">
                <a:solidFill>
                  <a:srgbClr val="F3F3F1"/>
                </a:solidFill>
                <a:latin typeface="Noto Sans KR"/>
                <a:ea typeface="Noto Sans KR"/>
                <a:cs typeface="Noto Sans KR"/>
              </a:rPr>
              <a:t>실제 주방 시제품</a:t>
            </a:r>
          </a:p>
        </p:txBody>
      </p:sp>
      <p:sp>
        <p:nvSpPr>
          <p:cNvPr id="15" name="TextBox 14"/>
          <p:cNvSpPr txBox="1"/>
          <p:nvPr/>
        </p:nvSpPr>
        <p:spPr>
          <a:xfrm>
            <a:off x="7141464" y="2732379"/>
            <a:ext cx="1990191" cy="219456"/>
          </a:xfrm>
          <a:prstGeom prst="rect">
            <a:avLst/>
          </a:prstGeom>
          <a:noFill/>
        </p:spPr>
        <p:txBody>
          <a:bodyPr wrap="square" lIns="0" rIns="0" tIns="0" bIns="0" anchor="t">
            <a:spAutoFit/>
          </a:bodyPr>
          <a:lstStyle/>
          <a:p>
            <a:pPr algn="l">
              <a:lnSpc>
                <a:spcPct val="100000"/>
              </a:lnSpc>
            </a:pPr>
            <a:r>
              <a:rPr sz="1150" b="1">
                <a:solidFill>
                  <a:srgbClr val="F3F3F1"/>
                </a:solidFill>
                <a:latin typeface="Noto Sans KR"/>
                <a:ea typeface="Noto Sans KR"/>
                <a:cs typeface="Noto Sans KR"/>
              </a:rPr>
              <a:t>실제 주방 조작</a:t>
            </a:r>
          </a:p>
        </p:txBody>
      </p:sp>
      <p:sp>
        <p:nvSpPr>
          <p:cNvPr id="16" name="TextBox 15"/>
          <p:cNvSpPr txBox="1"/>
          <p:nvPr/>
        </p:nvSpPr>
        <p:spPr>
          <a:xfrm>
            <a:off x="7141464" y="2947263"/>
            <a:ext cx="1990191" cy="219456"/>
          </a:xfrm>
          <a:prstGeom prst="rect">
            <a:avLst/>
          </a:prstGeom>
          <a:noFill/>
        </p:spPr>
        <p:txBody>
          <a:bodyPr wrap="square" lIns="0" rIns="0" tIns="0" bIns="0" anchor="t">
            <a:spAutoFit/>
          </a:bodyPr>
          <a:lstStyle/>
          <a:p>
            <a:pPr algn="l">
              <a:lnSpc>
                <a:spcPct val="100000"/>
              </a:lnSpc>
            </a:pPr>
            <a:r>
              <a:rPr sz="1150" b="1">
                <a:solidFill>
                  <a:srgbClr val="F3F3F1"/>
                </a:solidFill>
                <a:latin typeface="Noto Sans KR"/>
                <a:ea typeface="Noto Sans KR"/>
                <a:cs typeface="Noto Sans KR"/>
              </a:rPr>
              <a:t>유료 PoC</a:t>
            </a:r>
          </a:p>
        </p:txBody>
      </p:sp>
      <p:sp>
        <p:nvSpPr>
          <p:cNvPr id="17" name="TextBox 16"/>
          <p:cNvSpPr txBox="1"/>
          <p:nvPr/>
        </p:nvSpPr>
        <p:spPr>
          <a:xfrm>
            <a:off x="7141464" y="3162147"/>
            <a:ext cx="1990191" cy="219456"/>
          </a:xfrm>
          <a:prstGeom prst="rect">
            <a:avLst/>
          </a:prstGeom>
          <a:noFill/>
        </p:spPr>
        <p:txBody>
          <a:bodyPr wrap="square" lIns="0" rIns="0" tIns="0" bIns="0" anchor="t">
            <a:spAutoFit/>
          </a:bodyPr>
          <a:lstStyle/>
          <a:p>
            <a:pPr algn="l">
              <a:lnSpc>
                <a:spcPct val="100000"/>
              </a:lnSpc>
            </a:pPr>
            <a:r>
              <a:rPr sz="1150" b="1">
                <a:solidFill>
                  <a:srgbClr val="F3F3F1"/>
                </a:solidFill>
                <a:latin typeface="Noto Sans KR"/>
                <a:ea typeface="Noto Sans KR"/>
                <a:cs typeface="Noto Sans KR"/>
              </a:rPr>
              <a:t>재구매 고객</a:t>
            </a:r>
          </a:p>
        </p:txBody>
      </p:sp>
      <p:sp>
        <p:nvSpPr>
          <p:cNvPr id="18" name="TextBox 17"/>
          <p:cNvSpPr txBox="1"/>
          <p:nvPr/>
        </p:nvSpPr>
        <p:spPr>
          <a:xfrm>
            <a:off x="9223095" y="2517495"/>
            <a:ext cx="1990191" cy="219456"/>
          </a:xfrm>
          <a:prstGeom prst="rect">
            <a:avLst/>
          </a:prstGeom>
          <a:noFill/>
        </p:spPr>
        <p:txBody>
          <a:bodyPr wrap="square" lIns="0" rIns="0" tIns="0" bIns="0" anchor="t">
            <a:spAutoFit/>
          </a:bodyPr>
          <a:lstStyle/>
          <a:p>
            <a:pPr algn="l">
              <a:lnSpc>
                <a:spcPct val="100000"/>
              </a:lnSpc>
            </a:pPr>
            <a:r>
              <a:rPr sz="1150" b="1">
                <a:solidFill>
                  <a:srgbClr val="F3F3F1"/>
                </a:solidFill>
                <a:latin typeface="Noto Sans KR"/>
                <a:ea typeface="Noto Sans KR"/>
                <a:cs typeface="Noto Sans KR"/>
              </a:rPr>
              <a:t>재사용 Kitchen Skill</a:t>
            </a:r>
          </a:p>
        </p:txBody>
      </p:sp>
      <p:sp>
        <p:nvSpPr>
          <p:cNvPr id="19" name="TextBox 18"/>
          <p:cNvSpPr txBox="1"/>
          <p:nvPr/>
        </p:nvSpPr>
        <p:spPr>
          <a:xfrm>
            <a:off x="9223095" y="2732379"/>
            <a:ext cx="1990191" cy="219456"/>
          </a:xfrm>
          <a:prstGeom prst="rect">
            <a:avLst/>
          </a:prstGeom>
          <a:noFill/>
        </p:spPr>
        <p:txBody>
          <a:bodyPr wrap="square" lIns="0" rIns="0" tIns="0" bIns="0" anchor="t">
            <a:spAutoFit/>
          </a:bodyPr>
          <a:lstStyle/>
          <a:p>
            <a:pPr algn="l">
              <a:lnSpc>
                <a:spcPct val="100000"/>
              </a:lnSpc>
            </a:pPr>
            <a:r>
              <a:rPr sz="1150" b="1">
                <a:solidFill>
                  <a:srgbClr val="F3F3F1"/>
                </a:solidFill>
                <a:latin typeface="Noto Sans KR"/>
                <a:ea typeface="Noto Sans KR"/>
                <a:cs typeface="Noto Sans KR"/>
              </a:rPr>
              <a:t>로봇 2종 검증</a:t>
            </a:r>
          </a:p>
        </p:txBody>
      </p:sp>
      <p:sp>
        <p:nvSpPr>
          <p:cNvPr id="20" name="TextBox 19"/>
          <p:cNvSpPr txBox="1"/>
          <p:nvPr/>
        </p:nvSpPr>
        <p:spPr>
          <a:xfrm>
            <a:off x="9223095" y="2947263"/>
            <a:ext cx="1990191" cy="219456"/>
          </a:xfrm>
          <a:prstGeom prst="rect">
            <a:avLst/>
          </a:prstGeom>
          <a:noFill/>
        </p:spPr>
        <p:txBody>
          <a:bodyPr wrap="square" lIns="0" rIns="0" tIns="0" bIns="0" anchor="t">
            <a:spAutoFit/>
          </a:bodyPr>
          <a:lstStyle/>
          <a:p>
            <a:pPr algn="l">
              <a:lnSpc>
                <a:spcPct val="100000"/>
              </a:lnSpc>
            </a:pPr>
            <a:r>
              <a:rPr sz="1150" b="1">
                <a:solidFill>
                  <a:srgbClr val="F3F3F1"/>
                </a:solidFill>
                <a:latin typeface="Noto Sans KR"/>
                <a:ea typeface="Noto Sans KR"/>
                <a:cs typeface="Noto Sans KR"/>
              </a:rPr>
              <a:t>양산 가능 설계</a:t>
            </a:r>
          </a:p>
        </p:txBody>
      </p:sp>
      <p:sp>
        <p:nvSpPr>
          <p:cNvPr id="21" name="TextBox 20"/>
          <p:cNvSpPr txBox="1"/>
          <p:nvPr/>
        </p:nvSpPr>
        <p:spPr>
          <a:xfrm>
            <a:off x="9223095" y="3162147"/>
            <a:ext cx="1990191" cy="219456"/>
          </a:xfrm>
          <a:prstGeom prst="rect">
            <a:avLst/>
          </a:prstGeom>
          <a:noFill/>
        </p:spPr>
        <p:txBody>
          <a:bodyPr wrap="square" lIns="0" rIns="0" tIns="0" bIns="0" anchor="t">
            <a:spAutoFit/>
          </a:bodyPr>
          <a:lstStyle/>
          <a:p>
            <a:pPr algn="l">
              <a:lnSpc>
                <a:spcPct val="100000"/>
              </a:lnSpc>
            </a:pPr>
            <a:r>
              <a:rPr sz="1150" b="1">
                <a:solidFill>
                  <a:srgbClr val="F3F3F1"/>
                </a:solidFill>
                <a:latin typeface="Noto Sans KR"/>
                <a:ea typeface="Noto Sans KR"/>
                <a:cs typeface="Noto Sans KR"/>
              </a:rPr>
              <a:t>Series A 준비</a:t>
            </a:r>
          </a:p>
        </p:txBody>
      </p:sp>
      <p:cxnSp>
        <p:nvCxnSpPr>
          <p:cNvPr id="22" name="Connector 21"/>
          <p:cNvCxnSpPr/>
          <p:nvPr/>
        </p:nvCxnSpPr>
        <p:spPr>
          <a:xfrm>
            <a:off x="2971800" y="2746095"/>
            <a:ext cx="292608" cy="0"/>
          </a:xfrm>
          <a:prstGeom prst="line">
            <a:avLst/>
          </a:prstGeom>
          <a:ln w="19050">
            <a:solidFill>
              <a:srgbClr val="15171A"/>
            </a:solidFill>
            <a:tailEnd type="triangle" w="med" len="med"/>
          </a:ln>
        </p:spPr>
      </p:cxnSp>
      <p:cxnSp>
        <p:nvCxnSpPr>
          <p:cNvPr id="23" name="Connector 22"/>
          <p:cNvCxnSpPr/>
          <p:nvPr/>
        </p:nvCxnSpPr>
        <p:spPr>
          <a:xfrm>
            <a:off x="6601968" y="2746095"/>
            <a:ext cx="292608" cy="0"/>
          </a:xfrm>
          <a:prstGeom prst="line">
            <a:avLst/>
          </a:prstGeom>
          <a:ln w="19050">
            <a:solidFill>
              <a:srgbClr val="15171A"/>
            </a:solidFill>
            <a:tailEnd type="triangle" w="med" len="med"/>
          </a:ln>
        </p:spPr>
      </p:cxnSp>
      <p:sp>
        <p:nvSpPr>
          <p:cNvPr id="24" name="TextBox 23"/>
          <p:cNvSpPr txBox="1"/>
          <p:nvPr/>
        </p:nvSpPr>
        <p:spPr>
          <a:xfrm>
            <a:off x="685800" y="3468471"/>
            <a:ext cx="10820095" cy="237744"/>
          </a:xfrm>
          <a:prstGeom prst="rect">
            <a:avLst/>
          </a:prstGeom>
          <a:noFill/>
        </p:spPr>
        <p:txBody>
          <a:bodyPr wrap="square" lIns="0" rIns="0" tIns="0" bIns="0" anchor="t">
            <a:spAutoFit/>
          </a:bodyPr>
          <a:lstStyle/>
          <a:p>
            <a:pPr algn="l">
              <a:lnSpc>
                <a:spcPct val="100000"/>
              </a:lnSpc>
            </a:pPr>
            <a:r>
              <a:rPr sz="1150" b="1">
                <a:solidFill>
                  <a:srgbClr val="E2571B"/>
                </a:solidFill>
                <a:latin typeface="Noto Sans KR"/>
                <a:ea typeface="Noto Sans KR"/>
                <a:cs typeface="Noto Sans KR"/>
              </a:rPr>
              <a:t>왜 지금 Seed인가   </a:t>
            </a:r>
            <a:r>
              <a:rPr sz="1150" b="0">
                <a:solidFill>
                  <a:srgbClr val="4A4F57"/>
                </a:solidFill>
                <a:latin typeface="Noto Sans KR"/>
                <a:ea typeface="Noto Sans KR"/>
                <a:cs typeface="Noto Sans KR"/>
              </a:rPr>
              <a:t>아직 위험한 단계이지만, 세 가지 가설이 검증되면 가치 상승 폭이 가장 큰 시점</a:t>
            </a:r>
          </a:p>
        </p:txBody>
      </p:sp>
      <p:sp>
        <p:nvSpPr>
          <p:cNvPr id="25" name="TextBox 24"/>
          <p:cNvSpPr txBox="1"/>
          <p:nvPr/>
        </p:nvSpPr>
        <p:spPr>
          <a:xfrm>
            <a:off x="685800" y="3779367"/>
            <a:ext cx="457200" cy="502920"/>
          </a:xfrm>
          <a:prstGeom prst="rect">
            <a:avLst/>
          </a:prstGeom>
          <a:noFill/>
        </p:spPr>
        <p:txBody>
          <a:bodyPr wrap="square" lIns="0" rIns="0" tIns="0" bIns="0" anchor="t">
            <a:spAutoFit/>
          </a:bodyPr>
          <a:lstStyle/>
          <a:p>
            <a:pPr algn="l">
              <a:lnSpc>
                <a:spcPct val="90000"/>
              </a:lnSpc>
            </a:pPr>
            <a:r>
              <a:rPr sz="3000" b="1">
                <a:solidFill>
                  <a:srgbClr val="E2571B"/>
                </a:solidFill>
                <a:latin typeface="Noto Sans KR"/>
                <a:ea typeface="Noto Sans KR"/>
                <a:cs typeface="Noto Sans KR"/>
              </a:rPr>
              <a:t>1</a:t>
            </a:r>
          </a:p>
        </p:txBody>
      </p:sp>
      <p:sp>
        <p:nvSpPr>
          <p:cNvPr id="26" name="TextBox 25"/>
          <p:cNvSpPr txBox="1"/>
          <p:nvPr/>
        </p:nvSpPr>
        <p:spPr>
          <a:xfrm>
            <a:off x="1143000" y="3852519"/>
            <a:ext cx="2942234" cy="384048"/>
          </a:xfrm>
          <a:prstGeom prst="rect">
            <a:avLst/>
          </a:prstGeom>
          <a:noFill/>
        </p:spPr>
        <p:txBody>
          <a:bodyPr wrap="square" lIns="0" rIns="0" tIns="0" bIns="0" anchor="t">
            <a:spAutoFit/>
          </a:bodyPr>
          <a:lstStyle/>
          <a:p>
            <a:pPr algn="l">
              <a:lnSpc>
                <a:spcPct val="100000"/>
              </a:lnSpc>
            </a:pPr>
            <a:r>
              <a:rPr sz="1800" b="1">
                <a:solidFill>
                  <a:srgbClr val="15171A"/>
                </a:solidFill>
                <a:latin typeface="Noto Sans KR"/>
                <a:ea typeface="Noto Sans KR"/>
                <a:cs typeface="Noto Sans KR"/>
              </a:rPr>
              <a:t>실제 주방에서 일한다</a:t>
            </a:r>
          </a:p>
        </p:txBody>
      </p:sp>
      <p:cxnSp>
        <p:nvCxnSpPr>
          <p:cNvPr id="27" name="Connector 26"/>
          <p:cNvCxnSpPr/>
          <p:nvPr/>
        </p:nvCxnSpPr>
        <p:spPr>
          <a:xfrm>
            <a:off x="685800" y="4346295"/>
            <a:ext cx="3399434" cy="0"/>
          </a:xfrm>
          <a:prstGeom prst="line">
            <a:avLst/>
          </a:prstGeom>
          <a:ln w="12700">
            <a:solidFill>
              <a:srgbClr val="15171A"/>
            </a:solidFill>
          </a:ln>
        </p:spPr>
      </p:cxnSp>
      <p:sp>
        <p:nvSpPr>
          <p:cNvPr id="28" name="TextBox 27"/>
          <p:cNvSpPr txBox="1"/>
          <p:nvPr/>
        </p:nvSpPr>
        <p:spPr>
          <a:xfrm>
            <a:off x="685800" y="4437735"/>
            <a:ext cx="457200" cy="219456"/>
          </a:xfrm>
          <a:prstGeom prst="rect">
            <a:avLst/>
          </a:prstGeom>
          <a:noFill/>
        </p:spPr>
        <p:txBody>
          <a:bodyPr wrap="square" lIns="0" rIns="0" tIns="0" bIns="0" anchor="t">
            <a:spAutoFit/>
          </a:bodyPr>
          <a:lstStyle/>
          <a:p>
            <a:pPr algn="l">
              <a:lnSpc>
                <a:spcPct val="100000"/>
              </a:lnSpc>
            </a:pPr>
            <a:r>
              <a:rPr sz="1050" b="0">
                <a:solidFill>
                  <a:srgbClr val="8C9198"/>
                </a:solidFill>
                <a:latin typeface="Noto Sans KR"/>
                <a:ea typeface="Noto Sans KR"/>
                <a:cs typeface="Noto Sans KR"/>
              </a:rPr>
              <a:t>검증</a:t>
            </a:r>
          </a:p>
        </p:txBody>
      </p:sp>
      <p:sp>
        <p:nvSpPr>
          <p:cNvPr id="29" name="TextBox 28"/>
          <p:cNvSpPr txBox="1"/>
          <p:nvPr/>
        </p:nvSpPr>
        <p:spPr>
          <a:xfrm>
            <a:off x="1161288" y="4428591"/>
            <a:ext cx="2923946" cy="229768"/>
          </a:xfrm>
          <a:prstGeom prst="rect">
            <a:avLst/>
          </a:prstGeom>
          <a:noFill/>
        </p:spPr>
        <p:txBody>
          <a:bodyPr wrap="square" lIns="0" rIns="0" tIns="0" bIns="0" anchor="t">
            <a:spAutoFit/>
          </a:bodyPr>
          <a:lstStyle/>
          <a:p>
            <a:pPr algn="l">
              <a:lnSpc>
                <a:spcPct val="100000"/>
              </a:lnSpc>
            </a:pPr>
            <a:r>
              <a:rPr sz="1150" b="0">
                <a:solidFill>
                  <a:srgbClr val="15171A"/>
                </a:solidFill>
                <a:latin typeface="Noto Sans KR"/>
                <a:ea typeface="Noto Sans KR"/>
                <a:cs typeface="Noto Sans KR"/>
              </a:rPr>
              <a:t>검증 대상 6종 작업 실제 주방 반복시험</a:t>
            </a:r>
          </a:p>
        </p:txBody>
      </p:sp>
      <p:sp>
        <p:nvSpPr>
          <p:cNvPr id="30" name="TextBox 29"/>
          <p:cNvSpPr txBox="1"/>
          <p:nvPr/>
        </p:nvSpPr>
        <p:spPr>
          <a:xfrm>
            <a:off x="685800" y="4748631"/>
            <a:ext cx="457200" cy="219456"/>
          </a:xfrm>
          <a:prstGeom prst="rect">
            <a:avLst/>
          </a:prstGeom>
          <a:noFill/>
        </p:spPr>
        <p:txBody>
          <a:bodyPr wrap="square" lIns="0" rIns="0" tIns="0" bIns="0" anchor="t">
            <a:spAutoFit/>
          </a:bodyPr>
          <a:lstStyle/>
          <a:p>
            <a:pPr algn="l">
              <a:lnSpc>
                <a:spcPct val="100000"/>
              </a:lnSpc>
            </a:pPr>
            <a:r>
              <a:rPr sz="1050" b="0">
                <a:solidFill>
                  <a:srgbClr val="8C9198"/>
                </a:solidFill>
                <a:latin typeface="Noto Sans KR"/>
                <a:ea typeface="Noto Sans KR"/>
                <a:cs typeface="Noto Sans KR"/>
              </a:rPr>
              <a:t>목표</a:t>
            </a:r>
          </a:p>
        </p:txBody>
      </p:sp>
      <p:sp>
        <p:nvSpPr>
          <p:cNvPr id="31" name="TextBox 30"/>
          <p:cNvSpPr txBox="1"/>
          <p:nvPr/>
        </p:nvSpPr>
        <p:spPr>
          <a:xfrm>
            <a:off x="1161288" y="4739487"/>
            <a:ext cx="2923946" cy="229768"/>
          </a:xfrm>
          <a:prstGeom prst="rect">
            <a:avLst/>
          </a:prstGeom>
          <a:noFill/>
        </p:spPr>
        <p:txBody>
          <a:bodyPr wrap="square" lIns="0" rIns="0" tIns="0" bIns="0" anchor="t">
            <a:spAutoFit/>
          </a:bodyPr>
          <a:lstStyle/>
          <a:p>
            <a:pPr algn="l">
              <a:lnSpc>
                <a:spcPct val="100000"/>
              </a:lnSpc>
            </a:pPr>
            <a:r>
              <a:rPr sz="1150" b="0">
                <a:solidFill>
                  <a:srgbClr val="15171A"/>
                </a:solidFill>
                <a:latin typeface="Noto Sans KR"/>
                <a:ea typeface="Noto Sans KR"/>
                <a:cs typeface="Noto Sans KR"/>
              </a:rPr>
              <a:t>승인 작업 완료율 95%+ · 내구 30만 회</a:t>
            </a:r>
          </a:p>
        </p:txBody>
      </p:sp>
      <p:sp>
        <p:nvSpPr>
          <p:cNvPr id="32" name="TextBox 31"/>
          <p:cNvSpPr txBox="1"/>
          <p:nvPr/>
        </p:nvSpPr>
        <p:spPr>
          <a:xfrm>
            <a:off x="685800" y="5059527"/>
            <a:ext cx="457200" cy="219456"/>
          </a:xfrm>
          <a:prstGeom prst="rect">
            <a:avLst/>
          </a:prstGeom>
          <a:noFill/>
        </p:spPr>
        <p:txBody>
          <a:bodyPr wrap="square" lIns="0" rIns="0" tIns="0" bIns="0" anchor="t">
            <a:spAutoFit/>
          </a:bodyPr>
          <a:lstStyle/>
          <a:p>
            <a:pPr algn="l">
              <a:lnSpc>
                <a:spcPct val="100000"/>
              </a:lnSpc>
            </a:pPr>
            <a:r>
              <a:rPr sz="1050" b="0">
                <a:solidFill>
                  <a:srgbClr val="8C9198"/>
                </a:solidFill>
                <a:latin typeface="Noto Sans KR"/>
                <a:ea typeface="Noto Sans KR"/>
                <a:cs typeface="Noto Sans KR"/>
              </a:rPr>
              <a:t>점검</a:t>
            </a:r>
          </a:p>
        </p:txBody>
      </p:sp>
      <p:sp>
        <p:nvSpPr>
          <p:cNvPr id="33" name="TextBox 32"/>
          <p:cNvSpPr txBox="1"/>
          <p:nvPr/>
        </p:nvSpPr>
        <p:spPr>
          <a:xfrm>
            <a:off x="1161288" y="5050383"/>
            <a:ext cx="2923946" cy="229768"/>
          </a:xfrm>
          <a:prstGeom prst="rect">
            <a:avLst/>
          </a:prstGeom>
          <a:noFill/>
        </p:spPr>
        <p:txBody>
          <a:bodyPr wrap="square" lIns="0" rIns="0" tIns="0" bIns="0" anchor="t">
            <a:spAutoFit/>
          </a:bodyPr>
          <a:lstStyle/>
          <a:p>
            <a:pPr algn="l">
              <a:lnSpc>
                <a:spcPct val="100000"/>
              </a:lnSpc>
            </a:pPr>
            <a:r>
              <a:rPr sz="1150" b="0">
                <a:solidFill>
                  <a:srgbClr val="15171A"/>
                </a:solidFill>
                <a:latin typeface="Noto Sans KR"/>
                <a:ea typeface="Noto Sans KR"/>
                <a:cs typeface="Noto Sans KR"/>
              </a:rPr>
              <a:t>M6 벤치 → M12 현장</a:t>
            </a:r>
          </a:p>
        </p:txBody>
      </p:sp>
      <p:sp>
        <p:nvSpPr>
          <p:cNvPr id="34" name="TextBox 33"/>
          <p:cNvSpPr txBox="1"/>
          <p:nvPr/>
        </p:nvSpPr>
        <p:spPr>
          <a:xfrm>
            <a:off x="4396130" y="3779367"/>
            <a:ext cx="457200" cy="502920"/>
          </a:xfrm>
          <a:prstGeom prst="rect">
            <a:avLst/>
          </a:prstGeom>
          <a:noFill/>
        </p:spPr>
        <p:txBody>
          <a:bodyPr wrap="square" lIns="0" rIns="0" tIns="0" bIns="0" anchor="t">
            <a:spAutoFit/>
          </a:bodyPr>
          <a:lstStyle/>
          <a:p>
            <a:pPr algn="l">
              <a:lnSpc>
                <a:spcPct val="90000"/>
              </a:lnSpc>
            </a:pPr>
            <a:r>
              <a:rPr sz="3000" b="1">
                <a:solidFill>
                  <a:srgbClr val="E2571B"/>
                </a:solidFill>
                <a:latin typeface="Noto Sans KR"/>
                <a:ea typeface="Noto Sans KR"/>
                <a:cs typeface="Noto Sans KR"/>
              </a:rPr>
              <a:t>2</a:t>
            </a:r>
          </a:p>
        </p:txBody>
      </p:sp>
      <p:sp>
        <p:nvSpPr>
          <p:cNvPr id="35" name="TextBox 34"/>
          <p:cNvSpPr txBox="1"/>
          <p:nvPr/>
        </p:nvSpPr>
        <p:spPr>
          <a:xfrm>
            <a:off x="4853330" y="3852519"/>
            <a:ext cx="2942234" cy="384048"/>
          </a:xfrm>
          <a:prstGeom prst="rect">
            <a:avLst/>
          </a:prstGeom>
          <a:noFill/>
        </p:spPr>
        <p:txBody>
          <a:bodyPr wrap="square" lIns="0" rIns="0" tIns="0" bIns="0" anchor="t">
            <a:spAutoFit/>
          </a:bodyPr>
          <a:lstStyle/>
          <a:p>
            <a:pPr algn="l">
              <a:lnSpc>
                <a:spcPct val="100000"/>
              </a:lnSpc>
            </a:pPr>
            <a:r>
              <a:rPr sz="1800" b="1">
                <a:solidFill>
                  <a:srgbClr val="15171A"/>
                </a:solidFill>
                <a:latin typeface="Noto Sans KR"/>
                <a:ea typeface="Noto Sans KR"/>
                <a:cs typeface="Noto Sans KR"/>
              </a:rPr>
              <a:t>고객이 돈을 낸다</a:t>
            </a:r>
          </a:p>
        </p:txBody>
      </p:sp>
      <p:cxnSp>
        <p:nvCxnSpPr>
          <p:cNvPr id="36" name="Connector 35"/>
          <p:cNvCxnSpPr/>
          <p:nvPr/>
        </p:nvCxnSpPr>
        <p:spPr>
          <a:xfrm>
            <a:off x="4396130" y="4346295"/>
            <a:ext cx="3399434" cy="0"/>
          </a:xfrm>
          <a:prstGeom prst="line">
            <a:avLst/>
          </a:prstGeom>
          <a:ln w="12700">
            <a:solidFill>
              <a:srgbClr val="15171A"/>
            </a:solidFill>
          </a:ln>
        </p:spPr>
      </p:cxnSp>
      <p:sp>
        <p:nvSpPr>
          <p:cNvPr id="37" name="TextBox 36"/>
          <p:cNvSpPr txBox="1"/>
          <p:nvPr/>
        </p:nvSpPr>
        <p:spPr>
          <a:xfrm>
            <a:off x="4396130" y="4437735"/>
            <a:ext cx="457200" cy="219456"/>
          </a:xfrm>
          <a:prstGeom prst="rect">
            <a:avLst/>
          </a:prstGeom>
          <a:noFill/>
        </p:spPr>
        <p:txBody>
          <a:bodyPr wrap="square" lIns="0" rIns="0" tIns="0" bIns="0" anchor="t">
            <a:spAutoFit/>
          </a:bodyPr>
          <a:lstStyle/>
          <a:p>
            <a:pPr algn="l">
              <a:lnSpc>
                <a:spcPct val="100000"/>
              </a:lnSpc>
            </a:pPr>
            <a:r>
              <a:rPr sz="1050" b="0">
                <a:solidFill>
                  <a:srgbClr val="8C9198"/>
                </a:solidFill>
                <a:latin typeface="Noto Sans KR"/>
                <a:ea typeface="Noto Sans KR"/>
                <a:cs typeface="Noto Sans KR"/>
              </a:rPr>
              <a:t>검증</a:t>
            </a:r>
          </a:p>
        </p:txBody>
      </p:sp>
      <p:sp>
        <p:nvSpPr>
          <p:cNvPr id="38" name="TextBox 37"/>
          <p:cNvSpPr txBox="1"/>
          <p:nvPr/>
        </p:nvSpPr>
        <p:spPr>
          <a:xfrm>
            <a:off x="4871618" y="4428591"/>
            <a:ext cx="2923946" cy="229768"/>
          </a:xfrm>
          <a:prstGeom prst="rect">
            <a:avLst/>
          </a:prstGeom>
          <a:noFill/>
        </p:spPr>
        <p:txBody>
          <a:bodyPr wrap="square" lIns="0" rIns="0" tIns="0" bIns="0" anchor="t">
            <a:spAutoFit/>
          </a:bodyPr>
          <a:lstStyle/>
          <a:p>
            <a:pPr algn="l">
              <a:lnSpc>
                <a:spcPct val="100000"/>
              </a:lnSpc>
            </a:pPr>
            <a:r>
              <a:rPr sz="1150" b="0">
                <a:solidFill>
                  <a:srgbClr val="15171A"/>
                </a:solidFill>
                <a:latin typeface="Noto Sans KR"/>
                <a:ea typeface="Noto Sans KR"/>
                <a:cs typeface="Noto Sans KR"/>
              </a:rPr>
              <a:t>고객 기존 수치 대비 KPI 측정</a:t>
            </a:r>
          </a:p>
        </p:txBody>
      </p:sp>
      <p:sp>
        <p:nvSpPr>
          <p:cNvPr id="39" name="TextBox 38"/>
          <p:cNvSpPr txBox="1"/>
          <p:nvPr/>
        </p:nvSpPr>
        <p:spPr>
          <a:xfrm>
            <a:off x="4396130" y="4748631"/>
            <a:ext cx="457200" cy="219456"/>
          </a:xfrm>
          <a:prstGeom prst="rect">
            <a:avLst/>
          </a:prstGeom>
          <a:noFill/>
        </p:spPr>
        <p:txBody>
          <a:bodyPr wrap="square" lIns="0" rIns="0" tIns="0" bIns="0" anchor="t">
            <a:spAutoFit/>
          </a:bodyPr>
          <a:lstStyle/>
          <a:p>
            <a:pPr algn="l">
              <a:lnSpc>
                <a:spcPct val="100000"/>
              </a:lnSpc>
            </a:pPr>
            <a:r>
              <a:rPr sz="1050" b="0">
                <a:solidFill>
                  <a:srgbClr val="8C9198"/>
                </a:solidFill>
                <a:latin typeface="Noto Sans KR"/>
                <a:ea typeface="Noto Sans KR"/>
                <a:cs typeface="Noto Sans KR"/>
              </a:rPr>
              <a:t>목표</a:t>
            </a:r>
          </a:p>
        </p:txBody>
      </p:sp>
      <p:sp>
        <p:nvSpPr>
          <p:cNvPr id="40" name="TextBox 39"/>
          <p:cNvSpPr txBox="1"/>
          <p:nvPr/>
        </p:nvSpPr>
        <p:spPr>
          <a:xfrm>
            <a:off x="4871618" y="4739487"/>
            <a:ext cx="2923946" cy="229768"/>
          </a:xfrm>
          <a:prstGeom prst="rect">
            <a:avLst/>
          </a:prstGeom>
          <a:noFill/>
        </p:spPr>
        <p:txBody>
          <a:bodyPr wrap="square" lIns="0" rIns="0" tIns="0" bIns="0" anchor="t">
            <a:spAutoFit/>
          </a:bodyPr>
          <a:lstStyle/>
          <a:p>
            <a:pPr algn="l">
              <a:lnSpc>
                <a:spcPct val="100000"/>
              </a:lnSpc>
            </a:pPr>
            <a:r>
              <a:rPr sz="1150" b="0">
                <a:solidFill>
                  <a:srgbClr val="15171A"/>
                </a:solidFill>
                <a:latin typeface="Noto Sans KR"/>
                <a:ea typeface="Noto Sans KR"/>
                <a:cs typeface="Noto Sans KR"/>
              </a:rPr>
              <a:t>유료 PoC 5건 · 재구매 2곳 · 공동개발 고객 3곳</a:t>
            </a:r>
          </a:p>
        </p:txBody>
      </p:sp>
      <p:sp>
        <p:nvSpPr>
          <p:cNvPr id="41" name="TextBox 40"/>
          <p:cNvSpPr txBox="1"/>
          <p:nvPr/>
        </p:nvSpPr>
        <p:spPr>
          <a:xfrm>
            <a:off x="4396130" y="5059527"/>
            <a:ext cx="457200" cy="219456"/>
          </a:xfrm>
          <a:prstGeom prst="rect">
            <a:avLst/>
          </a:prstGeom>
          <a:noFill/>
        </p:spPr>
        <p:txBody>
          <a:bodyPr wrap="square" lIns="0" rIns="0" tIns="0" bIns="0" anchor="t">
            <a:spAutoFit/>
          </a:bodyPr>
          <a:lstStyle/>
          <a:p>
            <a:pPr algn="l">
              <a:lnSpc>
                <a:spcPct val="100000"/>
              </a:lnSpc>
            </a:pPr>
            <a:r>
              <a:rPr sz="1050" b="0">
                <a:solidFill>
                  <a:srgbClr val="8C9198"/>
                </a:solidFill>
                <a:latin typeface="Noto Sans KR"/>
                <a:ea typeface="Noto Sans KR"/>
                <a:cs typeface="Noto Sans KR"/>
              </a:rPr>
              <a:t>점검</a:t>
            </a:r>
          </a:p>
        </p:txBody>
      </p:sp>
      <p:sp>
        <p:nvSpPr>
          <p:cNvPr id="42" name="TextBox 41"/>
          <p:cNvSpPr txBox="1"/>
          <p:nvPr/>
        </p:nvSpPr>
        <p:spPr>
          <a:xfrm>
            <a:off x="4871618" y="5050383"/>
            <a:ext cx="2923946" cy="229768"/>
          </a:xfrm>
          <a:prstGeom prst="rect">
            <a:avLst/>
          </a:prstGeom>
          <a:noFill/>
        </p:spPr>
        <p:txBody>
          <a:bodyPr wrap="square" lIns="0" rIns="0" tIns="0" bIns="0" anchor="t">
            <a:spAutoFit/>
          </a:bodyPr>
          <a:lstStyle/>
          <a:p>
            <a:pPr algn="l">
              <a:lnSpc>
                <a:spcPct val="100000"/>
              </a:lnSpc>
            </a:pPr>
            <a:r>
              <a:rPr sz="1150" b="0">
                <a:solidFill>
                  <a:srgbClr val="15171A"/>
                </a:solidFill>
                <a:latin typeface="Noto Sans KR"/>
                <a:ea typeface="Noto Sans KR"/>
                <a:cs typeface="Noto Sans KR"/>
              </a:rPr>
              <a:t>M12 첫 유료 PoC → M24 재구매</a:t>
            </a:r>
          </a:p>
        </p:txBody>
      </p:sp>
      <p:sp>
        <p:nvSpPr>
          <p:cNvPr id="43" name="TextBox 42"/>
          <p:cNvSpPr txBox="1"/>
          <p:nvPr/>
        </p:nvSpPr>
        <p:spPr>
          <a:xfrm>
            <a:off x="8106460" y="3779367"/>
            <a:ext cx="457200" cy="502920"/>
          </a:xfrm>
          <a:prstGeom prst="rect">
            <a:avLst/>
          </a:prstGeom>
          <a:noFill/>
        </p:spPr>
        <p:txBody>
          <a:bodyPr wrap="square" lIns="0" rIns="0" tIns="0" bIns="0" anchor="t">
            <a:spAutoFit/>
          </a:bodyPr>
          <a:lstStyle/>
          <a:p>
            <a:pPr algn="l">
              <a:lnSpc>
                <a:spcPct val="90000"/>
              </a:lnSpc>
            </a:pPr>
            <a:r>
              <a:rPr sz="3000" b="1">
                <a:solidFill>
                  <a:srgbClr val="E2571B"/>
                </a:solidFill>
                <a:latin typeface="Noto Sans KR"/>
                <a:ea typeface="Noto Sans KR"/>
                <a:cs typeface="Noto Sans KR"/>
              </a:rPr>
              <a:t>3</a:t>
            </a:r>
          </a:p>
        </p:txBody>
      </p:sp>
      <p:sp>
        <p:nvSpPr>
          <p:cNvPr id="44" name="TextBox 43"/>
          <p:cNvSpPr txBox="1"/>
          <p:nvPr/>
        </p:nvSpPr>
        <p:spPr>
          <a:xfrm>
            <a:off x="8563660" y="3852519"/>
            <a:ext cx="2942234" cy="384048"/>
          </a:xfrm>
          <a:prstGeom prst="rect">
            <a:avLst/>
          </a:prstGeom>
          <a:noFill/>
        </p:spPr>
        <p:txBody>
          <a:bodyPr wrap="square" lIns="0" rIns="0" tIns="0" bIns="0" anchor="t">
            <a:spAutoFit/>
          </a:bodyPr>
          <a:lstStyle/>
          <a:p>
            <a:pPr algn="l">
              <a:lnSpc>
                <a:spcPct val="100000"/>
              </a:lnSpc>
            </a:pPr>
            <a:r>
              <a:rPr sz="1800" b="1">
                <a:solidFill>
                  <a:srgbClr val="15171A"/>
                </a:solidFill>
                <a:latin typeface="Noto Sans KR"/>
                <a:ea typeface="Noto Sans KR"/>
                <a:cs typeface="Noto Sans KR"/>
              </a:rPr>
              <a:t>Skill이 재사용된다</a:t>
            </a:r>
          </a:p>
        </p:txBody>
      </p:sp>
      <p:cxnSp>
        <p:nvCxnSpPr>
          <p:cNvPr id="45" name="Connector 44"/>
          <p:cNvCxnSpPr/>
          <p:nvPr/>
        </p:nvCxnSpPr>
        <p:spPr>
          <a:xfrm>
            <a:off x="8106460" y="4346295"/>
            <a:ext cx="3399435" cy="0"/>
          </a:xfrm>
          <a:prstGeom prst="line">
            <a:avLst/>
          </a:prstGeom>
          <a:ln w="12700">
            <a:solidFill>
              <a:srgbClr val="15171A"/>
            </a:solidFill>
          </a:ln>
        </p:spPr>
      </p:cxnSp>
      <p:sp>
        <p:nvSpPr>
          <p:cNvPr id="46" name="TextBox 45"/>
          <p:cNvSpPr txBox="1"/>
          <p:nvPr/>
        </p:nvSpPr>
        <p:spPr>
          <a:xfrm>
            <a:off x="8106460" y="4437735"/>
            <a:ext cx="457200" cy="219456"/>
          </a:xfrm>
          <a:prstGeom prst="rect">
            <a:avLst/>
          </a:prstGeom>
          <a:noFill/>
        </p:spPr>
        <p:txBody>
          <a:bodyPr wrap="square" lIns="0" rIns="0" tIns="0" bIns="0" anchor="t">
            <a:spAutoFit/>
          </a:bodyPr>
          <a:lstStyle/>
          <a:p>
            <a:pPr algn="l">
              <a:lnSpc>
                <a:spcPct val="100000"/>
              </a:lnSpc>
            </a:pPr>
            <a:r>
              <a:rPr sz="1050" b="0">
                <a:solidFill>
                  <a:srgbClr val="8C9198"/>
                </a:solidFill>
                <a:latin typeface="Noto Sans KR"/>
                <a:ea typeface="Noto Sans KR"/>
                <a:cs typeface="Noto Sans KR"/>
              </a:rPr>
              <a:t>검증</a:t>
            </a:r>
          </a:p>
        </p:txBody>
      </p:sp>
      <p:sp>
        <p:nvSpPr>
          <p:cNvPr id="47" name="TextBox 46"/>
          <p:cNvSpPr txBox="1"/>
          <p:nvPr/>
        </p:nvSpPr>
        <p:spPr>
          <a:xfrm>
            <a:off x="8581948" y="4428591"/>
            <a:ext cx="2923946" cy="229768"/>
          </a:xfrm>
          <a:prstGeom prst="rect">
            <a:avLst/>
          </a:prstGeom>
          <a:noFill/>
        </p:spPr>
        <p:txBody>
          <a:bodyPr wrap="square" lIns="0" rIns="0" tIns="0" bIns="0" anchor="t">
            <a:spAutoFit/>
          </a:bodyPr>
          <a:lstStyle/>
          <a:p>
            <a:pPr algn="l">
              <a:lnSpc>
                <a:spcPct val="100000"/>
              </a:lnSpc>
            </a:pPr>
            <a:r>
              <a:rPr sz="1150" b="0">
                <a:solidFill>
                  <a:srgbClr val="15171A"/>
                </a:solidFill>
                <a:latin typeface="Noto Sans KR"/>
                <a:ea typeface="Noto Sans KR"/>
                <a:cs typeface="Noto Sans KR"/>
              </a:rPr>
              <a:t>다른 메뉴·주방·로봇에 같은 Skill 적용</a:t>
            </a:r>
          </a:p>
        </p:txBody>
      </p:sp>
      <p:sp>
        <p:nvSpPr>
          <p:cNvPr id="48" name="TextBox 47"/>
          <p:cNvSpPr txBox="1"/>
          <p:nvPr/>
        </p:nvSpPr>
        <p:spPr>
          <a:xfrm>
            <a:off x="8106460" y="4748631"/>
            <a:ext cx="457200" cy="219456"/>
          </a:xfrm>
          <a:prstGeom prst="rect">
            <a:avLst/>
          </a:prstGeom>
          <a:noFill/>
        </p:spPr>
        <p:txBody>
          <a:bodyPr wrap="square" lIns="0" rIns="0" tIns="0" bIns="0" anchor="t">
            <a:spAutoFit/>
          </a:bodyPr>
          <a:lstStyle/>
          <a:p>
            <a:pPr algn="l">
              <a:lnSpc>
                <a:spcPct val="100000"/>
              </a:lnSpc>
            </a:pPr>
            <a:r>
              <a:rPr sz="1050" b="0">
                <a:solidFill>
                  <a:srgbClr val="8C9198"/>
                </a:solidFill>
                <a:latin typeface="Noto Sans KR"/>
                <a:ea typeface="Noto Sans KR"/>
                <a:cs typeface="Noto Sans KR"/>
              </a:rPr>
              <a:t>목표</a:t>
            </a:r>
          </a:p>
        </p:txBody>
      </p:sp>
      <p:sp>
        <p:nvSpPr>
          <p:cNvPr id="49" name="TextBox 48"/>
          <p:cNvSpPr txBox="1"/>
          <p:nvPr/>
        </p:nvSpPr>
        <p:spPr>
          <a:xfrm>
            <a:off x="8581948" y="4739487"/>
            <a:ext cx="2923946" cy="229768"/>
          </a:xfrm>
          <a:prstGeom prst="rect">
            <a:avLst/>
          </a:prstGeom>
          <a:noFill/>
        </p:spPr>
        <p:txBody>
          <a:bodyPr wrap="square" lIns="0" rIns="0" tIns="0" bIns="0" anchor="t">
            <a:spAutoFit/>
          </a:bodyPr>
          <a:lstStyle/>
          <a:p>
            <a:pPr algn="l">
              <a:lnSpc>
                <a:spcPct val="100000"/>
              </a:lnSpc>
            </a:pPr>
            <a:r>
              <a:rPr sz="1150" b="0">
                <a:solidFill>
                  <a:srgbClr val="15171A"/>
                </a:solidFill>
                <a:latin typeface="Noto Sans KR"/>
                <a:ea typeface="Noto Sans KR"/>
                <a:cs typeface="Noto Sans KR"/>
              </a:rPr>
              <a:t>로봇 2종 · 상업용/가정용 환경 공통 Skill</a:t>
            </a:r>
          </a:p>
        </p:txBody>
      </p:sp>
      <p:sp>
        <p:nvSpPr>
          <p:cNvPr id="50" name="TextBox 49"/>
          <p:cNvSpPr txBox="1"/>
          <p:nvPr/>
        </p:nvSpPr>
        <p:spPr>
          <a:xfrm>
            <a:off x="8106460" y="5059527"/>
            <a:ext cx="457200" cy="219456"/>
          </a:xfrm>
          <a:prstGeom prst="rect">
            <a:avLst/>
          </a:prstGeom>
          <a:noFill/>
        </p:spPr>
        <p:txBody>
          <a:bodyPr wrap="square" lIns="0" rIns="0" tIns="0" bIns="0" anchor="t">
            <a:spAutoFit/>
          </a:bodyPr>
          <a:lstStyle/>
          <a:p>
            <a:pPr algn="l">
              <a:lnSpc>
                <a:spcPct val="100000"/>
              </a:lnSpc>
            </a:pPr>
            <a:r>
              <a:rPr sz="1050" b="0">
                <a:solidFill>
                  <a:srgbClr val="8C9198"/>
                </a:solidFill>
                <a:latin typeface="Noto Sans KR"/>
                <a:ea typeface="Noto Sans KR"/>
                <a:cs typeface="Noto Sans KR"/>
              </a:rPr>
              <a:t>점검</a:t>
            </a:r>
          </a:p>
        </p:txBody>
      </p:sp>
      <p:sp>
        <p:nvSpPr>
          <p:cNvPr id="51" name="TextBox 50"/>
          <p:cNvSpPr txBox="1"/>
          <p:nvPr/>
        </p:nvSpPr>
        <p:spPr>
          <a:xfrm>
            <a:off x="8581948" y="5050383"/>
            <a:ext cx="2923946" cy="229768"/>
          </a:xfrm>
          <a:prstGeom prst="rect">
            <a:avLst/>
          </a:prstGeom>
          <a:noFill/>
        </p:spPr>
        <p:txBody>
          <a:bodyPr wrap="square" lIns="0" rIns="0" tIns="0" bIns="0" anchor="t">
            <a:spAutoFit/>
          </a:bodyPr>
          <a:lstStyle/>
          <a:p>
            <a:pPr algn="l">
              <a:lnSpc>
                <a:spcPct val="100000"/>
              </a:lnSpc>
            </a:pPr>
            <a:r>
              <a:rPr sz="1150" b="0">
                <a:solidFill>
                  <a:srgbClr val="15171A"/>
                </a:solidFill>
                <a:latin typeface="Noto Sans KR"/>
                <a:ea typeface="Noto Sans KR"/>
                <a:cs typeface="Noto Sans KR"/>
              </a:rPr>
              <a:t>M12 재사용률 측정 → M24 이식 검증</a:t>
            </a:r>
          </a:p>
        </p:txBody>
      </p:sp>
      <p:sp>
        <p:nvSpPr>
          <p:cNvPr id="52" name="Rectangle 51"/>
          <p:cNvSpPr/>
          <p:nvPr/>
        </p:nvSpPr>
        <p:spPr>
          <a:xfrm>
            <a:off x="685800" y="5797296"/>
            <a:ext cx="10820095" cy="457200"/>
          </a:xfrm>
          <a:prstGeom prst="rect">
            <a:avLst/>
          </a:prstGeom>
          <a:solidFill>
            <a:srgbClr val="F4F5F6"/>
          </a:solidFill>
          <a:ln>
            <a:noFill/>
          </a:ln>
        </p:spPr>
        <p:txBody>
          <a:bodyPr rtlCol="0" anchor="ctr"/>
          <a:lstStyle/>
          <a:p>
            <a:pPr algn="ctr"/>
          </a:p>
        </p:txBody>
      </p:sp>
      <p:sp>
        <p:nvSpPr>
          <p:cNvPr id="53" name="TextBox 52"/>
          <p:cNvSpPr txBox="1"/>
          <p:nvPr/>
        </p:nvSpPr>
        <p:spPr>
          <a:xfrm>
            <a:off x="886968" y="5797296"/>
            <a:ext cx="10417759" cy="457200"/>
          </a:xfrm>
          <a:prstGeom prst="rect">
            <a:avLst/>
          </a:prstGeom>
          <a:noFill/>
        </p:spPr>
        <p:txBody>
          <a:bodyPr wrap="square" lIns="0" rIns="0" tIns="0" bIns="0" anchor="ctr">
            <a:spAutoFit/>
          </a:bodyPr>
          <a:lstStyle/>
          <a:p>
            <a:pPr algn="l">
              <a:lnSpc>
                <a:spcPct val="100000"/>
              </a:lnSpc>
            </a:pPr>
            <a:r>
              <a:rPr sz="1050" b="1">
                <a:solidFill>
                  <a:srgbClr val="15171A"/>
                </a:solidFill>
                <a:latin typeface="Noto Sans KR"/>
                <a:ea typeface="Noto Sans KR"/>
                <a:cs typeface="Noto Sans KR"/>
              </a:rPr>
              <a:t>현재 확보된 증거   </a:t>
            </a:r>
            <a:r>
              <a:rPr sz="1050" b="0">
                <a:solidFill>
                  <a:srgbClr val="4A4F57"/>
                </a:solidFill>
                <a:latin typeface="Noto Sans KR"/>
                <a:ea typeface="Noto Sans KR"/>
                <a:cs typeface="Noto Sans KR"/>
              </a:rPr>
              <a:t>○ 시제품   ○ 도구 조작 시험   ○ 주방 시험   ○ 고객 인터뷰   ○ 주방 운영사·SI 논의   ○ LOI   ○ 공동개발   ○ 특허 검토   </a:t>
            </a:r>
            <a:r>
              <a:rPr sz="1050" b="0">
                <a:solidFill>
                  <a:srgbClr val="E2571B"/>
                </a:solidFill>
                <a:latin typeface="Noto Sans KR"/>
                <a:ea typeface="Noto Sans KR"/>
                <a:cs typeface="Noto Sans KR"/>
              </a:rPr>
              <a:t>[확보 항목 ● 표시 · 정보 입력 필요]</a:t>
            </a:r>
          </a:p>
        </p:txBody>
      </p:sp>
      <p:sp>
        <p:nvSpPr>
          <p:cNvPr id="54" name="TextBox 53"/>
          <p:cNvSpPr txBox="1"/>
          <p:nvPr/>
        </p:nvSpPr>
        <p:spPr>
          <a:xfrm>
            <a:off x="685800" y="6446520"/>
            <a:ext cx="5486400" cy="201168"/>
          </a:xfrm>
          <a:prstGeom prst="rect">
            <a:avLst/>
          </a:prstGeom>
          <a:noFill/>
        </p:spPr>
        <p:txBody>
          <a:bodyPr wrap="square" lIns="0" rIns="0" tIns="0" bIns="0" anchor="t">
            <a:spAutoFit/>
          </a:bodyPr>
          <a:lstStyle/>
          <a:p>
            <a:pPr algn="l">
              <a:lnSpc>
                <a:spcPct val="100000"/>
              </a:lnSpc>
            </a:pPr>
            <a:r>
              <a:rPr sz="900" b="0">
                <a:solidFill>
                  <a:srgbClr val="8C9198"/>
                </a:solidFill>
                <a:latin typeface="Noto Sans KR"/>
                <a:ea typeface="Noto Sans KR"/>
                <a:cs typeface="Noto Sans KR"/>
              </a:rPr>
              <a:t>SoftHand  |  주방 로봇 조작 플랫폼  |  Seed 투자 제안서</a:t>
            </a:r>
          </a:p>
        </p:txBody>
      </p:sp>
      <p:sp>
        <p:nvSpPr>
          <p:cNvPr id="55" name="TextBox 54"/>
          <p:cNvSpPr txBox="1"/>
          <p:nvPr/>
        </p:nvSpPr>
        <p:spPr>
          <a:xfrm>
            <a:off x="3154680" y="6446520"/>
            <a:ext cx="7802575" cy="201168"/>
          </a:xfrm>
          <a:prstGeom prst="rect">
            <a:avLst/>
          </a:prstGeom>
          <a:noFill/>
        </p:spPr>
        <p:txBody>
          <a:bodyPr wrap="square" lIns="0" rIns="0" tIns="0" bIns="0" anchor="t">
            <a:spAutoFit/>
          </a:bodyPr>
          <a:lstStyle/>
          <a:p>
            <a:pPr algn="r">
              <a:lnSpc>
                <a:spcPct val="100000"/>
              </a:lnSpc>
            </a:pPr>
            <a:r>
              <a:rPr sz="900" b="0">
                <a:solidFill>
                  <a:srgbClr val="8C9198"/>
                </a:solidFill>
                <a:latin typeface="Noto Sans KR"/>
                <a:ea typeface="Noto Sans KR"/>
                <a:cs typeface="Noto Sans KR"/>
              </a:rPr>
              <a:t>모든 목표는 계획이며 실적 아님 · 증거 확보 시 이 장을 Proof 중심으로 바꿔 앞쪽에 배치 · 단계별 점검 기준 부록 A2</a:t>
            </a:r>
          </a:p>
        </p:txBody>
      </p:sp>
      <p:sp>
        <p:nvSpPr>
          <p:cNvPr id="56" name="TextBox 55"/>
          <p:cNvSpPr txBox="1"/>
          <p:nvPr/>
        </p:nvSpPr>
        <p:spPr>
          <a:xfrm>
            <a:off x="11048695" y="6446520"/>
            <a:ext cx="457200" cy="201168"/>
          </a:xfrm>
          <a:prstGeom prst="rect">
            <a:avLst/>
          </a:prstGeom>
          <a:noFill/>
        </p:spPr>
        <p:txBody>
          <a:bodyPr wrap="square" lIns="0" rIns="0" tIns="0" bIns="0" anchor="t">
            <a:spAutoFit/>
          </a:bodyPr>
          <a:lstStyle/>
          <a:p>
            <a:pPr algn="r">
              <a:lnSpc>
                <a:spcPct val="100000"/>
              </a:lnSpc>
            </a:pPr>
            <a:r>
              <a:rPr sz="900" b="0">
                <a:solidFill>
                  <a:srgbClr val="8C9198"/>
                </a:solidFill>
                <a:latin typeface="Noto Sans KR"/>
                <a:ea typeface="Noto Sans KR"/>
                <a:cs typeface="Noto Sans KR"/>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548640"/>
            <a:ext cx="7315200" cy="274320"/>
          </a:xfrm>
          <a:prstGeom prst="rect">
            <a:avLst/>
          </a:prstGeom>
          <a:noFill/>
        </p:spPr>
        <p:txBody>
          <a:bodyPr wrap="square" lIns="0" rIns="0" tIns="0" bIns="0" anchor="t">
            <a:spAutoFit/>
          </a:bodyPr>
          <a:lstStyle/>
          <a:p>
            <a:pPr algn="l">
              <a:lnSpc>
                <a:spcPct val="100000"/>
              </a:lnSpc>
            </a:pPr>
            <a:r>
              <a:rPr sz="1200" b="1">
                <a:solidFill>
                  <a:srgbClr val="E2571B"/>
                </a:solidFill>
                <a:latin typeface="Noto Sans KR"/>
                <a:ea typeface="Noto Sans KR"/>
                <a:cs typeface="Noto Sans KR"/>
              </a:rPr>
              <a:t>TEAM</a:t>
            </a:r>
          </a:p>
        </p:txBody>
      </p:sp>
      <p:sp>
        <p:nvSpPr>
          <p:cNvPr id="3" name="TextBox 2"/>
          <p:cNvSpPr txBox="1"/>
          <p:nvPr/>
        </p:nvSpPr>
        <p:spPr>
          <a:xfrm>
            <a:off x="685800" y="932688"/>
            <a:ext cx="10820095" cy="542391"/>
          </a:xfrm>
          <a:prstGeom prst="rect">
            <a:avLst/>
          </a:prstGeom>
          <a:noFill/>
        </p:spPr>
        <p:txBody>
          <a:bodyPr wrap="square" lIns="0" rIns="0" tIns="0" bIns="0" anchor="t">
            <a:spAutoFit/>
          </a:bodyPr>
          <a:lstStyle/>
          <a:p>
            <a:pPr algn="l">
              <a:lnSpc>
                <a:spcPct val="95000"/>
              </a:lnSpc>
            </a:pPr>
            <a:r>
              <a:rPr sz="3000" b="1">
                <a:solidFill>
                  <a:srgbClr val="15171A"/>
                </a:solidFill>
                <a:latin typeface="Noto Sans KR"/>
                <a:ea typeface="Noto Sans KR"/>
                <a:cs typeface="Noto Sans KR"/>
              </a:rPr>
              <a:t>왜 우리가 이 문제를 풀 수 있는가</a:t>
            </a:r>
          </a:p>
        </p:txBody>
      </p:sp>
      <p:sp>
        <p:nvSpPr>
          <p:cNvPr id="4" name="TextBox 3"/>
          <p:cNvSpPr txBox="1"/>
          <p:nvPr/>
        </p:nvSpPr>
        <p:spPr>
          <a:xfrm>
            <a:off x="685800" y="1584807"/>
            <a:ext cx="10820095" cy="329184"/>
          </a:xfrm>
          <a:prstGeom prst="rect">
            <a:avLst/>
          </a:prstGeom>
          <a:noFill/>
        </p:spPr>
        <p:txBody>
          <a:bodyPr wrap="square" lIns="0" rIns="0" tIns="0" bIns="0" anchor="t">
            <a:spAutoFit/>
          </a:bodyPr>
          <a:lstStyle/>
          <a:p>
            <a:pPr algn="l">
              <a:lnSpc>
                <a:spcPct val="100000"/>
              </a:lnSpc>
            </a:pPr>
            <a:r>
              <a:rPr sz="1600" b="0">
                <a:solidFill>
                  <a:srgbClr val="4A4F57"/>
                </a:solidFill>
                <a:latin typeface="Noto Sans KR"/>
                <a:ea typeface="Noto Sans KR"/>
                <a:cs typeface="Noto Sans KR"/>
              </a:rPr>
              <a:t>창업자 2명 + 핵심 인력 6명 단계 채용</a:t>
            </a:r>
          </a:p>
        </p:txBody>
      </p:sp>
      <p:sp>
        <p:nvSpPr>
          <p:cNvPr id="5" name="Rectangle 4"/>
          <p:cNvSpPr/>
          <p:nvPr/>
        </p:nvSpPr>
        <p:spPr>
          <a:xfrm>
            <a:off x="685800" y="2142591"/>
            <a:ext cx="1024128" cy="1188720"/>
          </a:xfrm>
          <a:prstGeom prst="rect">
            <a:avLst/>
          </a:prstGeom>
          <a:solidFill>
            <a:srgbClr val="F4F5F6"/>
          </a:solidFill>
          <a:ln>
            <a:noFill/>
          </a:ln>
        </p:spPr>
        <p:txBody>
          <a:bodyPr rtlCol="0" anchor="ctr"/>
          <a:lstStyle/>
          <a:p>
            <a:pPr algn="ctr"/>
          </a:p>
        </p:txBody>
      </p:sp>
      <p:sp>
        <p:nvSpPr>
          <p:cNvPr id="6" name="TextBox 5"/>
          <p:cNvSpPr txBox="1"/>
          <p:nvPr/>
        </p:nvSpPr>
        <p:spPr>
          <a:xfrm>
            <a:off x="685800" y="2599791"/>
            <a:ext cx="1024128" cy="274320"/>
          </a:xfrm>
          <a:prstGeom prst="rect">
            <a:avLst/>
          </a:prstGeom>
          <a:noFill/>
        </p:spPr>
        <p:txBody>
          <a:bodyPr wrap="square" lIns="0" rIns="0" tIns="0" bIns="0" anchor="t">
            <a:spAutoFit/>
          </a:bodyPr>
          <a:lstStyle/>
          <a:p>
            <a:pPr algn="ctr">
              <a:lnSpc>
                <a:spcPct val="100000"/>
              </a:lnSpc>
            </a:pPr>
            <a:r>
              <a:rPr sz="1100" b="0">
                <a:solidFill>
                  <a:srgbClr val="8C9198"/>
                </a:solidFill>
                <a:latin typeface="Noto Sans KR"/>
                <a:ea typeface="Noto Sans KR"/>
                <a:cs typeface="Noto Sans KR"/>
              </a:rPr>
              <a:t>사진</a:t>
            </a:r>
          </a:p>
        </p:txBody>
      </p:sp>
      <p:sp>
        <p:nvSpPr>
          <p:cNvPr id="7" name="TextBox 6"/>
          <p:cNvSpPr txBox="1"/>
          <p:nvPr/>
        </p:nvSpPr>
        <p:spPr>
          <a:xfrm>
            <a:off x="1911095" y="2142591"/>
            <a:ext cx="2478024" cy="329184"/>
          </a:xfrm>
          <a:prstGeom prst="rect">
            <a:avLst/>
          </a:prstGeom>
          <a:noFill/>
        </p:spPr>
        <p:txBody>
          <a:bodyPr wrap="square" lIns="0" rIns="0" tIns="0" bIns="0" anchor="t">
            <a:spAutoFit/>
          </a:bodyPr>
          <a:lstStyle/>
          <a:p>
            <a:pPr algn="l">
              <a:lnSpc>
                <a:spcPct val="100000"/>
              </a:lnSpc>
            </a:pPr>
            <a:r>
              <a:rPr sz="1700" b="1">
                <a:solidFill>
                  <a:srgbClr val="15171A"/>
                </a:solidFill>
                <a:latin typeface="Noto Sans KR"/>
                <a:ea typeface="Noto Sans KR"/>
                <a:cs typeface="Noto Sans KR"/>
              </a:rPr>
              <a:t>[이름 입력 필요]</a:t>
            </a:r>
          </a:p>
        </p:txBody>
      </p:sp>
      <p:sp>
        <p:nvSpPr>
          <p:cNvPr id="8" name="TextBox 7"/>
          <p:cNvSpPr txBox="1"/>
          <p:nvPr/>
        </p:nvSpPr>
        <p:spPr>
          <a:xfrm>
            <a:off x="1911095" y="2508351"/>
            <a:ext cx="2478024" cy="256032"/>
          </a:xfrm>
          <a:prstGeom prst="rect">
            <a:avLst/>
          </a:prstGeom>
          <a:noFill/>
        </p:spPr>
        <p:txBody>
          <a:bodyPr wrap="square" lIns="0" rIns="0" tIns="0" bIns="0" anchor="t">
            <a:spAutoFit/>
          </a:bodyPr>
          <a:lstStyle/>
          <a:p>
            <a:pPr algn="l">
              <a:lnSpc>
                <a:spcPct val="100000"/>
              </a:lnSpc>
            </a:pPr>
            <a:r>
              <a:rPr sz="1200" b="1">
                <a:solidFill>
                  <a:srgbClr val="E2571B"/>
                </a:solidFill>
                <a:latin typeface="Noto Sans KR"/>
                <a:ea typeface="Noto Sans KR"/>
                <a:cs typeface="Noto Sans KR"/>
              </a:rPr>
              <a:t>대표 · 사업/제품</a:t>
            </a:r>
          </a:p>
        </p:txBody>
      </p:sp>
      <p:sp>
        <p:nvSpPr>
          <p:cNvPr id="9" name="TextBox 8"/>
          <p:cNvSpPr txBox="1"/>
          <p:nvPr/>
        </p:nvSpPr>
        <p:spPr>
          <a:xfrm>
            <a:off x="1911095" y="2819247"/>
            <a:ext cx="2478024" cy="512064"/>
          </a:xfrm>
          <a:prstGeom prst="rect">
            <a:avLst/>
          </a:prstGeom>
          <a:noFill/>
        </p:spPr>
        <p:txBody>
          <a:bodyPr wrap="square" lIns="0" rIns="0" tIns="0" bIns="0" anchor="t">
            <a:spAutoFit/>
          </a:bodyPr>
          <a:lstStyle/>
          <a:p>
            <a:pPr algn="l">
              <a:lnSpc>
                <a:spcPct val="100000"/>
              </a:lnSpc>
            </a:pPr>
            <a:r>
              <a:rPr sz="1150" b="0">
                <a:solidFill>
                  <a:srgbClr val="4A4F57"/>
                </a:solidFill>
                <a:latin typeface="Noto Sans KR"/>
                <a:ea typeface="Noto Sans KR"/>
                <a:cs typeface="Noto Sans KR"/>
              </a:rPr>
              <a:t>사업과 직접 연결되는 경력 한 줄</a:t>
            </a:r>
          </a:p>
          <a:p>
            <a:pPr algn="l">
              <a:lnSpc>
                <a:spcPct val="100000"/>
              </a:lnSpc>
            </a:pPr>
            <a:r>
              <a:rPr sz="1150" b="0">
                <a:solidFill>
                  <a:srgbClr val="4A4F57"/>
                </a:solidFill>
                <a:latin typeface="Noto Sans KR"/>
                <a:ea typeface="Noto Sans KR"/>
                <a:cs typeface="Noto Sans KR"/>
              </a:rPr>
              <a:t>[정보 입력 필요]</a:t>
            </a:r>
          </a:p>
        </p:txBody>
      </p:sp>
      <p:sp>
        <p:nvSpPr>
          <p:cNvPr id="10" name="Rectangle 9"/>
          <p:cNvSpPr/>
          <p:nvPr/>
        </p:nvSpPr>
        <p:spPr>
          <a:xfrm>
            <a:off x="685800" y="3559911"/>
            <a:ext cx="1024128" cy="1188720"/>
          </a:xfrm>
          <a:prstGeom prst="rect">
            <a:avLst/>
          </a:prstGeom>
          <a:solidFill>
            <a:srgbClr val="F4F5F6"/>
          </a:solidFill>
          <a:ln>
            <a:noFill/>
          </a:ln>
        </p:spPr>
        <p:txBody>
          <a:bodyPr rtlCol="0" anchor="ctr"/>
          <a:lstStyle/>
          <a:p>
            <a:pPr algn="ctr"/>
          </a:p>
        </p:txBody>
      </p:sp>
      <p:sp>
        <p:nvSpPr>
          <p:cNvPr id="11" name="TextBox 10"/>
          <p:cNvSpPr txBox="1"/>
          <p:nvPr/>
        </p:nvSpPr>
        <p:spPr>
          <a:xfrm>
            <a:off x="685800" y="4017111"/>
            <a:ext cx="1024128" cy="274320"/>
          </a:xfrm>
          <a:prstGeom prst="rect">
            <a:avLst/>
          </a:prstGeom>
          <a:noFill/>
        </p:spPr>
        <p:txBody>
          <a:bodyPr wrap="square" lIns="0" rIns="0" tIns="0" bIns="0" anchor="t">
            <a:spAutoFit/>
          </a:bodyPr>
          <a:lstStyle/>
          <a:p>
            <a:pPr algn="ctr">
              <a:lnSpc>
                <a:spcPct val="100000"/>
              </a:lnSpc>
            </a:pPr>
            <a:r>
              <a:rPr sz="1100" b="0">
                <a:solidFill>
                  <a:srgbClr val="8C9198"/>
                </a:solidFill>
                <a:latin typeface="Noto Sans KR"/>
                <a:ea typeface="Noto Sans KR"/>
                <a:cs typeface="Noto Sans KR"/>
              </a:rPr>
              <a:t>사진</a:t>
            </a:r>
          </a:p>
        </p:txBody>
      </p:sp>
      <p:sp>
        <p:nvSpPr>
          <p:cNvPr id="12" name="TextBox 11"/>
          <p:cNvSpPr txBox="1"/>
          <p:nvPr/>
        </p:nvSpPr>
        <p:spPr>
          <a:xfrm>
            <a:off x="1911095" y="3559911"/>
            <a:ext cx="2478024" cy="329184"/>
          </a:xfrm>
          <a:prstGeom prst="rect">
            <a:avLst/>
          </a:prstGeom>
          <a:noFill/>
        </p:spPr>
        <p:txBody>
          <a:bodyPr wrap="square" lIns="0" rIns="0" tIns="0" bIns="0" anchor="t">
            <a:spAutoFit/>
          </a:bodyPr>
          <a:lstStyle/>
          <a:p>
            <a:pPr algn="l">
              <a:lnSpc>
                <a:spcPct val="100000"/>
              </a:lnSpc>
            </a:pPr>
            <a:r>
              <a:rPr sz="1700" b="1">
                <a:solidFill>
                  <a:srgbClr val="15171A"/>
                </a:solidFill>
                <a:latin typeface="Noto Sans KR"/>
                <a:ea typeface="Noto Sans KR"/>
                <a:cs typeface="Noto Sans KR"/>
              </a:rPr>
              <a:t>[이름 입력 필요]</a:t>
            </a:r>
          </a:p>
        </p:txBody>
      </p:sp>
      <p:sp>
        <p:nvSpPr>
          <p:cNvPr id="13" name="TextBox 12"/>
          <p:cNvSpPr txBox="1"/>
          <p:nvPr/>
        </p:nvSpPr>
        <p:spPr>
          <a:xfrm>
            <a:off x="1911095" y="3925671"/>
            <a:ext cx="2478024" cy="256032"/>
          </a:xfrm>
          <a:prstGeom prst="rect">
            <a:avLst/>
          </a:prstGeom>
          <a:noFill/>
        </p:spPr>
        <p:txBody>
          <a:bodyPr wrap="square" lIns="0" rIns="0" tIns="0" bIns="0" anchor="t">
            <a:spAutoFit/>
          </a:bodyPr>
          <a:lstStyle/>
          <a:p>
            <a:pPr algn="l">
              <a:lnSpc>
                <a:spcPct val="100000"/>
              </a:lnSpc>
            </a:pPr>
            <a:r>
              <a:rPr sz="1200" b="1">
                <a:solidFill>
                  <a:srgbClr val="E2571B"/>
                </a:solidFill>
                <a:latin typeface="Noto Sans KR"/>
                <a:ea typeface="Noto Sans KR"/>
                <a:cs typeface="Noto Sans KR"/>
              </a:rPr>
              <a:t>CTO · 핸드 메카트로닉스</a:t>
            </a:r>
          </a:p>
        </p:txBody>
      </p:sp>
      <p:sp>
        <p:nvSpPr>
          <p:cNvPr id="14" name="TextBox 13"/>
          <p:cNvSpPr txBox="1"/>
          <p:nvPr/>
        </p:nvSpPr>
        <p:spPr>
          <a:xfrm>
            <a:off x="1911095" y="4236567"/>
            <a:ext cx="2478024" cy="512064"/>
          </a:xfrm>
          <a:prstGeom prst="rect">
            <a:avLst/>
          </a:prstGeom>
          <a:noFill/>
        </p:spPr>
        <p:txBody>
          <a:bodyPr wrap="square" lIns="0" rIns="0" tIns="0" bIns="0" anchor="t">
            <a:spAutoFit/>
          </a:bodyPr>
          <a:lstStyle/>
          <a:p>
            <a:pPr algn="l">
              <a:lnSpc>
                <a:spcPct val="100000"/>
              </a:lnSpc>
            </a:pPr>
            <a:r>
              <a:rPr sz="1150" b="0">
                <a:solidFill>
                  <a:srgbClr val="4A4F57"/>
                </a:solidFill>
                <a:latin typeface="Noto Sans KR"/>
                <a:ea typeface="Noto Sans KR"/>
                <a:cs typeface="Noto Sans KR"/>
              </a:rPr>
              <a:t>사업과 직접 연결되는 경력 한 줄</a:t>
            </a:r>
          </a:p>
          <a:p>
            <a:pPr algn="l">
              <a:lnSpc>
                <a:spcPct val="100000"/>
              </a:lnSpc>
            </a:pPr>
            <a:r>
              <a:rPr sz="1150" b="0">
                <a:solidFill>
                  <a:srgbClr val="4A4F57"/>
                </a:solidFill>
                <a:latin typeface="Noto Sans KR"/>
                <a:ea typeface="Noto Sans KR"/>
                <a:cs typeface="Noto Sans KR"/>
              </a:rPr>
              <a:t>[정보 입력 필요]</a:t>
            </a:r>
          </a:p>
        </p:txBody>
      </p:sp>
      <p:cxnSp>
        <p:nvCxnSpPr>
          <p:cNvPr id="15" name="Connector 14"/>
          <p:cNvCxnSpPr/>
          <p:nvPr/>
        </p:nvCxnSpPr>
        <p:spPr>
          <a:xfrm>
            <a:off x="685800" y="4931511"/>
            <a:ext cx="3703320" cy="0"/>
          </a:xfrm>
          <a:prstGeom prst="line">
            <a:avLst/>
          </a:prstGeom>
          <a:ln w="12700">
            <a:solidFill>
              <a:srgbClr val="15171A"/>
            </a:solidFill>
          </a:ln>
        </p:spPr>
      </p:cxnSp>
      <p:sp>
        <p:nvSpPr>
          <p:cNvPr id="16" name="TextBox 15"/>
          <p:cNvSpPr txBox="1"/>
          <p:nvPr/>
        </p:nvSpPr>
        <p:spPr>
          <a:xfrm>
            <a:off x="685800" y="5041239"/>
            <a:ext cx="3703320" cy="256032"/>
          </a:xfrm>
          <a:prstGeom prst="rect">
            <a:avLst/>
          </a:prstGeom>
          <a:noFill/>
        </p:spPr>
        <p:txBody>
          <a:bodyPr wrap="square" lIns="0" rIns="0" tIns="0" bIns="0" anchor="t">
            <a:spAutoFit/>
          </a:bodyPr>
          <a:lstStyle/>
          <a:p>
            <a:pPr algn="l">
              <a:lnSpc>
                <a:spcPct val="100000"/>
              </a:lnSpc>
            </a:pPr>
            <a:r>
              <a:rPr sz="1200" b="1">
                <a:solidFill>
                  <a:srgbClr val="15171A"/>
                </a:solidFill>
                <a:latin typeface="Noto Sans KR"/>
                <a:ea typeface="Noto Sans KR"/>
                <a:cs typeface="Noto Sans KR"/>
              </a:rPr>
              <a:t>Seed 채용 계획 (6명 단계 채용)</a:t>
            </a:r>
          </a:p>
        </p:txBody>
      </p:sp>
      <p:sp>
        <p:nvSpPr>
          <p:cNvPr id="17" name="TextBox 16"/>
          <p:cNvSpPr txBox="1"/>
          <p:nvPr/>
        </p:nvSpPr>
        <p:spPr>
          <a:xfrm>
            <a:off x="685800" y="5333847"/>
            <a:ext cx="3703320" cy="512064"/>
          </a:xfrm>
          <a:prstGeom prst="rect">
            <a:avLst/>
          </a:prstGeom>
          <a:noFill/>
        </p:spPr>
        <p:txBody>
          <a:bodyPr wrap="square" lIns="0" rIns="0" tIns="0" bIns="0" anchor="t">
            <a:spAutoFit/>
          </a:bodyPr>
          <a:lstStyle/>
          <a:p>
            <a:pPr algn="l">
              <a:lnSpc>
                <a:spcPct val="100000"/>
              </a:lnSpc>
            </a:pPr>
            <a:r>
              <a:rPr sz="1150" b="0">
                <a:solidFill>
                  <a:srgbClr val="4A4F57"/>
                </a:solidFill>
                <a:latin typeface="Noto Sans KR"/>
                <a:ea typeface="Noto Sans KR"/>
                <a:cs typeface="Noto Sans KR"/>
              </a:rPr>
              <a:t>기구·구동 · 제어·임베디드 · 로봇 SW·Skill</a:t>
            </a:r>
          </a:p>
          <a:p>
            <a:pPr algn="l">
              <a:lnSpc>
                <a:spcPct val="100000"/>
              </a:lnSpc>
            </a:pPr>
            <a:r>
              <a:rPr sz="1150" b="0">
                <a:solidFill>
                  <a:srgbClr val="4A4F57"/>
                </a:solidFill>
                <a:latin typeface="Noto Sans KR"/>
                <a:ea typeface="Noto Sans KR"/>
                <a:cs typeface="Noto Sans KR"/>
              </a:rPr>
              <a:t>현장 통합 · 비전·AI · 설계·품질</a:t>
            </a:r>
          </a:p>
        </p:txBody>
      </p:sp>
      <p:cxnSp>
        <p:nvCxnSpPr>
          <p:cNvPr id="18" name="Connector 17"/>
          <p:cNvCxnSpPr/>
          <p:nvPr/>
        </p:nvCxnSpPr>
        <p:spPr>
          <a:xfrm>
            <a:off x="4892040" y="2142591"/>
            <a:ext cx="6613855" cy="0"/>
          </a:xfrm>
          <a:prstGeom prst="line">
            <a:avLst/>
          </a:prstGeom>
          <a:ln w="12700">
            <a:solidFill>
              <a:srgbClr val="15171A"/>
            </a:solidFill>
          </a:ln>
        </p:spPr>
      </p:cxnSp>
      <p:sp>
        <p:nvSpPr>
          <p:cNvPr id="19" name="TextBox 18"/>
          <p:cNvSpPr txBox="1"/>
          <p:nvPr/>
        </p:nvSpPr>
        <p:spPr>
          <a:xfrm>
            <a:off x="4892040" y="2270607"/>
            <a:ext cx="6613855" cy="237744"/>
          </a:xfrm>
          <a:prstGeom prst="rect">
            <a:avLst/>
          </a:prstGeom>
          <a:noFill/>
        </p:spPr>
        <p:txBody>
          <a:bodyPr wrap="square" lIns="0" rIns="0" tIns="0" bIns="0" anchor="t">
            <a:spAutoFit/>
          </a:bodyPr>
          <a:lstStyle/>
          <a:p>
            <a:pPr algn="l">
              <a:lnSpc>
                <a:spcPct val="100000"/>
              </a:lnSpc>
            </a:pPr>
            <a:r>
              <a:rPr sz="1150" b="1">
                <a:solidFill>
                  <a:srgbClr val="E2571B"/>
                </a:solidFill>
                <a:latin typeface="Noto Sans KR"/>
                <a:ea typeface="Noto Sans KR"/>
                <a:cs typeface="Noto Sans KR"/>
              </a:rPr>
              <a:t>Problem Insight</a:t>
            </a:r>
          </a:p>
        </p:txBody>
      </p:sp>
      <p:sp>
        <p:nvSpPr>
          <p:cNvPr id="20" name="TextBox 19"/>
          <p:cNvSpPr txBox="1"/>
          <p:nvPr/>
        </p:nvSpPr>
        <p:spPr>
          <a:xfrm>
            <a:off x="4892040" y="2544927"/>
            <a:ext cx="6613855" cy="329184"/>
          </a:xfrm>
          <a:prstGeom prst="rect">
            <a:avLst/>
          </a:prstGeom>
          <a:noFill/>
        </p:spPr>
        <p:txBody>
          <a:bodyPr wrap="square" lIns="0" rIns="0" tIns="0" bIns="0" anchor="t">
            <a:spAutoFit/>
          </a:bodyPr>
          <a:lstStyle/>
          <a:p>
            <a:pPr algn="l">
              <a:lnSpc>
                <a:spcPct val="100000"/>
              </a:lnSpc>
            </a:pPr>
            <a:r>
              <a:rPr sz="1700" b="1">
                <a:solidFill>
                  <a:srgbClr val="15171A"/>
                </a:solidFill>
                <a:latin typeface="Noto Sans KR"/>
                <a:ea typeface="Noto Sans KR"/>
                <a:cs typeface="Noto Sans KR"/>
              </a:rPr>
              <a:t>현장에서 문제를 직접 확인한 팀</a:t>
            </a:r>
          </a:p>
        </p:txBody>
      </p:sp>
      <p:sp>
        <p:nvSpPr>
          <p:cNvPr id="21" name="TextBox 20"/>
          <p:cNvSpPr txBox="1"/>
          <p:nvPr/>
        </p:nvSpPr>
        <p:spPr>
          <a:xfrm>
            <a:off x="4892040" y="2947263"/>
            <a:ext cx="6613855" cy="237744"/>
          </a:xfrm>
          <a:prstGeom prst="rect">
            <a:avLst/>
          </a:prstGeom>
          <a:noFill/>
        </p:spPr>
        <p:txBody>
          <a:bodyPr wrap="square" lIns="0" rIns="0" tIns="0" bIns="0" anchor="t">
            <a:spAutoFit/>
          </a:bodyPr>
          <a:lstStyle/>
          <a:p>
            <a:pPr algn="l">
              <a:lnSpc>
                <a:spcPct val="100000"/>
              </a:lnSpc>
            </a:pPr>
            <a:r>
              <a:rPr sz="1200" b="0">
                <a:solidFill>
                  <a:srgbClr val="4A4F57"/>
                </a:solidFill>
                <a:latin typeface="Noto Sans KR"/>
                <a:ea typeface="Noto Sans KR"/>
                <a:cs typeface="Noto Sans KR"/>
              </a:rPr>
              <a:t>[창업자]가 [주방·자동화 현장]에서 [직접 겪은 문제]를 확인한 경험  </a:t>
            </a:r>
            <a:r>
              <a:rPr sz="1200" b="0">
                <a:solidFill>
                  <a:srgbClr val="E2571B"/>
                </a:solidFill>
                <a:latin typeface="Noto Sans KR"/>
                <a:ea typeface="Noto Sans KR"/>
                <a:cs typeface="Noto Sans KR"/>
              </a:rPr>
              <a:t>[정보 입력 필요]</a:t>
            </a:r>
          </a:p>
        </p:txBody>
      </p:sp>
      <p:cxnSp>
        <p:nvCxnSpPr>
          <p:cNvPr id="22" name="Connector 21"/>
          <p:cNvCxnSpPr/>
          <p:nvPr/>
        </p:nvCxnSpPr>
        <p:spPr>
          <a:xfrm>
            <a:off x="4892040" y="3331311"/>
            <a:ext cx="6613855" cy="0"/>
          </a:xfrm>
          <a:prstGeom prst="line">
            <a:avLst/>
          </a:prstGeom>
          <a:ln w="9525">
            <a:solidFill>
              <a:srgbClr val="E2E4E7"/>
            </a:solidFill>
          </a:ln>
        </p:spPr>
      </p:cxnSp>
      <p:sp>
        <p:nvSpPr>
          <p:cNvPr id="23" name="TextBox 22"/>
          <p:cNvSpPr txBox="1"/>
          <p:nvPr/>
        </p:nvSpPr>
        <p:spPr>
          <a:xfrm>
            <a:off x="4892040" y="3459327"/>
            <a:ext cx="6613855" cy="237744"/>
          </a:xfrm>
          <a:prstGeom prst="rect">
            <a:avLst/>
          </a:prstGeom>
          <a:noFill/>
        </p:spPr>
        <p:txBody>
          <a:bodyPr wrap="square" lIns="0" rIns="0" tIns="0" bIns="0" anchor="t">
            <a:spAutoFit/>
          </a:bodyPr>
          <a:lstStyle/>
          <a:p>
            <a:pPr algn="l">
              <a:lnSpc>
                <a:spcPct val="100000"/>
              </a:lnSpc>
            </a:pPr>
            <a:r>
              <a:rPr sz="1150" b="1">
                <a:solidFill>
                  <a:srgbClr val="E2571B"/>
                </a:solidFill>
                <a:latin typeface="Noto Sans KR"/>
                <a:ea typeface="Noto Sans KR"/>
                <a:cs typeface="Noto Sans KR"/>
              </a:rPr>
              <a:t>Build Capability</a:t>
            </a:r>
          </a:p>
        </p:txBody>
      </p:sp>
      <p:sp>
        <p:nvSpPr>
          <p:cNvPr id="24" name="TextBox 23"/>
          <p:cNvSpPr txBox="1"/>
          <p:nvPr/>
        </p:nvSpPr>
        <p:spPr>
          <a:xfrm>
            <a:off x="4892040" y="3733647"/>
            <a:ext cx="6613855" cy="329184"/>
          </a:xfrm>
          <a:prstGeom prst="rect">
            <a:avLst/>
          </a:prstGeom>
          <a:noFill/>
        </p:spPr>
        <p:txBody>
          <a:bodyPr wrap="square" lIns="0" rIns="0" tIns="0" bIns="0" anchor="t">
            <a:spAutoFit/>
          </a:bodyPr>
          <a:lstStyle/>
          <a:p>
            <a:pPr algn="l">
              <a:lnSpc>
                <a:spcPct val="100000"/>
              </a:lnSpc>
            </a:pPr>
            <a:r>
              <a:rPr sz="1700" b="1">
                <a:solidFill>
                  <a:srgbClr val="15171A"/>
                </a:solidFill>
                <a:latin typeface="Noto Sans KR"/>
                <a:ea typeface="Noto Sans KR"/>
                <a:cs typeface="Noto Sans KR"/>
              </a:rPr>
              <a:t>Hand · Robotics · Control · AI를 만들 수 있는 팀</a:t>
            </a:r>
          </a:p>
        </p:txBody>
      </p:sp>
      <p:sp>
        <p:nvSpPr>
          <p:cNvPr id="25" name="TextBox 24"/>
          <p:cNvSpPr txBox="1"/>
          <p:nvPr/>
        </p:nvSpPr>
        <p:spPr>
          <a:xfrm>
            <a:off x="4892040" y="4135983"/>
            <a:ext cx="6613855" cy="237744"/>
          </a:xfrm>
          <a:prstGeom prst="rect">
            <a:avLst/>
          </a:prstGeom>
          <a:noFill/>
        </p:spPr>
        <p:txBody>
          <a:bodyPr wrap="square" lIns="0" rIns="0" tIns="0" bIns="0" anchor="t">
            <a:spAutoFit/>
          </a:bodyPr>
          <a:lstStyle/>
          <a:p>
            <a:pPr algn="l">
              <a:lnSpc>
                <a:spcPct val="100000"/>
              </a:lnSpc>
            </a:pPr>
            <a:r>
              <a:rPr sz="1200" b="0">
                <a:solidFill>
                  <a:srgbClr val="4A4F57"/>
                </a:solidFill>
                <a:latin typeface="Noto Sans KR"/>
                <a:ea typeface="Noto Sans KR"/>
                <a:cs typeface="Noto Sans KR"/>
              </a:rPr>
              <a:t>[핸드·로봇·제어·AI 개발 이력, 시제품·논문·특허 중 확인된 것]  </a:t>
            </a:r>
            <a:r>
              <a:rPr sz="1200" b="0">
                <a:solidFill>
                  <a:srgbClr val="E2571B"/>
                </a:solidFill>
                <a:latin typeface="Noto Sans KR"/>
                <a:ea typeface="Noto Sans KR"/>
                <a:cs typeface="Noto Sans KR"/>
              </a:rPr>
              <a:t>[정보 입력 필요]</a:t>
            </a:r>
          </a:p>
        </p:txBody>
      </p:sp>
      <p:cxnSp>
        <p:nvCxnSpPr>
          <p:cNvPr id="26" name="Connector 25"/>
          <p:cNvCxnSpPr/>
          <p:nvPr/>
        </p:nvCxnSpPr>
        <p:spPr>
          <a:xfrm>
            <a:off x="4892040" y="4520031"/>
            <a:ext cx="6613855" cy="0"/>
          </a:xfrm>
          <a:prstGeom prst="line">
            <a:avLst/>
          </a:prstGeom>
          <a:ln w="9525">
            <a:solidFill>
              <a:srgbClr val="E2E4E7"/>
            </a:solidFill>
          </a:ln>
        </p:spPr>
      </p:cxnSp>
      <p:sp>
        <p:nvSpPr>
          <p:cNvPr id="27" name="TextBox 26"/>
          <p:cNvSpPr txBox="1"/>
          <p:nvPr/>
        </p:nvSpPr>
        <p:spPr>
          <a:xfrm>
            <a:off x="4892040" y="4648047"/>
            <a:ext cx="6613855" cy="237744"/>
          </a:xfrm>
          <a:prstGeom prst="rect">
            <a:avLst/>
          </a:prstGeom>
          <a:noFill/>
        </p:spPr>
        <p:txBody>
          <a:bodyPr wrap="square" lIns="0" rIns="0" tIns="0" bIns="0" anchor="t">
            <a:spAutoFit/>
          </a:bodyPr>
          <a:lstStyle/>
          <a:p>
            <a:pPr algn="l">
              <a:lnSpc>
                <a:spcPct val="100000"/>
              </a:lnSpc>
            </a:pPr>
            <a:r>
              <a:rPr sz="1150" b="1">
                <a:solidFill>
                  <a:srgbClr val="E2571B"/>
                </a:solidFill>
                <a:latin typeface="Noto Sans KR"/>
                <a:ea typeface="Noto Sans KR"/>
                <a:cs typeface="Noto Sans KR"/>
              </a:rPr>
              <a:t>Market Access</a:t>
            </a:r>
          </a:p>
        </p:txBody>
      </p:sp>
      <p:sp>
        <p:nvSpPr>
          <p:cNvPr id="28" name="TextBox 27"/>
          <p:cNvSpPr txBox="1"/>
          <p:nvPr/>
        </p:nvSpPr>
        <p:spPr>
          <a:xfrm>
            <a:off x="4892040" y="4922367"/>
            <a:ext cx="6613855" cy="329184"/>
          </a:xfrm>
          <a:prstGeom prst="rect">
            <a:avLst/>
          </a:prstGeom>
          <a:noFill/>
        </p:spPr>
        <p:txBody>
          <a:bodyPr wrap="square" lIns="0" rIns="0" tIns="0" bIns="0" anchor="t">
            <a:spAutoFit/>
          </a:bodyPr>
          <a:lstStyle/>
          <a:p>
            <a:pPr algn="l">
              <a:lnSpc>
                <a:spcPct val="100000"/>
              </a:lnSpc>
            </a:pPr>
            <a:r>
              <a:rPr sz="1700" b="1">
                <a:solidFill>
                  <a:srgbClr val="15171A"/>
                </a:solidFill>
                <a:latin typeface="Noto Sans KR"/>
                <a:ea typeface="Noto Sans KR"/>
                <a:cs typeface="Noto Sans KR"/>
              </a:rPr>
              <a:t>첫 주방 고객과 파트너에 닿을 수 있는 팀</a:t>
            </a:r>
          </a:p>
        </p:txBody>
      </p:sp>
      <p:sp>
        <p:nvSpPr>
          <p:cNvPr id="29" name="TextBox 28"/>
          <p:cNvSpPr txBox="1"/>
          <p:nvPr/>
        </p:nvSpPr>
        <p:spPr>
          <a:xfrm>
            <a:off x="4892040" y="5324703"/>
            <a:ext cx="6613855" cy="237744"/>
          </a:xfrm>
          <a:prstGeom prst="rect">
            <a:avLst/>
          </a:prstGeom>
          <a:noFill/>
        </p:spPr>
        <p:txBody>
          <a:bodyPr wrap="square" lIns="0" rIns="0" tIns="0" bIns="0" anchor="t">
            <a:spAutoFit/>
          </a:bodyPr>
          <a:lstStyle/>
          <a:p>
            <a:pPr algn="l">
              <a:lnSpc>
                <a:spcPct val="100000"/>
              </a:lnSpc>
            </a:pPr>
            <a:r>
              <a:rPr sz="1200" b="0">
                <a:solidFill>
                  <a:srgbClr val="4A4F57"/>
                </a:solidFill>
                <a:latin typeface="Noto Sans KR"/>
                <a:ea typeface="Noto Sans KR"/>
                <a:cs typeface="Noto Sans KR"/>
              </a:rPr>
              <a:t>[외식·급식 운영사, 주방 설비·가전, 로봇 SI 등 실제 관계]  </a:t>
            </a:r>
            <a:r>
              <a:rPr sz="1200" b="0">
                <a:solidFill>
                  <a:srgbClr val="E2571B"/>
                </a:solidFill>
                <a:latin typeface="Noto Sans KR"/>
                <a:ea typeface="Noto Sans KR"/>
                <a:cs typeface="Noto Sans KR"/>
              </a:rPr>
              <a:t>[정보 입력 필요]</a:t>
            </a:r>
          </a:p>
        </p:txBody>
      </p:sp>
      <p:cxnSp>
        <p:nvCxnSpPr>
          <p:cNvPr id="30" name="Connector 29"/>
          <p:cNvCxnSpPr/>
          <p:nvPr/>
        </p:nvCxnSpPr>
        <p:spPr>
          <a:xfrm>
            <a:off x="4892040" y="5708751"/>
            <a:ext cx="6613855" cy="0"/>
          </a:xfrm>
          <a:prstGeom prst="line">
            <a:avLst/>
          </a:prstGeom>
          <a:ln w="9525">
            <a:solidFill>
              <a:srgbClr val="E2E4E7"/>
            </a:solidFill>
          </a:ln>
        </p:spPr>
      </p:cxnSp>
      <p:sp>
        <p:nvSpPr>
          <p:cNvPr id="31" name="TextBox 30"/>
          <p:cNvSpPr txBox="1"/>
          <p:nvPr/>
        </p:nvSpPr>
        <p:spPr>
          <a:xfrm>
            <a:off x="685800" y="5943600"/>
            <a:ext cx="10820095" cy="237744"/>
          </a:xfrm>
          <a:prstGeom prst="rect">
            <a:avLst/>
          </a:prstGeom>
          <a:noFill/>
        </p:spPr>
        <p:txBody>
          <a:bodyPr wrap="square" lIns="0" rIns="0" tIns="0" bIns="0" anchor="t">
            <a:spAutoFit/>
          </a:bodyPr>
          <a:lstStyle/>
          <a:p>
            <a:pPr algn="l">
              <a:lnSpc>
                <a:spcPct val="100000"/>
              </a:lnSpc>
            </a:pPr>
            <a:r>
              <a:rPr sz="1100" b="1">
                <a:solidFill>
                  <a:srgbClr val="15171A"/>
                </a:solidFill>
                <a:latin typeface="Noto Sans KR"/>
                <a:ea typeface="Noto Sans KR"/>
                <a:cs typeface="Noto Sans KR"/>
              </a:rPr>
              <a:t>참여 조건   </a:t>
            </a:r>
            <a:r>
              <a:rPr sz="1100" b="0">
                <a:solidFill>
                  <a:srgbClr val="4A4F57"/>
                </a:solidFill>
                <a:latin typeface="Noto Sans KR"/>
                <a:ea typeface="Noto Sans KR"/>
                <a:cs typeface="Noto Sans KR"/>
              </a:rPr>
              <a:t>전업 참여 · 자기자본 투자 · 공동창업자 합류 · 현 직장 정리 계획  </a:t>
            </a:r>
            <a:r>
              <a:rPr sz="1100" b="0">
                <a:solidFill>
                  <a:srgbClr val="E2571B"/>
                </a:solidFill>
                <a:latin typeface="Noto Sans KR"/>
                <a:ea typeface="Noto Sans KR"/>
                <a:cs typeface="Noto Sans KR"/>
              </a:rPr>
              <a:t>[정보 입력 필요]</a:t>
            </a:r>
          </a:p>
        </p:txBody>
      </p:sp>
      <p:sp>
        <p:nvSpPr>
          <p:cNvPr id="32" name="TextBox 31"/>
          <p:cNvSpPr txBox="1"/>
          <p:nvPr/>
        </p:nvSpPr>
        <p:spPr>
          <a:xfrm>
            <a:off x="685800" y="6446520"/>
            <a:ext cx="5486400" cy="201168"/>
          </a:xfrm>
          <a:prstGeom prst="rect">
            <a:avLst/>
          </a:prstGeom>
          <a:noFill/>
        </p:spPr>
        <p:txBody>
          <a:bodyPr wrap="square" lIns="0" rIns="0" tIns="0" bIns="0" anchor="t">
            <a:spAutoFit/>
          </a:bodyPr>
          <a:lstStyle/>
          <a:p>
            <a:pPr algn="l">
              <a:lnSpc>
                <a:spcPct val="100000"/>
              </a:lnSpc>
            </a:pPr>
            <a:r>
              <a:rPr sz="900" b="0">
                <a:solidFill>
                  <a:srgbClr val="8C9198"/>
                </a:solidFill>
                <a:latin typeface="Noto Sans KR"/>
                <a:ea typeface="Noto Sans KR"/>
                <a:cs typeface="Noto Sans KR"/>
              </a:rPr>
              <a:t>SoftHand  |  주방 로봇 조작 플랫폼  |  Seed 투자 제안서</a:t>
            </a:r>
          </a:p>
        </p:txBody>
      </p:sp>
      <p:sp>
        <p:nvSpPr>
          <p:cNvPr id="33" name="TextBox 32"/>
          <p:cNvSpPr txBox="1"/>
          <p:nvPr/>
        </p:nvSpPr>
        <p:spPr>
          <a:xfrm>
            <a:off x="3154680" y="6446520"/>
            <a:ext cx="7802575" cy="201168"/>
          </a:xfrm>
          <a:prstGeom prst="rect">
            <a:avLst/>
          </a:prstGeom>
          <a:noFill/>
        </p:spPr>
        <p:txBody>
          <a:bodyPr wrap="square" lIns="0" rIns="0" tIns="0" bIns="0" anchor="t">
            <a:spAutoFit/>
          </a:bodyPr>
          <a:lstStyle/>
          <a:p>
            <a:pPr algn="r">
              <a:lnSpc>
                <a:spcPct val="100000"/>
              </a:lnSpc>
            </a:pPr>
            <a:r>
              <a:rPr sz="900" b="0">
                <a:solidFill>
                  <a:srgbClr val="8C9198"/>
                </a:solidFill>
                <a:latin typeface="Noto Sans KR"/>
                <a:ea typeface="Noto Sans KR"/>
                <a:cs typeface="Noto Sans KR"/>
              </a:rPr>
              <a:t>없는 이력·성과는 만들지 않음 · 외부 제출 전 실제 정보로 교체</a:t>
            </a:r>
          </a:p>
        </p:txBody>
      </p:sp>
      <p:sp>
        <p:nvSpPr>
          <p:cNvPr id="34" name="TextBox 33"/>
          <p:cNvSpPr txBox="1"/>
          <p:nvPr/>
        </p:nvSpPr>
        <p:spPr>
          <a:xfrm>
            <a:off x="11048695" y="6446520"/>
            <a:ext cx="457200" cy="201168"/>
          </a:xfrm>
          <a:prstGeom prst="rect">
            <a:avLst/>
          </a:prstGeom>
          <a:noFill/>
        </p:spPr>
        <p:txBody>
          <a:bodyPr wrap="square" lIns="0" rIns="0" tIns="0" bIns="0" anchor="t">
            <a:spAutoFit/>
          </a:bodyPr>
          <a:lstStyle/>
          <a:p>
            <a:pPr algn="r">
              <a:lnSpc>
                <a:spcPct val="100000"/>
              </a:lnSpc>
            </a:pPr>
            <a:r>
              <a:rPr sz="900" b="0">
                <a:solidFill>
                  <a:srgbClr val="8C9198"/>
                </a:solidFill>
                <a:latin typeface="Noto Sans KR"/>
                <a:ea typeface="Noto Sans KR"/>
                <a:cs typeface="Noto Sans KR"/>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17181B"/>
        </a:solidFill>
        <a:effectLst/>
      </p:bgPr>
    </p:bg>
    <p:spTree>
      <p:nvGrpSpPr>
        <p:cNvPr id="1" name=""/>
        <p:cNvGrpSpPr/>
        <p:nvPr/>
      </p:nvGrpSpPr>
      <p:grpSpPr/>
      <p:pic>
        <p:nvPicPr>
          <p:cNvPr id="2" name="Picture 1" descr="lx_front_light_1333x750_50_50_100.jp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685800" y="256032"/>
            <a:ext cx="10820095" cy="685800"/>
          </a:xfrm>
          <a:prstGeom prst="rect">
            <a:avLst/>
          </a:prstGeom>
          <a:noFill/>
        </p:spPr>
        <p:txBody>
          <a:bodyPr wrap="square" lIns="0" rIns="0" tIns="0" bIns="0" anchor="t">
            <a:spAutoFit/>
          </a:bodyPr>
          <a:lstStyle/>
          <a:p>
            <a:pPr algn="ctr">
              <a:lnSpc>
                <a:spcPct val="100000"/>
              </a:lnSpc>
            </a:pPr>
            <a:r>
              <a:rPr sz="3600" b="1">
                <a:solidFill>
                  <a:srgbClr val="FFFFFF"/>
                </a:solidFill>
                <a:latin typeface="Noto Sans KR"/>
                <a:ea typeface="Noto Sans KR"/>
                <a:cs typeface="Noto Sans KR"/>
              </a:rPr>
              <a:t>모든 주방에서 일할 수 있는 로봇</a:t>
            </a:r>
          </a:p>
        </p:txBody>
      </p:sp>
      <p:sp>
        <p:nvSpPr>
          <p:cNvPr id="4" name="TextBox 3"/>
          <p:cNvSpPr txBox="1"/>
          <p:nvPr/>
        </p:nvSpPr>
        <p:spPr>
          <a:xfrm>
            <a:off x="685800" y="896112"/>
            <a:ext cx="10820095" cy="274320"/>
          </a:xfrm>
          <a:prstGeom prst="rect">
            <a:avLst/>
          </a:prstGeom>
          <a:noFill/>
        </p:spPr>
        <p:txBody>
          <a:bodyPr wrap="square" lIns="0" rIns="0" tIns="0" bIns="0" anchor="t">
            <a:spAutoFit/>
          </a:bodyPr>
          <a:lstStyle/>
          <a:p>
            <a:pPr algn="ctr">
              <a:lnSpc>
                <a:spcPct val="100000"/>
              </a:lnSpc>
            </a:pPr>
            <a:r>
              <a:rPr sz="1400" b="0">
                <a:solidFill>
                  <a:srgbClr val="B9BEC5"/>
                </a:solidFill>
                <a:latin typeface="Noto Sans KR"/>
                <a:ea typeface="Noto Sans KR"/>
                <a:cs typeface="Noto Sans KR"/>
              </a:rPr>
              <a:t>The Robot That Can Work in Any Kitchen</a:t>
            </a:r>
          </a:p>
        </p:txBody>
      </p:sp>
      <p:sp>
        <p:nvSpPr>
          <p:cNvPr id="5" name="TextBox 4"/>
          <p:cNvSpPr txBox="1"/>
          <p:nvPr/>
        </p:nvSpPr>
        <p:spPr>
          <a:xfrm>
            <a:off x="685800" y="5175504"/>
            <a:ext cx="3606698" cy="347472"/>
          </a:xfrm>
          <a:prstGeom prst="rect">
            <a:avLst/>
          </a:prstGeom>
          <a:noFill/>
        </p:spPr>
        <p:txBody>
          <a:bodyPr wrap="square" lIns="0" rIns="0" tIns="0" bIns="0" anchor="t">
            <a:spAutoFit/>
          </a:bodyPr>
          <a:lstStyle/>
          <a:p>
            <a:pPr algn="ctr">
              <a:lnSpc>
                <a:spcPct val="100000"/>
              </a:lnSpc>
            </a:pPr>
            <a:r>
              <a:rPr sz="1600" b="1">
                <a:solidFill>
                  <a:srgbClr val="FFFFFF"/>
                </a:solidFill>
                <a:latin typeface="Noto Sans KR"/>
                <a:ea typeface="Noto Sans KR"/>
                <a:cs typeface="Noto Sans KR"/>
              </a:rPr>
              <a:t>상업용 주방 + 가정용 주방</a:t>
            </a:r>
          </a:p>
        </p:txBody>
      </p:sp>
      <p:cxnSp>
        <p:nvCxnSpPr>
          <p:cNvPr id="6" name="Connector 5"/>
          <p:cNvCxnSpPr/>
          <p:nvPr/>
        </p:nvCxnSpPr>
        <p:spPr>
          <a:xfrm>
            <a:off x="4292498" y="5212080"/>
            <a:ext cx="0" cy="274320"/>
          </a:xfrm>
          <a:prstGeom prst="line">
            <a:avLst/>
          </a:prstGeom>
          <a:ln w="9525">
            <a:solidFill>
              <a:srgbClr val="4A4F57"/>
            </a:solidFill>
          </a:ln>
        </p:spPr>
      </p:cxnSp>
      <p:sp>
        <p:nvSpPr>
          <p:cNvPr id="7" name="TextBox 6"/>
          <p:cNvSpPr txBox="1"/>
          <p:nvPr/>
        </p:nvSpPr>
        <p:spPr>
          <a:xfrm>
            <a:off x="4292498" y="5175504"/>
            <a:ext cx="3606698" cy="347472"/>
          </a:xfrm>
          <a:prstGeom prst="rect">
            <a:avLst/>
          </a:prstGeom>
          <a:noFill/>
        </p:spPr>
        <p:txBody>
          <a:bodyPr wrap="square" lIns="0" rIns="0" tIns="0" bIns="0" anchor="t">
            <a:spAutoFit/>
          </a:bodyPr>
          <a:lstStyle/>
          <a:p>
            <a:pPr algn="ctr">
              <a:lnSpc>
                <a:spcPct val="100000"/>
              </a:lnSpc>
            </a:pPr>
            <a:r>
              <a:rPr sz="1600" b="1">
                <a:solidFill>
                  <a:srgbClr val="FFFFFF"/>
                </a:solidFill>
                <a:latin typeface="Noto Sans KR"/>
                <a:ea typeface="Noto Sans KR"/>
                <a:cs typeface="Noto Sans KR"/>
              </a:rPr>
              <a:t>SoftHand + Kitchen Skills</a:t>
            </a:r>
          </a:p>
        </p:txBody>
      </p:sp>
      <p:cxnSp>
        <p:nvCxnSpPr>
          <p:cNvPr id="8" name="Connector 7"/>
          <p:cNvCxnSpPr/>
          <p:nvPr/>
        </p:nvCxnSpPr>
        <p:spPr>
          <a:xfrm>
            <a:off x="7899196" y="5212080"/>
            <a:ext cx="0" cy="274320"/>
          </a:xfrm>
          <a:prstGeom prst="line">
            <a:avLst/>
          </a:prstGeom>
          <a:ln w="9525">
            <a:solidFill>
              <a:srgbClr val="4A4F57"/>
            </a:solidFill>
          </a:ln>
        </p:spPr>
      </p:cxnSp>
      <p:sp>
        <p:nvSpPr>
          <p:cNvPr id="9" name="TextBox 8"/>
          <p:cNvSpPr txBox="1"/>
          <p:nvPr/>
        </p:nvSpPr>
        <p:spPr>
          <a:xfrm>
            <a:off x="7899196" y="5175504"/>
            <a:ext cx="3606698" cy="347472"/>
          </a:xfrm>
          <a:prstGeom prst="rect">
            <a:avLst/>
          </a:prstGeom>
          <a:noFill/>
        </p:spPr>
        <p:txBody>
          <a:bodyPr wrap="square" lIns="0" rIns="0" tIns="0" bIns="0" anchor="t">
            <a:spAutoFit/>
          </a:bodyPr>
          <a:lstStyle/>
          <a:p>
            <a:pPr algn="ctr">
              <a:lnSpc>
                <a:spcPct val="100000"/>
              </a:lnSpc>
            </a:pPr>
            <a:r>
              <a:rPr sz="1600" b="1">
                <a:solidFill>
                  <a:srgbClr val="E2571B"/>
                </a:solidFill>
                <a:latin typeface="Noto Sans KR"/>
                <a:ea typeface="Noto Sans KR"/>
                <a:cs typeface="Noto Sans KR"/>
              </a:rPr>
              <a:t>Seed 20억 원 · 24개월</a:t>
            </a:r>
          </a:p>
        </p:txBody>
      </p:sp>
      <p:sp>
        <p:nvSpPr>
          <p:cNvPr id="10" name="TextBox 9"/>
          <p:cNvSpPr txBox="1"/>
          <p:nvPr/>
        </p:nvSpPr>
        <p:spPr>
          <a:xfrm>
            <a:off x="685800" y="5687568"/>
            <a:ext cx="10820095" cy="310896"/>
          </a:xfrm>
          <a:prstGeom prst="rect">
            <a:avLst/>
          </a:prstGeom>
          <a:noFill/>
        </p:spPr>
        <p:txBody>
          <a:bodyPr wrap="square" lIns="0" rIns="0" tIns="0" bIns="0" anchor="t">
            <a:spAutoFit/>
          </a:bodyPr>
          <a:lstStyle/>
          <a:p>
            <a:pPr algn="ctr">
              <a:lnSpc>
                <a:spcPct val="100000"/>
              </a:lnSpc>
            </a:pPr>
            <a:r>
              <a:rPr sz="1600" b="0">
                <a:solidFill>
                  <a:srgbClr val="F3F3F1"/>
                </a:solidFill>
                <a:latin typeface="Noto Sans KR"/>
                <a:ea typeface="Noto Sans KR"/>
                <a:cs typeface="Noto Sans KR"/>
              </a:rPr>
              <a:t>사람이 사용하는 주방을 바꾸지 않고, 로봇이 그 주방에서 일하게 만든다.</a:t>
            </a:r>
          </a:p>
        </p:txBody>
      </p:sp>
      <p:sp>
        <p:nvSpPr>
          <p:cNvPr id="11" name="TextBox 10"/>
          <p:cNvSpPr txBox="1"/>
          <p:nvPr/>
        </p:nvSpPr>
        <p:spPr>
          <a:xfrm>
            <a:off x="685800" y="6071616"/>
            <a:ext cx="10820095" cy="292608"/>
          </a:xfrm>
          <a:prstGeom prst="rect">
            <a:avLst/>
          </a:prstGeom>
          <a:noFill/>
        </p:spPr>
        <p:txBody>
          <a:bodyPr wrap="square" lIns="0" rIns="0" tIns="0" bIns="0" anchor="t">
            <a:spAutoFit/>
          </a:bodyPr>
          <a:lstStyle/>
          <a:p>
            <a:pPr algn="ctr">
              <a:lnSpc>
                <a:spcPct val="100000"/>
              </a:lnSpc>
            </a:pPr>
            <a:r>
              <a:rPr sz="1400" b="1">
                <a:solidFill>
                  <a:srgbClr val="E2571B"/>
                </a:solidFill>
                <a:latin typeface="Noto Sans KR"/>
                <a:ea typeface="Noto Sans KR"/>
                <a:cs typeface="Noto Sans KR"/>
              </a:rPr>
              <a:t>전 세계 Kitchen Robotics의 표준 조작 플랫폼을 만든다</a:t>
            </a:r>
            <a:r>
              <a:rPr sz="1100" b="0">
                <a:solidFill>
                  <a:srgbClr val="A9AEB5"/>
                </a:solidFill>
                <a:latin typeface="Noto Sans KR"/>
                <a:ea typeface="Noto Sans KR"/>
                <a:cs typeface="Noto Sans KR"/>
              </a:rPr>
              <a:t>   Building the Manipulation Standard for Kitchen Robotics</a:t>
            </a:r>
          </a:p>
        </p:txBody>
      </p:sp>
      <p:sp>
        <p:nvSpPr>
          <p:cNvPr id="12" name="TextBox 11"/>
          <p:cNvSpPr txBox="1"/>
          <p:nvPr/>
        </p:nvSpPr>
        <p:spPr>
          <a:xfrm>
            <a:off x="685800" y="6528816"/>
            <a:ext cx="10820095" cy="201168"/>
          </a:xfrm>
          <a:prstGeom prst="rect">
            <a:avLst/>
          </a:prstGeom>
          <a:noFill/>
        </p:spPr>
        <p:txBody>
          <a:bodyPr wrap="square" lIns="0" rIns="0" tIns="0" bIns="0" anchor="t">
            <a:spAutoFit/>
          </a:bodyPr>
          <a:lstStyle/>
          <a:p>
            <a:pPr algn="ctr">
              <a:lnSpc>
                <a:spcPct val="100000"/>
              </a:lnSpc>
            </a:pPr>
            <a:r>
              <a:rPr sz="900" b="0">
                <a:solidFill>
                  <a:srgbClr val="8C9198"/>
                </a:solidFill>
                <a:latin typeface="Noto Sans KR"/>
                <a:ea typeface="Noto Sans KR"/>
                <a:cs typeface="Noto Sans KR"/>
              </a:rPr>
              <a:t>[회사명 입력 필요]  ·  [대표자명 · 이메일 · 연락처 입력 필요]  ·  [라운드 진행 상황 · 투자 조건 입력 필요]  ·  이미지: 콘셉트 렌더링</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822960"/>
            <a:ext cx="3657600" cy="822960"/>
          </a:xfrm>
          <a:prstGeom prst="rect">
            <a:avLst/>
          </a:prstGeom>
          <a:noFill/>
        </p:spPr>
        <p:txBody>
          <a:bodyPr wrap="square" lIns="0" rIns="0" tIns="0" bIns="0" anchor="t">
            <a:spAutoFit/>
          </a:bodyPr>
          <a:lstStyle/>
          <a:p>
            <a:pPr algn="l">
              <a:lnSpc>
                <a:spcPct val="100000"/>
              </a:lnSpc>
            </a:pPr>
            <a:r>
              <a:rPr sz="4000" b="1">
                <a:solidFill>
                  <a:srgbClr val="15171A"/>
                </a:solidFill>
                <a:latin typeface="Noto Sans KR"/>
                <a:ea typeface="Noto Sans KR"/>
                <a:cs typeface="Noto Sans KR"/>
              </a:rPr>
              <a:t>부록</a:t>
            </a:r>
          </a:p>
        </p:txBody>
      </p:sp>
      <p:sp>
        <p:nvSpPr>
          <p:cNvPr id="3" name="TextBox 2"/>
          <p:cNvSpPr txBox="1"/>
          <p:nvPr/>
        </p:nvSpPr>
        <p:spPr>
          <a:xfrm>
            <a:off x="685800" y="1691640"/>
            <a:ext cx="3383280" cy="822960"/>
          </a:xfrm>
          <a:prstGeom prst="rect">
            <a:avLst/>
          </a:prstGeom>
          <a:noFill/>
        </p:spPr>
        <p:txBody>
          <a:bodyPr wrap="square" lIns="0" rIns="0" tIns="0" bIns="0" anchor="t">
            <a:spAutoFit/>
          </a:bodyPr>
          <a:lstStyle/>
          <a:p>
            <a:pPr algn="l">
              <a:lnSpc>
                <a:spcPct val="100000"/>
              </a:lnSpc>
            </a:pPr>
            <a:r>
              <a:rPr sz="1600" b="0">
                <a:solidFill>
                  <a:srgbClr val="4A4F57"/>
                </a:solidFill>
                <a:latin typeface="Noto Sans KR"/>
                <a:ea typeface="Noto Sans KR"/>
                <a:cs typeface="Noto Sans KR"/>
              </a:rPr>
              <a:t>본문의 근거와 상세 계획</a:t>
            </a:r>
          </a:p>
          <a:p>
            <a:pPr algn="l">
              <a:lnSpc>
                <a:spcPct val="100000"/>
              </a:lnSpc>
            </a:pPr>
            <a:r>
              <a:rPr sz="1600" b="0">
                <a:solidFill>
                  <a:srgbClr val="4A4F57"/>
                </a:solidFill>
                <a:latin typeface="Noto Sans KR"/>
                <a:ea typeface="Noto Sans KR"/>
                <a:cs typeface="Noto Sans KR"/>
              </a:rPr>
              <a:t>기술·재무·산업 검증 트랙</a:t>
            </a:r>
          </a:p>
        </p:txBody>
      </p:sp>
      <p:sp>
        <p:nvSpPr>
          <p:cNvPr id="4" name="TextBox 3"/>
          <p:cNvSpPr txBox="1"/>
          <p:nvPr/>
        </p:nvSpPr>
        <p:spPr>
          <a:xfrm>
            <a:off x="4709160" y="868680"/>
            <a:ext cx="594360" cy="274320"/>
          </a:xfrm>
          <a:prstGeom prst="rect">
            <a:avLst/>
          </a:prstGeom>
          <a:noFill/>
        </p:spPr>
        <p:txBody>
          <a:bodyPr wrap="square" lIns="0" rIns="0" tIns="0" bIns="0" anchor="t">
            <a:spAutoFit/>
          </a:bodyPr>
          <a:lstStyle/>
          <a:p>
            <a:pPr algn="l">
              <a:lnSpc>
                <a:spcPct val="100000"/>
              </a:lnSpc>
            </a:pPr>
            <a:r>
              <a:rPr sz="1300" b="1">
                <a:solidFill>
                  <a:srgbClr val="E2571B"/>
                </a:solidFill>
                <a:latin typeface="Noto Sans KR"/>
                <a:ea typeface="Noto Sans KR"/>
                <a:cs typeface="Noto Sans KR"/>
              </a:rPr>
              <a:t>A1</a:t>
            </a:r>
          </a:p>
        </p:txBody>
      </p:sp>
      <p:sp>
        <p:nvSpPr>
          <p:cNvPr id="5" name="TextBox 4"/>
          <p:cNvSpPr txBox="1"/>
          <p:nvPr/>
        </p:nvSpPr>
        <p:spPr>
          <a:xfrm>
            <a:off x="5303520" y="868680"/>
            <a:ext cx="2926080" cy="274320"/>
          </a:xfrm>
          <a:prstGeom prst="rect">
            <a:avLst/>
          </a:prstGeom>
          <a:noFill/>
        </p:spPr>
        <p:txBody>
          <a:bodyPr wrap="square" lIns="0" rIns="0" tIns="0" bIns="0" anchor="t">
            <a:spAutoFit/>
          </a:bodyPr>
          <a:lstStyle/>
          <a:p>
            <a:pPr algn="l">
              <a:lnSpc>
                <a:spcPct val="100000"/>
              </a:lnSpc>
            </a:pPr>
            <a:r>
              <a:rPr sz="1300" b="0">
                <a:solidFill>
                  <a:srgbClr val="15171A"/>
                </a:solidFill>
                <a:latin typeface="Noto Sans KR"/>
                <a:ea typeface="Noto Sans KR"/>
                <a:cs typeface="Noto Sans KR"/>
              </a:rPr>
              <a:t>주요 가정과 근거 수준</a:t>
            </a:r>
          </a:p>
        </p:txBody>
      </p:sp>
      <p:cxnSp>
        <p:nvCxnSpPr>
          <p:cNvPr id="6" name="Connector 5"/>
          <p:cNvCxnSpPr/>
          <p:nvPr/>
        </p:nvCxnSpPr>
        <p:spPr>
          <a:xfrm>
            <a:off x="4709160" y="1234439"/>
            <a:ext cx="3291840" cy="0"/>
          </a:xfrm>
          <a:prstGeom prst="line">
            <a:avLst/>
          </a:prstGeom>
          <a:ln w="9525">
            <a:solidFill>
              <a:srgbClr val="E2E4E7"/>
            </a:solidFill>
          </a:ln>
        </p:spPr>
      </p:cxnSp>
      <p:sp>
        <p:nvSpPr>
          <p:cNvPr id="7" name="TextBox 6"/>
          <p:cNvSpPr txBox="1"/>
          <p:nvPr/>
        </p:nvSpPr>
        <p:spPr>
          <a:xfrm>
            <a:off x="4709160" y="1325880"/>
            <a:ext cx="594360" cy="274320"/>
          </a:xfrm>
          <a:prstGeom prst="rect">
            <a:avLst/>
          </a:prstGeom>
          <a:noFill/>
        </p:spPr>
        <p:txBody>
          <a:bodyPr wrap="square" lIns="0" rIns="0" tIns="0" bIns="0" anchor="t">
            <a:spAutoFit/>
          </a:bodyPr>
          <a:lstStyle/>
          <a:p>
            <a:pPr algn="l">
              <a:lnSpc>
                <a:spcPct val="100000"/>
              </a:lnSpc>
            </a:pPr>
            <a:r>
              <a:rPr sz="1300" b="1">
                <a:solidFill>
                  <a:srgbClr val="E2571B"/>
                </a:solidFill>
                <a:latin typeface="Noto Sans KR"/>
                <a:ea typeface="Noto Sans KR"/>
                <a:cs typeface="Noto Sans KR"/>
              </a:rPr>
              <a:t>A2</a:t>
            </a:r>
          </a:p>
        </p:txBody>
      </p:sp>
      <p:sp>
        <p:nvSpPr>
          <p:cNvPr id="8" name="TextBox 7"/>
          <p:cNvSpPr txBox="1"/>
          <p:nvPr/>
        </p:nvSpPr>
        <p:spPr>
          <a:xfrm>
            <a:off x="5303520" y="1325880"/>
            <a:ext cx="2926080" cy="274320"/>
          </a:xfrm>
          <a:prstGeom prst="rect">
            <a:avLst/>
          </a:prstGeom>
          <a:noFill/>
        </p:spPr>
        <p:txBody>
          <a:bodyPr wrap="square" lIns="0" rIns="0" tIns="0" bIns="0" anchor="t">
            <a:spAutoFit/>
          </a:bodyPr>
          <a:lstStyle/>
          <a:p>
            <a:pPr algn="l">
              <a:lnSpc>
                <a:spcPct val="100000"/>
              </a:lnSpc>
            </a:pPr>
            <a:r>
              <a:rPr sz="1300" b="0">
                <a:solidFill>
                  <a:srgbClr val="15171A"/>
                </a:solidFill>
                <a:latin typeface="Noto Sans KR"/>
                <a:ea typeface="Noto Sans KR"/>
                <a:cs typeface="Noto Sans KR"/>
              </a:rPr>
              <a:t>단계별 점검 기준</a:t>
            </a:r>
          </a:p>
        </p:txBody>
      </p:sp>
      <p:cxnSp>
        <p:nvCxnSpPr>
          <p:cNvPr id="9" name="Connector 8"/>
          <p:cNvCxnSpPr/>
          <p:nvPr/>
        </p:nvCxnSpPr>
        <p:spPr>
          <a:xfrm>
            <a:off x="4709160" y="1691639"/>
            <a:ext cx="3291840" cy="0"/>
          </a:xfrm>
          <a:prstGeom prst="line">
            <a:avLst/>
          </a:prstGeom>
          <a:ln w="9525">
            <a:solidFill>
              <a:srgbClr val="E2E4E7"/>
            </a:solidFill>
          </a:ln>
        </p:spPr>
      </p:cxnSp>
      <p:sp>
        <p:nvSpPr>
          <p:cNvPr id="10" name="TextBox 9"/>
          <p:cNvSpPr txBox="1"/>
          <p:nvPr/>
        </p:nvSpPr>
        <p:spPr>
          <a:xfrm>
            <a:off x="4709160" y="1783080"/>
            <a:ext cx="594360" cy="274320"/>
          </a:xfrm>
          <a:prstGeom prst="rect">
            <a:avLst/>
          </a:prstGeom>
          <a:noFill/>
        </p:spPr>
        <p:txBody>
          <a:bodyPr wrap="square" lIns="0" rIns="0" tIns="0" bIns="0" anchor="t">
            <a:spAutoFit/>
          </a:bodyPr>
          <a:lstStyle/>
          <a:p>
            <a:pPr algn="l">
              <a:lnSpc>
                <a:spcPct val="100000"/>
              </a:lnSpc>
            </a:pPr>
            <a:r>
              <a:rPr sz="1300" b="1">
                <a:solidFill>
                  <a:srgbClr val="E2571B"/>
                </a:solidFill>
                <a:latin typeface="Noto Sans KR"/>
                <a:ea typeface="Noto Sans KR"/>
                <a:cs typeface="Noto Sans KR"/>
              </a:rPr>
              <a:t>A3</a:t>
            </a:r>
          </a:p>
        </p:txBody>
      </p:sp>
      <p:sp>
        <p:nvSpPr>
          <p:cNvPr id="11" name="TextBox 10"/>
          <p:cNvSpPr txBox="1"/>
          <p:nvPr/>
        </p:nvSpPr>
        <p:spPr>
          <a:xfrm>
            <a:off x="5303520" y="1783080"/>
            <a:ext cx="2926080" cy="274320"/>
          </a:xfrm>
          <a:prstGeom prst="rect">
            <a:avLst/>
          </a:prstGeom>
          <a:noFill/>
        </p:spPr>
        <p:txBody>
          <a:bodyPr wrap="square" lIns="0" rIns="0" tIns="0" bIns="0" anchor="t">
            <a:spAutoFit/>
          </a:bodyPr>
          <a:lstStyle/>
          <a:p>
            <a:pPr algn="l">
              <a:lnSpc>
                <a:spcPct val="100000"/>
              </a:lnSpc>
            </a:pPr>
            <a:r>
              <a:rPr sz="1300" b="0">
                <a:solidFill>
                  <a:srgbClr val="15171A"/>
                </a:solidFill>
                <a:latin typeface="Noto Sans KR"/>
                <a:ea typeface="Noto Sans KR"/>
                <a:cs typeface="Noto Sans KR"/>
              </a:rPr>
              <a:t>SoftHand 설계 상세</a:t>
            </a:r>
          </a:p>
        </p:txBody>
      </p:sp>
      <p:cxnSp>
        <p:nvCxnSpPr>
          <p:cNvPr id="12" name="Connector 11"/>
          <p:cNvCxnSpPr/>
          <p:nvPr/>
        </p:nvCxnSpPr>
        <p:spPr>
          <a:xfrm>
            <a:off x="4709160" y="2148840"/>
            <a:ext cx="3291840" cy="0"/>
          </a:xfrm>
          <a:prstGeom prst="line">
            <a:avLst/>
          </a:prstGeom>
          <a:ln w="9525">
            <a:solidFill>
              <a:srgbClr val="E2E4E7"/>
            </a:solidFill>
          </a:ln>
        </p:spPr>
      </p:cxnSp>
      <p:sp>
        <p:nvSpPr>
          <p:cNvPr id="13" name="TextBox 12"/>
          <p:cNvSpPr txBox="1"/>
          <p:nvPr/>
        </p:nvSpPr>
        <p:spPr>
          <a:xfrm>
            <a:off x="4709160" y="2240280"/>
            <a:ext cx="594360" cy="274320"/>
          </a:xfrm>
          <a:prstGeom prst="rect">
            <a:avLst/>
          </a:prstGeom>
          <a:noFill/>
        </p:spPr>
        <p:txBody>
          <a:bodyPr wrap="square" lIns="0" rIns="0" tIns="0" bIns="0" anchor="t">
            <a:spAutoFit/>
          </a:bodyPr>
          <a:lstStyle/>
          <a:p>
            <a:pPr algn="l">
              <a:lnSpc>
                <a:spcPct val="100000"/>
              </a:lnSpc>
            </a:pPr>
            <a:r>
              <a:rPr sz="1300" b="1">
                <a:solidFill>
                  <a:srgbClr val="E2571B"/>
                </a:solidFill>
                <a:latin typeface="Noto Sans KR"/>
                <a:ea typeface="Noto Sans KR"/>
                <a:cs typeface="Noto Sans KR"/>
              </a:rPr>
              <a:t>A4</a:t>
            </a:r>
          </a:p>
        </p:txBody>
      </p:sp>
      <p:sp>
        <p:nvSpPr>
          <p:cNvPr id="14" name="TextBox 13"/>
          <p:cNvSpPr txBox="1"/>
          <p:nvPr/>
        </p:nvSpPr>
        <p:spPr>
          <a:xfrm>
            <a:off x="5303520" y="2240280"/>
            <a:ext cx="2926080" cy="274320"/>
          </a:xfrm>
          <a:prstGeom prst="rect">
            <a:avLst/>
          </a:prstGeom>
          <a:noFill/>
        </p:spPr>
        <p:txBody>
          <a:bodyPr wrap="square" lIns="0" rIns="0" tIns="0" bIns="0" anchor="t">
            <a:spAutoFit/>
          </a:bodyPr>
          <a:lstStyle/>
          <a:p>
            <a:pPr algn="l">
              <a:lnSpc>
                <a:spcPct val="100000"/>
              </a:lnSpc>
            </a:pPr>
            <a:r>
              <a:rPr sz="1300" b="0">
                <a:solidFill>
                  <a:srgbClr val="15171A"/>
                </a:solidFill>
                <a:latin typeface="Noto Sans KR"/>
                <a:ea typeface="Noto Sans KR"/>
                <a:cs typeface="Noto Sans KR"/>
              </a:rPr>
              <a:t>성능 지표와 시험 방법</a:t>
            </a:r>
          </a:p>
        </p:txBody>
      </p:sp>
      <p:cxnSp>
        <p:nvCxnSpPr>
          <p:cNvPr id="15" name="Connector 14"/>
          <p:cNvCxnSpPr/>
          <p:nvPr/>
        </p:nvCxnSpPr>
        <p:spPr>
          <a:xfrm>
            <a:off x="4709160" y="2606040"/>
            <a:ext cx="3291840" cy="0"/>
          </a:xfrm>
          <a:prstGeom prst="line">
            <a:avLst/>
          </a:prstGeom>
          <a:ln w="9525">
            <a:solidFill>
              <a:srgbClr val="E2E4E7"/>
            </a:solidFill>
          </a:ln>
        </p:spPr>
      </p:cxnSp>
      <p:sp>
        <p:nvSpPr>
          <p:cNvPr id="16" name="TextBox 15"/>
          <p:cNvSpPr txBox="1"/>
          <p:nvPr/>
        </p:nvSpPr>
        <p:spPr>
          <a:xfrm>
            <a:off x="4709160" y="2697480"/>
            <a:ext cx="594360" cy="274320"/>
          </a:xfrm>
          <a:prstGeom prst="rect">
            <a:avLst/>
          </a:prstGeom>
          <a:noFill/>
        </p:spPr>
        <p:txBody>
          <a:bodyPr wrap="square" lIns="0" rIns="0" tIns="0" bIns="0" anchor="t">
            <a:spAutoFit/>
          </a:bodyPr>
          <a:lstStyle/>
          <a:p>
            <a:pPr algn="l">
              <a:lnSpc>
                <a:spcPct val="100000"/>
              </a:lnSpc>
            </a:pPr>
            <a:r>
              <a:rPr sz="1300" b="1">
                <a:solidFill>
                  <a:srgbClr val="E2571B"/>
                </a:solidFill>
                <a:latin typeface="Noto Sans KR"/>
                <a:ea typeface="Noto Sans KR"/>
                <a:cs typeface="Noto Sans KR"/>
              </a:rPr>
              <a:t>A5</a:t>
            </a:r>
          </a:p>
        </p:txBody>
      </p:sp>
      <p:sp>
        <p:nvSpPr>
          <p:cNvPr id="17" name="TextBox 16"/>
          <p:cNvSpPr txBox="1"/>
          <p:nvPr/>
        </p:nvSpPr>
        <p:spPr>
          <a:xfrm>
            <a:off x="5303520" y="2697480"/>
            <a:ext cx="2926080" cy="274320"/>
          </a:xfrm>
          <a:prstGeom prst="rect">
            <a:avLst/>
          </a:prstGeom>
          <a:noFill/>
        </p:spPr>
        <p:txBody>
          <a:bodyPr wrap="square" lIns="0" rIns="0" tIns="0" bIns="0" anchor="t">
            <a:spAutoFit/>
          </a:bodyPr>
          <a:lstStyle/>
          <a:p>
            <a:pPr algn="l">
              <a:lnSpc>
                <a:spcPct val="100000"/>
              </a:lnSpc>
            </a:pPr>
            <a:r>
              <a:rPr sz="1300" b="0">
                <a:solidFill>
                  <a:srgbClr val="15171A"/>
                </a:solidFill>
                <a:latin typeface="Noto Sans KR"/>
                <a:ea typeface="Noto Sans KR"/>
                <a:cs typeface="Noto Sans KR"/>
              </a:rPr>
              <a:t>산업 검증 트랙 (머신텐딩)</a:t>
            </a:r>
          </a:p>
        </p:txBody>
      </p:sp>
      <p:cxnSp>
        <p:nvCxnSpPr>
          <p:cNvPr id="18" name="Connector 17"/>
          <p:cNvCxnSpPr/>
          <p:nvPr/>
        </p:nvCxnSpPr>
        <p:spPr>
          <a:xfrm>
            <a:off x="4709160" y="3063240"/>
            <a:ext cx="3291840" cy="0"/>
          </a:xfrm>
          <a:prstGeom prst="line">
            <a:avLst/>
          </a:prstGeom>
          <a:ln w="9525">
            <a:solidFill>
              <a:srgbClr val="E2E4E7"/>
            </a:solidFill>
          </a:ln>
        </p:spPr>
      </p:cxnSp>
      <p:sp>
        <p:nvSpPr>
          <p:cNvPr id="19" name="TextBox 18"/>
          <p:cNvSpPr txBox="1"/>
          <p:nvPr/>
        </p:nvSpPr>
        <p:spPr>
          <a:xfrm>
            <a:off x="4709160" y="3154680"/>
            <a:ext cx="594360" cy="274320"/>
          </a:xfrm>
          <a:prstGeom prst="rect">
            <a:avLst/>
          </a:prstGeom>
          <a:noFill/>
        </p:spPr>
        <p:txBody>
          <a:bodyPr wrap="square" lIns="0" rIns="0" tIns="0" bIns="0" anchor="t">
            <a:spAutoFit/>
          </a:bodyPr>
          <a:lstStyle/>
          <a:p>
            <a:pPr algn="l">
              <a:lnSpc>
                <a:spcPct val="100000"/>
              </a:lnSpc>
            </a:pPr>
            <a:r>
              <a:rPr sz="1300" b="1">
                <a:solidFill>
                  <a:srgbClr val="E2571B"/>
                </a:solidFill>
                <a:latin typeface="Noto Sans KR"/>
                <a:ea typeface="Noto Sans KR"/>
                <a:cs typeface="Noto Sans KR"/>
              </a:rPr>
              <a:t>A6</a:t>
            </a:r>
          </a:p>
        </p:txBody>
      </p:sp>
      <p:sp>
        <p:nvSpPr>
          <p:cNvPr id="20" name="TextBox 19"/>
          <p:cNvSpPr txBox="1"/>
          <p:nvPr/>
        </p:nvSpPr>
        <p:spPr>
          <a:xfrm>
            <a:off x="5303520" y="3154680"/>
            <a:ext cx="2926080" cy="274320"/>
          </a:xfrm>
          <a:prstGeom prst="rect">
            <a:avLst/>
          </a:prstGeom>
          <a:noFill/>
        </p:spPr>
        <p:txBody>
          <a:bodyPr wrap="square" lIns="0" rIns="0" tIns="0" bIns="0" anchor="t">
            <a:spAutoFit/>
          </a:bodyPr>
          <a:lstStyle/>
          <a:p>
            <a:pPr algn="l">
              <a:lnSpc>
                <a:spcPct val="100000"/>
              </a:lnSpc>
            </a:pPr>
            <a:r>
              <a:rPr sz="1300" b="0">
                <a:solidFill>
                  <a:srgbClr val="15171A"/>
                </a:solidFill>
                <a:latin typeface="Noto Sans KR"/>
                <a:ea typeface="Noto Sans KR"/>
                <a:cs typeface="Noto Sans KR"/>
              </a:rPr>
              <a:t>경쟁 상세</a:t>
            </a:r>
          </a:p>
        </p:txBody>
      </p:sp>
      <p:cxnSp>
        <p:nvCxnSpPr>
          <p:cNvPr id="21" name="Connector 20"/>
          <p:cNvCxnSpPr/>
          <p:nvPr/>
        </p:nvCxnSpPr>
        <p:spPr>
          <a:xfrm>
            <a:off x="4709160" y="3520440"/>
            <a:ext cx="3291840" cy="0"/>
          </a:xfrm>
          <a:prstGeom prst="line">
            <a:avLst/>
          </a:prstGeom>
          <a:ln w="9525">
            <a:solidFill>
              <a:srgbClr val="E2E4E7"/>
            </a:solidFill>
          </a:ln>
        </p:spPr>
      </p:cxnSp>
      <p:sp>
        <p:nvSpPr>
          <p:cNvPr id="22" name="TextBox 21"/>
          <p:cNvSpPr txBox="1"/>
          <p:nvPr/>
        </p:nvSpPr>
        <p:spPr>
          <a:xfrm>
            <a:off x="4709160" y="3611880"/>
            <a:ext cx="594360" cy="274320"/>
          </a:xfrm>
          <a:prstGeom prst="rect">
            <a:avLst/>
          </a:prstGeom>
          <a:noFill/>
        </p:spPr>
        <p:txBody>
          <a:bodyPr wrap="square" lIns="0" rIns="0" tIns="0" bIns="0" anchor="t">
            <a:spAutoFit/>
          </a:bodyPr>
          <a:lstStyle/>
          <a:p>
            <a:pPr algn="l">
              <a:lnSpc>
                <a:spcPct val="100000"/>
              </a:lnSpc>
            </a:pPr>
            <a:r>
              <a:rPr sz="1300" b="1">
                <a:solidFill>
                  <a:srgbClr val="E2571B"/>
                </a:solidFill>
                <a:latin typeface="Noto Sans KR"/>
                <a:ea typeface="Noto Sans KR"/>
                <a:cs typeface="Noto Sans KR"/>
              </a:rPr>
              <a:t>A7</a:t>
            </a:r>
          </a:p>
        </p:txBody>
      </p:sp>
      <p:sp>
        <p:nvSpPr>
          <p:cNvPr id="23" name="TextBox 22"/>
          <p:cNvSpPr txBox="1"/>
          <p:nvPr/>
        </p:nvSpPr>
        <p:spPr>
          <a:xfrm>
            <a:off x="5303520" y="3611880"/>
            <a:ext cx="2926080" cy="274320"/>
          </a:xfrm>
          <a:prstGeom prst="rect">
            <a:avLst/>
          </a:prstGeom>
          <a:noFill/>
        </p:spPr>
        <p:txBody>
          <a:bodyPr wrap="square" lIns="0" rIns="0" tIns="0" bIns="0" anchor="t">
            <a:spAutoFit/>
          </a:bodyPr>
          <a:lstStyle/>
          <a:p>
            <a:pPr algn="l">
              <a:lnSpc>
                <a:spcPct val="100000"/>
              </a:lnSpc>
            </a:pPr>
            <a:r>
              <a:rPr sz="1300" b="0">
                <a:solidFill>
                  <a:srgbClr val="15171A"/>
                </a:solidFill>
                <a:latin typeface="Noto Sans KR"/>
                <a:ea typeface="Noto Sans KR"/>
                <a:cs typeface="Noto Sans KR"/>
              </a:rPr>
              <a:t>피지컬 AI 흐름</a:t>
            </a:r>
          </a:p>
        </p:txBody>
      </p:sp>
      <p:cxnSp>
        <p:nvCxnSpPr>
          <p:cNvPr id="24" name="Connector 23"/>
          <p:cNvCxnSpPr/>
          <p:nvPr/>
        </p:nvCxnSpPr>
        <p:spPr>
          <a:xfrm>
            <a:off x="4709160" y="3977640"/>
            <a:ext cx="3291840" cy="0"/>
          </a:xfrm>
          <a:prstGeom prst="line">
            <a:avLst/>
          </a:prstGeom>
          <a:ln w="9525">
            <a:solidFill>
              <a:srgbClr val="E2E4E7"/>
            </a:solidFill>
          </a:ln>
        </p:spPr>
      </p:cxnSp>
      <p:sp>
        <p:nvSpPr>
          <p:cNvPr id="25" name="TextBox 24"/>
          <p:cNvSpPr txBox="1"/>
          <p:nvPr/>
        </p:nvSpPr>
        <p:spPr>
          <a:xfrm>
            <a:off x="4709160" y="4069080"/>
            <a:ext cx="594360" cy="274320"/>
          </a:xfrm>
          <a:prstGeom prst="rect">
            <a:avLst/>
          </a:prstGeom>
          <a:noFill/>
        </p:spPr>
        <p:txBody>
          <a:bodyPr wrap="square" lIns="0" rIns="0" tIns="0" bIns="0" anchor="t">
            <a:spAutoFit/>
          </a:bodyPr>
          <a:lstStyle/>
          <a:p>
            <a:pPr algn="l">
              <a:lnSpc>
                <a:spcPct val="100000"/>
              </a:lnSpc>
            </a:pPr>
            <a:r>
              <a:rPr sz="1300" b="1">
                <a:solidFill>
                  <a:srgbClr val="E2571B"/>
                </a:solidFill>
                <a:latin typeface="Noto Sans KR"/>
                <a:ea typeface="Noto Sans KR"/>
                <a:cs typeface="Noto Sans KR"/>
              </a:rPr>
              <a:t>A8</a:t>
            </a:r>
          </a:p>
        </p:txBody>
      </p:sp>
      <p:sp>
        <p:nvSpPr>
          <p:cNvPr id="26" name="TextBox 25"/>
          <p:cNvSpPr txBox="1"/>
          <p:nvPr/>
        </p:nvSpPr>
        <p:spPr>
          <a:xfrm>
            <a:off x="5303520" y="4069080"/>
            <a:ext cx="2926080" cy="274320"/>
          </a:xfrm>
          <a:prstGeom prst="rect">
            <a:avLst/>
          </a:prstGeom>
          <a:noFill/>
        </p:spPr>
        <p:txBody>
          <a:bodyPr wrap="square" lIns="0" rIns="0" tIns="0" bIns="0" anchor="t">
            <a:spAutoFit/>
          </a:bodyPr>
          <a:lstStyle/>
          <a:p>
            <a:pPr algn="l">
              <a:lnSpc>
                <a:spcPct val="100000"/>
              </a:lnSpc>
            </a:pPr>
            <a:r>
              <a:rPr sz="1300" b="0">
                <a:solidFill>
                  <a:srgbClr val="15171A"/>
                </a:solidFill>
                <a:latin typeface="Noto Sans KR"/>
                <a:ea typeface="Noto Sans KR"/>
                <a:cs typeface="Noto Sans KR"/>
              </a:rPr>
              <a:t>시장 근거</a:t>
            </a:r>
          </a:p>
        </p:txBody>
      </p:sp>
      <p:cxnSp>
        <p:nvCxnSpPr>
          <p:cNvPr id="27" name="Connector 26"/>
          <p:cNvCxnSpPr/>
          <p:nvPr/>
        </p:nvCxnSpPr>
        <p:spPr>
          <a:xfrm>
            <a:off x="4709160" y="4434840"/>
            <a:ext cx="3291840" cy="0"/>
          </a:xfrm>
          <a:prstGeom prst="line">
            <a:avLst/>
          </a:prstGeom>
          <a:ln w="9525">
            <a:solidFill>
              <a:srgbClr val="E2E4E7"/>
            </a:solidFill>
          </a:ln>
        </p:spPr>
      </p:cxnSp>
      <p:sp>
        <p:nvSpPr>
          <p:cNvPr id="28" name="TextBox 27"/>
          <p:cNvSpPr txBox="1"/>
          <p:nvPr/>
        </p:nvSpPr>
        <p:spPr>
          <a:xfrm>
            <a:off x="4709160" y="4526280"/>
            <a:ext cx="594360" cy="274320"/>
          </a:xfrm>
          <a:prstGeom prst="rect">
            <a:avLst/>
          </a:prstGeom>
          <a:noFill/>
        </p:spPr>
        <p:txBody>
          <a:bodyPr wrap="square" lIns="0" rIns="0" tIns="0" bIns="0" anchor="t">
            <a:spAutoFit/>
          </a:bodyPr>
          <a:lstStyle/>
          <a:p>
            <a:pPr algn="l">
              <a:lnSpc>
                <a:spcPct val="100000"/>
              </a:lnSpc>
            </a:pPr>
            <a:r>
              <a:rPr sz="1300" b="1">
                <a:solidFill>
                  <a:srgbClr val="E2571B"/>
                </a:solidFill>
                <a:latin typeface="Noto Sans KR"/>
                <a:ea typeface="Noto Sans KR"/>
                <a:cs typeface="Noto Sans KR"/>
              </a:rPr>
              <a:t>A9</a:t>
            </a:r>
          </a:p>
        </p:txBody>
      </p:sp>
      <p:sp>
        <p:nvSpPr>
          <p:cNvPr id="29" name="TextBox 28"/>
          <p:cNvSpPr txBox="1"/>
          <p:nvPr/>
        </p:nvSpPr>
        <p:spPr>
          <a:xfrm>
            <a:off x="5303520" y="4526280"/>
            <a:ext cx="2926080" cy="274320"/>
          </a:xfrm>
          <a:prstGeom prst="rect">
            <a:avLst/>
          </a:prstGeom>
          <a:noFill/>
        </p:spPr>
        <p:txBody>
          <a:bodyPr wrap="square" lIns="0" rIns="0" tIns="0" bIns="0" anchor="t">
            <a:spAutoFit/>
          </a:bodyPr>
          <a:lstStyle/>
          <a:p>
            <a:pPr algn="l">
              <a:lnSpc>
                <a:spcPct val="100000"/>
              </a:lnSpc>
            </a:pPr>
            <a:r>
              <a:rPr sz="1300" b="0">
                <a:solidFill>
                  <a:srgbClr val="15171A"/>
                </a:solidFill>
                <a:latin typeface="Noto Sans KR"/>
                <a:ea typeface="Noto Sans KR"/>
                <a:cs typeface="Noto Sans KR"/>
              </a:rPr>
              <a:t>수익 모델 가정</a:t>
            </a:r>
          </a:p>
        </p:txBody>
      </p:sp>
      <p:cxnSp>
        <p:nvCxnSpPr>
          <p:cNvPr id="30" name="Connector 29"/>
          <p:cNvCxnSpPr/>
          <p:nvPr/>
        </p:nvCxnSpPr>
        <p:spPr>
          <a:xfrm>
            <a:off x="4709160" y="4892040"/>
            <a:ext cx="3291840" cy="0"/>
          </a:xfrm>
          <a:prstGeom prst="line">
            <a:avLst/>
          </a:prstGeom>
          <a:ln w="9525">
            <a:solidFill>
              <a:srgbClr val="E2E4E7"/>
            </a:solidFill>
          </a:ln>
        </p:spPr>
      </p:cxnSp>
      <p:sp>
        <p:nvSpPr>
          <p:cNvPr id="31" name="TextBox 30"/>
          <p:cNvSpPr txBox="1"/>
          <p:nvPr/>
        </p:nvSpPr>
        <p:spPr>
          <a:xfrm>
            <a:off x="8366760" y="868680"/>
            <a:ext cx="594360" cy="274320"/>
          </a:xfrm>
          <a:prstGeom prst="rect">
            <a:avLst/>
          </a:prstGeom>
          <a:noFill/>
        </p:spPr>
        <p:txBody>
          <a:bodyPr wrap="square" lIns="0" rIns="0" tIns="0" bIns="0" anchor="t">
            <a:spAutoFit/>
          </a:bodyPr>
          <a:lstStyle/>
          <a:p>
            <a:pPr algn="l">
              <a:lnSpc>
                <a:spcPct val="100000"/>
              </a:lnSpc>
            </a:pPr>
            <a:r>
              <a:rPr sz="1300" b="1">
                <a:solidFill>
                  <a:srgbClr val="E2571B"/>
                </a:solidFill>
                <a:latin typeface="Noto Sans KR"/>
                <a:ea typeface="Noto Sans KR"/>
                <a:cs typeface="Noto Sans KR"/>
              </a:rPr>
              <a:t>A10</a:t>
            </a:r>
          </a:p>
        </p:txBody>
      </p:sp>
      <p:sp>
        <p:nvSpPr>
          <p:cNvPr id="32" name="TextBox 31"/>
          <p:cNvSpPr txBox="1"/>
          <p:nvPr/>
        </p:nvSpPr>
        <p:spPr>
          <a:xfrm>
            <a:off x="8961120" y="868680"/>
            <a:ext cx="2926080" cy="274320"/>
          </a:xfrm>
          <a:prstGeom prst="rect">
            <a:avLst/>
          </a:prstGeom>
          <a:noFill/>
        </p:spPr>
        <p:txBody>
          <a:bodyPr wrap="square" lIns="0" rIns="0" tIns="0" bIns="0" anchor="t">
            <a:spAutoFit/>
          </a:bodyPr>
          <a:lstStyle/>
          <a:p>
            <a:pPr algn="l">
              <a:lnSpc>
                <a:spcPct val="100000"/>
              </a:lnSpc>
            </a:pPr>
            <a:r>
              <a:rPr sz="1300" b="0">
                <a:solidFill>
                  <a:srgbClr val="15171A"/>
                </a:solidFill>
                <a:latin typeface="Noto Sans KR"/>
                <a:ea typeface="Noto Sans KR"/>
                <a:cs typeface="Noto Sans KR"/>
              </a:rPr>
              <a:t>5개년 손익 (Base Case)</a:t>
            </a:r>
          </a:p>
        </p:txBody>
      </p:sp>
      <p:cxnSp>
        <p:nvCxnSpPr>
          <p:cNvPr id="33" name="Connector 32"/>
          <p:cNvCxnSpPr/>
          <p:nvPr/>
        </p:nvCxnSpPr>
        <p:spPr>
          <a:xfrm>
            <a:off x="8366760" y="1234439"/>
            <a:ext cx="3291840" cy="0"/>
          </a:xfrm>
          <a:prstGeom prst="line">
            <a:avLst/>
          </a:prstGeom>
          <a:ln w="9525">
            <a:solidFill>
              <a:srgbClr val="E2E4E7"/>
            </a:solidFill>
          </a:ln>
        </p:spPr>
      </p:cxnSp>
      <p:sp>
        <p:nvSpPr>
          <p:cNvPr id="34" name="TextBox 33"/>
          <p:cNvSpPr txBox="1"/>
          <p:nvPr/>
        </p:nvSpPr>
        <p:spPr>
          <a:xfrm>
            <a:off x="8366760" y="1325880"/>
            <a:ext cx="594360" cy="274320"/>
          </a:xfrm>
          <a:prstGeom prst="rect">
            <a:avLst/>
          </a:prstGeom>
          <a:noFill/>
        </p:spPr>
        <p:txBody>
          <a:bodyPr wrap="square" lIns="0" rIns="0" tIns="0" bIns="0" anchor="t">
            <a:spAutoFit/>
          </a:bodyPr>
          <a:lstStyle/>
          <a:p>
            <a:pPr algn="l">
              <a:lnSpc>
                <a:spcPct val="100000"/>
              </a:lnSpc>
            </a:pPr>
            <a:r>
              <a:rPr sz="1300" b="1">
                <a:solidFill>
                  <a:srgbClr val="E2571B"/>
                </a:solidFill>
                <a:latin typeface="Noto Sans KR"/>
                <a:ea typeface="Noto Sans KR"/>
                <a:cs typeface="Noto Sans KR"/>
              </a:rPr>
              <a:t>A11</a:t>
            </a:r>
          </a:p>
        </p:txBody>
      </p:sp>
      <p:sp>
        <p:nvSpPr>
          <p:cNvPr id="35" name="TextBox 34"/>
          <p:cNvSpPr txBox="1"/>
          <p:nvPr/>
        </p:nvSpPr>
        <p:spPr>
          <a:xfrm>
            <a:off x="8961120" y="1325880"/>
            <a:ext cx="2926080" cy="274320"/>
          </a:xfrm>
          <a:prstGeom prst="rect">
            <a:avLst/>
          </a:prstGeom>
          <a:noFill/>
        </p:spPr>
        <p:txBody>
          <a:bodyPr wrap="square" lIns="0" rIns="0" tIns="0" bIns="0" anchor="t">
            <a:spAutoFit/>
          </a:bodyPr>
          <a:lstStyle/>
          <a:p>
            <a:pPr algn="l">
              <a:lnSpc>
                <a:spcPct val="100000"/>
              </a:lnSpc>
            </a:pPr>
            <a:r>
              <a:rPr sz="1300" b="0">
                <a:solidFill>
                  <a:srgbClr val="15171A"/>
                </a:solidFill>
                <a:latin typeface="Noto Sans KR"/>
                <a:ea typeface="Noto Sans KR"/>
                <a:cs typeface="Noto Sans KR"/>
              </a:rPr>
              <a:t>Seed 자금 사용 상세</a:t>
            </a:r>
          </a:p>
        </p:txBody>
      </p:sp>
      <p:cxnSp>
        <p:nvCxnSpPr>
          <p:cNvPr id="36" name="Connector 35"/>
          <p:cNvCxnSpPr/>
          <p:nvPr/>
        </p:nvCxnSpPr>
        <p:spPr>
          <a:xfrm>
            <a:off x="8366760" y="1691639"/>
            <a:ext cx="3291840" cy="0"/>
          </a:xfrm>
          <a:prstGeom prst="line">
            <a:avLst/>
          </a:prstGeom>
          <a:ln w="9525">
            <a:solidFill>
              <a:srgbClr val="E2E4E7"/>
            </a:solidFill>
          </a:ln>
        </p:spPr>
      </p:cxnSp>
      <p:sp>
        <p:nvSpPr>
          <p:cNvPr id="37" name="TextBox 36"/>
          <p:cNvSpPr txBox="1"/>
          <p:nvPr/>
        </p:nvSpPr>
        <p:spPr>
          <a:xfrm>
            <a:off x="8366760" y="1783080"/>
            <a:ext cx="594360" cy="274320"/>
          </a:xfrm>
          <a:prstGeom prst="rect">
            <a:avLst/>
          </a:prstGeom>
          <a:noFill/>
        </p:spPr>
        <p:txBody>
          <a:bodyPr wrap="square" lIns="0" rIns="0" tIns="0" bIns="0" anchor="t">
            <a:spAutoFit/>
          </a:bodyPr>
          <a:lstStyle/>
          <a:p>
            <a:pPr algn="l">
              <a:lnSpc>
                <a:spcPct val="100000"/>
              </a:lnSpc>
            </a:pPr>
            <a:r>
              <a:rPr sz="1300" b="1">
                <a:solidFill>
                  <a:srgbClr val="E2571B"/>
                </a:solidFill>
                <a:latin typeface="Noto Sans KR"/>
                <a:ea typeface="Noto Sans KR"/>
                <a:cs typeface="Noto Sans KR"/>
              </a:rPr>
              <a:t>A12</a:t>
            </a:r>
          </a:p>
        </p:txBody>
      </p:sp>
      <p:sp>
        <p:nvSpPr>
          <p:cNvPr id="38" name="TextBox 37"/>
          <p:cNvSpPr txBox="1"/>
          <p:nvPr/>
        </p:nvSpPr>
        <p:spPr>
          <a:xfrm>
            <a:off x="8961120" y="1783080"/>
            <a:ext cx="2926080" cy="274320"/>
          </a:xfrm>
          <a:prstGeom prst="rect">
            <a:avLst/>
          </a:prstGeom>
          <a:noFill/>
        </p:spPr>
        <p:txBody>
          <a:bodyPr wrap="square" lIns="0" rIns="0" tIns="0" bIns="0" anchor="t">
            <a:spAutoFit/>
          </a:bodyPr>
          <a:lstStyle/>
          <a:p>
            <a:pPr algn="l">
              <a:lnSpc>
                <a:spcPct val="100000"/>
              </a:lnSpc>
            </a:pPr>
            <a:r>
              <a:rPr sz="1300" b="0">
                <a:solidFill>
                  <a:srgbClr val="15171A"/>
                </a:solidFill>
                <a:latin typeface="Noto Sans KR"/>
                <a:ea typeface="Noto Sans KR"/>
                <a:cs typeface="Noto Sans KR"/>
              </a:rPr>
              <a:t>데이터 축적 계획</a:t>
            </a:r>
          </a:p>
        </p:txBody>
      </p:sp>
      <p:cxnSp>
        <p:nvCxnSpPr>
          <p:cNvPr id="39" name="Connector 38"/>
          <p:cNvCxnSpPr/>
          <p:nvPr/>
        </p:nvCxnSpPr>
        <p:spPr>
          <a:xfrm>
            <a:off x="8366760" y="2148840"/>
            <a:ext cx="3291840" cy="0"/>
          </a:xfrm>
          <a:prstGeom prst="line">
            <a:avLst/>
          </a:prstGeom>
          <a:ln w="9525">
            <a:solidFill>
              <a:srgbClr val="E2E4E7"/>
            </a:solidFill>
          </a:ln>
        </p:spPr>
      </p:cxnSp>
      <p:sp>
        <p:nvSpPr>
          <p:cNvPr id="40" name="TextBox 39"/>
          <p:cNvSpPr txBox="1"/>
          <p:nvPr/>
        </p:nvSpPr>
        <p:spPr>
          <a:xfrm>
            <a:off x="8366760" y="2240280"/>
            <a:ext cx="594360" cy="274320"/>
          </a:xfrm>
          <a:prstGeom prst="rect">
            <a:avLst/>
          </a:prstGeom>
          <a:noFill/>
        </p:spPr>
        <p:txBody>
          <a:bodyPr wrap="square" lIns="0" rIns="0" tIns="0" bIns="0" anchor="t">
            <a:spAutoFit/>
          </a:bodyPr>
          <a:lstStyle/>
          <a:p>
            <a:pPr algn="l">
              <a:lnSpc>
                <a:spcPct val="100000"/>
              </a:lnSpc>
            </a:pPr>
            <a:r>
              <a:rPr sz="1300" b="1">
                <a:solidFill>
                  <a:srgbClr val="E2571B"/>
                </a:solidFill>
                <a:latin typeface="Noto Sans KR"/>
                <a:ea typeface="Noto Sans KR"/>
                <a:cs typeface="Noto Sans KR"/>
              </a:rPr>
              <a:t>A13</a:t>
            </a:r>
          </a:p>
        </p:txBody>
      </p:sp>
      <p:sp>
        <p:nvSpPr>
          <p:cNvPr id="41" name="TextBox 40"/>
          <p:cNvSpPr txBox="1"/>
          <p:nvPr/>
        </p:nvSpPr>
        <p:spPr>
          <a:xfrm>
            <a:off x="8961120" y="2240280"/>
            <a:ext cx="2926080" cy="274320"/>
          </a:xfrm>
          <a:prstGeom prst="rect">
            <a:avLst/>
          </a:prstGeom>
          <a:noFill/>
        </p:spPr>
        <p:txBody>
          <a:bodyPr wrap="square" lIns="0" rIns="0" tIns="0" bIns="0" anchor="t">
            <a:spAutoFit/>
          </a:bodyPr>
          <a:lstStyle/>
          <a:p>
            <a:pPr algn="l">
              <a:lnSpc>
                <a:spcPct val="100000"/>
              </a:lnSpc>
            </a:pPr>
            <a:r>
              <a:rPr sz="1300" b="0">
                <a:solidFill>
                  <a:srgbClr val="15171A"/>
                </a:solidFill>
                <a:latin typeface="Noto Sans KR"/>
                <a:ea typeface="Noto Sans KR"/>
                <a:cs typeface="Noto Sans KR"/>
              </a:rPr>
              <a:t>장기 보급 채널</a:t>
            </a:r>
          </a:p>
        </p:txBody>
      </p:sp>
      <p:cxnSp>
        <p:nvCxnSpPr>
          <p:cNvPr id="42" name="Connector 41"/>
          <p:cNvCxnSpPr/>
          <p:nvPr/>
        </p:nvCxnSpPr>
        <p:spPr>
          <a:xfrm>
            <a:off x="8366760" y="2606040"/>
            <a:ext cx="3291840" cy="0"/>
          </a:xfrm>
          <a:prstGeom prst="line">
            <a:avLst/>
          </a:prstGeom>
          <a:ln w="9525">
            <a:solidFill>
              <a:srgbClr val="E2E4E7"/>
            </a:solidFill>
          </a:ln>
        </p:spPr>
      </p:cxnSp>
      <p:sp>
        <p:nvSpPr>
          <p:cNvPr id="43" name="TextBox 42"/>
          <p:cNvSpPr txBox="1"/>
          <p:nvPr/>
        </p:nvSpPr>
        <p:spPr>
          <a:xfrm>
            <a:off x="8366760" y="2697480"/>
            <a:ext cx="594360" cy="274320"/>
          </a:xfrm>
          <a:prstGeom prst="rect">
            <a:avLst/>
          </a:prstGeom>
          <a:noFill/>
        </p:spPr>
        <p:txBody>
          <a:bodyPr wrap="square" lIns="0" rIns="0" tIns="0" bIns="0" anchor="t">
            <a:spAutoFit/>
          </a:bodyPr>
          <a:lstStyle/>
          <a:p>
            <a:pPr algn="l">
              <a:lnSpc>
                <a:spcPct val="100000"/>
              </a:lnSpc>
            </a:pPr>
            <a:r>
              <a:rPr sz="1300" b="1">
                <a:solidFill>
                  <a:srgbClr val="E2571B"/>
                </a:solidFill>
                <a:latin typeface="Noto Sans KR"/>
                <a:ea typeface="Noto Sans KR"/>
                <a:cs typeface="Noto Sans KR"/>
              </a:rPr>
              <a:t>A14</a:t>
            </a:r>
          </a:p>
        </p:txBody>
      </p:sp>
      <p:sp>
        <p:nvSpPr>
          <p:cNvPr id="44" name="TextBox 43"/>
          <p:cNvSpPr txBox="1"/>
          <p:nvPr/>
        </p:nvSpPr>
        <p:spPr>
          <a:xfrm>
            <a:off x="8961120" y="2697480"/>
            <a:ext cx="2926080" cy="274320"/>
          </a:xfrm>
          <a:prstGeom prst="rect">
            <a:avLst/>
          </a:prstGeom>
          <a:noFill/>
        </p:spPr>
        <p:txBody>
          <a:bodyPr wrap="square" lIns="0" rIns="0" tIns="0" bIns="0" anchor="t">
            <a:spAutoFit/>
          </a:bodyPr>
          <a:lstStyle/>
          <a:p>
            <a:pPr algn="l">
              <a:lnSpc>
                <a:spcPct val="100000"/>
              </a:lnSpc>
            </a:pPr>
            <a:r>
              <a:rPr sz="1300" b="0">
                <a:solidFill>
                  <a:srgbClr val="15171A"/>
                </a:solidFill>
                <a:latin typeface="Noto Sans KR"/>
                <a:ea typeface="Noto Sans KR"/>
                <a:cs typeface="Noto Sans KR"/>
              </a:rPr>
              <a:t>스크루드라이버 기술 데모</a:t>
            </a:r>
          </a:p>
        </p:txBody>
      </p:sp>
      <p:cxnSp>
        <p:nvCxnSpPr>
          <p:cNvPr id="45" name="Connector 44"/>
          <p:cNvCxnSpPr/>
          <p:nvPr/>
        </p:nvCxnSpPr>
        <p:spPr>
          <a:xfrm>
            <a:off x="8366760" y="3063240"/>
            <a:ext cx="3291840" cy="0"/>
          </a:xfrm>
          <a:prstGeom prst="line">
            <a:avLst/>
          </a:prstGeom>
          <a:ln w="9525">
            <a:solidFill>
              <a:srgbClr val="E2E4E7"/>
            </a:solidFill>
          </a:ln>
        </p:spPr>
      </p:cxnSp>
      <p:sp>
        <p:nvSpPr>
          <p:cNvPr id="46" name="TextBox 45"/>
          <p:cNvSpPr txBox="1"/>
          <p:nvPr/>
        </p:nvSpPr>
        <p:spPr>
          <a:xfrm>
            <a:off x="8366760" y="3154680"/>
            <a:ext cx="594360" cy="274320"/>
          </a:xfrm>
          <a:prstGeom prst="rect">
            <a:avLst/>
          </a:prstGeom>
          <a:noFill/>
        </p:spPr>
        <p:txBody>
          <a:bodyPr wrap="square" lIns="0" rIns="0" tIns="0" bIns="0" anchor="t">
            <a:spAutoFit/>
          </a:bodyPr>
          <a:lstStyle/>
          <a:p>
            <a:pPr algn="l">
              <a:lnSpc>
                <a:spcPct val="100000"/>
              </a:lnSpc>
            </a:pPr>
            <a:r>
              <a:rPr sz="1300" b="1">
                <a:solidFill>
                  <a:srgbClr val="E2571B"/>
                </a:solidFill>
                <a:latin typeface="Noto Sans KR"/>
                <a:ea typeface="Noto Sans KR"/>
                <a:cs typeface="Noto Sans KR"/>
              </a:rPr>
              <a:t>A15</a:t>
            </a:r>
          </a:p>
        </p:txBody>
      </p:sp>
      <p:sp>
        <p:nvSpPr>
          <p:cNvPr id="47" name="TextBox 46"/>
          <p:cNvSpPr txBox="1"/>
          <p:nvPr/>
        </p:nvSpPr>
        <p:spPr>
          <a:xfrm>
            <a:off x="8961120" y="3154680"/>
            <a:ext cx="2926080" cy="274320"/>
          </a:xfrm>
          <a:prstGeom prst="rect">
            <a:avLst/>
          </a:prstGeom>
          <a:noFill/>
        </p:spPr>
        <p:txBody>
          <a:bodyPr wrap="square" lIns="0" rIns="0" tIns="0" bIns="0" anchor="t">
            <a:spAutoFit/>
          </a:bodyPr>
          <a:lstStyle/>
          <a:p>
            <a:pPr algn="l">
              <a:lnSpc>
                <a:spcPct val="100000"/>
              </a:lnSpc>
            </a:pPr>
            <a:r>
              <a:rPr sz="1300" b="0">
                <a:solidFill>
                  <a:srgbClr val="15171A"/>
                </a:solidFill>
                <a:latin typeface="Noto Sans KR"/>
                <a:ea typeface="Noto Sans KR"/>
                <a:cs typeface="Noto Sans KR"/>
              </a:rPr>
              <a:t>안전·위생·인증·IP</a:t>
            </a:r>
          </a:p>
        </p:txBody>
      </p:sp>
      <p:cxnSp>
        <p:nvCxnSpPr>
          <p:cNvPr id="48" name="Connector 47"/>
          <p:cNvCxnSpPr/>
          <p:nvPr/>
        </p:nvCxnSpPr>
        <p:spPr>
          <a:xfrm>
            <a:off x="8366760" y="3520440"/>
            <a:ext cx="3291840" cy="0"/>
          </a:xfrm>
          <a:prstGeom prst="line">
            <a:avLst/>
          </a:prstGeom>
          <a:ln w="9525">
            <a:solidFill>
              <a:srgbClr val="E2E4E7"/>
            </a:solidFill>
          </a:ln>
        </p:spPr>
      </p:cxnSp>
      <p:sp>
        <p:nvSpPr>
          <p:cNvPr id="49" name="TextBox 48"/>
          <p:cNvSpPr txBox="1"/>
          <p:nvPr/>
        </p:nvSpPr>
        <p:spPr>
          <a:xfrm>
            <a:off x="8366760" y="3611880"/>
            <a:ext cx="594360" cy="274320"/>
          </a:xfrm>
          <a:prstGeom prst="rect">
            <a:avLst/>
          </a:prstGeom>
          <a:noFill/>
        </p:spPr>
        <p:txBody>
          <a:bodyPr wrap="square" lIns="0" rIns="0" tIns="0" bIns="0" anchor="t">
            <a:spAutoFit/>
          </a:bodyPr>
          <a:lstStyle/>
          <a:p>
            <a:pPr algn="l">
              <a:lnSpc>
                <a:spcPct val="100000"/>
              </a:lnSpc>
            </a:pPr>
            <a:r>
              <a:rPr sz="1300" b="1">
                <a:solidFill>
                  <a:srgbClr val="E2571B"/>
                </a:solidFill>
                <a:latin typeface="Noto Sans KR"/>
                <a:ea typeface="Noto Sans KR"/>
                <a:cs typeface="Noto Sans KR"/>
              </a:rPr>
              <a:t>A16</a:t>
            </a:r>
          </a:p>
        </p:txBody>
      </p:sp>
      <p:sp>
        <p:nvSpPr>
          <p:cNvPr id="50" name="TextBox 49"/>
          <p:cNvSpPr txBox="1"/>
          <p:nvPr/>
        </p:nvSpPr>
        <p:spPr>
          <a:xfrm>
            <a:off x="8961120" y="3611880"/>
            <a:ext cx="2926080" cy="274320"/>
          </a:xfrm>
          <a:prstGeom prst="rect">
            <a:avLst/>
          </a:prstGeom>
          <a:noFill/>
        </p:spPr>
        <p:txBody>
          <a:bodyPr wrap="square" lIns="0" rIns="0" tIns="0" bIns="0" anchor="t">
            <a:spAutoFit/>
          </a:bodyPr>
          <a:lstStyle/>
          <a:p>
            <a:pPr algn="l">
              <a:lnSpc>
                <a:spcPct val="100000"/>
              </a:lnSpc>
            </a:pPr>
            <a:r>
              <a:rPr sz="1300" b="0">
                <a:solidFill>
                  <a:srgbClr val="15171A"/>
                </a:solidFill>
                <a:latin typeface="Noto Sans KR"/>
                <a:ea typeface="Noto Sans KR"/>
                <a:cs typeface="Noto Sans KR"/>
              </a:rPr>
              <a:t>주요 위험과 대응</a:t>
            </a:r>
          </a:p>
        </p:txBody>
      </p:sp>
      <p:cxnSp>
        <p:nvCxnSpPr>
          <p:cNvPr id="51" name="Connector 50"/>
          <p:cNvCxnSpPr/>
          <p:nvPr/>
        </p:nvCxnSpPr>
        <p:spPr>
          <a:xfrm>
            <a:off x="8366760" y="3977640"/>
            <a:ext cx="3291840" cy="0"/>
          </a:xfrm>
          <a:prstGeom prst="line">
            <a:avLst/>
          </a:prstGeom>
          <a:ln w="9525">
            <a:solidFill>
              <a:srgbClr val="E2E4E7"/>
            </a:solidFill>
          </a:ln>
        </p:spPr>
      </p:cxnSp>
      <p:sp>
        <p:nvSpPr>
          <p:cNvPr id="52" name="TextBox 51"/>
          <p:cNvSpPr txBox="1"/>
          <p:nvPr/>
        </p:nvSpPr>
        <p:spPr>
          <a:xfrm>
            <a:off x="8366760" y="4069080"/>
            <a:ext cx="594360" cy="274320"/>
          </a:xfrm>
          <a:prstGeom prst="rect">
            <a:avLst/>
          </a:prstGeom>
          <a:noFill/>
        </p:spPr>
        <p:txBody>
          <a:bodyPr wrap="square" lIns="0" rIns="0" tIns="0" bIns="0" anchor="t">
            <a:spAutoFit/>
          </a:bodyPr>
          <a:lstStyle/>
          <a:p>
            <a:pPr algn="l">
              <a:lnSpc>
                <a:spcPct val="100000"/>
              </a:lnSpc>
            </a:pPr>
            <a:r>
              <a:rPr sz="1300" b="1">
                <a:solidFill>
                  <a:srgbClr val="E2571B"/>
                </a:solidFill>
                <a:latin typeface="Noto Sans KR"/>
                <a:ea typeface="Noto Sans KR"/>
                <a:cs typeface="Noto Sans KR"/>
              </a:rPr>
              <a:t>A17</a:t>
            </a:r>
          </a:p>
        </p:txBody>
      </p:sp>
      <p:sp>
        <p:nvSpPr>
          <p:cNvPr id="53" name="TextBox 52"/>
          <p:cNvSpPr txBox="1"/>
          <p:nvPr/>
        </p:nvSpPr>
        <p:spPr>
          <a:xfrm>
            <a:off x="8961120" y="4069080"/>
            <a:ext cx="2926080" cy="274320"/>
          </a:xfrm>
          <a:prstGeom prst="rect">
            <a:avLst/>
          </a:prstGeom>
          <a:noFill/>
        </p:spPr>
        <p:txBody>
          <a:bodyPr wrap="square" lIns="0" rIns="0" tIns="0" bIns="0" anchor="t">
            <a:spAutoFit/>
          </a:bodyPr>
          <a:lstStyle/>
          <a:p>
            <a:pPr algn="l">
              <a:lnSpc>
                <a:spcPct val="100000"/>
              </a:lnSpc>
            </a:pPr>
            <a:r>
              <a:rPr sz="1300" b="0">
                <a:solidFill>
                  <a:srgbClr val="15171A"/>
                </a:solidFill>
                <a:latin typeface="Noto Sans KR"/>
                <a:ea typeface="Noto Sans KR"/>
                <a:cs typeface="Noto Sans KR"/>
              </a:rPr>
              <a:t>출처</a:t>
            </a:r>
          </a:p>
        </p:txBody>
      </p:sp>
      <p:cxnSp>
        <p:nvCxnSpPr>
          <p:cNvPr id="54" name="Connector 53"/>
          <p:cNvCxnSpPr/>
          <p:nvPr/>
        </p:nvCxnSpPr>
        <p:spPr>
          <a:xfrm>
            <a:off x="8366760" y="4434840"/>
            <a:ext cx="3291840" cy="0"/>
          </a:xfrm>
          <a:prstGeom prst="line">
            <a:avLst/>
          </a:prstGeom>
          <a:ln w="9525">
            <a:solidFill>
              <a:srgbClr val="E2E4E7"/>
            </a:solidFill>
          </a:ln>
        </p:spPr>
      </p:cxnSp>
      <p:sp>
        <p:nvSpPr>
          <p:cNvPr id="55" name="TextBox 54"/>
          <p:cNvSpPr txBox="1"/>
          <p:nvPr/>
        </p:nvSpPr>
        <p:spPr>
          <a:xfrm>
            <a:off x="685800" y="6446520"/>
            <a:ext cx="5486400" cy="201168"/>
          </a:xfrm>
          <a:prstGeom prst="rect">
            <a:avLst/>
          </a:prstGeom>
          <a:noFill/>
        </p:spPr>
        <p:txBody>
          <a:bodyPr wrap="square" lIns="0" rIns="0" tIns="0" bIns="0" anchor="t">
            <a:spAutoFit/>
          </a:bodyPr>
          <a:lstStyle/>
          <a:p>
            <a:pPr algn="l">
              <a:lnSpc>
                <a:spcPct val="100000"/>
              </a:lnSpc>
            </a:pPr>
            <a:r>
              <a:rPr sz="900" b="0">
                <a:solidFill>
                  <a:srgbClr val="8C9198"/>
                </a:solidFill>
                <a:latin typeface="Noto Sans KR"/>
                <a:ea typeface="Noto Sans KR"/>
                <a:cs typeface="Noto Sans KR"/>
              </a:rPr>
              <a:t>SoftHand  |  주방 로봇 조작 플랫폼  |  Seed 투자 제안서</a:t>
            </a:r>
          </a:p>
        </p:txBody>
      </p:sp>
      <p:sp>
        <p:nvSpPr>
          <p:cNvPr id="56" name="TextBox 55"/>
          <p:cNvSpPr txBox="1"/>
          <p:nvPr/>
        </p:nvSpPr>
        <p:spPr>
          <a:xfrm>
            <a:off x="11048695" y="6446520"/>
            <a:ext cx="457200" cy="201168"/>
          </a:xfrm>
          <a:prstGeom prst="rect">
            <a:avLst/>
          </a:prstGeom>
          <a:noFill/>
        </p:spPr>
        <p:txBody>
          <a:bodyPr wrap="square" lIns="0" rIns="0" tIns="0" bIns="0" anchor="t">
            <a:spAutoFit/>
          </a:bodyPr>
          <a:lstStyle/>
          <a:p>
            <a:pPr algn="r">
              <a:lnSpc>
                <a:spcPct val="100000"/>
              </a:lnSpc>
            </a:pPr>
            <a:r>
              <a:rPr sz="900" b="0">
                <a:solidFill>
                  <a:srgbClr val="8C9198"/>
                </a:solidFill>
                <a:latin typeface="Noto Sans KR"/>
                <a:ea typeface="Noto Sans KR"/>
                <a:cs typeface="Noto Sans KR"/>
              </a:rPr>
              <a:t>A</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502920"/>
            <a:ext cx="7315200" cy="256032"/>
          </a:xfrm>
          <a:prstGeom prst="rect">
            <a:avLst/>
          </a:prstGeom>
          <a:noFill/>
        </p:spPr>
        <p:txBody>
          <a:bodyPr wrap="square" lIns="0" rIns="0" tIns="0" bIns="0" anchor="t">
            <a:spAutoFit/>
          </a:bodyPr>
          <a:lstStyle/>
          <a:p>
            <a:pPr algn="l">
              <a:lnSpc>
                <a:spcPct val="100000"/>
              </a:lnSpc>
            </a:pPr>
            <a:r>
              <a:rPr sz="1100" b="1">
                <a:solidFill>
                  <a:srgbClr val="E2571B"/>
                </a:solidFill>
                <a:latin typeface="Noto Sans KR"/>
                <a:ea typeface="Noto Sans KR"/>
                <a:cs typeface="Noto Sans KR"/>
              </a:rPr>
              <a:t>부록 A1</a:t>
            </a:r>
          </a:p>
        </p:txBody>
      </p:sp>
      <p:sp>
        <p:nvSpPr>
          <p:cNvPr id="3" name="TextBox 2"/>
          <p:cNvSpPr txBox="1"/>
          <p:nvPr/>
        </p:nvSpPr>
        <p:spPr>
          <a:xfrm>
            <a:off x="685800" y="822960"/>
            <a:ext cx="10820095" cy="475488"/>
          </a:xfrm>
          <a:prstGeom prst="rect">
            <a:avLst/>
          </a:prstGeom>
          <a:noFill/>
        </p:spPr>
        <p:txBody>
          <a:bodyPr wrap="square" lIns="0" rIns="0" tIns="0" bIns="0" anchor="t">
            <a:spAutoFit/>
          </a:bodyPr>
          <a:lstStyle/>
          <a:p>
            <a:pPr algn="l">
              <a:lnSpc>
                <a:spcPct val="95000"/>
              </a:lnSpc>
            </a:pPr>
            <a:r>
              <a:rPr sz="2600" b="1">
                <a:solidFill>
                  <a:srgbClr val="15171A"/>
                </a:solidFill>
                <a:latin typeface="Noto Sans KR"/>
                <a:ea typeface="Noto Sans KR"/>
                <a:cs typeface="Noto Sans KR"/>
              </a:rPr>
              <a:t>주요 가정과 근거 수준</a:t>
            </a:r>
          </a:p>
        </p:txBody>
      </p:sp>
      <p:sp>
        <p:nvSpPr>
          <p:cNvPr id="4" name="TextBox 3"/>
          <p:cNvSpPr txBox="1"/>
          <p:nvPr/>
        </p:nvSpPr>
        <p:spPr>
          <a:xfrm>
            <a:off x="685800" y="1353312"/>
            <a:ext cx="10820095" cy="274320"/>
          </a:xfrm>
          <a:prstGeom prst="rect">
            <a:avLst/>
          </a:prstGeom>
          <a:noFill/>
        </p:spPr>
        <p:txBody>
          <a:bodyPr wrap="square" lIns="0" rIns="0" tIns="0" bIns="0" anchor="t">
            <a:spAutoFit/>
          </a:bodyPr>
          <a:lstStyle/>
          <a:p>
            <a:pPr algn="l">
              <a:lnSpc>
                <a:spcPct val="100000"/>
              </a:lnSpc>
            </a:pPr>
            <a:r>
              <a:rPr sz="1300" b="0">
                <a:solidFill>
                  <a:srgbClr val="4A4F57"/>
                </a:solidFill>
                <a:latin typeface="Noto Sans KR"/>
                <a:ea typeface="Noto Sans KR"/>
                <a:cs typeface="Noto Sans KR"/>
              </a:rPr>
              <a:t>확인된 사실, 계획, 가정, 장기 확장 가능성, 확보가 필요한 자료를 구분해 표기</a:t>
            </a:r>
          </a:p>
        </p:txBody>
      </p:sp>
      <p:graphicFrame>
        <p:nvGraphicFramePr>
          <p:cNvPr id="5" name="Table 4"/>
          <p:cNvGraphicFramePr>
            <a:graphicFrameLocks noGrp="1"/>
          </p:cNvGraphicFramePr>
          <p:nvPr/>
        </p:nvGraphicFramePr>
        <p:xfrm>
          <a:off x="685800" y="1874519"/>
          <a:ext cx="10817352" cy="3470449"/>
        </p:xfrm>
        <a:graphic>
          <a:graphicData uri="http://schemas.openxmlformats.org/drawingml/2006/table">
            <a:tbl>
              <a:tblPr firstRow="0" bandRow="0">
                <a:tableStyleId>{2D5ABB26-0587-4C30-8999-92F81FD0307C}</a:tableStyleId>
              </a:tblPr>
              <a:tblGrid>
                <a:gridCol w="1828800"/>
                <a:gridCol w="6793992"/>
                <a:gridCol w="2194560"/>
              </a:tblGrid>
              <a:tr h="366928">
                <a:tc>
                  <a:txBody>
                    <a:bodyPr wrap="square"/>
                    <a:lstStyle/>
                    <a:p>
                      <a:pPr algn="l">
                        <a:lnSpc>
                          <a:spcPct val="100000"/>
                        </a:lnSpc>
                      </a:pPr>
                      <a:r>
                        <a:rPr sz="1150" b="1">
                          <a:solidFill>
                            <a:srgbClr val="15171A"/>
                          </a:solidFill>
                          <a:latin typeface="Noto Sans KR"/>
                          <a:ea typeface="Noto Sans KR"/>
                          <a:cs typeface="Noto Sans KR"/>
                        </a:rPr>
                        <a:t>구분</a:t>
                      </a:r>
                    </a:p>
                  </a:txBody>
                  <a:tcPr marL="73152" marR="73152" marT="73152" marB="73152" anchor="t">
                    <a:lnL w="0">
                      <a:noFill/>
                    </a:lnL>
                    <a:lnR w="0">
                      <a:noFill/>
                    </a:lnR>
                    <a:lnT w="12700">
                      <a:solidFill>
                        <a:srgbClr val="15171A"/>
                      </a:solidFill>
                    </a:lnT>
                    <a:lnB w="9525">
                      <a:solidFill>
                        <a:srgbClr val="15171A"/>
                      </a:solidFill>
                    </a:lnB>
                    <a:noFill/>
                  </a:tcPr>
                </a:tc>
                <a:tc>
                  <a:txBody>
                    <a:bodyPr wrap="square"/>
                    <a:lstStyle/>
                    <a:p>
                      <a:pPr algn="l">
                        <a:lnSpc>
                          <a:spcPct val="100000"/>
                        </a:lnSpc>
                      </a:pPr>
                      <a:r>
                        <a:rPr sz="1150" b="1">
                          <a:solidFill>
                            <a:srgbClr val="15171A"/>
                          </a:solidFill>
                          <a:latin typeface="Noto Sans KR"/>
                          <a:ea typeface="Noto Sans KR"/>
                          <a:cs typeface="Noto Sans KR"/>
                        </a:rPr>
                        <a:t>현재 내용</a:t>
                      </a:r>
                    </a:p>
                  </a:txBody>
                  <a:tcPr marL="73152" marR="73152" marT="73152" marB="73152" anchor="t">
                    <a:lnL w="0">
                      <a:noFill/>
                    </a:lnL>
                    <a:lnR w="0">
                      <a:noFill/>
                    </a:lnR>
                    <a:lnT w="12700">
                      <a:solidFill>
                        <a:srgbClr val="15171A"/>
                      </a:solidFill>
                    </a:lnT>
                    <a:lnB w="9525">
                      <a:solidFill>
                        <a:srgbClr val="15171A"/>
                      </a:solidFill>
                    </a:lnB>
                    <a:noFill/>
                  </a:tcPr>
                </a:tc>
                <a:tc>
                  <a:txBody>
                    <a:bodyPr wrap="square"/>
                    <a:lstStyle/>
                    <a:p>
                      <a:pPr algn="l">
                        <a:lnSpc>
                          <a:spcPct val="100000"/>
                        </a:lnSpc>
                      </a:pPr>
                      <a:r>
                        <a:rPr sz="1150" b="1">
                          <a:solidFill>
                            <a:srgbClr val="15171A"/>
                          </a:solidFill>
                          <a:latin typeface="Noto Sans KR"/>
                          <a:ea typeface="Noto Sans KR"/>
                          <a:cs typeface="Noto Sans KR"/>
                        </a:rPr>
                        <a:t>표기 원칙</a:t>
                      </a:r>
                    </a:p>
                  </a:txBody>
                  <a:tcPr marL="73152" marR="73152" marT="73152" marB="73152" anchor="t">
                    <a:lnL w="0">
                      <a:noFill/>
                    </a:lnL>
                    <a:lnR w="0">
                      <a:noFill/>
                    </a:lnR>
                    <a:lnT w="12700">
                      <a:solidFill>
                        <a:srgbClr val="15171A"/>
                      </a:solidFill>
                    </a:lnT>
                    <a:lnB w="9525">
                      <a:solidFill>
                        <a:srgbClr val="15171A"/>
                      </a:solidFill>
                    </a:lnB>
                    <a:noFill/>
                  </a:tcPr>
                </a:tc>
              </a:tr>
              <a:tr h="789889">
                <a:tc>
                  <a:txBody>
                    <a:bodyPr wrap="square"/>
                    <a:lstStyle/>
                    <a:p>
                      <a:pPr algn="l">
                        <a:lnSpc>
                          <a:spcPct val="100000"/>
                        </a:lnSpc>
                      </a:pPr>
                      <a:r>
                        <a:rPr sz="1150" b="1">
                          <a:solidFill>
                            <a:srgbClr val="15171A"/>
                          </a:solidFill>
                          <a:latin typeface="Noto Sans KR"/>
                          <a:ea typeface="Noto Sans KR"/>
                          <a:cs typeface="Noto Sans KR"/>
                        </a:rPr>
                        <a:t>확인된 사실</a:t>
                      </a:r>
                    </a:p>
                  </a:txBody>
                  <a:tcPr marL="73152" marR="73152" marT="73152" marB="73152" anchor="t">
                    <a:lnL w="0">
                      <a:noFill/>
                    </a:lnL>
                    <a:lnR w="0">
                      <a:noFill/>
                    </a:lnR>
                    <a:lnT w="0">
                      <a:noFill/>
                    </a:lnT>
                    <a:lnB w="9525">
                      <a:solidFill>
                        <a:srgbClr val="E2E4E7"/>
                      </a:solidFill>
                    </a:lnB>
                    <a:noFill/>
                  </a:tcPr>
                </a:tc>
                <a:tc>
                  <a:txBody>
                    <a:bodyPr wrap="square"/>
                    <a:lstStyle/>
                    <a:p>
                      <a:pPr algn="l">
                        <a:lnSpc>
                          <a:spcPct val="100000"/>
                        </a:lnSpc>
                      </a:pPr>
                      <a:r>
                        <a:rPr sz="1150" b="0">
                          <a:solidFill>
                            <a:srgbClr val="15171A"/>
                          </a:solidFill>
                          <a:latin typeface="Noto Sans KR"/>
                          <a:ea typeface="Noto Sans KR"/>
                          <a:cs typeface="Noto Sans KR"/>
                        </a:rPr>
                        <a:t>사업 아이디어·기술 구상·IR 초안 (2026.10)</a:t>
                      </a:r>
                    </a:p>
                    <a:p>
                      <a:pPr algn="l">
                        <a:lnSpc>
                          <a:spcPct val="100000"/>
                        </a:lnSpc>
                      </a:pPr>
                      <a:r>
                        <a:rPr sz="1150" b="0">
                          <a:solidFill>
                            <a:srgbClr val="15171A"/>
                          </a:solidFill>
                          <a:latin typeface="Noto Sans KR"/>
                          <a:ea typeface="Noto Sans KR"/>
                          <a:cs typeface="Noto Sans KR"/>
                        </a:rPr>
                        <a:t>외부 자료(IFR·BCG·외식업 인력·NRA·주방 로봇 사례) 출처 확인</a:t>
                      </a:r>
                    </a:p>
                    <a:p>
                      <a:pPr algn="l">
                        <a:lnSpc>
                          <a:spcPct val="100000"/>
                        </a:lnSpc>
                      </a:pPr>
                      <a:r>
                        <a:rPr sz="1150" b="0">
                          <a:solidFill>
                            <a:srgbClr val="15171A"/>
                          </a:solidFill>
                          <a:latin typeface="Noto Sans KR"/>
                          <a:ea typeface="Noto Sans KR"/>
                          <a:cs typeface="Noto Sans KR"/>
                        </a:rPr>
                        <a:t>법인·창업팀·특허·시제품·고객 계약·매출·보유 자금은 미확인</a:t>
                      </a:r>
                    </a:p>
                  </a:txBody>
                  <a:tcPr marL="73152" marR="73152" marT="73152" marB="73152" anchor="t">
                    <a:lnL w="0">
                      <a:noFill/>
                    </a:lnL>
                    <a:lnR w="0">
                      <a:noFill/>
                    </a:lnR>
                    <a:lnT w="0">
                      <a:noFill/>
                    </a:lnT>
                    <a:lnB w="9525">
                      <a:solidFill>
                        <a:srgbClr val="E2E4E7"/>
                      </a:solidFill>
                    </a:lnB>
                    <a:noFill/>
                  </a:tcPr>
                </a:tc>
                <a:tc>
                  <a:txBody>
                    <a:bodyPr wrap="square"/>
                    <a:lstStyle/>
                    <a:p>
                      <a:pPr algn="l">
                        <a:lnSpc>
                          <a:spcPct val="100000"/>
                        </a:lnSpc>
                      </a:pPr>
                      <a:r>
                        <a:rPr sz="1150" b="0">
                          <a:solidFill>
                            <a:srgbClr val="15171A"/>
                          </a:solidFill>
                          <a:latin typeface="Noto Sans KR"/>
                          <a:ea typeface="Noto Sans KR"/>
                          <a:cs typeface="Noto Sans KR"/>
                        </a:rPr>
                        <a:t>회사 실적으로 표현하지 않음</a:t>
                      </a:r>
                    </a:p>
                  </a:txBody>
                  <a:tcPr marL="73152" marR="73152" marT="73152" marB="73152" anchor="t">
                    <a:lnL w="0">
                      <a:noFill/>
                    </a:lnL>
                    <a:lnR w="0">
                      <a:noFill/>
                    </a:lnR>
                    <a:lnT w="0">
                      <a:noFill/>
                    </a:lnT>
                    <a:lnB w="9525">
                      <a:solidFill>
                        <a:srgbClr val="E2E4E7"/>
                      </a:solidFill>
                    </a:lnB>
                    <a:noFill/>
                  </a:tcPr>
                </a:tc>
              </a:tr>
              <a:tr h="578408">
                <a:tc>
                  <a:txBody>
                    <a:bodyPr wrap="square"/>
                    <a:lstStyle/>
                    <a:p>
                      <a:pPr algn="l">
                        <a:lnSpc>
                          <a:spcPct val="100000"/>
                        </a:lnSpc>
                      </a:pPr>
                      <a:r>
                        <a:rPr sz="1150" b="1">
                          <a:solidFill>
                            <a:srgbClr val="15171A"/>
                          </a:solidFill>
                          <a:latin typeface="Noto Sans KR"/>
                          <a:ea typeface="Noto Sans KR"/>
                          <a:cs typeface="Noto Sans KR"/>
                        </a:rPr>
                        <a:t>계획 (목표)</a:t>
                      </a:r>
                    </a:p>
                  </a:txBody>
                  <a:tcPr marL="73152" marR="73152" marT="73152" marB="73152" anchor="t">
                    <a:lnL w="0">
                      <a:noFill/>
                    </a:lnL>
                    <a:lnR w="0">
                      <a:noFill/>
                    </a:lnR>
                    <a:lnT w="0">
                      <a:noFill/>
                    </a:lnT>
                    <a:lnB w="9525">
                      <a:solidFill>
                        <a:srgbClr val="E2E4E7"/>
                      </a:solidFill>
                    </a:lnB>
                    <a:noFill/>
                  </a:tcPr>
                </a:tc>
                <a:tc>
                  <a:txBody>
                    <a:bodyPr wrap="square"/>
                    <a:lstStyle/>
                    <a:p>
                      <a:pPr algn="l">
                        <a:lnSpc>
                          <a:spcPct val="100000"/>
                        </a:lnSpc>
                      </a:pPr>
                      <a:r>
                        <a:rPr sz="1150" b="0">
                          <a:solidFill>
                            <a:srgbClr val="15171A"/>
                          </a:solidFill>
                          <a:latin typeface="Noto Sans KR"/>
                          <a:ea typeface="Noto Sans KR"/>
                          <a:cs typeface="Noto Sans KR"/>
                        </a:rPr>
                        <a:t>SoftHand-4 V1, Kitchen Skill (검증 대상 6종 작업), 공동개발 고객 3곳, 유료 PoC 5건, 재구매 2곳</a:t>
                      </a:r>
                    </a:p>
                    <a:p>
                      <a:pPr algn="l">
                        <a:lnSpc>
                          <a:spcPct val="100000"/>
                        </a:lnSpc>
                      </a:pPr>
                      <a:r>
                        <a:rPr sz="1150" b="0">
                          <a:solidFill>
                            <a:srgbClr val="15171A"/>
                          </a:solidFill>
                          <a:latin typeface="Noto Sans KR"/>
                          <a:ea typeface="Noto Sans KR"/>
                          <a:cs typeface="Noto Sans KR"/>
                        </a:rPr>
                        <a:t>로봇 2종, 고객 인터뷰 30곳, 24개월 로드맵, 단계별 점검 기준</a:t>
                      </a:r>
                    </a:p>
                  </a:txBody>
                  <a:tcPr marL="73152" marR="73152" marT="73152" marB="73152" anchor="t">
                    <a:lnL w="0">
                      <a:noFill/>
                    </a:lnL>
                    <a:lnR w="0">
                      <a:noFill/>
                    </a:lnR>
                    <a:lnT w="0">
                      <a:noFill/>
                    </a:lnT>
                    <a:lnB w="9525">
                      <a:solidFill>
                        <a:srgbClr val="E2E4E7"/>
                      </a:solidFill>
                    </a:lnB>
                    <a:noFill/>
                  </a:tcPr>
                </a:tc>
                <a:tc>
                  <a:txBody>
                    <a:bodyPr wrap="square"/>
                    <a:lstStyle/>
                    <a:p>
                      <a:pPr algn="l">
                        <a:lnSpc>
                          <a:spcPct val="100000"/>
                        </a:lnSpc>
                      </a:pPr>
                      <a:r>
                        <a:rPr sz="1150" b="0">
                          <a:solidFill>
                            <a:srgbClr val="15171A"/>
                          </a:solidFill>
                          <a:latin typeface="Noto Sans KR"/>
                          <a:ea typeface="Noto Sans KR"/>
                          <a:cs typeface="Noto Sans KR"/>
                        </a:rPr>
                        <a:t>"목표", "계획"</a:t>
                      </a:r>
                    </a:p>
                  </a:txBody>
                  <a:tcPr marL="73152" marR="73152" marT="73152" marB="73152" anchor="t">
                    <a:lnL w="0">
                      <a:noFill/>
                    </a:lnL>
                    <a:lnR w="0">
                      <a:noFill/>
                    </a:lnR>
                    <a:lnT w="0">
                      <a:noFill/>
                    </a:lnT>
                    <a:lnB w="9525">
                      <a:solidFill>
                        <a:srgbClr val="E2E4E7"/>
                      </a:solidFill>
                    </a:lnB>
                    <a:noFill/>
                  </a:tcPr>
                </a:tc>
              </a:tr>
              <a:tr h="578408">
                <a:tc>
                  <a:txBody>
                    <a:bodyPr wrap="square"/>
                    <a:lstStyle/>
                    <a:p>
                      <a:pPr algn="l">
                        <a:lnSpc>
                          <a:spcPct val="100000"/>
                        </a:lnSpc>
                      </a:pPr>
                      <a:r>
                        <a:rPr sz="1150" b="1">
                          <a:solidFill>
                            <a:srgbClr val="15171A"/>
                          </a:solidFill>
                          <a:latin typeface="Noto Sans KR"/>
                          <a:ea typeface="Noto Sans KR"/>
                          <a:cs typeface="Noto Sans KR"/>
                        </a:rPr>
                        <a:t>가정</a:t>
                      </a:r>
                    </a:p>
                  </a:txBody>
                  <a:tcPr marL="73152" marR="73152" marT="73152" marB="73152" anchor="t">
                    <a:lnL w="0">
                      <a:noFill/>
                    </a:lnL>
                    <a:lnR w="0">
                      <a:noFill/>
                    </a:lnR>
                    <a:lnT w="0">
                      <a:noFill/>
                    </a:lnT>
                    <a:lnB w="9525">
                      <a:solidFill>
                        <a:srgbClr val="E2E4E7"/>
                      </a:solidFill>
                    </a:lnB>
                    <a:noFill/>
                  </a:tcPr>
                </a:tc>
                <a:tc>
                  <a:txBody>
                    <a:bodyPr wrap="square"/>
                    <a:lstStyle/>
                    <a:p>
                      <a:pPr algn="l">
                        <a:lnSpc>
                          <a:spcPct val="100000"/>
                        </a:lnSpc>
                      </a:pPr>
                      <a:r>
                        <a:rPr sz="1150" b="0">
                          <a:solidFill>
                            <a:srgbClr val="15171A"/>
                          </a:solidFill>
                          <a:latin typeface="Noto Sans KR"/>
                          <a:ea typeface="Noto Sans KR"/>
                          <a:cs typeface="Noto Sans KR"/>
                        </a:rPr>
                        <a:t>핸드 1,500만 원 (원가 950만 → 750만 원), Skill 300만 원, Runtime 연 150만 원, 유료 PoC 5,000만 원</a:t>
                      </a:r>
                    </a:p>
                    <a:p>
                      <a:pPr algn="l">
                        <a:lnSpc>
                          <a:spcPct val="100000"/>
                        </a:lnSpc>
                      </a:pPr>
                      <a:r>
                        <a:rPr sz="1150" b="0">
                          <a:solidFill>
                            <a:srgbClr val="15171A"/>
                          </a:solidFill>
                          <a:latin typeface="Noto Sans KR"/>
                          <a:ea typeface="Noto Sans KR"/>
                          <a:cs typeface="Noto Sans KR"/>
                        </a:rPr>
                        <a:t>Base Case 매출·손익, 성능 목표치 (기존 머신텐딩 기준 수치를 주방 검증 대상에 적용)</a:t>
                      </a:r>
                    </a:p>
                  </a:txBody>
                  <a:tcPr marL="73152" marR="73152" marT="73152" marB="73152" anchor="t">
                    <a:lnL w="0">
                      <a:noFill/>
                    </a:lnL>
                    <a:lnR w="0">
                      <a:noFill/>
                    </a:lnR>
                    <a:lnT w="0">
                      <a:noFill/>
                    </a:lnT>
                    <a:lnB w="9525">
                      <a:solidFill>
                        <a:srgbClr val="E2E4E7"/>
                      </a:solidFill>
                    </a:lnB>
                    <a:noFill/>
                  </a:tcPr>
                </a:tc>
                <a:tc>
                  <a:txBody>
                    <a:bodyPr wrap="square"/>
                    <a:lstStyle/>
                    <a:p>
                      <a:pPr algn="l">
                        <a:lnSpc>
                          <a:spcPct val="100000"/>
                        </a:lnSpc>
                      </a:pPr>
                      <a:r>
                        <a:rPr sz="1150" b="0">
                          <a:solidFill>
                            <a:srgbClr val="15171A"/>
                          </a:solidFill>
                          <a:latin typeface="Noto Sans KR"/>
                          <a:ea typeface="Noto Sans KR"/>
                          <a:cs typeface="Noto Sans KR"/>
                        </a:rPr>
                        <a:t>"가정"</a:t>
                      </a:r>
                    </a:p>
                  </a:txBody>
                  <a:tcPr marL="73152" marR="73152" marT="73152" marB="73152" anchor="t">
                    <a:lnL w="0">
                      <a:noFill/>
                    </a:lnL>
                    <a:lnR w="0">
                      <a:noFill/>
                    </a:lnR>
                    <a:lnT w="0">
                      <a:noFill/>
                    </a:lnT>
                    <a:lnB w="9525">
                      <a:solidFill>
                        <a:srgbClr val="E2E4E7"/>
                      </a:solidFill>
                    </a:lnB>
                    <a:noFill/>
                  </a:tcPr>
                </a:tc>
              </a:tr>
              <a:tr h="578408">
                <a:tc>
                  <a:txBody>
                    <a:bodyPr wrap="square"/>
                    <a:lstStyle/>
                    <a:p>
                      <a:pPr algn="l">
                        <a:lnSpc>
                          <a:spcPct val="100000"/>
                        </a:lnSpc>
                      </a:pPr>
                      <a:r>
                        <a:rPr sz="1150" b="1">
                          <a:solidFill>
                            <a:srgbClr val="15171A"/>
                          </a:solidFill>
                          <a:latin typeface="Noto Sans KR"/>
                          <a:ea typeface="Noto Sans KR"/>
                          <a:cs typeface="Noto Sans KR"/>
                        </a:rPr>
                        <a:t>장기 확장 가능성</a:t>
                      </a:r>
                    </a:p>
                  </a:txBody>
                  <a:tcPr marL="73152" marR="73152" marT="73152" marB="73152" anchor="t">
                    <a:lnL w="0">
                      <a:noFill/>
                    </a:lnL>
                    <a:lnR w="0">
                      <a:noFill/>
                    </a:lnR>
                    <a:lnT w="0">
                      <a:noFill/>
                    </a:lnT>
                    <a:lnB w="9525">
                      <a:solidFill>
                        <a:srgbClr val="E2E4E7"/>
                      </a:solidFill>
                    </a:lnB>
                    <a:noFill/>
                  </a:tcPr>
                </a:tc>
                <a:tc>
                  <a:txBody>
                    <a:bodyPr wrap="square"/>
                    <a:lstStyle/>
                    <a:p>
                      <a:pPr algn="l">
                        <a:lnSpc>
                          <a:spcPct val="100000"/>
                        </a:lnSpc>
                      </a:pPr>
                      <a:r>
                        <a:rPr sz="1150" b="0">
                          <a:solidFill>
                            <a:srgbClr val="15171A"/>
                          </a:solidFill>
                          <a:latin typeface="Noto Sans KR"/>
                          <a:ea typeface="Noto Sans KR"/>
                          <a:cs typeface="Noto Sans KR"/>
                        </a:rPr>
                        <a:t>가정용 주방 확대, 로봇·가전 OEM, 라이선스·내장 Runtime, Built-in 채널(건설사·디벨로퍼), 데이터 Flywheel</a:t>
                      </a:r>
                    </a:p>
                  </a:txBody>
                  <a:tcPr marL="73152" marR="73152" marT="73152" marB="73152" anchor="t">
                    <a:lnL w="0">
                      <a:noFill/>
                    </a:lnL>
                    <a:lnR w="0">
                      <a:noFill/>
                    </a:lnR>
                    <a:lnT w="0">
                      <a:noFill/>
                    </a:lnT>
                    <a:lnB w="9525">
                      <a:solidFill>
                        <a:srgbClr val="E2E4E7"/>
                      </a:solidFill>
                    </a:lnB>
                    <a:noFill/>
                  </a:tcPr>
                </a:tc>
                <a:tc>
                  <a:txBody>
                    <a:bodyPr wrap="square"/>
                    <a:lstStyle/>
                    <a:p>
                      <a:pPr algn="l">
                        <a:lnSpc>
                          <a:spcPct val="100000"/>
                        </a:lnSpc>
                      </a:pPr>
                      <a:r>
                        <a:rPr sz="1150" b="0">
                          <a:solidFill>
                            <a:srgbClr val="15171A"/>
                          </a:solidFill>
                          <a:latin typeface="Noto Sans KR"/>
                          <a:ea typeface="Noto Sans KR"/>
                          <a:cs typeface="Noto Sans KR"/>
                        </a:rPr>
                        <a:t>"장기 확장 가능성"</a:t>
                      </a:r>
                    </a:p>
                    <a:p>
                      <a:pPr algn="l">
                        <a:lnSpc>
                          <a:spcPct val="100000"/>
                        </a:lnSpc>
                      </a:pPr>
                      <a:r>
                        <a:rPr sz="1150" b="0">
                          <a:solidFill>
                            <a:srgbClr val="15171A"/>
                          </a:solidFill>
                          <a:latin typeface="Noto Sans KR"/>
                          <a:ea typeface="Noto Sans KR"/>
                          <a:cs typeface="Noto Sans KR"/>
                        </a:rPr>
                        <a:t>수치 미산정</a:t>
                      </a:r>
                    </a:p>
                  </a:txBody>
                  <a:tcPr marL="73152" marR="73152" marT="73152" marB="73152" anchor="t">
                    <a:lnL w="0">
                      <a:noFill/>
                    </a:lnL>
                    <a:lnR w="0">
                      <a:noFill/>
                    </a:lnR>
                    <a:lnT w="0">
                      <a:noFill/>
                    </a:lnT>
                    <a:lnB w="9525">
                      <a:solidFill>
                        <a:srgbClr val="E2E4E7"/>
                      </a:solidFill>
                    </a:lnB>
                    <a:noFill/>
                  </a:tcPr>
                </a:tc>
              </a:tr>
              <a:tr h="578408">
                <a:tc>
                  <a:txBody>
                    <a:bodyPr wrap="square"/>
                    <a:lstStyle/>
                    <a:p>
                      <a:pPr algn="l">
                        <a:lnSpc>
                          <a:spcPct val="100000"/>
                        </a:lnSpc>
                      </a:pPr>
                      <a:r>
                        <a:rPr sz="1150" b="1">
                          <a:solidFill>
                            <a:srgbClr val="15171A"/>
                          </a:solidFill>
                          <a:latin typeface="Noto Sans KR"/>
                          <a:ea typeface="Noto Sans KR"/>
                          <a:cs typeface="Noto Sans KR"/>
                        </a:rPr>
                        <a:t>확보 필요 자료</a:t>
                      </a:r>
                    </a:p>
                  </a:txBody>
                  <a:tcPr marL="73152" marR="73152" marT="73152" marB="73152" anchor="t">
                    <a:lnL w="0">
                      <a:noFill/>
                    </a:lnL>
                    <a:lnR w="0">
                      <a:noFill/>
                    </a:lnR>
                    <a:lnT w="0">
                      <a:noFill/>
                    </a:lnT>
                    <a:lnB w="9525">
                      <a:solidFill>
                        <a:srgbClr val="E2E4E7"/>
                      </a:solidFill>
                    </a:lnB>
                    <a:noFill/>
                  </a:tcPr>
                </a:tc>
                <a:tc>
                  <a:txBody>
                    <a:bodyPr wrap="square"/>
                    <a:lstStyle/>
                    <a:p>
                      <a:pPr algn="l">
                        <a:lnSpc>
                          <a:spcPct val="100000"/>
                        </a:lnSpc>
                      </a:pPr>
                      <a:r>
                        <a:rPr sz="1150" b="0">
                          <a:solidFill>
                            <a:srgbClr val="15171A"/>
                          </a:solidFill>
                          <a:latin typeface="Noto Sans KR"/>
                          <a:ea typeface="Noto Sans KR"/>
                          <a:cs typeface="Noto Sans KR"/>
                        </a:rPr>
                        <a:t>창업자·핵심 인력 이력, 시제품·무편집 시험 영상, 특허·FTO</a:t>
                      </a:r>
                    </a:p>
                    <a:p>
                      <a:pPr algn="l">
                        <a:lnSpc>
                          <a:spcPct val="100000"/>
                        </a:lnSpc>
                      </a:pPr>
                      <a:r>
                        <a:rPr sz="1150" b="0">
                          <a:solidFill>
                            <a:srgbClr val="15171A"/>
                          </a:solidFill>
                          <a:latin typeface="Noto Sans KR"/>
                          <a:ea typeface="Noto Sans KR"/>
                          <a:cs typeface="Noto Sans KR"/>
                        </a:rPr>
                        <a:t>고객 인터뷰·LOI·공동개발 고객, 유료 PoC, BOM, 고객 기존 수치, 동일 조건 비교시험</a:t>
                      </a:r>
                    </a:p>
                  </a:txBody>
                  <a:tcPr marL="73152" marR="73152" marT="73152" marB="73152" anchor="t">
                    <a:lnL w="0">
                      <a:noFill/>
                    </a:lnL>
                    <a:lnR w="0">
                      <a:noFill/>
                    </a:lnR>
                    <a:lnT w="0">
                      <a:noFill/>
                    </a:lnT>
                    <a:lnB w="9525">
                      <a:solidFill>
                        <a:srgbClr val="E2E4E7"/>
                      </a:solidFill>
                    </a:lnB>
                    <a:noFill/>
                  </a:tcPr>
                </a:tc>
                <a:tc>
                  <a:txBody>
                    <a:bodyPr wrap="square"/>
                    <a:lstStyle/>
                    <a:p>
                      <a:pPr algn="l">
                        <a:lnSpc>
                          <a:spcPct val="100000"/>
                        </a:lnSpc>
                      </a:pPr>
                      <a:r>
                        <a:rPr sz="1150" b="0">
                          <a:solidFill>
                            <a:srgbClr val="15171A"/>
                          </a:solidFill>
                          <a:latin typeface="Noto Sans KR"/>
                          <a:ea typeface="Noto Sans KR"/>
                          <a:cs typeface="Noto Sans KR"/>
                        </a:rPr>
                        <a:t>[정보 입력 필요]</a:t>
                      </a:r>
                    </a:p>
                    <a:p>
                      <a:pPr algn="l">
                        <a:lnSpc>
                          <a:spcPct val="100000"/>
                        </a:lnSpc>
                      </a:pPr>
                      <a:r>
                        <a:rPr sz="1150" b="0">
                          <a:solidFill>
                            <a:srgbClr val="15171A"/>
                          </a:solidFill>
                          <a:latin typeface="Noto Sans KR"/>
                          <a:ea typeface="Noto Sans KR"/>
                          <a:cs typeface="Noto Sans KR"/>
                        </a:rPr>
                        <a:t>투자 실사 전 확보</a:t>
                      </a:r>
                    </a:p>
                  </a:txBody>
                  <a:tcPr marL="73152" marR="73152" marT="73152" marB="73152" anchor="t">
                    <a:lnL w="0">
                      <a:noFill/>
                    </a:lnL>
                    <a:lnR w="0">
                      <a:noFill/>
                    </a:lnR>
                    <a:lnT w="0">
                      <a:noFill/>
                    </a:lnT>
                    <a:lnB w="9525">
                      <a:solidFill>
                        <a:srgbClr val="E2E4E7"/>
                      </a:solidFill>
                    </a:lnB>
                    <a:noFill/>
                  </a:tcPr>
                </a:tc>
              </a:tr>
            </a:tbl>
          </a:graphicData>
        </a:graphic>
      </p:graphicFrame>
      <p:sp>
        <p:nvSpPr>
          <p:cNvPr id="6" name="TextBox 5"/>
          <p:cNvSpPr txBox="1"/>
          <p:nvPr/>
        </p:nvSpPr>
        <p:spPr>
          <a:xfrm>
            <a:off x="685800" y="6107176"/>
            <a:ext cx="10820095" cy="202184"/>
          </a:xfrm>
          <a:prstGeom prst="rect">
            <a:avLst/>
          </a:prstGeom>
          <a:noFill/>
        </p:spPr>
        <p:txBody>
          <a:bodyPr wrap="square" lIns="0" rIns="0" tIns="0" bIns="0" anchor="t">
            <a:spAutoFit/>
          </a:bodyPr>
          <a:lstStyle/>
          <a:p>
            <a:pPr algn="l">
              <a:lnSpc>
                <a:spcPct val="100000"/>
              </a:lnSpc>
            </a:pPr>
            <a:r>
              <a:rPr sz="1000" b="0">
                <a:solidFill>
                  <a:srgbClr val="8C9198"/>
                </a:solidFill>
                <a:latin typeface="Noto Sans KR"/>
                <a:ea typeface="Noto Sans KR"/>
                <a:cs typeface="Noto Sans KR"/>
              </a:rPr>
              <a:t>이미지: 모든 SoftHand 이미지는 같은 SoftHand-4 콘셉트 모델로 통일한 콘셉트 렌더링이며 실제 시험 장면이 아님. 실물 확보 시 시제품 사진 → 시험 영상 → 고객 현장 순으로 교체</a:t>
            </a:r>
          </a:p>
        </p:txBody>
      </p:sp>
      <p:sp>
        <p:nvSpPr>
          <p:cNvPr id="7" name="TextBox 6"/>
          <p:cNvSpPr txBox="1"/>
          <p:nvPr/>
        </p:nvSpPr>
        <p:spPr>
          <a:xfrm>
            <a:off x="685800" y="6446520"/>
            <a:ext cx="5486400" cy="201168"/>
          </a:xfrm>
          <a:prstGeom prst="rect">
            <a:avLst/>
          </a:prstGeom>
          <a:noFill/>
        </p:spPr>
        <p:txBody>
          <a:bodyPr wrap="square" lIns="0" rIns="0" tIns="0" bIns="0" anchor="t">
            <a:spAutoFit/>
          </a:bodyPr>
          <a:lstStyle/>
          <a:p>
            <a:pPr algn="l">
              <a:lnSpc>
                <a:spcPct val="100000"/>
              </a:lnSpc>
            </a:pPr>
            <a:r>
              <a:rPr sz="900" b="0">
                <a:solidFill>
                  <a:srgbClr val="8C9198"/>
                </a:solidFill>
                <a:latin typeface="Noto Sans KR"/>
                <a:ea typeface="Noto Sans KR"/>
                <a:cs typeface="Noto Sans KR"/>
              </a:rPr>
              <a:t>SoftHand  |  주방 로봇 조작 플랫폼  |  Seed 투자 제안서</a:t>
            </a:r>
          </a:p>
        </p:txBody>
      </p:sp>
      <p:sp>
        <p:nvSpPr>
          <p:cNvPr id="8" name="TextBox 7"/>
          <p:cNvSpPr txBox="1"/>
          <p:nvPr/>
        </p:nvSpPr>
        <p:spPr>
          <a:xfrm>
            <a:off x="11048695" y="6446520"/>
            <a:ext cx="457200" cy="201168"/>
          </a:xfrm>
          <a:prstGeom prst="rect">
            <a:avLst/>
          </a:prstGeom>
          <a:noFill/>
        </p:spPr>
        <p:txBody>
          <a:bodyPr wrap="square" lIns="0" rIns="0" tIns="0" bIns="0" anchor="t">
            <a:spAutoFit/>
          </a:bodyPr>
          <a:lstStyle/>
          <a:p>
            <a:pPr algn="r">
              <a:lnSpc>
                <a:spcPct val="100000"/>
              </a:lnSpc>
            </a:pPr>
            <a:r>
              <a:rPr sz="900" b="0">
                <a:solidFill>
                  <a:srgbClr val="8C9198"/>
                </a:solidFill>
                <a:latin typeface="Noto Sans KR"/>
                <a:ea typeface="Noto Sans KR"/>
                <a:cs typeface="Noto Sans KR"/>
              </a:rPr>
              <a:t>A1</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502920"/>
            <a:ext cx="7315200" cy="256032"/>
          </a:xfrm>
          <a:prstGeom prst="rect">
            <a:avLst/>
          </a:prstGeom>
          <a:noFill/>
        </p:spPr>
        <p:txBody>
          <a:bodyPr wrap="square" lIns="0" rIns="0" tIns="0" bIns="0" anchor="t">
            <a:spAutoFit/>
          </a:bodyPr>
          <a:lstStyle/>
          <a:p>
            <a:pPr algn="l">
              <a:lnSpc>
                <a:spcPct val="100000"/>
              </a:lnSpc>
            </a:pPr>
            <a:r>
              <a:rPr sz="1100" b="1">
                <a:solidFill>
                  <a:srgbClr val="E2571B"/>
                </a:solidFill>
                <a:latin typeface="Noto Sans KR"/>
                <a:ea typeface="Noto Sans KR"/>
                <a:cs typeface="Noto Sans KR"/>
              </a:rPr>
              <a:t>부록 A2</a:t>
            </a:r>
          </a:p>
        </p:txBody>
      </p:sp>
      <p:sp>
        <p:nvSpPr>
          <p:cNvPr id="3" name="TextBox 2"/>
          <p:cNvSpPr txBox="1"/>
          <p:nvPr/>
        </p:nvSpPr>
        <p:spPr>
          <a:xfrm>
            <a:off x="685800" y="822960"/>
            <a:ext cx="10820095" cy="475488"/>
          </a:xfrm>
          <a:prstGeom prst="rect">
            <a:avLst/>
          </a:prstGeom>
          <a:noFill/>
        </p:spPr>
        <p:txBody>
          <a:bodyPr wrap="square" lIns="0" rIns="0" tIns="0" bIns="0" anchor="t">
            <a:spAutoFit/>
          </a:bodyPr>
          <a:lstStyle/>
          <a:p>
            <a:pPr algn="l">
              <a:lnSpc>
                <a:spcPct val="95000"/>
              </a:lnSpc>
            </a:pPr>
            <a:r>
              <a:rPr sz="2600" b="1">
                <a:solidFill>
                  <a:srgbClr val="15171A"/>
                </a:solidFill>
                <a:latin typeface="Noto Sans KR"/>
                <a:ea typeface="Noto Sans KR"/>
                <a:cs typeface="Noto Sans KR"/>
              </a:rPr>
              <a:t>단계별 점검 기준</a:t>
            </a:r>
          </a:p>
        </p:txBody>
      </p:sp>
      <p:sp>
        <p:nvSpPr>
          <p:cNvPr id="4" name="TextBox 3"/>
          <p:cNvSpPr txBox="1"/>
          <p:nvPr/>
        </p:nvSpPr>
        <p:spPr>
          <a:xfrm>
            <a:off x="685800" y="1353312"/>
            <a:ext cx="10820095" cy="274320"/>
          </a:xfrm>
          <a:prstGeom prst="rect">
            <a:avLst/>
          </a:prstGeom>
          <a:noFill/>
        </p:spPr>
        <p:txBody>
          <a:bodyPr wrap="square" lIns="0" rIns="0" tIns="0" bIns="0" anchor="t">
            <a:spAutoFit/>
          </a:bodyPr>
          <a:lstStyle/>
          <a:p>
            <a:pPr algn="l">
              <a:lnSpc>
                <a:spcPct val="100000"/>
              </a:lnSpc>
            </a:pPr>
            <a:r>
              <a:rPr sz="1300" b="0">
                <a:solidFill>
                  <a:srgbClr val="4A4F57"/>
                </a:solidFill>
                <a:latin typeface="Noto Sans KR"/>
                <a:ea typeface="Noto Sans KR"/>
                <a:cs typeface="Noto Sans KR"/>
              </a:rPr>
              <a:t>실패 조건과 결정을 먼저 정하고 자금을 단계별로 집행 · 모든 기준은 목표</a:t>
            </a:r>
          </a:p>
        </p:txBody>
      </p:sp>
      <p:graphicFrame>
        <p:nvGraphicFramePr>
          <p:cNvPr id="5" name="Table 4"/>
          <p:cNvGraphicFramePr>
            <a:graphicFrameLocks noGrp="1"/>
          </p:cNvGraphicFramePr>
          <p:nvPr/>
        </p:nvGraphicFramePr>
        <p:xfrm>
          <a:off x="685800" y="1874519"/>
          <a:ext cx="10817352" cy="3075430"/>
        </p:xfrm>
        <a:graphic>
          <a:graphicData uri="http://schemas.openxmlformats.org/drawingml/2006/table">
            <a:tbl>
              <a:tblPr firstRow="0" bandRow="0">
                <a:tableStyleId>{2D5ABB26-0587-4C30-8999-92F81FD0307C}</a:tableStyleId>
              </a:tblPr>
              <a:tblGrid>
                <a:gridCol w="777240"/>
                <a:gridCol w="2606040"/>
                <a:gridCol w="3090672"/>
                <a:gridCol w="2377440"/>
                <a:gridCol w="1965960"/>
              </a:tblGrid>
              <a:tr h="394411">
                <a:tc>
                  <a:txBody>
                    <a:bodyPr wrap="square"/>
                    <a:lstStyle/>
                    <a:p>
                      <a:pPr algn="l">
                        <a:lnSpc>
                          <a:spcPct val="100000"/>
                        </a:lnSpc>
                      </a:pPr>
                      <a:r>
                        <a:rPr sz="1200" b="1">
                          <a:solidFill>
                            <a:srgbClr val="15171A"/>
                          </a:solidFill>
                          <a:latin typeface="Noto Sans KR"/>
                          <a:ea typeface="Noto Sans KR"/>
                          <a:cs typeface="Noto Sans KR"/>
                        </a:rPr>
                        <a:t>시점</a:t>
                      </a:r>
                    </a:p>
                  </a:txBody>
                  <a:tcPr marL="73152" marR="73152" marT="82296" marB="82296" anchor="t">
                    <a:lnL w="0">
                      <a:noFill/>
                    </a:lnL>
                    <a:lnR w="0">
                      <a:noFill/>
                    </a:lnR>
                    <a:lnT w="12700">
                      <a:solidFill>
                        <a:srgbClr val="15171A"/>
                      </a:solidFill>
                    </a:lnT>
                    <a:lnB w="9525">
                      <a:solidFill>
                        <a:srgbClr val="15171A"/>
                      </a:solidFill>
                    </a:lnB>
                    <a:noFill/>
                  </a:tcPr>
                </a:tc>
                <a:tc>
                  <a:txBody>
                    <a:bodyPr wrap="square"/>
                    <a:lstStyle/>
                    <a:p>
                      <a:pPr algn="l">
                        <a:lnSpc>
                          <a:spcPct val="100000"/>
                        </a:lnSpc>
                      </a:pPr>
                      <a:r>
                        <a:rPr sz="1200" b="1">
                          <a:solidFill>
                            <a:srgbClr val="15171A"/>
                          </a:solidFill>
                          <a:latin typeface="Noto Sans KR"/>
                          <a:ea typeface="Noto Sans KR"/>
                          <a:cs typeface="Noto Sans KR"/>
                        </a:rPr>
                        <a:t>검증 가설</a:t>
                      </a:r>
                    </a:p>
                  </a:txBody>
                  <a:tcPr marL="73152" marR="73152" marT="82296" marB="82296" anchor="t">
                    <a:lnL w="0">
                      <a:noFill/>
                    </a:lnL>
                    <a:lnR w="0">
                      <a:noFill/>
                    </a:lnR>
                    <a:lnT w="12700">
                      <a:solidFill>
                        <a:srgbClr val="15171A"/>
                      </a:solidFill>
                    </a:lnT>
                    <a:lnB w="9525">
                      <a:solidFill>
                        <a:srgbClr val="15171A"/>
                      </a:solidFill>
                    </a:lnB>
                    <a:noFill/>
                  </a:tcPr>
                </a:tc>
                <a:tc>
                  <a:txBody>
                    <a:bodyPr wrap="square"/>
                    <a:lstStyle/>
                    <a:p>
                      <a:pPr algn="l">
                        <a:lnSpc>
                          <a:spcPct val="100000"/>
                        </a:lnSpc>
                      </a:pPr>
                      <a:r>
                        <a:rPr sz="1200" b="1">
                          <a:solidFill>
                            <a:srgbClr val="15171A"/>
                          </a:solidFill>
                          <a:latin typeface="Noto Sans KR"/>
                          <a:ea typeface="Noto Sans KR"/>
                          <a:cs typeface="Noto Sans KR"/>
                        </a:rPr>
                        <a:t>통과 기준 (목표)</a:t>
                      </a:r>
                    </a:p>
                  </a:txBody>
                  <a:tcPr marL="73152" marR="73152" marT="82296" marB="82296" anchor="t">
                    <a:lnL w="0">
                      <a:noFill/>
                    </a:lnL>
                    <a:lnR w="0">
                      <a:noFill/>
                    </a:lnR>
                    <a:lnT w="12700">
                      <a:solidFill>
                        <a:srgbClr val="15171A"/>
                      </a:solidFill>
                    </a:lnT>
                    <a:lnB w="9525">
                      <a:solidFill>
                        <a:srgbClr val="15171A"/>
                      </a:solidFill>
                    </a:lnB>
                    <a:noFill/>
                  </a:tcPr>
                </a:tc>
                <a:tc>
                  <a:txBody>
                    <a:bodyPr wrap="square"/>
                    <a:lstStyle/>
                    <a:p>
                      <a:pPr algn="l">
                        <a:lnSpc>
                          <a:spcPct val="100000"/>
                        </a:lnSpc>
                      </a:pPr>
                      <a:r>
                        <a:rPr sz="1200" b="1">
                          <a:solidFill>
                            <a:srgbClr val="15171A"/>
                          </a:solidFill>
                          <a:latin typeface="Noto Sans KR"/>
                          <a:ea typeface="Noto Sans KR"/>
                          <a:cs typeface="Noto Sans KR"/>
                        </a:rPr>
                        <a:t>미달 시 결정</a:t>
                      </a:r>
                    </a:p>
                  </a:txBody>
                  <a:tcPr marL="73152" marR="73152" marT="82296" marB="82296" anchor="t">
                    <a:lnL w="0">
                      <a:noFill/>
                    </a:lnL>
                    <a:lnR w="0">
                      <a:noFill/>
                    </a:lnR>
                    <a:lnT w="12700">
                      <a:solidFill>
                        <a:srgbClr val="15171A"/>
                      </a:solidFill>
                    </a:lnT>
                    <a:lnB w="9525">
                      <a:solidFill>
                        <a:srgbClr val="15171A"/>
                      </a:solidFill>
                    </a:lnB>
                    <a:noFill/>
                  </a:tcPr>
                </a:tc>
                <a:tc>
                  <a:txBody>
                    <a:bodyPr wrap="square"/>
                    <a:lstStyle/>
                    <a:p>
                      <a:pPr algn="l">
                        <a:lnSpc>
                          <a:spcPct val="100000"/>
                        </a:lnSpc>
                      </a:pPr>
                      <a:r>
                        <a:rPr sz="1200" b="1">
                          <a:solidFill>
                            <a:srgbClr val="15171A"/>
                          </a:solidFill>
                          <a:latin typeface="Noto Sans KR"/>
                          <a:ea typeface="Noto Sans KR"/>
                          <a:cs typeface="Noto Sans KR"/>
                        </a:rPr>
                        <a:t>자금 영향</a:t>
                      </a:r>
                    </a:p>
                  </a:txBody>
                  <a:tcPr marL="73152" marR="73152" marT="82296" marB="82296" anchor="t">
                    <a:lnL w="0">
                      <a:noFill/>
                    </a:lnL>
                    <a:lnR w="0">
                      <a:noFill/>
                    </a:lnR>
                    <a:lnT w="12700">
                      <a:solidFill>
                        <a:srgbClr val="15171A"/>
                      </a:solidFill>
                    </a:lnT>
                    <a:lnB w="9525">
                      <a:solidFill>
                        <a:srgbClr val="15171A"/>
                      </a:solidFill>
                    </a:lnB>
                    <a:noFill/>
                  </a:tcPr>
                </a:tc>
              </a:tr>
              <a:tr h="615086">
                <a:tc>
                  <a:txBody>
                    <a:bodyPr wrap="square"/>
                    <a:lstStyle/>
                    <a:p>
                      <a:pPr algn="l">
                        <a:lnSpc>
                          <a:spcPct val="100000"/>
                        </a:lnSpc>
                      </a:pPr>
                      <a:r>
                        <a:rPr sz="1200" b="1">
                          <a:solidFill>
                            <a:srgbClr val="E2571B"/>
                          </a:solidFill>
                          <a:latin typeface="Noto Sans KR"/>
                          <a:ea typeface="Noto Sans KR"/>
                          <a:cs typeface="Noto Sans KR"/>
                        </a:rPr>
                        <a:t>M6</a:t>
                      </a:r>
                    </a:p>
                  </a:txBody>
                  <a:tcPr marL="73152" marR="73152" marT="82296" marB="82296" anchor="t">
                    <a:lnL w="0">
                      <a:noFill/>
                    </a:lnL>
                    <a:lnR w="0">
                      <a:noFill/>
                    </a:lnR>
                    <a:lnT w="0">
                      <a:noFill/>
                    </a:lnT>
                    <a:lnB w="9525">
                      <a:solidFill>
                        <a:srgbClr val="E2E4E7"/>
                      </a:solidFill>
                    </a:lnB>
                    <a:noFill/>
                  </a:tcPr>
                </a:tc>
                <a:tc>
                  <a:txBody>
                    <a:bodyPr wrap="square"/>
                    <a:lstStyle/>
                    <a:p>
                      <a:pPr algn="l">
                        <a:lnSpc>
                          <a:spcPct val="100000"/>
                        </a:lnSpc>
                      </a:pPr>
                      <a:r>
                        <a:rPr sz="1200" b="0">
                          <a:solidFill>
                            <a:srgbClr val="15171A"/>
                          </a:solidFill>
                          <a:latin typeface="Noto Sans KR"/>
                          <a:ea typeface="Noto Sans KR"/>
                          <a:cs typeface="Noto Sans KR"/>
                        </a:rPr>
                        <a:t>기술: 핸드 하나로 검증 대상 작업 수행</a:t>
                      </a:r>
                    </a:p>
                  </a:txBody>
                  <a:tcPr marL="73152" marR="73152" marT="82296" marB="82296" anchor="t">
                    <a:lnL w="0">
                      <a:noFill/>
                    </a:lnL>
                    <a:lnR w="0">
                      <a:noFill/>
                    </a:lnR>
                    <a:lnT w="0">
                      <a:noFill/>
                    </a:lnT>
                    <a:lnB w="9525">
                      <a:solidFill>
                        <a:srgbClr val="E2E4E7"/>
                      </a:solidFill>
                    </a:lnB>
                    <a:noFill/>
                  </a:tcPr>
                </a:tc>
                <a:tc>
                  <a:txBody>
                    <a:bodyPr wrap="square"/>
                    <a:lstStyle/>
                    <a:p>
                      <a:pPr algn="l">
                        <a:lnSpc>
                          <a:spcPct val="100000"/>
                        </a:lnSpc>
                      </a:pPr>
                      <a:r>
                        <a:rPr sz="1200" b="0">
                          <a:solidFill>
                            <a:srgbClr val="15171A"/>
                          </a:solidFill>
                          <a:latin typeface="Noto Sans KR"/>
                          <a:ea typeface="Noto Sans KR"/>
                          <a:cs typeface="Noto Sans KR"/>
                        </a:rPr>
                        <a:t>검증 대상 6종 작업 벤치 반복 시연</a:t>
                      </a:r>
                    </a:p>
                    <a:p>
                      <a:pPr algn="l">
                        <a:lnSpc>
                          <a:spcPct val="100000"/>
                        </a:lnSpc>
                      </a:pPr>
                      <a:r>
                        <a:rPr sz="1200" b="0">
                          <a:solidFill>
                            <a:srgbClr val="15171A"/>
                          </a:solidFill>
                          <a:latin typeface="Noto Sans KR"/>
                          <a:ea typeface="Noto Sans KR"/>
                          <a:cs typeface="Noto Sans KR"/>
                        </a:rPr>
                        <a:t>목표 토크·반복성 기록 공개</a:t>
                      </a:r>
                    </a:p>
                  </a:txBody>
                  <a:tcPr marL="73152" marR="73152" marT="82296" marB="82296" anchor="t">
                    <a:lnL w="0">
                      <a:noFill/>
                    </a:lnL>
                    <a:lnR w="0">
                      <a:noFill/>
                    </a:lnR>
                    <a:lnT w="0">
                      <a:noFill/>
                    </a:lnT>
                    <a:lnB w="9525">
                      <a:solidFill>
                        <a:srgbClr val="E2E4E7"/>
                      </a:solidFill>
                    </a:lnB>
                    <a:noFill/>
                  </a:tcPr>
                </a:tc>
                <a:tc>
                  <a:txBody>
                    <a:bodyPr wrap="square"/>
                    <a:lstStyle/>
                    <a:p>
                      <a:pPr algn="l">
                        <a:lnSpc>
                          <a:spcPct val="100000"/>
                        </a:lnSpc>
                      </a:pPr>
                      <a:r>
                        <a:rPr sz="1200" b="0">
                          <a:solidFill>
                            <a:srgbClr val="15171A"/>
                          </a:solidFill>
                          <a:latin typeface="Noto Sans KR"/>
                          <a:ea typeface="Noto Sans KR"/>
                          <a:cs typeface="Noto Sans KR"/>
                        </a:rPr>
                        <a:t>핸드 구조 재검토</a:t>
                      </a:r>
                    </a:p>
                    <a:p>
                      <a:pPr algn="l">
                        <a:lnSpc>
                          <a:spcPct val="100000"/>
                        </a:lnSpc>
                      </a:pPr>
                      <a:r>
                        <a:rPr sz="1200" b="0">
                          <a:solidFill>
                            <a:srgbClr val="15171A"/>
                          </a:solidFill>
                          <a:latin typeface="Noto Sans KR"/>
                          <a:ea typeface="Noto Sans KR"/>
                          <a:cs typeface="Noto Sans KR"/>
                        </a:rPr>
                        <a:t>(구동 방식·골격·잠금)</a:t>
                      </a:r>
                    </a:p>
                  </a:txBody>
                  <a:tcPr marL="73152" marR="73152" marT="82296" marB="82296" anchor="t">
                    <a:lnL w="0">
                      <a:noFill/>
                    </a:lnL>
                    <a:lnR w="0">
                      <a:noFill/>
                    </a:lnR>
                    <a:lnT w="0">
                      <a:noFill/>
                    </a:lnT>
                    <a:lnB w="9525">
                      <a:solidFill>
                        <a:srgbClr val="E2E4E7"/>
                      </a:solidFill>
                    </a:lnB>
                    <a:noFill/>
                  </a:tcPr>
                </a:tc>
                <a:tc>
                  <a:txBody>
                    <a:bodyPr wrap="square"/>
                    <a:lstStyle/>
                    <a:p>
                      <a:pPr algn="l">
                        <a:lnSpc>
                          <a:spcPct val="100000"/>
                        </a:lnSpc>
                      </a:pPr>
                      <a:r>
                        <a:rPr sz="1200" b="0">
                          <a:solidFill>
                            <a:srgbClr val="15171A"/>
                          </a:solidFill>
                          <a:latin typeface="Noto Sans KR"/>
                          <a:ea typeface="Noto Sans KR"/>
                          <a:cs typeface="Noto Sans KR"/>
                        </a:rPr>
                        <a:t>후속 채용 보류</a:t>
                      </a:r>
                    </a:p>
                    <a:p>
                      <a:pPr algn="l">
                        <a:lnSpc>
                          <a:spcPct val="100000"/>
                        </a:lnSpc>
                      </a:pPr>
                      <a:r>
                        <a:rPr sz="1200" b="0">
                          <a:solidFill>
                            <a:srgbClr val="15171A"/>
                          </a:solidFill>
                          <a:latin typeface="Noto Sans KR"/>
                          <a:ea typeface="Noto Sans KR"/>
                          <a:cs typeface="Noto Sans KR"/>
                        </a:rPr>
                        <a:t>시제품 예산 재배분</a:t>
                      </a:r>
                    </a:p>
                  </a:txBody>
                  <a:tcPr marL="73152" marR="73152" marT="82296" marB="82296" anchor="t">
                    <a:lnL w="0">
                      <a:noFill/>
                    </a:lnL>
                    <a:lnR w="0">
                      <a:noFill/>
                    </a:lnR>
                    <a:lnT w="0">
                      <a:noFill/>
                    </a:lnT>
                    <a:lnB w="9525">
                      <a:solidFill>
                        <a:srgbClr val="E2E4E7"/>
                      </a:solidFill>
                    </a:lnB>
                    <a:noFill/>
                  </a:tcPr>
                </a:tc>
              </a:tr>
              <a:tr h="615086">
                <a:tc>
                  <a:txBody>
                    <a:bodyPr wrap="square"/>
                    <a:lstStyle/>
                    <a:p>
                      <a:pPr algn="l">
                        <a:lnSpc>
                          <a:spcPct val="100000"/>
                        </a:lnSpc>
                      </a:pPr>
                      <a:r>
                        <a:rPr sz="1200" b="1">
                          <a:solidFill>
                            <a:srgbClr val="E2571B"/>
                          </a:solidFill>
                          <a:latin typeface="Noto Sans KR"/>
                          <a:ea typeface="Noto Sans KR"/>
                          <a:cs typeface="Noto Sans KR"/>
                        </a:rPr>
                        <a:t>M12</a:t>
                      </a:r>
                    </a:p>
                  </a:txBody>
                  <a:tcPr marL="73152" marR="73152" marT="82296" marB="82296" anchor="t">
                    <a:lnL w="0">
                      <a:noFill/>
                    </a:lnL>
                    <a:lnR w="0">
                      <a:noFill/>
                    </a:lnR>
                    <a:lnT w="0">
                      <a:noFill/>
                    </a:lnT>
                    <a:lnB w="9525">
                      <a:solidFill>
                        <a:srgbClr val="E2E4E7"/>
                      </a:solidFill>
                    </a:lnB>
                    <a:noFill/>
                  </a:tcPr>
                </a:tc>
                <a:tc>
                  <a:txBody>
                    <a:bodyPr wrap="square"/>
                    <a:lstStyle/>
                    <a:p>
                      <a:pPr algn="l">
                        <a:lnSpc>
                          <a:spcPct val="100000"/>
                        </a:lnSpc>
                      </a:pPr>
                      <a:r>
                        <a:rPr sz="1200" b="0">
                          <a:solidFill>
                            <a:srgbClr val="15171A"/>
                          </a:solidFill>
                          <a:latin typeface="Noto Sans KR"/>
                          <a:ea typeface="Noto Sans KR"/>
                          <a:cs typeface="Noto Sans KR"/>
                        </a:rPr>
                        <a:t>고객: 주방 고객이 비용 지불</a:t>
                      </a:r>
                    </a:p>
                  </a:txBody>
                  <a:tcPr marL="73152" marR="73152" marT="82296" marB="82296" anchor="t">
                    <a:lnL w="0">
                      <a:noFill/>
                    </a:lnL>
                    <a:lnR w="0">
                      <a:noFill/>
                    </a:lnR>
                    <a:lnT w="0">
                      <a:noFill/>
                    </a:lnT>
                    <a:lnB w="9525">
                      <a:solidFill>
                        <a:srgbClr val="E2E4E7"/>
                      </a:solidFill>
                    </a:lnB>
                    <a:noFill/>
                  </a:tcPr>
                </a:tc>
                <a:tc>
                  <a:txBody>
                    <a:bodyPr wrap="square"/>
                    <a:lstStyle/>
                    <a:p>
                      <a:pPr algn="l">
                        <a:lnSpc>
                          <a:spcPct val="100000"/>
                        </a:lnSpc>
                      </a:pPr>
                      <a:r>
                        <a:rPr sz="1200" b="0">
                          <a:solidFill>
                            <a:srgbClr val="15171A"/>
                          </a:solidFill>
                          <a:latin typeface="Noto Sans KR"/>
                          <a:ea typeface="Noto Sans KR"/>
                          <a:cs typeface="Noto Sans KR"/>
                        </a:rPr>
                        <a:t>유료 PoC 1건 이상</a:t>
                      </a:r>
                    </a:p>
                    <a:p>
                      <a:pPr algn="l">
                        <a:lnSpc>
                          <a:spcPct val="100000"/>
                        </a:lnSpc>
                      </a:pPr>
                      <a:r>
                        <a:rPr sz="1200" b="0">
                          <a:solidFill>
                            <a:srgbClr val="15171A"/>
                          </a:solidFill>
                          <a:latin typeface="Noto Sans KR"/>
                          <a:ea typeface="Noto Sans KR"/>
                          <a:cs typeface="Noto Sans KR"/>
                        </a:rPr>
                        <a:t>고객 기존 수치 확보, 지불의사 확인</a:t>
                      </a:r>
                    </a:p>
                  </a:txBody>
                  <a:tcPr marL="73152" marR="73152" marT="82296" marB="82296" anchor="t">
                    <a:lnL w="0">
                      <a:noFill/>
                    </a:lnL>
                    <a:lnR w="0">
                      <a:noFill/>
                    </a:lnR>
                    <a:lnT w="0">
                      <a:noFill/>
                    </a:lnT>
                    <a:lnB w="9525">
                      <a:solidFill>
                        <a:srgbClr val="E2E4E7"/>
                      </a:solidFill>
                    </a:lnB>
                    <a:noFill/>
                  </a:tcPr>
                </a:tc>
                <a:tc>
                  <a:txBody>
                    <a:bodyPr wrap="square"/>
                    <a:lstStyle/>
                    <a:p>
                      <a:pPr algn="l">
                        <a:lnSpc>
                          <a:spcPct val="100000"/>
                        </a:lnSpc>
                      </a:pPr>
                      <a:r>
                        <a:rPr sz="1200" b="0">
                          <a:solidFill>
                            <a:srgbClr val="15171A"/>
                          </a:solidFill>
                          <a:latin typeface="Noto Sans KR"/>
                          <a:ea typeface="Noto Sans KR"/>
                          <a:cs typeface="Noto Sans KR"/>
                        </a:rPr>
                        <a:t>첫 Use Case·고객군 재정의</a:t>
                      </a:r>
                    </a:p>
                    <a:p>
                      <a:pPr algn="l">
                        <a:lnSpc>
                          <a:spcPct val="100000"/>
                        </a:lnSpc>
                      </a:pPr>
                      <a:r>
                        <a:rPr sz="1200" b="0">
                          <a:solidFill>
                            <a:srgbClr val="15171A"/>
                          </a:solidFill>
                          <a:latin typeface="Noto Sans KR"/>
                          <a:ea typeface="Noto Sans KR"/>
                          <a:cs typeface="Noto Sans KR"/>
                        </a:rPr>
                        <a:t>(다른 작업·다른 주방 유형)</a:t>
                      </a:r>
                    </a:p>
                  </a:txBody>
                  <a:tcPr marL="73152" marR="73152" marT="82296" marB="82296" anchor="t">
                    <a:lnL w="0">
                      <a:noFill/>
                    </a:lnL>
                    <a:lnR w="0">
                      <a:noFill/>
                    </a:lnR>
                    <a:lnT w="0">
                      <a:noFill/>
                    </a:lnT>
                    <a:lnB w="9525">
                      <a:solidFill>
                        <a:srgbClr val="E2E4E7"/>
                      </a:solidFill>
                    </a:lnB>
                    <a:noFill/>
                  </a:tcPr>
                </a:tc>
                <a:tc>
                  <a:txBody>
                    <a:bodyPr wrap="square"/>
                    <a:lstStyle/>
                    <a:p>
                      <a:pPr algn="l">
                        <a:lnSpc>
                          <a:spcPct val="100000"/>
                        </a:lnSpc>
                      </a:pPr>
                      <a:r>
                        <a:rPr sz="1200" b="0">
                          <a:solidFill>
                            <a:srgbClr val="15171A"/>
                          </a:solidFill>
                          <a:latin typeface="Noto Sans KR"/>
                          <a:ea typeface="Noto Sans KR"/>
                          <a:cs typeface="Noto Sans KR"/>
                        </a:rPr>
                        <a:t>6개월 연장 자금 집행 재검토</a:t>
                      </a:r>
                    </a:p>
                  </a:txBody>
                  <a:tcPr marL="73152" marR="73152" marT="82296" marB="82296" anchor="t">
                    <a:lnL w="0">
                      <a:noFill/>
                    </a:lnL>
                    <a:lnR w="0">
                      <a:noFill/>
                    </a:lnR>
                    <a:lnT w="0">
                      <a:noFill/>
                    </a:lnT>
                    <a:lnB w="9525">
                      <a:solidFill>
                        <a:srgbClr val="E2E4E7"/>
                      </a:solidFill>
                    </a:lnB>
                    <a:noFill/>
                  </a:tcPr>
                </a:tc>
              </a:tr>
              <a:tr h="615086">
                <a:tc>
                  <a:txBody>
                    <a:bodyPr wrap="square"/>
                    <a:lstStyle/>
                    <a:p>
                      <a:pPr algn="l">
                        <a:lnSpc>
                          <a:spcPct val="100000"/>
                        </a:lnSpc>
                      </a:pPr>
                      <a:r>
                        <a:rPr sz="1200" b="1">
                          <a:solidFill>
                            <a:srgbClr val="E2571B"/>
                          </a:solidFill>
                          <a:latin typeface="Noto Sans KR"/>
                          <a:ea typeface="Noto Sans KR"/>
                          <a:cs typeface="Noto Sans KR"/>
                        </a:rPr>
                        <a:t>M18</a:t>
                      </a:r>
                    </a:p>
                  </a:txBody>
                  <a:tcPr marL="73152" marR="73152" marT="82296" marB="82296" anchor="t">
                    <a:lnL w="0">
                      <a:noFill/>
                    </a:lnL>
                    <a:lnR w="0">
                      <a:noFill/>
                    </a:lnR>
                    <a:lnT w="0">
                      <a:noFill/>
                    </a:lnT>
                    <a:lnB w="9525">
                      <a:solidFill>
                        <a:srgbClr val="E2E4E7"/>
                      </a:solidFill>
                    </a:lnB>
                    <a:noFill/>
                  </a:tcPr>
                </a:tc>
                <a:tc>
                  <a:txBody>
                    <a:bodyPr wrap="square"/>
                    <a:lstStyle/>
                    <a:p>
                      <a:pPr algn="l">
                        <a:lnSpc>
                          <a:spcPct val="100000"/>
                        </a:lnSpc>
                      </a:pPr>
                      <a:r>
                        <a:rPr sz="1200" b="0">
                          <a:solidFill>
                            <a:srgbClr val="15171A"/>
                          </a:solidFill>
                          <a:latin typeface="Noto Sans KR"/>
                          <a:ea typeface="Noto Sans KR"/>
                          <a:cs typeface="Noto Sans KR"/>
                        </a:rPr>
                        <a:t>제품: 반복 판매·Skill 재사용</a:t>
                      </a:r>
                    </a:p>
                  </a:txBody>
                  <a:tcPr marL="73152" marR="73152" marT="82296" marB="82296" anchor="t">
                    <a:lnL w="0">
                      <a:noFill/>
                    </a:lnL>
                    <a:lnR w="0">
                      <a:noFill/>
                    </a:lnR>
                    <a:lnT w="0">
                      <a:noFill/>
                    </a:lnT>
                    <a:lnB w="9525">
                      <a:solidFill>
                        <a:srgbClr val="E2E4E7"/>
                      </a:solidFill>
                    </a:lnB>
                    <a:noFill/>
                  </a:tcPr>
                </a:tc>
                <a:tc>
                  <a:txBody>
                    <a:bodyPr wrap="square"/>
                    <a:lstStyle/>
                    <a:p>
                      <a:pPr algn="l">
                        <a:lnSpc>
                          <a:spcPct val="100000"/>
                        </a:lnSpc>
                      </a:pPr>
                      <a:r>
                        <a:rPr sz="1200" b="0">
                          <a:solidFill>
                            <a:srgbClr val="15171A"/>
                          </a:solidFill>
                          <a:latin typeface="Noto Sans KR"/>
                          <a:ea typeface="Noto Sans KR"/>
                          <a:cs typeface="Noto Sans KR"/>
                        </a:rPr>
                        <a:t>설계 확정, 첫 재구매</a:t>
                      </a:r>
                    </a:p>
                    <a:p>
                      <a:pPr algn="l">
                        <a:lnSpc>
                          <a:spcPct val="100000"/>
                        </a:lnSpc>
                      </a:pPr>
                      <a:r>
                        <a:rPr sz="1200" b="0">
                          <a:solidFill>
                            <a:srgbClr val="15171A"/>
                          </a:solidFill>
                          <a:latin typeface="Noto Sans KR"/>
                          <a:ea typeface="Noto Sans KR"/>
                          <a:cs typeface="Noto Sans KR"/>
                        </a:rPr>
                        <a:t>재사용률 측정 시작, 로봇 B 통합</a:t>
                      </a:r>
                    </a:p>
                  </a:txBody>
                  <a:tcPr marL="73152" marR="73152" marT="82296" marB="82296" anchor="t">
                    <a:lnL w="0">
                      <a:noFill/>
                    </a:lnL>
                    <a:lnR w="0">
                      <a:noFill/>
                    </a:lnR>
                    <a:lnT w="0">
                      <a:noFill/>
                    </a:lnT>
                    <a:lnB w="9525">
                      <a:solidFill>
                        <a:srgbClr val="E2E4E7"/>
                      </a:solidFill>
                    </a:lnB>
                    <a:noFill/>
                  </a:tcPr>
                </a:tc>
                <a:tc>
                  <a:txBody>
                    <a:bodyPr wrap="square"/>
                    <a:lstStyle/>
                    <a:p>
                      <a:pPr algn="l">
                        <a:lnSpc>
                          <a:spcPct val="100000"/>
                        </a:lnSpc>
                      </a:pPr>
                      <a:r>
                        <a:rPr sz="1200" b="0">
                          <a:solidFill>
                            <a:srgbClr val="15171A"/>
                          </a:solidFill>
                          <a:latin typeface="Noto Sans KR"/>
                          <a:ea typeface="Noto Sans KR"/>
                          <a:cs typeface="Noto Sans KR"/>
                        </a:rPr>
                        <a:t>플랫폼 가설 재검토</a:t>
                      </a:r>
                    </a:p>
                    <a:p>
                      <a:pPr algn="l">
                        <a:lnSpc>
                          <a:spcPct val="100000"/>
                        </a:lnSpc>
                      </a:pPr>
                      <a:r>
                        <a:rPr sz="1200" b="0">
                          <a:solidFill>
                            <a:srgbClr val="15171A"/>
                          </a:solidFill>
                          <a:latin typeface="Noto Sans KR"/>
                          <a:ea typeface="Noto Sans KR"/>
                          <a:cs typeface="Noto Sans KR"/>
                        </a:rPr>
                        <a:t>제품 + 서비스 모델 검토</a:t>
                      </a:r>
                    </a:p>
                  </a:txBody>
                  <a:tcPr marL="73152" marR="73152" marT="82296" marB="82296" anchor="t">
                    <a:lnL w="0">
                      <a:noFill/>
                    </a:lnL>
                    <a:lnR w="0">
                      <a:noFill/>
                    </a:lnR>
                    <a:lnT w="0">
                      <a:noFill/>
                    </a:lnT>
                    <a:lnB w="9525">
                      <a:solidFill>
                        <a:srgbClr val="E2E4E7"/>
                      </a:solidFill>
                    </a:lnB>
                    <a:noFill/>
                  </a:tcPr>
                </a:tc>
                <a:tc>
                  <a:txBody>
                    <a:bodyPr wrap="square"/>
                    <a:lstStyle/>
                    <a:p>
                      <a:pPr algn="l">
                        <a:lnSpc>
                          <a:spcPct val="100000"/>
                        </a:lnSpc>
                      </a:pPr>
                      <a:r>
                        <a:rPr sz="1200" b="0">
                          <a:solidFill>
                            <a:srgbClr val="15171A"/>
                          </a:solidFill>
                          <a:latin typeface="Noto Sans KR"/>
                          <a:ea typeface="Noto Sans KR"/>
                          <a:cs typeface="Noto Sans KR"/>
                        </a:rPr>
                        <a:t>Series A 착수 시점 조정</a:t>
                      </a:r>
                    </a:p>
                  </a:txBody>
                  <a:tcPr marL="73152" marR="73152" marT="82296" marB="82296" anchor="t">
                    <a:lnL w="0">
                      <a:noFill/>
                    </a:lnL>
                    <a:lnR w="0">
                      <a:noFill/>
                    </a:lnR>
                    <a:lnT w="0">
                      <a:noFill/>
                    </a:lnT>
                    <a:lnB w="9525">
                      <a:solidFill>
                        <a:srgbClr val="E2E4E7"/>
                      </a:solidFill>
                    </a:lnB>
                    <a:noFill/>
                  </a:tcPr>
                </a:tc>
              </a:tr>
              <a:tr h="835761">
                <a:tc>
                  <a:txBody>
                    <a:bodyPr wrap="square"/>
                    <a:lstStyle/>
                    <a:p>
                      <a:pPr algn="l">
                        <a:lnSpc>
                          <a:spcPct val="100000"/>
                        </a:lnSpc>
                      </a:pPr>
                      <a:r>
                        <a:rPr sz="1200" b="1">
                          <a:solidFill>
                            <a:srgbClr val="E2571B"/>
                          </a:solidFill>
                          <a:latin typeface="Noto Sans KR"/>
                          <a:ea typeface="Noto Sans KR"/>
                          <a:cs typeface="Noto Sans KR"/>
                        </a:rPr>
                        <a:t>M24</a:t>
                      </a:r>
                    </a:p>
                  </a:txBody>
                  <a:tcPr marL="73152" marR="73152" marT="82296" marB="82296" anchor="t">
                    <a:lnL w="0">
                      <a:noFill/>
                    </a:lnL>
                    <a:lnR w="0">
                      <a:noFill/>
                    </a:lnR>
                    <a:lnT w="0">
                      <a:noFill/>
                    </a:lnT>
                    <a:lnB w="9525">
                      <a:solidFill>
                        <a:srgbClr val="E2E4E7"/>
                      </a:solidFill>
                    </a:lnB>
                    <a:noFill/>
                  </a:tcPr>
                </a:tc>
                <a:tc>
                  <a:txBody>
                    <a:bodyPr wrap="square"/>
                    <a:lstStyle/>
                    <a:p>
                      <a:pPr algn="l">
                        <a:lnSpc>
                          <a:spcPct val="100000"/>
                        </a:lnSpc>
                      </a:pPr>
                      <a:r>
                        <a:rPr sz="1200" b="0">
                          <a:solidFill>
                            <a:srgbClr val="15171A"/>
                          </a:solidFill>
                          <a:latin typeface="Noto Sans KR"/>
                          <a:ea typeface="Noto Sans KR"/>
                          <a:cs typeface="Noto Sans KR"/>
                        </a:rPr>
                        <a:t>확장: 재구매·Skill 이식성</a:t>
                      </a:r>
                    </a:p>
                  </a:txBody>
                  <a:tcPr marL="73152" marR="73152" marT="82296" marB="82296" anchor="t">
                    <a:lnL w="0">
                      <a:noFill/>
                    </a:lnL>
                    <a:lnR w="0">
                      <a:noFill/>
                    </a:lnR>
                    <a:lnT w="0">
                      <a:noFill/>
                    </a:lnT>
                    <a:lnB w="9525">
                      <a:solidFill>
                        <a:srgbClr val="E2E4E7"/>
                      </a:solidFill>
                    </a:lnB>
                    <a:noFill/>
                  </a:tcPr>
                </a:tc>
                <a:tc>
                  <a:txBody>
                    <a:bodyPr wrap="square"/>
                    <a:lstStyle/>
                    <a:p>
                      <a:pPr algn="l">
                        <a:lnSpc>
                          <a:spcPct val="100000"/>
                        </a:lnSpc>
                      </a:pPr>
                      <a:r>
                        <a:rPr sz="1200" b="0">
                          <a:solidFill>
                            <a:srgbClr val="15171A"/>
                          </a:solidFill>
                          <a:latin typeface="Noto Sans KR"/>
                          <a:ea typeface="Noto Sans KR"/>
                          <a:cs typeface="Noto Sans KR"/>
                        </a:rPr>
                        <a:t>재구매 고객 2곳 이상, 로봇 2종 호환</a:t>
                      </a:r>
                    </a:p>
                    <a:p>
                      <a:pPr algn="l">
                        <a:lnSpc>
                          <a:spcPct val="100000"/>
                        </a:lnSpc>
                      </a:pPr>
                      <a:r>
                        <a:rPr sz="1200" b="0">
                          <a:solidFill>
                            <a:srgbClr val="15171A"/>
                          </a:solidFill>
                          <a:latin typeface="Noto Sans KR"/>
                          <a:ea typeface="Noto Sans KR"/>
                          <a:cs typeface="Noto Sans KR"/>
                        </a:rPr>
                        <a:t>상업용·가정용 환경 공통 Skill</a:t>
                      </a:r>
                    </a:p>
                    <a:p>
                      <a:pPr algn="l">
                        <a:lnSpc>
                          <a:spcPct val="100000"/>
                        </a:lnSpc>
                      </a:pPr>
                      <a:r>
                        <a:rPr sz="1200" b="0">
                          <a:solidFill>
                            <a:srgbClr val="15171A"/>
                          </a:solidFill>
                          <a:latin typeface="Noto Sans KR"/>
                          <a:ea typeface="Noto Sans KR"/>
                          <a:cs typeface="Noto Sans KR"/>
                        </a:rPr>
                        <a:t>매출총이익률 검증</a:t>
                      </a:r>
                    </a:p>
                  </a:txBody>
                  <a:tcPr marL="73152" marR="73152" marT="82296" marB="82296" anchor="t">
                    <a:lnL w="0">
                      <a:noFill/>
                    </a:lnL>
                    <a:lnR w="0">
                      <a:noFill/>
                    </a:lnR>
                    <a:lnT w="0">
                      <a:noFill/>
                    </a:lnT>
                    <a:lnB w="9525">
                      <a:solidFill>
                        <a:srgbClr val="E2E4E7"/>
                      </a:solidFill>
                    </a:lnB>
                    <a:noFill/>
                  </a:tcPr>
                </a:tc>
                <a:tc>
                  <a:txBody>
                    <a:bodyPr wrap="square"/>
                    <a:lstStyle/>
                    <a:p>
                      <a:pPr algn="l">
                        <a:lnSpc>
                          <a:spcPct val="100000"/>
                        </a:lnSpc>
                      </a:pPr>
                      <a:r>
                        <a:rPr sz="1200" b="0">
                          <a:solidFill>
                            <a:srgbClr val="15171A"/>
                          </a:solidFill>
                          <a:latin typeface="Noto Sans KR"/>
                          <a:ea typeface="Noto Sans KR"/>
                          <a:cs typeface="Noto Sans KR"/>
                        </a:rPr>
                        <a:t>Series A 확장 보류</a:t>
                      </a:r>
                    </a:p>
                    <a:p>
                      <a:pPr algn="l">
                        <a:lnSpc>
                          <a:spcPct val="100000"/>
                        </a:lnSpc>
                      </a:pPr>
                      <a:r>
                        <a:rPr sz="1200" b="0">
                          <a:solidFill>
                            <a:srgbClr val="15171A"/>
                          </a:solidFill>
                          <a:latin typeface="Noto Sans KR"/>
                          <a:ea typeface="Noto Sans KR"/>
                          <a:cs typeface="Noto Sans KR"/>
                        </a:rPr>
                        <a:t>축소 운영·브리지 검토</a:t>
                      </a:r>
                    </a:p>
                  </a:txBody>
                  <a:tcPr marL="73152" marR="73152" marT="82296" marB="82296" anchor="t">
                    <a:lnL w="0">
                      <a:noFill/>
                    </a:lnL>
                    <a:lnR w="0">
                      <a:noFill/>
                    </a:lnR>
                    <a:lnT w="0">
                      <a:noFill/>
                    </a:lnT>
                    <a:lnB w="9525">
                      <a:solidFill>
                        <a:srgbClr val="E2E4E7"/>
                      </a:solidFill>
                    </a:lnB>
                    <a:noFill/>
                  </a:tcPr>
                </a:tc>
                <a:tc>
                  <a:txBody>
                    <a:bodyPr wrap="square"/>
                    <a:lstStyle/>
                    <a:p>
                      <a:pPr algn="l">
                        <a:lnSpc>
                          <a:spcPct val="100000"/>
                        </a:lnSpc>
                      </a:pPr>
                      <a:r>
                        <a:rPr sz="1200" b="0">
                          <a:solidFill>
                            <a:srgbClr val="15171A"/>
                          </a:solidFill>
                          <a:latin typeface="Noto Sans KR"/>
                          <a:ea typeface="Noto Sans KR"/>
                          <a:cs typeface="Noto Sans KR"/>
                        </a:rPr>
                        <a:t>Series A 규모·시점 결정</a:t>
                      </a:r>
                    </a:p>
                  </a:txBody>
                  <a:tcPr marL="73152" marR="73152" marT="82296" marB="82296" anchor="t">
                    <a:lnL w="0">
                      <a:noFill/>
                    </a:lnL>
                    <a:lnR w="0">
                      <a:noFill/>
                    </a:lnR>
                    <a:lnT w="0">
                      <a:noFill/>
                    </a:lnT>
                    <a:lnB w="9525">
                      <a:solidFill>
                        <a:srgbClr val="E2E4E7"/>
                      </a:solidFill>
                    </a:lnB>
                    <a:noFill/>
                  </a:tcPr>
                </a:tc>
              </a:tr>
            </a:tbl>
          </a:graphicData>
        </a:graphic>
      </p:graphicFrame>
      <p:cxnSp>
        <p:nvCxnSpPr>
          <p:cNvPr id="6" name="Connector 5"/>
          <p:cNvCxnSpPr/>
          <p:nvPr/>
        </p:nvCxnSpPr>
        <p:spPr>
          <a:xfrm>
            <a:off x="685800" y="5349240"/>
            <a:ext cx="10820095" cy="0"/>
          </a:xfrm>
          <a:prstGeom prst="line">
            <a:avLst/>
          </a:prstGeom>
          <a:ln w="12700">
            <a:solidFill>
              <a:srgbClr val="15171A"/>
            </a:solidFill>
          </a:ln>
        </p:spPr>
      </p:cxnSp>
      <p:sp>
        <p:nvSpPr>
          <p:cNvPr id="7" name="TextBox 6"/>
          <p:cNvSpPr txBox="1"/>
          <p:nvPr/>
        </p:nvSpPr>
        <p:spPr>
          <a:xfrm>
            <a:off x="685800" y="5486400"/>
            <a:ext cx="10820095" cy="519480"/>
          </a:xfrm>
          <a:prstGeom prst="rect">
            <a:avLst/>
          </a:prstGeom>
          <a:noFill/>
        </p:spPr>
        <p:txBody>
          <a:bodyPr wrap="square" lIns="0" rIns="0" tIns="0" bIns="0" anchor="t">
            <a:spAutoFit/>
          </a:bodyPr>
          <a:lstStyle/>
          <a:p>
            <a:pPr algn="l" marL="164592" indent="-164592">
              <a:lnSpc>
                <a:spcPct val="100000"/>
              </a:lnSpc>
              <a:spcAft>
                <a:spcPts val="400"/>
              </a:spcAft>
              <a:buClr>
                <a:srgbClr val="8C9198"/>
              </a:buClr>
              <a:buFont typeface="Noto Sans KR"/>
              <a:buChar char="•"/>
            </a:pPr>
            <a:r>
              <a:rPr sz="1150" b="0">
                <a:solidFill>
                  <a:srgbClr val="4A4F57"/>
                </a:solidFill>
                <a:latin typeface="Noto Sans KR"/>
                <a:ea typeface="Noto Sans KR"/>
                <a:cs typeface="Noto Sans KR"/>
              </a:rPr>
              <a:t>점검은 이사회·투자자와 분기별 지표 리뷰로 판단, 미달 시 범위 축소 또는 방향 전환을 결정한 뒤 다음 단계 자금 집행 (18개월 + 6개월 구조와 연동)</a:t>
            </a:r>
          </a:p>
          <a:p>
            <a:pPr algn="l" marL="164592" indent="-164592">
              <a:lnSpc>
                <a:spcPct val="100000"/>
              </a:lnSpc>
              <a:buClr>
                <a:srgbClr val="8C9198"/>
              </a:buClr>
              <a:buFont typeface="Noto Sans KR"/>
              <a:buChar char="•"/>
            </a:pPr>
            <a:r>
              <a:rPr sz="1150" b="0">
                <a:solidFill>
                  <a:srgbClr val="4A4F57"/>
                </a:solidFill>
                <a:latin typeface="Noto Sans KR"/>
                <a:ea typeface="Noto Sans KR"/>
                <a:cs typeface="Noto Sans KR"/>
              </a:rPr>
              <a:t>산업 검증 트랙(머신텐딩, A5)은 같은 기준의 기술 지표(토크·반복성·내구성) 확인에 활용, 시험 결과는 횟수·성공 건수·재시도 분리·신뢰구간으로 보고</a:t>
            </a:r>
          </a:p>
        </p:txBody>
      </p:sp>
      <p:sp>
        <p:nvSpPr>
          <p:cNvPr id="8" name="TextBox 7"/>
          <p:cNvSpPr txBox="1"/>
          <p:nvPr/>
        </p:nvSpPr>
        <p:spPr>
          <a:xfrm>
            <a:off x="685800" y="6446520"/>
            <a:ext cx="5486400" cy="201168"/>
          </a:xfrm>
          <a:prstGeom prst="rect">
            <a:avLst/>
          </a:prstGeom>
          <a:noFill/>
        </p:spPr>
        <p:txBody>
          <a:bodyPr wrap="square" lIns="0" rIns="0" tIns="0" bIns="0" anchor="t">
            <a:spAutoFit/>
          </a:bodyPr>
          <a:lstStyle/>
          <a:p>
            <a:pPr algn="l">
              <a:lnSpc>
                <a:spcPct val="100000"/>
              </a:lnSpc>
            </a:pPr>
            <a:r>
              <a:rPr sz="900" b="0">
                <a:solidFill>
                  <a:srgbClr val="8C9198"/>
                </a:solidFill>
                <a:latin typeface="Noto Sans KR"/>
                <a:ea typeface="Noto Sans KR"/>
                <a:cs typeface="Noto Sans KR"/>
              </a:rPr>
              <a:t>SoftHand  |  주방 로봇 조작 플랫폼  |  Seed 투자 제안서</a:t>
            </a:r>
          </a:p>
        </p:txBody>
      </p:sp>
      <p:sp>
        <p:nvSpPr>
          <p:cNvPr id="9" name="TextBox 8"/>
          <p:cNvSpPr txBox="1"/>
          <p:nvPr/>
        </p:nvSpPr>
        <p:spPr>
          <a:xfrm>
            <a:off x="11048695" y="6446520"/>
            <a:ext cx="457200" cy="201168"/>
          </a:xfrm>
          <a:prstGeom prst="rect">
            <a:avLst/>
          </a:prstGeom>
          <a:noFill/>
        </p:spPr>
        <p:txBody>
          <a:bodyPr wrap="square" lIns="0" rIns="0" tIns="0" bIns="0" anchor="t">
            <a:spAutoFit/>
          </a:bodyPr>
          <a:lstStyle/>
          <a:p>
            <a:pPr algn="r">
              <a:lnSpc>
                <a:spcPct val="100000"/>
              </a:lnSpc>
            </a:pPr>
            <a:r>
              <a:rPr sz="900" b="0">
                <a:solidFill>
                  <a:srgbClr val="8C9198"/>
                </a:solidFill>
                <a:latin typeface="Noto Sans KR"/>
                <a:ea typeface="Noto Sans KR"/>
                <a:cs typeface="Noto Sans KR"/>
              </a:rPr>
              <a:t>A2</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502920"/>
            <a:ext cx="7315200" cy="256032"/>
          </a:xfrm>
          <a:prstGeom prst="rect">
            <a:avLst/>
          </a:prstGeom>
          <a:noFill/>
        </p:spPr>
        <p:txBody>
          <a:bodyPr wrap="square" lIns="0" rIns="0" tIns="0" bIns="0" anchor="t">
            <a:spAutoFit/>
          </a:bodyPr>
          <a:lstStyle/>
          <a:p>
            <a:pPr algn="l">
              <a:lnSpc>
                <a:spcPct val="100000"/>
              </a:lnSpc>
            </a:pPr>
            <a:r>
              <a:rPr sz="1100" b="1">
                <a:solidFill>
                  <a:srgbClr val="E2571B"/>
                </a:solidFill>
                <a:latin typeface="Noto Sans KR"/>
                <a:ea typeface="Noto Sans KR"/>
                <a:cs typeface="Noto Sans KR"/>
              </a:rPr>
              <a:t>부록 A3</a:t>
            </a:r>
          </a:p>
        </p:txBody>
      </p:sp>
      <p:sp>
        <p:nvSpPr>
          <p:cNvPr id="3" name="TextBox 2"/>
          <p:cNvSpPr txBox="1"/>
          <p:nvPr/>
        </p:nvSpPr>
        <p:spPr>
          <a:xfrm>
            <a:off x="685800" y="822960"/>
            <a:ext cx="10820095" cy="475488"/>
          </a:xfrm>
          <a:prstGeom prst="rect">
            <a:avLst/>
          </a:prstGeom>
          <a:noFill/>
        </p:spPr>
        <p:txBody>
          <a:bodyPr wrap="square" lIns="0" rIns="0" tIns="0" bIns="0" anchor="t">
            <a:spAutoFit/>
          </a:bodyPr>
          <a:lstStyle/>
          <a:p>
            <a:pPr algn="l">
              <a:lnSpc>
                <a:spcPct val="95000"/>
              </a:lnSpc>
            </a:pPr>
            <a:r>
              <a:rPr sz="2600" b="1">
                <a:solidFill>
                  <a:srgbClr val="15171A"/>
                </a:solidFill>
                <a:latin typeface="Noto Sans KR"/>
                <a:ea typeface="Noto Sans KR"/>
                <a:cs typeface="Noto Sans KR"/>
              </a:rPr>
              <a:t>SoftHand 설계 상세: 구성·구동·센싱·하중</a:t>
            </a:r>
          </a:p>
        </p:txBody>
      </p:sp>
      <p:sp>
        <p:nvSpPr>
          <p:cNvPr id="4" name="TextBox 3"/>
          <p:cNvSpPr txBox="1"/>
          <p:nvPr/>
        </p:nvSpPr>
        <p:spPr>
          <a:xfrm>
            <a:off x="685800" y="1353312"/>
            <a:ext cx="10820095" cy="274320"/>
          </a:xfrm>
          <a:prstGeom prst="rect">
            <a:avLst/>
          </a:prstGeom>
          <a:noFill/>
        </p:spPr>
        <p:txBody>
          <a:bodyPr wrap="square" lIns="0" rIns="0" tIns="0" bIns="0" anchor="t">
            <a:spAutoFit/>
          </a:bodyPr>
          <a:lstStyle/>
          <a:p>
            <a:pPr algn="l">
              <a:lnSpc>
                <a:spcPct val="100000"/>
              </a:lnSpc>
            </a:pPr>
            <a:r>
              <a:rPr sz="1300" b="0">
                <a:solidFill>
                  <a:srgbClr val="4A4F57"/>
                </a:solidFill>
                <a:latin typeface="Noto Sans KR"/>
                <a:ea typeface="Noto Sans KR"/>
                <a:cs typeface="Noto Sans KR"/>
              </a:rPr>
              <a:t>본문 04장의 세 문장(부드럽게 · 단단하게 · 느끼면서)을 구현하는 기술 요소 · 구동 방식은 미확정</a:t>
            </a:r>
          </a:p>
        </p:txBody>
      </p:sp>
      <p:graphicFrame>
        <p:nvGraphicFramePr>
          <p:cNvPr id="5" name="Table 4"/>
          <p:cNvGraphicFramePr>
            <a:graphicFrameLocks noGrp="1"/>
          </p:cNvGraphicFramePr>
          <p:nvPr/>
        </p:nvGraphicFramePr>
        <p:xfrm>
          <a:off x="685800" y="1874519"/>
          <a:ext cx="7223760" cy="3561888"/>
        </p:xfrm>
        <a:graphic>
          <a:graphicData uri="http://schemas.openxmlformats.org/drawingml/2006/table">
            <a:tbl>
              <a:tblPr firstRow="0" bandRow="0">
                <a:tableStyleId>{2D5ABB26-0587-4C30-8999-92F81FD0307C}</a:tableStyleId>
              </a:tblPr>
              <a:tblGrid>
                <a:gridCol w="1234440"/>
                <a:gridCol w="3246120"/>
                <a:gridCol w="2743200"/>
              </a:tblGrid>
              <a:tr h="357784">
                <a:tc>
                  <a:txBody>
                    <a:bodyPr wrap="square"/>
                    <a:lstStyle/>
                    <a:p>
                      <a:pPr algn="l">
                        <a:lnSpc>
                          <a:spcPct val="100000"/>
                        </a:lnSpc>
                      </a:pPr>
                      <a:r>
                        <a:rPr sz="1150" b="1">
                          <a:solidFill>
                            <a:srgbClr val="15171A"/>
                          </a:solidFill>
                          <a:latin typeface="Noto Sans KR"/>
                          <a:ea typeface="Noto Sans KR"/>
                          <a:cs typeface="Noto Sans KR"/>
                        </a:rPr>
                        <a:t>기술 요소</a:t>
                      </a:r>
                    </a:p>
                  </a:txBody>
                  <a:tcPr marL="73152" marR="73152" marT="68580" marB="68580" anchor="t">
                    <a:lnL w="0">
                      <a:noFill/>
                    </a:lnL>
                    <a:lnR w="0">
                      <a:noFill/>
                    </a:lnR>
                    <a:lnT w="12700">
                      <a:solidFill>
                        <a:srgbClr val="15171A"/>
                      </a:solidFill>
                    </a:lnT>
                    <a:lnB w="9525">
                      <a:solidFill>
                        <a:srgbClr val="15171A"/>
                      </a:solidFill>
                    </a:lnB>
                    <a:noFill/>
                  </a:tcPr>
                </a:tc>
                <a:tc>
                  <a:txBody>
                    <a:bodyPr wrap="square"/>
                    <a:lstStyle/>
                    <a:p>
                      <a:pPr algn="l">
                        <a:lnSpc>
                          <a:spcPct val="100000"/>
                        </a:lnSpc>
                      </a:pPr>
                      <a:r>
                        <a:rPr sz="1150" b="1">
                          <a:solidFill>
                            <a:srgbClr val="15171A"/>
                          </a:solidFill>
                          <a:latin typeface="Noto Sans KR"/>
                          <a:ea typeface="Noto Sans KR"/>
                          <a:cs typeface="Noto Sans KR"/>
                        </a:rPr>
                        <a:t>개발 내용</a:t>
                      </a:r>
                    </a:p>
                  </a:txBody>
                  <a:tcPr marL="73152" marR="73152" marT="68580" marB="68580" anchor="t">
                    <a:lnL w="0">
                      <a:noFill/>
                    </a:lnL>
                    <a:lnR w="0">
                      <a:noFill/>
                    </a:lnR>
                    <a:lnT w="12700">
                      <a:solidFill>
                        <a:srgbClr val="15171A"/>
                      </a:solidFill>
                    </a:lnT>
                    <a:lnB w="9525">
                      <a:solidFill>
                        <a:srgbClr val="15171A"/>
                      </a:solidFill>
                    </a:lnB>
                    <a:noFill/>
                  </a:tcPr>
                </a:tc>
                <a:tc>
                  <a:txBody>
                    <a:bodyPr wrap="square"/>
                    <a:lstStyle/>
                    <a:p>
                      <a:pPr algn="l">
                        <a:lnSpc>
                          <a:spcPct val="100000"/>
                        </a:lnSpc>
                      </a:pPr>
                      <a:r>
                        <a:rPr sz="1150" b="1">
                          <a:solidFill>
                            <a:srgbClr val="15171A"/>
                          </a:solidFill>
                          <a:latin typeface="Noto Sans KR"/>
                          <a:ea typeface="Noto Sans KR"/>
                          <a:cs typeface="Noto Sans KR"/>
                        </a:rPr>
                        <a:t>검증 기준</a:t>
                      </a:r>
                    </a:p>
                  </a:txBody>
                  <a:tcPr marL="73152" marR="73152" marT="68580" marB="68580" anchor="t">
                    <a:lnL w="0">
                      <a:noFill/>
                    </a:lnL>
                    <a:lnR w="0">
                      <a:noFill/>
                    </a:lnR>
                    <a:lnT w="12700">
                      <a:solidFill>
                        <a:srgbClr val="15171A"/>
                      </a:solidFill>
                    </a:lnT>
                    <a:lnB w="9525">
                      <a:solidFill>
                        <a:srgbClr val="15171A"/>
                      </a:solidFill>
                    </a:lnB>
                    <a:noFill/>
                  </a:tcPr>
                </a:tc>
              </a:tr>
              <a:tr h="569264">
                <a:tc>
                  <a:txBody>
                    <a:bodyPr wrap="square"/>
                    <a:lstStyle/>
                    <a:p>
                      <a:pPr algn="l">
                        <a:lnSpc>
                          <a:spcPct val="100000"/>
                        </a:lnSpc>
                      </a:pPr>
                      <a:r>
                        <a:rPr sz="1150" b="1">
                          <a:solidFill>
                            <a:srgbClr val="15171A"/>
                          </a:solidFill>
                          <a:latin typeface="Noto Sans KR"/>
                          <a:ea typeface="Noto Sans KR"/>
                          <a:cs typeface="Noto Sans KR"/>
                        </a:rPr>
                        <a:t>구성 (4지)</a:t>
                      </a:r>
                    </a:p>
                  </a:txBody>
                  <a:tcPr marL="73152" marR="73152" marT="68580" marB="68580" anchor="t">
                    <a:lnL w="0">
                      <a:noFill/>
                    </a:lnL>
                    <a:lnR w="0">
                      <a:noFill/>
                    </a:lnR>
                    <a:lnT w="0">
                      <a:noFill/>
                    </a:lnT>
                    <a:lnB w="9525">
                      <a:solidFill>
                        <a:srgbClr val="E2E4E7"/>
                      </a:solidFill>
                    </a:lnB>
                    <a:noFill/>
                  </a:tcPr>
                </a:tc>
                <a:tc>
                  <a:txBody>
                    <a:bodyPr wrap="square"/>
                    <a:lstStyle/>
                    <a:p>
                      <a:pPr algn="l">
                        <a:lnSpc>
                          <a:spcPct val="100000"/>
                        </a:lnSpc>
                      </a:pPr>
                      <a:r>
                        <a:rPr sz="1150" b="0">
                          <a:solidFill>
                            <a:srgbClr val="15171A"/>
                          </a:solidFill>
                          <a:latin typeface="Noto Sans KR"/>
                          <a:ea typeface="Noto Sans KR"/>
                          <a:cs typeface="Noto Sans KR"/>
                        </a:rPr>
                        <a:t>손가락 3 + 대향 엄지, 도구·손잡이·노브·버튼을 다루는 최소 구성</a:t>
                      </a:r>
                    </a:p>
                  </a:txBody>
                  <a:tcPr marL="73152" marR="73152" marT="68580" marB="68580" anchor="t">
                    <a:lnL w="0">
                      <a:noFill/>
                    </a:lnL>
                    <a:lnR w="0">
                      <a:noFill/>
                    </a:lnR>
                    <a:lnT w="0">
                      <a:noFill/>
                    </a:lnT>
                    <a:lnB w="9525">
                      <a:solidFill>
                        <a:srgbClr val="E2E4E7"/>
                      </a:solidFill>
                    </a:lnB>
                    <a:noFill/>
                  </a:tcPr>
                </a:tc>
                <a:tc>
                  <a:txBody>
                    <a:bodyPr wrap="square"/>
                    <a:lstStyle/>
                    <a:p>
                      <a:pPr algn="l">
                        <a:lnSpc>
                          <a:spcPct val="100000"/>
                        </a:lnSpc>
                      </a:pPr>
                      <a:r>
                        <a:rPr sz="1150" b="0">
                          <a:solidFill>
                            <a:srgbClr val="15171A"/>
                          </a:solidFill>
                          <a:latin typeface="Noto Sans KR"/>
                          <a:ea typeface="Noto Sans KR"/>
                          <a:cs typeface="Noto Sans KR"/>
                        </a:rPr>
                        <a:t>5지 대비 부품 수·비용·내구성·제어 복잡도 (5지는 Series A 이후)</a:t>
                      </a:r>
                    </a:p>
                  </a:txBody>
                  <a:tcPr marL="73152" marR="73152" marT="68580" marB="68580" anchor="t">
                    <a:lnL w="0">
                      <a:noFill/>
                    </a:lnL>
                    <a:lnR w="0">
                      <a:noFill/>
                    </a:lnR>
                    <a:lnT w="0">
                      <a:noFill/>
                    </a:lnT>
                    <a:lnB w="9525">
                      <a:solidFill>
                        <a:srgbClr val="E2E4E7"/>
                      </a:solidFill>
                    </a:lnB>
                    <a:noFill/>
                  </a:tcPr>
                </a:tc>
              </a:tr>
              <a:tr h="569264">
                <a:tc>
                  <a:txBody>
                    <a:bodyPr wrap="square"/>
                    <a:lstStyle/>
                    <a:p>
                      <a:pPr algn="l">
                        <a:lnSpc>
                          <a:spcPct val="100000"/>
                        </a:lnSpc>
                      </a:pPr>
                      <a:r>
                        <a:rPr sz="1150" b="1">
                          <a:solidFill>
                            <a:srgbClr val="15171A"/>
                          </a:solidFill>
                          <a:latin typeface="Noto Sans KR"/>
                          <a:ea typeface="Noto Sans KR"/>
                          <a:cs typeface="Noto Sans KR"/>
                        </a:rPr>
                        <a:t>구동부</a:t>
                      </a:r>
                    </a:p>
                  </a:txBody>
                  <a:tcPr marL="73152" marR="73152" marT="68580" marB="68580" anchor="t">
                    <a:lnL w="0">
                      <a:noFill/>
                    </a:lnL>
                    <a:lnR w="0">
                      <a:noFill/>
                    </a:lnR>
                    <a:lnT w="0">
                      <a:noFill/>
                    </a:lnT>
                    <a:lnB w="9525">
                      <a:solidFill>
                        <a:srgbClr val="E2E4E7"/>
                      </a:solidFill>
                    </a:lnB>
                    <a:noFill/>
                  </a:tcPr>
                </a:tc>
                <a:tc>
                  <a:txBody>
                    <a:bodyPr wrap="square"/>
                    <a:lstStyle/>
                    <a:p>
                      <a:pPr algn="l">
                        <a:lnSpc>
                          <a:spcPct val="100000"/>
                        </a:lnSpc>
                      </a:pPr>
                      <a:r>
                        <a:rPr sz="1150" b="0">
                          <a:solidFill>
                            <a:srgbClr val="15171A"/>
                          </a:solidFill>
                          <a:latin typeface="Noto Sans KR"/>
                          <a:ea typeface="Noto Sans KR"/>
                          <a:cs typeface="Noto Sans KR"/>
                        </a:rPr>
                        <a:t>전동 텐던을 기준 후보로 소형 유압·공압과 비교</a:t>
                      </a:r>
                    </a:p>
                  </a:txBody>
                  <a:tcPr marL="73152" marR="73152" marT="68580" marB="68580" anchor="t">
                    <a:lnL w="0">
                      <a:noFill/>
                    </a:lnL>
                    <a:lnR w="0">
                      <a:noFill/>
                    </a:lnR>
                    <a:lnT w="0">
                      <a:noFill/>
                    </a:lnT>
                    <a:lnB w="9525">
                      <a:solidFill>
                        <a:srgbClr val="E2E4E7"/>
                      </a:solidFill>
                    </a:lnB>
                    <a:noFill/>
                  </a:tcPr>
                </a:tc>
                <a:tc>
                  <a:txBody>
                    <a:bodyPr wrap="square"/>
                    <a:lstStyle/>
                    <a:p>
                      <a:pPr algn="l">
                        <a:lnSpc>
                          <a:spcPct val="100000"/>
                        </a:lnSpc>
                      </a:pPr>
                      <a:r>
                        <a:rPr sz="1150" b="0">
                          <a:solidFill>
                            <a:srgbClr val="15171A"/>
                          </a:solidFill>
                          <a:latin typeface="Noto Sans KR"/>
                          <a:ea typeface="Noto Sans KR"/>
                          <a:cs typeface="Noto Sans KR"/>
                        </a:rPr>
                        <a:t>손 무게·유지력·응답·누설·소음·소비전력·정비비</a:t>
                      </a:r>
                    </a:p>
                  </a:txBody>
                  <a:tcPr marL="73152" marR="73152" marT="68580" marB="68580" anchor="t">
                    <a:lnL w="0">
                      <a:noFill/>
                    </a:lnL>
                    <a:lnR w="0">
                      <a:noFill/>
                    </a:lnR>
                    <a:lnT w="0">
                      <a:noFill/>
                    </a:lnT>
                    <a:lnB w="9525">
                      <a:solidFill>
                        <a:srgbClr val="E2E4E7"/>
                      </a:solidFill>
                    </a:lnB>
                    <a:noFill/>
                  </a:tcPr>
                </a:tc>
              </a:tr>
              <a:tr h="357784">
                <a:tc>
                  <a:txBody>
                    <a:bodyPr wrap="square"/>
                    <a:lstStyle/>
                    <a:p>
                      <a:pPr algn="l">
                        <a:lnSpc>
                          <a:spcPct val="100000"/>
                        </a:lnSpc>
                      </a:pPr>
                      <a:r>
                        <a:rPr sz="1150" b="1">
                          <a:solidFill>
                            <a:srgbClr val="15171A"/>
                          </a:solidFill>
                          <a:latin typeface="Noto Sans KR"/>
                          <a:ea typeface="Noto Sans KR"/>
                          <a:cs typeface="Noto Sans KR"/>
                        </a:rPr>
                        <a:t>가변 순응성</a:t>
                      </a:r>
                    </a:p>
                  </a:txBody>
                  <a:tcPr marL="73152" marR="73152" marT="68580" marB="68580" anchor="t">
                    <a:lnL w="0">
                      <a:noFill/>
                    </a:lnL>
                    <a:lnR w="0">
                      <a:noFill/>
                    </a:lnR>
                    <a:lnT w="0">
                      <a:noFill/>
                    </a:lnT>
                    <a:lnB w="9525">
                      <a:solidFill>
                        <a:srgbClr val="E2E4E7"/>
                      </a:solidFill>
                    </a:lnB>
                    <a:noFill/>
                  </a:tcPr>
                </a:tc>
                <a:tc>
                  <a:txBody>
                    <a:bodyPr wrap="square"/>
                    <a:lstStyle/>
                    <a:p>
                      <a:pPr algn="l">
                        <a:lnSpc>
                          <a:spcPct val="100000"/>
                        </a:lnSpc>
                      </a:pPr>
                      <a:r>
                        <a:rPr sz="1150" b="0">
                          <a:solidFill>
                            <a:srgbClr val="15171A"/>
                          </a:solidFill>
                          <a:latin typeface="Noto Sans KR"/>
                          <a:ea typeface="Noto Sans KR"/>
                          <a:cs typeface="Noto Sans KR"/>
                        </a:rPr>
                        <a:t>탄성 요소·장력 제어, 필요 시 잠금 기구 (가변 강성)</a:t>
                      </a:r>
                    </a:p>
                  </a:txBody>
                  <a:tcPr marL="73152" marR="73152" marT="68580" marB="68580" anchor="t">
                    <a:lnL w="0">
                      <a:noFill/>
                    </a:lnL>
                    <a:lnR w="0">
                      <a:noFill/>
                    </a:lnR>
                    <a:lnT w="0">
                      <a:noFill/>
                    </a:lnT>
                    <a:lnB w="9525">
                      <a:solidFill>
                        <a:srgbClr val="E2E4E7"/>
                      </a:solidFill>
                    </a:lnB>
                    <a:noFill/>
                  </a:tcPr>
                </a:tc>
                <a:tc>
                  <a:txBody>
                    <a:bodyPr wrap="square"/>
                    <a:lstStyle/>
                    <a:p>
                      <a:pPr algn="l">
                        <a:lnSpc>
                          <a:spcPct val="100000"/>
                        </a:lnSpc>
                      </a:pPr>
                      <a:r>
                        <a:rPr sz="1150" b="0">
                          <a:solidFill>
                            <a:srgbClr val="15171A"/>
                          </a:solidFill>
                          <a:latin typeface="Noto Sans KR"/>
                          <a:ea typeface="Noto Sans KR"/>
                          <a:cs typeface="Noto Sans KR"/>
                        </a:rPr>
                        <a:t>접촉 충격 완화와 조작 토크 유지의 균형</a:t>
                      </a:r>
                    </a:p>
                  </a:txBody>
                  <a:tcPr marL="73152" marR="73152" marT="68580" marB="68580" anchor="t">
                    <a:lnL w="0">
                      <a:noFill/>
                    </a:lnL>
                    <a:lnR w="0">
                      <a:noFill/>
                    </a:lnR>
                    <a:lnT w="0">
                      <a:noFill/>
                    </a:lnT>
                    <a:lnB w="9525">
                      <a:solidFill>
                        <a:srgbClr val="E2E4E7"/>
                      </a:solidFill>
                    </a:lnB>
                    <a:noFill/>
                  </a:tcPr>
                </a:tc>
              </a:tr>
              <a:tr h="569264">
                <a:tc>
                  <a:txBody>
                    <a:bodyPr wrap="square"/>
                    <a:lstStyle/>
                    <a:p>
                      <a:pPr algn="l">
                        <a:lnSpc>
                          <a:spcPct val="100000"/>
                        </a:lnSpc>
                      </a:pPr>
                      <a:r>
                        <a:rPr sz="1150" b="1">
                          <a:solidFill>
                            <a:srgbClr val="15171A"/>
                          </a:solidFill>
                          <a:latin typeface="Noto Sans KR"/>
                          <a:ea typeface="Noto Sans KR"/>
                          <a:cs typeface="Noto Sans KR"/>
                        </a:rPr>
                        <a:t>감각부</a:t>
                      </a:r>
                    </a:p>
                  </a:txBody>
                  <a:tcPr marL="73152" marR="73152" marT="68580" marB="68580" anchor="t">
                    <a:lnL w="0">
                      <a:noFill/>
                    </a:lnL>
                    <a:lnR w="0">
                      <a:noFill/>
                    </a:lnR>
                    <a:lnT w="0">
                      <a:noFill/>
                    </a:lnT>
                    <a:lnB w="9525">
                      <a:solidFill>
                        <a:srgbClr val="E2E4E7"/>
                      </a:solidFill>
                    </a:lnB>
                    <a:noFill/>
                  </a:tcPr>
                </a:tc>
                <a:tc>
                  <a:txBody>
                    <a:bodyPr wrap="square"/>
                    <a:lstStyle/>
                    <a:p>
                      <a:pPr algn="l">
                        <a:lnSpc>
                          <a:spcPct val="100000"/>
                        </a:lnSpc>
                      </a:pPr>
                      <a:r>
                        <a:rPr sz="1150" b="0">
                          <a:solidFill>
                            <a:srgbClr val="15171A"/>
                          </a:solidFill>
                          <a:latin typeface="Noto Sans KR"/>
                          <a:ea typeface="Noto Sans KR"/>
                          <a:cs typeface="Noto Sans KR"/>
                        </a:rPr>
                        <a:t>손끝·손바닥 접촉센서, 관절·장력 센서, 손목 6축 힘·토크 센서</a:t>
                      </a:r>
                    </a:p>
                  </a:txBody>
                  <a:tcPr marL="73152" marR="73152" marT="68580" marB="68580" anchor="t">
                    <a:lnL w="0">
                      <a:noFill/>
                    </a:lnL>
                    <a:lnR w="0">
                      <a:noFill/>
                    </a:lnR>
                    <a:lnT w="0">
                      <a:noFill/>
                    </a:lnT>
                    <a:lnB w="9525">
                      <a:solidFill>
                        <a:srgbClr val="E2E4E7"/>
                      </a:solidFill>
                    </a:lnB>
                    <a:noFill/>
                  </a:tcPr>
                </a:tc>
                <a:tc>
                  <a:txBody>
                    <a:bodyPr wrap="square"/>
                    <a:lstStyle/>
                    <a:p>
                      <a:pPr algn="l">
                        <a:lnSpc>
                          <a:spcPct val="100000"/>
                        </a:lnSpc>
                      </a:pPr>
                      <a:r>
                        <a:rPr sz="1150" b="0">
                          <a:solidFill>
                            <a:srgbClr val="15171A"/>
                          </a:solidFill>
                          <a:latin typeface="Noto Sans KR"/>
                          <a:ea typeface="Noto Sans KR"/>
                          <a:cs typeface="Noto Sans KR"/>
                        </a:rPr>
                        <a:t>물·기름·열·오염 조건 편차와 재교정</a:t>
                      </a:r>
                    </a:p>
                  </a:txBody>
                  <a:tcPr marL="73152" marR="73152" marT="68580" marB="68580" anchor="t">
                    <a:lnL w="0">
                      <a:noFill/>
                    </a:lnL>
                    <a:lnR w="0">
                      <a:noFill/>
                    </a:lnR>
                    <a:lnT w="0">
                      <a:noFill/>
                    </a:lnT>
                    <a:lnB w="9525">
                      <a:solidFill>
                        <a:srgbClr val="E2E4E7"/>
                      </a:solidFill>
                    </a:lnB>
                    <a:noFill/>
                  </a:tcPr>
                </a:tc>
              </a:tr>
              <a:tr h="569264">
                <a:tc>
                  <a:txBody>
                    <a:bodyPr wrap="square"/>
                    <a:lstStyle/>
                    <a:p>
                      <a:pPr algn="l">
                        <a:lnSpc>
                          <a:spcPct val="100000"/>
                        </a:lnSpc>
                      </a:pPr>
                      <a:r>
                        <a:rPr sz="1150" b="1">
                          <a:solidFill>
                            <a:srgbClr val="15171A"/>
                          </a:solidFill>
                          <a:latin typeface="Noto Sans KR"/>
                          <a:ea typeface="Noto Sans KR"/>
                          <a:cs typeface="Noto Sans KR"/>
                        </a:rPr>
                        <a:t>접촉부</a:t>
                      </a:r>
                    </a:p>
                  </a:txBody>
                  <a:tcPr marL="73152" marR="73152" marT="68580" marB="68580" anchor="t">
                    <a:lnL w="0">
                      <a:noFill/>
                    </a:lnL>
                    <a:lnR w="0">
                      <a:noFill/>
                    </a:lnR>
                    <a:lnT w="0">
                      <a:noFill/>
                    </a:lnT>
                    <a:lnB w="9525">
                      <a:solidFill>
                        <a:srgbClr val="E2E4E7"/>
                      </a:solidFill>
                    </a:lnB>
                    <a:noFill/>
                  </a:tcPr>
                </a:tc>
                <a:tc>
                  <a:txBody>
                    <a:bodyPr wrap="square"/>
                    <a:lstStyle/>
                    <a:p>
                      <a:pPr algn="l">
                        <a:lnSpc>
                          <a:spcPct val="100000"/>
                        </a:lnSpc>
                      </a:pPr>
                      <a:r>
                        <a:rPr sz="1150" b="0">
                          <a:solidFill>
                            <a:srgbClr val="15171A"/>
                          </a:solidFill>
                          <a:latin typeface="Noto Sans KR"/>
                          <a:ea typeface="Noto Sans KR"/>
                          <a:cs typeface="Noto Sans KR"/>
                        </a:rPr>
                        <a:t>교체형 패드·외피, 용도별 재질 분리 (주방: 세척·내열·식품 접촉 / 산업: 내마모·내유)</a:t>
                      </a:r>
                    </a:p>
                  </a:txBody>
                  <a:tcPr marL="73152" marR="73152" marT="68580" marB="68580" anchor="t">
                    <a:lnL w="0">
                      <a:noFill/>
                    </a:lnL>
                    <a:lnR w="0">
                      <a:noFill/>
                    </a:lnR>
                    <a:lnT w="0">
                      <a:noFill/>
                    </a:lnT>
                    <a:lnB w="9525">
                      <a:solidFill>
                        <a:srgbClr val="E2E4E7"/>
                      </a:solidFill>
                    </a:lnB>
                    <a:noFill/>
                  </a:tcPr>
                </a:tc>
                <a:tc>
                  <a:txBody>
                    <a:bodyPr wrap="square"/>
                    <a:lstStyle/>
                    <a:p>
                      <a:pPr algn="l">
                        <a:lnSpc>
                          <a:spcPct val="100000"/>
                        </a:lnSpc>
                      </a:pPr>
                      <a:r>
                        <a:rPr sz="1150" b="0">
                          <a:solidFill>
                            <a:srgbClr val="15171A"/>
                          </a:solidFill>
                          <a:latin typeface="Noto Sans KR"/>
                          <a:ea typeface="Noto Sans KR"/>
                          <a:cs typeface="Noto Sans KR"/>
                        </a:rPr>
                        <a:t>미끄럼·마모·세척·재질 적합성 시험</a:t>
                      </a:r>
                    </a:p>
                  </a:txBody>
                  <a:tcPr marL="73152" marR="73152" marT="68580" marB="68580" anchor="t">
                    <a:lnL w="0">
                      <a:noFill/>
                    </a:lnL>
                    <a:lnR w="0">
                      <a:noFill/>
                    </a:lnR>
                    <a:lnT w="0">
                      <a:noFill/>
                    </a:lnT>
                    <a:lnB w="9525">
                      <a:solidFill>
                        <a:srgbClr val="E2E4E7"/>
                      </a:solidFill>
                    </a:lnB>
                    <a:noFill/>
                  </a:tcPr>
                </a:tc>
              </a:tr>
              <a:tr h="569264">
                <a:tc>
                  <a:txBody>
                    <a:bodyPr wrap="square"/>
                    <a:lstStyle/>
                    <a:p>
                      <a:pPr algn="l">
                        <a:lnSpc>
                          <a:spcPct val="100000"/>
                        </a:lnSpc>
                      </a:pPr>
                      <a:r>
                        <a:rPr sz="1150" b="1">
                          <a:solidFill>
                            <a:srgbClr val="15171A"/>
                          </a:solidFill>
                          <a:latin typeface="Noto Sans KR"/>
                          <a:ea typeface="Noto Sans KR"/>
                          <a:cs typeface="Noto Sans KR"/>
                        </a:rPr>
                        <a:t>로봇 장착</a:t>
                      </a:r>
                    </a:p>
                  </a:txBody>
                  <a:tcPr marL="73152" marR="73152" marT="68580" marB="68580" anchor="t">
                    <a:lnL w="0">
                      <a:noFill/>
                    </a:lnL>
                    <a:lnR w="0">
                      <a:noFill/>
                    </a:lnR>
                    <a:lnT w="0">
                      <a:noFill/>
                    </a:lnT>
                    <a:lnB w="9525">
                      <a:solidFill>
                        <a:srgbClr val="E2E4E7"/>
                      </a:solidFill>
                    </a:lnB>
                    <a:noFill/>
                  </a:tcPr>
                </a:tc>
                <a:tc>
                  <a:txBody>
                    <a:bodyPr wrap="square"/>
                    <a:lstStyle/>
                    <a:p>
                      <a:pPr algn="l">
                        <a:lnSpc>
                          <a:spcPct val="100000"/>
                        </a:lnSpc>
                      </a:pPr>
                      <a:r>
                        <a:rPr sz="1150" b="0">
                          <a:solidFill>
                            <a:srgbClr val="15171A"/>
                          </a:solidFill>
                          <a:latin typeface="Noto Sans KR"/>
                          <a:ea typeface="Noto Sans KR"/>
                          <a:cs typeface="Noto Sans KR"/>
                        </a:rPr>
                        <a:t>공통 손목 모듈·플랜지 어댑터·TCP 보정·통신 드라이버</a:t>
                      </a:r>
                    </a:p>
                  </a:txBody>
                  <a:tcPr marL="73152" marR="73152" marT="68580" marB="68580" anchor="t">
                    <a:lnL w="0">
                      <a:noFill/>
                    </a:lnL>
                    <a:lnR w="0">
                      <a:noFill/>
                    </a:lnR>
                    <a:lnT w="0">
                      <a:noFill/>
                    </a:lnT>
                    <a:lnB w="9525">
                      <a:solidFill>
                        <a:srgbClr val="E2E4E7"/>
                      </a:solidFill>
                    </a:lnB>
                    <a:noFill/>
                  </a:tcPr>
                </a:tc>
                <a:tc>
                  <a:txBody>
                    <a:bodyPr wrap="square"/>
                    <a:lstStyle/>
                    <a:p>
                      <a:pPr algn="l">
                        <a:lnSpc>
                          <a:spcPct val="100000"/>
                        </a:lnSpc>
                      </a:pPr>
                      <a:r>
                        <a:rPr sz="1150" b="0">
                          <a:solidFill>
                            <a:srgbClr val="15171A"/>
                          </a:solidFill>
                          <a:latin typeface="Noto Sans KR"/>
                          <a:ea typeface="Noto Sans KR"/>
                          <a:cs typeface="Noto Sans KR"/>
                        </a:rPr>
                        <a:t>로봇 2종 실제 통합, 이식성 측정</a:t>
                      </a:r>
                    </a:p>
                  </a:txBody>
                  <a:tcPr marL="73152" marR="73152" marT="68580" marB="68580" anchor="t">
                    <a:lnL w="0">
                      <a:noFill/>
                    </a:lnL>
                    <a:lnR w="0">
                      <a:noFill/>
                    </a:lnR>
                    <a:lnT w="0">
                      <a:noFill/>
                    </a:lnT>
                    <a:lnB w="9525">
                      <a:solidFill>
                        <a:srgbClr val="E2E4E7"/>
                      </a:solidFill>
                    </a:lnB>
                    <a:noFill/>
                  </a:tcPr>
                </a:tc>
              </a:tr>
            </a:tbl>
          </a:graphicData>
        </a:graphic>
      </p:graphicFrame>
      <p:sp>
        <p:nvSpPr>
          <p:cNvPr id="6" name="TextBox 5"/>
          <p:cNvSpPr txBox="1"/>
          <p:nvPr/>
        </p:nvSpPr>
        <p:spPr>
          <a:xfrm>
            <a:off x="8321040" y="1874519"/>
            <a:ext cx="3184855" cy="274320"/>
          </a:xfrm>
          <a:prstGeom prst="rect">
            <a:avLst/>
          </a:prstGeom>
          <a:noFill/>
        </p:spPr>
        <p:txBody>
          <a:bodyPr wrap="square" lIns="0" rIns="0" tIns="0" bIns="0" anchor="t">
            <a:spAutoFit/>
          </a:bodyPr>
          <a:lstStyle/>
          <a:p>
            <a:pPr algn="l">
              <a:lnSpc>
                <a:spcPct val="100000"/>
              </a:lnSpc>
            </a:pPr>
            <a:r>
              <a:rPr sz="1300" b="1">
                <a:solidFill>
                  <a:srgbClr val="15171A"/>
                </a:solidFill>
                <a:latin typeface="Noto Sans KR"/>
                <a:ea typeface="Noto Sans KR"/>
                <a:cs typeface="Noto Sans KR"/>
              </a:rPr>
              <a:t>하중 설계 예시 (계산 예)</a:t>
            </a:r>
          </a:p>
        </p:txBody>
      </p:sp>
      <p:cxnSp>
        <p:nvCxnSpPr>
          <p:cNvPr id="7" name="Connector 6"/>
          <p:cNvCxnSpPr/>
          <p:nvPr/>
        </p:nvCxnSpPr>
        <p:spPr>
          <a:xfrm>
            <a:off x="8321040" y="2203703"/>
            <a:ext cx="3184855" cy="0"/>
          </a:xfrm>
          <a:prstGeom prst="line">
            <a:avLst/>
          </a:prstGeom>
          <a:ln w="12700">
            <a:solidFill>
              <a:srgbClr val="15171A"/>
            </a:solidFill>
          </a:ln>
        </p:spPr>
      </p:cxnSp>
      <p:sp>
        <p:nvSpPr>
          <p:cNvPr id="8" name="TextBox 7"/>
          <p:cNvSpPr txBox="1"/>
          <p:nvPr/>
        </p:nvSpPr>
        <p:spPr>
          <a:xfrm>
            <a:off x="8321040" y="2313432"/>
            <a:ext cx="3184855" cy="2018690"/>
          </a:xfrm>
          <a:prstGeom prst="rect">
            <a:avLst/>
          </a:prstGeom>
          <a:noFill/>
        </p:spPr>
        <p:txBody>
          <a:bodyPr wrap="square" lIns="0" rIns="0" tIns="0" bIns="0" anchor="t">
            <a:spAutoFit/>
          </a:bodyPr>
          <a:lstStyle/>
          <a:p>
            <a:pPr algn="l" marL="164592" indent="-164592">
              <a:lnSpc>
                <a:spcPct val="100000"/>
              </a:lnSpc>
              <a:spcAft>
                <a:spcPts val="400"/>
              </a:spcAft>
              <a:buClr>
                <a:srgbClr val="8C9198"/>
              </a:buClr>
              <a:buFont typeface="Noto Sans KR"/>
              <a:buChar char="•"/>
            </a:pPr>
            <a:r>
              <a:rPr sz="1100" b="0">
                <a:solidFill>
                  <a:srgbClr val="4A4F57"/>
                </a:solidFill>
                <a:latin typeface="Noto Sans KR"/>
                <a:ea typeface="Noto Sans KR"/>
                <a:cs typeface="Noto Sans KR"/>
              </a:rPr>
              <a:t>3kg 냄비, 무게중심 0.20m: 정적 모멘트 약 5.9 N·m (가속·충격 시 증가), 큰 냄비는 양손·거치대 보조</a:t>
            </a:r>
          </a:p>
          <a:p>
            <a:pPr algn="l" marL="164592" indent="-164592">
              <a:lnSpc>
                <a:spcPct val="100000"/>
              </a:lnSpc>
              <a:spcAft>
                <a:spcPts val="400"/>
              </a:spcAft>
              <a:buClr>
                <a:srgbClr val="8C9198"/>
              </a:buClr>
              <a:buFont typeface="Noto Sans KR"/>
              <a:buChar char="•"/>
            </a:pPr>
            <a:r>
              <a:rPr sz="1100" b="0">
                <a:solidFill>
                  <a:srgbClr val="4A4F57"/>
                </a:solidFill>
                <a:latin typeface="Noto Sans KR"/>
                <a:ea typeface="Noto Sans KR"/>
                <a:cs typeface="Noto Sans KR"/>
              </a:rPr>
              <a:t>산업 예: 소재 1.5kg, 무게중심 0.10m에서 약 1.5 N·m</a:t>
            </a:r>
          </a:p>
          <a:p>
            <a:pPr algn="l" marL="164592" indent="-164592">
              <a:lnSpc>
                <a:spcPct val="100000"/>
              </a:lnSpc>
              <a:spcAft>
                <a:spcPts val="400"/>
              </a:spcAft>
              <a:buClr>
                <a:srgbClr val="8C9198"/>
              </a:buClr>
              <a:buFont typeface="Noto Sans KR"/>
              <a:buChar char="•"/>
            </a:pPr>
            <a:r>
              <a:rPr sz="1100" b="0">
                <a:solidFill>
                  <a:srgbClr val="4A4F57"/>
                </a:solidFill>
                <a:latin typeface="Noto Sans KR"/>
                <a:ea typeface="Noto Sans KR"/>
                <a:cs typeface="Noto Sans KR"/>
              </a:rPr>
              <a:t>팬 손잡이·노브 조작 토크는 대상 도구·가전 실측 후 사양 확정</a:t>
            </a:r>
          </a:p>
          <a:p>
            <a:pPr algn="l" marL="164592" indent="-164592">
              <a:lnSpc>
                <a:spcPct val="100000"/>
              </a:lnSpc>
              <a:buClr>
                <a:srgbClr val="8C9198"/>
              </a:buClr>
              <a:buFont typeface="Noto Sans KR"/>
              <a:buChar char="•"/>
            </a:pPr>
            <a:r>
              <a:rPr sz="1100" b="0">
                <a:solidFill>
                  <a:srgbClr val="4A4F57"/>
                </a:solidFill>
                <a:latin typeface="Noto Sans KR"/>
                <a:ea typeface="Noto Sans KR"/>
                <a:cs typeface="Noto Sans KR"/>
              </a:rPr>
              <a:t>손의 파지 하중 ≠ 로봇 팔 가반하중 (손·어댑터·도구 합산)</a:t>
            </a:r>
          </a:p>
        </p:txBody>
      </p:sp>
      <p:sp>
        <p:nvSpPr>
          <p:cNvPr id="9" name="TextBox 8"/>
          <p:cNvSpPr txBox="1"/>
          <p:nvPr/>
        </p:nvSpPr>
        <p:spPr>
          <a:xfrm>
            <a:off x="8321040" y="4515002"/>
            <a:ext cx="3184855" cy="274320"/>
          </a:xfrm>
          <a:prstGeom prst="rect">
            <a:avLst/>
          </a:prstGeom>
          <a:noFill/>
        </p:spPr>
        <p:txBody>
          <a:bodyPr wrap="square" lIns="0" rIns="0" tIns="0" bIns="0" anchor="t">
            <a:spAutoFit/>
          </a:bodyPr>
          <a:lstStyle/>
          <a:p>
            <a:pPr algn="l">
              <a:lnSpc>
                <a:spcPct val="100000"/>
              </a:lnSpc>
            </a:pPr>
            <a:r>
              <a:rPr sz="1300" b="1">
                <a:solidFill>
                  <a:srgbClr val="15171A"/>
                </a:solidFill>
                <a:latin typeface="Noto Sans KR"/>
                <a:ea typeface="Noto Sans KR"/>
                <a:cs typeface="Noto Sans KR"/>
              </a:rPr>
              <a:t>제어 구조</a:t>
            </a:r>
          </a:p>
        </p:txBody>
      </p:sp>
      <p:cxnSp>
        <p:nvCxnSpPr>
          <p:cNvPr id="10" name="Connector 9"/>
          <p:cNvCxnSpPr/>
          <p:nvPr/>
        </p:nvCxnSpPr>
        <p:spPr>
          <a:xfrm>
            <a:off x="8321040" y="4844186"/>
            <a:ext cx="3184855" cy="0"/>
          </a:xfrm>
          <a:prstGeom prst="line">
            <a:avLst/>
          </a:prstGeom>
          <a:ln w="12700">
            <a:solidFill>
              <a:srgbClr val="15171A"/>
            </a:solidFill>
          </a:ln>
        </p:spPr>
      </p:cxnSp>
      <p:sp>
        <p:nvSpPr>
          <p:cNvPr id="11" name="TextBox 10"/>
          <p:cNvSpPr txBox="1"/>
          <p:nvPr/>
        </p:nvSpPr>
        <p:spPr>
          <a:xfrm>
            <a:off x="8321040" y="4953914"/>
            <a:ext cx="3184855" cy="956462"/>
          </a:xfrm>
          <a:prstGeom prst="rect">
            <a:avLst/>
          </a:prstGeom>
          <a:noFill/>
        </p:spPr>
        <p:txBody>
          <a:bodyPr wrap="square" lIns="0" rIns="0" tIns="0" bIns="0" anchor="t">
            <a:spAutoFit/>
          </a:bodyPr>
          <a:lstStyle/>
          <a:p>
            <a:pPr algn="l" marL="164592" indent="-164592">
              <a:lnSpc>
                <a:spcPct val="100000"/>
              </a:lnSpc>
              <a:spcAft>
                <a:spcPts val="400"/>
              </a:spcAft>
              <a:buClr>
                <a:srgbClr val="8C9198"/>
              </a:buClr>
              <a:buFont typeface="Noto Sans KR"/>
              <a:buChar char="•"/>
            </a:pPr>
            <a:r>
              <a:rPr sz="1100" b="0">
                <a:solidFill>
                  <a:srgbClr val="4A4F57"/>
                </a:solidFill>
                <a:latin typeface="Noto Sans KR"/>
                <a:ea typeface="Noto Sans KR"/>
                <a:cs typeface="Noto Sans KR"/>
              </a:rPr>
              <a:t>비전: 도구·용기·조작부 위치와 상태</a:t>
            </a:r>
          </a:p>
          <a:p>
            <a:pPr algn="l" marL="164592" indent="-164592">
              <a:lnSpc>
                <a:spcPct val="100000"/>
              </a:lnSpc>
              <a:spcAft>
                <a:spcPts val="400"/>
              </a:spcAft>
              <a:buClr>
                <a:srgbClr val="8C9198"/>
              </a:buClr>
              <a:buFont typeface="Noto Sans KR"/>
              <a:buChar char="•"/>
            </a:pPr>
            <a:r>
              <a:rPr sz="1100" b="0">
                <a:solidFill>
                  <a:srgbClr val="4A4F57"/>
                </a:solidFill>
                <a:latin typeface="Noto Sans KR"/>
                <a:ea typeface="Noto Sans KR"/>
                <a:cs typeface="Noto Sans KR"/>
              </a:rPr>
              <a:t>촉각: 접촉·미끄러짐 / 손목 힘센서: 반력·토크</a:t>
            </a:r>
          </a:p>
          <a:p>
            <a:pPr algn="l" marL="164592" indent="-164592">
              <a:lnSpc>
                <a:spcPct val="100000"/>
              </a:lnSpc>
              <a:buClr>
                <a:srgbClr val="8C9198"/>
              </a:buClr>
              <a:buFont typeface="Noto Sans KR"/>
              <a:buChar char="•"/>
            </a:pPr>
            <a:r>
              <a:rPr sz="1100" b="0">
                <a:solidFill>
                  <a:srgbClr val="4A4F57"/>
                </a:solidFill>
                <a:latin typeface="Noto Sans KR"/>
                <a:ea typeface="Noto Sans KR"/>
                <a:cs typeface="Noto Sans KR"/>
              </a:rPr>
              <a:t>VLA·모방학습은 상위 작업 선택, 힘·속도·안전 한계는 독립 제어 계층에서 보장</a:t>
            </a:r>
          </a:p>
        </p:txBody>
      </p:sp>
      <p:sp>
        <p:nvSpPr>
          <p:cNvPr id="12" name="TextBox 11"/>
          <p:cNvSpPr txBox="1"/>
          <p:nvPr/>
        </p:nvSpPr>
        <p:spPr>
          <a:xfrm>
            <a:off x="685800" y="6446520"/>
            <a:ext cx="5486400" cy="201168"/>
          </a:xfrm>
          <a:prstGeom prst="rect">
            <a:avLst/>
          </a:prstGeom>
          <a:noFill/>
        </p:spPr>
        <p:txBody>
          <a:bodyPr wrap="square" lIns="0" rIns="0" tIns="0" bIns="0" anchor="t">
            <a:spAutoFit/>
          </a:bodyPr>
          <a:lstStyle/>
          <a:p>
            <a:pPr algn="l">
              <a:lnSpc>
                <a:spcPct val="100000"/>
              </a:lnSpc>
            </a:pPr>
            <a:r>
              <a:rPr sz="900" b="0">
                <a:solidFill>
                  <a:srgbClr val="8C9198"/>
                </a:solidFill>
                <a:latin typeface="Noto Sans KR"/>
                <a:ea typeface="Noto Sans KR"/>
                <a:cs typeface="Noto Sans KR"/>
              </a:rPr>
              <a:t>SoftHand  |  주방 로봇 조작 플랫폼  |  Seed 투자 제안서</a:t>
            </a:r>
          </a:p>
        </p:txBody>
      </p:sp>
      <p:sp>
        <p:nvSpPr>
          <p:cNvPr id="13" name="TextBox 12"/>
          <p:cNvSpPr txBox="1"/>
          <p:nvPr/>
        </p:nvSpPr>
        <p:spPr>
          <a:xfrm>
            <a:off x="3154680" y="6446520"/>
            <a:ext cx="7802575" cy="201168"/>
          </a:xfrm>
          <a:prstGeom prst="rect">
            <a:avLst/>
          </a:prstGeom>
          <a:noFill/>
        </p:spPr>
        <p:txBody>
          <a:bodyPr wrap="square" lIns="0" rIns="0" tIns="0" bIns="0" anchor="t">
            <a:spAutoFit/>
          </a:bodyPr>
          <a:lstStyle/>
          <a:p>
            <a:pPr algn="r">
              <a:lnSpc>
                <a:spcPct val="100000"/>
              </a:lnSpc>
            </a:pPr>
            <a:r>
              <a:rPr sz="900" b="0">
                <a:solidFill>
                  <a:srgbClr val="8C9198"/>
                </a:solidFill>
                <a:latin typeface="Noto Sans KR"/>
                <a:ea typeface="Noto Sans KR"/>
                <a:cs typeface="Noto Sans KR"/>
              </a:rPr>
              <a:t>구동 방식은 창업 후 3개월 내 비교시험으로 선정 (M6 점검 연동) · 공통 제어기·손목 모듈 유지, 접촉부만 용도별 분리</a:t>
            </a:r>
          </a:p>
        </p:txBody>
      </p:sp>
      <p:sp>
        <p:nvSpPr>
          <p:cNvPr id="14" name="TextBox 13"/>
          <p:cNvSpPr txBox="1"/>
          <p:nvPr/>
        </p:nvSpPr>
        <p:spPr>
          <a:xfrm>
            <a:off x="11048695" y="6446520"/>
            <a:ext cx="457200" cy="201168"/>
          </a:xfrm>
          <a:prstGeom prst="rect">
            <a:avLst/>
          </a:prstGeom>
          <a:noFill/>
        </p:spPr>
        <p:txBody>
          <a:bodyPr wrap="square" lIns="0" rIns="0" tIns="0" bIns="0" anchor="t">
            <a:spAutoFit/>
          </a:bodyPr>
          <a:lstStyle/>
          <a:p>
            <a:pPr algn="r">
              <a:lnSpc>
                <a:spcPct val="100000"/>
              </a:lnSpc>
            </a:pPr>
            <a:r>
              <a:rPr sz="900" b="0">
                <a:solidFill>
                  <a:srgbClr val="8C9198"/>
                </a:solidFill>
                <a:latin typeface="Noto Sans KR"/>
                <a:ea typeface="Noto Sans KR"/>
                <a:cs typeface="Noto Sans KR"/>
              </a:rPr>
              <a:t>A3</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502920"/>
            <a:ext cx="7315200" cy="256032"/>
          </a:xfrm>
          <a:prstGeom prst="rect">
            <a:avLst/>
          </a:prstGeom>
          <a:noFill/>
        </p:spPr>
        <p:txBody>
          <a:bodyPr wrap="square" lIns="0" rIns="0" tIns="0" bIns="0" anchor="t">
            <a:spAutoFit/>
          </a:bodyPr>
          <a:lstStyle/>
          <a:p>
            <a:pPr algn="l">
              <a:lnSpc>
                <a:spcPct val="100000"/>
              </a:lnSpc>
            </a:pPr>
            <a:r>
              <a:rPr sz="1100" b="1">
                <a:solidFill>
                  <a:srgbClr val="E2571B"/>
                </a:solidFill>
                <a:latin typeface="Noto Sans KR"/>
                <a:ea typeface="Noto Sans KR"/>
                <a:cs typeface="Noto Sans KR"/>
              </a:rPr>
              <a:t>부록 A4</a:t>
            </a:r>
          </a:p>
        </p:txBody>
      </p:sp>
      <p:sp>
        <p:nvSpPr>
          <p:cNvPr id="3" name="TextBox 2"/>
          <p:cNvSpPr txBox="1"/>
          <p:nvPr/>
        </p:nvSpPr>
        <p:spPr>
          <a:xfrm>
            <a:off x="685800" y="822960"/>
            <a:ext cx="10820095" cy="475488"/>
          </a:xfrm>
          <a:prstGeom prst="rect">
            <a:avLst/>
          </a:prstGeom>
          <a:noFill/>
        </p:spPr>
        <p:txBody>
          <a:bodyPr wrap="square" lIns="0" rIns="0" tIns="0" bIns="0" anchor="t">
            <a:spAutoFit/>
          </a:bodyPr>
          <a:lstStyle/>
          <a:p>
            <a:pPr algn="l">
              <a:lnSpc>
                <a:spcPct val="95000"/>
              </a:lnSpc>
            </a:pPr>
            <a:r>
              <a:rPr sz="2600" b="1">
                <a:solidFill>
                  <a:srgbClr val="15171A"/>
                </a:solidFill>
                <a:latin typeface="Noto Sans KR"/>
                <a:ea typeface="Noto Sans KR"/>
                <a:cs typeface="Noto Sans KR"/>
              </a:rPr>
              <a:t>성능 지표와 시험 방법</a:t>
            </a:r>
          </a:p>
        </p:txBody>
      </p:sp>
      <p:sp>
        <p:nvSpPr>
          <p:cNvPr id="4" name="TextBox 3"/>
          <p:cNvSpPr txBox="1"/>
          <p:nvPr/>
        </p:nvSpPr>
        <p:spPr>
          <a:xfrm>
            <a:off x="685800" y="1353312"/>
            <a:ext cx="10820095" cy="274320"/>
          </a:xfrm>
          <a:prstGeom prst="rect">
            <a:avLst/>
          </a:prstGeom>
          <a:noFill/>
        </p:spPr>
        <p:txBody>
          <a:bodyPr wrap="square" lIns="0" rIns="0" tIns="0" bIns="0" anchor="t">
            <a:spAutoFit/>
          </a:bodyPr>
          <a:lstStyle/>
          <a:p>
            <a:pPr algn="l">
              <a:lnSpc>
                <a:spcPct val="100000"/>
              </a:lnSpc>
            </a:pPr>
            <a:r>
              <a:rPr sz="1300" b="0">
                <a:solidFill>
                  <a:srgbClr val="4A4F57"/>
                </a:solidFill>
                <a:latin typeface="Noto Sans KR"/>
                <a:ea typeface="Noto Sans KR"/>
                <a:cs typeface="Noto Sans KR"/>
              </a:rPr>
              <a:t>파지 성공률이 아닌 작업 완료 기준 · 모든 수치는 목표이며 실적 아님</a:t>
            </a:r>
          </a:p>
        </p:txBody>
      </p:sp>
      <p:graphicFrame>
        <p:nvGraphicFramePr>
          <p:cNvPr id="5" name="Table 4"/>
          <p:cNvGraphicFramePr>
            <a:graphicFrameLocks noGrp="1"/>
          </p:cNvGraphicFramePr>
          <p:nvPr/>
        </p:nvGraphicFramePr>
        <p:xfrm>
          <a:off x="685800" y="1874519"/>
          <a:ext cx="10817352" cy="3423560"/>
        </p:xfrm>
        <a:graphic>
          <a:graphicData uri="http://schemas.openxmlformats.org/drawingml/2006/table">
            <a:tbl>
              <a:tblPr firstRow="0" bandRow="0">
                <a:tableStyleId>{2D5ABB26-0587-4C30-8999-92F81FD0307C}</a:tableStyleId>
              </a:tblPr>
              <a:tblGrid>
                <a:gridCol w="2880360"/>
                <a:gridCol w="2240280"/>
                <a:gridCol w="2514600"/>
                <a:gridCol w="3182112"/>
              </a:tblGrid>
              <a:tr h="321208">
                <a:tc>
                  <a:txBody>
                    <a:bodyPr wrap="square"/>
                    <a:lstStyle/>
                    <a:p>
                      <a:pPr algn="l">
                        <a:lnSpc>
                          <a:spcPct val="100000"/>
                        </a:lnSpc>
                      </a:pPr>
                      <a:r>
                        <a:rPr sz="1150" b="1">
                          <a:solidFill>
                            <a:srgbClr val="15171A"/>
                          </a:solidFill>
                          <a:latin typeface="Noto Sans KR"/>
                          <a:ea typeface="Noto Sans KR"/>
                          <a:cs typeface="Noto Sans KR"/>
                        </a:rPr>
                        <a:t>지표</a:t>
                      </a:r>
                    </a:p>
                  </a:txBody>
                  <a:tcPr marL="73152" marR="73152" marT="50292" marB="50292" anchor="t">
                    <a:lnL w="0">
                      <a:noFill/>
                    </a:lnL>
                    <a:lnR w="0">
                      <a:noFill/>
                    </a:lnR>
                    <a:lnT w="12700">
                      <a:solidFill>
                        <a:srgbClr val="15171A"/>
                      </a:solidFill>
                    </a:lnT>
                    <a:lnB w="9525">
                      <a:solidFill>
                        <a:srgbClr val="15171A"/>
                      </a:solidFill>
                    </a:lnB>
                    <a:noFill/>
                  </a:tcPr>
                </a:tc>
                <a:tc>
                  <a:txBody>
                    <a:bodyPr wrap="square"/>
                    <a:lstStyle/>
                    <a:p>
                      <a:pPr algn="l">
                        <a:lnSpc>
                          <a:spcPct val="100000"/>
                        </a:lnSpc>
                      </a:pPr>
                      <a:r>
                        <a:rPr sz="1150" b="1">
                          <a:solidFill>
                            <a:srgbClr val="15171A"/>
                          </a:solidFill>
                          <a:latin typeface="Noto Sans KR"/>
                          <a:ea typeface="Noto Sans KR"/>
                          <a:cs typeface="Noto Sans KR"/>
                        </a:rPr>
                        <a:t>12개월 목표</a:t>
                      </a:r>
                    </a:p>
                  </a:txBody>
                  <a:tcPr marL="73152" marR="73152" marT="50292" marB="50292" anchor="t">
                    <a:lnL w="0">
                      <a:noFill/>
                    </a:lnL>
                    <a:lnR w="0">
                      <a:noFill/>
                    </a:lnR>
                    <a:lnT w="12700">
                      <a:solidFill>
                        <a:srgbClr val="15171A"/>
                      </a:solidFill>
                    </a:lnT>
                    <a:lnB w="9525">
                      <a:solidFill>
                        <a:srgbClr val="15171A"/>
                      </a:solidFill>
                    </a:lnB>
                    <a:noFill/>
                  </a:tcPr>
                </a:tc>
                <a:tc>
                  <a:txBody>
                    <a:bodyPr wrap="square"/>
                    <a:lstStyle/>
                    <a:p>
                      <a:pPr algn="l">
                        <a:lnSpc>
                          <a:spcPct val="100000"/>
                        </a:lnSpc>
                      </a:pPr>
                      <a:r>
                        <a:rPr sz="1150" b="1">
                          <a:solidFill>
                            <a:srgbClr val="15171A"/>
                          </a:solidFill>
                          <a:latin typeface="Noto Sans KR"/>
                          <a:ea typeface="Noto Sans KR"/>
                          <a:cs typeface="Noto Sans KR"/>
                        </a:rPr>
                        <a:t>24개월 목표</a:t>
                      </a:r>
                    </a:p>
                  </a:txBody>
                  <a:tcPr marL="73152" marR="73152" marT="50292" marB="50292" anchor="t">
                    <a:lnL w="0">
                      <a:noFill/>
                    </a:lnL>
                    <a:lnR w="0">
                      <a:noFill/>
                    </a:lnR>
                    <a:lnT w="12700">
                      <a:solidFill>
                        <a:srgbClr val="15171A"/>
                      </a:solidFill>
                    </a:lnT>
                    <a:lnB w="9525">
                      <a:solidFill>
                        <a:srgbClr val="15171A"/>
                      </a:solidFill>
                    </a:lnB>
                    <a:noFill/>
                  </a:tcPr>
                </a:tc>
                <a:tc>
                  <a:txBody>
                    <a:bodyPr wrap="square"/>
                    <a:lstStyle/>
                    <a:p>
                      <a:pPr algn="l">
                        <a:lnSpc>
                          <a:spcPct val="100000"/>
                        </a:lnSpc>
                      </a:pPr>
                      <a:r>
                        <a:rPr sz="1150" b="1">
                          <a:solidFill>
                            <a:srgbClr val="15171A"/>
                          </a:solidFill>
                          <a:latin typeface="Noto Sans KR"/>
                          <a:ea typeface="Noto Sans KR"/>
                          <a:cs typeface="Noto Sans KR"/>
                        </a:rPr>
                        <a:t>시험 정의</a:t>
                      </a:r>
                    </a:p>
                  </a:txBody>
                  <a:tcPr marL="73152" marR="73152" marT="50292" marB="50292" anchor="t">
                    <a:lnL w="0">
                      <a:noFill/>
                    </a:lnL>
                    <a:lnR w="0">
                      <a:noFill/>
                    </a:lnR>
                    <a:lnT w="12700">
                      <a:solidFill>
                        <a:srgbClr val="15171A"/>
                      </a:solidFill>
                    </a:lnT>
                    <a:lnB w="9525">
                      <a:solidFill>
                        <a:srgbClr val="15171A"/>
                      </a:solidFill>
                    </a:lnB>
                    <a:noFill/>
                  </a:tcPr>
                </a:tc>
              </a:tr>
              <a:tr h="532688">
                <a:tc>
                  <a:txBody>
                    <a:bodyPr wrap="square"/>
                    <a:lstStyle/>
                    <a:p>
                      <a:pPr algn="l">
                        <a:lnSpc>
                          <a:spcPct val="100000"/>
                        </a:lnSpc>
                      </a:pPr>
                      <a:r>
                        <a:rPr sz="1150" b="1">
                          <a:solidFill>
                            <a:srgbClr val="15171A"/>
                          </a:solidFill>
                          <a:latin typeface="Noto Sans KR"/>
                          <a:ea typeface="Noto Sans KR"/>
                          <a:cs typeface="Noto Sans KR"/>
                        </a:rPr>
                        <a:t>검증 대상 작업 완료율</a:t>
                      </a:r>
                    </a:p>
                    <a:p>
                      <a:pPr algn="l">
                        <a:lnSpc>
                          <a:spcPct val="100000"/>
                        </a:lnSpc>
                      </a:pPr>
                      <a:r>
                        <a:rPr sz="1150" b="1">
                          <a:solidFill>
                            <a:srgbClr val="15171A"/>
                          </a:solidFill>
                          <a:latin typeface="Noto Sans KR"/>
                          <a:ea typeface="Noto Sans KR"/>
                          <a:cs typeface="Noto Sans KR"/>
                        </a:rPr>
                        <a:t>(집게·팬·용기·노브·버튼·문)</a:t>
                      </a:r>
                    </a:p>
                  </a:txBody>
                  <a:tcPr marL="73152" marR="73152" marT="50292" marB="50292" anchor="t">
                    <a:lnL w="0">
                      <a:noFill/>
                    </a:lnL>
                    <a:lnR w="0">
                      <a:noFill/>
                    </a:lnR>
                    <a:lnT w="0">
                      <a:noFill/>
                    </a:lnT>
                    <a:lnB w="9525">
                      <a:solidFill>
                        <a:srgbClr val="E2E4E7"/>
                      </a:solidFill>
                    </a:lnB>
                    <a:noFill/>
                  </a:tcPr>
                </a:tc>
                <a:tc>
                  <a:txBody>
                    <a:bodyPr wrap="square"/>
                    <a:lstStyle/>
                    <a:p>
                      <a:pPr algn="l">
                        <a:lnSpc>
                          <a:spcPct val="100000"/>
                        </a:lnSpc>
                      </a:pPr>
                      <a:r>
                        <a:rPr sz="1150" b="0">
                          <a:solidFill>
                            <a:srgbClr val="15171A"/>
                          </a:solidFill>
                          <a:latin typeface="Noto Sans KR"/>
                          <a:ea typeface="Noto Sans KR"/>
                          <a:cs typeface="Noto Sans KR"/>
                        </a:rPr>
                        <a:t>작업별 벤치 반복 시연</a:t>
                      </a:r>
                    </a:p>
                  </a:txBody>
                  <a:tcPr marL="73152" marR="73152" marT="50292" marB="50292" anchor="t">
                    <a:lnL w="0">
                      <a:noFill/>
                    </a:lnL>
                    <a:lnR w="0">
                      <a:noFill/>
                    </a:lnR>
                    <a:lnT w="0">
                      <a:noFill/>
                    </a:lnT>
                    <a:lnB w="9525">
                      <a:solidFill>
                        <a:srgbClr val="E2E4E7"/>
                      </a:solidFill>
                    </a:lnB>
                    <a:noFill/>
                  </a:tcPr>
                </a:tc>
                <a:tc>
                  <a:txBody>
                    <a:bodyPr wrap="square"/>
                    <a:lstStyle/>
                    <a:p>
                      <a:pPr algn="l">
                        <a:lnSpc>
                          <a:spcPct val="100000"/>
                        </a:lnSpc>
                      </a:pPr>
                      <a:r>
                        <a:rPr sz="1150" b="0">
                          <a:solidFill>
                            <a:srgbClr val="15171A"/>
                          </a:solidFill>
                          <a:latin typeface="Noto Sans KR"/>
                          <a:ea typeface="Noto Sans KR"/>
                          <a:cs typeface="Noto Sans KR"/>
                        </a:rPr>
                        <a:t>승인 작업 95% 이상</a:t>
                      </a:r>
                    </a:p>
                  </a:txBody>
                  <a:tcPr marL="73152" marR="73152" marT="50292" marB="50292" anchor="t">
                    <a:lnL w="0">
                      <a:noFill/>
                    </a:lnL>
                    <a:lnR w="0">
                      <a:noFill/>
                    </a:lnR>
                    <a:lnT w="0">
                      <a:noFill/>
                    </a:lnT>
                    <a:lnB w="9525">
                      <a:solidFill>
                        <a:srgbClr val="E2E4E7"/>
                      </a:solidFill>
                    </a:lnB>
                    <a:noFill/>
                  </a:tcPr>
                </a:tc>
                <a:tc>
                  <a:txBody>
                    <a:bodyPr wrap="square"/>
                    <a:lstStyle/>
                    <a:p>
                      <a:pPr algn="l">
                        <a:lnSpc>
                          <a:spcPct val="100000"/>
                        </a:lnSpc>
                      </a:pPr>
                      <a:r>
                        <a:rPr sz="1150" b="0">
                          <a:solidFill>
                            <a:srgbClr val="15171A"/>
                          </a:solidFill>
                          <a:latin typeface="Noto Sans KR"/>
                          <a:ea typeface="Noto Sans KR"/>
                          <a:cs typeface="Noto Sans KR"/>
                        </a:rPr>
                        <a:t>최초 시도·재시도·중단 분리 보고, 신뢰구간</a:t>
                      </a:r>
                    </a:p>
                  </a:txBody>
                  <a:tcPr marL="73152" marR="73152" marT="50292" marB="50292" anchor="t">
                    <a:lnL w="0">
                      <a:noFill/>
                    </a:lnL>
                    <a:lnR w="0">
                      <a:noFill/>
                    </a:lnR>
                    <a:lnT w="0">
                      <a:noFill/>
                    </a:lnT>
                    <a:lnB w="9525">
                      <a:solidFill>
                        <a:srgbClr val="E2E4E7"/>
                      </a:solidFill>
                    </a:lnB>
                    <a:noFill/>
                  </a:tcPr>
                </a:tc>
              </a:tr>
              <a:tr h="321208">
                <a:tc>
                  <a:txBody>
                    <a:bodyPr wrap="square"/>
                    <a:lstStyle/>
                    <a:p>
                      <a:pPr algn="l">
                        <a:lnSpc>
                          <a:spcPct val="100000"/>
                        </a:lnSpc>
                      </a:pPr>
                      <a:r>
                        <a:rPr sz="1150" b="1">
                          <a:solidFill>
                            <a:srgbClr val="15171A"/>
                          </a:solidFill>
                          <a:latin typeface="Noto Sans KR"/>
                          <a:ea typeface="Noto Sans KR"/>
                          <a:cs typeface="Noto Sans KR"/>
                        </a:rPr>
                        <a:t>등록 물체 집기·투입 (재료·용기·도구)</a:t>
                      </a:r>
                    </a:p>
                  </a:txBody>
                  <a:tcPr marL="73152" marR="73152" marT="50292" marB="50292" anchor="t">
                    <a:lnL w="0">
                      <a:noFill/>
                    </a:lnL>
                    <a:lnR w="0">
                      <a:noFill/>
                    </a:lnR>
                    <a:lnT w="0">
                      <a:noFill/>
                    </a:lnT>
                    <a:lnB w="9525">
                      <a:solidFill>
                        <a:srgbClr val="E2E4E7"/>
                      </a:solidFill>
                    </a:lnB>
                    <a:noFill/>
                  </a:tcPr>
                </a:tc>
                <a:tc>
                  <a:txBody>
                    <a:bodyPr wrap="square"/>
                    <a:lstStyle/>
                    <a:p>
                      <a:pPr algn="l">
                        <a:lnSpc>
                          <a:spcPct val="100000"/>
                        </a:lnSpc>
                      </a:pPr>
                      <a:r>
                        <a:rPr sz="1150" b="0">
                          <a:solidFill>
                            <a:srgbClr val="15171A"/>
                          </a:solidFill>
                          <a:latin typeface="Noto Sans KR"/>
                          <a:ea typeface="Noto Sans KR"/>
                          <a:cs typeface="Noto Sans KR"/>
                        </a:rPr>
                        <a:t>10종, 95% 이상</a:t>
                      </a:r>
                    </a:p>
                  </a:txBody>
                  <a:tcPr marL="73152" marR="73152" marT="50292" marB="50292" anchor="t">
                    <a:lnL w="0">
                      <a:noFill/>
                    </a:lnL>
                    <a:lnR w="0">
                      <a:noFill/>
                    </a:lnR>
                    <a:lnT w="0">
                      <a:noFill/>
                    </a:lnT>
                    <a:lnB w="9525">
                      <a:solidFill>
                        <a:srgbClr val="E2E4E7"/>
                      </a:solidFill>
                    </a:lnB>
                    <a:noFill/>
                  </a:tcPr>
                </a:tc>
                <a:tc>
                  <a:txBody>
                    <a:bodyPr wrap="square"/>
                    <a:lstStyle/>
                    <a:p>
                      <a:pPr algn="l">
                        <a:lnSpc>
                          <a:spcPct val="100000"/>
                        </a:lnSpc>
                      </a:pPr>
                      <a:r>
                        <a:rPr sz="1150" b="0">
                          <a:solidFill>
                            <a:srgbClr val="15171A"/>
                          </a:solidFill>
                          <a:latin typeface="Noto Sans KR"/>
                          <a:ea typeface="Noto Sans KR"/>
                          <a:cs typeface="Noto Sans KR"/>
                        </a:rPr>
                        <a:t>20종, 98% 이상</a:t>
                      </a:r>
                    </a:p>
                  </a:txBody>
                  <a:tcPr marL="73152" marR="73152" marT="50292" marB="50292" anchor="t">
                    <a:lnL w="0">
                      <a:noFill/>
                    </a:lnL>
                    <a:lnR w="0">
                      <a:noFill/>
                    </a:lnR>
                    <a:lnT w="0">
                      <a:noFill/>
                    </a:lnT>
                    <a:lnB w="9525">
                      <a:solidFill>
                        <a:srgbClr val="E2E4E7"/>
                      </a:solidFill>
                    </a:lnB>
                    <a:noFill/>
                  </a:tcPr>
                </a:tc>
                <a:tc>
                  <a:txBody>
                    <a:bodyPr wrap="square"/>
                    <a:lstStyle/>
                    <a:p>
                      <a:pPr algn="l">
                        <a:lnSpc>
                          <a:spcPct val="100000"/>
                        </a:lnSpc>
                      </a:pPr>
                      <a:r>
                        <a:rPr sz="1150" b="0">
                          <a:solidFill>
                            <a:srgbClr val="15171A"/>
                          </a:solidFill>
                          <a:latin typeface="Noto Sans KR"/>
                          <a:ea typeface="Noto Sans KR"/>
                          <a:cs typeface="Noto Sans KR"/>
                        </a:rPr>
                        <a:t>종별 100회, 낙하 없이 투입 완료</a:t>
                      </a:r>
                    </a:p>
                  </a:txBody>
                  <a:tcPr marL="73152" marR="73152" marT="50292" marB="50292" anchor="t">
                    <a:lnL w="0">
                      <a:noFill/>
                    </a:lnL>
                    <a:lnR w="0">
                      <a:noFill/>
                    </a:lnR>
                    <a:lnT w="0">
                      <a:noFill/>
                    </a:lnT>
                    <a:lnB w="9525">
                      <a:solidFill>
                        <a:srgbClr val="E2E4E7"/>
                      </a:solidFill>
                    </a:lnB>
                    <a:noFill/>
                  </a:tcPr>
                </a:tc>
              </a:tr>
              <a:tr h="321208">
                <a:tc>
                  <a:txBody>
                    <a:bodyPr wrap="square"/>
                    <a:lstStyle/>
                    <a:p>
                      <a:pPr algn="l">
                        <a:lnSpc>
                          <a:spcPct val="100000"/>
                        </a:lnSpc>
                      </a:pPr>
                      <a:r>
                        <a:rPr sz="1150" b="1">
                          <a:solidFill>
                            <a:srgbClr val="15171A"/>
                          </a:solidFill>
                          <a:latin typeface="Noto Sans KR"/>
                          <a:ea typeface="Noto Sans KR"/>
                          <a:cs typeface="Noto Sans KR"/>
                        </a:rPr>
                        <a:t>문·노브·버튼 조작 (가전·조작부)</a:t>
                      </a:r>
                    </a:p>
                  </a:txBody>
                  <a:tcPr marL="73152" marR="73152" marT="50292" marB="50292" anchor="t">
                    <a:lnL w="0">
                      <a:noFill/>
                    </a:lnL>
                    <a:lnR w="0">
                      <a:noFill/>
                    </a:lnR>
                    <a:lnT w="0">
                      <a:noFill/>
                    </a:lnT>
                    <a:lnB w="9525">
                      <a:solidFill>
                        <a:srgbClr val="E2E4E7"/>
                      </a:solidFill>
                    </a:lnB>
                    <a:noFill/>
                  </a:tcPr>
                </a:tc>
                <a:tc>
                  <a:txBody>
                    <a:bodyPr wrap="square"/>
                    <a:lstStyle/>
                    <a:p>
                      <a:pPr algn="l">
                        <a:lnSpc>
                          <a:spcPct val="100000"/>
                        </a:lnSpc>
                      </a:pPr>
                      <a:r>
                        <a:rPr sz="1150" b="0">
                          <a:solidFill>
                            <a:srgbClr val="15171A"/>
                          </a:solidFill>
                          <a:latin typeface="Noto Sans KR"/>
                          <a:ea typeface="Noto Sans KR"/>
                          <a:cs typeface="Noto Sans KR"/>
                        </a:rPr>
                        <a:t>대표 가전 2종</a:t>
                      </a:r>
                    </a:p>
                  </a:txBody>
                  <a:tcPr marL="73152" marR="73152" marT="50292" marB="50292" anchor="t">
                    <a:lnL w="0">
                      <a:noFill/>
                    </a:lnL>
                    <a:lnR w="0">
                      <a:noFill/>
                    </a:lnR>
                    <a:lnT w="0">
                      <a:noFill/>
                    </a:lnT>
                    <a:lnB w="9525">
                      <a:solidFill>
                        <a:srgbClr val="E2E4E7"/>
                      </a:solidFill>
                    </a:lnB>
                    <a:noFill/>
                  </a:tcPr>
                </a:tc>
                <a:tc>
                  <a:txBody>
                    <a:bodyPr wrap="square"/>
                    <a:lstStyle/>
                    <a:p>
                      <a:pPr algn="l">
                        <a:lnSpc>
                          <a:spcPct val="100000"/>
                        </a:lnSpc>
                      </a:pPr>
                      <a:r>
                        <a:rPr sz="1150" b="0">
                          <a:solidFill>
                            <a:srgbClr val="15171A"/>
                          </a:solidFill>
                          <a:latin typeface="Noto Sans KR"/>
                          <a:ea typeface="Noto Sans KR"/>
                          <a:cs typeface="Noto Sans KR"/>
                        </a:rPr>
                        <a:t>4종, 완료율 95% 이상</a:t>
                      </a:r>
                    </a:p>
                  </a:txBody>
                  <a:tcPr marL="73152" marR="73152" marT="50292" marB="50292" anchor="t">
                    <a:lnL w="0">
                      <a:noFill/>
                    </a:lnL>
                    <a:lnR w="0">
                      <a:noFill/>
                    </a:lnR>
                    <a:lnT w="0">
                      <a:noFill/>
                    </a:lnT>
                    <a:lnB w="9525">
                      <a:solidFill>
                        <a:srgbClr val="E2E4E7"/>
                      </a:solidFill>
                    </a:lnB>
                    <a:noFill/>
                  </a:tcPr>
                </a:tc>
                <a:tc>
                  <a:txBody>
                    <a:bodyPr wrap="square"/>
                    <a:lstStyle/>
                    <a:p>
                      <a:pPr algn="l">
                        <a:lnSpc>
                          <a:spcPct val="100000"/>
                        </a:lnSpc>
                      </a:pPr>
                      <a:r>
                        <a:rPr sz="1150" b="0">
                          <a:solidFill>
                            <a:srgbClr val="15171A"/>
                          </a:solidFill>
                          <a:latin typeface="Noto Sans KR"/>
                          <a:ea typeface="Noto Sans KR"/>
                          <a:cs typeface="Noto Sans KR"/>
                        </a:rPr>
                        <a:t>조작력·작업 시간 함께 보고</a:t>
                      </a:r>
                    </a:p>
                  </a:txBody>
                  <a:tcPr marL="73152" marR="73152" marT="50292" marB="50292" anchor="t">
                    <a:lnL w="0">
                      <a:noFill/>
                    </a:lnL>
                    <a:lnR w="0">
                      <a:noFill/>
                    </a:lnR>
                    <a:lnT w="0">
                      <a:noFill/>
                    </a:lnT>
                    <a:lnB w="9525">
                      <a:solidFill>
                        <a:srgbClr val="E2E4E7"/>
                      </a:solidFill>
                    </a:lnB>
                    <a:noFill/>
                  </a:tcPr>
                </a:tc>
              </a:tr>
              <a:tr h="321208">
                <a:tc>
                  <a:txBody>
                    <a:bodyPr wrap="square"/>
                    <a:lstStyle/>
                    <a:p>
                      <a:pPr algn="l">
                        <a:lnSpc>
                          <a:spcPct val="100000"/>
                        </a:lnSpc>
                      </a:pPr>
                      <a:r>
                        <a:rPr sz="1150" b="1">
                          <a:solidFill>
                            <a:srgbClr val="15171A"/>
                          </a:solidFill>
                          <a:latin typeface="Noto Sans KR"/>
                          <a:ea typeface="Noto Sans KR"/>
                          <a:cs typeface="Noto Sans KR"/>
                        </a:rPr>
                        <a:t>핸드 하중</a:t>
                      </a:r>
                    </a:p>
                  </a:txBody>
                  <a:tcPr marL="73152" marR="73152" marT="50292" marB="50292" anchor="t">
                    <a:lnL w="0">
                      <a:noFill/>
                    </a:lnL>
                    <a:lnR w="0">
                      <a:noFill/>
                    </a:lnR>
                    <a:lnT w="0">
                      <a:noFill/>
                    </a:lnT>
                    <a:lnB w="9525">
                      <a:solidFill>
                        <a:srgbClr val="E2E4E7"/>
                      </a:solidFill>
                    </a:lnB>
                    <a:noFill/>
                  </a:tcPr>
                </a:tc>
                <a:tc>
                  <a:txBody>
                    <a:bodyPr wrap="square"/>
                    <a:lstStyle/>
                    <a:p>
                      <a:pPr algn="l">
                        <a:lnSpc>
                          <a:spcPct val="100000"/>
                        </a:lnSpc>
                      </a:pPr>
                      <a:r>
                        <a:rPr sz="1150" b="0">
                          <a:solidFill>
                            <a:srgbClr val="15171A"/>
                          </a:solidFill>
                          <a:latin typeface="Noto Sans KR"/>
                          <a:ea typeface="Noto Sans KR"/>
                          <a:cs typeface="Noto Sans KR"/>
                        </a:rPr>
                        <a:t>원통 물체 1kg</a:t>
                      </a:r>
                    </a:p>
                  </a:txBody>
                  <a:tcPr marL="73152" marR="73152" marT="50292" marB="50292" anchor="t">
                    <a:lnL w="0">
                      <a:noFill/>
                    </a:lnL>
                    <a:lnR w="0">
                      <a:noFill/>
                    </a:lnR>
                    <a:lnT w="0">
                      <a:noFill/>
                    </a:lnT>
                    <a:lnB w="9525">
                      <a:solidFill>
                        <a:srgbClr val="E2E4E7"/>
                      </a:solidFill>
                    </a:lnB>
                    <a:noFill/>
                  </a:tcPr>
                </a:tc>
                <a:tc>
                  <a:txBody>
                    <a:bodyPr wrap="square"/>
                    <a:lstStyle/>
                    <a:p>
                      <a:pPr algn="l">
                        <a:lnSpc>
                          <a:spcPct val="100000"/>
                        </a:lnSpc>
                      </a:pPr>
                      <a:r>
                        <a:rPr sz="1150" b="0">
                          <a:solidFill>
                            <a:srgbClr val="15171A"/>
                          </a:solidFill>
                          <a:latin typeface="Noto Sans KR"/>
                          <a:ea typeface="Noto Sans KR"/>
                          <a:cs typeface="Noto Sans KR"/>
                        </a:rPr>
                        <a:t>동일 조건 2kg</a:t>
                      </a:r>
                    </a:p>
                  </a:txBody>
                  <a:tcPr marL="73152" marR="73152" marT="50292" marB="50292" anchor="t">
                    <a:lnL w="0">
                      <a:noFill/>
                    </a:lnL>
                    <a:lnR w="0">
                      <a:noFill/>
                    </a:lnR>
                    <a:lnT w="0">
                      <a:noFill/>
                    </a:lnT>
                    <a:lnB w="9525">
                      <a:solidFill>
                        <a:srgbClr val="E2E4E7"/>
                      </a:solidFill>
                    </a:lnB>
                    <a:noFill/>
                  </a:tcPr>
                </a:tc>
                <a:tc>
                  <a:txBody>
                    <a:bodyPr wrap="square"/>
                    <a:lstStyle/>
                    <a:p>
                      <a:pPr algn="l">
                        <a:lnSpc>
                          <a:spcPct val="100000"/>
                        </a:lnSpc>
                      </a:pPr>
                      <a:r>
                        <a:rPr sz="1150" b="0">
                          <a:solidFill>
                            <a:srgbClr val="15171A"/>
                          </a:solidFill>
                          <a:latin typeface="Noto Sans KR"/>
                          <a:ea typeface="Noto Sans KR"/>
                          <a:cs typeface="Noto Sans KR"/>
                        </a:rPr>
                        <a:t>자세·속도·모멘트 한계 명시</a:t>
                      </a:r>
                    </a:p>
                  </a:txBody>
                  <a:tcPr marL="73152" marR="73152" marT="50292" marB="50292" anchor="t">
                    <a:lnL w="0">
                      <a:noFill/>
                    </a:lnL>
                    <a:lnR w="0">
                      <a:noFill/>
                    </a:lnR>
                    <a:lnT w="0">
                      <a:noFill/>
                    </a:lnT>
                    <a:lnB w="9525">
                      <a:solidFill>
                        <a:srgbClr val="E2E4E7"/>
                      </a:solidFill>
                    </a:lnB>
                    <a:noFill/>
                  </a:tcPr>
                </a:tc>
              </a:tr>
              <a:tr h="321208">
                <a:tc>
                  <a:txBody>
                    <a:bodyPr wrap="square"/>
                    <a:lstStyle/>
                    <a:p>
                      <a:pPr algn="l">
                        <a:lnSpc>
                          <a:spcPct val="100000"/>
                        </a:lnSpc>
                      </a:pPr>
                      <a:r>
                        <a:rPr sz="1150" b="1">
                          <a:solidFill>
                            <a:srgbClr val="15171A"/>
                          </a:solidFill>
                          <a:latin typeface="Noto Sans KR"/>
                          <a:ea typeface="Noto Sans KR"/>
                          <a:cs typeface="Noto Sans KR"/>
                        </a:rPr>
                        <a:t>내구성</a:t>
                      </a:r>
                    </a:p>
                  </a:txBody>
                  <a:tcPr marL="73152" marR="73152" marT="50292" marB="50292" anchor="t">
                    <a:lnL w="0">
                      <a:noFill/>
                    </a:lnL>
                    <a:lnR w="0">
                      <a:noFill/>
                    </a:lnR>
                    <a:lnT w="0">
                      <a:noFill/>
                    </a:lnT>
                    <a:lnB w="9525">
                      <a:solidFill>
                        <a:srgbClr val="E2E4E7"/>
                      </a:solidFill>
                    </a:lnB>
                    <a:noFill/>
                  </a:tcPr>
                </a:tc>
                <a:tc>
                  <a:txBody>
                    <a:bodyPr wrap="square"/>
                    <a:lstStyle/>
                    <a:p>
                      <a:pPr algn="l">
                        <a:lnSpc>
                          <a:spcPct val="100000"/>
                        </a:lnSpc>
                      </a:pPr>
                      <a:r>
                        <a:rPr sz="1150" b="0">
                          <a:solidFill>
                            <a:srgbClr val="15171A"/>
                          </a:solidFill>
                          <a:latin typeface="Noto Sans KR"/>
                          <a:ea typeface="Noto Sans KR"/>
                          <a:cs typeface="Noto Sans KR"/>
                        </a:rPr>
                        <a:t>반복 개폐 10만 회</a:t>
                      </a:r>
                    </a:p>
                  </a:txBody>
                  <a:tcPr marL="73152" marR="73152" marT="50292" marB="50292" anchor="t">
                    <a:lnL w="0">
                      <a:noFill/>
                    </a:lnL>
                    <a:lnR w="0">
                      <a:noFill/>
                    </a:lnR>
                    <a:lnT w="0">
                      <a:noFill/>
                    </a:lnT>
                    <a:lnB w="9525">
                      <a:solidFill>
                        <a:srgbClr val="E2E4E7"/>
                      </a:solidFill>
                    </a:lnB>
                    <a:noFill/>
                  </a:tcPr>
                </a:tc>
                <a:tc>
                  <a:txBody>
                    <a:bodyPr wrap="square"/>
                    <a:lstStyle/>
                    <a:p>
                      <a:pPr algn="l">
                        <a:lnSpc>
                          <a:spcPct val="100000"/>
                        </a:lnSpc>
                      </a:pPr>
                      <a:r>
                        <a:rPr sz="1150" b="0">
                          <a:solidFill>
                            <a:srgbClr val="15171A"/>
                          </a:solidFill>
                          <a:latin typeface="Noto Sans KR"/>
                          <a:ea typeface="Noto Sans KR"/>
                          <a:cs typeface="Noto Sans KR"/>
                        </a:rPr>
                        <a:t>30만 회 (양산 목표 100만 회)</a:t>
                      </a:r>
                    </a:p>
                  </a:txBody>
                  <a:tcPr marL="73152" marR="73152" marT="50292" marB="50292" anchor="t">
                    <a:lnL w="0">
                      <a:noFill/>
                    </a:lnL>
                    <a:lnR w="0">
                      <a:noFill/>
                    </a:lnR>
                    <a:lnT w="0">
                      <a:noFill/>
                    </a:lnT>
                    <a:lnB w="9525">
                      <a:solidFill>
                        <a:srgbClr val="E2E4E7"/>
                      </a:solidFill>
                    </a:lnB>
                    <a:noFill/>
                  </a:tcPr>
                </a:tc>
                <a:tc>
                  <a:txBody>
                    <a:bodyPr wrap="square"/>
                    <a:lstStyle/>
                    <a:p>
                      <a:pPr algn="l">
                        <a:lnSpc>
                          <a:spcPct val="100000"/>
                        </a:lnSpc>
                      </a:pPr>
                      <a:r>
                        <a:rPr sz="1150" b="0">
                          <a:solidFill>
                            <a:srgbClr val="15171A"/>
                          </a:solidFill>
                          <a:latin typeface="Noto Sans KR"/>
                          <a:ea typeface="Noto Sans KR"/>
                          <a:cs typeface="Noto Sans KR"/>
                        </a:rPr>
                        <a:t>하중·패드 교체 주기·힘 저하율 명시</a:t>
                      </a:r>
                    </a:p>
                  </a:txBody>
                  <a:tcPr marL="73152" marR="73152" marT="50292" marB="50292" anchor="t">
                    <a:lnL w="0">
                      <a:noFill/>
                    </a:lnL>
                    <a:lnR w="0">
                      <a:noFill/>
                    </a:lnR>
                    <a:lnT w="0">
                      <a:noFill/>
                    </a:lnT>
                    <a:lnB w="9525">
                      <a:solidFill>
                        <a:srgbClr val="E2E4E7"/>
                      </a:solidFill>
                    </a:lnB>
                    <a:noFill/>
                  </a:tcPr>
                </a:tc>
              </a:tr>
              <a:tr h="321208">
                <a:tc>
                  <a:txBody>
                    <a:bodyPr wrap="square"/>
                    <a:lstStyle/>
                    <a:p>
                      <a:pPr algn="l">
                        <a:lnSpc>
                          <a:spcPct val="100000"/>
                        </a:lnSpc>
                      </a:pPr>
                      <a:r>
                        <a:rPr sz="1150" b="1">
                          <a:solidFill>
                            <a:srgbClr val="15171A"/>
                          </a:solidFill>
                          <a:latin typeface="Noto Sans KR"/>
                          <a:ea typeface="Noto Sans KR"/>
                          <a:cs typeface="Noto Sans KR"/>
                        </a:rPr>
                        <a:t>Skill 이식성</a:t>
                      </a:r>
                    </a:p>
                  </a:txBody>
                  <a:tcPr marL="73152" marR="73152" marT="50292" marB="50292" anchor="t">
                    <a:lnL w="0">
                      <a:noFill/>
                    </a:lnL>
                    <a:lnR w="0">
                      <a:noFill/>
                    </a:lnR>
                    <a:lnT w="0">
                      <a:noFill/>
                    </a:lnT>
                    <a:lnB w="9525">
                      <a:solidFill>
                        <a:srgbClr val="E2E4E7"/>
                      </a:solidFill>
                    </a:lnB>
                    <a:noFill/>
                  </a:tcPr>
                </a:tc>
                <a:tc>
                  <a:txBody>
                    <a:bodyPr wrap="square"/>
                    <a:lstStyle/>
                    <a:p>
                      <a:pPr algn="l">
                        <a:lnSpc>
                          <a:spcPct val="100000"/>
                        </a:lnSpc>
                      </a:pPr>
                      <a:r>
                        <a:rPr sz="1150" b="0">
                          <a:solidFill>
                            <a:srgbClr val="15171A"/>
                          </a:solidFill>
                          <a:latin typeface="Noto Sans KR"/>
                          <a:ea typeface="Noto Sans KR"/>
                          <a:cs typeface="Noto Sans KR"/>
                        </a:rPr>
                        <a:t>로봇 A 기준 기록</a:t>
                      </a:r>
                    </a:p>
                  </a:txBody>
                  <a:tcPr marL="73152" marR="73152" marT="50292" marB="50292" anchor="t">
                    <a:lnL w="0">
                      <a:noFill/>
                    </a:lnL>
                    <a:lnR w="0">
                      <a:noFill/>
                    </a:lnR>
                    <a:lnT w="0">
                      <a:noFill/>
                    </a:lnT>
                    <a:lnB w="9525">
                      <a:solidFill>
                        <a:srgbClr val="E2E4E7"/>
                      </a:solidFill>
                    </a:lnB>
                    <a:noFill/>
                  </a:tcPr>
                </a:tc>
                <a:tc>
                  <a:txBody>
                    <a:bodyPr wrap="square"/>
                    <a:lstStyle/>
                    <a:p>
                      <a:pPr algn="l">
                        <a:lnSpc>
                          <a:spcPct val="100000"/>
                        </a:lnSpc>
                      </a:pPr>
                      <a:r>
                        <a:rPr sz="1150" b="0">
                          <a:solidFill>
                            <a:srgbClr val="15171A"/>
                          </a:solidFill>
                          <a:latin typeface="Noto Sans KR"/>
                          <a:ea typeface="Noto Sans KR"/>
                          <a:cs typeface="Noto Sans KR"/>
                        </a:rPr>
                        <a:t>로봇 B 재사용 검증</a:t>
                      </a:r>
                    </a:p>
                  </a:txBody>
                  <a:tcPr marL="73152" marR="73152" marT="50292" marB="50292" anchor="t">
                    <a:lnL w="0">
                      <a:noFill/>
                    </a:lnL>
                    <a:lnR w="0">
                      <a:noFill/>
                    </a:lnR>
                    <a:lnT w="0">
                      <a:noFill/>
                    </a:lnT>
                    <a:lnB w="9525">
                      <a:solidFill>
                        <a:srgbClr val="E2E4E7"/>
                      </a:solidFill>
                    </a:lnB>
                    <a:noFill/>
                  </a:tcPr>
                </a:tc>
                <a:tc>
                  <a:txBody>
                    <a:bodyPr wrap="square"/>
                    <a:lstStyle/>
                    <a:p>
                      <a:pPr algn="l">
                        <a:lnSpc>
                          <a:spcPct val="100000"/>
                        </a:lnSpc>
                      </a:pPr>
                      <a:r>
                        <a:rPr sz="1150" b="0">
                          <a:solidFill>
                            <a:srgbClr val="15171A"/>
                          </a:solidFill>
                          <a:latin typeface="Noto Sans KR"/>
                          <a:ea typeface="Noto Sans KR"/>
                          <a:cs typeface="Noto Sans KR"/>
                        </a:rPr>
                        <a:t>추가 엔지니어링 시간·완료율·재사용 모듈 비중</a:t>
                      </a:r>
                    </a:p>
                  </a:txBody>
                  <a:tcPr marL="73152" marR="73152" marT="50292" marB="50292" anchor="t">
                    <a:lnL w="0">
                      <a:noFill/>
                    </a:lnL>
                    <a:lnR w="0">
                      <a:noFill/>
                    </a:lnR>
                    <a:lnT w="0">
                      <a:noFill/>
                    </a:lnT>
                    <a:lnB w="9525">
                      <a:solidFill>
                        <a:srgbClr val="E2E4E7"/>
                      </a:solidFill>
                    </a:lnB>
                    <a:noFill/>
                  </a:tcPr>
                </a:tc>
              </a:tr>
              <a:tr h="321208">
                <a:tc>
                  <a:txBody>
                    <a:bodyPr wrap="square"/>
                    <a:lstStyle/>
                    <a:p>
                      <a:pPr algn="l">
                        <a:lnSpc>
                          <a:spcPct val="100000"/>
                        </a:lnSpc>
                      </a:pPr>
                      <a:r>
                        <a:rPr sz="1150" b="1">
                          <a:solidFill>
                            <a:srgbClr val="15171A"/>
                          </a:solidFill>
                          <a:latin typeface="Noto Sans KR"/>
                          <a:ea typeface="Noto Sans KR"/>
                          <a:cs typeface="Noto Sans KR"/>
                        </a:rPr>
                        <a:t>재사용률</a:t>
                      </a:r>
                    </a:p>
                  </a:txBody>
                  <a:tcPr marL="73152" marR="73152" marT="50292" marB="50292" anchor="t">
                    <a:lnL w="0">
                      <a:noFill/>
                    </a:lnL>
                    <a:lnR w="0">
                      <a:noFill/>
                    </a:lnR>
                    <a:lnT w="0">
                      <a:noFill/>
                    </a:lnT>
                    <a:lnB w="9525">
                      <a:solidFill>
                        <a:srgbClr val="E2E4E7"/>
                      </a:solidFill>
                    </a:lnB>
                    <a:noFill/>
                  </a:tcPr>
                </a:tc>
                <a:tc>
                  <a:txBody>
                    <a:bodyPr wrap="square"/>
                    <a:lstStyle/>
                    <a:p>
                      <a:pPr algn="l">
                        <a:lnSpc>
                          <a:spcPct val="100000"/>
                        </a:lnSpc>
                      </a:pPr>
                      <a:r>
                        <a:rPr sz="1150" b="0">
                          <a:solidFill>
                            <a:srgbClr val="15171A"/>
                          </a:solidFill>
                          <a:latin typeface="Noto Sans KR"/>
                          <a:ea typeface="Noto Sans KR"/>
                          <a:cs typeface="Noto Sans KR"/>
                        </a:rPr>
                        <a:t>측정 체계 수립</a:t>
                      </a:r>
                    </a:p>
                  </a:txBody>
                  <a:tcPr marL="73152" marR="73152" marT="50292" marB="50292" anchor="t">
                    <a:lnL w="0">
                      <a:noFill/>
                    </a:lnL>
                    <a:lnR w="0">
                      <a:noFill/>
                    </a:lnR>
                    <a:lnT w="0">
                      <a:noFill/>
                    </a:lnT>
                    <a:lnB w="9525">
                      <a:solidFill>
                        <a:srgbClr val="E2E4E7"/>
                      </a:solidFill>
                    </a:lnB>
                    <a:noFill/>
                  </a:tcPr>
                </a:tc>
                <a:tc>
                  <a:txBody>
                    <a:bodyPr wrap="square"/>
                    <a:lstStyle/>
                    <a:p>
                      <a:pPr algn="l">
                        <a:lnSpc>
                          <a:spcPct val="100000"/>
                        </a:lnSpc>
                      </a:pPr>
                      <a:r>
                        <a:rPr sz="1150" b="0">
                          <a:solidFill>
                            <a:srgbClr val="15171A"/>
                          </a:solidFill>
                          <a:latin typeface="Noto Sans KR"/>
                          <a:ea typeface="Noto Sans KR"/>
                          <a:cs typeface="Noto Sans KR"/>
                        </a:rPr>
                        <a:t>M12부터 측정, 상승 추세</a:t>
                      </a:r>
                    </a:p>
                  </a:txBody>
                  <a:tcPr marL="73152" marR="73152" marT="50292" marB="50292" anchor="t">
                    <a:lnL w="0">
                      <a:noFill/>
                    </a:lnL>
                    <a:lnR w="0">
                      <a:noFill/>
                    </a:lnR>
                    <a:lnT w="0">
                      <a:noFill/>
                    </a:lnT>
                    <a:lnB w="9525">
                      <a:solidFill>
                        <a:srgbClr val="E2E4E7"/>
                      </a:solidFill>
                    </a:lnB>
                    <a:noFill/>
                  </a:tcPr>
                </a:tc>
                <a:tc>
                  <a:txBody>
                    <a:bodyPr wrap="square"/>
                    <a:lstStyle/>
                    <a:p>
                      <a:pPr algn="l">
                        <a:lnSpc>
                          <a:spcPct val="100000"/>
                        </a:lnSpc>
                      </a:pPr>
                      <a:r>
                        <a:rPr sz="1150" b="0">
                          <a:solidFill>
                            <a:srgbClr val="15171A"/>
                          </a:solidFill>
                          <a:latin typeface="Noto Sans KR"/>
                          <a:ea typeface="Noto Sans KR"/>
                          <a:cs typeface="Noto Sans KR"/>
                        </a:rPr>
                        <a:t>신규 고객 적용 시 그대로 쓴 모듈 비중</a:t>
                      </a:r>
                    </a:p>
                  </a:txBody>
                  <a:tcPr marL="73152" marR="73152" marT="50292" marB="50292" anchor="t">
                    <a:lnL w="0">
                      <a:noFill/>
                    </a:lnL>
                    <a:lnR w="0">
                      <a:noFill/>
                    </a:lnR>
                    <a:lnT w="0">
                      <a:noFill/>
                    </a:lnT>
                    <a:lnB w="9525">
                      <a:solidFill>
                        <a:srgbClr val="E2E4E7"/>
                      </a:solidFill>
                    </a:lnB>
                    <a:noFill/>
                  </a:tcPr>
                </a:tc>
              </a:tr>
              <a:tr h="321208">
                <a:tc>
                  <a:txBody>
                    <a:bodyPr wrap="square"/>
                    <a:lstStyle/>
                    <a:p>
                      <a:pPr algn="l">
                        <a:lnSpc>
                          <a:spcPct val="100000"/>
                        </a:lnSpc>
                      </a:pPr>
                      <a:r>
                        <a:rPr sz="1150" b="1">
                          <a:solidFill>
                            <a:srgbClr val="15171A"/>
                          </a:solidFill>
                          <a:latin typeface="Noto Sans KR"/>
                          <a:ea typeface="Noto Sans KR"/>
                          <a:cs typeface="Noto Sans KR"/>
                        </a:rPr>
                        <a:t>사람 개입·메뉴 전환 시간</a:t>
                      </a:r>
                    </a:p>
                  </a:txBody>
                  <a:tcPr marL="73152" marR="73152" marT="50292" marB="50292" anchor="t">
                    <a:lnL w="0">
                      <a:noFill/>
                    </a:lnL>
                    <a:lnR w="0">
                      <a:noFill/>
                    </a:lnR>
                    <a:lnT w="0">
                      <a:noFill/>
                    </a:lnT>
                    <a:lnB w="9525">
                      <a:solidFill>
                        <a:srgbClr val="E2E4E7"/>
                      </a:solidFill>
                    </a:lnB>
                    <a:noFill/>
                  </a:tcPr>
                </a:tc>
                <a:tc>
                  <a:txBody>
                    <a:bodyPr wrap="square"/>
                    <a:lstStyle/>
                    <a:p>
                      <a:pPr algn="l">
                        <a:lnSpc>
                          <a:spcPct val="100000"/>
                        </a:lnSpc>
                      </a:pPr>
                      <a:r>
                        <a:rPr sz="1150" b="0">
                          <a:solidFill>
                            <a:srgbClr val="15171A"/>
                          </a:solidFill>
                          <a:latin typeface="Noto Sans KR"/>
                          <a:ea typeface="Noto Sans KR"/>
                          <a:cs typeface="Noto Sans KR"/>
                        </a:rPr>
                        <a:t>고객 기존 수치 확보</a:t>
                      </a:r>
                    </a:p>
                  </a:txBody>
                  <a:tcPr marL="73152" marR="73152" marT="50292" marB="50292" anchor="t">
                    <a:lnL w="0">
                      <a:noFill/>
                    </a:lnL>
                    <a:lnR w="0">
                      <a:noFill/>
                    </a:lnR>
                    <a:lnT w="0">
                      <a:noFill/>
                    </a:lnT>
                    <a:lnB w="9525">
                      <a:solidFill>
                        <a:srgbClr val="E2E4E7"/>
                      </a:solidFill>
                    </a:lnB>
                    <a:noFill/>
                  </a:tcPr>
                </a:tc>
                <a:tc>
                  <a:txBody>
                    <a:bodyPr wrap="square"/>
                    <a:lstStyle/>
                    <a:p>
                      <a:pPr algn="l">
                        <a:lnSpc>
                          <a:spcPct val="100000"/>
                        </a:lnSpc>
                      </a:pPr>
                      <a:r>
                        <a:rPr sz="1150" b="0">
                          <a:solidFill>
                            <a:srgbClr val="15171A"/>
                          </a:solidFill>
                          <a:latin typeface="Noto Sans KR"/>
                          <a:ea typeface="Noto Sans KR"/>
                          <a:cs typeface="Noto Sans KR"/>
                        </a:rPr>
                        <a:t>기존 수치 대비 감소 (PoC 측정)</a:t>
                      </a:r>
                    </a:p>
                  </a:txBody>
                  <a:tcPr marL="73152" marR="73152" marT="50292" marB="50292" anchor="t">
                    <a:lnL w="0">
                      <a:noFill/>
                    </a:lnL>
                    <a:lnR w="0">
                      <a:noFill/>
                    </a:lnR>
                    <a:lnT w="0">
                      <a:noFill/>
                    </a:lnT>
                    <a:lnB w="9525">
                      <a:solidFill>
                        <a:srgbClr val="E2E4E7"/>
                      </a:solidFill>
                    </a:lnB>
                    <a:noFill/>
                  </a:tcPr>
                </a:tc>
                <a:tc>
                  <a:txBody>
                    <a:bodyPr wrap="square"/>
                    <a:lstStyle/>
                    <a:p>
                      <a:pPr algn="l">
                        <a:lnSpc>
                          <a:spcPct val="100000"/>
                        </a:lnSpc>
                      </a:pPr>
                      <a:r>
                        <a:rPr sz="1150" b="0">
                          <a:solidFill>
                            <a:srgbClr val="15171A"/>
                          </a:solidFill>
                          <a:latin typeface="Noto Sans KR"/>
                          <a:ea typeface="Noto Sans KR"/>
                          <a:cs typeface="Noto Sans KR"/>
                        </a:rPr>
                        <a:t>재료 보충·복구 포함, 임의 목표치 없음</a:t>
                      </a:r>
                    </a:p>
                  </a:txBody>
                  <a:tcPr marL="73152" marR="73152" marT="50292" marB="50292" anchor="t">
                    <a:lnL w="0">
                      <a:noFill/>
                    </a:lnL>
                    <a:lnR w="0">
                      <a:noFill/>
                    </a:lnR>
                    <a:lnT w="0">
                      <a:noFill/>
                    </a:lnT>
                    <a:lnB w="9525">
                      <a:solidFill>
                        <a:srgbClr val="E2E4E7"/>
                      </a:solidFill>
                    </a:lnB>
                    <a:noFill/>
                  </a:tcPr>
                </a:tc>
              </a:tr>
              <a:tr h="321208">
                <a:tc>
                  <a:txBody>
                    <a:bodyPr wrap="square"/>
                    <a:lstStyle/>
                    <a:p>
                      <a:pPr algn="l">
                        <a:lnSpc>
                          <a:spcPct val="100000"/>
                        </a:lnSpc>
                      </a:pPr>
                      <a:r>
                        <a:rPr sz="1150" b="1">
                          <a:solidFill>
                            <a:srgbClr val="8C9198"/>
                          </a:solidFill>
                          <a:latin typeface="Noto Sans KR"/>
                          <a:ea typeface="Noto Sans KR"/>
                          <a:cs typeface="Noto Sans KR"/>
                        </a:rPr>
                        <a:t>연구 트랙 (점검 제외)</a:t>
                      </a:r>
                    </a:p>
                  </a:txBody>
                  <a:tcPr marL="73152" marR="73152" marT="50292" marB="50292" anchor="t">
                    <a:lnL w="0">
                      <a:noFill/>
                    </a:lnL>
                    <a:lnR w="0">
                      <a:noFill/>
                    </a:lnR>
                    <a:lnT w="0">
                      <a:noFill/>
                    </a:lnT>
                    <a:lnB w="9525">
                      <a:solidFill>
                        <a:srgbClr val="E2E4E7"/>
                      </a:solidFill>
                    </a:lnB>
                    <a:noFill/>
                  </a:tcPr>
                </a:tc>
                <a:tc>
                  <a:txBody>
                    <a:bodyPr wrap="square"/>
                    <a:lstStyle/>
                    <a:p>
                      <a:pPr algn="l">
                        <a:lnSpc>
                          <a:spcPct val="100000"/>
                        </a:lnSpc>
                      </a:pPr>
                      <a:r>
                        <a:rPr sz="1150" b="0">
                          <a:solidFill>
                            <a:srgbClr val="15171A"/>
                          </a:solidFill>
                          <a:latin typeface="Noto Sans KR"/>
                          <a:ea typeface="Noto Sans KR"/>
                          <a:cs typeface="Noto Sans KR"/>
                        </a:rPr>
                        <a:t>스크루드라이버 저토크 체결 데모</a:t>
                      </a:r>
                    </a:p>
                  </a:txBody>
                  <a:tcPr marL="73152" marR="73152" marT="50292" marB="50292" anchor="t">
                    <a:lnL w="0">
                      <a:noFill/>
                    </a:lnL>
                    <a:lnR w="0">
                      <a:noFill/>
                    </a:lnR>
                    <a:lnT w="0">
                      <a:noFill/>
                    </a:lnT>
                    <a:lnB w="9525">
                      <a:solidFill>
                        <a:srgbClr val="E2E4E7"/>
                      </a:solidFill>
                    </a:lnB>
                    <a:noFill/>
                  </a:tcPr>
                </a:tc>
                <a:tc>
                  <a:txBody>
                    <a:bodyPr wrap="square"/>
                    <a:lstStyle/>
                    <a:p>
                      <a:pPr algn="l">
                        <a:lnSpc>
                          <a:spcPct val="100000"/>
                        </a:lnSpc>
                      </a:pPr>
                      <a:r>
                        <a:rPr sz="1150" b="0">
                          <a:solidFill>
                            <a:srgbClr val="15171A"/>
                          </a:solidFill>
                          <a:latin typeface="Noto Sans KR"/>
                          <a:ea typeface="Noto Sans KR"/>
                          <a:cs typeface="Noto Sans KR"/>
                        </a:rPr>
                        <a:t>썰기·유연체 등 고난도 작업</a:t>
                      </a:r>
                    </a:p>
                  </a:txBody>
                  <a:tcPr marL="73152" marR="73152" marT="50292" marB="50292" anchor="t">
                    <a:lnL w="0">
                      <a:noFill/>
                    </a:lnL>
                    <a:lnR w="0">
                      <a:noFill/>
                    </a:lnR>
                    <a:lnT w="0">
                      <a:noFill/>
                    </a:lnT>
                    <a:lnB w="9525">
                      <a:solidFill>
                        <a:srgbClr val="E2E4E7"/>
                      </a:solidFill>
                    </a:lnB>
                    <a:noFill/>
                  </a:tcPr>
                </a:tc>
                <a:tc>
                  <a:txBody>
                    <a:bodyPr wrap="square"/>
                    <a:lstStyle/>
                    <a:p>
                      <a:pPr algn="l">
                        <a:lnSpc>
                          <a:spcPct val="100000"/>
                        </a:lnSpc>
                      </a:pPr>
                      <a:r>
                        <a:rPr sz="1150" b="0">
                          <a:solidFill>
                            <a:srgbClr val="15171A"/>
                          </a:solidFill>
                          <a:latin typeface="Noto Sans KR"/>
                          <a:ea typeface="Noto Sans KR"/>
                          <a:cs typeface="Noto Sans KR"/>
                        </a:rPr>
                        <a:t>Seed 성공 조건이 아닌 기술 트랙</a:t>
                      </a:r>
                    </a:p>
                  </a:txBody>
                  <a:tcPr marL="73152" marR="73152" marT="50292" marB="50292" anchor="t">
                    <a:lnL w="0">
                      <a:noFill/>
                    </a:lnL>
                    <a:lnR w="0">
                      <a:noFill/>
                    </a:lnR>
                    <a:lnT w="0">
                      <a:noFill/>
                    </a:lnT>
                    <a:lnB w="9525">
                      <a:solidFill>
                        <a:srgbClr val="E2E4E7"/>
                      </a:solidFill>
                    </a:lnB>
                    <a:noFill/>
                  </a:tcPr>
                </a:tc>
              </a:tr>
            </a:tbl>
          </a:graphicData>
        </a:graphic>
      </p:graphicFrame>
      <p:sp>
        <p:nvSpPr>
          <p:cNvPr id="6" name="TextBox 5"/>
          <p:cNvSpPr txBox="1"/>
          <p:nvPr/>
        </p:nvSpPr>
        <p:spPr>
          <a:xfrm>
            <a:off x="685800" y="6446520"/>
            <a:ext cx="5486400" cy="201168"/>
          </a:xfrm>
          <a:prstGeom prst="rect">
            <a:avLst/>
          </a:prstGeom>
          <a:noFill/>
        </p:spPr>
        <p:txBody>
          <a:bodyPr wrap="square" lIns="0" rIns="0" tIns="0" bIns="0" anchor="t">
            <a:spAutoFit/>
          </a:bodyPr>
          <a:lstStyle/>
          <a:p>
            <a:pPr algn="l">
              <a:lnSpc>
                <a:spcPct val="100000"/>
              </a:lnSpc>
            </a:pPr>
            <a:r>
              <a:rPr sz="900" b="0">
                <a:solidFill>
                  <a:srgbClr val="8C9198"/>
                </a:solidFill>
                <a:latin typeface="Noto Sans KR"/>
                <a:ea typeface="Noto Sans KR"/>
                <a:cs typeface="Noto Sans KR"/>
              </a:rPr>
              <a:t>SoftHand  |  주방 로봇 조작 플랫폼  |  Seed 투자 제안서</a:t>
            </a:r>
          </a:p>
        </p:txBody>
      </p:sp>
      <p:sp>
        <p:nvSpPr>
          <p:cNvPr id="7" name="TextBox 6"/>
          <p:cNvSpPr txBox="1"/>
          <p:nvPr/>
        </p:nvSpPr>
        <p:spPr>
          <a:xfrm>
            <a:off x="3154680" y="6446520"/>
            <a:ext cx="7802575" cy="201168"/>
          </a:xfrm>
          <a:prstGeom prst="rect">
            <a:avLst/>
          </a:prstGeom>
          <a:noFill/>
        </p:spPr>
        <p:txBody>
          <a:bodyPr wrap="square" lIns="0" rIns="0" tIns="0" bIns="0" anchor="t">
            <a:spAutoFit/>
          </a:bodyPr>
          <a:lstStyle/>
          <a:p>
            <a:pPr algn="r">
              <a:lnSpc>
                <a:spcPct val="100000"/>
              </a:lnSpc>
            </a:pPr>
            <a:r>
              <a:rPr sz="900" b="0">
                <a:solidFill>
                  <a:srgbClr val="8C9198"/>
                </a:solidFill>
                <a:latin typeface="Noto Sans KR"/>
                <a:ea typeface="Noto Sans KR"/>
                <a:cs typeface="Noto Sans KR"/>
              </a:rPr>
              <a:t>수치는 기존 계획(머신텐딩 기준)을 주방 검증 대상에 그대로 적용 · 속도·위생·온도 지표는 PoC 설계 시 추가</a:t>
            </a:r>
          </a:p>
        </p:txBody>
      </p:sp>
      <p:sp>
        <p:nvSpPr>
          <p:cNvPr id="8" name="TextBox 7"/>
          <p:cNvSpPr txBox="1"/>
          <p:nvPr/>
        </p:nvSpPr>
        <p:spPr>
          <a:xfrm>
            <a:off x="11048695" y="6446520"/>
            <a:ext cx="457200" cy="201168"/>
          </a:xfrm>
          <a:prstGeom prst="rect">
            <a:avLst/>
          </a:prstGeom>
          <a:noFill/>
        </p:spPr>
        <p:txBody>
          <a:bodyPr wrap="square" lIns="0" rIns="0" tIns="0" bIns="0" anchor="t">
            <a:spAutoFit/>
          </a:bodyPr>
          <a:lstStyle/>
          <a:p>
            <a:pPr algn="r">
              <a:lnSpc>
                <a:spcPct val="100000"/>
              </a:lnSpc>
            </a:pPr>
            <a:r>
              <a:rPr sz="900" b="0">
                <a:solidFill>
                  <a:srgbClr val="8C9198"/>
                </a:solidFill>
                <a:latin typeface="Noto Sans KR"/>
                <a:ea typeface="Noto Sans KR"/>
                <a:cs typeface="Noto Sans KR"/>
              </a:rPr>
              <a:t>A4</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502920"/>
            <a:ext cx="7315200" cy="256032"/>
          </a:xfrm>
          <a:prstGeom prst="rect">
            <a:avLst/>
          </a:prstGeom>
          <a:noFill/>
        </p:spPr>
        <p:txBody>
          <a:bodyPr wrap="square" lIns="0" rIns="0" tIns="0" bIns="0" anchor="t">
            <a:spAutoFit/>
          </a:bodyPr>
          <a:lstStyle/>
          <a:p>
            <a:pPr algn="l">
              <a:lnSpc>
                <a:spcPct val="100000"/>
              </a:lnSpc>
            </a:pPr>
            <a:r>
              <a:rPr sz="1100" b="1">
                <a:solidFill>
                  <a:srgbClr val="E2571B"/>
                </a:solidFill>
                <a:latin typeface="Noto Sans KR"/>
                <a:ea typeface="Noto Sans KR"/>
                <a:cs typeface="Noto Sans KR"/>
              </a:rPr>
              <a:t>부록 A5</a:t>
            </a:r>
          </a:p>
        </p:txBody>
      </p:sp>
      <p:sp>
        <p:nvSpPr>
          <p:cNvPr id="3" name="TextBox 2"/>
          <p:cNvSpPr txBox="1"/>
          <p:nvPr/>
        </p:nvSpPr>
        <p:spPr>
          <a:xfrm>
            <a:off x="685800" y="822960"/>
            <a:ext cx="10820095" cy="475488"/>
          </a:xfrm>
          <a:prstGeom prst="rect">
            <a:avLst/>
          </a:prstGeom>
          <a:noFill/>
        </p:spPr>
        <p:txBody>
          <a:bodyPr wrap="square" lIns="0" rIns="0" tIns="0" bIns="0" anchor="t">
            <a:spAutoFit/>
          </a:bodyPr>
          <a:lstStyle/>
          <a:p>
            <a:pPr algn="l">
              <a:lnSpc>
                <a:spcPct val="95000"/>
              </a:lnSpc>
            </a:pPr>
            <a:r>
              <a:rPr sz="2600" b="1">
                <a:solidFill>
                  <a:srgbClr val="15171A"/>
                </a:solidFill>
                <a:latin typeface="Noto Sans KR"/>
                <a:ea typeface="Noto Sans KR"/>
                <a:cs typeface="Noto Sans KR"/>
              </a:rPr>
              <a:t>산업 검증 트랙: 머신텐딩</a:t>
            </a:r>
          </a:p>
        </p:txBody>
      </p:sp>
      <p:sp>
        <p:nvSpPr>
          <p:cNvPr id="4" name="TextBox 3"/>
          <p:cNvSpPr txBox="1"/>
          <p:nvPr/>
        </p:nvSpPr>
        <p:spPr>
          <a:xfrm>
            <a:off x="685800" y="1353312"/>
            <a:ext cx="10820095" cy="274320"/>
          </a:xfrm>
          <a:prstGeom prst="rect">
            <a:avLst/>
          </a:prstGeom>
          <a:noFill/>
        </p:spPr>
        <p:txBody>
          <a:bodyPr wrap="square" lIns="0" rIns="0" tIns="0" bIns="0" anchor="t">
            <a:spAutoFit/>
          </a:bodyPr>
          <a:lstStyle/>
          <a:p>
            <a:pPr algn="l">
              <a:lnSpc>
                <a:spcPct val="100000"/>
              </a:lnSpc>
            </a:pPr>
            <a:r>
              <a:rPr sz="1300" b="0">
                <a:solidFill>
                  <a:srgbClr val="4A4F57"/>
                </a:solidFill>
                <a:latin typeface="Noto Sans KR"/>
                <a:ea typeface="Noto Sans KR"/>
                <a:cs typeface="Noto Sans KR"/>
              </a:rPr>
              <a:t>주 시장이 아닌 Testbed · 높은 반복 조건에서 SoftHand의 기본 성능을 검증</a:t>
            </a:r>
          </a:p>
        </p:txBody>
      </p:sp>
      <p:pic>
        <p:nvPicPr>
          <p:cNvPr id="5" name="Picture 4" descr="s1_door_color_light_209x145_50_50_100.jpg"/>
          <p:cNvPicPr>
            <a:picLocks noChangeAspect="1"/>
          </p:cNvPicPr>
          <p:nvPr/>
        </p:nvPicPr>
        <p:blipFill>
          <a:blip r:embed="rId2"/>
          <a:stretch>
            <a:fillRect/>
          </a:stretch>
        </p:blipFill>
        <p:spPr>
          <a:xfrm>
            <a:off x="685800" y="1874519"/>
            <a:ext cx="1914144" cy="1325880"/>
          </a:xfrm>
          <a:prstGeom prst="rect">
            <a:avLst/>
          </a:prstGeom>
        </p:spPr>
      </p:pic>
      <p:sp>
        <p:nvSpPr>
          <p:cNvPr id="6" name="TextBox 5"/>
          <p:cNvSpPr txBox="1"/>
          <p:nvPr/>
        </p:nvSpPr>
        <p:spPr>
          <a:xfrm>
            <a:off x="685800" y="3273552"/>
            <a:ext cx="1914144" cy="256032"/>
          </a:xfrm>
          <a:prstGeom prst="rect">
            <a:avLst/>
          </a:prstGeom>
          <a:noFill/>
        </p:spPr>
        <p:txBody>
          <a:bodyPr wrap="square" lIns="0" rIns="0" tIns="0" bIns="0" anchor="t">
            <a:spAutoFit/>
          </a:bodyPr>
          <a:lstStyle/>
          <a:p>
            <a:pPr algn="l">
              <a:lnSpc>
                <a:spcPct val="100000"/>
              </a:lnSpc>
            </a:pPr>
            <a:r>
              <a:rPr sz="1200" b="1">
                <a:solidFill>
                  <a:srgbClr val="E2571B"/>
                </a:solidFill>
                <a:latin typeface="Noto Sans KR"/>
                <a:ea typeface="Noto Sans KR"/>
                <a:cs typeface="Noto Sans KR"/>
              </a:rPr>
              <a:t>1  </a:t>
            </a:r>
            <a:r>
              <a:rPr sz="1200" b="1">
                <a:solidFill>
                  <a:srgbClr val="15171A"/>
                </a:solidFill>
                <a:latin typeface="Noto Sans KR"/>
                <a:ea typeface="Noto Sans KR"/>
                <a:cs typeface="Noto Sans KR"/>
              </a:rPr>
              <a:t>문 열기</a:t>
            </a:r>
          </a:p>
        </p:txBody>
      </p:sp>
      <p:pic>
        <p:nvPicPr>
          <p:cNvPr id="7" name="Picture 6" descr="s2_pick_color_light_209x145_50_50_100.jpg"/>
          <p:cNvPicPr>
            <a:picLocks noChangeAspect="1"/>
          </p:cNvPicPr>
          <p:nvPr/>
        </p:nvPicPr>
        <p:blipFill>
          <a:blip r:embed="rId3"/>
          <a:stretch>
            <a:fillRect/>
          </a:stretch>
        </p:blipFill>
        <p:spPr>
          <a:xfrm>
            <a:off x="2746248" y="1874519"/>
            <a:ext cx="1914144" cy="1325880"/>
          </a:xfrm>
          <a:prstGeom prst="rect">
            <a:avLst/>
          </a:prstGeom>
        </p:spPr>
      </p:pic>
      <p:sp>
        <p:nvSpPr>
          <p:cNvPr id="8" name="TextBox 7"/>
          <p:cNvSpPr txBox="1"/>
          <p:nvPr/>
        </p:nvSpPr>
        <p:spPr>
          <a:xfrm>
            <a:off x="2746248" y="3273552"/>
            <a:ext cx="1914144" cy="256032"/>
          </a:xfrm>
          <a:prstGeom prst="rect">
            <a:avLst/>
          </a:prstGeom>
          <a:noFill/>
        </p:spPr>
        <p:txBody>
          <a:bodyPr wrap="square" lIns="0" rIns="0" tIns="0" bIns="0" anchor="t">
            <a:spAutoFit/>
          </a:bodyPr>
          <a:lstStyle/>
          <a:p>
            <a:pPr algn="l">
              <a:lnSpc>
                <a:spcPct val="100000"/>
              </a:lnSpc>
            </a:pPr>
            <a:r>
              <a:rPr sz="1200" b="1">
                <a:solidFill>
                  <a:srgbClr val="E2571B"/>
                </a:solidFill>
                <a:latin typeface="Noto Sans KR"/>
                <a:ea typeface="Noto Sans KR"/>
                <a:cs typeface="Noto Sans KR"/>
              </a:rPr>
              <a:t>2  </a:t>
            </a:r>
            <a:r>
              <a:rPr sz="1200" b="1">
                <a:solidFill>
                  <a:srgbClr val="15171A"/>
                </a:solidFill>
                <a:latin typeface="Noto Sans KR"/>
                <a:ea typeface="Noto Sans KR"/>
                <a:cs typeface="Noto Sans KR"/>
              </a:rPr>
              <a:t>소재 집기</a:t>
            </a:r>
          </a:p>
        </p:txBody>
      </p:sp>
      <p:pic>
        <p:nvPicPr>
          <p:cNvPr id="9" name="Picture 8" descr="s3_load_color_light_209x145_50_50_100.jpg"/>
          <p:cNvPicPr>
            <a:picLocks noChangeAspect="1"/>
          </p:cNvPicPr>
          <p:nvPr/>
        </p:nvPicPr>
        <p:blipFill>
          <a:blip r:embed="rId4"/>
          <a:stretch>
            <a:fillRect/>
          </a:stretch>
        </p:blipFill>
        <p:spPr>
          <a:xfrm>
            <a:off x="4806696" y="1874519"/>
            <a:ext cx="1914144" cy="1325880"/>
          </a:xfrm>
          <a:prstGeom prst="rect">
            <a:avLst/>
          </a:prstGeom>
        </p:spPr>
      </p:pic>
      <p:sp>
        <p:nvSpPr>
          <p:cNvPr id="10" name="TextBox 9"/>
          <p:cNvSpPr txBox="1"/>
          <p:nvPr/>
        </p:nvSpPr>
        <p:spPr>
          <a:xfrm>
            <a:off x="4806696" y="3273552"/>
            <a:ext cx="1914144" cy="256032"/>
          </a:xfrm>
          <a:prstGeom prst="rect">
            <a:avLst/>
          </a:prstGeom>
          <a:noFill/>
        </p:spPr>
        <p:txBody>
          <a:bodyPr wrap="square" lIns="0" rIns="0" tIns="0" bIns="0" anchor="t">
            <a:spAutoFit/>
          </a:bodyPr>
          <a:lstStyle/>
          <a:p>
            <a:pPr algn="l">
              <a:lnSpc>
                <a:spcPct val="100000"/>
              </a:lnSpc>
            </a:pPr>
            <a:r>
              <a:rPr sz="1200" b="1">
                <a:solidFill>
                  <a:srgbClr val="E2571B"/>
                </a:solidFill>
                <a:latin typeface="Noto Sans KR"/>
                <a:ea typeface="Noto Sans KR"/>
                <a:cs typeface="Noto Sans KR"/>
              </a:rPr>
              <a:t>3  </a:t>
            </a:r>
            <a:r>
              <a:rPr sz="1200" b="1">
                <a:solidFill>
                  <a:srgbClr val="15171A"/>
                </a:solidFill>
                <a:latin typeface="Noto Sans KR"/>
                <a:ea typeface="Noto Sans KR"/>
                <a:cs typeface="Noto Sans KR"/>
              </a:rPr>
              <a:t>기계에 넣기</a:t>
            </a:r>
          </a:p>
        </p:txBody>
      </p:sp>
      <p:pic>
        <p:nvPicPr>
          <p:cNvPr id="11" name="Picture 10" descr="s4_press_color_light_209x145_50_50_100.jpg"/>
          <p:cNvPicPr>
            <a:picLocks noChangeAspect="1"/>
          </p:cNvPicPr>
          <p:nvPr/>
        </p:nvPicPr>
        <p:blipFill>
          <a:blip r:embed="rId5"/>
          <a:stretch>
            <a:fillRect/>
          </a:stretch>
        </p:blipFill>
        <p:spPr>
          <a:xfrm>
            <a:off x="685800" y="3657600"/>
            <a:ext cx="1914144" cy="1325880"/>
          </a:xfrm>
          <a:prstGeom prst="rect">
            <a:avLst/>
          </a:prstGeom>
        </p:spPr>
      </p:pic>
      <p:sp>
        <p:nvSpPr>
          <p:cNvPr id="12" name="TextBox 11"/>
          <p:cNvSpPr txBox="1"/>
          <p:nvPr/>
        </p:nvSpPr>
        <p:spPr>
          <a:xfrm>
            <a:off x="685800" y="5056632"/>
            <a:ext cx="1914144" cy="256032"/>
          </a:xfrm>
          <a:prstGeom prst="rect">
            <a:avLst/>
          </a:prstGeom>
          <a:noFill/>
        </p:spPr>
        <p:txBody>
          <a:bodyPr wrap="square" lIns="0" rIns="0" tIns="0" bIns="0" anchor="t">
            <a:spAutoFit/>
          </a:bodyPr>
          <a:lstStyle/>
          <a:p>
            <a:pPr algn="l">
              <a:lnSpc>
                <a:spcPct val="100000"/>
              </a:lnSpc>
            </a:pPr>
            <a:r>
              <a:rPr sz="1200" b="1">
                <a:solidFill>
                  <a:srgbClr val="E2571B"/>
                </a:solidFill>
                <a:latin typeface="Noto Sans KR"/>
                <a:ea typeface="Noto Sans KR"/>
                <a:cs typeface="Noto Sans KR"/>
              </a:rPr>
              <a:t>4  </a:t>
            </a:r>
            <a:r>
              <a:rPr sz="1200" b="1">
                <a:solidFill>
                  <a:srgbClr val="15171A"/>
                </a:solidFill>
                <a:latin typeface="Noto Sans KR"/>
                <a:ea typeface="Noto Sans KR"/>
                <a:cs typeface="Noto Sans KR"/>
              </a:rPr>
              <a:t>버튼 누르기</a:t>
            </a:r>
          </a:p>
        </p:txBody>
      </p:sp>
      <p:pic>
        <p:nvPicPr>
          <p:cNvPr id="13" name="Picture 12" descr="s5_unload_color_light_209x145_50_50_100.jpg"/>
          <p:cNvPicPr>
            <a:picLocks noChangeAspect="1"/>
          </p:cNvPicPr>
          <p:nvPr/>
        </p:nvPicPr>
        <p:blipFill>
          <a:blip r:embed="rId6"/>
          <a:stretch>
            <a:fillRect/>
          </a:stretch>
        </p:blipFill>
        <p:spPr>
          <a:xfrm>
            <a:off x="2746248" y="3657600"/>
            <a:ext cx="1914144" cy="1325880"/>
          </a:xfrm>
          <a:prstGeom prst="rect">
            <a:avLst/>
          </a:prstGeom>
        </p:spPr>
      </p:pic>
      <p:sp>
        <p:nvSpPr>
          <p:cNvPr id="14" name="TextBox 13"/>
          <p:cNvSpPr txBox="1"/>
          <p:nvPr/>
        </p:nvSpPr>
        <p:spPr>
          <a:xfrm>
            <a:off x="2746248" y="5056632"/>
            <a:ext cx="1914144" cy="256032"/>
          </a:xfrm>
          <a:prstGeom prst="rect">
            <a:avLst/>
          </a:prstGeom>
          <a:noFill/>
        </p:spPr>
        <p:txBody>
          <a:bodyPr wrap="square" lIns="0" rIns="0" tIns="0" bIns="0" anchor="t">
            <a:spAutoFit/>
          </a:bodyPr>
          <a:lstStyle/>
          <a:p>
            <a:pPr algn="l">
              <a:lnSpc>
                <a:spcPct val="100000"/>
              </a:lnSpc>
            </a:pPr>
            <a:r>
              <a:rPr sz="1200" b="1">
                <a:solidFill>
                  <a:srgbClr val="E2571B"/>
                </a:solidFill>
                <a:latin typeface="Noto Sans KR"/>
                <a:ea typeface="Noto Sans KR"/>
                <a:cs typeface="Noto Sans KR"/>
              </a:rPr>
              <a:t>5  </a:t>
            </a:r>
            <a:r>
              <a:rPr sz="1200" b="1">
                <a:solidFill>
                  <a:srgbClr val="15171A"/>
                </a:solidFill>
                <a:latin typeface="Noto Sans KR"/>
                <a:ea typeface="Noto Sans KR"/>
                <a:cs typeface="Noto Sans KR"/>
              </a:rPr>
              <a:t>완성품 꺼내기</a:t>
            </a:r>
          </a:p>
        </p:txBody>
      </p:sp>
      <p:pic>
        <p:nvPicPr>
          <p:cNvPr id="15" name="Picture 14" descr="s6_close_color_light_209x145_50_50_100.jpg"/>
          <p:cNvPicPr>
            <a:picLocks noChangeAspect="1"/>
          </p:cNvPicPr>
          <p:nvPr/>
        </p:nvPicPr>
        <p:blipFill>
          <a:blip r:embed="rId7"/>
          <a:stretch>
            <a:fillRect/>
          </a:stretch>
        </p:blipFill>
        <p:spPr>
          <a:xfrm>
            <a:off x="4806696" y="3657600"/>
            <a:ext cx="1914144" cy="1325880"/>
          </a:xfrm>
          <a:prstGeom prst="rect">
            <a:avLst/>
          </a:prstGeom>
        </p:spPr>
      </p:pic>
      <p:sp>
        <p:nvSpPr>
          <p:cNvPr id="16" name="TextBox 15"/>
          <p:cNvSpPr txBox="1"/>
          <p:nvPr/>
        </p:nvSpPr>
        <p:spPr>
          <a:xfrm>
            <a:off x="4806696" y="5056632"/>
            <a:ext cx="1914144" cy="256032"/>
          </a:xfrm>
          <a:prstGeom prst="rect">
            <a:avLst/>
          </a:prstGeom>
          <a:noFill/>
        </p:spPr>
        <p:txBody>
          <a:bodyPr wrap="square" lIns="0" rIns="0" tIns="0" bIns="0" anchor="t">
            <a:spAutoFit/>
          </a:bodyPr>
          <a:lstStyle/>
          <a:p>
            <a:pPr algn="l">
              <a:lnSpc>
                <a:spcPct val="100000"/>
              </a:lnSpc>
            </a:pPr>
            <a:r>
              <a:rPr sz="1200" b="1">
                <a:solidFill>
                  <a:srgbClr val="E2571B"/>
                </a:solidFill>
                <a:latin typeface="Noto Sans KR"/>
                <a:ea typeface="Noto Sans KR"/>
                <a:cs typeface="Noto Sans KR"/>
              </a:rPr>
              <a:t>6  </a:t>
            </a:r>
            <a:r>
              <a:rPr sz="1200" b="1">
                <a:solidFill>
                  <a:srgbClr val="15171A"/>
                </a:solidFill>
                <a:latin typeface="Noto Sans KR"/>
                <a:ea typeface="Noto Sans KR"/>
                <a:cs typeface="Noto Sans KR"/>
              </a:rPr>
              <a:t>문 닫기</a:t>
            </a:r>
          </a:p>
        </p:txBody>
      </p:sp>
      <p:sp>
        <p:nvSpPr>
          <p:cNvPr id="17" name="TextBox 16"/>
          <p:cNvSpPr txBox="1"/>
          <p:nvPr/>
        </p:nvSpPr>
        <p:spPr>
          <a:xfrm>
            <a:off x="685800" y="5440680"/>
            <a:ext cx="6035040" cy="237744"/>
          </a:xfrm>
          <a:prstGeom prst="rect">
            <a:avLst/>
          </a:prstGeom>
          <a:noFill/>
        </p:spPr>
        <p:txBody>
          <a:bodyPr wrap="square" lIns="0" rIns="0" tIns="0" bIns="0" anchor="t">
            <a:spAutoFit/>
          </a:bodyPr>
          <a:lstStyle/>
          <a:p>
            <a:pPr algn="l">
              <a:lnSpc>
                <a:spcPct val="100000"/>
              </a:lnSpc>
            </a:pPr>
            <a:r>
              <a:rPr sz="1000" b="0">
                <a:solidFill>
                  <a:srgbClr val="8C9198"/>
                </a:solidFill>
                <a:latin typeface="Noto Sans KR"/>
                <a:ea typeface="Noto Sans KR"/>
                <a:cs typeface="Noto Sans KR"/>
              </a:rPr>
              <a:t>공작기계 소재 투입·배출 6단계 (콘셉트 렌더링, 기존 덱 05장)</a:t>
            </a:r>
          </a:p>
        </p:txBody>
      </p:sp>
      <p:sp>
        <p:nvSpPr>
          <p:cNvPr id="18" name="TextBox 17"/>
          <p:cNvSpPr txBox="1"/>
          <p:nvPr/>
        </p:nvSpPr>
        <p:spPr>
          <a:xfrm>
            <a:off x="7178040" y="1874519"/>
            <a:ext cx="4327855" cy="274320"/>
          </a:xfrm>
          <a:prstGeom prst="rect">
            <a:avLst/>
          </a:prstGeom>
          <a:noFill/>
        </p:spPr>
        <p:txBody>
          <a:bodyPr wrap="square" lIns="0" rIns="0" tIns="0" bIns="0" anchor="t">
            <a:spAutoFit/>
          </a:bodyPr>
          <a:lstStyle/>
          <a:p>
            <a:pPr algn="l">
              <a:lnSpc>
                <a:spcPct val="100000"/>
              </a:lnSpc>
            </a:pPr>
            <a:r>
              <a:rPr sz="1300" b="1">
                <a:solidFill>
                  <a:srgbClr val="15171A"/>
                </a:solidFill>
                <a:latin typeface="Noto Sans KR"/>
                <a:ea typeface="Noto Sans KR"/>
                <a:cs typeface="Noto Sans KR"/>
              </a:rPr>
              <a:t>역할</a:t>
            </a:r>
          </a:p>
        </p:txBody>
      </p:sp>
      <p:cxnSp>
        <p:nvCxnSpPr>
          <p:cNvPr id="19" name="Connector 18"/>
          <p:cNvCxnSpPr/>
          <p:nvPr/>
        </p:nvCxnSpPr>
        <p:spPr>
          <a:xfrm>
            <a:off x="7178040" y="2203703"/>
            <a:ext cx="4327855" cy="0"/>
          </a:xfrm>
          <a:prstGeom prst="line">
            <a:avLst/>
          </a:prstGeom>
          <a:ln w="12700">
            <a:solidFill>
              <a:srgbClr val="15171A"/>
            </a:solidFill>
          </a:ln>
        </p:spPr>
      </p:cxnSp>
      <p:sp>
        <p:nvSpPr>
          <p:cNvPr id="20" name="TextBox 19"/>
          <p:cNvSpPr txBox="1"/>
          <p:nvPr/>
        </p:nvSpPr>
        <p:spPr>
          <a:xfrm>
            <a:off x="7178040" y="2313432"/>
            <a:ext cx="4327855" cy="942441"/>
          </a:xfrm>
          <a:prstGeom prst="rect">
            <a:avLst/>
          </a:prstGeom>
          <a:noFill/>
        </p:spPr>
        <p:txBody>
          <a:bodyPr wrap="square" lIns="0" rIns="0" tIns="0" bIns="0" anchor="t">
            <a:spAutoFit/>
          </a:bodyPr>
          <a:lstStyle/>
          <a:p>
            <a:pPr algn="l" marL="164592" indent="-164592">
              <a:lnSpc>
                <a:spcPct val="100000"/>
              </a:lnSpc>
              <a:spcAft>
                <a:spcPts val="400"/>
              </a:spcAft>
              <a:buClr>
                <a:srgbClr val="8C9198"/>
              </a:buClr>
              <a:buFont typeface="Noto Sans KR"/>
              <a:buChar char="•"/>
            </a:pPr>
            <a:r>
              <a:rPr sz="1150" b="0">
                <a:solidFill>
                  <a:srgbClr val="4A4F57"/>
                </a:solidFill>
                <a:latin typeface="Noto Sans KR"/>
                <a:ea typeface="Noto Sans KR"/>
                <a:cs typeface="Noto Sans KR"/>
              </a:rPr>
              <a:t>파지 · 문 개폐 · 버튼 · 레버 · 노브 · 토크 · 반복성 · 산업 내구성을 높은 반복 조건에서 시험</a:t>
            </a:r>
          </a:p>
          <a:p>
            <a:pPr algn="l" marL="164592" indent="-164592">
              <a:lnSpc>
                <a:spcPct val="100000"/>
              </a:lnSpc>
              <a:buClr>
                <a:srgbClr val="8C9198"/>
              </a:buClr>
              <a:buFont typeface="Noto Sans KR"/>
              <a:buChar char="•"/>
            </a:pPr>
            <a:r>
              <a:rPr sz="1150" b="0">
                <a:solidFill>
                  <a:srgbClr val="4A4F57"/>
                </a:solidFill>
                <a:latin typeface="Noto Sans KR"/>
                <a:ea typeface="Noto Sans KR"/>
                <a:cs typeface="Noto Sans KR"/>
              </a:rPr>
              <a:t>같은 핸드·Runtime·기본 조작(열기·집기·누르기·돌리기)을 주방 Skill 개발에 재사용</a:t>
            </a:r>
          </a:p>
        </p:txBody>
      </p:sp>
      <p:sp>
        <p:nvSpPr>
          <p:cNvPr id="21" name="TextBox 20"/>
          <p:cNvSpPr txBox="1"/>
          <p:nvPr/>
        </p:nvSpPr>
        <p:spPr>
          <a:xfrm>
            <a:off x="7178040" y="3438753"/>
            <a:ext cx="4327855" cy="274320"/>
          </a:xfrm>
          <a:prstGeom prst="rect">
            <a:avLst/>
          </a:prstGeom>
          <a:noFill/>
        </p:spPr>
        <p:txBody>
          <a:bodyPr wrap="square" lIns="0" rIns="0" tIns="0" bIns="0" anchor="t">
            <a:spAutoFit/>
          </a:bodyPr>
          <a:lstStyle/>
          <a:p>
            <a:pPr algn="l">
              <a:lnSpc>
                <a:spcPct val="100000"/>
              </a:lnSpc>
            </a:pPr>
            <a:r>
              <a:rPr sz="1300" b="1">
                <a:solidFill>
                  <a:srgbClr val="15171A"/>
                </a:solidFill>
                <a:latin typeface="Noto Sans KR"/>
                <a:ea typeface="Noto Sans KR"/>
                <a:cs typeface="Noto Sans KR"/>
              </a:rPr>
              <a:t>사업상 위치</a:t>
            </a:r>
          </a:p>
        </p:txBody>
      </p:sp>
      <p:cxnSp>
        <p:nvCxnSpPr>
          <p:cNvPr id="22" name="Connector 21"/>
          <p:cNvCxnSpPr/>
          <p:nvPr/>
        </p:nvCxnSpPr>
        <p:spPr>
          <a:xfrm>
            <a:off x="7178040" y="3767937"/>
            <a:ext cx="4327855" cy="0"/>
          </a:xfrm>
          <a:prstGeom prst="line">
            <a:avLst/>
          </a:prstGeom>
          <a:ln w="12700">
            <a:solidFill>
              <a:srgbClr val="15171A"/>
            </a:solidFill>
          </a:ln>
        </p:spPr>
      </p:cxnSp>
      <p:sp>
        <p:nvSpPr>
          <p:cNvPr id="23" name="TextBox 22"/>
          <p:cNvSpPr txBox="1"/>
          <p:nvPr/>
        </p:nvSpPr>
        <p:spPr>
          <a:xfrm>
            <a:off x="7178040" y="3877665"/>
            <a:ext cx="4327855" cy="730961"/>
          </a:xfrm>
          <a:prstGeom prst="rect">
            <a:avLst/>
          </a:prstGeom>
          <a:noFill/>
        </p:spPr>
        <p:txBody>
          <a:bodyPr wrap="square" lIns="0" rIns="0" tIns="0" bIns="0" anchor="t">
            <a:spAutoFit/>
          </a:bodyPr>
          <a:lstStyle/>
          <a:p>
            <a:pPr algn="l" marL="164592" indent="-164592">
              <a:lnSpc>
                <a:spcPct val="100000"/>
              </a:lnSpc>
              <a:spcAft>
                <a:spcPts val="400"/>
              </a:spcAft>
              <a:buClr>
                <a:srgbClr val="8C9198"/>
              </a:buClr>
              <a:buFont typeface="Noto Sans KR"/>
              <a:buChar char="•"/>
            </a:pPr>
            <a:r>
              <a:rPr sz="1150" b="0">
                <a:solidFill>
                  <a:srgbClr val="4A4F57"/>
                </a:solidFill>
                <a:latin typeface="Noto Sans KR"/>
                <a:ea typeface="Noto Sans KR"/>
                <a:cs typeface="Noto Sans KR"/>
              </a:rPr>
              <a:t>기존 계획의 산업 PoC·판매는 Base Case에 포함 (주방·산업 비중은 PoC 후 재산정)</a:t>
            </a:r>
          </a:p>
          <a:p>
            <a:pPr algn="l" marL="164592" indent="-164592">
              <a:lnSpc>
                <a:spcPct val="100000"/>
              </a:lnSpc>
              <a:buClr>
                <a:srgbClr val="8C9198"/>
              </a:buClr>
              <a:buFont typeface="Noto Sans KR"/>
              <a:buChar char="•"/>
            </a:pPr>
            <a:r>
              <a:rPr sz="1150" b="0">
                <a:solidFill>
                  <a:srgbClr val="4A4F57"/>
                </a:solidFill>
                <a:latin typeface="Noto Sans KR"/>
                <a:ea typeface="Noto Sans KR"/>
                <a:cs typeface="Noto Sans KR"/>
              </a:rPr>
              <a:t>회사 정체성은 Kitchen Robotics Platform, 머신텐딩은 검증 트랙</a:t>
            </a:r>
          </a:p>
        </p:txBody>
      </p:sp>
      <p:sp>
        <p:nvSpPr>
          <p:cNvPr id="24" name="TextBox 23"/>
          <p:cNvSpPr txBox="1"/>
          <p:nvPr/>
        </p:nvSpPr>
        <p:spPr>
          <a:xfrm>
            <a:off x="7178040" y="4791506"/>
            <a:ext cx="4327855" cy="274320"/>
          </a:xfrm>
          <a:prstGeom prst="rect">
            <a:avLst/>
          </a:prstGeom>
          <a:noFill/>
        </p:spPr>
        <p:txBody>
          <a:bodyPr wrap="square" lIns="0" rIns="0" tIns="0" bIns="0" anchor="t">
            <a:spAutoFit/>
          </a:bodyPr>
          <a:lstStyle/>
          <a:p>
            <a:pPr algn="l">
              <a:lnSpc>
                <a:spcPct val="100000"/>
              </a:lnSpc>
            </a:pPr>
            <a:r>
              <a:rPr sz="1300" b="1">
                <a:solidFill>
                  <a:srgbClr val="15171A"/>
                </a:solidFill>
                <a:latin typeface="Noto Sans KR"/>
                <a:ea typeface="Noto Sans KR"/>
                <a:cs typeface="Noto Sans KR"/>
              </a:rPr>
              <a:t>기존 덱 대비</a:t>
            </a:r>
          </a:p>
        </p:txBody>
      </p:sp>
      <p:cxnSp>
        <p:nvCxnSpPr>
          <p:cNvPr id="25" name="Connector 24"/>
          <p:cNvCxnSpPr/>
          <p:nvPr/>
        </p:nvCxnSpPr>
        <p:spPr>
          <a:xfrm>
            <a:off x="7178040" y="5120690"/>
            <a:ext cx="4327855" cy="0"/>
          </a:xfrm>
          <a:prstGeom prst="line">
            <a:avLst/>
          </a:prstGeom>
          <a:ln w="12700">
            <a:solidFill>
              <a:srgbClr val="15171A"/>
            </a:solidFill>
          </a:ln>
        </p:spPr>
      </p:cxnSp>
      <p:sp>
        <p:nvSpPr>
          <p:cNvPr id="26" name="TextBox 25"/>
          <p:cNvSpPr txBox="1"/>
          <p:nvPr/>
        </p:nvSpPr>
        <p:spPr>
          <a:xfrm>
            <a:off x="7178040" y="5230418"/>
            <a:ext cx="4327855" cy="468680"/>
          </a:xfrm>
          <a:prstGeom prst="rect">
            <a:avLst/>
          </a:prstGeom>
          <a:noFill/>
        </p:spPr>
        <p:txBody>
          <a:bodyPr wrap="square" lIns="0" rIns="0" tIns="0" bIns="0" anchor="t">
            <a:spAutoFit/>
          </a:bodyPr>
          <a:lstStyle/>
          <a:p>
            <a:pPr algn="l" marL="164592" indent="-164592">
              <a:lnSpc>
                <a:spcPct val="100000"/>
              </a:lnSpc>
              <a:buClr>
                <a:srgbClr val="8C9198"/>
              </a:buClr>
              <a:buFont typeface="Noto Sans KR"/>
              <a:buChar char="•"/>
            </a:pPr>
            <a:r>
              <a:rPr sz="1150" b="0">
                <a:solidFill>
                  <a:srgbClr val="4A4F57"/>
                </a:solidFill>
                <a:latin typeface="Noto Sans KR"/>
                <a:ea typeface="Noto Sans KR"/>
                <a:cs typeface="Noto Sans KR"/>
              </a:rPr>
              <a:t>본문 첫 시장(05·06·08장) → 부록 검증 트랙으로 이동, 내용은 삭제하지 않고 보존</a:t>
            </a:r>
          </a:p>
        </p:txBody>
      </p:sp>
      <p:sp>
        <p:nvSpPr>
          <p:cNvPr id="27" name="TextBox 26"/>
          <p:cNvSpPr txBox="1"/>
          <p:nvPr/>
        </p:nvSpPr>
        <p:spPr>
          <a:xfrm>
            <a:off x="685800" y="6446520"/>
            <a:ext cx="5486400" cy="201168"/>
          </a:xfrm>
          <a:prstGeom prst="rect">
            <a:avLst/>
          </a:prstGeom>
          <a:noFill/>
        </p:spPr>
        <p:txBody>
          <a:bodyPr wrap="square" lIns="0" rIns="0" tIns="0" bIns="0" anchor="t">
            <a:spAutoFit/>
          </a:bodyPr>
          <a:lstStyle/>
          <a:p>
            <a:pPr algn="l">
              <a:lnSpc>
                <a:spcPct val="100000"/>
              </a:lnSpc>
            </a:pPr>
            <a:r>
              <a:rPr sz="900" b="0">
                <a:solidFill>
                  <a:srgbClr val="8C9198"/>
                </a:solidFill>
                <a:latin typeface="Noto Sans KR"/>
                <a:ea typeface="Noto Sans KR"/>
                <a:cs typeface="Noto Sans KR"/>
              </a:rPr>
              <a:t>SoftHand  |  주방 로봇 조작 플랫폼  |  Seed 투자 제안서</a:t>
            </a:r>
          </a:p>
        </p:txBody>
      </p:sp>
      <p:sp>
        <p:nvSpPr>
          <p:cNvPr id="28" name="TextBox 27"/>
          <p:cNvSpPr txBox="1"/>
          <p:nvPr/>
        </p:nvSpPr>
        <p:spPr>
          <a:xfrm>
            <a:off x="11048695" y="6446520"/>
            <a:ext cx="457200" cy="201168"/>
          </a:xfrm>
          <a:prstGeom prst="rect">
            <a:avLst/>
          </a:prstGeom>
          <a:noFill/>
        </p:spPr>
        <p:txBody>
          <a:bodyPr wrap="square" lIns="0" rIns="0" tIns="0" bIns="0" anchor="t">
            <a:spAutoFit/>
          </a:bodyPr>
          <a:lstStyle/>
          <a:p>
            <a:pPr algn="r">
              <a:lnSpc>
                <a:spcPct val="100000"/>
              </a:lnSpc>
            </a:pPr>
            <a:r>
              <a:rPr sz="900" b="0">
                <a:solidFill>
                  <a:srgbClr val="8C9198"/>
                </a:solidFill>
                <a:latin typeface="Noto Sans KR"/>
                <a:ea typeface="Noto Sans KR"/>
                <a:cs typeface="Noto Sans KR"/>
              </a:rPr>
              <a:t>A5</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502920"/>
            <a:ext cx="7315200" cy="256032"/>
          </a:xfrm>
          <a:prstGeom prst="rect">
            <a:avLst/>
          </a:prstGeom>
          <a:noFill/>
        </p:spPr>
        <p:txBody>
          <a:bodyPr wrap="square" lIns="0" rIns="0" tIns="0" bIns="0" anchor="t">
            <a:spAutoFit/>
          </a:bodyPr>
          <a:lstStyle/>
          <a:p>
            <a:pPr algn="l">
              <a:lnSpc>
                <a:spcPct val="100000"/>
              </a:lnSpc>
            </a:pPr>
            <a:r>
              <a:rPr sz="1100" b="1">
                <a:solidFill>
                  <a:srgbClr val="E2571B"/>
                </a:solidFill>
                <a:latin typeface="Noto Sans KR"/>
                <a:ea typeface="Noto Sans KR"/>
                <a:cs typeface="Noto Sans KR"/>
              </a:rPr>
              <a:t>부록 A6</a:t>
            </a:r>
          </a:p>
        </p:txBody>
      </p:sp>
      <p:sp>
        <p:nvSpPr>
          <p:cNvPr id="3" name="TextBox 2"/>
          <p:cNvSpPr txBox="1"/>
          <p:nvPr/>
        </p:nvSpPr>
        <p:spPr>
          <a:xfrm>
            <a:off x="685800" y="822960"/>
            <a:ext cx="10820095" cy="475488"/>
          </a:xfrm>
          <a:prstGeom prst="rect">
            <a:avLst/>
          </a:prstGeom>
          <a:noFill/>
        </p:spPr>
        <p:txBody>
          <a:bodyPr wrap="square" lIns="0" rIns="0" tIns="0" bIns="0" anchor="t">
            <a:spAutoFit/>
          </a:bodyPr>
          <a:lstStyle/>
          <a:p>
            <a:pPr algn="l">
              <a:lnSpc>
                <a:spcPct val="95000"/>
              </a:lnSpc>
            </a:pPr>
            <a:r>
              <a:rPr sz="2600" b="1">
                <a:solidFill>
                  <a:srgbClr val="15171A"/>
                </a:solidFill>
                <a:latin typeface="Noto Sans KR"/>
                <a:ea typeface="Noto Sans KR"/>
                <a:cs typeface="Noto Sans KR"/>
              </a:rPr>
              <a:t>경쟁 상세: 전용 자동화 · 그리퍼 · 다른 핸드</a:t>
            </a:r>
          </a:p>
        </p:txBody>
      </p:sp>
      <p:sp>
        <p:nvSpPr>
          <p:cNvPr id="4" name="TextBox 3"/>
          <p:cNvSpPr txBox="1"/>
          <p:nvPr/>
        </p:nvSpPr>
        <p:spPr>
          <a:xfrm>
            <a:off x="685800" y="1353312"/>
            <a:ext cx="10820095" cy="274320"/>
          </a:xfrm>
          <a:prstGeom prst="rect">
            <a:avLst/>
          </a:prstGeom>
          <a:noFill/>
        </p:spPr>
        <p:txBody>
          <a:bodyPr wrap="square" lIns="0" rIns="0" tIns="0" bIns="0" anchor="t">
            <a:spAutoFit/>
          </a:bodyPr>
          <a:lstStyle/>
          <a:p>
            <a:pPr algn="l">
              <a:lnSpc>
                <a:spcPct val="100000"/>
              </a:lnSpc>
            </a:pPr>
            <a:r>
              <a:rPr sz="1300" b="0">
                <a:solidFill>
                  <a:srgbClr val="4A4F57"/>
                </a:solidFill>
                <a:latin typeface="Noto Sans KR"/>
                <a:ea typeface="Noto Sans KR"/>
                <a:cs typeface="Noto Sans KR"/>
              </a:rPr>
              <a:t>공개 정보 기반 정성 비교, 독립 비교시험 아님 · 회사명은 범주 예시이며 우열을 주장하지 않음</a:t>
            </a:r>
          </a:p>
        </p:txBody>
      </p:sp>
      <p:graphicFrame>
        <p:nvGraphicFramePr>
          <p:cNvPr id="5" name="Table 4"/>
          <p:cNvGraphicFramePr>
            <a:graphicFrameLocks noGrp="1"/>
          </p:cNvGraphicFramePr>
          <p:nvPr/>
        </p:nvGraphicFramePr>
        <p:xfrm>
          <a:off x="685800" y="1755648"/>
          <a:ext cx="10817351" cy="2967378"/>
        </p:xfrm>
        <a:graphic>
          <a:graphicData uri="http://schemas.openxmlformats.org/drawingml/2006/table">
            <a:tbl>
              <a:tblPr firstRow="0" bandRow="0">
                <a:tableStyleId>{2D5ABB26-0587-4C30-8999-92F81FD0307C}</a:tableStyleId>
              </a:tblPr>
              <a:tblGrid>
                <a:gridCol w="1600200"/>
                <a:gridCol w="5897880"/>
                <a:gridCol w="1463040"/>
                <a:gridCol w="1856231"/>
              </a:tblGrid>
              <a:tr h="284530">
                <a:tc>
                  <a:txBody>
                    <a:bodyPr wrap="square"/>
                    <a:lstStyle/>
                    <a:p>
                      <a:pPr algn="l">
                        <a:lnSpc>
                          <a:spcPct val="100000"/>
                        </a:lnSpc>
                      </a:pPr>
                      <a:r>
                        <a:rPr sz="1050" b="1">
                          <a:solidFill>
                            <a:srgbClr val="15171A"/>
                          </a:solidFill>
                          <a:latin typeface="Noto Sans KR"/>
                          <a:ea typeface="Noto Sans KR"/>
                          <a:cs typeface="Noto Sans KR"/>
                        </a:rPr>
                        <a:t>범주</a:t>
                      </a:r>
                    </a:p>
                  </a:txBody>
                  <a:tcPr marL="73152" marR="73152" marT="41148" marB="41148" anchor="t">
                    <a:lnL w="0">
                      <a:noFill/>
                    </a:lnL>
                    <a:lnR w="0">
                      <a:noFill/>
                    </a:lnR>
                    <a:lnT w="12700">
                      <a:solidFill>
                        <a:srgbClr val="15171A"/>
                      </a:solidFill>
                    </a:lnT>
                    <a:lnB w="9525">
                      <a:solidFill>
                        <a:srgbClr val="15171A"/>
                      </a:solidFill>
                    </a:lnB>
                    <a:noFill/>
                  </a:tcPr>
                </a:tc>
                <a:tc>
                  <a:txBody>
                    <a:bodyPr wrap="square"/>
                    <a:lstStyle/>
                    <a:p>
                      <a:pPr algn="l">
                        <a:lnSpc>
                          <a:spcPct val="100000"/>
                        </a:lnSpc>
                      </a:pPr>
                      <a:r>
                        <a:rPr sz="1050" b="1">
                          <a:solidFill>
                            <a:srgbClr val="15171A"/>
                          </a:solidFill>
                          <a:latin typeface="Noto Sans KR"/>
                          <a:ea typeface="Noto Sans KR"/>
                          <a:cs typeface="Noto Sans KR"/>
                        </a:rPr>
                        <a:t>대표 사례 (공개 정보)</a:t>
                      </a:r>
                    </a:p>
                  </a:txBody>
                  <a:tcPr marL="73152" marR="73152" marT="41148" marB="41148" anchor="t">
                    <a:lnL w="0">
                      <a:noFill/>
                    </a:lnL>
                    <a:lnR w="0">
                      <a:noFill/>
                    </a:lnR>
                    <a:lnT w="12700">
                      <a:solidFill>
                        <a:srgbClr val="15171A"/>
                      </a:solidFill>
                    </a:lnT>
                    <a:lnB w="9525">
                      <a:solidFill>
                        <a:srgbClr val="15171A"/>
                      </a:solidFill>
                    </a:lnB>
                    <a:noFill/>
                  </a:tcPr>
                </a:tc>
                <a:tc>
                  <a:txBody>
                    <a:bodyPr wrap="square"/>
                    <a:lstStyle/>
                    <a:p>
                      <a:pPr algn="l">
                        <a:lnSpc>
                          <a:spcPct val="100000"/>
                        </a:lnSpc>
                      </a:pPr>
                      <a:r>
                        <a:rPr sz="1050" b="1">
                          <a:solidFill>
                            <a:srgbClr val="15171A"/>
                          </a:solidFill>
                          <a:latin typeface="Noto Sans KR"/>
                          <a:ea typeface="Noto Sans KR"/>
                          <a:cs typeface="Noto Sans KR"/>
                        </a:rPr>
                        <a:t>강점</a:t>
                      </a:r>
                    </a:p>
                  </a:txBody>
                  <a:tcPr marL="73152" marR="73152" marT="41148" marB="41148" anchor="t">
                    <a:lnL w="0">
                      <a:noFill/>
                    </a:lnL>
                    <a:lnR w="0">
                      <a:noFill/>
                    </a:lnR>
                    <a:lnT w="12700">
                      <a:solidFill>
                        <a:srgbClr val="15171A"/>
                      </a:solidFill>
                    </a:lnT>
                    <a:lnB w="9525">
                      <a:solidFill>
                        <a:srgbClr val="15171A"/>
                      </a:solidFill>
                    </a:lnB>
                    <a:noFill/>
                  </a:tcPr>
                </a:tc>
                <a:tc>
                  <a:txBody>
                    <a:bodyPr wrap="square"/>
                    <a:lstStyle/>
                    <a:p>
                      <a:pPr algn="l">
                        <a:lnSpc>
                          <a:spcPct val="100000"/>
                        </a:lnSpc>
                      </a:pPr>
                      <a:r>
                        <a:rPr sz="1050" b="1">
                          <a:solidFill>
                            <a:srgbClr val="15171A"/>
                          </a:solidFill>
                          <a:latin typeface="Noto Sans KR"/>
                          <a:ea typeface="Noto Sans KR"/>
                          <a:cs typeface="Noto Sans KR"/>
                        </a:rPr>
                        <a:t>주방 확장 관점 한계</a:t>
                      </a:r>
                    </a:p>
                  </a:txBody>
                  <a:tcPr marL="73152" marR="73152" marT="41148" marB="41148" anchor="t">
                    <a:lnL w="0">
                      <a:noFill/>
                    </a:lnL>
                    <a:lnR w="0">
                      <a:noFill/>
                    </a:lnR>
                    <a:lnT w="12700">
                      <a:solidFill>
                        <a:srgbClr val="15171A"/>
                      </a:solidFill>
                    </a:lnT>
                    <a:lnB w="9525">
                      <a:solidFill>
                        <a:srgbClr val="15171A"/>
                      </a:solidFill>
                    </a:lnB>
                    <a:noFill/>
                  </a:tcPr>
                </a:tc>
              </a:tr>
              <a:tr h="1056894">
                <a:tc>
                  <a:txBody>
                    <a:bodyPr wrap="square"/>
                    <a:lstStyle/>
                    <a:p>
                      <a:pPr algn="l">
                        <a:lnSpc>
                          <a:spcPct val="100000"/>
                        </a:lnSpc>
                      </a:pPr>
                      <a:r>
                        <a:rPr sz="1050" b="1">
                          <a:solidFill>
                            <a:srgbClr val="15171A"/>
                          </a:solidFill>
                          <a:latin typeface="Noto Sans KR"/>
                          <a:ea typeface="Noto Sans KR"/>
                          <a:cs typeface="Noto Sans KR"/>
                        </a:rPr>
                        <a:t>전용 주방 자동화</a:t>
                      </a:r>
                    </a:p>
                  </a:txBody>
                  <a:tcPr marL="73152" marR="73152" marT="41148" marB="41148" anchor="t">
                    <a:lnL w="0">
                      <a:noFill/>
                    </a:lnL>
                    <a:lnR w="0">
                      <a:noFill/>
                    </a:lnR>
                    <a:lnT w="0">
                      <a:noFill/>
                    </a:lnT>
                    <a:lnB w="9525">
                      <a:solidFill>
                        <a:srgbClr val="E2E4E7"/>
                      </a:solidFill>
                    </a:lnB>
                    <a:noFill/>
                  </a:tcPr>
                </a:tc>
                <a:tc>
                  <a:txBody>
                    <a:bodyPr wrap="square"/>
                    <a:lstStyle/>
                    <a:p>
                      <a:pPr algn="l">
                        <a:lnSpc>
                          <a:spcPct val="100000"/>
                        </a:lnSpc>
                      </a:pPr>
                      <a:r>
                        <a:rPr sz="1050" b="0">
                          <a:solidFill>
                            <a:srgbClr val="15171A"/>
                          </a:solidFill>
                          <a:latin typeface="Noto Sans KR"/>
                          <a:ea typeface="Noto Sans KR"/>
                          <a:cs typeface="Noto Sans KR"/>
                        </a:rPr>
                        <a:t>Moley Robotics: 천장 레일 양팔 로봇 주방·전용 조리도구 (약 13.4만~34만 달러, 2021)</a:t>
                      </a:r>
                    </a:p>
                    <a:p>
                      <a:pPr algn="l">
                        <a:lnSpc>
                          <a:spcPct val="100000"/>
                        </a:lnSpc>
                      </a:pPr>
                      <a:r>
                        <a:rPr sz="1050" b="0">
                          <a:solidFill>
                            <a:srgbClr val="15171A"/>
                          </a:solidFill>
                          <a:latin typeface="Noto Sans KR"/>
                          <a:ea typeface="Noto Sans KR"/>
                          <a:cs typeface="Noto Sans KR"/>
                        </a:rPr>
                        <a:t>Miso Robotics Flippy: 튀김 스테이션 전용 로봇</a:t>
                      </a:r>
                    </a:p>
                    <a:p>
                      <a:pPr algn="l">
                        <a:lnSpc>
                          <a:spcPct val="100000"/>
                        </a:lnSpc>
                      </a:pPr>
                      <a:r>
                        <a:rPr sz="1050" b="0">
                          <a:solidFill>
                            <a:srgbClr val="15171A"/>
                          </a:solidFill>
                          <a:latin typeface="Noto Sans KR"/>
                          <a:ea typeface="Noto Sans KR"/>
                          <a:cs typeface="Noto Sans KR"/>
                        </a:rPr>
                        <a:t>에니아이 알파그릴: 패티 조리 시간당 200장 이상, 국내 버거 브랜드 공급</a:t>
                      </a:r>
                    </a:p>
                    <a:p>
                      <a:pPr algn="l">
                        <a:lnSpc>
                          <a:spcPct val="100000"/>
                        </a:lnSpc>
                      </a:pPr>
                      <a:r>
                        <a:rPr sz="1050" b="0">
                          <a:solidFill>
                            <a:srgbClr val="15171A"/>
                          </a:solidFill>
                          <a:latin typeface="Noto Sans KR"/>
                          <a:ea typeface="Noto Sans KR"/>
                          <a:cs typeface="Noto Sans KR"/>
                        </a:rPr>
                        <a:t>로보아르테: 협동로봇 1대 치킨 조리 (Series A 75억 원, 2022)</a:t>
                      </a:r>
                    </a:p>
                    <a:p>
                      <a:pPr algn="l">
                        <a:lnSpc>
                          <a:spcPct val="100000"/>
                        </a:lnSpc>
                      </a:pPr>
                      <a:r>
                        <a:rPr sz="1050" b="0">
                          <a:solidFill>
                            <a:srgbClr val="15171A"/>
                          </a:solidFill>
                          <a:latin typeface="Noto Sans KR"/>
                          <a:ea typeface="Noto Sans KR"/>
                          <a:cs typeface="Noto Sans KR"/>
                        </a:rPr>
                        <a:t>Chef Robotics: 식품 공장 밀 조립 (Series A 4,310만 달러, 2025)</a:t>
                      </a:r>
                    </a:p>
                  </a:txBody>
                  <a:tcPr marL="73152" marR="73152" marT="41148" marB="41148" anchor="t">
                    <a:lnL w="0">
                      <a:noFill/>
                    </a:lnL>
                    <a:lnR w="0">
                      <a:noFill/>
                    </a:lnR>
                    <a:lnT w="0">
                      <a:noFill/>
                    </a:lnT>
                    <a:lnB w="9525">
                      <a:solidFill>
                        <a:srgbClr val="E2E4E7"/>
                      </a:solidFill>
                    </a:lnB>
                    <a:noFill/>
                  </a:tcPr>
                </a:tc>
                <a:tc>
                  <a:txBody>
                    <a:bodyPr wrap="square"/>
                    <a:lstStyle/>
                    <a:p>
                      <a:pPr algn="l">
                        <a:lnSpc>
                          <a:spcPct val="100000"/>
                        </a:lnSpc>
                      </a:pPr>
                      <a:r>
                        <a:rPr sz="1050" b="0">
                          <a:solidFill>
                            <a:srgbClr val="15171A"/>
                          </a:solidFill>
                          <a:latin typeface="Noto Sans KR"/>
                          <a:ea typeface="Noto Sans KR"/>
                          <a:cs typeface="Noto Sans KR"/>
                        </a:rPr>
                        <a:t>특정 메뉴·작업 최적화</a:t>
                      </a:r>
                    </a:p>
                    <a:p>
                      <a:pPr algn="l">
                        <a:lnSpc>
                          <a:spcPct val="100000"/>
                        </a:lnSpc>
                      </a:pPr>
                      <a:r>
                        <a:rPr sz="1050" b="0">
                          <a:solidFill>
                            <a:srgbClr val="15171A"/>
                          </a:solidFill>
                          <a:latin typeface="Noto Sans KR"/>
                          <a:ea typeface="Noto Sans KR"/>
                          <a:cs typeface="Noto Sans KR"/>
                        </a:rPr>
                        <a:t>상용 운영 사례</a:t>
                      </a:r>
                    </a:p>
                  </a:txBody>
                  <a:tcPr marL="73152" marR="73152" marT="41148" marB="41148" anchor="t">
                    <a:lnL w="0">
                      <a:noFill/>
                    </a:lnL>
                    <a:lnR w="0">
                      <a:noFill/>
                    </a:lnR>
                    <a:lnT w="0">
                      <a:noFill/>
                    </a:lnT>
                    <a:lnB w="9525">
                      <a:solidFill>
                        <a:srgbClr val="E2E4E7"/>
                      </a:solidFill>
                    </a:lnB>
                    <a:noFill/>
                  </a:tcPr>
                </a:tc>
                <a:tc>
                  <a:txBody>
                    <a:bodyPr wrap="square"/>
                    <a:lstStyle/>
                    <a:p>
                      <a:pPr algn="l">
                        <a:lnSpc>
                          <a:spcPct val="100000"/>
                        </a:lnSpc>
                      </a:pPr>
                      <a:r>
                        <a:rPr sz="1050" b="0">
                          <a:solidFill>
                            <a:srgbClr val="15171A"/>
                          </a:solidFill>
                          <a:latin typeface="Noto Sans KR"/>
                          <a:ea typeface="Noto Sans KR"/>
                          <a:cs typeface="Noto Sans KR"/>
                        </a:rPr>
                        <a:t>새 메뉴·주방마다 추가 장비·설비·통합</a:t>
                      </a:r>
                    </a:p>
                  </a:txBody>
                  <a:tcPr marL="73152" marR="73152" marT="41148" marB="41148" anchor="t">
                    <a:lnL w="0">
                      <a:noFill/>
                    </a:lnL>
                    <a:lnR w="0">
                      <a:noFill/>
                    </a:lnR>
                    <a:lnT w="0">
                      <a:noFill/>
                    </a:lnT>
                    <a:lnB w="9525">
                      <a:solidFill>
                        <a:srgbClr val="E2E4E7"/>
                      </a:solidFill>
                    </a:lnB>
                    <a:noFill/>
                  </a:tcPr>
                </a:tc>
              </a:tr>
              <a:tr h="477621">
                <a:tc>
                  <a:txBody>
                    <a:bodyPr wrap="square"/>
                    <a:lstStyle/>
                    <a:p>
                      <a:pPr algn="l">
                        <a:lnSpc>
                          <a:spcPct val="100000"/>
                        </a:lnSpc>
                      </a:pPr>
                      <a:r>
                        <a:rPr sz="1050" b="1">
                          <a:solidFill>
                            <a:srgbClr val="15171A"/>
                          </a:solidFill>
                          <a:latin typeface="Noto Sans KR"/>
                          <a:ea typeface="Noto Sans KR"/>
                          <a:cs typeface="Noto Sans KR"/>
                        </a:rPr>
                        <a:t>전통 그리퍼 · EOAT</a:t>
                      </a:r>
                    </a:p>
                  </a:txBody>
                  <a:tcPr marL="73152" marR="73152" marT="41148" marB="41148" anchor="t">
                    <a:lnL w="0">
                      <a:noFill/>
                    </a:lnL>
                    <a:lnR w="0">
                      <a:noFill/>
                    </a:lnR>
                    <a:lnT w="0">
                      <a:noFill/>
                    </a:lnT>
                    <a:lnB w="9525">
                      <a:solidFill>
                        <a:srgbClr val="E2E4E7"/>
                      </a:solidFill>
                    </a:lnB>
                    <a:noFill/>
                  </a:tcPr>
                </a:tc>
                <a:tc>
                  <a:txBody>
                    <a:bodyPr wrap="square"/>
                    <a:lstStyle/>
                    <a:p>
                      <a:pPr algn="l">
                        <a:lnSpc>
                          <a:spcPct val="100000"/>
                        </a:lnSpc>
                      </a:pPr>
                      <a:r>
                        <a:rPr sz="1050" b="0">
                          <a:solidFill>
                            <a:srgbClr val="15171A"/>
                          </a:solidFill>
                          <a:latin typeface="Noto Sans KR"/>
                          <a:ea typeface="Noto Sans KR"/>
                          <a:cs typeface="Noto Sans KR"/>
                        </a:rPr>
                        <a:t>평행·진공·맞춤 EOAT, Robotiq 적응형 그리퍼 등</a:t>
                      </a:r>
                    </a:p>
                  </a:txBody>
                  <a:tcPr marL="73152" marR="73152" marT="41148" marB="41148" anchor="t">
                    <a:lnL w="0">
                      <a:noFill/>
                    </a:lnL>
                    <a:lnR w="0">
                      <a:noFill/>
                    </a:lnR>
                    <a:lnT w="0">
                      <a:noFill/>
                    </a:lnT>
                    <a:lnB w="9525">
                      <a:solidFill>
                        <a:srgbClr val="E2E4E7"/>
                      </a:solidFill>
                    </a:lnB>
                    <a:noFill/>
                  </a:tcPr>
                </a:tc>
                <a:tc>
                  <a:txBody>
                    <a:bodyPr wrap="square"/>
                    <a:lstStyle/>
                    <a:p>
                      <a:pPr algn="l">
                        <a:lnSpc>
                          <a:spcPct val="100000"/>
                        </a:lnSpc>
                      </a:pPr>
                      <a:r>
                        <a:rPr sz="1050" b="0">
                          <a:solidFill>
                            <a:srgbClr val="15171A"/>
                          </a:solidFill>
                          <a:latin typeface="Noto Sans KR"/>
                          <a:ea typeface="Noto Sans KR"/>
                          <a:cs typeface="Noto Sans KR"/>
                        </a:rPr>
                        <a:t>저가·고신뢰·통합 용이</a:t>
                      </a:r>
                    </a:p>
                  </a:txBody>
                  <a:tcPr marL="73152" marR="73152" marT="41148" marB="41148" anchor="t">
                    <a:lnL w="0">
                      <a:noFill/>
                    </a:lnL>
                    <a:lnR w="0">
                      <a:noFill/>
                    </a:lnR>
                    <a:lnT w="0">
                      <a:noFill/>
                    </a:lnT>
                    <a:lnB w="9525">
                      <a:solidFill>
                        <a:srgbClr val="E2E4E7"/>
                      </a:solidFill>
                    </a:lnB>
                    <a:noFill/>
                  </a:tcPr>
                </a:tc>
                <a:tc>
                  <a:txBody>
                    <a:bodyPr wrap="square"/>
                    <a:lstStyle/>
                    <a:p>
                      <a:pPr algn="l">
                        <a:lnSpc>
                          <a:spcPct val="100000"/>
                        </a:lnSpc>
                      </a:pPr>
                      <a:r>
                        <a:rPr sz="1050" b="0">
                          <a:solidFill>
                            <a:srgbClr val="15171A"/>
                          </a:solidFill>
                          <a:latin typeface="Noto Sans KR"/>
                          <a:ea typeface="Noto Sans KR"/>
                          <a:cs typeface="Noto Sans KR"/>
                        </a:rPr>
                        <a:t>사람용 도구·손잡이·노브 조작 제한, 툴 체인저 필요</a:t>
                      </a:r>
                    </a:p>
                  </a:txBody>
                  <a:tcPr marL="73152" marR="73152" marT="41148" marB="41148" anchor="t">
                    <a:lnL w="0">
                      <a:noFill/>
                    </a:lnL>
                    <a:lnR w="0">
                      <a:noFill/>
                    </a:lnR>
                    <a:lnT w="0">
                      <a:noFill/>
                    </a:lnT>
                    <a:lnB w="9525">
                      <a:solidFill>
                        <a:srgbClr val="E2E4E7"/>
                      </a:solidFill>
                    </a:lnB>
                    <a:noFill/>
                  </a:tcPr>
                </a:tc>
              </a:tr>
              <a:tr h="670712">
                <a:tc>
                  <a:txBody>
                    <a:bodyPr wrap="square"/>
                    <a:lstStyle/>
                    <a:p>
                      <a:pPr algn="l">
                        <a:lnSpc>
                          <a:spcPct val="100000"/>
                        </a:lnSpc>
                      </a:pPr>
                      <a:r>
                        <a:rPr sz="1050" b="1">
                          <a:solidFill>
                            <a:srgbClr val="15171A"/>
                          </a:solidFill>
                          <a:latin typeface="Noto Sans KR"/>
                          <a:ea typeface="Noto Sans KR"/>
                          <a:cs typeface="Noto Sans KR"/>
                        </a:rPr>
                        <a:t>소프트·다지 핸드</a:t>
                      </a:r>
                    </a:p>
                  </a:txBody>
                  <a:tcPr marL="73152" marR="73152" marT="41148" marB="41148" anchor="t">
                    <a:lnL w="0">
                      <a:noFill/>
                    </a:lnL>
                    <a:lnR w="0">
                      <a:noFill/>
                    </a:lnR>
                    <a:lnT w="0">
                      <a:noFill/>
                    </a:lnT>
                    <a:lnB w="9525">
                      <a:solidFill>
                        <a:srgbClr val="E2E4E7"/>
                      </a:solidFill>
                    </a:lnB>
                    <a:noFill/>
                  </a:tcPr>
                </a:tc>
                <a:tc>
                  <a:txBody>
                    <a:bodyPr wrap="square"/>
                    <a:lstStyle/>
                    <a:p>
                      <a:pPr algn="l">
                        <a:lnSpc>
                          <a:spcPct val="100000"/>
                        </a:lnSpc>
                      </a:pPr>
                      <a:r>
                        <a:rPr sz="1050" b="0">
                          <a:solidFill>
                            <a:srgbClr val="15171A"/>
                          </a:solidFill>
                          <a:latin typeface="Noto Sans KR"/>
                          <a:ea typeface="Noto Sans KR"/>
                          <a:cs typeface="Noto Sans KR"/>
                        </a:rPr>
                        <a:t>qb SoftHand Industry · Shadow · Allegro · Tesollo · Sharpa · Tesla·Figure 자체 개발</a:t>
                      </a:r>
                    </a:p>
                  </a:txBody>
                  <a:tcPr marL="73152" marR="73152" marT="41148" marB="41148" anchor="t">
                    <a:lnL w="0">
                      <a:noFill/>
                    </a:lnL>
                    <a:lnR w="0">
                      <a:noFill/>
                    </a:lnR>
                    <a:lnT w="0">
                      <a:noFill/>
                    </a:lnT>
                    <a:lnB w="9525">
                      <a:solidFill>
                        <a:srgbClr val="E2E4E7"/>
                      </a:solidFill>
                    </a:lnB>
                    <a:noFill/>
                  </a:tcPr>
                </a:tc>
                <a:tc>
                  <a:txBody>
                    <a:bodyPr wrap="square"/>
                    <a:lstStyle/>
                    <a:p>
                      <a:pPr algn="l">
                        <a:lnSpc>
                          <a:spcPct val="100000"/>
                        </a:lnSpc>
                      </a:pPr>
                      <a:r>
                        <a:rPr sz="1050" b="0">
                          <a:solidFill>
                            <a:srgbClr val="15171A"/>
                          </a:solidFill>
                          <a:latin typeface="Noto Sans KR"/>
                          <a:ea typeface="Noto Sans KR"/>
                          <a:cs typeface="Noto Sans KR"/>
                        </a:rPr>
                        <a:t>형상 적응·고자유도</a:t>
                      </a:r>
                    </a:p>
                  </a:txBody>
                  <a:tcPr marL="73152" marR="73152" marT="41148" marB="41148" anchor="t">
                    <a:lnL w="0">
                      <a:noFill/>
                    </a:lnL>
                    <a:lnR w="0">
                      <a:noFill/>
                    </a:lnR>
                    <a:lnT w="0">
                      <a:noFill/>
                    </a:lnT>
                    <a:lnB w="9525">
                      <a:solidFill>
                        <a:srgbClr val="E2E4E7"/>
                      </a:solidFill>
                    </a:lnB>
                    <a:noFill/>
                  </a:tcPr>
                </a:tc>
                <a:tc>
                  <a:txBody>
                    <a:bodyPr wrap="square"/>
                    <a:lstStyle/>
                    <a:p>
                      <a:pPr algn="l">
                        <a:lnSpc>
                          <a:spcPct val="100000"/>
                        </a:lnSpc>
                      </a:pPr>
                      <a:r>
                        <a:rPr sz="1050" b="0">
                          <a:solidFill>
                            <a:srgbClr val="15171A"/>
                          </a:solidFill>
                          <a:latin typeface="Noto Sans KR"/>
                          <a:ea typeface="Noto Sans KR"/>
                          <a:cs typeface="Noto Sans KR"/>
                        </a:rPr>
                        <a:t>토크·강성 전환 제한 또는 비용·내구성, 연구·휴머노이드 중심</a:t>
                      </a:r>
                    </a:p>
                  </a:txBody>
                  <a:tcPr marL="73152" marR="73152" marT="41148" marB="41148" anchor="t">
                    <a:lnL w="0">
                      <a:noFill/>
                    </a:lnL>
                    <a:lnR w="0">
                      <a:noFill/>
                    </a:lnR>
                    <a:lnT w="0">
                      <a:noFill/>
                    </a:lnT>
                    <a:lnB w="9525">
                      <a:solidFill>
                        <a:srgbClr val="E2E4E7"/>
                      </a:solidFill>
                    </a:lnB>
                    <a:noFill/>
                  </a:tcPr>
                </a:tc>
              </a:tr>
              <a:tr h="477621">
                <a:tc>
                  <a:txBody>
                    <a:bodyPr wrap="square"/>
                    <a:lstStyle/>
                    <a:p>
                      <a:pPr algn="l">
                        <a:lnSpc>
                          <a:spcPct val="100000"/>
                        </a:lnSpc>
                      </a:pPr>
                      <a:r>
                        <a:rPr sz="1050" b="1">
                          <a:solidFill>
                            <a:srgbClr val="E2571B"/>
                          </a:solidFill>
                          <a:latin typeface="Noto Sans KR"/>
                          <a:ea typeface="Noto Sans KR"/>
                          <a:cs typeface="Noto Sans KR"/>
                        </a:rPr>
                        <a:t>SoftHand + Kitchen Skills (목표)</a:t>
                      </a:r>
                    </a:p>
                  </a:txBody>
                  <a:tcPr marL="73152" marR="73152" marT="41148" marB="41148" anchor="t">
                    <a:lnL w="0">
                      <a:noFill/>
                    </a:lnL>
                    <a:lnR w="0">
                      <a:noFill/>
                    </a:lnR>
                    <a:lnT w="0">
                      <a:noFill/>
                    </a:lnT>
                    <a:lnB w="9525">
                      <a:solidFill>
                        <a:srgbClr val="E2E4E7"/>
                      </a:solidFill>
                    </a:lnB>
                    <a:noFill/>
                  </a:tcPr>
                </a:tc>
                <a:tc>
                  <a:txBody>
                    <a:bodyPr wrap="square"/>
                    <a:lstStyle/>
                    <a:p>
                      <a:pPr algn="l">
                        <a:lnSpc>
                          <a:spcPct val="100000"/>
                        </a:lnSpc>
                      </a:pPr>
                      <a:r>
                        <a:rPr sz="1050" b="0">
                          <a:solidFill>
                            <a:srgbClr val="15171A"/>
                          </a:solidFill>
                          <a:latin typeface="Noto Sans KR"/>
                          <a:ea typeface="Noto Sans KR"/>
                          <a:cs typeface="Noto Sans KR"/>
                        </a:rPr>
                        <a:t>사람용 주방 조작 + 재사용 Skill</a:t>
                      </a:r>
                    </a:p>
                  </a:txBody>
                  <a:tcPr marL="73152" marR="73152" marT="41148" marB="41148" anchor="t">
                    <a:lnL w="0">
                      <a:noFill/>
                    </a:lnL>
                    <a:lnR w="0">
                      <a:noFill/>
                    </a:lnR>
                    <a:lnT w="0">
                      <a:noFill/>
                    </a:lnT>
                    <a:lnB w="9525">
                      <a:solidFill>
                        <a:srgbClr val="E2E4E7"/>
                      </a:solidFill>
                    </a:lnB>
                    <a:noFill/>
                  </a:tcPr>
                </a:tc>
                <a:tc>
                  <a:txBody>
                    <a:bodyPr wrap="square"/>
                    <a:lstStyle/>
                    <a:p>
                      <a:pPr algn="l">
                        <a:lnSpc>
                          <a:spcPct val="100000"/>
                        </a:lnSpc>
                      </a:pPr>
                      <a:r>
                        <a:rPr sz="1050" b="0">
                          <a:solidFill>
                            <a:srgbClr val="15171A"/>
                          </a:solidFill>
                          <a:latin typeface="Noto Sans KR"/>
                          <a:ea typeface="Noto Sans KR"/>
                          <a:cs typeface="Noto Sans KR"/>
                        </a:rPr>
                        <a:t>—</a:t>
                      </a:r>
                    </a:p>
                  </a:txBody>
                  <a:tcPr marL="73152" marR="73152" marT="41148" marB="41148" anchor="t">
                    <a:lnL w="0">
                      <a:noFill/>
                    </a:lnL>
                    <a:lnR w="0">
                      <a:noFill/>
                    </a:lnR>
                    <a:lnT w="0">
                      <a:noFill/>
                    </a:lnT>
                    <a:lnB w="9525">
                      <a:solidFill>
                        <a:srgbClr val="E2E4E7"/>
                      </a:solidFill>
                    </a:lnB>
                    <a:noFill/>
                  </a:tcPr>
                </a:tc>
                <a:tc>
                  <a:txBody>
                    <a:bodyPr wrap="square"/>
                    <a:lstStyle/>
                    <a:p>
                      <a:pPr algn="l">
                        <a:lnSpc>
                          <a:spcPct val="100000"/>
                        </a:lnSpc>
                      </a:pPr>
                      <a:r>
                        <a:rPr sz="1050" b="0">
                          <a:solidFill>
                            <a:srgbClr val="15171A"/>
                          </a:solidFill>
                          <a:latin typeface="Noto Sans KR"/>
                          <a:ea typeface="Noto Sans KR"/>
                          <a:cs typeface="Noto Sans KR"/>
                        </a:rPr>
                        <a:t>미검증, Seed 기간 동일 조건 비교시험</a:t>
                      </a:r>
                    </a:p>
                  </a:txBody>
                  <a:tcPr marL="73152" marR="73152" marT="41148" marB="41148" anchor="t">
                    <a:lnL w="0">
                      <a:noFill/>
                    </a:lnL>
                    <a:lnR w="0">
                      <a:noFill/>
                    </a:lnR>
                    <a:lnT w="0">
                      <a:noFill/>
                    </a:lnT>
                    <a:lnB w="9525">
                      <a:solidFill>
                        <a:srgbClr val="E2E4E7"/>
                      </a:solidFill>
                    </a:lnB>
                    <a:noFill/>
                  </a:tcPr>
                </a:tc>
              </a:tr>
            </a:tbl>
          </a:graphicData>
        </a:graphic>
      </p:graphicFrame>
      <p:sp>
        <p:nvSpPr>
          <p:cNvPr id="6" name="TextBox 5"/>
          <p:cNvSpPr txBox="1"/>
          <p:nvPr/>
        </p:nvSpPr>
        <p:spPr>
          <a:xfrm>
            <a:off x="685800" y="4887620"/>
            <a:ext cx="10820095" cy="274320"/>
          </a:xfrm>
          <a:prstGeom prst="rect">
            <a:avLst/>
          </a:prstGeom>
          <a:noFill/>
        </p:spPr>
        <p:txBody>
          <a:bodyPr wrap="square" lIns="0" rIns="0" tIns="0" bIns="0" anchor="t">
            <a:spAutoFit/>
          </a:bodyPr>
          <a:lstStyle/>
          <a:p>
            <a:pPr algn="l">
              <a:lnSpc>
                <a:spcPct val="100000"/>
              </a:lnSpc>
            </a:pPr>
            <a:r>
              <a:rPr sz="1250" b="1">
                <a:solidFill>
                  <a:srgbClr val="15171A"/>
                </a:solidFill>
                <a:latin typeface="Noto Sans KR"/>
                <a:ea typeface="Noto Sans KR"/>
                <a:cs typeface="Noto Sans KR"/>
              </a:rPr>
              <a:t>로봇·가전 기업이 직접 만든다면</a:t>
            </a:r>
          </a:p>
        </p:txBody>
      </p:sp>
      <p:graphicFrame>
        <p:nvGraphicFramePr>
          <p:cNvPr id="7" name="Table 6"/>
          <p:cNvGraphicFramePr>
            <a:graphicFrameLocks noGrp="1"/>
          </p:cNvGraphicFramePr>
          <p:nvPr/>
        </p:nvGraphicFramePr>
        <p:xfrm>
          <a:off x="685800" y="5180228"/>
          <a:ext cx="10820095" cy="853590"/>
        </p:xfrm>
        <a:graphic>
          <a:graphicData uri="http://schemas.openxmlformats.org/drawingml/2006/table">
            <a:tbl>
              <a:tblPr firstRow="0" bandRow="0">
                <a:tableStyleId>{2D5ABB26-0587-4C30-8999-92F81FD0307C}</a:tableStyleId>
              </a:tblPr>
              <a:tblGrid>
                <a:gridCol w="731520"/>
                <a:gridCol w="10088575"/>
              </a:tblGrid>
              <a:tr h="284530">
                <a:tc>
                  <a:txBody>
                    <a:bodyPr wrap="square"/>
                    <a:lstStyle/>
                    <a:p>
                      <a:pPr algn="l">
                        <a:lnSpc>
                          <a:spcPct val="100000"/>
                        </a:lnSpc>
                      </a:pPr>
                      <a:r>
                        <a:rPr sz="1050" b="1">
                          <a:solidFill>
                            <a:srgbClr val="15171A"/>
                          </a:solidFill>
                          <a:latin typeface="Noto Sans KR"/>
                          <a:ea typeface="Noto Sans KR"/>
                          <a:cs typeface="Noto Sans KR"/>
                        </a:rPr>
                        <a:t>관찰</a:t>
                      </a:r>
                    </a:p>
                  </a:txBody>
                  <a:tcPr marL="73152" marR="73152" marT="41148" marB="41148" anchor="t">
                    <a:lnL w="0">
                      <a:noFill/>
                    </a:lnL>
                    <a:lnR w="0">
                      <a:noFill/>
                    </a:lnR>
                    <a:lnT w="0">
                      <a:noFill/>
                    </a:lnT>
                    <a:lnB w="9525">
                      <a:solidFill>
                        <a:srgbClr val="E2E4E7"/>
                      </a:solidFill>
                    </a:lnB>
                    <a:noFill/>
                  </a:tcPr>
                </a:tc>
                <a:tc>
                  <a:txBody>
                    <a:bodyPr wrap="square"/>
                    <a:lstStyle/>
                    <a:p>
                      <a:pPr algn="l">
                        <a:lnSpc>
                          <a:spcPct val="100000"/>
                        </a:lnSpc>
                      </a:pPr>
                      <a:r>
                        <a:rPr sz="1050" b="0">
                          <a:solidFill>
                            <a:srgbClr val="15171A"/>
                          </a:solidFill>
                          <a:latin typeface="Noto Sans KR"/>
                          <a:ea typeface="Noto Sans KR"/>
                          <a:cs typeface="Noto Sans KR"/>
                        </a:rPr>
                        <a:t>Tesla·Figure는 손 내재화, 다수 로봇 제조사는 EOAT 파트너 의존, NVIDIA 레퍼런스 휴머노이드(2026.6)는 외부 촉각 핸드 채택</a:t>
                      </a:r>
                    </a:p>
                  </a:txBody>
                  <a:tcPr marL="73152" marR="73152" marT="41148" marB="41148" anchor="t">
                    <a:lnL w="0">
                      <a:noFill/>
                    </a:lnL>
                    <a:lnR w="0">
                      <a:noFill/>
                    </a:lnR>
                    <a:lnT w="0">
                      <a:noFill/>
                    </a:lnT>
                    <a:lnB w="9525">
                      <a:solidFill>
                        <a:srgbClr val="E2E4E7"/>
                      </a:solidFill>
                    </a:lnB>
                    <a:noFill/>
                  </a:tcPr>
                </a:tc>
              </a:tr>
              <a:tr h="284530">
                <a:tc>
                  <a:txBody>
                    <a:bodyPr wrap="square"/>
                    <a:lstStyle/>
                    <a:p>
                      <a:pPr algn="l">
                        <a:lnSpc>
                          <a:spcPct val="100000"/>
                        </a:lnSpc>
                      </a:pPr>
                      <a:r>
                        <a:rPr sz="1050" b="1">
                          <a:solidFill>
                            <a:srgbClr val="15171A"/>
                          </a:solidFill>
                          <a:latin typeface="Noto Sans KR"/>
                          <a:ea typeface="Noto Sans KR"/>
                          <a:cs typeface="Noto Sans KR"/>
                        </a:rPr>
                        <a:t>해석</a:t>
                      </a:r>
                    </a:p>
                  </a:txBody>
                  <a:tcPr marL="73152" marR="73152" marT="41148" marB="41148" anchor="t">
                    <a:lnL w="0">
                      <a:noFill/>
                    </a:lnL>
                    <a:lnR w="0">
                      <a:noFill/>
                    </a:lnR>
                    <a:lnT w="0">
                      <a:noFill/>
                    </a:lnT>
                    <a:lnB w="9525">
                      <a:solidFill>
                        <a:srgbClr val="E2E4E7"/>
                      </a:solidFill>
                    </a:lnB>
                    <a:noFill/>
                  </a:tcPr>
                </a:tc>
                <a:tc>
                  <a:txBody>
                    <a:bodyPr wrap="square"/>
                    <a:lstStyle/>
                    <a:p>
                      <a:pPr algn="l">
                        <a:lnSpc>
                          <a:spcPct val="100000"/>
                        </a:lnSpc>
                      </a:pPr>
                      <a:r>
                        <a:rPr sz="1050" b="0">
                          <a:solidFill>
                            <a:srgbClr val="15171A"/>
                          </a:solidFill>
                          <a:latin typeface="Noto Sans KR"/>
                          <a:ea typeface="Noto Sans KR"/>
                          <a:cs typeface="Noto Sans KR"/>
                        </a:rPr>
                        <a:t>로봇·가전 기업은 경쟁자이자 판매 채널, 단일 기업은 여러 브랜드에서 쓰는 Skill을 만들기 어려움</a:t>
                      </a:r>
                    </a:p>
                  </a:txBody>
                  <a:tcPr marL="73152" marR="73152" marT="41148" marB="41148" anchor="t">
                    <a:lnL w="0">
                      <a:noFill/>
                    </a:lnL>
                    <a:lnR w="0">
                      <a:noFill/>
                    </a:lnR>
                    <a:lnT w="0">
                      <a:noFill/>
                    </a:lnT>
                    <a:lnB w="9525">
                      <a:solidFill>
                        <a:srgbClr val="E2E4E7"/>
                      </a:solidFill>
                    </a:lnB>
                    <a:noFill/>
                  </a:tcPr>
                </a:tc>
              </a:tr>
              <a:tr h="284530">
                <a:tc>
                  <a:txBody>
                    <a:bodyPr wrap="square"/>
                    <a:lstStyle/>
                    <a:p>
                      <a:pPr algn="l">
                        <a:lnSpc>
                          <a:spcPct val="100000"/>
                        </a:lnSpc>
                      </a:pPr>
                      <a:r>
                        <a:rPr sz="1050" b="1">
                          <a:solidFill>
                            <a:srgbClr val="15171A"/>
                          </a:solidFill>
                          <a:latin typeface="Noto Sans KR"/>
                          <a:ea typeface="Noto Sans KR"/>
                          <a:cs typeface="Noto Sans KR"/>
                        </a:rPr>
                        <a:t>대응</a:t>
                      </a:r>
                    </a:p>
                  </a:txBody>
                  <a:tcPr marL="73152" marR="73152" marT="41148" marB="41148" anchor="t">
                    <a:lnL w="0">
                      <a:noFill/>
                    </a:lnL>
                    <a:lnR w="0">
                      <a:noFill/>
                    </a:lnR>
                    <a:lnT w="0">
                      <a:noFill/>
                    </a:lnT>
                    <a:lnB w="9525">
                      <a:solidFill>
                        <a:srgbClr val="E2E4E7"/>
                      </a:solidFill>
                    </a:lnB>
                    <a:noFill/>
                  </a:tcPr>
                </a:tc>
                <a:tc>
                  <a:txBody>
                    <a:bodyPr wrap="square"/>
                    <a:lstStyle/>
                    <a:p>
                      <a:pPr algn="l">
                        <a:lnSpc>
                          <a:spcPct val="100000"/>
                        </a:lnSpc>
                      </a:pPr>
                      <a:r>
                        <a:rPr sz="1050" b="0">
                          <a:solidFill>
                            <a:srgbClr val="15171A"/>
                          </a:solidFill>
                          <a:latin typeface="Noto Sans KR"/>
                          <a:ea typeface="Noto Sans KR"/>
                          <a:cs typeface="Noto Sans KR"/>
                        </a:rPr>
                        <a:t>로봇 무관 통합, 로봇 2종 이식성 검증, 로봇·가전 OEM 파트너십 우선 (Scale Trigger)</a:t>
                      </a:r>
                    </a:p>
                  </a:txBody>
                  <a:tcPr marL="73152" marR="73152" marT="41148" marB="41148" anchor="t">
                    <a:lnL w="0">
                      <a:noFill/>
                    </a:lnL>
                    <a:lnR w="0">
                      <a:noFill/>
                    </a:lnR>
                    <a:lnT w="0">
                      <a:noFill/>
                    </a:lnT>
                    <a:lnB w="9525">
                      <a:solidFill>
                        <a:srgbClr val="E2E4E7"/>
                      </a:solidFill>
                    </a:lnB>
                    <a:noFill/>
                  </a:tcPr>
                </a:tc>
              </a:tr>
            </a:tbl>
          </a:graphicData>
        </a:graphic>
      </p:graphicFrame>
      <p:sp>
        <p:nvSpPr>
          <p:cNvPr id="8" name="TextBox 7"/>
          <p:cNvSpPr txBox="1"/>
          <p:nvPr/>
        </p:nvSpPr>
        <p:spPr>
          <a:xfrm>
            <a:off x="685800" y="6446520"/>
            <a:ext cx="5486400" cy="201168"/>
          </a:xfrm>
          <a:prstGeom prst="rect">
            <a:avLst/>
          </a:prstGeom>
          <a:noFill/>
        </p:spPr>
        <p:txBody>
          <a:bodyPr wrap="square" lIns="0" rIns="0" tIns="0" bIns="0" anchor="t">
            <a:spAutoFit/>
          </a:bodyPr>
          <a:lstStyle/>
          <a:p>
            <a:pPr algn="l">
              <a:lnSpc>
                <a:spcPct val="100000"/>
              </a:lnSpc>
            </a:pPr>
            <a:r>
              <a:rPr sz="900" b="0">
                <a:solidFill>
                  <a:srgbClr val="8C9198"/>
                </a:solidFill>
                <a:latin typeface="Noto Sans KR"/>
                <a:ea typeface="Noto Sans KR"/>
                <a:cs typeface="Noto Sans KR"/>
              </a:rPr>
              <a:t>SoftHand  |  주방 로봇 조작 플랫폼  |  Seed 투자 제안서</a:t>
            </a:r>
          </a:p>
        </p:txBody>
      </p:sp>
      <p:sp>
        <p:nvSpPr>
          <p:cNvPr id="9" name="TextBox 8"/>
          <p:cNvSpPr txBox="1"/>
          <p:nvPr/>
        </p:nvSpPr>
        <p:spPr>
          <a:xfrm>
            <a:off x="3154680" y="6446520"/>
            <a:ext cx="7802575" cy="201168"/>
          </a:xfrm>
          <a:prstGeom prst="rect">
            <a:avLst/>
          </a:prstGeom>
          <a:noFill/>
        </p:spPr>
        <p:txBody>
          <a:bodyPr wrap="square" lIns="0" rIns="0" tIns="0" bIns="0" anchor="t">
            <a:spAutoFit/>
          </a:bodyPr>
          <a:lstStyle/>
          <a:p>
            <a:pPr algn="r">
              <a:lnSpc>
                <a:spcPct val="100000"/>
              </a:lnSpc>
            </a:pPr>
            <a:r>
              <a:rPr sz="900" b="0">
                <a:solidFill>
                  <a:srgbClr val="8C9198"/>
                </a:solidFill>
                <a:latin typeface="Noto Sans KR"/>
                <a:ea typeface="Noto Sans KR"/>
                <a:cs typeface="Noto Sans KR"/>
              </a:rPr>
              <a:t>출처: A17 S12~S17 · Moley 사진은 저작권 확인 전 사용하지 않음 (본 덱 이미지는 자체 콘셉트 렌더링)</a:t>
            </a:r>
          </a:p>
        </p:txBody>
      </p:sp>
      <p:sp>
        <p:nvSpPr>
          <p:cNvPr id="10" name="TextBox 9"/>
          <p:cNvSpPr txBox="1"/>
          <p:nvPr/>
        </p:nvSpPr>
        <p:spPr>
          <a:xfrm>
            <a:off x="11048695" y="6446520"/>
            <a:ext cx="457200" cy="201168"/>
          </a:xfrm>
          <a:prstGeom prst="rect">
            <a:avLst/>
          </a:prstGeom>
          <a:noFill/>
        </p:spPr>
        <p:txBody>
          <a:bodyPr wrap="square" lIns="0" rIns="0" tIns="0" bIns="0" anchor="t">
            <a:spAutoFit/>
          </a:bodyPr>
          <a:lstStyle/>
          <a:p>
            <a:pPr algn="r">
              <a:lnSpc>
                <a:spcPct val="100000"/>
              </a:lnSpc>
            </a:pPr>
            <a:r>
              <a:rPr sz="900" b="0">
                <a:solidFill>
                  <a:srgbClr val="8C9198"/>
                </a:solidFill>
                <a:latin typeface="Noto Sans KR"/>
                <a:ea typeface="Noto Sans KR"/>
                <a:cs typeface="Noto Sans KR"/>
              </a:rPr>
              <a:t>A6</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502920"/>
            <a:ext cx="7315200" cy="256032"/>
          </a:xfrm>
          <a:prstGeom prst="rect">
            <a:avLst/>
          </a:prstGeom>
          <a:noFill/>
        </p:spPr>
        <p:txBody>
          <a:bodyPr wrap="square" lIns="0" rIns="0" tIns="0" bIns="0" anchor="t">
            <a:spAutoFit/>
          </a:bodyPr>
          <a:lstStyle/>
          <a:p>
            <a:pPr algn="l">
              <a:lnSpc>
                <a:spcPct val="100000"/>
              </a:lnSpc>
            </a:pPr>
            <a:r>
              <a:rPr sz="1100" b="1">
                <a:solidFill>
                  <a:srgbClr val="E2571B"/>
                </a:solidFill>
                <a:latin typeface="Noto Sans KR"/>
                <a:ea typeface="Noto Sans KR"/>
                <a:cs typeface="Noto Sans KR"/>
              </a:rPr>
              <a:t>부록 A7</a:t>
            </a:r>
          </a:p>
        </p:txBody>
      </p:sp>
      <p:sp>
        <p:nvSpPr>
          <p:cNvPr id="3" name="TextBox 2"/>
          <p:cNvSpPr txBox="1"/>
          <p:nvPr/>
        </p:nvSpPr>
        <p:spPr>
          <a:xfrm>
            <a:off x="685800" y="822960"/>
            <a:ext cx="10820095" cy="475488"/>
          </a:xfrm>
          <a:prstGeom prst="rect">
            <a:avLst/>
          </a:prstGeom>
          <a:noFill/>
        </p:spPr>
        <p:txBody>
          <a:bodyPr wrap="square" lIns="0" rIns="0" tIns="0" bIns="0" anchor="t">
            <a:spAutoFit/>
          </a:bodyPr>
          <a:lstStyle/>
          <a:p>
            <a:pPr algn="l">
              <a:lnSpc>
                <a:spcPct val="95000"/>
              </a:lnSpc>
            </a:pPr>
            <a:r>
              <a:rPr sz="2600" b="1">
                <a:solidFill>
                  <a:srgbClr val="15171A"/>
                </a:solidFill>
                <a:latin typeface="Noto Sans KR"/>
                <a:ea typeface="Noto Sans KR"/>
                <a:cs typeface="Noto Sans KR"/>
              </a:rPr>
              <a:t>피지컬 AI 흐름: 두뇌·눈·몸은 상용화, 남은 병목은 손</a:t>
            </a:r>
          </a:p>
        </p:txBody>
      </p:sp>
      <p:sp>
        <p:nvSpPr>
          <p:cNvPr id="4" name="TextBox 3"/>
          <p:cNvSpPr txBox="1"/>
          <p:nvPr/>
        </p:nvSpPr>
        <p:spPr>
          <a:xfrm>
            <a:off x="685800" y="1353312"/>
            <a:ext cx="10820095" cy="274320"/>
          </a:xfrm>
          <a:prstGeom prst="rect">
            <a:avLst/>
          </a:prstGeom>
          <a:noFill/>
        </p:spPr>
        <p:txBody>
          <a:bodyPr wrap="square" lIns="0" rIns="0" tIns="0" bIns="0" anchor="t">
            <a:spAutoFit/>
          </a:bodyPr>
          <a:lstStyle/>
          <a:p>
            <a:pPr algn="l">
              <a:lnSpc>
                <a:spcPct val="100000"/>
              </a:lnSpc>
            </a:pPr>
            <a:r>
              <a:rPr sz="1300" b="0">
                <a:solidFill>
                  <a:srgbClr val="4A4F57"/>
                </a:solidFill>
                <a:latin typeface="Noto Sans KR"/>
                <a:ea typeface="Noto Sans KR"/>
                <a:cs typeface="Noto Sans KR"/>
              </a:rPr>
              <a:t>본문 06장 "왜 지금"의 근거 · 각 수치는 출처 발표 기준이며 독립 검증 아님</a:t>
            </a:r>
          </a:p>
        </p:txBody>
      </p:sp>
      <p:graphicFrame>
        <p:nvGraphicFramePr>
          <p:cNvPr id="5" name="Table 4"/>
          <p:cNvGraphicFramePr>
            <a:graphicFrameLocks noGrp="1"/>
          </p:cNvGraphicFramePr>
          <p:nvPr/>
        </p:nvGraphicFramePr>
        <p:xfrm>
          <a:off x="685800" y="1874519"/>
          <a:ext cx="10817352" cy="3249166"/>
        </p:xfrm>
        <a:graphic>
          <a:graphicData uri="http://schemas.openxmlformats.org/drawingml/2006/table">
            <a:tbl>
              <a:tblPr firstRow="0" bandRow="0">
                <a:tableStyleId>{2D5ABB26-0587-4C30-8999-92F81FD0307C}</a:tableStyleId>
              </a:tblPr>
              <a:tblGrid>
                <a:gridCol w="2377440"/>
                <a:gridCol w="1325880"/>
                <a:gridCol w="7114032"/>
              </a:tblGrid>
              <a:tr h="394411">
                <a:tc>
                  <a:txBody>
                    <a:bodyPr wrap="square"/>
                    <a:lstStyle/>
                    <a:p>
                      <a:pPr algn="l">
                        <a:lnSpc>
                          <a:spcPct val="100000"/>
                        </a:lnSpc>
                      </a:pPr>
                      <a:r>
                        <a:rPr sz="1200" b="1">
                          <a:solidFill>
                            <a:srgbClr val="15171A"/>
                          </a:solidFill>
                          <a:latin typeface="Noto Sans KR"/>
                          <a:ea typeface="Noto Sans KR"/>
                          <a:cs typeface="Noto Sans KR"/>
                        </a:rPr>
                        <a:t>단계</a:t>
                      </a:r>
                    </a:p>
                  </a:txBody>
                  <a:tcPr marL="73152" marR="73152" marT="82296" marB="82296" anchor="t">
                    <a:lnL w="0">
                      <a:noFill/>
                    </a:lnL>
                    <a:lnR w="0">
                      <a:noFill/>
                    </a:lnR>
                    <a:lnT w="12700">
                      <a:solidFill>
                        <a:srgbClr val="15171A"/>
                      </a:solidFill>
                    </a:lnT>
                    <a:lnB w="9525">
                      <a:solidFill>
                        <a:srgbClr val="15171A"/>
                      </a:solidFill>
                    </a:lnB>
                    <a:noFill/>
                  </a:tcPr>
                </a:tc>
                <a:tc>
                  <a:txBody>
                    <a:bodyPr wrap="square"/>
                    <a:lstStyle/>
                    <a:p>
                      <a:pPr algn="l">
                        <a:lnSpc>
                          <a:spcPct val="100000"/>
                        </a:lnSpc>
                      </a:pPr>
                      <a:r>
                        <a:rPr sz="1200" b="1">
                          <a:solidFill>
                            <a:srgbClr val="15171A"/>
                          </a:solidFill>
                          <a:latin typeface="Noto Sans KR"/>
                          <a:ea typeface="Noto Sans KR"/>
                          <a:cs typeface="Noto Sans KR"/>
                        </a:rPr>
                        <a:t>상태</a:t>
                      </a:r>
                    </a:p>
                  </a:txBody>
                  <a:tcPr marL="73152" marR="73152" marT="82296" marB="82296" anchor="t">
                    <a:lnL w="0">
                      <a:noFill/>
                    </a:lnL>
                    <a:lnR w="0">
                      <a:noFill/>
                    </a:lnR>
                    <a:lnT w="12700">
                      <a:solidFill>
                        <a:srgbClr val="15171A"/>
                      </a:solidFill>
                    </a:lnT>
                    <a:lnB w="9525">
                      <a:solidFill>
                        <a:srgbClr val="15171A"/>
                      </a:solidFill>
                    </a:lnB>
                    <a:noFill/>
                  </a:tcPr>
                </a:tc>
                <a:tc>
                  <a:txBody>
                    <a:bodyPr wrap="square"/>
                    <a:lstStyle/>
                    <a:p>
                      <a:pPr algn="l">
                        <a:lnSpc>
                          <a:spcPct val="100000"/>
                        </a:lnSpc>
                      </a:pPr>
                      <a:r>
                        <a:rPr sz="1200" b="1">
                          <a:solidFill>
                            <a:srgbClr val="15171A"/>
                          </a:solidFill>
                          <a:latin typeface="Noto Sans KR"/>
                          <a:ea typeface="Noto Sans KR"/>
                          <a:cs typeface="Noto Sans KR"/>
                        </a:rPr>
                        <a:t>근거 (출처·시점)</a:t>
                      </a:r>
                    </a:p>
                  </a:txBody>
                  <a:tcPr marL="73152" marR="73152" marT="82296" marB="82296" anchor="t">
                    <a:lnL w="0">
                      <a:noFill/>
                    </a:lnL>
                    <a:lnR w="0">
                      <a:noFill/>
                    </a:lnR>
                    <a:lnT w="12700">
                      <a:solidFill>
                        <a:srgbClr val="15171A"/>
                      </a:solidFill>
                    </a:lnT>
                    <a:lnB w="9525">
                      <a:solidFill>
                        <a:srgbClr val="15171A"/>
                      </a:solidFill>
                    </a:lnB>
                    <a:noFill/>
                  </a:tcPr>
                </a:tc>
              </a:tr>
              <a:tr h="615086">
                <a:tc>
                  <a:txBody>
                    <a:bodyPr wrap="square"/>
                    <a:lstStyle/>
                    <a:p>
                      <a:pPr algn="l">
                        <a:lnSpc>
                          <a:spcPct val="100000"/>
                        </a:lnSpc>
                      </a:pPr>
                      <a:r>
                        <a:rPr sz="1200" b="1">
                          <a:solidFill>
                            <a:srgbClr val="15171A"/>
                          </a:solidFill>
                          <a:latin typeface="Noto Sans KR"/>
                          <a:ea typeface="Noto Sans KR"/>
                          <a:cs typeface="Noto Sans KR"/>
                        </a:rPr>
                        <a:t>두뇌 · AI·VLA</a:t>
                      </a:r>
                    </a:p>
                  </a:txBody>
                  <a:tcPr marL="73152" marR="73152" marT="82296" marB="82296" anchor="t">
                    <a:lnL w="0">
                      <a:noFill/>
                    </a:lnL>
                    <a:lnR w="0">
                      <a:noFill/>
                    </a:lnR>
                    <a:lnT w="0">
                      <a:noFill/>
                    </a:lnT>
                    <a:lnB w="9525">
                      <a:solidFill>
                        <a:srgbClr val="E2E4E7"/>
                      </a:solidFill>
                    </a:lnB>
                    <a:noFill/>
                  </a:tcPr>
                </a:tc>
                <a:tc>
                  <a:txBody>
                    <a:bodyPr wrap="square"/>
                    <a:lstStyle/>
                    <a:p>
                      <a:pPr algn="l">
                        <a:lnSpc>
                          <a:spcPct val="100000"/>
                        </a:lnSpc>
                      </a:pPr>
                      <a:r>
                        <a:rPr sz="1200" b="0">
                          <a:solidFill>
                            <a:srgbClr val="15171A"/>
                          </a:solidFill>
                          <a:latin typeface="Noto Sans KR"/>
                          <a:ea typeface="Noto Sans KR"/>
                          <a:cs typeface="Noto Sans KR"/>
                        </a:rPr>
                        <a:t>빠르게 발전</a:t>
                      </a:r>
                    </a:p>
                  </a:txBody>
                  <a:tcPr marL="73152" marR="73152" marT="82296" marB="82296" anchor="t">
                    <a:lnL w="0">
                      <a:noFill/>
                    </a:lnL>
                    <a:lnR w="0">
                      <a:noFill/>
                    </a:lnR>
                    <a:lnT w="0">
                      <a:noFill/>
                    </a:lnT>
                    <a:lnB w="9525">
                      <a:solidFill>
                        <a:srgbClr val="E2E4E7"/>
                      </a:solidFill>
                    </a:lnB>
                    <a:noFill/>
                  </a:tcPr>
                </a:tc>
                <a:tc>
                  <a:txBody>
                    <a:bodyPr wrap="square"/>
                    <a:lstStyle/>
                    <a:p>
                      <a:pPr algn="l">
                        <a:lnSpc>
                          <a:spcPct val="100000"/>
                        </a:lnSpc>
                      </a:pPr>
                      <a:r>
                        <a:rPr sz="1200" b="0">
                          <a:solidFill>
                            <a:srgbClr val="15171A"/>
                          </a:solidFill>
                          <a:latin typeface="Noto Sans KR"/>
                          <a:ea typeface="Noto Sans KR"/>
                          <a:cs typeface="Noto Sans KR"/>
                        </a:rPr>
                        <a:t>Gemini Robotics 1.5 (2025.9) · NVIDIA Isaac GR00T N1.6 (2026.1) · Physical Intelligence 기업가치 56억 달러 (2025.11)</a:t>
                      </a:r>
                    </a:p>
                  </a:txBody>
                  <a:tcPr marL="73152" marR="73152" marT="82296" marB="82296" anchor="t">
                    <a:lnL w="0">
                      <a:noFill/>
                    </a:lnL>
                    <a:lnR w="0">
                      <a:noFill/>
                    </a:lnR>
                    <a:lnT w="0">
                      <a:noFill/>
                    </a:lnT>
                    <a:lnB w="9525">
                      <a:solidFill>
                        <a:srgbClr val="E2E4E7"/>
                      </a:solidFill>
                    </a:lnB>
                    <a:noFill/>
                  </a:tcPr>
                </a:tc>
              </a:tr>
              <a:tr h="394411">
                <a:tc>
                  <a:txBody>
                    <a:bodyPr wrap="square"/>
                    <a:lstStyle/>
                    <a:p>
                      <a:pPr algn="l">
                        <a:lnSpc>
                          <a:spcPct val="100000"/>
                        </a:lnSpc>
                      </a:pPr>
                      <a:r>
                        <a:rPr sz="1200" b="1">
                          <a:solidFill>
                            <a:srgbClr val="15171A"/>
                          </a:solidFill>
                          <a:latin typeface="Noto Sans KR"/>
                          <a:ea typeface="Noto Sans KR"/>
                          <a:cs typeface="Noto Sans KR"/>
                        </a:rPr>
                        <a:t>눈 · 비전·엣지</a:t>
                      </a:r>
                    </a:p>
                  </a:txBody>
                  <a:tcPr marL="73152" marR="73152" marT="82296" marB="82296" anchor="t">
                    <a:lnL w="0">
                      <a:noFill/>
                    </a:lnL>
                    <a:lnR w="0">
                      <a:noFill/>
                    </a:lnR>
                    <a:lnT w="0">
                      <a:noFill/>
                    </a:lnT>
                    <a:lnB w="9525">
                      <a:solidFill>
                        <a:srgbClr val="E2E4E7"/>
                      </a:solidFill>
                    </a:lnB>
                    <a:noFill/>
                  </a:tcPr>
                </a:tc>
                <a:tc>
                  <a:txBody>
                    <a:bodyPr wrap="square"/>
                    <a:lstStyle/>
                    <a:p>
                      <a:pPr algn="l">
                        <a:lnSpc>
                          <a:spcPct val="100000"/>
                        </a:lnSpc>
                      </a:pPr>
                      <a:r>
                        <a:rPr sz="1200" b="0">
                          <a:solidFill>
                            <a:srgbClr val="15171A"/>
                          </a:solidFill>
                          <a:latin typeface="Noto Sans KR"/>
                          <a:ea typeface="Noto Sans KR"/>
                          <a:cs typeface="Noto Sans KR"/>
                        </a:rPr>
                        <a:t>상용 수준</a:t>
                      </a:r>
                    </a:p>
                  </a:txBody>
                  <a:tcPr marL="73152" marR="73152" marT="82296" marB="82296" anchor="t">
                    <a:lnL w="0">
                      <a:noFill/>
                    </a:lnL>
                    <a:lnR w="0">
                      <a:noFill/>
                    </a:lnR>
                    <a:lnT w="0">
                      <a:noFill/>
                    </a:lnT>
                    <a:lnB w="9525">
                      <a:solidFill>
                        <a:srgbClr val="E2E4E7"/>
                      </a:solidFill>
                    </a:lnB>
                    <a:noFill/>
                  </a:tcPr>
                </a:tc>
                <a:tc>
                  <a:txBody>
                    <a:bodyPr wrap="square"/>
                    <a:lstStyle/>
                    <a:p>
                      <a:pPr algn="l">
                        <a:lnSpc>
                          <a:spcPct val="100000"/>
                        </a:lnSpc>
                      </a:pPr>
                      <a:r>
                        <a:rPr sz="1200" b="0">
                          <a:solidFill>
                            <a:srgbClr val="15171A"/>
                          </a:solidFill>
                          <a:latin typeface="Noto Sans KR"/>
                          <a:ea typeface="Noto Sans KR"/>
                          <a:cs typeface="Noto Sans KR"/>
                        </a:rPr>
                        <a:t>NVIDIA Jetson AGX Thor: 2,070 FP4 TFLOPS, 이전 세대 대비 AI 연산 7.5배 (2025.8)</a:t>
                      </a:r>
                    </a:p>
                  </a:txBody>
                  <a:tcPr marL="73152" marR="73152" marT="82296" marB="82296" anchor="t">
                    <a:lnL w="0">
                      <a:noFill/>
                    </a:lnL>
                    <a:lnR w="0">
                      <a:noFill/>
                    </a:lnR>
                    <a:lnT w="0">
                      <a:noFill/>
                    </a:lnT>
                    <a:lnB w="9525">
                      <a:solidFill>
                        <a:srgbClr val="E2E4E7"/>
                      </a:solidFill>
                    </a:lnB>
                    <a:noFill/>
                  </a:tcPr>
                </a:tc>
              </a:tr>
              <a:tr h="394411">
                <a:tc>
                  <a:txBody>
                    <a:bodyPr wrap="square"/>
                    <a:lstStyle/>
                    <a:p>
                      <a:pPr algn="l">
                        <a:lnSpc>
                          <a:spcPct val="100000"/>
                        </a:lnSpc>
                      </a:pPr>
                      <a:r>
                        <a:rPr sz="1200" b="1">
                          <a:solidFill>
                            <a:srgbClr val="15171A"/>
                          </a:solidFill>
                          <a:latin typeface="Noto Sans KR"/>
                          <a:ea typeface="Noto Sans KR"/>
                          <a:cs typeface="Noto Sans KR"/>
                        </a:rPr>
                        <a:t>몸 · 로봇 팔·휴머노이드</a:t>
                      </a:r>
                    </a:p>
                  </a:txBody>
                  <a:tcPr marL="73152" marR="73152" marT="82296" marB="82296" anchor="t">
                    <a:lnL w="0">
                      <a:noFill/>
                    </a:lnL>
                    <a:lnR w="0">
                      <a:noFill/>
                    </a:lnR>
                    <a:lnT w="0">
                      <a:noFill/>
                    </a:lnT>
                    <a:lnB w="9525">
                      <a:solidFill>
                        <a:srgbClr val="E2E4E7"/>
                      </a:solidFill>
                    </a:lnB>
                    <a:noFill/>
                  </a:tcPr>
                </a:tc>
                <a:tc>
                  <a:txBody>
                    <a:bodyPr wrap="square"/>
                    <a:lstStyle/>
                    <a:p>
                      <a:pPr algn="l">
                        <a:lnSpc>
                          <a:spcPct val="100000"/>
                        </a:lnSpc>
                      </a:pPr>
                      <a:r>
                        <a:rPr sz="1200" b="0">
                          <a:solidFill>
                            <a:srgbClr val="15171A"/>
                          </a:solidFill>
                          <a:latin typeface="Noto Sans KR"/>
                          <a:ea typeface="Noto Sans KR"/>
                          <a:cs typeface="Noto Sans KR"/>
                        </a:rPr>
                        <a:t>대규모 보급</a:t>
                      </a:r>
                    </a:p>
                  </a:txBody>
                  <a:tcPr marL="73152" marR="73152" marT="82296" marB="82296" anchor="t">
                    <a:lnL w="0">
                      <a:noFill/>
                    </a:lnL>
                    <a:lnR w="0">
                      <a:noFill/>
                    </a:lnR>
                    <a:lnT w="0">
                      <a:noFill/>
                    </a:lnT>
                    <a:lnB w="9525">
                      <a:solidFill>
                        <a:srgbClr val="E2E4E7"/>
                      </a:solidFill>
                    </a:lnB>
                    <a:noFill/>
                  </a:tcPr>
                </a:tc>
                <a:tc>
                  <a:txBody>
                    <a:bodyPr wrap="square"/>
                    <a:lstStyle/>
                    <a:p>
                      <a:pPr algn="l">
                        <a:lnSpc>
                          <a:spcPct val="100000"/>
                        </a:lnSpc>
                      </a:pPr>
                      <a:r>
                        <a:rPr sz="1200" b="0">
                          <a:solidFill>
                            <a:srgbClr val="15171A"/>
                          </a:solidFill>
                          <a:latin typeface="Noto Sans KR"/>
                          <a:ea typeface="Noto Sans KR"/>
                          <a:cs typeface="Noto Sans KR"/>
                        </a:rPr>
                        <a:t>산업용 로봇 가동 약 500만 대, 연 60만 대 이상 설치 (IFR, 2026.9) · Figure 기업가치 390억 달러 (2025.9)</a:t>
                      </a:r>
                    </a:p>
                  </a:txBody>
                  <a:tcPr marL="73152" marR="73152" marT="82296" marB="82296" anchor="t">
                    <a:lnL w="0">
                      <a:noFill/>
                    </a:lnL>
                    <a:lnR w="0">
                      <a:noFill/>
                    </a:lnR>
                    <a:lnT w="0">
                      <a:noFill/>
                    </a:lnT>
                    <a:lnB w="9525">
                      <a:solidFill>
                        <a:srgbClr val="E2E4E7"/>
                      </a:solidFill>
                    </a:lnB>
                    <a:noFill/>
                  </a:tcPr>
                </a:tc>
              </a:tr>
              <a:tr h="835761">
                <a:tc>
                  <a:txBody>
                    <a:bodyPr wrap="square"/>
                    <a:lstStyle/>
                    <a:p>
                      <a:pPr algn="l">
                        <a:lnSpc>
                          <a:spcPct val="100000"/>
                        </a:lnSpc>
                      </a:pPr>
                      <a:r>
                        <a:rPr sz="1200" b="1">
                          <a:solidFill>
                            <a:srgbClr val="E2571B"/>
                          </a:solidFill>
                          <a:latin typeface="Noto Sans KR"/>
                          <a:ea typeface="Noto Sans KR"/>
                          <a:cs typeface="Noto Sans KR"/>
                        </a:rPr>
                        <a:t>손 · 현실 세계 조작</a:t>
                      </a:r>
                    </a:p>
                  </a:txBody>
                  <a:tcPr marL="73152" marR="73152" marT="82296" marB="82296" anchor="t">
                    <a:lnL w="0">
                      <a:noFill/>
                    </a:lnL>
                    <a:lnR w="0">
                      <a:noFill/>
                    </a:lnR>
                    <a:lnT w="0">
                      <a:noFill/>
                    </a:lnT>
                    <a:lnB w="9525">
                      <a:solidFill>
                        <a:srgbClr val="E2E4E7"/>
                      </a:solidFill>
                    </a:lnB>
                    <a:noFill/>
                  </a:tcPr>
                </a:tc>
                <a:tc>
                  <a:txBody>
                    <a:bodyPr wrap="square"/>
                    <a:lstStyle/>
                    <a:p>
                      <a:pPr algn="l">
                        <a:lnSpc>
                          <a:spcPct val="100000"/>
                        </a:lnSpc>
                      </a:pPr>
                      <a:r>
                        <a:rPr sz="1200" b="1">
                          <a:solidFill>
                            <a:srgbClr val="E2571B"/>
                          </a:solidFill>
                          <a:latin typeface="Noto Sans KR"/>
                          <a:ea typeface="Noto Sans KR"/>
                          <a:cs typeface="Noto Sans KR"/>
                        </a:rPr>
                        <a:t>아직 병목</a:t>
                      </a:r>
                    </a:p>
                  </a:txBody>
                  <a:tcPr marL="73152" marR="73152" marT="82296" marB="82296" anchor="t">
                    <a:lnL w="0">
                      <a:noFill/>
                    </a:lnL>
                    <a:lnR w="0">
                      <a:noFill/>
                    </a:lnR>
                    <a:lnT w="0">
                      <a:noFill/>
                    </a:lnT>
                    <a:lnB w="9525">
                      <a:solidFill>
                        <a:srgbClr val="E2E4E7"/>
                      </a:solidFill>
                    </a:lnB>
                    <a:noFill/>
                  </a:tcPr>
                </a:tc>
                <a:tc>
                  <a:txBody>
                    <a:bodyPr wrap="square"/>
                    <a:lstStyle/>
                    <a:p>
                      <a:pPr algn="l">
                        <a:lnSpc>
                          <a:spcPct val="100000"/>
                        </a:lnSpc>
                      </a:pPr>
                      <a:r>
                        <a:rPr sz="1200" b="0">
                          <a:solidFill>
                            <a:srgbClr val="15171A"/>
                          </a:solidFill>
                          <a:latin typeface="Noto Sans KR"/>
                          <a:ea typeface="Noto Sans KR"/>
                          <a:cs typeface="Noto Sans KR"/>
                        </a:rPr>
                        <a:t>"The forearm and hand are more difficult than the entire rest of the robot." Elon Musk, Tesla 2025년 3분기 실적 발표 (2025.10)</a:t>
                      </a:r>
                    </a:p>
                    <a:p>
                      <a:pPr algn="l">
                        <a:lnSpc>
                          <a:spcPct val="100000"/>
                        </a:lnSpc>
                      </a:pPr>
                      <a:r>
                        <a:rPr sz="1200" b="0">
                          <a:solidFill>
                            <a:srgbClr val="15171A"/>
                          </a:solidFill>
                          <a:latin typeface="Noto Sans KR"/>
                          <a:ea typeface="Noto Sans KR"/>
                          <a:cs typeface="Noto Sans KR"/>
                        </a:rPr>
                        <a:t>NVIDIA 레퍼런스 휴머노이드(2026.6) 외부 촉각 핸드 채택 · Figure 03 촉각 손끝 (3g 감지, 2025.10)</a:t>
                      </a:r>
                    </a:p>
                  </a:txBody>
                  <a:tcPr marL="73152" marR="73152" marT="82296" marB="82296" anchor="t">
                    <a:lnL w="0">
                      <a:noFill/>
                    </a:lnL>
                    <a:lnR w="0">
                      <a:noFill/>
                    </a:lnR>
                    <a:lnT w="0">
                      <a:noFill/>
                    </a:lnT>
                    <a:lnB w="9525">
                      <a:solidFill>
                        <a:srgbClr val="E2E4E7"/>
                      </a:solidFill>
                    </a:lnB>
                    <a:noFill/>
                  </a:tcPr>
                </a:tc>
              </a:tr>
              <a:tr h="615086">
                <a:tc>
                  <a:txBody>
                    <a:bodyPr wrap="square"/>
                    <a:lstStyle/>
                    <a:p>
                      <a:pPr algn="l">
                        <a:lnSpc>
                          <a:spcPct val="100000"/>
                        </a:lnSpc>
                      </a:pPr>
                      <a:r>
                        <a:rPr sz="1200" b="1">
                          <a:solidFill>
                            <a:srgbClr val="15171A"/>
                          </a:solidFill>
                          <a:latin typeface="Noto Sans KR"/>
                          <a:ea typeface="Noto Sans KR"/>
                          <a:cs typeface="Noto Sans KR"/>
                        </a:rPr>
                        <a:t>자본 유입</a:t>
                      </a:r>
                    </a:p>
                  </a:txBody>
                  <a:tcPr marL="73152" marR="73152" marT="82296" marB="82296" anchor="t">
                    <a:lnL w="0">
                      <a:noFill/>
                    </a:lnL>
                    <a:lnR w="0">
                      <a:noFill/>
                    </a:lnR>
                    <a:lnT w="0">
                      <a:noFill/>
                    </a:lnT>
                    <a:lnB w="9525">
                      <a:solidFill>
                        <a:srgbClr val="E2E4E7"/>
                      </a:solidFill>
                    </a:lnB>
                    <a:noFill/>
                  </a:tcPr>
                </a:tc>
                <a:tc>
                  <a:txBody>
                    <a:bodyPr wrap="square"/>
                    <a:lstStyle/>
                    <a:p>
                      <a:pPr algn="l">
                        <a:lnSpc>
                          <a:spcPct val="100000"/>
                        </a:lnSpc>
                      </a:pPr>
                      <a:r>
                        <a:rPr sz="1200" b="0">
                          <a:solidFill>
                            <a:srgbClr val="15171A"/>
                          </a:solidFill>
                          <a:latin typeface="Noto Sans KR"/>
                          <a:ea typeface="Noto Sans KR"/>
                          <a:cs typeface="Noto Sans KR"/>
                        </a:rPr>
                        <a:t>—</a:t>
                      </a:r>
                    </a:p>
                  </a:txBody>
                  <a:tcPr marL="73152" marR="73152" marT="82296" marB="82296" anchor="t">
                    <a:lnL w="0">
                      <a:noFill/>
                    </a:lnL>
                    <a:lnR w="0">
                      <a:noFill/>
                    </a:lnR>
                    <a:lnT w="0">
                      <a:noFill/>
                    </a:lnT>
                    <a:lnB w="9525">
                      <a:solidFill>
                        <a:srgbClr val="E2E4E7"/>
                      </a:solidFill>
                    </a:lnB>
                    <a:noFill/>
                  </a:tcPr>
                </a:tc>
                <a:tc>
                  <a:txBody>
                    <a:bodyPr wrap="square"/>
                    <a:lstStyle/>
                    <a:p>
                      <a:pPr algn="l">
                        <a:lnSpc>
                          <a:spcPct val="100000"/>
                        </a:lnSpc>
                      </a:pPr>
                      <a:r>
                        <a:rPr sz="1200" b="0">
                          <a:solidFill>
                            <a:srgbClr val="15171A"/>
                          </a:solidFill>
                          <a:latin typeface="Noto Sans KR"/>
                          <a:ea typeface="Noto Sans KR"/>
                          <a:cs typeface="Noto Sans KR"/>
                        </a:rPr>
                        <a:t>로보틱스 스타트업 투자 2025년 150억 달러 (사상 최대), 2026년 상반기 188억 달러 (Crunchbase News, 2026.6)</a:t>
                      </a:r>
                    </a:p>
                  </a:txBody>
                  <a:tcPr marL="73152" marR="73152" marT="82296" marB="82296" anchor="t">
                    <a:lnL w="0">
                      <a:noFill/>
                    </a:lnL>
                    <a:lnR w="0">
                      <a:noFill/>
                    </a:lnR>
                    <a:lnT w="0">
                      <a:noFill/>
                    </a:lnT>
                    <a:lnB w="9525">
                      <a:solidFill>
                        <a:srgbClr val="E2E4E7"/>
                      </a:solidFill>
                    </a:lnB>
                    <a:noFill/>
                  </a:tcPr>
                </a:tc>
              </a:tr>
            </a:tbl>
          </a:graphicData>
        </a:graphic>
      </p:graphicFrame>
      <p:sp>
        <p:nvSpPr>
          <p:cNvPr id="6" name="TextBox 5"/>
          <p:cNvSpPr txBox="1"/>
          <p:nvPr/>
        </p:nvSpPr>
        <p:spPr>
          <a:xfrm>
            <a:off x="685800" y="6107176"/>
            <a:ext cx="10820095" cy="202184"/>
          </a:xfrm>
          <a:prstGeom prst="rect">
            <a:avLst/>
          </a:prstGeom>
          <a:noFill/>
        </p:spPr>
        <p:txBody>
          <a:bodyPr wrap="square" lIns="0" rIns="0" tIns="0" bIns="0" anchor="t">
            <a:spAutoFit/>
          </a:bodyPr>
          <a:lstStyle/>
          <a:p>
            <a:pPr algn="l">
              <a:lnSpc>
                <a:spcPct val="100000"/>
              </a:lnSpc>
            </a:pPr>
            <a:r>
              <a:rPr sz="1000" b="0">
                <a:solidFill>
                  <a:srgbClr val="8C9198"/>
                </a:solidFill>
                <a:latin typeface="Noto Sans KR"/>
                <a:ea typeface="Noto Sans KR"/>
                <a:cs typeface="Noto Sans KR"/>
              </a:rPr>
              <a:t>해석: 두뇌·눈·몸이 상용화되면서 사람용 물체·도구·조작부를 다루는 조작 계층이 병목, 주방은 도구·형상·힘 조절이 가장 다양한 대표 환경</a:t>
            </a:r>
          </a:p>
        </p:txBody>
      </p:sp>
      <p:sp>
        <p:nvSpPr>
          <p:cNvPr id="7" name="TextBox 6"/>
          <p:cNvSpPr txBox="1"/>
          <p:nvPr/>
        </p:nvSpPr>
        <p:spPr>
          <a:xfrm>
            <a:off x="685800" y="6446520"/>
            <a:ext cx="5486400" cy="201168"/>
          </a:xfrm>
          <a:prstGeom prst="rect">
            <a:avLst/>
          </a:prstGeom>
          <a:noFill/>
        </p:spPr>
        <p:txBody>
          <a:bodyPr wrap="square" lIns="0" rIns="0" tIns="0" bIns="0" anchor="t">
            <a:spAutoFit/>
          </a:bodyPr>
          <a:lstStyle/>
          <a:p>
            <a:pPr algn="l">
              <a:lnSpc>
                <a:spcPct val="100000"/>
              </a:lnSpc>
            </a:pPr>
            <a:r>
              <a:rPr sz="900" b="0">
                <a:solidFill>
                  <a:srgbClr val="8C9198"/>
                </a:solidFill>
                <a:latin typeface="Noto Sans KR"/>
                <a:ea typeface="Noto Sans KR"/>
                <a:cs typeface="Noto Sans KR"/>
              </a:rPr>
              <a:t>SoftHand  |  주방 로봇 조작 플랫폼  |  Seed 투자 제안서</a:t>
            </a:r>
          </a:p>
        </p:txBody>
      </p:sp>
      <p:sp>
        <p:nvSpPr>
          <p:cNvPr id="8" name="TextBox 7"/>
          <p:cNvSpPr txBox="1"/>
          <p:nvPr/>
        </p:nvSpPr>
        <p:spPr>
          <a:xfrm>
            <a:off x="3154680" y="6446520"/>
            <a:ext cx="7802575" cy="201168"/>
          </a:xfrm>
          <a:prstGeom prst="rect">
            <a:avLst/>
          </a:prstGeom>
          <a:noFill/>
        </p:spPr>
        <p:txBody>
          <a:bodyPr wrap="square" lIns="0" rIns="0" tIns="0" bIns="0" anchor="t">
            <a:spAutoFit/>
          </a:bodyPr>
          <a:lstStyle/>
          <a:p>
            <a:pPr algn="r">
              <a:lnSpc>
                <a:spcPct val="100000"/>
              </a:lnSpc>
            </a:pPr>
            <a:r>
              <a:rPr sz="900" b="0">
                <a:solidFill>
                  <a:srgbClr val="8C9198"/>
                </a:solidFill>
                <a:latin typeface="Noto Sans KR"/>
                <a:ea typeface="Noto Sans KR"/>
                <a:cs typeface="Noto Sans KR"/>
              </a:rPr>
              <a:t>출처: A17 S4~S11</a:t>
            </a:r>
          </a:p>
        </p:txBody>
      </p:sp>
      <p:sp>
        <p:nvSpPr>
          <p:cNvPr id="9" name="TextBox 8"/>
          <p:cNvSpPr txBox="1"/>
          <p:nvPr/>
        </p:nvSpPr>
        <p:spPr>
          <a:xfrm>
            <a:off x="11048695" y="6446520"/>
            <a:ext cx="457200" cy="201168"/>
          </a:xfrm>
          <a:prstGeom prst="rect">
            <a:avLst/>
          </a:prstGeom>
          <a:noFill/>
        </p:spPr>
        <p:txBody>
          <a:bodyPr wrap="square" lIns="0" rIns="0" tIns="0" bIns="0" anchor="t">
            <a:spAutoFit/>
          </a:bodyPr>
          <a:lstStyle/>
          <a:p>
            <a:pPr algn="r">
              <a:lnSpc>
                <a:spcPct val="100000"/>
              </a:lnSpc>
            </a:pPr>
            <a:r>
              <a:rPr sz="900" b="0">
                <a:solidFill>
                  <a:srgbClr val="8C9198"/>
                </a:solidFill>
                <a:latin typeface="Noto Sans KR"/>
                <a:ea typeface="Noto Sans KR"/>
                <a:cs typeface="Noto Sans KR"/>
              </a:rPr>
              <a:t>A7</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502920"/>
            <a:ext cx="7315200" cy="256032"/>
          </a:xfrm>
          <a:prstGeom prst="rect">
            <a:avLst/>
          </a:prstGeom>
          <a:noFill/>
        </p:spPr>
        <p:txBody>
          <a:bodyPr wrap="square" lIns="0" rIns="0" tIns="0" bIns="0" anchor="t">
            <a:spAutoFit/>
          </a:bodyPr>
          <a:lstStyle/>
          <a:p>
            <a:pPr algn="l">
              <a:lnSpc>
                <a:spcPct val="100000"/>
              </a:lnSpc>
            </a:pPr>
            <a:r>
              <a:rPr sz="1100" b="1">
                <a:solidFill>
                  <a:srgbClr val="E2571B"/>
                </a:solidFill>
                <a:latin typeface="Noto Sans KR"/>
                <a:ea typeface="Noto Sans KR"/>
                <a:cs typeface="Noto Sans KR"/>
              </a:rPr>
              <a:t>부록 A8</a:t>
            </a:r>
          </a:p>
        </p:txBody>
      </p:sp>
      <p:sp>
        <p:nvSpPr>
          <p:cNvPr id="3" name="TextBox 2"/>
          <p:cNvSpPr txBox="1"/>
          <p:nvPr/>
        </p:nvSpPr>
        <p:spPr>
          <a:xfrm>
            <a:off x="685800" y="822960"/>
            <a:ext cx="10820095" cy="475488"/>
          </a:xfrm>
          <a:prstGeom prst="rect">
            <a:avLst/>
          </a:prstGeom>
          <a:noFill/>
        </p:spPr>
        <p:txBody>
          <a:bodyPr wrap="square" lIns="0" rIns="0" tIns="0" bIns="0" anchor="t">
            <a:spAutoFit/>
          </a:bodyPr>
          <a:lstStyle/>
          <a:p>
            <a:pPr algn="l">
              <a:lnSpc>
                <a:spcPct val="95000"/>
              </a:lnSpc>
            </a:pPr>
            <a:r>
              <a:rPr sz="2600" b="1">
                <a:solidFill>
                  <a:srgbClr val="15171A"/>
                </a:solidFill>
                <a:latin typeface="Noto Sans KR"/>
                <a:ea typeface="Noto Sans KR"/>
                <a:cs typeface="Noto Sans KR"/>
              </a:rPr>
              <a:t>시장 근거: 주방 인력·자동화 수요·로봇 보급</a:t>
            </a:r>
          </a:p>
        </p:txBody>
      </p:sp>
      <p:sp>
        <p:nvSpPr>
          <p:cNvPr id="4" name="TextBox 3"/>
          <p:cNvSpPr txBox="1"/>
          <p:nvPr/>
        </p:nvSpPr>
        <p:spPr>
          <a:xfrm>
            <a:off x="685800" y="1353312"/>
            <a:ext cx="10820095" cy="274320"/>
          </a:xfrm>
          <a:prstGeom prst="rect">
            <a:avLst/>
          </a:prstGeom>
          <a:noFill/>
        </p:spPr>
        <p:txBody>
          <a:bodyPr wrap="square" lIns="0" rIns="0" tIns="0" bIns="0" anchor="t">
            <a:spAutoFit/>
          </a:bodyPr>
          <a:lstStyle/>
          <a:p>
            <a:pPr algn="l">
              <a:lnSpc>
                <a:spcPct val="100000"/>
              </a:lnSpc>
            </a:pPr>
            <a:r>
              <a:rPr sz="1300" b="0">
                <a:solidFill>
                  <a:srgbClr val="4A4F57"/>
                </a:solidFill>
                <a:latin typeface="Noto Sans KR"/>
                <a:ea typeface="Noto Sans KR"/>
                <a:cs typeface="Noto Sans KR"/>
              </a:rPr>
              <a:t>본문은 시장 규모 숫자보다 구조(07·11장), 수치 근거는 이 장에 모음</a:t>
            </a:r>
          </a:p>
        </p:txBody>
      </p:sp>
      <p:sp>
        <p:nvSpPr>
          <p:cNvPr id="5" name="TextBox 4"/>
          <p:cNvSpPr txBox="1"/>
          <p:nvPr/>
        </p:nvSpPr>
        <p:spPr>
          <a:xfrm>
            <a:off x="685800" y="1874519"/>
            <a:ext cx="4023360" cy="274320"/>
          </a:xfrm>
          <a:prstGeom prst="rect">
            <a:avLst/>
          </a:prstGeom>
          <a:noFill/>
        </p:spPr>
        <p:txBody>
          <a:bodyPr wrap="square" lIns="0" rIns="0" tIns="0" bIns="0" anchor="t">
            <a:spAutoFit/>
          </a:bodyPr>
          <a:lstStyle/>
          <a:p>
            <a:pPr algn="l">
              <a:lnSpc>
                <a:spcPct val="100000"/>
              </a:lnSpc>
            </a:pPr>
            <a:r>
              <a:rPr sz="1200" b="1">
                <a:solidFill>
                  <a:srgbClr val="8C9198"/>
                </a:solidFill>
                <a:latin typeface="Noto Sans KR"/>
                <a:ea typeface="Noto Sans KR"/>
                <a:cs typeface="Noto Sans KR"/>
              </a:rPr>
              <a:t>연간 산업용 로봇 신규 설치 (천 대, IFR)</a:t>
            </a:r>
          </a:p>
        </p:txBody>
      </p:sp>
      <p:graphicFrame>
        <p:nvGraphicFramePr>
          <p:cNvPr id="6" name="Chart 5"/>
          <p:cNvGraphicFramePr>
            <a:graphicFrameLocks noGrp="1"/>
          </p:cNvGraphicFramePr>
          <p:nvPr/>
        </p:nvGraphicFramePr>
        <p:xfrm>
          <a:off x="685800" y="2240280"/>
          <a:ext cx="4023360" cy="2651760"/>
        </p:xfrm>
        <a:graphic>
          <a:graphicData uri="http://schemas.openxmlformats.org/drawingml/2006/chart">
            <c:chart xmlns:c="http://schemas.openxmlformats.org/drawingml/2006/chart" r:id="rId2"/>
          </a:graphicData>
        </a:graphic>
      </p:graphicFrame>
      <p:sp>
        <p:nvSpPr>
          <p:cNvPr id="7" name="TextBox 6"/>
          <p:cNvSpPr txBox="1"/>
          <p:nvPr/>
        </p:nvSpPr>
        <p:spPr>
          <a:xfrm>
            <a:off x="639165" y="4646980"/>
            <a:ext cx="1280160" cy="274320"/>
          </a:xfrm>
          <a:prstGeom prst="rect">
            <a:avLst/>
          </a:prstGeom>
          <a:noFill/>
        </p:spPr>
        <p:txBody>
          <a:bodyPr wrap="square" lIns="0" rIns="0" tIns="0" bIns="0" anchor="t">
            <a:spAutoFit/>
          </a:bodyPr>
          <a:lstStyle/>
          <a:p>
            <a:pPr algn="ctr">
              <a:lnSpc>
                <a:spcPct val="100000"/>
              </a:lnSpc>
            </a:pPr>
            <a:r>
              <a:rPr sz="1200" b="0">
                <a:solidFill>
                  <a:srgbClr val="4A4F57"/>
                </a:solidFill>
                <a:latin typeface="Noto Sans KR"/>
                <a:ea typeface="Noto Sans KR"/>
                <a:cs typeface="Noto Sans KR"/>
              </a:rPr>
              <a:t>2024</a:t>
            </a:r>
          </a:p>
        </p:txBody>
      </p:sp>
      <p:sp>
        <p:nvSpPr>
          <p:cNvPr id="8" name="TextBox 7"/>
          <p:cNvSpPr txBox="1"/>
          <p:nvPr/>
        </p:nvSpPr>
        <p:spPr>
          <a:xfrm>
            <a:off x="1584655" y="4646980"/>
            <a:ext cx="1280160" cy="274320"/>
          </a:xfrm>
          <a:prstGeom prst="rect">
            <a:avLst/>
          </a:prstGeom>
          <a:noFill/>
        </p:spPr>
        <p:txBody>
          <a:bodyPr wrap="square" lIns="0" rIns="0" tIns="0" bIns="0" anchor="t">
            <a:spAutoFit/>
          </a:bodyPr>
          <a:lstStyle/>
          <a:p>
            <a:pPr algn="ctr">
              <a:lnSpc>
                <a:spcPct val="100000"/>
              </a:lnSpc>
            </a:pPr>
            <a:r>
              <a:rPr sz="1200" b="0">
                <a:solidFill>
                  <a:srgbClr val="4A4F57"/>
                </a:solidFill>
                <a:latin typeface="Noto Sans KR"/>
                <a:ea typeface="Noto Sans KR"/>
                <a:cs typeface="Noto Sans KR"/>
              </a:rPr>
              <a:t>2025</a:t>
            </a:r>
          </a:p>
        </p:txBody>
      </p:sp>
      <p:sp>
        <p:nvSpPr>
          <p:cNvPr id="9" name="TextBox 8"/>
          <p:cNvSpPr txBox="1"/>
          <p:nvPr/>
        </p:nvSpPr>
        <p:spPr>
          <a:xfrm>
            <a:off x="2530144" y="4646980"/>
            <a:ext cx="1280160" cy="274320"/>
          </a:xfrm>
          <a:prstGeom prst="rect">
            <a:avLst/>
          </a:prstGeom>
          <a:noFill/>
        </p:spPr>
        <p:txBody>
          <a:bodyPr wrap="square" lIns="0" rIns="0" tIns="0" bIns="0" anchor="t">
            <a:spAutoFit/>
          </a:bodyPr>
          <a:lstStyle/>
          <a:p>
            <a:pPr algn="ctr">
              <a:lnSpc>
                <a:spcPct val="100000"/>
              </a:lnSpc>
            </a:pPr>
            <a:r>
              <a:rPr sz="1200" b="0">
                <a:solidFill>
                  <a:srgbClr val="4A4F57"/>
                </a:solidFill>
                <a:latin typeface="Noto Sans KR"/>
                <a:ea typeface="Noto Sans KR"/>
                <a:cs typeface="Noto Sans KR"/>
              </a:rPr>
              <a:t>2026F</a:t>
            </a:r>
          </a:p>
        </p:txBody>
      </p:sp>
      <p:sp>
        <p:nvSpPr>
          <p:cNvPr id="10" name="TextBox 9"/>
          <p:cNvSpPr txBox="1"/>
          <p:nvPr/>
        </p:nvSpPr>
        <p:spPr>
          <a:xfrm>
            <a:off x="3475634" y="4646980"/>
            <a:ext cx="1280160" cy="274320"/>
          </a:xfrm>
          <a:prstGeom prst="rect">
            <a:avLst/>
          </a:prstGeom>
          <a:noFill/>
        </p:spPr>
        <p:txBody>
          <a:bodyPr wrap="square" lIns="0" rIns="0" tIns="0" bIns="0" anchor="t">
            <a:spAutoFit/>
          </a:bodyPr>
          <a:lstStyle/>
          <a:p>
            <a:pPr algn="ctr">
              <a:lnSpc>
                <a:spcPct val="100000"/>
              </a:lnSpc>
            </a:pPr>
            <a:r>
              <a:rPr sz="1200" b="0">
                <a:solidFill>
                  <a:srgbClr val="4A4F57"/>
                </a:solidFill>
                <a:latin typeface="Noto Sans KR"/>
                <a:ea typeface="Noto Sans KR"/>
                <a:cs typeface="Noto Sans KR"/>
              </a:rPr>
              <a:t>2029F</a:t>
            </a:r>
          </a:p>
        </p:txBody>
      </p:sp>
      <p:sp>
        <p:nvSpPr>
          <p:cNvPr id="11" name="TextBox 10"/>
          <p:cNvSpPr txBox="1"/>
          <p:nvPr/>
        </p:nvSpPr>
        <p:spPr>
          <a:xfrm>
            <a:off x="685800" y="5166360"/>
            <a:ext cx="4023360" cy="548640"/>
          </a:xfrm>
          <a:prstGeom prst="rect">
            <a:avLst/>
          </a:prstGeom>
          <a:noFill/>
        </p:spPr>
        <p:txBody>
          <a:bodyPr wrap="square" lIns="0" rIns="0" tIns="0" bIns="0" anchor="t">
            <a:spAutoFit/>
          </a:bodyPr>
          <a:lstStyle/>
          <a:p>
            <a:pPr algn="l">
              <a:lnSpc>
                <a:spcPct val="100000"/>
              </a:lnSpc>
            </a:pPr>
            <a:r>
              <a:rPr sz="1150" b="0">
                <a:solidFill>
                  <a:srgbClr val="4A4F57"/>
                </a:solidFill>
                <a:latin typeface="Noto Sans KR"/>
                <a:ea typeface="Noto Sans KR"/>
                <a:cs typeface="Noto Sans KR"/>
              </a:rPr>
              <a:t>가동 중 산업용 로봇 약 500만 대 (2025년 말)</a:t>
            </a:r>
          </a:p>
          <a:p>
            <a:pPr algn="l">
              <a:lnSpc>
                <a:spcPct val="100000"/>
              </a:lnSpc>
            </a:pPr>
            <a:r>
              <a:rPr sz="1150" b="0">
                <a:solidFill>
                  <a:srgbClr val="4A4F57"/>
                </a:solidFill>
                <a:latin typeface="Noto Sans KR"/>
                <a:ea typeface="Noto Sans KR"/>
                <a:cs typeface="Noto Sans KR"/>
              </a:rPr>
              <a:t>한국 로봇 밀도 1,220대 / 직원 1만 명</a:t>
            </a:r>
          </a:p>
        </p:txBody>
      </p:sp>
      <p:graphicFrame>
        <p:nvGraphicFramePr>
          <p:cNvPr id="12" name="Table 11"/>
          <p:cNvGraphicFramePr>
            <a:graphicFrameLocks noGrp="1"/>
          </p:cNvGraphicFramePr>
          <p:nvPr/>
        </p:nvGraphicFramePr>
        <p:xfrm>
          <a:off x="5166360" y="1874519"/>
          <a:ext cx="6339535" cy="2910939"/>
        </p:xfrm>
        <a:graphic>
          <a:graphicData uri="http://schemas.openxmlformats.org/drawingml/2006/table">
            <a:tbl>
              <a:tblPr firstRow="0" bandRow="0">
                <a:tableStyleId>{2D5ABB26-0587-4C30-8999-92F81FD0307C}</a:tableStyleId>
              </a:tblPr>
              <a:tblGrid>
                <a:gridCol w="1143000"/>
                <a:gridCol w="3093415"/>
                <a:gridCol w="2103120"/>
              </a:tblGrid>
              <a:tr h="339445">
                <a:tc>
                  <a:txBody>
                    <a:bodyPr wrap="square"/>
                    <a:lstStyle/>
                    <a:p>
                      <a:pPr algn="l">
                        <a:lnSpc>
                          <a:spcPct val="100000"/>
                        </a:lnSpc>
                      </a:pPr>
                      <a:r>
                        <a:rPr sz="1100" b="1">
                          <a:solidFill>
                            <a:srgbClr val="15171A"/>
                          </a:solidFill>
                          <a:latin typeface="Noto Sans KR"/>
                          <a:ea typeface="Noto Sans KR"/>
                          <a:cs typeface="Noto Sans KR"/>
                        </a:rPr>
                        <a:t>구분</a:t>
                      </a:r>
                    </a:p>
                  </a:txBody>
                  <a:tcPr marL="73152" marR="73152" marT="64008" marB="64008" anchor="t">
                    <a:lnL w="0">
                      <a:noFill/>
                    </a:lnL>
                    <a:lnR w="0">
                      <a:noFill/>
                    </a:lnR>
                    <a:lnT w="12700">
                      <a:solidFill>
                        <a:srgbClr val="15171A"/>
                      </a:solidFill>
                    </a:lnT>
                    <a:lnB w="9525">
                      <a:solidFill>
                        <a:srgbClr val="15171A"/>
                      </a:solidFill>
                    </a:lnB>
                    <a:noFill/>
                  </a:tcPr>
                </a:tc>
                <a:tc>
                  <a:txBody>
                    <a:bodyPr wrap="square"/>
                    <a:lstStyle/>
                    <a:p>
                      <a:pPr algn="l">
                        <a:lnSpc>
                          <a:spcPct val="100000"/>
                        </a:lnSpc>
                      </a:pPr>
                      <a:r>
                        <a:rPr sz="1100" b="1">
                          <a:solidFill>
                            <a:srgbClr val="15171A"/>
                          </a:solidFill>
                          <a:latin typeface="Noto Sans KR"/>
                          <a:ea typeface="Noto Sans KR"/>
                          <a:cs typeface="Noto Sans KR"/>
                        </a:rPr>
                        <a:t>내용</a:t>
                      </a:r>
                    </a:p>
                  </a:txBody>
                  <a:tcPr marL="73152" marR="73152" marT="64008" marB="64008" anchor="t">
                    <a:lnL w="0">
                      <a:noFill/>
                    </a:lnL>
                    <a:lnR w="0">
                      <a:noFill/>
                    </a:lnR>
                    <a:lnT w="12700">
                      <a:solidFill>
                        <a:srgbClr val="15171A"/>
                      </a:solidFill>
                    </a:lnT>
                    <a:lnB w="9525">
                      <a:solidFill>
                        <a:srgbClr val="15171A"/>
                      </a:solidFill>
                    </a:lnB>
                    <a:noFill/>
                  </a:tcPr>
                </a:tc>
                <a:tc>
                  <a:txBody>
                    <a:bodyPr wrap="square"/>
                    <a:lstStyle/>
                    <a:p>
                      <a:pPr algn="l">
                        <a:lnSpc>
                          <a:spcPct val="100000"/>
                        </a:lnSpc>
                      </a:pPr>
                      <a:r>
                        <a:rPr sz="1100" b="1">
                          <a:solidFill>
                            <a:srgbClr val="15171A"/>
                          </a:solidFill>
                          <a:latin typeface="Noto Sans KR"/>
                          <a:ea typeface="Noto Sans KR"/>
                          <a:cs typeface="Noto Sans KR"/>
                        </a:rPr>
                        <a:t>출처</a:t>
                      </a:r>
                    </a:p>
                  </a:txBody>
                  <a:tcPr marL="73152" marR="73152" marT="64008" marB="64008" anchor="t">
                    <a:lnL w="0">
                      <a:noFill/>
                    </a:lnL>
                    <a:lnR w="0">
                      <a:noFill/>
                    </a:lnR>
                    <a:lnT w="12700">
                      <a:solidFill>
                        <a:srgbClr val="15171A"/>
                      </a:solidFill>
                    </a:lnT>
                    <a:lnB w="9525">
                      <a:solidFill>
                        <a:srgbClr val="15171A"/>
                      </a:solidFill>
                    </a:lnB>
                    <a:noFill/>
                  </a:tcPr>
                </a:tc>
              </a:tr>
              <a:tr h="744016">
                <a:tc>
                  <a:txBody>
                    <a:bodyPr wrap="square"/>
                    <a:lstStyle/>
                    <a:p>
                      <a:pPr algn="l">
                        <a:lnSpc>
                          <a:spcPct val="100000"/>
                        </a:lnSpc>
                      </a:pPr>
                      <a:r>
                        <a:rPr sz="1100" b="1">
                          <a:solidFill>
                            <a:srgbClr val="15171A"/>
                          </a:solidFill>
                          <a:latin typeface="Noto Sans KR"/>
                          <a:ea typeface="Noto Sans KR"/>
                          <a:cs typeface="Noto Sans KR"/>
                        </a:rPr>
                        <a:t>주방 인력</a:t>
                      </a:r>
                    </a:p>
                  </a:txBody>
                  <a:tcPr marL="73152" marR="73152" marT="64008" marB="64008" anchor="t">
                    <a:lnL w="0">
                      <a:noFill/>
                    </a:lnL>
                    <a:lnR w="0">
                      <a:noFill/>
                    </a:lnR>
                    <a:lnT w="0">
                      <a:noFill/>
                    </a:lnT>
                    <a:lnB w="9525">
                      <a:solidFill>
                        <a:srgbClr val="E2E4E7"/>
                      </a:solidFill>
                    </a:lnB>
                    <a:noFill/>
                  </a:tcPr>
                </a:tc>
                <a:tc>
                  <a:txBody>
                    <a:bodyPr wrap="square"/>
                    <a:lstStyle/>
                    <a:p>
                      <a:pPr algn="l">
                        <a:lnSpc>
                          <a:spcPct val="100000"/>
                        </a:lnSpc>
                      </a:pPr>
                      <a:r>
                        <a:rPr sz="1100" b="0">
                          <a:solidFill>
                            <a:srgbClr val="15171A"/>
                          </a:solidFill>
                          <a:latin typeface="Noto Sans KR"/>
                          <a:ea typeface="Noto Sans KR"/>
                          <a:cs typeface="Noto Sans KR"/>
                        </a:rPr>
                        <a:t>조리·식당 서비스 인력 부족률, 2023년 코로나19 이전 대비 약 2배</a:t>
                      </a:r>
                    </a:p>
                    <a:p>
                      <a:pPr algn="l">
                        <a:lnSpc>
                          <a:spcPct val="100000"/>
                        </a:lnSpc>
                      </a:pPr>
                      <a:r>
                        <a:rPr sz="1100" b="0">
                          <a:solidFill>
                            <a:srgbClr val="15171A"/>
                          </a:solidFill>
                          <a:latin typeface="Noto Sans KR"/>
                          <a:ea typeface="Noto Sans KR"/>
                          <a:cs typeface="Noto Sans KR"/>
                        </a:rPr>
                        <a:t>외식업체 952곳 중 27.6% 인력난 응답 (2023)</a:t>
                      </a:r>
                    </a:p>
                  </a:txBody>
                  <a:tcPr marL="73152" marR="73152" marT="64008" marB="64008" anchor="t">
                    <a:lnL w="0">
                      <a:noFill/>
                    </a:lnL>
                    <a:lnR w="0">
                      <a:noFill/>
                    </a:lnR>
                    <a:lnT w="0">
                      <a:noFill/>
                    </a:lnT>
                    <a:lnB w="9525">
                      <a:solidFill>
                        <a:srgbClr val="E2E4E7"/>
                      </a:solidFill>
                    </a:lnB>
                    <a:noFill/>
                  </a:tcPr>
                </a:tc>
                <a:tc>
                  <a:txBody>
                    <a:bodyPr wrap="square"/>
                    <a:lstStyle/>
                    <a:p>
                      <a:pPr algn="l">
                        <a:lnSpc>
                          <a:spcPct val="100000"/>
                        </a:lnSpc>
                      </a:pPr>
                      <a:r>
                        <a:rPr sz="1100" b="0">
                          <a:solidFill>
                            <a:srgbClr val="15171A"/>
                          </a:solidFill>
                          <a:latin typeface="Noto Sans KR"/>
                          <a:ea typeface="Noto Sans KR"/>
                          <a:cs typeface="Noto Sans KR"/>
                        </a:rPr>
                        <a:t>한국외식산업연구원·고용노동부 자료</a:t>
                      </a:r>
                    </a:p>
                    <a:p>
                      <a:pPr algn="l">
                        <a:lnSpc>
                          <a:spcPct val="100000"/>
                        </a:lnSpc>
                      </a:pPr>
                      <a:r>
                        <a:rPr sz="1100" b="0">
                          <a:solidFill>
                            <a:srgbClr val="15171A"/>
                          </a:solidFill>
                          <a:latin typeface="Noto Sans KR"/>
                          <a:ea typeface="Noto Sans KR"/>
                          <a:cs typeface="Noto Sans KR"/>
                        </a:rPr>
                        <a:t>(헤럴드경제, 2025.5)</a:t>
                      </a:r>
                    </a:p>
                  </a:txBody>
                  <a:tcPr marL="73152" marR="73152" marT="64008" marB="64008" anchor="t">
                    <a:lnL w="0">
                      <a:noFill/>
                    </a:lnL>
                    <a:lnR w="0">
                      <a:noFill/>
                    </a:lnR>
                    <a:lnT w="0">
                      <a:noFill/>
                    </a:lnT>
                    <a:lnB w="9525">
                      <a:solidFill>
                        <a:srgbClr val="E2E4E7"/>
                      </a:solidFill>
                    </a:lnB>
                    <a:noFill/>
                  </a:tcPr>
                </a:tc>
              </a:tr>
              <a:tr h="744016">
                <a:tc>
                  <a:txBody>
                    <a:bodyPr wrap="square"/>
                    <a:lstStyle/>
                    <a:p>
                      <a:pPr algn="l">
                        <a:lnSpc>
                          <a:spcPct val="100000"/>
                        </a:lnSpc>
                      </a:pPr>
                      <a:r>
                        <a:rPr sz="1100" b="1">
                          <a:solidFill>
                            <a:srgbClr val="15171A"/>
                          </a:solidFill>
                          <a:latin typeface="Noto Sans KR"/>
                          <a:ea typeface="Noto Sans KR"/>
                          <a:cs typeface="Noto Sans KR"/>
                        </a:rPr>
                        <a:t>운영자 전망</a:t>
                      </a:r>
                    </a:p>
                  </a:txBody>
                  <a:tcPr marL="73152" marR="73152" marT="64008" marB="64008" anchor="t">
                    <a:lnL w="0">
                      <a:noFill/>
                    </a:lnL>
                    <a:lnR w="0">
                      <a:noFill/>
                    </a:lnR>
                    <a:lnT w="0">
                      <a:noFill/>
                    </a:lnT>
                    <a:lnB w="9525">
                      <a:solidFill>
                        <a:srgbClr val="E2E4E7"/>
                      </a:solidFill>
                    </a:lnB>
                    <a:noFill/>
                  </a:tcPr>
                </a:tc>
                <a:tc>
                  <a:txBody>
                    <a:bodyPr wrap="square"/>
                    <a:lstStyle/>
                    <a:p>
                      <a:pPr algn="l">
                        <a:lnSpc>
                          <a:spcPct val="100000"/>
                        </a:lnSpc>
                      </a:pPr>
                      <a:r>
                        <a:rPr sz="1100" b="0">
                          <a:solidFill>
                            <a:srgbClr val="15171A"/>
                          </a:solidFill>
                          <a:latin typeface="Noto Sans KR"/>
                          <a:ea typeface="Noto Sans KR"/>
                          <a:cs typeface="Noto Sans KR"/>
                        </a:rPr>
                        <a:t>미국 외식 운영자 49%: 인력 문제 대응 기술·자동화가 2025년 자기 업종에서 더 보편화될 것</a:t>
                      </a:r>
                    </a:p>
                  </a:txBody>
                  <a:tcPr marL="73152" marR="73152" marT="64008" marB="64008" anchor="t">
                    <a:lnL w="0">
                      <a:noFill/>
                    </a:lnL>
                    <a:lnR w="0">
                      <a:noFill/>
                    </a:lnR>
                    <a:lnT w="0">
                      <a:noFill/>
                    </a:lnT>
                    <a:lnB w="9525">
                      <a:solidFill>
                        <a:srgbClr val="E2E4E7"/>
                      </a:solidFill>
                    </a:lnB>
                    <a:noFill/>
                  </a:tcPr>
                </a:tc>
                <a:tc>
                  <a:txBody>
                    <a:bodyPr wrap="square"/>
                    <a:lstStyle/>
                    <a:p>
                      <a:pPr algn="l">
                        <a:lnSpc>
                          <a:spcPct val="100000"/>
                        </a:lnSpc>
                      </a:pPr>
                      <a:r>
                        <a:rPr sz="1100" b="0">
                          <a:solidFill>
                            <a:srgbClr val="15171A"/>
                          </a:solidFill>
                          <a:latin typeface="Noto Sans KR"/>
                          <a:ea typeface="Noto Sans KR"/>
                          <a:cs typeface="Noto Sans KR"/>
                        </a:rPr>
                        <a:t>National Restaurant Association</a:t>
                      </a:r>
                    </a:p>
                    <a:p>
                      <a:pPr algn="l">
                        <a:lnSpc>
                          <a:spcPct val="100000"/>
                        </a:lnSpc>
                      </a:pPr>
                      <a:r>
                        <a:rPr sz="1100" b="0">
                          <a:solidFill>
                            <a:srgbClr val="15171A"/>
                          </a:solidFill>
                          <a:latin typeface="Noto Sans KR"/>
                          <a:ea typeface="Noto Sans KR"/>
                          <a:cs typeface="Noto Sans KR"/>
                        </a:rPr>
                        <a:t>(Restaurant Dive, 2025)</a:t>
                      </a:r>
                    </a:p>
                  </a:txBody>
                  <a:tcPr marL="73152" marR="73152" marT="64008" marB="64008" anchor="t">
                    <a:lnL w="0">
                      <a:noFill/>
                    </a:lnL>
                    <a:lnR w="0">
                      <a:noFill/>
                    </a:lnR>
                    <a:lnT w="0">
                      <a:noFill/>
                    </a:lnT>
                    <a:lnB w="9525">
                      <a:solidFill>
                        <a:srgbClr val="E2E4E7"/>
                      </a:solidFill>
                    </a:lnB>
                    <a:noFill/>
                  </a:tcPr>
                </a:tc>
              </a:tr>
              <a:tr h="541731">
                <a:tc>
                  <a:txBody>
                    <a:bodyPr wrap="square"/>
                    <a:lstStyle/>
                    <a:p>
                      <a:pPr algn="l">
                        <a:lnSpc>
                          <a:spcPct val="100000"/>
                        </a:lnSpc>
                      </a:pPr>
                      <a:r>
                        <a:rPr sz="1100" b="1">
                          <a:solidFill>
                            <a:srgbClr val="15171A"/>
                          </a:solidFill>
                          <a:latin typeface="Noto Sans KR"/>
                          <a:ea typeface="Noto Sans KR"/>
                          <a:cs typeface="Noto Sans KR"/>
                        </a:rPr>
                        <a:t>주방 로봇 자본</a:t>
                      </a:r>
                    </a:p>
                  </a:txBody>
                  <a:tcPr marL="73152" marR="73152" marT="64008" marB="64008" anchor="t">
                    <a:lnL w="0">
                      <a:noFill/>
                    </a:lnL>
                    <a:lnR w="0">
                      <a:noFill/>
                    </a:lnR>
                    <a:lnT w="0">
                      <a:noFill/>
                    </a:lnT>
                    <a:lnB w="9525">
                      <a:solidFill>
                        <a:srgbClr val="E2E4E7"/>
                      </a:solidFill>
                    </a:lnB>
                    <a:noFill/>
                  </a:tcPr>
                </a:tc>
                <a:tc>
                  <a:txBody>
                    <a:bodyPr wrap="square"/>
                    <a:lstStyle/>
                    <a:p>
                      <a:pPr algn="l">
                        <a:lnSpc>
                          <a:spcPct val="100000"/>
                        </a:lnSpc>
                      </a:pPr>
                      <a:r>
                        <a:rPr sz="1100" b="0">
                          <a:solidFill>
                            <a:srgbClr val="15171A"/>
                          </a:solidFill>
                          <a:latin typeface="Noto Sans KR"/>
                          <a:ea typeface="Noto Sans KR"/>
                          <a:cs typeface="Noto Sans KR"/>
                        </a:rPr>
                        <a:t>Chef Robotics Series A 4,310만 달러 (2025)</a:t>
                      </a:r>
                    </a:p>
                    <a:p>
                      <a:pPr algn="l">
                        <a:lnSpc>
                          <a:spcPct val="100000"/>
                        </a:lnSpc>
                      </a:pPr>
                      <a:r>
                        <a:rPr sz="1100" b="0">
                          <a:solidFill>
                            <a:srgbClr val="15171A"/>
                          </a:solidFill>
                          <a:latin typeface="Noto Sans KR"/>
                          <a:ea typeface="Noto Sans KR"/>
                          <a:cs typeface="Noto Sans KR"/>
                        </a:rPr>
                        <a:t>로보아르테 Series A 75억 원 (2022)</a:t>
                      </a:r>
                    </a:p>
                  </a:txBody>
                  <a:tcPr marL="73152" marR="73152" marT="64008" marB="64008" anchor="t">
                    <a:lnL w="0">
                      <a:noFill/>
                    </a:lnL>
                    <a:lnR w="0">
                      <a:noFill/>
                    </a:lnR>
                    <a:lnT w="0">
                      <a:noFill/>
                    </a:lnT>
                    <a:lnB w="9525">
                      <a:solidFill>
                        <a:srgbClr val="E2E4E7"/>
                      </a:solidFill>
                    </a:lnB>
                    <a:noFill/>
                  </a:tcPr>
                </a:tc>
                <a:tc>
                  <a:txBody>
                    <a:bodyPr wrap="square"/>
                    <a:lstStyle/>
                    <a:p>
                      <a:pPr algn="l">
                        <a:lnSpc>
                          <a:spcPct val="100000"/>
                        </a:lnSpc>
                      </a:pPr>
                      <a:r>
                        <a:rPr sz="1100" b="0">
                          <a:solidFill>
                            <a:srgbClr val="15171A"/>
                          </a:solidFill>
                          <a:latin typeface="Noto Sans KR"/>
                          <a:ea typeface="Noto Sans KR"/>
                          <a:cs typeface="Noto Sans KR"/>
                        </a:rPr>
                        <a:t>AgFunderNews · 파이낸셜뉴스</a:t>
                      </a:r>
                    </a:p>
                  </a:txBody>
                  <a:tcPr marL="73152" marR="73152" marT="64008" marB="64008" anchor="t">
                    <a:lnL w="0">
                      <a:noFill/>
                    </a:lnL>
                    <a:lnR w="0">
                      <a:noFill/>
                    </a:lnR>
                    <a:lnT w="0">
                      <a:noFill/>
                    </a:lnT>
                    <a:lnB w="9525">
                      <a:solidFill>
                        <a:srgbClr val="E2E4E7"/>
                      </a:solidFill>
                    </a:lnB>
                    <a:noFill/>
                  </a:tcPr>
                </a:tc>
              </a:tr>
              <a:tr h="541731">
                <a:tc>
                  <a:txBody>
                    <a:bodyPr wrap="square"/>
                    <a:lstStyle/>
                    <a:p>
                      <a:pPr algn="l">
                        <a:lnSpc>
                          <a:spcPct val="100000"/>
                        </a:lnSpc>
                      </a:pPr>
                      <a:r>
                        <a:rPr sz="1100" b="1">
                          <a:solidFill>
                            <a:srgbClr val="15171A"/>
                          </a:solidFill>
                          <a:latin typeface="Noto Sans KR"/>
                          <a:ea typeface="Noto Sans KR"/>
                          <a:cs typeface="Noto Sans KR"/>
                        </a:rPr>
                        <a:t>로봇 보급</a:t>
                      </a:r>
                    </a:p>
                  </a:txBody>
                  <a:tcPr marL="73152" marR="73152" marT="64008" marB="64008" anchor="t">
                    <a:lnL w="0">
                      <a:noFill/>
                    </a:lnL>
                    <a:lnR w="0">
                      <a:noFill/>
                    </a:lnR>
                    <a:lnT w="0">
                      <a:noFill/>
                    </a:lnT>
                    <a:lnB w="9525">
                      <a:solidFill>
                        <a:srgbClr val="E2E4E7"/>
                      </a:solidFill>
                    </a:lnB>
                    <a:noFill/>
                  </a:tcPr>
                </a:tc>
                <a:tc>
                  <a:txBody>
                    <a:bodyPr wrap="square"/>
                    <a:lstStyle/>
                    <a:p>
                      <a:pPr algn="l">
                        <a:lnSpc>
                          <a:spcPct val="100000"/>
                        </a:lnSpc>
                      </a:pPr>
                      <a:r>
                        <a:rPr sz="1100" b="0">
                          <a:solidFill>
                            <a:srgbClr val="15171A"/>
                          </a:solidFill>
                          <a:latin typeface="Noto Sans KR"/>
                          <a:ea typeface="Noto Sans KR"/>
                          <a:cs typeface="Noto Sans KR"/>
                        </a:rPr>
                        <a:t>산업용 로봇 가동 약 500만 대, 2025년 신규 60만 대 이상 (+11%)</a:t>
                      </a:r>
                    </a:p>
                  </a:txBody>
                  <a:tcPr marL="73152" marR="73152" marT="64008" marB="64008" anchor="t">
                    <a:lnL w="0">
                      <a:noFill/>
                    </a:lnL>
                    <a:lnR w="0">
                      <a:noFill/>
                    </a:lnR>
                    <a:lnT w="0">
                      <a:noFill/>
                    </a:lnT>
                    <a:lnB w="9525">
                      <a:solidFill>
                        <a:srgbClr val="E2E4E7"/>
                      </a:solidFill>
                    </a:lnB>
                    <a:noFill/>
                  </a:tcPr>
                </a:tc>
                <a:tc>
                  <a:txBody>
                    <a:bodyPr wrap="square"/>
                    <a:lstStyle/>
                    <a:p>
                      <a:pPr algn="l">
                        <a:lnSpc>
                          <a:spcPct val="100000"/>
                        </a:lnSpc>
                      </a:pPr>
                      <a:r>
                        <a:rPr sz="1100" b="0">
                          <a:solidFill>
                            <a:srgbClr val="15171A"/>
                          </a:solidFill>
                          <a:latin typeface="Noto Sans KR"/>
                          <a:ea typeface="Noto Sans KR"/>
                          <a:cs typeface="Noto Sans KR"/>
                        </a:rPr>
                        <a:t>IFR (2026.9)</a:t>
                      </a:r>
                    </a:p>
                  </a:txBody>
                  <a:tcPr marL="73152" marR="73152" marT="64008" marB="64008" anchor="t">
                    <a:lnL w="0">
                      <a:noFill/>
                    </a:lnL>
                    <a:lnR w="0">
                      <a:noFill/>
                    </a:lnR>
                    <a:lnT w="0">
                      <a:noFill/>
                    </a:lnT>
                    <a:lnB w="9525">
                      <a:solidFill>
                        <a:srgbClr val="E2E4E7"/>
                      </a:solidFill>
                    </a:lnB>
                    <a:noFill/>
                  </a:tcPr>
                </a:tc>
              </a:tr>
            </a:tbl>
          </a:graphicData>
        </a:graphic>
      </p:graphicFrame>
      <p:sp>
        <p:nvSpPr>
          <p:cNvPr id="13" name="TextBox 12"/>
          <p:cNvSpPr txBox="1"/>
          <p:nvPr/>
        </p:nvSpPr>
        <p:spPr>
          <a:xfrm>
            <a:off x="685800" y="6107176"/>
            <a:ext cx="10820095" cy="202184"/>
          </a:xfrm>
          <a:prstGeom prst="rect">
            <a:avLst/>
          </a:prstGeom>
          <a:noFill/>
        </p:spPr>
        <p:txBody>
          <a:bodyPr wrap="square" lIns="0" rIns="0" tIns="0" bIns="0" anchor="t">
            <a:spAutoFit/>
          </a:bodyPr>
          <a:lstStyle/>
          <a:p>
            <a:pPr algn="l">
              <a:lnSpc>
                <a:spcPct val="100000"/>
              </a:lnSpc>
            </a:pPr>
            <a:r>
              <a:rPr sz="1000" b="0">
                <a:solidFill>
                  <a:srgbClr val="8C9198"/>
                </a:solidFill>
                <a:latin typeface="Noto Sans KR"/>
                <a:ea typeface="Noto Sans KR"/>
                <a:cs typeface="Noto Sans KR"/>
              </a:rPr>
              <a:t>주방 로봇 시장 규모(TAM) 추정치는 조사기관별 편차가 커 근거로 사용하지 않음 · 국내 수요는 PoC 고객 인터뷰 30곳으로 검증 예정</a:t>
            </a:r>
          </a:p>
        </p:txBody>
      </p:sp>
      <p:sp>
        <p:nvSpPr>
          <p:cNvPr id="14" name="TextBox 13"/>
          <p:cNvSpPr txBox="1"/>
          <p:nvPr/>
        </p:nvSpPr>
        <p:spPr>
          <a:xfrm>
            <a:off x="685800" y="6446520"/>
            <a:ext cx="5486400" cy="201168"/>
          </a:xfrm>
          <a:prstGeom prst="rect">
            <a:avLst/>
          </a:prstGeom>
          <a:noFill/>
        </p:spPr>
        <p:txBody>
          <a:bodyPr wrap="square" lIns="0" rIns="0" tIns="0" bIns="0" anchor="t">
            <a:spAutoFit/>
          </a:bodyPr>
          <a:lstStyle/>
          <a:p>
            <a:pPr algn="l">
              <a:lnSpc>
                <a:spcPct val="100000"/>
              </a:lnSpc>
            </a:pPr>
            <a:r>
              <a:rPr sz="900" b="0">
                <a:solidFill>
                  <a:srgbClr val="8C9198"/>
                </a:solidFill>
                <a:latin typeface="Noto Sans KR"/>
                <a:ea typeface="Noto Sans KR"/>
                <a:cs typeface="Noto Sans KR"/>
              </a:rPr>
              <a:t>SoftHand  |  주방 로봇 조작 플랫폼  |  Seed 투자 제안서</a:t>
            </a:r>
          </a:p>
        </p:txBody>
      </p:sp>
      <p:sp>
        <p:nvSpPr>
          <p:cNvPr id="15" name="TextBox 14"/>
          <p:cNvSpPr txBox="1"/>
          <p:nvPr/>
        </p:nvSpPr>
        <p:spPr>
          <a:xfrm>
            <a:off x="3154680" y="6446520"/>
            <a:ext cx="7802575" cy="201168"/>
          </a:xfrm>
          <a:prstGeom prst="rect">
            <a:avLst/>
          </a:prstGeom>
          <a:noFill/>
        </p:spPr>
        <p:txBody>
          <a:bodyPr wrap="square" lIns="0" rIns="0" tIns="0" bIns="0" anchor="t">
            <a:spAutoFit/>
          </a:bodyPr>
          <a:lstStyle/>
          <a:p>
            <a:pPr algn="r">
              <a:lnSpc>
                <a:spcPct val="100000"/>
              </a:lnSpc>
            </a:pPr>
            <a:r>
              <a:rPr sz="900" b="0">
                <a:solidFill>
                  <a:srgbClr val="8C9198"/>
                </a:solidFill>
                <a:latin typeface="Noto Sans KR"/>
                <a:ea typeface="Noto Sans KR"/>
                <a:cs typeface="Noto Sans KR"/>
              </a:rPr>
              <a:t>출처: A17 S1·S2·S11·S15·S16·S18·S19</a:t>
            </a:r>
          </a:p>
        </p:txBody>
      </p:sp>
      <p:sp>
        <p:nvSpPr>
          <p:cNvPr id="16" name="TextBox 15"/>
          <p:cNvSpPr txBox="1"/>
          <p:nvPr/>
        </p:nvSpPr>
        <p:spPr>
          <a:xfrm>
            <a:off x="11048695" y="6446520"/>
            <a:ext cx="457200" cy="201168"/>
          </a:xfrm>
          <a:prstGeom prst="rect">
            <a:avLst/>
          </a:prstGeom>
          <a:noFill/>
        </p:spPr>
        <p:txBody>
          <a:bodyPr wrap="square" lIns="0" rIns="0" tIns="0" bIns="0" anchor="t">
            <a:spAutoFit/>
          </a:bodyPr>
          <a:lstStyle/>
          <a:p>
            <a:pPr algn="r">
              <a:lnSpc>
                <a:spcPct val="100000"/>
              </a:lnSpc>
            </a:pPr>
            <a:r>
              <a:rPr sz="900" b="0">
                <a:solidFill>
                  <a:srgbClr val="8C9198"/>
                </a:solidFill>
                <a:latin typeface="Noto Sans KR"/>
                <a:ea typeface="Noto Sans KR"/>
                <a:cs typeface="Noto Sans KR"/>
              </a:rPr>
              <a:t>A8</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502920"/>
            <a:ext cx="7315200" cy="256032"/>
          </a:xfrm>
          <a:prstGeom prst="rect">
            <a:avLst/>
          </a:prstGeom>
          <a:noFill/>
        </p:spPr>
        <p:txBody>
          <a:bodyPr wrap="square" lIns="0" rIns="0" tIns="0" bIns="0" anchor="t">
            <a:spAutoFit/>
          </a:bodyPr>
          <a:lstStyle/>
          <a:p>
            <a:pPr algn="l">
              <a:lnSpc>
                <a:spcPct val="100000"/>
              </a:lnSpc>
            </a:pPr>
            <a:r>
              <a:rPr sz="1100" b="1">
                <a:solidFill>
                  <a:srgbClr val="E2571B"/>
                </a:solidFill>
                <a:latin typeface="Noto Sans KR"/>
                <a:ea typeface="Noto Sans KR"/>
                <a:cs typeface="Noto Sans KR"/>
              </a:rPr>
              <a:t>부록 A9</a:t>
            </a:r>
          </a:p>
        </p:txBody>
      </p:sp>
      <p:sp>
        <p:nvSpPr>
          <p:cNvPr id="3" name="TextBox 2"/>
          <p:cNvSpPr txBox="1"/>
          <p:nvPr/>
        </p:nvSpPr>
        <p:spPr>
          <a:xfrm>
            <a:off x="685800" y="822960"/>
            <a:ext cx="10820095" cy="475488"/>
          </a:xfrm>
          <a:prstGeom prst="rect">
            <a:avLst/>
          </a:prstGeom>
          <a:noFill/>
        </p:spPr>
        <p:txBody>
          <a:bodyPr wrap="square" lIns="0" rIns="0" tIns="0" bIns="0" anchor="t">
            <a:spAutoFit/>
          </a:bodyPr>
          <a:lstStyle/>
          <a:p>
            <a:pPr algn="l">
              <a:lnSpc>
                <a:spcPct val="95000"/>
              </a:lnSpc>
            </a:pPr>
            <a:r>
              <a:rPr sz="2600" b="1">
                <a:solidFill>
                  <a:srgbClr val="15171A"/>
                </a:solidFill>
                <a:latin typeface="Noto Sans KR"/>
                <a:ea typeface="Noto Sans KR"/>
                <a:cs typeface="Noto Sans KR"/>
              </a:rPr>
              <a:t>수익 모델 가정</a:t>
            </a:r>
          </a:p>
        </p:txBody>
      </p:sp>
      <p:sp>
        <p:nvSpPr>
          <p:cNvPr id="4" name="TextBox 3"/>
          <p:cNvSpPr txBox="1"/>
          <p:nvPr/>
        </p:nvSpPr>
        <p:spPr>
          <a:xfrm>
            <a:off x="685800" y="1353312"/>
            <a:ext cx="10820095" cy="274320"/>
          </a:xfrm>
          <a:prstGeom prst="rect">
            <a:avLst/>
          </a:prstGeom>
          <a:noFill/>
        </p:spPr>
        <p:txBody>
          <a:bodyPr wrap="square" lIns="0" rIns="0" tIns="0" bIns="0" anchor="t">
            <a:spAutoFit/>
          </a:bodyPr>
          <a:lstStyle/>
          <a:p>
            <a:pPr algn="l">
              <a:lnSpc>
                <a:spcPct val="100000"/>
              </a:lnSpc>
            </a:pPr>
            <a:r>
              <a:rPr sz="1300" b="0">
                <a:solidFill>
                  <a:srgbClr val="4A4F57"/>
                </a:solidFill>
                <a:latin typeface="Noto Sans KR"/>
                <a:ea typeface="Noto Sans KR"/>
                <a:cs typeface="Noto Sans KR"/>
              </a:rPr>
              <a:t>모든 가격·원가·마진은 검증 전 가정 · 기존 계획의 수치를 그대로 유지</a:t>
            </a:r>
          </a:p>
        </p:txBody>
      </p:sp>
      <p:graphicFrame>
        <p:nvGraphicFramePr>
          <p:cNvPr id="5" name="Table 4"/>
          <p:cNvGraphicFramePr>
            <a:graphicFrameLocks noGrp="1"/>
          </p:cNvGraphicFramePr>
          <p:nvPr/>
        </p:nvGraphicFramePr>
        <p:xfrm>
          <a:off x="685800" y="1874519"/>
          <a:ext cx="10817352" cy="3515561"/>
        </p:xfrm>
        <a:graphic>
          <a:graphicData uri="http://schemas.openxmlformats.org/drawingml/2006/table">
            <a:tbl>
              <a:tblPr firstRow="0" bandRow="0">
                <a:tableStyleId>{2D5ABB26-0587-4C30-8999-92F81FD0307C}</a:tableStyleId>
              </a:tblPr>
              <a:tblGrid>
                <a:gridCol w="1188720"/>
                <a:gridCol w="2651760"/>
                <a:gridCol w="3108960"/>
                <a:gridCol w="1691640"/>
                <a:gridCol w="2176272"/>
              </a:tblGrid>
              <a:tr h="376123">
                <a:tc>
                  <a:txBody>
                    <a:bodyPr wrap="square"/>
                    <a:lstStyle/>
                    <a:p>
                      <a:pPr algn="l">
                        <a:lnSpc>
                          <a:spcPct val="100000"/>
                        </a:lnSpc>
                      </a:pPr>
                      <a:r>
                        <a:rPr sz="1200" b="1">
                          <a:solidFill>
                            <a:srgbClr val="15171A"/>
                          </a:solidFill>
                          <a:latin typeface="Noto Sans KR"/>
                          <a:ea typeface="Noto Sans KR"/>
                          <a:cs typeface="Noto Sans KR"/>
                        </a:rPr>
                        <a:t>단계</a:t>
                      </a:r>
                    </a:p>
                  </a:txBody>
                  <a:tcPr marL="73152" marR="73152" marT="73152" marB="73152" anchor="t">
                    <a:lnL w="0">
                      <a:noFill/>
                    </a:lnL>
                    <a:lnR w="0">
                      <a:noFill/>
                    </a:lnR>
                    <a:lnT w="12700">
                      <a:solidFill>
                        <a:srgbClr val="15171A"/>
                      </a:solidFill>
                    </a:lnT>
                    <a:lnB w="9525">
                      <a:solidFill>
                        <a:srgbClr val="15171A"/>
                      </a:solidFill>
                    </a:lnB>
                    <a:noFill/>
                  </a:tcPr>
                </a:tc>
                <a:tc>
                  <a:txBody>
                    <a:bodyPr wrap="square"/>
                    <a:lstStyle/>
                    <a:p>
                      <a:pPr algn="l">
                        <a:lnSpc>
                          <a:spcPct val="100000"/>
                        </a:lnSpc>
                      </a:pPr>
                      <a:r>
                        <a:rPr sz="1200" b="1">
                          <a:solidFill>
                            <a:srgbClr val="15171A"/>
                          </a:solidFill>
                          <a:latin typeface="Noto Sans KR"/>
                          <a:ea typeface="Noto Sans KR"/>
                          <a:cs typeface="Noto Sans KR"/>
                        </a:rPr>
                        <a:t>매출원</a:t>
                      </a:r>
                    </a:p>
                  </a:txBody>
                  <a:tcPr marL="73152" marR="73152" marT="73152" marB="73152" anchor="t">
                    <a:lnL w="0">
                      <a:noFill/>
                    </a:lnL>
                    <a:lnR w="0">
                      <a:noFill/>
                    </a:lnR>
                    <a:lnT w="12700">
                      <a:solidFill>
                        <a:srgbClr val="15171A"/>
                      </a:solidFill>
                    </a:lnT>
                    <a:lnB w="9525">
                      <a:solidFill>
                        <a:srgbClr val="15171A"/>
                      </a:solidFill>
                    </a:lnB>
                    <a:noFill/>
                  </a:tcPr>
                </a:tc>
                <a:tc>
                  <a:txBody>
                    <a:bodyPr wrap="square"/>
                    <a:lstStyle/>
                    <a:p>
                      <a:pPr algn="l">
                        <a:lnSpc>
                          <a:spcPct val="100000"/>
                        </a:lnSpc>
                      </a:pPr>
                      <a:r>
                        <a:rPr sz="1200" b="1">
                          <a:solidFill>
                            <a:srgbClr val="15171A"/>
                          </a:solidFill>
                          <a:latin typeface="Noto Sans KR"/>
                          <a:ea typeface="Noto Sans KR"/>
                          <a:cs typeface="Noto Sans KR"/>
                        </a:rPr>
                        <a:t>과금 단위·가정 가격</a:t>
                      </a:r>
                    </a:p>
                  </a:txBody>
                  <a:tcPr marL="73152" marR="73152" marT="73152" marB="73152" anchor="t">
                    <a:lnL w="0">
                      <a:noFill/>
                    </a:lnL>
                    <a:lnR w="0">
                      <a:noFill/>
                    </a:lnR>
                    <a:lnT w="12700">
                      <a:solidFill>
                        <a:srgbClr val="15171A"/>
                      </a:solidFill>
                    </a:lnT>
                    <a:lnB w="9525">
                      <a:solidFill>
                        <a:srgbClr val="15171A"/>
                      </a:solidFill>
                    </a:lnB>
                    <a:noFill/>
                  </a:tcPr>
                </a:tc>
                <a:tc>
                  <a:txBody>
                    <a:bodyPr wrap="square"/>
                    <a:lstStyle/>
                    <a:p>
                      <a:pPr algn="l">
                        <a:lnSpc>
                          <a:spcPct val="100000"/>
                        </a:lnSpc>
                      </a:pPr>
                      <a:r>
                        <a:rPr sz="1200" b="1">
                          <a:solidFill>
                            <a:srgbClr val="15171A"/>
                          </a:solidFill>
                          <a:latin typeface="Noto Sans KR"/>
                          <a:ea typeface="Noto Sans KR"/>
                          <a:cs typeface="Noto Sans KR"/>
                        </a:rPr>
                        <a:t>매출총이익률 가정</a:t>
                      </a:r>
                    </a:p>
                  </a:txBody>
                  <a:tcPr marL="73152" marR="73152" marT="73152" marB="73152" anchor="t">
                    <a:lnL w="0">
                      <a:noFill/>
                    </a:lnL>
                    <a:lnR w="0">
                      <a:noFill/>
                    </a:lnR>
                    <a:lnT w="12700">
                      <a:solidFill>
                        <a:srgbClr val="15171A"/>
                      </a:solidFill>
                    </a:lnT>
                    <a:lnB w="9525">
                      <a:solidFill>
                        <a:srgbClr val="15171A"/>
                      </a:solidFill>
                    </a:lnB>
                    <a:noFill/>
                  </a:tcPr>
                </a:tc>
                <a:tc>
                  <a:txBody>
                    <a:bodyPr wrap="square"/>
                    <a:lstStyle/>
                    <a:p>
                      <a:pPr algn="l">
                        <a:lnSpc>
                          <a:spcPct val="100000"/>
                        </a:lnSpc>
                      </a:pPr>
                      <a:r>
                        <a:rPr sz="1200" b="1">
                          <a:solidFill>
                            <a:srgbClr val="15171A"/>
                          </a:solidFill>
                          <a:latin typeface="Noto Sans KR"/>
                          <a:ea typeface="Noto Sans KR"/>
                          <a:cs typeface="Noto Sans KR"/>
                        </a:rPr>
                        <a:t>역할</a:t>
                      </a:r>
                    </a:p>
                  </a:txBody>
                  <a:tcPr marL="73152" marR="73152" marT="73152" marB="73152" anchor="t">
                    <a:lnL w="0">
                      <a:noFill/>
                    </a:lnL>
                    <a:lnR w="0">
                      <a:noFill/>
                    </a:lnR>
                    <a:lnT w="12700">
                      <a:solidFill>
                        <a:srgbClr val="15171A"/>
                      </a:solidFill>
                    </a:lnT>
                    <a:lnB w="9525">
                      <a:solidFill>
                        <a:srgbClr val="15171A"/>
                      </a:solidFill>
                    </a:lnB>
                    <a:noFill/>
                  </a:tcPr>
                </a:tc>
              </a:tr>
              <a:tr h="596798">
                <a:tc>
                  <a:txBody>
                    <a:bodyPr wrap="square"/>
                    <a:lstStyle/>
                    <a:p>
                      <a:pPr algn="l">
                        <a:lnSpc>
                          <a:spcPct val="100000"/>
                        </a:lnSpc>
                      </a:pPr>
                      <a:r>
                        <a:rPr sz="1200" b="1">
                          <a:solidFill>
                            <a:srgbClr val="15171A"/>
                          </a:solidFill>
                          <a:latin typeface="Noto Sans KR"/>
                          <a:ea typeface="Noto Sans KR"/>
                          <a:cs typeface="Noto Sans KR"/>
                        </a:rPr>
                        <a:t>초기 (Seed)</a:t>
                      </a:r>
                    </a:p>
                  </a:txBody>
                  <a:tcPr marL="73152" marR="73152" marT="73152" marB="73152" anchor="t">
                    <a:lnL w="0">
                      <a:noFill/>
                    </a:lnL>
                    <a:lnR w="0">
                      <a:noFill/>
                    </a:lnR>
                    <a:lnT w="0">
                      <a:noFill/>
                    </a:lnT>
                    <a:lnB w="9525">
                      <a:solidFill>
                        <a:srgbClr val="E2E4E7"/>
                      </a:solidFill>
                    </a:lnB>
                    <a:noFill/>
                  </a:tcPr>
                </a:tc>
                <a:tc>
                  <a:txBody>
                    <a:bodyPr wrap="square"/>
                    <a:lstStyle/>
                    <a:p>
                      <a:pPr algn="l">
                        <a:lnSpc>
                          <a:spcPct val="100000"/>
                        </a:lnSpc>
                      </a:pPr>
                      <a:r>
                        <a:rPr sz="1200" b="0">
                          <a:solidFill>
                            <a:srgbClr val="15171A"/>
                          </a:solidFill>
                          <a:latin typeface="Noto Sans KR"/>
                          <a:ea typeface="Noto Sans KR"/>
                          <a:cs typeface="Noto Sans KR"/>
                        </a:rPr>
                        <a:t>유료 PoC (주방 중심, 산업 검증 트랙 포함)</a:t>
                      </a:r>
                    </a:p>
                  </a:txBody>
                  <a:tcPr marL="73152" marR="73152" marT="73152" marB="73152" anchor="t">
                    <a:lnL w="0">
                      <a:noFill/>
                    </a:lnL>
                    <a:lnR w="0">
                      <a:noFill/>
                    </a:lnR>
                    <a:lnT w="0">
                      <a:noFill/>
                    </a:lnT>
                    <a:lnB w="9525">
                      <a:solidFill>
                        <a:srgbClr val="E2E4E7"/>
                      </a:solidFill>
                    </a:lnB>
                    <a:noFill/>
                  </a:tcPr>
                </a:tc>
                <a:tc>
                  <a:txBody>
                    <a:bodyPr wrap="square"/>
                    <a:lstStyle/>
                    <a:p>
                      <a:pPr algn="l">
                        <a:lnSpc>
                          <a:spcPct val="100000"/>
                        </a:lnSpc>
                      </a:pPr>
                      <a:r>
                        <a:rPr sz="1200" b="0">
                          <a:solidFill>
                            <a:srgbClr val="15171A"/>
                          </a:solidFill>
                          <a:latin typeface="Noto Sans KR"/>
                          <a:ea typeface="Noto Sans KR"/>
                          <a:cs typeface="Noto Sans KR"/>
                        </a:rPr>
                        <a:t>건당 5,000만 원 (8~12주, 대여 핸드 포함)</a:t>
                      </a:r>
                    </a:p>
                  </a:txBody>
                  <a:tcPr marL="73152" marR="73152" marT="73152" marB="73152" anchor="t">
                    <a:lnL w="0">
                      <a:noFill/>
                    </a:lnL>
                    <a:lnR w="0">
                      <a:noFill/>
                    </a:lnR>
                    <a:lnT w="0">
                      <a:noFill/>
                    </a:lnT>
                    <a:lnB w="9525">
                      <a:solidFill>
                        <a:srgbClr val="E2E4E7"/>
                      </a:solidFill>
                    </a:lnB>
                    <a:noFill/>
                  </a:tcPr>
                </a:tc>
                <a:tc>
                  <a:txBody>
                    <a:bodyPr wrap="square"/>
                    <a:lstStyle/>
                    <a:p>
                      <a:pPr algn="l">
                        <a:lnSpc>
                          <a:spcPct val="100000"/>
                        </a:lnSpc>
                      </a:pPr>
                      <a:r>
                        <a:rPr sz="1200" b="0">
                          <a:solidFill>
                            <a:srgbClr val="15171A"/>
                          </a:solidFill>
                          <a:latin typeface="Noto Sans KR"/>
                          <a:ea typeface="Noto Sans KR"/>
                          <a:cs typeface="Noto Sans KR"/>
                        </a:rPr>
                        <a:t>40%</a:t>
                      </a:r>
                    </a:p>
                  </a:txBody>
                  <a:tcPr marL="73152" marR="73152" marT="73152" marB="73152" anchor="t">
                    <a:lnL w="0">
                      <a:noFill/>
                    </a:lnL>
                    <a:lnR w="0">
                      <a:noFill/>
                    </a:lnR>
                    <a:lnT w="0">
                      <a:noFill/>
                    </a:lnT>
                    <a:lnB w="9525">
                      <a:solidFill>
                        <a:srgbClr val="E2E4E7"/>
                      </a:solidFill>
                    </a:lnB>
                    <a:noFill/>
                  </a:tcPr>
                </a:tc>
                <a:tc>
                  <a:txBody>
                    <a:bodyPr wrap="square"/>
                    <a:lstStyle/>
                    <a:p>
                      <a:pPr algn="l">
                        <a:lnSpc>
                          <a:spcPct val="100000"/>
                        </a:lnSpc>
                      </a:pPr>
                      <a:r>
                        <a:rPr sz="1200" b="0">
                          <a:solidFill>
                            <a:srgbClr val="15171A"/>
                          </a:solidFill>
                          <a:latin typeface="Noto Sans KR"/>
                          <a:ea typeface="Noto Sans KR"/>
                          <a:cs typeface="Noto Sans KR"/>
                        </a:rPr>
                        <a:t>지불의사 검증·고객 기존 수치 확보</a:t>
                      </a:r>
                    </a:p>
                  </a:txBody>
                  <a:tcPr marL="73152" marR="73152" marT="73152" marB="73152" anchor="t">
                    <a:lnL w="0">
                      <a:noFill/>
                    </a:lnL>
                    <a:lnR w="0">
                      <a:noFill/>
                    </a:lnR>
                    <a:lnT w="0">
                      <a:noFill/>
                    </a:lnT>
                    <a:lnB w="9525">
                      <a:solidFill>
                        <a:srgbClr val="E2E4E7"/>
                      </a:solidFill>
                    </a:lnB>
                    <a:noFill/>
                  </a:tcPr>
                </a:tc>
              </a:tr>
              <a:tr h="376123">
                <a:tc>
                  <a:txBody>
                    <a:bodyPr wrap="square"/>
                    <a:lstStyle/>
                    <a:p>
                      <a:pPr algn="l">
                        <a:lnSpc>
                          <a:spcPct val="100000"/>
                        </a:lnSpc>
                      </a:pPr>
                      <a:r>
                        <a:rPr sz="1200" b="1">
                          <a:solidFill>
                            <a:srgbClr val="15171A"/>
                          </a:solidFill>
                          <a:latin typeface="Noto Sans KR"/>
                          <a:ea typeface="Noto Sans KR"/>
                          <a:cs typeface="Noto Sans KR"/>
                        </a:rPr>
                        <a:t>초기</a:t>
                      </a:r>
                    </a:p>
                  </a:txBody>
                  <a:tcPr marL="73152" marR="73152" marT="73152" marB="73152" anchor="t">
                    <a:lnL w="0">
                      <a:noFill/>
                    </a:lnL>
                    <a:lnR w="0">
                      <a:noFill/>
                    </a:lnR>
                    <a:lnT w="0">
                      <a:noFill/>
                    </a:lnT>
                    <a:lnB w="9525">
                      <a:solidFill>
                        <a:srgbClr val="E2E4E7"/>
                      </a:solidFill>
                    </a:lnB>
                    <a:noFill/>
                  </a:tcPr>
                </a:tc>
                <a:tc>
                  <a:txBody>
                    <a:bodyPr wrap="square"/>
                    <a:lstStyle/>
                    <a:p>
                      <a:pPr algn="l">
                        <a:lnSpc>
                          <a:spcPct val="100000"/>
                        </a:lnSpc>
                      </a:pPr>
                      <a:r>
                        <a:rPr sz="1200" b="0">
                          <a:solidFill>
                            <a:srgbClr val="15171A"/>
                          </a:solidFill>
                          <a:latin typeface="Noto Sans KR"/>
                          <a:ea typeface="Noto Sans KR"/>
                          <a:cs typeface="Noto Sans KR"/>
                        </a:rPr>
                        <a:t>통합 엔지니어링</a:t>
                      </a:r>
                    </a:p>
                  </a:txBody>
                  <a:tcPr marL="73152" marR="73152" marT="73152" marB="73152" anchor="t">
                    <a:lnL w="0">
                      <a:noFill/>
                    </a:lnL>
                    <a:lnR w="0">
                      <a:noFill/>
                    </a:lnR>
                    <a:lnT w="0">
                      <a:noFill/>
                    </a:lnT>
                    <a:lnB w="9525">
                      <a:solidFill>
                        <a:srgbClr val="E2E4E7"/>
                      </a:solidFill>
                    </a:lnB>
                    <a:noFill/>
                  </a:tcPr>
                </a:tc>
                <a:tc>
                  <a:txBody>
                    <a:bodyPr wrap="square"/>
                    <a:lstStyle/>
                    <a:p>
                      <a:pPr algn="l">
                        <a:lnSpc>
                          <a:spcPct val="100000"/>
                        </a:lnSpc>
                      </a:pPr>
                      <a:r>
                        <a:rPr sz="1200" b="0">
                          <a:solidFill>
                            <a:srgbClr val="15171A"/>
                          </a:solidFill>
                          <a:latin typeface="Noto Sans KR"/>
                          <a:ea typeface="Noto Sans KR"/>
                          <a:cs typeface="Noto Sans KR"/>
                        </a:rPr>
                        <a:t>프로젝트당 4,000만 원</a:t>
                      </a:r>
                    </a:p>
                  </a:txBody>
                  <a:tcPr marL="73152" marR="73152" marT="73152" marB="73152" anchor="t">
                    <a:lnL w="0">
                      <a:noFill/>
                    </a:lnL>
                    <a:lnR w="0">
                      <a:noFill/>
                    </a:lnR>
                    <a:lnT w="0">
                      <a:noFill/>
                    </a:lnT>
                    <a:lnB w="9525">
                      <a:solidFill>
                        <a:srgbClr val="E2E4E7"/>
                      </a:solidFill>
                    </a:lnB>
                    <a:noFill/>
                  </a:tcPr>
                </a:tc>
                <a:tc>
                  <a:txBody>
                    <a:bodyPr wrap="square"/>
                    <a:lstStyle/>
                    <a:p>
                      <a:pPr algn="l">
                        <a:lnSpc>
                          <a:spcPct val="100000"/>
                        </a:lnSpc>
                      </a:pPr>
                      <a:r>
                        <a:rPr sz="1200" b="0">
                          <a:solidFill>
                            <a:srgbClr val="15171A"/>
                          </a:solidFill>
                          <a:latin typeface="Noto Sans KR"/>
                          <a:ea typeface="Noto Sans KR"/>
                          <a:cs typeface="Noto Sans KR"/>
                        </a:rPr>
                        <a:t>40%</a:t>
                      </a:r>
                    </a:p>
                  </a:txBody>
                  <a:tcPr marL="73152" marR="73152" marT="73152" marB="73152" anchor="t">
                    <a:lnL w="0">
                      <a:noFill/>
                    </a:lnL>
                    <a:lnR w="0">
                      <a:noFill/>
                    </a:lnR>
                    <a:lnT w="0">
                      <a:noFill/>
                    </a:lnT>
                    <a:lnB w="9525">
                      <a:solidFill>
                        <a:srgbClr val="E2E4E7"/>
                      </a:solidFill>
                    </a:lnB>
                    <a:noFill/>
                  </a:tcPr>
                </a:tc>
                <a:tc>
                  <a:txBody>
                    <a:bodyPr wrap="square"/>
                    <a:lstStyle/>
                    <a:p>
                      <a:pPr algn="l">
                        <a:lnSpc>
                          <a:spcPct val="100000"/>
                        </a:lnSpc>
                      </a:pPr>
                      <a:r>
                        <a:rPr sz="1200" b="0">
                          <a:solidFill>
                            <a:srgbClr val="15171A"/>
                          </a:solidFill>
                          <a:latin typeface="Noto Sans KR"/>
                          <a:ea typeface="Noto Sans KR"/>
                          <a:cs typeface="Noto Sans KR"/>
                        </a:rPr>
                        <a:t>진입 수단, 비중 축소 목표</a:t>
                      </a:r>
                    </a:p>
                  </a:txBody>
                  <a:tcPr marL="73152" marR="73152" marT="73152" marB="73152" anchor="t">
                    <a:lnL w="0">
                      <a:noFill/>
                    </a:lnL>
                    <a:lnR w="0">
                      <a:noFill/>
                    </a:lnR>
                    <a:lnT w="0">
                      <a:noFill/>
                    </a:lnT>
                    <a:lnB w="9525">
                      <a:solidFill>
                        <a:srgbClr val="E2E4E7"/>
                      </a:solidFill>
                    </a:lnB>
                    <a:noFill/>
                  </a:tcPr>
                </a:tc>
              </a:tr>
              <a:tr h="596798">
                <a:tc>
                  <a:txBody>
                    <a:bodyPr wrap="square"/>
                    <a:lstStyle/>
                    <a:p>
                      <a:pPr algn="l">
                        <a:lnSpc>
                          <a:spcPct val="100000"/>
                        </a:lnSpc>
                      </a:pPr>
                      <a:r>
                        <a:rPr sz="1200" b="1">
                          <a:solidFill>
                            <a:srgbClr val="15171A"/>
                          </a:solidFill>
                          <a:latin typeface="Noto Sans KR"/>
                          <a:ea typeface="Noto Sans KR"/>
                          <a:cs typeface="Noto Sans KR"/>
                        </a:rPr>
                        <a:t>초기~중기</a:t>
                      </a:r>
                    </a:p>
                  </a:txBody>
                  <a:tcPr marL="73152" marR="73152" marT="73152" marB="73152" anchor="t">
                    <a:lnL w="0">
                      <a:noFill/>
                    </a:lnL>
                    <a:lnR w="0">
                      <a:noFill/>
                    </a:lnR>
                    <a:lnT w="0">
                      <a:noFill/>
                    </a:lnT>
                    <a:lnB w="9525">
                      <a:solidFill>
                        <a:srgbClr val="E2E4E7"/>
                      </a:solidFill>
                    </a:lnB>
                    <a:noFill/>
                  </a:tcPr>
                </a:tc>
                <a:tc>
                  <a:txBody>
                    <a:bodyPr wrap="square"/>
                    <a:lstStyle/>
                    <a:p>
                      <a:pPr algn="l">
                        <a:lnSpc>
                          <a:spcPct val="100000"/>
                        </a:lnSpc>
                      </a:pPr>
                      <a:r>
                        <a:rPr sz="1200" b="0">
                          <a:solidFill>
                            <a:srgbClr val="15171A"/>
                          </a:solidFill>
                          <a:latin typeface="Noto Sans KR"/>
                          <a:ea typeface="Noto Sans KR"/>
                          <a:cs typeface="Noto Sans KR"/>
                        </a:rPr>
                        <a:t>SoftHand 하드웨어</a:t>
                      </a:r>
                    </a:p>
                  </a:txBody>
                  <a:tcPr marL="73152" marR="73152" marT="73152" marB="73152" anchor="t">
                    <a:lnL w="0">
                      <a:noFill/>
                    </a:lnL>
                    <a:lnR w="0">
                      <a:noFill/>
                    </a:lnR>
                    <a:lnT w="0">
                      <a:noFill/>
                    </a:lnT>
                    <a:lnB w="9525">
                      <a:solidFill>
                        <a:srgbClr val="E2E4E7"/>
                      </a:solidFill>
                    </a:lnB>
                    <a:noFill/>
                  </a:tcPr>
                </a:tc>
                <a:tc>
                  <a:txBody>
                    <a:bodyPr wrap="square"/>
                    <a:lstStyle/>
                    <a:p>
                      <a:pPr algn="l">
                        <a:lnSpc>
                          <a:spcPct val="100000"/>
                        </a:lnSpc>
                      </a:pPr>
                      <a:r>
                        <a:rPr sz="1200" b="0">
                          <a:solidFill>
                            <a:srgbClr val="15171A"/>
                          </a:solidFill>
                          <a:latin typeface="Noto Sans KR"/>
                          <a:ea typeface="Noto Sans KR"/>
                          <a:cs typeface="Noto Sans KR"/>
                        </a:rPr>
                        <a:t>핸드 패키지 1,500만 원 (직판)</a:t>
                      </a:r>
                    </a:p>
                    <a:p>
                      <a:pPr algn="l">
                        <a:lnSpc>
                          <a:spcPct val="100000"/>
                        </a:lnSpc>
                      </a:pPr>
                      <a:r>
                        <a:rPr sz="1200" b="0">
                          <a:solidFill>
                            <a:srgbClr val="15171A"/>
                          </a:solidFill>
                          <a:latin typeface="Noto Sans KR"/>
                          <a:ea typeface="Noto Sans KR"/>
                          <a:cs typeface="Noto Sans KR"/>
                        </a:rPr>
                        <a:t>1,200만 원 (파트너 순매출)</a:t>
                      </a:r>
                    </a:p>
                  </a:txBody>
                  <a:tcPr marL="73152" marR="73152" marT="73152" marB="73152" anchor="t">
                    <a:lnL w="0">
                      <a:noFill/>
                    </a:lnL>
                    <a:lnR w="0">
                      <a:noFill/>
                    </a:lnR>
                    <a:lnT w="0">
                      <a:noFill/>
                    </a:lnT>
                    <a:lnB w="9525">
                      <a:solidFill>
                        <a:srgbClr val="E2E4E7"/>
                      </a:solidFill>
                    </a:lnB>
                    <a:noFill/>
                  </a:tcPr>
                </a:tc>
                <a:tc>
                  <a:txBody>
                    <a:bodyPr wrap="square"/>
                    <a:lstStyle/>
                    <a:p>
                      <a:pPr algn="l">
                        <a:lnSpc>
                          <a:spcPct val="100000"/>
                        </a:lnSpc>
                      </a:pPr>
                      <a:r>
                        <a:rPr sz="1200" b="0">
                          <a:solidFill>
                            <a:srgbClr val="15171A"/>
                          </a:solidFill>
                          <a:latin typeface="Noto Sans KR"/>
                          <a:ea typeface="Noto Sans KR"/>
                          <a:cs typeface="Noto Sans KR"/>
                        </a:rPr>
                        <a:t>원가 950만 → 750만 원</a:t>
                      </a:r>
                    </a:p>
                  </a:txBody>
                  <a:tcPr marL="73152" marR="73152" marT="73152" marB="73152" anchor="t">
                    <a:lnL w="0">
                      <a:noFill/>
                    </a:lnL>
                    <a:lnR w="0">
                      <a:noFill/>
                    </a:lnR>
                    <a:lnT w="0">
                      <a:noFill/>
                    </a:lnT>
                    <a:lnB w="9525">
                      <a:solidFill>
                        <a:srgbClr val="E2E4E7"/>
                      </a:solidFill>
                    </a:lnB>
                    <a:noFill/>
                  </a:tcPr>
                </a:tc>
                <a:tc>
                  <a:txBody>
                    <a:bodyPr wrap="square"/>
                    <a:lstStyle/>
                    <a:p>
                      <a:pPr algn="l">
                        <a:lnSpc>
                          <a:spcPct val="100000"/>
                        </a:lnSpc>
                      </a:pPr>
                      <a:r>
                        <a:rPr sz="1200" b="0">
                          <a:solidFill>
                            <a:srgbClr val="15171A"/>
                          </a:solidFill>
                          <a:latin typeface="Noto Sans KR"/>
                          <a:ea typeface="Noto Sans KR"/>
                          <a:cs typeface="Noto Sans KR"/>
                        </a:rPr>
                        <a:t>BOM·공급사 확정 후 재산정 (M18)</a:t>
                      </a:r>
                    </a:p>
                  </a:txBody>
                  <a:tcPr marL="73152" marR="73152" marT="73152" marB="73152" anchor="t">
                    <a:lnL w="0">
                      <a:noFill/>
                    </a:lnL>
                    <a:lnR w="0">
                      <a:noFill/>
                    </a:lnR>
                    <a:lnT w="0">
                      <a:noFill/>
                    </a:lnT>
                    <a:lnB w="9525">
                      <a:solidFill>
                        <a:srgbClr val="E2E4E7"/>
                      </a:solidFill>
                    </a:lnB>
                    <a:noFill/>
                  </a:tcPr>
                </a:tc>
              </a:tr>
              <a:tr h="596798">
                <a:tc>
                  <a:txBody>
                    <a:bodyPr wrap="square"/>
                    <a:lstStyle/>
                    <a:p>
                      <a:pPr algn="l">
                        <a:lnSpc>
                          <a:spcPct val="100000"/>
                        </a:lnSpc>
                      </a:pPr>
                      <a:r>
                        <a:rPr sz="1200" b="1">
                          <a:solidFill>
                            <a:srgbClr val="15171A"/>
                          </a:solidFill>
                          <a:latin typeface="Noto Sans KR"/>
                          <a:ea typeface="Noto Sans KR"/>
                          <a:cs typeface="Noto Sans KR"/>
                        </a:rPr>
                        <a:t>초기~중기</a:t>
                      </a:r>
                    </a:p>
                  </a:txBody>
                  <a:tcPr marL="73152" marR="73152" marT="73152" marB="73152" anchor="t">
                    <a:lnL w="0">
                      <a:noFill/>
                    </a:lnL>
                    <a:lnR w="0">
                      <a:noFill/>
                    </a:lnR>
                    <a:lnT w="0">
                      <a:noFill/>
                    </a:lnT>
                    <a:lnB w="9525">
                      <a:solidFill>
                        <a:srgbClr val="E2E4E7"/>
                      </a:solidFill>
                    </a:lnB>
                    <a:noFill/>
                  </a:tcPr>
                </a:tc>
                <a:tc>
                  <a:txBody>
                    <a:bodyPr wrap="square"/>
                    <a:lstStyle/>
                    <a:p>
                      <a:pPr algn="l">
                        <a:lnSpc>
                          <a:spcPct val="100000"/>
                        </a:lnSpc>
                      </a:pPr>
                      <a:r>
                        <a:rPr sz="1200" b="0">
                          <a:solidFill>
                            <a:srgbClr val="15171A"/>
                          </a:solidFill>
                          <a:latin typeface="Noto Sans KR"/>
                          <a:ea typeface="Noto Sans KR"/>
                          <a:cs typeface="Noto Sans KR"/>
                        </a:rPr>
                        <a:t>Kitchen Skill 패키지</a:t>
                      </a:r>
                    </a:p>
                  </a:txBody>
                  <a:tcPr marL="73152" marR="73152" marT="73152" marB="73152" anchor="t">
                    <a:lnL w="0">
                      <a:noFill/>
                    </a:lnL>
                    <a:lnR w="0">
                      <a:noFill/>
                    </a:lnR>
                    <a:lnT w="0">
                      <a:noFill/>
                    </a:lnT>
                    <a:lnB w="9525">
                      <a:solidFill>
                        <a:srgbClr val="E2E4E7"/>
                      </a:solidFill>
                    </a:lnB>
                    <a:noFill/>
                  </a:tcPr>
                </a:tc>
                <a:tc>
                  <a:txBody>
                    <a:bodyPr wrap="square"/>
                    <a:lstStyle/>
                    <a:p>
                      <a:pPr algn="l">
                        <a:lnSpc>
                          <a:spcPct val="100000"/>
                        </a:lnSpc>
                      </a:pPr>
                      <a:r>
                        <a:rPr sz="1200" b="0">
                          <a:solidFill>
                            <a:srgbClr val="15171A"/>
                          </a:solidFill>
                          <a:latin typeface="Noto Sans KR"/>
                          <a:ea typeface="Noto Sans KR"/>
                          <a:cs typeface="Noto Sans KR"/>
                        </a:rPr>
                        <a:t>핸드당 300만 원 (파트너 240만 원)</a:t>
                      </a:r>
                    </a:p>
                    <a:p>
                      <a:pPr algn="l">
                        <a:lnSpc>
                          <a:spcPct val="100000"/>
                        </a:lnSpc>
                      </a:pPr>
                      <a:r>
                        <a:rPr sz="1200" b="0">
                          <a:solidFill>
                            <a:srgbClr val="15171A"/>
                          </a:solidFill>
                          <a:latin typeface="Noto Sans KR"/>
                          <a:ea typeface="Noto Sans KR"/>
                          <a:cs typeface="Noto Sans KR"/>
                        </a:rPr>
                        <a:t>핸드당 1.0 → 1.6개</a:t>
                      </a:r>
                    </a:p>
                  </a:txBody>
                  <a:tcPr marL="73152" marR="73152" marT="73152" marB="73152" anchor="t">
                    <a:lnL w="0">
                      <a:noFill/>
                    </a:lnL>
                    <a:lnR w="0">
                      <a:noFill/>
                    </a:lnR>
                    <a:lnT w="0">
                      <a:noFill/>
                    </a:lnT>
                    <a:lnB w="9525">
                      <a:solidFill>
                        <a:srgbClr val="E2E4E7"/>
                      </a:solidFill>
                    </a:lnB>
                    <a:noFill/>
                  </a:tcPr>
                </a:tc>
                <a:tc>
                  <a:txBody>
                    <a:bodyPr wrap="square"/>
                    <a:lstStyle/>
                    <a:p>
                      <a:pPr algn="l">
                        <a:lnSpc>
                          <a:spcPct val="100000"/>
                        </a:lnSpc>
                      </a:pPr>
                      <a:r>
                        <a:rPr sz="1200" b="0">
                          <a:solidFill>
                            <a:srgbClr val="15171A"/>
                          </a:solidFill>
                          <a:latin typeface="Noto Sans KR"/>
                          <a:ea typeface="Noto Sans KR"/>
                          <a:cs typeface="Noto Sans KR"/>
                        </a:rPr>
                        <a:t>85%</a:t>
                      </a:r>
                    </a:p>
                  </a:txBody>
                  <a:tcPr marL="73152" marR="73152" marT="73152" marB="73152" anchor="t">
                    <a:lnL w="0">
                      <a:noFill/>
                    </a:lnL>
                    <a:lnR w="0">
                      <a:noFill/>
                    </a:lnR>
                    <a:lnT w="0">
                      <a:noFill/>
                    </a:lnT>
                    <a:lnB w="9525">
                      <a:solidFill>
                        <a:srgbClr val="E2E4E7"/>
                      </a:solidFill>
                    </a:lnB>
                    <a:noFill/>
                  </a:tcPr>
                </a:tc>
                <a:tc>
                  <a:txBody>
                    <a:bodyPr wrap="square"/>
                    <a:lstStyle/>
                    <a:p>
                      <a:pPr algn="l">
                        <a:lnSpc>
                          <a:spcPct val="100000"/>
                        </a:lnSpc>
                      </a:pPr>
                      <a:r>
                        <a:rPr sz="1200" b="0">
                          <a:solidFill>
                            <a:srgbClr val="15171A"/>
                          </a:solidFill>
                          <a:latin typeface="Noto Sans KR"/>
                          <a:ea typeface="Noto Sans KR"/>
                          <a:cs typeface="Noto Sans KR"/>
                        </a:rPr>
                        <a:t>승인 작업 단위 판매</a:t>
                      </a:r>
                    </a:p>
                  </a:txBody>
                  <a:tcPr marL="73152" marR="73152" marT="73152" marB="73152" anchor="t">
                    <a:lnL w="0">
                      <a:noFill/>
                    </a:lnL>
                    <a:lnR w="0">
                      <a:noFill/>
                    </a:lnR>
                    <a:lnT w="0">
                      <a:noFill/>
                    </a:lnT>
                    <a:lnB w="9525">
                      <a:solidFill>
                        <a:srgbClr val="E2E4E7"/>
                      </a:solidFill>
                    </a:lnB>
                    <a:noFill/>
                  </a:tcPr>
                </a:tc>
              </a:tr>
              <a:tr h="376123">
                <a:tc>
                  <a:txBody>
                    <a:bodyPr wrap="square"/>
                    <a:lstStyle/>
                    <a:p>
                      <a:pPr algn="l">
                        <a:lnSpc>
                          <a:spcPct val="100000"/>
                        </a:lnSpc>
                      </a:pPr>
                      <a:r>
                        <a:rPr sz="1200" b="1">
                          <a:solidFill>
                            <a:srgbClr val="15171A"/>
                          </a:solidFill>
                          <a:latin typeface="Noto Sans KR"/>
                          <a:ea typeface="Noto Sans KR"/>
                          <a:cs typeface="Noto Sans KR"/>
                        </a:rPr>
                        <a:t>중기</a:t>
                      </a:r>
                    </a:p>
                  </a:txBody>
                  <a:tcPr marL="73152" marR="73152" marT="73152" marB="73152" anchor="t">
                    <a:lnL w="0">
                      <a:noFill/>
                    </a:lnL>
                    <a:lnR w="0">
                      <a:noFill/>
                    </a:lnR>
                    <a:lnT w="0">
                      <a:noFill/>
                    </a:lnT>
                    <a:lnB w="9525">
                      <a:solidFill>
                        <a:srgbClr val="E2E4E7"/>
                      </a:solidFill>
                    </a:lnB>
                    <a:noFill/>
                  </a:tcPr>
                </a:tc>
                <a:tc>
                  <a:txBody>
                    <a:bodyPr wrap="square"/>
                    <a:lstStyle/>
                    <a:p>
                      <a:pPr algn="l">
                        <a:lnSpc>
                          <a:spcPct val="100000"/>
                        </a:lnSpc>
                      </a:pPr>
                      <a:r>
                        <a:rPr sz="1200" b="0">
                          <a:solidFill>
                            <a:srgbClr val="15171A"/>
                          </a:solidFill>
                          <a:latin typeface="Noto Sans KR"/>
                          <a:ea typeface="Noto Sans KR"/>
                          <a:cs typeface="Noto Sans KR"/>
                        </a:rPr>
                        <a:t>Runtime·유지보수</a:t>
                      </a:r>
                    </a:p>
                  </a:txBody>
                  <a:tcPr marL="73152" marR="73152" marT="73152" marB="73152" anchor="t">
                    <a:lnL w="0">
                      <a:noFill/>
                    </a:lnL>
                    <a:lnR w="0">
                      <a:noFill/>
                    </a:lnR>
                    <a:lnT w="0">
                      <a:noFill/>
                    </a:lnT>
                    <a:lnB w="9525">
                      <a:solidFill>
                        <a:srgbClr val="E2E4E7"/>
                      </a:solidFill>
                    </a:lnB>
                    <a:noFill/>
                  </a:tcPr>
                </a:tc>
                <a:tc>
                  <a:txBody>
                    <a:bodyPr wrap="square"/>
                    <a:lstStyle/>
                    <a:p>
                      <a:pPr algn="l">
                        <a:lnSpc>
                          <a:spcPct val="100000"/>
                        </a:lnSpc>
                      </a:pPr>
                      <a:r>
                        <a:rPr sz="1200" b="0">
                          <a:solidFill>
                            <a:srgbClr val="15171A"/>
                          </a:solidFill>
                          <a:latin typeface="Noto Sans KR"/>
                          <a:ea typeface="Noto Sans KR"/>
                          <a:cs typeface="Noto Sans KR"/>
                        </a:rPr>
                        <a:t>설치 핸드당 연 150만 원</a:t>
                      </a:r>
                    </a:p>
                  </a:txBody>
                  <a:tcPr marL="73152" marR="73152" marT="73152" marB="73152" anchor="t">
                    <a:lnL w="0">
                      <a:noFill/>
                    </a:lnL>
                    <a:lnR w="0">
                      <a:noFill/>
                    </a:lnR>
                    <a:lnT w="0">
                      <a:noFill/>
                    </a:lnT>
                    <a:lnB w="9525">
                      <a:solidFill>
                        <a:srgbClr val="E2E4E7"/>
                      </a:solidFill>
                    </a:lnB>
                    <a:noFill/>
                  </a:tcPr>
                </a:tc>
                <a:tc>
                  <a:txBody>
                    <a:bodyPr wrap="square"/>
                    <a:lstStyle/>
                    <a:p>
                      <a:pPr algn="l">
                        <a:lnSpc>
                          <a:spcPct val="100000"/>
                        </a:lnSpc>
                      </a:pPr>
                      <a:r>
                        <a:rPr sz="1200" b="0">
                          <a:solidFill>
                            <a:srgbClr val="15171A"/>
                          </a:solidFill>
                          <a:latin typeface="Noto Sans KR"/>
                          <a:ea typeface="Noto Sans KR"/>
                          <a:cs typeface="Noto Sans KR"/>
                        </a:rPr>
                        <a:t>70%</a:t>
                      </a:r>
                    </a:p>
                  </a:txBody>
                  <a:tcPr marL="73152" marR="73152" marT="73152" marB="73152" anchor="t">
                    <a:lnL w="0">
                      <a:noFill/>
                    </a:lnL>
                    <a:lnR w="0">
                      <a:noFill/>
                    </a:lnR>
                    <a:lnT w="0">
                      <a:noFill/>
                    </a:lnT>
                    <a:lnB w="9525">
                      <a:solidFill>
                        <a:srgbClr val="E2E4E7"/>
                      </a:solidFill>
                    </a:lnB>
                    <a:noFill/>
                  </a:tcPr>
                </a:tc>
                <a:tc>
                  <a:txBody>
                    <a:bodyPr wrap="square"/>
                    <a:lstStyle/>
                    <a:p>
                      <a:pPr algn="l">
                        <a:lnSpc>
                          <a:spcPct val="100000"/>
                        </a:lnSpc>
                      </a:pPr>
                      <a:r>
                        <a:rPr sz="1200" b="0">
                          <a:solidFill>
                            <a:srgbClr val="15171A"/>
                          </a:solidFill>
                          <a:latin typeface="Noto Sans KR"/>
                          <a:ea typeface="Noto Sans KR"/>
                          <a:cs typeface="Noto Sans KR"/>
                        </a:rPr>
                        <a:t>설치 기반 반복 매출</a:t>
                      </a:r>
                    </a:p>
                  </a:txBody>
                  <a:tcPr marL="73152" marR="73152" marT="73152" marB="73152" anchor="t">
                    <a:lnL w="0">
                      <a:noFill/>
                    </a:lnL>
                    <a:lnR w="0">
                      <a:noFill/>
                    </a:lnR>
                    <a:lnT w="0">
                      <a:noFill/>
                    </a:lnT>
                    <a:lnB w="9525">
                      <a:solidFill>
                        <a:srgbClr val="E2E4E7"/>
                      </a:solidFill>
                    </a:lnB>
                    <a:noFill/>
                  </a:tcPr>
                </a:tc>
              </a:tr>
              <a:tr h="596798">
                <a:tc>
                  <a:txBody>
                    <a:bodyPr wrap="square"/>
                    <a:lstStyle/>
                    <a:p>
                      <a:pPr algn="l">
                        <a:lnSpc>
                          <a:spcPct val="100000"/>
                        </a:lnSpc>
                      </a:pPr>
                      <a:r>
                        <a:rPr sz="1200" b="1">
                          <a:solidFill>
                            <a:srgbClr val="15171A"/>
                          </a:solidFill>
                          <a:latin typeface="Noto Sans KR"/>
                          <a:ea typeface="Noto Sans KR"/>
                          <a:cs typeface="Noto Sans KR"/>
                        </a:rPr>
                        <a:t>장기</a:t>
                      </a:r>
                    </a:p>
                  </a:txBody>
                  <a:tcPr marL="73152" marR="73152" marT="73152" marB="73152" anchor="t">
                    <a:lnL w="0">
                      <a:noFill/>
                    </a:lnL>
                    <a:lnR w="0">
                      <a:noFill/>
                    </a:lnR>
                    <a:lnT w="0">
                      <a:noFill/>
                    </a:lnT>
                    <a:lnB w="9525">
                      <a:solidFill>
                        <a:srgbClr val="E2E4E7"/>
                      </a:solidFill>
                    </a:lnB>
                    <a:noFill/>
                  </a:tcPr>
                </a:tc>
                <a:tc>
                  <a:txBody>
                    <a:bodyPr wrap="square"/>
                    <a:lstStyle/>
                    <a:p>
                      <a:pPr algn="l">
                        <a:lnSpc>
                          <a:spcPct val="100000"/>
                        </a:lnSpc>
                      </a:pPr>
                      <a:r>
                        <a:rPr sz="1200" b="0">
                          <a:solidFill>
                            <a:srgbClr val="15171A"/>
                          </a:solidFill>
                          <a:latin typeface="Noto Sans KR"/>
                          <a:ea typeface="Noto Sans KR"/>
                          <a:cs typeface="Noto Sans KR"/>
                        </a:rPr>
                        <a:t>로봇·가전 OEM, 라이선스, 내장 Runtime, Built-in 파트너십</a:t>
                      </a:r>
                    </a:p>
                  </a:txBody>
                  <a:tcPr marL="73152" marR="73152" marT="73152" marB="73152" anchor="t">
                    <a:lnL w="0">
                      <a:noFill/>
                    </a:lnL>
                    <a:lnR w="0">
                      <a:noFill/>
                    </a:lnR>
                    <a:lnT w="0">
                      <a:noFill/>
                    </a:lnT>
                    <a:lnB w="9525">
                      <a:solidFill>
                        <a:srgbClr val="E2E4E7"/>
                      </a:solidFill>
                    </a:lnB>
                    <a:noFill/>
                  </a:tcPr>
                </a:tc>
                <a:tc>
                  <a:txBody>
                    <a:bodyPr wrap="square"/>
                    <a:lstStyle/>
                    <a:p>
                      <a:pPr algn="l">
                        <a:lnSpc>
                          <a:spcPct val="100000"/>
                        </a:lnSpc>
                      </a:pPr>
                      <a:r>
                        <a:rPr sz="1200" b="0">
                          <a:solidFill>
                            <a:srgbClr val="15171A"/>
                          </a:solidFill>
                          <a:latin typeface="Noto Sans KR"/>
                          <a:ea typeface="Noto Sans KR"/>
                          <a:cs typeface="Noto Sans KR"/>
                        </a:rPr>
                        <a:t>출하량·설치량 연동 [협의 후 검증]</a:t>
                      </a:r>
                    </a:p>
                  </a:txBody>
                  <a:tcPr marL="73152" marR="73152" marT="73152" marB="73152" anchor="t">
                    <a:lnL w="0">
                      <a:noFill/>
                    </a:lnL>
                    <a:lnR w="0">
                      <a:noFill/>
                    </a:lnR>
                    <a:lnT w="0">
                      <a:noFill/>
                    </a:lnT>
                    <a:lnB w="9525">
                      <a:solidFill>
                        <a:srgbClr val="E2E4E7"/>
                      </a:solidFill>
                    </a:lnB>
                    <a:noFill/>
                  </a:tcPr>
                </a:tc>
                <a:tc>
                  <a:txBody>
                    <a:bodyPr wrap="square"/>
                    <a:lstStyle/>
                    <a:p>
                      <a:pPr algn="l">
                        <a:lnSpc>
                          <a:spcPct val="100000"/>
                        </a:lnSpc>
                      </a:pPr>
                      <a:r>
                        <a:rPr sz="1200" b="0">
                          <a:solidFill>
                            <a:srgbClr val="15171A"/>
                          </a:solidFill>
                          <a:latin typeface="Noto Sans KR"/>
                          <a:ea typeface="Noto Sans KR"/>
                          <a:cs typeface="Noto Sans KR"/>
                        </a:rPr>
                        <a:t>—</a:t>
                      </a:r>
                    </a:p>
                  </a:txBody>
                  <a:tcPr marL="73152" marR="73152" marT="73152" marB="73152" anchor="t">
                    <a:lnL w="0">
                      <a:noFill/>
                    </a:lnL>
                    <a:lnR w="0">
                      <a:noFill/>
                    </a:lnR>
                    <a:lnT w="0">
                      <a:noFill/>
                    </a:lnT>
                    <a:lnB w="9525">
                      <a:solidFill>
                        <a:srgbClr val="E2E4E7"/>
                      </a:solidFill>
                    </a:lnB>
                    <a:noFill/>
                  </a:tcPr>
                </a:tc>
                <a:tc>
                  <a:txBody>
                    <a:bodyPr wrap="square"/>
                    <a:lstStyle/>
                    <a:p>
                      <a:pPr algn="l">
                        <a:lnSpc>
                          <a:spcPct val="100000"/>
                        </a:lnSpc>
                      </a:pPr>
                      <a:r>
                        <a:rPr sz="1200" b="0">
                          <a:solidFill>
                            <a:srgbClr val="15171A"/>
                          </a:solidFill>
                          <a:latin typeface="Noto Sans KR"/>
                          <a:ea typeface="Noto Sans KR"/>
                          <a:cs typeface="Noto Sans KR"/>
                        </a:rPr>
                        <a:t>Base Case 미반영 (Scale Trigger)</a:t>
                      </a:r>
                    </a:p>
                  </a:txBody>
                  <a:tcPr marL="73152" marR="73152" marT="73152" marB="73152" anchor="t">
                    <a:lnL w="0">
                      <a:noFill/>
                    </a:lnL>
                    <a:lnR w="0">
                      <a:noFill/>
                    </a:lnR>
                    <a:lnT w="0">
                      <a:noFill/>
                    </a:lnT>
                    <a:lnB w="9525">
                      <a:solidFill>
                        <a:srgbClr val="E2E4E7"/>
                      </a:solidFill>
                    </a:lnB>
                    <a:noFill/>
                  </a:tcPr>
                </a:tc>
              </a:tr>
            </a:tbl>
          </a:graphicData>
        </a:graphic>
      </p:graphicFrame>
      <p:sp>
        <p:nvSpPr>
          <p:cNvPr id="6" name="TextBox 5"/>
          <p:cNvSpPr txBox="1"/>
          <p:nvPr/>
        </p:nvSpPr>
        <p:spPr>
          <a:xfrm>
            <a:off x="685800" y="6107176"/>
            <a:ext cx="10820095" cy="202184"/>
          </a:xfrm>
          <a:prstGeom prst="rect">
            <a:avLst/>
          </a:prstGeom>
          <a:noFill/>
        </p:spPr>
        <p:txBody>
          <a:bodyPr wrap="square" lIns="0" rIns="0" tIns="0" bIns="0" anchor="t">
            <a:spAutoFit/>
          </a:bodyPr>
          <a:lstStyle/>
          <a:p>
            <a:pPr algn="l">
              <a:lnSpc>
                <a:spcPct val="100000"/>
              </a:lnSpc>
            </a:pPr>
            <a:r>
              <a:rPr sz="1000" b="0">
                <a:solidFill>
                  <a:srgbClr val="8C9198"/>
                </a:solidFill>
                <a:latin typeface="Noto Sans KR"/>
                <a:ea typeface="Noto Sans KR"/>
                <a:cs typeface="Noto Sans KR"/>
              </a:rPr>
              <a:t>주방 고객의 가격 수용성은 유료 PoC에서 검증 · 통합 매출은 숨기지 않되 장기 모델이 아닌 진입·제품화 수단으로 정의</a:t>
            </a:r>
          </a:p>
        </p:txBody>
      </p:sp>
      <p:sp>
        <p:nvSpPr>
          <p:cNvPr id="7" name="TextBox 6"/>
          <p:cNvSpPr txBox="1"/>
          <p:nvPr/>
        </p:nvSpPr>
        <p:spPr>
          <a:xfrm>
            <a:off x="685800" y="6446520"/>
            <a:ext cx="5486400" cy="201168"/>
          </a:xfrm>
          <a:prstGeom prst="rect">
            <a:avLst/>
          </a:prstGeom>
          <a:noFill/>
        </p:spPr>
        <p:txBody>
          <a:bodyPr wrap="square" lIns="0" rIns="0" tIns="0" bIns="0" anchor="t">
            <a:spAutoFit/>
          </a:bodyPr>
          <a:lstStyle/>
          <a:p>
            <a:pPr algn="l">
              <a:lnSpc>
                <a:spcPct val="100000"/>
              </a:lnSpc>
            </a:pPr>
            <a:r>
              <a:rPr sz="900" b="0">
                <a:solidFill>
                  <a:srgbClr val="8C9198"/>
                </a:solidFill>
                <a:latin typeface="Noto Sans KR"/>
                <a:ea typeface="Noto Sans KR"/>
                <a:cs typeface="Noto Sans KR"/>
              </a:rPr>
              <a:t>SoftHand  |  주방 로봇 조작 플랫폼  |  Seed 투자 제안서</a:t>
            </a:r>
          </a:p>
        </p:txBody>
      </p:sp>
      <p:sp>
        <p:nvSpPr>
          <p:cNvPr id="8" name="TextBox 7"/>
          <p:cNvSpPr txBox="1"/>
          <p:nvPr/>
        </p:nvSpPr>
        <p:spPr>
          <a:xfrm>
            <a:off x="11048695" y="6446520"/>
            <a:ext cx="457200" cy="201168"/>
          </a:xfrm>
          <a:prstGeom prst="rect">
            <a:avLst/>
          </a:prstGeom>
          <a:noFill/>
        </p:spPr>
        <p:txBody>
          <a:bodyPr wrap="square" lIns="0" rIns="0" tIns="0" bIns="0" anchor="t">
            <a:spAutoFit/>
          </a:bodyPr>
          <a:lstStyle/>
          <a:p>
            <a:pPr algn="r">
              <a:lnSpc>
                <a:spcPct val="100000"/>
              </a:lnSpc>
            </a:pPr>
            <a:r>
              <a:rPr sz="900" b="0">
                <a:solidFill>
                  <a:srgbClr val="8C9198"/>
                </a:solidFill>
                <a:latin typeface="Noto Sans KR"/>
                <a:ea typeface="Noto Sans KR"/>
                <a:cs typeface="Noto Sans KR"/>
              </a:rPr>
              <a:t>A9</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502920"/>
            <a:ext cx="7315200" cy="256032"/>
          </a:xfrm>
          <a:prstGeom prst="rect">
            <a:avLst/>
          </a:prstGeom>
          <a:noFill/>
        </p:spPr>
        <p:txBody>
          <a:bodyPr wrap="square" lIns="0" rIns="0" tIns="0" bIns="0" anchor="t">
            <a:spAutoFit/>
          </a:bodyPr>
          <a:lstStyle/>
          <a:p>
            <a:pPr algn="l">
              <a:lnSpc>
                <a:spcPct val="100000"/>
              </a:lnSpc>
            </a:pPr>
            <a:r>
              <a:rPr sz="1100" b="1">
                <a:solidFill>
                  <a:srgbClr val="E2571B"/>
                </a:solidFill>
                <a:latin typeface="Noto Sans KR"/>
                <a:ea typeface="Noto Sans KR"/>
                <a:cs typeface="Noto Sans KR"/>
              </a:rPr>
              <a:t>부록 A10</a:t>
            </a:r>
          </a:p>
        </p:txBody>
      </p:sp>
      <p:sp>
        <p:nvSpPr>
          <p:cNvPr id="3" name="TextBox 2"/>
          <p:cNvSpPr txBox="1"/>
          <p:nvPr/>
        </p:nvSpPr>
        <p:spPr>
          <a:xfrm>
            <a:off x="685800" y="822960"/>
            <a:ext cx="10820095" cy="475488"/>
          </a:xfrm>
          <a:prstGeom prst="rect">
            <a:avLst/>
          </a:prstGeom>
          <a:noFill/>
        </p:spPr>
        <p:txBody>
          <a:bodyPr wrap="square" lIns="0" rIns="0" tIns="0" bIns="0" anchor="t">
            <a:spAutoFit/>
          </a:bodyPr>
          <a:lstStyle/>
          <a:p>
            <a:pPr algn="l">
              <a:lnSpc>
                <a:spcPct val="95000"/>
              </a:lnSpc>
            </a:pPr>
            <a:r>
              <a:rPr sz="2600" b="1">
                <a:solidFill>
                  <a:srgbClr val="15171A"/>
                </a:solidFill>
                <a:latin typeface="Noto Sans KR"/>
                <a:ea typeface="Noto Sans KR"/>
                <a:cs typeface="Noto Sans KR"/>
              </a:rPr>
              <a:t>5개년 손익 상세 (Base Case = 하방)</a:t>
            </a:r>
          </a:p>
        </p:txBody>
      </p:sp>
      <p:sp>
        <p:nvSpPr>
          <p:cNvPr id="4" name="TextBox 3"/>
          <p:cNvSpPr txBox="1"/>
          <p:nvPr/>
        </p:nvSpPr>
        <p:spPr>
          <a:xfrm>
            <a:off x="685800" y="1353312"/>
            <a:ext cx="10820095" cy="274320"/>
          </a:xfrm>
          <a:prstGeom prst="rect">
            <a:avLst/>
          </a:prstGeom>
          <a:noFill/>
        </p:spPr>
        <p:txBody>
          <a:bodyPr wrap="square" lIns="0" rIns="0" tIns="0" bIns="0" anchor="t">
            <a:spAutoFit/>
          </a:bodyPr>
          <a:lstStyle/>
          <a:p>
            <a:pPr algn="l">
              <a:lnSpc>
                <a:spcPct val="100000"/>
              </a:lnSpc>
            </a:pPr>
            <a:r>
              <a:rPr sz="1300" b="0">
                <a:solidFill>
                  <a:srgbClr val="4A4F57"/>
                </a:solidFill>
                <a:latin typeface="Noto Sans KR"/>
                <a:ea typeface="Noto Sans KR"/>
                <a:cs typeface="Noto Sans KR"/>
              </a:rPr>
              <a:t>단위: 억 원 · 기존 계획 기반 · 대규모 주방·OEM 매출 제외 · 1년차 = 투자 집행 첫해</a:t>
            </a:r>
          </a:p>
        </p:txBody>
      </p:sp>
      <p:graphicFrame>
        <p:nvGraphicFramePr>
          <p:cNvPr id="5" name="Table 4"/>
          <p:cNvGraphicFramePr>
            <a:graphicFrameLocks noGrp="1"/>
          </p:cNvGraphicFramePr>
          <p:nvPr/>
        </p:nvGraphicFramePr>
        <p:xfrm>
          <a:off x="685800" y="1847088"/>
          <a:ext cx="7086600" cy="4112150"/>
        </p:xfrm>
        <a:graphic>
          <a:graphicData uri="http://schemas.openxmlformats.org/drawingml/2006/table">
            <a:tbl>
              <a:tblPr firstRow="0" bandRow="0">
                <a:tableStyleId>{2D5ABB26-0587-4C30-8999-92F81FD0307C}</a:tableStyleId>
              </a:tblPr>
              <a:tblGrid>
                <a:gridCol w="2514600"/>
                <a:gridCol w="914400"/>
                <a:gridCol w="914400"/>
                <a:gridCol w="914400"/>
                <a:gridCol w="914400"/>
                <a:gridCol w="914400"/>
              </a:tblGrid>
              <a:tr h="293725">
                <a:tc>
                  <a:txBody>
                    <a:bodyPr wrap="square"/>
                    <a:lstStyle/>
                    <a:p>
                      <a:pPr algn="l">
                        <a:lnSpc>
                          <a:spcPct val="100000"/>
                        </a:lnSpc>
                      </a:pPr>
                      <a:r>
                        <a:rPr sz="1100" b="1">
                          <a:solidFill>
                            <a:srgbClr val="15171A"/>
                          </a:solidFill>
                          <a:latin typeface="Noto Sans KR"/>
                          <a:ea typeface="Noto Sans KR"/>
                          <a:cs typeface="Noto Sans KR"/>
                        </a:rPr>
                        <a:t>항목</a:t>
                      </a:r>
                    </a:p>
                  </a:txBody>
                  <a:tcPr marL="73152" marR="73152" marT="41148" marB="41148" anchor="t">
                    <a:lnL w="0">
                      <a:noFill/>
                    </a:lnL>
                    <a:lnR w="0">
                      <a:noFill/>
                    </a:lnR>
                    <a:lnT w="12700">
                      <a:solidFill>
                        <a:srgbClr val="15171A"/>
                      </a:solidFill>
                    </a:lnT>
                    <a:lnB w="9525">
                      <a:solidFill>
                        <a:srgbClr val="15171A"/>
                      </a:solidFill>
                    </a:lnB>
                    <a:noFill/>
                  </a:tcPr>
                </a:tc>
                <a:tc>
                  <a:txBody>
                    <a:bodyPr wrap="square"/>
                    <a:lstStyle/>
                    <a:p>
                      <a:pPr algn="r">
                        <a:lnSpc>
                          <a:spcPct val="100000"/>
                        </a:lnSpc>
                      </a:pPr>
                      <a:r>
                        <a:rPr sz="1100" b="1">
                          <a:solidFill>
                            <a:srgbClr val="15171A"/>
                          </a:solidFill>
                          <a:latin typeface="Noto Sans KR"/>
                          <a:ea typeface="Noto Sans KR"/>
                          <a:cs typeface="Noto Sans KR"/>
                        </a:rPr>
                        <a:t>1년</a:t>
                      </a:r>
                    </a:p>
                  </a:txBody>
                  <a:tcPr marL="73152" marR="73152" marT="41148" marB="41148" anchor="t">
                    <a:lnL w="0">
                      <a:noFill/>
                    </a:lnL>
                    <a:lnR w="0">
                      <a:noFill/>
                    </a:lnR>
                    <a:lnT w="12700">
                      <a:solidFill>
                        <a:srgbClr val="15171A"/>
                      </a:solidFill>
                    </a:lnT>
                    <a:lnB w="9525">
                      <a:solidFill>
                        <a:srgbClr val="15171A"/>
                      </a:solidFill>
                    </a:lnB>
                    <a:noFill/>
                  </a:tcPr>
                </a:tc>
                <a:tc>
                  <a:txBody>
                    <a:bodyPr wrap="square"/>
                    <a:lstStyle/>
                    <a:p>
                      <a:pPr algn="r">
                        <a:lnSpc>
                          <a:spcPct val="100000"/>
                        </a:lnSpc>
                      </a:pPr>
                      <a:r>
                        <a:rPr sz="1100" b="1">
                          <a:solidFill>
                            <a:srgbClr val="15171A"/>
                          </a:solidFill>
                          <a:latin typeface="Noto Sans KR"/>
                          <a:ea typeface="Noto Sans KR"/>
                          <a:cs typeface="Noto Sans KR"/>
                        </a:rPr>
                        <a:t>2년</a:t>
                      </a:r>
                    </a:p>
                  </a:txBody>
                  <a:tcPr marL="73152" marR="73152" marT="41148" marB="41148" anchor="t">
                    <a:lnL w="0">
                      <a:noFill/>
                    </a:lnL>
                    <a:lnR w="0">
                      <a:noFill/>
                    </a:lnR>
                    <a:lnT w="12700">
                      <a:solidFill>
                        <a:srgbClr val="15171A"/>
                      </a:solidFill>
                    </a:lnT>
                    <a:lnB w="9525">
                      <a:solidFill>
                        <a:srgbClr val="15171A"/>
                      </a:solidFill>
                    </a:lnB>
                    <a:noFill/>
                  </a:tcPr>
                </a:tc>
                <a:tc>
                  <a:txBody>
                    <a:bodyPr wrap="square"/>
                    <a:lstStyle/>
                    <a:p>
                      <a:pPr algn="r">
                        <a:lnSpc>
                          <a:spcPct val="100000"/>
                        </a:lnSpc>
                      </a:pPr>
                      <a:r>
                        <a:rPr sz="1100" b="1">
                          <a:solidFill>
                            <a:srgbClr val="15171A"/>
                          </a:solidFill>
                          <a:latin typeface="Noto Sans KR"/>
                          <a:ea typeface="Noto Sans KR"/>
                          <a:cs typeface="Noto Sans KR"/>
                        </a:rPr>
                        <a:t>3년</a:t>
                      </a:r>
                    </a:p>
                  </a:txBody>
                  <a:tcPr marL="73152" marR="73152" marT="41148" marB="41148" anchor="t">
                    <a:lnL w="0">
                      <a:noFill/>
                    </a:lnL>
                    <a:lnR w="0">
                      <a:noFill/>
                    </a:lnR>
                    <a:lnT w="12700">
                      <a:solidFill>
                        <a:srgbClr val="15171A"/>
                      </a:solidFill>
                    </a:lnT>
                    <a:lnB w="9525">
                      <a:solidFill>
                        <a:srgbClr val="15171A"/>
                      </a:solidFill>
                    </a:lnB>
                    <a:noFill/>
                  </a:tcPr>
                </a:tc>
                <a:tc>
                  <a:txBody>
                    <a:bodyPr wrap="square"/>
                    <a:lstStyle/>
                    <a:p>
                      <a:pPr algn="r">
                        <a:lnSpc>
                          <a:spcPct val="100000"/>
                        </a:lnSpc>
                      </a:pPr>
                      <a:r>
                        <a:rPr sz="1100" b="1">
                          <a:solidFill>
                            <a:srgbClr val="15171A"/>
                          </a:solidFill>
                          <a:latin typeface="Noto Sans KR"/>
                          <a:ea typeface="Noto Sans KR"/>
                          <a:cs typeface="Noto Sans KR"/>
                        </a:rPr>
                        <a:t>4년</a:t>
                      </a:r>
                    </a:p>
                  </a:txBody>
                  <a:tcPr marL="73152" marR="73152" marT="41148" marB="41148" anchor="t">
                    <a:lnL w="0">
                      <a:noFill/>
                    </a:lnL>
                    <a:lnR w="0">
                      <a:noFill/>
                    </a:lnR>
                    <a:lnT w="12700">
                      <a:solidFill>
                        <a:srgbClr val="15171A"/>
                      </a:solidFill>
                    </a:lnT>
                    <a:lnB w="9525">
                      <a:solidFill>
                        <a:srgbClr val="15171A"/>
                      </a:solidFill>
                    </a:lnB>
                    <a:noFill/>
                  </a:tcPr>
                </a:tc>
                <a:tc>
                  <a:txBody>
                    <a:bodyPr wrap="square"/>
                    <a:lstStyle/>
                    <a:p>
                      <a:pPr algn="r">
                        <a:lnSpc>
                          <a:spcPct val="100000"/>
                        </a:lnSpc>
                      </a:pPr>
                      <a:r>
                        <a:rPr sz="1100" b="1">
                          <a:solidFill>
                            <a:srgbClr val="15171A"/>
                          </a:solidFill>
                          <a:latin typeface="Noto Sans KR"/>
                          <a:ea typeface="Noto Sans KR"/>
                          <a:cs typeface="Noto Sans KR"/>
                        </a:rPr>
                        <a:t>5년</a:t>
                      </a:r>
                    </a:p>
                  </a:txBody>
                  <a:tcPr marL="73152" marR="73152" marT="41148" marB="41148" anchor="t">
                    <a:lnL w="0">
                      <a:noFill/>
                    </a:lnL>
                    <a:lnR w="0">
                      <a:noFill/>
                    </a:lnR>
                    <a:lnT w="12700">
                      <a:solidFill>
                        <a:srgbClr val="15171A"/>
                      </a:solidFill>
                    </a:lnT>
                    <a:lnB w="9525">
                      <a:solidFill>
                        <a:srgbClr val="15171A"/>
                      </a:solidFill>
                    </a:lnB>
                    <a:noFill/>
                  </a:tcPr>
                </a:tc>
              </a:tr>
              <a:tr h="293725">
                <a:tc>
                  <a:txBody>
                    <a:bodyPr wrap="square"/>
                    <a:lstStyle/>
                    <a:p>
                      <a:pPr algn="l">
                        <a:lnSpc>
                          <a:spcPct val="100000"/>
                        </a:lnSpc>
                      </a:pPr>
                      <a:r>
                        <a:rPr sz="1100" b="0">
                          <a:solidFill>
                            <a:srgbClr val="15171A"/>
                          </a:solidFill>
                          <a:latin typeface="Noto Sans KR"/>
                          <a:ea typeface="Noto Sans KR"/>
                          <a:cs typeface="Noto Sans KR"/>
                        </a:rPr>
                        <a:t>유료 PoC / 통합 (건)</a:t>
                      </a:r>
                    </a:p>
                  </a:txBody>
                  <a:tcPr marL="73152" marR="73152" marT="41148" marB="41148" anchor="t">
                    <a:lnL w="0">
                      <a:noFill/>
                    </a:lnL>
                    <a:lnR w="0">
                      <a:noFill/>
                    </a:lnR>
                    <a:lnT w="0">
                      <a:noFill/>
                    </a:lnT>
                    <a:lnB w="9525">
                      <a:solidFill>
                        <a:srgbClr val="E2E4E7"/>
                      </a:solidFill>
                    </a:lnB>
                    <a:noFill/>
                  </a:tcPr>
                </a:tc>
                <a:tc>
                  <a:txBody>
                    <a:bodyPr wrap="square"/>
                    <a:lstStyle/>
                    <a:p>
                      <a:pPr algn="r">
                        <a:lnSpc>
                          <a:spcPct val="100000"/>
                        </a:lnSpc>
                      </a:pPr>
                      <a:r>
                        <a:rPr sz="1100" b="0">
                          <a:solidFill>
                            <a:srgbClr val="15171A"/>
                          </a:solidFill>
                          <a:latin typeface="Noto Sans KR"/>
                          <a:ea typeface="Noto Sans KR"/>
                          <a:cs typeface="Noto Sans KR"/>
                        </a:rPr>
                        <a:t>1 / 0</a:t>
                      </a:r>
                    </a:p>
                  </a:txBody>
                  <a:tcPr marL="73152" marR="73152" marT="41148" marB="41148" anchor="t">
                    <a:lnL w="0">
                      <a:noFill/>
                    </a:lnL>
                    <a:lnR w="0">
                      <a:noFill/>
                    </a:lnR>
                    <a:lnT w="0">
                      <a:noFill/>
                    </a:lnT>
                    <a:lnB w="9525">
                      <a:solidFill>
                        <a:srgbClr val="E2E4E7"/>
                      </a:solidFill>
                    </a:lnB>
                    <a:noFill/>
                  </a:tcPr>
                </a:tc>
                <a:tc>
                  <a:txBody>
                    <a:bodyPr wrap="square"/>
                    <a:lstStyle/>
                    <a:p>
                      <a:pPr algn="r">
                        <a:lnSpc>
                          <a:spcPct val="100000"/>
                        </a:lnSpc>
                      </a:pPr>
                      <a:r>
                        <a:rPr sz="1100" b="0">
                          <a:solidFill>
                            <a:srgbClr val="15171A"/>
                          </a:solidFill>
                          <a:latin typeface="Noto Sans KR"/>
                          <a:ea typeface="Noto Sans KR"/>
                          <a:cs typeface="Noto Sans KR"/>
                        </a:rPr>
                        <a:t>4 / 2</a:t>
                      </a:r>
                    </a:p>
                  </a:txBody>
                  <a:tcPr marL="73152" marR="73152" marT="41148" marB="41148" anchor="t">
                    <a:lnL w="0">
                      <a:noFill/>
                    </a:lnL>
                    <a:lnR w="0">
                      <a:noFill/>
                    </a:lnR>
                    <a:lnT w="0">
                      <a:noFill/>
                    </a:lnT>
                    <a:lnB w="9525">
                      <a:solidFill>
                        <a:srgbClr val="E2E4E7"/>
                      </a:solidFill>
                    </a:lnB>
                    <a:noFill/>
                  </a:tcPr>
                </a:tc>
                <a:tc>
                  <a:txBody>
                    <a:bodyPr wrap="square"/>
                    <a:lstStyle/>
                    <a:p>
                      <a:pPr algn="r">
                        <a:lnSpc>
                          <a:spcPct val="100000"/>
                        </a:lnSpc>
                      </a:pPr>
                      <a:r>
                        <a:rPr sz="1100" b="0">
                          <a:solidFill>
                            <a:srgbClr val="15171A"/>
                          </a:solidFill>
                          <a:latin typeface="Noto Sans KR"/>
                          <a:ea typeface="Noto Sans KR"/>
                          <a:cs typeface="Noto Sans KR"/>
                        </a:rPr>
                        <a:t>5 / 6</a:t>
                      </a:r>
                    </a:p>
                  </a:txBody>
                  <a:tcPr marL="73152" marR="73152" marT="41148" marB="41148" anchor="t">
                    <a:lnL w="0">
                      <a:noFill/>
                    </a:lnL>
                    <a:lnR w="0">
                      <a:noFill/>
                    </a:lnR>
                    <a:lnT w="0">
                      <a:noFill/>
                    </a:lnT>
                    <a:lnB w="9525">
                      <a:solidFill>
                        <a:srgbClr val="E2E4E7"/>
                      </a:solidFill>
                    </a:lnB>
                    <a:noFill/>
                  </a:tcPr>
                </a:tc>
                <a:tc>
                  <a:txBody>
                    <a:bodyPr wrap="square"/>
                    <a:lstStyle/>
                    <a:p>
                      <a:pPr algn="r">
                        <a:lnSpc>
                          <a:spcPct val="100000"/>
                        </a:lnSpc>
                      </a:pPr>
                      <a:r>
                        <a:rPr sz="1100" b="0">
                          <a:solidFill>
                            <a:srgbClr val="15171A"/>
                          </a:solidFill>
                          <a:latin typeface="Noto Sans KR"/>
                          <a:ea typeface="Noto Sans KR"/>
                          <a:cs typeface="Noto Sans KR"/>
                        </a:rPr>
                        <a:t>6 / 8</a:t>
                      </a:r>
                    </a:p>
                  </a:txBody>
                  <a:tcPr marL="73152" marR="73152" marT="41148" marB="41148" anchor="t">
                    <a:lnL w="0">
                      <a:noFill/>
                    </a:lnL>
                    <a:lnR w="0">
                      <a:noFill/>
                    </a:lnR>
                    <a:lnT w="0">
                      <a:noFill/>
                    </a:lnT>
                    <a:lnB w="9525">
                      <a:solidFill>
                        <a:srgbClr val="E2E4E7"/>
                      </a:solidFill>
                    </a:lnB>
                    <a:noFill/>
                  </a:tcPr>
                </a:tc>
                <a:tc>
                  <a:txBody>
                    <a:bodyPr wrap="square"/>
                    <a:lstStyle/>
                    <a:p>
                      <a:pPr algn="r">
                        <a:lnSpc>
                          <a:spcPct val="100000"/>
                        </a:lnSpc>
                      </a:pPr>
                      <a:r>
                        <a:rPr sz="1100" b="0">
                          <a:solidFill>
                            <a:srgbClr val="15171A"/>
                          </a:solidFill>
                          <a:latin typeface="Noto Sans KR"/>
                          <a:ea typeface="Noto Sans KR"/>
                          <a:cs typeface="Noto Sans KR"/>
                        </a:rPr>
                        <a:t>6 / 8</a:t>
                      </a:r>
                    </a:p>
                  </a:txBody>
                  <a:tcPr marL="73152" marR="73152" marT="41148" marB="41148" anchor="t">
                    <a:lnL w="0">
                      <a:noFill/>
                    </a:lnL>
                    <a:lnR w="0">
                      <a:noFill/>
                    </a:lnR>
                    <a:lnT w="0">
                      <a:noFill/>
                    </a:lnT>
                    <a:lnB w="9525">
                      <a:solidFill>
                        <a:srgbClr val="E2E4E7"/>
                      </a:solidFill>
                    </a:lnB>
                    <a:noFill/>
                  </a:tcPr>
                </a:tc>
              </a:tr>
              <a:tr h="293725">
                <a:tc>
                  <a:txBody>
                    <a:bodyPr wrap="square"/>
                    <a:lstStyle/>
                    <a:p>
                      <a:pPr algn="l">
                        <a:lnSpc>
                          <a:spcPct val="100000"/>
                        </a:lnSpc>
                      </a:pPr>
                      <a:r>
                        <a:rPr sz="1100" b="0">
                          <a:solidFill>
                            <a:srgbClr val="15171A"/>
                          </a:solidFill>
                          <a:latin typeface="Noto Sans KR"/>
                          <a:ea typeface="Noto Sans KR"/>
                          <a:cs typeface="Noto Sans KR"/>
                        </a:rPr>
                        <a:t>신규 핸드 (대) 직판 / 파트너</a:t>
                      </a:r>
                    </a:p>
                  </a:txBody>
                  <a:tcPr marL="73152" marR="73152" marT="41148" marB="41148" anchor="t">
                    <a:lnL w="0">
                      <a:noFill/>
                    </a:lnL>
                    <a:lnR w="0">
                      <a:noFill/>
                    </a:lnR>
                    <a:lnT w="0">
                      <a:noFill/>
                    </a:lnT>
                    <a:lnB w="9525">
                      <a:solidFill>
                        <a:srgbClr val="E2E4E7"/>
                      </a:solidFill>
                    </a:lnB>
                    <a:noFill/>
                  </a:tcPr>
                </a:tc>
                <a:tc>
                  <a:txBody>
                    <a:bodyPr wrap="square"/>
                    <a:lstStyle/>
                    <a:p>
                      <a:pPr algn="r">
                        <a:lnSpc>
                          <a:spcPct val="100000"/>
                        </a:lnSpc>
                      </a:pPr>
                      <a:r>
                        <a:rPr sz="1100" b="0">
                          <a:solidFill>
                            <a:srgbClr val="15171A"/>
                          </a:solidFill>
                          <a:latin typeface="Noto Sans KR"/>
                          <a:ea typeface="Noto Sans KR"/>
                          <a:cs typeface="Noto Sans KR"/>
                        </a:rPr>
                        <a:t>0 / 0</a:t>
                      </a:r>
                    </a:p>
                  </a:txBody>
                  <a:tcPr marL="73152" marR="73152" marT="41148" marB="41148" anchor="t">
                    <a:lnL w="0">
                      <a:noFill/>
                    </a:lnL>
                    <a:lnR w="0">
                      <a:noFill/>
                    </a:lnR>
                    <a:lnT w="0">
                      <a:noFill/>
                    </a:lnT>
                    <a:lnB w="9525">
                      <a:solidFill>
                        <a:srgbClr val="E2E4E7"/>
                      </a:solidFill>
                    </a:lnB>
                    <a:noFill/>
                  </a:tcPr>
                </a:tc>
                <a:tc>
                  <a:txBody>
                    <a:bodyPr wrap="square"/>
                    <a:lstStyle/>
                    <a:p>
                      <a:pPr algn="r">
                        <a:lnSpc>
                          <a:spcPct val="100000"/>
                        </a:lnSpc>
                      </a:pPr>
                      <a:r>
                        <a:rPr sz="1100" b="0">
                          <a:solidFill>
                            <a:srgbClr val="15171A"/>
                          </a:solidFill>
                          <a:latin typeface="Noto Sans KR"/>
                          <a:ea typeface="Noto Sans KR"/>
                          <a:cs typeface="Noto Sans KR"/>
                        </a:rPr>
                        <a:t>6 / 0</a:t>
                      </a:r>
                    </a:p>
                  </a:txBody>
                  <a:tcPr marL="73152" marR="73152" marT="41148" marB="41148" anchor="t">
                    <a:lnL w="0">
                      <a:noFill/>
                    </a:lnL>
                    <a:lnR w="0">
                      <a:noFill/>
                    </a:lnR>
                    <a:lnT w="0">
                      <a:noFill/>
                    </a:lnT>
                    <a:lnB w="9525">
                      <a:solidFill>
                        <a:srgbClr val="E2E4E7"/>
                      </a:solidFill>
                    </a:lnB>
                    <a:noFill/>
                  </a:tcPr>
                </a:tc>
                <a:tc>
                  <a:txBody>
                    <a:bodyPr wrap="square"/>
                    <a:lstStyle/>
                    <a:p>
                      <a:pPr algn="r">
                        <a:lnSpc>
                          <a:spcPct val="100000"/>
                        </a:lnSpc>
                      </a:pPr>
                      <a:r>
                        <a:rPr sz="1100" b="0">
                          <a:solidFill>
                            <a:srgbClr val="15171A"/>
                          </a:solidFill>
                          <a:latin typeface="Noto Sans KR"/>
                          <a:ea typeface="Noto Sans KR"/>
                          <a:cs typeface="Noto Sans KR"/>
                        </a:rPr>
                        <a:t>24 / 12</a:t>
                      </a:r>
                    </a:p>
                  </a:txBody>
                  <a:tcPr marL="73152" marR="73152" marT="41148" marB="41148" anchor="t">
                    <a:lnL w="0">
                      <a:noFill/>
                    </a:lnL>
                    <a:lnR w="0">
                      <a:noFill/>
                    </a:lnR>
                    <a:lnT w="0">
                      <a:noFill/>
                    </a:lnT>
                    <a:lnB w="9525">
                      <a:solidFill>
                        <a:srgbClr val="E2E4E7"/>
                      </a:solidFill>
                    </a:lnB>
                    <a:noFill/>
                  </a:tcPr>
                </a:tc>
                <a:tc>
                  <a:txBody>
                    <a:bodyPr wrap="square"/>
                    <a:lstStyle/>
                    <a:p>
                      <a:pPr algn="r">
                        <a:lnSpc>
                          <a:spcPct val="100000"/>
                        </a:lnSpc>
                      </a:pPr>
                      <a:r>
                        <a:rPr sz="1100" b="0">
                          <a:solidFill>
                            <a:srgbClr val="15171A"/>
                          </a:solidFill>
                          <a:latin typeface="Noto Sans KR"/>
                          <a:ea typeface="Noto Sans KR"/>
                          <a:cs typeface="Noto Sans KR"/>
                        </a:rPr>
                        <a:t>50 / 50</a:t>
                      </a:r>
                    </a:p>
                  </a:txBody>
                  <a:tcPr marL="73152" marR="73152" marT="41148" marB="41148" anchor="t">
                    <a:lnL w="0">
                      <a:noFill/>
                    </a:lnL>
                    <a:lnR w="0">
                      <a:noFill/>
                    </a:lnR>
                    <a:lnT w="0">
                      <a:noFill/>
                    </a:lnT>
                    <a:lnB w="9525">
                      <a:solidFill>
                        <a:srgbClr val="E2E4E7"/>
                      </a:solidFill>
                    </a:lnB>
                    <a:noFill/>
                  </a:tcPr>
                </a:tc>
                <a:tc>
                  <a:txBody>
                    <a:bodyPr wrap="square"/>
                    <a:lstStyle/>
                    <a:p>
                      <a:pPr algn="r">
                        <a:lnSpc>
                          <a:spcPct val="100000"/>
                        </a:lnSpc>
                      </a:pPr>
                      <a:r>
                        <a:rPr sz="1100" b="0">
                          <a:solidFill>
                            <a:srgbClr val="15171A"/>
                          </a:solidFill>
                          <a:latin typeface="Noto Sans KR"/>
                          <a:ea typeface="Noto Sans KR"/>
                          <a:cs typeface="Noto Sans KR"/>
                        </a:rPr>
                        <a:t>80 / 120</a:t>
                      </a:r>
                    </a:p>
                  </a:txBody>
                  <a:tcPr marL="73152" marR="73152" marT="41148" marB="41148" anchor="t">
                    <a:lnL w="0">
                      <a:noFill/>
                    </a:lnL>
                    <a:lnR w="0">
                      <a:noFill/>
                    </a:lnR>
                    <a:lnT w="0">
                      <a:noFill/>
                    </a:lnT>
                    <a:lnB w="9525">
                      <a:solidFill>
                        <a:srgbClr val="E2E4E7"/>
                      </a:solidFill>
                    </a:lnB>
                    <a:noFill/>
                  </a:tcPr>
                </a:tc>
              </a:tr>
              <a:tr h="293725">
                <a:tc>
                  <a:txBody>
                    <a:bodyPr wrap="square"/>
                    <a:lstStyle/>
                    <a:p>
                      <a:pPr algn="l">
                        <a:lnSpc>
                          <a:spcPct val="100000"/>
                        </a:lnSpc>
                      </a:pPr>
                      <a:r>
                        <a:rPr sz="1100" b="0">
                          <a:solidFill>
                            <a:srgbClr val="15171A"/>
                          </a:solidFill>
                          <a:latin typeface="Noto Sans KR"/>
                          <a:ea typeface="Noto Sans KR"/>
                          <a:cs typeface="Noto Sans KR"/>
                        </a:rPr>
                        <a:t>설치 핸드 누적 (대)</a:t>
                      </a:r>
                    </a:p>
                  </a:txBody>
                  <a:tcPr marL="73152" marR="73152" marT="41148" marB="41148" anchor="t">
                    <a:lnL w="0">
                      <a:noFill/>
                    </a:lnL>
                    <a:lnR w="0">
                      <a:noFill/>
                    </a:lnR>
                    <a:lnT w="0">
                      <a:noFill/>
                    </a:lnT>
                    <a:lnB w="9525">
                      <a:solidFill>
                        <a:srgbClr val="E2E4E7"/>
                      </a:solidFill>
                    </a:lnB>
                    <a:noFill/>
                  </a:tcPr>
                </a:tc>
                <a:tc>
                  <a:txBody>
                    <a:bodyPr wrap="square"/>
                    <a:lstStyle/>
                    <a:p>
                      <a:pPr algn="r">
                        <a:lnSpc>
                          <a:spcPct val="100000"/>
                        </a:lnSpc>
                      </a:pPr>
                      <a:r>
                        <a:rPr sz="1100" b="0">
                          <a:solidFill>
                            <a:srgbClr val="15171A"/>
                          </a:solidFill>
                          <a:latin typeface="Noto Sans KR"/>
                          <a:ea typeface="Noto Sans KR"/>
                          <a:cs typeface="Noto Sans KR"/>
                        </a:rPr>
                        <a:t>0</a:t>
                      </a:r>
                    </a:p>
                  </a:txBody>
                  <a:tcPr marL="73152" marR="73152" marT="41148" marB="41148" anchor="t">
                    <a:lnL w="0">
                      <a:noFill/>
                    </a:lnL>
                    <a:lnR w="0">
                      <a:noFill/>
                    </a:lnR>
                    <a:lnT w="0">
                      <a:noFill/>
                    </a:lnT>
                    <a:lnB w="9525">
                      <a:solidFill>
                        <a:srgbClr val="E2E4E7"/>
                      </a:solidFill>
                    </a:lnB>
                    <a:noFill/>
                  </a:tcPr>
                </a:tc>
                <a:tc>
                  <a:txBody>
                    <a:bodyPr wrap="square"/>
                    <a:lstStyle/>
                    <a:p>
                      <a:pPr algn="r">
                        <a:lnSpc>
                          <a:spcPct val="100000"/>
                        </a:lnSpc>
                      </a:pPr>
                      <a:r>
                        <a:rPr sz="1100" b="0">
                          <a:solidFill>
                            <a:srgbClr val="15171A"/>
                          </a:solidFill>
                          <a:latin typeface="Noto Sans KR"/>
                          <a:ea typeface="Noto Sans KR"/>
                          <a:cs typeface="Noto Sans KR"/>
                        </a:rPr>
                        <a:t>6</a:t>
                      </a:r>
                    </a:p>
                  </a:txBody>
                  <a:tcPr marL="73152" marR="73152" marT="41148" marB="41148" anchor="t">
                    <a:lnL w="0">
                      <a:noFill/>
                    </a:lnL>
                    <a:lnR w="0">
                      <a:noFill/>
                    </a:lnR>
                    <a:lnT w="0">
                      <a:noFill/>
                    </a:lnT>
                    <a:lnB w="9525">
                      <a:solidFill>
                        <a:srgbClr val="E2E4E7"/>
                      </a:solidFill>
                    </a:lnB>
                    <a:noFill/>
                  </a:tcPr>
                </a:tc>
                <a:tc>
                  <a:txBody>
                    <a:bodyPr wrap="square"/>
                    <a:lstStyle/>
                    <a:p>
                      <a:pPr algn="r">
                        <a:lnSpc>
                          <a:spcPct val="100000"/>
                        </a:lnSpc>
                      </a:pPr>
                      <a:r>
                        <a:rPr sz="1100" b="0">
                          <a:solidFill>
                            <a:srgbClr val="15171A"/>
                          </a:solidFill>
                          <a:latin typeface="Noto Sans KR"/>
                          <a:ea typeface="Noto Sans KR"/>
                          <a:cs typeface="Noto Sans KR"/>
                        </a:rPr>
                        <a:t>42</a:t>
                      </a:r>
                    </a:p>
                  </a:txBody>
                  <a:tcPr marL="73152" marR="73152" marT="41148" marB="41148" anchor="t">
                    <a:lnL w="0">
                      <a:noFill/>
                    </a:lnL>
                    <a:lnR w="0">
                      <a:noFill/>
                    </a:lnR>
                    <a:lnT w="0">
                      <a:noFill/>
                    </a:lnT>
                    <a:lnB w="9525">
                      <a:solidFill>
                        <a:srgbClr val="E2E4E7"/>
                      </a:solidFill>
                    </a:lnB>
                    <a:noFill/>
                  </a:tcPr>
                </a:tc>
                <a:tc>
                  <a:txBody>
                    <a:bodyPr wrap="square"/>
                    <a:lstStyle/>
                    <a:p>
                      <a:pPr algn="r">
                        <a:lnSpc>
                          <a:spcPct val="100000"/>
                        </a:lnSpc>
                      </a:pPr>
                      <a:r>
                        <a:rPr sz="1100" b="0">
                          <a:solidFill>
                            <a:srgbClr val="15171A"/>
                          </a:solidFill>
                          <a:latin typeface="Noto Sans KR"/>
                          <a:ea typeface="Noto Sans KR"/>
                          <a:cs typeface="Noto Sans KR"/>
                        </a:rPr>
                        <a:t>142</a:t>
                      </a:r>
                    </a:p>
                  </a:txBody>
                  <a:tcPr marL="73152" marR="73152" marT="41148" marB="41148" anchor="t">
                    <a:lnL w="0">
                      <a:noFill/>
                    </a:lnL>
                    <a:lnR w="0">
                      <a:noFill/>
                    </a:lnR>
                    <a:lnT w="0">
                      <a:noFill/>
                    </a:lnT>
                    <a:lnB w="9525">
                      <a:solidFill>
                        <a:srgbClr val="E2E4E7"/>
                      </a:solidFill>
                    </a:lnB>
                    <a:noFill/>
                  </a:tcPr>
                </a:tc>
                <a:tc>
                  <a:txBody>
                    <a:bodyPr wrap="square"/>
                    <a:lstStyle/>
                    <a:p>
                      <a:pPr algn="r">
                        <a:lnSpc>
                          <a:spcPct val="100000"/>
                        </a:lnSpc>
                      </a:pPr>
                      <a:r>
                        <a:rPr sz="1100" b="0">
                          <a:solidFill>
                            <a:srgbClr val="15171A"/>
                          </a:solidFill>
                          <a:latin typeface="Noto Sans KR"/>
                          <a:ea typeface="Noto Sans KR"/>
                          <a:cs typeface="Noto Sans KR"/>
                        </a:rPr>
                        <a:t>342</a:t>
                      </a:r>
                    </a:p>
                  </a:txBody>
                  <a:tcPr marL="73152" marR="73152" marT="41148" marB="41148" anchor="t">
                    <a:lnL w="0">
                      <a:noFill/>
                    </a:lnL>
                    <a:lnR w="0">
                      <a:noFill/>
                    </a:lnR>
                    <a:lnT w="0">
                      <a:noFill/>
                    </a:lnT>
                    <a:lnB w="9525">
                      <a:solidFill>
                        <a:srgbClr val="E2E4E7"/>
                      </a:solidFill>
                    </a:lnB>
                    <a:noFill/>
                  </a:tcPr>
                </a:tc>
              </a:tr>
              <a:tr h="293725">
                <a:tc>
                  <a:txBody>
                    <a:bodyPr wrap="square"/>
                    <a:lstStyle/>
                    <a:p>
                      <a:pPr algn="l">
                        <a:lnSpc>
                          <a:spcPct val="100000"/>
                        </a:lnSpc>
                      </a:pPr>
                      <a:r>
                        <a:rPr sz="1100" b="0">
                          <a:solidFill>
                            <a:srgbClr val="15171A"/>
                          </a:solidFill>
                          <a:latin typeface="Noto Sans KR"/>
                          <a:ea typeface="Noto Sans KR"/>
                          <a:cs typeface="Noto Sans KR"/>
                        </a:rPr>
                        <a:t>매출: 유료 PoC·통합</a:t>
                      </a:r>
                    </a:p>
                  </a:txBody>
                  <a:tcPr marL="73152" marR="73152" marT="41148" marB="41148" anchor="t">
                    <a:lnL w="0">
                      <a:noFill/>
                    </a:lnL>
                    <a:lnR w="0">
                      <a:noFill/>
                    </a:lnR>
                    <a:lnT w="0">
                      <a:noFill/>
                    </a:lnT>
                    <a:lnB w="9525">
                      <a:solidFill>
                        <a:srgbClr val="E2E4E7"/>
                      </a:solidFill>
                    </a:lnB>
                    <a:noFill/>
                  </a:tcPr>
                </a:tc>
                <a:tc>
                  <a:txBody>
                    <a:bodyPr wrap="square"/>
                    <a:lstStyle/>
                    <a:p>
                      <a:pPr algn="r">
                        <a:lnSpc>
                          <a:spcPct val="100000"/>
                        </a:lnSpc>
                      </a:pPr>
                      <a:r>
                        <a:rPr sz="1100" b="0">
                          <a:solidFill>
                            <a:srgbClr val="15171A"/>
                          </a:solidFill>
                          <a:latin typeface="Noto Sans KR"/>
                          <a:ea typeface="Noto Sans KR"/>
                          <a:cs typeface="Noto Sans KR"/>
                        </a:rPr>
                        <a:t>0.5</a:t>
                      </a:r>
                    </a:p>
                  </a:txBody>
                  <a:tcPr marL="73152" marR="73152" marT="41148" marB="41148" anchor="t">
                    <a:lnL w="0">
                      <a:noFill/>
                    </a:lnL>
                    <a:lnR w="0">
                      <a:noFill/>
                    </a:lnR>
                    <a:lnT w="0">
                      <a:noFill/>
                    </a:lnT>
                    <a:lnB w="9525">
                      <a:solidFill>
                        <a:srgbClr val="E2E4E7"/>
                      </a:solidFill>
                    </a:lnB>
                    <a:noFill/>
                  </a:tcPr>
                </a:tc>
                <a:tc>
                  <a:txBody>
                    <a:bodyPr wrap="square"/>
                    <a:lstStyle/>
                    <a:p>
                      <a:pPr algn="r">
                        <a:lnSpc>
                          <a:spcPct val="100000"/>
                        </a:lnSpc>
                      </a:pPr>
                      <a:r>
                        <a:rPr sz="1100" b="0">
                          <a:solidFill>
                            <a:srgbClr val="15171A"/>
                          </a:solidFill>
                          <a:latin typeface="Noto Sans KR"/>
                          <a:ea typeface="Noto Sans KR"/>
                          <a:cs typeface="Noto Sans KR"/>
                        </a:rPr>
                        <a:t>2.8</a:t>
                      </a:r>
                    </a:p>
                  </a:txBody>
                  <a:tcPr marL="73152" marR="73152" marT="41148" marB="41148" anchor="t">
                    <a:lnL w="0">
                      <a:noFill/>
                    </a:lnL>
                    <a:lnR w="0">
                      <a:noFill/>
                    </a:lnR>
                    <a:lnT w="0">
                      <a:noFill/>
                    </a:lnT>
                    <a:lnB w="9525">
                      <a:solidFill>
                        <a:srgbClr val="E2E4E7"/>
                      </a:solidFill>
                    </a:lnB>
                    <a:noFill/>
                  </a:tcPr>
                </a:tc>
                <a:tc>
                  <a:txBody>
                    <a:bodyPr wrap="square"/>
                    <a:lstStyle/>
                    <a:p>
                      <a:pPr algn="r">
                        <a:lnSpc>
                          <a:spcPct val="100000"/>
                        </a:lnSpc>
                      </a:pPr>
                      <a:r>
                        <a:rPr sz="1100" b="0">
                          <a:solidFill>
                            <a:srgbClr val="15171A"/>
                          </a:solidFill>
                          <a:latin typeface="Noto Sans KR"/>
                          <a:ea typeface="Noto Sans KR"/>
                          <a:cs typeface="Noto Sans KR"/>
                        </a:rPr>
                        <a:t>4.9</a:t>
                      </a:r>
                    </a:p>
                  </a:txBody>
                  <a:tcPr marL="73152" marR="73152" marT="41148" marB="41148" anchor="t">
                    <a:lnL w="0">
                      <a:noFill/>
                    </a:lnL>
                    <a:lnR w="0">
                      <a:noFill/>
                    </a:lnR>
                    <a:lnT w="0">
                      <a:noFill/>
                    </a:lnT>
                    <a:lnB w="9525">
                      <a:solidFill>
                        <a:srgbClr val="E2E4E7"/>
                      </a:solidFill>
                    </a:lnB>
                    <a:noFill/>
                  </a:tcPr>
                </a:tc>
                <a:tc>
                  <a:txBody>
                    <a:bodyPr wrap="square"/>
                    <a:lstStyle/>
                    <a:p>
                      <a:pPr algn="r">
                        <a:lnSpc>
                          <a:spcPct val="100000"/>
                        </a:lnSpc>
                      </a:pPr>
                      <a:r>
                        <a:rPr sz="1100" b="0">
                          <a:solidFill>
                            <a:srgbClr val="15171A"/>
                          </a:solidFill>
                          <a:latin typeface="Noto Sans KR"/>
                          <a:ea typeface="Noto Sans KR"/>
                          <a:cs typeface="Noto Sans KR"/>
                        </a:rPr>
                        <a:t>6.2</a:t>
                      </a:r>
                    </a:p>
                  </a:txBody>
                  <a:tcPr marL="73152" marR="73152" marT="41148" marB="41148" anchor="t">
                    <a:lnL w="0">
                      <a:noFill/>
                    </a:lnL>
                    <a:lnR w="0">
                      <a:noFill/>
                    </a:lnR>
                    <a:lnT w="0">
                      <a:noFill/>
                    </a:lnT>
                    <a:lnB w="9525">
                      <a:solidFill>
                        <a:srgbClr val="E2E4E7"/>
                      </a:solidFill>
                    </a:lnB>
                    <a:noFill/>
                  </a:tcPr>
                </a:tc>
                <a:tc>
                  <a:txBody>
                    <a:bodyPr wrap="square"/>
                    <a:lstStyle/>
                    <a:p>
                      <a:pPr algn="r">
                        <a:lnSpc>
                          <a:spcPct val="100000"/>
                        </a:lnSpc>
                      </a:pPr>
                      <a:r>
                        <a:rPr sz="1100" b="0">
                          <a:solidFill>
                            <a:srgbClr val="15171A"/>
                          </a:solidFill>
                          <a:latin typeface="Noto Sans KR"/>
                          <a:ea typeface="Noto Sans KR"/>
                          <a:cs typeface="Noto Sans KR"/>
                        </a:rPr>
                        <a:t>6.2</a:t>
                      </a:r>
                    </a:p>
                  </a:txBody>
                  <a:tcPr marL="73152" marR="73152" marT="41148" marB="41148" anchor="t">
                    <a:lnL w="0">
                      <a:noFill/>
                    </a:lnL>
                    <a:lnR w="0">
                      <a:noFill/>
                    </a:lnR>
                    <a:lnT w="0">
                      <a:noFill/>
                    </a:lnT>
                    <a:lnB w="9525">
                      <a:solidFill>
                        <a:srgbClr val="E2E4E7"/>
                      </a:solidFill>
                    </a:lnB>
                    <a:noFill/>
                  </a:tcPr>
                </a:tc>
              </a:tr>
              <a:tr h="293725">
                <a:tc>
                  <a:txBody>
                    <a:bodyPr wrap="square"/>
                    <a:lstStyle/>
                    <a:p>
                      <a:pPr algn="l">
                        <a:lnSpc>
                          <a:spcPct val="100000"/>
                        </a:lnSpc>
                      </a:pPr>
                      <a:r>
                        <a:rPr sz="1100" b="0">
                          <a:solidFill>
                            <a:srgbClr val="15171A"/>
                          </a:solidFill>
                          <a:latin typeface="Noto Sans KR"/>
                          <a:ea typeface="Noto Sans KR"/>
                          <a:cs typeface="Noto Sans KR"/>
                        </a:rPr>
                        <a:t>매출: SoftHand 하드웨어</a:t>
                      </a:r>
                    </a:p>
                  </a:txBody>
                  <a:tcPr marL="73152" marR="73152" marT="41148" marB="41148" anchor="t">
                    <a:lnL w="0">
                      <a:noFill/>
                    </a:lnL>
                    <a:lnR w="0">
                      <a:noFill/>
                    </a:lnR>
                    <a:lnT w="0">
                      <a:noFill/>
                    </a:lnT>
                    <a:lnB w="9525">
                      <a:solidFill>
                        <a:srgbClr val="E2E4E7"/>
                      </a:solidFill>
                    </a:lnB>
                    <a:noFill/>
                  </a:tcPr>
                </a:tc>
                <a:tc>
                  <a:txBody>
                    <a:bodyPr wrap="square"/>
                    <a:lstStyle/>
                    <a:p>
                      <a:pPr algn="r">
                        <a:lnSpc>
                          <a:spcPct val="100000"/>
                        </a:lnSpc>
                      </a:pPr>
                      <a:r>
                        <a:rPr sz="1100" b="0">
                          <a:solidFill>
                            <a:srgbClr val="15171A"/>
                          </a:solidFill>
                          <a:latin typeface="Noto Sans KR"/>
                          <a:ea typeface="Noto Sans KR"/>
                          <a:cs typeface="Noto Sans KR"/>
                        </a:rPr>
                        <a:t>0.0</a:t>
                      </a:r>
                    </a:p>
                  </a:txBody>
                  <a:tcPr marL="73152" marR="73152" marT="41148" marB="41148" anchor="t">
                    <a:lnL w="0">
                      <a:noFill/>
                    </a:lnL>
                    <a:lnR w="0">
                      <a:noFill/>
                    </a:lnR>
                    <a:lnT w="0">
                      <a:noFill/>
                    </a:lnT>
                    <a:lnB w="9525">
                      <a:solidFill>
                        <a:srgbClr val="E2E4E7"/>
                      </a:solidFill>
                    </a:lnB>
                    <a:noFill/>
                  </a:tcPr>
                </a:tc>
                <a:tc>
                  <a:txBody>
                    <a:bodyPr wrap="square"/>
                    <a:lstStyle/>
                    <a:p>
                      <a:pPr algn="r">
                        <a:lnSpc>
                          <a:spcPct val="100000"/>
                        </a:lnSpc>
                      </a:pPr>
                      <a:r>
                        <a:rPr sz="1100" b="0">
                          <a:solidFill>
                            <a:srgbClr val="15171A"/>
                          </a:solidFill>
                          <a:latin typeface="Noto Sans KR"/>
                          <a:ea typeface="Noto Sans KR"/>
                          <a:cs typeface="Noto Sans KR"/>
                        </a:rPr>
                        <a:t>0.9</a:t>
                      </a:r>
                    </a:p>
                  </a:txBody>
                  <a:tcPr marL="73152" marR="73152" marT="41148" marB="41148" anchor="t">
                    <a:lnL w="0">
                      <a:noFill/>
                    </a:lnL>
                    <a:lnR w="0">
                      <a:noFill/>
                    </a:lnR>
                    <a:lnT w="0">
                      <a:noFill/>
                    </a:lnT>
                    <a:lnB w="9525">
                      <a:solidFill>
                        <a:srgbClr val="E2E4E7"/>
                      </a:solidFill>
                    </a:lnB>
                    <a:noFill/>
                  </a:tcPr>
                </a:tc>
                <a:tc>
                  <a:txBody>
                    <a:bodyPr wrap="square"/>
                    <a:lstStyle/>
                    <a:p>
                      <a:pPr algn="r">
                        <a:lnSpc>
                          <a:spcPct val="100000"/>
                        </a:lnSpc>
                      </a:pPr>
                      <a:r>
                        <a:rPr sz="1100" b="0">
                          <a:solidFill>
                            <a:srgbClr val="15171A"/>
                          </a:solidFill>
                          <a:latin typeface="Noto Sans KR"/>
                          <a:ea typeface="Noto Sans KR"/>
                          <a:cs typeface="Noto Sans KR"/>
                        </a:rPr>
                        <a:t>3.6</a:t>
                      </a:r>
                    </a:p>
                  </a:txBody>
                  <a:tcPr marL="73152" marR="73152" marT="41148" marB="41148" anchor="t">
                    <a:lnL w="0">
                      <a:noFill/>
                    </a:lnL>
                    <a:lnR w="0">
                      <a:noFill/>
                    </a:lnR>
                    <a:lnT w="0">
                      <a:noFill/>
                    </a:lnT>
                    <a:lnB w="9525">
                      <a:solidFill>
                        <a:srgbClr val="E2E4E7"/>
                      </a:solidFill>
                    </a:lnB>
                    <a:noFill/>
                  </a:tcPr>
                </a:tc>
                <a:tc>
                  <a:txBody>
                    <a:bodyPr wrap="square"/>
                    <a:lstStyle/>
                    <a:p>
                      <a:pPr algn="r">
                        <a:lnSpc>
                          <a:spcPct val="100000"/>
                        </a:lnSpc>
                      </a:pPr>
                      <a:r>
                        <a:rPr sz="1100" b="0">
                          <a:solidFill>
                            <a:srgbClr val="15171A"/>
                          </a:solidFill>
                          <a:latin typeface="Noto Sans KR"/>
                          <a:ea typeface="Noto Sans KR"/>
                          <a:cs typeface="Noto Sans KR"/>
                        </a:rPr>
                        <a:t>7.5</a:t>
                      </a:r>
                    </a:p>
                  </a:txBody>
                  <a:tcPr marL="73152" marR="73152" marT="41148" marB="41148" anchor="t">
                    <a:lnL w="0">
                      <a:noFill/>
                    </a:lnL>
                    <a:lnR w="0">
                      <a:noFill/>
                    </a:lnR>
                    <a:lnT w="0">
                      <a:noFill/>
                    </a:lnT>
                    <a:lnB w="9525">
                      <a:solidFill>
                        <a:srgbClr val="E2E4E7"/>
                      </a:solidFill>
                    </a:lnB>
                    <a:noFill/>
                  </a:tcPr>
                </a:tc>
                <a:tc>
                  <a:txBody>
                    <a:bodyPr wrap="square"/>
                    <a:lstStyle/>
                    <a:p>
                      <a:pPr algn="r">
                        <a:lnSpc>
                          <a:spcPct val="100000"/>
                        </a:lnSpc>
                      </a:pPr>
                      <a:r>
                        <a:rPr sz="1100" b="0">
                          <a:solidFill>
                            <a:srgbClr val="15171A"/>
                          </a:solidFill>
                          <a:latin typeface="Noto Sans KR"/>
                          <a:ea typeface="Noto Sans KR"/>
                          <a:cs typeface="Noto Sans KR"/>
                        </a:rPr>
                        <a:t>12.0</a:t>
                      </a:r>
                    </a:p>
                  </a:txBody>
                  <a:tcPr marL="73152" marR="73152" marT="41148" marB="41148" anchor="t">
                    <a:lnL w="0">
                      <a:noFill/>
                    </a:lnL>
                    <a:lnR w="0">
                      <a:noFill/>
                    </a:lnR>
                    <a:lnT w="0">
                      <a:noFill/>
                    </a:lnT>
                    <a:lnB w="9525">
                      <a:solidFill>
                        <a:srgbClr val="E2E4E7"/>
                      </a:solidFill>
                    </a:lnB>
                    <a:noFill/>
                  </a:tcPr>
                </a:tc>
              </a:tr>
              <a:tr h="293725">
                <a:tc>
                  <a:txBody>
                    <a:bodyPr wrap="square"/>
                    <a:lstStyle/>
                    <a:p>
                      <a:pPr algn="l">
                        <a:lnSpc>
                          <a:spcPct val="100000"/>
                        </a:lnSpc>
                      </a:pPr>
                      <a:r>
                        <a:rPr sz="1100" b="0">
                          <a:solidFill>
                            <a:srgbClr val="15171A"/>
                          </a:solidFill>
                          <a:latin typeface="Noto Sans KR"/>
                          <a:ea typeface="Noto Sans KR"/>
                          <a:cs typeface="Noto Sans KR"/>
                        </a:rPr>
                        <a:t>매출: Kitchen Skill</a:t>
                      </a:r>
                    </a:p>
                  </a:txBody>
                  <a:tcPr marL="73152" marR="73152" marT="41148" marB="41148" anchor="t">
                    <a:lnL w="0">
                      <a:noFill/>
                    </a:lnL>
                    <a:lnR w="0">
                      <a:noFill/>
                    </a:lnR>
                    <a:lnT w="0">
                      <a:noFill/>
                    </a:lnT>
                    <a:lnB w="9525">
                      <a:solidFill>
                        <a:srgbClr val="E2E4E7"/>
                      </a:solidFill>
                    </a:lnB>
                    <a:noFill/>
                  </a:tcPr>
                </a:tc>
                <a:tc>
                  <a:txBody>
                    <a:bodyPr wrap="square"/>
                    <a:lstStyle/>
                    <a:p>
                      <a:pPr algn="r">
                        <a:lnSpc>
                          <a:spcPct val="100000"/>
                        </a:lnSpc>
                      </a:pPr>
                      <a:r>
                        <a:rPr sz="1100" b="0">
                          <a:solidFill>
                            <a:srgbClr val="15171A"/>
                          </a:solidFill>
                          <a:latin typeface="Noto Sans KR"/>
                          <a:ea typeface="Noto Sans KR"/>
                          <a:cs typeface="Noto Sans KR"/>
                        </a:rPr>
                        <a:t>0.0</a:t>
                      </a:r>
                    </a:p>
                  </a:txBody>
                  <a:tcPr marL="73152" marR="73152" marT="41148" marB="41148" anchor="t">
                    <a:lnL w="0">
                      <a:noFill/>
                    </a:lnL>
                    <a:lnR w="0">
                      <a:noFill/>
                    </a:lnR>
                    <a:lnT w="0">
                      <a:noFill/>
                    </a:lnT>
                    <a:lnB w="9525">
                      <a:solidFill>
                        <a:srgbClr val="E2E4E7"/>
                      </a:solidFill>
                    </a:lnB>
                    <a:noFill/>
                  </a:tcPr>
                </a:tc>
                <a:tc>
                  <a:txBody>
                    <a:bodyPr wrap="square"/>
                    <a:lstStyle/>
                    <a:p>
                      <a:pPr algn="r">
                        <a:lnSpc>
                          <a:spcPct val="100000"/>
                        </a:lnSpc>
                      </a:pPr>
                      <a:r>
                        <a:rPr sz="1100" b="0">
                          <a:solidFill>
                            <a:srgbClr val="15171A"/>
                          </a:solidFill>
                          <a:latin typeface="Noto Sans KR"/>
                          <a:ea typeface="Noto Sans KR"/>
                          <a:cs typeface="Noto Sans KR"/>
                        </a:rPr>
                        <a:t>0.2</a:t>
                      </a:r>
                    </a:p>
                  </a:txBody>
                  <a:tcPr marL="73152" marR="73152" marT="41148" marB="41148" anchor="t">
                    <a:lnL w="0">
                      <a:noFill/>
                    </a:lnL>
                    <a:lnR w="0">
                      <a:noFill/>
                    </a:lnR>
                    <a:lnT w="0">
                      <a:noFill/>
                    </a:lnT>
                    <a:lnB w="9525">
                      <a:solidFill>
                        <a:srgbClr val="E2E4E7"/>
                      </a:solidFill>
                    </a:lnB>
                    <a:noFill/>
                  </a:tcPr>
                </a:tc>
                <a:tc>
                  <a:txBody>
                    <a:bodyPr wrap="square"/>
                    <a:lstStyle/>
                    <a:p>
                      <a:pPr algn="r">
                        <a:lnSpc>
                          <a:spcPct val="100000"/>
                        </a:lnSpc>
                      </a:pPr>
                      <a:r>
                        <a:rPr sz="1100" b="0">
                          <a:solidFill>
                            <a:srgbClr val="15171A"/>
                          </a:solidFill>
                          <a:latin typeface="Noto Sans KR"/>
                          <a:ea typeface="Noto Sans KR"/>
                          <a:cs typeface="Noto Sans KR"/>
                        </a:rPr>
                        <a:t>0.9</a:t>
                      </a:r>
                    </a:p>
                  </a:txBody>
                  <a:tcPr marL="73152" marR="73152" marT="41148" marB="41148" anchor="t">
                    <a:lnL w="0">
                      <a:noFill/>
                    </a:lnL>
                    <a:lnR w="0">
                      <a:noFill/>
                    </a:lnR>
                    <a:lnT w="0">
                      <a:noFill/>
                    </a:lnT>
                    <a:lnB w="9525">
                      <a:solidFill>
                        <a:srgbClr val="E2E4E7"/>
                      </a:solidFill>
                    </a:lnB>
                    <a:noFill/>
                  </a:tcPr>
                </a:tc>
                <a:tc>
                  <a:txBody>
                    <a:bodyPr wrap="square"/>
                    <a:lstStyle/>
                    <a:p>
                      <a:pPr algn="r">
                        <a:lnSpc>
                          <a:spcPct val="100000"/>
                        </a:lnSpc>
                      </a:pPr>
                      <a:r>
                        <a:rPr sz="1100" b="0">
                          <a:solidFill>
                            <a:srgbClr val="15171A"/>
                          </a:solidFill>
                          <a:latin typeface="Noto Sans KR"/>
                          <a:ea typeface="Noto Sans KR"/>
                          <a:cs typeface="Noto Sans KR"/>
                        </a:rPr>
                        <a:t>2.1</a:t>
                      </a:r>
                    </a:p>
                  </a:txBody>
                  <a:tcPr marL="73152" marR="73152" marT="41148" marB="41148" anchor="t">
                    <a:lnL w="0">
                      <a:noFill/>
                    </a:lnL>
                    <a:lnR w="0">
                      <a:noFill/>
                    </a:lnR>
                    <a:lnT w="0">
                      <a:noFill/>
                    </a:lnT>
                    <a:lnB w="9525">
                      <a:solidFill>
                        <a:srgbClr val="E2E4E7"/>
                      </a:solidFill>
                    </a:lnB>
                    <a:noFill/>
                  </a:tcPr>
                </a:tc>
                <a:tc>
                  <a:txBody>
                    <a:bodyPr wrap="square"/>
                    <a:lstStyle/>
                    <a:p>
                      <a:pPr algn="r">
                        <a:lnSpc>
                          <a:spcPct val="100000"/>
                        </a:lnSpc>
                      </a:pPr>
                      <a:r>
                        <a:rPr sz="1100" b="0">
                          <a:solidFill>
                            <a:srgbClr val="15171A"/>
                          </a:solidFill>
                          <a:latin typeface="Noto Sans KR"/>
                          <a:ea typeface="Noto Sans KR"/>
                          <a:cs typeface="Noto Sans KR"/>
                        </a:rPr>
                        <a:t>3.8</a:t>
                      </a:r>
                    </a:p>
                  </a:txBody>
                  <a:tcPr marL="73152" marR="73152" marT="41148" marB="41148" anchor="t">
                    <a:lnL w="0">
                      <a:noFill/>
                    </a:lnL>
                    <a:lnR w="0">
                      <a:noFill/>
                    </a:lnR>
                    <a:lnT w="0">
                      <a:noFill/>
                    </a:lnT>
                    <a:lnB w="9525">
                      <a:solidFill>
                        <a:srgbClr val="E2E4E7"/>
                      </a:solidFill>
                    </a:lnB>
                    <a:noFill/>
                  </a:tcPr>
                </a:tc>
              </a:tr>
              <a:tr h="293725">
                <a:tc>
                  <a:txBody>
                    <a:bodyPr wrap="square"/>
                    <a:lstStyle/>
                    <a:p>
                      <a:pPr algn="l">
                        <a:lnSpc>
                          <a:spcPct val="100000"/>
                        </a:lnSpc>
                      </a:pPr>
                      <a:r>
                        <a:rPr sz="1100" b="0">
                          <a:solidFill>
                            <a:srgbClr val="15171A"/>
                          </a:solidFill>
                          <a:latin typeface="Noto Sans KR"/>
                          <a:ea typeface="Noto Sans KR"/>
                          <a:cs typeface="Noto Sans KR"/>
                        </a:rPr>
                        <a:t>매출: Runtime·유지보수</a:t>
                      </a:r>
                    </a:p>
                  </a:txBody>
                  <a:tcPr marL="73152" marR="73152" marT="41148" marB="41148" anchor="t">
                    <a:lnL w="0">
                      <a:noFill/>
                    </a:lnL>
                    <a:lnR w="0">
                      <a:noFill/>
                    </a:lnR>
                    <a:lnT w="0">
                      <a:noFill/>
                    </a:lnT>
                    <a:lnB w="9525">
                      <a:solidFill>
                        <a:srgbClr val="E2E4E7"/>
                      </a:solidFill>
                    </a:lnB>
                    <a:noFill/>
                  </a:tcPr>
                </a:tc>
                <a:tc>
                  <a:txBody>
                    <a:bodyPr wrap="square"/>
                    <a:lstStyle/>
                    <a:p>
                      <a:pPr algn="r">
                        <a:lnSpc>
                          <a:spcPct val="100000"/>
                        </a:lnSpc>
                      </a:pPr>
                      <a:r>
                        <a:rPr sz="1100" b="0">
                          <a:solidFill>
                            <a:srgbClr val="15171A"/>
                          </a:solidFill>
                          <a:latin typeface="Noto Sans KR"/>
                          <a:ea typeface="Noto Sans KR"/>
                          <a:cs typeface="Noto Sans KR"/>
                        </a:rPr>
                        <a:t>0.0</a:t>
                      </a:r>
                    </a:p>
                  </a:txBody>
                  <a:tcPr marL="73152" marR="73152" marT="41148" marB="41148" anchor="t">
                    <a:lnL w="0">
                      <a:noFill/>
                    </a:lnL>
                    <a:lnR w="0">
                      <a:noFill/>
                    </a:lnR>
                    <a:lnT w="0">
                      <a:noFill/>
                    </a:lnT>
                    <a:lnB w="9525">
                      <a:solidFill>
                        <a:srgbClr val="E2E4E7"/>
                      </a:solidFill>
                    </a:lnB>
                    <a:noFill/>
                  </a:tcPr>
                </a:tc>
                <a:tc>
                  <a:txBody>
                    <a:bodyPr wrap="square"/>
                    <a:lstStyle/>
                    <a:p>
                      <a:pPr algn="r">
                        <a:lnSpc>
                          <a:spcPct val="100000"/>
                        </a:lnSpc>
                      </a:pPr>
                      <a:r>
                        <a:rPr sz="1100" b="0">
                          <a:solidFill>
                            <a:srgbClr val="15171A"/>
                          </a:solidFill>
                          <a:latin typeface="Noto Sans KR"/>
                          <a:ea typeface="Noto Sans KR"/>
                          <a:cs typeface="Noto Sans KR"/>
                        </a:rPr>
                        <a:t>0.0</a:t>
                      </a:r>
                    </a:p>
                  </a:txBody>
                  <a:tcPr marL="73152" marR="73152" marT="41148" marB="41148" anchor="t">
                    <a:lnL w="0">
                      <a:noFill/>
                    </a:lnL>
                    <a:lnR w="0">
                      <a:noFill/>
                    </a:lnR>
                    <a:lnT w="0">
                      <a:noFill/>
                    </a:lnT>
                    <a:lnB w="9525">
                      <a:solidFill>
                        <a:srgbClr val="E2E4E7"/>
                      </a:solidFill>
                    </a:lnB>
                    <a:noFill/>
                  </a:tcPr>
                </a:tc>
                <a:tc>
                  <a:txBody>
                    <a:bodyPr wrap="square"/>
                    <a:lstStyle/>
                    <a:p>
                      <a:pPr algn="r">
                        <a:lnSpc>
                          <a:spcPct val="100000"/>
                        </a:lnSpc>
                      </a:pPr>
                      <a:r>
                        <a:rPr sz="1100" b="0">
                          <a:solidFill>
                            <a:srgbClr val="15171A"/>
                          </a:solidFill>
                          <a:latin typeface="Noto Sans KR"/>
                          <a:ea typeface="Noto Sans KR"/>
                          <a:cs typeface="Noto Sans KR"/>
                        </a:rPr>
                        <a:t>0.4</a:t>
                      </a:r>
                    </a:p>
                  </a:txBody>
                  <a:tcPr marL="73152" marR="73152" marT="41148" marB="41148" anchor="t">
                    <a:lnL w="0">
                      <a:noFill/>
                    </a:lnL>
                    <a:lnR w="0">
                      <a:noFill/>
                    </a:lnR>
                    <a:lnT w="0">
                      <a:noFill/>
                    </a:lnT>
                    <a:lnB w="9525">
                      <a:solidFill>
                        <a:srgbClr val="E2E4E7"/>
                      </a:solidFill>
                    </a:lnB>
                    <a:noFill/>
                  </a:tcPr>
                </a:tc>
                <a:tc>
                  <a:txBody>
                    <a:bodyPr wrap="square"/>
                    <a:lstStyle/>
                    <a:p>
                      <a:pPr algn="r">
                        <a:lnSpc>
                          <a:spcPct val="100000"/>
                        </a:lnSpc>
                      </a:pPr>
                      <a:r>
                        <a:rPr sz="1100" b="0">
                          <a:solidFill>
                            <a:srgbClr val="15171A"/>
                          </a:solidFill>
                          <a:latin typeface="Noto Sans KR"/>
                          <a:ea typeface="Noto Sans KR"/>
                          <a:cs typeface="Noto Sans KR"/>
                        </a:rPr>
                        <a:t>1.4</a:t>
                      </a:r>
                    </a:p>
                  </a:txBody>
                  <a:tcPr marL="73152" marR="73152" marT="41148" marB="41148" anchor="t">
                    <a:lnL w="0">
                      <a:noFill/>
                    </a:lnL>
                    <a:lnR w="0">
                      <a:noFill/>
                    </a:lnR>
                    <a:lnT w="0">
                      <a:noFill/>
                    </a:lnT>
                    <a:lnB w="9525">
                      <a:solidFill>
                        <a:srgbClr val="E2E4E7"/>
                      </a:solidFill>
                    </a:lnB>
                    <a:noFill/>
                  </a:tcPr>
                </a:tc>
                <a:tc>
                  <a:txBody>
                    <a:bodyPr wrap="square"/>
                    <a:lstStyle/>
                    <a:p>
                      <a:pPr algn="r">
                        <a:lnSpc>
                          <a:spcPct val="100000"/>
                        </a:lnSpc>
                      </a:pPr>
                      <a:r>
                        <a:rPr sz="1100" b="0">
                          <a:solidFill>
                            <a:srgbClr val="15171A"/>
                          </a:solidFill>
                          <a:latin typeface="Noto Sans KR"/>
                          <a:ea typeface="Noto Sans KR"/>
                          <a:cs typeface="Noto Sans KR"/>
                        </a:rPr>
                        <a:t>3.6</a:t>
                      </a:r>
                    </a:p>
                  </a:txBody>
                  <a:tcPr marL="73152" marR="73152" marT="41148" marB="41148" anchor="t">
                    <a:lnL w="0">
                      <a:noFill/>
                    </a:lnL>
                    <a:lnR w="0">
                      <a:noFill/>
                    </a:lnR>
                    <a:lnT w="0">
                      <a:noFill/>
                    </a:lnT>
                    <a:lnB w="9525">
                      <a:solidFill>
                        <a:srgbClr val="E2E4E7"/>
                      </a:solidFill>
                    </a:lnB>
                    <a:noFill/>
                  </a:tcPr>
                </a:tc>
              </a:tr>
              <a:tr h="293725">
                <a:tc>
                  <a:txBody>
                    <a:bodyPr wrap="square"/>
                    <a:lstStyle/>
                    <a:p>
                      <a:pPr algn="l">
                        <a:lnSpc>
                          <a:spcPct val="100000"/>
                        </a:lnSpc>
                      </a:pPr>
                      <a:r>
                        <a:rPr sz="1100" b="0">
                          <a:solidFill>
                            <a:srgbClr val="15171A"/>
                          </a:solidFill>
                          <a:latin typeface="Noto Sans KR"/>
                          <a:ea typeface="Noto Sans KR"/>
                          <a:cs typeface="Noto Sans KR"/>
                        </a:rPr>
                        <a:t>매출: 파트너 판매 (하드웨어+Skill)</a:t>
                      </a:r>
                    </a:p>
                  </a:txBody>
                  <a:tcPr marL="73152" marR="73152" marT="41148" marB="41148" anchor="t">
                    <a:lnL w="0">
                      <a:noFill/>
                    </a:lnL>
                    <a:lnR w="0">
                      <a:noFill/>
                    </a:lnR>
                    <a:lnT w="0">
                      <a:noFill/>
                    </a:lnT>
                    <a:lnB w="9525">
                      <a:solidFill>
                        <a:srgbClr val="E2E4E7"/>
                      </a:solidFill>
                    </a:lnB>
                    <a:noFill/>
                  </a:tcPr>
                </a:tc>
                <a:tc>
                  <a:txBody>
                    <a:bodyPr wrap="square"/>
                    <a:lstStyle/>
                    <a:p>
                      <a:pPr algn="r">
                        <a:lnSpc>
                          <a:spcPct val="100000"/>
                        </a:lnSpc>
                      </a:pPr>
                      <a:r>
                        <a:rPr sz="1100" b="0">
                          <a:solidFill>
                            <a:srgbClr val="15171A"/>
                          </a:solidFill>
                          <a:latin typeface="Noto Sans KR"/>
                          <a:ea typeface="Noto Sans KR"/>
                          <a:cs typeface="Noto Sans KR"/>
                        </a:rPr>
                        <a:t>0.0</a:t>
                      </a:r>
                    </a:p>
                  </a:txBody>
                  <a:tcPr marL="73152" marR="73152" marT="41148" marB="41148" anchor="t">
                    <a:lnL w="0">
                      <a:noFill/>
                    </a:lnL>
                    <a:lnR w="0">
                      <a:noFill/>
                    </a:lnR>
                    <a:lnT w="0">
                      <a:noFill/>
                    </a:lnT>
                    <a:lnB w="9525">
                      <a:solidFill>
                        <a:srgbClr val="E2E4E7"/>
                      </a:solidFill>
                    </a:lnB>
                    <a:noFill/>
                  </a:tcPr>
                </a:tc>
                <a:tc>
                  <a:txBody>
                    <a:bodyPr wrap="square"/>
                    <a:lstStyle/>
                    <a:p>
                      <a:pPr algn="r">
                        <a:lnSpc>
                          <a:spcPct val="100000"/>
                        </a:lnSpc>
                      </a:pPr>
                      <a:r>
                        <a:rPr sz="1100" b="0">
                          <a:solidFill>
                            <a:srgbClr val="15171A"/>
                          </a:solidFill>
                          <a:latin typeface="Noto Sans KR"/>
                          <a:ea typeface="Noto Sans KR"/>
                          <a:cs typeface="Noto Sans KR"/>
                        </a:rPr>
                        <a:t>0.0</a:t>
                      </a:r>
                    </a:p>
                  </a:txBody>
                  <a:tcPr marL="73152" marR="73152" marT="41148" marB="41148" anchor="t">
                    <a:lnL w="0">
                      <a:noFill/>
                    </a:lnL>
                    <a:lnR w="0">
                      <a:noFill/>
                    </a:lnR>
                    <a:lnT w="0">
                      <a:noFill/>
                    </a:lnT>
                    <a:lnB w="9525">
                      <a:solidFill>
                        <a:srgbClr val="E2E4E7"/>
                      </a:solidFill>
                    </a:lnB>
                    <a:noFill/>
                  </a:tcPr>
                </a:tc>
                <a:tc>
                  <a:txBody>
                    <a:bodyPr wrap="square"/>
                    <a:lstStyle/>
                    <a:p>
                      <a:pPr algn="r">
                        <a:lnSpc>
                          <a:spcPct val="100000"/>
                        </a:lnSpc>
                      </a:pPr>
                      <a:r>
                        <a:rPr sz="1100" b="0">
                          <a:solidFill>
                            <a:srgbClr val="15171A"/>
                          </a:solidFill>
                          <a:latin typeface="Noto Sans KR"/>
                          <a:ea typeface="Noto Sans KR"/>
                          <a:cs typeface="Noto Sans KR"/>
                        </a:rPr>
                        <a:t>1.8</a:t>
                      </a:r>
                    </a:p>
                  </a:txBody>
                  <a:tcPr marL="73152" marR="73152" marT="41148" marB="41148" anchor="t">
                    <a:lnL w="0">
                      <a:noFill/>
                    </a:lnL>
                    <a:lnR w="0">
                      <a:noFill/>
                    </a:lnR>
                    <a:lnT w="0">
                      <a:noFill/>
                    </a:lnT>
                    <a:lnB w="9525">
                      <a:solidFill>
                        <a:srgbClr val="E2E4E7"/>
                      </a:solidFill>
                    </a:lnB>
                    <a:noFill/>
                  </a:tcPr>
                </a:tc>
                <a:tc>
                  <a:txBody>
                    <a:bodyPr wrap="square"/>
                    <a:lstStyle/>
                    <a:p>
                      <a:pPr algn="r">
                        <a:lnSpc>
                          <a:spcPct val="100000"/>
                        </a:lnSpc>
                      </a:pPr>
                      <a:r>
                        <a:rPr sz="1100" b="0">
                          <a:solidFill>
                            <a:srgbClr val="15171A"/>
                          </a:solidFill>
                          <a:latin typeface="Noto Sans KR"/>
                          <a:ea typeface="Noto Sans KR"/>
                          <a:cs typeface="Noto Sans KR"/>
                        </a:rPr>
                        <a:t>7.7</a:t>
                      </a:r>
                    </a:p>
                  </a:txBody>
                  <a:tcPr marL="73152" marR="73152" marT="41148" marB="41148" anchor="t">
                    <a:lnL w="0">
                      <a:noFill/>
                    </a:lnL>
                    <a:lnR w="0">
                      <a:noFill/>
                    </a:lnR>
                    <a:lnT w="0">
                      <a:noFill/>
                    </a:lnT>
                    <a:lnB w="9525">
                      <a:solidFill>
                        <a:srgbClr val="E2E4E7"/>
                      </a:solidFill>
                    </a:lnB>
                    <a:noFill/>
                  </a:tcPr>
                </a:tc>
                <a:tc>
                  <a:txBody>
                    <a:bodyPr wrap="square"/>
                    <a:lstStyle/>
                    <a:p>
                      <a:pPr algn="r">
                        <a:lnSpc>
                          <a:spcPct val="100000"/>
                        </a:lnSpc>
                      </a:pPr>
                      <a:r>
                        <a:rPr sz="1100" b="0">
                          <a:solidFill>
                            <a:srgbClr val="15171A"/>
                          </a:solidFill>
                          <a:latin typeface="Noto Sans KR"/>
                          <a:ea typeface="Noto Sans KR"/>
                          <a:cs typeface="Noto Sans KR"/>
                        </a:rPr>
                        <a:t>19.0</a:t>
                      </a:r>
                    </a:p>
                  </a:txBody>
                  <a:tcPr marL="73152" marR="73152" marT="41148" marB="41148" anchor="t">
                    <a:lnL w="0">
                      <a:noFill/>
                    </a:lnL>
                    <a:lnR w="0">
                      <a:noFill/>
                    </a:lnR>
                    <a:lnT w="0">
                      <a:noFill/>
                    </a:lnT>
                    <a:lnB w="9525">
                      <a:solidFill>
                        <a:srgbClr val="E2E4E7"/>
                      </a:solidFill>
                    </a:lnB>
                    <a:noFill/>
                  </a:tcPr>
                </a:tc>
              </a:tr>
              <a:tr h="293725">
                <a:tc>
                  <a:txBody>
                    <a:bodyPr wrap="square"/>
                    <a:lstStyle/>
                    <a:p>
                      <a:pPr algn="l">
                        <a:lnSpc>
                          <a:spcPct val="100000"/>
                        </a:lnSpc>
                      </a:pPr>
                      <a:r>
                        <a:rPr sz="1100" b="1">
                          <a:solidFill>
                            <a:srgbClr val="15171A"/>
                          </a:solidFill>
                          <a:latin typeface="Noto Sans KR"/>
                          <a:ea typeface="Noto Sans KR"/>
                          <a:cs typeface="Noto Sans KR"/>
                        </a:rPr>
                        <a:t>총매출</a:t>
                      </a:r>
                    </a:p>
                  </a:txBody>
                  <a:tcPr marL="73152" marR="73152" marT="41148" marB="41148" anchor="t">
                    <a:lnL w="0">
                      <a:noFill/>
                    </a:lnL>
                    <a:lnR w="0">
                      <a:noFill/>
                    </a:lnR>
                    <a:lnT w="0">
                      <a:noFill/>
                    </a:lnT>
                    <a:lnB w="9525">
                      <a:solidFill>
                        <a:srgbClr val="E2E4E7"/>
                      </a:solidFill>
                    </a:lnB>
                    <a:noFill/>
                  </a:tcPr>
                </a:tc>
                <a:tc>
                  <a:txBody>
                    <a:bodyPr wrap="square"/>
                    <a:lstStyle/>
                    <a:p>
                      <a:pPr algn="r">
                        <a:lnSpc>
                          <a:spcPct val="100000"/>
                        </a:lnSpc>
                      </a:pPr>
                      <a:r>
                        <a:rPr sz="1100" b="1">
                          <a:solidFill>
                            <a:srgbClr val="15171A"/>
                          </a:solidFill>
                          <a:latin typeface="Noto Sans KR"/>
                          <a:ea typeface="Noto Sans KR"/>
                          <a:cs typeface="Noto Sans KR"/>
                        </a:rPr>
                        <a:t>0.5</a:t>
                      </a:r>
                    </a:p>
                  </a:txBody>
                  <a:tcPr marL="73152" marR="73152" marT="41148" marB="41148" anchor="t">
                    <a:lnL w="0">
                      <a:noFill/>
                    </a:lnL>
                    <a:lnR w="0">
                      <a:noFill/>
                    </a:lnR>
                    <a:lnT w="0">
                      <a:noFill/>
                    </a:lnT>
                    <a:lnB w="9525">
                      <a:solidFill>
                        <a:srgbClr val="E2E4E7"/>
                      </a:solidFill>
                    </a:lnB>
                    <a:noFill/>
                  </a:tcPr>
                </a:tc>
                <a:tc>
                  <a:txBody>
                    <a:bodyPr wrap="square"/>
                    <a:lstStyle/>
                    <a:p>
                      <a:pPr algn="r">
                        <a:lnSpc>
                          <a:spcPct val="100000"/>
                        </a:lnSpc>
                      </a:pPr>
                      <a:r>
                        <a:rPr sz="1100" b="1">
                          <a:solidFill>
                            <a:srgbClr val="15171A"/>
                          </a:solidFill>
                          <a:latin typeface="Noto Sans KR"/>
                          <a:ea typeface="Noto Sans KR"/>
                          <a:cs typeface="Noto Sans KR"/>
                        </a:rPr>
                        <a:t>3.9</a:t>
                      </a:r>
                    </a:p>
                  </a:txBody>
                  <a:tcPr marL="73152" marR="73152" marT="41148" marB="41148" anchor="t">
                    <a:lnL w="0">
                      <a:noFill/>
                    </a:lnL>
                    <a:lnR w="0">
                      <a:noFill/>
                    </a:lnR>
                    <a:lnT w="0">
                      <a:noFill/>
                    </a:lnT>
                    <a:lnB w="9525">
                      <a:solidFill>
                        <a:srgbClr val="E2E4E7"/>
                      </a:solidFill>
                    </a:lnB>
                    <a:noFill/>
                  </a:tcPr>
                </a:tc>
                <a:tc>
                  <a:txBody>
                    <a:bodyPr wrap="square"/>
                    <a:lstStyle/>
                    <a:p>
                      <a:pPr algn="r">
                        <a:lnSpc>
                          <a:spcPct val="100000"/>
                        </a:lnSpc>
                      </a:pPr>
                      <a:r>
                        <a:rPr sz="1100" b="1">
                          <a:solidFill>
                            <a:srgbClr val="15171A"/>
                          </a:solidFill>
                          <a:latin typeface="Noto Sans KR"/>
                          <a:ea typeface="Noto Sans KR"/>
                          <a:cs typeface="Noto Sans KR"/>
                        </a:rPr>
                        <a:t>11.5</a:t>
                      </a:r>
                    </a:p>
                  </a:txBody>
                  <a:tcPr marL="73152" marR="73152" marT="41148" marB="41148" anchor="t">
                    <a:lnL w="0">
                      <a:noFill/>
                    </a:lnL>
                    <a:lnR w="0">
                      <a:noFill/>
                    </a:lnR>
                    <a:lnT w="0">
                      <a:noFill/>
                    </a:lnT>
                    <a:lnB w="9525">
                      <a:solidFill>
                        <a:srgbClr val="E2E4E7"/>
                      </a:solidFill>
                    </a:lnB>
                    <a:noFill/>
                  </a:tcPr>
                </a:tc>
                <a:tc>
                  <a:txBody>
                    <a:bodyPr wrap="square"/>
                    <a:lstStyle/>
                    <a:p>
                      <a:pPr algn="r">
                        <a:lnSpc>
                          <a:spcPct val="100000"/>
                        </a:lnSpc>
                      </a:pPr>
                      <a:r>
                        <a:rPr sz="1100" b="1">
                          <a:solidFill>
                            <a:srgbClr val="15171A"/>
                          </a:solidFill>
                          <a:latin typeface="Noto Sans KR"/>
                          <a:ea typeface="Noto Sans KR"/>
                          <a:cs typeface="Noto Sans KR"/>
                        </a:rPr>
                        <a:t>24.9</a:t>
                      </a:r>
                    </a:p>
                  </a:txBody>
                  <a:tcPr marL="73152" marR="73152" marT="41148" marB="41148" anchor="t">
                    <a:lnL w="0">
                      <a:noFill/>
                    </a:lnL>
                    <a:lnR w="0">
                      <a:noFill/>
                    </a:lnR>
                    <a:lnT w="0">
                      <a:noFill/>
                    </a:lnT>
                    <a:lnB w="9525">
                      <a:solidFill>
                        <a:srgbClr val="E2E4E7"/>
                      </a:solidFill>
                    </a:lnB>
                    <a:noFill/>
                  </a:tcPr>
                </a:tc>
                <a:tc>
                  <a:txBody>
                    <a:bodyPr wrap="square"/>
                    <a:lstStyle/>
                    <a:p>
                      <a:pPr algn="r">
                        <a:lnSpc>
                          <a:spcPct val="100000"/>
                        </a:lnSpc>
                      </a:pPr>
                      <a:r>
                        <a:rPr sz="1100" b="1">
                          <a:solidFill>
                            <a:srgbClr val="15171A"/>
                          </a:solidFill>
                          <a:latin typeface="Noto Sans KR"/>
                          <a:ea typeface="Noto Sans KR"/>
                          <a:cs typeface="Noto Sans KR"/>
                        </a:rPr>
                        <a:t>44.7</a:t>
                      </a:r>
                    </a:p>
                  </a:txBody>
                  <a:tcPr marL="73152" marR="73152" marT="41148" marB="41148" anchor="t">
                    <a:lnL w="0">
                      <a:noFill/>
                    </a:lnL>
                    <a:lnR w="0">
                      <a:noFill/>
                    </a:lnR>
                    <a:lnT w="0">
                      <a:noFill/>
                    </a:lnT>
                    <a:lnB w="9525">
                      <a:solidFill>
                        <a:srgbClr val="E2E4E7"/>
                      </a:solidFill>
                    </a:lnB>
                    <a:noFill/>
                  </a:tcPr>
                </a:tc>
              </a:tr>
              <a:tr h="293725">
                <a:tc>
                  <a:txBody>
                    <a:bodyPr wrap="square"/>
                    <a:lstStyle/>
                    <a:p>
                      <a:pPr algn="l">
                        <a:lnSpc>
                          <a:spcPct val="100000"/>
                        </a:lnSpc>
                      </a:pPr>
                      <a:r>
                        <a:rPr sz="1100" b="0">
                          <a:solidFill>
                            <a:srgbClr val="15171A"/>
                          </a:solidFill>
                          <a:latin typeface="Noto Sans KR"/>
                          <a:ea typeface="Noto Sans KR"/>
                          <a:cs typeface="Noto Sans KR"/>
                        </a:rPr>
                        <a:t>매출총이익 (이익률)</a:t>
                      </a:r>
                    </a:p>
                  </a:txBody>
                  <a:tcPr marL="73152" marR="73152" marT="41148" marB="41148" anchor="t">
                    <a:lnL w="0">
                      <a:noFill/>
                    </a:lnL>
                    <a:lnR w="0">
                      <a:noFill/>
                    </a:lnR>
                    <a:lnT w="0">
                      <a:noFill/>
                    </a:lnT>
                    <a:lnB w="9525">
                      <a:solidFill>
                        <a:srgbClr val="E2E4E7"/>
                      </a:solidFill>
                    </a:lnB>
                    <a:noFill/>
                  </a:tcPr>
                </a:tc>
                <a:tc>
                  <a:txBody>
                    <a:bodyPr wrap="square"/>
                    <a:lstStyle/>
                    <a:p>
                      <a:pPr algn="r">
                        <a:lnSpc>
                          <a:spcPct val="100000"/>
                        </a:lnSpc>
                      </a:pPr>
                      <a:r>
                        <a:rPr sz="1100" b="0">
                          <a:solidFill>
                            <a:srgbClr val="15171A"/>
                          </a:solidFill>
                          <a:latin typeface="Noto Sans KR"/>
                          <a:ea typeface="Noto Sans KR"/>
                          <a:cs typeface="Noto Sans KR"/>
                        </a:rPr>
                        <a:t>0.2 (40%)</a:t>
                      </a:r>
                    </a:p>
                  </a:txBody>
                  <a:tcPr marL="73152" marR="73152" marT="41148" marB="41148" anchor="t">
                    <a:lnL w="0">
                      <a:noFill/>
                    </a:lnL>
                    <a:lnR w="0">
                      <a:noFill/>
                    </a:lnR>
                    <a:lnT w="0">
                      <a:noFill/>
                    </a:lnT>
                    <a:lnB w="9525">
                      <a:solidFill>
                        <a:srgbClr val="E2E4E7"/>
                      </a:solidFill>
                    </a:lnB>
                    <a:noFill/>
                  </a:tcPr>
                </a:tc>
                <a:tc>
                  <a:txBody>
                    <a:bodyPr wrap="square"/>
                    <a:lstStyle/>
                    <a:p>
                      <a:pPr algn="r">
                        <a:lnSpc>
                          <a:spcPct val="100000"/>
                        </a:lnSpc>
                      </a:pPr>
                      <a:r>
                        <a:rPr sz="1100" b="0">
                          <a:solidFill>
                            <a:srgbClr val="15171A"/>
                          </a:solidFill>
                          <a:latin typeface="Noto Sans KR"/>
                          <a:ea typeface="Noto Sans KR"/>
                          <a:cs typeface="Noto Sans KR"/>
                        </a:rPr>
                        <a:t>1.6 (42%)</a:t>
                      </a:r>
                    </a:p>
                  </a:txBody>
                  <a:tcPr marL="73152" marR="73152" marT="41148" marB="41148" anchor="t">
                    <a:lnL w="0">
                      <a:noFill/>
                    </a:lnL>
                    <a:lnR w="0">
                      <a:noFill/>
                    </a:lnR>
                    <a:lnT w="0">
                      <a:noFill/>
                    </a:lnT>
                    <a:lnB w="9525">
                      <a:solidFill>
                        <a:srgbClr val="E2E4E7"/>
                      </a:solidFill>
                    </a:lnB>
                    <a:noFill/>
                  </a:tcPr>
                </a:tc>
                <a:tc>
                  <a:txBody>
                    <a:bodyPr wrap="square"/>
                    <a:lstStyle/>
                    <a:p>
                      <a:pPr algn="r">
                        <a:lnSpc>
                          <a:spcPct val="100000"/>
                        </a:lnSpc>
                      </a:pPr>
                      <a:r>
                        <a:rPr sz="1100" b="0">
                          <a:solidFill>
                            <a:srgbClr val="15171A"/>
                          </a:solidFill>
                          <a:latin typeface="Noto Sans KR"/>
                          <a:ea typeface="Noto Sans KR"/>
                          <a:cs typeface="Noto Sans KR"/>
                        </a:rPr>
                        <a:t>5.0 (44%)</a:t>
                      </a:r>
                    </a:p>
                  </a:txBody>
                  <a:tcPr marL="73152" marR="73152" marT="41148" marB="41148" anchor="t">
                    <a:lnL w="0">
                      <a:noFill/>
                    </a:lnL>
                    <a:lnR w="0">
                      <a:noFill/>
                    </a:lnR>
                    <a:lnT w="0">
                      <a:noFill/>
                    </a:lnT>
                    <a:lnB w="9525">
                      <a:solidFill>
                        <a:srgbClr val="E2E4E7"/>
                      </a:solidFill>
                    </a:lnB>
                    <a:noFill/>
                  </a:tcPr>
                </a:tc>
                <a:tc>
                  <a:txBody>
                    <a:bodyPr wrap="square"/>
                    <a:lstStyle/>
                    <a:p>
                      <a:pPr algn="r">
                        <a:lnSpc>
                          <a:spcPct val="100000"/>
                        </a:lnSpc>
                      </a:pPr>
                      <a:r>
                        <a:rPr sz="1100" b="0">
                          <a:solidFill>
                            <a:srgbClr val="15171A"/>
                          </a:solidFill>
                          <a:latin typeface="Noto Sans KR"/>
                          <a:ea typeface="Noto Sans KR"/>
                          <a:cs typeface="Noto Sans KR"/>
                        </a:rPr>
                        <a:t>12.0 (48%)</a:t>
                      </a:r>
                    </a:p>
                  </a:txBody>
                  <a:tcPr marL="73152" marR="73152" marT="41148" marB="41148" anchor="t">
                    <a:lnL w="0">
                      <a:noFill/>
                    </a:lnL>
                    <a:lnR w="0">
                      <a:noFill/>
                    </a:lnR>
                    <a:lnT w="0">
                      <a:noFill/>
                    </a:lnT>
                    <a:lnB w="9525">
                      <a:solidFill>
                        <a:srgbClr val="E2E4E7"/>
                      </a:solidFill>
                    </a:lnB>
                    <a:noFill/>
                  </a:tcPr>
                </a:tc>
                <a:tc>
                  <a:txBody>
                    <a:bodyPr wrap="square"/>
                    <a:lstStyle/>
                    <a:p>
                      <a:pPr algn="r">
                        <a:lnSpc>
                          <a:spcPct val="100000"/>
                        </a:lnSpc>
                      </a:pPr>
                      <a:r>
                        <a:rPr sz="1100" b="0">
                          <a:solidFill>
                            <a:srgbClr val="15171A"/>
                          </a:solidFill>
                          <a:latin typeface="Noto Sans KR"/>
                          <a:ea typeface="Noto Sans KR"/>
                          <a:cs typeface="Noto Sans KR"/>
                        </a:rPr>
                        <a:t>23.6 (53%)</a:t>
                      </a:r>
                    </a:p>
                  </a:txBody>
                  <a:tcPr marL="73152" marR="73152" marT="41148" marB="41148" anchor="t">
                    <a:lnL w="0">
                      <a:noFill/>
                    </a:lnL>
                    <a:lnR w="0">
                      <a:noFill/>
                    </a:lnR>
                    <a:lnT w="0">
                      <a:noFill/>
                    </a:lnT>
                    <a:lnB w="9525">
                      <a:solidFill>
                        <a:srgbClr val="E2E4E7"/>
                      </a:solidFill>
                    </a:lnB>
                    <a:noFill/>
                  </a:tcPr>
                </a:tc>
              </a:tr>
              <a:tr h="293725">
                <a:tc>
                  <a:txBody>
                    <a:bodyPr wrap="square"/>
                    <a:lstStyle/>
                    <a:p>
                      <a:pPr algn="l">
                        <a:lnSpc>
                          <a:spcPct val="100000"/>
                        </a:lnSpc>
                      </a:pPr>
                      <a:r>
                        <a:rPr sz="1100" b="0">
                          <a:solidFill>
                            <a:srgbClr val="15171A"/>
                          </a:solidFill>
                          <a:latin typeface="Noto Sans KR"/>
                          <a:ea typeface="Noto Sans KR"/>
                          <a:cs typeface="Noto Sans KR"/>
                        </a:rPr>
                        <a:t>운영비</a:t>
                      </a:r>
                    </a:p>
                  </a:txBody>
                  <a:tcPr marL="73152" marR="73152" marT="41148" marB="41148" anchor="t">
                    <a:lnL w="0">
                      <a:noFill/>
                    </a:lnL>
                    <a:lnR w="0">
                      <a:noFill/>
                    </a:lnR>
                    <a:lnT w="0">
                      <a:noFill/>
                    </a:lnT>
                    <a:lnB w="9525">
                      <a:solidFill>
                        <a:srgbClr val="E2E4E7"/>
                      </a:solidFill>
                    </a:lnB>
                    <a:noFill/>
                  </a:tcPr>
                </a:tc>
                <a:tc>
                  <a:txBody>
                    <a:bodyPr wrap="square"/>
                    <a:lstStyle/>
                    <a:p>
                      <a:pPr algn="r">
                        <a:lnSpc>
                          <a:spcPct val="100000"/>
                        </a:lnSpc>
                      </a:pPr>
                      <a:r>
                        <a:rPr sz="1100" b="0">
                          <a:solidFill>
                            <a:srgbClr val="15171A"/>
                          </a:solidFill>
                          <a:latin typeface="Noto Sans KR"/>
                          <a:ea typeface="Noto Sans KR"/>
                          <a:cs typeface="Noto Sans KR"/>
                        </a:rPr>
                        <a:t>7.7</a:t>
                      </a:r>
                    </a:p>
                  </a:txBody>
                  <a:tcPr marL="73152" marR="73152" marT="41148" marB="41148" anchor="t">
                    <a:lnL w="0">
                      <a:noFill/>
                    </a:lnL>
                    <a:lnR w="0">
                      <a:noFill/>
                    </a:lnR>
                    <a:lnT w="0">
                      <a:noFill/>
                    </a:lnT>
                    <a:lnB w="9525">
                      <a:solidFill>
                        <a:srgbClr val="E2E4E7"/>
                      </a:solidFill>
                    </a:lnB>
                    <a:noFill/>
                  </a:tcPr>
                </a:tc>
                <a:tc>
                  <a:txBody>
                    <a:bodyPr wrap="square"/>
                    <a:lstStyle/>
                    <a:p>
                      <a:pPr algn="r">
                        <a:lnSpc>
                          <a:spcPct val="100000"/>
                        </a:lnSpc>
                      </a:pPr>
                      <a:r>
                        <a:rPr sz="1100" b="0">
                          <a:solidFill>
                            <a:srgbClr val="15171A"/>
                          </a:solidFill>
                          <a:latin typeface="Noto Sans KR"/>
                          <a:ea typeface="Noto Sans KR"/>
                          <a:cs typeface="Noto Sans KR"/>
                        </a:rPr>
                        <a:t>10.6</a:t>
                      </a:r>
                    </a:p>
                  </a:txBody>
                  <a:tcPr marL="73152" marR="73152" marT="41148" marB="41148" anchor="t">
                    <a:lnL w="0">
                      <a:noFill/>
                    </a:lnL>
                    <a:lnR w="0">
                      <a:noFill/>
                    </a:lnR>
                    <a:lnT w="0">
                      <a:noFill/>
                    </a:lnT>
                    <a:lnB w="9525">
                      <a:solidFill>
                        <a:srgbClr val="E2E4E7"/>
                      </a:solidFill>
                    </a:lnB>
                    <a:noFill/>
                  </a:tcPr>
                </a:tc>
                <a:tc>
                  <a:txBody>
                    <a:bodyPr wrap="square"/>
                    <a:lstStyle/>
                    <a:p>
                      <a:pPr algn="r">
                        <a:lnSpc>
                          <a:spcPct val="100000"/>
                        </a:lnSpc>
                      </a:pPr>
                      <a:r>
                        <a:rPr sz="1100" b="0">
                          <a:solidFill>
                            <a:srgbClr val="15171A"/>
                          </a:solidFill>
                          <a:latin typeface="Noto Sans KR"/>
                          <a:ea typeface="Noto Sans KR"/>
                          <a:cs typeface="Noto Sans KR"/>
                        </a:rPr>
                        <a:t>14.6</a:t>
                      </a:r>
                    </a:p>
                  </a:txBody>
                  <a:tcPr marL="73152" marR="73152" marT="41148" marB="41148" anchor="t">
                    <a:lnL w="0">
                      <a:noFill/>
                    </a:lnL>
                    <a:lnR w="0">
                      <a:noFill/>
                    </a:lnR>
                    <a:lnT w="0">
                      <a:noFill/>
                    </a:lnT>
                    <a:lnB w="9525">
                      <a:solidFill>
                        <a:srgbClr val="E2E4E7"/>
                      </a:solidFill>
                    </a:lnB>
                    <a:noFill/>
                  </a:tcPr>
                </a:tc>
                <a:tc>
                  <a:txBody>
                    <a:bodyPr wrap="square"/>
                    <a:lstStyle/>
                    <a:p>
                      <a:pPr algn="r">
                        <a:lnSpc>
                          <a:spcPct val="100000"/>
                        </a:lnSpc>
                      </a:pPr>
                      <a:r>
                        <a:rPr sz="1100" b="0">
                          <a:solidFill>
                            <a:srgbClr val="15171A"/>
                          </a:solidFill>
                          <a:latin typeface="Noto Sans KR"/>
                          <a:ea typeface="Noto Sans KR"/>
                          <a:cs typeface="Noto Sans KR"/>
                        </a:rPr>
                        <a:t>19.5</a:t>
                      </a:r>
                    </a:p>
                  </a:txBody>
                  <a:tcPr marL="73152" marR="73152" marT="41148" marB="41148" anchor="t">
                    <a:lnL w="0">
                      <a:noFill/>
                    </a:lnL>
                    <a:lnR w="0">
                      <a:noFill/>
                    </a:lnR>
                    <a:lnT w="0">
                      <a:noFill/>
                    </a:lnT>
                    <a:lnB w="9525">
                      <a:solidFill>
                        <a:srgbClr val="E2E4E7"/>
                      </a:solidFill>
                    </a:lnB>
                    <a:noFill/>
                  </a:tcPr>
                </a:tc>
                <a:tc>
                  <a:txBody>
                    <a:bodyPr wrap="square"/>
                    <a:lstStyle/>
                    <a:p>
                      <a:pPr algn="r">
                        <a:lnSpc>
                          <a:spcPct val="100000"/>
                        </a:lnSpc>
                      </a:pPr>
                      <a:r>
                        <a:rPr sz="1100" b="0">
                          <a:solidFill>
                            <a:srgbClr val="15171A"/>
                          </a:solidFill>
                          <a:latin typeface="Noto Sans KR"/>
                          <a:ea typeface="Noto Sans KR"/>
                          <a:cs typeface="Noto Sans KR"/>
                        </a:rPr>
                        <a:t>23.7</a:t>
                      </a:r>
                    </a:p>
                  </a:txBody>
                  <a:tcPr marL="73152" marR="73152" marT="41148" marB="41148" anchor="t">
                    <a:lnL w="0">
                      <a:noFill/>
                    </a:lnL>
                    <a:lnR w="0">
                      <a:noFill/>
                    </a:lnR>
                    <a:lnT w="0">
                      <a:noFill/>
                    </a:lnT>
                    <a:lnB w="9525">
                      <a:solidFill>
                        <a:srgbClr val="E2E4E7"/>
                      </a:solidFill>
                    </a:lnB>
                    <a:noFill/>
                  </a:tcPr>
                </a:tc>
              </a:tr>
              <a:tr h="293725">
                <a:tc>
                  <a:txBody>
                    <a:bodyPr wrap="square"/>
                    <a:lstStyle/>
                    <a:p>
                      <a:pPr algn="l">
                        <a:lnSpc>
                          <a:spcPct val="100000"/>
                        </a:lnSpc>
                      </a:pPr>
                      <a:r>
                        <a:rPr sz="1100" b="1">
                          <a:solidFill>
                            <a:srgbClr val="15171A"/>
                          </a:solidFill>
                          <a:latin typeface="Noto Sans KR"/>
                          <a:ea typeface="Noto Sans KR"/>
                          <a:cs typeface="Noto Sans KR"/>
                        </a:rPr>
                        <a:t>영업손익</a:t>
                      </a:r>
                    </a:p>
                  </a:txBody>
                  <a:tcPr marL="73152" marR="73152" marT="41148" marB="41148" anchor="t">
                    <a:lnL w="0">
                      <a:noFill/>
                    </a:lnL>
                    <a:lnR w="0">
                      <a:noFill/>
                    </a:lnR>
                    <a:lnT w="0">
                      <a:noFill/>
                    </a:lnT>
                    <a:lnB w="9525">
                      <a:solidFill>
                        <a:srgbClr val="E2E4E7"/>
                      </a:solidFill>
                    </a:lnB>
                    <a:noFill/>
                  </a:tcPr>
                </a:tc>
                <a:tc>
                  <a:txBody>
                    <a:bodyPr wrap="square"/>
                    <a:lstStyle/>
                    <a:p>
                      <a:pPr algn="r">
                        <a:lnSpc>
                          <a:spcPct val="100000"/>
                        </a:lnSpc>
                      </a:pPr>
                      <a:r>
                        <a:rPr sz="1100" b="1">
                          <a:solidFill>
                            <a:srgbClr val="15171A"/>
                          </a:solidFill>
                          <a:latin typeface="Noto Sans KR"/>
                          <a:ea typeface="Noto Sans KR"/>
                          <a:cs typeface="Noto Sans KR"/>
                        </a:rPr>
                        <a:t>−7.5</a:t>
                      </a:r>
                    </a:p>
                  </a:txBody>
                  <a:tcPr marL="73152" marR="73152" marT="41148" marB="41148" anchor="t">
                    <a:lnL w="0">
                      <a:noFill/>
                    </a:lnL>
                    <a:lnR w="0">
                      <a:noFill/>
                    </a:lnR>
                    <a:lnT w="0">
                      <a:noFill/>
                    </a:lnT>
                    <a:lnB w="9525">
                      <a:solidFill>
                        <a:srgbClr val="E2E4E7"/>
                      </a:solidFill>
                    </a:lnB>
                    <a:noFill/>
                  </a:tcPr>
                </a:tc>
                <a:tc>
                  <a:txBody>
                    <a:bodyPr wrap="square"/>
                    <a:lstStyle/>
                    <a:p>
                      <a:pPr algn="r">
                        <a:lnSpc>
                          <a:spcPct val="100000"/>
                        </a:lnSpc>
                      </a:pPr>
                      <a:r>
                        <a:rPr sz="1100" b="1">
                          <a:solidFill>
                            <a:srgbClr val="15171A"/>
                          </a:solidFill>
                          <a:latin typeface="Noto Sans KR"/>
                          <a:ea typeface="Noto Sans KR"/>
                          <a:cs typeface="Noto Sans KR"/>
                        </a:rPr>
                        <a:t>−8.9</a:t>
                      </a:r>
                    </a:p>
                  </a:txBody>
                  <a:tcPr marL="73152" marR="73152" marT="41148" marB="41148" anchor="t">
                    <a:lnL w="0">
                      <a:noFill/>
                    </a:lnL>
                    <a:lnR w="0">
                      <a:noFill/>
                    </a:lnR>
                    <a:lnT w="0">
                      <a:noFill/>
                    </a:lnT>
                    <a:lnB w="9525">
                      <a:solidFill>
                        <a:srgbClr val="E2E4E7"/>
                      </a:solidFill>
                    </a:lnB>
                    <a:noFill/>
                  </a:tcPr>
                </a:tc>
                <a:tc>
                  <a:txBody>
                    <a:bodyPr wrap="square"/>
                    <a:lstStyle/>
                    <a:p>
                      <a:pPr algn="r">
                        <a:lnSpc>
                          <a:spcPct val="100000"/>
                        </a:lnSpc>
                      </a:pPr>
                      <a:r>
                        <a:rPr sz="1100" b="1">
                          <a:solidFill>
                            <a:srgbClr val="15171A"/>
                          </a:solidFill>
                          <a:latin typeface="Noto Sans KR"/>
                          <a:ea typeface="Noto Sans KR"/>
                          <a:cs typeface="Noto Sans KR"/>
                        </a:rPr>
                        <a:t>−9.5</a:t>
                      </a:r>
                    </a:p>
                  </a:txBody>
                  <a:tcPr marL="73152" marR="73152" marT="41148" marB="41148" anchor="t">
                    <a:lnL w="0">
                      <a:noFill/>
                    </a:lnL>
                    <a:lnR w="0">
                      <a:noFill/>
                    </a:lnR>
                    <a:lnT w="0">
                      <a:noFill/>
                    </a:lnT>
                    <a:lnB w="9525">
                      <a:solidFill>
                        <a:srgbClr val="E2E4E7"/>
                      </a:solidFill>
                    </a:lnB>
                    <a:noFill/>
                  </a:tcPr>
                </a:tc>
                <a:tc>
                  <a:txBody>
                    <a:bodyPr wrap="square"/>
                    <a:lstStyle/>
                    <a:p>
                      <a:pPr algn="r">
                        <a:lnSpc>
                          <a:spcPct val="100000"/>
                        </a:lnSpc>
                      </a:pPr>
                      <a:r>
                        <a:rPr sz="1100" b="1">
                          <a:solidFill>
                            <a:srgbClr val="15171A"/>
                          </a:solidFill>
                          <a:latin typeface="Noto Sans KR"/>
                          <a:ea typeface="Noto Sans KR"/>
                          <a:cs typeface="Noto Sans KR"/>
                        </a:rPr>
                        <a:t>−7.5</a:t>
                      </a:r>
                    </a:p>
                  </a:txBody>
                  <a:tcPr marL="73152" marR="73152" marT="41148" marB="41148" anchor="t">
                    <a:lnL w="0">
                      <a:noFill/>
                    </a:lnL>
                    <a:lnR w="0">
                      <a:noFill/>
                    </a:lnR>
                    <a:lnT w="0">
                      <a:noFill/>
                    </a:lnT>
                    <a:lnB w="9525">
                      <a:solidFill>
                        <a:srgbClr val="E2E4E7"/>
                      </a:solidFill>
                    </a:lnB>
                    <a:noFill/>
                  </a:tcPr>
                </a:tc>
                <a:tc>
                  <a:txBody>
                    <a:bodyPr wrap="square"/>
                    <a:lstStyle/>
                    <a:p>
                      <a:pPr algn="r">
                        <a:lnSpc>
                          <a:spcPct val="100000"/>
                        </a:lnSpc>
                      </a:pPr>
                      <a:r>
                        <a:rPr sz="1100" b="1">
                          <a:solidFill>
                            <a:srgbClr val="15171A"/>
                          </a:solidFill>
                          <a:latin typeface="Noto Sans KR"/>
                          <a:ea typeface="Noto Sans KR"/>
                          <a:cs typeface="Noto Sans KR"/>
                        </a:rPr>
                        <a:t>−0.1</a:t>
                      </a:r>
                    </a:p>
                  </a:txBody>
                  <a:tcPr marL="73152" marR="73152" marT="41148" marB="41148" anchor="t">
                    <a:lnL w="0">
                      <a:noFill/>
                    </a:lnL>
                    <a:lnR w="0">
                      <a:noFill/>
                    </a:lnR>
                    <a:lnT w="0">
                      <a:noFill/>
                    </a:lnT>
                    <a:lnB w="9525">
                      <a:solidFill>
                        <a:srgbClr val="E2E4E7"/>
                      </a:solidFill>
                    </a:lnB>
                    <a:noFill/>
                  </a:tcPr>
                </a:tc>
              </a:tr>
              <a:tr h="293725">
                <a:tc>
                  <a:txBody>
                    <a:bodyPr wrap="square"/>
                    <a:lstStyle/>
                    <a:p>
                      <a:pPr algn="l">
                        <a:lnSpc>
                          <a:spcPct val="100000"/>
                        </a:lnSpc>
                      </a:pPr>
                      <a:r>
                        <a:rPr sz="1100" b="1">
                          <a:solidFill>
                            <a:srgbClr val="15171A"/>
                          </a:solidFill>
                          <a:latin typeface="Noto Sans KR"/>
                          <a:ea typeface="Noto Sans KR"/>
                          <a:cs typeface="Noto Sans KR"/>
                        </a:rPr>
                        <a:t>재사용 매출 비중</a:t>
                      </a:r>
                    </a:p>
                  </a:txBody>
                  <a:tcPr marL="73152" marR="73152" marT="41148" marB="41148" anchor="t">
                    <a:lnL w="0">
                      <a:noFill/>
                    </a:lnL>
                    <a:lnR w="0">
                      <a:noFill/>
                    </a:lnR>
                    <a:lnT w="0">
                      <a:noFill/>
                    </a:lnT>
                    <a:lnB w="9525">
                      <a:solidFill>
                        <a:srgbClr val="E2E4E7"/>
                      </a:solidFill>
                    </a:lnB>
                    <a:noFill/>
                  </a:tcPr>
                </a:tc>
                <a:tc>
                  <a:txBody>
                    <a:bodyPr wrap="square"/>
                    <a:lstStyle/>
                    <a:p>
                      <a:pPr algn="r">
                        <a:lnSpc>
                          <a:spcPct val="100000"/>
                        </a:lnSpc>
                      </a:pPr>
                      <a:r>
                        <a:rPr sz="1100" b="1">
                          <a:solidFill>
                            <a:srgbClr val="E2571B"/>
                          </a:solidFill>
                          <a:latin typeface="Noto Sans KR"/>
                          <a:ea typeface="Noto Sans KR"/>
                          <a:cs typeface="Noto Sans KR"/>
                        </a:rPr>
                        <a:t>0%</a:t>
                      </a:r>
                    </a:p>
                  </a:txBody>
                  <a:tcPr marL="73152" marR="73152" marT="41148" marB="41148" anchor="t">
                    <a:lnL w="0">
                      <a:noFill/>
                    </a:lnL>
                    <a:lnR w="0">
                      <a:noFill/>
                    </a:lnR>
                    <a:lnT w="0">
                      <a:noFill/>
                    </a:lnT>
                    <a:lnB w="9525">
                      <a:solidFill>
                        <a:srgbClr val="E2E4E7"/>
                      </a:solidFill>
                    </a:lnB>
                    <a:noFill/>
                  </a:tcPr>
                </a:tc>
                <a:tc>
                  <a:txBody>
                    <a:bodyPr wrap="square"/>
                    <a:lstStyle/>
                    <a:p>
                      <a:pPr algn="r">
                        <a:lnSpc>
                          <a:spcPct val="100000"/>
                        </a:lnSpc>
                      </a:pPr>
                      <a:r>
                        <a:rPr sz="1100" b="1">
                          <a:solidFill>
                            <a:srgbClr val="E2571B"/>
                          </a:solidFill>
                          <a:latin typeface="Noto Sans KR"/>
                          <a:ea typeface="Noto Sans KR"/>
                          <a:cs typeface="Noto Sans KR"/>
                        </a:rPr>
                        <a:t>29%</a:t>
                      </a:r>
                    </a:p>
                  </a:txBody>
                  <a:tcPr marL="73152" marR="73152" marT="41148" marB="41148" anchor="t">
                    <a:lnL w="0">
                      <a:noFill/>
                    </a:lnL>
                    <a:lnR w="0">
                      <a:noFill/>
                    </a:lnR>
                    <a:lnT w="0">
                      <a:noFill/>
                    </a:lnT>
                    <a:lnB w="9525">
                      <a:solidFill>
                        <a:srgbClr val="E2E4E7"/>
                      </a:solidFill>
                    </a:lnB>
                    <a:noFill/>
                  </a:tcPr>
                </a:tc>
                <a:tc>
                  <a:txBody>
                    <a:bodyPr wrap="square"/>
                    <a:lstStyle/>
                    <a:p>
                      <a:pPr algn="r">
                        <a:lnSpc>
                          <a:spcPct val="100000"/>
                        </a:lnSpc>
                      </a:pPr>
                      <a:r>
                        <a:rPr sz="1100" b="1">
                          <a:solidFill>
                            <a:srgbClr val="E2571B"/>
                          </a:solidFill>
                          <a:latin typeface="Noto Sans KR"/>
                          <a:ea typeface="Noto Sans KR"/>
                          <a:cs typeface="Noto Sans KR"/>
                        </a:rPr>
                        <a:t>57%</a:t>
                      </a:r>
                    </a:p>
                  </a:txBody>
                  <a:tcPr marL="73152" marR="73152" marT="41148" marB="41148" anchor="t">
                    <a:lnL w="0">
                      <a:noFill/>
                    </a:lnL>
                    <a:lnR w="0">
                      <a:noFill/>
                    </a:lnR>
                    <a:lnT w="0">
                      <a:noFill/>
                    </a:lnT>
                    <a:lnB w="9525">
                      <a:solidFill>
                        <a:srgbClr val="E2E4E7"/>
                      </a:solidFill>
                    </a:lnB>
                    <a:noFill/>
                  </a:tcPr>
                </a:tc>
                <a:tc>
                  <a:txBody>
                    <a:bodyPr wrap="square"/>
                    <a:lstStyle/>
                    <a:p>
                      <a:pPr algn="r">
                        <a:lnSpc>
                          <a:spcPct val="100000"/>
                        </a:lnSpc>
                      </a:pPr>
                      <a:r>
                        <a:rPr sz="1100" b="1">
                          <a:solidFill>
                            <a:srgbClr val="E2571B"/>
                          </a:solidFill>
                          <a:latin typeface="Noto Sans KR"/>
                          <a:ea typeface="Noto Sans KR"/>
                          <a:cs typeface="Noto Sans KR"/>
                        </a:rPr>
                        <a:t>75%</a:t>
                      </a:r>
                    </a:p>
                  </a:txBody>
                  <a:tcPr marL="73152" marR="73152" marT="41148" marB="41148" anchor="t">
                    <a:lnL w="0">
                      <a:noFill/>
                    </a:lnL>
                    <a:lnR w="0">
                      <a:noFill/>
                    </a:lnR>
                    <a:lnT w="0">
                      <a:noFill/>
                    </a:lnT>
                    <a:lnB w="9525">
                      <a:solidFill>
                        <a:srgbClr val="E2E4E7"/>
                      </a:solidFill>
                    </a:lnB>
                    <a:noFill/>
                  </a:tcPr>
                </a:tc>
                <a:tc>
                  <a:txBody>
                    <a:bodyPr wrap="square"/>
                    <a:lstStyle/>
                    <a:p>
                      <a:pPr algn="r">
                        <a:lnSpc>
                          <a:spcPct val="100000"/>
                        </a:lnSpc>
                      </a:pPr>
                      <a:r>
                        <a:rPr sz="1100" b="1">
                          <a:solidFill>
                            <a:srgbClr val="E2571B"/>
                          </a:solidFill>
                          <a:latin typeface="Noto Sans KR"/>
                          <a:ea typeface="Noto Sans KR"/>
                          <a:cs typeface="Noto Sans KR"/>
                        </a:rPr>
                        <a:t>86%</a:t>
                      </a:r>
                    </a:p>
                  </a:txBody>
                  <a:tcPr marL="73152" marR="73152" marT="41148" marB="41148" anchor="t">
                    <a:lnL w="0">
                      <a:noFill/>
                    </a:lnL>
                    <a:lnR w="0">
                      <a:noFill/>
                    </a:lnR>
                    <a:lnT w="0">
                      <a:noFill/>
                    </a:lnT>
                    <a:lnB w="9525">
                      <a:solidFill>
                        <a:srgbClr val="E2E4E7"/>
                      </a:solidFill>
                    </a:lnB>
                    <a:noFill/>
                  </a:tcPr>
                </a:tc>
              </a:tr>
            </a:tbl>
          </a:graphicData>
        </a:graphic>
      </p:graphicFrame>
      <p:sp>
        <p:nvSpPr>
          <p:cNvPr id="6" name="TextBox 5"/>
          <p:cNvSpPr txBox="1"/>
          <p:nvPr/>
        </p:nvSpPr>
        <p:spPr>
          <a:xfrm>
            <a:off x="8183879" y="1847088"/>
            <a:ext cx="3322015" cy="274320"/>
          </a:xfrm>
          <a:prstGeom prst="rect">
            <a:avLst/>
          </a:prstGeom>
          <a:noFill/>
        </p:spPr>
        <p:txBody>
          <a:bodyPr wrap="square" lIns="0" rIns="0" tIns="0" bIns="0" anchor="t">
            <a:spAutoFit/>
          </a:bodyPr>
          <a:lstStyle/>
          <a:p>
            <a:pPr algn="l">
              <a:lnSpc>
                <a:spcPct val="100000"/>
              </a:lnSpc>
            </a:pPr>
            <a:r>
              <a:rPr sz="1300" b="1">
                <a:solidFill>
                  <a:srgbClr val="15171A"/>
                </a:solidFill>
                <a:latin typeface="Noto Sans KR"/>
                <a:ea typeface="Noto Sans KR"/>
                <a:cs typeface="Noto Sans KR"/>
              </a:rPr>
              <a:t>민감도 (5년차)</a:t>
            </a:r>
          </a:p>
        </p:txBody>
      </p:sp>
      <p:cxnSp>
        <p:nvCxnSpPr>
          <p:cNvPr id="7" name="Connector 6"/>
          <p:cNvCxnSpPr/>
          <p:nvPr/>
        </p:nvCxnSpPr>
        <p:spPr>
          <a:xfrm>
            <a:off x="8183879" y="2176272"/>
            <a:ext cx="3322016" cy="0"/>
          </a:xfrm>
          <a:prstGeom prst="line">
            <a:avLst/>
          </a:prstGeom>
          <a:ln w="12700">
            <a:solidFill>
              <a:srgbClr val="15171A"/>
            </a:solidFill>
          </a:ln>
        </p:spPr>
      </p:cxnSp>
      <p:graphicFrame>
        <p:nvGraphicFramePr>
          <p:cNvPr id="8" name="Table 7"/>
          <p:cNvGraphicFramePr>
            <a:graphicFrameLocks noGrp="1"/>
          </p:cNvGraphicFramePr>
          <p:nvPr/>
        </p:nvGraphicFramePr>
        <p:xfrm>
          <a:off x="8183879" y="2286000"/>
          <a:ext cx="3322014" cy="1891486"/>
        </p:xfrm>
        <a:graphic>
          <a:graphicData uri="http://schemas.openxmlformats.org/drawingml/2006/table">
            <a:tbl>
              <a:tblPr firstRow="0" bandRow="0">
                <a:tableStyleId>{2D5ABB26-0587-4C30-8999-92F81FD0307C}</a:tableStyleId>
              </a:tblPr>
              <a:tblGrid>
                <a:gridCol w="1874519"/>
                <a:gridCol w="1447495"/>
              </a:tblGrid>
              <a:tr h="523443">
                <a:tc>
                  <a:txBody>
                    <a:bodyPr wrap="square"/>
                    <a:lstStyle/>
                    <a:p>
                      <a:pPr algn="l">
                        <a:lnSpc>
                          <a:spcPct val="100000"/>
                        </a:lnSpc>
                      </a:pPr>
                      <a:r>
                        <a:rPr sz="1100" b="1">
                          <a:solidFill>
                            <a:srgbClr val="15171A"/>
                          </a:solidFill>
                          <a:latin typeface="Noto Sans KR"/>
                          <a:ea typeface="Noto Sans KR"/>
                          <a:cs typeface="Noto Sans KR"/>
                        </a:rPr>
                        <a:t>판매량 −30% (3~5년차)</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100" b="0">
                          <a:solidFill>
                            <a:srgbClr val="15171A"/>
                          </a:solidFill>
                          <a:latin typeface="Noto Sans KR"/>
                          <a:ea typeface="Noto Sans KR"/>
                          <a:cs typeface="Noto Sans KR"/>
                        </a:rPr>
                        <a:t>매출 31.4억</a:t>
                      </a:r>
                    </a:p>
                    <a:p>
                      <a:pPr algn="l">
                        <a:lnSpc>
                          <a:spcPct val="100000"/>
                        </a:lnSpc>
                      </a:pPr>
                      <a:r>
                        <a:rPr sz="1100" b="0">
                          <a:solidFill>
                            <a:srgbClr val="15171A"/>
                          </a:solidFill>
                          <a:latin typeface="Noto Sans KR"/>
                          <a:ea typeface="Noto Sans KR"/>
                          <a:cs typeface="Noto Sans KR"/>
                        </a:rPr>
                        <a:t>영업손익 −7.1억</a:t>
                      </a:r>
                    </a:p>
                  </a:txBody>
                  <a:tcPr marL="73152" marR="73152" marT="54864" marB="54864" anchor="t">
                    <a:lnL w="0">
                      <a:noFill/>
                    </a:lnL>
                    <a:lnR w="0">
                      <a:noFill/>
                    </a:lnR>
                    <a:lnT w="0">
                      <a:noFill/>
                    </a:lnT>
                    <a:lnB w="9525">
                      <a:solidFill>
                        <a:srgbClr val="E2E4E7"/>
                      </a:solidFill>
                    </a:lnB>
                    <a:noFill/>
                  </a:tcPr>
                </a:tc>
              </a:tr>
              <a:tr h="321157">
                <a:tc>
                  <a:txBody>
                    <a:bodyPr wrap="square"/>
                    <a:lstStyle/>
                    <a:p>
                      <a:pPr algn="l">
                        <a:lnSpc>
                          <a:spcPct val="100000"/>
                        </a:lnSpc>
                      </a:pPr>
                      <a:r>
                        <a:rPr sz="1100" b="1">
                          <a:solidFill>
                            <a:srgbClr val="15171A"/>
                          </a:solidFill>
                          <a:latin typeface="Noto Sans KR"/>
                          <a:ea typeface="Noto Sans KR"/>
                          <a:cs typeface="Noto Sans KR"/>
                        </a:rPr>
                        <a:t>핸드 원가 절감 지연</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100" b="0">
                          <a:solidFill>
                            <a:srgbClr val="15171A"/>
                          </a:solidFill>
                          <a:latin typeface="Noto Sans KR"/>
                          <a:ea typeface="Noto Sans KR"/>
                          <a:cs typeface="Noto Sans KR"/>
                        </a:rPr>
                        <a:t>영업손익 −3.1억</a:t>
                      </a:r>
                    </a:p>
                  </a:txBody>
                  <a:tcPr marL="73152" marR="73152" marT="54864" marB="54864" anchor="t">
                    <a:lnL w="0">
                      <a:noFill/>
                    </a:lnL>
                    <a:lnR w="0">
                      <a:noFill/>
                    </a:lnR>
                    <a:lnT w="0">
                      <a:noFill/>
                    </a:lnT>
                    <a:lnB w="9525">
                      <a:solidFill>
                        <a:srgbClr val="E2E4E7"/>
                      </a:solidFill>
                    </a:lnB>
                    <a:noFill/>
                  </a:tcPr>
                </a:tc>
              </a:tr>
              <a:tr h="523443">
                <a:tc>
                  <a:txBody>
                    <a:bodyPr wrap="square"/>
                    <a:lstStyle/>
                    <a:p>
                      <a:pPr algn="l">
                        <a:lnSpc>
                          <a:spcPct val="100000"/>
                        </a:lnSpc>
                      </a:pPr>
                      <a:r>
                        <a:rPr sz="1100" b="1">
                          <a:solidFill>
                            <a:srgbClr val="15171A"/>
                          </a:solidFill>
                          <a:latin typeface="Noto Sans KR"/>
                          <a:ea typeface="Noto Sans KR"/>
                          <a:cs typeface="Noto Sans KR"/>
                        </a:rPr>
                        <a:t>파트너 채널 1년 지연</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100" b="0">
                          <a:solidFill>
                            <a:srgbClr val="15171A"/>
                          </a:solidFill>
                          <a:latin typeface="Noto Sans KR"/>
                          <a:ea typeface="Noto Sans KR"/>
                          <a:cs typeface="Noto Sans KR"/>
                        </a:rPr>
                        <a:t>매출 32.3억</a:t>
                      </a:r>
                    </a:p>
                    <a:p>
                      <a:pPr algn="l">
                        <a:lnSpc>
                          <a:spcPct val="100000"/>
                        </a:lnSpc>
                      </a:pPr>
                      <a:r>
                        <a:rPr sz="1100" b="0">
                          <a:solidFill>
                            <a:srgbClr val="15171A"/>
                          </a:solidFill>
                          <a:latin typeface="Noto Sans KR"/>
                          <a:ea typeface="Noto Sans KR"/>
                          <a:cs typeface="Noto Sans KR"/>
                        </a:rPr>
                        <a:t>영업손익 −6.4억</a:t>
                      </a:r>
                    </a:p>
                  </a:txBody>
                  <a:tcPr marL="73152" marR="73152" marT="54864" marB="54864" anchor="t">
                    <a:lnL w="0">
                      <a:noFill/>
                    </a:lnL>
                    <a:lnR w="0">
                      <a:noFill/>
                    </a:lnR>
                    <a:lnT w="0">
                      <a:noFill/>
                    </a:lnT>
                    <a:lnB w="9525">
                      <a:solidFill>
                        <a:srgbClr val="E2E4E7"/>
                      </a:solidFill>
                    </a:lnB>
                    <a:noFill/>
                  </a:tcPr>
                </a:tc>
              </a:tr>
              <a:tr h="523443">
                <a:tc>
                  <a:txBody>
                    <a:bodyPr wrap="square"/>
                    <a:lstStyle/>
                    <a:p>
                      <a:pPr algn="l">
                        <a:lnSpc>
                          <a:spcPct val="100000"/>
                        </a:lnSpc>
                      </a:pPr>
                      <a:r>
                        <a:rPr sz="1100" b="1">
                          <a:solidFill>
                            <a:srgbClr val="15171A"/>
                          </a:solidFill>
                          <a:latin typeface="Noto Sans KR"/>
                          <a:ea typeface="Noto Sans KR"/>
                          <a:cs typeface="Noto Sans KR"/>
                        </a:rPr>
                        <a:t>판매량 −50%</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100" b="0">
                          <a:solidFill>
                            <a:srgbClr val="15171A"/>
                          </a:solidFill>
                          <a:latin typeface="Noto Sans KR"/>
                          <a:ea typeface="Noto Sans KR"/>
                          <a:cs typeface="Noto Sans KR"/>
                        </a:rPr>
                        <a:t>매출 22.4억</a:t>
                      </a:r>
                    </a:p>
                    <a:p>
                      <a:pPr algn="l">
                        <a:lnSpc>
                          <a:spcPct val="100000"/>
                        </a:lnSpc>
                      </a:pPr>
                      <a:r>
                        <a:rPr sz="1100" b="0">
                          <a:solidFill>
                            <a:srgbClr val="15171A"/>
                          </a:solidFill>
                          <a:latin typeface="Noto Sans KR"/>
                          <a:ea typeface="Noto Sans KR"/>
                          <a:cs typeface="Noto Sans KR"/>
                        </a:rPr>
                        <a:t>영업손익 −11.9억</a:t>
                      </a:r>
                    </a:p>
                  </a:txBody>
                  <a:tcPr marL="73152" marR="73152" marT="54864" marB="54864" anchor="t">
                    <a:lnL w="0">
                      <a:noFill/>
                    </a:lnL>
                    <a:lnR w="0">
                      <a:noFill/>
                    </a:lnR>
                    <a:lnT w="0">
                      <a:noFill/>
                    </a:lnT>
                    <a:lnB w="9525">
                      <a:solidFill>
                        <a:srgbClr val="E2E4E7"/>
                      </a:solidFill>
                    </a:lnB>
                    <a:noFill/>
                  </a:tcPr>
                </a:tc>
              </a:tr>
            </a:tbl>
          </a:graphicData>
        </a:graphic>
      </p:graphicFrame>
      <p:sp>
        <p:nvSpPr>
          <p:cNvPr id="9" name="TextBox 8"/>
          <p:cNvSpPr txBox="1"/>
          <p:nvPr/>
        </p:nvSpPr>
        <p:spPr>
          <a:xfrm>
            <a:off x="8183879" y="4406087"/>
            <a:ext cx="3322015" cy="274320"/>
          </a:xfrm>
          <a:prstGeom prst="rect">
            <a:avLst/>
          </a:prstGeom>
          <a:noFill/>
        </p:spPr>
        <p:txBody>
          <a:bodyPr wrap="square" lIns="0" rIns="0" tIns="0" bIns="0" anchor="t">
            <a:spAutoFit/>
          </a:bodyPr>
          <a:lstStyle/>
          <a:p>
            <a:pPr algn="l">
              <a:lnSpc>
                <a:spcPct val="100000"/>
              </a:lnSpc>
            </a:pPr>
            <a:r>
              <a:rPr sz="1300" b="1">
                <a:solidFill>
                  <a:srgbClr val="15171A"/>
                </a:solidFill>
                <a:latin typeface="Noto Sans KR"/>
                <a:ea typeface="Noto Sans KR"/>
                <a:cs typeface="Noto Sans KR"/>
              </a:rPr>
              <a:t>산정 기준</a:t>
            </a:r>
          </a:p>
        </p:txBody>
      </p:sp>
      <p:cxnSp>
        <p:nvCxnSpPr>
          <p:cNvPr id="10" name="Connector 9"/>
          <p:cNvCxnSpPr/>
          <p:nvPr/>
        </p:nvCxnSpPr>
        <p:spPr>
          <a:xfrm>
            <a:off x="8183879" y="4735271"/>
            <a:ext cx="3322016" cy="0"/>
          </a:xfrm>
          <a:prstGeom prst="line">
            <a:avLst/>
          </a:prstGeom>
          <a:ln w="12700">
            <a:solidFill>
              <a:srgbClr val="15171A"/>
            </a:solidFill>
          </a:ln>
        </p:spPr>
      </p:cxnSp>
      <p:sp>
        <p:nvSpPr>
          <p:cNvPr id="11" name="TextBox 10"/>
          <p:cNvSpPr txBox="1"/>
          <p:nvPr/>
        </p:nvSpPr>
        <p:spPr>
          <a:xfrm>
            <a:off x="8183879" y="4844999"/>
            <a:ext cx="3322015" cy="1411833"/>
          </a:xfrm>
          <a:prstGeom prst="rect">
            <a:avLst/>
          </a:prstGeom>
          <a:noFill/>
        </p:spPr>
        <p:txBody>
          <a:bodyPr wrap="square" lIns="0" rIns="0" tIns="0" bIns="0" anchor="t">
            <a:spAutoFit/>
          </a:bodyPr>
          <a:lstStyle/>
          <a:p>
            <a:pPr algn="l" marL="164592" indent="-164592">
              <a:lnSpc>
                <a:spcPct val="100000"/>
              </a:lnSpc>
              <a:spcAft>
                <a:spcPts val="400"/>
              </a:spcAft>
              <a:buClr>
                <a:srgbClr val="8C9198"/>
              </a:buClr>
              <a:buFont typeface="Noto Sans KR"/>
              <a:buChar char="•"/>
            </a:pPr>
            <a:r>
              <a:rPr sz="1100" b="0">
                <a:solidFill>
                  <a:srgbClr val="4A4F57"/>
                </a:solidFill>
                <a:latin typeface="Noto Sans KR"/>
                <a:ea typeface="Noto Sans KR"/>
                <a:cs typeface="Noto Sans KR"/>
              </a:rPr>
              <a:t>운영비 1·2년차 = Seed 24개월 집행 계획 (A11)</a:t>
            </a:r>
          </a:p>
          <a:p>
            <a:pPr algn="l" marL="164592" indent="-164592">
              <a:lnSpc>
                <a:spcPct val="100000"/>
              </a:lnSpc>
              <a:spcAft>
                <a:spcPts val="400"/>
              </a:spcAft>
              <a:buClr>
                <a:srgbClr val="8C9198"/>
              </a:buClr>
              <a:buFont typeface="Noto Sans KR"/>
              <a:buChar char="•"/>
            </a:pPr>
            <a:r>
              <a:rPr sz="1100" b="0">
                <a:solidFill>
                  <a:srgbClr val="4A4F57"/>
                </a:solidFill>
                <a:latin typeface="Noto Sans KR"/>
                <a:ea typeface="Noto Sans KR"/>
                <a:cs typeface="Noto Sans KR"/>
              </a:rPr>
              <a:t>3~5년차 = 평균 인원 14·19·23명 × 1인 연 0.72~0.76억 + 비인건비 4.5~6.2억</a:t>
            </a:r>
          </a:p>
          <a:p>
            <a:pPr algn="l" marL="164592" indent="-164592">
              <a:lnSpc>
                <a:spcPct val="100000"/>
              </a:lnSpc>
              <a:spcAft>
                <a:spcPts val="400"/>
              </a:spcAft>
              <a:buClr>
                <a:srgbClr val="8C9198"/>
              </a:buClr>
              <a:buFont typeface="Noto Sans KR"/>
              <a:buChar char="•"/>
            </a:pPr>
            <a:r>
              <a:rPr sz="1100" b="0">
                <a:solidFill>
                  <a:srgbClr val="4A4F57"/>
                </a:solidFill>
                <a:latin typeface="Noto Sans KR"/>
                <a:ea typeface="Noto Sans KR"/>
                <a:cs typeface="Noto Sans KR"/>
              </a:rPr>
              <a:t>매출원은 분야 무관 가정, 주방·산업 비중은 PoC 후 재산정</a:t>
            </a:r>
          </a:p>
          <a:p>
            <a:pPr algn="l" marL="164592" indent="-164592">
              <a:lnSpc>
                <a:spcPct val="100000"/>
              </a:lnSpc>
              <a:buClr>
                <a:srgbClr val="8C9198"/>
              </a:buClr>
              <a:buFont typeface="Noto Sans KR"/>
              <a:buChar char="•"/>
            </a:pPr>
            <a:r>
              <a:rPr sz="1100" b="0">
                <a:solidFill>
                  <a:srgbClr val="4A4F57"/>
                </a:solidFill>
                <a:latin typeface="Noto Sans KR"/>
                <a:ea typeface="Noto Sans KR"/>
                <a:cs typeface="Noto Sans KR"/>
              </a:rPr>
              <a:t>미반영 상승 요인 = Scale Triggers (본문 11장)</a:t>
            </a:r>
          </a:p>
        </p:txBody>
      </p:sp>
      <p:sp>
        <p:nvSpPr>
          <p:cNvPr id="12" name="TextBox 11"/>
          <p:cNvSpPr txBox="1"/>
          <p:nvPr/>
        </p:nvSpPr>
        <p:spPr>
          <a:xfrm>
            <a:off x="685800" y="6446520"/>
            <a:ext cx="5486400" cy="201168"/>
          </a:xfrm>
          <a:prstGeom prst="rect">
            <a:avLst/>
          </a:prstGeom>
          <a:noFill/>
        </p:spPr>
        <p:txBody>
          <a:bodyPr wrap="square" lIns="0" rIns="0" tIns="0" bIns="0" anchor="t">
            <a:spAutoFit/>
          </a:bodyPr>
          <a:lstStyle/>
          <a:p>
            <a:pPr algn="l">
              <a:lnSpc>
                <a:spcPct val="100000"/>
              </a:lnSpc>
            </a:pPr>
            <a:r>
              <a:rPr sz="900" b="0">
                <a:solidFill>
                  <a:srgbClr val="8C9198"/>
                </a:solidFill>
                <a:latin typeface="Noto Sans KR"/>
                <a:ea typeface="Noto Sans KR"/>
                <a:cs typeface="Noto Sans KR"/>
              </a:rPr>
              <a:t>SoftHand  |  주방 로봇 조작 플랫폼  |  Seed 투자 제안서</a:t>
            </a:r>
          </a:p>
        </p:txBody>
      </p:sp>
      <p:sp>
        <p:nvSpPr>
          <p:cNvPr id="13" name="TextBox 12"/>
          <p:cNvSpPr txBox="1"/>
          <p:nvPr/>
        </p:nvSpPr>
        <p:spPr>
          <a:xfrm>
            <a:off x="11048695" y="6446520"/>
            <a:ext cx="457200" cy="201168"/>
          </a:xfrm>
          <a:prstGeom prst="rect">
            <a:avLst/>
          </a:prstGeom>
          <a:noFill/>
        </p:spPr>
        <p:txBody>
          <a:bodyPr wrap="square" lIns="0" rIns="0" tIns="0" bIns="0" anchor="t">
            <a:spAutoFit/>
          </a:bodyPr>
          <a:lstStyle/>
          <a:p>
            <a:pPr algn="r">
              <a:lnSpc>
                <a:spcPct val="100000"/>
              </a:lnSpc>
            </a:pPr>
            <a:r>
              <a:rPr sz="900" b="0">
                <a:solidFill>
                  <a:srgbClr val="8C9198"/>
                </a:solidFill>
                <a:latin typeface="Noto Sans KR"/>
                <a:ea typeface="Noto Sans KR"/>
                <a:cs typeface="Noto Sans KR"/>
              </a:rPr>
              <a:t>A10</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502920"/>
            <a:ext cx="7315200" cy="256032"/>
          </a:xfrm>
          <a:prstGeom prst="rect">
            <a:avLst/>
          </a:prstGeom>
          <a:noFill/>
        </p:spPr>
        <p:txBody>
          <a:bodyPr wrap="square" lIns="0" rIns="0" tIns="0" bIns="0" anchor="t">
            <a:spAutoFit/>
          </a:bodyPr>
          <a:lstStyle/>
          <a:p>
            <a:pPr algn="l">
              <a:lnSpc>
                <a:spcPct val="100000"/>
              </a:lnSpc>
            </a:pPr>
            <a:r>
              <a:rPr sz="1100" b="1">
                <a:solidFill>
                  <a:srgbClr val="E2571B"/>
                </a:solidFill>
                <a:latin typeface="Noto Sans KR"/>
                <a:ea typeface="Noto Sans KR"/>
                <a:cs typeface="Noto Sans KR"/>
              </a:rPr>
              <a:t>부록 A11</a:t>
            </a:r>
          </a:p>
        </p:txBody>
      </p:sp>
      <p:sp>
        <p:nvSpPr>
          <p:cNvPr id="3" name="TextBox 2"/>
          <p:cNvSpPr txBox="1"/>
          <p:nvPr/>
        </p:nvSpPr>
        <p:spPr>
          <a:xfrm>
            <a:off x="685800" y="822960"/>
            <a:ext cx="10820095" cy="475488"/>
          </a:xfrm>
          <a:prstGeom prst="rect">
            <a:avLst/>
          </a:prstGeom>
          <a:noFill/>
        </p:spPr>
        <p:txBody>
          <a:bodyPr wrap="square" lIns="0" rIns="0" tIns="0" bIns="0" anchor="t">
            <a:spAutoFit/>
          </a:bodyPr>
          <a:lstStyle/>
          <a:p>
            <a:pPr algn="l">
              <a:lnSpc>
                <a:spcPct val="95000"/>
              </a:lnSpc>
            </a:pPr>
            <a:r>
              <a:rPr sz="2600" b="1">
                <a:solidFill>
                  <a:srgbClr val="15171A"/>
                </a:solidFill>
                <a:latin typeface="Noto Sans KR"/>
                <a:ea typeface="Noto Sans KR"/>
                <a:cs typeface="Noto Sans KR"/>
              </a:rPr>
              <a:t>Seed 20억 원 집행 계획과 손익 연결</a:t>
            </a:r>
          </a:p>
        </p:txBody>
      </p:sp>
      <p:sp>
        <p:nvSpPr>
          <p:cNvPr id="4" name="TextBox 3"/>
          <p:cNvSpPr txBox="1"/>
          <p:nvPr/>
        </p:nvSpPr>
        <p:spPr>
          <a:xfrm>
            <a:off x="685800" y="1353312"/>
            <a:ext cx="10820095" cy="274320"/>
          </a:xfrm>
          <a:prstGeom prst="rect">
            <a:avLst/>
          </a:prstGeom>
          <a:noFill/>
        </p:spPr>
        <p:txBody>
          <a:bodyPr wrap="square" lIns="0" rIns="0" tIns="0" bIns="0" anchor="t">
            <a:spAutoFit/>
          </a:bodyPr>
          <a:lstStyle/>
          <a:p>
            <a:pPr algn="l">
              <a:lnSpc>
                <a:spcPct val="100000"/>
              </a:lnSpc>
            </a:pPr>
            <a:r>
              <a:rPr sz="1300" b="0">
                <a:solidFill>
                  <a:srgbClr val="4A4F57"/>
                </a:solidFill>
                <a:latin typeface="Noto Sans KR"/>
                <a:ea typeface="Noto Sans KR"/>
                <a:cs typeface="Noto Sans KR"/>
              </a:rPr>
              <a:t>18개월 핵심 운영 + 6개월 연장 · 금액은 기존 계획과 동일, 항목명만 주방 중심으로 조정</a:t>
            </a:r>
          </a:p>
        </p:txBody>
      </p:sp>
      <p:sp>
        <p:nvSpPr>
          <p:cNvPr id="5" name="TextBox 4"/>
          <p:cNvSpPr txBox="1"/>
          <p:nvPr/>
        </p:nvSpPr>
        <p:spPr>
          <a:xfrm>
            <a:off x="685800" y="1847088"/>
            <a:ext cx="4754880" cy="274320"/>
          </a:xfrm>
          <a:prstGeom prst="rect">
            <a:avLst/>
          </a:prstGeom>
          <a:noFill/>
        </p:spPr>
        <p:txBody>
          <a:bodyPr wrap="square" lIns="0" rIns="0" tIns="0" bIns="0" anchor="t">
            <a:spAutoFit/>
          </a:bodyPr>
          <a:lstStyle/>
          <a:p>
            <a:pPr algn="l">
              <a:lnSpc>
                <a:spcPct val="100000"/>
              </a:lnSpc>
            </a:pPr>
            <a:r>
              <a:rPr sz="1300" b="1">
                <a:solidFill>
                  <a:srgbClr val="15171A"/>
                </a:solidFill>
                <a:latin typeface="Noto Sans KR"/>
                <a:ea typeface="Noto Sans KR"/>
                <a:cs typeface="Noto Sans KR"/>
              </a:rPr>
              <a:t>핵심 인력 채용 계획</a:t>
            </a:r>
          </a:p>
        </p:txBody>
      </p:sp>
      <p:graphicFrame>
        <p:nvGraphicFramePr>
          <p:cNvPr id="6" name="Table 5"/>
          <p:cNvGraphicFramePr>
            <a:graphicFrameLocks noGrp="1"/>
          </p:cNvGraphicFramePr>
          <p:nvPr/>
        </p:nvGraphicFramePr>
        <p:xfrm>
          <a:off x="685800" y="2194560"/>
          <a:ext cx="4754880" cy="3028690"/>
        </p:xfrm>
        <a:graphic>
          <a:graphicData uri="http://schemas.openxmlformats.org/drawingml/2006/table">
            <a:tbl>
              <a:tblPr firstRow="0" bandRow="0">
                <a:tableStyleId>{2D5ABB26-0587-4C30-8999-92F81FD0307C}</a:tableStyleId>
              </a:tblPr>
              <a:tblGrid>
                <a:gridCol w="2514600"/>
                <a:gridCol w="822960"/>
                <a:gridCol w="1417320"/>
              </a:tblGrid>
              <a:tr h="302869">
                <a:tc>
                  <a:txBody>
                    <a:bodyPr wrap="square"/>
                    <a:lstStyle/>
                    <a:p>
                      <a:pPr algn="l">
                        <a:lnSpc>
                          <a:spcPct val="100000"/>
                        </a:lnSpc>
                      </a:pPr>
                      <a:r>
                        <a:rPr sz="1100" b="1">
                          <a:solidFill>
                            <a:srgbClr val="15171A"/>
                          </a:solidFill>
                          <a:latin typeface="Noto Sans KR"/>
                          <a:ea typeface="Noto Sans KR"/>
                          <a:cs typeface="Noto Sans KR"/>
                        </a:rPr>
                        <a:t>역할</a:t>
                      </a:r>
                    </a:p>
                  </a:txBody>
                  <a:tcPr marL="73152" marR="73152" marT="45720" marB="45720" anchor="t">
                    <a:lnL w="0">
                      <a:noFill/>
                    </a:lnL>
                    <a:lnR w="0">
                      <a:noFill/>
                    </a:lnR>
                    <a:lnT w="12700">
                      <a:solidFill>
                        <a:srgbClr val="15171A"/>
                      </a:solidFill>
                    </a:lnT>
                    <a:lnB w="9525">
                      <a:solidFill>
                        <a:srgbClr val="15171A"/>
                      </a:solidFill>
                    </a:lnB>
                    <a:noFill/>
                  </a:tcPr>
                </a:tc>
                <a:tc>
                  <a:txBody>
                    <a:bodyPr wrap="square"/>
                    <a:lstStyle/>
                    <a:p>
                      <a:pPr algn="ctr">
                        <a:lnSpc>
                          <a:spcPct val="100000"/>
                        </a:lnSpc>
                      </a:pPr>
                      <a:r>
                        <a:rPr sz="1100" b="1">
                          <a:solidFill>
                            <a:srgbClr val="15171A"/>
                          </a:solidFill>
                          <a:latin typeface="Noto Sans KR"/>
                          <a:ea typeface="Noto Sans KR"/>
                          <a:cs typeface="Noto Sans KR"/>
                        </a:rPr>
                        <a:t>합류</a:t>
                      </a:r>
                    </a:p>
                  </a:txBody>
                  <a:tcPr marL="73152" marR="73152" marT="45720" marB="45720" anchor="t">
                    <a:lnL w="0">
                      <a:noFill/>
                    </a:lnL>
                    <a:lnR w="0">
                      <a:noFill/>
                    </a:lnR>
                    <a:lnT w="12700">
                      <a:solidFill>
                        <a:srgbClr val="15171A"/>
                      </a:solidFill>
                    </a:lnT>
                    <a:lnB w="9525">
                      <a:solidFill>
                        <a:srgbClr val="15171A"/>
                      </a:solidFill>
                    </a:lnB>
                    <a:noFill/>
                  </a:tcPr>
                </a:tc>
                <a:tc>
                  <a:txBody>
                    <a:bodyPr wrap="square"/>
                    <a:lstStyle/>
                    <a:p>
                      <a:pPr algn="r">
                        <a:lnSpc>
                          <a:spcPct val="100000"/>
                        </a:lnSpc>
                      </a:pPr>
                      <a:r>
                        <a:rPr sz="1100" b="1">
                          <a:solidFill>
                            <a:srgbClr val="15171A"/>
                          </a:solidFill>
                          <a:latin typeface="Noto Sans KR"/>
                          <a:ea typeface="Noto Sans KR"/>
                          <a:cs typeface="Noto Sans KR"/>
                        </a:rPr>
                        <a:t>24개월 인건비</a:t>
                      </a:r>
                    </a:p>
                  </a:txBody>
                  <a:tcPr marL="73152" marR="73152" marT="45720" marB="45720" anchor="t">
                    <a:lnL w="0">
                      <a:noFill/>
                    </a:lnL>
                    <a:lnR w="0">
                      <a:noFill/>
                    </a:lnR>
                    <a:lnT w="12700">
                      <a:solidFill>
                        <a:srgbClr val="15171A"/>
                      </a:solidFill>
                    </a:lnT>
                    <a:lnB w="9525">
                      <a:solidFill>
                        <a:srgbClr val="15171A"/>
                      </a:solidFill>
                    </a:lnB>
                    <a:noFill/>
                  </a:tcPr>
                </a:tc>
              </a:tr>
              <a:tr h="302869">
                <a:tc>
                  <a:txBody>
                    <a:bodyPr wrap="square"/>
                    <a:lstStyle/>
                    <a:p>
                      <a:pPr algn="l">
                        <a:lnSpc>
                          <a:spcPct val="100000"/>
                        </a:lnSpc>
                      </a:pPr>
                      <a:r>
                        <a:rPr sz="1100" b="0">
                          <a:solidFill>
                            <a:srgbClr val="15171A"/>
                          </a:solidFill>
                          <a:latin typeface="Noto Sans KR"/>
                          <a:ea typeface="Noto Sans KR"/>
                          <a:cs typeface="Noto Sans KR"/>
                        </a:rPr>
                        <a:t>대표 · 사업/제품</a:t>
                      </a:r>
                    </a:p>
                  </a:txBody>
                  <a:tcPr marL="73152" marR="73152" marT="45720" marB="45720" anchor="t">
                    <a:lnL w="0">
                      <a:noFill/>
                    </a:lnL>
                    <a:lnR w="0">
                      <a:noFill/>
                    </a:lnR>
                    <a:lnT w="0">
                      <a:noFill/>
                    </a:lnT>
                    <a:lnB w="9525">
                      <a:solidFill>
                        <a:srgbClr val="E2E4E7"/>
                      </a:solidFill>
                    </a:lnB>
                    <a:noFill/>
                  </a:tcPr>
                </a:tc>
                <a:tc>
                  <a:txBody>
                    <a:bodyPr wrap="square"/>
                    <a:lstStyle/>
                    <a:p>
                      <a:pPr algn="ctr">
                        <a:lnSpc>
                          <a:spcPct val="100000"/>
                        </a:lnSpc>
                      </a:pPr>
                      <a:r>
                        <a:rPr sz="1100" b="0">
                          <a:solidFill>
                            <a:srgbClr val="15171A"/>
                          </a:solidFill>
                          <a:latin typeface="Noto Sans KR"/>
                          <a:ea typeface="Noto Sans KR"/>
                          <a:cs typeface="Noto Sans KR"/>
                        </a:rPr>
                        <a:t>M1</a:t>
                      </a:r>
                    </a:p>
                  </a:txBody>
                  <a:tcPr marL="73152" marR="73152" marT="45720" marB="45720" anchor="t">
                    <a:lnL w="0">
                      <a:noFill/>
                    </a:lnL>
                    <a:lnR w="0">
                      <a:noFill/>
                    </a:lnR>
                    <a:lnT w="0">
                      <a:noFill/>
                    </a:lnT>
                    <a:lnB w="9525">
                      <a:solidFill>
                        <a:srgbClr val="E2E4E7"/>
                      </a:solidFill>
                    </a:lnB>
                    <a:noFill/>
                  </a:tcPr>
                </a:tc>
                <a:tc>
                  <a:txBody>
                    <a:bodyPr wrap="square"/>
                    <a:lstStyle/>
                    <a:p>
                      <a:pPr algn="r">
                        <a:lnSpc>
                          <a:spcPct val="100000"/>
                        </a:lnSpc>
                      </a:pPr>
                      <a:r>
                        <a:rPr sz="1100" b="0">
                          <a:solidFill>
                            <a:srgbClr val="15171A"/>
                          </a:solidFill>
                          <a:latin typeface="Noto Sans KR"/>
                          <a:ea typeface="Noto Sans KR"/>
                          <a:cs typeface="Noto Sans KR"/>
                        </a:rPr>
                        <a:t>1.15억</a:t>
                      </a:r>
                    </a:p>
                  </a:txBody>
                  <a:tcPr marL="73152" marR="73152" marT="45720" marB="45720" anchor="t">
                    <a:lnL w="0">
                      <a:noFill/>
                    </a:lnL>
                    <a:lnR w="0">
                      <a:noFill/>
                    </a:lnR>
                    <a:lnT w="0">
                      <a:noFill/>
                    </a:lnT>
                    <a:lnB w="9525">
                      <a:solidFill>
                        <a:srgbClr val="E2E4E7"/>
                      </a:solidFill>
                    </a:lnB>
                    <a:noFill/>
                  </a:tcPr>
                </a:tc>
              </a:tr>
              <a:tr h="302869">
                <a:tc>
                  <a:txBody>
                    <a:bodyPr wrap="square"/>
                    <a:lstStyle/>
                    <a:p>
                      <a:pPr algn="l">
                        <a:lnSpc>
                          <a:spcPct val="100000"/>
                        </a:lnSpc>
                      </a:pPr>
                      <a:r>
                        <a:rPr sz="1100" b="0">
                          <a:solidFill>
                            <a:srgbClr val="15171A"/>
                          </a:solidFill>
                          <a:latin typeface="Noto Sans KR"/>
                          <a:ea typeface="Noto Sans KR"/>
                          <a:cs typeface="Noto Sans KR"/>
                        </a:rPr>
                        <a:t>CTO · 핸드 메카트로닉스</a:t>
                      </a:r>
                    </a:p>
                  </a:txBody>
                  <a:tcPr marL="73152" marR="73152" marT="45720" marB="45720" anchor="t">
                    <a:lnL w="0">
                      <a:noFill/>
                    </a:lnL>
                    <a:lnR w="0">
                      <a:noFill/>
                    </a:lnR>
                    <a:lnT w="0">
                      <a:noFill/>
                    </a:lnT>
                    <a:lnB w="9525">
                      <a:solidFill>
                        <a:srgbClr val="E2E4E7"/>
                      </a:solidFill>
                    </a:lnB>
                    <a:noFill/>
                  </a:tcPr>
                </a:tc>
                <a:tc>
                  <a:txBody>
                    <a:bodyPr wrap="square"/>
                    <a:lstStyle/>
                    <a:p>
                      <a:pPr algn="ctr">
                        <a:lnSpc>
                          <a:spcPct val="100000"/>
                        </a:lnSpc>
                      </a:pPr>
                      <a:r>
                        <a:rPr sz="1100" b="0">
                          <a:solidFill>
                            <a:srgbClr val="15171A"/>
                          </a:solidFill>
                          <a:latin typeface="Noto Sans KR"/>
                          <a:ea typeface="Noto Sans KR"/>
                          <a:cs typeface="Noto Sans KR"/>
                        </a:rPr>
                        <a:t>M1</a:t>
                      </a:r>
                    </a:p>
                  </a:txBody>
                  <a:tcPr marL="73152" marR="73152" marT="45720" marB="45720" anchor="t">
                    <a:lnL w="0">
                      <a:noFill/>
                    </a:lnL>
                    <a:lnR w="0">
                      <a:noFill/>
                    </a:lnR>
                    <a:lnT w="0">
                      <a:noFill/>
                    </a:lnT>
                    <a:lnB w="9525">
                      <a:solidFill>
                        <a:srgbClr val="E2E4E7"/>
                      </a:solidFill>
                    </a:lnB>
                    <a:noFill/>
                  </a:tcPr>
                </a:tc>
                <a:tc>
                  <a:txBody>
                    <a:bodyPr wrap="square"/>
                    <a:lstStyle/>
                    <a:p>
                      <a:pPr algn="r">
                        <a:lnSpc>
                          <a:spcPct val="100000"/>
                        </a:lnSpc>
                      </a:pPr>
                      <a:r>
                        <a:rPr sz="1100" b="0">
                          <a:solidFill>
                            <a:srgbClr val="15171A"/>
                          </a:solidFill>
                          <a:latin typeface="Noto Sans KR"/>
                          <a:ea typeface="Noto Sans KR"/>
                          <a:cs typeface="Noto Sans KR"/>
                        </a:rPr>
                        <a:t>1.15억</a:t>
                      </a:r>
                    </a:p>
                  </a:txBody>
                  <a:tcPr marL="73152" marR="73152" marT="45720" marB="45720" anchor="t">
                    <a:lnL w="0">
                      <a:noFill/>
                    </a:lnL>
                    <a:lnR w="0">
                      <a:noFill/>
                    </a:lnR>
                    <a:lnT w="0">
                      <a:noFill/>
                    </a:lnT>
                    <a:lnB w="9525">
                      <a:solidFill>
                        <a:srgbClr val="E2E4E7"/>
                      </a:solidFill>
                    </a:lnB>
                    <a:noFill/>
                  </a:tcPr>
                </a:tc>
              </a:tr>
              <a:tr h="302869">
                <a:tc>
                  <a:txBody>
                    <a:bodyPr wrap="square"/>
                    <a:lstStyle/>
                    <a:p>
                      <a:pPr algn="l">
                        <a:lnSpc>
                          <a:spcPct val="100000"/>
                        </a:lnSpc>
                      </a:pPr>
                      <a:r>
                        <a:rPr sz="1100" b="0">
                          <a:solidFill>
                            <a:srgbClr val="15171A"/>
                          </a:solidFill>
                          <a:latin typeface="Noto Sans KR"/>
                          <a:ea typeface="Noto Sans KR"/>
                          <a:cs typeface="Noto Sans KR"/>
                        </a:rPr>
                        <a:t>기구·구동 엔지니어</a:t>
                      </a:r>
                    </a:p>
                  </a:txBody>
                  <a:tcPr marL="73152" marR="73152" marT="45720" marB="45720" anchor="t">
                    <a:lnL w="0">
                      <a:noFill/>
                    </a:lnL>
                    <a:lnR w="0">
                      <a:noFill/>
                    </a:lnR>
                    <a:lnT w="0">
                      <a:noFill/>
                    </a:lnT>
                    <a:lnB w="9525">
                      <a:solidFill>
                        <a:srgbClr val="E2E4E7"/>
                      </a:solidFill>
                    </a:lnB>
                    <a:noFill/>
                  </a:tcPr>
                </a:tc>
                <a:tc>
                  <a:txBody>
                    <a:bodyPr wrap="square"/>
                    <a:lstStyle/>
                    <a:p>
                      <a:pPr algn="ctr">
                        <a:lnSpc>
                          <a:spcPct val="100000"/>
                        </a:lnSpc>
                      </a:pPr>
                      <a:r>
                        <a:rPr sz="1100" b="0">
                          <a:solidFill>
                            <a:srgbClr val="15171A"/>
                          </a:solidFill>
                          <a:latin typeface="Noto Sans KR"/>
                          <a:ea typeface="Noto Sans KR"/>
                          <a:cs typeface="Noto Sans KR"/>
                        </a:rPr>
                        <a:t>M2</a:t>
                      </a:r>
                    </a:p>
                  </a:txBody>
                  <a:tcPr marL="73152" marR="73152" marT="45720" marB="45720" anchor="t">
                    <a:lnL w="0">
                      <a:noFill/>
                    </a:lnL>
                    <a:lnR w="0">
                      <a:noFill/>
                    </a:lnR>
                    <a:lnT w="0">
                      <a:noFill/>
                    </a:lnT>
                    <a:lnB w="9525">
                      <a:solidFill>
                        <a:srgbClr val="E2E4E7"/>
                      </a:solidFill>
                    </a:lnB>
                    <a:noFill/>
                  </a:tcPr>
                </a:tc>
                <a:tc>
                  <a:txBody>
                    <a:bodyPr wrap="square"/>
                    <a:lstStyle/>
                    <a:p>
                      <a:pPr algn="r">
                        <a:lnSpc>
                          <a:spcPct val="100000"/>
                        </a:lnSpc>
                      </a:pPr>
                      <a:r>
                        <a:rPr sz="1100" b="0">
                          <a:solidFill>
                            <a:srgbClr val="15171A"/>
                          </a:solidFill>
                          <a:latin typeface="Noto Sans KR"/>
                          <a:ea typeface="Noto Sans KR"/>
                          <a:cs typeface="Noto Sans KR"/>
                        </a:rPr>
                        <a:t>1.54억</a:t>
                      </a:r>
                    </a:p>
                  </a:txBody>
                  <a:tcPr marL="73152" marR="73152" marT="45720" marB="45720" anchor="t">
                    <a:lnL w="0">
                      <a:noFill/>
                    </a:lnL>
                    <a:lnR w="0">
                      <a:noFill/>
                    </a:lnR>
                    <a:lnT w="0">
                      <a:noFill/>
                    </a:lnT>
                    <a:lnB w="9525">
                      <a:solidFill>
                        <a:srgbClr val="E2E4E7"/>
                      </a:solidFill>
                    </a:lnB>
                    <a:noFill/>
                  </a:tcPr>
                </a:tc>
              </a:tr>
              <a:tr h="302869">
                <a:tc>
                  <a:txBody>
                    <a:bodyPr wrap="square"/>
                    <a:lstStyle/>
                    <a:p>
                      <a:pPr algn="l">
                        <a:lnSpc>
                          <a:spcPct val="100000"/>
                        </a:lnSpc>
                      </a:pPr>
                      <a:r>
                        <a:rPr sz="1100" b="0">
                          <a:solidFill>
                            <a:srgbClr val="15171A"/>
                          </a:solidFill>
                          <a:latin typeface="Noto Sans KR"/>
                          <a:ea typeface="Noto Sans KR"/>
                          <a:cs typeface="Noto Sans KR"/>
                        </a:rPr>
                        <a:t>제어·임베디드 엔지니어</a:t>
                      </a:r>
                    </a:p>
                  </a:txBody>
                  <a:tcPr marL="73152" marR="73152" marT="45720" marB="45720" anchor="t">
                    <a:lnL w="0">
                      <a:noFill/>
                    </a:lnL>
                    <a:lnR w="0">
                      <a:noFill/>
                    </a:lnR>
                    <a:lnT w="0">
                      <a:noFill/>
                    </a:lnT>
                    <a:lnB w="9525">
                      <a:solidFill>
                        <a:srgbClr val="E2E4E7"/>
                      </a:solidFill>
                    </a:lnB>
                    <a:noFill/>
                  </a:tcPr>
                </a:tc>
                <a:tc>
                  <a:txBody>
                    <a:bodyPr wrap="square"/>
                    <a:lstStyle/>
                    <a:p>
                      <a:pPr algn="ctr">
                        <a:lnSpc>
                          <a:spcPct val="100000"/>
                        </a:lnSpc>
                      </a:pPr>
                      <a:r>
                        <a:rPr sz="1100" b="0">
                          <a:solidFill>
                            <a:srgbClr val="15171A"/>
                          </a:solidFill>
                          <a:latin typeface="Noto Sans KR"/>
                          <a:ea typeface="Noto Sans KR"/>
                          <a:cs typeface="Noto Sans KR"/>
                        </a:rPr>
                        <a:t>M3</a:t>
                      </a:r>
                    </a:p>
                  </a:txBody>
                  <a:tcPr marL="73152" marR="73152" marT="45720" marB="45720" anchor="t">
                    <a:lnL w="0">
                      <a:noFill/>
                    </a:lnL>
                    <a:lnR w="0">
                      <a:noFill/>
                    </a:lnR>
                    <a:lnT w="0">
                      <a:noFill/>
                    </a:lnT>
                    <a:lnB w="9525">
                      <a:solidFill>
                        <a:srgbClr val="E2E4E7"/>
                      </a:solidFill>
                    </a:lnB>
                    <a:noFill/>
                  </a:tcPr>
                </a:tc>
                <a:tc>
                  <a:txBody>
                    <a:bodyPr wrap="square"/>
                    <a:lstStyle/>
                    <a:p>
                      <a:pPr algn="r">
                        <a:lnSpc>
                          <a:spcPct val="100000"/>
                        </a:lnSpc>
                      </a:pPr>
                      <a:r>
                        <a:rPr sz="1100" b="0">
                          <a:solidFill>
                            <a:srgbClr val="15171A"/>
                          </a:solidFill>
                          <a:latin typeface="Noto Sans KR"/>
                          <a:ea typeface="Noto Sans KR"/>
                          <a:cs typeface="Noto Sans KR"/>
                        </a:rPr>
                        <a:t>1.48억</a:t>
                      </a:r>
                    </a:p>
                  </a:txBody>
                  <a:tcPr marL="73152" marR="73152" marT="45720" marB="45720" anchor="t">
                    <a:lnL w="0">
                      <a:noFill/>
                    </a:lnL>
                    <a:lnR w="0">
                      <a:noFill/>
                    </a:lnR>
                    <a:lnT w="0">
                      <a:noFill/>
                    </a:lnT>
                    <a:lnB w="9525">
                      <a:solidFill>
                        <a:srgbClr val="E2E4E7"/>
                      </a:solidFill>
                    </a:lnB>
                    <a:noFill/>
                  </a:tcPr>
                </a:tc>
              </a:tr>
              <a:tr h="302869">
                <a:tc>
                  <a:txBody>
                    <a:bodyPr wrap="square"/>
                    <a:lstStyle/>
                    <a:p>
                      <a:pPr algn="l">
                        <a:lnSpc>
                          <a:spcPct val="100000"/>
                        </a:lnSpc>
                      </a:pPr>
                      <a:r>
                        <a:rPr sz="1100" b="0">
                          <a:solidFill>
                            <a:srgbClr val="15171A"/>
                          </a:solidFill>
                          <a:latin typeface="Noto Sans KR"/>
                          <a:ea typeface="Noto Sans KR"/>
                          <a:cs typeface="Noto Sans KR"/>
                        </a:rPr>
                        <a:t>로봇 SW·Skill 엔지니어</a:t>
                      </a:r>
                    </a:p>
                  </a:txBody>
                  <a:tcPr marL="73152" marR="73152" marT="45720" marB="45720" anchor="t">
                    <a:lnL w="0">
                      <a:noFill/>
                    </a:lnL>
                    <a:lnR w="0">
                      <a:noFill/>
                    </a:lnR>
                    <a:lnT w="0">
                      <a:noFill/>
                    </a:lnT>
                    <a:lnB w="9525">
                      <a:solidFill>
                        <a:srgbClr val="E2E4E7"/>
                      </a:solidFill>
                    </a:lnB>
                    <a:noFill/>
                  </a:tcPr>
                </a:tc>
                <a:tc>
                  <a:txBody>
                    <a:bodyPr wrap="square"/>
                    <a:lstStyle/>
                    <a:p>
                      <a:pPr algn="ctr">
                        <a:lnSpc>
                          <a:spcPct val="100000"/>
                        </a:lnSpc>
                      </a:pPr>
                      <a:r>
                        <a:rPr sz="1100" b="0">
                          <a:solidFill>
                            <a:srgbClr val="15171A"/>
                          </a:solidFill>
                          <a:latin typeface="Noto Sans KR"/>
                          <a:ea typeface="Noto Sans KR"/>
                          <a:cs typeface="Noto Sans KR"/>
                        </a:rPr>
                        <a:t>M5</a:t>
                      </a:r>
                    </a:p>
                  </a:txBody>
                  <a:tcPr marL="73152" marR="73152" marT="45720" marB="45720" anchor="t">
                    <a:lnL w="0">
                      <a:noFill/>
                    </a:lnL>
                    <a:lnR w="0">
                      <a:noFill/>
                    </a:lnR>
                    <a:lnT w="0">
                      <a:noFill/>
                    </a:lnT>
                    <a:lnB w="9525">
                      <a:solidFill>
                        <a:srgbClr val="E2E4E7"/>
                      </a:solidFill>
                    </a:lnB>
                    <a:noFill/>
                  </a:tcPr>
                </a:tc>
                <a:tc>
                  <a:txBody>
                    <a:bodyPr wrap="square"/>
                    <a:lstStyle/>
                    <a:p>
                      <a:pPr algn="r">
                        <a:lnSpc>
                          <a:spcPct val="100000"/>
                        </a:lnSpc>
                      </a:pPr>
                      <a:r>
                        <a:rPr sz="1100" b="0">
                          <a:solidFill>
                            <a:srgbClr val="15171A"/>
                          </a:solidFill>
                          <a:latin typeface="Noto Sans KR"/>
                          <a:ea typeface="Noto Sans KR"/>
                          <a:cs typeface="Noto Sans KR"/>
                        </a:rPr>
                        <a:t>1.34억</a:t>
                      </a:r>
                    </a:p>
                  </a:txBody>
                  <a:tcPr marL="73152" marR="73152" marT="45720" marB="45720" anchor="t">
                    <a:lnL w="0">
                      <a:noFill/>
                    </a:lnL>
                    <a:lnR w="0">
                      <a:noFill/>
                    </a:lnR>
                    <a:lnT w="0">
                      <a:noFill/>
                    </a:lnT>
                    <a:lnB w="9525">
                      <a:solidFill>
                        <a:srgbClr val="E2E4E7"/>
                      </a:solidFill>
                    </a:lnB>
                    <a:noFill/>
                  </a:tcPr>
                </a:tc>
              </a:tr>
              <a:tr h="302869">
                <a:tc>
                  <a:txBody>
                    <a:bodyPr wrap="square"/>
                    <a:lstStyle/>
                    <a:p>
                      <a:pPr algn="l">
                        <a:lnSpc>
                          <a:spcPct val="100000"/>
                        </a:lnSpc>
                      </a:pPr>
                      <a:r>
                        <a:rPr sz="1100" b="0">
                          <a:solidFill>
                            <a:srgbClr val="15171A"/>
                          </a:solidFill>
                          <a:latin typeface="Noto Sans KR"/>
                          <a:ea typeface="Noto Sans KR"/>
                          <a:cs typeface="Noto Sans KR"/>
                        </a:rPr>
                        <a:t>현장 통합 엔지니어 (주방·산업)</a:t>
                      </a:r>
                    </a:p>
                  </a:txBody>
                  <a:tcPr marL="73152" marR="73152" marT="45720" marB="45720" anchor="t">
                    <a:lnL w="0">
                      <a:noFill/>
                    </a:lnL>
                    <a:lnR w="0">
                      <a:noFill/>
                    </a:lnR>
                    <a:lnT w="0">
                      <a:noFill/>
                    </a:lnT>
                    <a:lnB w="9525">
                      <a:solidFill>
                        <a:srgbClr val="E2E4E7"/>
                      </a:solidFill>
                    </a:lnB>
                    <a:noFill/>
                  </a:tcPr>
                </a:tc>
                <a:tc>
                  <a:txBody>
                    <a:bodyPr wrap="square"/>
                    <a:lstStyle/>
                    <a:p>
                      <a:pPr algn="ctr">
                        <a:lnSpc>
                          <a:spcPct val="100000"/>
                        </a:lnSpc>
                      </a:pPr>
                      <a:r>
                        <a:rPr sz="1100" b="0">
                          <a:solidFill>
                            <a:srgbClr val="15171A"/>
                          </a:solidFill>
                          <a:latin typeface="Noto Sans KR"/>
                          <a:ea typeface="Noto Sans KR"/>
                          <a:cs typeface="Noto Sans KR"/>
                        </a:rPr>
                        <a:t>M8</a:t>
                      </a:r>
                    </a:p>
                  </a:txBody>
                  <a:tcPr marL="73152" marR="73152" marT="45720" marB="45720" anchor="t">
                    <a:lnL w="0">
                      <a:noFill/>
                    </a:lnL>
                    <a:lnR w="0">
                      <a:noFill/>
                    </a:lnR>
                    <a:lnT w="0">
                      <a:noFill/>
                    </a:lnT>
                    <a:lnB w="9525">
                      <a:solidFill>
                        <a:srgbClr val="E2E4E7"/>
                      </a:solidFill>
                    </a:lnB>
                    <a:noFill/>
                  </a:tcPr>
                </a:tc>
                <a:tc>
                  <a:txBody>
                    <a:bodyPr wrap="square"/>
                    <a:lstStyle/>
                    <a:p>
                      <a:pPr algn="r">
                        <a:lnSpc>
                          <a:spcPct val="100000"/>
                        </a:lnSpc>
                      </a:pPr>
                      <a:r>
                        <a:rPr sz="1100" b="0">
                          <a:solidFill>
                            <a:srgbClr val="15171A"/>
                          </a:solidFill>
                          <a:latin typeface="Noto Sans KR"/>
                          <a:ea typeface="Noto Sans KR"/>
                          <a:cs typeface="Noto Sans KR"/>
                        </a:rPr>
                        <a:t>1.14억</a:t>
                      </a:r>
                    </a:p>
                  </a:txBody>
                  <a:tcPr marL="73152" marR="73152" marT="45720" marB="45720" anchor="t">
                    <a:lnL w="0">
                      <a:noFill/>
                    </a:lnL>
                    <a:lnR w="0">
                      <a:noFill/>
                    </a:lnR>
                    <a:lnT w="0">
                      <a:noFill/>
                    </a:lnT>
                    <a:lnB w="9525">
                      <a:solidFill>
                        <a:srgbClr val="E2E4E7"/>
                      </a:solidFill>
                    </a:lnB>
                    <a:noFill/>
                  </a:tcPr>
                </a:tc>
              </a:tr>
              <a:tr h="302869">
                <a:tc>
                  <a:txBody>
                    <a:bodyPr wrap="square"/>
                    <a:lstStyle/>
                    <a:p>
                      <a:pPr algn="l">
                        <a:lnSpc>
                          <a:spcPct val="100000"/>
                        </a:lnSpc>
                      </a:pPr>
                      <a:r>
                        <a:rPr sz="1100" b="0">
                          <a:solidFill>
                            <a:srgbClr val="15171A"/>
                          </a:solidFill>
                          <a:latin typeface="Noto Sans KR"/>
                          <a:ea typeface="Noto Sans KR"/>
                          <a:cs typeface="Noto Sans KR"/>
                        </a:rPr>
                        <a:t>비전·조작 AI 엔지니어</a:t>
                      </a:r>
                    </a:p>
                  </a:txBody>
                  <a:tcPr marL="73152" marR="73152" marT="45720" marB="45720" anchor="t">
                    <a:lnL w="0">
                      <a:noFill/>
                    </a:lnL>
                    <a:lnR w="0">
                      <a:noFill/>
                    </a:lnR>
                    <a:lnT w="0">
                      <a:noFill/>
                    </a:lnT>
                    <a:lnB w="9525">
                      <a:solidFill>
                        <a:srgbClr val="E2E4E7"/>
                      </a:solidFill>
                    </a:lnB>
                    <a:noFill/>
                  </a:tcPr>
                </a:tc>
                <a:tc>
                  <a:txBody>
                    <a:bodyPr wrap="square"/>
                    <a:lstStyle/>
                    <a:p>
                      <a:pPr algn="ctr">
                        <a:lnSpc>
                          <a:spcPct val="100000"/>
                        </a:lnSpc>
                      </a:pPr>
                      <a:r>
                        <a:rPr sz="1100" b="0">
                          <a:solidFill>
                            <a:srgbClr val="15171A"/>
                          </a:solidFill>
                          <a:latin typeface="Noto Sans KR"/>
                          <a:ea typeface="Noto Sans KR"/>
                          <a:cs typeface="Noto Sans KR"/>
                        </a:rPr>
                        <a:t>M10</a:t>
                      </a:r>
                    </a:p>
                  </a:txBody>
                  <a:tcPr marL="73152" marR="73152" marT="45720" marB="45720" anchor="t">
                    <a:lnL w="0">
                      <a:noFill/>
                    </a:lnL>
                    <a:lnR w="0">
                      <a:noFill/>
                    </a:lnR>
                    <a:lnT w="0">
                      <a:noFill/>
                    </a:lnT>
                    <a:lnB w="9525">
                      <a:solidFill>
                        <a:srgbClr val="E2E4E7"/>
                      </a:solidFill>
                    </a:lnB>
                    <a:noFill/>
                  </a:tcPr>
                </a:tc>
                <a:tc>
                  <a:txBody>
                    <a:bodyPr wrap="square"/>
                    <a:lstStyle/>
                    <a:p>
                      <a:pPr algn="r">
                        <a:lnSpc>
                          <a:spcPct val="100000"/>
                        </a:lnSpc>
                      </a:pPr>
                      <a:r>
                        <a:rPr sz="1100" b="0">
                          <a:solidFill>
                            <a:srgbClr val="15171A"/>
                          </a:solidFill>
                          <a:latin typeface="Noto Sans KR"/>
                          <a:ea typeface="Noto Sans KR"/>
                          <a:cs typeface="Noto Sans KR"/>
                        </a:rPr>
                        <a:t>1.01억</a:t>
                      </a:r>
                    </a:p>
                  </a:txBody>
                  <a:tcPr marL="73152" marR="73152" marT="45720" marB="45720" anchor="t">
                    <a:lnL w="0">
                      <a:noFill/>
                    </a:lnL>
                    <a:lnR w="0">
                      <a:noFill/>
                    </a:lnR>
                    <a:lnT w="0">
                      <a:noFill/>
                    </a:lnT>
                    <a:lnB w="9525">
                      <a:solidFill>
                        <a:srgbClr val="E2E4E7"/>
                      </a:solidFill>
                    </a:lnB>
                    <a:noFill/>
                  </a:tcPr>
                </a:tc>
              </a:tr>
              <a:tr h="302869">
                <a:tc>
                  <a:txBody>
                    <a:bodyPr wrap="square"/>
                    <a:lstStyle/>
                    <a:p>
                      <a:pPr algn="l">
                        <a:lnSpc>
                          <a:spcPct val="100000"/>
                        </a:lnSpc>
                      </a:pPr>
                      <a:r>
                        <a:rPr sz="1100" b="0">
                          <a:solidFill>
                            <a:srgbClr val="15171A"/>
                          </a:solidFill>
                          <a:latin typeface="Noto Sans KR"/>
                          <a:ea typeface="Noto Sans KR"/>
                          <a:cs typeface="Noto Sans KR"/>
                        </a:rPr>
                        <a:t>설계·품질 엔지니어</a:t>
                      </a:r>
                    </a:p>
                  </a:txBody>
                  <a:tcPr marL="73152" marR="73152" marT="45720" marB="45720" anchor="t">
                    <a:lnL w="0">
                      <a:noFill/>
                    </a:lnL>
                    <a:lnR w="0">
                      <a:noFill/>
                    </a:lnR>
                    <a:lnT w="0">
                      <a:noFill/>
                    </a:lnT>
                    <a:lnB w="9525">
                      <a:solidFill>
                        <a:srgbClr val="E2E4E7"/>
                      </a:solidFill>
                    </a:lnB>
                    <a:noFill/>
                  </a:tcPr>
                </a:tc>
                <a:tc>
                  <a:txBody>
                    <a:bodyPr wrap="square"/>
                    <a:lstStyle/>
                    <a:p>
                      <a:pPr algn="ctr">
                        <a:lnSpc>
                          <a:spcPct val="100000"/>
                        </a:lnSpc>
                      </a:pPr>
                      <a:r>
                        <a:rPr sz="1100" b="0">
                          <a:solidFill>
                            <a:srgbClr val="15171A"/>
                          </a:solidFill>
                          <a:latin typeface="Noto Sans KR"/>
                          <a:ea typeface="Noto Sans KR"/>
                          <a:cs typeface="Noto Sans KR"/>
                        </a:rPr>
                        <a:t>M13</a:t>
                      </a:r>
                    </a:p>
                  </a:txBody>
                  <a:tcPr marL="73152" marR="73152" marT="45720" marB="45720" anchor="t">
                    <a:lnL w="0">
                      <a:noFill/>
                    </a:lnL>
                    <a:lnR w="0">
                      <a:noFill/>
                    </a:lnR>
                    <a:lnT w="0">
                      <a:noFill/>
                    </a:lnT>
                    <a:lnB w="9525">
                      <a:solidFill>
                        <a:srgbClr val="E2E4E7"/>
                      </a:solidFill>
                    </a:lnB>
                    <a:noFill/>
                  </a:tcPr>
                </a:tc>
                <a:tc>
                  <a:txBody>
                    <a:bodyPr wrap="square"/>
                    <a:lstStyle/>
                    <a:p>
                      <a:pPr algn="r">
                        <a:lnSpc>
                          <a:spcPct val="100000"/>
                        </a:lnSpc>
                      </a:pPr>
                      <a:r>
                        <a:rPr sz="1100" b="0">
                          <a:solidFill>
                            <a:srgbClr val="15171A"/>
                          </a:solidFill>
                          <a:latin typeface="Noto Sans KR"/>
                          <a:ea typeface="Noto Sans KR"/>
                          <a:cs typeface="Noto Sans KR"/>
                        </a:rPr>
                        <a:t>0.81억</a:t>
                      </a:r>
                    </a:p>
                  </a:txBody>
                  <a:tcPr marL="73152" marR="73152" marT="45720" marB="45720" anchor="t">
                    <a:lnL w="0">
                      <a:noFill/>
                    </a:lnL>
                    <a:lnR w="0">
                      <a:noFill/>
                    </a:lnR>
                    <a:lnT w="0">
                      <a:noFill/>
                    </a:lnT>
                    <a:lnB w="9525">
                      <a:solidFill>
                        <a:srgbClr val="E2E4E7"/>
                      </a:solidFill>
                    </a:lnB>
                    <a:noFill/>
                  </a:tcPr>
                </a:tc>
              </a:tr>
              <a:tr h="302869">
                <a:tc>
                  <a:txBody>
                    <a:bodyPr wrap="square"/>
                    <a:lstStyle/>
                    <a:p>
                      <a:pPr algn="l">
                        <a:lnSpc>
                          <a:spcPct val="100000"/>
                        </a:lnSpc>
                      </a:pPr>
                      <a:r>
                        <a:rPr sz="1100" b="1">
                          <a:solidFill>
                            <a:srgbClr val="15171A"/>
                          </a:solidFill>
                          <a:latin typeface="Noto Sans KR"/>
                          <a:ea typeface="Noto Sans KR"/>
                          <a:cs typeface="Noto Sans KR"/>
                        </a:rPr>
                        <a:t>합계 · 8명</a:t>
                      </a:r>
                    </a:p>
                  </a:txBody>
                  <a:tcPr marL="73152" marR="73152" marT="45720" marB="45720" anchor="t">
                    <a:lnL w="0">
                      <a:noFill/>
                    </a:lnL>
                    <a:lnR w="0">
                      <a:noFill/>
                    </a:lnR>
                    <a:lnT w="0">
                      <a:noFill/>
                    </a:lnT>
                    <a:lnB w="9525">
                      <a:solidFill>
                        <a:srgbClr val="E2E4E7"/>
                      </a:solidFill>
                    </a:lnB>
                    <a:noFill/>
                  </a:tcPr>
                </a:tc>
                <a:tc>
                  <a:txBody>
                    <a:bodyPr wrap="square"/>
                    <a:lstStyle/>
                    <a:p>
                      <a:pPr algn="ctr">
                        <a:lnSpc>
                          <a:spcPct val="100000"/>
                        </a:lnSpc>
                      </a:pPr>
                      <a:r>
                        <a:rPr sz="1100" b="0">
                          <a:solidFill>
                            <a:srgbClr val="15171A"/>
                          </a:solidFill>
                          <a:latin typeface="Noto Sans KR"/>
                          <a:ea typeface="Noto Sans KR"/>
                          <a:cs typeface="Noto Sans KR"/>
                        </a:rPr>
                        <a:t/>
                      </a:r>
                    </a:p>
                  </a:txBody>
                  <a:tcPr marL="73152" marR="73152" marT="45720" marB="45720" anchor="t">
                    <a:lnL w="0">
                      <a:noFill/>
                    </a:lnL>
                    <a:lnR w="0">
                      <a:noFill/>
                    </a:lnR>
                    <a:lnT w="0">
                      <a:noFill/>
                    </a:lnT>
                    <a:lnB w="9525">
                      <a:solidFill>
                        <a:srgbClr val="E2E4E7"/>
                      </a:solidFill>
                    </a:lnB>
                    <a:noFill/>
                  </a:tcPr>
                </a:tc>
                <a:tc>
                  <a:txBody>
                    <a:bodyPr wrap="square"/>
                    <a:lstStyle/>
                    <a:p>
                      <a:pPr algn="r">
                        <a:lnSpc>
                          <a:spcPct val="100000"/>
                        </a:lnSpc>
                      </a:pPr>
                      <a:r>
                        <a:rPr sz="1100" b="1">
                          <a:solidFill>
                            <a:srgbClr val="15171A"/>
                          </a:solidFill>
                          <a:latin typeface="Noto Sans KR"/>
                          <a:ea typeface="Noto Sans KR"/>
                          <a:cs typeface="Noto Sans KR"/>
                        </a:rPr>
                        <a:t>9.6억</a:t>
                      </a:r>
                    </a:p>
                  </a:txBody>
                  <a:tcPr marL="73152" marR="73152" marT="45720" marB="45720" anchor="t">
                    <a:lnL w="0">
                      <a:noFill/>
                    </a:lnL>
                    <a:lnR w="0">
                      <a:noFill/>
                    </a:lnR>
                    <a:lnT w="0">
                      <a:noFill/>
                    </a:lnT>
                    <a:lnB w="9525">
                      <a:solidFill>
                        <a:srgbClr val="E2E4E7"/>
                      </a:solidFill>
                    </a:lnB>
                    <a:noFill/>
                  </a:tcPr>
                </a:tc>
              </a:tr>
            </a:tbl>
          </a:graphicData>
        </a:graphic>
      </p:graphicFrame>
      <p:sp>
        <p:nvSpPr>
          <p:cNvPr id="7" name="TextBox 6"/>
          <p:cNvSpPr txBox="1"/>
          <p:nvPr/>
        </p:nvSpPr>
        <p:spPr>
          <a:xfrm>
            <a:off x="685800" y="5314696"/>
            <a:ext cx="4754880" cy="457200"/>
          </a:xfrm>
          <a:prstGeom prst="rect">
            <a:avLst/>
          </a:prstGeom>
          <a:noFill/>
        </p:spPr>
        <p:txBody>
          <a:bodyPr wrap="square" lIns="0" rIns="0" tIns="0" bIns="0" anchor="t">
            <a:spAutoFit/>
          </a:bodyPr>
          <a:lstStyle/>
          <a:p>
            <a:pPr algn="l">
              <a:lnSpc>
                <a:spcPct val="100000"/>
              </a:lnSpc>
            </a:pPr>
            <a:r>
              <a:rPr sz="1050" b="0">
                <a:solidFill>
                  <a:srgbClr val="8C9198"/>
                </a:solidFill>
                <a:latin typeface="Noto Sans KR"/>
                <a:ea typeface="Noto Sans KR"/>
                <a:cs typeface="Noto Sans KR"/>
              </a:rPr>
              <a:t>창업자 연 5,000만 원, 엔지니어 연 7,000만 원 + 4대보험·퇴직충당 15%</a:t>
            </a:r>
          </a:p>
        </p:txBody>
      </p:sp>
      <p:sp>
        <p:nvSpPr>
          <p:cNvPr id="8" name="TextBox 7"/>
          <p:cNvSpPr txBox="1"/>
          <p:nvPr/>
        </p:nvSpPr>
        <p:spPr>
          <a:xfrm>
            <a:off x="5897880" y="1847088"/>
            <a:ext cx="5608015" cy="274320"/>
          </a:xfrm>
          <a:prstGeom prst="rect">
            <a:avLst/>
          </a:prstGeom>
          <a:noFill/>
        </p:spPr>
        <p:txBody>
          <a:bodyPr wrap="square" lIns="0" rIns="0" tIns="0" bIns="0" anchor="t">
            <a:spAutoFit/>
          </a:bodyPr>
          <a:lstStyle/>
          <a:p>
            <a:pPr algn="l">
              <a:lnSpc>
                <a:spcPct val="100000"/>
              </a:lnSpc>
            </a:pPr>
            <a:r>
              <a:rPr sz="1300" b="1">
                <a:solidFill>
                  <a:srgbClr val="15171A"/>
                </a:solidFill>
                <a:latin typeface="Noto Sans KR"/>
                <a:ea typeface="Noto Sans KR"/>
                <a:cs typeface="Noto Sans KR"/>
              </a:rPr>
              <a:t>자금 사용 계획</a:t>
            </a:r>
          </a:p>
        </p:txBody>
      </p:sp>
      <p:graphicFrame>
        <p:nvGraphicFramePr>
          <p:cNvPr id="9" name="Table 8"/>
          <p:cNvGraphicFramePr>
            <a:graphicFrameLocks noGrp="1"/>
          </p:cNvGraphicFramePr>
          <p:nvPr/>
        </p:nvGraphicFramePr>
        <p:xfrm>
          <a:off x="5897880" y="2194560"/>
          <a:ext cx="5608015" cy="3230975"/>
        </p:xfrm>
        <a:graphic>
          <a:graphicData uri="http://schemas.openxmlformats.org/drawingml/2006/table">
            <a:tbl>
              <a:tblPr firstRow="0" bandRow="0">
                <a:tableStyleId>{2D5ABB26-0587-4C30-8999-92F81FD0307C}</a:tableStyleId>
              </a:tblPr>
              <a:tblGrid>
                <a:gridCol w="3596335"/>
                <a:gridCol w="1097280"/>
                <a:gridCol w="914400"/>
              </a:tblGrid>
              <a:tr h="293725">
                <a:tc>
                  <a:txBody>
                    <a:bodyPr wrap="square"/>
                    <a:lstStyle/>
                    <a:p>
                      <a:pPr algn="l">
                        <a:lnSpc>
                          <a:spcPct val="100000"/>
                        </a:lnSpc>
                      </a:pPr>
                      <a:r>
                        <a:rPr sz="1100" b="1">
                          <a:solidFill>
                            <a:srgbClr val="15171A"/>
                          </a:solidFill>
                          <a:latin typeface="Noto Sans KR"/>
                          <a:ea typeface="Noto Sans KR"/>
                          <a:cs typeface="Noto Sans KR"/>
                        </a:rPr>
                        <a:t>항목</a:t>
                      </a:r>
                    </a:p>
                  </a:txBody>
                  <a:tcPr marL="73152" marR="73152" marT="41148" marB="41148" anchor="t">
                    <a:lnL w="0">
                      <a:noFill/>
                    </a:lnL>
                    <a:lnR w="0">
                      <a:noFill/>
                    </a:lnR>
                    <a:lnT w="12700">
                      <a:solidFill>
                        <a:srgbClr val="15171A"/>
                      </a:solidFill>
                    </a:lnT>
                    <a:lnB w="9525">
                      <a:solidFill>
                        <a:srgbClr val="15171A"/>
                      </a:solidFill>
                    </a:lnB>
                    <a:noFill/>
                  </a:tcPr>
                </a:tc>
                <a:tc>
                  <a:txBody>
                    <a:bodyPr wrap="square"/>
                    <a:lstStyle/>
                    <a:p>
                      <a:pPr algn="r">
                        <a:lnSpc>
                          <a:spcPct val="100000"/>
                        </a:lnSpc>
                      </a:pPr>
                      <a:r>
                        <a:rPr sz="1100" b="1">
                          <a:solidFill>
                            <a:srgbClr val="15171A"/>
                          </a:solidFill>
                          <a:latin typeface="Noto Sans KR"/>
                          <a:ea typeface="Noto Sans KR"/>
                          <a:cs typeface="Noto Sans KR"/>
                        </a:rPr>
                        <a:t>금액</a:t>
                      </a:r>
                    </a:p>
                  </a:txBody>
                  <a:tcPr marL="73152" marR="73152" marT="41148" marB="41148" anchor="t">
                    <a:lnL w="0">
                      <a:noFill/>
                    </a:lnL>
                    <a:lnR w="0">
                      <a:noFill/>
                    </a:lnR>
                    <a:lnT w="12700">
                      <a:solidFill>
                        <a:srgbClr val="15171A"/>
                      </a:solidFill>
                    </a:lnT>
                    <a:lnB w="9525">
                      <a:solidFill>
                        <a:srgbClr val="15171A"/>
                      </a:solidFill>
                    </a:lnB>
                    <a:noFill/>
                  </a:tcPr>
                </a:tc>
                <a:tc>
                  <a:txBody>
                    <a:bodyPr wrap="square"/>
                    <a:lstStyle/>
                    <a:p>
                      <a:pPr algn="r">
                        <a:lnSpc>
                          <a:spcPct val="100000"/>
                        </a:lnSpc>
                      </a:pPr>
                      <a:r>
                        <a:rPr sz="1100" b="1">
                          <a:solidFill>
                            <a:srgbClr val="15171A"/>
                          </a:solidFill>
                          <a:latin typeface="Noto Sans KR"/>
                          <a:ea typeface="Noto Sans KR"/>
                          <a:cs typeface="Noto Sans KR"/>
                        </a:rPr>
                        <a:t>비중</a:t>
                      </a:r>
                    </a:p>
                  </a:txBody>
                  <a:tcPr marL="73152" marR="73152" marT="41148" marB="41148" anchor="t">
                    <a:lnL w="0">
                      <a:noFill/>
                    </a:lnL>
                    <a:lnR w="0">
                      <a:noFill/>
                    </a:lnR>
                    <a:lnT w="12700">
                      <a:solidFill>
                        <a:srgbClr val="15171A"/>
                      </a:solidFill>
                    </a:lnT>
                    <a:lnB w="9525">
                      <a:solidFill>
                        <a:srgbClr val="15171A"/>
                      </a:solidFill>
                    </a:lnB>
                    <a:noFill/>
                  </a:tcPr>
                </a:tc>
              </a:tr>
              <a:tr h="293725">
                <a:tc>
                  <a:txBody>
                    <a:bodyPr wrap="square"/>
                    <a:lstStyle/>
                    <a:p>
                      <a:pPr algn="l">
                        <a:lnSpc>
                          <a:spcPct val="100000"/>
                        </a:lnSpc>
                      </a:pPr>
                      <a:r>
                        <a:rPr sz="1100" b="0">
                          <a:solidFill>
                            <a:srgbClr val="15171A"/>
                          </a:solidFill>
                          <a:latin typeface="Noto Sans KR"/>
                          <a:ea typeface="Noto Sans KR"/>
                          <a:cs typeface="Noto Sans KR"/>
                        </a:rPr>
                        <a:t>핵심 인력 8명</a:t>
                      </a:r>
                    </a:p>
                  </a:txBody>
                  <a:tcPr marL="73152" marR="73152" marT="41148" marB="41148" anchor="t">
                    <a:lnL w="0">
                      <a:noFill/>
                    </a:lnL>
                    <a:lnR w="0">
                      <a:noFill/>
                    </a:lnR>
                    <a:lnT w="0">
                      <a:noFill/>
                    </a:lnT>
                    <a:lnB w="9525">
                      <a:solidFill>
                        <a:srgbClr val="E2E4E7"/>
                      </a:solidFill>
                    </a:lnB>
                    <a:noFill/>
                  </a:tcPr>
                </a:tc>
                <a:tc>
                  <a:txBody>
                    <a:bodyPr wrap="square"/>
                    <a:lstStyle/>
                    <a:p>
                      <a:pPr algn="r">
                        <a:lnSpc>
                          <a:spcPct val="100000"/>
                        </a:lnSpc>
                      </a:pPr>
                      <a:r>
                        <a:rPr sz="1100" b="0">
                          <a:solidFill>
                            <a:srgbClr val="15171A"/>
                          </a:solidFill>
                          <a:latin typeface="Noto Sans KR"/>
                          <a:ea typeface="Noto Sans KR"/>
                          <a:cs typeface="Noto Sans KR"/>
                        </a:rPr>
                        <a:t>9.6억</a:t>
                      </a:r>
                    </a:p>
                  </a:txBody>
                  <a:tcPr marL="73152" marR="73152" marT="41148" marB="41148" anchor="t">
                    <a:lnL w="0">
                      <a:noFill/>
                    </a:lnL>
                    <a:lnR w="0">
                      <a:noFill/>
                    </a:lnR>
                    <a:lnT w="0">
                      <a:noFill/>
                    </a:lnT>
                    <a:lnB w="9525">
                      <a:solidFill>
                        <a:srgbClr val="E2E4E7"/>
                      </a:solidFill>
                    </a:lnB>
                    <a:noFill/>
                  </a:tcPr>
                </a:tc>
                <a:tc>
                  <a:txBody>
                    <a:bodyPr wrap="square"/>
                    <a:lstStyle/>
                    <a:p>
                      <a:pPr algn="r">
                        <a:lnSpc>
                          <a:spcPct val="100000"/>
                        </a:lnSpc>
                      </a:pPr>
                      <a:r>
                        <a:rPr sz="1100" b="0">
                          <a:solidFill>
                            <a:srgbClr val="15171A"/>
                          </a:solidFill>
                          <a:latin typeface="Noto Sans KR"/>
                          <a:ea typeface="Noto Sans KR"/>
                          <a:cs typeface="Noto Sans KR"/>
                        </a:rPr>
                        <a:t>48%</a:t>
                      </a:r>
                    </a:p>
                  </a:txBody>
                  <a:tcPr marL="73152" marR="73152" marT="41148" marB="41148" anchor="t">
                    <a:lnL w="0">
                      <a:noFill/>
                    </a:lnL>
                    <a:lnR w="0">
                      <a:noFill/>
                    </a:lnR>
                    <a:lnT w="0">
                      <a:noFill/>
                    </a:lnT>
                    <a:lnB w="9525">
                      <a:solidFill>
                        <a:srgbClr val="E2E4E7"/>
                      </a:solidFill>
                    </a:lnB>
                    <a:noFill/>
                  </a:tcPr>
                </a:tc>
              </a:tr>
              <a:tr h="293725">
                <a:tc>
                  <a:txBody>
                    <a:bodyPr wrap="square"/>
                    <a:lstStyle/>
                    <a:p>
                      <a:pPr algn="l">
                        <a:lnSpc>
                          <a:spcPct val="100000"/>
                        </a:lnSpc>
                      </a:pPr>
                      <a:r>
                        <a:rPr sz="1100" b="0">
                          <a:solidFill>
                            <a:srgbClr val="15171A"/>
                          </a:solidFill>
                          <a:latin typeface="Noto Sans KR"/>
                          <a:ea typeface="Noto Sans KR"/>
                          <a:cs typeface="Noto Sans KR"/>
                        </a:rPr>
                        <a:t>시제품·내구시험</a:t>
                      </a:r>
                    </a:p>
                  </a:txBody>
                  <a:tcPr marL="73152" marR="73152" marT="41148" marB="41148" anchor="t">
                    <a:lnL w="0">
                      <a:noFill/>
                    </a:lnL>
                    <a:lnR w="0">
                      <a:noFill/>
                    </a:lnR>
                    <a:lnT w="0">
                      <a:noFill/>
                    </a:lnT>
                    <a:lnB w="9525">
                      <a:solidFill>
                        <a:srgbClr val="E2E4E7"/>
                      </a:solidFill>
                    </a:lnB>
                    <a:noFill/>
                  </a:tcPr>
                </a:tc>
                <a:tc>
                  <a:txBody>
                    <a:bodyPr wrap="square"/>
                    <a:lstStyle/>
                    <a:p>
                      <a:pPr algn="r">
                        <a:lnSpc>
                          <a:spcPct val="100000"/>
                        </a:lnSpc>
                      </a:pPr>
                      <a:r>
                        <a:rPr sz="1100" b="0">
                          <a:solidFill>
                            <a:srgbClr val="15171A"/>
                          </a:solidFill>
                          <a:latin typeface="Noto Sans KR"/>
                          <a:ea typeface="Noto Sans KR"/>
                          <a:cs typeface="Noto Sans KR"/>
                        </a:rPr>
                        <a:t>2.7억</a:t>
                      </a:r>
                    </a:p>
                  </a:txBody>
                  <a:tcPr marL="73152" marR="73152" marT="41148" marB="41148" anchor="t">
                    <a:lnL w="0">
                      <a:noFill/>
                    </a:lnL>
                    <a:lnR w="0">
                      <a:noFill/>
                    </a:lnR>
                    <a:lnT w="0">
                      <a:noFill/>
                    </a:lnT>
                    <a:lnB w="9525">
                      <a:solidFill>
                        <a:srgbClr val="E2E4E7"/>
                      </a:solidFill>
                    </a:lnB>
                    <a:noFill/>
                  </a:tcPr>
                </a:tc>
                <a:tc>
                  <a:txBody>
                    <a:bodyPr wrap="square"/>
                    <a:lstStyle/>
                    <a:p>
                      <a:pPr algn="r">
                        <a:lnSpc>
                          <a:spcPct val="100000"/>
                        </a:lnSpc>
                      </a:pPr>
                      <a:r>
                        <a:rPr sz="1100" b="0">
                          <a:solidFill>
                            <a:srgbClr val="15171A"/>
                          </a:solidFill>
                          <a:latin typeface="Noto Sans KR"/>
                          <a:ea typeface="Noto Sans KR"/>
                          <a:cs typeface="Noto Sans KR"/>
                        </a:rPr>
                        <a:t>13%</a:t>
                      </a:r>
                    </a:p>
                  </a:txBody>
                  <a:tcPr marL="73152" marR="73152" marT="41148" marB="41148" anchor="t">
                    <a:lnL w="0">
                      <a:noFill/>
                    </a:lnL>
                    <a:lnR w="0">
                      <a:noFill/>
                    </a:lnR>
                    <a:lnT w="0">
                      <a:noFill/>
                    </a:lnT>
                    <a:lnB w="9525">
                      <a:solidFill>
                        <a:srgbClr val="E2E4E7"/>
                      </a:solidFill>
                    </a:lnB>
                    <a:noFill/>
                  </a:tcPr>
                </a:tc>
              </a:tr>
              <a:tr h="293725">
                <a:tc>
                  <a:txBody>
                    <a:bodyPr wrap="square"/>
                    <a:lstStyle/>
                    <a:p>
                      <a:pPr algn="l">
                        <a:lnSpc>
                          <a:spcPct val="100000"/>
                        </a:lnSpc>
                      </a:pPr>
                      <a:r>
                        <a:rPr sz="1100" b="0">
                          <a:solidFill>
                            <a:srgbClr val="15171A"/>
                          </a:solidFill>
                          <a:latin typeface="Noto Sans KR"/>
                          <a:ea typeface="Noto Sans KR"/>
                          <a:cs typeface="Noto Sans KR"/>
                        </a:rPr>
                        <a:t>로봇 2종·주방/산업 시험 셀</a:t>
                      </a:r>
                    </a:p>
                  </a:txBody>
                  <a:tcPr marL="73152" marR="73152" marT="41148" marB="41148" anchor="t">
                    <a:lnL w="0">
                      <a:noFill/>
                    </a:lnL>
                    <a:lnR w="0">
                      <a:noFill/>
                    </a:lnR>
                    <a:lnT w="0">
                      <a:noFill/>
                    </a:lnT>
                    <a:lnB w="9525">
                      <a:solidFill>
                        <a:srgbClr val="E2E4E7"/>
                      </a:solidFill>
                    </a:lnB>
                    <a:noFill/>
                  </a:tcPr>
                </a:tc>
                <a:tc>
                  <a:txBody>
                    <a:bodyPr wrap="square"/>
                    <a:lstStyle/>
                    <a:p>
                      <a:pPr algn="r">
                        <a:lnSpc>
                          <a:spcPct val="100000"/>
                        </a:lnSpc>
                      </a:pPr>
                      <a:r>
                        <a:rPr sz="1100" b="0">
                          <a:solidFill>
                            <a:srgbClr val="15171A"/>
                          </a:solidFill>
                          <a:latin typeface="Noto Sans KR"/>
                          <a:ea typeface="Noto Sans KR"/>
                          <a:cs typeface="Noto Sans KR"/>
                        </a:rPr>
                        <a:t>1.3억</a:t>
                      </a:r>
                    </a:p>
                  </a:txBody>
                  <a:tcPr marL="73152" marR="73152" marT="41148" marB="41148" anchor="t">
                    <a:lnL w="0">
                      <a:noFill/>
                    </a:lnL>
                    <a:lnR w="0">
                      <a:noFill/>
                    </a:lnR>
                    <a:lnT w="0">
                      <a:noFill/>
                    </a:lnT>
                    <a:lnB w="9525">
                      <a:solidFill>
                        <a:srgbClr val="E2E4E7"/>
                      </a:solidFill>
                    </a:lnB>
                    <a:noFill/>
                  </a:tcPr>
                </a:tc>
                <a:tc>
                  <a:txBody>
                    <a:bodyPr wrap="square"/>
                    <a:lstStyle/>
                    <a:p>
                      <a:pPr algn="r">
                        <a:lnSpc>
                          <a:spcPct val="100000"/>
                        </a:lnSpc>
                      </a:pPr>
                      <a:r>
                        <a:rPr sz="1100" b="0">
                          <a:solidFill>
                            <a:srgbClr val="15171A"/>
                          </a:solidFill>
                          <a:latin typeface="Noto Sans KR"/>
                          <a:ea typeface="Noto Sans KR"/>
                          <a:cs typeface="Noto Sans KR"/>
                        </a:rPr>
                        <a:t>6%</a:t>
                      </a:r>
                    </a:p>
                  </a:txBody>
                  <a:tcPr marL="73152" marR="73152" marT="41148" marB="41148" anchor="t">
                    <a:lnL w="0">
                      <a:noFill/>
                    </a:lnL>
                    <a:lnR w="0">
                      <a:noFill/>
                    </a:lnR>
                    <a:lnT w="0">
                      <a:noFill/>
                    </a:lnT>
                    <a:lnB w="9525">
                      <a:solidFill>
                        <a:srgbClr val="E2E4E7"/>
                      </a:solidFill>
                    </a:lnB>
                    <a:noFill/>
                  </a:tcPr>
                </a:tc>
              </a:tr>
              <a:tr h="293725">
                <a:tc>
                  <a:txBody>
                    <a:bodyPr wrap="square"/>
                    <a:lstStyle/>
                    <a:p>
                      <a:pPr algn="l">
                        <a:lnSpc>
                          <a:spcPct val="100000"/>
                        </a:lnSpc>
                      </a:pPr>
                      <a:r>
                        <a:rPr sz="1100" b="0">
                          <a:solidFill>
                            <a:srgbClr val="15171A"/>
                          </a:solidFill>
                          <a:latin typeface="Noto Sans KR"/>
                          <a:ea typeface="Noto Sans KR"/>
                          <a:cs typeface="Noto Sans KR"/>
                        </a:rPr>
                        <a:t>주방 PoC·현장 통합 (비청구)</a:t>
                      </a:r>
                    </a:p>
                  </a:txBody>
                  <a:tcPr marL="73152" marR="73152" marT="41148" marB="41148" anchor="t">
                    <a:lnL w="0">
                      <a:noFill/>
                    </a:lnL>
                    <a:lnR w="0">
                      <a:noFill/>
                    </a:lnR>
                    <a:lnT w="0">
                      <a:noFill/>
                    </a:lnT>
                    <a:lnB w="9525">
                      <a:solidFill>
                        <a:srgbClr val="E2E4E7"/>
                      </a:solidFill>
                    </a:lnB>
                    <a:noFill/>
                  </a:tcPr>
                </a:tc>
                <a:tc>
                  <a:txBody>
                    <a:bodyPr wrap="square"/>
                    <a:lstStyle/>
                    <a:p>
                      <a:pPr algn="r">
                        <a:lnSpc>
                          <a:spcPct val="100000"/>
                        </a:lnSpc>
                      </a:pPr>
                      <a:r>
                        <a:rPr sz="1100" b="0">
                          <a:solidFill>
                            <a:srgbClr val="15171A"/>
                          </a:solidFill>
                          <a:latin typeface="Noto Sans KR"/>
                          <a:ea typeface="Noto Sans KR"/>
                          <a:cs typeface="Noto Sans KR"/>
                        </a:rPr>
                        <a:t>1.2억</a:t>
                      </a:r>
                    </a:p>
                  </a:txBody>
                  <a:tcPr marL="73152" marR="73152" marT="41148" marB="41148" anchor="t">
                    <a:lnL w="0">
                      <a:noFill/>
                    </a:lnL>
                    <a:lnR w="0">
                      <a:noFill/>
                    </a:lnR>
                    <a:lnT w="0">
                      <a:noFill/>
                    </a:lnT>
                    <a:lnB w="9525">
                      <a:solidFill>
                        <a:srgbClr val="E2E4E7"/>
                      </a:solidFill>
                    </a:lnB>
                    <a:noFill/>
                  </a:tcPr>
                </a:tc>
                <a:tc>
                  <a:txBody>
                    <a:bodyPr wrap="square"/>
                    <a:lstStyle/>
                    <a:p>
                      <a:pPr algn="r">
                        <a:lnSpc>
                          <a:spcPct val="100000"/>
                        </a:lnSpc>
                      </a:pPr>
                      <a:r>
                        <a:rPr sz="1100" b="0">
                          <a:solidFill>
                            <a:srgbClr val="15171A"/>
                          </a:solidFill>
                          <a:latin typeface="Noto Sans KR"/>
                          <a:ea typeface="Noto Sans KR"/>
                          <a:cs typeface="Noto Sans KR"/>
                        </a:rPr>
                        <a:t>6%</a:t>
                      </a:r>
                    </a:p>
                  </a:txBody>
                  <a:tcPr marL="73152" marR="73152" marT="41148" marB="41148" anchor="t">
                    <a:lnL w="0">
                      <a:noFill/>
                    </a:lnL>
                    <a:lnR w="0">
                      <a:noFill/>
                    </a:lnR>
                    <a:lnT w="0">
                      <a:noFill/>
                    </a:lnT>
                    <a:lnB w="9525">
                      <a:solidFill>
                        <a:srgbClr val="E2E4E7"/>
                      </a:solidFill>
                    </a:lnB>
                    <a:noFill/>
                  </a:tcPr>
                </a:tc>
              </a:tr>
              <a:tr h="293725">
                <a:tc>
                  <a:txBody>
                    <a:bodyPr wrap="square"/>
                    <a:lstStyle/>
                    <a:p>
                      <a:pPr algn="l">
                        <a:lnSpc>
                          <a:spcPct val="100000"/>
                        </a:lnSpc>
                      </a:pPr>
                      <a:r>
                        <a:rPr sz="1100" b="0">
                          <a:solidFill>
                            <a:srgbClr val="15171A"/>
                          </a:solidFill>
                          <a:latin typeface="Noto Sans KR"/>
                          <a:ea typeface="Noto Sans KR"/>
                          <a:cs typeface="Noto Sans KR"/>
                        </a:rPr>
                        <a:t>SW·AI·데이터</a:t>
                      </a:r>
                    </a:p>
                  </a:txBody>
                  <a:tcPr marL="73152" marR="73152" marT="41148" marB="41148" anchor="t">
                    <a:lnL w="0">
                      <a:noFill/>
                    </a:lnL>
                    <a:lnR w="0">
                      <a:noFill/>
                    </a:lnR>
                    <a:lnT w="0">
                      <a:noFill/>
                    </a:lnT>
                    <a:lnB w="9525">
                      <a:solidFill>
                        <a:srgbClr val="E2E4E7"/>
                      </a:solidFill>
                    </a:lnB>
                    <a:noFill/>
                  </a:tcPr>
                </a:tc>
                <a:tc>
                  <a:txBody>
                    <a:bodyPr wrap="square"/>
                    <a:lstStyle/>
                    <a:p>
                      <a:pPr algn="r">
                        <a:lnSpc>
                          <a:spcPct val="100000"/>
                        </a:lnSpc>
                      </a:pPr>
                      <a:r>
                        <a:rPr sz="1100" b="0">
                          <a:solidFill>
                            <a:srgbClr val="15171A"/>
                          </a:solidFill>
                          <a:latin typeface="Noto Sans KR"/>
                          <a:ea typeface="Noto Sans KR"/>
                          <a:cs typeface="Noto Sans KR"/>
                        </a:rPr>
                        <a:t>0.6억</a:t>
                      </a:r>
                    </a:p>
                  </a:txBody>
                  <a:tcPr marL="73152" marR="73152" marT="41148" marB="41148" anchor="t">
                    <a:lnL w="0">
                      <a:noFill/>
                    </a:lnL>
                    <a:lnR w="0">
                      <a:noFill/>
                    </a:lnR>
                    <a:lnT w="0">
                      <a:noFill/>
                    </a:lnT>
                    <a:lnB w="9525">
                      <a:solidFill>
                        <a:srgbClr val="E2E4E7"/>
                      </a:solidFill>
                    </a:lnB>
                    <a:noFill/>
                  </a:tcPr>
                </a:tc>
                <a:tc>
                  <a:txBody>
                    <a:bodyPr wrap="square"/>
                    <a:lstStyle/>
                    <a:p>
                      <a:pPr algn="r">
                        <a:lnSpc>
                          <a:spcPct val="100000"/>
                        </a:lnSpc>
                      </a:pPr>
                      <a:r>
                        <a:rPr sz="1100" b="0">
                          <a:solidFill>
                            <a:srgbClr val="15171A"/>
                          </a:solidFill>
                          <a:latin typeface="Noto Sans KR"/>
                          <a:ea typeface="Noto Sans KR"/>
                          <a:cs typeface="Noto Sans KR"/>
                        </a:rPr>
                        <a:t>3%</a:t>
                      </a:r>
                    </a:p>
                  </a:txBody>
                  <a:tcPr marL="73152" marR="73152" marT="41148" marB="41148" anchor="t">
                    <a:lnL w="0">
                      <a:noFill/>
                    </a:lnL>
                    <a:lnR w="0">
                      <a:noFill/>
                    </a:lnR>
                    <a:lnT w="0">
                      <a:noFill/>
                    </a:lnT>
                    <a:lnB w="9525">
                      <a:solidFill>
                        <a:srgbClr val="E2E4E7"/>
                      </a:solidFill>
                    </a:lnB>
                    <a:noFill/>
                  </a:tcPr>
                </a:tc>
              </a:tr>
              <a:tr h="293725">
                <a:tc>
                  <a:txBody>
                    <a:bodyPr wrap="square"/>
                    <a:lstStyle/>
                    <a:p>
                      <a:pPr algn="l">
                        <a:lnSpc>
                          <a:spcPct val="100000"/>
                        </a:lnSpc>
                      </a:pPr>
                      <a:r>
                        <a:rPr sz="1100" b="0">
                          <a:solidFill>
                            <a:srgbClr val="15171A"/>
                          </a:solidFill>
                          <a:latin typeface="Noto Sans KR"/>
                          <a:ea typeface="Noto Sans KR"/>
                          <a:cs typeface="Noto Sans KR"/>
                        </a:rPr>
                        <a:t>제조·품질·안전·IP</a:t>
                      </a:r>
                    </a:p>
                  </a:txBody>
                  <a:tcPr marL="73152" marR="73152" marT="41148" marB="41148" anchor="t">
                    <a:lnL w="0">
                      <a:noFill/>
                    </a:lnL>
                    <a:lnR w="0">
                      <a:noFill/>
                    </a:lnR>
                    <a:lnT w="0">
                      <a:noFill/>
                    </a:lnT>
                    <a:lnB w="9525">
                      <a:solidFill>
                        <a:srgbClr val="E2E4E7"/>
                      </a:solidFill>
                    </a:lnB>
                    <a:noFill/>
                  </a:tcPr>
                </a:tc>
                <a:tc>
                  <a:txBody>
                    <a:bodyPr wrap="square"/>
                    <a:lstStyle/>
                    <a:p>
                      <a:pPr algn="r">
                        <a:lnSpc>
                          <a:spcPct val="100000"/>
                        </a:lnSpc>
                      </a:pPr>
                      <a:r>
                        <a:rPr sz="1100" b="0">
                          <a:solidFill>
                            <a:srgbClr val="15171A"/>
                          </a:solidFill>
                          <a:latin typeface="Noto Sans KR"/>
                          <a:ea typeface="Noto Sans KR"/>
                          <a:cs typeface="Noto Sans KR"/>
                        </a:rPr>
                        <a:t>1.1억</a:t>
                      </a:r>
                    </a:p>
                  </a:txBody>
                  <a:tcPr marL="73152" marR="73152" marT="41148" marB="41148" anchor="t">
                    <a:lnL w="0">
                      <a:noFill/>
                    </a:lnL>
                    <a:lnR w="0">
                      <a:noFill/>
                    </a:lnR>
                    <a:lnT w="0">
                      <a:noFill/>
                    </a:lnT>
                    <a:lnB w="9525">
                      <a:solidFill>
                        <a:srgbClr val="E2E4E7"/>
                      </a:solidFill>
                    </a:lnB>
                    <a:noFill/>
                  </a:tcPr>
                </a:tc>
                <a:tc>
                  <a:txBody>
                    <a:bodyPr wrap="square"/>
                    <a:lstStyle/>
                    <a:p>
                      <a:pPr algn="r">
                        <a:lnSpc>
                          <a:spcPct val="100000"/>
                        </a:lnSpc>
                      </a:pPr>
                      <a:r>
                        <a:rPr sz="1100" b="0">
                          <a:solidFill>
                            <a:srgbClr val="15171A"/>
                          </a:solidFill>
                          <a:latin typeface="Noto Sans KR"/>
                          <a:ea typeface="Noto Sans KR"/>
                          <a:cs typeface="Noto Sans KR"/>
                        </a:rPr>
                        <a:t>5%</a:t>
                      </a:r>
                    </a:p>
                  </a:txBody>
                  <a:tcPr marL="73152" marR="73152" marT="41148" marB="41148" anchor="t">
                    <a:lnL w="0">
                      <a:noFill/>
                    </a:lnL>
                    <a:lnR w="0">
                      <a:noFill/>
                    </a:lnR>
                    <a:lnT w="0">
                      <a:noFill/>
                    </a:lnT>
                    <a:lnB w="9525">
                      <a:solidFill>
                        <a:srgbClr val="E2E4E7"/>
                      </a:solidFill>
                    </a:lnB>
                    <a:noFill/>
                  </a:tcPr>
                </a:tc>
              </a:tr>
              <a:tr h="293725">
                <a:tc>
                  <a:txBody>
                    <a:bodyPr wrap="square"/>
                    <a:lstStyle/>
                    <a:p>
                      <a:pPr algn="l">
                        <a:lnSpc>
                          <a:spcPct val="100000"/>
                        </a:lnSpc>
                      </a:pPr>
                      <a:r>
                        <a:rPr sz="1100" b="0">
                          <a:solidFill>
                            <a:srgbClr val="15171A"/>
                          </a:solidFill>
                          <a:latin typeface="Noto Sans KR"/>
                          <a:ea typeface="Noto Sans KR"/>
                          <a:cs typeface="Noto Sans KR"/>
                        </a:rPr>
                        <a:t>주방 벤치 (가정용 환경 재현)</a:t>
                      </a:r>
                    </a:p>
                  </a:txBody>
                  <a:tcPr marL="73152" marR="73152" marT="41148" marB="41148" anchor="t">
                    <a:lnL w="0">
                      <a:noFill/>
                    </a:lnL>
                    <a:lnR w="0">
                      <a:noFill/>
                    </a:lnR>
                    <a:lnT w="0">
                      <a:noFill/>
                    </a:lnT>
                    <a:lnB w="9525">
                      <a:solidFill>
                        <a:srgbClr val="E2E4E7"/>
                      </a:solidFill>
                    </a:lnB>
                    <a:noFill/>
                  </a:tcPr>
                </a:tc>
                <a:tc>
                  <a:txBody>
                    <a:bodyPr wrap="square"/>
                    <a:lstStyle/>
                    <a:p>
                      <a:pPr algn="r">
                        <a:lnSpc>
                          <a:spcPct val="100000"/>
                        </a:lnSpc>
                      </a:pPr>
                      <a:r>
                        <a:rPr sz="1100" b="0">
                          <a:solidFill>
                            <a:srgbClr val="15171A"/>
                          </a:solidFill>
                          <a:latin typeface="Noto Sans KR"/>
                          <a:ea typeface="Noto Sans KR"/>
                          <a:cs typeface="Noto Sans KR"/>
                        </a:rPr>
                        <a:t>0.3억</a:t>
                      </a:r>
                    </a:p>
                  </a:txBody>
                  <a:tcPr marL="73152" marR="73152" marT="41148" marB="41148" anchor="t">
                    <a:lnL w="0">
                      <a:noFill/>
                    </a:lnL>
                    <a:lnR w="0">
                      <a:noFill/>
                    </a:lnR>
                    <a:lnT w="0">
                      <a:noFill/>
                    </a:lnT>
                    <a:lnB w="9525">
                      <a:solidFill>
                        <a:srgbClr val="E2E4E7"/>
                      </a:solidFill>
                    </a:lnB>
                    <a:noFill/>
                  </a:tcPr>
                </a:tc>
                <a:tc>
                  <a:txBody>
                    <a:bodyPr wrap="square"/>
                    <a:lstStyle/>
                    <a:p>
                      <a:pPr algn="r">
                        <a:lnSpc>
                          <a:spcPct val="100000"/>
                        </a:lnSpc>
                      </a:pPr>
                      <a:r>
                        <a:rPr sz="1100" b="0">
                          <a:solidFill>
                            <a:srgbClr val="15171A"/>
                          </a:solidFill>
                          <a:latin typeface="Noto Sans KR"/>
                          <a:ea typeface="Noto Sans KR"/>
                          <a:cs typeface="Noto Sans KR"/>
                        </a:rPr>
                        <a:t>2%</a:t>
                      </a:r>
                    </a:p>
                  </a:txBody>
                  <a:tcPr marL="73152" marR="73152" marT="41148" marB="41148" anchor="t">
                    <a:lnL w="0">
                      <a:noFill/>
                    </a:lnL>
                    <a:lnR w="0">
                      <a:noFill/>
                    </a:lnR>
                    <a:lnT w="0">
                      <a:noFill/>
                    </a:lnT>
                    <a:lnB w="9525">
                      <a:solidFill>
                        <a:srgbClr val="E2E4E7"/>
                      </a:solidFill>
                    </a:lnB>
                    <a:noFill/>
                  </a:tcPr>
                </a:tc>
              </a:tr>
              <a:tr h="293725">
                <a:tc>
                  <a:txBody>
                    <a:bodyPr wrap="square"/>
                    <a:lstStyle/>
                    <a:p>
                      <a:pPr algn="l">
                        <a:lnSpc>
                          <a:spcPct val="100000"/>
                        </a:lnSpc>
                      </a:pPr>
                      <a:r>
                        <a:rPr sz="1100" b="0">
                          <a:solidFill>
                            <a:srgbClr val="15171A"/>
                          </a:solidFill>
                          <a:latin typeface="Noto Sans KR"/>
                          <a:ea typeface="Noto Sans KR"/>
                          <a:cs typeface="Noto Sans KR"/>
                        </a:rPr>
                        <a:t>운영 (임차·법무·회계·보험·출장)</a:t>
                      </a:r>
                    </a:p>
                  </a:txBody>
                  <a:tcPr marL="73152" marR="73152" marT="41148" marB="41148" anchor="t">
                    <a:lnL w="0">
                      <a:noFill/>
                    </a:lnL>
                    <a:lnR w="0">
                      <a:noFill/>
                    </a:lnR>
                    <a:lnT w="0">
                      <a:noFill/>
                    </a:lnT>
                    <a:lnB w="9525">
                      <a:solidFill>
                        <a:srgbClr val="E2E4E7"/>
                      </a:solidFill>
                    </a:lnB>
                    <a:noFill/>
                  </a:tcPr>
                </a:tc>
                <a:tc>
                  <a:txBody>
                    <a:bodyPr wrap="square"/>
                    <a:lstStyle/>
                    <a:p>
                      <a:pPr algn="r">
                        <a:lnSpc>
                          <a:spcPct val="100000"/>
                        </a:lnSpc>
                      </a:pPr>
                      <a:r>
                        <a:rPr sz="1100" b="0">
                          <a:solidFill>
                            <a:srgbClr val="15171A"/>
                          </a:solidFill>
                          <a:latin typeface="Noto Sans KR"/>
                          <a:ea typeface="Noto Sans KR"/>
                          <a:cs typeface="Noto Sans KR"/>
                        </a:rPr>
                        <a:t>1.5억</a:t>
                      </a:r>
                    </a:p>
                  </a:txBody>
                  <a:tcPr marL="73152" marR="73152" marT="41148" marB="41148" anchor="t">
                    <a:lnL w="0">
                      <a:noFill/>
                    </a:lnL>
                    <a:lnR w="0">
                      <a:noFill/>
                    </a:lnR>
                    <a:lnT w="0">
                      <a:noFill/>
                    </a:lnT>
                    <a:lnB w="9525">
                      <a:solidFill>
                        <a:srgbClr val="E2E4E7"/>
                      </a:solidFill>
                    </a:lnB>
                    <a:noFill/>
                  </a:tcPr>
                </a:tc>
                <a:tc>
                  <a:txBody>
                    <a:bodyPr wrap="square"/>
                    <a:lstStyle/>
                    <a:p>
                      <a:pPr algn="r">
                        <a:lnSpc>
                          <a:spcPct val="100000"/>
                        </a:lnSpc>
                      </a:pPr>
                      <a:r>
                        <a:rPr sz="1100" b="0">
                          <a:solidFill>
                            <a:srgbClr val="15171A"/>
                          </a:solidFill>
                          <a:latin typeface="Noto Sans KR"/>
                          <a:ea typeface="Noto Sans KR"/>
                          <a:cs typeface="Noto Sans KR"/>
                        </a:rPr>
                        <a:t>8%</a:t>
                      </a:r>
                    </a:p>
                  </a:txBody>
                  <a:tcPr marL="73152" marR="73152" marT="41148" marB="41148" anchor="t">
                    <a:lnL w="0">
                      <a:noFill/>
                    </a:lnL>
                    <a:lnR w="0">
                      <a:noFill/>
                    </a:lnR>
                    <a:lnT w="0">
                      <a:noFill/>
                    </a:lnT>
                    <a:lnB w="9525">
                      <a:solidFill>
                        <a:srgbClr val="E2E4E7"/>
                      </a:solidFill>
                    </a:lnB>
                    <a:noFill/>
                  </a:tcPr>
                </a:tc>
              </a:tr>
              <a:tr h="293725">
                <a:tc>
                  <a:txBody>
                    <a:bodyPr wrap="square"/>
                    <a:lstStyle/>
                    <a:p>
                      <a:pPr algn="l">
                        <a:lnSpc>
                          <a:spcPct val="100000"/>
                        </a:lnSpc>
                      </a:pPr>
                      <a:r>
                        <a:rPr sz="1100" b="0">
                          <a:solidFill>
                            <a:srgbClr val="15171A"/>
                          </a:solidFill>
                          <a:latin typeface="Noto Sans KR"/>
                          <a:ea typeface="Noto Sans KR"/>
                          <a:cs typeface="Noto Sans KR"/>
                        </a:rPr>
                        <a:t>예비비·운전자본</a:t>
                      </a:r>
                    </a:p>
                  </a:txBody>
                  <a:tcPr marL="73152" marR="73152" marT="41148" marB="41148" anchor="t">
                    <a:lnL w="0">
                      <a:noFill/>
                    </a:lnL>
                    <a:lnR w="0">
                      <a:noFill/>
                    </a:lnR>
                    <a:lnT w="0">
                      <a:noFill/>
                    </a:lnT>
                    <a:lnB w="9525">
                      <a:solidFill>
                        <a:srgbClr val="E2E4E7"/>
                      </a:solidFill>
                    </a:lnB>
                    <a:noFill/>
                  </a:tcPr>
                </a:tc>
                <a:tc>
                  <a:txBody>
                    <a:bodyPr wrap="square"/>
                    <a:lstStyle/>
                    <a:p>
                      <a:pPr algn="r">
                        <a:lnSpc>
                          <a:spcPct val="100000"/>
                        </a:lnSpc>
                      </a:pPr>
                      <a:r>
                        <a:rPr sz="1100" b="0">
                          <a:solidFill>
                            <a:srgbClr val="15171A"/>
                          </a:solidFill>
                          <a:latin typeface="Noto Sans KR"/>
                          <a:ea typeface="Noto Sans KR"/>
                          <a:cs typeface="Noto Sans KR"/>
                        </a:rPr>
                        <a:t>1.7억</a:t>
                      </a:r>
                    </a:p>
                  </a:txBody>
                  <a:tcPr marL="73152" marR="73152" marT="41148" marB="41148" anchor="t">
                    <a:lnL w="0">
                      <a:noFill/>
                    </a:lnL>
                    <a:lnR w="0">
                      <a:noFill/>
                    </a:lnR>
                    <a:lnT w="0">
                      <a:noFill/>
                    </a:lnT>
                    <a:lnB w="9525">
                      <a:solidFill>
                        <a:srgbClr val="E2E4E7"/>
                      </a:solidFill>
                    </a:lnB>
                    <a:noFill/>
                  </a:tcPr>
                </a:tc>
                <a:tc>
                  <a:txBody>
                    <a:bodyPr wrap="square"/>
                    <a:lstStyle/>
                    <a:p>
                      <a:pPr algn="r">
                        <a:lnSpc>
                          <a:spcPct val="100000"/>
                        </a:lnSpc>
                      </a:pPr>
                      <a:r>
                        <a:rPr sz="1100" b="0">
                          <a:solidFill>
                            <a:srgbClr val="15171A"/>
                          </a:solidFill>
                          <a:latin typeface="Noto Sans KR"/>
                          <a:ea typeface="Noto Sans KR"/>
                          <a:cs typeface="Noto Sans KR"/>
                        </a:rPr>
                        <a:t>8%</a:t>
                      </a:r>
                    </a:p>
                  </a:txBody>
                  <a:tcPr marL="73152" marR="73152" marT="41148" marB="41148" anchor="t">
                    <a:lnL w="0">
                      <a:noFill/>
                    </a:lnL>
                    <a:lnR w="0">
                      <a:noFill/>
                    </a:lnR>
                    <a:lnT w="0">
                      <a:noFill/>
                    </a:lnT>
                    <a:lnB w="9525">
                      <a:solidFill>
                        <a:srgbClr val="E2E4E7"/>
                      </a:solidFill>
                    </a:lnB>
                    <a:noFill/>
                  </a:tcPr>
                </a:tc>
              </a:tr>
              <a:tr h="293725">
                <a:tc>
                  <a:txBody>
                    <a:bodyPr wrap="square"/>
                    <a:lstStyle/>
                    <a:p>
                      <a:pPr algn="l">
                        <a:lnSpc>
                          <a:spcPct val="100000"/>
                        </a:lnSpc>
                      </a:pPr>
                      <a:r>
                        <a:rPr sz="1100" b="1">
                          <a:solidFill>
                            <a:srgbClr val="15171A"/>
                          </a:solidFill>
                          <a:latin typeface="Noto Sans KR"/>
                          <a:ea typeface="Noto Sans KR"/>
                          <a:cs typeface="Noto Sans KR"/>
                        </a:rPr>
                        <a:t>합계</a:t>
                      </a:r>
                    </a:p>
                  </a:txBody>
                  <a:tcPr marL="73152" marR="73152" marT="41148" marB="41148" anchor="t">
                    <a:lnL w="0">
                      <a:noFill/>
                    </a:lnL>
                    <a:lnR w="0">
                      <a:noFill/>
                    </a:lnR>
                    <a:lnT w="0">
                      <a:noFill/>
                    </a:lnT>
                    <a:lnB w="9525">
                      <a:solidFill>
                        <a:srgbClr val="E2E4E7"/>
                      </a:solidFill>
                    </a:lnB>
                    <a:noFill/>
                  </a:tcPr>
                </a:tc>
                <a:tc>
                  <a:txBody>
                    <a:bodyPr wrap="square"/>
                    <a:lstStyle/>
                    <a:p>
                      <a:pPr algn="r">
                        <a:lnSpc>
                          <a:spcPct val="100000"/>
                        </a:lnSpc>
                      </a:pPr>
                      <a:r>
                        <a:rPr sz="1100" b="1">
                          <a:solidFill>
                            <a:srgbClr val="15171A"/>
                          </a:solidFill>
                          <a:latin typeface="Noto Sans KR"/>
                          <a:ea typeface="Noto Sans KR"/>
                          <a:cs typeface="Noto Sans KR"/>
                        </a:rPr>
                        <a:t>20.0억</a:t>
                      </a:r>
                    </a:p>
                  </a:txBody>
                  <a:tcPr marL="73152" marR="73152" marT="41148" marB="41148" anchor="t">
                    <a:lnL w="0">
                      <a:noFill/>
                    </a:lnL>
                    <a:lnR w="0">
                      <a:noFill/>
                    </a:lnR>
                    <a:lnT w="0">
                      <a:noFill/>
                    </a:lnT>
                    <a:lnB w="9525">
                      <a:solidFill>
                        <a:srgbClr val="E2E4E7"/>
                      </a:solidFill>
                    </a:lnB>
                    <a:noFill/>
                  </a:tcPr>
                </a:tc>
                <a:tc>
                  <a:txBody>
                    <a:bodyPr wrap="square"/>
                    <a:lstStyle/>
                    <a:p>
                      <a:pPr algn="r">
                        <a:lnSpc>
                          <a:spcPct val="100000"/>
                        </a:lnSpc>
                      </a:pPr>
                      <a:r>
                        <a:rPr sz="1100" b="1">
                          <a:solidFill>
                            <a:srgbClr val="15171A"/>
                          </a:solidFill>
                          <a:latin typeface="Noto Sans KR"/>
                          <a:ea typeface="Noto Sans KR"/>
                          <a:cs typeface="Noto Sans KR"/>
                        </a:rPr>
                        <a:t>100%</a:t>
                      </a:r>
                    </a:p>
                  </a:txBody>
                  <a:tcPr marL="73152" marR="73152" marT="41148" marB="41148" anchor="t">
                    <a:lnL w="0">
                      <a:noFill/>
                    </a:lnL>
                    <a:lnR w="0">
                      <a:noFill/>
                    </a:lnR>
                    <a:lnT w="0">
                      <a:noFill/>
                    </a:lnT>
                    <a:lnB w="9525">
                      <a:solidFill>
                        <a:srgbClr val="E2E4E7"/>
                      </a:solidFill>
                    </a:lnB>
                    <a:noFill/>
                  </a:tcPr>
                </a:tc>
              </a:tr>
            </a:tbl>
          </a:graphicData>
        </a:graphic>
      </p:graphicFrame>
      <p:sp>
        <p:nvSpPr>
          <p:cNvPr id="10" name="TextBox 9"/>
          <p:cNvSpPr txBox="1"/>
          <p:nvPr/>
        </p:nvSpPr>
        <p:spPr>
          <a:xfrm>
            <a:off x="5897880" y="5562701"/>
            <a:ext cx="5608015" cy="731520"/>
          </a:xfrm>
          <a:prstGeom prst="rect">
            <a:avLst/>
          </a:prstGeom>
          <a:noFill/>
        </p:spPr>
        <p:txBody>
          <a:bodyPr wrap="square" lIns="0" rIns="0" tIns="0" bIns="0" anchor="t">
            <a:spAutoFit/>
          </a:bodyPr>
          <a:lstStyle/>
          <a:p>
            <a:pPr algn="l">
              <a:lnSpc>
                <a:spcPct val="100000"/>
              </a:lnSpc>
              <a:spcAft>
                <a:spcPts val="300"/>
              </a:spcAft>
            </a:pPr>
            <a:r>
              <a:rPr sz="1100" b="1">
                <a:solidFill>
                  <a:srgbClr val="15171A"/>
                </a:solidFill>
                <a:latin typeface="Noto Sans KR"/>
                <a:ea typeface="Noto Sans KR"/>
                <a:cs typeface="Noto Sans KR"/>
              </a:rPr>
              <a:t>손익 연결  </a:t>
            </a:r>
            <a:r>
              <a:rPr sz="1100" b="0">
                <a:solidFill>
                  <a:srgbClr val="4A4F57"/>
                </a:solidFill>
                <a:latin typeface="Noto Sans KR"/>
                <a:ea typeface="Noto Sans KR"/>
                <a:cs typeface="Noto Sans KR"/>
              </a:rPr>
              <a:t>운영비(예비비 제외) 1년차 7.7억 + 2년차 10.6억 = 18.3억</a:t>
            </a:r>
          </a:p>
          <a:p>
            <a:pPr algn="l">
              <a:lnSpc>
                <a:spcPct val="100000"/>
              </a:lnSpc>
            </a:pPr>
            <a:r>
              <a:rPr sz="1100" b="1">
                <a:solidFill>
                  <a:srgbClr val="15171A"/>
                </a:solidFill>
                <a:latin typeface="Noto Sans KR"/>
                <a:ea typeface="Noto Sans KR"/>
                <a:cs typeface="Noto Sans KR"/>
              </a:rPr>
              <a:t>집행 구조  </a:t>
            </a:r>
            <a:r>
              <a:rPr sz="1100" b="0">
                <a:solidFill>
                  <a:srgbClr val="4A4F57"/>
                </a:solidFill>
                <a:latin typeface="Noto Sans KR"/>
                <a:ea typeface="Noto Sans KR"/>
                <a:cs typeface="Noto Sans KR"/>
              </a:rPr>
              <a:t>18개월 핵심 운영 13.4억 + 6개월 연장 5.0억 + 예비비 1.7억</a:t>
            </a:r>
          </a:p>
        </p:txBody>
      </p:sp>
      <p:sp>
        <p:nvSpPr>
          <p:cNvPr id="11" name="TextBox 10"/>
          <p:cNvSpPr txBox="1"/>
          <p:nvPr/>
        </p:nvSpPr>
        <p:spPr>
          <a:xfrm>
            <a:off x="685800" y="6446520"/>
            <a:ext cx="5486400" cy="201168"/>
          </a:xfrm>
          <a:prstGeom prst="rect">
            <a:avLst/>
          </a:prstGeom>
          <a:noFill/>
        </p:spPr>
        <p:txBody>
          <a:bodyPr wrap="square" lIns="0" rIns="0" tIns="0" bIns="0" anchor="t">
            <a:spAutoFit/>
          </a:bodyPr>
          <a:lstStyle/>
          <a:p>
            <a:pPr algn="l">
              <a:lnSpc>
                <a:spcPct val="100000"/>
              </a:lnSpc>
            </a:pPr>
            <a:r>
              <a:rPr sz="900" b="0">
                <a:solidFill>
                  <a:srgbClr val="8C9198"/>
                </a:solidFill>
                <a:latin typeface="Noto Sans KR"/>
                <a:ea typeface="Noto Sans KR"/>
                <a:cs typeface="Noto Sans KR"/>
              </a:rPr>
              <a:t>SoftHand  |  주방 로봇 조작 플랫폼  |  Seed 투자 제안서</a:t>
            </a:r>
          </a:p>
        </p:txBody>
      </p:sp>
      <p:sp>
        <p:nvSpPr>
          <p:cNvPr id="12" name="TextBox 11"/>
          <p:cNvSpPr txBox="1"/>
          <p:nvPr/>
        </p:nvSpPr>
        <p:spPr>
          <a:xfrm>
            <a:off x="3154680" y="6446520"/>
            <a:ext cx="7802575" cy="201168"/>
          </a:xfrm>
          <a:prstGeom prst="rect">
            <a:avLst/>
          </a:prstGeom>
          <a:noFill/>
        </p:spPr>
        <p:txBody>
          <a:bodyPr wrap="square" lIns="0" rIns="0" tIns="0" bIns="0" anchor="t">
            <a:spAutoFit/>
          </a:bodyPr>
          <a:lstStyle/>
          <a:p>
            <a:pPr algn="r">
              <a:lnSpc>
                <a:spcPct val="100000"/>
              </a:lnSpc>
            </a:pPr>
            <a:r>
              <a:rPr sz="900" b="0">
                <a:solidFill>
                  <a:srgbClr val="8C9198"/>
                </a:solidFill>
                <a:latin typeface="Noto Sans KR"/>
                <a:ea typeface="Noto Sans KR"/>
                <a:cs typeface="Noto Sans KR"/>
              </a:rPr>
              <a:t>정부지원금·공동개발비 미반영 · 매출이 없어도 24개월 운영, 예비비 잔존</a:t>
            </a:r>
          </a:p>
        </p:txBody>
      </p:sp>
      <p:sp>
        <p:nvSpPr>
          <p:cNvPr id="13" name="TextBox 12"/>
          <p:cNvSpPr txBox="1"/>
          <p:nvPr/>
        </p:nvSpPr>
        <p:spPr>
          <a:xfrm>
            <a:off x="11048695" y="6446520"/>
            <a:ext cx="457200" cy="201168"/>
          </a:xfrm>
          <a:prstGeom prst="rect">
            <a:avLst/>
          </a:prstGeom>
          <a:noFill/>
        </p:spPr>
        <p:txBody>
          <a:bodyPr wrap="square" lIns="0" rIns="0" tIns="0" bIns="0" anchor="t">
            <a:spAutoFit/>
          </a:bodyPr>
          <a:lstStyle/>
          <a:p>
            <a:pPr algn="r">
              <a:lnSpc>
                <a:spcPct val="100000"/>
              </a:lnSpc>
            </a:pPr>
            <a:r>
              <a:rPr sz="900" b="0">
                <a:solidFill>
                  <a:srgbClr val="8C9198"/>
                </a:solidFill>
                <a:latin typeface="Noto Sans KR"/>
                <a:ea typeface="Noto Sans KR"/>
                <a:cs typeface="Noto Sans KR"/>
              </a:rPr>
              <a:t>A11</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502920"/>
            <a:ext cx="7315200" cy="256032"/>
          </a:xfrm>
          <a:prstGeom prst="rect">
            <a:avLst/>
          </a:prstGeom>
          <a:noFill/>
        </p:spPr>
        <p:txBody>
          <a:bodyPr wrap="square" lIns="0" rIns="0" tIns="0" bIns="0" anchor="t">
            <a:spAutoFit/>
          </a:bodyPr>
          <a:lstStyle/>
          <a:p>
            <a:pPr algn="l">
              <a:lnSpc>
                <a:spcPct val="100000"/>
              </a:lnSpc>
            </a:pPr>
            <a:r>
              <a:rPr sz="1100" b="1">
                <a:solidFill>
                  <a:srgbClr val="E2571B"/>
                </a:solidFill>
                <a:latin typeface="Noto Sans KR"/>
                <a:ea typeface="Noto Sans KR"/>
                <a:cs typeface="Noto Sans KR"/>
              </a:rPr>
              <a:t>부록 A12</a:t>
            </a:r>
          </a:p>
        </p:txBody>
      </p:sp>
      <p:sp>
        <p:nvSpPr>
          <p:cNvPr id="3" name="TextBox 2"/>
          <p:cNvSpPr txBox="1"/>
          <p:nvPr/>
        </p:nvSpPr>
        <p:spPr>
          <a:xfrm>
            <a:off x="685800" y="822960"/>
            <a:ext cx="10820095" cy="475488"/>
          </a:xfrm>
          <a:prstGeom prst="rect">
            <a:avLst/>
          </a:prstGeom>
          <a:noFill/>
        </p:spPr>
        <p:txBody>
          <a:bodyPr wrap="square" lIns="0" rIns="0" tIns="0" bIns="0" anchor="t">
            <a:spAutoFit/>
          </a:bodyPr>
          <a:lstStyle/>
          <a:p>
            <a:pPr algn="l">
              <a:lnSpc>
                <a:spcPct val="95000"/>
              </a:lnSpc>
            </a:pPr>
            <a:r>
              <a:rPr sz="2600" b="1">
                <a:solidFill>
                  <a:srgbClr val="15171A"/>
                </a:solidFill>
                <a:latin typeface="Noto Sans KR"/>
                <a:ea typeface="Noto Sans KR"/>
                <a:cs typeface="Noto Sans KR"/>
              </a:rPr>
              <a:t>데이터 축적 계획</a:t>
            </a:r>
          </a:p>
        </p:txBody>
      </p:sp>
      <p:sp>
        <p:nvSpPr>
          <p:cNvPr id="4" name="TextBox 3"/>
          <p:cNvSpPr txBox="1"/>
          <p:nvPr/>
        </p:nvSpPr>
        <p:spPr>
          <a:xfrm>
            <a:off x="685800" y="1353312"/>
            <a:ext cx="10820095" cy="274320"/>
          </a:xfrm>
          <a:prstGeom prst="rect">
            <a:avLst/>
          </a:prstGeom>
          <a:noFill/>
        </p:spPr>
        <p:txBody>
          <a:bodyPr wrap="square" lIns="0" rIns="0" tIns="0" bIns="0" anchor="t">
            <a:spAutoFit/>
          </a:bodyPr>
          <a:lstStyle/>
          <a:p>
            <a:pPr algn="l">
              <a:lnSpc>
                <a:spcPct val="100000"/>
              </a:lnSpc>
            </a:pPr>
            <a:r>
              <a:rPr sz="1300" b="0">
                <a:solidFill>
                  <a:srgbClr val="4A4F57"/>
                </a:solidFill>
                <a:latin typeface="Noto Sans KR"/>
                <a:ea typeface="Noto Sans KR"/>
                <a:cs typeface="Noto Sans KR"/>
              </a:rPr>
              <a:t>현재 보유 데이터 없음 · 본문 09장 "향후 축적될 데이터 구조"의 상세</a:t>
            </a:r>
          </a:p>
        </p:txBody>
      </p:sp>
      <p:cxnSp>
        <p:nvCxnSpPr>
          <p:cNvPr id="5" name="Connector 4"/>
          <p:cNvCxnSpPr/>
          <p:nvPr/>
        </p:nvCxnSpPr>
        <p:spPr>
          <a:xfrm>
            <a:off x="685800" y="2011679"/>
            <a:ext cx="10820095" cy="0"/>
          </a:xfrm>
          <a:prstGeom prst="line">
            <a:avLst/>
          </a:prstGeom>
          <a:ln w="15875">
            <a:solidFill>
              <a:srgbClr val="15171A"/>
            </a:solidFill>
          </a:ln>
        </p:spPr>
      </p:cxnSp>
      <p:sp>
        <p:nvSpPr>
          <p:cNvPr id="6" name="Oval 5"/>
          <p:cNvSpPr/>
          <p:nvPr/>
        </p:nvSpPr>
        <p:spPr>
          <a:xfrm>
            <a:off x="676656" y="1956815"/>
            <a:ext cx="109728" cy="109728"/>
          </a:xfrm>
          <a:prstGeom prst="ellipse">
            <a:avLst/>
          </a:prstGeom>
          <a:solidFill>
            <a:srgbClr val="15171A"/>
          </a:solidFill>
          <a:ln>
            <a:noFill/>
          </a:ln>
        </p:spPr>
        <p:txBody>
          <a:bodyPr rtlCol="0" anchor="ctr"/>
          <a:lstStyle/>
          <a:p>
            <a:pPr algn="ctr"/>
          </a:p>
        </p:txBody>
      </p:sp>
      <p:sp>
        <p:nvSpPr>
          <p:cNvPr id="7" name="TextBox 6"/>
          <p:cNvSpPr txBox="1"/>
          <p:nvPr/>
        </p:nvSpPr>
        <p:spPr>
          <a:xfrm>
            <a:off x="685800" y="2167128"/>
            <a:ext cx="1981139" cy="274320"/>
          </a:xfrm>
          <a:prstGeom prst="rect">
            <a:avLst/>
          </a:prstGeom>
          <a:noFill/>
        </p:spPr>
        <p:txBody>
          <a:bodyPr wrap="square" lIns="0" rIns="0" tIns="0" bIns="0" anchor="t">
            <a:spAutoFit/>
          </a:bodyPr>
          <a:lstStyle/>
          <a:p>
            <a:pPr algn="l">
              <a:lnSpc>
                <a:spcPct val="100000"/>
              </a:lnSpc>
            </a:pPr>
            <a:r>
              <a:rPr sz="1400" b="1">
                <a:solidFill>
                  <a:srgbClr val="15171A"/>
                </a:solidFill>
                <a:latin typeface="Noto Sans KR"/>
                <a:ea typeface="Noto Sans KR"/>
                <a:cs typeface="Noto Sans KR"/>
              </a:rPr>
              <a:t>더 많은 주방</a:t>
            </a:r>
          </a:p>
        </p:txBody>
      </p:sp>
      <p:sp>
        <p:nvSpPr>
          <p:cNvPr id="8" name="Oval 7"/>
          <p:cNvSpPr/>
          <p:nvPr/>
        </p:nvSpPr>
        <p:spPr>
          <a:xfrm>
            <a:off x="2840675" y="1956815"/>
            <a:ext cx="109728" cy="109728"/>
          </a:xfrm>
          <a:prstGeom prst="ellipse">
            <a:avLst/>
          </a:prstGeom>
          <a:solidFill>
            <a:srgbClr val="15171A"/>
          </a:solidFill>
          <a:ln>
            <a:noFill/>
          </a:ln>
        </p:spPr>
        <p:txBody>
          <a:bodyPr rtlCol="0" anchor="ctr"/>
          <a:lstStyle/>
          <a:p>
            <a:pPr algn="ctr"/>
          </a:p>
        </p:txBody>
      </p:sp>
      <p:sp>
        <p:nvSpPr>
          <p:cNvPr id="9" name="TextBox 8"/>
          <p:cNvSpPr txBox="1"/>
          <p:nvPr/>
        </p:nvSpPr>
        <p:spPr>
          <a:xfrm>
            <a:off x="2849819" y="2167128"/>
            <a:ext cx="1981139" cy="274320"/>
          </a:xfrm>
          <a:prstGeom prst="rect">
            <a:avLst/>
          </a:prstGeom>
          <a:noFill/>
        </p:spPr>
        <p:txBody>
          <a:bodyPr wrap="square" lIns="0" rIns="0" tIns="0" bIns="0" anchor="t">
            <a:spAutoFit/>
          </a:bodyPr>
          <a:lstStyle/>
          <a:p>
            <a:pPr algn="l">
              <a:lnSpc>
                <a:spcPct val="100000"/>
              </a:lnSpc>
            </a:pPr>
            <a:r>
              <a:rPr sz="1400" b="1">
                <a:solidFill>
                  <a:srgbClr val="15171A"/>
                </a:solidFill>
                <a:latin typeface="Noto Sans KR"/>
                <a:ea typeface="Noto Sans KR"/>
                <a:cs typeface="Noto Sans KR"/>
              </a:rPr>
              <a:t>더 많은 실제 작업</a:t>
            </a:r>
          </a:p>
        </p:txBody>
      </p:sp>
      <p:sp>
        <p:nvSpPr>
          <p:cNvPr id="10" name="Oval 9"/>
          <p:cNvSpPr/>
          <p:nvPr/>
        </p:nvSpPr>
        <p:spPr>
          <a:xfrm>
            <a:off x="5004694" y="1956815"/>
            <a:ext cx="109728" cy="109728"/>
          </a:xfrm>
          <a:prstGeom prst="ellipse">
            <a:avLst/>
          </a:prstGeom>
          <a:solidFill>
            <a:srgbClr val="E2571B"/>
          </a:solidFill>
          <a:ln>
            <a:noFill/>
          </a:ln>
        </p:spPr>
        <p:txBody>
          <a:bodyPr rtlCol="0" anchor="ctr"/>
          <a:lstStyle/>
          <a:p>
            <a:pPr algn="ctr"/>
          </a:p>
        </p:txBody>
      </p:sp>
      <p:sp>
        <p:nvSpPr>
          <p:cNvPr id="11" name="TextBox 10"/>
          <p:cNvSpPr txBox="1"/>
          <p:nvPr/>
        </p:nvSpPr>
        <p:spPr>
          <a:xfrm>
            <a:off x="5013838" y="2167128"/>
            <a:ext cx="1981139" cy="274320"/>
          </a:xfrm>
          <a:prstGeom prst="rect">
            <a:avLst/>
          </a:prstGeom>
          <a:noFill/>
        </p:spPr>
        <p:txBody>
          <a:bodyPr wrap="square" lIns="0" rIns="0" tIns="0" bIns="0" anchor="t">
            <a:spAutoFit/>
          </a:bodyPr>
          <a:lstStyle/>
          <a:p>
            <a:pPr algn="l">
              <a:lnSpc>
                <a:spcPct val="100000"/>
              </a:lnSpc>
            </a:pPr>
            <a:r>
              <a:rPr sz="1400" b="1">
                <a:solidFill>
                  <a:srgbClr val="E2571B"/>
                </a:solidFill>
                <a:latin typeface="Noto Sans KR"/>
                <a:ea typeface="Noto Sans KR"/>
                <a:cs typeface="Noto Sans KR"/>
              </a:rPr>
              <a:t>조작·실패 데이터</a:t>
            </a:r>
          </a:p>
        </p:txBody>
      </p:sp>
      <p:sp>
        <p:nvSpPr>
          <p:cNvPr id="12" name="Oval 11"/>
          <p:cNvSpPr/>
          <p:nvPr/>
        </p:nvSpPr>
        <p:spPr>
          <a:xfrm>
            <a:off x="7168713" y="1956815"/>
            <a:ext cx="109728" cy="109728"/>
          </a:xfrm>
          <a:prstGeom prst="ellipse">
            <a:avLst/>
          </a:prstGeom>
          <a:solidFill>
            <a:srgbClr val="15171A"/>
          </a:solidFill>
          <a:ln>
            <a:noFill/>
          </a:ln>
        </p:spPr>
        <p:txBody>
          <a:bodyPr rtlCol="0" anchor="ctr"/>
          <a:lstStyle/>
          <a:p>
            <a:pPr algn="ctr"/>
          </a:p>
        </p:txBody>
      </p:sp>
      <p:sp>
        <p:nvSpPr>
          <p:cNvPr id="13" name="TextBox 12"/>
          <p:cNvSpPr txBox="1"/>
          <p:nvPr/>
        </p:nvSpPr>
        <p:spPr>
          <a:xfrm>
            <a:off x="7177857" y="2167128"/>
            <a:ext cx="1981139" cy="274320"/>
          </a:xfrm>
          <a:prstGeom prst="rect">
            <a:avLst/>
          </a:prstGeom>
          <a:noFill/>
        </p:spPr>
        <p:txBody>
          <a:bodyPr wrap="square" lIns="0" rIns="0" tIns="0" bIns="0" anchor="t">
            <a:spAutoFit/>
          </a:bodyPr>
          <a:lstStyle/>
          <a:p>
            <a:pPr algn="l">
              <a:lnSpc>
                <a:spcPct val="100000"/>
              </a:lnSpc>
            </a:pPr>
            <a:r>
              <a:rPr sz="1400" b="1">
                <a:solidFill>
                  <a:srgbClr val="15171A"/>
                </a:solidFill>
                <a:latin typeface="Noto Sans KR"/>
                <a:ea typeface="Noto Sans KR"/>
                <a:cs typeface="Noto Sans KR"/>
              </a:rPr>
              <a:t>더 나은 Skill·복구</a:t>
            </a:r>
          </a:p>
        </p:txBody>
      </p:sp>
      <p:sp>
        <p:nvSpPr>
          <p:cNvPr id="14" name="Oval 13"/>
          <p:cNvSpPr/>
          <p:nvPr/>
        </p:nvSpPr>
        <p:spPr>
          <a:xfrm>
            <a:off x="9332732" y="1956815"/>
            <a:ext cx="109728" cy="109728"/>
          </a:xfrm>
          <a:prstGeom prst="ellipse">
            <a:avLst/>
          </a:prstGeom>
          <a:solidFill>
            <a:srgbClr val="15171A"/>
          </a:solidFill>
          <a:ln>
            <a:noFill/>
          </a:ln>
        </p:spPr>
        <p:txBody>
          <a:bodyPr rtlCol="0" anchor="ctr"/>
          <a:lstStyle/>
          <a:p>
            <a:pPr algn="ctr"/>
          </a:p>
        </p:txBody>
      </p:sp>
      <p:sp>
        <p:nvSpPr>
          <p:cNvPr id="15" name="TextBox 14"/>
          <p:cNvSpPr txBox="1"/>
          <p:nvPr/>
        </p:nvSpPr>
        <p:spPr>
          <a:xfrm>
            <a:off x="9341876" y="2167128"/>
            <a:ext cx="1981139" cy="274320"/>
          </a:xfrm>
          <a:prstGeom prst="rect">
            <a:avLst/>
          </a:prstGeom>
          <a:noFill/>
        </p:spPr>
        <p:txBody>
          <a:bodyPr wrap="square" lIns="0" rIns="0" tIns="0" bIns="0" anchor="t">
            <a:spAutoFit/>
          </a:bodyPr>
          <a:lstStyle/>
          <a:p>
            <a:pPr algn="l">
              <a:lnSpc>
                <a:spcPct val="100000"/>
              </a:lnSpc>
            </a:pPr>
            <a:r>
              <a:rPr sz="1400" b="1">
                <a:solidFill>
                  <a:srgbClr val="15171A"/>
                </a:solidFill>
                <a:latin typeface="Noto Sans KR"/>
                <a:ea typeface="Noto Sans KR"/>
                <a:cs typeface="Noto Sans KR"/>
              </a:rPr>
              <a:t>더 많은 도구·레시피</a:t>
            </a:r>
          </a:p>
        </p:txBody>
      </p:sp>
      <p:sp>
        <p:nvSpPr>
          <p:cNvPr id="16" name="TextBox 15"/>
          <p:cNvSpPr txBox="1"/>
          <p:nvPr/>
        </p:nvSpPr>
        <p:spPr>
          <a:xfrm>
            <a:off x="685800" y="2834639"/>
            <a:ext cx="3423818" cy="274320"/>
          </a:xfrm>
          <a:prstGeom prst="rect">
            <a:avLst/>
          </a:prstGeom>
          <a:noFill/>
        </p:spPr>
        <p:txBody>
          <a:bodyPr wrap="square" lIns="0" rIns="0" tIns="0" bIns="0" anchor="t">
            <a:spAutoFit/>
          </a:bodyPr>
          <a:lstStyle/>
          <a:p>
            <a:pPr algn="l">
              <a:lnSpc>
                <a:spcPct val="100000"/>
              </a:lnSpc>
            </a:pPr>
            <a:r>
              <a:rPr sz="1300" b="1">
                <a:solidFill>
                  <a:srgbClr val="15171A"/>
                </a:solidFill>
                <a:latin typeface="Noto Sans KR"/>
                <a:ea typeface="Noto Sans KR"/>
                <a:cs typeface="Noto Sans KR"/>
              </a:rPr>
              <a:t>Seed 데이터 계획 (목표)</a:t>
            </a:r>
          </a:p>
        </p:txBody>
      </p:sp>
      <p:cxnSp>
        <p:nvCxnSpPr>
          <p:cNvPr id="17" name="Connector 16"/>
          <p:cNvCxnSpPr/>
          <p:nvPr/>
        </p:nvCxnSpPr>
        <p:spPr>
          <a:xfrm>
            <a:off x="685800" y="3163823"/>
            <a:ext cx="3423818" cy="0"/>
          </a:xfrm>
          <a:prstGeom prst="line">
            <a:avLst/>
          </a:prstGeom>
          <a:ln w="12700">
            <a:solidFill>
              <a:srgbClr val="15171A"/>
            </a:solidFill>
          </a:ln>
        </p:spPr>
      </p:cxnSp>
      <p:sp>
        <p:nvSpPr>
          <p:cNvPr id="18" name="TextBox 17"/>
          <p:cNvSpPr txBox="1"/>
          <p:nvPr/>
        </p:nvSpPr>
        <p:spPr>
          <a:xfrm>
            <a:off x="685800" y="3273551"/>
            <a:ext cx="3423818" cy="1301495"/>
          </a:xfrm>
          <a:prstGeom prst="rect">
            <a:avLst/>
          </a:prstGeom>
          <a:noFill/>
        </p:spPr>
        <p:txBody>
          <a:bodyPr wrap="square" lIns="0" rIns="0" tIns="0" bIns="0" anchor="t">
            <a:spAutoFit/>
          </a:bodyPr>
          <a:lstStyle/>
          <a:p>
            <a:pPr algn="l" marL="164592" indent="-164592">
              <a:lnSpc>
                <a:spcPct val="100000"/>
              </a:lnSpc>
              <a:spcAft>
                <a:spcPts val="400"/>
              </a:spcAft>
              <a:buClr>
                <a:srgbClr val="8C9198"/>
              </a:buClr>
              <a:buFont typeface="Noto Sans KR"/>
              <a:buChar char="•"/>
            </a:pPr>
            <a:r>
              <a:rPr sz="1200" b="0">
                <a:solidFill>
                  <a:srgbClr val="4A4F57"/>
                </a:solidFill>
                <a:latin typeface="Noto Sans KR"/>
                <a:ea typeface="Noto Sans KR"/>
                <a:cs typeface="Noto Sans KR"/>
              </a:rPr>
              <a:t>도구·용기·조작부 30종 이상</a:t>
            </a:r>
          </a:p>
          <a:p>
            <a:pPr algn="l" marL="164592" indent="-164592">
              <a:lnSpc>
                <a:spcPct val="100000"/>
              </a:lnSpc>
              <a:spcAft>
                <a:spcPts val="400"/>
              </a:spcAft>
              <a:buClr>
                <a:srgbClr val="8C9198"/>
              </a:buClr>
              <a:buFont typeface="Noto Sans KR"/>
              <a:buChar char="•"/>
            </a:pPr>
            <a:r>
              <a:rPr sz="1200" b="0">
                <a:solidFill>
                  <a:srgbClr val="4A4F57"/>
                </a:solidFill>
                <a:latin typeface="Noto Sans KR"/>
                <a:ea typeface="Noto Sans KR"/>
                <a:cs typeface="Noto Sans KR"/>
              </a:rPr>
              <a:t>시도 1만 회 이상, 영상·촉각·힘·관절 시간 동기화</a:t>
            </a:r>
          </a:p>
          <a:p>
            <a:pPr algn="l" marL="164592" indent="-164592">
              <a:lnSpc>
                <a:spcPct val="100000"/>
              </a:lnSpc>
              <a:spcAft>
                <a:spcPts val="400"/>
              </a:spcAft>
              <a:buClr>
                <a:srgbClr val="8C9198"/>
              </a:buClr>
              <a:buFont typeface="Noto Sans KR"/>
              <a:buChar char="•"/>
            </a:pPr>
            <a:r>
              <a:rPr sz="1200" b="0">
                <a:solidFill>
                  <a:srgbClr val="4A4F57"/>
                </a:solidFill>
                <a:latin typeface="Noto Sans KR"/>
                <a:ea typeface="Noto Sans KR"/>
                <a:cs typeface="Noto Sans KR"/>
              </a:rPr>
              <a:t>실패 원인 라벨링: 미끄러짐·위치 오차·재파지·힘 보정·복구 행동</a:t>
            </a:r>
          </a:p>
          <a:p>
            <a:pPr algn="l" marL="164592" indent="-164592">
              <a:lnSpc>
                <a:spcPct val="100000"/>
              </a:lnSpc>
              <a:buClr>
                <a:srgbClr val="8C9198"/>
              </a:buClr>
              <a:buFont typeface="Noto Sans KR"/>
              <a:buChar char="•"/>
            </a:pPr>
            <a:r>
              <a:rPr sz="1200" b="0">
                <a:solidFill>
                  <a:srgbClr val="4A4F57"/>
                </a:solidFill>
                <a:latin typeface="Noto Sans KR"/>
                <a:ea typeface="Noto Sans KR"/>
                <a:cs typeface="Noto Sans KR"/>
              </a:rPr>
              <a:t>물체·세션·주방 단위 분리 검증</a:t>
            </a:r>
          </a:p>
        </p:txBody>
      </p:sp>
      <p:sp>
        <p:nvSpPr>
          <p:cNvPr id="19" name="TextBox 18"/>
          <p:cNvSpPr txBox="1"/>
          <p:nvPr/>
        </p:nvSpPr>
        <p:spPr>
          <a:xfrm>
            <a:off x="4383938" y="2834639"/>
            <a:ext cx="3423818" cy="274320"/>
          </a:xfrm>
          <a:prstGeom prst="rect">
            <a:avLst/>
          </a:prstGeom>
          <a:noFill/>
        </p:spPr>
        <p:txBody>
          <a:bodyPr wrap="square" lIns="0" rIns="0" tIns="0" bIns="0" anchor="t">
            <a:spAutoFit/>
          </a:bodyPr>
          <a:lstStyle/>
          <a:p>
            <a:pPr algn="l">
              <a:lnSpc>
                <a:spcPct val="100000"/>
              </a:lnSpc>
            </a:pPr>
            <a:r>
              <a:rPr sz="1300" b="1">
                <a:solidFill>
                  <a:srgbClr val="15171A"/>
                </a:solidFill>
                <a:latin typeface="Noto Sans KR"/>
                <a:ea typeface="Noto Sans KR"/>
                <a:cs typeface="Noto Sans KR"/>
              </a:rPr>
              <a:t>데이터 권리</a:t>
            </a:r>
          </a:p>
        </p:txBody>
      </p:sp>
      <p:cxnSp>
        <p:nvCxnSpPr>
          <p:cNvPr id="20" name="Connector 19"/>
          <p:cNvCxnSpPr/>
          <p:nvPr/>
        </p:nvCxnSpPr>
        <p:spPr>
          <a:xfrm>
            <a:off x="4383938" y="3163823"/>
            <a:ext cx="3423818" cy="0"/>
          </a:xfrm>
          <a:prstGeom prst="line">
            <a:avLst/>
          </a:prstGeom>
          <a:ln w="12700">
            <a:solidFill>
              <a:srgbClr val="15171A"/>
            </a:solidFill>
          </a:ln>
        </p:spPr>
      </p:cxnSp>
      <p:sp>
        <p:nvSpPr>
          <p:cNvPr id="21" name="TextBox 20"/>
          <p:cNvSpPr txBox="1"/>
          <p:nvPr/>
        </p:nvSpPr>
        <p:spPr>
          <a:xfrm>
            <a:off x="4383938" y="3273551"/>
            <a:ext cx="3423818" cy="1301495"/>
          </a:xfrm>
          <a:prstGeom prst="rect">
            <a:avLst/>
          </a:prstGeom>
          <a:noFill/>
        </p:spPr>
        <p:txBody>
          <a:bodyPr wrap="square" lIns="0" rIns="0" tIns="0" bIns="0" anchor="t">
            <a:spAutoFit/>
          </a:bodyPr>
          <a:lstStyle/>
          <a:p>
            <a:pPr algn="l" marL="164592" indent="-164592">
              <a:lnSpc>
                <a:spcPct val="100000"/>
              </a:lnSpc>
              <a:spcAft>
                <a:spcPts val="400"/>
              </a:spcAft>
              <a:buClr>
                <a:srgbClr val="8C9198"/>
              </a:buClr>
              <a:buFont typeface="Noto Sans KR"/>
              <a:buChar char="•"/>
            </a:pPr>
            <a:r>
              <a:rPr sz="1200" b="0">
                <a:solidFill>
                  <a:srgbClr val="4A4F57"/>
                </a:solidFill>
                <a:latin typeface="Noto Sans KR"/>
                <a:ea typeface="Noto Sans KR"/>
                <a:cs typeface="Noto Sans KR"/>
              </a:rPr>
              <a:t>고객 데이터의 수집·학습·재사용 범위를 계약으로 분리 합의</a:t>
            </a:r>
          </a:p>
          <a:p>
            <a:pPr algn="l" marL="164592" indent="-164592">
              <a:lnSpc>
                <a:spcPct val="100000"/>
              </a:lnSpc>
              <a:spcAft>
                <a:spcPts val="400"/>
              </a:spcAft>
              <a:buClr>
                <a:srgbClr val="8C9198"/>
              </a:buClr>
              <a:buFont typeface="Noto Sans KR"/>
              <a:buChar char="•"/>
            </a:pPr>
            <a:r>
              <a:rPr sz="1200" b="0">
                <a:solidFill>
                  <a:srgbClr val="4A4F57"/>
                </a:solidFill>
                <a:latin typeface="Noto Sans KR"/>
                <a:ea typeface="Noto Sans KR"/>
                <a:cs typeface="Noto Sans KR"/>
              </a:rPr>
              <a:t>고객 레시피·운영 정보는 고객 자산으로 보호</a:t>
            </a:r>
          </a:p>
          <a:p>
            <a:pPr algn="l" marL="164592" indent="-164592">
              <a:lnSpc>
                <a:spcPct val="100000"/>
              </a:lnSpc>
              <a:spcAft>
                <a:spcPts val="400"/>
              </a:spcAft>
              <a:buClr>
                <a:srgbClr val="8C9198"/>
              </a:buClr>
              <a:buFont typeface="Noto Sans KR"/>
              <a:buChar char="•"/>
            </a:pPr>
            <a:r>
              <a:rPr sz="1200" b="0">
                <a:solidFill>
                  <a:srgbClr val="4A4F57"/>
                </a:solidFill>
                <a:latin typeface="Noto Sans KR"/>
                <a:ea typeface="Noto Sans KR"/>
                <a:cs typeface="Noto Sans KR"/>
              </a:rPr>
              <a:t>Skill 개선용 일반화 데이터만 회사 자산</a:t>
            </a:r>
          </a:p>
          <a:p>
            <a:pPr algn="l" marL="164592" indent="-164592">
              <a:lnSpc>
                <a:spcPct val="100000"/>
              </a:lnSpc>
              <a:buClr>
                <a:srgbClr val="8C9198"/>
              </a:buClr>
              <a:buFont typeface="Noto Sans KR"/>
              <a:buChar char="•"/>
            </a:pPr>
            <a:r>
              <a:rPr sz="1200" b="0">
                <a:solidFill>
                  <a:srgbClr val="4A4F57"/>
                </a:solidFill>
                <a:latin typeface="Noto Sans KR"/>
                <a:ea typeface="Noto Sans KR"/>
                <a:cs typeface="Noto Sans KR"/>
              </a:rPr>
              <a:t>가정용은 영상·개인정보 최소 수집 원칙</a:t>
            </a:r>
          </a:p>
        </p:txBody>
      </p:sp>
      <p:sp>
        <p:nvSpPr>
          <p:cNvPr id="22" name="TextBox 21"/>
          <p:cNvSpPr txBox="1"/>
          <p:nvPr/>
        </p:nvSpPr>
        <p:spPr>
          <a:xfrm>
            <a:off x="8082076" y="2834639"/>
            <a:ext cx="3423818" cy="274320"/>
          </a:xfrm>
          <a:prstGeom prst="rect">
            <a:avLst/>
          </a:prstGeom>
          <a:noFill/>
        </p:spPr>
        <p:txBody>
          <a:bodyPr wrap="square" lIns="0" rIns="0" tIns="0" bIns="0" anchor="t">
            <a:spAutoFit/>
          </a:bodyPr>
          <a:lstStyle/>
          <a:p>
            <a:pPr algn="l">
              <a:lnSpc>
                <a:spcPct val="100000"/>
              </a:lnSpc>
            </a:pPr>
            <a:r>
              <a:rPr sz="1300" b="1">
                <a:solidFill>
                  <a:srgbClr val="15171A"/>
                </a:solidFill>
                <a:latin typeface="Noto Sans KR"/>
                <a:ea typeface="Noto Sans KR"/>
                <a:cs typeface="Noto Sans KR"/>
              </a:rPr>
              <a:t>함께 쌓이는 역량</a:t>
            </a:r>
          </a:p>
        </p:txBody>
      </p:sp>
      <p:cxnSp>
        <p:nvCxnSpPr>
          <p:cNvPr id="23" name="Connector 22"/>
          <p:cNvCxnSpPr/>
          <p:nvPr/>
        </p:nvCxnSpPr>
        <p:spPr>
          <a:xfrm>
            <a:off x="8082076" y="3163823"/>
            <a:ext cx="3423819" cy="0"/>
          </a:xfrm>
          <a:prstGeom prst="line">
            <a:avLst/>
          </a:prstGeom>
          <a:ln w="12700">
            <a:solidFill>
              <a:srgbClr val="15171A"/>
            </a:solidFill>
          </a:ln>
        </p:spPr>
      </p:cxnSp>
      <p:sp>
        <p:nvSpPr>
          <p:cNvPr id="24" name="TextBox 23"/>
          <p:cNvSpPr txBox="1"/>
          <p:nvPr/>
        </p:nvSpPr>
        <p:spPr>
          <a:xfrm>
            <a:off x="8082076" y="3273551"/>
            <a:ext cx="3423818" cy="1030020"/>
          </a:xfrm>
          <a:prstGeom prst="rect">
            <a:avLst/>
          </a:prstGeom>
          <a:noFill/>
        </p:spPr>
        <p:txBody>
          <a:bodyPr wrap="square" lIns="0" rIns="0" tIns="0" bIns="0" anchor="t">
            <a:spAutoFit/>
          </a:bodyPr>
          <a:lstStyle/>
          <a:p>
            <a:pPr algn="l" marL="164592" indent="-164592">
              <a:lnSpc>
                <a:spcPct val="100000"/>
              </a:lnSpc>
              <a:spcAft>
                <a:spcPts val="400"/>
              </a:spcAft>
              <a:buClr>
                <a:srgbClr val="8C9198"/>
              </a:buClr>
              <a:buFont typeface="Noto Sans KR"/>
              <a:buChar char="•"/>
            </a:pPr>
            <a:r>
              <a:rPr sz="1200" b="0">
                <a:solidFill>
                  <a:srgbClr val="4A4F57"/>
                </a:solidFill>
                <a:latin typeface="Noto Sans KR"/>
                <a:ea typeface="Noto Sans KR"/>
                <a:cs typeface="Noto Sans KR"/>
              </a:rPr>
              <a:t>소프트-리지드 하이브리드, 교체형 접촉부, 강성 전환</a:t>
            </a:r>
          </a:p>
          <a:p>
            <a:pPr algn="l" marL="164592" indent="-164592">
              <a:lnSpc>
                <a:spcPct val="100000"/>
              </a:lnSpc>
              <a:spcAft>
                <a:spcPts val="400"/>
              </a:spcAft>
              <a:buClr>
                <a:srgbClr val="8C9198"/>
              </a:buClr>
              <a:buFont typeface="Noto Sans KR"/>
              <a:buChar char="•"/>
            </a:pPr>
            <a:r>
              <a:rPr sz="1200" b="0">
                <a:solidFill>
                  <a:srgbClr val="4A4F57"/>
                </a:solidFill>
                <a:latin typeface="Noto Sans KR"/>
                <a:ea typeface="Noto Sans KR"/>
                <a:cs typeface="Noto Sans KR"/>
              </a:rPr>
              <a:t>힘·미끄러짐 기반 도구·조작부 제어</a:t>
            </a:r>
          </a:p>
          <a:p>
            <a:pPr algn="l" marL="164592" indent="-164592">
              <a:lnSpc>
                <a:spcPct val="100000"/>
              </a:lnSpc>
              <a:buClr>
                <a:srgbClr val="8C9198"/>
              </a:buClr>
              <a:buFont typeface="Noto Sans KR"/>
              <a:buChar char="•"/>
            </a:pPr>
            <a:r>
              <a:rPr sz="1200" b="0">
                <a:solidFill>
                  <a:srgbClr val="4A4F57"/>
                </a:solidFill>
                <a:latin typeface="Noto Sans KR"/>
                <a:ea typeface="Noto Sans KR"/>
                <a:cs typeface="Noto Sans KR"/>
              </a:rPr>
              <a:t>주방 현장 통합·PoC 운영 경험</a:t>
            </a:r>
          </a:p>
        </p:txBody>
      </p:sp>
      <p:sp>
        <p:nvSpPr>
          <p:cNvPr id="25" name="TextBox 24"/>
          <p:cNvSpPr txBox="1"/>
          <p:nvPr/>
        </p:nvSpPr>
        <p:spPr>
          <a:xfrm>
            <a:off x="685800" y="6107176"/>
            <a:ext cx="10820095" cy="202184"/>
          </a:xfrm>
          <a:prstGeom prst="rect">
            <a:avLst/>
          </a:prstGeom>
          <a:noFill/>
        </p:spPr>
        <p:txBody>
          <a:bodyPr wrap="square" lIns="0" rIns="0" tIns="0" bIns="0" anchor="t">
            <a:spAutoFit/>
          </a:bodyPr>
          <a:lstStyle/>
          <a:p>
            <a:pPr algn="l">
              <a:lnSpc>
                <a:spcPct val="100000"/>
              </a:lnSpc>
            </a:pPr>
            <a:r>
              <a:rPr sz="1000" b="0">
                <a:solidFill>
                  <a:srgbClr val="8C9198"/>
                </a:solidFill>
                <a:latin typeface="Noto Sans KR"/>
                <a:ea typeface="Noto Sans KR"/>
                <a:cs typeface="Noto Sans KR"/>
              </a:rPr>
              <a:t>목표는 성공 영상이 아닌 "어떤 상황에서 실패했고 어떻게 복구했는가"의 축적 · 데이터 경쟁력은 Skill 재사용과 이식성 검증 이후에 강조</a:t>
            </a:r>
          </a:p>
        </p:txBody>
      </p:sp>
      <p:sp>
        <p:nvSpPr>
          <p:cNvPr id="26" name="TextBox 25"/>
          <p:cNvSpPr txBox="1"/>
          <p:nvPr/>
        </p:nvSpPr>
        <p:spPr>
          <a:xfrm>
            <a:off x="685800" y="6446520"/>
            <a:ext cx="5486400" cy="201168"/>
          </a:xfrm>
          <a:prstGeom prst="rect">
            <a:avLst/>
          </a:prstGeom>
          <a:noFill/>
        </p:spPr>
        <p:txBody>
          <a:bodyPr wrap="square" lIns="0" rIns="0" tIns="0" bIns="0" anchor="t">
            <a:spAutoFit/>
          </a:bodyPr>
          <a:lstStyle/>
          <a:p>
            <a:pPr algn="l">
              <a:lnSpc>
                <a:spcPct val="100000"/>
              </a:lnSpc>
            </a:pPr>
            <a:r>
              <a:rPr sz="900" b="0">
                <a:solidFill>
                  <a:srgbClr val="8C9198"/>
                </a:solidFill>
                <a:latin typeface="Noto Sans KR"/>
                <a:ea typeface="Noto Sans KR"/>
                <a:cs typeface="Noto Sans KR"/>
              </a:rPr>
              <a:t>SoftHand  |  주방 로봇 조작 플랫폼  |  Seed 투자 제안서</a:t>
            </a:r>
          </a:p>
        </p:txBody>
      </p:sp>
      <p:sp>
        <p:nvSpPr>
          <p:cNvPr id="27" name="TextBox 26"/>
          <p:cNvSpPr txBox="1"/>
          <p:nvPr/>
        </p:nvSpPr>
        <p:spPr>
          <a:xfrm>
            <a:off x="11048695" y="6446520"/>
            <a:ext cx="457200" cy="201168"/>
          </a:xfrm>
          <a:prstGeom prst="rect">
            <a:avLst/>
          </a:prstGeom>
          <a:noFill/>
        </p:spPr>
        <p:txBody>
          <a:bodyPr wrap="square" lIns="0" rIns="0" tIns="0" bIns="0" anchor="t">
            <a:spAutoFit/>
          </a:bodyPr>
          <a:lstStyle/>
          <a:p>
            <a:pPr algn="r">
              <a:lnSpc>
                <a:spcPct val="100000"/>
              </a:lnSpc>
            </a:pPr>
            <a:r>
              <a:rPr sz="900" b="0">
                <a:solidFill>
                  <a:srgbClr val="8C9198"/>
                </a:solidFill>
                <a:latin typeface="Noto Sans KR"/>
                <a:ea typeface="Noto Sans KR"/>
                <a:cs typeface="Noto Sans KR"/>
              </a:rPr>
              <a:t>A12</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502920"/>
            <a:ext cx="7315200" cy="256032"/>
          </a:xfrm>
          <a:prstGeom prst="rect">
            <a:avLst/>
          </a:prstGeom>
          <a:noFill/>
        </p:spPr>
        <p:txBody>
          <a:bodyPr wrap="square" lIns="0" rIns="0" tIns="0" bIns="0" anchor="t">
            <a:spAutoFit/>
          </a:bodyPr>
          <a:lstStyle/>
          <a:p>
            <a:pPr algn="l">
              <a:lnSpc>
                <a:spcPct val="100000"/>
              </a:lnSpc>
            </a:pPr>
            <a:r>
              <a:rPr sz="1100" b="1">
                <a:solidFill>
                  <a:srgbClr val="E2571B"/>
                </a:solidFill>
                <a:latin typeface="Noto Sans KR"/>
                <a:ea typeface="Noto Sans KR"/>
                <a:cs typeface="Noto Sans KR"/>
              </a:rPr>
              <a:t>부록 A13</a:t>
            </a:r>
          </a:p>
        </p:txBody>
      </p:sp>
      <p:sp>
        <p:nvSpPr>
          <p:cNvPr id="3" name="TextBox 2"/>
          <p:cNvSpPr txBox="1"/>
          <p:nvPr/>
        </p:nvSpPr>
        <p:spPr>
          <a:xfrm>
            <a:off x="685800" y="822960"/>
            <a:ext cx="10820095" cy="475488"/>
          </a:xfrm>
          <a:prstGeom prst="rect">
            <a:avLst/>
          </a:prstGeom>
          <a:noFill/>
        </p:spPr>
        <p:txBody>
          <a:bodyPr wrap="square" lIns="0" rIns="0" tIns="0" bIns="0" anchor="t">
            <a:spAutoFit/>
          </a:bodyPr>
          <a:lstStyle/>
          <a:p>
            <a:pPr algn="l">
              <a:lnSpc>
                <a:spcPct val="95000"/>
              </a:lnSpc>
            </a:pPr>
            <a:r>
              <a:rPr sz="2600" b="1">
                <a:solidFill>
                  <a:srgbClr val="15171A"/>
                </a:solidFill>
                <a:latin typeface="Noto Sans KR"/>
                <a:ea typeface="Noto Sans KR"/>
                <a:cs typeface="Noto Sans KR"/>
              </a:rPr>
              <a:t>장기 보급 채널: 별도 구매에서 기본 옵션으로</a:t>
            </a:r>
          </a:p>
        </p:txBody>
      </p:sp>
      <p:sp>
        <p:nvSpPr>
          <p:cNvPr id="4" name="TextBox 3"/>
          <p:cNvSpPr txBox="1"/>
          <p:nvPr/>
        </p:nvSpPr>
        <p:spPr>
          <a:xfrm>
            <a:off x="685800" y="1353312"/>
            <a:ext cx="10820095" cy="274320"/>
          </a:xfrm>
          <a:prstGeom prst="rect">
            <a:avLst/>
          </a:prstGeom>
          <a:noFill/>
        </p:spPr>
        <p:txBody>
          <a:bodyPr wrap="square" lIns="0" rIns="0" tIns="0" bIns="0" anchor="t">
            <a:spAutoFit/>
          </a:bodyPr>
          <a:lstStyle/>
          <a:p>
            <a:pPr algn="l">
              <a:lnSpc>
                <a:spcPct val="100000"/>
              </a:lnSpc>
            </a:pPr>
            <a:r>
              <a:rPr sz="1300" b="0">
                <a:solidFill>
                  <a:srgbClr val="4A4F57"/>
                </a:solidFill>
                <a:latin typeface="Noto Sans KR"/>
                <a:ea typeface="Noto Sans KR"/>
                <a:cs typeface="Noto Sans KR"/>
              </a:rPr>
              <a:t>건설사는 핵심 시장이 아닌 장기 B2B2C 유통·탑재 채널 · 현재 확인된 협업 없음 · Base Case 미반영</a:t>
            </a:r>
          </a:p>
        </p:txBody>
      </p:sp>
      <p:sp>
        <p:nvSpPr>
          <p:cNvPr id="5" name="Rectangle 4"/>
          <p:cNvSpPr/>
          <p:nvPr/>
        </p:nvSpPr>
        <p:spPr>
          <a:xfrm>
            <a:off x="685800" y="1920240"/>
            <a:ext cx="1999488" cy="1600200"/>
          </a:xfrm>
          <a:prstGeom prst="rect">
            <a:avLst/>
          </a:prstGeom>
          <a:solidFill>
            <a:srgbClr val="F4F5F6"/>
          </a:solidFill>
          <a:ln>
            <a:noFill/>
          </a:ln>
        </p:spPr>
        <p:txBody>
          <a:bodyPr rtlCol="0" anchor="ctr"/>
          <a:lstStyle/>
          <a:p>
            <a:pPr algn="ctr"/>
          </a:p>
        </p:txBody>
      </p:sp>
      <p:sp>
        <p:nvSpPr>
          <p:cNvPr id="6" name="TextBox 5"/>
          <p:cNvSpPr txBox="1"/>
          <p:nvPr/>
        </p:nvSpPr>
        <p:spPr>
          <a:xfrm>
            <a:off x="832104" y="2048256"/>
            <a:ext cx="1725168" cy="548640"/>
          </a:xfrm>
          <a:prstGeom prst="rect">
            <a:avLst/>
          </a:prstGeom>
          <a:noFill/>
        </p:spPr>
        <p:txBody>
          <a:bodyPr wrap="square" lIns="0" rIns="0" tIns="0" bIns="0" anchor="t">
            <a:spAutoFit/>
          </a:bodyPr>
          <a:lstStyle/>
          <a:p>
            <a:pPr algn="l">
              <a:lnSpc>
                <a:spcPct val="100000"/>
              </a:lnSpc>
            </a:pPr>
            <a:r>
              <a:rPr sz="1350" b="1">
                <a:solidFill>
                  <a:srgbClr val="15171A"/>
                </a:solidFill>
                <a:latin typeface="Noto Sans KR"/>
                <a:ea typeface="Noto Sans KR"/>
                <a:cs typeface="Noto Sans KR"/>
              </a:rPr>
              <a:t>Standalone Robot</a:t>
            </a:r>
          </a:p>
        </p:txBody>
      </p:sp>
      <p:sp>
        <p:nvSpPr>
          <p:cNvPr id="7" name="TextBox 6"/>
          <p:cNvSpPr txBox="1"/>
          <p:nvPr/>
        </p:nvSpPr>
        <p:spPr>
          <a:xfrm>
            <a:off x="832104" y="2615184"/>
            <a:ext cx="1725168" cy="457200"/>
          </a:xfrm>
          <a:prstGeom prst="rect">
            <a:avLst/>
          </a:prstGeom>
          <a:noFill/>
        </p:spPr>
        <p:txBody>
          <a:bodyPr wrap="square" lIns="0" rIns="0" tIns="0" bIns="0" anchor="t">
            <a:spAutoFit/>
          </a:bodyPr>
          <a:lstStyle/>
          <a:p>
            <a:pPr algn="l">
              <a:lnSpc>
                <a:spcPct val="100000"/>
              </a:lnSpc>
            </a:pPr>
            <a:r>
              <a:rPr sz="1100" b="0">
                <a:solidFill>
                  <a:srgbClr val="15171A"/>
                </a:solidFill>
                <a:latin typeface="Noto Sans KR"/>
                <a:ea typeface="Noto Sans KR"/>
                <a:cs typeface="Noto Sans KR"/>
              </a:rPr>
              <a:t>별도로 구매하는 주방 로봇</a:t>
            </a:r>
          </a:p>
        </p:txBody>
      </p:sp>
      <p:sp>
        <p:nvSpPr>
          <p:cNvPr id="8" name="TextBox 7"/>
          <p:cNvSpPr txBox="1"/>
          <p:nvPr/>
        </p:nvSpPr>
        <p:spPr>
          <a:xfrm>
            <a:off x="832104" y="3035808"/>
            <a:ext cx="1725168" cy="457200"/>
          </a:xfrm>
          <a:prstGeom prst="rect">
            <a:avLst/>
          </a:prstGeom>
          <a:noFill/>
        </p:spPr>
        <p:txBody>
          <a:bodyPr wrap="square" lIns="0" rIns="0" tIns="0" bIns="0" anchor="t">
            <a:spAutoFit/>
          </a:bodyPr>
          <a:lstStyle/>
          <a:p>
            <a:pPr algn="l">
              <a:lnSpc>
                <a:spcPct val="100000"/>
              </a:lnSpc>
            </a:pPr>
            <a:r>
              <a:rPr sz="1000" b="0">
                <a:solidFill>
                  <a:srgbClr val="4A4F57"/>
                </a:solidFill>
                <a:latin typeface="Noto Sans KR"/>
                <a:ea typeface="Noto Sans KR"/>
                <a:cs typeface="Noto Sans KR"/>
              </a:rPr>
              <a:t>상업용 주방 · 가정 (Seed~중기)</a:t>
            </a:r>
          </a:p>
        </p:txBody>
      </p:sp>
      <p:sp>
        <p:nvSpPr>
          <p:cNvPr id="9" name="Rectangle 8"/>
          <p:cNvSpPr/>
          <p:nvPr/>
        </p:nvSpPr>
        <p:spPr>
          <a:xfrm>
            <a:off x="2977896" y="1920240"/>
            <a:ext cx="1999488" cy="1600200"/>
          </a:xfrm>
          <a:prstGeom prst="rect">
            <a:avLst/>
          </a:prstGeom>
          <a:solidFill>
            <a:srgbClr val="15171A"/>
          </a:solidFill>
          <a:ln>
            <a:noFill/>
          </a:ln>
        </p:spPr>
        <p:txBody>
          <a:bodyPr rtlCol="0" anchor="ctr"/>
          <a:lstStyle/>
          <a:p>
            <a:pPr algn="ctr"/>
          </a:p>
        </p:txBody>
      </p:sp>
      <p:sp>
        <p:nvSpPr>
          <p:cNvPr id="10" name="TextBox 9"/>
          <p:cNvSpPr txBox="1"/>
          <p:nvPr/>
        </p:nvSpPr>
        <p:spPr>
          <a:xfrm>
            <a:off x="3124200" y="2048256"/>
            <a:ext cx="1725168" cy="548640"/>
          </a:xfrm>
          <a:prstGeom prst="rect">
            <a:avLst/>
          </a:prstGeom>
          <a:noFill/>
        </p:spPr>
        <p:txBody>
          <a:bodyPr wrap="square" lIns="0" rIns="0" tIns="0" bIns="0" anchor="t">
            <a:spAutoFit/>
          </a:bodyPr>
          <a:lstStyle/>
          <a:p>
            <a:pPr algn="l">
              <a:lnSpc>
                <a:spcPct val="100000"/>
              </a:lnSpc>
            </a:pPr>
            <a:r>
              <a:rPr sz="1350" b="1">
                <a:solidFill>
                  <a:srgbClr val="FFFFFF"/>
                </a:solidFill>
                <a:latin typeface="Noto Sans KR"/>
                <a:ea typeface="Noto Sans KR"/>
                <a:cs typeface="Noto Sans KR"/>
              </a:rPr>
              <a:t>Connected Kitchen</a:t>
            </a:r>
          </a:p>
        </p:txBody>
      </p:sp>
      <p:sp>
        <p:nvSpPr>
          <p:cNvPr id="11" name="TextBox 10"/>
          <p:cNvSpPr txBox="1"/>
          <p:nvPr/>
        </p:nvSpPr>
        <p:spPr>
          <a:xfrm>
            <a:off x="3124200" y="2615184"/>
            <a:ext cx="1725168" cy="457200"/>
          </a:xfrm>
          <a:prstGeom prst="rect">
            <a:avLst/>
          </a:prstGeom>
          <a:noFill/>
        </p:spPr>
        <p:txBody>
          <a:bodyPr wrap="square" lIns="0" rIns="0" tIns="0" bIns="0" anchor="t">
            <a:spAutoFit/>
          </a:bodyPr>
          <a:lstStyle/>
          <a:p>
            <a:pPr algn="l">
              <a:lnSpc>
                <a:spcPct val="100000"/>
              </a:lnSpc>
            </a:pPr>
            <a:r>
              <a:rPr sz="1100" b="0">
                <a:solidFill>
                  <a:srgbClr val="FFFFFF"/>
                </a:solidFill>
                <a:latin typeface="Noto Sans KR"/>
                <a:ea typeface="Noto Sans KR"/>
                <a:cs typeface="Noto Sans KR"/>
              </a:rPr>
              <a:t>가전·스마트홈과 연동</a:t>
            </a:r>
          </a:p>
        </p:txBody>
      </p:sp>
      <p:sp>
        <p:nvSpPr>
          <p:cNvPr id="12" name="TextBox 11"/>
          <p:cNvSpPr txBox="1"/>
          <p:nvPr/>
        </p:nvSpPr>
        <p:spPr>
          <a:xfrm>
            <a:off x="3124200" y="3035808"/>
            <a:ext cx="1725168" cy="457200"/>
          </a:xfrm>
          <a:prstGeom prst="rect">
            <a:avLst/>
          </a:prstGeom>
          <a:noFill/>
        </p:spPr>
        <p:txBody>
          <a:bodyPr wrap="square" lIns="0" rIns="0" tIns="0" bIns="0" anchor="t">
            <a:spAutoFit/>
          </a:bodyPr>
          <a:lstStyle/>
          <a:p>
            <a:pPr algn="l">
              <a:lnSpc>
                <a:spcPct val="100000"/>
              </a:lnSpc>
            </a:pPr>
            <a:r>
              <a:rPr sz="1000" b="0">
                <a:solidFill>
                  <a:srgbClr val="B9BEC5"/>
                </a:solidFill>
                <a:latin typeface="Noto Sans KR"/>
                <a:ea typeface="Noto Sans KR"/>
                <a:cs typeface="Noto Sans KR"/>
              </a:rPr>
              <a:t>가전 OEM · 스마트홈 (장기)</a:t>
            </a:r>
          </a:p>
        </p:txBody>
      </p:sp>
      <p:cxnSp>
        <p:nvCxnSpPr>
          <p:cNvPr id="13" name="Connector 12"/>
          <p:cNvCxnSpPr/>
          <p:nvPr/>
        </p:nvCxnSpPr>
        <p:spPr>
          <a:xfrm>
            <a:off x="2731008" y="2720340"/>
            <a:ext cx="201168" cy="0"/>
          </a:xfrm>
          <a:prstGeom prst="line">
            <a:avLst/>
          </a:prstGeom>
          <a:ln w="15875">
            <a:solidFill>
              <a:srgbClr val="15171A"/>
            </a:solidFill>
            <a:tailEnd type="triangle" w="med" len="med"/>
          </a:ln>
        </p:spPr>
      </p:cxnSp>
      <p:sp>
        <p:nvSpPr>
          <p:cNvPr id="14" name="Rectangle 13"/>
          <p:cNvSpPr/>
          <p:nvPr/>
        </p:nvSpPr>
        <p:spPr>
          <a:xfrm>
            <a:off x="5269992" y="1920240"/>
            <a:ext cx="1999488" cy="1600200"/>
          </a:xfrm>
          <a:prstGeom prst="rect">
            <a:avLst/>
          </a:prstGeom>
          <a:solidFill>
            <a:srgbClr val="E2571B"/>
          </a:solidFill>
          <a:ln>
            <a:noFill/>
          </a:ln>
        </p:spPr>
        <p:txBody>
          <a:bodyPr rtlCol="0" anchor="ctr"/>
          <a:lstStyle/>
          <a:p>
            <a:pPr algn="ctr"/>
          </a:p>
        </p:txBody>
      </p:sp>
      <p:sp>
        <p:nvSpPr>
          <p:cNvPr id="15" name="TextBox 14"/>
          <p:cNvSpPr txBox="1"/>
          <p:nvPr/>
        </p:nvSpPr>
        <p:spPr>
          <a:xfrm>
            <a:off x="5416296" y="2048256"/>
            <a:ext cx="1725168" cy="548640"/>
          </a:xfrm>
          <a:prstGeom prst="rect">
            <a:avLst/>
          </a:prstGeom>
          <a:noFill/>
        </p:spPr>
        <p:txBody>
          <a:bodyPr wrap="square" lIns="0" rIns="0" tIns="0" bIns="0" anchor="t">
            <a:spAutoFit/>
          </a:bodyPr>
          <a:lstStyle/>
          <a:p>
            <a:pPr algn="l">
              <a:lnSpc>
                <a:spcPct val="100000"/>
              </a:lnSpc>
            </a:pPr>
            <a:r>
              <a:rPr sz="1350" b="1">
                <a:solidFill>
                  <a:srgbClr val="FFFFFF"/>
                </a:solidFill>
                <a:latin typeface="Noto Sans KR"/>
                <a:ea typeface="Noto Sans KR"/>
                <a:cs typeface="Noto Sans KR"/>
              </a:rPr>
              <a:t>Built-in Kitchen Robotics</a:t>
            </a:r>
          </a:p>
        </p:txBody>
      </p:sp>
      <p:sp>
        <p:nvSpPr>
          <p:cNvPr id="16" name="TextBox 15"/>
          <p:cNvSpPr txBox="1"/>
          <p:nvPr/>
        </p:nvSpPr>
        <p:spPr>
          <a:xfrm>
            <a:off x="5416296" y="2615184"/>
            <a:ext cx="1725168" cy="457200"/>
          </a:xfrm>
          <a:prstGeom prst="rect">
            <a:avLst/>
          </a:prstGeom>
          <a:noFill/>
        </p:spPr>
        <p:txBody>
          <a:bodyPr wrap="square" lIns="0" rIns="0" tIns="0" bIns="0" anchor="t">
            <a:spAutoFit/>
          </a:bodyPr>
          <a:lstStyle/>
          <a:p>
            <a:pPr algn="l">
              <a:lnSpc>
                <a:spcPct val="100000"/>
              </a:lnSpc>
            </a:pPr>
            <a:r>
              <a:rPr sz="1100" b="0">
                <a:solidFill>
                  <a:srgbClr val="FFFFFF"/>
                </a:solidFill>
                <a:latin typeface="Noto Sans KR"/>
                <a:ea typeface="Noto Sans KR"/>
                <a:cs typeface="Noto Sans KR"/>
              </a:rPr>
              <a:t>주방 설계 단계부터 기본 탑재</a:t>
            </a:r>
          </a:p>
        </p:txBody>
      </p:sp>
      <p:sp>
        <p:nvSpPr>
          <p:cNvPr id="17" name="TextBox 16"/>
          <p:cNvSpPr txBox="1"/>
          <p:nvPr/>
        </p:nvSpPr>
        <p:spPr>
          <a:xfrm>
            <a:off x="5416296" y="3035808"/>
            <a:ext cx="1725168" cy="457200"/>
          </a:xfrm>
          <a:prstGeom prst="rect">
            <a:avLst/>
          </a:prstGeom>
          <a:noFill/>
        </p:spPr>
        <p:txBody>
          <a:bodyPr wrap="square" lIns="0" rIns="0" tIns="0" bIns="0" anchor="t">
            <a:spAutoFit/>
          </a:bodyPr>
          <a:lstStyle/>
          <a:p>
            <a:pPr algn="l">
              <a:lnSpc>
                <a:spcPct val="100000"/>
              </a:lnSpc>
            </a:pPr>
            <a:r>
              <a:rPr sz="1000" b="0">
                <a:solidFill>
                  <a:srgbClr val="FFE6DA"/>
                </a:solidFill>
                <a:latin typeface="Noto Sans KR"/>
                <a:ea typeface="Noto Sans KR"/>
                <a:cs typeface="Noto Sans KR"/>
              </a:rPr>
              <a:t>건설사 · 디벨로퍼 · 호텔 · 시니어 주거 (장기)</a:t>
            </a:r>
          </a:p>
        </p:txBody>
      </p:sp>
      <p:cxnSp>
        <p:nvCxnSpPr>
          <p:cNvPr id="18" name="Connector 17"/>
          <p:cNvCxnSpPr/>
          <p:nvPr/>
        </p:nvCxnSpPr>
        <p:spPr>
          <a:xfrm>
            <a:off x="5023104" y="2720340"/>
            <a:ext cx="201168" cy="0"/>
          </a:xfrm>
          <a:prstGeom prst="line">
            <a:avLst/>
          </a:prstGeom>
          <a:ln w="15875">
            <a:solidFill>
              <a:srgbClr val="15171A"/>
            </a:solidFill>
            <a:tailEnd type="triangle" w="med" len="med"/>
          </a:ln>
        </p:spPr>
      </p:cxnSp>
      <p:sp>
        <p:nvSpPr>
          <p:cNvPr id="19" name="TextBox 18"/>
          <p:cNvSpPr txBox="1"/>
          <p:nvPr/>
        </p:nvSpPr>
        <p:spPr>
          <a:xfrm>
            <a:off x="685800" y="3794760"/>
            <a:ext cx="6583680" cy="274320"/>
          </a:xfrm>
          <a:prstGeom prst="rect">
            <a:avLst/>
          </a:prstGeom>
          <a:noFill/>
        </p:spPr>
        <p:txBody>
          <a:bodyPr wrap="square" lIns="0" rIns="0" tIns="0" bIns="0" anchor="t">
            <a:spAutoFit/>
          </a:bodyPr>
          <a:lstStyle/>
          <a:p>
            <a:pPr algn="l">
              <a:lnSpc>
                <a:spcPct val="100000"/>
              </a:lnSpc>
            </a:pPr>
            <a:r>
              <a:rPr sz="1300" b="1">
                <a:solidFill>
                  <a:srgbClr val="15171A"/>
                </a:solidFill>
                <a:latin typeface="Noto Sans KR"/>
                <a:ea typeface="Noto Sans KR"/>
                <a:cs typeface="Noto Sans KR"/>
              </a:rPr>
              <a:t>잠재 파트너 (장기 가능성)</a:t>
            </a:r>
          </a:p>
        </p:txBody>
      </p:sp>
      <p:cxnSp>
        <p:nvCxnSpPr>
          <p:cNvPr id="20" name="Connector 19"/>
          <p:cNvCxnSpPr/>
          <p:nvPr/>
        </p:nvCxnSpPr>
        <p:spPr>
          <a:xfrm>
            <a:off x="685800" y="4123944"/>
            <a:ext cx="6583680" cy="0"/>
          </a:xfrm>
          <a:prstGeom prst="line">
            <a:avLst/>
          </a:prstGeom>
          <a:ln w="12700">
            <a:solidFill>
              <a:srgbClr val="15171A"/>
            </a:solidFill>
          </a:ln>
        </p:spPr>
      </p:cxnSp>
      <p:sp>
        <p:nvSpPr>
          <p:cNvPr id="21" name="TextBox 20"/>
          <p:cNvSpPr txBox="1"/>
          <p:nvPr/>
        </p:nvSpPr>
        <p:spPr>
          <a:xfrm>
            <a:off x="685800" y="4233672"/>
            <a:ext cx="6583680" cy="274320"/>
          </a:xfrm>
          <a:prstGeom prst="rect">
            <a:avLst/>
          </a:prstGeom>
          <a:noFill/>
        </p:spPr>
        <p:txBody>
          <a:bodyPr wrap="square" lIns="0" rIns="0" tIns="0" bIns="0" anchor="t">
            <a:spAutoFit/>
          </a:bodyPr>
          <a:lstStyle/>
          <a:p>
            <a:pPr algn="l">
              <a:lnSpc>
                <a:spcPct val="100000"/>
              </a:lnSpc>
            </a:pPr>
            <a:r>
              <a:rPr sz="1300" b="0">
                <a:solidFill>
                  <a:srgbClr val="15171A"/>
                </a:solidFill>
                <a:latin typeface="Noto Sans KR"/>
                <a:ea typeface="Noto Sans KR"/>
                <a:cs typeface="Noto Sans KR"/>
              </a:rPr>
              <a:t>로봇 OEM · 가전 OEM · 건설사 · 디벨로퍼 · 스마트홈 플랫폼</a:t>
            </a:r>
          </a:p>
        </p:txBody>
      </p:sp>
      <p:sp>
        <p:nvSpPr>
          <p:cNvPr id="22" name="TextBox 21"/>
          <p:cNvSpPr txBox="1"/>
          <p:nvPr/>
        </p:nvSpPr>
        <p:spPr>
          <a:xfrm>
            <a:off x="685800" y="4645152"/>
            <a:ext cx="6583680" cy="274320"/>
          </a:xfrm>
          <a:prstGeom prst="rect">
            <a:avLst/>
          </a:prstGeom>
          <a:noFill/>
        </p:spPr>
        <p:txBody>
          <a:bodyPr wrap="square" lIns="0" rIns="0" tIns="0" bIns="0" anchor="t">
            <a:spAutoFit/>
          </a:bodyPr>
          <a:lstStyle/>
          <a:p>
            <a:pPr algn="l">
              <a:lnSpc>
                <a:spcPct val="100000"/>
              </a:lnSpc>
            </a:pPr>
            <a:r>
              <a:rPr sz="1300" b="1">
                <a:solidFill>
                  <a:srgbClr val="15171A"/>
                </a:solidFill>
                <a:latin typeface="Noto Sans KR"/>
                <a:ea typeface="Noto Sans KR"/>
                <a:cs typeface="Noto Sans KR"/>
              </a:rPr>
              <a:t>활용 공간</a:t>
            </a:r>
          </a:p>
        </p:txBody>
      </p:sp>
      <p:cxnSp>
        <p:nvCxnSpPr>
          <p:cNvPr id="23" name="Connector 22"/>
          <p:cNvCxnSpPr/>
          <p:nvPr/>
        </p:nvCxnSpPr>
        <p:spPr>
          <a:xfrm>
            <a:off x="685800" y="4974336"/>
            <a:ext cx="6583680" cy="0"/>
          </a:xfrm>
          <a:prstGeom prst="line">
            <a:avLst/>
          </a:prstGeom>
          <a:ln w="12700">
            <a:solidFill>
              <a:srgbClr val="15171A"/>
            </a:solidFill>
          </a:ln>
        </p:spPr>
      </p:cxnSp>
      <p:sp>
        <p:nvSpPr>
          <p:cNvPr id="24" name="TextBox 23"/>
          <p:cNvSpPr txBox="1"/>
          <p:nvPr/>
        </p:nvSpPr>
        <p:spPr>
          <a:xfrm>
            <a:off x="685800" y="5084064"/>
            <a:ext cx="6583680" cy="274320"/>
          </a:xfrm>
          <a:prstGeom prst="rect">
            <a:avLst/>
          </a:prstGeom>
          <a:noFill/>
        </p:spPr>
        <p:txBody>
          <a:bodyPr wrap="square" lIns="0" rIns="0" tIns="0" bIns="0" anchor="t">
            <a:spAutoFit/>
          </a:bodyPr>
          <a:lstStyle/>
          <a:p>
            <a:pPr algn="l">
              <a:lnSpc>
                <a:spcPct val="100000"/>
              </a:lnSpc>
            </a:pPr>
            <a:r>
              <a:rPr sz="1300" b="0">
                <a:solidFill>
                  <a:srgbClr val="15171A"/>
                </a:solidFill>
                <a:latin typeface="Noto Sans KR"/>
                <a:ea typeface="Noto Sans KR"/>
                <a:cs typeface="Noto Sans KR"/>
              </a:rPr>
              <a:t>아파트 · 프리미엄 레지던스 · 시니어 주거 · 호텔 · 서비스드 레지던스</a:t>
            </a:r>
          </a:p>
        </p:txBody>
      </p:sp>
      <p:pic>
        <p:nvPicPr>
          <p:cNvPr id="25" name="Picture 24" descr="lx_wide_light_418x259_50_50_100.jpg"/>
          <p:cNvPicPr>
            <a:picLocks noChangeAspect="1"/>
          </p:cNvPicPr>
          <p:nvPr/>
        </p:nvPicPr>
        <p:blipFill>
          <a:blip r:embed="rId2"/>
          <a:stretch>
            <a:fillRect/>
          </a:stretch>
        </p:blipFill>
        <p:spPr>
          <a:xfrm>
            <a:off x="7680960" y="1920240"/>
            <a:ext cx="3824935" cy="2371459"/>
          </a:xfrm>
          <a:prstGeom prst="rect">
            <a:avLst/>
          </a:prstGeom>
        </p:spPr>
      </p:pic>
      <p:sp>
        <p:nvSpPr>
          <p:cNvPr id="26" name="TextBox 25"/>
          <p:cNvSpPr txBox="1"/>
          <p:nvPr/>
        </p:nvSpPr>
        <p:spPr>
          <a:xfrm>
            <a:off x="7680960" y="4364851"/>
            <a:ext cx="3824935" cy="237744"/>
          </a:xfrm>
          <a:prstGeom prst="rect">
            <a:avLst/>
          </a:prstGeom>
          <a:noFill/>
        </p:spPr>
        <p:txBody>
          <a:bodyPr wrap="square" lIns="0" rIns="0" tIns="0" bIns="0" anchor="t">
            <a:spAutoFit/>
          </a:bodyPr>
          <a:lstStyle/>
          <a:p>
            <a:pPr algn="l">
              <a:lnSpc>
                <a:spcPct val="100000"/>
              </a:lnSpc>
            </a:pPr>
            <a:r>
              <a:rPr sz="1000" b="0">
                <a:solidFill>
                  <a:srgbClr val="8C9198"/>
                </a:solidFill>
                <a:latin typeface="Noto Sans KR"/>
                <a:ea typeface="Noto Sans KR"/>
                <a:cs typeface="Noto Sans KR"/>
              </a:rPr>
              <a:t>Built-in 주방 콘셉트 렌더링 (장기 확장 가능성)</a:t>
            </a:r>
          </a:p>
        </p:txBody>
      </p:sp>
      <p:sp>
        <p:nvSpPr>
          <p:cNvPr id="27" name="Rectangle 26"/>
          <p:cNvSpPr/>
          <p:nvPr/>
        </p:nvSpPr>
        <p:spPr>
          <a:xfrm>
            <a:off x="7680960" y="4840339"/>
            <a:ext cx="3824935" cy="1005840"/>
          </a:xfrm>
          <a:prstGeom prst="rect">
            <a:avLst/>
          </a:prstGeom>
          <a:solidFill>
            <a:srgbClr val="15171A"/>
          </a:solidFill>
          <a:ln>
            <a:noFill/>
          </a:ln>
        </p:spPr>
        <p:txBody>
          <a:bodyPr rtlCol="0" anchor="ctr"/>
          <a:lstStyle/>
          <a:p>
            <a:pPr algn="ctr"/>
          </a:p>
        </p:txBody>
      </p:sp>
      <p:sp>
        <p:nvSpPr>
          <p:cNvPr id="28" name="TextBox 27"/>
          <p:cNvSpPr txBox="1"/>
          <p:nvPr/>
        </p:nvSpPr>
        <p:spPr>
          <a:xfrm>
            <a:off x="7882128" y="4840339"/>
            <a:ext cx="3459175" cy="1005840"/>
          </a:xfrm>
          <a:prstGeom prst="rect">
            <a:avLst/>
          </a:prstGeom>
          <a:noFill/>
        </p:spPr>
        <p:txBody>
          <a:bodyPr wrap="square" lIns="0" rIns="0" tIns="0" bIns="0" anchor="ctr">
            <a:spAutoFit/>
          </a:bodyPr>
          <a:lstStyle/>
          <a:p>
            <a:pPr algn="l">
              <a:lnSpc>
                <a:spcPct val="100000"/>
              </a:lnSpc>
            </a:pPr>
            <a:r>
              <a:rPr sz="1300" b="1">
                <a:solidFill>
                  <a:srgbClr val="F3F3F1"/>
                </a:solidFill>
                <a:latin typeface="Noto Sans KR"/>
                <a:ea typeface="Noto Sans KR"/>
                <a:cs typeface="Noto Sans KR"/>
              </a:rPr>
              <a:t>로봇을 별도로 구매하는 시대에서,</a:t>
            </a:r>
          </a:p>
          <a:p>
            <a:pPr algn="l">
              <a:lnSpc>
                <a:spcPct val="100000"/>
              </a:lnSpc>
            </a:pPr>
            <a:r>
              <a:rPr sz="1300" b="1">
                <a:solidFill>
                  <a:srgbClr val="F3F3F1"/>
                </a:solidFill>
                <a:latin typeface="Noto Sans KR"/>
                <a:ea typeface="Noto Sans KR"/>
                <a:cs typeface="Noto Sans KR"/>
              </a:rPr>
              <a:t>Kitchen Robotics가 주거공간의</a:t>
            </a:r>
          </a:p>
          <a:p>
            <a:pPr algn="l">
              <a:lnSpc>
                <a:spcPct val="100000"/>
              </a:lnSpc>
            </a:pPr>
            <a:r>
              <a:rPr sz="1300" b="1">
                <a:solidFill>
                  <a:srgbClr val="F3F3F1"/>
                </a:solidFill>
                <a:latin typeface="Noto Sans KR"/>
                <a:ea typeface="Noto Sans KR"/>
                <a:cs typeface="Noto Sans KR"/>
              </a:rPr>
              <a:t>기본 옵션이 되는 시대까지</a:t>
            </a:r>
          </a:p>
        </p:txBody>
      </p:sp>
      <p:sp>
        <p:nvSpPr>
          <p:cNvPr id="29" name="TextBox 28"/>
          <p:cNvSpPr txBox="1"/>
          <p:nvPr/>
        </p:nvSpPr>
        <p:spPr>
          <a:xfrm>
            <a:off x="685800" y="6446520"/>
            <a:ext cx="5486400" cy="201168"/>
          </a:xfrm>
          <a:prstGeom prst="rect">
            <a:avLst/>
          </a:prstGeom>
          <a:noFill/>
        </p:spPr>
        <p:txBody>
          <a:bodyPr wrap="square" lIns="0" rIns="0" tIns="0" bIns="0" anchor="t">
            <a:spAutoFit/>
          </a:bodyPr>
          <a:lstStyle/>
          <a:p>
            <a:pPr algn="l">
              <a:lnSpc>
                <a:spcPct val="100000"/>
              </a:lnSpc>
            </a:pPr>
            <a:r>
              <a:rPr sz="900" b="0">
                <a:solidFill>
                  <a:srgbClr val="8C9198"/>
                </a:solidFill>
                <a:latin typeface="Noto Sans KR"/>
                <a:ea typeface="Noto Sans KR"/>
                <a:cs typeface="Noto Sans KR"/>
              </a:rPr>
              <a:t>SoftHand  |  주방 로봇 조작 플랫폼  |  Seed 투자 제안서</a:t>
            </a:r>
          </a:p>
        </p:txBody>
      </p:sp>
      <p:sp>
        <p:nvSpPr>
          <p:cNvPr id="30" name="TextBox 29"/>
          <p:cNvSpPr txBox="1"/>
          <p:nvPr/>
        </p:nvSpPr>
        <p:spPr>
          <a:xfrm>
            <a:off x="3154680" y="6446520"/>
            <a:ext cx="7802575" cy="201168"/>
          </a:xfrm>
          <a:prstGeom prst="rect">
            <a:avLst/>
          </a:prstGeom>
          <a:noFill/>
        </p:spPr>
        <p:txBody>
          <a:bodyPr wrap="square" lIns="0" rIns="0" tIns="0" bIns="0" anchor="t">
            <a:spAutoFit/>
          </a:bodyPr>
          <a:lstStyle/>
          <a:p>
            <a:pPr algn="r">
              <a:lnSpc>
                <a:spcPct val="100000"/>
              </a:lnSpc>
            </a:pPr>
            <a:r>
              <a:rPr sz="900" b="0">
                <a:solidFill>
                  <a:srgbClr val="8C9198"/>
                </a:solidFill>
                <a:latin typeface="Noto Sans KR"/>
                <a:ea typeface="Noto Sans KR"/>
                <a:cs typeface="Noto Sans KR"/>
              </a:rPr>
              <a:t>관련 네트워크·협의가 있다면 실제 정보로 기재 [정보 입력 필요] · 없으면 가능성으로만 유지</a:t>
            </a:r>
          </a:p>
        </p:txBody>
      </p:sp>
      <p:sp>
        <p:nvSpPr>
          <p:cNvPr id="31" name="TextBox 30"/>
          <p:cNvSpPr txBox="1"/>
          <p:nvPr/>
        </p:nvSpPr>
        <p:spPr>
          <a:xfrm>
            <a:off x="11048695" y="6446520"/>
            <a:ext cx="457200" cy="201168"/>
          </a:xfrm>
          <a:prstGeom prst="rect">
            <a:avLst/>
          </a:prstGeom>
          <a:noFill/>
        </p:spPr>
        <p:txBody>
          <a:bodyPr wrap="square" lIns="0" rIns="0" tIns="0" bIns="0" anchor="t">
            <a:spAutoFit/>
          </a:bodyPr>
          <a:lstStyle/>
          <a:p>
            <a:pPr algn="r">
              <a:lnSpc>
                <a:spcPct val="100000"/>
              </a:lnSpc>
            </a:pPr>
            <a:r>
              <a:rPr sz="900" b="0">
                <a:solidFill>
                  <a:srgbClr val="8C9198"/>
                </a:solidFill>
                <a:latin typeface="Noto Sans KR"/>
                <a:ea typeface="Noto Sans KR"/>
                <a:cs typeface="Noto Sans KR"/>
              </a:rPr>
              <a:t>A13</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502920"/>
            <a:ext cx="7315200" cy="256032"/>
          </a:xfrm>
          <a:prstGeom prst="rect">
            <a:avLst/>
          </a:prstGeom>
          <a:noFill/>
        </p:spPr>
        <p:txBody>
          <a:bodyPr wrap="square" lIns="0" rIns="0" tIns="0" bIns="0" anchor="t">
            <a:spAutoFit/>
          </a:bodyPr>
          <a:lstStyle/>
          <a:p>
            <a:pPr algn="l">
              <a:lnSpc>
                <a:spcPct val="100000"/>
              </a:lnSpc>
            </a:pPr>
            <a:r>
              <a:rPr sz="1100" b="1">
                <a:solidFill>
                  <a:srgbClr val="E2571B"/>
                </a:solidFill>
                <a:latin typeface="Noto Sans KR"/>
                <a:ea typeface="Noto Sans KR"/>
                <a:cs typeface="Noto Sans KR"/>
              </a:rPr>
              <a:t>부록 A14</a:t>
            </a:r>
          </a:p>
        </p:txBody>
      </p:sp>
      <p:sp>
        <p:nvSpPr>
          <p:cNvPr id="3" name="TextBox 2"/>
          <p:cNvSpPr txBox="1"/>
          <p:nvPr/>
        </p:nvSpPr>
        <p:spPr>
          <a:xfrm>
            <a:off x="685800" y="822960"/>
            <a:ext cx="10820095" cy="475488"/>
          </a:xfrm>
          <a:prstGeom prst="rect">
            <a:avLst/>
          </a:prstGeom>
          <a:noFill/>
        </p:spPr>
        <p:txBody>
          <a:bodyPr wrap="square" lIns="0" rIns="0" tIns="0" bIns="0" anchor="t">
            <a:spAutoFit/>
          </a:bodyPr>
          <a:lstStyle/>
          <a:p>
            <a:pPr algn="l">
              <a:lnSpc>
                <a:spcPct val="95000"/>
              </a:lnSpc>
            </a:pPr>
            <a:r>
              <a:rPr sz="2600" b="1">
                <a:solidFill>
                  <a:srgbClr val="15171A"/>
                </a:solidFill>
                <a:latin typeface="Noto Sans KR"/>
                <a:ea typeface="Noto Sans KR"/>
                <a:cs typeface="Noto Sans KR"/>
              </a:rPr>
              <a:t>스크루드라이버 기술 데모</a:t>
            </a:r>
          </a:p>
        </p:txBody>
      </p:sp>
      <p:sp>
        <p:nvSpPr>
          <p:cNvPr id="4" name="TextBox 3"/>
          <p:cNvSpPr txBox="1"/>
          <p:nvPr/>
        </p:nvSpPr>
        <p:spPr>
          <a:xfrm>
            <a:off x="685800" y="1353312"/>
            <a:ext cx="10820095" cy="274320"/>
          </a:xfrm>
          <a:prstGeom prst="rect">
            <a:avLst/>
          </a:prstGeom>
          <a:noFill/>
        </p:spPr>
        <p:txBody>
          <a:bodyPr wrap="square" lIns="0" rIns="0" tIns="0" bIns="0" anchor="t">
            <a:spAutoFit/>
          </a:bodyPr>
          <a:lstStyle/>
          <a:p>
            <a:pPr algn="l">
              <a:lnSpc>
                <a:spcPct val="100000"/>
              </a:lnSpc>
            </a:pPr>
            <a:r>
              <a:rPr sz="1300" b="0">
                <a:solidFill>
                  <a:srgbClr val="4A4F57"/>
                </a:solidFill>
                <a:latin typeface="Noto Sans KR"/>
                <a:ea typeface="Noto Sans KR"/>
                <a:cs typeface="Noto Sans KR"/>
              </a:rPr>
              <a:t>시각적으로 좋은 작업이지만 핵심 상용 작업은 아님, 기술 트랙으로 분리</a:t>
            </a:r>
          </a:p>
        </p:txBody>
      </p:sp>
      <p:sp>
        <p:nvSpPr>
          <p:cNvPr id="5" name="Rectangle 4"/>
          <p:cNvSpPr/>
          <p:nvPr/>
        </p:nvSpPr>
        <p:spPr>
          <a:xfrm>
            <a:off x="685800" y="1874519"/>
            <a:ext cx="4754880" cy="4023360"/>
          </a:xfrm>
          <a:prstGeom prst="rect">
            <a:avLst/>
          </a:prstGeom>
          <a:solidFill>
            <a:srgbClr val="EEF0F2"/>
          </a:solidFill>
          <a:ln>
            <a:noFill/>
          </a:ln>
        </p:spPr>
        <p:txBody>
          <a:bodyPr rtlCol="0" anchor="ctr"/>
          <a:lstStyle/>
          <a:p>
            <a:pPr algn="ctr"/>
          </a:p>
        </p:txBody>
      </p:sp>
      <p:pic>
        <p:nvPicPr>
          <p:cNvPr id="6" name="Picture 5" descr="screwdriver.png"/>
          <p:cNvPicPr>
            <a:picLocks noChangeAspect="1"/>
          </p:cNvPicPr>
          <p:nvPr/>
        </p:nvPicPr>
        <p:blipFill>
          <a:blip r:embed="rId2"/>
          <a:stretch>
            <a:fillRect/>
          </a:stretch>
        </p:blipFill>
        <p:spPr>
          <a:xfrm>
            <a:off x="1120575" y="2057400"/>
            <a:ext cx="3885328" cy="3657600"/>
          </a:xfrm>
          <a:prstGeom prst="rect">
            <a:avLst/>
          </a:prstGeom>
        </p:spPr>
      </p:pic>
      <p:sp>
        <p:nvSpPr>
          <p:cNvPr id="7" name="TextBox 6"/>
          <p:cNvSpPr txBox="1"/>
          <p:nvPr/>
        </p:nvSpPr>
        <p:spPr>
          <a:xfrm>
            <a:off x="685800" y="5989320"/>
            <a:ext cx="4754880" cy="228600"/>
          </a:xfrm>
          <a:prstGeom prst="rect">
            <a:avLst/>
          </a:prstGeom>
          <a:noFill/>
        </p:spPr>
        <p:txBody>
          <a:bodyPr wrap="square" lIns="0" rIns="0" tIns="0" bIns="0" anchor="t">
            <a:spAutoFit/>
          </a:bodyPr>
          <a:lstStyle/>
          <a:p>
            <a:pPr algn="l">
              <a:lnSpc>
                <a:spcPct val="100000"/>
              </a:lnSpc>
            </a:pPr>
            <a:r>
              <a:rPr sz="1000" b="0">
                <a:solidFill>
                  <a:srgbClr val="8C9198"/>
                </a:solidFill>
                <a:latin typeface="Noto Sans KR"/>
                <a:ea typeface="Noto Sans KR"/>
                <a:cs typeface="Noto Sans KR"/>
              </a:rPr>
              <a:t>저토크 체결 데모 · 콘셉트 렌더링</a:t>
            </a:r>
          </a:p>
        </p:txBody>
      </p:sp>
      <p:sp>
        <p:nvSpPr>
          <p:cNvPr id="8" name="TextBox 7"/>
          <p:cNvSpPr txBox="1"/>
          <p:nvPr/>
        </p:nvSpPr>
        <p:spPr>
          <a:xfrm>
            <a:off x="5897880" y="1874519"/>
            <a:ext cx="5608015" cy="274320"/>
          </a:xfrm>
          <a:prstGeom prst="rect">
            <a:avLst/>
          </a:prstGeom>
          <a:noFill/>
        </p:spPr>
        <p:txBody>
          <a:bodyPr wrap="square" lIns="0" rIns="0" tIns="0" bIns="0" anchor="t">
            <a:spAutoFit/>
          </a:bodyPr>
          <a:lstStyle/>
          <a:p>
            <a:pPr algn="l">
              <a:lnSpc>
                <a:spcPct val="100000"/>
              </a:lnSpc>
            </a:pPr>
            <a:r>
              <a:rPr sz="1300" b="1">
                <a:solidFill>
                  <a:srgbClr val="15171A"/>
                </a:solidFill>
                <a:latin typeface="Noto Sans KR"/>
                <a:ea typeface="Noto Sans KR"/>
                <a:cs typeface="Noto Sans KR"/>
              </a:rPr>
              <a:t>이 데모로 확인하는 것</a:t>
            </a:r>
          </a:p>
        </p:txBody>
      </p:sp>
      <p:cxnSp>
        <p:nvCxnSpPr>
          <p:cNvPr id="9" name="Connector 8"/>
          <p:cNvCxnSpPr/>
          <p:nvPr/>
        </p:nvCxnSpPr>
        <p:spPr>
          <a:xfrm>
            <a:off x="5897880" y="2203703"/>
            <a:ext cx="5608015" cy="0"/>
          </a:xfrm>
          <a:prstGeom prst="line">
            <a:avLst/>
          </a:prstGeom>
          <a:ln w="12700">
            <a:solidFill>
              <a:srgbClr val="15171A"/>
            </a:solidFill>
          </a:ln>
        </p:spPr>
      </p:cxnSp>
      <p:sp>
        <p:nvSpPr>
          <p:cNvPr id="10" name="TextBox 9"/>
          <p:cNvSpPr txBox="1"/>
          <p:nvPr/>
        </p:nvSpPr>
        <p:spPr>
          <a:xfrm>
            <a:off x="5897880" y="2313432"/>
            <a:ext cx="5608015" cy="836930"/>
          </a:xfrm>
          <a:prstGeom prst="rect">
            <a:avLst/>
          </a:prstGeom>
          <a:noFill/>
        </p:spPr>
        <p:txBody>
          <a:bodyPr wrap="square" lIns="0" rIns="0" tIns="0" bIns="0" anchor="t">
            <a:spAutoFit/>
          </a:bodyPr>
          <a:lstStyle/>
          <a:p>
            <a:pPr algn="l" marL="164592" indent="-164592">
              <a:lnSpc>
                <a:spcPct val="100000"/>
              </a:lnSpc>
              <a:spcAft>
                <a:spcPts val="400"/>
              </a:spcAft>
              <a:buClr>
                <a:srgbClr val="8C9198"/>
              </a:buClr>
              <a:buFont typeface="Noto Sans KR"/>
              <a:buChar char="•"/>
            </a:pPr>
            <a:r>
              <a:rPr sz="1250" b="0">
                <a:solidFill>
                  <a:srgbClr val="4A4F57"/>
                </a:solidFill>
                <a:latin typeface="Noto Sans KR"/>
                <a:ea typeface="Noto Sans KR"/>
                <a:cs typeface="Noto Sans KR"/>
              </a:rPr>
              <a:t>공구 토크 전달 (사용할 때는 단단하게)</a:t>
            </a:r>
          </a:p>
          <a:p>
            <a:pPr algn="l" marL="164592" indent="-164592">
              <a:lnSpc>
                <a:spcPct val="100000"/>
              </a:lnSpc>
              <a:spcAft>
                <a:spcPts val="400"/>
              </a:spcAft>
              <a:buClr>
                <a:srgbClr val="8C9198"/>
              </a:buClr>
              <a:buFont typeface="Noto Sans KR"/>
              <a:buChar char="•"/>
            </a:pPr>
            <a:r>
              <a:rPr sz="1250" b="0">
                <a:solidFill>
                  <a:srgbClr val="4A4F57"/>
                </a:solidFill>
                <a:latin typeface="Noto Sans KR"/>
                <a:ea typeface="Noto Sans KR"/>
                <a:cs typeface="Noto Sans KR"/>
              </a:rPr>
              <a:t>대향 엄지 파지 안정성</a:t>
            </a:r>
          </a:p>
          <a:p>
            <a:pPr algn="l" marL="164592" indent="-164592">
              <a:lnSpc>
                <a:spcPct val="100000"/>
              </a:lnSpc>
              <a:buClr>
                <a:srgbClr val="8C9198"/>
              </a:buClr>
              <a:buFont typeface="Noto Sans KR"/>
              <a:buChar char="•"/>
            </a:pPr>
            <a:r>
              <a:rPr sz="1250" b="0">
                <a:solidFill>
                  <a:srgbClr val="4A4F57"/>
                </a:solidFill>
                <a:latin typeface="Noto Sans KR"/>
                <a:ea typeface="Noto Sans KR"/>
                <a:cs typeface="Noto Sans KR"/>
              </a:rPr>
              <a:t>작업 순간 강성 전환 (검증 예정)</a:t>
            </a:r>
          </a:p>
        </p:txBody>
      </p:sp>
      <p:sp>
        <p:nvSpPr>
          <p:cNvPr id="11" name="TextBox 10"/>
          <p:cNvSpPr txBox="1"/>
          <p:nvPr/>
        </p:nvSpPr>
        <p:spPr>
          <a:xfrm>
            <a:off x="5897880" y="3378962"/>
            <a:ext cx="5608015" cy="274320"/>
          </a:xfrm>
          <a:prstGeom prst="rect">
            <a:avLst/>
          </a:prstGeom>
          <a:noFill/>
        </p:spPr>
        <p:txBody>
          <a:bodyPr wrap="square" lIns="0" rIns="0" tIns="0" bIns="0" anchor="t">
            <a:spAutoFit/>
          </a:bodyPr>
          <a:lstStyle/>
          <a:p>
            <a:pPr algn="l">
              <a:lnSpc>
                <a:spcPct val="100000"/>
              </a:lnSpc>
            </a:pPr>
            <a:r>
              <a:rPr sz="1300" b="1">
                <a:solidFill>
                  <a:srgbClr val="15171A"/>
                </a:solidFill>
                <a:latin typeface="Noto Sans KR"/>
                <a:ea typeface="Noto Sans KR"/>
                <a:cs typeface="Noto Sans KR"/>
              </a:rPr>
              <a:t>핵심 상용 작업이 아닌 이유</a:t>
            </a:r>
          </a:p>
        </p:txBody>
      </p:sp>
      <p:cxnSp>
        <p:nvCxnSpPr>
          <p:cNvPr id="12" name="Connector 11"/>
          <p:cNvCxnSpPr/>
          <p:nvPr/>
        </p:nvCxnSpPr>
        <p:spPr>
          <a:xfrm>
            <a:off x="5897880" y="3708146"/>
            <a:ext cx="5608015" cy="0"/>
          </a:xfrm>
          <a:prstGeom prst="line">
            <a:avLst/>
          </a:prstGeom>
          <a:ln w="12700">
            <a:solidFill>
              <a:srgbClr val="15171A"/>
            </a:solidFill>
          </a:ln>
        </p:spPr>
      </p:cxnSp>
      <p:sp>
        <p:nvSpPr>
          <p:cNvPr id="13" name="TextBox 12"/>
          <p:cNvSpPr txBox="1"/>
          <p:nvPr/>
        </p:nvSpPr>
        <p:spPr>
          <a:xfrm>
            <a:off x="5897880" y="3817874"/>
            <a:ext cx="5608015" cy="556260"/>
          </a:xfrm>
          <a:prstGeom prst="rect">
            <a:avLst/>
          </a:prstGeom>
          <a:noFill/>
        </p:spPr>
        <p:txBody>
          <a:bodyPr wrap="square" lIns="0" rIns="0" tIns="0" bIns="0" anchor="t">
            <a:spAutoFit/>
          </a:bodyPr>
          <a:lstStyle/>
          <a:p>
            <a:pPr algn="l" marL="164592" indent="-164592">
              <a:lnSpc>
                <a:spcPct val="100000"/>
              </a:lnSpc>
              <a:spcAft>
                <a:spcPts val="400"/>
              </a:spcAft>
              <a:buClr>
                <a:srgbClr val="8C9198"/>
              </a:buClr>
              <a:buFont typeface="Noto Sans KR"/>
              <a:buChar char="•"/>
            </a:pPr>
            <a:r>
              <a:rPr sz="1250" b="0">
                <a:solidFill>
                  <a:srgbClr val="4A4F57"/>
                </a:solidFill>
                <a:latin typeface="Noto Sans KR"/>
                <a:ea typeface="Noto Sans KR"/>
                <a:cs typeface="Noto Sans KR"/>
              </a:rPr>
              <a:t>로봇 손목에 전용 전동 드라이버를 다는 편이 더 싸고 빠르고 정밀</a:t>
            </a:r>
          </a:p>
          <a:p>
            <a:pPr algn="l" marL="164592" indent="-164592">
              <a:lnSpc>
                <a:spcPct val="100000"/>
              </a:lnSpc>
              <a:buClr>
                <a:srgbClr val="8C9198"/>
              </a:buClr>
              <a:buFont typeface="Noto Sans KR"/>
              <a:buChar char="•"/>
            </a:pPr>
            <a:r>
              <a:rPr sz="1250" b="0">
                <a:solidFill>
                  <a:srgbClr val="4A4F57"/>
                </a:solidFill>
                <a:latin typeface="Noto Sans KR"/>
                <a:ea typeface="Noto Sans KR"/>
                <a:cs typeface="Noto Sans KR"/>
              </a:rPr>
              <a:t>핸드로 얻는 설비·엔드이펙터 절감 효과가 작음</a:t>
            </a:r>
          </a:p>
        </p:txBody>
      </p:sp>
      <p:sp>
        <p:nvSpPr>
          <p:cNvPr id="14" name="TextBox 13"/>
          <p:cNvSpPr txBox="1"/>
          <p:nvPr/>
        </p:nvSpPr>
        <p:spPr>
          <a:xfrm>
            <a:off x="5897880" y="4602734"/>
            <a:ext cx="5608015" cy="274320"/>
          </a:xfrm>
          <a:prstGeom prst="rect">
            <a:avLst/>
          </a:prstGeom>
          <a:noFill/>
        </p:spPr>
        <p:txBody>
          <a:bodyPr wrap="square" lIns="0" rIns="0" tIns="0" bIns="0" anchor="t">
            <a:spAutoFit/>
          </a:bodyPr>
          <a:lstStyle/>
          <a:p>
            <a:pPr algn="l">
              <a:lnSpc>
                <a:spcPct val="100000"/>
              </a:lnSpc>
            </a:pPr>
            <a:r>
              <a:rPr sz="1300" b="1">
                <a:solidFill>
                  <a:srgbClr val="15171A"/>
                </a:solidFill>
                <a:latin typeface="Noto Sans KR"/>
                <a:ea typeface="Noto Sans KR"/>
                <a:cs typeface="Noto Sans KR"/>
              </a:rPr>
              <a:t>의미가 생기는 경우</a:t>
            </a:r>
          </a:p>
        </p:txBody>
      </p:sp>
      <p:cxnSp>
        <p:nvCxnSpPr>
          <p:cNvPr id="15" name="Connector 14"/>
          <p:cNvCxnSpPr/>
          <p:nvPr/>
        </p:nvCxnSpPr>
        <p:spPr>
          <a:xfrm>
            <a:off x="5897880" y="4931918"/>
            <a:ext cx="5608015" cy="0"/>
          </a:xfrm>
          <a:prstGeom prst="line">
            <a:avLst/>
          </a:prstGeom>
          <a:ln w="12700">
            <a:solidFill>
              <a:srgbClr val="15171A"/>
            </a:solidFill>
          </a:ln>
        </p:spPr>
      </p:cxnSp>
      <p:sp>
        <p:nvSpPr>
          <p:cNvPr id="16" name="TextBox 15"/>
          <p:cNvSpPr txBox="1"/>
          <p:nvPr/>
        </p:nvSpPr>
        <p:spPr>
          <a:xfrm>
            <a:off x="5897880" y="5041645"/>
            <a:ext cx="5608015" cy="786130"/>
          </a:xfrm>
          <a:prstGeom prst="rect">
            <a:avLst/>
          </a:prstGeom>
          <a:noFill/>
        </p:spPr>
        <p:txBody>
          <a:bodyPr wrap="square" lIns="0" rIns="0" tIns="0" bIns="0" anchor="t">
            <a:spAutoFit/>
          </a:bodyPr>
          <a:lstStyle/>
          <a:p>
            <a:pPr algn="l" marL="164592" indent="-164592">
              <a:lnSpc>
                <a:spcPct val="100000"/>
              </a:lnSpc>
              <a:spcAft>
                <a:spcPts val="400"/>
              </a:spcAft>
              <a:buClr>
                <a:srgbClr val="8C9198"/>
              </a:buClr>
              <a:buFont typeface="Noto Sans KR"/>
              <a:buChar char="•"/>
            </a:pPr>
            <a:r>
              <a:rPr sz="1250" b="0">
                <a:solidFill>
                  <a:srgbClr val="4A4F57"/>
                </a:solidFill>
                <a:latin typeface="Noto Sans KR"/>
                <a:ea typeface="Noto Sans KR"/>
                <a:cs typeface="Noto Sans KR"/>
              </a:rPr>
              <a:t>체결이 가끔만 필요해 툴 체인저 추가가 과한 경우</a:t>
            </a:r>
          </a:p>
          <a:p>
            <a:pPr algn="l" marL="164592" indent="-164592">
              <a:lnSpc>
                <a:spcPct val="100000"/>
              </a:lnSpc>
              <a:buClr>
                <a:srgbClr val="8C9198"/>
              </a:buClr>
              <a:buFont typeface="Noto Sans KR"/>
              <a:buChar char="•"/>
            </a:pPr>
            <a:r>
              <a:rPr sz="1250" b="0">
                <a:solidFill>
                  <a:srgbClr val="4A4F57"/>
                </a:solidFill>
                <a:latin typeface="Noto Sans KR"/>
                <a:ea typeface="Noto Sans KR"/>
                <a:cs typeface="Noto Sans KR"/>
              </a:rPr>
              <a:t>사람용 도구를 그대로 써야 하는 주방·서비스 환경 (집게·국자·뒤집개 등은 본문 05장)</a:t>
            </a:r>
          </a:p>
        </p:txBody>
      </p:sp>
      <p:sp>
        <p:nvSpPr>
          <p:cNvPr id="17" name="TextBox 16"/>
          <p:cNvSpPr txBox="1"/>
          <p:nvPr/>
        </p:nvSpPr>
        <p:spPr>
          <a:xfrm>
            <a:off x="685800" y="6446520"/>
            <a:ext cx="5486400" cy="201168"/>
          </a:xfrm>
          <a:prstGeom prst="rect">
            <a:avLst/>
          </a:prstGeom>
          <a:noFill/>
        </p:spPr>
        <p:txBody>
          <a:bodyPr wrap="square" lIns="0" rIns="0" tIns="0" bIns="0" anchor="t">
            <a:spAutoFit/>
          </a:bodyPr>
          <a:lstStyle/>
          <a:p>
            <a:pPr algn="l">
              <a:lnSpc>
                <a:spcPct val="100000"/>
              </a:lnSpc>
            </a:pPr>
            <a:r>
              <a:rPr sz="900" b="0">
                <a:solidFill>
                  <a:srgbClr val="8C9198"/>
                </a:solidFill>
                <a:latin typeface="Noto Sans KR"/>
                <a:ea typeface="Noto Sans KR"/>
                <a:cs typeface="Noto Sans KR"/>
              </a:rPr>
              <a:t>SoftHand  |  주방 로봇 조작 플랫폼  |  Seed 투자 제안서</a:t>
            </a:r>
          </a:p>
        </p:txBody>
      </p:sp>
      <p:sp>
        <p:nvSpPr>
          <p:cNvPr id="18" name="TextBox 17"/>
          <p:cNvSpPr txBox="1"/>
          <p:nvPr/>
        </p:nvSpPr>
        <p:spPr>
          <a:xfrm>
            <a:off x="11048695" y="6446520"/>
            <a:ext cx="457200" cy="201168"/>
          </a:xfrm>
          <a:prstGeom prst="rect">
            <a:avLst/>
          </a:prstGeom>
          <a:noFill/>
        </p:spPr>
        <p:txBody>
          <a:bodyPr wrap="square" lIns="0" rIns="0" tIns="0" bIns="0" anchor="t">
            <a:spAutoFit/>
          </a:bodyPr>
          <a:lstStyle/>
          <a:p>
            <a:pPr algn="r">
              <a:lnSpc>
                <a:spcPct val="100000"/>
              </a:lnSpc>
            </a:pPr>
            <a:r>
              <a:rPr sz="900" b="0">
                <a:solidFill>
                  <a:srgbClr val="8C9198"/>
                </a:solidFill>
                <a:latin typeface="Noto Sans KR"/>
                <a:ea typeface="Noto Sans KR"/>
                <a:cs typeface="Noto Sans KR"/>
              </a:rPr>
              <a:t>A14</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502920"/>
            <a:ext cx="7315200" cy="256032"/>
          </a:xfrm>
          <a:prstGeom prst="rect">
            <a:avLst/>
          </a:prstGeom>
          <a:noFill/>
        </p:spPr>
        <p:txBody>
          <a:bodyPr wrap="square" lIns="0" rIns="0" tIns="0" bIns="0" anchor="t">
            <a:spAutoFit/>
          </a:bodyPr>
          <a:lstStyle/>
          <a:p>
            <a:pPr algn="l">
              <a:lnSpc>
                <a:spcPct val="100000"/>
              </a:lnSpc>
            </a:pPr>
            <a:r>
              <a:rPr sz="1100" b="1">
                <a:solidFill>
                  <a:srgbClr val="E2571B"/>
                </a:solidFill>
                <a:latin typeface="Noto Sans KR"/>
                <a:ea typeface="Noto Sans KR"/>
                <a:cs typeface="Noto Sans KR"/>
              </a:rPr>
              <a:t>부록 A15</a:t>
            </a:r>
          </a:p>
        </p:txBody>
      </p:sp>
      <p:sp>
        <p:nvSpPr>
          <p:cNvPr id="3" name="TextBox 2"/>
          <p:cNvSpPr txBox="1"/>
          <p:nvPr/>
        </p:nvSpPr>
        <p:spPr>
          <a:xfrm>
            <a:off x="685800" y="822960"/>
            <a:ext cx="10820095" cy="475488"/>
          </a:xfrm>
          <a:prstGeom prst="rect">
            <a:avLst/>
          </a:prstGeom>
          <a:noFill/>
        </p:spPr>
        <p:txBody>
          <a:bodyPr wrap="square" lIns="0" rIns="0" tIns="0" bIns="0" anchor="t">
            <a:spAutoFit/>
          </a:bodyPr>
          <a:lstStyle/>
          <a:p>
            <a:pPr algn="l">
              <a:lnSpc>
                <a:spcPct val="95000"/>
              </a:lnSpc>
            </a:pPr>
            <a:r>
              <a:rPr sz="2600" b="1">
                <a:solidFill>
                  <a:srgbClr val="15171A"/>
                </a:solidFill>
                <a:latin typeface="Noto Sans KR"/>
                <a:ea typeface="Noto Sans KR"/>
                <a:cs typeface="Noto Sans KR"/>
              </a:rPr>
              <a:t>안전·위생·인증·IP</a:t>
            </a:r>
          </a:p>
        </p:txBody>
      </p:sp>
      <p:sp>
        <p:nvSpPr>
          <p:cNvPr id="4" name="TextBox 3"/>
          <p:cNvSpPr txBox="1"/>
          <p:nvPr/>
        </p:nvSpPr>
        <p:spPr>
          <a:xfrm>
            <a:off x="685800" y="1353312"/>
            <a:ext cx="10820095" cy="274320"/>
          </a:xfrm>
          <a:prstGeom prst="rect">
            <a:avLst/>
          </a:prstGeom>
          <a:noFill/>
        </p:spPr>
        <p:txBody>
          <a:bodyPr wrap="square" lIns="0" rIns="0" tIns="0" bIns="0" anchor="t">
            <a:spAutoFit/>
          </a:bodyPr>
          <a:lstStyle/>
          <a:p>
            <a:pPr algn="l">
              <a:lnSpc>
                <a:spcPct val="100000"/>
              </a:lnSpc>
            </a:pPr>
            <a:r>
              <a:rPr sz="1300" b="0">
                <a:solidFill>
                  <a:srgbClr val="4A4F57"/>
                </a:solidFill>
                <a:latin typeface="Noto Sans KR"/>
                <a:ea typeface="Noto Sans KR"/>
                <a:cs typeface="Noto Sans KR"/>
              </a:rPr>
              <a:t>인증·권리 확보 전에는 적합성·독자성·세계 최초를 주장하지 않음 · 표준은 적용 검토 대상</a:t>
            </a:r>
          </a:p>
        </p:txBody>
      </p:sp>
      <p:sp>
        <p:nvSpPr>
          <p:cNvPr id="5" name="TextBox 4"/>
          <p:cNvSpPr txBox="1"/>
          <p:nvPr/>
        </p:nvSpPr>
        <p:spPr>
          <a:xfrm>
            <a:off x="685800" y="1874519"/>
            <a:ext cx="3393338" cy="274320"/>
          </a:xfrm>
          <a:prstGeom prst="rect">
            <a:avLst/>
          </a:prstGeom>
          <a:noFill/>
        </p:spPr>
        <p:txBody>
          <a:bodyPr wrap="square" lIns="0" rIns="0" tIns="0" bIns="0" anchor="t">
            <a:spAutoFit/>
          </a:bodyPr>
          <a:lstStyle/>
          <a:p>
            <a:pPr algn="l">
              <a:lnSpc>
                <a:spcPct val="100000"/>
              </a:lnSpc>
            </a:pPr>
            <a:r>
              <a:rPr sz="1300" b="1">
                <a:solidFill>
                  <a:srgbClr val="15171A"/>
                </a:solidFill>
                <a:latin typeface="Noto Sans KR"/>
                <a:ea typeface="Noto Sans KR"/>
                <a:cs typeface="Noto Sans KR"/>
              </a:rPr>
              <a:t>안전 (주방·산업)</a:t>
            </a:r>
          </a:p>
        </p:txBody>
      </p:sp>
      <p:cxnSp>
        <p:nvCxnSpPr>
          <p:cNvPr id="6" name="Connector 5"/>
          <p:cNvCxnSpPr/>
          <p:nvPr/>
        </p:nvCxnSpPr>
        <p:spPr>
          <a:xfrm>
            <a:off x="685800" y="2203703"/>
            <a:ext cx="3393338" cy="0"/>
          </a:xfrm>
          <a:prstGeom prst="line">
            <a:avLst/>
          </a:prstGeom>
          <a:ln w="12700">
            <a:solidFill>
              <a:srgbClr val="15171A"/>
            </a:solidFill>
          </a:ln>
        </p:spPr>
      </p:cxnSp>
      <p:sp>
        <p:nvSpPr>
          <p:cNvPr id="7" name="TextBox 6"/>
          <p:cNvSpPr txBox="1"/>
          <p:nvPr/>
        </p:nvSpPr>
        <p:spPr>
          <a:xfrm>
            <a:off x="685800" y="2313432"/>
            <a:ext cx="3393338" cy="1966163"/>
          </a:xfrm>
          <a:prstGeom prst="rect">
            <a:avLst/>
          </a:prstGeom>
          <a:noFill/>
        </p:spPr>
        <p:txBody>
          <a:bodyPr wrap="square" lIns="0" rIns="0" tIns="0" bIns="0" anchor="t">
            <a:spAutoFit/>
          </a:bodyPr>
          <a:lstStyle/>
          <a:p>
            <a:pPr algn="l" marL="164592" indent="-164592">
              <a:lnSpc>
                <a:spcPct val="100000"/>
              </a:lnSpc>
              <a:spcAft>
                <a:spcPts val="600"/>
              </a:spcAft>
              <a:buClr>
                <a:srgbClr val="8C9198"/>
              </a:buClr>
              <a:buFont typeface="Noto Sans KR"/>
              <a:buChar char="•"/>
            </a:pPr>
            <a:r>
              <a:rPr sz="1150" b="0">
                <a:solidFill>
                  <a:srgbClr val="4A4F57"/>
                </a:solidFill>
                <a:latin typeface="Noto Sans KR"/>
                <a:ea typeface="Noto Sans KR"/>
                <a:cs typeface="Noto Sans KR"/>
              </a:rPr>
              <a:t>소프트 핸드를 달아도 셀 전체가 자동으로 안전해지지 않음, 칼·고온·사람 근접을 포함한 통합 위험성 평가</a:t>
            </a:r>
          </a:p>
          <a:p>
            <a:pPr algn="l" marL="164592" indent="-164592">
              <a:lnSpc>
                <a:spcPct val="100000"/>
              </a:lnSpc>
              <a:spcAft>
                <a:spcPts val="600"/>
              </a:spcAft>
              <a:buClr>
                <a:srgbClr val="8C9198"/>
              </a:buClr>
              <a:buFont typeface="Noto Sans KR"/>
              <a:buChar char="•"/>
            </a:pPr>
            <a:r>
              <a:rPr sz="1150" b="0">
                <a:solidFill>
                  <a:srgbClr val="4A4F57"/>
                </a:solidFill>
                <a:latin typeface="Noto Sans KR"/>
                <a:ea typeface="Noto Sans KR"/>
                <a:cs typeface="Noto Sans KR"/>
              </a:rPr>
              <a:t>상업용 주방·산업 셀: ISO 10218-2:2025 (로봇 응용·셀 안전) 적용 검토</a:t>
            </a:r>
          </a:p>
          <a:p>
            <a:pPr algn="l" marL="164592" indent="-164592">
              <a:lnSpc>
                <a:spcPct val="100000"/>
              </a:lnSpc>
              <a:spcAft>
                <a:spcPts val="600"/>
              </a:spcAft>
              <a:buClr>
                <a:srgbClr val="8C9198"/>
              </a:buClr>
              <a:buFont typeface="Noto Sans KR"/>
              <a:buChar char="•"/>
            </a:pPr>
            <a:r>
              <a:rPr sz="1150" b="0">
                <a:solidFill>
                  <a:srgbClr val="4A4F57"/>
                </a:solidFill>
                <a:latin typeface="Noto Sans KR"/>
                <a:ea typeface="Noto Sans KR"/>
                <a:cs typeface="Noto Sans KR"/>
              </a:rPr>
              <a:t>가정용: ISO 13482 (개인 돌봄 로봇 안전) 등 적용 검토, 사람 근접 시 속도·힘 제한</a:t>
            </a:r>
          </a:p>
          <a:p>
            <a:pPr algn="l" marL="164592" indent="-164592">
              <a:lnSpc>
                <a:spcPct val="100000"/>
              </a:lnSpc>
              <a:buClr>
                <a:srgbClr val="8C9198"/>
              </a:buClr>
              <a:buFont typeface="Noto Sans KR"/>
              <a:buChar char="•"/>
            </a:pPr>
            <a:r>
              <a:rPr sz="1150" b="0">
                <a:solidFill>
                  <a:srgbClr val="4A4F57"/>
                </a:solidFill>
                <a:latin typeface="Noto Sans KR"/>
                <a:ea typeface="Noto Sans KR"/>
                <a:cs typeface="Noto Sans KR"/>
              </a:rPr>
              <a:t>고온 도구·칼·튀김: 차폐·접근 제한·독립 인터록 충족 전 기능 비활성</a:t>
            </a:r>
          </a:p>
        </p:txBody>
      </p:sp>
      <p:sp>
        <p:nvSpPr>
          <p:cNvPr id="8" name="TextBox 7"/>
          <p:cNvSpPr txBox="1"/>
          <p:nvPr/>
        </p:nvSpPr>
        <p:spPr>
          <a:xfrm>
            <a:off x="4399178" y="1874519"/>
            <a:ext cx="3393338" cy="274320"/>
          </a:xfrm>
          <a:prstGeom prst="rect">
            <a:avLst/>
          </a:prstGeom>
          <a:noFill/>
        </p:spPr>
        <p:txBody>
          <a:bodyPr wrap="square" lIns="0" rIns="0" tIns="0" bIns="0" anchor="t">
            <a:spAutoFit/>
          </a:bodyPr>
          <a:lstStyle/>
          <a:p>
            <a:pPr algn="l">
              <a:lnSpc>
                <a:spcPct val="100000"/>
              </a:lnSpc>
            </a:pPr>
            <a:r>
              <a:rPr sz="1300" b="1">
                <a:solidFill>
                  <a:srgbClr val="15171A"/>
                </a:solidFill>
                <a:latin typeface="Noto Sans KR"/>
                <a:ea typeface="Noto Sans KR"/>
                <a:cs typeface="Noto Sans KR"/>
              </a:rPr>
              <a:t>위생 (주방)</a:t>
            </a:r>
          </a:p>
        </p:txBody>
      </p:sp>
      <p:cxnSp>
        <p:nvCxnSpPr>
          <p:cNvPr id="9" name="Connector 8"/>
          <p:cNvCxnSpPr/>
          <p:nvPr/>
        </p:nvCxnSpPr>
        <p:spPr>
          <a:xfrm>
            <a:off x="4399178" y="2203703"/>
            <a:ext cx="3393338" cy="0"/>
          </a:xfrm>
          <a:prstGeom prst="line">
            <a:avLst/>
          </a:prstGeom>
          <a:ln w="12700">
            <a:solidFill>
              <a:srgbClr val="15171A"/>
            </a:solidFill>
          </a:ln>
        </p:spPr>
      </p:cxnSp>
      <p:sp>
        <p:nvSpPr>
          <p:cNvPr id="10" name="TextBox 9"/>
          <p:cNvSpPr txBox="1"/>
          <p:nvPr/>
        </p:nvSpPr>
        <p:spPr>
          <a:xfrm>
            <a:off x="4399178" y="2313432"/>
            <a:ext cx="3393338" cy="1543202"/>
          </a:xfrm>
          <a:prstGeom prst="rect">
            <a:avLst/>
          </a:prstGeom>
          <a:noFill/>
        </p:spPr>
        <p:txBody>
          <a:bodyPr wrap="square" lIns="0" rIns="0" tIns="0" bIns="0" anchor="t">
            <a:spAutoFit/>
          </a:bodyPr>
          <a:lstStyle/>
          <a:p>
            <a:pPr algn="l" marL="164592" indent="-164592">
              <a:lnSpc>
                <a:spcPct val="100000"/>
              </a:lnSpc>
              <a:spcAft>
                <a:spcPts val="600"/>
              </a:spcAft>
              <a:buClr>
                <a:srgbClr val="8C9198"/>
              </a:buClr>
              <a:buFont typeface="Noto Sans KR"/>
              <a:buChar char="•"/>
            </a:pPr>
            <a:r>
              <a:rPr sz="1150" b="0">
                <a:solidFill>
                  <a:srgbClr val="4A4F57"/>
                </a:solidFill>
                <a:latin typeface="Noto Sans KR"/>
                <a:ea typeface="Noto Sans KR"/>
                <a:cs typeface="Noto Sans KR"/>
              </a:rPr>
              <a:t>식품 접촉 재질: 국내 「기구 및 용기·포장의 기준 및 규격」(식약처), 해외 NSF/ANSI 51 등 판매국 기준을 시험기관과 결정</a:t>
            </a:r>
          </a:p>
          <a:p>
            <a:pPr algn="l" marL="164592" indent="-164592">
              <a:lnSpc>
                <a:spcPct val="100000"/>
              </a:lnSpc>
              <a:spcAft>
                <a:spcPts val="600"/>
              </a:spcAft>
              <a:buClr>
                <a:srgbClr val="8C9198"/>
              </a:buClr>
              <a:buFont typeface="Noto Sans KR"/>
              <a:buChar char="•"/>
            </a:pPr>
            <a:r>
              <a:rPr sz="1150" b="0">
                <a:solidFill>
                  <a:srgbClr val="4A4F57"/>
                </a:solidFill>
                <a:latin typeface="Noto Sans KR"/>
                <a:ea typeface="Noto Sans KR"/>
                <a:cs typeface="Noto Sans KR"/>
              </a:rPr>
              <a:t>교체형 접촉부·외피, 세척·건조 절차, 밀봉 구조</a:t>
            </a:r>
          </a:p>
          <a:p>
            <a:pPr algn="l" marL="164592" indent="-164592">
              <a:lnSpc>
                <a:spcPct val="100000"/>
              </a:lnSpc>
              <a:spcAft>
                <a:spcPts val="600"/>
              </a:spcAft>
              <a:buClr>
                <a:srgbClr val="8C9198"/>
              </a:buClr>
              <a:buFont typeface="Noto Sans KR"/>
              <a:buChar char="•"/>
            </a:pPr>
            <a:r>
              <a:rPr sz="1150" b="0">
                <a:solidFill>
                  <a:srgbClr val="4A4F57"/>
                </a:solidFill>
                <a:latin typeface="Noto Sans KR"/>
                <a:ea typeface="Noto Sans KR"/>
                <a:cs typeface="Noto Sans KR"/>
              </a:rPr>
              <a:t>방수·방진 등급(IP) ≠ 위생 적합성</a:t>
            </a:r>
          </a:p>
          <a:p>
            <a:pPr algn="l" marL="164592" indent="-164592">
              <a:lnSpc>
                <a:spcPct val="100000"/>
              </a:lnSpc>
              <a:buClr>
                <a:srgbClr val="8C9198"/>
              </a:buClr>
              <a:buFont typeface="Noto Sans KR"/>
              <a:buChar char="•"/>
            </a:pPr>
            <a:r>
              <a:rPr sz="1150" b="0">
                <a:solidFill>
                  <a:srgbClr val="4A4F57"/>
                </a:solidFill>
                <a:latin typeface="Noto Sans KR"/>
                <a:ea typeface="Noto Sans KR"/>
                <a:cs typeface="Noto Sans KR"/>
              </a:rPr>
              <a:t>가전·설비 안전 인터록은 우회하지 않음</a:t>
            </a:r>
          </a:p>
        </p:txBody>
      </p:sp>
      <p:sp>
        <p:nvSpPr>
          <p:cNvPr id="11" name="TextBox 10"/>
          <p:cNvSpPr txBox="1"/>
          <p:nvPr/>
        </p:nvSpPr>
        <p:spPr>
          <a:xfrm>
            <a:off x="8112556" y="1874519"/>
            <a:ext cx="3393338" cy="274320"/>
          </a:xfrm>
          <a:prstGeom prst="rect">
            <a:avLst/>
          </a:prstGeom>
          <a:noFill/>
        </p:spPr>
        <p:txBody>
          <a:bodyPr wrap="square" lIns="0" rIns="0" tIns="0" bIns="0" anchor="t">
            <a:spAutoFit/>
          </a:bodyPr>
          <a:lstStyle/>
          <a:p>
            <a:pPr algn="l">
              <a:lnSpc>
                <a:spcPct val="100000"/>
              </a:lnSpc>
            </a:pPr>
            <a:r>
              <a:rPr sz="1300" b="1">
                <a:solidFill>
                  <a:srgbClr val="15171A"/>
                </a:solidFill>
                <a:latin typeface="Noto Sans KR"/>
                <a:ea typeface="Noto Sans KR"/>
                <a:cs typeface="Noto Sans KR"/>
              </a:rPr>
              <a:t>IP·영업비밀 (계획)</a:t>
            </a:r>
          </a:p>
        </p:txBody>
      </p:sp>
      <p:cxnSp>
        <p:nvCxnSpPr>
          <p:cNvPr id="12" name="Connector 11"/>
          <p:cNvCxnSpPr/>
          <p:nvPr/>
        </p:nvCxnSpPr>
        <p:spPr>
          <a:xfrm>
            <a:off x="8112556" y="2203703"/>
            <a:ext cx="3393339" cy="0"/>
          </a:xfrm>
          <a:prstGeom prst="line">
            <a:avLst/>
          </a:prstGeom>
          <a:ln w="12700">
            <a:solidFill>
              <a:srgbClr val="15171A"/>
            </a:solidFill>
          </a:ln>
        </p:spPr>
      </p:cxnSp>
      <p:sp>
        <p:nvSpPr>
          <p:cNvPr id="13" name="TextBox 12"/>
          <p:cNvSpPr txBox="1"/>
          <p:nvPr/>
        </p:nvSpPr>
        <p:spPr>
          <a:xfrm>
            <a:off x="8112556" y="2313432"/>
            <a:ext cx="3393338" cy="1966163"/>
          </a:xfrm>
          <a:prstGeom prst="rect">
            <a:avLst/>
          </a:prstGeom>
          <a:noFill/>
        </p:spPr>
        <p:txBody>
          <a:bodyPr wrap="square" lIns="0" rIns="0" tIns="0" bIns="0" anchor="t">
            <a:spAutoFit/>
          </a:bodyPr>
          <a:lstStyle/>
          <a:p>
            <a:pPr algn="l" marL="164592" indent="-164592">
              <a:lnSpc>
                <a:spcPct val="100000"/>
              </a:lnSpc>
              <a:spcAft>
                <a:spcPts val="600"/>
              </a:spcAft>
              <a:buClr>
                <a:srgbClr val="8C9198"/>
              </a:buClr>
              <a:buFont typeface="Noto Sans KR"/>
              <a:buChar char="•"/>
            </a:pPr>
            <a:r>
              <a:rPr sz="1150" b="0">
                <a:solidFill>
                  <a:srgbClr val="4A4F57"/>
                </a:solidFill>
                <a:latin typeface="Noto Sans KR"/>
                <a:ea typeface="Noto Sans KR"/>
                <a:cs typeface="Noto Sans KR"/>
              </a:rPr>
              <a:t>출원 후보: 대향 엄지·관절 순응과 잠금 구조, 교체형 위생 손끝, 밀봉 구조</a:t>
            </a:r>
          </a:p>
          <a:p>
            <a:pPr algn="l" marL="164592" indent="-164592">
              <a:lnSpc>
                <a:spcPct val="100000"/>
              </a:lnSpc>
              <a:spcAft>
                <a:spcPts val="600"/>
              </a:spcAft>
              <a:buClr>
                <a:srgbClr val="8C9198"/>
              </a:buClr>
              <a:buFont typeface="Noto Sans KR"/>
              <a:buChar char="•"/>
            </a:pPr>
            <a:r>
              <a:rPr sz="1150" b="0">
                <a:solidFill>
                  <a:srgbClr val="4A4F57"/>
                </a:solidFill>
                <a:latin typeface="Noto Sans KR"/>
                <a:ea typeface="Noto Sans KR"/>
                <a:cs typeface="Noto Sans KR"/>
              </a:rPr>
              <a:t>출원 후보: 사람용 도구 조작을 위한 핸드-Skill 구조, 로봇 독립 Skill 표현, 보정 이식 방법</a:t>
            </a:r>
          </a:p>
          <a:p>
            <a:pPr algn="l" marL="164592" indent="-164592">
              <a:lnSpc>
                <a:spcPct val="100000"/>
              </a:lnSpc>
              <a:spcAft>
                <a:spcPts val="600"/>
              </a:spcAft>
              <a:buClr>
                <a:srgbClr val="8C9198"/>
              </a:buClr>
              <a:buFont typeface="Noto Sans KR"/>
              <a:buChar char="•"/>
            </a:pPr>
            <a:r>
              <a:rPr sz="1150" b="0">
                <a:solidFill>
                  <a:srgbClr val="4A4F57"/>
                </a:solidFill>
                <a:latin typeface="Noto Sans KR"/>
                <a:ea typeface="Noto Sans KR"/>
                <a:cs typeface="Noto Sans KR"/>
              </a:rPr>
              <a:t>영업비밀 후보: 데이터 정제·장력 보정·실패 복구 파라미터</a:t>
            </a:r>
          </a:p>
          <a:p>
            <a:pPr algn="l" marL="164592" indent="-164592">
              <a:lnSpc>
                <a:spcPct val="100000"/>
              </a:lnSpc>
              <a:buClr>
                <a:srgbClr val="8C9198"/>
              </a:buClr>
              <a:buFont typeface="Noto Sans KR"/>
              <a:buChar char="•"/>
            </a:pPr>
            <a:r>
              <a:rPr sz="1150" b="0">
                <a:solidFill>
                  <a:srgbClr val="4A4F57"/>
                </a:solidFill>
                <a:latin typeface="Noto Sans KR"/>
                <a:ea typeface="Noto Sans KR"/>
                <a:cs typeface="Noto Sans KR"/>
              </a:rPr>
              <a:t>원칙: 선행기술 조사·FTO 후 출원, 그 전에는 비침해·독자성 주장 금지</a:t>
            </a:r>
          </a:p>
        </p:txBody>
      </p:sp>
      <p:sp>
        <p:nvSpPr>
          <p:cNvPr id="14" name="TextBox 13"/>
          <p:cNvSpPr txBox="1"/>
          <p:nvPr/>
        </p:nvSpPr>
        <p:spPr>
          <a:xfrm>
            <a:off x="685800" y="6446520"/>
            <a:ext cx="5486400" cy="201168"/>
          </a:xfrm>
          <a:prstGeom prst="rect">
            <a:avLst/>
          </a:prstGeom>
          <a:noFill/>
        </p:spPr>
        <p:txBody>
          <a:bodyPr wrap="square" lIns="0" rIns="0" tIns="0" bIns="0" anchor="t">
            <a:spAutoFit/>
          </a:bodyPr>
          <a:lstStyle/>
          <a:p>
            <a:pPr algn="l">
              <a:lnSpc>
                <a:spcPct val="100000"/>
              </a:lnSpc>
            </a:pPr>
            <a:r>
              <a:rPr sz="900" b="0">
                <a:solidFill>
                  <a:srgbClr val="8C9198"/>
                </a:solidFill>
                <a:latin typeface="Noto Sans KR"/>
                <a:ea typeface="Noto Sans KR"/>
                <a:cs typeface="Noto Sans KR"/>
              </a:rPr>
              <a:t>SoftHand  |  주방 로봇 조작 플랫폼  |  Seed 투자 제안서</a:t>
            </a:r>
          </a:p>
        </p:txBody>
      </p:sp>
      <p:sp>
        <p:nvSpPr>
          <p:cNvPr id="15" name="TextBox 14"/>
          <p:cNvSpPr txBox="1"/>
          <p:nvPr/>
        </p:nvSpPr>
        <p:spPr>
          <a:xfrm>
            <a:off x="3154680" y="6446520"/>
            <a:ext cx="7802575" cy="201168"/>
          </a:xfrm>
          <a:prstGeom prst="rect">
            <a:avLst/>
          </a:prstGeom>
          <a:noFill/>
        </p:spPr>
        <p:txBody>
          <a:bodyPr wrap="square" lIns="0" rIns="0" tIns="0" bIns="0" anchor="t">
            <a:spAutoFit/>
          </a:bodyPr>
          <a:lstStyle/>
          <a:p>
            <a:pPr algn="r">
              <a:lnSpc>
                <a:spcPct val="100000"/>
              </a:lnSpc>
            </a:pPr>
            <a:r>
              <a:rPr sz="900" b="0">
                <a:solidFill>
                  <a:srgbClr val="8C9198"/>
                </a:solidFill>
                <a:latin typeface="Noto Sans KR"/>
                <a:ea typeface="Noto Sans KR"/>
                <a:cs typeface="Noto Sans KR"/>
              </a:rPr>
              <a:t>현재 확인된 특허 출원 없음 [보유 시 정보 입력] · 예산: 제조·품질·안전·IP 1.1억 원</a:t>
            </a:r>
          </a:p>
        </p:txBody>
      </p:sp>
      <p:sp>
        <p:nvSpPr>
          <p:cNvPr id="16" name="TextBox 15"/>
          <p:cNvSpPr txBox="1"/>
          <p:nvPr/>
        </p:nvSpPr>
        <p:spPr>
          <a:xfrm>
            <a:off x="11048695" y="6446520"/>
            <a:ext cx="457200" cy="201168"/>
          </a:xfrm>
          <a:prstGeom prst="rect">
            <a:avLst/>
          </a:prstGeom>
          <a:noFill/>
        </p:spPr>
        <p:txBody>
          <a:bodyPr wrap="square" lIns="0" rIns="0" tIns="0" bIns="0" anchor="t">
            <a:spAutoFit/>
          </a:bodyPr>
          <a:lstStyle/>
          <a:p>
            <a:pPr algn="r">
              <a:lnSpc>
                <a:spcPct val="100000"/>
              </a:lnSpc>
            </a:pPr>
            <a:r>
              <a:rPr sz="900" b="0">
                <a:solidFill>
                  <a:srgbClr val="8C9198"/>
                </a:solidFill>
                <a:latin typeface="Noto Sans KR"/>
                <a:ea typeface="Noto Sans KR"/>
                <a:cs typeface="Noto Sans KR"/>
              </a:rPr>
              <a:t>A15</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502920"/>
            <a:ext cx="7315200" cy="256032"/>
          </a:xfrm>
          <a:prstGeom prst="rect">
            <a:avLst/>
          </a:prstGeom>
          <a:noFill/>
        </p:spPr>
        <p:txBody>
          <a:bodyPr wrap="square" lIns="0" rIns="0" tIns="0" bIns="0" anchor="t">
            <a:spAutoFit/>
          </a:bodyPr>
          <a:lstStyle/>
          <a:p>
            <a:pPr algn="l">
              <a:lnSpc>
                <a:spcPct val="100000"/>
              </a:lnSpc>
            </a:pPr>
            <a:r>
              <a:rPr sz="1100" b="1">
                <a:solidFill>
                  <a:srgbClr val="E2571B"/>
                </a:solidFill>
                <a:latin typeface="Noto Sans KR"/>
                <a:ea typeface="Noto Sans KR"/>
                <a:cs typeface="Noto Sans KR"/>
              </a:rPr>
              <a:t>부록 A16</a:t>
            </a:r>
          </a:p>
        </p:txBody>
      </p:sp>
      <p:sp>
        <p:nvSpPr>
          <p:cNvPr id="3" name="TextBox 2"/>
          <p:cNvSpPr txBox="1"/>
          <p:nvPr/>
        </p:nvSpPr>
        <p:spPr>
          <a:xfrm>
            <a:off x="685800" y="822960"/>
            <a:ext cx="10820095" cy="475488"/>
          </a:xfrm>
          <a:prstGeom prst="rect">
            <a:avLst/>
          </a:prstGeom>
          <a:noFill/>
        </p:spPr>
        <p:txBody>
          <a:bodyPr wrap="square" lIns="0" rIns="0" tIns="0" bIns="0" anchor="t">
            <a:spAutoFit/>
          </a:bodyPr>
          <a:lstStyle/>
          <a:p>
            <a:pPr algn="l">
              <a:lnSpc>
                <a:spcPct val="95000"/>
              </a:lnSpc>
            </a:pPr>
            <a:r>
              <a:rPr sz="2600" b="1">
                <a:solidFill>
                  <a:srgbClr val="15171A"/>
                </a:solidFill>
                <a:latin typeface="Noto Sans KR"/>
                <a:ea typeface="Noto Sans KR"/>
                <a:cs typeface="Noto Sans KR"/>
              </a:rPr>
              <a:t>주요 위험과 대응</a:t>
            </a:r>
          </a:p>
        </p:txBody>
      </p:sp>
      <p:graphicFrame>
        <p:nvGraphicFramePr>
          <p:cNvPr id="4" name="Table 3"/>
          <p:cNvGraphicFramePr>
            <a:graphicFrameLocks noGrp="1"/>
          </p:cNvGraphicFramePr>
          <p:nvPr/>
        </p:nvGraphicFramePr>
        <p:xfrm>
          <a:off x="685800" y="1508760"/>
          <a:ext cx="10817352" cy="4073952"/>
        </p:xfrm>
        <a:graphic>
          <a:graphicData uri="http://schemas.openxmlformats.org/drawingml/2006/table">
            <a:tbl>
              <a:tblPr firstRow="0" bandRow="0">
                <a:tableStyleId>{2D5ABB26-0587-4C30-8999-92F81FD0307C}</a:tableStyleId>
              </a:tblPr>
              <a:tblGrid>
                <a:gridCol w="2834640"/>
                <a:gridCol w="3108960"/>
                <a:gridCol w="4873752"/>
              </a:tblGrid>
              <a:tr h="339496">
                <a:tc>
                  <a:txBody>
                    <a:bodyPr wrap="square"/>
                    <a:lstStyle/>
                    <a:p>
                      <a:pPr algn="l">
                        <a:lnSpc>
                          <a:spcPct val="100000"/>
                        </a:lnSpc>
                      </a:pPr>
                      <a:r>
                        <a:rPr sz="1150" b="1">
                          <a:solidFill>
                            <a:srgbClr val="15171A"/>
                          </a:solidFill>
                          <a:latin typeface="Noto Sans KR"/>
                          <a:ea typeface="Noto Sans KR"/>
                          <a:cs typeface="Noto Sans KR"/>
                        </a:rPr>
                        <a:t>주요 위험</a:t>
                      </a:r>
                    </a:p>
                  </a:txBody>
                  <a:tcPr marL="73152" marR="73152" marT="59436" marB="59436" anchor="t">
                    <a:lnL w="0">
                      <a:noFill/>
                    </a:lnL>
                    <a:lnR w="0">
                      <a:noFill/>
                    </a:lnR>
                    <a:lnT w="12700">
                      <a:solidFill>
                        <a:srgbClr val="15171A"/>
                      </a:solidFill>
                    </a:lnT>
                    <a:lnB w="9525">
                      <a:solidFill>
                        <a:srgbClr val="15171A"/>
                      </a:solidFill>
                    </a:lnB>
                    <a:noFill/>
                  </a:tcPr>
                </a:tc>
                <a:tc>
                  <a:txBody>
                    <a:bodyPr wrap="square"/>
                    <a:lstStyle/>
                    <a:p>
                      <a:pPr algn="l">
                        <a:lnSpc>
                          <a:spcPct val="100000"/>
                        </a:lnSpc>
                      </a:pPr>
                      <a:r>
                        <a:rPr sz="1150" b="1">
                          <a:solidFill>
                            <a:srgbClr val="15171A"/>
                          </a:solidFill>
                          <a:latin typeface="Noto Sans KR"/>
                          <a:ea typeface="Noto Sans KR"/>
                          <a:cs typeface="Noto Sans KR"/>
                        </a:rPr>
                        <a:t>사업 영향</a:t>
                      </a:r>
                    </a:p>
                  </a:txBody>
                  <a:tcPr marL="73152" marR="73152" marT="59436" marB="59436" anchor="t">
                    <a:lnL w="0">
                      <a:noFill/>
                    </a:lnL>
                    <a:lnR w="0">
                      <a:noFill/>
                    </a:lnR>
                    <a:lnT w="12700">
                      <a:solidFill>
                        <a:srgbClr val="15171A"/>
                      </a:solidFill>
                    </a:lnT>
                    <a:lnB w="9525">
                      <a:solidFill>
                        <a:srgbClr val="15171A"/>
                      </a:solidFill>
                    </a:lnB>
                    <a:noFill/>
                  </a:tcPr>
                </a:tc>
                <a:tc>
                  <a:txBody>
                    <a:bodyPr wrap="square"/>
                    <a:lstStyle/>
                    <a:p>
                      <a:pPr algn="l">
                        <a:lnSpc>
                          <a:spcPct val="100000"/>
                        </a:lnSpc>
                      </a:pPr>
                      <a:r>
                        <a:rPr sz="1150" b="1">
                          <a:solidFill>
                            <a:srgbClr val="15171A"/>
                          </a:solidFill>
                          <a:latin typeface="Noto Sans KR"/>
                          <a:ea typeface="Noto Sans KR"/>
                          <a:cs typeface="Noto Sans KR"/>
                        </a:rPr>
                        <a:t>대응·판정</a:t>
                      </a:r>
                    </a:p>
                  </a:txBody>
                  <a:tcPr marL="73152" marR="73152" marT="59436" marB="59436" anchor="t">
                    <a:lnL w="0">
                      <a:noFill/>
                    </a:lnL>
                    <a:lnR w="0">
                      <a:noFill/>
                    </a:lnR>
                    <a:lnT w="12700">
                      <a:solidFill>
                        <a:srgbClr val="15171A"/>
                      </a:solidFill>
                    </a:lnT>
                    <a:lnB w="9525">
                      <a:solidFill>
                        <a:srgbClr val="15171A"/>
                      </a:solidFill>
                    </a:lnB>
                    <a:noFill/>
                  </a:tcPr>
                </a:tc>
              </a:tr>
              <a:tr h="339496">
                <a:tc>
                  <a:txBody>
                    <a:bodyPr wrap="square"/>
                    <a:lstStyle/>
                    <a:p>
                      <a:pPr algn="l">
                        <a:lnSpc>
                          <a:spcPct val="100000"/>
                        </a:lnSpc>
                      </a:pPr>
                      <a:r>
                        <a:rPr sz="1150" b="1">
                          <a:solidFill>
                            <a:srgbClr val="15171A"/>
                          </a:solidFill>
                          <a:latin typeface="Noto Sans KR"/>
                          <a:ea typeface="Noto Sans KR"/>
                          <a:cs typeface="Noto Sans KR"/>
                        </a:rPr>
                        <a:t>순응성과 강성 충돌</a:t>
                      </a:r>
                    </a:p>
                  </a:txBody>
                  <a:tcPr marL="73152" marR="73152" marT="59436" marB="59436" anchor="t">
                    <a:lnL w="0">
                      <a:noFill/>
                    </a:lnL>
                    <a:lnR w="0">
                      <a:noFill/>
                    </a:lnR>
                    <a:lnT w="0">
                      <a:noFill/>
                    </a:lnT>
                    <a:lnB w="9525">
                      <a:solidFill>
                        <a:srgbClr val="E2E4E7"/>
                      </a:solidFill>
                    </a:lnB>
                    <a:noFill/>
                  </a:tcPr>
                </a:tc>
                <a:tc>
                  <a:txBody>
                    <a:bodyPr wrap="square"/>
                    <a:lstStyle/>
                    <a:p>
                      <a:pPr algn="l">
                        <a:lnSpc>
                          <a:spcPct val="100000"/>
                        </a:lnSpc>
                      </a:pPr>
                      <a:r>
                        <a:rPr sz="1150" b="0">
                          <a:solidFill>
                            <a:srgbClr val="15171A"/>
                          </a:solidFill>
                          <a:latin typeface="Noto Sans KR"/>
                          <a:ea typeface="Noto Sans KR"/>
                          <a:cs typeface="Noto Sans KR"/>
                        </a:rPr>
                        <a:t>팬·노브·문 조작 시 처짐·미끄러짐</a:t>
                      </a:r>
                    </a:p>
                  </a:txBody>
                  <a:tcPr marL="73152" marR="73152" marT="59436" marB="59436" anchor="t">
                    <a:lnL w="0">
                      <a:noFill/>
                    </a:lnL>
                    <a:lnR w="0">
                      <a:noFill/>
                    </a:lnR>
                    <a:lnT w="0">
                      <a:noFill/>
                    </a:lnT>
                    <a:lnB w="9525">
                      <a:solidFill>
                        <a:srgbClr val="E2E4E7"/>
                      </a:solidFill>
                    </a:lnB>
                    <a:noFill/>
                  </a:tcPr>
                </a:tc>
                <a:tc>
                  <a:txBody>
                    <a:bodyPr wrap="square"/>
                    <a:lstStyle/>
                    <a:p>
                      <a:pPr algn="l">
                        <a:lnSpc>
                          <a:spcPct val="100000"/>
                        </a:lnSpc>
                      </a:pPr>
                      <a:r>
                        <a:rPr sz="1150" b="0">
                          <a:solidFill>
                            <a:srgbClr val="15171A"/>
                          </a:solidFill>
                          <a:latin typeface="Noto Sans KR"/>
                          <a:ea typeface="Noto Sans KR"/>
                          <a:cs typeface="Noto Sans KR"/>
                        </a:rPr>
                        <a:t>골격·잠금 비교시험, 작업 토크별 출시 제한, M6 점검</a:t>
                      </a:r>
                    </a:p>
                  </a:txBody>
                  <a:tcPr marL="73152" marR="73152" marT="59436" marB="59436" anchor="t">
                    <a:lnL w="0">
                      <a:noFill/>
                    </a:lnL>
                    <a:lnR w="0">
                      <a:noFill/>
                    </a:lnR>
                    <a:lnT w="0">
                      <a:noFill/>
                    </a:lnT>
                    <a:lnB w="9525">
                      <a:solidFill>
                        <a:srgbClr val="E2E4E7"/>
                      </a:solidFill>
                    </a:lnB>
                    <a:noFill/>
                  </a:tcPr>
                </a:tc>
              </a:tr>
              <a:tr h="339496">
                <a:tc>
                  <a:txBody>
                    <a:bodyPr wrap="square"/>
                    <a:lstStyle/>
                    <a:p>
                      <a:pPr algn="l">
                        <a:lnSpc>
                          <a:spcPct val="100000"/>
                        </a:lnSpc>
                      </a:pPr>
                      <a:r>
                        <a:rPr sz="1150" b="1">
                          <a:solidFill>
                            <a:srgbClr val="15171A"/>
                          </a:solidFill>
                          <a:latin typeface="Noto Sans KR"/>
                          <a:ea typeface="Noto Sans KR"/>
                          <a:cs typeface="Noto Sans KR"/>
                        </a:rPr>
                        <a:t>위생·세척·열</a:t>
                      </a:r>
                    </a:p>
                  </a:txBody>
                  <a:tcPr marL="73152" marR="73152" marT="59436" marB="59436" anchor="t">
                    <a:lnL w="0">
                      <a:noFill/>
                    </a:lnL>
                    <a:lnR w="0">
                      <a:noFill/>
                    </a:lnR>
                    <a:lnT w="0">
                      <a:noFill/>
                    </a:lnT>
                    <a:lnB w="9525">
                      <a:solidFill>
                        <a:srgbClr val="E2E4E7"/>
                      </a:solidFill>
                    </a:lnB>
                    <a:noFill/>
                  </a:tcPr>
                </a:tc>
                <a:tc>
                  <a:txBody>
                    <a:bodyPr wrap="square"/>
                    <a:lstStyle/>
                    <a:p>
                      <a:pPr algn="l">
                        <a:lnSpc>
                          <a:spcPct val="100000"/>
                        </a:lnSpc>
                      </a:pPr>
                      <a:r>
                        <a:rPr sz="1150" b="0">
                          <a:solidFill>
                            <a:srgbClr val="15171A"/>
                          </a:solidFill>
                          <a:latin typeface="Noto Sans KR"/>
                          <a:ea typeface="Noto Sans KR"/>
                          <a:cs typeface="Noto Sans KR"/>
                        </a:rPr>
                        <a:t>세척 불가·오염 시 주방 도입 불가</a:t>
                      </a:r>
                    </a:p>
                  </a:txBody>
                  <a:tcPr marL="73152" marR="73152" marT="59436" marB="59436" anchor="t">
                    <a:lnL w="0">
                      <a:noFill/>
                    </a:lnL>
                    <a:lnR w="0">
                      <a:noFill/>
                    </a:lnR>
                    <a:lnT w="0">
                      <a:noFill/>
                    </a:lnT>
                    <a:lnB w="9525">
                      <a:solidFill>
                        <a:srgbClr val="E2E4E7"/>
                      </a:solidFill>
                    </a:lnB>
                    <a:noFill/>
                  </a:tcPr>
                </a:tc>
                <a:tc>
                  <a:txBody>
                    <a:bodyPr wrap="square"/>
                    <a:lstStyle/>
                    <a:p>
                      <a:pPr algn="l">
                        <a:lnSpc>
                          <a:spcPct val="100000"/>
                        </a:lnSpc>
                      </a:pPr>
                      <a:r>
                        <a:rPr sz="1150" b="0">
                          <a:solidFill>
                            <a:srgbClr val="15171A"/>
                          </a:solidFill>
                          <a:latin typeface="Noto Sans KR"/>
                          <a:ea typeface="Noto Sans KR"/>
                          <a:cs typeface="Noto Sans KR"/>
                        </a:rPr>
                        <a:t>교체형 위생 접촉부·밀봉 구조, 식품 접촉 재질 시험</a:t>
                      </a:r>
                    </a:p>
                  </a:txBody>
                  <a:tcPr marL="73152" marR="73152" marT="59436" marB="59436" anchor="t">
                    <a:lnL w="0">
                      <a:noFill/>
                    </a:lnL>
                    <a:lnR w="0">
                      <a:noFill/>
                    </a:lnR>
                    <a:lnT w="0">
                      <a:noFill/>
                    </a:lnT>
                    <a:lnB w="9525">
                      <a:solidFill>
                        <a:srgbClr val="E2E4E7"/>
                      </a:solidFill>
                    </a:lnB>
                    <a:noFill/>
                  </a:tcPr>
                </a:tc>
              </a:tr>
              <a:tr h="339496">
                <a:tc>
                  <a:txBody>
                    <a:bodyPr wrap="square"/>
                    <a:lstStyle/>
                    <a:p>
                      <a:pPr algn="l">
                        <a:lnSpc>
                          <a:spcPct val="100000"/>
                        </a:lnSpc>
                      </a:pPr>
                      <a:r>
                        <a:rPr sz="1150" b="1">
                          <a:solidFill>
                            <a:srgbClr val="15171A"/>
                          </a:solidFill>
                          <a:latin typeface="Noto Sans KR"/>
                          <a:ea typeface="Noto Sans KR"/>
                          <a:cs typeface="Noto Sans KR"/>
                        </a:rPr>
                        <a:t>속도·처리량</a:t>
                      </a:r>
                    </a:p>
                  </a:txBody>
                  <a:tcPr marL="73152" marR="73152" marT="59436" marB="59436" anchor="t">
                    <a:lnL w="0">
                      <a:noFill/>
                    </a:lnL>
                    <a:lnR w="0">
                      <a:noFill/>
                    </a:lnR>
                    <a:lnT w="0">
                      <a:noFill/>
                    </a:lnT>
                    <a:lnB w="9525">
                      <a:solidFill>
                        <a:srgbClr val="E2E4E7"/>
                      </a:solidFill>
                    </a:lnB>
                    <a:noFill/>
                  </a:tcPr>
                </a:tc>
                <a:tc>
                  <a:txBody>
                    <a:bodyPr wrap="square"/>
                    <a:lstStyle/>
                    <a:p>
                      <a:pPr algn="l">
                        <a:lnSpc>
                          <a:spcPct val="100000"/>
                        </a:lnSpc>
                      </a:pPr>
                      <a:r>
                        <a:rPr sz="1150" b="0">
                          <a:solidFill>
                            <a:srgbClr val="15171A"/>
                          </a:solidFill>
                          <a:latin typeface="Noto Sans KR"/>
                          <a:ea typeface="Noto Sans KR"/>
                          <a:cs typeface="Noto Sans KR"/>
                        </a:rPr>
                        <a:t>사람 대비 느리면 경제성 약화</a:t>
                      </a:r>
                    </a:p>
                  </a:txBody>
                  <a:tcPr marL="73152" marR="73152" marT="59436" marB="59436" anchor="t">
                    <a:lnL w="0">
                      <a:noFill/>
                    </a:lnL>
                    <a:lnR w="0">
                      <a:noFill/>
                    </a:lnR>
                    <a:lnT w="0">
                      <a:noFill/>
                    </a:lnT>
                    <a:lnB w="9525">
                      <a:solidFill>
                        <a:srgbClr val="E2E4E7"/>
                      </a:solidFill>
                    </a:lnB>
                    <a:noFill/>
                  </a:tcPr>
                </a:tc>
                <a:tc>
                  <a:txBody>
                    <a:bodyPr wrap="square"/>
                    <a:lstStyle/>
                    <a:p>
                      <a:pPr algn="l">
                        <a:lnSpc>
                          <a:spcPct val="100000"/>
                        </a:lnSpc>
                      </a:pPr>
                      <a:r>
                        <a:rPr sz="1150" b="0">
                          <a:solidFill>
                            <a:srgbClr val="15171A"/>
                          </a:solidFill>
                          <a:latin typeface="Noto Sans KR"/>
                          <a:ea typeface="Noto Sans KR"/>
                          <a:cs typeface="Noto Sans KR"/>
                        </a:rPr>
                        <a:t>반복 보조 작업부터, PoC KPI로 처리량·가동률 측정</a:t>
                      </a:r>
                    </a:p>
                  </a:txBody>
                  <a:tcPr marL="73152" marR="73152" marT="59436" marB="59436" anchor="t">
                    <a:lnL w="0">
                      <a:noFill/>
                    </a:lnL>
                    <a:lnR w="0">
                      <a:noFill/>
                    </a:lnR>
                    <a:lnT w="0">
                      <a:noFill/>
                    </a:lnT>
                    <a:lnB w="9525">
                      <a:solidFill>
                        <a:srgbClr val="E2E4E7"/>
                      </a:solidFill>
                    </a:lnB>
                    <a:noFill/>
                  </a:tcPr>
                </a:tc>
              </a:tr>
              <a:tr h="339496">
                <a:tc>
                  <a:txBody>
                    <a:bodyPr wrap="square"/>
                    <a:lstStyle/>
                    <a:p>
                      <a:pPr algn="l">
                        <a:lnSpc>
                          <a:spcPct val="100000"/>
                        </a:lnSpc>
                      </a:pPr>
                      <a:r>
                        <a:rPr sz="1150" b="1">
                          <a:solidFill>
                            <a:srgbClr val="15171A"/>
                          </a:solidFill>
                          <a:latin typeface="Noto Sans KR"/>
                          <a:ea typeface="Noto Sans KR"/>
                          <a:cs typeface="Noto Sans KR"/>
                        </a:rPr>
                        <a:t>시장 범위 과대</a:t>
                      </a:r>
                    </a:p>
                  </a:txBody>
                  <a:tcPr marL="73152" marR="73152" marT="59436" marB="59436" anchor="t">
                    <a:lnL w="0">
                      <a:noFill/>
                    </a:lnL>
                    <a:lnR w="0">
                      <a:noFill/>
                    </a:lnR>
                    <a:lnT w="0">
                      <a:noFill/>
                    </a:lnT>
                    <a:lnB w="9525">
                      <a:solidFill>
                        <a:srgbClr val="E2E4E7"/>
                      </a:solidFill>
                    </a:lnB>
                    <a:noFill/>
                  </a:tcPr>
                </a:tc>
                <a:tc>
                  <a:txBody>
                    <a:bodyPr wrap="square"/>
                    <a:lstStyle/>
                    <a:p>
                      <a:pPr algn="l">
                        <a:lnSpc>
                          <a:spcPct val="100000"/>
                        </a:lnSpc>
                      </a:pPr>
                      <a:r>
                        <a:rPr sz="1150" b="0">
                          <a:solidFill>
                            <a:srgbClr val="15171A"/>
                          </a:solidFill>
                          <a:latin typeface="Noto Sans KR"/>
                          <a:ea typeface="Noto Sans KR"/>
                          <a:cs typeface="Noto Sans KR"/>
                        </a:rPr>
                        <a:t>상업용·가정용·산업 동시 추진으로 실행 분산</a:t>
                      </a:r>
                    </a:p>
                  </a:txBody>
                  <a:tcPr marL="73152" marR="73152" marT="59436" marB="59436" anchor="t">
                    <a:lnL w="0">
                      <a:noFill/>
                    </a:lnL>
                    <a:lnR w="0">
                      <a:noFill/>
                    </a:lnR>
                    <a:lnT w="0">
                      <a:noFill/>
                    </a:lnT>
                    <a:lnB w="9525">
                      <a:solidFill>
                        <a:srgbClr val="E2E4E7"/>
                      </a:solidFill>
                    </a:lnB>
                    <a:noFill/>
                  </a:tcPr>
                </a:tc>
                <a:tc>
                  <a:txBody>
                    <a:bodyPr wrap="square"/>
                    <a:lstStyle/>
                    <a:p>
                      <a:pPr algn="l">
                        <a:lnSpc>
                          <a:spcPct val="100000"/>
                        </a:lnSpc>
                      </a:pPr>
                      <a:r>
                        <a:rPr sz="1150" b="0">
                          <a:solidFill>
                            <a:srgbClr val="15171A"/>
                          </a:solidFill>
                          <a:latin typeface="Noto Sans KR"/>
                          <a:ea typeface="Noto Sans KR"/>
                          <a:cs typeface="Noto Sans KR"/>
                        </a:rPr>
                        <a:t>Seed는 검증 대상 6종 작업 집중, 가정용은 벤치 검증</a:t>
                      </a:r>
                    </a:p>
                  </a:txBody>
                  <a:tcPr marL="73152" marR="73152" marT="59436" marB="59436" anchor="t">
                    <a:lnL w="0">
                      <a:noFill/>
                    </a:lnL>
                    <a:lnR w="0">
                      <a:noFill/>
                    </a:lnR>
                    <a:lnT w="0">
                      <a:noFill/>
                    </a:lnT>
                    <a:lnB w="9525">
                      <a:solidFill>
                        <a:srgbClr val="E2E4E7"/>
                      </a:solidFill>
                    </a:lnB>
                    <a:noFill/>
                  </a:tcPr>
                </a:tc>
              </a:tr>
              <a:tr h="339496">
                <a:tc>
                  <a:txBody>
                    <a:bodyPr wrap="square"/>
                    <a:lstStyle/>
                    <a:p>
                      <a:pPr algn="l">
                        <a:lnSpc>
                          <a:spcPct val="100000"/>
                        </a:lnSpc>
                      </a:pPr>
                      <a:r>
                        <a:rPr sz="1150" b="1">
                          <a:solidFill>
                            <a:srgbClr val="15171A"/>
                          </a:solidFill>
                          <a:latin typeface="Noto Sans KR"/>
                          <a:ea typeface="Noto Sans KR"/>
                          <a:cs typeface="Noto Sans KR"/>
                        </a:rPr>
                        <a:t>과도한 맞춤 개발 (SI화)</a:t>
                      </a:r>
                    </a:p>
                  </a:txBody>
                  <a:tcPr marL="73152" marR="73152" marT="59436" marB="59436" anchor="t">
                    <a:lnL w="0">
                      <a:noFill/>
                    </a:lnL>
                    <a:lnR w="0">
                      <a:noFill/>
                    </a:lnR>
                    <a:lnT w="0">
                      <a:noFill/>
                    </a:lnT>
                    <a:lnB w="9525">
                      <a:solidFill>
                        <a:srgbClr val="E2E4E7"/>
                      </a:solidFill>
                    </a:lnB>
                    <a:noFill/>
                  </a:tcPr>
                </a:tc>
                <a:tc>
                  <a:txBody>
                    <a:bodyPr wrap="square"/>
                    <a:lstStyle/>
                    <a:p>
                      <a:pPr algn="l">
                        <a:lnSpc>
                          <a:spcPct val="100000"/>
                        </a:lnSpc>
                      </a:pPr>
                      <a:r>
                        <a:rPr sz="1150" b="0">
                          <a:solidFill>
                            <a:srgbClr val="15171A"/>
                          </a:solidFill>
                          <a:latin typeface="Noto Sans KR"/>
                          <a:ea typeface="Noto Sans KR"/>
                          <a:cs typeface="Noto Sans KR"/>
                        </a:rPr>
                        <a:t>낮은 마진, 확장 불가</a:t>
                      </a:r>
                    </a:p>
                  </a:txBody>
                  <a:tcPr marL="73152" marR="73152" marT="59436" marB="59436" anchor="t">
                    <a:lnL w="0">
                      <a:noFill/>
                    </a:lnL>
                    <a:lnR w="0">
                      <a:noFill/>
                    </a:lnR>
                    <a:lnT w="0">
                      <a:noFill/>
                    </a:lnT>
                    <a:lnB w="9525">
                      <a:solidFill>
                        <a:srgbClr val="E2E4E7"/>
                      </a:solidFill>
                    </a:lnB>
                    <a:noFill/>
                  </a:tcPr>
                </a:tc>
                <a:tc>
                  <a:txBody>
                    <a:bodyPr wrap="square"/>
                    <a:lstStyle/>
                    <a:p>
                      <a:pPr algn="l">
                        <a:lnSpc>
                          <a:spcPct val="100000"/>
                        </a:lnSpc>
                      </a:pPr>
                      <a:r>
                        <a:rPr sz="1150" b="0">
                          <a:solidFill>
                            <a:srgbClr val="15171A"/>
                          </a:solidFill>
                          <a:latin typeface="Noto Sans KR"/>
                          <a:ea typeface="Noto Sans KR"/>
                          <a:cs typeface="Noto Sans KR"/>
                        </a:rPr>
                        <a:t>승인 작업 목록, 비표준 요청 별도 견적, 재사용률 지표, M18 점검</a:t>
                      </a:r>
                    </a:p>
                  </a:txBody>
                  <a:tcPr marL="73152" marR="73152" marT="59436" marB="59436" anchor="t">
                    <a:lnL w="0">
                      <a:noFill/>
                    </a:lnL>
                    <a:lnR w="0">
                      <a:noFill/>
                    </a:lnR>
                    <a:lnT w="0">
                      <a:noFill/>
                    </a:lnT>
                    <a:lnB w="9525">
                      <a:solidFill>
                        <a:srgbClr val="E2E4E7"/>
                      </a:solidFill>
                    </a:lnB>
                    <a:noFill/>
                  </a:tcPr>
                </a:tc>
              </a:tr>
              <a:tr h="339496">
                <a:tc>
                  <a:txBody>
                    <a:bodyPr wrap="square"/>
                    <a:lstStyle/>
                    <a:p>
                      <a:pPr algn="l">
                        <a:lnSpc>
                          <a:spcPct val="100000"/>
                        </a:lnSpc>
                      </a:pPr>
                      <a:r>
                        <a:rPr sz="1150" b="1">
                          <a:solidFill>
                            <a:srgbClr val="15171A"/>
                          </a:solidFill>
                          <a:latin typeface="Noto Sans KR"/>
                          <a:ea typeface="Noto Sans KR"/>
                          <a:cs typeface="Noto Sans KR"/>
                        </a:rPr>
                        <a:t>Skill 이식성 실패</a:t>
                      </a:r>
                    </a:p>
                  </a:txBody>
                  <a:tcPr marL="73152" marR="73152" marT="59436" marB="59436" anchor="t">
                    <a:lnL w="0">
                      <a:noFill/>
                    </a:lnL>
                    <a:lnR w="0">
                      <a:noFill/>
                    </a:lnR>
                    <a:lnT w="0">
                      <a:noFill/>
                    </a:lnT>
                    <a:lnB w="9525">
                      <a:solidFill>
                        <a:srgbClr val="E2E4E7"/>
                      </a:solidFill>
                    </a:lnB>
                    <a:noFill/>
                  </a:tcPr>
                </a:tc>
                <a:tc>
                  <a:txBody>
                    <a:bodyPr wrap="square"/>
                    <a:lstStyle/>
                    <a:p>
                      <a:pPr algn="l">
                        <a:lnSpc>
                          <a:spcPct val="100000"/>
                        </a:lnSpc>
                      </a:pPr>
                      <a:r>
                        <a:rPr sz="1150" b="0">
                          <a:solidFill>
                            <a:srgbClr val="15171A"/>
                          </a:solidFill>
                          <a:latin typeface="Noto Sans KR"/>
                          <a:ea typeface="Noto Sans KR"/>
                          <a:cs typeface="Noto Sans KR"/>
                        </a:rPr>
                        <a:t>플랫폼 가설 약화</a:t>
                      </a:r>
                    </a:p>
                  </a:txBody>
                  <a:tcPr marL="73152" marR="73152" marT="59436" marB="59436" anchor="t">
                    <a:lnL w="0">
                      <a:noFill/>
                    </a:lnL>
                    <a:lnR w="0">
                      <a:noFill/>
                    </a:lnR>
                    <a:lnT w="0">
                      <a:noFill/>
                    </a:lnT>
                    <a:lnB w="9525">
                      <a:solidFill>
                        <a:srgbClr val="E2E4E7"/>
                      </a:solidFill>
                    </a:lnB>
                    <a:noFill/>
                  </a:tcPr>
                </a:tc>
                <a:tc>
                  <a:txBody>
                    <a:bodyPr wrap="square"/>
                    <a:lstStyle/>
                    <a:p>
                      <a:pPr algn="l">
                        <a:lnSpc>
                          <a:spcPct val="100000"/>
                        </a:lnSpc>
                      </a:pPr>
                      <a:r>
                        <a:rPr sz="1150" b="0">
                          <a:solidFill>
                            <a:srgbClr val="15171A"/>
                          </a:solidFill>
                          <a:latin typeface="Noto Sans KR"/>
                          <a:ea typeface="Noto Sans KR"/>
                          <a:cs typeface="Noto Sans KR"/>
                        </a:rPr>
                        <a:t>로봇 독립 작업 표현, 보정 도구, 로봇 2종 검증</a:t>
                      </a:r>
                    </a:p>
                  </a:txBody>
                  <a:tcPr marL="73152" marR="73152" marT="59436" marB="59436" anchor="t">
                    <a:lnL w="0">
                      <a:noFill/>
                    </a:lnL>
                    <a:lnR w="0">
                      <a:noFill/>
                    </a:lnR>
                    <a:lnT w="0">
                      <a:noFill/>
                    </a:lnT>
                    <a:lnB w="9525">
                      <a:solidFill>
                        <a:srgbClr val="E2E4E7"/>
                      </a:solidFill>
                    </a:lnB>
                    <a:noFill/>
                  </a:tcPr>
                </a:tc>
              </a:tr>
              <a:tr h="339496">
                <a:tc>
                  <a:txBody>
                    <a:bodyPr wrap="square"/>
                    <a:lstStyle/>
                    <a:p>
                      <a:pPr algn="l">
                        <a:lnSpc>
                          <a:spcPct val="100000"/>
                        </a:lnSpc>
                      </a:pPr>
                      <a:r>
                        <a:rPr sz="1150" b="1">
                          <a:solidFill>
                            <a:srgbClr val="15171A"/>
                          </a:solidFill>
                          <a:latin typeface="Noto Sans KR"/>
                          <a:ea typeface="Noto Sans KR"/>
                          <a:cs typeface="Noto Sans KR"/>
                        </a:rPr>
                        <a:t>지불의사 부족</a:t>
                      </a:r>
                    </a:p>
                  </a:txBody>
                  <a:tcPr marL="73152" marR="73152" marT="59436" marB="59436" anchor="t">
                    <a:lnL w="0">
                      <a:noFill/>
                    </a:lnL>
                    <a:lnR w="0">
                      <a:noFill/>
                    </a:lnR>
                    <a:lnT w="0">
                      <a:noFill/>
                    </a:lnT>
                    <a:lnB w="9525">
                      <a:solidFill>
                        <a:srgbClr val="E2E4E7"/>
                      </a:solidFill>
                    </a:lnB>
                    <a:noFill/>
                  </a:tcPr>
                </a:tc>
                <a:tc>
                  <a:txBody>
                    <a:bodyPr wrap="square"/>
                    <a:lstStyle/>
                    <a:p>
                      <a:pPr algn="l">
                        <a:lnSpc>
                          <a:spcPct val="100000"/>
                        </a:lnSpc>
                      </a:pPr>
                      <a:r>
                        <a:rPr sz="1150" b="0">
                          <a:solidFill>
                            <a:srgbClr val="15171A"/>
                          </a:solidFill>
                          <a:latin typeface="Noto Sans KR"/>
                          <a:ea typeface="Noto Sans KR"/>
                          <a:cs typeface="Noto Sans KR"/>
                        </a:rPr>
                        <a:t>매출 지연, 첫 Use Case 오판</a:t>
                      </a:r>
                    </a:p>
                  </a:txBody>
                  <a:tcPr marL="73152" marR="73152" marT="59436" marB="59436" anchor="t">
                    <a:lnL w="0">
                      <a:noFill/>
                    </a:lnL>
                    <a:lnR w="0">
                      <a:noFill/>
                    </a:lnR>
                    <a:lnT w="0">
                      <a:noFill/>
                    </a:lnT>
                    <a:lnB w="9525">
                      <a:solidFill>
                        <a:srgbClr val="E2E4E7"/>
                      </a:solidFill>
                    </a:lnB>
                    <a:noFill/>
                  </a:tcPr>
                </a:tc>
                <a:tc>
                  <a:txBody>
                    <a:bodyPr wrap="square"/>
                    <a:lstStyle/>
                    <a:p>
                      <a:pPr algn="l">
                        <a:lnSpc>
                          <a:spcPct val="100000"/>
                        </a:lnSpc>
                      </a:pPr>
                      <a:r>
                        <a:rPr sz="1150" b="0">
                          <a:solidFill>
                            <a:srgbClr val="15171A"/>
                          </a:solidFill>
                          <a:latin typeface="Noto Sans KR"/>
                          <a:ea typeface="Noto Sans KR"/>
                          <a:cs typeface="Noto Sans KR"/>
                        </a:rPr>
                        <a:t>유료 PoC 선수금, 기존 수치 측정 계약, M12 점검</a:t>
                      </a:r>
                    </a:p>
                  </a:txBody>
                  <a:tcPr marL="73152" marR="73152" marT="59436" marB="59436" anchor="t">
                    <a:lnL w="0">
                      <a:noFill/>
                    </a:lnL>
                    <a:lnR w="0">
                      <a:noFill/>
                    </a:lnR>
                    <a:lnT w="0">
                      <a:noFill/>
                    </a:lnT>
                    <a:lnB w="9525">
                      <a:solidFill>
                        <a:srgbClr val="E2E4E7"/>
                      </a:solidFill>
                    </a:lnB>
                    <a:noFill/>
                  </a:tcPr>
                </a:tc>
              </a:tr>
              <a:tr h="339496">
                <a:tc>
                  <a:txBody>
                    <a:bodyPr wrap="square"/>
                    <a:lstStyle/>
                    <a:p>
                      <a:pPr algn="l">
                        <a:lnSpc>
                          <a:spcPct val="100000"/>
                        </a:lnSpc>
                      </a:pPr>
                      <a:r>
                        <a:rPr sz="1150" b="1">
                          <a:solidFill>
                            <a:srgbClr val="15171A"/>
                          </a:solidFill>
                          <a:latin typeface="Noto Sans KR"/>
                          <a:ea typeface="Noto Sans KR"/>
                          <a:cs typeface="Noto Sans KR"/>
                        </a:rPr>
                        <a:t>안전 (칼·고온·사람 근접)</a:t>
                      </a:r>
                    </a:p>
                  </a:txBody>
                  <a:tcPr marL="73152" marR="73152" marT="59436" marB="59436" anchor="t">
                    <a:lnL w="0">
                      <a:noFill/>
                    </a:lnL>
                    <a:lnR w="0">
                      <a:noFill/>
                    </a:lnR>
                    <a:lnT w="0">
                      <a:noFill/>
                    </a:lnT>
                    <a:lnB w="9525">
                      <a:solidFill>
                        <a:srgbClr val="E2E4E7"/>
                      </a:solidFill>
                    </a:lnB>
                    <a:noFill/>
                  </a:tcPr>
                </a:tc>
                <a:tc>
                  <a:txBody>
                    <a:bodyPr wrap="square"/>
                    <a:lstStyle/>
                    <a:p>
                      <a:pPr algn="l">
                        <a:lnSpc>
                          <a:spcPct val="100000"/>
                        </a:lnSpc>
                      </a:pPr>
                      <a:r>
                        <a:rPr sz="1150" b="0">
                          <a:solidFill>
                            <a:srgbClr val="15171A"/>
                          </a:solidFill>
                          <a:latin typeface="Noto Sans KR"/>
                          <a:ea typeface="Noto Sans KR"/>
                          <a:cs typeface="Noto Sans KR"/>
                        </a:rPr>
                        <a:t>사고·도입 지연</a:t>
                      </a:r>
                    </a:p>
                  </a:txBody>
                  <a:tcPr marL="73152" marR="73152" marT="59436" marB="59436" anchor="t">
                    <a:lnL w="0">
                      <a:noFill/>
                    </a:lnL>
                    <a:lnR w="0">
                      <a:noFill/>
                    </a:lnR>
                    <a:lnT w="0">
                      <a:noFill/>
                    </a:lnT>
                    <a:lnB w="9525">
                      <a:solidFill>
                        <a:srgbClr val="E2E4E7"/>
                      </a:solidFill>
                    </a:lnB>
                    <a:noFill/>
                  </a:tcPr>
                </a:tc>
                <a:tc>
                  <a:txBody>
                    <a:bodyPr wrap="square"/>
                    <a:lstStyle/>
                    <a:p>
                      <a:pPr algn="l">
                        <a:lnSpc>
                          <a:spcPct val="100000"/>
                        </a:lnSpc>
                      </a:pPr>
                      <a:r>
                        <a:rPr sz="1150" b="0">
                          <a:solidFill>
                            <a:srgbClr val="15171A"/>
                          </a:solidFill>
                          <a:latin typeface="Noto Sans KR"/>
                          <a:ea typeface="Noto Sans KR"/>
                          <a:cs typeface="Noto Sans KR"/>
                        </a:rPr>
                        <a:t>통합 위험성 평가, 기능 제한, 독립 인터록</a:t>
                      </a:r>
                    </a:p>
                  </a:txBody>
                  <a:tcPr marL="73152" marR="73152" marT="59436" marB="59436" anchor="t">
                    <a:lnL w="0">
                      <a:noFill/>
                    </a:lnL>
                    <a:lnR w="0">
                      <a:noFill/>
                    </a:lnR>
                    <a:lnT w="0">
                      <a:noFill/>
                    </a:lnT>
                    <a:lnB w="9525">
                      <a:solidFill>
                        <a:srgbClr val="E2E4E7"/>
                      </a:solidFill>
                    </a:lnB>
                    <a:noFill/>
                  </a:tcPr>
                </a:tc>
              </a:tr>
              <a:tr h="339496">
                <a:tc>
                  <a:txBody>
                    <a:bodyPr wrap="square"/>
                    <a:lstStyle/>
                    <a:p>
                      <a:pPr algn="l">
                        <a:lnSpc>
                          <a:spcPct val="100000"/>
                        </a:lnSpc>
                      </a:pPr>
                      <a:r>
                        <a:rPr sz="1150" b="1">
                          <a:solidFill>
                            <a:srgbClr val="15171A"/>
                          </a:solidFill>
                          <a:latin typeface="Noto Sans KR"/>
                          <a:ea typeface="Noto Sans KR"/>
                          <a:cs typeface="Noto Sans KR"/>
                        </a:rPr>
                        <a:t>로봇·가전 기업 내재화</a:t>
                      </a:r>
                    </a:p>
                  </a:txBody>
                  <a:tcPr marL="73152" marR="73152" marT="59436" marB="59436" anchor="t">
                    <a:lnL w="0">
                      <a:noFill/>
                    </a:lnL>
                    <a:lnR w="0">
                      <a:noFill/>
                    </a:lnR>
                    <a:lnT w="0">
                      <a:noFill/>
                    </a:lnT>
                    <a:lnB w="9525">
                      <a:solidFill>
                        <a:srgbClr val="E2E4E7"/>
                      </a:solidFill>
                    </a:lnB>
                    <a:noFill/>
                  </a:tcPr>
                </a:tc>
                <a:tc>
                  <a:txBody>
                    <a:bodyPr wrap="square"/>
                    <a:lstStyle/>
                    <a:p>
                      <a:pPr algn="l">
                        <a:lnSpc>
                          <a:spcPct val="100000"/>
                        </a:lnSpc>
                      </a:pPr>
                      <a:r>
                        <a:rPr sz="1150" b="0">
                          <a:solidFill>
                            <a:srgbClr val="15171A"/>
                          </a:solidFill>
                          <a:latin typeface="Noto Sans KR"/>
                          <a:ea typeface="Noto Sans KR"/>
                          <a:cs typeface="Noto Sans KR"/>
                        </a:rPr>
                        <a:t>OEM 채널 축소</a:t>
                      </a:r>
                    </a:p>
                  </a:txBody>
                  <a:tcPr marL="73152" marR="73152" marT="59436" marB="59436" anchor="t">
                    <a:lnL w="0">
                      <a:noFill/>
                    </a:lnL>
                    <a:lnR w="0">
                      <a:noFill/>
                    </a:lnR>
                    <a:lnT w="0">
                      <a:noFill/>
                    </a:lnT>
                    <a:lnB w="9525">
                      <a:solidFill>
                        <a:srgbClr val="E2E4E7"/>
                      </a:solidFill>
                    </a:lnB>
                    <a:noFill/>
                  </a:tcPr>
                </a:tc>
                <a:tc>
                  <a:txBody>
                    <a:bodyPr wrap="square"/>
                    <a:lstStyle/>
                    <a:p>
                      <a:pPr algn="l">
                        <a:lnSpc>
                          <a:spcPct val="100000"/>
                        </a:lnSpc>
                      </a:pPr>
                      <a:r>
                        <a:rPr sz="1150" b="0">
                          <a:solidFill>
                            <a:srgbClr val="15171A"/>
                          </a:solidFill>
                          <a:latin typeface="Noto Sans KR"/>
                          <a:ea typeface="Noto Sans KR"/>
                          <a:cs typeface="Noto Sans KR"/>
                        </a:rPr>
                        <a:t>로봇 무관 통합, 여러 브랜드용 Skill, OEM 파트너십 우선</a:t>
                      </a:r>
                    </a:p>
                  </a:txBody>
                  <a:tcPr marL="73152" marR="73152" marT="59436" marB="59436" anchor="t">
                    <a:lnL w="0">
                      <a:noFill/>
                    </a:lnL>
                    <a:lnR w="0">
                      <a:noFill/>
                    </a:lnR>
                    <a:lnT w="0">
                      <a:noFill/>
                    </a:lnT>
                    <a:lnB w="9525">
                      <a:solidFill>
                        <a:srgbClr val="E2E4E7"/>
                      </a:solidFill>
                    </a:lnB>
                    <a:noFill/>
                  </a:tcPr>
                </a:tc>
              </a:tr>
              <a:tr h="339496">
                <a:tc>
                  <a:txBody>
                    <a:bodyPr wrap="square"/>
                    <a:lstStyle/>
                    <a:p>
                      <a:pPr algn="l">
                        <a:lnSpc>
                          <a:spcPct val="100000"/>
                        </a:lnSpc>
                      </a:pPr>
                      <a:r>
                        <a:rPr sz="1150" b="1">
                          <a:solidFill>
                            <a:srgbClr val="15171A"/>
                          </a:solidFill>
                          <a:latin typeface="Noto Sans KR"/>
                          <a:ea typeface="Noto Sans KR"/>
                          <a:cs typeface="Noto Sans KR"/>
                        </a:rPr>
                        <a:t>긴 영업 주기·후속 조달</a:t>
                      </a:r>
                    </a:p>
                  </a:txBody>
                  <a:tcPr marL="73152" marR="73152" marT="59436" marB="59436" anchor="t">
                    <a:lnL w="0">
                      <a:noFill/>
                    </a:lnL>
                    <a:lnR w="0">
                      <a:noFill/>
                    </a:lnR>
                    <a:lnT w="0">
                      <a:noFill/>
                    </a:lnT>
                    <a:lnB w="9525">
                      <a:solidFill>
                        <a:srgbClr val="E2E4E7"/>
                      </a:solidFill>
                    </a:lnB>
                    <a:noFill/>
                  </a:tcPr>
                </a:tc>
                <a:tc>
                  <a:txBody>
                    <a:bodyPr wrap="square"/>
                    <a:lstStyle/>
                    <a:p>
                      <a:pPr algn="l">
                        <a:lnSpc>
                          <a:spcPct val="100000"/>
                        </a:lnSpc>
                      </a:pPr>
                      <a:r>
                        <a:rPr sz="1150" b="0">
                          <a:solidFill>
                            <a:srgbClr val="15171A"/>
                          </a:solidFill>
                          <a:latin typeface="Noto Sans KR"/>
                          <a:ea typeface="Noto Sans KR"/>
                          <a:cs typeface="Noto Sans KR"/>
                        </a:rPr>
                        <a:t>운전자금 부족</a:t>
                      </a:r>
                    </a:p>
                  </a:txBody>
                  <a:tcPr marL="73152" marR="73152" marT="59436" marB="59436" anchor="t">
                    <a:lnL w="0">
                      <a:noFill/>
                    </a:lnL>
                    <a:lnR w="0">
                      <a:noFill/>
                    </a:lnR>
                    <a:lnT w="0">
                      <a:noFill/>
                    </a:lnT>
                    <a:lnB w="9525">
                      <a:solidFill>
                        <a:srgbClr val="E2E4E7"/>
                      </a:solidFill>
                    </a:lnB>
                    <a:noFill/>
                  </a:tcPr>
                </a:tc>
                <a:tc>
                  <a:txBody>
                    <a:bodyPr wrap="square"/>
                    <a:lstStyle/>
                    <a:p>
                      <a:pPr algn="l">
                        <a:lnSpc>
                          <a:spcPct val="100000"/>
                        </a:lnSpc>
                      </a:pPr>
                      <a:r>
                        <a:rPr sz="1150" b="0">
                          <a:solidFill>
                            <a:srgbClr val="15171A"/>
                          </a:solidFill>
                          <a:latin typeface="Noto Sans KR"/>
                          <a:ea typeface="Noto Sans KR"/>
                          <a:cs typeface="Noto Sans KR"/>
                        </a:rPr>
                        <a:t>18 + 6개월 집행, 예비비, Series A 조기 착수 (M15~)</a:t>
                      </a:r>
                    </a:p>
                  </a:txBody>
                  <a:tcPr marL="73152" marR="73152" marT="59436" marB="59436" anchor="t">
                    <a:lnL w="0">
                      <a:noFill/>
                    </a:lnL>
                    <a:lnR w="0">
                      <a:noFill/>
                    </a:lnR>
                    <a:lnT w="0">
                      <a:noFill/>
                    </a:lnT>
                    <a:lnB w="9525">
                      <a:solidFill>
                        <a:srgbClr val="E2E4E7"/>
                      </a:solidFill>
                    </a:lnB>
                    <a:noFill/>
                  </a:tcPr>
                </a:tc>
              </a:tr>
              <a:tr h="339496">
                <a:tc>
                  <a:txBody>
                    <a:bodyPr wrap="square"/>
                    <a:lstStyle/>
                    <a:p>
                      <a:pPr algn="l">
                        <a:lnSpc>
                          <a:spcPct val="100000"/>
                        </a:lnSpc>
                      </a:pPr>
                      <a:r>
                        <a:rPr sz="1150" b="1">
                          <a:solidFill>
                            <a:srgbClr val="15171A"/>
                          </a:solidFill>
                          <a:latin typeface="Noto Sans KR"/>
                          <a:ea typeface="Noto Sans KR"/>
                          <a:cs typeface="Noto Sans KR"/>
                        </a:rPr>
                        <a:t>창업팀 구성 지연</a:t>
                      </a:r>
                    </a:p>
                  </a:txBody>
                  <a:tcPr marL="73152" marR="73152" marT="59436" marB="59436" anchor="t">
                    <a:lnL w="0">
                      <a:noFill/>
                    </a:lnL>
                    <a:lnR w="0">
                      <a:noFill/>
                    </a:lnR>
                    <a:lnT w="0">
                      <a:noFill/>
                    </a:lnT>
                    <a:lnB w="9525">
                      <a:solidFill>
                        <a:srgbClr val="E2E4E7"/>
                      </a:solidFill>
                    </a:lnB>
                    <a:noFill/>
                  </a:tcPr>
                </a:tc>
                <a:tc>
                  <a:txBody>
                    <a:bodyPr wrap="square"/>
                    <a:lstStyle/>
                    <a:p>
                      <a:pPr algn="l">
                        <a:lnSpc>
                          <a:spcPct val="100000"/>
                        </a:lnSpc>
                      </a:pPr>
                      <a:r>
                        <a:rPr sz="1150" b="0">
                          <a:solidFill>
                            <a:srgbClr val="15171A"/>
                          </a:solidFill>
                          <a:latin typeface="Noto Sans KR"/>
                          <a:ea typeface="Noto Sans KR"/>
                          <a:cs typeface="Noto Sans KR"/>
                        </a:rPr>
                        <a:t>일정·실행력 저하</a:t>
                      </a:r>
                    </a:p>
                  </a:txBody>
                  <a:tcPr marL="73152" marR="73152" marT="59436" marB="59436" anchor="t">
                    <a:lnL w="0">
                      <a:noFill/>
                    </a:lnL>
                    <a:lnR w="0">
                      <a:noFill/>
                    </a:lnR>
                    <a:lnT w="0">
                      <a:noFill/>
                    </a:lnT>
                    <a:lnB w="9525">
                      <a:solidFill>
                        <a:srgbClr val="E2E4E7"/>
                      </a:solidFill>
                    </a:lnB>
                    <a:noFill/>
                  </a:tcPr>
                </a:tc>
                <a:tc>
                  <a:txBody>
                    <a:bodyPr wrap="square"/>
                    <a:lstStyle/>
                    <a:p>
                      <a:pPr algn="l">
                        <a:lnSpc>
                          <a:spcPct val="100000"/>
                        </a:lnSpc>
                      </a:pPr>
                      <a:r>
                        <a:rPr sz="1150" b="0">
                          <a:solidFill>
                            <a:srgbClr val="15171A"/>
                          </a:solidFill>
                          <a:latin typeface="Noto Sans KR"/>
                          <a:ea typeface="Noto Sans KR"/>
                          <a:cs typeface="Noto Sans KR"/>
                        </a:rPr>
                        <a:t>공동창업자·핵심 2인 합류를 Seed 클로징 조건으로 설정</a:t>
                      </a:r>
                    </a:p>
                  </a:txBody>
                  <a:tcPr marL="73152" marR="73152" marT="59436" marB="59436" anchor="t">
                    <a:lnL w="0">
                      <a:noFill/>
                    </a:lnL>
                    <a:lnR w="0">
                      <a:noFill/>
                    </a:lnR>
                    <a:lnT w="0">
                      <a:noFill/>
                    </a:lnT>
                    <a:lnB w="9525">
                      <a:solidFill>
                        <a:srgbClr val="E2E4E7"/>
                      </a:solidFill>
                    </a:lnB>
                    <a:noFill/>
                  </a:tcPr>
                </a:tc>
              </a:tr>
            </a:tbl>
          </a:graphicData>
        </a:graphic>
      </p:graphicFrame>
      <p:sp>
        <p:nvSpPr>
          <p:cNvPr id="5" name="TextBox 4"/>
          <p:cNvSpPr txBox="1"/>
          <p:nvPr/>
        </p:nvSpPr>
        <p:spPr>
          <a:xfrm>
            <a:off x="685800" y="6446520"/>
            <a:ext cx="5486400" cy="201168"/>
          </a:xfrm>
          <a:prstGeom prst="rect">
            <a:avLst/>
          </a:prstGeom>
          <a:noFill/>
        </p:spPr>
        <p:txBody>
          <a:bodyPr wrap="square" lIns="0" rIns="0" tIns="0" bIns="0" anchor="t">
            <a:spAutoFit/>
          </a:bodyPr>
          <a:lstStyle/>
          <a:p>
            <a:pPr algn="l">
              <a:lnSpc>
                <a:spcPct val="100000"/>
              </a:lnSpc>
            </a:pPr>
            <a:r>
              <a:rPr sz="900" b="0">
                <a:solidFill>
                  <a:srgbClr val="8C9198"/>
                </a:solidFill>
                <a:latin typeface="Noto Sans KR"/>
                <a:ea typeface="Noto Sans KR"/>
                <a:cs typeface="Noto Sans KR"/>
              </a:rPr>
              <a:t>SoftHand  |  주방 로봇 조작 플랫폼  |  Seed 투자 제안서</a:t>
            </a:r>
          </a:p>
        </p:txBody>
      </p:sp>
      <p:sp>
        <p:nvSpPr>
          <p:cNvPr id="6" name="TextBox 5"/>
          <p:cNvSpPr txBox="1"/>
          <p:nvPr/>
        </p:nvSpPr>
        <p:spPr>
          <a:xfrm>
            <a:off x="11048695" y="6446520"/>
            <a:ext cx="457200" cy="201168"/>
          </a:xfrm>
          <a:prstGeom prst="rect">
            <a:avLst/>
          </a:prstGeom>
          <a:noFill/>
        </p:spPr>
        <p:txBody>
          <a:bodyPr wrap="square" lIns="0" rIns="0" tIns="0" bIns="0" anchor="t">
            <a:spAutoFit/>
          </a:bodyPr>
          <a:lstStyle/>
          <a:p>
            <a:pPr algn="r">
              <a:lnSpc>
                <a:spcPct val="100000"/>
              </a:lnSpc>
            </a:pPr>
            <a:r>
              <a:rPr sz="900" b="0">
                <a:solidFill>
                  <a:srgbClr val="8C9198"/>
                </a:solidFill>
                <a:latin typeface="Noto Sans KR"/>
                <a:ea typeface="Noto Sans KR"/>
                <a:cs typeface="Noto Sans KR"/>
              </a:rPr>
              <a:t>A16</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502920"/>
            <a:ext cx="7315200" cy="256032"/>
          </a:xfrm>
          <a:prstGeom prst="rect">
            <a:avLst/>
          </a:prstGeom>
          <a:noFill/>
        </p:spPr>
        <p:txBody>
          <a:bodyPr wrap="square" lIns="0" rIns="0" tIns="0" bIns="0" anchor="t">
            <a:spAutoFit/>
          </a:bodyPr>
          <a:lstStyle/>
          <a:p>
            <a:pPr algn="l">
              <a:lnSpc>
                <a:spcPct val="100000"/>
              </a:lnSpc>
            </a:pPr>
            <a:r>
              <a:rPr sz="1100" b="1">
                <a:solidFill>
                  <a:srgbClr val="E2571B"/>
                </a:solidFill>
                <a:latin typeface="Noto Sans KR"/>
                <a:ea typeface="Noto Sans KR"/>
                <a:cs typeface="Noto Sans KR"/>
              </a:rPr>
              <a:t>부록 A17</a:t>
            </a:r>
          </a:p>
        </p:txBody>
      </p:sp>
      <p:sp>
        <p:nvSpPr>
          <p:cNvPr id="3" name="TextBox 2"/>
          <p:cNvSpPr txBox="1"/>
          <p:nvPr/>
        </p:nvSpPr>
        <p:spPr>
          <a:xfrm>
            <a:off x="685800" y="822960"/>
            <a:ext cx="10820095" cy="475488"/>
          </a:xfrm>
          <a:prstGeom prst="rect">
            <a:avLst/>
          </a:prstGeom>
          <a:noFill/>
        </p:spPr>
        <p:txBody>
          <a:bodyPr wrap="square" lIns="0" rIns="0" tIns="0" bIns="0" anchor="t">
            <a:spAutoFit/>
          </a:bodyPr>
          <a:lstStyle/>
          <a:p>
            <a:pPr algn="l">
              <a:lnSpc>
                <a:spcPct val="95000"/>
              </a:lnSpc>
            </a:pPr>
            <a:r>
              <a:rPr sz="2600" b="1">
                <a:solidFill>
                  <a:srgbClr val="15171A"/>
                </a:solidFill>
                <a:latin typeface="Noto Sans KR"/>
                <a:ea typeface="Noto Sans KR"/>
                <a:cs typeface="Noto Sans KR"/>
              </a:rPr>
              <a:t>출처</a:t>
            </a:r>
          </a:p>
        </p:txBody>
      </p:sp>
      <p:sp>
        <p:nvSpPr>
          <p:cNvPr id="4" name="TextBox 3"/>
          <p:cNvSpPr txBox="1"/>
          <p:nvPr/>
        </p:nvSpPr>
        <p:spPr>
          <a:xfrm>
            <a:off x="685800" y="1353312"/>
            <a:ext cx="10820095" cy="274320"/>
          </a:xfrm>
          <a:prstGeom prst="rect">
            <a:avLst/>
          </a:prstGeom>
          <a:noFill/>
        </p:spPr>
        <p:txBody>
          <a:bodyPr wrap="square" lIns="0" rIns="0" tIns="0" bIns="0" anchor="t">
            <a:spAutoFit/>
          </a:bodyPr>
          <a:lstStyle/>
          <a:p>
            <a:pPr algn="l">
              <a:lnSpc>
                <a:spcPct val="100000"/>
              </a:lnSpc>
            </a:pPr>
            <a:r>
              <a:rPr sz="1300" b="0">
                <a:solidFill>
                  <a:srgbClr val="4A4F57"/>
                </a:solidFill>
                <a:latin typeface="Noto Sans KR"/>
                <a:ea typeface="Noto Sans KR"/>
                <a:cs typeface="Noto Sans KR"/>
              </a:rPr>
              <a:t>열람 기준 2026-10-06 · 가격·원가·성능·고객 수·일정·매출은 출처 수치가 아닌 본 계획의 가정 · 전체 URL은 수정 보고서</a:t>
            </a:r>
          </a:p>
        </p:txBody>
      </p:sp>
      <p:graphicFrame>
        <p:nvGraphicFramePr>
          <p:cNvPr id="5" name="Table 4"/>
          <p:cNvGraphicFramePr>
            <a:graphicFrameLocks noGrp="1"/>
          </p:cNvGraphicFramePr>
          <p:nvPr/>
        </p:nvGraphicFramePr>
        <p:xfrm>
          <a:off x="685800" y="1847088"/>
          <a:ext cx="5250027" cy="4070372"/>
        </p:xfrm>
        <a:graphic>
          <a:graphicData uri="http://schemas.openxmlformats.org/drawingml/2006/table">
            <a:tbl>
              <a:tblPr firstRow="0" bandRow="0">
                <a:tableStyleId>{2D5ABB26-0587-4C30-8999-92F81FD0307C}</a:tableStyleId>
              </a:tblPr>
              <a:tblGrid>
                <a:gridCol w="457200"/>
                <a:gridCol w="3192627"/>
                <a:gridCol w="1600200"/>
              </a:tblGrid>
              <a:tr h="240507">
                <a:tc>
                  <a:txBody>
                    <a:bodyPr wrap="square"/>
                    <a:lstStyle/>
                    <a:p>
                      <a:pPr algn="l">
                        <a:lnSpc>
                          <a:spcPct val="100000"/>
                        </a:lnSpc>
                      </a:pPr>
                      <a:r>
                        <a:rPr sz="919" b="1">
                          <a:solidFill>
                            <a:srgbClr val="15171A"/>
                          </a:solidFill>
                          <a:latin typeface="Noto Sans KR"/>
                          <a:ea typeface="Noto Sans KR"/>
                          <a:cs typeface="Noto Sans KR"/>
                        </a:rPr>
                        <a:t>번호</a:t>
                      </a:r>
                    </a:p>
                  </a:txBody>
                  <a:tcPr marL="73152" marR="73152" marT="31089" marB="31089" anchor="t">
                    <a:lnL w="0">
                      <a:noFill/>
                    </a:lnL>
                    <a:lnR w="0">
                      <a:noFill/>
                    </a:lnR>
                    <a:lnT w="12700">
                      <a:solidFill>
                        <a:srgbClr val="15171A"/>
                      </a:solidFill>
                    </a:lnT>
                    <a:lnB w="9525">
                      <a:solidFill>
                        <a:srgbClr val="15171A"/>
                      </a:solidFill>
                    </a:lnB>
                    <a:noFill/>
                  </a:tcPr>
                </a:tc>
                <a:tc>
                  <a:txBody>
                    <a:bodyPr wrap="square"/>
                    <a:lstStyle/>
                    <a:p>
                      <a:pPr algn="l">
                        <a:lnSpc>
                          <a:spcPct val="100000"/>
                        </a:lnSpc>
                      </a:pPr>
                      <a:r>
                        <a:rPr sz="919" b="1">
                          <a:solidFill>
                            <a:srgbClr val="15171A"/>
                          </a:solidFill>
                          <a:latin typeface="Noto Sans KR"/>
                          <a:ea typeface="Noto Sans KR"/>
                          <a:cs typeface="Noto Sans KR"/>
                        </a:rPr>
                        <a:t>출처</a:t>
                      </a:r>
                    </a:p>
                  </a:txBody>
                  <a:tcPr marL="73152" marR="73152" marT="31089" marB="31089" anchor="t">
                    <a:lnL w="0">
                      <a:noFill/>
                    </a:lnL>
                    <a:lnR w="0">
                      <a:noFill/>
                    </a:lnR>
                    <a:lnT w="12700">
                      <a:solidFill>
                        <a:srgbClr val="15171A"/>
                      </a:solidFill>
                    </a:lnT>
                    <a:lnB w="9525">
                      <a:solidFill>
                        <a:srgbClr val="15171A"/>
                      </a:solidFill>
                    </a:lnB>
                    <a:noFill/>
                  </a:tcPr>
                </a:tc>
                <a:tc>
                  <a:txBody>
                    <a:bodyPr wrap="square"/>
                    <a:lstStyle/>
                    <a:p>
                      <a:pPr algn="l">
                        <a:lnSpc>
                          <a:spcPct val="100000"/>
                        </a:lnSpc>
                      </a:pPr>
                      <a:r>
                        <a:rPr sz="919" b="1">
                          <a:solidFill>
                            <a:srgbClr val="15171A"/>
                          </a:solidFill>
                          <a:latin typeface="Noto Sans KR"/>
                          <a:ea typeface="Noto Sans KR"/>
                          <a:cs typeface="Noto Sans KR"/>
                        </a:rPr>
                        <a:t>도메인</a:t>
                      </a:r>
                    </a:p>
                  </a:txBody>
                  <a:tcPr marL="73152" marR="73152" marT="31089" marB="31089" anchor="t">
                    <a:lnL w="0">
                      <a:noFill/>
                    </a:lnL>
                    <a:lnR w="0">
                      <a:noFill/>
                    </a:lnR>
                    <a:lnT w="12700">
                      <a:solidFill>
                        <a:srgbClr val="15171A"/>
                      </a:solidFill>
                    </a:lnT>
                    <a:lnB w="9525">
                      <a:solidFill>
                        <a:srgbClr val="15171A"/>
                      </a:solidFill>
                    </a:lnB>
                    <a:noFill/>
                  </a:tcPr>
                </a:tc>
              </a:tr>
              <a:tr h="240507">
                <a:tc>
                  <a:txBody>
                    <a:bodyPr wrap="square"/>
                    <a:lstStyle/>
                    <a:p>
                      <a:pPr algn="l">
                        <a:lnSpc>
                          <a:spcPct val="100000"/>
                        </a:lnSpc>
                      </a:pPr>
                      <a:r>
                        <a:rPr sz="919" b="1">
                          <a:solidFill>
                            <a:srgbClr val="E2571B"/>
                          </a:solidFill>
                          <a:latin typeface="Noto Sans KR"/>
                          <a:ea typeface="Noto Sans KR"/>
                          <a:cs typeface="Noto Sans KR"/>
                        </a:rPr>
                        <a:t>S1</a:t>
                      </a:r>
                    </a:p>
                  </a:txBody>
                  <a:tcPr marL="73152" marR="73152" marT="31089" marB="31089" anchor="t">
                    <a:lnL w="0">
                      <a:noFill/>
                    </a:lnL>
                    <a:lnR w="0">
                      <a:noFill/>
                    </a:lnR>
                    <a:lnT w="0">
                      <a:noFill/>
                    </a:lnT>
                    <a:lnB w="9525">
                      <a:solidFill>
                        <a:srgbClr val="E2E4E7"/>
                      </a:solidFill>
                    </a:lnB>
                    <a:noFill/>
                  </a:tcPr>
                </a:tc>
                <a:tc>
                  <a:txBody>
                    <a:bodyPr wrap="square"/>
                    <a:lstStyle/>
                    <a:p>
                      <a:pPr algn="l">
                        <a:lnSpc>
                          <a:spcPct val="100000"/>
                        </a:lnSpc>
                      </a:pPr>
                      <a:r>
                        <a:rPr sz="919" b="0">
                          <a:solidFill>
                            <a:srgbClr val="15171A"/>
                          </a:solidFill>
                          <a:latin typeface="Noto Sans KR"/>
                          <a:ea typeface="Noto Sans KR"/>
                          <a:cs typeface="Noto Sans KR"/>
                        </a:rPr>
                        <a:t>IFR, World Robotics 2026 보도자료 (2026-09-24)</a:t>
                      </a:r>
                    </a:p>
                  </a:txBody>
                  <a:tcPr marL="73152" marR="73152" marT="31089" marB="31089" anchor="t">
                    <a:lnL w="0">
                      <a:noFill/>
                    </a:lnL>
                    <a:lnR w="0">
                      <a:noFill/>
                    </a:lnR>
                    <a:lnT w="0">
                      <a:noFill/>
                    </a:lnT>
                    <a:lnB w="9525">
                      <a:solidFill>
                        <a:srgbClr val="E2E4E7"/>
                      </a:solidFill>
                    </a:lnB>
                    <a:noFill/>
                  </a:tcPr>
                </a:tc>
                <a:tc>
                  <a:txBody>
                    <a:bodyPr wrap="square"/>
                    <a:lstStyle/>
                    <a:p>
                      <a:pPr algn="l">
                        <a:lnSpc>
                          <a:spcPct val="100000"/>
                        </a:lnSpc>
                      </a:pPr>
                      <a:r>
                        <a:rPr sz="900" b="0">
                          <a:solidFill>
                            <a:srgbClr val="4A4F57"/>
                          </a:solidFill>
                          <a:latin typeface="Noto Sans KR"/>
                          <a:ea typeface="Noto Sans KR"/>
                          <a:cs typeface="Noto Sans KR"/>
                        </a:rPr>
                        <a:t>ifr.org</a:t>
                      </a:r>
                    </a:p>
                  </a:txBody>
                  <a:tcPr marL="73152" marR="73152" marT="31089" marB="31089" anchor="t">
                    <a:lnL w="0">
                      <a:noFill/>
                    </a:lnL>
                    <a:lnR w="0">
                      <a:noFill/>
                    </a:lnR>
                    <a:lnT w="0">
                      <a:noFill/>
                    </a:lnT>
                    <a:lnB w="9525">
                      <a:solidFill>
                        <a:srgbClr val="E2E4E7"/>
                      </a:solidFill>
                    </a:lnB>
                    <a:noFill/>
                  </a:tcPr>
                </a:tc>
              </a:tr>
              <a:tr h="409691">
                <a:tc>
                  <a:txBody>
                    <a:bodyPr wrap="square"/>
                    <a:lstStyle/>
                    <a:p>
                      <a:pPr algn="l">
                        <a:lnSpc>
                          <a:spcPct val="100000"/>
                        </a:lnSpc>
                      </a:pPr>
                      <a:r>
                        <a:rPr sz="919" b="1">
                          <a:solidFill>
                            <a:srgbClr val="E2571B"/>
                          </a:solidFill>
                          <a:latin typeface="Noto Sans KR"/>
                          <a:ea typeface="Noto Sans KR"/>
                          <a:cs typeface="Noto Sans KR"/>
                        </a:rPr>
                        <a:t>S2</a:t>
                      </a:r>
                    </a:p>
                  </a:txBody>
                  <a:tcPr marL="73152" marR="73152" marT="31089" marB="31089" anchor="t">
                    <a:lnL w="0">
                      <a:noFill/>
                    </a:lnL>
                    <a:lnR w="0">
                      <a:noFill/>
                    </a:lnR>
                    <a:lnT w="0">
                      <a:noFill/>
                    </a:lnT>
                    <a:lnB w="9525">
                      <a:solidFill>
                        <a:srgbClr val="E2E4E7"/>
                      </a:solidFill>
                    </a:lnB>
                    <a:noFill/>
                  </a:tcPr>
                </a:tc>
                <a:tc>
                  <a:txBody>
                    <a:bodyPr wrap="square"/>
                    <a:lstStyle/>
                    <a:p>
                      <a:pPr algn="l">
                        <a:lnSpc>
                          <a:spcPct val="100000"/>
                        </a:lnSpc>
                      </a:pPr>
                      <a:r>
                        <a:rPr sz="919" b="0">
                          <a:solidFill>
                            <a:srgbClr val="15171A"/>
                          </a:solidFill>
                          <a:latin typeface="Noto Sans KR"/>
                          <a:ea typeface="Noto Sans KR"/>
                          <a:cs typeface="Noto Sans KR"/>
                        </a:rPr>
                        <a:t>IFR, Robot Density: 한국 1,220대 / 직원 1만 명 (2026-04-08)</a:t>
                      </a:r>
                    </a:p>
                  </a:txBody>
                  <a:tcPr marL="73152" marR="73152" marT="31089" marB="31089" anchor="t">
                    <a:lnL w="0">
                      <a:noFill/>
                    </a:lnL>
                    <a:lnR w="0">
                      <a:noFill/>
                    </a:lnR>
                    <a:lnT w="0">
                      <a:noFill/>
                    </a:lnT>
                    <a:lnB w="9525">
                      <a:solidFill>
                        <a:srgbClr val="E2E4E7"/>
                      </a:solidFill>
                    </a:lnB>
                    <a:noFill/>
                  </a:tcPr>
                </a:tc>
                <a:tc>
                  <a:txBody>
                    <a:bodyPr wrap="square"/>
                    <a:lstStyle/>
                    <a:p>
                      <a:pPr algn="l">
                        <a:lnSpc>
                          <a:spcPct val="100000"/>
                        </a:lnSpc>
                      </a:pPr>
                      <a:r>
                        <a:rPr sz="900" b="0">
                          <a:solidFill>
                            <a:srgbClr val="4A4F57"/>
                          </a:solidFill>
                          <a:latin typeface="Noto Sans KR"/>
                          <a:ea typeface="Noto Sans KR"/>
                          <a:cs typeface="Noto Sans KR"/>
                        </a:rPr>
                        <a:t>ifr.org</a:t>
                      </a:r>
                    </a:p>
                  </a:txBody>
                  <a:tcPr marL="73152" marR="73152" marT="31089" marB="31089" anchor="t">
                    <a:lnL w="0">
                      <a:noFill/>
                    </a:lnL>
                    <a:lnR w="0">
                      <a:noFill/>
                    </a:lnR>
                    <a:lnT w="0">
                      <a:noFill/>
                    </a:lnT>
                    <a:lnB w="9525">
                      <a:solidFill>
                        <a:srgbClr val="E2E4E7"/>
                      </a:solidFill>
                    </a:lnB>
                    <a:noFill/>
                  </a:tcPr>
                </a:tc>
              </a:tr>
              <a:tr h="409691">
                <a:tc>
                  <a:txBody>
                    <a:bodyPr wrap="square"/>
                    <a:lstStyle/>
                    <a:p>
                      <a:pPr algn="l">
                        <a:lnSpc>
                          <a:spcPct val="100000"/>
                        </a:lnSpc>
                      </a:pPr>
                      <a:r>
                        <a:rPr sz="919" b="1">
                          <a:solidFill>
                            <a:srgbClr val="E2571B"/>
                          </a:solidFill>
                          <a:latin typeface="Noto Sans KR"/>
                          <a:ea typeface="Noto Sans KR"/>
                          <a:cs typeface="Noto Sans KR"/>
                        </a:rPr>
                        <a:t>S3</a:t>
                      </a:r>
                    </a:p>
                  </a:txBody>
                  <a:tcPr marL="73152" marR="73152" marT="31089" marB="31089" anchor="t">
                    <a:lnL w="0">
                      <a:noFill/>
                    </a:lnL>
                    <a:lnR w="0">
                      <a:noFill/>
                    </a:lnR>
                    <a:lnT w="0">
                      <a:noFill/>
                    </a:lnT>
                    <a:lnB w="9525">
                      <a:solidFill>
                        <a:srgbClr val="E2E4E7"/>
                      </a:solidFill>
                    </a:lnB>
                    <a:noFill/>
                  </a:tcPr>
                </a:tc>
                <a:tc>
                  <a:txBody>
                    <a:bodyPr wrap="square"/>
                    <a:lstStyle/>
                    <a:p>
                      <a:pPr algn="l">
                        <a:lnSpc>
                          <a:spcPct val="100000"/>
                        </a:lnSpc>
                      </a:pPr>
                      <a:r>
                        <a:rPr sz="919" b="0">
                          <a:solidFill>
                            <a:srgbClr val="15171A"/>
                          </a:solidFill>
                          <a:latin typeface="Noto Sans KR"/>
                          <a:ea typeface="Noto Sans KR"/>
                          <a:cs typeface="Noto Sans KR"/>
                        </a:rPr>
                        <a:t>BCG, How Physical AI Is Reshaping Robotics Today (2026-04)</a:t>
                      </a:r>
                    </a:p>
                  </a:txBody>
                  <a:tcPr marL="73152" marR="73152" marT="31089" marB="31089" anchor="t">
                    <a:lnL w="0">
                      <a:noFill/>
                    </a:lnL>
                    <a:lnR w="0">
                      <a:noFill/>
                    </a:lnR>
                    <a:lnT w="0">
                      <a:noFill/>
                    </a:lnT>
                    <a:lnB w="9525">
                      <a:solidFill>
                        <a:srgbClr val="E2E4E7"/>
                      </a:solidFill>
                    </a:lnB>
                    <a:noFill/>
                  </a:tcPr>
                </a:tc>
                <a:tc>
                  <a:txBody>
                    <a:bodyPr wrap="square"/>
                    <a:lstStyle/>
                    <a:p>
                      <a:pPr algn="l">
                        <a:lnSpc>
                          <a:spcPct val="100000"/>
                        </a:lnSpc>
                      </a:pPr>
                      <a:r>
                        <a:rPr sz="900" b="0">
                          <a:solidFill>
                            <a:srgbClr val="4A4F57"/>
                          </a:solidFill>
                          <a:latin typeface="Noto Sans KR"/>
                          <a:ea typeface="Noto Sans KR"/>
                          <a:cs typeface="Noto Sans KR"/>
                        </a:rPr>
                        <a:t>bcg.com</a:t>
                      </a:r>
                    </a:p>
                  </a:txBody>
                  <a:tcPr marL="73152" marR="73152" marT="31089" marB="31089" anchor="t">
                    <a:lnL w="0">
                      <a:noFill/>
                    </a:lnL>
                    <a:lnR w="0">
                      <a:noFill/>
                    </a:lnR>
                    <a:lnT w="0">
                      <a:noFill/>
                    </a:lnT>
                    <a:lnB w="9525">
                      <a:solidFill>
                        <a:srgbClr val="E2E4E7"/>
                      </a:solidFill>
                    </a:lnB>
                    <a:noFill/>
                  </a:tcPr>
                </a:tc>
              </a:tr>
              <a:tr h="409691">
                <a:tc>
                  <a:txBody>
                    <a:bodyPr wrap="square"/>
                    <a:lstStyle/>
                    <a:p>
                      <a:pPr algn="l">
                        <a:lnSpc>
                          <a:spcPct val="100000"/>
                        </a:lnSpc>
                      </a:pPr>
                      <a:r>
                        <a:rPr sz="919" b="1">
                          <a:solidFill>
                            <a:srgbClr val="E2571B"/>
                          </a:solidFill>
                          <a:latin typeface="Noto Sans KR"/>
                          <a:ea typeface="Noto Sans KR"/>
                          <a:cs typeface="Noto Sans KR"/>
                        </a:rPr>
                        <a:t>S4</a:t>
                      </a:r>
                    </a:p>
                  </a:txBody>
                  <a:tcPr marL="73152" marR="73152" marT="31089" marB="31089" anchor="t">
                    <a:lnL w="0">
                      <a:noFill/>
                    </a:lnL>
                    <a:lnR w="0">
                      <a:noFill/>
                    </a:lnR>
                    <a:lnT w="0">
                      <a:noFill/>
                    </a:lnT>
                    <a:lnB w="9525">
                      <a:solidFill>
                        <a:srgbClr val="E2E4E7"/>
                      </a:solidFill>
                    </a:lnB>
                    <a:noFill/>
                  </a:tcPr>
                </a:tc>
                <a:tc>
                  <a:txBody>
                    <a:bodyPr wrap="square"/>
                    <a:lstStyle/>
                    <a:p>
                      <a:pPr algn="l">
                        <a:lnSpc>
                          <a:spcPct val="100000"/>
                        </a:lnSpc>
                      </a:pPr>
                      <a:r>
                        <a:rPr sz="919" b="0">
                          <a:solidFill>
                            <a:srgbClr val="15171A"/>
                          </a:solidFill>
                          <a:latin typeface="Noto Sans KR"/>
                          <a:ea typeface="Noto Sans KR"/>
                          <a:cs typeface="Noto Sans KR"/>
                        </a:rPr>
                        <a:t>Tesla 2025년 3분기 실적 발표 녹취, The Motley Fool (2025-10-22)</a:t>
                      </a:r>
                    </a:p>
                  </a:txBody>
                  <a:tcPr marL="73152" marR="73152" marT="31089" marB="31089" anchor="t">
                    <a:lnL w="0">
                      <a:noFill/>
                    </a:lnL>
                    <a:lnR w="0">
                      <a:noFill/>
                    </a:lnR>
                    <a:lnT w="0">
                      <a:noFill/>
                    </a:lnT>
                    <a:lnB w="9525">
                      <a:solidFill>
                        <a:srgbClr val="E2E4E7"/>
                      </a:solidFill>
                    </a:lnB>
                    <a:noFill/>
                  </a:tcPr>
                </a:tc>
                <a:tc>
                  <a:txBody>
                    <a:bodyPr wrap="square"/>
                    <a:lstStyle/>
                    <a:p>
                      <a:pPr algn="l">
                        <a:lnSpc>
                          <a:spcPct val="100000"/>
                        </a:lnSpc>
                      </a:pPr>
                      <a:r>
                        <a:rPr sz="900" b="0">
                          <a:solidFill>
                            <a:srgbClr val="4A4F57"/>
                          </a:solidFill>
                          <a:latin typeface="Noto Sans KR"/>
                          <a:ea typeface="Noto Sans KR"/>
                          <a:cs typeface="Noto Sans KR"/>
                        </a:rPr>
                        <a:t>fool.com</a:t>
                      </a:r>
                    </a:p>
                  </a:txBody>
                  <a:tcPr marL="73152" marR="73152" marT="31089" marB="31089" anchor="t">
                    <a:lnL w="0">
                      <a:noFill/>
                    </a:lnL>
                    <a:lnR w="0">
                      <a:noFill/>
                    </a:lnR>
                    <a:lnT w="0">
                      <a:noFill/>
                    </a:lnT>
                    <a:lnB w="9525">
                      <a:solidFill>
                        <a:srgbClr val="E2E4E7"/>
                      </a:solidFill>
                    </a:lnB>
                    <a:noFill/>
                  </a:tcPr>
                </a:tc>
              </a:tr>
              <a:tr h="409691">
                <a:tc>
                  <a:txBody>
                    <a:bodyPr wrap="square"/>
                    <a:lstStyle/>
                    <a:p>
                      <a:pPr algn="l">
                        <a:lnSpc>
                          <a:spcPct val="100000"/>
                        </a:lnSpc>
                      </a:pPr>
                      <a:r>
                        <a:rPr sz="919" b="1">
                          <a:solidFill>
                            <a:srgbClr val="E2571B"/>
                          </a:solidFill>
                          <a:latin typeface="Noto Sans KR"/>
                          <a:ea typeface="Noto Sans KR"/>
                          <a:cs typeface="Noto Sans KR"/>
                        </a:rPr>
                        <a:t>S5</a:t>
                      </a:r>
                    </a:p>
                  </a:txBody>
                  <a:tcPr marL="73152" marR="73152" marT="31089" marB="31089" anchor="t">
                    <a:lnL w="0">
                      <a:noFill/>
                    </a:lnL>
                    <a:lnR w="0">
                      <a:noFill/>
                    </a:lnR>
                    <a:lnT w="0">
                      <a:noFill/>
                    </a:lnT>
                    <a:lnB w="9525">
                      <a:solidFill>
                        <a:srgbClr val="E2E4E7"/>
                      </a:solidFill>
                    </a:lnB>
                    <a:noFill/>
                  </a:tcPr>
                </a:tc>
                <a:tc>
                  <a:txBody>
                    <a:bodyPr wrap="square"/>
                    <a:lstStyle/>
                    <a:p>
                      <a:pPr algn="l">
                        <a:lnSpc>
                          <a:spcPct val="100000"/>
                        </a:lnSpc>
                      </a:pPr>
                      <a:r>
                        <a:rPr sz="919" b="0">
                          <a:solidFill>
                            <a:srgbClr val="15171A"/>
                          </a:solidFill>
                          <a:latin typeface="Noto Sans KR"/>
                          <a:ea typeface="Noto Sans KR"/>
                          <a:cs typeface="Noto Sans KR"/>
                        </a:rPr>
                        <a:t>NVIDIA, Isaac GR00T Reference Humanoid 발표 (2026-06-01)</a:t>
                      </a:r>
                    </a:p>
                  </a:txBody>
                  <a:tcPr marL="73152" marR="73152" marT="31089" marB="31089" anchor="t">
                    <a:lnL w="0">
                      <a:noFill/>
                    </a:lnL>
                    <a:lnR w="0">
                      <a:noFill/>
                    </a:lnR>
                    <a:lnT w="0">
                      <a:noFill/>
                    </a:lnT>
                    <a:lnB w="9525">
                      <a:solidFill>
                        <a:srgbClr val="E2E4E7"/>
                      </a:solidFill>
                    </a:lnB>
                    <a:noFill/>
                  </a:tcPr>
                </a:tc>
                <a:tc>
                  <a:txBody>
                    <a:bodyPr wrap="square"/>
                    <a:lstStyle/>
                    <a:p>
                      <a:pPr algn="l">
                        <a:lnSpc>
                          <a:spcPct val="100000"/>
                        </a:lnSpc>
                      </a:pPr>
                      <a:r>
                        <a:rPr sz="900" b="0">
                          <a:solidFill>
                            <a:srgbClr val="4A4F57"/>
                          </a:solidFill>
                          <a:latin typeface="Noto Sans KR"/>
                          <a:ea typeface="Noto Sans KR"/>
                          <a:cs typeface="Noto Sans KR"/>
                        </a:rPr>
                        <a:t>investor.nvidia.com</a:t>
                      </a:r>
                    </a:p>
                  </a:txBody>
                  <a:tcPr marL="73152" marR="73152" marT="31089" marB="31089" anchor="t">
                    <a:lnL w="0">
                      <a:noFill/>
                    </a:lnL>
                    <a:lnR w="0">
                      <a:noFill/>
                    </a:lnR>
                    <a:lnT w="0">
                      <a:noFill/>
                    </a:lnT>
                    <a:lnB w="9525">
                      <a:solidFill>
                        <a:srgbClr val="E2E4E7"/>
                      </a:solidFill>
                    </a:lnB>
                    <a:noFill/>
                  </a:tcPr>
                </a:tc>
              </a:tr>
              <a:tr h="409691">
                <a:tc>
                  <a:txBody>
                    <a:bodyPr wrap="square"/>
                    <a:lstStyle/>
                    <a:p>
                      <a:pPr algn="l">
                        <a:lnSpc>
                          <a:spcPct val="100000"/>
                        </a:lnSpc>
                      </a:pPr>
                      <a:r>
                        <a:rPr sz="919" b="1">
                          <a:solidFill>
                            <a:srgbClr val="E2571B"/>
                          </a:solidFill>
                          <a:latin typeface="Noto Sans KR"/>
                          <a:ea typeface="Noto Sans KR"/>
                          <a:cs typeface="Noto Sans KR"/>
                        </a:rPr>
                        <a:t>S6</a:t>
                      </a:r>
                    </a:p>
                  </a:txBody>
                  <a:tcPr marL="73152" marR="73152" marT="31089" marB="31089" anchor="t">
                    <a:lnL w="0">
                      <a:noFill/>
                    </a:lnL>
                    <a:lnR w="0">
                      <a:noFill/>
                    </a:lnR>
                    <a:lnT w="0">
                      <a:noFill/>
                    </a:lnT>
                    <a:lnB w="9525">
                      <a:solidFill>
                        <a:srgbClr val="E2E4E7"/>
                      </a:solidFill>
                    </a:lnB>
                    <a:noFill/>
                  </a:tcPr>
                </a:tc>
                <a:tc>
                  <a:txBody>
                    <a:bodyPr wrap="square"/>
                    <a:lstStyle/>
                    <a:p>
                      <a:pPr algn="l">
                        <a:lnSpc>
                          <a:spcPct val="100000"/>
                        </a:lnSpc>
                      </a:pPr>
                      <a:r>
                        <a:rPr sz="919" b="0">
                          <a:solidFill>
                            <a:srgbClr val="15171A"/>
                          </a:solidFill>
                          <a:latin typeface="Noto Sans KR"/>
                          <a:ea typeface="Noto Sans KR"/>
                          <a:cs typeface="Noto Sans KR"/>
                        </a:rPr>
                        <a:t>NVIDIA, CES 2026 Physical AI 모델 발표, GR00T N1.6 (2026-01-05)</a:t>
                      </a:r>
                    </a:p>
                  </a:txBody>
                  <a:tcPr marL="73152" marR="73152" marT="31089" marB="31089" anchor="t">
                    <a:lnL w="0">
                      <a:noFill/>
                    </a:lnL>
                    <a:lnR w="0">
                      <a:noFill/>
                    </a:lnR>
                    <a:lnT w="0">
                      <a:noFill/>
                    </a:lnT>
                    <a:lnB w="9525">
                      <a:solidFill>
                        <a:srgbClr val="E2E4E7"/>
                      </a:solidFill>
                    </a:lnB>
                    <a:noFill/>
                  </a:tcPr>
                </a:tc>
                <a:tc>
                  <a:txBody>
                    <a:bodyPr wrap="square"/>
                    <a:lstStyle/>
                    <a:p>
                      <a:pPr algn="l">
                        <a:lnSpc>
                          <a:spcPct val="100000"/>
                        </a:lnSpc>
                      </a:pPr>
                      <a:r>
                        <a:rPr sz="900" b="0">
                          <a:solidFill>
                            <a:srgbClr val="4A4F57"/>
                          </a:solidFill>
                          <a:latin typeface="Noto Sans KR"/>
                          <a:ea typeface="Noto Sans KR"/>
                          <a:cs typeface="Noto Sans KR"/>
                        </a:rPr>
                        <a:t>nvidianews.nvidia.com</a:t>
                      </a:r>
                    </a:p>
                  </a:txBody>
                  <a:tcPr marL="73152" marR="73152" marT="31089" marB="31089" anchor="t">
                    <a:lnL w="0">
                      <a:noFill/>
                    </a:lnL>
                    <a:lnR w="0">
                      <a:noFill/>
                    </a:lnR>
                    <a:lnT w="0">
                      <a:noFill/>
                    </a:lnT>
                    <a:lnB w="9525">
                      <a:solidFill>
                        <a:srgbClr val="E2E4E7"/>
                      </a:solidFill>
                    </a:lnB>
                    <a:noFill/>
                  </a:tcPr>
                </a:tc>
              </a:tr>
              <a:tr h="240507">
                <a:tc>
                  <a:txBody>
                    <a:bodyPr wrap="square"/>
                    <a:lstStyle/>
                    <a:p>
                      <a:pPr algn="l">
                        <a:lnSpc>
                          <a:spcPct val="100000"/>
                        </a:lnSpc>
                      </a:pPr>
                      <a:r>
                        <a:rPr sz="919" b="1">
                          <a:solidFill>
                            <a:srgbClr val="E2571B"/>
                          </a:solidFill>
                          <a:latin typeface="Noto Sans KR"/>
                          <a:ea typeface="Noto Sans KR"/>
                          <a:cs typeface="Noto Sans KR"/>
                        </a:rPr>
                        <a:t>S7</a:t>
                      </a:r>
                    </a:p>
                  </a:txBody>
                  <a:tcPr marL="73152" marR="73152" marT="31089" marB="31089" anchor="t">
                    <a:lnL w="0">
                      <a:noFill/>
                    </a:lnL>
                    <a:lnR w="0">
                      <a:noFill/>
                    </a:lnR>
                    <a:lnT w="0">
                      <a:noFill/>
                    </a:lnT>
                    <a:lnB w="9525">
                      <a:solidFill>
                        <a:srgbClr val="E2E4E7"/>
                      </a:solidFill>
                    </a:lnB>
                    <a:noFill/>
                  </a:tcPr>
                </a:tc>
                <a:tc>
                  <a:txBody>
                    <a:bodyPr wrap="square"/>
                    <a:lstStyle/>
                    <a:p>
                      <a:pPr algn="l">
                        <a:lnSpc>
                          <a:spcPct val="100000"/>
                        </a:lnSpc>
                      </a:pPr>
                      <a:r>
                        <a:rPr sz="919" b="0">
                          <a:solidFill>
                            <a:srgbClr val="15171A"/>
                          </a:solidFill>
                          <a:latin typeface="Noto Sans KR"/>
                          <a:ea typeface="Noto Sans KR"/>
                          <a:cs typeface="Noto Sans KR"/>
                        </a:rPr>
                        <a:t>CNBC, NVIDIA Jetson AGX Thor 출시 (2025-08-25)</a:t>
                      </a:r>
                    </a:p>
                  </a:txBody>
                  <a:tcPr marL="73152" marR="73152" marT="31089" marB="31089" anchor="t">
                    <a:lnL w="0">
                      <a:noFill/>
                    </a:lnL>
                    <a:lnR w="0">
                      <a:noFill/>
                    </a:lnR>
                    <a:lnT w="0">
                      <a:noFill/>
                    </a:lnT>
                    <a:lnB w="9525">
                      <a:solidFill>
                        <a:srgbClr val="E2E4E7"/>
                      </a:solidFill>
                    </a:lnB>
                    <a:noFill/>
                  </a:tcPr>
                </a:tc>
                <a:tc>
                  <a:txBody>
                    <a:bodyPr wrap="square"/>
                    <a:lstStyle/>
                    <a:p>
                      <a:pPr algn="l">
                        <a:lnSpc>
                          <a:spcPct val="100000"/>
                        </a:lnSpc>
                      </a:pPr>
                      <a:r>
                        <a:rPr sz="900" b="0">
                          <a:solidFill>
                            <a:srgbClr val="4A4F57"/>
                          </a:solidFill>
                          <a:latin typeface="Noto Sans KR"/>
                          <a:ea typeface="Noto Sans KR"/>
                          <a:cs typeface="Noto Sans KR"/>
                        </a:rPr>
                        <a:t>cnbc.com</a:t>
                      </a:r>
                    </a:p>
                  </a:txBody>
                  <a:tcPr marL="73152" marR="73152" marT="31089" marB="31089" anchor="t">
                    <a:lnL w="0">
                      <a:noFill/>
                    </a:lnL>
                    <a:lnR w="0">
                      <a:noFill/>
                    </a:lnR>
                    <a:lnT w="0">
                      <a:noFill/>
                    </a:lnT>
                    <a:lnB w="9525">
                      <a:solidFill>
                        <a:srgbClr val="E2E4E7"/>
                      </a:solidFill>
                    </a:lnB>
                    <a:noFill/>
                  </a:tcPr>
                </a:tc>
              </a:tr>
              <a:tr h="240507">
                <a:tc>
                  <a:txBody>
                    <a:bodyPr wrap="square"/>
                    <a:lstStyle/>
                    <a:p>
                      <a:pPr algn="l">
                        <a:lnSpc>
                          <a:spcPct val="100000"/>
                        </a:lnSpc>
                      </a:pPr>
                      <a:r>
                        <a:rPr sz="919" b="1">
                          <a:solidFill>
                            <a:srgbClr val="E2571B"/>
                          </a:solidFill>
                          <a:latin typeface="Noto Sans KR"/>
                          <a:ea typeface="Noto Sans KR"/>
                          <a:cs typeface="Noto Sans KR"/>
                        </a:rPr>
                        <a:t>S8</a:t>
                      </a:r>
                    </a:p>
                  </a:txBody>
                  <a:tcPr marL="73152" marR="73152" marT="31089" marB="31089" anchor="t">
                    <a:lnL w="0">
                      <a:noFill/>
                    </a:lnL>
                    <a:lnR w="0">
                      <a:noFill/>
                    </a:lnR>
                    <a:lnT w="0">
                      <a:noFill/>
                    </a:lnT>
                    <a:lnB w="9525">
                      <a:solidFill>
                        <a:srgbClr val="E2E4E7"/>
                      </a:solidFill>
                    </a:lnB>
                    <a:noFill/>
                  </a:tcPr>
                </a:tc>
                <a:tc>
                  <a:txBody>
                    <a:bodyPr wrap="square"/>
                    <a:lstStyle/>
                    <a:p>
                      <a:pPr algn="l">
                        <a:lnSpc>
                          <a:spcPct val="100000"/>
                        </a:lnSpc>
                      </a:pPr>
                      <a:r>
                        <a:rPr sz="919" b="0">
                          <a:solidFill>
                            <a:srgbClr val="15171A"/>
                          </a:solidFill>
                          <a:latin typeface="Noto Sans KR"/>
                          <a:ea typeface="Noto Sans KR"/>
                          <a:cs typeface="Noto Sans KR"/>
                        </a:rPr>
                        <a:t>Google DeepMind, Gemini Robotics 1.5 (2025-09)</a:t>
                      </a:r>
                    </a:p>
                  </a:txBody>
                  <a:tcPr marL="73152" marR="73152" marT="31089" marB="31089" anchor="t">
                    <a:lnL w="0">
                      <a:noFill/>
                    </a:lnL>
                    <a:lnR w="0">
                      <a:noFill/>
                    </a:lnR>
                    <a:lnT w="0">
                      <a:noFill/>
                    </a:lnT>
                    <a:lnB w="9525">
                      <a:solidFill>
                        <a:srgbClr val="E2E4E7"/>
                      </a:solidFill>
                    </a:lnB>
                    <a:noFill/>
                  </a:tcPr>
                </a:tc>
                <a:tc>
                  <a:txBody>
                    <a:bodyPr wrap="square"/>
                    <a:lstStyle/>
                    <a:p>
                      <a:pPr algn="l">
                        <a:lnSpc>
                          <a:spcPct val="100000"/>
                        </a:lnSpc>
                      </a:pPr>
                      <a:r>
                        <a:rPr sz="900" b="0">
                          <a:solidFill>
                            <a:srgbClr val="4A4F57"/>
                          </a:solidFill>
                          <a:latin typeface="Noto Sans KR"/>
                          <a:ea typeface="Noto Sans KR"/>
                          <a:cs typeface="Noto Sans KR"/>
                        </a:rPr>
                        <a:t>deepmind.google</a:t>
                      </a:r>
                    </a:p>
                  </a:txBody>
                  <a:tcPr marL="73152" marR="73152" marT="31089" marB="31089" anchor="t">
                    <a:lnL w="0">
                      <a:noFill/>
                    </a:lnL>
                    <a:lnR w="0">
                      <a:noFill/>
                    </a:lnR>
                    <a:lnT w="0">
                      <a:noFill/>
                    </a:lnT>
                    <a:lnB w="9525">
                      <a:solidFill>
                        <a:srgbClr val="E2E4E7"/>
                      </a:solidFill>
                    </a:lnB>
                    <a:noFill/>
                  </a:tcPr>
                </a:tc>
              </a:tr>
              <a:tr h="240507">
                <a:tc>
                  <a:txBody>
                    <a:bodyPr wrap="square"/>
                    <a:lstStyle/>
                    <a:p>
                      <a:pPr algn="l">
                        <a:lnSpc>
                          <a:spcPct val="100000"/>
                        </a:lnSpc>
                      </a:pPr>
                      <a:r>
                        <a:rPr sz="919" b="1">
                          <a:solidFill>
                            <a:srgbClr val="E2571B"/>
                          </a:solidFill>
                          <a:latin typeface="Noto Sans KR"/>
                          <a:ea typeface="Noto Sans KR"/>
                          <a:cs typeface="Noto Sans KR"/>
                        </a:rPr>
                        <a:t>S9</a:t>
                      </a:r>
                    </a:p>
                  </a:txBody>
                  <a:tcPr marL="73152" marR="73152" marT="31089" marB="31089" anchor="t">
                    <a:lnL w="0">
                      <a:noFill/>
                    </a:lnL>
                    <a:lnR w="0">
                      <a:noFill/>
                    </a:lnR>
                    <a:lnT w="0">
                      <a:noFill/>
                    </a:lnT>
                    <a:lnB w="9525">
                      <a:solidFill>
                        <a:srgbClr val="E2E4E7"/>
                      </a:solidFill>
                    </a:lnB>
                    <a:noFill/>
                  </a:tcPr>
                </a:tc>
                <a:tc>
                  <a:txBody>
                    <a:bodyPr wrap="square"/>
                    <a:lstStyle/>
                    <a:p>
                      <a:pPr algn="l">
                        <a:lnSpc>
                          <a:spcPct val="100000"/>
                        </a:lnSpc>
                      </a:pPr>
                      <a:r>
                        <a:rPr sz="919" b="0">
                          <a:solidFill>
                            <a:srgbClr val="15171A"/>
                          </a:solidFill>
                          <a:latin typeface="Noto Sans KR"/>
                          <a:ea typeface="Noto Sans KR"/>
                          <a:cs typeface="Noto Sans KR"/>
                        </a:rPr>
                        <a:t>Figure, Series C (2025-09) · Figure 03 공개 (2025-10-09)</a:t>
                      </a:r>
                    </a:p>
                  </a:txBody>
                  <a:tcPr marL="73152" marR="73152" marT="31089" marB="31089" anchor="t">
                    <a:lnL w="0">
                      <a:noFill/>
                    </a:lnL>
                    <a:lnR w="0">
                      <a:noFill/>
                    </a:lnR>
                    <a:lnT w="0">
                      <a:noFill/>
                    </a:lnT>
                    <a:lnB w="9525">
                      <a:solidFill>
                        <a:srgbClr val="E2E4E7"/>
                      </a:solidFill>
                    </a:lnB>
                    <a:noFill/>
                  </a:tcPr>
                </a:tc>
                <a:tc>
                  <a:txBody>
                    <a:bodyPr wrap="square"/>
                    <a:lstStyle/>
                    <a:p>
                      <a:pPr algn="l">
                        <a:lnSpc>
                          <a:spcPct val="100000"/>
                        </a:lnSpc>
                      </a:pPr>
                      <a:r>
                        <a:rPr sz="900" b="0">
                          <a:solidFill>
                            <a:srgbClr val="4A4F57"/>
                          </a:solidFill>
                          <a:latin typeface="Noto Sans KR"/>
                          <a:ea typeface="Noto Sans KR"/>
                          <a:cs typeface="Noto Sans KR"/>
                        </a:rPr>
                        <a:t>figure.ai</a:t>
                      </a:r>
                    </a:p>
                  </a:txBody>
                  <a:tcPr marL="73152" marR="73152" marT="31089" marB="31089" anchor="t">
                    <a:lnL w="0">
                      <a:noFill/>
                    </a:lnL>
                    <a:lnR w="0">
                      <a:noFill/>
                    </a:lnR>
                    <a:lnT w="0">
                      <a:noFill/>
                    </a:lnT>
                    <a:lnB w="9525">
                      <a:solidFill>
                        <a:srgbClr val="E2E4E7"/>
                      </a:solidFill>
                    </a:lnB>
                    <a:noFill/>
                  </a:tcPr>
                </a:tc>
              </a:tr>
              <a:tr h="409691">
                <a:tc>
                  <a:txBody>
                    <a:bodyPr wrap="square"/>
                    <a:lstStyle/>
                    <a:p>
                      <a:pPr algn="l">
                        <a:lnSpc>
                          <a:spcPct val="100000"/>
                        </a:lnSpc>
                      </a:pPr>
                      <a:r>
                        <a:rPr sz="919" b="1">
                          <a:solidFill>
                            <a:srgbClr val="E2571B"/>
                          </a:solidFill>
                          <a:latin typeface="Noto Sans KR"/>
                          <a:ea typeface="Noto Sans KR"/>
                          <a:cs typeface="Noto Sans KR"/>
                        </a:rPr>
                        <a:t>S10</a:t>
                      </a:r>
                    </a:p>
                  </a:txBody>
                  <a:tcPr marL="73152" marR="73152" marT="31089" marB="31089" anchor="t">
                    <a:lnL w="0">
                      <a:noFill/>
                    </a:lnL>
                    <a:lnR w="0">
                      <a:noFill/>
                    </a:lnR>
                    <a:lnT w="0">
                      <a:noFill/>
                    </a:lnT>
                    <a:lnB w="9525">
                      <a:solidFill>
                        <a:srgbClr val="E2E4E7"/>
                      </a:solidFill>
                    </a:lnB>
                    <a:noFill/>
                  </a:tcPr>
                </a:tc>
                <a:tc>
                  <a:txBody>
                    <a:bodyPr wrap="square"/>
                    <a:lstStyle/>
                    <a:p>
                      <a:pPr algn="l">
                        <a:lnSpc>
                          <a:spcPct val="100000"/>
                        </a:lnSpc>
                      </a:pPr>
                      <a:r>
                        <a:rPr sz="919" b="0">
                          <a:solidFill>
                            <a:srgbClr val="15171A"/>
                          </a:solidFill>
                          <a:latin typeface="Noto Sans KR"/>
                          <a:ea typeface="Noto Sans KR"/>
                          <a:cs typeface="Noto Sans KR"/>
                        </a:rPr>
                        <a:t>Bloomberg, Physical Intelligence 56억 달러 가치 평가 (2025-11-20)</a:t>
                      </a:r>
                    </a:p>
                  </a:txBody>
                  <a:tcPr marL="73152" marR="73152" marT="31089" marB="31089" anchor="t">
                    <a:lnL w="0">
                      <a:noFill/>
                    </a:lnL>
                    <a:lnR w="0">
                      <a:noFill/>
                    </a:lnR>
                    <a:lnT w="0">
                      <a:noFill/>
                    </a:lnT>
                    <a:lnB w="9525">
                      <a:solidFill>
                        <a:srgbClr val="E2E4E7"/>
                      </a:solidFill>
                    </a:lnB>
                    <a:noFill/>
                  </a:tcPr>
                </a:tc>
                <a:tc>
                  <a:txBody>
                    <a:bodyPr wrap="square"/>
                    <a:lstStyle/>
                    <a:p>
                      <a:pPr algn="l">
                        <a:lnSpc>
                          <a:spcPct val="100000"/>
                        </a:lnSpc>
                      </a:pPr>
                      <a:r>
                        <a:rPr sz="900" b="0">
                          <a:solidFill>
                            <a:srgbClr val="4A4F57"/>
                          </a:solidFill>
                          <a:latin typeface="Noto Sans KR"/>
                          <a:ea typeface="Noto Sans KR"/>
                          <a:cs typeface="Noto Sans KR"/>
                        </a:rPr>
                        <a:t>bloomberg.com</a:t>
                      </a:r>
                    </a:p>
                  </a:txBody>
                  <a:tcPr marL="73152" marR="73152" marT="31089" marB="31089" anchor="t">
                    <a:lnL w="0">
                      <a:noFill/>
                    </a:lnL>
                    <a:lnR w="0">
                      <a:noFill/>
                    </a:lnR>
                    <a:lnT w="0">
                      <a:noFill/>
                    </a:lnT>
                    <a:lnB w="9525">
                      <a:solidFill>
                        <a:srgbClr val="E2E4E7"/>
                      </a:solidFill>
                    </a:lnB>
                    <a:noFill/>
                  </a:tcPr>
                </a:tc>
              </a:tr>
              <a:tr h="409691">
                <a:tc>
                  <a:txBody>
                    <a:bodyPr wrap="square"/>
                    <a:lstStyle/>
                    <a:p>
                      <a:pPr algn="l">
                        <a:lnSpc>
                          <a:spcPct val="100000"/>
                        </a:lnSpc>
                      </a:pPr>
                      <a:r>
                        <a:rPr sz="919" b="1">
                          <a:solidFill>
                            <a:srgbClr val="E2571B"/>
                          </a:solidFill>
                          <a:latin typeface="Noto Sans KR"/>
                          <a:ea typeface="Noto Sans KR"/>
                          <a:cs typeface="Noto Sans KR"/>
                        </a:rPr>
                        <a:t>S11</a:t>
                      </a:r>
                    </a:p>
                  </a:txBody>
                  <a:tcPr marL="73152" marR="73152" marT="31089" marB="31089" anchor="t">
                    <a:lnL w="0">
                      <a:noFill/>
                    </a:lnL>
                    <a:lnR w="0">
                      <a:noFill/>
                    </a:lnR>
                    <a:lnT w="0">
                      <a:noFill/>
                    </a:lnT>
                    <a:lnB w="9525">
                      <a:solidFill>
                        <a:srgbClr val="E2E4E7"/>
                      </a:solidFill>
                    </a:lnB>
                    <a:noFill/>
                  </a:tcPr>
                </a:tc>
                <a:tc>
                  <a:txBody>
                    <a:bodyPr wrap="square"/>
                    <a:lstStyle/>
                    <a:p>
                      <a:pPr algn="l">
                        <a:lnSpc>
                          <a:spcPct val="100000"/>
                        </a:lnSpc>
                      </a:pPr>
                      <a:r>
                        <a:rPr sz="919" b="0">
                          <a:solidFill>
                            <a:srgbClr val="15171A"/>
                          </a:solidFill>
                          <a:latin typeface="Noto Sans KR"/>
                          <a:ea typeface="Noto Sans KR"/>
                          <a:cs typeface="Noto Sans KR"/>
                        </a:rPr>
                        <a:t>Crunchbase News, Robotics startup funding (2026-06-22)</a:t>
                      </a:r>
                    </a:p>
                  </a:txBody>
                  <a:tcPr marL="73152" marR="73152" marT="31089" marB="31089" anchor="t">
                    <a:lnL w="0">
                      <a:noFill/>
                    </a:lnL>
                    <a:lnR w="0">
                      <a:noFill/>
                    </a:lnR>
                    <a:lnT w="0">
                      <a:noFill/>
                    </a:lnT>
                    <a:lnB w="9525">
                      <a:solidFill>
                        <a:srgbClr val="E2E4E7"/>
                      </a:solidFill>
                    </a:lnB>
                    <a:noFill/>
                  </a:tcPr>
                </a:tc>
                <a:tc>
                  <a:txBody>
                    <a:bodyPr wrap="square"/>
                    <a:lstStyle/>
                    <a:p>
                      <a:pPr algn="l">
                        <a:lnSpc>
                          <a:spcPct val="100000"/>
                        </a:lnSpc>
                      </a:pPr>
                      <a:r>
                        <a:rPr sz="900" b="0">
                          <a:solidFill>
                            <a:srgbClr val="4A4F57"/>
                          </a:solidFill>
                          <a:latin typeface="Noto Sans KR"/>
                          <a:ea typeface="Noto Sans KR"/>
                          <a:cs typeface="Noto Sans KR"/>
                        </a:rPr>
                        <a:t>news.crunchbase.com</a:t>
                      </a:r>
                    </a:p>
                  </a:txBody>
                  <a:tcPr marL="73152" marR="73152" marT="31089" marB="31089" anchor="t">
                    <a:lnL w="0">
                      <a:noFill/>
                    </a:lnL>
                    <a:lnR w="0">
                      <a:noFill/>
                    </a:lnR>
                    <a:lnT w="0">
                      <a:noFill/>
                    </a:lnT>
                    <a:lnB w="9525">
                      <a:solidFill>
                        <a:srgbClr val="E2E4E7"/>
                      </a:solidFill>
                    </a:lnB>
                    <a:noFill/>
                  </a:tcPr>
                </a:tc>
              </a:tr>
            </a:tbl>
          </a:graphicData>
        </a:graphic>
      </p:graphicFrame>
      <p:graphicFrame>
        <p:nvGraphicFramePr>
          <p:cNvPr id="6" name="Table 5"/>
          <p:cNvGraphicFramePr>
            <a:graphicFrameLocks noGrp="1"/>
          </p:cNvGraphicFramePr>
          <p:nvPr/>
        </p:nvGraphicFramePr>
        <p:xfrm>
          <a:off x="6255867" y="1847088"/>
          <a:ext cx="5250027" cy="3393636"/>
        </p:xfrm>
        <a:graphic>
          <a:graphicData uri="http://schemas.openxmlformats.org/drawingml/2006/table">
            <a:tbl>
              <a:tblPr firstRow="0" bandRow="0">
                <a:tableStyleId>{2D5ABB26-0587-4C30-8999-92F81FD0307C}</a:tableStyleId>
              </a:tblPr>
              <a:tblGrid>
                <a:gridCol w="457200"/>
                <a:gridCol w="3192627"/>
                <a:gridCol w="1600200"/>
              </a:tblGrid>
              <a:tr h="240507">
                <a:tc>
                  <a:txBody>
                    <a:bodyPr wrap="square"/>
                    <a:lstStyle/>
                    <a:p>
                      <a:pPr algn="l">
                        <a:lnSpc>
                          <a:spcPct val="100000"/>
                        </a:lnSpc>
                      </a:pPr>
                      <a:r>
                        <a:rPr sz="919" b="1">
                          <a:solidFill>
                            <a:srgbClr val="15171A"/>
                          </a:solidFill>
                          <a:latin typeface="Noto Sans KR"/>
                          <a:ea typeface="Noto Sans KR"/>
                          <a:cs typeface="Noto Sans KR"/>
                        </a:rPr>
                        <a:t>번호</a:t>
                      </a:r>
                    </a:p>
                  </a:txBody>
                  <a:tcPr marL="73152" marR="73152" marT="31089" marB="31089" anchor="t">
                    <a:lnL w="0">
                      <a:noFill/>
                    </a:lnL>
                    <a:lnR w="0">
                      <a:noFill/>
                    </a:lnR>
                    <a:lnT w="12700">
                      <a:solidFill>
                        <a:srgbClr val="15171A"/>
                      </a:solidFill>
                    </a:lnT>
                    <a:lnB w="9525">
                      <a:solidFill>
                        <a:srgbClr val="15171A"/>
                      </a:solidFill>
                    </a:lnB>
                    <a:noFill/>
                  </a:tcPr>
                </a:tc>
                <a:tc>
                  <a:txBody>
                    <a:bodyPr wrap="square"/>
                    <a:lstStyle/>
                    <a:p>
                      <a:pPr algn="l">
                        <a:lnSpc>
                          <a:spcPct val="100000"/>
                        </a:lnSpc>
                      </a:pPr>
                      <a:r>
                        <a:rPr sz="919" b="1">
                          <a:solidFill>
                            <a:srgbClr val="15171A"/>
                          </a:solidFill>
                          <a:latin typeface="Noto Sans KR"/>
                          <a:ea typeface="Noto Sans KR"/>
                          <a:cs typeface="Noto Sans KR"/>
                        </a:rPr>
                        <a:t>출처</a:t>
                      </a:r>
                    </a:p>
                  </a:txBody>
                  <a:tcPr marL="73152" marR="73152" marT="31089" marB="31089" anchor="t">
                    <a:lnL w="0">
                      <a:noFill/>
                    </a:lnL>
                    <a:lnR w="0">
                      <a:noFill/>
                    </a:lnR>
                    <a:lnT w="12700">
                      <a:solidFill>
                        <a:srgbClr val="15171A"/>
                      </a:solidFill>
                    </a:lnT>
                    <a:lnB w="9525">
                      <a:solidFill>
                        <a:srgbClr val="15171A"/>
                      </a:solidFill>
                    </a:lnB>
                    <a:noFill/>
                  </a:tcPr>
                </a:tc>
                <a:tc>
                  <a:txBody>
                    <a:bodyPr wrap="square"/>
                    <a:lstStyle/>
                    <a:p>
                      <a:pPr algn="l">
                        <a:lnSpc>
                          <a:spcPct val="100000"/>
                        </a:lnSpc>
                      </a:pPr>
                      <a:r>
                        <a:rPr sz="919" b="1">
                          <a:solidFill>
                            <a:srgbClr val="15171A"/>
                          </a:solidFill>
                          <a:latin typeface="Noto Sans KR"/>
                          <a:ea typeface="Noto Sans KR"/>
                          <a:cs typeface="Noto Sans KR"/>
                        </a:rPr>
                        <a:t>도메인</a:t>
                      </a:r>
                    </a:p>
                  </a:txBody>
                  <a:tcPr marL="73152" marR="73152" marT="31089" marB="31089" anchor="t">
                    <a:lnL w="0">
                      <a:noFill/>
                    </a:lnL>
                    <a:lnR w="0">
                      <a:noFill/>
                    </a:lnR>
                    <a:lnT w="12700">
                      <a:solidFill>
                        <a:srgbClr val="15171A"/>
                      </a:solidFill>
                    </a:lnT>
                    <a:lnB w="9525">
                      <a:solidFill>
                        <a:srgbClr val="15171A"/>
                      </a:solidFill>
                    </a:lnB>
                    <a:noFill/>
                  </a:tcPr>
                </a:tc>
              </a:tr>
              <a:tr h="409691">
                <a:tc>
                  <a:txBody>
                    <a:bodyPr wrap="square"/>
                    <a:lstStyle/>
                    <a:p>
                      <a:pPr algn="l">
                        <a:lnSpc>
                          <a:spcPct val="100000"/>
                        </a:lnSpc>
                      </a:pPr>
                      <a:r>
                        <a:rPr sz="919" b="1">
                          <a:solidFill>
                            <a:srgbClr val="E2571B"/>
                          </a:solidFill>
                          <a:latin typeface="Noto Sans KR"/>
                          <a:ea typeface="Noto Sans KR"/>
                          <a:cs typeface="Noto Sans KR"/>
                        </a:rPr>
                        <a:t>S12</a:t>
                      </a:r>
                    </a:p>
                  </a:txBody>
                  <a:tcPr marL="73152" marR="73152" marT="31089" marB="31089" anchor="t">
                    <a:lnL w="0">
                      <a:noFill/>
                    </a:lnL>
                    <a:lnR w="0">
                      <a:noFill/>
                    </a:lnR>
                    <a:lnT w="0">
                      <a:noFill/>
                    </a:lnT>
                    <a:lnB w="9525">
                      <a:solidFill>
                        <a:srgbClr val="E2E4E7"/>
                      </a:solidFill>
                    </a:lnB>
                    <a:noFill/>
                  </a:tcPr>
                </a:tc>
                <a:tc>
                  <a:txBody>
                    <a:bodyPr wrap="square"/>
                    <a:lstStyle/>
                    <a:p>
                      <a:pPr algn="l">
                        <a:lnSpc>
                          <a:spcPct val="100000"/>
                        </a:lnSpc>
                      </a:pPr>
                      <a:r>
                        <a:rPr sz="919" b="0">
                          <a:solidFill>
                            <a:srgbClr val="15171A"/>
                          </a:solidFill>
                          <a:latin typeface="Noto Sans KR"/>
                          <a:ea typeface="Noto Sans KR"/>
                          <a:cs typeface="Noto Sans KR"/>
                        </a:rPr>
                        <a:t>New Atlas, Moley robotic kitchen launch (2021, CES 2021)</a:t>
                      </a:r>
                    </a:p>
                  </a:txBody>
                  <a:tcPr marL="73152" marR="73152" marT="31089" marB="31089" anchor="t">
                    <a:lnL w="0">
                      <a:noFill/>
                    </a:lnL>
                    <a:lnR w="0">
                      <a:noFill/>
                    </a:lnR>
                    <a:lnT w="0">
                      <a:noFill/>
                    </a:lnT>
                    <a:lnB w="9525">
                      <a:solidFill>
                        <a:srgbClr val="E2E4E7"/>
                      </a:solidFill>
                    </a:lnB>
                    <a:noFill/>
                  </a:tcPr>
                </a:tc>
                <a:tc>
                  <a:txBody>
                    <a:bodyPr wrap="square"/>
                    <a:lstStyle/>
                    <a:p>
                      <a:pPr algn="l">
                        <a:lnSpc>
                          <a:spcPct val="100000"/>
                        </a:lnSpc>
                      </a:pPr>
                      <a:r>
                        <a:rPr sz="900" b="0">
                          <a:solidFill>
                            <a:srgbClr val="4A4F57"/>
                          </a:solidFill>
                          <a:latin typeface="Noto Sans KR"/>
                          <a:ea typeface="Noto Sans KR"/>
                          <a:cs typeface="Noto Sans KR"/>
                        </a:rPr>
                        <a:t>newatlas.com</a:t>
                      </a:r>
                    </a:p>
                  </a:txBody>
                  <a:tcPr marL="73152" marR="73152" marT="31089" marB="31089" anchor="t">
                    <a:lnL w="0">
                      <a:noFill/>
                    </a:lnL>
                    <a:lnR w="0">
                      <a:noFill/>
                    </a:lnR>
                    <a:lnT w="0">
                      <a:noFill/>
                    </a:lnT>
                    <a:lnB w="9525">
                      <a:solidFill>
                        <a:srgbClr val="E2E4E7"/>
                      </a:solidFill>
                    </a:lnB>
                    <a:noFill/>
                  </a:tcPr>
                </a:tc>
              </a:tr>
              <a:tr h="240507">
                <a:tc>
                  <a:txBody>
                    <a:bodyPr wrap="square"/>
                    <a:lstStyle/>
                    <a:p>
                      <a:pPr algn="l">
                        <a:lnSpc>
                          <a:spcPct val="100000"/>
                        </a:lnSpc>
                      </a:pPr>
                      <a:r>
                        <a:rPr sz="919" b="1">
                          <a:solidFill>
                            <a:srgbClr val="E2571B"/>
                          </a:solidFill>
                          <a:latin typeface="Noto Sans KR"/>
                          <a:ea typeface="Noto Sans KR"/>
                          <a:cs typeface="Noto Sans KR"/>
                        </a:rPr>
                        <a:t>S13</a:t>
                      </a:r>
                    </a:p>
                  </a:txBody>
                  <a:tcPr marL="73152" marR="73152" marT="31089" marB="31089" anchor="t">
                    <a:lnL w="0">
                      <a:noFill/>
                    </a:lnL>
                    <a:lnR w="0">
                      <a:noFill/>
                    </a:lnR>
                    <a:lnT w="0">
                      <a:noFill/>
                    </a:lnT>
                    <a:lnB w="9525">
                      <a:solidFill>
                        <a:srgbClr val="E2E4E7"/>
                      </a:solidFill>
                    </a:lnB>
                    <a:noFill/>
                  </a:tcPr>
                </a:tc>
                <a:tc>
                  <a:txBody>
                    <a:bodyPr wrap="square"/>
                    <a:lstStyle/>
                    <a:p>
                      <a:pPr algn="l">
                        <a:lnSpc>
                          <a:spcPct val="100000"/>
                        </a:lnSpc>
                      </a:pPr>
                      <a:r>
                        <a:rPr sz="919" b="0">
                          <a:solidFill>
                            <a:srgbClr val="15171A"/>
                          </a:solidFill>
                          <a:latin typeface="Noto Sans KR"/>
                          <a:ea typeface="Noto Sans KR"/>
                          <a:cs typeface="Noto Sans KR"/>
                        </a:rPr>
                        <a:t>Moley Robotics, A-AiR kitchen (공급사 소개)</a:t>
                      </a:r>
                    </a:p>
                  </a:txBody>
                  <a:tcPr marL="73152" marR="73152" marT="31089" marB="31089" anchor="t">
                    <a:lnL w="0">
                      <a:noFill/>
                    </a:lnL>
                    <a:lnR w="0">
                      <a:noFill/>
                    </a:lnR>
                    <a:lnT w="0">
                      <a:noFill/>
                    </a:lnT>
                    <a:lnB w="9525">
                      <a:solidFill>
                        <a:srgbClr val="E2E4E7"/>
                      </a:solidFill>
                    </a:lnB>
                    <a:noFill/>
                  </a:tcPr>
                </a:tc>
                <a:tc>
                  <a:txBody>
                    <a:bodyPr wrap="square"/>
                    <a:lstStyle/>
                    <a:p>
                      <a:pPr algn="l">
                        <a:lnSpc>
                          <a:spcPct val="100000"/>
                        </a:lnSpc>
                      </a:pPr>
                      <a:r>
                        <a:rPr sz="900" b="0">
                          <a:solidFill>
                            <a:srgbClr val="4A4F57"/>
                          </a:solidFill>
                          <a:latin typeface="Noto Sans KR"/>
                          <a:ea typeface="Noto Sans KR"/>
                          <a:cs typeface="Noto Sans KR"/>
                        </a:rPr>
                        <a:t>moley.com</a:t>
                      </a:r>
                    </a:p>
                  </a:txBody>
                  <a:tcPr marL="73152" marR="73152" marT="31089" marB="31089" anchor="t">
                    <a:lnL w="0">
                      <a:noFill/>
                    </a:lnL>
                    <a:lnR w="0">
                      <a:noFill/>
                    </a:lnR>
                    <a:lnT w="0">
                      <a:noFill/>
                    </a:lnT>
                    <a:lnB w="9525">
                      <a:solidFill>
                        <a:srgbClr val="E2E4E7"/>
                      </a:solidFill>
                    </a:lnB>
                    <a:noFill/>
                  </a:tcPr>
                </a:tc>
              </a:tr>
              <a:tr h="240507">
                <a:tc>
                  <a:txBody>
                    <a:bodyPr wrap="square"/>
                    <a:lstStyle/>
                    <a:p>
                      <a:pPr algn="l">
                        <a:lnSpc>
                          <a:spcPct val="100000"/>
                        </a:lnSpc>
                      </a:pPr>
                      <a:r>
                        <a:rPr sz="919" b="1">
                          <a:solidFill>
                            <a:srgbClr val="E2571B"/>
                          </a:solidFill>
                          <a:latin typeface="Noto Sans KR"/>
                          <a:ea typeface="Noto Sans KR"/>
                          <a:cs typeface="Noto Sans KR"/>
                        </a:rPr>
                        <a:t>S14</a:t>
                      </a:r>
                    </a:p>
                  </a:txBody>
                  <a:tcPr marL="73152" marR="73152" marT="31089" marB="31089" anchor="t">
                    <a:lnL w="0">
                      <a:noFill/>
                    </a:lnL>
                    <a:lnR w="0">
                      <a:noFill/>
                    </a:lnR>
                    <a:lnT w="0">
                      <a:noFill/>
                    </a:lnT>
                    <a:lnB w="9525">
                      <a:solidFill>
                        <a:srgbClr val="E2E4E7"/>
                      </a:solidFill>
                    </a:lnB>
                    <a:noFill/>
                  </a:tcPr>
                </a:tc>
                <a:tc>
                  <a:txBody>
                    <a:bodyPr wrap="square"/>
                    <a:lstStyle/>
                    <a:p>
                      <a:pPr algn="l">
                        <a:lnSpc>
                          <a:spcPct val="100000"/>
                        </a:lnSpc>
                      </a:pPr>
                      <a:r>
                        <a:rPr sz="919" b="0">
                          <a:solidFill>
                            <a:srgbClr val="15171A"/>
                          </a:solidFill>
                          <a:latin typeface="Noto Sans KR"/>
                          <a:ea typeface="Noto Sans KR"/>
                          <a:cs typeface="Noto Sans KR"/>
                        </a:rPr>
                        <a:t>The Robot Report, Miso Robotics Flippy Fry Station</a:t>
                      </a:r>
                    </a:p>
                  </a:txBody>
                  <a:tcPr marL="73152" marR="73152" marT="31089" marB="31089" anchor="t">
                    <a:lnL w="0">
                      <a:noFill/>
                    </a:lnL>
                    <a:lnR w="0">
                      <a:noFill/>
                    </a:lnR>
                    <a:lnT w="0">
                      <a:noFill/>
                    </a:lnT>
                    <a:lnB w="9525">
                      <a:solidFill>
                        <a:srgbClr val="E2E4E7"/>
                      </a:solidFill>
                    </a:lnB>
                    <a:noFill/>
                  </a:tcPr>
                </a:tc>
                <a:tc>
                  <a:txBody>
                    <a:bodyPr wrap="square"/>
                    <a:lstStyle/>
                    <a:p>
                      <a:pPr algn="l">
                        <a:lnSpc>
                          <a:spcPct val="100000"/>
                        </a:lnSpc>
                      </a:pPr>
                      <a:r>
                        <a:rPr sz="900" b="0">
                          <a:solidFill>
                            <a:srgbClr val="4A4F57"/>
                          </a:solidFill>
                          <a:latin typeface="Noto Sans KR"/>
                          <a:ea typeface="Noto Sans KR"/>
                          <a:cs typeface="Noto Sans KR"/>
                        </a:rPr>
                        <a:t>therobotreport.com</a:t>
                      </a:r>
                    </a:p>
                  </a:txBody>
                  <a:tcPr marL="73152" marR="73152" marT="31089" marB="31089" anchor="t">
                    <a:lnL w="0">
                      <a:noFill/>
                    </a:lnL>
                    <a:lnR w="0">
                      <a:noFill/>
                    </a:lnR>
                    <a:lnT w="0">
                      <a:noFill/>
                    </a:lnT>
                    <a:lnB w="9525">
                      <a:solidFill>
                        <a:srgbClr val="E2E4E7"/>
                      </a:solidFill>
                    </a:lnB>
                    <a:noFill/>
                  </a:tcPr>
                </a:tc>
              </a:tr>
              <a:tr h="240507">
                <a:tc>
                  <a:txBody>
                    <a:bodyPr wrap="square"/>
                    <a:lstStyle/>
                    <a:p>
                      <a:pPr algn="l">
                        <a:lnSpc>
                          <a:spcPct val="100000"/>
                        </a:lnSpc>
                      </a:pPr>
                      <a:r>
                        <a:rPr sz="919" b="1">
                          <a:solidFill>
                            <a:srgbClr val="E2571B"/>
                          </a:solidFill>
                          <a:latin typeface="Noto Sans KR"/>
                          <a:ea typeface="Noto Sans KR"/>
                          <a:cs typeface="Noto Sans KR"/>
                        </a:rPr>
                        <a:t>S15</a:t>
                      </a:r>
                    </a:p>
                  </a:txBody>
                  <a:tcPr marL="73152" marR="73152" marT="31089" marB="31089" anchor="t">
                    <a:lnL w="0">
                      <a:noFill/>
                    </a:lnL>
                    <a:lnR w="0">
                      <a:noFill/>
                    </a:lnR>
                    <a:lnT w="0">
                      <a:noFill/>
                    </a:lnT>
                    <a:lnB w="9525">
                      <a:solidFill>
                        <a:srgbClr val="E2E4E7"/>
                      </a:solidFill>
                    </a:lnB>
                    <a:noFill/>
                  </a:tcPr>
                </a:tc>
                <a:tc>
                  <a:txBody>
                    <a:bodyPr wrap="square"/>
                    <a:lstStyle/>
                    <a:p>
                      <a:pPr algn="l">
                        <a:lnSpc>
                          <a:spcPct val="100000"/>
                        </a:lnSpc>
                      </a:pPr>
                      <a:r>
                        <a:rPr sz="919" b="0">
                          <a:solidFill>
                            <a:srgbClr val="15171A"/>
                          </a:solidFill>
                          <a:latin typeface="Noto Sans KR"/>
                          <a:ea typeface="Noto Sans KR"/>
                          <a:cs typeface="Noto Sans KR"/>
                        </a:rPr>
                        <a:t>AgFunderNews, Chef Robotics $43m Series A (2025)</a:t>
                      </a:r>
                    </a:p>
                  </a:txBody>
                  <a:tcPr marL="73152" marR="73152" marT="31089" marB="31089" anchor="t">
                    <a:lnL w="0">
                      <a:noFill/>
                    </a:lnL>
                    <a:lnR w="0">
                      <a:noFill/>
                    </a:lnR>
                    <a:lnT w="0">
                      <a:noFill/>
                    </a:lnT>
                    <a:lnB w="9525">
                      <a:solidFill>
                        <a:srgbClr val="E2E4E7"/>
                      </a:solidFill>
                    </a:lnB>
                    <a:noFill/>
                  </a:tcPr>
                </a:tc>
                <a:tc>
                  <a:txBody>
                    <a:bodyPr wrap="square"/>
                    <a:lstStyle/>
                    <a:p>
                      <a:pPr algn="l">
                        <a:lnSpc>
                          <a:spcPct val="100000"/>
                        </a:lnSpc>
                      </a:pPr>
                      <a:r>
                        <a:rPr sz="900" b="0">
                          <a:solidFill>
                            <a:srgbClr val="4A4F57"/>
                          </a:solidFill>
                          <a:latin typeface="Noto Sans KR"/>
                          <a:ea typeface="Noto Sans KR"/>
                          <a:cs typeface="Noto Sans KR"/>
                        </a:rPr>
                        <a:t>agfundernews.com</a:t>
                      </a:r>
                    </a:p>
                  </a:txBody>
                  <a:tcPr marL="73152" marR="73152" marT="31089" marB="31089" anchor="t">
                    <a:lnL w="0">
                      <a:noFill/>
                    </a:lnL>
                    <a:lnR w="0">
                      <a:noFill/>
                    </a:lnR>
                    <a:lnT w="0">
                      <a:noFill/>
                    </a:lnT>
                    <a:lnB w="9525">
                      <a:solidFill>
                        <a:srgbClr val="E2E4E7"/>
                      </a:solidFill>
                    </a:lnB>
                    <a:noFill/>
                  </a:tcPr>
                </a:tc>
              </a:tr>
              <a:tr h="240507">
                <a:tc>
                  <a:txBody>
                    <a:bodyPr wrap="square"/>
                    <a:lstStyle/>
                    <a:p>
                      <a:pPr algn="l">
                        <a:lnSpc>
                          <a:spcPct val="100000"/>
                        </a:lnSpc>
                      </a:pPr>
                      <a:r>
                        <a:rPr sz="919" b="1">
                          <a:solidFill>
                            <a:srgbClr val="E2571B"/>
                          </a:solidFill>
                          <a:latin typeface="Noto Sans KR"/>
                          <a:ea typeface="Noto Sans KR"/>
                          <a:cs typeface="Noto Sans KR"/>
                        </a:rPr>
                        <a:t>S16</a:t>
                      </a:r>
                    </a:p>
                  </a:txBody>
                  <a:tcPr marL="73152" marR="73152" marT="31089" marB="31089" anchor="t">
                    <a:lnL w="0">
                      <a:noFill/>
                    </a:lnL>
                    <a:lnR w="0">
                      <a:noFill/>
                    </a:lnR>
                    <a:lnT w="0">
                      <a:noFill/>
                    </a:lnT>
                    <a:lnB w="9525">
                      <a:solidFill>
                        <a:srgbClr val="E2E4E7"/>
                      </a:solidFill>
                    </a:lnB>
                    <a:noFill/>
                  </a:tcPr>
                </a:tc>
                <a:tc>
                  <a:txBody>
                    <a:bodyPr wrap="square"/>
                    <a:lstStyle/>
                    <a:p>
                      <a:pPr algn="l">
                        <a:lnSpc>
                          <a:spcPct val="100000"/>
                        </a:lnSpc>
                      </a:pPr>
                      <a:r>
                        <a:rPr sz="919" b="0">
                          <a:solidFill>
                            <a:srgbClr val="15171A"/>
                          </a:solidFill>
                          <a:latin typeface="Noto Sans KR"/>
                          <a:ea typeface="Noto Sans KR"/>
                          <a:cs typeface="Noto Sans KR"/>
                        </a:rPr>
                        <a:t>파이낸셜뉴스, 로보아르테 75억 시리즈A (2022-05-12)</a:t>
                      </a:r>
                    </a:p>
                  </a:txBody>
                  <a:tcPr marL="73152" marR="73152" marT="31089" marB="31089" anchor="t">
                    <a:lnL w="0">
                      <a:noFill/>
                    </a:lnL>
                    <a:lnR w="0">
                      <a:noFill/>
                    </a:lnR>
                    <a:lnT w="0">
                      <a:noFill/>
                    </a:lnT>
                    <a:lnB w="9525">
                      <a:solidFill>
                        <a:srgbClr val="E2E4E7"/>
                      </a:solidFill>
                    </a:lnB>
                    <a:noFill/>
                  </a:tcPr>
                </a:tc>
                <a:tc>
                  <a:txBody>
                    <a:bodyPr wrap="square"/>
                    <a:lstStyle/>
                    <a:p>
                      <a:pPr algn="l">
                        <a:lnSpc>
                          <a:spcPct val="100000"/>
                        </a:lnSpc>
                      </a:pPr>
                      <a:r>
                        <a:rPr sz="900" b="0">
                          <a:solidFill>
                            <a:srgbClr val="4A4F57"/>
                          </a:solidFill>
                          <a:latin typeface="Noto Sans KR"/>
                          <a:ea typeface="Noto Sans KR"/>
                          <a:cs typeface="Noto Sans KR"/>
                        </a:rPr>
                        <a:t>fnnews.com</a:t>
                      </a:r>
                    </a:p>
                  </a:txBody>
                  <a:tcPr marL="73152" marR="73152" marT="31089" marB="31089" anchor="t">
                    <a:lnL w="0">
                      <a:noFill/>
                    </a:lnL>
                    <a:lnR w="0">
                      <a:noFill/>
                    </a:lnR>
                    <a:lnT w="0">
                      <a:noFill/>
                    </a:lnT>
                    <a:lnB w="9525">
                      <a:solidFill>
                        <a:srgbClr val="E2E4E7"/>
                      </a:solidFill>
                    </a:lnB>
                    <a:noFill/>
                  </a:tcPr>
                </a:tc>
              </a:tr>
              <a:tr h="409691">
                <a:tc>
                  <a:txBody>
                    <a:bodyPr wrap="square"/>
                    <a:lstStyle/>
                    <a:p>
                      <a:pPr algn="l">
                        <a:lnSpc>
                          <a:spcPct val="100000"/>
                        </a:lnSpc>
                      </a:pPr>
                      <a:r>
                        <a:rPr sz="919" b="1">
                          <a:solidFill>
                            <a:srgbClr val="E2571B"/>
                          </a:solidFill>
                          <a:latin typeface="Noto Sans KR"/>
                          <a:ea typeface="Noto Sans KR"/>
                          <a:cs typeface="Noto Sans KR"/>
                        </a:rPr>
                        <a:t>S17</a:t>
                      </a:r>
                    </a:p>
                  </a:txBody>
                  <a:tcPr marL="73152" marR="73152" marT="31089" marB="31089" anchor="t">
                    <a:lnL w="0">
                      <a:noFill/>
                    </a:lnL>
                    <a:lnR w="0">
                      <a:noFill/>
                    </a:lnR>
                    <a:lnT w="0">
                      <a:noFill/>
                    </a:lnT>
                    <a:lnB w="9525">
                      <a:solidFill>
                        <a:srgbClr val="E2E4E7"/>
                      </a:solidFill>
                    </a:lnB>
                    <a:noFill/>
                  </a:tcPr>
                </a:tc>
                <a:tc>
                  <a:txBody>
                    <a:bodyPr wrap="square"/>
                    <a:lstStyle/>
                    <a:p>
                      <a:pPr algn="l">
                        <a:lnSpc>
                          <a:spcPct val="100000"/>
                        </a:lnSpc>
                      </a:pPr>
                      <a:r>
                        <a:rPr sz="919" b="0">
                          <a:solidFill>
                            <a:srgbClr val="15171A"/>
                          </a:solidFill>
                          <a:latin typeface="Noto Sans KR"/>
                          <a:ea typeface="Noto Sans KR"/>
                          <a:cs typeface="Noto Sans KR"/>
                        </a:rPr>
                        <a:t>AI타임스, 에니아이 햄버거 조리 로봇 "시간당 패티 200장" (2025)</a:t>
                      </a:r>
                    </a:p>
                  </a:txBody>
                  <a:tcPr marL="73152" marR="73152" marT="31089" marB="31089" anchor="t">
                    <a:lnL w="0">
                      <a:noFill/>
                    </a:lnL>
                    <a:lnR w="0">
                      <a:noFill/>
                    </a:lnR>
                    <a:lnT w="0">
                      <a:noFill/>
                    </a:lnT>
                    <a:lnB w="9525">
                      <a:solidFill>
                        <a:srgbClr val="E2E4E7"/>
                      </a:solidFill>
                    </a:lnB>
                    <a:noFill/>
                  </a:tcPr>
                </a:tc>
                <a:tc>
                  <a:txBody>
                    <a:bodyPr wrap="square"/>
                    <a:lstStyle/>
                    <a:p>
                      <a:pPr algn="l">
                        <a:lnSpc>
                          <a:spcPct val="100000"/>
                        </a:lnSpc>
                      </a:pPr>
                      <a:r>
                        <a:rPr sz="900" b="0">
                          <a:solidFill>
                            <a:srgbClr val="4A4F57"/>
                          </a:solidFill>
                          <a:latin typeface="Noto Sans KR"/>
                          <a:ea typeface="Noto Sans KR"/>
                          <a:cs typeface="Noto Sans KR"/>
                        </a:rPr>
                        <a:t>aitimes.com</a:t>
                      </a:r>
                    </a:p>
                  </a:txBody>
                  <a:tcPr marL="73152" marR="73152" marT="31089" marB="31089" anchor="t">
                    <a:lnL w="0">
                      <a:noFill/>
                    </a:lnL>
                    <a:lnR w="0">
                      <a:noFill/>
                    </a:lnR>
                    <a:lnT w="0">
                      <a:noFill/>
                    </a:lnT>
                    <a:lnB w="9525">
                      <a:solidFill>
                        <a:srgbClr val="E2E4E7"/>
                      </a:solidFill>
                    </a:lnB>
                    <a:noFill/>
                  </a:tcPr>
                </a:tc>
              </a:tr>
              <a:tr h="240507">
                <a:tc>
                  <a:txBody>
                    <a:bodyPr wrap="square"/>
                    <a:lstStyle/>
                    <a:p>
                      <a:pPr algn="l">
                        <a:lnSpc>
                          <a:spcPct val="100000"/>
                        </a:lnSpc>
                      </a:pPr>
                      <a:r>
                        <a:rPr sz="919" b="1">
                          <a:solidFill>
                            <a:srgbClr val="E2571B"/>
                          </a:solidFill>
                          <a:latin typeface="Noto Sans KR"/>
                          <a:ea typeface="Noto Sans KR"/>
                          <a:cs typeface="Noto Sans KR"/>
                        </a:rPr>
                        <a:t>S18</a:t>
                      </a:r>
                    </a:p>
                  </a:txBody>
                  <a:tcPr marL="73152" marR="73152" marT="31089" marB="31089" anchor="t">
                    <a:lnL w="0">
                      <a:noFill/>
                    </a:lnL>
                    <a:lnR w="0">
                      <a:noFill/>
                    </a:lnR>
                    <a:lnT w="0">
                      <a:noFill/>
                    </a:lnT>
                    <a:lnB w="9525">
                      <a:solidFill>
                        <a:srgbClr val="E2E4E7"/>
                      </a:solidFill>
                    </a:lnB>
                    <a:noFill/>
                  </a:tcPr>
                </a:tc>
                <a:tc>
                  <a:txBody>
                    <a:bodyPr wrap="square"/>
                    <a:lstStyle/>
                    <a:p>
                      <a:pPr algn="l">
                        <a:lnSpc>
                          <a:spcPct val="100000"/>
                        </a:lnSpc>
                      </a:pPr>
                      <a:r>
                        <a:rPr sz="919" b="0">
                          <a:solidFill>
                            <a:srgbClr val="15171A"/>
                          </a:solidFill>
                          <a:latin typeface="Noto Sans KR"/>
                          <a:ea typeface="Noto Sans KR"/>
                          <a:cs typeface="Noto Sans KR"/>
                        </a:rPr>
                        <a:t>헤럴드경제, 외식업계 인력난 (2025-05-10)</a:t>
                      </a:r>
                    </a:p>
                  </a:txBody>
                  <a:tcPr marL="73152" marR="73152" marT="31089" marB="31089" anchor="t">
                    <a:lnL w="0">
                      <a:noFill/>
                    </a:lnL>
                    <a:lnR w="0">
                      <a:noFill/>
                    </a:lnR>
                    <a:lnT w="0">
                      <a:noFill/>
                    </a:lnT>
                    <a:lnB w="9525">
                      <a:solidFill>
                        <a:srgbClr val="E2E4E7"/>
                      </a:solidFill>
                    </a:lnB>
                    <a:noFill/>
                  </a:tcPr>
                </a:tc>
                <a:tc>
                  <a:txBody>
                    <a:bodyPr wrap="square"/>
                    <a:lstStyle/>
                    <a:p>
                      <a:pPr algn="l">
                        <a:lnSpc>
                          <a:spcPct val="100000"/>
                        </a:lnSpc>
                      </a:pPr>
                      <a:r>
                        <a:rPr sz="900" b="0">
                          <a:solidFill>
                            <a:srgbClr val="4A4F57"/>
                          </a:solidFill>
                          <a:latin typeface="Noto Sans KR"/>
                          <a:ea typeface="Noto Sans KR"/>
                          <a:cs typeface="Noto Sans KR"/>
                        </a:rPr>
                        <a:t>biz.heraldcorp.com</a:t>
                      </a:r>
                    </a:p>
                  </a:txBody>
                  <a:tcPr marL="73152" marR="73152" marT="31089" marB="31089" anchor="t">
                    <a:lnL w="0">
                      <a:noFill/>
                    </a:lnL>
                    <a:lnR w="0">
                      <a:noFill/>
                    </a:lnR>
                    <a:lnT w="0">
                      <a:noFill/>
                    </a:lnT>
                    <a:lnB w="9525">
                      <a:solidFill>
                        <a:srgbClr val="E2E4E7"/>
                      </a:solidFill>
                    </a:lnB>
                    <a:noFill/>
                  </a:tcPr>
                </a:tc>
              </a:tr>
              <a:tr h="240507">
                <a:tc>
                  <a:txBody>
                    <a:bodyPr wrap="square"/>
                    <a:lstStyle/>
                    <a:p>
                      <a:pPr algn="l">
                        <a:lnSpc>
                          <a:spcPct val="100000"/>
                        </a:lnSpc>
                      </a:pPr>
                      <a:r>
                        <a:rPr sz="919" b="1">
                          <a:solidFill>
                            <a:srgbClr val="E2571B"/>
                          </a:solidFill>
                          <a:latin typeface="Noto Sans KR"/>
                          <a:ea typeface="Noto Sans KR"/>
                          <a:cs typeface="Noto Sans KR"/>
                        </a:rPr>
                        <a:t>S19</a:t>
                      </a:r>
                    </a:p>
                  </a:txBody>
                  <a:tcPr marL="73152" marR="73152" marT="31089" marB="31089" anchor="t">
                    <a:lnL w="0">
                      <a:noFill/>
                    </a:lnL>
                    <a:lnR w="0">
                      <a:noFill/>
                    </a:lnR>
                    <a:lnT w="0">
                      <a:noFill/>
                    </a:lnT>
                    <a:lnB w="9525">
                      <a:solidFill>
                        <a:srgbClr val="E2E4E7"/>
                      </a:solidFill>
                    </a:lnB>
                    <a:noFill/>
                  </a:tcPr>
                </a:tc>
                <a:tc>
                  <a:txBody>
                    <a:bodyPr wrap="square"/>
                    <a:lstStyle/>
                    <a:p>
                      <a:pPr algn="l">
                        <a:lnSpc>
                          <a:spcPct val="100000"/>
                        </a:lnSpc>
                      </a:pPr>
                      <a:r>
                        <a:rPr sz="919" b="0">
                          <a:solidFill>
                            <a:srgbClr val="15171A"/>
                          </a:solidFill>
                          <a:latin typeface="Noto Sans KR"/>
                          <a:ea typeface="Noto Sans KR"/>
                          <a:cs typeface="Noto Sans KR"/>
                        </a:rPr>
                        <a:t>Restaurant Dive, NRA 2025 labor market·tech (2025)</a:t>
                      </a:r>
                    </a:p>
                  </a:txBody>
                  <a:tcPr marL="73152" marR="73152" marT="31089" marB="31089" anchor="t">
                    <a:lnL w="0">
                      <a:noFill/>
                    </a:lnL>
                    <a:lnR w="0">
                      <a:noFill/>
                    </a:lnR>
                    <a:lnT w="0">
                      <a:noFill/>
                    </a:lnT>
                    <a:lnB w="9525">
                      <a:solidFill>
                        <a:srgbClr val="E2E4E7"/>
                      </a:solidFill>
                    </a:lnB>
                    <a:noFill/>
                  </a:tcPr>
                </a:tc>
                <a:tc>
                  <a:txBody>
                    <a:bodyPr wrap="square"/>
                    <a:lstStyle/>
                    <a:p>
                      <a:pPr algn="l">
                        <a:lnSpc>
                          <a:spcPct val="100000"/>
                        </a:lnSpc>
                      </a:pPr>
                      <a:r>
                        <a:rPr sz="900" b="0">
                          <a:solidFill>
                            <a:srgbClr val="4A4F57"/>
                          </a:solidFill>
                          <a:latin typeface="Noto Sans KR"/>
                          <a:ea typeface="Noto Sans KR"/>
                          <a:cs typeface="Noto Sans KR"/>
                        </a:rPr>
                        <a:t>restaurantdive.com</a:t>
                      </a:r>
                    </a:p>
                  </a:txBody>
                  <a:tcPr marL="73152" marR="73152" marT="31089" marB="31089" anchor="t">
                    <a:lnL w="0">
                      <a:noFill/>
                    </a:lnL>
                    <a:lnR w="0">
                      <a:noFill/>
                    </a:lnR>
                    <a:lnT w="0">
                      <a:noFill/>
                    </a:lnT>
                    <a:lnB w="9525">
                      <a:solidFill>
                        <a:srgbClr val="E2E4E7"/>
                      </a:solidFill>
                    </a:lnB>
                    <a:noFill/>
                  </a:tcPr>
                </a:tc>
              </a:tr>
              <a:tr h="240507">
                <a:tc>
                  <a:txBody>
                    <a:bodyPr wrap="square"/>
                    <a:lstStyle/>
                    <a:p>
                      <a:pPr algn="l">
                        <a:lnSpc>
                          <a:spcPct val="100000"/>
                        </a:lnSpc>
                      </a:pPr>
                      <a:r>
                        <a:rPr sz="919" b="1">
                          <a:solidFill>
                            <a:srgbClr val="E2571B"/>
                          </a:solidFill>
                          <a:latin typeface="Noto Sans KR"/>
                          <a:ea typeface="Noto Sans KR"/>
                          <a:cs typeface="Noto Sans KR"/>
                        </a:rPr>
                        <a:t>S20</a:t>
                      </a:r>
                    </a:p>
                  </a:txBody>
                  <a:tcPr marL="73152" marR="73152" marT="31089" marB="31089" anchor="t">
                    <a:lnL w="0">
                      <a:noFill/>
                    </a:lnL>
                    <a:lnR w="0">
                      <a:noFill/>
                    </a:lnR>
                    <a:lnT w="0">
                      <a:noFill/>
                    </a:lnT>
                    <a:lnB w="9525">
                      <a:solidFill>
                        <a:srgbClr val="E2E4E7"/>
                      </a:solidFill>
                    </a:lnB>
                    <a:noFill/>
                  </a:tcPr>
                </a:tc>
                <a:tc>
                  <a:txBody>
                    <a:bodyPr wrap="square"/>
                    <a:lstStyle/>
                    <a:p>
                      <a:pPr algn="l">
                        <a:lnSpc>
                          <a:spcPct val="100000"/>
                        </a:lnSpc>
                      </a:pPr>
                      <a:r>
                        <a:rPr sz="919" b="0">
                          <a:solidFill>
                            <a:srgbClr val="15171A"/>
                          </a:solidFill>
                          <a:latin typeface="Noto Sans KR"/>
                          <a:ea typeface="Noto Sans KR"/>
                          <a:cs typeface="Noto Sans KR"/>
                        </a:rPr>
                        <a:t>qbrobotics, qb SoftHand Industry 제품 사양 (제조사 공개)</a:t>
                      </a:r>
                    </a:p>
                  </a:txBody>
                  <a:tcPr marL="73152" marR="73152" marT="31089" marB="31089" anchor="t">
                    <a:lnL w="0">
                      <a:noFill/>
                    </a:lnL>
                    <a:lnR w="0">
                      <a:noFill/>
                    </a:lnR>
                    <a:lnT w="0">
                      <a:noFill/>
                    </a:lnT>
                    <a:lnB w="9525">
                      <a:solidFill>
                        <a:srgbClr val="E2E4E7"/>
                      </a:solidFill>
                    </a:lnB>
                    <a:noFill/>
                  </a:tcPr>
                </a:tc>
                <a:tc>
                  <a:txBody>
                    <a:bodyPr wrap="square"/>
                    <a:lstStyle/>
                    <a:p>
                      <a:pPr algn="l">
                        <a:lnSpc>
                          <a:spcPct val="100000"/>
                        </a:lnSpc>
                      </a:pPr>
                      <a:r>
                        <a:rPr sz="900" b="0">
                          <a:solidFill>
                            <a:srgbClr val="4A4F57"/>
                          </a:solidFill>
                          <a:latin typeface="Noto Sans KR"/>
                          <a:ea typeface="Noto Sans KR"/>
                          <a:cs typeface="Noto Sans KR"/>
                        </a:rPr>
                        <a:t>qbrobotics.com</a:t>
                      </a:r>
                    </a:p>
                  </a:txBody>
                  <a:tcPr marL="73152" marR="73152" marT="31089" marB="31089" anchor="t">
                    <a:lnL w="0">
                      <a:noFill/>
                    </a:lnL>
                    <a:lnR w="0">
                      <a:noFill/>
                    </a:lnR>
                    <a:lnT w="0">
                      <a:noFill/>
                    </a:lnT>
                    <a:lnB w="9525">
                      <a:solidFill>
                        <a:srgbClr val="E2E4E7"/>
                      </a:solidFill>
                    </a:lnB>
                    <a:noFill/>
                  </a:tcPr>
                </a:tc>
              </a:tr>
              <a:tr h="409691">
                <a:tc>
                  <a:txBody>
                    <a:bodyPr wrap="square"/>
                    <a:lstStyle/>
                    <a:p>
                      <a:pPr algn="l">
                        <a:lnSpc>
                          <a:spcPct val="100000"/>
                        </a:lnSpc>
                      </a:pPr>
                      <a:r>
                        <a:rPr sz="919" b="1">
                          <a:solidFill>
                            <a:srgbClr val="E2571B"/>
                          </a:solidFill>
                          <a:latin typeface="Noto Sans KR"/>
                          <a:ea typeface="Noto Sans KR"/>
                          <a:cs typeface="Noto Sans KR"/>
                        </a:rPr>
                        <a:t>S21</a:t>
                      </a:r>
                    </a:p>
                  </a:txBody>
                  <a:tcPr marL="73152" marR="73152" marT="31089" marB="31089" anchor="t">
                    <a:lnL w="0">
                      <a:noFill/>
                    </a:lnL>
                    <a:lnR w="0">
                      <a:noFill/>
                    </a:lnR>
                    <a:lnT w="0">
                      <a:noFill/>
                    </a:lnT>
                    <a:lnB w="9525">
                      <a:solidFill>
                        <a:srgbClr val="E2E4E7"/>
                      </a:solidFill>
                    </a:lnB>
                    <a:noFill/>
                  </a:tcPr>
                </a:tc>
                <a:tc>
                  <a:txBody>
                    <a:bodyPr wrap="square"/>
                    <a:lstStyle/>
                    <a:p>
                      <a:pPr algn="l">
                        <a:lnSpc>
                          <a:spcPct val="100000"/>
                        </a:lnSpc>
                      </a:pPr>
                      <a:r>
                        <a:rPr sz="919" b="0">
                          <a:solidFill>
                            <a:srgbClr val="15171A"/>
                          </a:solidFill>
                          <a:latin typeface="Noto Sans KR"/>
                          <a:ea typeface="Noto Sans KR"/>
                          <a:cs typeface="Noto Sans KR"/>
                        </a:rPr>
                        <a:t>Robotics &amp; Automation News, Tesollo DG-5F-S (2026-03-13)</a:t>
                      </a:r>
                    </a:p>
                  </a:txBody>
                  <a:tcPr marL="73152" marR="73152" marT="31089" marB="31089" anchor="t">
                    <a:lnL w="0">
                      <a:noFill/>
                    </a:lnL>
                    <a:lnR w="0">
                      <a:noFill/>
                    </a:lnR>
                    <a:lnT w="0">
                      <a:noFill/>
                    </a:lnT>
                    <a:lnB w="9525">
                      <a:solidFill>
                        <a:srgbClr val="E2E4E7"/>
                      </a:solidFill>
                    </a:lnB>
                    <a:noFill/>
                  </a:tcPr>
                </a:tc>
                <a:tc>
                  <a:txBody>
                    <a:bodyPr wrap="square"/>
                    <a:lstStyle/>
                    <a:p>
                      <a:pPr algn="l">
                        <a:lnSpc>
                          <a:spcPct val="100000"/>
                        </a:lnSpc>
                      </a:pPr>
                      <a:r>
                        <a:rPr sz="900" b="0">
                          <a:solidFill>
                            <a:srgbClr val="4A4F57"/>
                          </a:solidFill>
                          <a:latin typeface="Noto Sans KR"/>
                          <a:ea typeface="Noto Sans KR"/>
                          <a:cs typeface="Noto Sans KR"/>
                        </a:rPr>
                        <a:t>roboticsandautomationnews.com</a:t>
                      </a:r>
                    </a:p>
                  </a:txBody>
                  <a:tcPr marL="73152" marR="73152" marT="31089" marB="31089" anchor="t">
                    <a:lnL w="0">
                      <a:noFill/>
                    </a:lnL>
                    <a:lnR w="0">
                      <a:noFill/>
                    </a:lnR>
                    <a:lnT w="0">
                      <a:noFill/>
                    </a:lnT>
                    <a:lnB w="9525">
                      <a:solidFill>
                        <a:srgbClr val="E2E4E7"/>
                      </a:solidFill>
                    </a:lnB>
                    <a:noFill/>
                  </a:tcPr>
                </a:tc>
              </a:tr>
              <a:tr h="240507">
                <a:tc>
                  <a:txBody>
                    <a:bodyPr wrap="square"/>
                    <a:lstStyle/>
                    <a:p>
                      <a:pPr algn="l">
                        <a:lnSpc>
                          <a:spcPct val="100000"/>
                        </a:lnSpc>
                      </a:pPr>
                      <a:r>
                        <a:rPr sz="919" b="1">
                          <a:solidFill>
                            <a:srgbClr val="E2571B"/>
                          </a:solidFill>
                          <a:latin typeface="Noto Sans KR"/>
                          <a:ea typeface="Noto Sans KR"/>
                          <a:cs typeface="Noto Sans KR"/>
                        </a:rPr>
                        <a:t>S22</a:t>
                      </a:r>
                    </a:p>
                  </a:txBody>
                  <a:tcPr marL="73152" marR="73152" marT="31089" marB="31089" anchor="t">
                    <a:lnL w="0">
                      <a:noFill/>
                    </a:lnL>
                    <a:lnR w="0">
                      <a:noFill/>
                    </a:lnR>
                    <a:lnT w="0">
                      <a:noFill/>
                    </a:lnT>
                    <a:lnB w="9525">
                      <a:solidFill>
                        <a:srgbClr val="E2E4E7"/>
                      </a:solidFill>
                    </a:lnB>
                    <a:noFill/>
                  </a:tcPr>
                </a:tc>
                <a:tc>
                  <a:txBody>
                    <a:bodyPr wrap="square"/>
                    <a:lstStyle/>
                    <a:p>
                      <a:pPr algn="l">
                        <a:lnSpc>
                          <a:spcPct val="100000"/>
                        </a:lnSpc>
                      </a:pPr>
                      <a:r>
                        <a:rPr sz="919" b="0">
                          <a:solidFill>
                            <a:srgbClr val="15171A"/>
                          </a:solidFill>
                          <a:latin typeface="Noto Sans KR"/>
                          <a:ea typeface="Noto Sans KR"/>
                          <a:cs typeface="Noto Sans KR"/>
                        </a:rPr>
                        <a:t>ISO 10218-2:2025 · ISO 13482:2014 (표준 개요)</a:t>
                      </a:r>
                    </a:p>
                  </a:txBody>
                  <a:tcPr marL="73152" marR="73152" marT="31089" marB="31089" anchor="t">
                    <a:lnL w="0">
                      <a:noFill/>
                    </a:lnL>
                    <a:lnR w="0">
                      <a:noFill/>
                    </a:lnR>
                    <a:lnT w="0">
                      <a:noFill/>
                    </a:lnT>
                    <a:lnB w="9525">
                      <a:solidFill>
                        <a:srgbClr val="E2E4E7"/>
                      </a:solidFill>
                    </a:lnB>
                    <a:noFill/>
                  </a:tcPr>
                </a:tc>
                <a:tc>
                  <a:txBody>
                    <a:bodyPr wrap="square"/>
                    <a:lstStyle/>
                    <a:p>
                      <a:pPr algn="l">
                        <a:lnSpc>
                          <a:spcPct val="100000"/>
                        </a:lnSpc>
                      </a:pPr>
                      <a:r>
                        <a:rPr sz="900" b="0">
                          <a:solidFill>
                            <a:srgbClr val="4A4F57"/>
                          </a:solidFill>
                          <a:latin typeface="Noto Sans KR"/>
                          <a:ea typeface="Noto Sans KR"/>
                          <a:cs typeface="Noto Sans KR"/>
                        </a:rPr>
                        <a:t>iso.org</a:t>
                      </a:r>
                    </a:p>
                  </a:txBody>
                  <a:tcPr marL="73152" marR="73152" marT="31089" marB="31089" anchor="t">
                    <a:lnL w="0">
                      <a:noFill/>
                    </a:lnL>
                    <a:lnR w="0">
                      <a:noFill/>
                    </a:lnR>
                    <a:lnT w="0">
                      <a:noFill/>
                    </a:lnT>
                    <a:lnB w="9525">
                      <a:solidFill>
                        <a:srgbClr val="E2E4E7"/>
                      </a:solidFill>
                    </a:lnB>
                    <a:noFill/>
                  </a:tcPr>
                </a:tc>
              </a:tr>
            </a:tbl>
          </a:graphicData>
        </a:graphic>
      </p:graphicFrame>
      <p:sp>
        <p:nvSpPr>
          <p:cNvPr id="7" name="TextBox 6"/>
          <p:cNvSpPr txBox="1"/>
          <p:nvPr/>
        </p:nvSpPr>
        <p:spPr>
          <a:xfrm>
            <a:off x="685800" y="6446520"/>
            <a:ext cx="5486400" cy="201168"/>
          </a:xfrm>
          <a:prstGeom prst="rect">
            <a:avLst/>
          </a:prstGeom>
          <a:noFill/>
        </p:spPr>
        <p:txBody>
          <a:bodyPr wrap="square" lIns="0" rIns="0" tIns="0" bIns="0" anchor="t">
            <a:spAutoFit/>
          </a:bodyPr>
          <a:lstStyle/>
          <a:p>
            <a:pPr algn="l">
              <a:lnSpc>
                <a:spcPct val="100000"/>
              </a:lnSpc>
            </a:pPr>
            <a:r>
              <a:rPr sz="900" b="0">
                <a:solidFill>
                  <a:srgbClr val="8C9198"/>
                </a:solidFill>
                <a:latin typeface="Noto Sans KR"/>
                <a:ea typeface="Noto Sans KR"/>
                <a:cs typeface="Noto Sans KR"/>
              </a:rPr>
              <a:t>SoftHand  |  주방 로봇 조작 플랫폼  |  Seed 투자 제안서</a:t>
            </a:r>
          </a:p>
        </p:txBody>
      </p:sp>
      <p:sp>
        <p:nvSpPr>
          <p:cNvPr id="8" name="TextBox 7"/>
          <p:cNvSpPr txBox="1"/>
          <p:nvPr/>
        </p:nvSpPr>
        <p:spPr>
          <a:xfrm>
            <a:off x="11048695" y="6446520"/>
            <a:ext cx="457200" cy="201168"/>
          </a:xfrm>
          <a:prstGeom prst="rect">
            <a:avLst/>
          </a:prstGeom>
          <a:noFill/>
        </p:spPr>
        <p:txBody>
          <a:bodyPr wrap="square" lIns="0" rIns="0" tIns="0" bIns="0" anchor="t">
            <a:spAutoFit/>
          </a:bodyPr>
          <a:lstStyle/>
          <a:p>
            <a:pPr algn="r">
              <a:lnSpc>
                <a:spcPct val="100000"/>
              </a:lnSpc>
            </a:pPr>
            <a:r>
              <a:rPr sz="900" b="0">
                <a:solidFill>
                  <a:srgbClr val="8C9198"/>
                </a:solidFill>
                <a:latin typeface="Noto Sans KR"/>
                <a:ea typeface="Noto Sans KR"/>
                <a:cs typeface="Noto Sans KR"/>
              </a:rPr>
              <a:t>A17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Noto Sans KR"/>
        <a:ea typeface="Noto Sans KR"/>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Noto Sans KR"/>
        <a:ea typeface="Noto Sans KR"/>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SoftHand Seed 투자 제안서 · Kitchen Robotics Platform</dc:title>
  <dc:subject>모든 주방에서 일할 수 있는 로봇 · SoftHand + Kitchen Skills · Seed 20억 원 / 24개월</dc:subject>
  <dc:creator>[회사명 입력 필요]</dc:creator>
  <cp:keywords/>
  <dc:description>generated using python-pptx</dc:description>
  <cp:lastModifiedBy/>
  <cp:revision>1</cp:revision>
  <dcterms:created xsi:type="dcterms:W3CDTF">2026-10-06T09:00:00Z</dcterms:created>
  <dcterms:modified xsi:type="dcterms:W3CDTF">2026-10-06T09:00:00Z</dcterms:modified>
  <cp:category/>
</cp:coreProperties>
</file>