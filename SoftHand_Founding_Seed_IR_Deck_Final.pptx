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1"/>
          <c:w val="0.96"/>
          <c:h val="0.8"/>
        </c:manualLayout>
      </c:layout>
      <c:barChart>
        <c:barDir val="col"/>
        <c:grouping val="stacked"/>
        <c:ser>
          <c:idx val="0"/>
          <c:order val="0"/>
          <c:tx>
            <c:strRef>
              <c:f>Sheet1!$B$1</c:f>
              <c:strCache>
                <c:ptCount val="1"/>
                <c:pt idx="0">
                  <c:v>핸드 단품</c:v>
                </c:pt>
              </c:strCache>
            </c:strRef>
          </c:tx>
          <c:spPr>
            <a:solidFill>
              <a:srgbClr val="E2571B"/>
            </a:solidFill>
            <a:ln>
              <a:noFill/>
            </a:ln>
          </c:spPr>
          <c:invertIfNegative val="0"/>
          <c:cat>
            <c:strRef>
              <c:f>Sheet1!$A$2:$A$6</c:f>
              <c:strCache>
                <c:ptCount val="5"/>
                <c:pt idx="0">
                  <c:v>1년차</c:v>
                </c:pt>
                <c:pt idx="1">
                  <c:v>2년차</c:v>
                </c:pt>
                <c:pt idx="2">
                  <c:v>3년차</c:v>
                </c:pt>
                <c:pt idx="3">
                  <c:v>4년차</c:v>
                </c:pt>
                <c:pt idx="4">
                  <c:v>5년차</c:v>
                </c:pt>
              </c:strCache>
            </c:strRef>
          </c:cat>
          <c:val>
            <c:numRef>
              <c:f>Sheet1!$B$2:$B$6</c:f>
              <c:numCache>
                <c:formatCode>General</c:formatCode>
                <c:ptCount val="5"/>
                <c:pt idx="0">
                  <c:v>0.0</c:v>
                </c:pt>
                <c:pt idx="1">
                  <c:v>4.5</c:v>
                </c:pt>
                <c:pt idx="2">
                  <c:v>15.0</c:v>
                </c:pt>
                <c:pt idx="3">
                  <c:v>30.0</c:v>
                </c:pt>
                <c:pt idx="4">
                  <c:v>52.5</c:v>
                </c:pt>
              </c:numCache>
            </c:numRef>
          </c:val>
        </c:ser>
        <c:ser>
          <c:idx val="1"/>
          <c:order val="1"/>
          <c:tx>
            <c:strRef>
              <c:f>Sheet1!$C$1</c:f>
              <c:strCache>
                <c:ptCount val="1"/>
                <c:pt idx="0">
                  <c:v>주방 셀</c:v>
                </c:pt>
              </c:strCache>
            </c:strRef>
          </c:tx>
          <c:spPr>
            <a:solidFill>
              <a:srgbClr val="4A4F57"/>
            </a:solidFill>
            <a:ln>
              <a:noFill/>
            </a:ln>
          </c:spPr>
          <c:invertIfNegative val="0"/>
          <c:cat>
            <c:strRef>
              <c:f>Sheet1!$A$2:$A$6</c:f>
              <c:strCache>
                <c:ptCount val="5"/>
                <c:pt idx="0">
                  <c:v>1년차</c:v>
                </c:pt>
                <c:pt idx="1">
                  <c:v>2년차</c:v>
                </c:pt>
                <c:pt idx="2">
                  <c:v>3년차</c:v>
                </c:pt>
                <c:pt idx="3">
                  <c:v>4년차</c:v>
                </c:pt>
                <c:pt idx="4">
                  <c:v>5년차</c:v>
                </c:pt>
              </c:strCache>
            </c:strRef>
          </c:cat>
          <c:val>
            <c:numRef>
              <c:f>Sheet1!$C$2:$C$6</c:f>
              <c:numCache>
                <c:formatCode>General</c:formatCode>
                <c:ptCount val="5"/>
                <c:pt idx="0">
                  <c:v>0.0</c:v>
                </c:pt>
                <c:pt idx="1">
                  <c:v>0.0</c:v>
                </c:pt>
                <c:pt idx="2">
                  <c:v>10.0</c:v>
                </c:pt>
                <c:pt idx="3">
                  <c:v>24.0</c:v>
                </c:pt>
                <c:pt idx="4">
                  <c:v>50.0</c:v>
                </c:pt>
              </c:numCache>
            </c:numRef>
          </c:val>
        </c:ser>
        <c:ser>
          <c:idx val="2"/>
          <c:order val="2"/>
          <c:tx>
            <c:strRef>
              <c:f>Sheet1!$D$1</c:f>
              <c:strCache>
                <c:ptCount val="1"/>
                <c:pt idx="0">
                  <c:v>소프트웨어</c:v>
                </c:pt>
              </c:strCache>
            </c:strRef>
          </c:tx>
          <c:spPr>
            <a:solidFill>
              <a:srgbClr val="8C9198"/>
            </a:solidFill>
            <a:ln>
              <a:noFill/>
            </a:ln>
          </c:spPr>
          <c:invertIfNegative val="0"/>
          <c:cat>
            <c:strRef>
              <c:f>Sheet1!$A$2:$A$6</c:f>
              <c:strCache>
                <c:ptCount val="5"/>
                <c:pt idx="0">
                  <c:v>1년차</c:v>
                </c:pt>
                <c:pt idx="1">
                  <c:v>2년차</c:v>
                </c:pt>
                <c:pt idx="2">
                  <c:v>3년차</c:v>
                </c:pt>
                <c:pt idx="3">
                  <c:v>4년차</c:v>
                </c:pt>
                <c:pt idx="4">
                  <c:v>5년차</c:v>
                </c:pt>
              </c:strCache>
            </c:strRef>
          </c:cat>
          <c:val>
            <c:numRef>
              <c:f>Sheet1!$D$2:$D$6</c:f>
              <c:numCache>
                <c:formatCode>General</c:formatCode>
                <c:ptCount val="5"/>
                <c:pt idx="0">
                  <c:v>0.0</c:v>
                </c:pt>
                <c:pt idx="1">
                  <c:v>0.3</c:v>
                </c:pt>
                <c:pt idx="2">
                  <c:v>1.2</c:v>
                </c:pt>
                <c:pt idx="3">
                  <c:v>3.5999999999999996</c:v>
                </c:pt>
                <c:pt idx="4">
                  <c:v>7.5</c:v>
                </c:pt>
              </c:numCache>
            </c:numRef>
          </c:val>
        </c:ser>
        <c:ser>
          <c:idx val="3"/>
          <c:order val="3"/>
          <c:tx>
            <c:strRef>
              <c:f>Sheet1!$E$1</c:f>
              <c:strCache>
                <c:ptCount val="1"/>
                <c:pt idx="0">
                  <c:v>실증·개발</c:v>
                </c:pt>
              </c:strCache>
            </c:strRef>
          </c:tx>
          <c:spPr>
            <a:solidFill>
              <a:srgbClr val="C9CDD2"/>
            </a:solidFill>
            <a:ln>
              <a:noFill/>
            </a:ln>
          </c:spPr>
          <c:invertIfNegative val="0"/>
          <c:cat>
            <c:strRef>
              <c:f>Sheet1!$A$2:$A$6</c:f>
              <c:strCache>
                <c:ptCount val="5"/>
                <c:pt idx="0">
                  <c:v>1년차</c:v>
                </c:pt>
                <c:pt idx="1">
                  <c:v>2년차</c:v>
                </c:pt>
                <c:pt idx="2">
                  <c:v>3년차</c:v>
                </c:pt>
                <c:pt idx="3">
                  <c:v>4년차</c:v>
                </c:pt>
                <c:pt idx="4">
                  <c:v>5년차</c:v>
                </c:pt>
              </c:strCache>
            </c:strRef>
          </c:cat>
          <c:val>
            <c:numRef>
              <c:f>Sheet1!$E$2:$E$6</c:f>
              <c:numCache>
                <c:formatCode>General</c:formatCode>
                <c:ptCount val="5"/>
                <c:pt idx="0">
                  <c:v>1.0</c:v>
                </c:pt>
                <c:pt idx="1">
                  <c:v>2.0</c:v>
                </c:pt>
                <c:pt idx="2">
                  <c:v>2.0</c:v>
                </c:pt>
                <c:pt idx="3">
                  <c:v>2.0</c:v>
                </c:pt>
                <c:pt idx="4">
                  <c:v>2.0</c:v>
                </c:pt>
              </c:numCache>
            </c:numRef>
          </c:val>
        </c:ser>
        <c:gapWidth val="55"/>
        <c:overlap val="100"/>
        <c:axId val="-2068027336"/>
        <c:axId val="-2113994440"/>
      </c:barChart>
      <c:catAx>
        <c:axId val="-2068027336"/>
        <c:scaling>
          <c:orientation val="minMax"/>
        </c:scaling>
        <c:delete val="0"/>
        <c:axPos val="b"/>
        <c:majorTickMark val="none"/>
        <c:minorTickMark val="none"/>
        <c:tickLblPos val="none"/>
        <c:spPr>
          <a:ln>
            <a:solidFill>
              <a:srgbClr val="E2E4E7"/>
            </a:solidFill>
          </a:ln>
        </c:spPr>
        <c:crossAx val="-2113994440"/>
        <c:crosses val="autoZero"/>
        <c:auto val="1"/>
        <c:lblAlgn val="ctr"/>
        <c:lblOffset val="100"/>
        <c:noMultiLvlLbl val="0"/>
      </c:catAx>
      <c:valAx>
        <c:axId val="-2113994440"/>
        <c:scaling>
          <c:max val="125.0"/>
          <c:min val="0.0"/>
        </c:scaling>
        <c:delete/>
        <c:axPos val="l"/>
        <c:majorTickMark val="none"/>
        <c:minorTickMark val="none"/>
        <c:tickLblPos val="nextTo"/>
        <c:crossAx val="-2068027336"/>
        <c:crosses val="autoZero"/>
      </c:valAx>
    </c:plotArea>
    <c:dispBlanksAs val="gap"/>
  </c:chart>
  <c:txPr>
    <a:bodyPr/>
    <a:lstStyle/>
    <a:p>
      <a:pPr>
        <a:defRPr sz="1050">
          <a:solidFill>
            <a:srgbClr val="4A4F57"/>
          </a:solidFill>
          <a:latin typeface="Noto Sans KR"/>
          <a:ea typeface="Noto Sans KR"/>
          <a:cs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사람용 도구를 잡고 사용하는 소프트 로봇핸드 개발 및 사업화. Seed 20억 원, 24개월. 초기 고객은 로봇 SI와 반복 취급 공정을 가진 제조기업, 로봇 주방은 3년차 이후 응용 제품.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대표자 발표 문안: 저희는 로봇이 사람이 쓰는 도구를 잡고 실제 작업까지 수행하도록 하는 소프트 로봇핸드와 제어 소프트웨어를 개발합니다. 초기에는 4지 핸드를 기존 로봇에 부착하여 반복 취급과 제한된 도구 작업을 검증하고, 이를 5지 핸드와 천장 이동형 양팔 로봇 주방으로 확장합니다. Seed 20억원을 통해 24개월 내 제품 성능과 유료 고객의 경제성을 입증하고 반복 판매 기반을 확보하고자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고객 문제: 제조·SI는 작업마다 그리퍼·지그 교체와 재설정, 로봇 OEM은 손·센서·제어 통합, 주방 운영사는 반복 취급과 작업자 편차, 주방 제조사는 차별화. 근거: 기존 로봇 도입 총소유비용의 약 75%가 초기 셋업·재설계(BCG). 산업용 로봇 설치 2025년 60만 대 이상, 한국 3.0만 대·로봇 밀도 1,220대(IFR). 도구 사용은 파지 이상의 제어가 필요하므로 투자 지표는 작업 성공률과 사람 개입 시간.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 제품: SoftHand-4(4지 핸드)와 ToolSkill SDK(도구 사용 제어 소프트웨어)를 로봇 SI·제조업체에 판매. 확장 제품: SoftHand-5(24개월 알파), Ceiling Kitchen(3년차부터 주방 제조사·상업 주방과 공동 판매). 작업군은 식기·용기 정렬부터 시작해 저토크 공구, 집게·팬, 오븐 순으로 확대하고 칼·해머는 후속 단계.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탄성 외피·패드와 경량 관절 골격을 결합한 하이브리드 구조. 구동부는 전동 텐던을 기준 후보로 유압·공압과 3개월 내 비교 시험. 감각부는 손끝·손바닥 접촉, 관절·장력, 손목 6축 힘·토크. 하중 예시: 3kg 냄비, 0.20m에서 정적 모멘트 약 5.9N·m.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상부 RGB-D·손목 카메라 → 분할·기능 부위 인식 → 자세·변형 추정 → 이동 예측 → 파지·작업 계획 → 촉각·힘 접촉 제어 → 결과 확인 → 재파지·재시도·정지. 데이터는 도구·용기 30종 이상, 시도 1만 회 이상, 물체·세션·현장 단위로 분리 검증. VLA·모방학습은 고수준 선택에 한정.</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Ceiling Kitchen: 싱크대 상부 구조 프레임에 LM 가이드·구동 이동축, 협동로봇 2대 역설치. 단일 공통 캐리지안 우선. 구역: 재료 준비, 싱크·세척, 가열, 배식·수납, 대기·정비. 레시피는 비가열 취급 → 저속 젓기 볶음·찜 → 메뉴·용기 다양화·오븐 → 밀폐·차폐 설비 튀김 순. 판매는 3년차부터 주방 제조사와 표준 설치 모델 공동 판매.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12개월·24개월 성능 목표(제안). 정적 파지 20종 95% → 30종 98%, 동적 파지 0.1m/s 90% → 0.3m/s 95%, 감지→제어 p95 200ms → 100ms, 핸드 하중 1kg → 2kg, 내구 10만 → 30만 회, 주방 메뉴 3종 무개입 90%, 선정 고객 사람 개입시간 30% 감소. 중대 이상은 개선 완료까지 출시 보류.</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qb SoftHand Industry(5지, 19자유도·1모터, 파워그립 2kg, IP65), Moley A-AiR(이동 플랫폼 양손 로봇·갠트리·주방기기 연동), YORI 연구, 전용 그리퍼·조리기와 비교. 천장 양팔 주방 자체의 신규성은 주장하지 않음. 차별화 가설 5가지는 동일 조건 비교 시험과 고객 평가로 검증.</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최초 진입: 비가열 표준 용기·도구 취급, 정렬, 저하중 도구 작업. 1년차 유료 실증·기술개발 계약, 2년차 SI를 통한 핸드 반복 판매, 3년차부터 주방 제조사와 표준 설치 모델 공동 판매. 첫 90일 로봇 SI·제조·주방 각 10곳 인터뷰 후 유료 실증 가능 고객 5곳 선정.</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 접근시장(가정): 핸드 100곳 × 5대 × 1,500만 원 = 75억 원, 주방 30곳 × 2억 원 = 60억 원, 단순 합산하지 않음. 가격·원가: 핸드 1,500/800만 원(46.7%), 주방 셀 2억/1.4억 원(30%), SW 300/90만 원(70%). 고객 투자회수: 하루 6시간 절감 시 약 5.7년, 10시간 절감 시 약 3.1년.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 시나리오: 매출 1.0 → 112.0억 원, 영업손익 −7.60 → 17.55억 원, 4년차 흑자 전환(계획). 1~2년차 누적 영업손실 14.49억 원. 민감도: 3년차 50% 시 영업손실 8.18억 원, 4년차 80% 시 총이익이 운영비에 못 미침. 18~24개월에 후속 자금 조달 필요.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0~3개월 고객 인터뷰·구동 비교, 4~6개월 4지 알파, 7~12개월 4지 베타·제조 실증·유료 실증 계약, 13~18개월 주방 양팔 통합·메뉴 1종, 19~24개월 4지 제품 검증·5지 알파·메뉴 3종, 25~36개월 5지 고도화·표준 주방 셀. 24개월 목표: 유료 실증 누적 5건, 반복 발주 2곳.</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 20억 원: 개발 인력 10.0억, 시제품·시험 설비 3.5억, AI 데이터·연산 1.5억, 주방 통합 실증 2.0억, 안전·품질·지식재산 1.0억, 운영·예비비 2.0억. 현금 집행 예산이며 손익 운영비와 일대일로 일치하지 않음. 1~2년차 누적 영업손실 14.49억 원, 18~24개월에 후속 조달.</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 핵심 역할 7명: 사업·제품 책임자 1, 핸드 기구/구동 2, 제어·임베디드 1, 비전·조작 AI 2, 시스템 통합 1. 단계 채용 전제. 안전·위생·특허·주방 설계는 외부 전문기관과 협력. 창업자 경력·공동창업자·보유 기술은 확인 자료로 보완 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주요 위험: 순응성·강성 충돌, 반사·증기·가림, 젖음·기름·열·세제, 천장·역설치·정전, 칼·해머·튀김, 과도한 맞춤 개발, 긴 영업주기·후속 조달. 투자 실사 전 증거 8가지: 법인·인력, 특허 소유권, 무편집 시험 영상·로그, BOM·견적·수율, 유료 실증 계약, 월별 현금흐름, 인증 범위, 고객 운영비·절감시간.</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대표자 발표 문안: 저희는 로봇이 사람이 쓰는 도구를 잡고 실제 작업까지 수행하도록 하는 소프트 로봇핸드와 제어 소프트웨어를 개발합니다. 초기에는 4지 핸드를 기존 로봇에 부착하여 반복 취급과 제한된 도구 작업을 검증하고, 이를 5지 핸드와 천장 이동형 양팔 로봇 주방으로 확장합니다. Seed 20억원을 통해 24개월 내 제품 성능과 유료 고객의 경제성을 입증하고 반복 판매 기반을 확보하고자 합니다. 투자 조건(형태·기업가치·지분율·라운드)은 입력 필요.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7.jpg"/><Relationship Id="rId7" Type="http://schemas.openxmlformats.org/officeDocument/2006/relationships/image" Target="../media/image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 Id="rId7" Type="http://schemas.openxmlformats.org/officeDocument/2006/relationships/image" Target="../media/image14.jpg"/><Relationship Id="rId8" Type="http://schemas.openxmlformats.org/officeDocument/2006/relationships/image" Target="../media/image15.jpg"/><Relationship Id="rId9" Type="http://schemas.openxmlformats.org/officeDocument/2006/relationships/image" Target="../media/image1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[회사명 입력 필요]</a:t>
            </a:r>
          </a:p>
        </p:txBody>
      </p:sp>
      <p:sp>
        <p:nvSpPr>
          <p:cNvPr id="3" name="TextBox 2"/>
          <p:cNvSpPr txBox="1"/>
          <p:nvPr/>
        </p:nvSpPr>
        <p:spPr>
          <a:xfrm>
            <a:off x="685800" y="1783080"/>
            <a:ext cx="10820095" cy="292608"/>
          </a:xfrm>
          <a:prstGeom prst="rect">
            <a:avLst/>
          </a:prstGeom>
          <a:noFill/>
        </p:spPr>
        <p:txBody>
          <a:bodyPr wrap="square" lIns="0" rIns="0" tIns="0" bIns="0" anchor="t">
            <a:spAutoFit/>
          </a:bodyPr>
          <a:lstStyle/>
          <a:p>
            <a:pPr algn="l">
              <a:lnSpc>
                <a:spcPct val="100000"/>
              </a:lnSpc>
            </a:pPr>
            <a:r>
              <a:rPr sz="1400" b="1">
                <a:solidFill>
                  <a:srgbClr val="4A4F57"/>
                </a:solidFill>
                <a:latin typeface="Noto Sans KR"/>
                <a:ea typeface="Noto Sans KR"/>
                <a:cs typeface="Noto Sans KR"/>
              </a:rPr>
              <a:t>투자유치 사업계획서 (Seed)</a:t>
            </a:r>
          </a:p>
        </p:txBody>
      </p:sp>
      <p:sp>
        <p:nvSpPr>
          <p:cNvPr id="4" name="TextBox 3"/>
          <p:cNvSpPr txBox="1"/>
          <p:nvPr/>
        </p:nvSpPr>
        <p:spPr>
          <a:xfrm>
            <a:off x="685800" y="2240280"/>
            <a:ext cx="10820095" cy="1325880"/>
          </a:xfrm>
          <a:prstGeom prst="rect">
            <a:avLst/>
          </a:prstGeom>
          <a:noFill/>
        </p:spPr>
        <p:txBody>
          <a:bodyPr wrap="square" lIns="0" rIns="0" tIns="0" bIns="0" anchor="t">
            <a:spAutoFit/>
          </a:bodyPr>
          <a:lstStyle/>
          <a:p>
            <a:pPr algn="l">
              <a:lnSpc>
                <a:spcPct val="98000"/>
              </a:lnSpc>
            </a:pPr>
            <a:r>
              <a:rPr sz="3600" b="1">
                <a:solidFill>
                  <a:srgbClr val="15171A"/>
                </a:solidFill>
                <a:latin typeface="Noto Sans KR"/>
                <a:ea typeface="Noto Sans KR"/>
                <a:cs typeface="Noto Sans KR"/>
              </a:rPr>
              <a:t>사람용 도구를 잡고 사용하는</a:t>
            </a:r>
          </a:p>
          <a:p>
            <a:pPr algn="l">
              <a:lnSpc>
                <a:spcPct val="98000"/>
              </a:lnSpc>
            </a:pPr>
            <a:r>
              <a:rPr sz="3600" b="1">
                <a:solidFill>
                  <a:srgbClr val="15171A"/>
                </a:solidFill>
                <a:latin typeface="Noto Sans KR"/>
                <a:ea typeface="Noto Sans KR"/>
                <a:cs typeface="Noto Sans KR"/>
              </a:rPr>
              <a:t>소프트 로봇핸드 개발 및 사업화</a:t>
            </a:r>
          </a:p>
        </p:txBody>
      </p:sp>
      <p:sp>
        <p:nvSpPr>
          <p:cNvPr id="5" name="TextBox 4"/>
          <p:cNvSpPr txBox="1"/>
          <p:nvPr/>
        </p:nvSpPr>
        <p:spPr>
          <a:xfrm>
            <a:off x="685800" y="3639312"/>
            <a:ext cx="10820095" cy="292608"/>
          </a:xfrm>
          <a:prstGeom prst="rect">
            <a:avLst/>
          </a:prstGeom>
          <a:noFill/>
        </p:spPr>
        <p:txBody>
          <a:bodyPr wrap="square" lIns="0" rIns="0" tIns="0" bIns="0" anchor="t">
            <a:spAutoFit/>
          </a:bodyPr>
          <a:lstStyle/>
          <a:p>
            <a:pPr algn="l">
              <a:lnSpc>
                <a:spcPct val="100000"/>
              </a:lnSpc>
            </a:pPr>
            <a:r>
              <a:rPr sz="1500" b="0">
                <a:solidFill>
                  <a:srgbClr val="4A4F57"/>
                </a:solidFill>
                <a:latin typeface="Noto Sans KR"/>
                <a:ea typeface="Noto Sans KR"/>
                <a:cs typeface="Noto Sans KR"/>
              </a:rPr>
              <a:t>4지·5지 소프트 로봇핸드와 도구 사용 제어 소프트웨어, 천장 이동형 양팔 로봇 주방으로 확장</a:t>
            </a:r>
          </a:p>
        </p:txBody>
      </p:sp>
      <p:cxnSp>
        <p:nvCxnSpPr>
          <p:cNvPr id="6" name="Connector 5"/>
          <p:cNvCxnSpPr/>
          <p:nvPr/>
        </p:nvCxnSpPr>
        <p:spPr>
          <a:xfrm>
            <a:off x="685800" y="4434840"/>
            <a:ext cx="10820095" cy="0"/>
          </a:xfrm>
          <a:prstGeom prst="line">
            <a:avLst/>
          </a:prstGeom>
          <a:ln w="12700">
            <a:solidFill>
              <a:srgbClr val="15171A"/>
            </a:solidFill>
          </a:ln>
        </p:spPr>
      </p:cxnSp>
      <p:sp>
        <p:nvSpPr>
          <p:cNvPr id="7" name="TextBox 6"/>
          <p:cNvSpPr txBox="1"/>
          <p:nvPr/>
        </p:nvSpPr>
        <p:spPr>
          <a:xfrm>
            <a:off x="685800" y="4617720"/>
            <a:ext cx="2384983"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투자 유치 금액</a:t>
            </a:r>
          </a:p>
        </p:txBody>
      </p:sp>
      <p:sp>
        <p:nvSpPr>
          <p:cNvPr id="8" name="TextBox 7"/>
          <p:cNvSpPr txBox="1"/>
          <p:nvPr/>
        </p:nvSpPr>
        <p:spPr>
          <a:xfrm>
            <a:off x="685800" y="4892040"/>
            <a:ext cx="2384983" cy="365760"/>
          </a:xfrm>
          <a:prstGeom prst="rect">
            <a:avLst/>
          </a:prstGeom>
          <a:noFill/>
        </p:spPr>
        <p:txBody>
          <a:bodyPr wrap="square" lIns="0" rIns="0" tIns="0" bIns="0" anchor="t">
            <a:spAutoFit/>
          </a:bodyPr>
          <a:lstStyle/>
          <a:p>
            <a:pPr algn="l">
              <a:lnSpc>
                <a:spcPct val="100000"/>
              </a:lnSpc>
            </a:pPr>
            <a:r>
              <a:rPr sz="1700" b="1">
                <a:solidFill>
                  <a:srgbClr val="E2571B"/>
                </a:solidFill>
                <a:latin typeface="Noto Sans KR"/>
                <a:ea typeface="Noto Sans KR"/>
                <a:cs typeface="Noto Sans KR"/>
              </a:rPr>
              <a:t>20억 원 (Seed)</a:t>
            </a:r>
          </a:p>
        </p:txBody>
      </p:sp>
      <p:cxnSp>
        <p:nvCxnSpPr>
          <p:cNvPr id="9" name="Connector 8"/>
          <p:cNvCxnSpPr/>
          <p:nvPr/>
        </p:nvCxnSpPr>
        <p:spPr>
          <a:xfrm>
            <a:off x="3390823" y="4636007"/>
            <a:ext cx="0" cy="640081"/>
          </a:xfrm>
          <a:prstGeom prst="line">
            <a:avLst/>
          </a:prstGeom>
          <a:ln w="9525">
            <a:solidFill>
              <a:srgbClr val="E2E4E7"/>
            </a:solidFill>
          </a:ln>
        </p:spPr>
      </p:cxnSp>
      <p:sp>
        <p:nvSpPr>
          <p:cNvPr id="10" name="TextBox 9"/>
          <p:cNvSpPr txBox="1"/>
          <p:nvPr/>
        </p:nvSpPr>
        <p:spPr>
          <a:xfrm>
            <a:off x="3573703" y="4617720"/>
            <a:ext cx="2384983"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자금 사용 기간</a:t>
            </a:r>
          </a:p>
        </p:txBody>
      </p:sp>
      <p:sp>
        <p:nvSpPr>
          <p:cNvPr id="11" name="TextBox 10"/>
          <p:cNvSpPr txBox="1"/>
          <p:nvPr/>
        </p:nvSpPr>
        <p:spPr>
          <a:xfrm>
            <a:off x="3573703" y="4892040"/>
            <a:ext cx="2384983" cy="365760"/>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24개월</a:t>
            </a:r>
          </a:p>
        </p:txBody>
      </p:sp>
      <p:cxnSp>
        <p:nvCxnSpPr>
          <p:cNvPr id="12" name="Connector 11"/>
          <p:cNvCxnSpPr/>
          <p:nvPr/>
        </p:nvCxnSpPr>
        <p:spPr>
          <a:xfrm>
            <a:off x="6095847" y="4636007"/>
            <a:ext cx="0" cy="640081"/>
          </a:xfrm>
          <a:prstGeom prst="line">
            <a:avLst/>
          </a:prstGeom>
          <a:ln w="9525">
            <a:solidFill>
              <a:srgbClr val="E2E4E7"/>
            </a:solidFill>
          </a:ln>
        </p:spPr>
      </p:cxnSp>
      <p:sp>
        <p:nvSpPr>
          <p:cNvPr id="13" name="TextBox 12"/>
          <p:cNvSpPr txBox="1"/>
          <p:nvPr/>
        </p:nvSpPr>
        <p:spPr>
          <a:xfrm>
            <a:off x="6278727" y="4617720"/>
            <a:ext cx="2384983"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초기 고객</a:t>
            </a:r>
          </a:p>
        </p:txBody>
      </p:sp>
      <p:sp>
        <p:nvSpPr>
          <p:cNvPr id="14" name="TextBox 13"/>
          <p:cNvSpPr txBox="1"/>
          <p:nvPr/>
        </p:nvSpPr>
        <p:spPr>
          <a:xfrm>
            <a:off x="6278727" y="4892040"/>
            <a:ext cx="2384983" cy="365760"/>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로봇 SI·제조기업</a:t>
            </a:r>
          </a:p>
        </p:txBody>
      </p:sp>
      <p:cxnSp>
        <p:nvCxnSpPr>
          <p:cNvPr id="15" name="Connector 14"/>
          <p:cNvCxnSpPr/>
          <p:nvPr/>
        </p:nvCxnSpPr>
        <p:spPr>
          <a:xfrm>
            <a:off x="8800871" y="4636007"/>
            <a:ext cx="0" cy="640081"/>
          </a:xfrm>
          <a:prstGeom prst="line">
            <a:avLst/>
          </a:prstGeom>
          <a:ln w="9525">
            <a:solidFill>
              <a:srgbClr val="E2E4E7"/>
            </a:solidFill>
          </a:ln>
        </p:spPr>
      </p:cxnSp>
      <p:sp>
        <p:nvSpPr>
          <p:cNvPr id="16" name="TextBox 15"/>
          <p:cNvSpPr txBox="1"/>
          <p:nvPr/>
        </p:nvSpPr>
        <p:spPr>
          <a:xfrm>
            <a:off x="8983751" y="4617720"/>
            <a:ext cx="2384983"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작성일</a:t>
            </a:r>
          </a:p>
        </p:txBody>
      </p:sp>
      <p:sp>
        <p:nvSpPr>
          <p:cNvPr id="17" name="TextBox 16"/>
          <p:cNvSpPr txBox="1"/>
          <p:nvPr/>
        </p:nvSpPr>
        <p:spPr>
          <a:xfrm>
            <a:off x="8983751" y="4892040"/>
            <a:ext cx="2384983" cy="365760"/>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2026년 10월 6일</a:t>
            </a:r>
          </a:p>
        </p:txBody>
      </p:sp>
      <p:cxnSp>
        <p:nvCxnSpPr>
          <p:cNvPr id="18" name="Connector 17"/>
          <p:cNvCxnSpPr/>
          <p:nvPr/>
        </p:nvCxnSpPr>
        <p:spPr>
          <a:xfrm>
            <a:off x="685800" y="5486400"/>
            <a:ext cx="10820095" cy="0"/>
          </a:xfrm>
          <a:prstGeom prst="line">
            <a:avLst/>
          </a:prstGeom>
          <a:ln w="9525">
            <a:solidFill>
              <a:srgbClr val="E2E4E7"/>
            </a:solidFill>
          </a:ln>
        </p:spPr>
      </p:cxnSp>
      <p:sp>
        <p:nvSpPr>
          <p:cNvPr id="19" name="TextBox 18"/>
          <p:cNvSpPr txBox="1"/>
          <p:nvPr/>
        </p:nvSpPr>
        <p:spPr>
          <a:xfrm>
            <a:off x="685800" y="6144768"/>
            <a:ext cx="10820095"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대표자 </a:t>
            </a:r>
            <a:r>
              <a:rPr sz="1100" b="0">
                <a:solidFill>
                  <a:srgbClr val="E2571B"/>
                </a:solidFill>
                <a:latin typeface="Noto Sans KR"/>
                <a:ea typeface="Noto Sans KR"/>
                <a:cs typeface="Noto Sans KR"/>
              </a:rPr>
              <a:t>[입력 필요]</a:t>
            </a:r>
            <a:r>
              <a:rPr sz="1100" b="0">
                <a:solidFill>
                  <a:srgbClr val="8C9198"/>
                </a:solidFill>
                <a:latin typeface="Noto Sans KR"/>
                <a:ea typeface="Noto Sans KR"/>
                <a:cs typeface="Noto Sans KR"/>
              </a:rPr>
              <a:t>  ·  이메일·연락처 </a:t>
            </a:r>
            <a:r>
              <a:rPr sz="1100" b="0">
                <a:solidFill>
                  <a:srgbClr val="E2571B"/>
                </a:solidFill>
                <a:latin typeface="Noto Sans KR"/>
                <a:ea typeface="Noto Sans KR"/>
                <a:cs typeface="Noto Sans KR"/>
              </a:rPr>
              <a:t>[입력 필요]</a:t>
            </a:r>
          </a:p>
        </p:txBody>
      </p:sp>
      <p:sp>
        <p:nvSpPr>
          <p:cNvPr id="20" name="TextBox 19"/>
          <p:cNvSpPr txBox="1"/>
          <p:nvPr/>
        </p:nvSpPr>
        <p:spPr>
          <a:xfrm>
            <a:off x="685800" y="6400800"/>
            <a:ext cx="10820095"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본 자료의 가격·사양·일정·시장 산정·매출은 투자 검토용 제안·가정이며 실적이나 확정 수주가 아님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01   투자 제안 요약</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핸드·제어 소프트웨어로 시작해 로봇 주방으로 확장하는 사업</a:t>
            </a:r>
          </a:p>
        </p:txBody>
      </p:sp>
      <p:cxnSp>
        <p:nvCxnSpPr>
          <p:cNvPr id="4" name="Connector 3"/>
          <p:cNvCxnSpPr/>
          <p:nvPr/>
        </p:nvCxnSpPr>
        <p:spPr>
          <a:xfrm>
            <a:off x="685800" y="1243584"/>
            <a:ext cx="10820095" cy="0"/>
          </a:xfrm>
          <a:prstGeom prst="line">
            <a:avLst/>
          </a:prstGeom>
          <a:ln w="12700">
            <a:solidFill>
              <a:srgbClr val="15171A"/>
            </a:solidFill>
          </a:ln>
        </p:spPr>
      </p:cxnSp>
      <p:sp>
        <p:nvSpPr>
          <p:cNvPr id="5" name="TextBox 4"/>
          <p:cNvSpPr txBox="1"/>
          <p:nvPr/>
        </p:nvSpPr>
        <p:spPr>
          <a:xfrm>
            <a:off x="685800" y="1463040"/>
            <a:ext cx="3931920"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회사 현황</a:t>
            </a:r>
          </a:p>
        </p:txBody>
      </p:sp>
      <p:cxnSp>
        <p:nvCxnSpPr>
          <p:cNvPr id="6" name="Connector 5"/>
          <p:cNvCxnSpPr/>
          <p:nvPr/>
        </p:nvCxnSpPr>
        <p:spPr>
          <a:xfrm>
            <a:off x="685800" y="1810512"/>
            <a:ext cx="3931920" cy="0"/>
          </a:xfrm>
          <a:prstGeom prst="line">
            <a:avLst/>
          </a:prstGeom>
          <a:ln w="12700">
            <a:solidFill>
              <a:srgbClr val="15171A"/>
            </a:solidFill>
          </a:ln>
        </p:spPr>
      </p:cxnSp>
      <p:graphicFrame>
        <p:nvGraphicFramePr>
          <p:cNvPr id="7" name="Table 6"/>
          <p:cNvGraphicFramePr>
            <a:graphicFrameLocks noGrp="1"/>
          </p:cNvGraphicFramePr>
          <p:nvPr/>
        </p:nvGraphicFramePr>
        <p:xfrm>
          <a:off x="685800" y="1810512"/>
          <a:ext cx="3931920" cy="3597855"/>
        </p:xfrm>
        <a:graphic>
          <a:graphicData uri="http://schemas.openxmlformats.org/drawingml/2006/table">
            <a:tbl>
              <a:tblPr firstRow="0" bandRow="0">
                <a:tableStyleId>{2D5ABB26-0587-4C30-8999-92F81FD0307C}</a:tableStyleId>
              </a:tblPr>
              <a:tblGrid>
                <a:gridCol w="1051560"/>
                <a:gridCol w="2880360"/>
              </a:tblGrid>
              <a:tr h="348589">
                <a:tc>
                  <a:txBody>
                    <a:bodyPr wrap="square"/>
                    <a:lstStyle/>
                    <a:p>
                      <a:pPr algn="l">
                        <a:lnSpc>
                          <a:spcPct val="100000"/>
                        </a:lnSpc>
                      </a:pPr>
                      <a:r>
                        <a:rPr sz="1100" b="1">
                          <a:solidFill>
                            <a:srgbClr val="15171A"/>
                          </a:solidFill>
                          <a:latin typeface="Noto Sans KR"/>
                          <a:ea typeface="Noto Sans KR"/>
                          <a:cs typeface="Noto Sans KR"/>
                        </a:rPr>
                        <a:t>회사명</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[입력 필요]</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대표자</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[입력 필요]</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설립</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[설립일 또는 예정일 입력 필요]</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소재지</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[입력 필요]</a:t>
                      </a:r>
                    </a:p>
                  </a:txBody>
                  <a:tcPr marL="73152" marR="73152" marT="68580" marB="68580" anchor="t">
                    <a:lnL w="0">
                      <a:noFill/>
                    </a:lnL>
                    <a:lnR w="0">
                      <a:noFill/>
                    </a:lnR>
                    <a:lnT w="0">
                      <a:noFill/>
                    </a:lnT>
                    <a:lnB w="9525">
                      <a:solidFill>
                        <a:srgbClr val="E2E4E7"/>
                      </a:solidFill>
                    </a:lnB>
                    <a:noFill/>
                  </a:tcPr>
                </a:tc>
              </a:tr>
              <a:tr h="753160">
                <a:tc>
                  <a:txBody>
                    <a:bodyPr wrap="square"/>
                    <a:lstStyle/>
                    <a:p>
                      <a:pPr algn="l">
                        <a:lnSpc>
                          <a:spcPct val="100000"/>
                        </a:lnSpc>
                      </a:pPr>
                      <a:r>
                        <a:rPr sz="1100" b="1">
                          <a:solidFill>
                            <a:srgbClr val="15171A"/>
                          </a:solidFill>
                          <a:latin typeface="Noto Sans KR"/>
                          <a:ea typeface="Noto Sans KR"/>
                          <a:cs typeface="Noto Sans KR"/>
                        </a:rPr>
                        <a:t>핵심 인력</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7명 단계 채용 계획</a:t>
                      </a:r>
                    </a:p>
                    <a:p>
                      <a:pPr algn="l">
                        <a:lnSpc>
                          <a:spcPct val="100000"/>
                        </a:lnSpc>
                      </a:pPr>
                      <a:r>
                        <a:rPr sz="1100" b="0">
                          <a:solidFill>
                            <a:srgbClr val="15171A"/>
                          </a:solidFill>
                          <a:latin typeface="Noto Sans KR"/>
                          <a:ea typeface="Noto Sans KR"/>
                          <a:cs typeface="Noto Sans KR"/>
                        </a:rPr>
                        <a:t>(사업·제품 1, 기구/구동 2, 제어 1, AI 2, 통합 1)</a:t>
                      </a:r>
                    </a:p>
                  </a:txBody>
                  <a:tcPr marL="73152" marR="73152" marT="68580" marB="68580" anchor="t">
                    <a:lnL w="0">
                      <a:noFill/>
                    </a:lnL>
                    <a:lnR w="0">
                      <a:noFill/>
                    </a:lnR>
                    <a:lnT w="0">
                      <a:noFill/>
                    </a:lnT>
                    <a:lnB w="9525">
                      <a:solidFill>
                        <a:srgbClr val="E2E4E7"/>
                      </a:solidFill>
                    </a:lnB>
                    <a:noFill/>
                  </a:tcPr>
                </a:tc>
              </a:tr>
              <a:tr h="550875">
                <a:tc>
                  <a:txBody>
                    <a:bodyPr wrap="square"/>
                    <a:lstStyle/>
                    <a:p>
                      <a:pPr algn="l">
                        <a:lnSpc>
                          <a:spcPct val="100000"/>
                        </a:lnSpc>
                      </a:pPr>
                      <a:r>
                        <a:rPr sz="1100" b="1">
                          <a:solidFill>
                            <a:srgbClr val="15171A"/>
                          </a:solidFill>
                          <a:latin typeface="Noto Sans KR"/>
                          <a:ea typeface="Noto Sans KR"/>
                          <a:cs typeface="Noto Sans KR"/>
                        </a:rPr>
                        <a:t>사업 분야</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소프트 로봇핸드, 도구 사용 제어 소프트웨어, 로봇 주방</a:t>
                      </a:r>
                    </a:p>
                  </a:txBody>
                  <a:tcPr marL="73152" marR="73152" marT="68580" marB="68580" anchor="t">
                    <a:lnL w="0">
                      <a:noFill/>
                    </a:lnL>
                    <a:lnR w="0">
                      <a:noFill/>
                    </a:lnR>
                    <a:lnT w="0">
                      <a:noFill/>
                    </a:lnT>
                    <a:lnB w="9525">
                      <a:solidFill>
                        <a:srgbClr val="E2E4E7"/>
                      </a:solidFill>
                    </a:lnB>
                    <a:noFill/>
                  </a:tcPr>
                </a:tc>
              </a:tr>
              <a:tr h="550875">
                <a:tc>
                  <a:txBody>
                    <a:bodyPr wrap="square"/>
                    <a:lstStyle/>
                    <a:p>
                      <a:pPr algn="l">
                        <a:lnSpc>
                          <a:spcPct val="100000"/>
                        </a:lnSpc>
                      </a:pPr>
                      <a:r>
                        <a:rPr sz="1100" b="1">
                          <a:solidFill>
                            <a:srgbClr val="15171A"/>
                          </a:solidFill>
                          <a:latin typeface="Noto Sans KR"/>
                          <a:ea typeface="Noto Sans KR"/>
                          <a:cs typeface="Noto Sans KR"/>
                        </a:rPr>
                        <a:t>개발 단계</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개발 구상·계획 단계, 시제품·시험 데이터 미확인 </a:t>
                      </a:r>
                      <a:r>
                        <a:rPr sz="1100" b="0">
                          <a:solidFill>
                            <a:srgbClr val="E2571B"/>
                          </a:solidFill>
                          <a:latin typeface="Noto Sans KR"/>
                          <a:ea typeface="Noto Sans KR"/>
                          <a:cs typeface="Noto Sans KR"/>
                        </a:rPr>
                        <a:t>[보유 시 입력]</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지식재산</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확인된 출원 없음 </a:t>
                      </a:r>
                      <a:r>
                        <a:rPr sz="1100" b="0">
                          <a:solidFill>
                            <a:srgbClr val="E2571B"/>
                          </a:solidFill>
                          <a:latin typeface="Noto Sans KR"/>
                          <a:ea typeface="Noto Sans KR"/>
                          <a:cs typeface="Noto Sans KR"/>
                        </a:rPr>
                        <a:t>[보유 시 입력]</a:t>
                      </a:r>
                    </a:p>
                  </a:txBody>
                  <a:tcPr marL="73152" marR="73152" marT="68580" marB="68580" anchor="t">
                    <a:lnL w="0">
                      <a:noFill/>
                    </a:lnL>
                    <a:lnR w="0">
                      <a:noFill/>
                    </a:lnR>
                    <a:lnT w="0">
                      <a:noFill/>
                    </a:lnT>
                    <a:lnB w="9525">
                      <a:solidFill>
                        <a:srgbClr val="E2E4E7"/>
                      </a:solidFill>
                    </a:lnB>
                    <a:noFill/>
                  </a:tcPr>
                </a:tc>
              </a:tr>
            </a:tbl>
          </a:graphicData>
        </a:graphic>
      </p:graphicFrame>
      <p:sp>
        <p:nvSpPr>
          <p:cNvPr id="8" name="TextBox 7"/>
          <p:cNvSpPr txBox="1"/>
          <p:nvPr/>
        </p:nvSpPr>
        <p:spPr>
          <a:xfrm>
            <a:off x="5029200" y="1463040"/>
            <a:ext cx="6476695"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사업 요약</a:t>
            </a:r>
          </a:p>
        </p:txBody>
      </p:sp>
      <p:cxnSp>
        <p:nvCxnSpPr>
          <p:cNvPr id="9" name="Connector 8"/>
          <p:cNvCxnSpPr/>
          <p:nvPr/>
        </p:nvCxnSpPr>
        <p:spPr>
          <a:xfrm>
            <a:off x="5029200" y="1810512"/>
            <a:ext cx="6476695" cy="0"/>
          </a:xfrm>
          <a:prstGeom prst="line">
            <a:avLst/>
          </a:prstGeom>
          <a:ln w="12700">
            <a:solidFill>
              <a:srgbClr val="15171A"/>
            </a:solidFill>
          </a:ln>
        </p:spPr>
      </p:cxnSp>
      <p:graphicFrame>
        <p:nvGraphicFramePr>
          <p:cNvPr id="10" name="Table 9"/>
          <p:cNvGraphicFramePr>
            <a:graphicFrameLocks noGrp="1"/>
          </p:cNvGraphicFramePr>
          <p:nvPr/>
        </p:nvGraphicFramePr>
        <p:xfrm>
          <a:off x="5029200" y="1810512"/>
          <a:ext cx="6476695" cy="3597856"/>
        </p:xfrm>
        <a:graphic>
          <a:graphicData uri="http://schemas.openxmlformats.org/drawingml/2006/table">
            <a:tbl>
              <a:tblPr firstRow="0" bandRow="0">
                <a:tableStyleId>{2D5ABB26-0587-4C30-8999-92F81FD0307C}</a:tableStyleId>
              </a:tblPr>
              <a:tblGrid>
                <a:gridCol w="1188720"/>
                <a:gridCol w="5287975"/>
              </a:tblGrid>
              <a:tr h="550875">
                <a:tc>
                  <a:txBody>
                    <a:bodyPr wrap="square"/>
                    <a:lstStyle/>
                    <a:p>
                      <a:pPr algn="l">
                        <a:lnSpc>
                          <a:spcPct val="100000"/>
                        </a:lnSpc>
                      </a:pPr>
                      <a:r>
                        <a:rPr sz="1100" b="1">
                          <a:solidFill>
                            <a:srgbClr val="15171A"/>
                          </a:solidFill>
                          <a:latin typeface="Noto Sans KR"/>
                          <a:ea typeface="Noto Sans KR"/>
                          <a:cs typeface="Noto Sans KR"/>
                        </a:rPr>
                        <a:t>핵심 가치</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도구마다 전용 그리퍼를 바꾸는 부담을 줄이고, 형상이 다른 물체 취급과 도구 사용을 하나의 핸드·제어 플랫폼으로 확대</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초기 제품</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4지 핸드(SoftHand-4), 로봇 장착 어댑터, 비전·촉각 제어 SDK, 제한된 도구 작업 패키지</a:t>
                      </a:r>
                    </a:p>
                  </a:txBody>
                  <a:tcPr marL="73152" marR="73152" marT="68580" marB="68580" anchor="t">
                    <a:lnL w="0">
                      <a:noFill/>
                    </a:lnL>
                    <a:lnR w="0">
                      <a:noFill/>
                    </a:lnR>
                    <a:lnT w="0">
                      <a:noFill/>
                    </a:lnT>
                    <a:lnB w="9525">
                      <a:solidFill>
                        <a:srgbClr val="E2E4E7"/>
                      </a:solidFill>
                    </a:lnB>
                    <a:noFill/>
                  </a:tcPr>
                </a:tc>
              </a:tr>
              <a:tr h="550875">
                <a:tc>
                  <a:txBody>
                    <a:bodyPr wrap="square"/>
                    <a:lstStyle/>
                    <a:p>
                      <a:pPr algn="l">
                        <a:lnSpc>
                          <a:spcPct val="100000"/>
                        </a:lnSpc>
                      </a:pPr>
                      <a:r>
                        <a:rPr sz="1100" b="1">
                          <a:solidFill>
                            <a:srgbClr val="15171A"/>
                          </a:solidFill>
                          <a:latin typeface="Noto Sans KR"/>
                          <a:ea typeface="Noto Sans KR"/>
                          <a:cs typeface="Noto Sans KR"/>
                        </a:rPr>
                        <a:t>초기 고객</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로봇 시스템통합(SI) 업체, 반복 취급 공정 보유 제조기업 → 유료 실증 후 주방 제조사·상업 주방 운영사와 공동 제품화</a:t>
                      </a:r>
                    </a:p>
                  </a:txBody>
                  <a:tcPr marL="73152" marR="73152" marT="68580" marB="68580" anchor="t">
                    <a:lnL w="0">
                      <a:noFill/>
                    </a:lnL>
                    <a:lnR w="0">
                      <a:noFill/>
                    </a:lnR>
                    <a:lnT w="0">
                      <a:noFill/>
                    </a:lnT>
                    <a:lnB w="9525">
                      <a:solidFill>
                        <a:srgbClr val="E2E4E7"/>
                      </a:solidFill>
                    </a:lnB>
                    <a:noFill/>
                  </a:tcPr>
                </a:tc>
              </a:tr>
              <a:tr h="550875">
                <a:tc>
                  <a:txBody>
                    <a:bodyPr wrap="square"/>
                    <a:lstStyle/>
                    <a:p>
                      <a:pPr algn="l">
                        <a:lnSpc>
                          <a:spcPct val="100000"/>
                        </a:lnSpc>
                      </a:pPr>
                      <a:r>
                        <a:rPr sz="1100" b="1">
                          <a:solidFill>
                            <a:srgbClr val="15171A"/>
                          </a:solidFill>
                          <a:latin typeface="Noto Sans KR"/>
                          <a:ea typeface="Noto Sans KR"/>
                          <a:cs typeface="Noto Sans KR"/>
                        </a:rPr>
                        <a:t>확장 제품</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5지 정밀 조작 핸드(SoftHand-5), 천장 이동형 양팔 로봇 주방, 검증된 레시피 실행 소프트웨어</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투자 요청</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E2571B"/>
                          </a:solidFill>
                          <a:latin typeface="Noto Sans KR"/>
                          <a:ea typeface="Noto Sans KR"/>
                          <a:cs typeface="Noto Sans KR"/>
                        </a:rPr>
                        <a:t>Seed 20억 원</a:t>
                      </a:r>
                      <a:r>
                        <a:rPr sz="1100" b="0">
                          <a:solidFill>
                            <a:srgbClr val="15171A"/>
                          </a:solidFill>
                          <a:latin typeface="Noto Sans KR"/>
                          <a:ea typeface="Noto Sans KR"/>
                          <a:cs typeface="Noto Sans KR"/>
                        </a:rPr>
                        <a:t> · 24개월 개발·유료 실증 · 기업가치·지분율 협의</a:t>
                      </a:r>
                    </a:p>
                  </a:txBody>
                  <a:tcPr marL="73152" marR="73152" marT="68580" marB="68580" anchor="t">
                    <a:lnL w="0">
                      <a:noFill/>
                    </a:lnL>
                    <a:lnR w="0">
                      <a:noFill/>
                    </a:lnR>
                    <a:lnT w="0">
                      <a:noFill/>
                    </a:lnT>
                    <a:lnB w="9525">
                      <a:solidFill>
                        <a:srgbClr val="E2E4E7"/>
                      </a:solidFill>
                    </a:lnB>
                    <a:noFill/>
                  </a:tcPr>
                </a:tc>
              </a:tr>
              <a:tr h="550875">
                <a:tc>
                  <a:txBody>
                    <a:bodyPr wrap="square"/>
                    <a:lstStyle/>
                    <a:p>
                      <a:pPr algn="l">
                        <a:lnSpc>
                          <a:spcPct val="100000"/>
                        </a:lnSpc>
                      </a:pPr>
                      <a:r>
                        <a:rPr sz="1100" b="1">
                          <a:solidFill>
                            <a:srgbClr val="15171A"/>
                          </a:solidFill>
                          <a:latin typeface="Noto Sans KR"/>
                          <a:ea typeface="Noto Sans KR"/>
                          <a:cs typeface="Noto Sans KR"/>
                        </a:rPr>
                        <a:t>24개월 목표</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4지 제품 검증, 5지 알파 시제품, 로봇 주방 제한 메뉴 실증</a:t>
                      </a:r>
                    </a:p>
                    <a:p>
                      <a:pPr algn="l">
                        <a:lnSpc>
                          <a:spcPct val="100000"/>
                        </a:lnSpc>
                      </a:pPr>
                      <a:r>
                        <a:rPr sz="1100" b="0">
                          <a:solidFill>
                            <a:srgbClr val="15171A"/>
                          </a:solidFill>
                          <a:latin typeface="Noto Sans KR"/>
                          <a:ea typeface="Noto Sans KR"/>
                          <a:cs typeface="Noto Sans KR"/>
                        </a:rPr>
                        <a:t>유료 실증 5건, 반복 발주 고객 2곳</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5년차 계획</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매출 112억 원, 영업이익 17.55억 원 (핸드 350대·주방 셀 25대, 기준 시나리오·가정)</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후속 투자</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성능 시험·고객 경제성·반복 발주 확인 후 양산·주방 상품화 자금 조달 (18~24개월 시점)</a:t>
                      </a:r>
                    </a:p>
                  </a:txBody>
                  <a:tcPr marL="73152" marR="73152" marT="68580" marB="68580" anchor="t">
                    <a:lnL w="0">
                      <a:noFill/>
                    </a:lnL>
                    <a:lnR w="0">
                      <a:noFill/>
                    </a:lnR>
                    <a:lnT w="0">
                      <a:noFill/>
                    </a:lnT>
                    <a:lnB w="9525">
                      <a:solidFill>
                        <a:srgbClr val="E2E4E7"/>
                      </a:solidFill>
                    </a:lnB>
                    <a:noFill/>
                  </a:tcPr>
                </a:tc>
              </a:tr>
            </a:tbl>
          </a:graphicData>
        </a:graphic>
      </p:graphicFrame>
      <p:sp>
        <p:nvSpPr>
          <p:cNvPr id="11" name="TextBox 1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2" name="TextBox 11"/>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작성 전제: 법인·창업팀·특허·시제품·고객 계약·매출·보유 자금 미확인, 가격·일정·매출은 제안·가정 (부록 A1)</a:t>
            </a:r>
          </a:p>
        </p:txBody>
      </p:sp>
      <p:sp>
        <p:nvSpPr>
          <p:cNvPr id="13" name="TextBox 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02   고객 문제와 사업 기회</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다품종 작업의 그리퍼 교체·재설정 부담과 사람용 도구 조작의 한계</a:t>
            </a:r>
          </a:p>
        </p:txBody>
      </p:sp>
      <p:cxnSp>
        <p:nvCxnSpPr>
          <p:cNvPr id="4" name="Connector 3"/>
          <p:cNvCxnSpPr/>
          <p:nvPr/>
        </p:nvCxnSpPr>
        <p:spPr>
          <a:xfrm>
            <a:off x="685800" y="1243584"/>
            <a:ext cx="10820095" cy="0"/>
          </a:xfrm>
          <a:prstGeom prst="line">
            <a:avLst/>
          </a:prstGeom>
          <a:ln w="12700">
            <a:solidFill>
              <a:srgbClr val="15171A"/>
            </a:solidFill>
          </a:ln>
        </p:spPr>
      </p:cxnSp>
      <p:sp>
        <p:nvSpPr>
          <p:cNvPr id="5" name="TextBox 4"/>
          <p:cNvSpPr txBox="1"/>
          <p:nvPr/>
        </p:nvSpPr>
        <p:spPr>
          <a:xfrm>
            <a:off x="685800" y="1463040"/>
            <a:ext cx="6675120"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고객별 문제와 제공 가치</a:t>
            </a:r>
          </a:p>
        </p:txBody>
      </p:sp>
      <p:graphicFrame>
        <p:nvGraphicFramePr>
          <p:cNvPr id="6" name="Table 5"/>
          <p:cNvGraphicFramePr>
            <a:graphicFrameLocks noGrp="1"/>
          </p:cNvGraphicFramePr>
          <p:nvPr/>
        </p:nvGraphicFramePr>
        <p:xfrm>
          <a:off x="685800" y="1810512"/>
          <a:ext cx="6675120" cy="2506369"/>
        </p:xfrm>
        <a:graphic>
          <a:graphicData uri="http://schemas.openxmlformats.org/drawingml/2006/table">
            <a:tbl>
              <a:tblPr firstRow="0" bandRow="0">
                <a:tableStyleId>{2D5ABB26-0587-4C30-8999-92F81FD0307C}</a:tableStyleId>
              </a:tblPr>
              <a:tblGrid>
                <a:gridCol w="1554480"/>
                <a:gridCol w="2560320"/>
                <a:gridCol w="2560320"/>
              </a:tblGrid>
              <a:tr h="339445">
                <a:tc>
                  <a:txBody>
                    <a:bodyPr wrap="square"/>
                    <a:lstStyle/>
                    <a:p>
                      <a:pPr algn="l">
                        <a:lnSpc>
                          <a:spcPct val="100000"/>
                        </a:lnSpc>
                      </a:pPr>
                      <a:r>
                        <a:rPr sz="1100" b="1">
                          <a:solidFill>
                            <a:srgbClr val="15171A"/>
                          </a:solidFill>
                          <a:latin typeface="Noto Sans KR"/>
                          <a:ea typeface="Noto Sans KR"/>
                          <a:cs typeface="Noto Sans KR"/>
                        </a:rPr>
                        <a:t>고객</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현장 문제</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제공 가치</a:t>
                      </a:r>
                    </a:p>
                  </a:txBody>
                  <a:tcPr marL="73152" marR="73152" marT="64008" marB="64008" anchor="t">
                    <a:lnL w="0">
                      <a:noFill/>
                    </a:lnL>
                    <a:lnR w="0">
                      <a:noFill/>
                    </a:lnR>
                    <a:lnT w="12700">
                      <a:solidFill>
                        <a:srgbClr val="15171A"/>
                      </a:solidFill>
                    </a:lnT>
                    <a:lnB w="9525">
                      <a:solidFill>
                        <a:srgbClr val="15171A"/>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제조업체·로봇 SI</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다품종 작업마다 그리퍼·지그 변경, 작업 전환 시 재설정 부담</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공통 핸드와 작업별 소프트웨어로 교체·재설정 시간 절감</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로봇 OEM·연구기관</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사람용 도구 조작에 필요한 손·센서·제어 통합 부담</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검증된 핸드 모듈과 API, 시험 데이터 제공</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상업 주방 운영사</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반복 취급·투입·정리 업무와 작업자 편차</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정해진 재료·도구·메뉴에서 반복 업무 자동화</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고급 주방 제조사</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기존 주방 설비의 기능 차별화와 신제품 필요</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수납형 로봇 모듈과 조리 소프트웨어 공동 개발</a:t>
                      </a:r>
                    </a:p>
                  </a:txBody>
                  <a:tcPr marL="73152" marR="73152" marT="64008" marB="64008" anchor="t">
                    <a:lnL w="0">
                      <a:noFill/>
                    </a:lnL>
                    <a:lnR w="0">
                      <a:noFill/>
                    </a:lnR>
                    <a:lnT w="0">
                      <a:noFill/>
                    </a:lnT>
                    <a:lnB w="9525">
                      <a:solidFill>
                        <a:srgbClr val="E2E4E7"/>
                      </a:solidFill>
                    </a:lnB>
                    <a:noFill/>
                  </a:tcPr>
                </a:tc>
              </a:tr>
            </a:tbl>
          </a:graphicData>
        </a:graphic>
      </p:graphicFrame>
      <p:sp>
        <p:nvSpPr>
          <p:cNvPr id="7" name="Rectangle 6"/>
          <p:cNvSpPr/>
          <p:nvPr/>
        </p:nvSpPr>
        <p:spPr>
          <a:xfrm>
            <a:off x="685800" y="4591202"/>
            <a:ext cx="6675120" cy="1364081"/>
          </a:xfrm>
          <a:prstGeom prst="rect">
            <a:avLst/>
          </a:prstGeom>
          <a:solidFill>
            <a:srgbClr val="F4F5F6"/>
          </a:solidFill>
          <a:ln>
            <a:noFill/>
          </a:ln>
        </p:spPr>
        <p:txBody>
          <a:bodyPr rtlCol="0" anchor="ctr"/>
          <a:lstStyle/>
          <a:p>
            <a:pPr algn="ctr"/>
          </a:p>
        </p:txBody>
      </p:sp>
      <p:sp>
        <p:nvSpPr>
          <p:cNvPr id="8" name="TextBox 7"/>
          <p:cNvSpPr txBox="1"/>
          <p:nvPr/>
        </p:nvSpPr>
        <p:spPr>
          <a:xfrm>
            <a:off x="886968" y="4755794"/>
            <a:ext cx="6272783" cy="1044041"/>
          </a:xfrm>
          <a:prstGeom prst="rect">
            <a:avLst/>
          </a:prstGeom>
          <a:noFill/>
        </p:spPr>
        <p:txBody>
          <a:bodyPr wrap="square" lIns="0" rIns="0" tIns="0" bIns="0" anchor="t">
            <a:spAutoFit/>
          </a:bodyPr>
          <a:lstStyle/>
          <a:p>
            <a:pPr algn="l">
              <a:lnSpc>
                <a:spcPct val="100000"/>
              </a:lnSpc>
              <a:spcAft>
                <a:spcPts val="400"/>
              </a:spcAft>
            </a:pPr>
            <a:r>
              <a:rPr sz="1200" b="1">
                <a:solidFill>
                  <a:srgbClr val="15171A"/>
                </a:solidFill>
                <a:latin typeface="Noto Sans KR"/>
                <a:ea typeface="Noto Sans KR"/>
                <a:cs typeface="Noto Sans KR"/>
              </a:rPr>
              <a:t>도구를 잡는 것과 사용하는 것의 차이</a:t>
            </a:r>
          </a:p>
          <a:p>
            <a:pPr algn="l">
              <a:lnSpc>
                <a:spcPct val="100000"/>
              </a:lnSpc>
              <a:spcAft>
                <a:spcPts val="400"/>
              </a:spcAft>
            </a:pPr>
            <a:r>
              <a:rPr sz="1150" b="0">
                <a:solidFill>
                  <a:srgbClr val="4A4F57"/>
                </a:solidFill>
                <a:latin typeface="Noto Sans KR"/>
                <a:ea typeface="Noto Sans KR"/>
                <a:cs typeface="Noto Sans KR"/>
              </a:rPr>
              <a:t>손잡이 파지에 더해 작업점 위치, 반력·토크, 미끄러짐, 손목 자세, 작업 완료 판정이 필요</a:t>
            </a:r>
          </a:p>
          <a:p>
            <a:pPr algn="l">
              <a:lnSpc>
                <a:spcPct val="100000"/>
              </a:lnSpc>
              <a:spcAft>
                <a:spcPts val="400"/>
              </a:spcAft>
            </a:pPr>
            <a:r>
              <a:rPr sz="1150" b="0">
                <a:solidFill>
                  <a:srgbClr val="4A4F57"/>
                </a:solidFill>
                <a:latin typeface="Noto Sans KR"/>
                <a:ea typeface="Noto Sans KR"/>
                <a:cs typeface="Noto Sans KR"/>
              </a:rPr>
              <a:t>드라이버 회전 토크, 플라이어 손잡이 개폐, 프라이팬 무게중심 변화는 각각 별도의 동작·힘 제어</a:t>
            </a:r>
          </a:p>
          <a:p>
            <a:pPr algn="l">
              <a:lnSpc>
                <a:spcPct val="100000"/>
              </a:lnSpc>
            </a:pPr>
            <a:r>
              <a:rPr sz="1150" b="1">
                <a:solidFill>
                  <a:srgbClr val="E2571B"/>
                </a:solidFill>
                <a:latin typeface="Noto Sans KR"/>
                <a:ea typeface="Noto Sans KR"/>
                <a:cs typeface="Noto Sans KR"/>
              </a:rPr>
              <a:t>투자 지표  </a:t>
            </a:r>
            <a:r>
              <a:rPr sz="1150" b="0">
                <a:solidFill>
                  <a:srgbClr val="4A4F57"/>
                </a:solidFill>
                <a:latin typeface="Noto Sans KR"/>
                <a:ea typeface="Noto Sans KR"/>
                <a:cs typeface="Noto Sans KR"/>
              </a:rPr>
              <a:t>실제 작업 성공률과 사람 개입 시간 (파지 영상만으로 판단하지 않음)</a:t>
            </a:r>
          </a:p>
        </p:txBody>
      </p:sp>
      <p:sp>
        <p:nvSpPr>
          <p:cNvPr id="9" name="TextBox 8"/>
          <p:cNvSpPr txBox="1"/>
          <p:nvPr/>
        </p:nvSpPr>
        <p:spPr>
          <a:xfrm>
            <a:off x="7818120" y="1463040"/>
            <a:ext cx="3687775"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근거 지표 (공개 자료)</a:t>
            </a:r>
          </a:p>
        </p:txBody>
      </p:sp>
      <p:cxnSp>
        <p:nvCxnSpPr>
          <p:cNvPr id="10" name="Connector 9"/>
          <p:cNvCxnSpPr/>
          <p:nvPr/>
        </p:nvCxnSpPr>
        <p:spPr>
          <a:xfrm>
            <a:off x="7818120" y="1810512"/>
            <a:ext cx="3687775" cy="0"/>
          </a:xfrm>
          <a:prstGeom prst="line">
            <a:avLst/>
          </a:prstGeom>
          <a:ln w="12700">
            <a:solidFill>
              <a:srgbClr val="15171A"/>
            </a:solidFill>
          </a:ln>
        </p:spPr>
      </p:cxnSp>
      <p:sp>
        <p:nvSpPr>
          <p:cNvPr id="11" name="TextBox 10"/>
          <p:cNvSpPr txBox="1"/>
          <p:nvPr/>
        </p:nvSpPr>
        <p:spPr>
          <a:xfrm>
            <a:off x="7818120" y="1920240"/>
            <a:ext cx="1188720" cy="384048"/>
          </a:xfrm>
          <a:prstGeom prst="rect">
            <a:avLst/>
          </a:prstGeom>
          <a:noFill/>
        </p:spPr>
        <p:txBody>
          <a:bodyPr wrap="square" lIns="0" rIns="0" tIns="0" bIns="0" anchor="t">
            <a:spAutoFit/>
          </a:bodyPr>
          <a:lstStyle/>
          <a:p>
            <a:pPr algn="l">
              <a:lnSpc>
                <a:spcPct val="100000"/>
              </a:lnSpc>
            </a:pPr>
            <a:r>
              <a:rPr sz="1900" b="1">
                <a:solidFill>
                  <a:srgbClr val="E2571B"/>
                </a:solidFill>
                <a:latin typeface="Noto Sans KR"/>
                <a:ea typeface="Noto Sans KR"/>
                <a:cs typeface="Noto Sans KR"/>
              </a:rPr>
              <a:t>75%</a:t>
            </a:r>
          </a:p>
        </p:txBody>
      </p:sp>
      <p:sp>
        <p:nvSpPr>
          <p:cNvPr id="12" name="TextBox 11"/>
          <p:cNvSpPr txBox="1"/>
          <p:nvPr/>
        </p:nvSpPr>
        <p:spPr>
          <a:xfrm>
            <a:off x="9052560" y="1920240"/>
            <a:ext cx="2453335"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기존 로봇 도입 총소유비용 중</a:t>
            </a:r>
            <a:br/>
            <a:r>
              <a:rPr sz="1050" b="0">
                <a:solidFill>
                  <a:srgbClr val="4A4F57"/>
                </a:solidFill>
                <a:latin typeface="Noto Sans KR"/>
                <a:ea typeface="Noto Sans KR"/>
                <a:cs typeface="Noto Sans KR"/>
              </a:rPr>
              <a:t>초기 셋업·재설계 비중 (BCG, 2026)</a:t>
            </a:r>
          </a:p>
        </p:txBody>
      </p:sp>
      <p:cxnSp>
        <p:nvCxnSpPr>
          <p:cNvPr id="13" name="Connector 12"/>
          <p:cNvCxnSpPr/>
          <p:nvPr/>
        </p:nvCxnSpPr>
        <p:spPr>
          <a:xfrm>
            <a:off x="7818120" y="2542032"/>
            <a:ext cx="3687775" cy="0"/>
          </a:xfrm>
          <a:prstGeom prst="line">
            <a:avLst/>
          </a:prstGeom>
          <a:ln w="9525">
            <a:solidFill>
              <a:srgbClr val="E2E4E7"/>
            </a:solidFill>
          </a:ln>
        </p:spPr>
      </p:cxnSp>
      <p:sp>
        <p:nvSpPr>
          <p:cNvPr id="14" name="TextBox 13"/>
          <p:cNvSpPr txBox="1"/>
          <p:nvPr/>
        </p:nvSpPr>
        <p:spPr>
          <a:xfrm>
            <a:off x="7818120" y="2651760"/>
            <a:ext cx="1188720" cy="384048"/>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60만 대+</a:t>
            </a:r>
          </a:p>
        </p:txBody>
      </p:sp>
      <p:sp>
        <p:nvSpPr>
          <p:cNvPr id="15" name="TextBox 14"/>
          <p:cNvSpPr txBox="1"/>
          <p:nvPr/>
        </p:nvSpPr>
        <p:spPr>
          <a:xfrm>
            <a:off x="9052560" y="2651760"/>
            <a:ext cx="2453335"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2025년 세계 산업용 로봇 신규 설치</a:t>
            </a:r>
            <a:br/>
            <a:r>
              <a:rPr sz="1050" b="0">
                <a:solidFill>
                  <a:srgbClr val="4A4F57"/>
                </a:solidFill>
                <a:latin typeface="Noto Sans KR"/>
                <a:ea typeface="Noto Sans KR"/>
                <a:cs typeface="Noto Sans KR"/>
              </a:rPr>
              <a:t>(2024년 약 54.2만 대, IFR)</a:t>
            </a:r>
          </a:p>
        </p:txBody>
      </p:sp>
      <p:cxnSp>
        <p:nvCxnSpPr>
          <p:cNvPr id="16" name="Connector 15"/>
          <p:cNvCxnSpPr/>
          <p:nvPr/>
        </p:nvCxnSpPr>
        <p:spPr>
          <a:xfrm>
            <a:off x="7818120" y="3273552"/>
            <a:ext cx="3687775" cy="0"/>
          </a:xfrm>
          <a:prstGeom prst="line">
            <a:avLst/>
          </a:prstGeom>
          <a:ln w="9525">
            <a:solidFill>
              <a:srgbClr val="E2E4E7"/>
            </a:solidFill>
          </a:ln>
        </p:spPr>
      </p:cxnSp>
      <p:sp>
        <p:nvSpPr>
          <p:cNvPr id="17" name="TextBox 16"/>
          <p:cNvSpPr txBox="1"/>
          <p:nvPr/>
        </p:nvSpPr>
        <p:spPr>
          <a:xfrm>
            <a:off x="7818120" y="3383280"/>
            <a:ext cx="1188720" cy="384048"/>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3.0만 대</a:t>
            </a:r>
          </a:p>
        </p:txBody>
      </p:sp>
      <p:sp>
        <p:nvSpPr>
          <p:cNvPr id="18" name="TextBox 17"/>
          <p:cNvSpPr txBox="1"/>
          <p:nvPr/>
        </p:nvSpPr>
        <p:spPr>
          <a:xfrm>
            <a:off x="9052560" y="3383280"/>
            <a:ext cx="2453335"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2025년 국내 산업용 로봇 신규 설치</a:t>
            </a:r>
            <a:br/>
            <a:r>
              <a:rPr sz="1050" b="0">
                <a:solidFill>
                  <a:srgbClr val="4A4F57"/>
                </a:solidFill>
                <a:latin typeface="Noto Sans KR"/>
                <a:ea typeface="Noto Sans KR"/>
                <a:cs typeface="Noto Sans KR"/>
              </a:rPr>
              <a:t>세계 4위 시장 (IFR)</a:t>
            </a:r>
          </a:p>
        </p:txBody>
      </p:sp>
      <p:cxnSp>
        <p:nvCxnSpPr>
          <p:cNvPr id="19" name="Connector 18"/>
          <p:cNvCxnSpPr/>
          <p:nvPr/>
        </p:nvCxnSpPr>
        <p:spPr>
          <a:xfrm>
            <a:off x="7818120" y="4005072"/>
            <a:ext cx="3687775" cy="0"/>
          </a:xfrm>
          <a:prstGeom prst="line">
            <a:avLst/>
          </a:prstGeom>
          <a:ln w="9525">
            <a:solidFill>
              <a:srgbClr val="E2E4E7"/>
            </a:solidFill>
          </a:ln>
        </p:spPr>
      </p:cxnSp>
      <p:sp>
        <p:nvSpPr>
          <p:cNvPr id="20" name="TextBox 19"/>
          <p:cNvSpPr txBox="1"/>
          <p:nvPr/>
        </p:nvSpPr>
        <p:spPr>
          <a:xfrm>
            <a:off x="7818120" y="4114800"/>
            <a:ext cx="1188720" cy="384048"/>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1,220대</a:t>
            </a:r>
          </a:p>
        </p:txBody>
      </p:sp>
      <p:sp>
        <p:nvSpPr>
          <p:cNvPr id="21" name="TextBox 20"/>
          <p:cNvSpPr txBox="1"/>
          <p:nvPr/>
        </p:nvSpPr>
        <p:spPr>
          <a:xfrm>
            <a:off x="9052560" y="4114800"/>
            <a:ext cx="2453335"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한국 제조업 근로자 1만 명당 로봇 수</a:t>
            </a:r>
            <a:br/>
            <a:r>
              <a:rPr sz="1050" b="0">
                <a:solidFill>
                  <a:srgbClr val="4A4F57"/>
                </a:solidFill>
                <a:latin typeface="Noto Sans KR"/>
                <a:ea typeface="Noto Sans KR"/>
                <a:cs typeface="Noto Sans KR"/>
              </a:rPr>
              <a:t>세계 1위 (IFR, 2026)</a:t>
            </a:r>
          </a:p>
        </p:txBody>
      </p:sp>
      <p:cxnSp>
        <p:nvCxnSpPr>
          <p:cNvPr id="22" name="Connector 21"/>
          <p:cNvCxnSpPr/>
          <p:nvPr/>
        </p:nvCxnSpPr>
        <p:spPr>
          <a:xfrm>
            <a:off x="7818120" y="4736592"/>
            <a:ext cx="3687775" cy="0"/>
          </a:xfrm>
          <a:prstGeom prst="line">
            <a:avLst/>
          </a:prstGeom>
          <a:ln w="9525">
            <a:solidFill>
              <a:srgbClr val="E2E4E7"/>
            </a:solidFill>
          </a:ln>
        </p:spPr>
      </p:cxnSp>
      <p:sp>
        <p:nvSpPr>
          <p:cNvPr id="23" name="TextBox 22"/>
          <p:cNvSpPr txBox="1"/>
          <p:nvPr/>
        </p:nvSpPr>
        <p:spPr>
          <a:xfrm>
            <a:off x="7818120" y="4846320"/>
            <a:ext cx="3687775" cy="457200"/>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설치 기반을 보여주는 참고 지표, 당사 시장 규모와 다름</a:t>
            </a:r>
          </a:p>
          <a:p>
            <a:pPr algn="l">
              <a:lnSpc>
                <a:spcPct val="100000"/>
              </a:lnSpc>
            </a:pPr>
            <a:r>
              <a:rPr sz="1000" b="0">
                <a:solidFill>
                  <a:srgbClr val="8C9198"/>
                </a:solidFill>
                <a:latin typeface="Noto Sans KR"/>
                <a:ea typeface="Noto Sans KR"/>
                <a:cs typeface="Noto Sans KR"/>
              </a:rPr>
              <a:t>시장 규모는 10장에서 상향식으로 산정</a:t>
            </a:r>
          </a:p>
        </p:txBody>
      </p:sp>
      <p:sp>
        <p:nvSpPr>
          <p:cNvPr id="24" name="TextBox 2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25" name="TextBox 2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출처: BCG(2026.4), IFR World Robotics 2025·2026 · 부록 A9·A15</a:t>
            </a:r>
          </a:p>
        </p:txBody>
      </p:sp>
      <p:sp>
        <p:nvSpPr>
          <p:cNvPr id="26" name="TextBox 2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03   제품 구성과 사업 범위</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초기 제품은 4지 핸드와 제어 SDK, 5지 핸드와 로봇 주방은 확장 제품</a:t>
            </a:r>
          </a:p>
        </p:txBody>
      </p:sp>
      <p:cxnSp>
        <p:nvCxnSpPr>
          <p:cNvPr id="4" name="Connector 3"/>
          <p:cNvCxnSpPr/>
          <p:nvPr/>
        </p:nvCxnSpPr>
        <p:spPr>
          <a:xfrm>
            <a:off x="685800" y="1243584"/>
            <a:ext cx="10820095" cy="0"/>
          </a:xfrm>
          <a:prstGeom prst="line">
            <a:avLst/>
          </a:prstGeom>
          <a:ln w="12700">
            <a:solidFill>
              <a:srgbClr val="15171A"/>
            </a:solidFill>
          </a:ln>
        </p:spPr>
      </p:cxnSp>
      <p:sp>
        <p:nvSpPr>
          <p:cNvPr id="5" name="Rectangle 4"/>
          <p:cNvSpPr/>
          <p:nvPr/>
        </p:nvSpPr>
        <p:spPr>
          <a:xfrm>
            <a:off x="685800" y="1463040"/>
            <a:ext cx="2011680" cy="2514600"/>
          </a:xfrm>
          <a:prstGeom prst="rect">
            <a:avLst/>
          </a:prstGeom>
          <a:solidFill>
            <a:srgbClr val="EEF0F2"/>
          </a:solidFill>
          <a:ln>
            <a:noFill/>
          </a:ln>
        </p:spPr>
        <p:txBody>
          <a:bodyPr rtlCol="0" anchor="ctr"/>
          <a:lstStyle/>
          <a:p>
            <a:pPr algn="ctr"/>
          </a:p>
        </p:txBody>
      </p:sp>
      <p:pic>
        <p:nvPicPr>
          <p:cNvPr id="6" name="Picture 5" descr="product.png"/>
          <p:cNvPicPr>
            <a:picLocks noChangeAspect="1"/>
          </p:cNvPicPr>
          <p:nvPr/>
        </p:nvPicPr>
        <p:blipFill>
          <a:blip r:embed="rId2"/>
          <a:stretch>
            <a:fillRect/>
          </a:stretch>
        </p:blipFill>
        <p:spPr>
          <a:xfrm>
            <a:off x="1182864" y="1572768"/>
            <a:ext cx="1017551" cy="2295144"/>
          </a:xfrm>
          <a:prstGeom prst="rect">
            <a:avLst/>
          </a:prstGeom>
        </p:spPr>
      </p:pic>
      <p:graphicFrame>
        <p:nvGraphicFramePr>
          <p:cNvPr id="7" name="Table 6"/>
          <p:cNvGraphicFramePr>
            <a:graphicFrameLocks noGrp="1"/>
          </p:cNvGraphicFramePr>
          <p:nvPr/>
        </p:nvGraphicFramePr>
        <p:xfrm>
          <a:off x="3017520" y="1463040"/>
          <a:ext cx="8488375" cy="2506369"/>
        </p:xfrm>
        <a:graphic>
          <a:graphicData uri="http://schemas.openxmlformats.org/drawingml/2006/table">
            <a:tbl>
              <a:tblPr firstRow="0" bandRow="0">
                <a:tableStyleId>{2D5ABB26-0587-4C30-8999-92F81FD0307C}</a:tableStyleId>
              </a:tblPr>
              <a:tblGrid>
                <a:gridCol w="1463040"/>
                <a:gridCol w="3520440"/>
                <a:gridCol w="2103120"/>
                <a:gridCol w="1401775"/>
              </a:tblGrid>
              <a:tr h="339445">
                <a:tc>
                  <a:txBody>
                    <a:bodyPr wrap="square"/>
                    <a:lstStyle/>
                    <a:p>
                      <a:pPr algn="l">
                        <a:lnSpc>
                          <a:spcPct val="100000"/>
                        </a:lnSpc>
                      </a:pPr>
                      <a:r>
                        <a:rPr sz="1100" b="1">
                          <a:solidFill>
                            <a:srgbClr val="15171A"/>
                          </a:solidFill>
                          <a:latin typeface="Noto Sans KR"/>
                          <a:ea typeface="Noto Sans KR"/>
                          <a:cs typeface="Noto Sans KR"/>
                        </a:rPr>
                        <a:t>제품 (가칭)</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핵심 구성</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초기 구매자 · 수익</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사업 단계</a:t>
                      </a:r>
                    </a:p>
                  </a:txBody>
                  <a:tcPr marL="73152" marR="73152" marT="64008" marB="64008" anchor="t">
                    <a:lnL w="0">
                      <a:noFill/>
                    </a:lnL>
                    <a:lnR w="0">
                      <a:noFill/>
                    </a:lnR>
                    <a:lnT w="12700">
                      <a:solidFill>
                        <a:srgbClr val="15171A"/>
                      </a:solidFill>
                    </a:lnT>
                    <a:lnB w="9525">
                      <a:solidFill>
                        <a:srgbClr val="15171A"/>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SoftHand-4</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엄지 대향 기능을 포함한 4지 구조, 교체형 접촉 패드, 촉각·힘 제어, 로봇 장착 어댑터</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로봇 SI·제조업체</a:t>
                      </a:r>
                    </a:p>
                    <a:p>
                      <a:pPr algn="l">
                        <a:lnSpc>
                          <a:spcPct val="100000"/>
                        </a:lnSpc>
                      </a:pPr>
                      <a:r>
                        <a:rPr sz="1100" b="0">
                          <a:solidFill>
                            <a:srgbClr val="15171A"/>
                          </a:solidFill>
                          <a:latin typeface="Noto Sans KR"/>
                          <a:ea typeface="Noto Sans KR"/>
                          <a:cs typeface="Noto Sans KR"/>
                        </a:rPr>
                        <a:t>핸드 판매·설치비</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E2571B"/>
                          </a:solidFill>
                          <a:latin typeface="Noto Sans KR"/>
                          <a:ea typeface="Noto Sans KR"/>
                          <a:cs typeface="Noto Sans KR"/>
                        </a:rPr>
                        <a:t>초기 제품</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ToolSkill SDK</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도구·손잡이 인식, 파지 계획, 힘·토크 제한, 실패 복구, 로그, 제한된 도구 작업 패키지</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OEM·SI</a:t>
                      </a:r>
                    </a:p>
                    <a:p>
                      <a:pPr algn="l">
                        <a:lnSpc>
                          <a:spcPct val="100000"/>
                        </a:lnSpc>
                      </a:pPr>
                      <a:r>
                        <a:rPr sz="1100" b="0">
                          <a:solidFill>
                            <a:srgbClr val="15171A"/>
                          </a:solidFill>
                          <a:latin typeface="Noto Sans KR"/>
                          <a:ea typeface="Noto Sans KR"/>
                          <a:cs typeface="Noto Sans KR"/>
                        </a:rPr>
                        <a:t>연간 소프트웨어·지원 계약</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E2571B"/>
                          </a:solidFill>
                          <a:latin typeface="Noto Sans KR"/>
                          <a:ea typeface="Noto Sans KR"/>
                          <a:cs typeface="Noto Sans KR"/>
                        </a:rPr>
                        <a:t>초기 제품</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SoftHand-5</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5지 구조, 선택 관절 독립 구동, 양손 협조와 세밀한 조작</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로봇 OEM·고급 조작 수요</a:t>
                      </a:r>
                    </a:p>
                    <a:p>
                      <a:pPr algn="l">
                        <a:lnSpc>
                          <a:spcPct val="100000"/>
                        </a:lnSpc>
                      </a:pPr>
                      <a:r>
                        <a:rPr sz="1100" b="0">
                          <a:solidFill>
                            <a:srgbClr val="15171A"/>
                          </a:solidFill>
                          <a:latin typeface="Noto Sans KR"/>
                          <a:ea typeface="Noto Sans KR"/>
                          <a:cs typeface="Noto Sans KR"/>
                        </a:rPr>
                        <a:t>핸드·개발 키트</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확장</a:t>
                      </a:r>
                    </a:p>
                    <a:p>
                      <a:pPr algn="l">
                        <a:lnSpc>
                          <a:spcPct val="100000"/>
                        </a:lnSpc>
                      </a:pPr>
                      <a:r>
                        <a:rPr sz="1100" b="0">
                          <a:solidFill>
                            <a:srgbClr val="15171A"/>
                          </a:solidFill>
                          <a:latin typeface="Noto Sans KR"/>
                          <a:ea typeface="Noto Sans KR"/>
                          <a:cs typeface="Noto Sans KR"/>
                        </a:rPr>
                        <a:t>(24개월 알파)</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Ceiling Kitchen</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LM 이동축, 역설치 양팔 로봇, 핸드, 센서, 인덕션·세척·수납 연동</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주방 제조사·상업 주방</a:t>
                      </a:r>
                    </a:p>
                    <a:p>
                      <a:pPr algn="l">
                        <a:lnSpc>
                          <a:spcPct val="100000"/>
                        </a:lnSpc>
                      </a:pPr>
                      <a:r>
                        <a:rPr sz="1100" b="0">
                          <a:solidFill>
                            <a:srgbClr val="15171A"/>
                          </a:solidFill>
                          <a:latin typeface="Noto Sans KR"/>
                          <a:ea typeface="Noto Sans KR"/>
                          <a:cs typeface="Noto Sans KR"/>
                        </a:rPr>
                        <a:t>공동개발·시스템 판매</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확장</a:t>
                      </a:r>
                    </a:p>
                    <a:p>
                      <a:pPr algn="l">
                        <a:lnSpc>
                          <a:spcPct val="100000"/>
                        </a:lnSpc>
                      </a:pPr>
                      <a:r>
                        <a:rPr sz="1100" b="0">
                          <a:solidFill>
                            <a:srgbClr val="15171A"/>
                          </a:solidFill>
                          <a:latin typeface="Noto Sans KR"/>
                          <a:ea typeface="Noto Sans KR"/>
                          <a:cs typeface="Noto Sans KR"/>
                        </a:rPr>
                        <a:t>(3년차~ 판매)</a:t>
                      </a:r>
                    </a:p>
                  </a:txBody>
                  <a:tcPr marL="73152" marR="73152" marT="64008" marB="64008" anchor="t">
                    <a:lnL w="0">
                      <a:noFill/>
                    </a:lnL>
                    <a:lnR w="0">
                      <a:noFill/>
                    </a:lnR>
                    <a:lnT w="0">
                      <a:noFill/>
                    </a:lnT>
                    <a:lnB w="9525">
                      <a:solidFill>
                        <a:srgbClr val="E2E4E7"/>
                      </a:solidFill>
                    </a:lnB>
                    <a:noFill/>
                  </a:tcPr>
                </a:tc>
              </a:tr>
            </a:tbl>
          </a:graphicData>
        </a:graphic>
      </p:graphicFrame>
      <p:sp>
        <p:nvSpPr>
          <p:cNvPr id="8" name="TextBox 7"/>
          <p:cNvSpPr txBox="1"/>
          <p:nvPr/>
        </p:nvSpPr>
        <p:spPr>
          <a:xfrm>
            <a:off x="685800" y="4233672"/>
            <a:ext cx="10820095"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작업군별 개발 순서 (승인된 도구 모델부터 등록, 손잡이 위치·허용 하중 관리)</a:t>
            </a:r>
          </a:p>
        </p:txBody>
      </p:sp>
      <p:graphicFrame>
        <p:nvGraphicFramePr>
          <p:cNvPr id="9" name="Table 8"/>
          <p:cNvGraphicFramePr>
            <a:graphicFrameLocks noGrp="1"/>
          </p:cNvGraphicFramePr>
          <p:nvPr/>
        </p:nvGraphicFramePr>
        <p:xfrm>
          <a:off x="685800" y="4581144"/>
          <a:ext cx="10820094" cy="1331264"/>
        </p:xfrm>
        <a:graphic>
          <a:graphicData uri="http://schemas.openxmlformats.org/drawingml/2006/table">
            <a:tbl>
              <a:tblPr firstRow="0" bandRow="0">
                <a:tableStyleId>{2D5ABB26-0587-4C30-8999-92F81FD0307C}</a:tableStyleId>
              </a:tblPr>
              <a:tblGrid>
                <a:gridCol w="1803349"/>
                <a:gridCol w="1803349"/>
                <a:gridCol w="1803349"/>
                <a:gridCol w="1803349"/>
                <a:gridCol w="1803349"/>
                <a:gridCol w="1803349"/>
              </a:tblGrid>
              <a:tr h="321157">
                <a:tc>
                  <a:txBody>
                    <a:bodyPr wrap="square"/>
                    <a:lstStyle/>
                    <a:p>
                      <a:pPr algn="l">
                        <a:lnSpc>
                          <a:spcPct val="100000"/>
                        </a:lnSpc>
                      </a:pPr>
                      <a:r>
                        <a:rPr sz="1100" b="1">
                          <a:solidFill>
                            <a:srgbClr val="E2571B"/>
                          </a:solidFill>
                          <a:latin typeface="Noto Sans KR"/>
                          <a:ea typeface="Noto Sans KR"/>
                          <a:cs typeface="Noto Sans KR"/>
                        </a:rPr>
                        <a:t>1단계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E2571B"/>
                          </a:solidFill>
                          <a:latin typeface="Noto Sans KR"/>
                          <a:ea typeface="Noto Sans KR"/>
                          <a:cs typeface="Noto Sans KR"/>
                        </a:rPr>
                        <a:t>2단계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E2571B"/>
                          </a:solidFill>
                          <a:latin typeface="Noto Sans KR"/>
                          <a:ea typeface="Noto Sans KR"/>
                          <a:cs typeface="Noto Sans KR"/>
                        </a:rPr>
                        <a:t>2~3단계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E2571B"/>
                          </a:solidFill>
                          <a:latin typeface="Noto Sans KR"/>
                          <a:ea typeface="Noto Sans KR"/>
                          <a:cs typeface="Noto Sans KR"/>
                        </a:rPr>
                        <a:t>3단계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E2571B"/>
                          </a:solidFill>
                          <a:latin typeface="Noto Sans KR"/>
                          <a:ea typeface="Noto Sans KR"/>
                          <a:cs typeface="Noto Sans KR"/>
                        </a:rPr>
                        <a:t>후속 단계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E2571B"/>
                          </a:solidFill>
                          <a:latin typeface="Noto Sans KR"/>
                          <a:ea typeface="Noto Sans KR"/>
                          <a:cs typeface="Noto Sans KR"/>
                        </a:rPr>
                        <a:t>병행 기술개발</a:t>
                      </a:r>
                    </a:p>
                  </a:txBody>
                  <a:tcPr marL="73152" marR="73152" marT="54864" marB="54864" anchor="t">
                    <a:lnL w="0">
                      <a:noFill/>
                    </a:lnL>
                    <a:lnR w="0">
                      <a:noFill/>
                    </a:lnR>
                    <a:lnT w="12700">
                      <a:solidFill>
                        <a:srgbClr val="15171A"/>
                      </a:solidFill>
                    </a:lnT>
                    <a:lnB w="9525">
                      <a:solidFill>
                        <a:srgbClr val="15171A"/>
                      </a:solidFill>
                    </a:lnB>
                    <a:noFill/>
                  </a:tcPr>
                </a:tc>
              </a:tr>
              <a:tr h="523443">
                <a:tc>
                  <a:txBody>
                    <a:bodyPr wrap="square"/>
                    <a:lstStyle/>
                    <a:p>
                      <a:pPr algn="l">
                        <a:lnSpc>
                          <a:spcPct val="100000"/>
                        </a:lnSpc>
                      </a:pPr>
                      <a:r>
                        <a:rPr sz="1100" b="1">
                          <a:solidFill>
                            <a:srgbClr val="15171A"/>
                          </a:solidFill>
                          <a:latin typeface="Noto Sans KR"/>
                          <a:ea typeface="Noto Sans KR"/>
                          <a:cs typeface="Noto Sans KR"/>
                        </a:rPr>
                        <a:t>식기·용기 정렬·적층</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15171A"/>
                          </a:solidFill>
                          <a:latin typeface="Noto Sans KR"/>
                          <a:ea typeface="Noto Sans KR"/>
                          <a:cs typeface="Noto Sans KR"/>
                        </a:rPr>
                        <a:t>드라이버·스패너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15171A"/>
                          </a:solidFill>
                          <a:latin typeface="Noto Sans KR"/>
                          <a:ea typeface="Noto Sans KR"/>
                          <a:cs typeface="Noto Sans KR"/>
                        </a:rPr>
                        <a:t>플라이어·집게</a:t>
                      </a:r>
                    </a:p>
                    <a:p>
                      <a:pPr algn="l">
                        <a:lnSpc>
                          <a:spcPct val="100000"/>
                        </a:lnSpc>
                      </a:pPr>
                      <a:r>
                        <a:rPr sz="1100" b="1">
                          <a:solidFill>
                            <a:srgbClr val="15171A"/>
                          </a:solidFill>
                          <a:latin typeface="Noto Sans KR"/>
                          <a:ea typeface="Noto Sans KR"/>
                          <a:cs typeface="Noto Sans KR"/>
                        </a:rPr>
                        <a:t>프라이팬·냄비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15171A"/>
                          </a:solidFill>
                          <a:latin typeface="Noto Sans KR"/>
                          <a:ea typeface="Noto Sans KR"/>
                          <a:cs typeface="Noto Sans KR"/>
                        </a:rPr>
                        <a:t>오븐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15171A"/>
                          </a:solidFill>
                          <a:latin typeface="Noto Sans KR"/>
                          <a:ea typeface="Noto Sans KR"/>
                          <a:cs typeface="Noto Sans KR"/>
                        </a:rPr>
                        <a:t>나이프·해머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15171A"/>
                          </a:solidFill>
                          <a:latin typeface="Noto Sans KR"/>
                          <a:ea typeface="Noto Sans KR"/>
                          <a:cs typeface="Noto Sans KR"/>
                        </a:rPr>
                        <a:t>동적 물체·유연체</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4A4F57"/>
                          </a:solidFill>
                          <a:latin typeface="Noto Sans KR"/>
                          <a:ea typeface="Noto Sans KR"/>
                          <a:cs typeface="Noto Sans KR"/>
                        </a:rPr>
                        <a:t>파손·끼임 방지, 젖은 표면 미끄러짐, 적층 안정성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4A4F57"/>
                          </a:solidFill>
                          <a:latin typeface="Noto Sans KR"/>
                          <a:ea typeface="Noto Sans KR"/>
                          <a:cs typeface="Noto Sans KR"/>
                        </a:rPr>
                        <a:t>저토크 작업부터, 반력·토크 검증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4A4F57"/>
                          </a:solidFill>
                          <a:latin typeface="Noto Sans KR"/>
                          <a:ea typeface="Noto Sans KR"/>
                          <a:cs typeface="Noto Sans KR"/>
                        </a:rPr>
                        <a:t>손잡이 유지 개폐, 내용물 질량·모멘트, 양손 분담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4A4F57"/>
                          </a:solidFill>
                          <a:latin typeface="Noto Sans KR"/>
                          <a:ea typeface="Noto Sans KR"/>
                          <a:cs typeface="Noto Sans KR"/>
                        </a:rPr>
                        <a:t>문·손잡이 조작, 트레이 취급, 열·끼임 관리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4A4F57"/>
                          </a:solidFill>
                          <a:latin typeface="Noto Sans KR"/>
                          <a:ea typeface="Noto Sans KR"/>
                          <a:cs typeface="Noto Sans KR"/>
                        </a:rPr>
                        <a:t>절단·충격 특성, 파지 이탈 검증 후 제한 작업</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4A4F57"/>
                          </a:solidFill>
                          <a:latin typeface="Noto Sans KR"/>
                          <a:ea typeface="Noto Sans KR"/>
                          <a:cs typeface="Noto Sans KR"/>
                        </a:rPr>
                        <a:t>속도·형상 변화·가림 조건별 분리 평가</a:t>
                      </a:r>
                    </a:p>
                  </a:txBody>
                  <a:tcPr marL="73152" marR="73152" marT="54864" marB="54864" anchor="t">
                    <a:lnL w="0">
                      <a:noFill/>
                    </a:lnL>
                    <a:lnR w="0">
                      <a:noFill/>
                    </a:lnR>
                    <a:lnT w="0">
                      <a:noFill/>
                    </a:lnT>
                    <a:lnB w="9525">
                      <a:solidFill>
                        <a:srgbClr val="E2E4E7"/>
                      </a:solidFill>
                    </a:lnB>
                    <a:noFill/>
                  </a:tcPr>
                </a:tc>
              </a:tr>
            </a:tbl>
          </a:graphicData>
        </a:graphic>
      </p:graphicFrame>
      <p:sp>
        <p:nvSpPr>
          <p:cNvPr id="10" name="TextBox 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1" name="TextBox 10"/>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제조용·주방용 접촉부는 분리, 공통 제어기·통신·손목 장착 구조는 유지 · 이미지는 콘셉트 렌더링 · 상세 부록 A2</a:t>
            </a:r>
          </a:p>
        </p:txBody>
      </p:sp>
      <p:sp>
        <p:nvSpPr>
          <p:cNvPr id="12" name="TextBox 11"/>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04   소프트 핸드 핵심 기술</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소프트 접촉면과 하중 지지 골격을 결합한 하이브리드 핸드</a:t>
            </a:r>
          </a:p>
        </p:txBody>
      </p:sp>
      <p:sp>
        <p:nvSpPr>
          <p:cNvPr id="4" name="TextBox 3"/>
          <p:cNvSpPr txBox="1"/>
          <p:nvPr/>
        </p:nvSpPr>
        <p:spPr>
          <a:xfrm>
            <a:off x="685800" y="1243584"/>
            <a:ext cx="10820095" cy="25603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도구를 감싸는 순응성과 작업 반력을 견디는 강성을 함께 확보 · 구동 방식은 3개월 내 비교 시험으로 결정</a:t>
            </a:r>
          </a:p>
        </p:txBody>
      </p:sp>
      <p:cxnSp>
        <p:nvCxnSpPr>
          <p:cNvPr id="5" name="Connector 4"/>
          <p:cNvCxnSpPr/>
          <p:nvPr/>
        </p:nvCxnSpPr>
        <p:spPr>
          <a:xfrm>
            <a:off x="685800" y="1591056"/>
            <a:ext cx="10820095" cy="0"/>
          </a:xfrm>
          <a:prstGeom prst="line">
            <a:avLst/>
          </a:prstGeom>
          <a:ln w="12700">
            <a:solidFill>
              <a:srgbClr val="15171A"/>
            </a:solidFill>
          </a:ln>
        </p:spPr>
      </p:cxnSp>
      <p:graphicFrame>
        <p:nvGraphicFramePr>
          <p:cNvPr id="6" name="Table 5"/>
          <p:cNvGraphicFramePr>
            <a:graphicFrameLocks noGrp="1"/>
          </p:cNvGraphicFramePr>
          <p:nvPr/>
        </p:nvGraphicFramePr>
        <p:xfrm>
          <a:off x="685800" y="1810512"/>
          <a:ext cx="6766560" cy="2550970"/>
        </p:xfrm>
        <a:graphic>
          <a:graphicData uri="http://schemas.openxmlformats.org/drawingml/2006/table">
            <a:tbl>
              <a:tblPr firstRow="0" bandRow="0">
                <a:tableStyleId>{2D5ABB26-0587-4C30-8999-92F81FD0307C}</a:tableStyleId>
              </a:tblPr>
              <a:tblGrid>
                <a:gridCol w="1234440"/>
                <a:gridCol w="2971800"/>
                <a:gridCol w="2560320"/>
              </a:tblGrid>
              <a:tr h="357733">
                <a:tc>
                  <a:txBody>
                    <a:bodyPr wrap="square"/>
                    <a:lstStyle/>
                    <a:p>
                      <a:pPr algn="l">
                        <a:lnSpc>
                          <a:spcPct val="100000"/>
                        </a:lnSpc>
                      </a:pPr>
                      <a:r>
                        <a:rPr sz="1100" b="1">
                          <a:solidFill>
                            <a:srgbClr val="15171A"/>
                          </a:solidFill>
                          <a:latin typeface="Noto Sans KR"/>
                          <a:ea typeface="Noto Sans KR"/>
                          <a:cs typeface="Noto Sans KR"/>
                        </a:rPr>
                        <a:t>기술 요소</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개발 내용</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검증 기준</a:t>
                      </a:r>
                    </a:p>
                  </a:txBody>
                  <a:tcPr marL="73152" marR="73152" marT="73152" marB="73152" anchor="t">
                    <a:lnL w="0">
                      <a:noFill/>
                    </a:lnL>
                    <a:lnR w="0">
                      <a:noFill/>
                    </a:lnR>
                    <a:lnT w="12700">
                      <a:solidFill>
                        <a:srgbClr val="15171A"/>
                      </a:solidFill>
                    </a:lnT>
                    <a:lnB w="9525">
                      <a:solidFill>
                        <a:srgbClr val="15171A"/>
                      </a:solidFill>
                    </a:lnB>
                    <a:noFill/>
                  </a:tcPr>
                </a:tc>
              </a:tr>
              <a:tr h="560019">
                <a:tc>
                  <a:txBody>
                    <a:bodyPr wrap="square"/>
                    <a:lstStyle/>
                    <a:p>
                      <a:pPr algn="l">
                        <a:lnSpc>
                          <a:spcPct val="100000"/>
                        </a:lnSpc>
                      </a:pPr>
                      <a:r>
                        <a:rPr sz="1100" b="1">
                          <a:solidFill>
                            <a:srgbClr val="15171A"/>
                          </a:solidFill>
                          <a:latin typeface="Noto Sans KR"/>
                          <a:ea typeface="Noto Sans KR"/>
                          <a:cs typeface="Noto Sans KR"/>
                        </a:rPr>
                        <a:t>구동부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전동 텐던을 기준 후보로 소형 유압·공압과 비교</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손 무게, 유지력, 응답, 누설, 소음, 소비전력, 정비비</a:t>
                      </a:r>
                    </a:p>
                  </a:txBody>
                  <a:tcPr marL="73152" marR="73152" marT="73152" marB="73152" anchor="t">
                    <a:lnL w="0">
                      <a:noFill/>
                    </a:lnL>
                    <a:lnR w="0">
                      <a:noFill/>
                    </a:lnR>
                    <a:lnT w="0">
                      <a:noFill/>
                    </a:lnT>
                    <a:lnB w="9525">
                      <a:solidFill>
                        <a:srgbClr val="E2E4E7"/>
                      </a:solidFill>
                    </a:lnB>
                    <a:noFill/>
                  </a:tcPr>
                </a:tc>
              </a:tr>
              <a:tr h="357733">
                <a:tc>
                  <a:txBody>
                    <a:bodyPr wrap="square"/>
                    <a:lstStyle/>
                    <a:p>
                      <a:pPr algn="l">
                        <a:lnSpc>
                          <a:spcPct val="100000"/>
                        </a:lnSpc>
                      </a:pPr>
                      <a:r>
                        <a:rPr sz="1100" b="1">
                          <a:solidFill>
                            <a:srgbClr val="15171A"/>
                          </a:solidFill>
                          <a:latin typeface="Noto Sans KR"/>
                          <a:ea typeface="Noto Sans KR"/>
                          <a:cs typeface="Noto Sans KR"/>
                        </a:rPr>
                        <a:t>가변 순응성</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탄성요소·장력 제어, 필요 시 잠금기구</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접촉 충격 완화와 도구 토크 유지의 균형</a:t>
                      </a:r>
                    </a:p>
                  </a:txBody>
                  <a:tcPr marL="73152" marR="73152" marT="73152" marB="73152" anchor="t">
                    <a:lnL w="0">
                      <a:noFill/>
                    </a:lnL>
                    <a:lnR w="0">
                      <a:noFill/>
                    </a:lnR>
                    <a:lnT w="0">
                      <a:noFill/>
                    </a:lnT>
                    <a:lnB w="9525">
                      <a:solidFill>
                        <a:srgbClr val="E2E4E7"/>
                      </a:solidFill>
                    </a:lnB>
                    <a:noFill/>
                  </a:tcPr>
                </a:tc>
              </a:tr>
              <a:tr h="560019">
                <a:tc>
                  <a:txBody>
                    <a:bodyPr wrap="square"/>
                    <a:lstStyle/>
                    <a:p>
                      <a:pPr algn="l">
                        <a:lnSpc>
                          <a:spcPct val="100000"/>
                        </a:lnSpc>
                      </a:pPr>
                      <a:r>
                        <a:rPr sz="1100" b="1">
                          <a:solidFill>
                            <a:srgbClr val="15171A"/>
                          </a:solidFill>
                          <a:latin typeface="Noto Sans KR"/>
                          <a:ea typeface="Noto Sans KR"/>
                          <a:cs typeface="Noto Sans KR"/>
                        </a:rPr>
                        <a:t>감각부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손끝·손바닥 접촉센서, 관절·장력 센서, 손목 6축 힘·토크 센서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젖음·열·오염 조건의 편차와 재교정</a:t>
                      </a:r>
                    </a:p>
                  </a:txBody>
                  <a:tcPr marL="73152" marR="73152" marT="73152" marB="73152" anchor="t">
                    <a:lnL w="0">
                      <a:noFill/>
                    </a:lnL>
                    <a:lnR w="0">
                      <a:noFill/>
                    </a:lnR>
                    <a:lnT w="0">
                      <a:noFill/>
                    </a:lnT>
                    <a:lnB w="9525">
                      <a:solidFill>
                        <a:srgbClr val="E2E4E7"/>
                      </a:solidFill>
                    </a:lnB>
                    <a:noFill/>
                  </a:tcPr>
                </a:tc>
              </a:tr>
              <a:tr h="357733">
                <a:tc>
                  <a:txBody>
                    <a:bodyPr wrap="square"/>
                    <a:lstStyle/>
                    <a:p>
                      <a:pPr algn="l">
                        <a:lnSpc>
                          <a:spcPct val="100000"/>
                        </a:lnSpc>
                      </a:pPr>
                      <a:r>
                        <a:rPr sz="1100" b="1">
                          <a:solidFill>
                            <a:srgbClr val="15171A"/>
                          </a:solidFill>
                          <a:latin typeface="Noto Sans KR"/>
                          <a:ea typeface="Noto Sans KR"/>
                          <a:cs typeface="Noto Sans KR"/>
                        </a:rPr>
                        <a:t>접촉부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교체형 패드·외피, 식품용 별도 재질 선정</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미끄럼·마모·세척·재질 적합성 시험</a:t>
                      </a:r>
                    </a:p>
                  </a:txBody>
                  <a:tcPr marL="73152" marR="73152" marT="73152" marB="73152" anchor="t">
                    <a:lnL w="0">
                      <a:noFill/>
                    </a:lnL>
                    <a:lnR w="0">
                      <a:noFill/>
                    </a:lnR>
                    <a:lnT w="0">
                      <a:noFill/>
                    </a:lnT>
                    <a:lnB w="9525">
                      <a:solidFill>
                        <a:srgbClr val="E2E4E7"/>
                      </a:solidFill>
                    </a:lnB>
                    <a:noFill/>
                  </a:tcPr>
                </a:tc>
              </a:tr>
              <a:tr h="357733">
                <a:tc>
                  <a:txBody>
                    <a:bodyPr wrap="square"/>
                    <a:lstStyle/>
                    <a:p>
                      <a:pPr algn="l">
                        <a:lnSpc>
                          <a:spcPct val="100000"/>
                        </a:lnSpc>
                      </a:pPr>
                      <a:r>
                        <a:rPr sz="1100" b="1">
                          <a:solidFill>
                            <a:srgbClr val="15171A"/>
                          </a:solidFill>
                          <a:latin typeface="Noto Sans KR"/>
                          <a:ea typeface="Noto Sans KR"/>
                          <a:cs typeface="Noto Sans KR"/>
                        </a:rPr>
                        <a:t>로봇 장착</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플랜지 어댑터, 공구중심점 교정, 통신 드라이버</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대표 로봇 2개 플랫폼에서 실제 통합 검증</a:t>
                      </a:r>
                    </a:p>
                  </a:txBody>
                  <a:tcPr marL="73152" marR="73152" marT="73152" marB="73152" anchor="t">
                    <a:lnL w="0">
                      <a:noFill/>
                    </a:lnL>
                    <a:lnR w="0">
                      <a:noFill/>
                    </a:lnR>
                    <a:lnT w="0">
                      <a:noFill/>
                    </a:lnT>
                    <a:lnB w="9525">
                      <a:solidFill>
                        <a:srgbClr val="E2E4E7"/>
                      </a:solidFill>
                    </a:lnB>
                    <a:noFill/>
                  </a:tcPr>
                </a:tc>
              </a:tr>
            </a:tbl>
          </a:graphicData>
        </a:graphic>
      </p:graphicFrame>
      <p:sp>
        <p:nvSpPr>
          <p:cNvPr id="7" name="TextBox 6"/>
          <p:cNvSpPr txBox="1"/>
          <p:nvPr/>
        </p:nvSpPr>
        <p:spPr>
          <a:xfrm>
            <a:off x="685800" y="4635804"/>
            <a:ext cx="6766560"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구조 설계 방향</a:t>
            </a:r>
          </a:p>
        </p:txBody>
      </p:sp>
      <p:cxnSp>
        <p:nvCxnSpPr>
          <p:cNvPr id="8" name="Connector 7"/>
          <p:cNvCxnSpPr/>
          <p:nvPr/>
        </p:nvCxnSpPr>
        <p:spPr>
          <a:xfrm>
            <a:off x="685800" y="4955844"/>
            <a:ext cx="6766560" cy="0"/>
          </a:xfrm>
          <a:prstGeom prst="line">
            <a:avLst/>
          </a:prstGeom>
          <a:ln w="12700">
            <a:solidFill>
              <a:srgbClr val="15171A"/>
            </a:solidFill>
          </a:ln>
        </p:spPr>
      </p:cxnSp>
      <p:sp>
        <p:nvSpPr>
          <p:cNvPr id="9" name="TextBox 8"/>
          <p:cNvSpPr txBox="1"/>
          <p:nvPr/>
        </p:nvSpPr>
        <p:spPr>
          <a:xfrm>
            <a:off x="685800" y="5038140"/>
            <a:ext cx="6766560" cy="475691"/>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엄지 대향, 손가락 굽힘, 제한적인 벌림 동작 설계</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4지: 안정적인 감싸쥐기와 비용 우선 · 5지: 재파지와 정밀 조작 확장 우선</a:t>
            </a:r>
          </a:p>
        </p:txBody>
      </p:sp>
      <p:sp>
        <p:nvSpPr>
          <p:cNvPr id="10" name="TextBox 9"/>
          <p:cNvSpPr txBox="1"/>
          <p:nvPr/>
        </p:nvSpPr>
        <p:spPr>
          <a:xfrm>
            <a:off x="7863840" y="1810512"/>
            <a:ext cx="364205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하중 설계</a:t>
            </a:r>
          </a:p>
        </p:txBody>
      </p:sp>
      <p:cxnSp>
        <p:nvCxnSpPr>
          <p:cNvPr id="11" name="Connector 10"/>
          <p:cNvCxnSpPr/>
          <p:nvPr/>
        </p:nvCxnSpPr>
        <p:spPr>
          <a:xfrm>
            <a:off x="7863840" y="2130552"/>
            <a:ext cx="3642055" cy="0"/>
          </a:xfrm>
          <a:prstGeom prst="line">
            <a:avLst/>
          </a:prstGeom>
          <a:ln w="12700">
            <a:solidFill>
              <a:srgbClr val="15171A"/>
            </a:solidFill>
          </a:ln>
        </p:spPr>
      </p:cxnSp>
      <p:sp>
        <p:nvSpPr>
          <p:cNvPr id="12" name="TextBox 11"/>
          <p:cNvSpPr txBox="1"/>
          <p:nvPr/>
        </p:nvSpPr>
        <p:spPr>
          <a:xfrm>
            <a:off x="7863840" y="2212848"/>
            <a:ext cx="3642055" cy="1537919"/>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손의 파지 하중과 로봇 팔 가반하중은 별도로 설계</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팔 가반하중: 손·어댑터·센서·도구·내용물의</a:t>
            </a:r>
            <a:br/>
            <a:r>
              <a:rPr sz="1100" b="0">
                <a:solidFill>
                  <a:srgbClr val="4A4F57"/>
                </a:solidFill>
                <a:latin typeface="Noto Sans KR"/>
                <a:ea typeface="Noto Sans KR"/>
                <a:cs typeface="Noto Sans KR"/>
              </a:rPr>
              <a:t>질량과 무게중심을 합산</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예: 3kg 냄비, 무게중심이 파지점에서 0.20m</a:t>
            </a:r>
            <a:br/>
            <a:r>
              <a:rPr sz="1100" b="0">
                <a:solidFill>
                  <a:srgbClr val="4A4F57"/>
                </a:solidFill>
                <a:latin typeface="Noto Sans KR"/>
                <a:ea typeface="Noto Sans KR"/>
                <a:cs typeface="Noto Sans KR"/>
              </a:rPr>
              <a:t>→ 정적 모멘트 약 5.9N·m</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가속·충격 시 요구치 증가, 큰 냄비는 양손 지지</a:t>
            </a:r>
            <a:br/>
            <a:r>
              <a:rPr sz="1100" b="0">
                <a:solidFill>
                  <a:srgbClr val="4A4F57"/>
                </a:solidFill>
                <a:latin typeface="Noto Sans KR"/>
                <a:ea typeface="Noto Sans KR"/>
                <a:cs typeface="Noto Sans KR"/>
              </a:rPr>
              <a:t>또는 거치대 보조</a:t>
            </a:r>
          </a:p>
        </p:txBody>
      </p:sp>
      <p:sp>
        <p:nvSpPr>
          <p:cNvPr id="13" name="TextBox 12"/>
          <p:cNvSpPr txBox="1"/>
          <p:nvPr/>
        </p:nvSpPr>
        <p:spPr>
          <a:xfrm>
            <a:off x="7863840" y="3951935"/>
            <a:ext cx="364205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도구별 제어 요구</a:t>
            </a:r>
          </a:p>
        </p:txBody>
      </p:sp>
      <p:cxnSp>
        <p:nvCxnSpPr>
          <p:cNvPr id="14" name="Connector 13"/>
          <p:cNvCxnSpPr/>
          <p:nvPr/>
        </p:nvCxnSpPr>
        <p:spPr>
          <a:xfrm>
            <a:off x="7863840" y="4271975"/>
            <a:ext cx="3642055" cy="0"/>
          </a:xfrm>
          <a:prstGeom prst="line">
            <a:avLst/>
          </a:prstGeom>
          <a:ln w="12700">
            <a:solidFill>
              <a:srgbClr val="15171A"/>
            </a:solidFill>
          </a:ln>
        </p:spPr>
      </p:cxnSp>
      <p:sp>
        <p:nvSpPr>
          <p:cNvPr id="15" name="TextBox 14"/>
          <p:cNvSpPr txBox="1"/>
          <p:nvPr/>
        </p:nvSpPr>
        <p:spPr>
          <a:xfrm>
            <a:off x="7863840" y="4354271"/>
            <a:ext cx="3642055" cy="1158748"/>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드라이버: 축 정렬·누름 힘·회전 토크</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스패너: 면접촉 유지·재파지</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플라이어: 손잡이 개폐력</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팬·냄비: 수평 유지, 쏟아짐 방지</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해머·나이프: 피로·이탈, 절삭 저항·날 위치 별도 검증</a:t>
            </a:r>
          </a:p>
        </p:txBody>
      </p:sp>
      <p:sp>
        <p:nvSpPr>
          <p:cNvPr id="16" name="TextBox 1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7" name="TextBox 16"/>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유압 채택 시 호스 굽힘 수명·누설 감지·격리 포함 · 특허 가능성은 선행기술 조사 후 판단 · 상세 부록 A3</a:t>
            </a:r>
          </a:p>
        </p:txBody>
      </p:sp>
      <p:sp>
        <p:nvSpPr>
          <p:cNvPr id="18" name="TextBox 1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05   비전 AI와 촉각·힘 제어</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인식부터 작업 결과 확인까지 하나의 제어 흐름으로 개발</a:t>
            </a:r>
          </a:p>
        </p:txBody>
      </p:sp>
      <p:cxnSp>
        <p:nvCxnSpPr>
          <p:cNvPr id="4" name="Connector 3"/>
          <p:cNvCxnSpPr/>
          <p:nvPr/>
        </p:nvCxnSpPr>
        <p:spPr>
          <a:xfrm>
            <a:off x="685800" y="1243584"/>
            <a:ext cx="10820095" cy="0"/>
          </a:xfrm>
          <a:prstGeom prst="line">
            <a:avLst/>
          </a:prstGeom>
          <a:ln w="12700">
            <a:solidFill>
              <a:srgbClr val="15171A"/>
            </a:solidFill>
          </a:ln>
        </p:spPr>
      </p:cxnSp>
      <p:sp>
        <p:nvSpPr>
          <p:cNvPr id="5" name="TextBox 4"/>
          <p:cNvSpPr txBox="1"/>
          <p:nvPr/>
        </p:nvSpPr>
        <p:spPr>
          <a:xfrm>
            <a:off x="685800" y="1463040"/>
            <a:ext cx="10820095"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제어 흐름</a:t>
            </a:r>
          </a:p>
        </p:txBody>
      </p:sp>
      <p:graphicFrame>
        <p:nvGraphicFramePr>
          <p:cNvPr id="6" name="Table 5"/>
          <p:cNvGraphicFramePr>
            <a:graphicFrameLocks noGrp="1"/>
          </p:cNvGraphicFramePr>
          <p:nvPr/>
        </p:nvGraphicFramePr>
        <p:xfrm>
          <a:off x="685800" y="1810512"/>
          <a:ext cx="10820088" cy="817015"/>
        </p:xfrm>
        <a:graphic>
          <a:graphicData uri="http://schemas.openxmlformats.org/drawingml/2006/table">
            <a:tbl>
              <a:tblPr firstRow="0" bandRow="0">
                <a:tableStyleId>{2D5ABB26-0587-4C30-8999-92F81FD0307C}</a:tableStyleId>
              </a:tblPr>
              <a:tblGrid>
                <a:gridCol w="1352511"/>
                <a:gridCol w="1352511"/>
                <a:gridCol w="1352511"/>
                <a:gridCol w="1352511"/>
                <a:gridCol w="1352511"/>
                <a:gridCol w="1352511"/>
                <a:gridCol w="1352511"/>
                <a:gridCol w="1352511"/>
              </a:tblGrid>
              <a:tr h="311962">
                <a:tc>
                  <a:txBody>
                    <a:bodyPr wrap="square"/>
                    <a:lstStyle/>
                    <a:p>
                      <a:pPr algn="l">
                        <a:lnSpc>
                          <a:spcPct val="100000"/>
                        </a:lnSpc>
                      </a:pPr>
                      <a:r>
                        <a:rPr sz="1050" b="1">
                          <a:solidFill>
                            <a:srgbClr val="E2571B"/>
                          </a:solidFill>
                          <a:latin typeface="Noto Sans KR"/>
                          <a:ea typeface="Noto Sans KR"/>
                          <a:cs typeface="Noto Sans KR"/>
                        </a:rPr>
                        <a:t>1</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E2571B"/>
                          </a:solidFill>
                          <a:latin typeface="Noto Sans KR"/>
                          <a:ea typeface="Noto Sans KR"/>
                          <a:cs typeface="Noto Sans KR"/>
                        </a:rPr>
                        <a:t>2</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E2571B"/>
                          </a:solidFill>
                          <a:latin typeface="Noto Sans KR"/>
                          <a:ea typeface="Noto Sans KR"/>
                          <a:cs typeface="Noto Sans KR"/>
                        </a:rPr>
                        <a:t>3</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E2571B"/>
                          </a:solidFill>
                          <a:latin typeface="Noto Sans KR"/>
                          <a:ea typeface="Noto Sans KR"/>
                          <a:cs typeface="Noto Sans KR"/>
                        </a:rPr>
                        <a:t>4</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E2571B"/>
                          </a:solidFill>
                          <a:latin typeface="Noto Sans KR"/>
                          <a:ea typeface="Noto Sans KR"/>
                          <a:cs typeface="Noto Sans KR"/>
                        </a:rPr>
                        <a:t>5</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E2571B"/>
                          </a:solidFill>
                          <a:latin typeface="Noto Sans KR"/>
                          <a:ea typeface="Noto Sans KR"/>
                          <a:cs typeface="Noto Sans KR"/>
                        </a:rPr>
                        <a:t>6</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E2571B"/>
                          </a:solidFill>
                          <a:latin typeface="Noto Sans KR"/>
                          <a:ea typeface="Noto Sans KR"/>
                          <a:cs typeface="Noto Sans KR"/>
                        </a:rPr>
                        <a:t>7</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E2571B"/>
                          </a:solidFill>
                          <a:latin typeface="Noto Sans KR"/>
                          <a:ea typeface="Noto Sans KR"/>
                          <a:cs typeface="Noto Sans KR"/>
                        </a:rPr>
                        <a:t>8</a:t>
                      </a:r>
                    </a:p>
                  </a:txBody>
                  <a:tcPr marL="73152" marR="73152" marT="54864" marB="54864" anchor="t">
                    <a:lnL w="0">
                      <a:noFill/>
                    </a:lnL>
                    <a:lnR w="0">
                      <a:noFill/>
                    </a:lnR>
                    <a:lnT w="12700">
                      <a:solidFill>
                        <a:srgbClr val="15171A"/>
                      </a:solidFill>
                    </a:lnT>
                    <a:lnB w="9525">
                      <a:solidFill>
                        <a:srgbClr val="15171A"/>
                      </a:solidFill>
                    </a:lnB>
                    <a:noFill/>
                  </a:tcPr>
                </a:tc>
              </a:tr>
              <a:tr h="505053">
                <a:tc>
                  <a:txBody>
                    <a:bodyPr wrap="square"/>
                    <a:lstStyle/>
                    <a:p>
                      <a:pPr algn="l">
                        <a:lnSpc>
                          <a:spcPct val="100000"/>
                        </a:lnSpc>
                      </a:pPr>
                      <a:r>
                        <a:rPr sz="1050" b="0">
                          <a:solidFill>
                            <a:srgbClr val="15171A"/>
                          </a:solidFill>
                          <a:latin typeface="Noto Sans KR"/>
                          <a:ea typeface="Noto Sans KR"/>
                          <a:cs typeface="Noto Sans KR"/>
                        </a:rPr>
                        <a:t>상부 RGB-D·손목 카메라</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객체 분할·도구 기능 부위 인식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위치·자세 또는 변형 상태 추정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이동 예측</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파지 후보와 작업 계획</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촉각·힘 기반 접촉 제어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작업 결과 확인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재파지·재시도·정지</a:t>
                      </a:r>
                    </a:p>
                  </a:txBody>
                  <a:tcPr marL="73152" marR="73152" marT="54864" marB="54864" anchor="t">
                    <a:lnL w="0">
                      <a:noFill/>
                    </a:lnL>
                    <a:lnR w="0">
                      <a:noFill/>
                    </a:lnR>
                    <a:lnT w="0">
                      <a:noFill/>
                    </a:lnT>
                    <a:lnB w="9525">
                      <a:solidFill>
                        <a:srgbClr val="E2E4E7"/>
                      </a:solidFill>
                    </a:lnB>
                    <a:noFill/>
                  </a:tcPr>
                </a:tc>
              </a:tr>
            </a:tbl>
          </a:graphicData>
        </a:graphic>
      </p:graphicFrame>
      <p:sp>
        <p:nvSpPr>
          <p:cNvPr id="7" name="TextBox 6"/>
          <p:cNvSpPr txBox="1"/>
          <p:nvPr/>
        </p:nvSpPr>
        <p:spPr>
          <a:xfrm>
            <a:off x="685800" y="2901848"/>
            <a:ext cx="6766560"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조작 기술과 실패 대응</a:t>
            </a:r>
          </a:p>
        </p:txBody>
      </p:sp>
      <p:graphicFrame>
        <p:nvGraphicFramePr>
          <p:cNvPr id="8" name="Table 7"/>
          <p:cNvGraphicFramePr>
            <a:graphicFrameLocks noGrp="1"/>
          </p:cNvGraphicFramePr>
          <p:nvPr/>
        </p:nvGraphicFramePr>
        <p:xfrm>
          <a:off x="685800" y="3249320"/>
          <a:ext cx="6766560" cy="2644136"/>
        </p:xfrm>
        <a:graphic>
          <a:graphicData uri="http://schemas.openxmlformats.org/drawingml/2006/table">
            <a:tbl>
              <a:tblPr firstRow="0" bandRow="0">
                <a:tableStyleId>{2D5ABB26-0587-4C30-8999-92F81FD0307C}</a:tableStyleId>
              </a:tblPr>
              <a:tblGrid>
                <a:gridCol w="1325880"/>
                <a:gridCol w="2880360"/>
                <a:gridCol w="2560320"/>
              </a:tblGrid>
              <a:tr h="311962">
                <a:tc>
                  <a:txBody>
                    <a:bodyPr wrap="square"/>
                    <a:lstStyle/>
                    <a:p>
                      <a:pPr algn="l">
                        <a:lnSpc>
                          <a:spcPct val="100000"/>
                        </a:lnSpc>
                      </a:pPr>
                      <a:r>
                        <a:rPr sz="1050" b="1">
                          <a:solidFill>
                            <a:srgbClr val="15171A"/>
                          </a:solidFill>
                          <a:latin typeface="Noto Sans KR"/>
                          <a:ea typeface="Noto Sans KR"/>
                          <a:cs typeface="Noto Sans KR"/>
                        </a:rPr>
                        <a:t>기술</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구현 방향</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실패 대응</a:t>
                      </a:r>
                    </a:p>
                  </a:txBody>
                  <a:tcPr marL="73152" marR="73152" marT="54864" marB="54864" anchor="t">
                    <a:lnL w="0">
                      <a:noFill/>
                    </a:lnL>
                    <a:lnR w="0">
                      <a:noFill/>
                    </a:lnR>
                    <a:lnT w="12700">
                      <a:solidFill>
                        <a:srgbClr val="15171A"/>
                      </a:solidFill>
                    </a:lnT>
                    <a:lnB w="9525">
                      <a:solidFill>
                        <a:srgbClr val="15171A"/>
                      </a:solidFill>
                    </a:lnB>
                    <a:noFill/>
                  </a:tcPr>
                </a:tc>
              </a:tr>
              <a:tr h="505053">
                <a:tc>
                  <a:txBody>
                    <a:bodyPr wrap="square"/>
                    <a:lstStyle/>
                    <a:p>
                      <a:pPr algn="l">
                        <a:lnSpc>
                          <a:spcPct val="100000"/>
                        </a:lnSpc>
                      </a:pPr>
                      <a:r>
                        <a:rPr sz="1050" b="1">
                          <a:solidFill>
                            <a:srgbClr val="15171A"/>
                          </a:solidFill>
                          <a:latin typeface="Noto Sans KR"/>
                          <a:ea typeface="Noto Sans KR"/>
                          <a:cs typeface="Noto Sans KR"/>
                        </a:rPr>
                        <a:t>강체·도구 인식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손잡이·날·회전축·작업점 구분, 6-DoF 자세 추정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반사·가림 시 다른 시점 재관측</a:t>
                      </a:r>
                    </a:p>
                  </a:txBody>
                  <a:tcPr marL="73152" marR="73152" marT="54864" marB="54864" anchor="t">
                    <a:lnL w="0">
                      <a:noFill/>
                    </a:lnL>
                    <a:lnR w="0">
                      <a:noFill/>
                    </a:lnR>
                    <a:lnT w="0">
                      <a:noFill/>
                    </a:lnT>
                    <a:lnB w="9525">
                      <a:solidFill>
                        <a:srgbClr val="E2E4E7"/>
                      </a:solidFill>
                    </a:lnB>
                    <a:noFill/>
                  </a:tcPr>
                </a:tc>
              </a:tr>
              <a:tr h="505053">
                <a:tc>
                  <a:txBody>
                    <a:bodyPr wrap="square"/>
                    <a:lstStyle/>
                    <a:p>
                      <a:pPr algn="l">
                        <a:lnSpc>
                          <a:spcPct val="100000"/>
                        </a:lnSpc>
                      </a:pPr>
                      <a:r>
                        <a:rPr sz="1050" b="1">
                          <a:solidFill>
                            <a:srgbClr val="15171A"/>
                          </a:solidFill>
                          <a:latin typeface="Noto Sans KR"/>
                          <a:ea typeface="Noto Sans KR"/>
                          <a:cs typeface="Noto Sans KR"/>
                        </a:rPr>
                        <a:t>동적 물체 추적</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영상 시간동기화, 속도 추정, 지연 반영 도달점 예측</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신뢰도 저하·속도 초과 시 추적 중단 또는 재계획</a:t>
                      </a:r>
                    </a:p>
                  </a:txBody>
                  <a:tcPr marL="73152" marR="73152" marT="54864" marB="54864" anchor="t">
                    <a:lnL w="0">
                      <a:noFill/>
                    </a:lnL>
                    <a:lnR w="0">
                      <a:noFill/>
                    </a:lnR>
                    <a:lnT w="0">
                      <a:noFill/>
                    </a:lnT>
                    <a:lnB w="9525">
                      <a:solidFill>
                        <a:srgbClr val="E2E4E7"/>
                      </a:solidFill>
                    </a:lnB>
                    <a:noFill/>
                  </a:tcPr>
                </a:tc>
              </a:tr>
              <a:tr h="505053">
                <a:tc>
                  <a:txBody>
                    <a:bodyPr wrap="square"/>
                    <a:lstStyle/>
                    <a:p>
                      <a:pPr algn="l">
                        <a:lnSpc>
                          <a:spcPct val="100000"/>
                        </a:lnSpc>
                      </a:pPr>
                      <a:r>
                        <a:rPr sz="1050" b="1">
                          <a:solidFill>
                            <a:srgbClr val="15171A"/>
                          </a:solidFill>
                          <a:latin typeface="Noto Sans KR"/>
                          <a:ea typeface="Noto Sans KR"/>
                          <a:cs typeface="Noto Sans KR"/>
                        </a:rPr>
                        <a:t>비정형 유연체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변형 키포인트·윤곽·점군 추적, 장력·변형 제한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단일 강체 자세로 단순화하지 않고 상태 재추정</a:t>
                      </a:r>
                    </a:p>
                  </a:txBody>
                  <a:tcPr marL="73152" marR="73152" marT="54864" marB="54864" anchor="t">
                    <a:lnL w="0">
                      <a:noFill/>
                    </a:lnL>
                    <a:lnR w="0">
                      <a:noFill/>
                    </a:lnR>
                    <a:lnT w="0">
                      <a:noFill/>
                    </a:lnT>
                    <a:lnB w="9525">
                      <a:solidFill>
                        <a:srgbClr val="E2E4E7"/>
                      </a:solidFill>
                    </a:lnB>
                    <a:noFill/>
                  </a:tcPr>
                </a:tc>
              </a:tr>
              <a:tr h="505053">
                <a:tc>
                  <a:txBody>
                    <a:bodyPr wrap="square"/>
                    <a:lstStyle/>
                    <a:p>
                      <a:pPr algn="l">
                        <a:lnSpc>
                          <a:spcPct val="100000"/>
                        </a:lnSpc>
                      </a:pPr>
                      <a:r>
                        <a:rPr sz="1050" b="1">
                          <a:solidFill>
                            <a:srgbClr val="15171A"/>
                          </a:solidFill>
                          <a:latin typeface="Noto Sans KR"/>
                          <a:ea typeface="Noto Sans KR"/>
                          <a:cs typeface="Noto Sans KR"/>
                        </a:rPr>
                        <a:t>정렬·적층</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목표면 상대 위치, 접촉 탐색, 무게중심·안정성 평가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불안정 적층 감지 후 내려놓기·재배치</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1">
                          <a:solidFill>
                            <a:srgbClr val="15171A"/>
                          </a:solidFill>
                          <a:latin typeface="Noto Sans KR"/>
                          <a:ea typeface="Noto Sans KR"/>
                          <a:cs typeface="Noto Sans KR"/>
                        </a:rPr>
                        <a:t>양팔 협조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공유 작업 좌표, 충돌 회피, 역할 배정, 하중 분담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한 팔 이상 감지 시 양팔·이동축 연계 정지</a:t>
                      </a:r>
                    </a:p>
                  </a:txBody>
                  <a:tcPr marL="73152" marR="73152" marT="54864" marB="54864" anchor="t">
                    <a:lnL w="0">
                      <a:noFill/>
                    </a:lnL>
                    <a:lnR w="0">
                      <a:noFill/>
                    </a:lnR>
                    <a:lnT w="0">
                      <a:noFill/>
                    </a:lnT>
                    <a:lnB w="9525">
                      <a:solidFill>
                        <a:srgbClr val="E2E4E7"/>
                      </a:solidFill>
                    </a:lnB>
                    <a:noFill/>
                  </a:tcPr>
                </a:tc>
              </a:tr>
            </a:tbl>
          </a:graphicData>
        </a:graphic>
      </p:graphicFrame>
      <p:sp>
        <p:nvSpPr>
          <p:cNvPr id="9" name="TextBox 8"/>
          <p:cNvSpPr txBox="1"/>
          <p:nvPr/>
        </p:nvSpPr>
        <p:spPr>
          <a:xfrm>
            <a:off x="7863840" y="2901848"/>
            <a:ext cx="364205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센서 역할</a:t>
            </a:r>
          </a:p>
        </p:txBody>
      </p:sp>
      <p:cxnSp>
        <p:nvCxnSpPr>
          <p:cNvPr id="10" name="Connector 9"/>
          <p:cNvCxnSpPr/>
          <p:nvPr/>
        </p:nvCxnSpPr>
        <p:spPr>
          <a:xfrm>
            <a:off x="7863840" y="3221888"/>
            <a:ext cx="3642055" cy="0"/>
          </a:xfrm>
          <a:prstGeom prst="line">
            <a:avLst/>
          </a:prstGeom>
          <a:ln w="12700">
            <a:solidFill>
              <a:srgbClr val="15171A"/>
            </a:solidFill>
          </a:ln>
        </p:spPr>
      </p:cxnSp>
      <p:sp>
        <p:nvSpPr>
          <p:cNvPr id="11" name="TextBox 10"/>
          <p:cNvSpPr txBox="1"/>
          <p:nvPr/>
        </p:nvSpPr>
        <p:spPr>
          <a:xfrm>
            <a:off x="7863840" y="3304184"/>
            <a:ext cx="3642055" cy="931062"/>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비전: 형상·도구 부위·배치 상태</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촉각: 접촉·미끄러짐 · 손목 센서: 반력</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초음파: 근거리 장애물·액면 보조 수단</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가열 상태: 인덕션 출력 정보 + 별도 온도센서</a:t>
            </a:r>
          </a:p>
        </p:txBody>
      </p:sp>
      <p:sp>
        <p:nvSpPr>
          <p:cNvPr id="12" name="TextBox 11"/>
          <p:cNvSpPr txBox="1"/>
          <p:nvPr/>
        </p:nvSpPr>
        <p:spPr>
          <a:xfrm>
            <a:off x="7863840" y="4418126"/>
            <a:ext cx="364205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학습 데이터 계획 (목표)</a:t>
            </a:r>
          </a:p>
        </p:txBody>
      </p:sp>
      <p:cxnSp>
        <p:nvCxnSpPr>
          <p:cNvPr id="13" name="Connector 12"/>
          <p:cNvCxnSpPr/>
          <p:nvPr/>
        </p:nvCxnSpPr>
        <p:spPr>
          <a:xfrm>
            <a:off x="7863840" y="4738166"/>
            <a:ext cx="3642055" cy="0"/>
          </a:xfrm>
          <a:prstGeom prst="line">
            <a:avLst/>
          </a:prstGeom>
          <a:ln w="12700">
            <a:solidFill>
              <a:srgbClr val="15171A"/>
            </a:solidFill>
          </a:ln>
        </p:spPr>
      </p:cxnSp>
      <p:sp>
        <p:nvSpPr>
          <p:cNvPr id="14" name="TextBox 13"/>
          <p:cNvSpPr txBox="1"/>
          <p:nvPr/>
        </p:nvSpPr>
        <p:spPr>
          <a:xfrm>
            <a:off x="7863840" y="4820462"/>
            <a:ext cx="3642055" cy="1107948"/>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도구·용기 30종 이상, 시도 1만 회 이상, 실패 유형의 다양성 중시</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물체·작업 세션·현장 단위로 학습·검증·시험 분리</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VLA·모방학습은 고수준 작업 선택에 한정, 힘·속도·안전 한계는 독립 제어 계층</a:t>
            </a:r>
          </a:p>
        </p:txBody>
      </p:sp>
      <p:sp>
        <p:nvSpPr>
          <p:cNvPr id="15" name="TextBox 1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6" name="TextBox 15"/>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초음파는 정밀 자세·조리 온도 판단을 대신하지 않음 · 증기·금속 반사·기울어진 표면에서 센서별 오차 시험 · 부록 A4</a:t>
            </a:r>
          </a:p>
        </p:txBody>
      </p:sp>
      <p:sp>
        <p:nvSpPr>
          <p:cNvPr id="17" name="TextBox 1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06   천장 이동형 양팔 로봇 주방</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로봇 주방은 3년차부터 주방 제조사와 공동 판매하는 응용 제품</a:t>
            </a:r>
          </a:p>
        </p:txBody>
      </p:sp>
      <p:sp>
        <p:nvSpPr>
          <p:cNvPr id="4" name="TextBox 3"/>
          <p:cNvSpPr txBox="1"/>
          <p:nvPr/>
        </p:nvSpPr>
        <p:spPr>
          <a:xfrm>
            <a:off x="685800" y="1243584"/>
            <a:ext cx="10820095" cy="25603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싱크대 상부 구조 프레임의 LM 이동축에 협동로봇 2대를 역설치, 각 팔의 핸드가 세척·준비·가열·플레이팅·수납 구역을 연결</a:t>
            </a:r>
          </a:p>
        </p:txBody>
      </p:sp>
      <p:cxnSp>
        <p:nvCxnSpPr>
          <p:cNvPr id="5" name="Connector 4"/>
          <p:cNvCxnSpPr/>
          <p:nvPr/>
        </p:nvCxnSpPr>
        <p:spPr>
          <a:xfrm>
            <a:off x="685800" y="1591056"/>
            <a:ext cx="10820095" cy="0"/>
          </a:xfrm>
          <a:prstGeom prst="line">
            <a:avLst/>
          </a:prstGeom>
          <a:ln w="12700">
            <a:solidFill>
              <a:srgbClr val="15171A"/>
            </a:solidFill>
          </a:ln>
        </p:spPr>
      </p:cxnSp>
      <p:pic>
        <p:nvPicPr>
          <p:cNvPr id="6" name="Picture 5" descr="ck_front_light_500x281_50_47_132.jpg"/>
          <p:cNvPicPr>
            <a:picLocks noChangeAspect="1"/>
          </p:cNvPicPr>
          <p:nvPr/>
        </p:nvPicPr>
        <p:blipFill>
          <a:blip r:embed="rId2"/>
          <a:stretch>
            <a:fillRect/>
          </a:stretch>
        </p:blipFill>
        <p:spPr>
          <a:xfrm>
            <a:off x="685800" y="1810512"/>
            <a:ext cx="4572000" cy="2571750"/>
          </a:xfrm>
          <a:prstGeom prst="rect">
            <a:avLst/>
          </a:prstGeom>
        </p:spPr>
      </p:pic>
      <p:sp>
        <p:nvSpPr>
          <p:cNvPr id="7" name="TextBox 6"/>
          <p:cNvSpPr txBox="1"/>
          <p:nvPr/>
        </p:nvSpPr>
        <p:spPr>
          <a:xfrm>
            <a:off x="685800" y="4583430"/>
            <a:ext cx="4572000"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시스템 구성 (검토안)</a:t>
            </a:r>
          </a:p>
        </p:txBody>
      </p:sp>
      <p:cxnSp>
        <p:nvCxnSpPr>
          <p:cNvPr id="8" name="Connector 7"/>
          <p:cNvCxnSpPr/>
          <p:nvPr/>
        </p:nvCxnSpPr>
        <p:spPr>
          <a:xfrm>
            <a:off x="685800" y="4903470"/>
            <a:ext cx="4572000" cy="0"/>
          </a:xfrm>
          <a:prstGeom prst="line">
            <a:avLst/>
          </a:prstGeom>
          <a:ln w="12700">
            <a:solidFill>
              <a:srgbClr val="15171A"/>
            </a:solidFill>
          </a:ln>
        </p:spPr>
      </p:cxnSp>
      <p:sp>
        <p:nvSpPr>
          <p:cNvPr id="9" name="TextBox 8"/>
          <p:cNvSpPr txBox="1"/>
          <p:nvPr/>
        </p:nvSpPr>
        <p:spPr>
          <a:xfrm>
            <a:off x="685800" y="4985766"/>
            <a:ext cx="4572000" cy="675792"/>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050" b="0">
                <a:solidFill>
                  <a:srgbClr val="4A4F57"/>
                </a:solidFill>
                <a:latin typeface="Noto Sans KR"/>
                <a:ea typeface="Noto Sans KR"/>
                <a:cs typeface="Noto Sans KR"/>
              </a:rPr>
              <a:t>LM 가이드와 구동기·엔코더·브레이크·종단 스토퍼·케이블 관리장치</a:t>
            </a:r>
          </a:p>
          <a:p>
            <a:pPr algn="l" marL="164592" indent="-164592">
              <a:lnSpc>
                <a:spcPct val="100000"/>
              </a:lnSpc>
              <a:spcAft>
                <a:spcPts val="200"/>
              </a:spcAft>
              <a:buClr>
                <a:srgbClr val="8C9198"/>
              </a:buClr>
              <a:buFont typeface="Noto Sans KR"/>
              <a:buChar char="•"/>
            </a:pPr>
            <a:r>
              <a:rPr sz="1050" b="0">
                <a:solidFill>
                  <a:srgbClr val="4A4F57"/>
                </a:solidFill>
                <a:latin typeface="Noto Sans KR"/>
                <a:ea typeface="Noto Sans KR"/>
                <a:cs typeface="Noto Sans KR"/>
              </a:rPr>
              <a:t>두 팔을 단일 공통 캐리지에 장착하는 안 우선 비교, 독립 캐리지는 후속 검토</a:t>
            </a:r>
          </a:p>
          <a:p>
            <a:pPr algn="l" marL="164592" indent="-164592">
              <a:lnSpc>
                <a:spcPct val="100000"/>
              </a:lnSpc>
              <a:buClr>
                <a:srgbClr val="8C9198"/>
              </a:buClr>
              <a:buFont typeface="Noto Sans KR"/>
              <a:buChar char="•"/>
            </a:pPr>
            <a:r>
              <a:rPr sz="1050" b="0">
                <a:solidFill>
                  <a:srgbClr val="4A4F57"/>
                </a:solidFill>
                <a:latin typeface="Noto Sans KR"/>
                <a:ea typeface="Noto Sans KR"/>
                <a:cs typeface="Noto Sans KR"/>
              </a:rPr>
              <a:t>검토된 구조체 또는 독립 프레임에 고정, 역설치 허용 로봇 모델 선택</a:t>
            </a:r>
          </a:p>
        </p:txBody>
      </p:sp>
      <p:graphicFrame>
        <p:nvGraphicFramePr>
          <p:cNvPr id="10" name="Table 9"/>
          <p:cNvGraphicFramePr>
            <a:graphicFrameLocks noGrp="1"/>
          </p:cNvGraphicFramePr>
          <p:nvPr/>
        </p:nvGraphicFramePr>
        <p:xfrm>
          <a:off x="5669280" y="1810512"/>
          <a:ext cx="5836615" cy="2451045"/>
        </p:xfrm>
        <a:graphic>
          <a:graphicData uri="http://schemas.openxmlformats.org/drawingml/2006/table">
            <a:tbl>
              <a:tblPr firstRow="0" bandRow="0">
                <a:tableStyleId>{2D5ABB26-0587-4C30-8999-92F81FD0307C}</a:tableStyleId>
              </a:tblPr>
              <a:tblGrid>
                <a:gridCol w="1005840"/>
                <a:gridCol w="2286000"/>
                <a:gridCol w="2544775"/>
              </a:tblGrid>
              <a:tr h="311962">
                <a:tc>
                  <a:txBody>
                    <a:bodyPr wrap="square"/>
                    <a:lstStyle/>
                    <a:p>
                      <a:pPr algn="l">
                        <a:lnSpc>
                          <a:spcPct val="100000"/>
                        </a:lnSpc>
                      </a:pPr>
                      <a:r>
                        <a:rPr sz="1050" b="1">
                          <a:solidFill>
                            <a:srgbClr val="15171A"/>
                          </a:solidFill>
                          <a:latin typeface="Noto Sans KR"/>
                          <a:ea typeface="Noto Sans KR"/>
                          <a:cs typeface="Noto Sans KR"/>
                        </a:rPr>
                        <a:t>구역</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작업</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설계 사항</a:t>
                      </a:r>
                    </a:p>
                  </a:txBody>
                  <a:tcPr marL="73152" marR="73152" marT="54864" marB="54864" anchor="t">
                    <a:lnL w="0">
                      <a:noFill/>
                    </a:lnL>
                    <a:lnR w="0">
                      <a:noFill/>
                    </a:lnR>
                    <a:lnT w="12700">
                      <a:solidFill>
                        <a:srgbClr val="15171A"/>
                      </a:solidFill>
                    </a:lnT>
                    <a:lnB w="9525">
                      <a:solidFill>
                        <a:srgbClr val="15171A"/>
                      </a:solidFill>
                    </a:lnB>
                    <a:noFill/>
                  </a:tcPr>
                </a:tc>
              </a:tr>
              <a:tr h="505053">
                <a:tc>
                  <a:txBody>
                    <a:bodyPr wrap="square"/>
                    <a:lstStyle/>
                    <a:p>
                      <a:pPr algn="l">
                        <a:lnSpc>
                          <a:spcPct val="100000"/>
                        </a:lnSpc>
                      </a:pPr>
                      <a:r>
                        <a:rPr sz="1050" b="1">
                          <a:solidFill>
                            <a:srgbClr val="15171A"/>
                          </a:solidFill>
                          <a:latin typeface="Noto Sans KR"/>
                          <a:ea typeface="Noto Sans KR"/>
                          <a:cs typeface="Noto Sans KR"/>
                        </a:rPr>
                        <a:t>재료 준비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계량·전처리된 재료 카트리지 인식·투입</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재료 ID, 유통·보관 조건, 투입량 확인</a:t>
                      </a:r>
                    </a:p>
                  </a:txBody>
                  <a:tcPr marL="73152" marR="73152" marT="54864" marB="54864" anchor="t">
                    <a:lnL w="0">
                      <a:noFill/>
                    </a:lnL>
                    <a:lnR w="0">
                      <a:noFill/>
                    </a:lnR>
                    <a:lnT w="0">
                      <a:noFill/>
                    </a:lnT>
                    <a:lnB w="9525">
                      <a:solidFill>
                        <a:srgbClr val="E2E4E7"/>
                      </a:solidFill>
                    </a:lnB>
                    <a:noFill/>
                  </a:tcPr>
                </a:tc>
              </a:tr>
              <a:tr h="505053">
                <a:tc>
                  <a:txBody>
                    <a:bodyPr wrap="square"/>
                    <a:lstStyle/>
                    <a:p>
                      <a:pPr algn="l">
                        <a:lnSpc>
                          <a:spcPct val="100000"/>
                        </a:lnSpc>
                      </a:pPr>
                      <a:r>
                        <a:rPr sz="1050" b="1">
                          <a:solidFill>
                            <a:srgbClr val="15171A"/>
                          </a:solidFill>
                          <a:latin typeface="Noto Sans KR"/>
                          <a:ea typeface="Noto Sans KR"/>
                          <a:cs typeface="Noto Sans KR"/>
                        </a:rPr>
                        <a:t>싱크·세척</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식기 투입·꺼내기, 예비 헹굼·솔질, 정렬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오염/청결 동선 분리, 배수, 비산수, 세척기 연동</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1">
                          <a:solidFill>
                            <a:srgbClr val="15171A"/>
                          </a:solidFill>
                          <a:latin typeface="Noto Sans KR"/>
                          <a:ea typeface="Noto Sans KR"/>
                          <a:cs typeface="Noto Sans KR"/>
                        </a:rPr>
                        <a:t>가열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인덕션 조절, 젓기, 뚜껑 조작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온도·시간·액량 감시, 고온 작업 접근 제한</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1">
                          <a:solidFill>
                            <a:srgbClr val="15171A"/>
                          </a:solidFill>
                          <a:latin typeface="Noto Sans KR"/>
                          <a:ea typeface="Noto Sans KR"/>
                          <a:cs typeface="Noto Sans KR"/>
                        </a:rPr>
                        <a:t>배식·수납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정해진 그릇에 담기, 적층·보관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파손·누락 확인, 적층 높이 제한</a:t>
                      </a:r>
                    </a:p>
                  </a:txBody>
                  <a:tcPr marL="73152" marR="73152" marT="54864" marB="54864" anchor="t">
                    <a:lnL w="0">
                      <a:noFill/>
                    </a:lnL>
                    <a:lnR w="0">
                      <a:noFill/>
                    </a:lnR>
                    <a:lnT w="0">
                      <a:noFill/>
                    </a:lnT>
                    <a:lnB w="9525">
                      <a:solidFill>
                        <a:srgbClr val="E2E4E7"/>
                      </a:solidFill>
                    </a:lnB>
                    <a:noFill/>
                  </a:tcPr>
                </a:tc>
              </a:tr>
              <a:tr h="505053">
                <a:tc>
                  <a:txBody>
                    <a:bodyPr wrap="square"/>
                    <a:lstStyle/>
                    <a:p>
                      <a:pPr algn="l">
                        <a:lnSpc>
                          <a:spcPct val="100000"/>
                        </a:lnSpc>
                      </a:pPr>
                      <a:r>
                        <a:rPr sz="1050" b="1">
                          <a:solidFill>
                            <a:srgbClr val="15171A"/>
                          </a:solidFill>
                          <a:latin typeface="Noto Sans KR"/>
                          <a:ea typeface="Noto Sans KR"/>
                          <a:cs typeface="Noto Sans KR"/>
                        </a:rPr>
                        <a:t>대기·정비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수납, 외피 교체·세척, 수동 사용 전환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잔열·구동 상태 확인, 서비스 접근 공간</a:t>
                      </a:r>
                    </a:p>
                  </a:txBody>
                  <a:tcPr marL="73152" marR="73152" marT="54864" marB="54864" anchor="t">
                    <a:lnL w="0">
                      <a:noFill/>
                    </a:lnL>
                    <a:lnR w="0">
                      <a:noFill/>
                    </a:lnR>
                    <a:lnT w="0">
                      <a:noFill/>
                    </a:lnT>
                    <a:lnB w="9525">
                      <a:solidFill>
                        <a:srgbClr val="E2E4E7"/>
                      </a:solidFill>
                    </a:lnB>
                    <a:noFill/>
                  </a:tcPr>
                </a:tc>
              </a:tr>
            </a:tbl>
          </a:graphicData>
        </a:graphic>
      </p:graphicFrame>
      <p:sp>
        <p:nvSpPr>
          <p:cNvPr id="11" name="TextBox 10"/>
          <p:cNvSpPr txBox="1"/>
          <p:nvPr/>
        </p:nvSpPr>
        <p:spPr>
          <a:xfrm>
            <a:off x="5669280" y="4490161"/>
            <a:ext cx="583661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레시피 확장 순서</a:t>
            </a:r>
          </a:p>
        </p:txBody>
      </p:sp>
      <p:cxnSp>
        <p:nvCxnSpPr>
          <p:cNvPr id="12" name="Connector 11"/>
          <p:cNvCxnSpPr/>
          <p:nvPr/>
        </p:nvCxnSpPr>
        <p:spPr>
          <a:xfrm>
            <a:off x="5669280" y="4819345"/>
            <a:ext cx="5836615" cy="0"/>
          </a:xfrm>
          <a:prstGeom prst="line">
            <a:avLst/>
          </a:prstGeom>
          <a:ln w="12700">
            <a:solidFill>
              <a:srgbClr val="15171A"/>
            </a:solidFill>
          </a:ln>
        </p:spPr>
      </p:cxnSp>
      <p:graphicFrame>
        <p:nvGraphicFramePr>
          <p:cNvPr id="13" name="Table 12"/>
          <p:cNvGraphicFramePr>
            <a:graphicFrameLocks noGrp="1"/>
          </p:cNvGraphicFramePr>
          <p:nvPr/>
        </p:nvGraphicFramePr>
        <p:xfrm>
          <a:off x="5669280" y="4819345"/>
          <a:ext cx="5836615" cy="1138120"/>
        </p:xfrm>
        <a:graphic>
          <a:graphicData uri="http://schemas.openxmlformats.org/drawingml/2006/table">
            <a:tbl>
              <a:tblPr firstRow="0" bandRow="0">
                <a:tableStyleId>{2D5ABB26-0587-4C30-8999-92F81FD0307C}</a:tableStyleId>
              </a:tblPr>
              <a:tblGrid>
                <a:gridCol w="1005840"/>
                <a:gridCol w="4830775"/>
              </a:tblGrid>
              <a:tr h="284530">
                <a:tc>
                  <a:txBody>
                    <a:bodyPr wrap="square"/>
                    <a:lstStyle/>
                    <a:p>
                      <a:pPr algn="l">
                        <a:lnSpc>
                          <a:spcPct val="100000"/>
                        </a:lnSpc>
                      </a:pPr>
                      <a:r>
                        <a:rPr sz="1050" b="1">
                          <a:solidFill>
                            <a:srgbClr val="E2571B"/>
                          </a:solidFill>
                          <a:latin typeface="Noto Sans KR"/>
                          <a:ea typeface="Noto Sans KR"/>
                          <a:cs typeface="Noto Sans KR"/>
                        </a:rPr>
                        <a:t>1단계</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비가열 식기·재료 용기 취급</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2단계</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준비 재료를 사용한 저속 젓기 중심 볶음·찜</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3단계</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메뉴·용기 다양화, 오븐 조작</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4단계</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전용 밀폐·차폐 설비를 갖춘 튀김</a:t>
                      </a:r>
                    </a:p>
                  </a:txBody>
                  <a:tcPr marL="73152" marR="73152" marT="41148" marB="41148" anchor="t">
                    <a:lnL w="0">
                      <a:noFill/>
                    </a:lnL>
                    <a:lnR w="0">
                      <a:noFill/>
                    </a:lnR>
                    <a:lnT w="0">
                      <a:noFill/>
                    </a:lnT>
                    <a:lnB w="9525">
                      <a:solidFill>
                        <a:srgbClr val="E2E4E7"/>
                      </a:solidFill>
                    </a:lnB>
                    <a:noFill/>
                  </a:tcPr>
                </a:tc>
              </a:tr>
            </a:tbl>
          </a:graphicData>
        </a:graphic>
      </p:graphicFrame>
      <p:sp>
        <p:nvSpPr>
          <p:cNvPr id="14" name="TextBox 1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5" name="TextBox 1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팬 던지기·고속 칼질은 초기 조리 방식에서 제외 · 레시피는 검증된 작업 절차로 관리 · 이미지는 콘셉트 렌더링 · 부록 A7</a:t>
            </a:r>
          </a:p>
        </p:txBody>
      </p:sp>
      <p:sp>
        <p:nvSpPr>
          <p:cNvPr id="16" name="TextBox 1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07   성능 목표와 검증 계획</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작업 완료율과 사람 개입 시간 중심의 12·24개월 성능 목표</a:t>
            </a:r>
          </a:p>
        </p:txBody>
      </p:sp>
      <p:sp>
        <p:nvSpPr>
          <p:cNvPr id="4" name="TextBox 3"/>
          <p:cNvSpPr txBox="1"/>
          <p:nvPr/>
        </p:nvSpPr>
        <p:spPr>
          <a:xfrm>
            <a:off x="685800" y="1243584"/>
            <a:ext cx="10820095" cy="25603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제안 목표이며 실적 아님 · 시제품 시험 후 하중·속도·재질·환경 조건과 함께 확정</a:t>
            </a:r>
          </a:p>
        </p:txBody>
      </p:sp>
      <p:cxnSp>
        <p:nvCxnSpPr>
          <p:cNvPr id="5" name="Connector 4"/>
          <p:cNvCxnSpPr/>
          <p:nvPr/>
        </p:nvCxnSpPr>
        <p:spPr>
          <a:xfrm>
            <a:off x="685800" y="1591056"/>
            <a:ext cx="10820095" cy="0"/>
          </a:xfrm>
          <a:prstGeom prst="line">
            <a:avLst/>
          </a:prstGeom>
          <a:ln w="12700">
            <a:solidFill>
              <a:srgbClr val="15171A"/>
            </a:solidFill>
          </a:ln>
        </p:spPr>
      </p:cxnSp>
      <p:graphicFrame>
        <p:nvGraphicFramePr>
          <p:cNvPr id="6" name="Table 5"/>
          <p:cNvGraphicFramePr>
            <a:graphicFrameLocks noGrp="1"/>
          </p:cNvGraphicFramePr>
          <p:nvPr/>
        </p:nvGraphicFramePr>
        <p:xfrm>
          <a:off x="685800" y="1810512"/>
          <a:ext cx="10820095" cy="3129830"/>
        </p:xfrm>
        <a:graphic>
          <a:graphicData uri="http://schemas.openxmlformats.org/drawingml/2006/table">
            <a:tbl>
              <a:tblPr firstRow="0" bandRow="0">
                <a:tableStyleId>{2D5ABB26-0587-4C30-8999-92F81FD0307C}</a:tableStyleId>
              </a:tblPr>
              <a:tblGrid>
                <a:gridCol w="1783080"/>
                <a:gridCol w="2514600"/>
                <a:gridCol w="2971800"/>
                <a:gridCol w="3550615"/>
              </a:tblGrid>
              <a:tr h="284530">
                <a:tc>
                  <a:txBody>
                    <a:bodyPr wrap="square"/>
                    <a:lstStyle/>
                    <a:p>
                      <a:pPr algn="l">
                        <a:lnSpc>
                          <a:spcPct val="100000"/>
                        </a:lnSpc>
                      </a:pPr>
                      <a:r>
                        <a:rPr sz="1050" b="1">
                          <a:solidFill>
                            <a:srgbClr val="15171A"/>
                          </a:solidFill>
                          <a:latin typeface="Noto Sans KR"/>
                          <a:ea typeface="Noto Sans KR"/>
                          <a:cs typeface="Noto Sans KR"/>
                        </a:rPr>
                        <a:t>지표</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12개월 목표</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24개월 목표</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시험 정의</a:t>
                      </a:r>
                    </a:p>
                  </a:txBody>
                  <a:tcPr marL="73152" marR="73152" marT="41148" marB="41148" anchor="t">
                    <a:lnL w="0">
                      <a:noFill/>
                    </a:lnL>
                    <a:lnR w="0">
                      <a:noFill/>
                    </a:lnR>
                    <a:lnT w="12700">
                      <a:solidFill>
                        <a:srgbClr val="15171A"/>
                      </a:solidFill>
                    </a:lnT>
                    <a:lnB w="9525">
                      <a:solidFill>
                        <a:srgbClr val="15171A"/>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정적 파지</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등록 물체 20종, 95% 이상</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30종 이상, 98% 이상</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종별 100회, 낙하 없이 이송·배치 완료</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동적 파지</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0.1m/s 이하에서 90% 이상</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0.3m/s 이하에서 95% 이상</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무작위 초기위치, 전 시도 포함</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유연체 취급</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지정 샘플 3종, 90% 이상</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천·포장재 등 5종, 95% 이상</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찢김·과변형 없는 완료</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정렬 오차</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등록 강체 ±5mm</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등록 강체 ±3mm</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손에서 놓은 후 측정, 유연체 별도 기준</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감지→제어 갱신</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p95 200ms 이하</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p95 100ms 이하</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촬영부터 제어 명령까지 측정</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도구 작업</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저토크 작업 2종</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저토크 3종, 완료율 95% 이상</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토크·작업 시간 동시 보고</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핸드 하중</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건조 원통 손잡이 1kg</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동일 조건 2kg</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특정 자세·속도·모멘트 한계 명시</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내구성</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반복 개폐 10만 회</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30만 회 (양산 시 100만 회 지향)</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하중·교체주기·힘 저하율 명시</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주방 실증</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비가열 취급 시연</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메뉴 3종, 무개입 완료율 90% 이상</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메뉴별 100회 반복</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경제성</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공정별 기준 시간 확보</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E2571B"/>
                          </a:solidFill>
                          <a:latin typeface="Noto Sans KR"/>
                          <a:ea typeface="Noto Sans KR"/>
                          <a:cs typeface="Noto Sans KR"/>
                        </a:rPr>
                        <a:t>총 사람 개입시간 30% 이상 감소</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선정 고객의 기준 시간 대비 검증</a:t>
                      </a:r>
                    </a:p>
                  </a:txBody>
                  <a:tcPr marL="73152" marR="73152" marT="41148" marB="41148" anchor="t">
                    <a:lnL w="0">
                      <a:noFill/>
                    </a:lnL>
                    <a:lnR w="0">
                      <a:noFill/>
                    </a:lnR>
                    <a:lnT w="0">
                      <a:noFill/>
                    </a:lnT>
                    <a:lnB w="9525">
                      <a:solidFill>
                        <a:srgbClr val="E2E4E7"/>
                      </a:solidFill>
                    </a:lnB>
                    <a:noFill/>
                  </a:tcPr>
                </a:tc>
              </a:tr>
            </a:tbl>
          </a:graphicData>
        </a:graphic>
      </p:graphicFrame>
      <p:sp>
        <p:nvSpPr>
          <p:cNvPr id="7" name="TextBox 6"/>
          <p:cNvSpPr txBox="1"/>
          <p:nvPr/>
        </p:nvSpPr>
        <p:spPr>
          <a:xfrm>
            <a:off x="685800" y="5141518"/>
            <a:ext cx="5181447"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성능 보고 방식</a:t>
            </a:r>
          </a:p>
        </p:txBody>
      </p:sp>
      <p:cxnSp>
        <p:nvCxnSpPr>
          <p:cNvPr id="8" name="Connector 7"/>
          <p:cNvCxnSpPr/>
          <p:nvPr/>
        </p:nvCxnSpPr>
        <p:spPr>
          <a:xfrm>
            <a:off x="685800" y="5461558"/>
            <a:ext cx="5181447" cy="0"/>
          </a:xfrm>
          <a:prstGeom prst="line">
            <a:avLst/>
          </a:prstGeom>
          <a:ln w="12700">
            <a:solidFill>
              <a:srgbClr val="15171A"/>
            </a:solidFill>
          </a:ln>
        </p:spPr>
      </p:cxnSp>
      <p:sp>
        <p:nvSpPr>
          <p:cNvPr id="9" name="TextBox 8"/>
          <p:cNvSpPr txBox="1"/>
          <p:nvPr/>
        </p:nvSpPr>
        <p:spPr>
          <a:xfrm>
            <a:off x="685800" y="5543854"/>
            <a:ext cx="5181447" cy="650392"/>
          </a:xfrm>
          <a:prstGeom prst="rect">
            <a:avLst/>
          </a:prstGeom>
          <a:noFill/>
        </p:spPr>
        <p:txBody>
          <a:bodyPr wrap="square" lIns="0" rIns="0" tIns="0" bIns="0" anchor="t">
            <a:spAutoFit/>
          </a:bodyPr>
          <a:lstStyle/>
          <a:p>
            <a:pPr algn="l" marL="164592" indent="-164592">
              <a:lnSpc>
                <a:spcPct val="100000"/>
              </a:lnSpc>
              <a:spcAft>
                <a:spcPts val="100"/>
              </a:spcAft>
              <a:buClr>
                <a:srgbClr val="8C9198"/>
              </a:buClr>
              <a:buFont typeface="Noto Sans KR"/>
              <a:buChar char="•"/>
            </a:pPr>
            <a:r>
              <a:rPr sz="1050" b="0">
                <a:solidFill>
                  <a:srgbClr val="4A4F57"/>
                </a:solidFill>
                <a:latin typeface="Noto Sans KR"/>
                <a:ea typeface="Noto Sans KR"/>
                <a:cs typeface="Noto Sans KR"/>
              </a:rPr>
              <a:t>최초 시도 성공·재시도 포함 성공·작업 중단 분리 보고</a:t>
            </a:r>
          </a:p>
          <a:p>
            <a:pPr algn="l" marL="164592" indent="-164592">
              <a:lnSpc>
                <a:spcPct val="100000"/>
              </a:lnSpc>
              <a:spcAft>
                <a:spcPts val="100"/>
              </a:spcAft>
              <a:buClr>
                <a:srgbClr val="8C9198"/>
              </a:buClr>
              <a:buFont typeface="Noto Sans KR"/>
              <a:buChar char="•"/>
            </a:pPr>
            <a:r>
              <a:rPr sz="1050" b="0">
                <a:solidFill>
                  <a:srgbClr val="4A4F57"/>
                </a:solidFill>
                <a:latin typeface="Noto Sans KR"/>
                <a:ea typeface="Noto Sans KR"/>
                <a:cs typeface="Noto Sans KR"/>
              </a:rPr>
              <a:t>시험 횟수·성공 건수·신뢰구간 공개, 추적 중지·놓침도 실패</a:t>
            </a:r>
          </a:p>
          <a:p>
            <a:pPr algn="l" marL="164592" indent="-164592">
              <a:lnSpc>
                <a:spcPct val="100000"/>
              </a:lnSpc>
              <a:buClr>
                <a:srgbClr val="8C9198"/>
              </a:buClr>
              <a:buFont typeface="Noto Sans KR"/>
              <a:buChar char="•"/>
            </a:pPr>
            <a:r>
              <a:rPr sz="1050" b="0">
                <a:solidFill>
                  <a:srgbClr val="4A4F57"/>
                </a:solidFill>
                <a:latin typeface="Noto Sans KR"/>
                <a:ea typeface="Noto Sans KR"/>
                <a:cs typeface="Noto Sans KR"/>
              </a:rPr>
              <a:t>주방: 보충·세척·복구를 포함한 사람 개입시간, 에너지·물 사용량</a:t>
            </a:r>
          </a:p>
        </p:txBody>
      </p:sp>
      <p:sp>
        <p:nvSpPr>
          <p:cNvPr id="10" name="TextBox 9"/>
          <p:cNvSpPr txBox="1"/>
          <p:nvPr/>
        </p:nvSpPr>
        <p:spPr>
          <a:xfrm>
            <a:off x="6324447" y="5141518"/>
            <a:ext cx="5181447"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출시 게이트</a:t>
            </a:r>
          </a:p>
        </p:txBody>
      </p:sp>
      <p:cxnSp>
        <p:nvCxnSpPr>
          <p:cNvPr id="11" name="Connector 10"/>
          <p:cNvCxnSpPr/>
          <p:nvPr/>
        </p:nvCxnSpPr>
        <p:spPr>
          <a:xfrm>
            <a:off x="6324447" y="5461558"/>
            <a:ext cx="5181448" cy="0"/>
          </a:xfrm>
          <a:prstGeom prst="line">
            <a:avLst/>
          </a:prstGeom>
          <a:ln w="12700">
            <a:solidFill>
              <a:srgbClr val="15171A"/>
            </a:solidFill>
          </a:ln>
        </p:spPr>
      </p:cxnSp>
      <p:sp>
        <p:nvSpPr>
          <p:cNvPr id="12" name="TextBox 11"/>
          <p:cNvSpPr txBox="1"/>
          <p:nvPr/>
        </p:nvSpPr>
        <p:spPr>
          <a:xfrm>
            <a:off x="6324447" y="5543854"/>
            <a:ext cx="5181447" cy="650392"/>
          </a:xfrm>
          <a:prstGeom prst="rect">
            <a:avLst/>
          </a:prstGeom>
          <a:noFill/>
        </p:spPr>
        <p:txBody>
          <a:bodyPr wrap="square" lIns="0" rIns="0" tIns="0" bIns="0" anchor="t">
            <a:spAutoFit/>
          </a:bodyPr>
          <a:lstStyle/>
          <a:p>
            <a:pPr algn="l" marL="164592" indent="-164592">
              <a:lnSpc>
                <a:spcPct val="100000"/>
              </a:lnSpc>
              <a:spcAft>
                <a:spcPts val="100"/>
              </a:spcAft>
              <a:buClr>
                <a:srgbClr val="8C9198"/>
              </a:buClr>
              <a:buFont typeface="Noto Sans KR"/>
              <a:buChar char="•"/>
            </a:pPr>
            <a:r>
              <a:rPr sz="1050" b="0">
                <a:solidFill>
                  <a:srgbClr val="4A4F57"/>
                </a:solidFill>
                <a:latin typeface="Noto Sans KR"/>
                <a:ea typeface="Noto Sans KR"/>
                <a:cs typeface="Noto Sans KR"/>
              </a:rPr>
              <a:t>유료 실증은 고객과 합의한 제한된 운영 범위에서만 진행</a:t>
            </a:r>
          </a:p>
          <a:p>
            <a:pPr algn="l" marL="164592" indent="-164592">
              <a:lnSpc>
                <a:spcPct val="100000"/>
              </a:lnSpc>
              <a:spcAft>
                <a:spcPts val="100"/>
              </a:spcAft>
              <a:buClr>
                <a:srgbClr val="8C9198"/>
              </a:buClr>
              <a:buFont typeface="Noto Sans KR"/>
              <a:buChar char="•"/>
            </a:pPr>
            <a:r>
              <a:rPr sz="1050" b="0">
                <a:solidFill>
                  <a:srgbClr val="4A4F57"/>
                </a:solidFill>
                <a:latin typeface="Noto Sans KR"/>
                <a:ea typeface="Noto Sans KR"/>
                <a:cs typeface="Noto Sans KR"/>
              </a:rPr>
              <a:t>낙하·과열·의도치 않은 동작은 개선 완료까지 해당 기능 출시 보류</a:t>
            </a:r>
          </a:p>
          <a:p>
            <a:pPr algn="l" marL="164592" indent="-164592">
              <a:lnSpc>
                <a:spcPct val="100000"/>
              </a:lnSpc>
              <a:buClr>
                <a:srgbClr val="8C9198"/>
              </a:buClr>
              <a:buFont typeface="Noto Sans KR"/>
              <a:buChar char="•"/>
            </a:pPr>
            <a:r>
              <a:rPr sz="1050" b="0">
                <a:solidFill>
                  <a:srgbClr val="4A4F57"/>
                </a:solidFill>
                <a:latin typeface="Noto Sans KR"/>
                <a:ea typeface="Noto Sans KR"/>
                <a:cs typeface="Noto Sans KR"/>
              </a:rPr>
              <a:t>소수 시험의 무사고를 안전성 입증으로 주장하지 않음</a:t>
            </a:r>
          </a:p>
        </p:txBody>
      </p:sp>
      <p:sp>
        <p:nvSpPr>
          <p:cNvPr id="13" name="TextBox 1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4" name="TextBox 13"/>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단일 파지 성공률을 전체 조리 성공률로 제시하지 않음 · 시험 정의 상세 부록 A4</a:t>
            </a:r>
          </a:p>
        </p:txBody>
      </p:sp>
      <p:sp>
        <p:nvSpPr>
          <p:cNvPr id="15" name="TextBox 1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08   경쟁·차별화·지식재산</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차별화 요소는 동일 조건 비교 시험과 고객 평가로 검증</a:t>
            </a:r>
          </a:p>
        </p:txBody>
      </p:sp>
      <p:cxnSp>
        <p:nvCxnSpPr>
          <p:cNvPr id="4" name="Connector 3"/>
          <p:cNvCxnSpPr/>
          <p:nvPr/>
        </p:nvCxnSpPr>
        <p:spPr>
          <a:xfrm>
            <a:off x="685800" y="1243584"/>
            <a:ext cx="10820095" cy="0"/>
          </a:xfrm>
          <a:prstGeom prst="line">
            <a:avLst/>
          </a:prstGeom>
          <a:ln w="12700">
            <a:solidFill>
              <a:srgbClr val="15171A"/>
            </a:solidFill>
          </a:ln>
        </p:spPr>
      </p:cxnSp>
      <p:graphicFrame>
        <p:nvGraphicFramePr>
          <p:cNvPr id="5" name="Table 4"/>
          <p:cNvGraphicFramePr>
            <a:graphicFrameLocks noGrp="1"/>
          </p:cNvGraphicFramePr>
          <p:nvPr/>
        </p:nvGraphicFramePr>
        <p:xfrm>
          <a:off x="685800" y="1463040"/>
          <a:ext cx="10820095" cy="2440480"/>
        </p:xfrm>
        <a:graphic>
          <a:graphicData uri="http://schemas.openxmlformats.org/drawingml/2006/table">
            <a:tbl>
              <a:tblPr firstRow="0" bandRow="0">
                <a:tableStyleId>{2D5ABB26-0587-4C30-8999-92F81FD0307C}</a:tableStyleId>
              </a:tblPr>
              <a:tblGrid>
                <a:gridCol w="2148840"/>
                <a:gridCol w="4160520"/>
                <a:gridCol w="4510735"/>
              </a:tblGrid>
              <a:tr h="403504">
                <a:tc>
                  <a:txBody>
                    <a:bodyPr wrap="square"/>
                    <a:lstStyle/>
                    <a:p>
                      <a:pPr algn="l">
                        <a:lnSpc>
                          <a:spcPct val="100000"/>
                        </a:lnSpc>
                      </a:pPr>
                      <a:r>
                        <a:rPr sz="1150" b="1">
                          <a:solidFill>
                            <a:srgbClr val="15171A"/>
                          </a:solidFill>
                          <a:latin typeface="Noto Sans KR"/>
                          <a:ea typeface="Noto Sans KR"/>
                          <a:cs typeface="Noto Sans KR"/>
                        </a:rPr>
                        <a:t>비교 대상</a:t>
                      </a:r>
                    </a:p>
                  </a:txBody>
                  <a:tcPr marL="73152" marR="73152" marT="91440" marB="91440"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확인된 내용 (공개 자료)</a:t>
                      </a:r>
                    </a:p>
                  </a:txBody>
                  <a:tcPr marL="73152" marR="73152" marT="91440" marB="91440"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본 사업의 대응</a:t>
                      </a:r>
                    </a:p>
                  </a:txBody>
                  <a:tcPr marL="73152" marR="73152" marT="91440" marB="91440" anchor="t">
                    <a:lnL w="0">
                      <a:noFill/>
                    </a:lnL>
                    <a:lnR w="0">
                      <a:noFill/>
                    </a:lnR>
                    <a:lnT w="12700">
                      <a:solidFill>
                        <a:srgbClr val="15171A"/>
                      </a:solidFill>
                    </a:lnT>
                    <a:lnB w="9525">
                      <a:solidFill>
                        <a:srgbClr val="15171A"/>
                      </a:solidFill>
                    </a:lnB>
                    <a:noFill/>
                  </a:tcPr>
                </a:tc>
              </a:tr>
              <a:tr h="614984">
                <a:tc>
                  <a:txBody>
                    <a:bodyPr wrap="square"/>
                    <a:lstStyle/>
                    <a:p>
                      <a:pPr algn="l">
                        <a:lnSpc>
                          <a:spcPct val="100000"/>
                        </a:lnSpc>
                      </a:pPr>
                      <a:r>
                        <a:rPr sz="1150" b="1">
                          <a:solidFill>
                            <a:srgbClr val="15171A"/>
                          </a:solidFill>
                          <a:latin typeface="Noto Sans KR"/>
                          <a:ea typeface="Noto Sans KR"/>
                          <a:cs typeface="Noto Sans KR"/>
                        </a:rPr>
                        <a:t>qbrobotics</a:t>
                      </a:r>
                    </a:p>
                    <a:p>
                      <a:pPr algn="l">
                        <a:lnSpc>
                          <a:spcPct val="100000"/>
                        </a:lnSpc>
                      </a:pPr>
                      <a:r>
                        <a:rPr sz="1150" b="1">
                          <a:solidFill>
                            <a:srgbClr val="15171A"/>
                          </a:solidFill>
                          <a:latin typeface="Noto Sans KR"/>
                          <a:ea typeface="Noto Sans KR"/>
                          <a:cs typeface="Noto Sans KR"/>
                        </a:rPr>
                        <a:t>qb SoftHand Industry</a:t>
                      </a:r>
                    </a:p>
                  </a:txBody>
                  <a:tcPr marL="73152" marR="73152" marT="91440" marB="9144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제조사 공개 사양: 5지, 19자유도·1모터, 파워그립 2kg, IP65</a:t>
                      </a:r>
                    </a:p>
                  </a:txBody>
                  <a:tcPr marL="73152" marR="73152" marT="91440" marB="9144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다지 형태보다 도구 토크 유지·부분 독립 조작·세척 교체부·작업 완료율로 비교</a:t>
                      </a:r>
                    </a:p>
                  </a:txBody>
                  <a:tcPr marL="73152" marR="73152" marT="91440" marB="91440" anchor="t">
                    <a:lnL w="0">
                      <a:noFill/>
                    </a:lnL>
                    <a:lnR w="0">
                      <a:noFill/>
                    </a:lnR>
                    <a:lnT w="0">
                      <a:noFill/>
                    </a:lnT>
                    <a:lnB w="9525">
                      <a:solidFill>
                        <a:srgbClr val="E2E4E7"/>
                      </a:solidFill>
                    </a:lnB>
                    <a:noFill/>
                  </a:tcPr>
                </a:tc>
              </a:tr>
              <a:tr h="614984">
                <a:tc>
                  <a:txBody>
                    <a:bodyPr wrap="square"/>
                    <a:lstStyle/>
                    <a:p>
                      <a:pPr algn="l">
                        <a:lnSpc>
                          <a:spcPct val="100000"/>
                        </a:lnSpc>
                      </a:pPr>
                      <a:r>
                        <a:rPr sz="1150" b="1">
                          <a:solidFill>
                            <a:srgbClr val="15171A"/>
                          </a:solidFill>
                          <a:latin typeface="Noto Sans KR"/>
                          <a:ea typeface="Noto Sans KR"/>
                          <a:cs typeface="Noto Sans KR"/>
                        </a:rPr>
                        <a:t>Moley Robotics</a:t>
                      </a:r>
                    </a:p>
                    <a:p>
                      <a:pPr algn="l">
                        <a:lnSpc>
                          <a:spcPct val="100000"/>
                        </a:lnSpc>
                      </a:pPr>
                      <a:r>
                        <a:rPr sz="1150" b="1">
                          <a:solidFill>
                            <a:srgbClr val="15171A"/>
                          </a:solidFill>
                          <a:latin typeface="Noto Sans KR"/>
                          <a:ea typeface="Noto Sans KR"/>
                          <a:cs typeface="Noto Sans KR"/>
                        </a:rPr>
                        <a:t>A-AiR</a:t>
                      </a:r>
                    </a:p>
                  </a:txBody>
                  <a:tcPr marL="73152" marR="73152" marT="91440" marB="9144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이동 플랫폼 양손 로봇, 3자유도 갠트리, 비전, 수전·오븐 등 주방기기 연동 (공급사 소개)</a:t>
                      </a:r>
                    </a:p>
                  </a:txBody>
                  <a:tcPr marL="73152" marR="73152" marT="91440" marB="9144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천장 양팔 주방 자체의 신규성은 주장하지 않음</a:t>
                      </a:r>
                    </a:p>
                    <a:p>
                      <a:pPr algn="l">
                        <a:lnSpc>
                          <a:spcPct val="100000"/>
                        </a:lnSpc>
                      </a:pPr>
                      <a:r>
                        <a:rPr sz="1150" b="0">
                          <a:solidFill>
                            <a:srgbClr val="15171A"/>
                          </a:solidFill>
                          <a:latin typeface="Noto Sans KR"/>
                          <a:ea typeface="Noto Sans KR"/>
                          <a:cs typeface="Noto Sans KR"/>
                        </a:rPr>
                        <a:t>부품 플랫폼·국내 주방 통합·서비스성 검증</a:t>
                      </a:r>
                    </a:p>
                  </a:txBody>
                  <a:tcPr marL="73152" marR="73152" marT="91440" marB="91440" anchor="t">
                    <a:lnL w="0">
                      <a:noFill/>
                    </a:lnL>
                    <a:lnR w="0">
                      <a:noFill/>
                    </a:lnR>
                    <a:lnT w="0">
                      <a:noFill/>
                    </a:lnT>
                    <a:lnB w="9525">
                      <a:solidFill>
                        <a:srgbClr val="E2E4E7"/>
                      </a:solidFill>
                    </a:lnB>
                    <a:noFill/>
                  </a:tcPr>
                </a:tc>
              </a:tr>
              <a:tr h="403504">
                <a:tc>
                  <a:txBody>
                    <a:bodyPr wrap="square"/>
                    <a:lstStyle/>
                    <a:p>
                      <a:pPr algn="l">
                        <a:lnSpc>
                          <a:spcPct val="100000"/>
                        </a:lnSpc>
                      </a:pPr>
                      <a:r>
                        <a:rPr sz="1150" b="1">
                          <a:solidFill>
                            <a:srgbClr val="15171A"/>
                          </a:solidFill>
                          <a:latin typeface="Noto Sans KR"/>
                          <a:ea typeface="Noto Sans KR"/>
                          <a:cs typeface="Noto Sans KR"/>
                        </a:rPr>
                        <a:t>YORI 연구 (2024)</a:t>
                      </a:r>
                    </a:p>
                  </a:txBody>
                  <a:tcPr marL="73152" marR="73152" marT="91440" marB="9144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모듈형 주방과 양팔 조작을 활용한 자율 조리 연구</a:t>
                      </a:r>
                    </a:p>
                  </a:txBody>
                  <a:tcPr marL="73152" marR="73152" marT="91440" marB="9144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연구 시연 이후 장시간 운영·정비·유료 고객 경제성 입증</a:t>
                      </a:r>
                    </a:p>
                  </a:txBody>
                  <a:tcPr marL="73152" marR="73152" marT="91440" marB="91440" anchor="t">
                    <a:lnL w="0">
                      <a:noFill/>
                    </a:lnL>
                    <a:lnR w="0">
                      <a:noFill/>
                    </a:lnR>
                    <a:lnT w="0">
                      <a:noFill/>
                    </a:lnT>
                    <a:lnB w="9525">
                      <a:solidFill>
                        <a:srgbClr val="E2E4E7"/>
                      </a:solidFill>
                    </a:lnB>
                    <a:noFill/>
                  </a:tcPr>
                </a:tc>
              </a:tr>
              <a:tr h="403504">
                <a:tc>
                  <a:txBody>
                    <a:bodyPr wrap="square"/>
                    <a:lstStyle/>
                    <a:p>
                      <a:pPr algn="l">
                        <a:lnSpc>
                          <a:spcPct val="100000"/>
                        </a:lnSpc>
                      </a:pPr>
                      <a:r>
                        <a:rPr sz="1150" b="1">
                          <a:solidFill>
                            <a:srgbClr val="15171A"/>
                          </a:solidFill>
                          <a:latin typeface="Noto Sans KR"/>
                          <a:ea typeface="Noto Sans KR"/>
                          <a:cs typeface="Noto Sans KR"/>
                        </a:rPr>
                        <a:t>전용 그리퍼·전용 조리기</a:t>
                      </a:r>
                    </a:p>
                  </a:txBody>
                  <a:tcPr marL="73152" marR="73152" marT="91440" marB="9144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지정 공정에 최적화한 대안</a:t>
                      </a:r>
                    </a:p>
                  </a:txBody>
                  <a:tcPr marL="73152" marR="73152" marT="91440" marB="9144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범용성 이득이 비용·속도 손실보다 큰 다품종 작업에 집중</a:t>
                      </a:r>
                    </a:p>
                  </a:txBody>
                  <a:tcPr marL="73152" marR="73152" marT="91440" marB="91440"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4269282"/>
            <a:ext cx="3657600"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차별화 가설 (모두 검증 대상)</a:t>
            </a:r>
          </a:p>
        </p:txBody>
      </p:sp>
      <p:cxnSp>
        <p:nvCxnSpPr>
          <p:cNvPr id="7" name="Connector 6"/>
          <p:cNvCxnSpPr/>
          <p:nvPr/>
        </p:nvCxnSpPr>
        <p:spPr>
          <a:xfrm>
            <a:off x="685800" y="4589322"/>
            <a:ext cx="3657600" cy="0"/>
          </a:xfrm>
          <a:prstGeom prst="line">
            <a:avLst/>
          </a:prstGeom>
          <a:ln w="12700">
            <a:solidFill>
              <a:srgbClr val="15171A"/>
            </a:solidFill>
          </a:ln>
        </p:spPr>
      </p:cxnSp>
      <p:sp>
        <p:nvSpPr>
          <p:cNvPr id="8" name="TextBox 7"/>
          <p:cNvSpPr txBox="1"/>
          <p:nvPr/>
        </p:nvSpPr>
        <p:spPr>
          <a:xfrm>
            <a:off x="685800" y="4671618"/>
            <a:ext cx="3657600" cy="1209548"/>
          </a:xfrm>
          <a:prstGeom prst="rect">
            <a:avLst/>
          </a:prstGeom>
          <a:noFill/>
        </p:spPr>
        <p:txBody>
          <a:bodyPr wrap="square" lIns="0" rIns="0" tIns="0" bIns="0" anchor="t">
            <a:spAutoFit/>
          </a:bodyPr>
          <a:lstStyle/>
          <a:p>
            <a:pPr algn="l">
              <a:lnSpc>
                <a:spcPct val="100000"/>
              </a:lnSpc>
              <a:spcAft>
                <a:spcPts val="300"/>
              </a:spcAft>
            </a:pPr>
            <a:r>
              <a:rPr sz="1100" b="0">
                <a:solidFill>
                  <a:srgbClr val="4A4F57"/>
                </a:solidFill>
                <a:latin typeface="Noto Sans KR"/>
                <a:ea typeface="Noto Sans KR"/>
                <a:cs typeface="Noto Sans KR"/>
              </a:rPr>
              <a:t>① 감싸쥐기와 토크 유지를 함께 하는 하이브리드 핸드</a:t>
            </a:r>
          </a:p>
          <a:p>
            <a:pPr algn="l">
              <a:lnSpc>
                <a:spcPct val="100000"/>
              </a:lnSpc>
              <a:spcAft>
                <a:spcPts val="300"/>
              </a:spcAft>
            </a:pPr>
            <a:r>
              <a:rPr sz="1100" b="0">
                <a:solidFill>
                  <a:srgbClr val="4A4F57"/>
                </a:solidFill>
                <a:latin typeface="Noto Sans KR"/>
                <a:ea typeface="Noto Sans KR"/>
                <a:cs typeface="Noto Sans KR"/>
              </a:rPr>
              <a:t>② 비전·촉각·힘 제어를 결합한 작업별 스킬</a:t>
            </a:r>
          </a:p>
          <a:p>
            <a:pPr algn="l">
              <a:lnSpc>
                <a:spcPct val="100000"/>
              </a:lnSpc>
              <a:spcAft>
                <a:spcPts val="300"/>
              </a:spcAft>
            </a:pPr>
            <a:r>
              <a:rPr sz="1100" b="0">
                <a:solidFill>
                  <a:srgbClr val="4A4F57"/>
                </a:solidFill>
                <a:latin typeface="Noto Sans KR"/>
                <a:ea typeface="Noto Sans KR"/>
                <a:cs typeface="Noto Sans KR"/>
              </a:rPr>
              <a:t>③ 현장에서 교체·세척하는 주방 접촉 모듈</a:t>
            </a:r>
          </a:p>
          <a:p>
            <a:pPr algn="l">
              <a:lnSpc>
                <a:spcPct val="100000"/>
              </a:lnSpc>
              <a:spcAft>
                <a:spcPts val="300"/>
              </a:spcAft>
            </a:pPr>
            <a:r>
              <a:rPr sz="1100" b="0">
                <a:solidFill>
                  <a:srgbClr val="4A4F57"/>
                </a:solidFill>
                <a:latin typeface="Noto Sans KR"/>
                <a:ea typeface="Noto Sans KR"/>
                <a:cs typeface="Noto Sans KR"/>
              </a:rPr>
              <a:t>④ 로봇 제조사별 장착·제어 연결</a:t>
            </a:r>
          </a:p>
          <a:p>
            <a:pPr algn="l">
              <a:lnSpc>
                <a:spcPct val="100000"/>
              </a:lnSpc>
            </a:pPr>
            <a:r>
              <a:rPr sz="1100" b="0">
                <a:solidFill>
                  <a:srgbClr val="4A4F57"/>
                </a:solidFill>
                <a:latin typeface="Noto Sans KR"/>
                <a:ea typeface="Noto Sans KR"/>
                <a:cs typeface="Noto Sans KR"/>
              </a:rPr>
              <a:t>⑤ 실패와 복구를 포함한 실사용 데이터</a:t>
            </a:r>
          </a:p>
        </p:txBody>
      </p:sp>
      <p:sp>
        <p:nvSpPr>
          <p:cNvPr id="9" name="TextBox 8"/>
          <p:cNvSpPr txBox="1"/>
          <p:nvPr/>
        </p:nvSpPr>
        <p:spPr>
          <a:xfrm>
            <a:off x="4709160" y="4269282"/>
            <a:ext cx="3429000"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특허·영업비밀 (계획)</a:t>
            </a:r>
          </a:p>
        </p:txBody>
      </p:sp>
      <p:cxnSp>
        <p:nvCxnSpPr>
          <p:cNvPr id="10" name="Connector 9"/>
          <p:cNvCxnSpPr/>
          <p:nvPr/>
        </p:nvCxnSpPr>
        <p:spPr>
          <a:xfrm>
            <a:off x="4709160" y="4589322"/>
            <a:ext cx="3429000" cy="0"/>
          </a:xfrm>
          <a:prstGeom prst="line">
            <a:avLst/>
          </a:prstGeom>
          <a:ln w="12700">
            <a:solidFill>
              <a:srgbClr val="15171A"/>
            </a:solidFill>
          </a:ln>
        </p:spPr>
      </p:cxnSp>
      <p:sp>
        <p:nvSpPr>
          <p:cNvPr id="11" name="TextBox 10"/>
          <p:cNvSpPr txBox="1"/>
          <p:nvPr/>
        </p:nvSpPr>
        <p:spPr>
          <a:xfrm>
            <a:off x="4709160" y="4671618"/>
            <a:ext cx="3429000" cy="1335633"/>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출원 후보: 엄지 대향·관절 잠금, 손끝 교체·밀봉,</a:t>
            </a:r>
            <a:br/>
            <a:r>
              <a:rPr sz="1100" b="0">
                <a:solidFill>
                  <a:srgbClr val="4A4F57"/>
                </a:solidFill>
                <a:latin typeface="Noto Sans KR"/>
                <a:ea typeface="Noto Sans KR"/>
                <a:cs typeface="Noto Sans KR"/>
              </a:rPr>
              <a:t>파지 재구성, 양팔·이동축 작업 분담</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선행기술 조사 전 독자성·비침해·세계 최초</a:t>
            </a:r>
            <a:br/>
            <a:r>
              <a:rPr sz="1100" b="0">
                <a:solidFill>
                  <a:srgbClr val="4A4F57"/>
                </a:solidFill>
                <a:latin typeface="Noto Sans KR"/>
                <a:ea typeface="Noto Sans KR"/>
                <a:cs typeface="Noto Sans KR"/>
              </a:rPr>
              <a:t>주장 안 함</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영업비밀 후보: 데이터 정제, 장력 보정,</a:t>
            </a:r>
            <a:br/>
            <a:r>
              <a:rPr sz="1100" b="0">
                <a:solidFill>
                  <a:srgbClr val="4A4F57"/>
                </a:solidFill>
                <a:latin typeface="Noto Sans KR"/>
                <a:ea typeface="Noto Sans KR"/>
                <a:cs typeface="Noto Sans KR"/>
              </a:rPr>
              <a:t>실패 복구 파라미터</a:t>
            </a:r>
          </a:p>
        </p:txBody>
      </p:sp>
      <p:sp>
        <p:nvSpPr>
          <p:cNvPr id="12" name="TextBox 11"/>
          <p:cNvSpPr txBox="1"/>
          <p:nvPr/>
        </p:nvSpPr>
        <p:spPr>
          <a:xfrm>
            <a:off x="8503920" y="4269282"/>
            <a:ext cx="300197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비교 실험·데이터 권리</a:t>
            </a:r>
          </a:p>
        </p:txBody>
      </p:sp>
      <p:cxnSp>
        <p:nvCxnSpPr>
          <p:cNvPr id="13" name="Connector 12"/>
          <p:cNvCxnSpPr/>
          <p:nvPr/>
        </p:nvCxnSpPr>
        <p:spPr>
          <a:xfrm>
            <a:off x="8503920" y="4589322"/>
            <a:ext cx="3001975" cy="0"/>
          </a:xfrm>
          <a:prstGeom prst="line">
            <a:avLst/>
          </a:prstGeom>
          <a:ln w="12700">
            <a:solidFill>
              <a:srgbClr val="15171A"/>
            </a:solidFill>
          </a:ln>
        </p:spPr>
      </p:cxnSp>
      <p:sp>
        <p:nvSpPr>
          <p:cNvPr id="14" name="TextBox 13"/>
          <p:cNvSpPr txBox="1"/>
          <p:nvPr/>
        </p:nvSpPr>
        <p:spPr>
          <a:xfrm>
            <a:off x="8503920" y="4671618"/>
            <a:ext cx="3001975" cy="1133348"/>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전용 그리퍼와 동일 조건 비교</a:t>
            </a:r>
            <a:br/>
            <a:r>
              <a:rPr sz="1100" b="0">
                <a:solidFill>
                  <a:srgbClr val="4A4F57"/>
                </a:solidFill>
                <a:latin typeface="Noto Sans KR"/>
                <a:ea typeface="Noto Sans KR"/>
                <a:cs typeface="Noto Sans KR"/>
              </a:rPr>
              <a:t>(사이클타임·전환시간·성공률·총비용)</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고객 데이터의 학습·재사용 범위는</a:t>
            </a:r>
            <a:br/>
            <a:r>
              <a:rPr sz="1100" b="0">
                <a:solidFill>
                  <a:srgbClr val="4A4F57"/>
                </a:solidFill>
                <a:latin typeface="Noto Sans KR"/>
                <a:ea typeface="Noto Sans KR"/>
                <a:cs typeface="Noto Sans KR"/>
              </a:rPr>
              <a:t>계약에서 분리 합의</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오픈소스 상업 이용 조건 출시 전 확인</a:t>
            </a:r>
          </a:p>
        </p:txBody>
      </p:sp>
      <p:sp>
        <p:nvSpPr>
          <p:cNvPr id="15" name="TextBox 1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6" name="TextBox 15"/>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출처: qbrobotics 제품 사양, Moley Robotics A-AiR 소개, arXiv:2405.11094 · 독립 비교시험 아님 · 상세 부록 A8</a:t>
            </a:r>
          </a:p>
        </p:txBody>
      </p:sp>
      <p:sp>
        <p:nvSpPr>
          <p:cNvPr id="17" name="TextBox 1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09   시장 진입 전략</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비가열 취급·정렬·저하중 도구 작업으로 진입해 SI 반복 판매로 확대</a:t>
            </a:r>
          </a:p>
        </p:txBody>
      </p:sp>
      <p:cxnSp>
        <p:nvCxnSpPr>
          <p:cNvPr id="4" name="Connector 3"/>
          <p:cNvCxnSpPr/>
          <p:nvPr/>
        </p:nvCxnSpPr>
        <p:spPr>
          <a:xfrm>
            <a:off x="685800" y="1243584"/>
            <a:ext cx="10820095" cy="0"/>
          </a:xfrm>
          <a:prstGeom prst="line">
            <a:avLst/>
          </a:prstGeom>
          <a:ln w="12700">
            <a:solidFill>
              <a:srgbClr val="15171A"/>
            </a:solidFill>
          </a:ln>
        </p:spPr>
      </p:cxnSp>
      <p:sp>
        <p:nvSpPr>
          <p:cNvPr id="5" name="TextBox 4"/>
          <p:cNvSpPr txBox="1"/>
          <p:nvPr/>
        </p:nvSpPr>
        <p:spPr>
          <a:xfrm>
            <a:off x="685800" y="1463040"/>
            <a:ext cx="6172200"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연차별 판매 순서</a:t>
            </a:r>
          </a:p>
        </p:txBody>
      </p:sp>
      <p:graphicFrame>
        <p:nvGraphicFramePr>
          <p:cNvPr id="6" name="Table 5"/>
          <p:cNvGraphicFramePr>
            <a:graphicFrameLocks noGrp="1"/>
          </p:cNvGraphicFramePr>
          <p:nvPr/>
        </p:nvGraphicFramePr>
        <p:xfrm>
          <a:off x="685800" y="1810512"/>
          <a:ext cx="6172200" cy="2304083"/>
        </p:xfrm>
        <a:graphic>
          <a:graphicData uri="http://schemas.openxmlformats.org/drawingml/2006/table">
            <a:tbl>
              <a:tblPr firstRow="0" bandRow="0">
                <a:tableStyleId>{2D5ABB26-0587-4C30-8999-92F81FD0307C}</a:tableStyleId>
              </a:tblPr>
              <a:tblGrid>
                <a:gridCol w="777240"/>
                <a:gridCol w="2240280"/>
                <a:gridCol w="1508760"/>
                <a:gridCol w="1645920"/>
              </a:tblGrid>
              <a:tr h="339445">
                <a:tc>
                  <a:txBody>
                    <a:bodyPr wrap="square"/>
                    <a:lstStyle/>
                    <a:p>
                      <a:pPr algn="l">
                        <a:lnSpc>
                          <a:spcPct val="100000"/>
                        </a:lnSpc>
                      </a:pPr>
                      <a:r>
                        <a:rPr sz="1100" b="1">
                          <a:solidFill>
                            <a:srgbClr val="15171A"/>
                          </a:solidFill>
                          <a:latin typeface="Noto Sans KR"/>
                          <a:ea typeface="Noto Sans KR"/>
                          <a:cs typeface="Noto Sans KR"/>
                        </a:rPr>
                        <a:t>시기</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판매 방식</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대상 고객</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재무 계획 반영</a:t>
                      </a:r>
                    </a:p>
                  </a:txBody>
                  <a:tcPr marL="73152" marR="73152" marT="64008" marB="64008" anchor="t">
                    <a:lnL w="0">
                      <a:noFill/>
                    </a:lnL>
                    <a:lnR w="0">
                      <a:noFill/>
                    </a:lnR>
                    <a:lnT w="12700">
                      <a:solidFill>
                        <a:srgbClr val="15171A"/>
                      </a:solidFill>
                    </a:lnT>
                    <a:lnB w="9525">
                      <a:solidFill>
                        <a:srgbClr val="15171A"/>
                      </a:solidFill>
                    </a:lnB>
                    <a:noFill/>
                  </a:tcPr>
                </a:tc>
              </a:tr>
              <a:tr h="339445">
                <a:tc>
                  <a:txBody>
                    <a:bodyPr wrap="square"/>
                    <a:lstStyle/>
                    <a:p>
                      <a:pPr algn="l">
                        <a:lnSpc>
                          <a:spcPct val="100000"/>
                        </a:lnSpc>
                      </a:pPr>
                      <a:r>
                        <a:rPr sz="1100" b="1">
                          <a:solidFill>
                            <a:srgbClr val="E2571B"/>
                          </a:solidFill>
                          <a:latin typeface="Noto Sans KR"/>
                          <a:ea typeface="Noto Sans KR"/>
                          <a:cs typeface="Noto Sans KR"/>
                        </a:rPr>
                        <a:t>1년차</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유료 실증·기술개발 계약</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로봇 SI·제조기업</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실증·개발 매출 1.0억 원</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2년차</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SI를 통한 핸드 반복 판매</a:t>
                      </a:r>
                    </a:p>
                    <a:p>
                      <a:pPr algn="l">
                        <a:lnSpc>
                          <a:spcPct val="100000"/>
                        </a:lnSpc>
                      </a:pPr>
                      <a:r>
                        <a:rPr sz="1100" b="0">
                          <a:solidFill>
                            <a:srgbClr val="15171A"/>
                          </a:solidFill>
                          <a:latin typeface="Noto Sans KR"/>
                          <a:ea typeface="Noto Sans KR"/>
                          <a:cs typeface="Noto Sans KR"/>
                        </a:rPr>
                        <a:t>SW 연간 계약</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로봇 SI·제조기업</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핸드 30대, SW 10건</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3년차~</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주방 제조사와 표준 설치</a:t>
                      </a:r>
                    </a:p>
                    <a:p>
                      <a:pPr algn="l">
                        <a:lnSpc>
                          <a:spcPct val="100000"/>
                        </a:lnSpc>
                      </a:pPr>
                      <a:r>
                        <a:rPr sz="1100" b="0">
                          <a:solidFill>
                            <a:srgbClr val="15171A"/>
                          </a:solidFill>
                          <a:latin typeface="Noto Sans KR"/>
                          <a:ea typeface="Noto Sans KR"/>
                          <a:cs typeface="Noto Sans KR"/>
                        </a:rPr>
                        <a:t>모델 공동 판매</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주방 제조사</a:t>
                      </a:r>
                    </a:p>
                    <a:p>
                      <a:pPr algn="l">
                        <a:lnSpc>
                          <a:spcPct val="100000"/>
                        </a:lnSpc>
                      </a:pPr>
                      <a:r>
                        <a:rPr sz="1100" b="0">
                          <a:solidFill>
                            <a:srgbClr val="15171A"/>
                          </a:solidFill>
                          <a:latin typeface="Noto Sans KR"/>
                          <a:ea typeface="Noto Sans KR"/>
                          <a:cs typeface="Noto Sans KR"/>
                        </a:rPr>
                        <a:t>상업 주방 운영사</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주방 셀 5대</a:t>
                      </a:r>
                    </a:p>
                    <a:p>
                      <a:pPr algn="l">
                        <a:lnSpc>
                          <a:spcPct val="100000"/>
                        </a:lnSpc>
                      </a:pPr>
                      <a:r>
                        <a:rPr sz="1100" b="0">
                          <a:solidFill>
                            <a:srgbClr val="15171A"/>
                          </a:solidFill>
                          <a:latin typeface="Noto Sans KR"/>
                          <a:ea typeface="Noto Sans KR"/>
                          <a:cs typeface="Noto Sans KR"/>
                        </a:rPr>
                        <a:t>(5년차 25대)</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장기</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임대·RaaS (정비비·잔존가치</a:t>
                      </a:r>
                    </a:p>
                    <a:p>
                      <a:pPr algn="l">
                        <a:lnSpc>
                          <a:spcPct val="100000"/>
                        </a:lnSpc>
                      </a:pPr>
                      <a:r>
                        <a:rPr sz="1100" b="0">
                          <a:solidFill>
                            <a:srgbClr val="15171A"/>
                          </a:solidFill>
                          <a:latin typeface="Noto Sans KR"/>
                          <a:ea typeface="Noto Sans KR"/>
                          <a:cs typeface="Noto Sans KR"/>
                        </a:rPr>
                        <a:t>확보 후 금융 파트너와 검토)</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기준 시나리오 미반영</a:t>
                      </a:r>
                    </a:p>
                  </a:txBody>
                  <a:tcPr marL="73152" marR="73152" marT="64008" marB="64008" anchor="t">
                    <a:lnL w="0">
                      <a:noFill/>
                    </a:lnL>
                    <a:lnR w="0">
                      <a:noFill/>
                    </a:lnR>
                    <a:lnT w="0">
                      <a:noFill/>
                    </a:lnT>
                    <a:lnB w="9525">
                      <a:solidFill>
                        <a:srgbClr val="E2E4E7"/>
                      </a:solidFill>
                    </a:lnB>
                    <a:noFill/>
                  </a:tcPr>
                </a:tc>
              </a:tr>
            </a:tbl>
          </a:graphicData>
        </a:graphic>
      </p:graphicFrame>
      <p:sp>
        <p:nvSpPr>
          <p:cNvPr id="7" name="TextBox 6"/>
          <p:cNvSpPr txBox="1"/>
          <p:nvPr/>
        </p:nvSpPr>
        <p:spPr>
          <a:xfrm>
            <a:off x="685800" y="4388916"/>
            <a:ext cx="6172200"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고객 전환 절차</a:t>
            </a:r>
          </a:p>
        </p:txBody>
      </p:sp>
      <p:graphicFrame>
        <p:nvGraphicFramePr>
          <p:cNvPr id="8" name="Table 7"/>
          <p:cNvGraphicFramePr>
            <a:graphicFrameLocks noGrp="1"/>
          </p:cNvGraphicFramePr>
          <p:nvPr/>
        </p:nvGraphicFramePr>
        <p:xfrm>
          <a:off x="685800" y="4736388"/>
          <a:ext cx="6172200" cy="678890"/>
        </p:xfrm>
        <a:graphic>
          <a:graphicData uri="http://schemas.openxmlformats.org/drawingml/2006/table">
            <a:tbl>
              <a:tblPr firstRow="0" bandRow="0">
                <a:tableStyleId>{2D5ABB26-0587-4C30-8999-92F81FD0307C}</a:tableStyleId>
              </a:tblPr>
              <a:tblGrid>
                <a:gridCol w="1543050"/>
                <a:gridCol w="1543050"/>
                <a:gridCol w="1543050"/>
                <a:gridCol w="1543050"/>
              </a:tblGrid>
              <a:tr h="339445">
                <a:tc>
                  <a:txBody>
                    <a:bodyPr wrap="square"/>
                    <a:lstStyle/>
                    <a:p>
                      <a:pPr algn="l">
                        <a:lnSpc>
                          <a:spcPct val="100000"/>
                        </a:lnSpc>
                      </a:pPr>
                      <a:r>
                        <a:rPr sz="1100" b="1">
                          <a:solidFill>
                            <a:srgbClr val="E2571B"/>
                          </a:solidFill>
                          <a:latin typeface="Noto Sans KR"/>
                          <a:ea typeface="Noto Sans KR"/>
                          <a:cs typeface="Noto Sans KR"/>
                        </a:rPr>
                        <a:t>1단계</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E2571B"/>
                          </a:solidFill>
                          <a:latin typeface="Noto Sans KR"/>
                          <a:ea typeface="Noto Sans KR"/>
                          <a:cs typeface="Noto Sans KR"/>
                        </a:rPr>
                        <a:t>2단계</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E2571B"/>
                          </a:solidFill>
                          <a:latin typeface="Noto Sans KR"/>
                          <a:ea typeface="Noto Sans KR"/>
                          <a:cs typeface="Noto Sans KR"/>
                        </a:rPr>
                        <a:t>3단계</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E2571B"/>
                          </a:solidFill>
                          <a:latin typeface="Noto Sans KR"/>
                          <a:ea typeface="Noto Sans KR"/>
                          <a:cs typeface="Noto Sans KR"/>
                        </a:rPr>
                        <a:t>4단계</a:t>
                      </a:r>
                    </a:p>
                  </a:txBody>
                  <a:tcPr marL="73152" marR="73152" marT="64008" marB="64008" anchor="t">
                    <a:lnL w="0">
                      <a:noFill/>
                    </a:lnL>
                    <a:lnR w="0">
                      <a:noFill/>
                    </a:lnR>
                    <a:lnT w="12700">
                      <a:solidFill>
                        <a:srgbClr val="15171A"/>
                      </a:solidFill>
                    </a:lnT>
                    <a:lnB w="9525">
                      <a:solidFill>
                        <a:srgbClr val="15171A"/>
                      </a:solidFill>
                    </a:lnB>
                    <a:noFill/>
                  </a:tcPr>
                </a:tc>
              </a:tr>
              <a:tr h="339445">
                <a:tc>
                  <a:txBody>
                    <a:bodyPr wrap="square"/>
                    <a:lstStyle/>
                    <a:p>
                      <a:pPr algn="l">
                        <a:lnSpc>
                          <a:spcPct val="100000"/>
                        </a:lnSpc>
                      </a:pPr>
                      <a:r>
                        <a:rPr sz="1100" b="1">
                          <a:solidFill>
                            <a:srgbClr val="15171A"/>
                          </a:solidFill>
                          <a:latin typeface="Noto Sans KR"/>
                          <a:ea typeface="Noto Sans KR"/>
                          <a:cs typeface="Noto Sans KR"/>
                        </a:rPr>
                        <a:t>진단</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15171A"/>
                          </a:solidFill>
                          <a:latin typeface="Noto Sans KR"/>
                          <a:ea typeface="Noto Sans KR"/>
                          <a:cs typeface="Noto Sans KR"/>
                        </a:rPr>
                        <a:t>유료 실증 계약</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15171A"/>
                          </a:solidFill>
                          <a:latin typeface="Noto Sans KR"/>
                          <a:ea typeface="Noto Sans KR"/>
                          <a:cs typeface="Noto Sans KR"/>
                        </a:rPr>
                        <a:t>성능·경제성 검수</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15171A"/>
                          </a:solidFill>
                          <a:latin typeface="Noto Sans KR"/>
                          <a:ea typeface="Noto Sans KR"/>
                          <a:cs typeface="Noto Sans KR"/>
                        </a:rPr>
                        <a:t>구매·반복 발주</a:t>
                      </a:r>
                    </a:p>
                  </a:txBody>
                  <a:tcPr marL="73152" marR="73152" marT="64008" marB="64008" anchor="t">
                    <a:lnL w="0">
                      <a:noFill/>
                    </a:lnL>
                    <a:lnR w="0">
                      <a:noFill/>
                    </a:lnR>
                    <a:lnT w="0">
                      <a:noFill/>
                    </a:lnT>
                    <a:lnB w="9525">
                      <a:solidFill>
                        <a:srgbClr val="E2E4E7"/>
                      </a:solidFill>
                    </a:lnB>
                    <a:noFill/>
                  </a:tcPr>
                </a:tc>
              </a:tr>
            </a:tbl>
          </a:graphicData>
        </a:graphic>
      </p:graphicFrame>
      <p:sp>
        <p:nvSpPr>
          <p:cNvPr id="9" name="TextBox 8"/>
          <p:cNvSpPr txBox="1"/>
          <p:nvPr/>
        </p:nvSpPr>
        <p:spPr>
          <a:xfrm>
            <a:off x="685800" y="5525008"/>
            <a:ext cx="6172200" cy="457200"/>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검수 기준은 실증 계약 전에 고객과 합의, 실증 계약과 양산 발주는 구분</a:t>
            </a:r>
          </a:p>
          <a:p>
            <a:pPr algn="l">
              <a:lnSpc>
                <a:spcPct val="100000"/>
              </a:lnSpc>
            </a:pPr>
            <a:r>
              <a:rPr sz="1000" b="0">
                <a:solidFill>
                  <a:srgbClr val="8C9198"/>
                </a:solidFill>
                <a:latin typeface="Noto Sans KR"/>
                <a:ea typeface="Noto Sans KR"/>
                <a:cs typeface="Noto Sans KR"/>
              </a:rPr>
              <a:t>의향서는 수주로 집계하지 않음, 임대는 장비 금융·유지보수 위험 때문에 후순위</a:t>
            </a:r>
          </a:p>
        </p:txBody>
      </p:sp>
      <p:sp>
        <p:nvSpPr>
          <p:cNvPr id="10" name="TextBox 9"/>
          <p:cNvSpPr txBox="1"/>
          <p:nvPr/>
        </p:nvSpPr>
        <p:spPr>
          <a:xfrm>
            <a:off x="7315200" y="1463040"/>
            <a:ext cx="419069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최초 진입시장</a:t>
            </a:r>
          </a:p>
        </p:txBody>
      </p:sp>
      <p:cxnSp>
        <p:nvCxnSpPr>
          <p:cNvPr id="11" name="Connector 10"/>
          <p:cNvCxnSpPr/>
          <p:nvPr/>
        </p:nvCxnSpPr>
        <p:spPr>
          <a:xfrm>
            <a:off x="7315200" y="1783080"/>
            <a:ext cx="4190695" cy="0"/>
          </a:xfrm>
          <a:prstGeom prst="line">
            <a:avLst/>
          </a:prstGeom>
          <a:ln w="12700">
            <a:solidFill>
              <a:srgbClr val="15171A"/>
            </a:solidFill>
          </a:ln>
        </p:spPr>
      </p:cxnSp>
      <p:sp>
        <p:nvSpPr>
          <p:cNvPr id="12" name="TextBox 11"/>
          <p:cNvSpPr txBox="1"/>
          <p:nvPr/>
        </p:nvSpPr>
        <p:spPr>
          <a:xfrm>
            <a:off x="7315200" y="1865376"/>
            <a:ext cx="4190695" cy="905662"/>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비가열 상태의 표준 용기·도구 취급, 정렬, 간단한 저하중 도구 작업</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불특정 가정의 모든 작업은 첫 제품 범위에서 제외</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공통 손·제어 기술의 반복 판매 가능성을 먼저 검증한 뒤 설치·서비스 역량이 큰 주방 제품으로 확장</a:t>
            </a:r>
          </a:p>
        </p:txBody>
      </p:sp>
      <p:sp>
        <p:nvSpPr>
          <p:cNvPr id="13" name="TextBox 12"/>
          <p:cNvSpPr txBox="1"/>
          <p:nvPr/>
        </p:nvSpPr>
        <p:spPr>
          <a:xfrm>
            <a:off x="7315200" y="2972206"/>
            <a:ext cx="419069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첫 90일 고객 검증 (활동 목표)</a:t>
            </a:r>
          </a:p>
        </p:txBody>
      </p:sp>
      <p:cxnSp>
        <p:nvCxnSpPr>
          <p:cNvPr id="14" name="Connector 13"/>
          <p:cNvCxnSpPr/>
          <p:nvPr/>
        </p:nvCxnSpPr>
        <p:spPr>
          <a:xfrm>
            <a:off x="7315200" y="3301390"/>
            <a:ext cx="4190695" cy="0"/>
          </a:xfrm>
          <a:prstGeom prst="line">
            <a:avLst/>
          </a:prstGeom>
          <a:ln w="12700">
            <a:solidFill>
              <a:srgbClr val="15171A"/>
            </a:solidFill>
          </a:ln>
        </p:spPr>
      </p:cxnSp>
      <p:graphicFrame>
        <p:nvGraphicFramePr>
          <p:cNvPr id="15" name="Table 14"/>
          <p:cNvGraphicFramePr>
            <a:graphicFrameLocks noGrp="1"/>
          </p:cNvGraphicFramePr>
          <p:nvPr/>
        </p:nvGraphicFramePr>
        <p:xfrm>
          <a:off x="7315200" y="3301390"/>
          <a:ext cx="4190695" cy="1211476"/>
        </p:xfrm>
        <a:graphic>
          <a:graphicData uri="http://schemas.openxmlformats.org/drawingml/2006/table">
            <a:tbl>
              <a:tblPr firstRow="0" bandRow="0">
                <a:tableStyleId>{2D5ABB26-0587-4C30-8999-92F81FD0307C}</a:tableStyleId>
              </a:tblPr>
              <a:tblGrid>
                <a:gridCol w="3093415"/>
                <a:gridCol w="1097280"/>
              </a:tblGrid>
              <a:tr h="302869">
                <a:tc>
                  <a:txBody>
                    <a:bodyPr wrap="square"/>
                    <a:lstStyle/>
                    <a:p>
                      <a:pPr algn="l">
                        <a:lnSpc>
                          <a:spcPct val="100000"/>
                        </a:lnSpc>
                      </a:pPr>
                      <a:r>
                        <a:rPr sz="1100" b="1">
                          <a:solidFill>
                            <a:srgbClr val="15171A"/>
                          </a:solidFill>
                          <a:latin typeface="Noto Sans KR"/>
                          <a:ea typeface="Noto Sans KR"/>
                          <a:cs typeface="Noto Sans KR"/>
                        </a:rPr>
                        <a:t>로봇 SI</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10곳</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제조 사용자</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10곳</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주방 제조·운영사</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10곳</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E2571B"/>
                          </a:solidFill>
                          <a:latin typeface="Noto Sans KR"/>
                          <a:ea typeface="Noto Sans KR"/>
                          <a:cs typeface="Noto Sans KR"/>
                        </a:rPr>
                        <a:t>유료 실증 가능 고객 선정</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5곳</a:t>
                      </a:r>
                    </a:p>
                  </a:txBody>
                  <a:tcPr marL="73152" marR="73152" marT="45720" marB="45720" anchor="t">
                    <a:lnL w="0">
                      <a:noFill/>
                    </a:lnL>
                    <a:lnR w="0">
                      <a:noFill/>
                    </a:lnR>
                    <a:lnT w="0">
                      <a:noFill/>
                    </a:lnT>
                    <a:lnB w="9525">
                      <a:solidFill>
                        <a:srgbClr val="E2E4E7"/>
                      </a:solidFill>
                    </a:lnB>
                    <a:noFill/>
                  </a:tcPr>
                </a:tc>
              </a:tr>
            </a:tbl>
          </a:graphicData>
        </a:graphic>
      </p:graphicFrame>
      <p:sp>
        <p:nvSpPr>
          <p:cNvPr id="16" name="TextBox 15"/>
          <p:cNvSpPr txBox="1"/>
          <p:nvPr/>
        </p:nvSpPr>
        <p:spPr>
          <a:xfrm>
            <a:off x="7315200" y="4604308"/>
            <a:ext cx="4190695" cy="566928"/>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확보 자료: 실제 물체·작업 영상·사이클타임·전환시간·오류비용·도입예산 · 인터뷰 수는 활동 목표이며 고객 확보 실적 아님</a:t>
            </a:r>
          </a:p>
        </p:txBody>
      </p:sp>
      <p:sp>
        <p:nvSpPr>
          <p:cNvPr id="17" name="TextBox 1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8" name="TextBox 1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판매 순서는 사업계획서 기준 · 로봇 주방은 핸드·제어 플랫폼의 반복 판매 검증 후 3년차부터 추진</a:t>
            </a:r>
          </a:p>
        </p:txBody>
      </p:sp>
      <p:sp>
        <p:nvSpPr>
          <p:cNvPr id="19" name="TextBox 1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10   시장 규모·가격·고객 경제성</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시장 규모는 고객 후보와 판매 단가를 곱하는 상향식으로 산정</a:t>
            </a:r>
          </a:p>
        </p:txBody>
      </p:sp>
      <p:sp>
        <p:nvSpPr>
          <p:cNvPr id="4" name="TextBox 3"/>
          <p:cNvSpPr txBox="1"/>
          <p:nvPr/>
        </p:nvSpPr>
        <p:spPr>
          <a:xfrm>
            <a:off x="685800" y="1243584"/>
            <a:ext cx="10820095" cy="25603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검증되지 않은 시장 총액은 제시하지 않음 · 모든 수치는 계획용 가정이며 구매 의향 미검증</a:t>
            </a:r>
          </a:p>
        </p:txBody>
      </p:sp>
      <p:cxnSp>
        <p:nvCxnSpPr>
          <p:cNvPr id="5" name="Connector 4"/>
          <p:cNvCxnSpPr/>
          <p:nvPr/>
        </p:nvCxnSpPr>
        <p:spPr>
          <a:xfrm>
            <a:off x="685800" y="1591056"/>
            <a:ext cx="10820095" cy="0"/>
          </a:xfrm>
          <a:prstGeom prst="line">
            <a:avLst/>
          </a:prstGeom>
          <a:ln w="12700">
            <a:solidFill>
              <a:srgbClr val="15171A"/>
            </a:solidFill>
          </a:ln>
        </p:spPr>
      </p:cxnSp>
      <p:sp>
        <p:nvSpPr>
          <p:cNvPr id="6" name="TextBox 5"/>
          <p:cNvSpPr txBox="1"/>
          <p:nvPr/>
        </p:nvSpPr>
        <p:spPr>
          <a:xfrm>
            <a:off x="685800" y="1810512"/>
            <a:ext cx="5852160"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초기 접근시장 (가정)</a:t>
            </a:r>
          </a:p>
        </p:txBody>
      </p:sp>
      <p:graphicFrame>
        <p:nvGraphicFramePr>
          <p:cNvPr id="7" name="Table 6"/>
          <p:cNvGraphicFramePr>
            <a:graphicFrameLocks noGrp="1"/>
          </p:cNvGraphicFramePr>
          <p:nvPr/>
        </p:nvGraphicFramePr>
        <p:xfrm>
          <a:off x="685800" y="2157984"/>
          <a:ext cx="5852160" cy="1899511"/>
        </p:xfrm>
        <a:graphic>
          <a:graphicData uri="http://schemas.openxmlformats.org/drawingml/2006/table">
            <a:tbl>
              <a:tblPr firstRow="0" bandRow="0">
                <a:tableStyleId>{2D5ABB26-0587-4C30-8999-92F81FD0307C}</a:tableStyleId>
              </a:tblPr>
              <a:tblGrid>
                <a:gridCol w="1051560"/>
                <a:gridCol w="2514600"/>
                <a:gridCol w="2286000"/>
              </a:tblGrid>
              <a:tr h="339445">
                <a:tc>
                  <a:txBody>
                    <a:bodyPr wrap="square"/>
                    <a:lstStyle/>
                    <a:p>
                      <a:pPr algn="l">
                        <a:lnSpc>
                          <a:spcPct val="100000"/>
                        </a:lnSpc>
                      </a:pPr>
                      <a:r>
                        <a:rPr sz="1100" b="1">
                          <a:solidFill>
                            <a:srgbClr val="15171A"/>
                          </a:solidFill>
                          <a:latin typeface="Noto Sans KR"/>
                          <a:ea typeface="Noto Sans KR"/>
                          <a:cs typeface="Noto Sans KR"/>
                        </a:rPr>
                        <a:t>구분</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가정식</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금액·해석</a:t>
                      </a:r>
                    </a:p>
                  </a:txBody>
                  <a:tcPr marL="73152" marR="73152" marT="64008" marB="64008" anchor="t">
                    <a:lnL w="0">
                      <a:noFill/>
                    </a:lnL>
                    <a:lnR w="0">
                      <a:noFill/>
                    </a:lnR>
                    <a:lnT w="12700">
                      <a:solidFill>
                        <a:srgbClr val="15171A"/>
                      </a:solidFill>
                    </a:lnT>
                    <a:lnB w="9525">
                      <a:solidFill>
                        <a:srgbClr val="15171A"/>
                      </a:solidFill>
                    </a:lnB>
                    <a:noFill/>
                  </a:tcPr>
                </a:tc>
              </a:tr>
              <a:tr h="339445">
                <a:tc>
                  <a:txBody>
                    <a:bodyPr wrap="square"/>
                    <a:lstStyle/>
                    <a:p>
                      <a:pPr algn="l">
                        <a:lnSpc>
                          <a:spcPct val="100000"/>
                        </a:lnSpc>
                      </a:pPr>
                      <a:r>
                        <a:rPr sz="1100" b="1">
                          <a:solidFill>
                            <a:srgbClr val="15171A"/>
                          </a:solidFill>
                          <a:latin typeface="Noto Sans KR"/>
                          <a:ea typeface="Noto Sans KR"/>
                          <a:cs typeface="Noto Sans KR"/>
                        </a:rPr>
                        <a:t>핸드</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후보 100곳 × 잠재 5대 × 1,500만 원</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E2571B"/>
                          </a:solidFill>
                          <a:latin typeface="Noto Sans KR"/>
                          <a:ea typeface="Noto Sans KR"/>
                          <a:cs typeface="Noto Sans KR"/>
                        </a:rPr>
                        <a:t>75억 원</a:t>
                      </a:r>
                      <a:r>
                        <a:rPr sz="1100" b="0">
                          <a:solidFill>
                            <a:srgbClr val="15171A"/>
                          </a:solidFill>
                          <a:latin typeface="Noto Sans KR"/>
                          <a:ea typeface="Noto Sans KR"/>
                          <a:cs typeface="Noto Sans KR"/>
                        </a:rPr>
                        <a:t>, 일회성 장비 기회</a:t>
                      </a:r>
                    </a:p>
                  </a:txBody>
                  <a:tcPr marL="73152" marR="73152" marT="64008" marB="64008" anchor="t">
                    <a:lnL w="0">
                      <a:noFill/>
                    </a:lnL>
                    <a:lnR w="0">
                      <a:noFill/>
                    </a:lnR>
                    <a:lnT w="0">
                      <a:noFill/>
                    </a:lnT>
                    <a:lnB w="9525">
                      <a:solidFill>
                        <a:srgbClr val="E2E4E7"/>
                      </a:solidFill>
                    </a:lnB>
                    <a:noFill/>
                  </a:tcPr>
                </a:tc>
              </a:tr>
              <a:tr h="339445">
                <a:tc>
                  <a:txBody>
                    <a:bodyPr wrap="square"/>
                    <a:lstStyle/>
                    <a:p>
                      <a:pPr algn="l">
                        <a:lnSpc>
                          <a:spcPct val="100000"/>
                        </a:lnSpc>
                      </a:pPr>
                      <a:r>
                        <a:rPr sz="1100" b="1">
                          <a:solidFill>
                            <a:srgbClr val="15171A"/>
                          </a:solidFill>
                          <a:latin typeface="Noto Sans KR"/>
                          <a:ea typeface="Noto Sans KR"/>
                          <a:cs typeface="Noto Sans KR"/>
                        </a:rPr>
                        <a:t>주방</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후보 30곳 × 1셀 × 2억 원</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15171A"/>
                          </a:solidFill>
                          <a:latin typeface="Noto Sans KR"/>
                          <a:ea typeface="Noto Sans KR"/>
                          <a:cs typeface="Noto Sans KR"/>
                        </a:rPr>
                        <a:t>60억 원</a:t>
                      </a:r>
                      <a:r>
                        <a:rPr sz="1100" b="0">
                          <a:solidFill>
                            <a:srgbClr val="15171A"/>
                          </a:solidFill>
                          <a:latin typeface="Noto Sans KR"/>
                          <a:ea typeface="Noto Sans KR"/>
                          <a:cs typeface="Noto Sans KR"/>
                        </a:rPr>
                        <a:t>, 별도 응용시장</a:t>
                      </a:r>
                    </a:p>
                  </a:txBody>
                  <a:tcPr marL="73152" marR="73152" marT="64008" marB="64008" anchor="t">
                    <a:lnL w="0">
                      <a:noFill/>
                    </a:lnL>
                    <a:lnR w="0">
                      <a:noFill/>
                    </a:lnR>
                    <a:lnT w="0">
                      <a:noFill/>
                    </a:lnT>
                    <a:lnB w="9525">
                      <a:solidFill>
                        <a:srgbClr val="E2E4E7"/>
                      </a:solidFill>
                    </a:lnB>
                    <a:noFill/>
                  </a:tcPr>
                </a:tc>
              </a:tr>
              <a:tr h="339445">
                <a:tc>
                  <a:txBody>
                    <a:bodyPr wrap="square"/>
                    <a:lstStyle/>
                    <a:p>
                      <a:pPr algn="l">
                        <a:lnSpc>
                          <a:spcPct val="100000"/>
                        </a:lnSpc>
                      </a:pPr>
                      <a:r>
                        <a:rPr sz="1100" b="1">
                          <a:solidFill>
                            <a:srgbClr val="15171A"/>
                          </a:solidFill>
                          <a:latin typeface="Noto Sans KR"/>
                          <a:ea typeface="Noto Sans KR"/>
                          <a:cs typeface="Noto Sans KR"/>
                        </a:rPr>
                        <a:t>중복 처리</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주방 셀 1식에 자사 핸드 2대 포함</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핸드 시장과 단순 합산하지 않음</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획득 목표</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5년차 핸드 단품 350대, 주방 셀 25대</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판매 실행 목표, 시장 점유율 예측 아님</a:t>
                      </a:r>
                    </a:p>
                  </a:txBody>
                  <a:tcPr marL="73152" marR="73152" marT="64008" marB="64008" anchor="t">
                    <a:lnL w="0">
                      <a:noFill/>
                    </a:lnL>
                    <a:lnR w="0">
                      <a:noFill/>
                    </a:lnR>
                    <a:lnT w="0">
                      <a:noFill/>
                    </a:lnT>
                    <a:lnB w="9525">
                      <a:solidFill>
                        <a:srgbClr val="E2E4E7"/>
                      </a:solidFill>
                    </a:lnB>
                    <a:noFill/>
                  </a:tcPr>
                </a:tc>
              </a:tr>
            </a:tbl>
          </a:graphicData>
        </a:graphic>
      </p:graphicFrame>
      <p:sp>
        <p:nvSpPr>
          <p:cNvPr id="8" name="TextBox 7"/>
          <p:cNvSpPr txBox="1"/>
          <p:nvPr/>
        </p:nvSpPr>
        <p:spPr>
          <a:xfrm>
            <a:off x="685800" y="4331817"/>
            <a:ext cx="5852160"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원가 포함 범위와 별도 견적</a:t>
            </a:r>
          </a:p>
        </p:txBody>
      </p:sp>
      <p:cxnSp>
        <p:nvCxnSpPr>
          <p:cNvPr id="9" name="Connector 8"/>
          <p:cNvCxnSpPr/>
          <p:nvPr/>
        </p:nvCxnSpPr>
        <p:spPr>
          <a:xfrm>
            <a:off x="685800" y="4651857"/>
            <a:ext cx="5852160" cy="0"/>
          </a:xfrm>
          <a:prstGeom prst="line">
            <a:avLst/>
          </a:prstGeom>
          <a:ln w="12700">
            <a:solidFill>
              <a:srgbClr val="15171A"/>
            </a:solidFill>
          </a:ln>
        </p:spPr>
      </p:cxnSp>
      <p:sp>
        <p:nvSpPr>
          <p:cNvPr id="10" name="TextBox 9"/>
          <p:cNvSpPr txBox="1"/>
          <p:nvPr/>
        </p:nvSpPr>
        <p:spPr>
          <a:xfrm>
            <a:off x="685800" y="4734153"/>
            <a:ext cx="5852160" cy="969162"/>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핸드: 부품·조립·검사·초기 보증 충당</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주방 셀: 팔 2대·핸드 2개·레일/프레임·제어/안전·설치/시운전·기본 보증</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건축 보강·싱크대 전체 교체·급배수/전기 증설은 별도 견적</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SW 계약: 원격 진단·업데이트·기술지원, 필수 안전 기능은 구독과 무관</a:t>
            </a:r>
          </a:p>
        </p:txBody>
      </p:sp>
      <p:sp>
        <p:nvSpPr>
          <p:cNvPr id="11" name="TextBox 10"/>
          <p:cNvSpPr txBox="1"/>
          <p:nvPr/>
        </p:nvSpPr>
        <p:spPr>
          <a:xfrm>
            <a:off x="6995160" y="1810512"/>
            <a:ext cx="4510735"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가격·직접원가 (가정, 부가세 제외)</a:t>
            </a:r>
          </a:p>
        </p:txBody>
      </p:sp>
      <p:graphicFrame>
        <p:nvGraphicFramePr>
          <p:cNvPr id="12" name="Table 11"/>
          <p:cNvGraphicFramePr>
            <a:graphicFrameLocks noGrp="1"/>
          </p:cNvGraphicFramePr>
          <p:nvPr/>
        </p:nvGraphicFramePr>
        <p:xfrm>
          <a:off x="6995160" y="2157984"/>
          <a:ext cx="4510735" cy="1514345"/>
        </p:xfrm>
        <a:graphic>
          <a:graphicData uri="http://schemas.openxmlformats.org/drawingml/2006/table">
            <a:tbl>
              <a:tblPr firstRow="0" bandRow="0">
                <a:tableStyleId>{2D5ABB26-0587-4C30-8999-92F81FD0307C}</a:tableStyleId>
              </a:tblPr>
              <a:tblGrid>
                <a:gridCol w="1493215"/>
                <a:gridCol w="1051560"/>
                <a:gridCol w="1005840"/>
                <a:gridCol w="960120"/>
              </a:tblGrid>
              <a:tr h="302869">
                <a:tc>
                  <a:txBody>
                    <a:bodyPr wrap="square"/>
                    <a:lstStyle/>
                    <a:p>
                      <a:pPr algn="l">
                        <a:lnSpc>
                          <a:spcPct val="100000"/>
                        </a:lnSpc>
                      </a:pPr>
                      <a:r>
                        <a:rPr sz="1100" b="1">
                          <a:solidFill>
                            <a:srgbClr val="15171A"/>
                          </a:solidFill>
                          <a:latin typeface="Noto Sans KR"/>
                          <a:ea typeface="Noto Sans KR"/>
                          <a:cs typeface="Noto Sans KR"/>
                        </a:rPr>
                        <a:t>제품</a:t>
                      </a:r>
                    </a:p>
                  </a:txBody>
                  <a:tcPr marL="73152" marR="73152" marT="45720" marB="4572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판매가</a:t>
                      </a:r>
                    </a:p>
                  </a:txBody>
                  <a:tcPr marL="73152" marR="73152" marT="45720" marB="4572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직접원가</a:t>
                      </a:r>
                    </a:p>
                  </a:txBody>
                  <a:tcPr marL="73152" marR="73152" marT="45720" marB="4572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총이익률</a:t>
                      </a:r>
                    </a:p>
                  </a:txBody>
                  <a:tcPr marL="73152" marR="73152" marT="45720" marB="45720" anchor="t">
                    <a:lnL w="0">
                      <a:noFill/>
                    </a:lnL>
                    <a:lnR w="0">
                      <a:noFill/>
                    </a:lnR>
                    <a:lnT w="12700">
                      <a:solidFill>
                        <a:srgbClr val="15171A"/>
                      </a:solidFill>
                    </a:lnT>
                    <a:lnB w="9525">
                      <a:solidFill>
                        <a:srgbClr val="15171A"/>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4지 중심 핸드 패키지</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1,500만 원</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800만 원</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46.7%</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주방 셀 1식</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2억 원</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1.4억 원</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30.0%</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SW 연간 계약</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300만 원</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90만 원</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70.0%</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유료 실증·개발</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연 1~2억 원</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40.0%</a:t>
                      </a:r>
                    </a:p>
                  </a:txBody>
                  <a:tcPr marL="73152" marR="73152" marT="45720" marB="45720" anchor="t">
                    <a:lnL w="0">
                      <a:noFill/>
                    </a:lnL>
                    <a:lnR w="0">
                      <a:noFill/>
                    </a:lnR>
                    <a:lnT w="0">
                      <a:noFill/>
                    </a:lnT>
                    <a:lnB w="9525">
                      <a:solidFill>
                        <a:srgbClr val="E2E4E7"/>
                      </a:solidFill>
                    </a:lnB>
                    <a:noFill/>
                  </a:tcPr>
                </a:tc>
              </a:tr>
            </a:tbl>
          </a:graphicData>
        </a:graphic>
      </p:graphicFrame>
      <p:sp>
        <p:nvSpPr>
          <p:cNvPr id="13" name="TextBox 12"/>
          <p:cNvSpPr txBox="1"/>
          <p:nvPr/>
        </p:nvSpPr>
        <p:spPr>
          <a:xfrm>
            <a:off x="6995160" y="3900932"/>
            <a:ext cx="4510735"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고객 투자회수 예시 (주방 셀, 가정)</a:t>
            </a:r>
          </a:p>
        </p:txBody>
      </p:sp>
      <p:sp>
        <p:nvSpPr>
          <p:cNvPr id="14" name="TextBox 13"/>
          <p:cNvSpPr txBox="1"/>
          <p:nvPr/>
        </p:nvSpPr>
        <p:spPr>
          <a:xfrm>
            <a:off x="6995160" y="4230116"/>
            <a:ext cx="4510735" cy="41148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투자비 2억 원, 시간당 총 인건비 2만5천 원, 연 300일,</a:t>
            </a:r>
            <a:br/>
            <a:r>
              <a:rPr sz="1050" b="0">
                <a:solidFill>
                  <a:srgbClr val="4A4F57"/>
                </a:solidFill>
                <a:latin typeface="Noto Sans KR"/>
                <a:ea typeface="Noto Sans KR"/>
                <a:cs typeface="Noto Sans KR"/>
              </a:rPr>
              <a:t>연 추가 운영비 1,000만 원</a:t>
            </a:r>
          </a:p>
        </p:txBody>
      </p:sp>
      <p:graphicFrame>
        <p:nvGraphicFramePr>
          <p:cNvPr id="15" name="Table 14"/>
          <p:cNvGraphicFramePr>
            <a:graphicFrameLocks noGrp="1"/>
          </p:cNvGraphicFramePr>
          <p:nvPr/>
        </p:nvGraphicFramePr>
        <p:xfrm>
          <a:off x="6995160" y="4669028"/>
          <a:ext cx="4510735" cy="963471"/>
        </p:xfrm>
        <a:graphic>
          <a:graphicData uri="http://schemas.openxmlformats.org/drawingml/2006/table">
            <a:tbl>
              <a:tblPr firstRow="0" bandRow="0">
                <a:tableStyleId>{2D5ABB26-0587-4C30-8999-92F81FD0307C}</a:tableStyleId>
              </a:tblPr>
              <a:tblGrid>
                <a:gridCol w="1767535"/>
                <a:gridCol w="1371600"/>
                <a:gridCol w="1371600"/>
              </a:tblGrid>
              <a:tr h="321157">
                <a:tc>
                  <a:txBody>
                    <a:bodyPr wrap="square"/>
                    <a:lstStyle/>
                    <a:p>
                      <a:pPr algn="l">
                        <a:lnSpc>
                          <a:spcPct val="100000"/>
                        </a:lnSpc>
                      </a:pPr>
                      <a:r>
                        <a:rPr sz="1100" b="1">
                          <a:solidFill>
                            <a:srgbClr val="15171A"/>
                          </a:solidFill>
                          <a:latin typeface="Noto Sans KR"/>
                          <a:ea typeface="Noto Sans KR"/>
                          <a:cs typeface="Noto Sans KR"/>
                        </a:rPr>
                        <a:t>사람 업무 절감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연 순절감액</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단순 회수기간</a:t>
                      </a:r>
                    </a:p>
                  </a:txBody>
                  <a:tcPr marL="73152" marR="73152" marT="54864" marB="54864" anchor="t">
                    <a:lnL w="0">
                      <a:noFill/>
                    </a:lnL>
                    <a:lnR w="0">
                      <a:noFill/>
                    </a:lnR>
                    <a:lnT w="12700">
                      <a:solidFill>
                        <a:srgbClr val="15171A"/>
                      </a:solidFill>
                    </a:lnT>
                    <a:lnB w="9525">
                      <a:solidFill>
                        <a:srgbClr val="15171A"/>
                      </a:solidFill>
                    </a:lnB>
                    <a:noFill/>
                  </a:tcPr>
                </a:tc>
              </a:tr>
              <a:tr h="321157">
                <a:tc>
                  <a:txBody>
                    <a:bodyPr wrap="square"/>
                    <a:lstStyle/>
                    <a:p>
                      <a:pPr algn="l">
                        <a:lnSpc>
                          <a:spcPct val="100000"/>
                        </a:lnSpc>
                      </a:pPr>
                      <a:r>
                        <a:rPr sz="1100" b="0">
                          <a:solidFill>
                            <a:srgbClr val="15171A"/>
                          </a:solidFill>
                          <a:latin typeface="Noto Sans KR"/>
                          <a:ea typeface="Noto Sans KR"/>
                          <a:cs typeface="Noto Sans KR"/>
                        </a:rPr>
                        <a:t>하루 6시간 절감</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3,500만 원</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약 5.7년</a:t>
                      </a:r>
                    </a:p>
                  </a:txBody>
                  <a:tcPr marL="73152" marR="73152" marT="54864" marB="54864" anchor="t">
                    <a:lnL w="0">
                      <a:noFill/>
                    </a:lnL>
                    <a:lnR w="0">
                      <a:noFill/>
                    </a:lnR>
                    <a:lnT w="0">
                      <a:noFill/>
                    </a:lnT>
                    <a:lnB w="9525">
                      <a:solidFill>
                        <a:srgbClr val="E2E4E7"/>
                      </a:solidFill>
                    </a:lnB>
                    <a:noFill/>
                  </a:tcPr>
                </a:tc>
              </a:tr>
              <a:tr h="321157">
                <a:tc>
                  <a:txBody>
                    <a:bodyPr wrap="square"/>
                    <a:lstStyle/>
                    <a:p>
                      <a:pPr algn="l">
                        <a:lnSpc>
                          <a:spcPct val="100000"/>
                        </a:lnSpc>
                      </a:pPr>
                      <a:r>
                        <a:rPr sz="1100" b="0">
                          <a:solidFill>
                            <a:srgbClr val="15171A"/>
                          </a:solidFill>
                          <a:latin typeface="Noto Sans KR"/>
                          <a:ea typeface="Noto Sans KR"/>
                          <a:cs typeface="Noto Sans KR"/>
                        </a:rPr>
                        <a:t>하루 10시간 절감</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6,500만 원</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약 3.1년</a:t>
                      </a:r>
                    </a:p>
                  </a:txBody>
                  <a:tcPr marL="73152" marR="73152" marT="54864" marB="54864" anchor="t">
                    <a:lnL w="0">
                      <a:noFill/>
                    </a:lnL>
                    <a:lnR w="0">
                      <a:noFill/>
                    </a:lnR>
                    <a:lnT w="0">
                      <a:noFill/>
                    </a:lnT>
                    <a:lnB w="9525">
                      <a:solidFill>
                        <a:srgbClr val="E2E4E7"/>
                      </a:solidFill>
                    </a:lnB>
                    <a:noFill/>
                  </a:tcPr>
                </a:tc>
              </a:tr>
            </a:tbl>
          </a:graphicData>
        </a:graphic>
      </p:graphicFrame>
      <p:sp>
        <p:nvSpPr>
          <p:cNvPr id="16" name="TextBox 15"/>
          <p:cNvSpPr txBox="1"/>
          <p:nvPr/>
        </p:nvSpPr>
        <p:spPr>
          <a:xfrm>
            <a:off x="6995160" y="5723940"/>
            <a:ext cx="4510735" cy="411480"/>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금융·세금·잔존가치 제외, 가동률이 높은 상업 시설에서 먼저 검증</a:t>
            </a:r>
          </a:p>
          <a:p>
            <a:pPr algn="l">
              <a:lnSpc>
                <a:spcPct val="100000"/>
              </a:lnSpc>
            </a:pPr>
            <a:r>
              <a:rPr sz="1000" b="0">
                <a:solidFill>
                  <a:srgbClr val="8C9198"/>
                </a:solidFill>
                <a:latin typeface="Noto Sans KR"/>
                <a:ea typeface="Noto Sans KR"/>
                <a:cs typeface="Noto Sans KR"/>
              </a:rPr>
              <a:t>사람을 완전히 대체하는 인원수로 절감액을 계산하지 않음</a:t>
            </a:r>
          </a:p>
        </p:txBody>
      </p:sp>
      <p:sp>
        <p:nvSpPr>
          <p:cNvPr id="17" name="TextBox 1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8" name="TextBox 1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5년차 목표(핸드 350대·셀 25대)는 판매 실행 목표 · 프리미엄 가정용은 지불 의사 별도 검증 · 부록 A11</a:t>
            </a:r>
          </a:p>
        </p:txBody>
      </p:sp>
      <p:sp>
        <p:nvSpPr>
          <p:cNvPr id="19" name="TextBox 1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11   5개년 재무 계획</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5년차 매출 112억 원, 영업이익 17.55억 원 (기준 시나리오, 가정)</a:t>
            </a:r>
          </a:p>
        </p:txBody>
      </p:sp>
      <p:sp>
        <p:nvSpPr>
          <p:cNvPr id="4" name="TextBox 3"/>
          <p:cNvSpPr txBox="1"/>
          <p:nvPr/>
        </p:nvSpPr>
        <p:spPr>
          <a:xfrm>
            <a:off x="685800" y="1243584"/>
            <a:ext cx="10820095" cy="25603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투자 집행 시작연도를 1년차로 정의 · 핸드 단품·주방 셀·SW 계약·유료 실증 매출의 단순 모델</a:t>
            </a:r>
          </a:p>
        </p:txBody>
      </p:sp>
      <p:cxnSp>
        <p:nvCxnSpPr>
          <p:cNvPr id="5" name="Connector 4"/>
          <p:cNvCxnSpPr/>
          <p:nvPr/>
        </p:nvCxnSpPr>
        <p:spPr>
          <a:xfrm>
            <a:off x="685800" y="1591056"/>
            <a:ext cx="10820095" cy="0"/>
          </a:xfrm>
          <a:prstGeom prst="line">
            <a:avLst/>
          </a:prstGeom>
          <a:ln w="12700">
            <a:solidFill>
              <a:srgbClr val="15171A"/>
            </a:solidFill>
          </a:ln>
        </p:spPr>
      </p:cxnSp>
      <p:graphicFrame>
        <p:nvGraphicFramePr>
          <p:cNvPr id="6" name="Table 5"/>
          <p:cNvGraphicFramePr>
            <a:graphicFrameLocks noGrp="1"/>
          </p:cNvGraphicFramePr>
          <p:nvPr/>
        </p:nvGraphicFramePr>
        <p:xfrm>
          <a:off x="685800" y="1810512"/>
          <a:ext cx="6675120" cy="2882390"/>
        </p:xfrm>
        <a:graphic>
          <a:graphicData uri="http://schemas.openxmlformats.org/drawingml/2006/table">
            <a:tbl>
              <a:tblPr firstRow="0" bandRow="0">
                <a:tableStyleId>{2D5ABB26-0587-4C30-8999-92F81FD0307C}</a:tableStyleId>
              </a:tblPr>
              <a:tblGrid>
                <a:gridCol w="1828800"/>
                <a:gridCol w="969264"/>
                <a:gridCol w="969264"/>
                <a:gridCol w="969264"/>
                <a:gridCol w="969264"/>
                <a:gridCol w="969264"/>
              </a:tblGrid>
              <a:tr h="288239">
                <a:tc>
                  <a:txBody>
                    <a:bodyPr wrap="square"/>
                    <a:lstStyle/>
                    <a:p>
                      <a:pPr algn="l">
                        <a:lnSpc>
                          <a:spcPct val="100000"/>
                        </a:lnSpc>
                      </a:pPr>
                      <a:r>
                        <a:rPr sz="1100" b="1">
                          <a:solidFill>
                            <a:srgbClr val="15171A"/>
                          </a:solidFill>
                          <a:latin typeface="Noto Sans KR"/>
                          <a:ea typeface="Noto Sans KR"/>
                          <a:cs typeface="Noto Sans KR"/>
                        </a:rPr>
                        <a:t>구분 (억 원)</a:t>
                      </a:r>
                    </a:p>
                  </a:txBody>
                  <a:tcPr marL="73152" marR="73152" marT="38404" marB="3840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1년차</a:t>
                      </a:r>
                    </a:p>
                  </a:txBody>
                  <a:tcPr marL="73152" marR="73152" marT="38404" marB="3840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2년차</a:t>
                      </a:r>
                    </a:p>
                  </a:txBody>
                  <a:tcPr marL="73152" marR="73152" marT="38404" marB="3840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3년차</a:t>
                      </a:r>
                    </a:p>
                  </a:txBody>
                  <a:tcPr marL="73152" marR="73152" marT="38404" marB="3840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4년차</a:t>
                      </a:r>
                    </a:p>
                  </a:txBody>
                  <a:tcPr marL="73152" marR="73152" marT="38404" marB="3840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5년차</a:t>
                      </a:r>
                    </a:p>
                  </a:txBody>
                  <a:tcPr marL="73152" marR="73152" marT="38404" marB="38404" anchor="t">
                    <a:lnL w="0">
                      <a:noFill/>
                    </a:lnL>
                    <a:lnR w="0">
                      <a:noFill/>
                    </a:lnR>
                    <a:lnT w="12700">
                      <a:solidFill>
                        <a:srgbClr val="15171A"/>
                      </a:solidFill>
                    </a:lnT>
                    <a:lnB w="9525">
                      <a:solidFill>
                        <a:srgbClr val="15171A"/>
                      </a:solidFill>
                    </a:lnB>
                    <a:noFill/>
                  </a:tcPr>
                </a:tc>
              </a:tr>
              <a:tr h="288239">
                <a:tc>
                  <a:txBody>
                    <a:bodyPr wrap="square"/>
                    <a:lstStyle/>
                    <a:p>
                      <a:pPr algn="l">
                        <a:lnSpc>
                          <a:spcPct val="100000"/>
                        </a:lnSpc>
                      </a:pPr>
                      <a:r>
                        <a:rPr sz="1100" b="0">
                          <a:solidFill>
                            <a:srgbClr val="15171A"/>
                          </a:solidFill>
                          <a:latin typeface="Noto Sans KR"/>
                          <a:ea typeface="Noto Sans KR"/>
                          <a:cs typeface="Noto Sans KR"/>
                        </a:rPr>
                        <a:t>핸드 단품 판매 (대)</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200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350</a:t>
                      </a:r>
                    </a:p>
                  </a:txBody>
                  <a:tcPr marL="73152" marR="73152" marT="38404" marB="38404" anchor="t">
                    <a:lnL w="0">
                      <a:noFill/>
                    </a:lnL>
                    <a:lnR w="0">
                      <a:noFill/>
                    </a:lnR>
                    <a:lnT w="0">
                      <a:noFill/>
                    </a:lnT>
                    <a:lnB w="9525">
                      <a:solidFill>
                        <a:srgbClr val="E2E4E7"/>
                      </a:solidFill>
                    </a:lnB>
                    <a:noFill/>
                  </a:tcPr>
                </a:tc>
              </a:tr>
              <a:tr h="288239">
                <a:tc>
                  <a:txBody>
                    <a:bodyPr wrap="square"/>
                    <a:lstStyle/>
                    <a:p>
                      <a:pPr algn="l">
                        <a:lnSpc>
                          <a:spcPct val="100000"/>
                        </a:lnSpc>
                      </a:pPr>
                      <a:r>
                        <a:rPr sz="1100" b="0">
                          <a:solidFill>
                            <a:srgbClr val="15171A"/>
                          </a:solidFill>
                          <a:latin typeface="Noto Sans KR"/>
                          <a:ea typeface="Noto Sans KR"/>
                          <a:cs typeface="Noto Sans KR"/>
                        </a:rPr>
                        <a:t>주방 셀 판매 (대)</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12</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25</a:t>
                      </a:r>
                    </a:p>
                  </a:txBody>
                  <a:tcPr marL="73152" marR="73152" marT="38404" marB="38404" anchor="t">
                    <a:lnL w="0">
                      <a:noFill/>
                    </a:lnL>
                    <a:lnR w="0">
                      <a:noFill/>
                    </a:lnR>
                    <a:lnT w="0">
                      <a:noFill/>
                    </a:lnT>
                    <a:lnB w="9525">
                      <a:solidFill>
                        <a:srgbClr val="E2E4E7"/>
                      </a:solidFill>
                    </a:lnB>
                    <a:noFill/>
                  </a:tcPr>
                </a:tc>
              </a:tr>
              <a:tr h="288239">
                <a:tc>
                  <a:txBody>
                    <a:bodyPr wrap="square"/>
                    <a:lstStyle/>
                    <a:p>
                      <a:pPr algn="l">
                        <a:lnSpc>
                          <a:spcPct val="100000"/>
                        </a:lnSpc>
                      </a:pPr>
                      <a:r>
                        <a:rPr sz="1100" b="0">
                          <a:solidFill>
                            <a:srgbClr val="15171A"/>
                          </a:solidFill>
                          <a:latin typeface="Noto Sans KR"/>
                          <a:ea typeface="Noto Sans KR"/>
                          <a:cs typeface="Noto Sans KR"/>
                        </a:rPr>
                        <a:t>SW 유효 계약 (건)</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120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250</a:t>
                      </a:r>
                    </a:p>
                  </a:txBody>
                  <a:tcPr marL="73152" marR="73152" marT="38404" marB="38404" anchor="t">
                    <a:lnL w="0">
                      <a:noFill/>
                    </a:lnL>
                    <a:lnR w="0">
                      <a:noFill/>
                    </a:lnR>
                    <a:lnT w="0">
                      <a:noFill/>
                    </a:lnT>
                    <a:lnB w="9525">
                      <a:solidFill>
                        <a:srgbClr val="E2E4E7"/>
                      </a:solidFill>
                    </a:lnB>
                    <a:noFill/>
                  </a:tcPr>
                </a:tc>
              </a:tr>
              <a:tr h="288239">
                <a:tc>
                  <a:txBody>
                    <a:bodyPr wrap="square"/>
                    <a:lstStyle/>
                    <a:p>
                      <a:pPr algn="l">
                        <a:lnSpc>
                          <a:spcPct val="100000"/>
                        </a:lnSpc>
                      </a:pPr>
                      <a:r>
                        <a:rPr sz="1100" b="0">
                          <a:solidFill>
                            <a:srgbClr val="15171A"/>
                          </a:solidFill>
                          <a:latin typeface="Noto Sans KR"/>
                          <a:ea typeface="Noto Sans KR"/>
                          <a:cs typeface="Noto Sans KR"/>
                        </a:rPr>
                        <a:t>유료 실증·개발 매출</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2.00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2.00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2.00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2.00</a:t>
                      </a:r>
                    </a:p>
                  </a:txBody>
                  <a:tcPr marL="73152" marR="73152" marT="38404" marB="38404" anchor="t">
                    <a:lnL w="0">
                      <a:noFill/>
                    </a:lnL>
                    <a:lnR w="0">
                      <a:noFill/>
                    </a:lnR>
                    <a:lnT w="0">
                      <a:noFill/>
                    </a:lnT>
                    <a:lnB w="9525">
                      <a:solidFill>
                        <a:srgbClr val="E2E4E7"/>
                      </a:solidFill>
                    </a:lnB>
                    <a:noFill/>
                  </a:tcPr>
                </a:tc>
              </a:tr>
              <a:tr h="288239">
                <a:tc>
                  <a:txBody>
                    <a:bodyPr wrap="square"/>
                    <a:lstStyle/>
                    <a:p>
                      <a:pPr algn="l">
                        <a:lnSpc>
                          <a:spcPct val="100000"/>
                        </a:lnSpc>
                      </a:pPr>
                      <a:r>
                        <a:rPr sz="1100" b="1">
                          <a:solidFill>
                            <a:srgbClr val="15171A"/>
                          </a:solidFill>
                          <a:latin typeface="Noto Sans KR"/>
                          <a:ea typeface="Noto Sans KR"/>
                          <a:cs typeface="Noto Sans KR"/>
                        </a:rPr>
                        <a:t>총매출</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1.00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6.80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28.20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59.60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112.00</a:t>
                      </a:r>
                    </a:p>
                  </a:txBody>
                  <a:tcPr marL="73152" marR="73152" marT="38404" marB="38404" anchor="t">
                    <a:lnL w="0">
                      <a:noFill/>
                    </a:lnL>
                    <a:lnR w="0">
                      <a:noFill/>
                    </a:lnR>
                    <a:lnT w="0">
                      <a:noFill/>
                    </a:lnT>
                    <a:lnB w="9525">
                      <a:solidFill>
                        <a:srgbClr val="E2E4E7"/>
                      </a:solidFill>
                    </a:lnB>
                    <a:noFill/>
                  </a:tcPr>
                </a:tc>
              </a:tr>
              <a:tr h="288239">
                <a:tc>
                  <a:txBody>
                    <a:bodyPr wrap="square"/>
                    <a:lstStyle/>
                    <a:p>
                      <a:pPr algn="l">
                        <a:lnSpc>
                          <a:spcPct val="100000"/>
                        </a:lnSpc>
                      </a:pPr>
                      <a:r>
                        <a:rPr sz="1100" b="0">
                          <a:solidFill>
                            <a:srgbClr val="15171A"/>
                          </a:solidFill>
                          <a:latin typeface="Noto Sans KR"/>
                          <a:ea typeface="Noto Sans KR"/>
                          <a:cs typeface="Noto Sans KR"/>
                        </a:rPr>
                        <a:t>매출총이익</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0.40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3.11</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11.64</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24.52</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45.55</a:t>
                      </a:r>
                    </a:p>
                  </a:txBody>
                  <a:tcPr marL="73152" marR="73152" marT="38404" marB="38404" anchor="t">
                    <a:lnL w="0">
                      <a:noFill/>
                    </a:lnL>
                    <a:lnR w="0">
                      <a:noFill/>
                    </a:lnR>
                    <a:lnT w="0">
                      <a:noFill/>
                    </a:lnT>
                    <a:lnB w="9525">
                      <a:solidFill>
                        <a:srgbClr val="E2E4E7"/>
                      </a:solidFill>
                    </a:lnB>
                    <a:noFill/>
                  </a:tcPr>
                </a:tc>
              </a:tr>
              <a:tr h="288239">
                <a:tc>
                  <a:txBody>
                    <a:bodyPr wrap="square"/>
                    <a:lstStyle/>
                    <a:p>
                      <a:pPr algn="l">
                        <a:lnSpc>
                          <a:spcPct val="100000"/>
                        </a:lnSpc>
                      </a:pPr>
                      <a:r>
                        <a:rPr sz="1100" b="0">
                          <a:solidFill>
                            <a:srgbClr val="15171A"/>
                          </a:solidFill>
                          <a:latin typeface="Noto Sans KR"/>
                          <a:ea typeface="Noto Sans KR"/>
                          <a:cs typeface="Noto Sans KR"/>
                        </a:rPr>
                        <a:t>운영비</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8.00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10.00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14.00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20.00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28.00</a:t>
                      </a:r>
                    </a:p>
                  </a:txBody>
                  <a:tcPr marL="73152" marR="73152" marT="38404" marB="38404" anchor="t">
                    <a:lnL w="0">
                      <a:noFill/>
                    </a:lnL>
                    <a:lnR w="0">
                      <a:noFill/>
                    </a:lnR>
                    <a:lnT w="0">
                      <a:noFill/>
                    </a:lnT>
                    <a:lnB w="9525">
                      <a:solidFill>
                        <a:srgbClr val="E2E4E7"/>
                      </a:solidFill>
                    </a:lnB>
                    <a:noFill/>
                  </a:tcPr>
                </a:tc>
              </a:tr>
              <a:tr h="288239">
                <a:tc>
                  <a:txBody>
                    <a:bodyPr wrap="square"/>
                    <a:lstStyle/>
                    <a:p>
                      <a:pPr algn="l">
                        <a:lnSpc>
                          <a:spcPct val="100000"/>
                        </a:lnSpc>
                      </a:pPr>
                      <a:r>
                        <a:rPr sz="1100" b="1">
                          <a:solidFill>
                            <a:srgbClr val="15171A"/>
                          </a:solidFill>
                          <a:latin typeface="Noto Sans KR"/>
                          <a:ea typeface="Noto Sans KR"/>
                          <a:cs typeface="Noto Sans KR"/>
                        </a:rPr>
                        <a:t>영업손익</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−7.60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−6.89</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−2.36</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4.52</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17.55</a:t>
                      </a:r>
                    </a:p>
                  </a:txBody>
                  <a:tcPr marL="73152" marR="73152" marT="38404" marB="38404" anchor="t">
                    <a:lnL w="0">
                      <a:noFill/>
                    </a:lnL>
                    <a:lnR w="0">
                      <a:noFill/>
                    </a:lnR>
                    <a:lnT w="0">
                      <a:noFill/>
                    </a:lnT>
                    <a:lnB w="9525">
                      <a:solidFill>
                        <a:srgbClr val="E2E4E7"/>
                      </a:solidFill>
                    </a:lnB>
                    <a:noFill/>
                  </a:tcPr>
                </a:tc>
              </a:tr>
              <a:tr h="288239">
                <a:tc>
                  <a:txBody>
                    <a:bodyPr wrap="square"/>
                    <a:lstStyle/>
                    <a:p>
                      <a:pPr algn="l">
                        <a:lnSpc>
                          <a:spcPct val="100000"/>
                        </a:lnSpc>
                      </a:pPr>
                      <a:r>
                        <a:rPr sz="1100" b="0">
                          <a:solidFill>
                            <a:srgbClr val="15171A"/>
                          </a:solidFill>
                          <a:latin typeface="Noto Sans KR"/>
                          <a:ea typeface="Noto Sans KR"/>
                          <a:cs typeface="Noto Sans KR"/>
                        </a:rPr>
                        <a:t>누적 영업손익</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−7.60</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−14.49</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−16.85</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−12.33</a:t>
                      </a:r>
                    </a:p>
                  </a:txBody>
                  <a:tcPr marL="73152" marR="73152" marT="38404" marB="38404"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5.22</a:t>
                      </a:r>
                    </a:p>
                  </a:txBody>
                  <a:tcPr marL="73152" marR="73152" marT="38404" marB="38404" anchor="t">
                    <a:lnL w="0">
                      <a:noFill/>
                    </a:lnL>
                    <a:lnR w="0">
                      <a:noFill/>
                    </a:lnR>
                    <a:lnT w="0">
                      <a:noFill/>
                    </a:lnT>
                    <a:lnB w="9525">
                      <a:solidFill>
                        <a:srgbClr val="E2E4E7"/>
                      </a:solidFill>
                    </a:lnB>
                    <a:noFill/>
                  </a:tcPr>
                </a:tc>
              </a:tr>
            </a:tbl>
          </a:graphicData>
        </a:graphic>
      </p:graphicFrame>
      <p:sp>
        <p:nvSpPr>
          <p:cNvPr id="7" name="TextBox 6"/>
          <p:cNvSpPr txBox="1"/>
          <p:nvPr/>
        </p:nvSpPr>
        <p:spPr>
          <a:xfrm>
            <a:off x="685800" y="4875784"/>
            <a:ext cx="3154679"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민감도 (사업계획서 기준)</a:t>
            </a:r>
          </a:p>
        </p:txBody>
      </p:sp>
      <p:cxnSp>
        <p:nvCxnSpPr>
          <p:cNvPr id="8" name="Connector 7"/>
          <p:cNvCxnSpPr/>
          <p:nvPr/>
        </p:nvCxnSpPr>
        <p:spPr>
          <a:xfrm>
            <a:off x="685800" y="5195824"/>
            <a:ext cx="3154679" cy="0"/>
          </a:xfrm>
          <a:prstGeom prst="line">
            <a:avLst/>
          </a:prstGeom>
          <a:ln w="12700">
            <a:solidFill>
              <a:srgbClr val="15171A"/>
            </a:solidFill>
          </a:ln>
        </p:spPr>
      </p:cxnSp>
      <p:sp>
        <p:nvSpPr>
          <p:cNvPr id="9" name="TextBox 8"/>
          <p:cNvSpPr txBox="1"/>
          <p:nvPr/>
        </p:nvSpPr>
        <p:spPr>
          <a:xfrm>
            <a:off x="685800" y="5278120"/>
            <a:ext cx="3154679" cy="1061974"/>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050" b="0">
                <a:solidFill>
                  <a:srgbClr val="4A4F57"/>
                </a:solidFill>
                <a:latin typeface="Noto Sans KR"/>
                <a:ea typeface="Noto Sans KR"/>
                <a:cs typeface="Noto Sans KR"/>
              </a:rPr>
              <a:t>3년차 판매·계약·실증 50%</a:t>
            </a:r>
            <a:br/>
            <a:r>
              <a:rPr sz="1050" b="0">
                <a:solidFill>
                  <a:srgbClr val="4A4F57"/>
                </a:solidFill>
                <a:latin typeface="Noto Sans KR"/>
                <a:ea typeface="Noto Sans KR"/>
                <a:cs typeface="Noto Sans KR"/>
              </a:rPr>
              <a:t>→ 매출 14.10억, 영업손실 8.18억</a:t>
            </a:r>
          </a:p>
          <a:p>
            <a:pPr algn="l" marL="164592" indent="-164592">
              <a:lnSpc>
                <a:spcPct val="100000"/>
              </a:lnSpc>
              <a:spcAft>
                <a:spcPts val="200"/>
              </a:spcAft>
              <a:buClr>
                <a:srgbClr val="8C9198"/>
              </a:buClr>
              <a:buFont typeface="Noto Sans KR"/>
              <a:buChar char="•"/>
            </a:pPr>
            <a:r>
              <a:rPr sz="1050" b="0">
                <a:solidFill>
                  <a:srgbClr val="4A4F57"/>
                </a:solidFill>
                <a:latin typeface="Noto Sans KR"/>
                <a:ea typeface="Noto Sans KR"/>
                <a:cs typeface="Noto Sans KR"/>
              </a:rPr>
              <a:t>4년차 전 부문 매출 80%</a:t>
            </a:r>
            <a:br/>
            <a:r>
              <a:rPr sz="1050" b="0">
                <a:solidFill>
                  <a:srgbClr val="4A4F57"/>
                </a:solidFill>
                <a:latin typeface="Noto Sans KR"/>
                <a:ea typeface="Noto Sans KR"/>
                <a:cs typeface="Noto Sans KR"/>
              </a:rPr>
              <a:t>→ 총이익 19.62억 &lt; 운영비 20억</a:t>
            </a:r>
          </a:p>
          <a:p>
            <a:pPr algn="l" marL="164592" indent="-164592">
              <a:lnSpc>
                <a:spcPct val="100000"/>
              </a:lnSpc>
              <a:buClr>
                <a:srgbClr val="8C9198"/>
              </a:buClr>
              <a:buFont typeface="Noto Sans KR"/>
              <a:buChar char="•"/>
            </a:pPr>
            <a:r>
              <a:rPr sz="1050" b="0">
                <a:solidFill>
                  <a:srgbClr val="4A4F57"/>
                </a:solidFill>
                <a:latin typeface="Noto Sans KR"/>
                <a:ea typeface="Noto Sans KR"/>
                <a:cs typeface="Noto Sans KR"/>
              </a:rPr>
              <a:t>손익분기는 제품 구성과 실제 원가에 민감</a:t>
            </a:r>
          </a:p>
        </p:txBody>
      </p:sp>
      <p:sp>
        <p:nvSpPr>
          <p:cNvPr id="10" name="TextBox 9"/>
          <p:cNvSpPr txBox="1"/>
          <p:nvPr/>
        </p:nvSpPr>
        <p:spPr>
          <a:xfrm>
            <a:off x="4206240" y="4875784"/>
            <a:ext cx="3154679"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자금 수요</a:t>
            </a:r>
          </a:p>
        </p:txBody>
      </p:sp>
      <p:cxnSp>
        <p:nvCxnSpPr>
          <p:cNvPr id="11" name="Connector 10"/>
          <p:cNvCxnSpPr/>
          <p:nvPr/>
        </p:nvCxnSpPr>
        <p:spPr>
          <a:xfrm>
            <a:off x="4206240" y="5195824"/>
            <a:ext cx="3154679" cy="0"/>
          </a:xfrm>
          <a:prstGeom prst="line">
            <a:avLst/>
          </a:prstGeom>
          <a:ln w="12700">
            <a:solidFill>
              <a:srgbClr val="15171A"/>
            </a:solidFill>
          </a:ln>
        </p:spPr>
      </p:cxnSp>
      <p:sp>
        <p:nvSpPr>
          <p:cNvPr id="12" name="TextBox 11"/>
          <p:cNvSpPr txBox="1"/>
          <p:nvPr/>
        </p:nvSpPr>
        <p:spPr>
          <a:xfrm>
            <a:off x="4206240" y="5278120"/>
            <a:ext cx="3154679" cy="1061974"/>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050" b="0">
                <a:solidFill>
                  <a:srgbClr val="4A4F57"/>
                </a:solidFill>
                <a:latin typeface="Noto Sans KR"/>
                <a:ea typeface="Noto Sans KR"/>
                <a:cs typeface="Noto Sans KR"/>
              </a:rPr>
              <a:t>1~2년차 누적 영업손실 14.49억 원</a:t>
            </a:r>
          </a:p>
          <a:p>
            <a:pPr algn="l" marL="164592" indent="-164592">
              <a:lnSpc>
                <a:spcPct val="100000"/>
              </a:lnSpc>
              <a:spcAft>
                <a:spcPts val="200"/>
              </a:spcAft>
              <a:buClr>
                <a:srgbClr val="8C9198"/>
              </a:buClr>
              <a:buFont typeface="Noto Sans KR"/>
              <a:buChar char="•"/>
            </a:pPr>
            <a:r>
              <a:rPr sz="1050" b="0">
                <a:solidFill>
                  <a:srgbClr val="4A4F57"/>
                </a:solidFill>
                <a:latin typeface="Noto Sans KR"/>
                <a:ea typeface="Noto Sans KR"/>
                <a:cs typeface="Noto Sans KR"/>
              </a:rPr>
              <a:t>재고·설비·보증금·매출채권·세금</a:t>
            </a:r>
            <a:br/>
            <a:r>
              <a:rPr sz="1050" b="0">
                <a:solidFill>
                  <a:srgbClr val="4A4F57"/>
                </a:solidFill>
                <a:latin typeface="Noto Sans KR"/>
                <a:ea typeface="Noto Sans KR"/>
                <a:cs typeface="Noto Sans KR"/>
              </a:rPr>
              <a:t>반영 시 현금 소요 증가</a:t>
            </a:r>
          </a:p>
          <a:p>
            <a:pPr algn="l" marL="164592" indent="-164592">
              <a:lnSpc>
                <a:spcPct val="100000"/>
              </a:lnSpc>
              <a:buClr>
                <a:srgbClr val="8C9198"/>
              </a:buClr>
              <a:buFont typeface="Noto Sans KR"/>
              <a:buChar char="•"/>
            </a:pPr>
            <a:r>
              <a:rPr sz="1050" b="0">
                <a:solidFill>
                  <a:srgbClr val="4A4F57"/>
                </a:solidFill>
                <a:latin typeface="Noto Sans KR"/>
                <a:ea typeface="Noto Sans KR"/>
                <a:cs typeface="Noto Sans KR"/>
              </a:rPr>
              <a:t>Seed로 5개년 전체를 조달하지 않음</a:t>
            </a:r>
            <a:br/>
            <a:r>
              <a:rPr sz="1050" b="0">
                <a:solidFill>
                  <a:srgbClr val="4A4F57"/>
                </a:solidFill>
                <a:latin typeface="Noto Sans KR"/>
                <a:ea typeface="Noto Sans KR"/>
                <a:cs typeface="Noto Sans KR"/>
              </a:rPr>
              <a:t>18~24개월에 후속 자금 조달 필요</a:t>
            </a:r>
          </a:p>
        </p:txBody>
      </p:sp>
      <p:sp>
        <p:nvSpPr>
          <p:cNvPr id="13" name="TextBox 12"/>
          <p:cNvSpPr txBox="1"/>
          <p:nvPr/>
        </p:nvSpPr>
        <p:spPr>
          <a:xfrm>
            <a:off x="7818120" y="1810512"/>
            <a:ext cx="368777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매출 구성 (억 원)</a:t>
            </a:r>
          </a:p>
        </p:txBody>
      </p:sp>
      <p:sp>
        <p:nvSpPr>
          <p:cNvPr id="14" name="Rectangle 13"/>
          <p:cNvSpPr/>
          <p:nvPr/>
        </p:nvSpPr>
        <p:spPr>
          <a:xfrm>
            <a:off x="7818120" y="2203704"/>
            <a:ext cx="109728" cy="109728"/>
          </a:xfrm>
          <a:prstGeom prst="rect">
            <a:avLst/>
          </a:prstGeom>
          <a:solidFill>
            <a:srgbClr val="E2571B"/>
          </a:solidFill>
          <a:ln>
            <a:noFill/>
          </a:ln>
        </p:spPr>
        <p:txBody>
          <a:bodyPr rtlCol="0" anchor="ctr"/>
          <a:lstStyle/>
          <a:p>
            <a:pPr algn="ctr"/>
          </a:p>
        </p:txBody>
      </p:sp>
      <p:sp>
        <p:nvSpPr>
          <p:cNvPr id="15" name="TextBox 14"/>
          <p:cNvSpPr txBox="1"/>
          <p:nvPr/>
        </p:nvSpPr>
        <p:spPr>
          <a:xfrm>
            <a:off x="7973568" y="2139696"/>
            <a:ext cx="1280160" cy="2286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핸드 단품</a:t>
            </a:r>
          </a:p>
        </p:txBody>
      </p:sp>
      <p:sp>
        <p:nvSpPr>
          <p:cNvPr id="16" name="Rectangle 15"/>
          <p:cNvSpPr/>
          <p:nvPr/>
        </p:nvSpPr>
        <p:spPr>
          <a:xfrm>
            <a:off x="8627463" y="2203704"/>
            <a:ext cx="109728" cy="109728"/>
          </a:xfrm>
          <a:prstGeom prst="rect">
            <a:avLst/>
          </a:prstGeom>
          <a:solidFill>
            <a:srgbClr val="4A4F57"/>
          </a:solidFill>
          <a:ln>
            <a:noFill/>
          </a:ln>
        </p:spPr>
        <p:txBody>
          <a:bodyPr rtlCol="0" anchor="ctr"/>
          <a:lstStyle/>
          <a:p>
            <a:pPr algn="ctr"/>
          </a:p>
        </p:txBody>
      </p:sp>
      <p:sp>
        <p:nvSpPr>
          <p:cNvPr id="17" name="TextBox 16"/>
          <p:cNvSpPr txBox="1"/>
          <p:nvPr/>
        </p:nvSpPr>
        <p:spPr>
          <a:xfrm>
            <a:off x="8782911" y="2139696"/>
            <a:ext cx="1280160" cy="2286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주방 셀</a:t>
            </a:r>
          </a:p>
        </p:txBody>
      </p:sp>
      <p:sp>
        <p:nvSpPr>
          <p:cNvPr id="18" name="Rectangle 17"/>
          <p:cNvSpPr/>
          <p:nvPr/>
        </p:nvSpPr>
        <p:spPr>
          <a:xfrm>
            <a:off x="9325809" y="2203704"/>
            <a:ext cx="109728" cy="109728"/>
          </a:xfrm>
          <a:prstGeom prst="rect">
            <a:avLst/>
          </a:prstGeom>
          <a:solidFill>
            <a:srgbClr val="8C9198"/>
          </a:solidFill>
          <a:ln>
            <a:noFill/>
          </a:ln>
        </p:spPr>
        <p:txBody>
          <a:bodyPr rtlCol="0" anchor="ctr"/>
          <a:lstStyle/>
          <a:p>
            <a:pPr algn="ctr"/>
          </a:p>
        </p:txBody>
      </p:sp>
      <p:sp>
        <p:nvSpPr>
          <p:cNvPr id="19" name="TextBox 18"/>
          <p:cNvSpPr txBox="1"/>
          <p:nvPr/>
        </p:nvSpPr>
        <p:spPr>
          <a:xfrm>
            <a:off x="9481257" y="2139696"/>
            <a:ext cx="1280160" cy="2286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소프트웨어</a:t>
            </a:r>
          </a:p>
        </p:txBody>
      </p:sp>
      <p:sp>
        <p:nvSpPr>
          <p:cNvPr id="20" name="Rectangle 19"/>
          <p:cNvSpPr/>
          <p:nvPr/>
        </p:nvSpPr>
        <p:spPr>
          <a:xfrm>
            <a:off x="10219127" y="2203704"/>
            <a:ext cx="109728" cy="109728"/>
          </a:xfrm>
          <a:prstGeom prst="rect">
            <a:avLst/>
          </a:prstGeom>
          <a:solidFill>
            <a:srgbClr val="C9CDD2"/>
          </a:solidFill>
          <a:ln>
            <a:noFill/>
          </a:ln>
        </p:spPr>
        <p:txBody>
          <a:bodyPr rtlCol="0" anchor="ctr"/>
          <a:lstStyle/>
          <a:p>
            <a:pPr algn="ctr"/>
          </a:p>
        </p:txBody>
      </p:sp>
      <p:sp>
        <p:nvSpPr>
          <p:cNvPr id="21" name="TextBox 20"/>
          <p:cNvSpPr txBox="1"/>
          <p:nvPr/>
        </p:nvSpPr>
        <p:spPr>
          <a:xfrm>
            <a:off x="10374575" y="2139696"/>
            <a:ext cx="1280160" cy="2286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실증·개발</a:t>
            </a:r>
          </a:p>
        </p:txBody>
      </p:sp>
      <p:graphicFrame>
        <p:nvGraphicFramePr>
          <p:cNvPr id="22" name="Chart 21"/>
          <p:cNvGraphicFramePr>
            <a:graphicFrameLocks noGrp="1"/>
          </p:cNvGraphicFramePr>
          <p:nvPr/>
        </p:nvGraphicFramePr>
        <p:xfrm>
          <a:off x="7818120" y="2468880"/>
          <a:ext cx="3687775" cy="3611880"/>
        </p:xfrm>
        <a:graphic>
          <a:graphicData uri="http://schemas.openxmlformats.org/drawingml/2006/chart">
            <c:chart xmlns:c="http://schemas.openxmlformats.org/drawingml/2006/chart" r:id="rId2"/>
          </a:graphicData>
        </a:graphic>
      </p:graphicFrame>
      <p:sp>
        <p:nvSpPr>
          <p:cNvPr id="23" name="TextBox 22"/>
          <p:cNvSpPr txBox="1"/>
          <p:nvPr/>
        </p:nvSpPr>
        <p:spPr>
          <a:xfrm>
            <a:off x="7605821" y="5792724"/>
            <a:ext cx="1280160" cy="274320"/>
          </a:xfrm>
          <a:prstGeom prst="rect">
            <a:avLst/>
          </a:prstGeom>
          <a:noFill/>
        </p:spPr>
        <p:txBody>
          <a:bodyPr wrap="square" lIns="0" rIns="0" tIns="0" bIns="0" anchor="t">
            <a:spAutoFit/>
          </a:bodyPr>
          <a:lstStyle/>
          <a:p>
            <a:pPr algn="ctr">
              <a:lnSpc>
                <a:spcPct val="100000"/>
              </a:lnSpc>
            </a:pPr>
            <a:r>
              <a:rPr sz="1050" b="0">
                <a:solidFill>
                  <a:srgbClr val="4A4F57"/>
                </a:solidFill>
                <a:latin typeface="Noto Sans KR"/>
                <a:ea typeface="Noto Sans KR"/>
                <a:cs typeface="Noto Sans KR"/>
              </a:rPr>
              <a:t>1년차</a:t>
            </a:r>
          </a:p>
        </p:txBody>
      </p:sp>
      <p:sp>
        <p:nvSpPr>
          <p:cNvPr id="24" name="TextBox 23"/>
          <p:cNvSpPr txBox="1"/>
          <p:nvPr/>
        </p:nvSpPr>
        <p:spPr>
          <a:xfrm>
            <a:off x="8313874" y="5792724"/>
            <a:ext cx="1280160" cy="274320"/>
          </a:xfrm>
          <a:prstGeom prst="rect">
            <a:avLst/>
          </a:prstGeom>
          <a:noFill/>
        </p:spPr>
        <p:txBody>
          <a:bodyPr wrap="square" lIns="0" rIns="0" tIns="0" bIns="0" anchor="t">
            <a:spAutoFit/>
          </a:bodyPr>
          <a:lstStyle/>
          <a:p>
            <a:pPr algn="ctr">
              <a:lnSpc>
                <a:spcPct val="100000"/>
              </a:lnSpc>
            </a:pPr>
            <a:r>
              <a:rPr sz="1050" b="0">
                <a:solidFill>
                  <a:srgbClr val="4A4F57"/>
                </a:solidFill>
                <a:latin typeface="Noto Sans KR"/>
                <a:ea typeface="Noto Sans KR"/>
                <a:cs typeface="Noto Sans KR"/>
              </a:rPr>
              <a:t>2년차</a:t>
            </a:r>
          </a:p>
        </p:txBody>
      </p:sp>
      <p:sp>
        <p:nvSpPr>
          <p:cNvPr id="25" name="TextBox 24"/>
          <p:cNvSpPr txBox="1"/>
          <p:nvPr/>
        </p:nvSpPr>
        <p:spPr>
          <a:xfrm>
            <a:off x="9021927" y="5792724"/>
            <a:ext cx="1280160" cy="274320"/>
          </a:xfrm>
          <a:prstGeom prst="rect">
            <a:avLst/>
          </a:prstGeom>
          <a:noFill/>
        </p:spPr>
        <p:txBody>
          <a:bodyPr wrap="square" lIns="0" rIns="0" tIns="0" bIns="0" anchor="t">
            <a:spAutoFit/>
          </a:bodyPr>
          <a:lstStyle/>
          <a:p>
            <a:pPr algn="ctr">
              <a:lnSpc>
                <a:spcPct val="100000"/>
              </a:lnSpc>
            </a:pPr>
            <a:r>
              <a:rPr sz="1050" b="0">
                <a:solidFill>
                  <a:srgbClr val="4A4F57"/>
                </a:solidFill>
                <a:latin typeface="Noto Sans KR"/>
                <a:ea typeface="Noto Sans KR"/>
                <a:cs typeface="Noto Sans KR"/>
              </a:rPr>
              <a:t>3년차</a:t>
            </a:r>
          </a:p>
        </p:txBody>
      </p:sp>
      <p:sp>
        <p:nvSpPr>
          <p:cNvPr id="26" name="TextBox 25"/>
          <p:cNvSpPr txBox="1"/>
          <p:nvPr/>
        </p:nvSpPr>
        <p:spPr>
          <a:xfrm>
            <a:off x="9729980" y="5792724"/>
            <a:ext cx="1280160" cy="274320"/>
          </a:xfrm>
          <a:prstGeom prst="rect">
            <a:avLst/>
          </a:prstGeom>
          <a:noFill/>
        </p:spPr>
        <p:txBody>
          <a:bodyPr wrap="square" lIns="0" rIns="0" tIns="0" bIns="0" anchor="t">
            <a:spAutoFit/>
          </a:bodyPr>
          <a:lstStyle/>
          <a:p>
            <a:pPr algn="ctr">
              <a:lnSpc>
                <a:spcPct val="100000"/>
              </a:lnSpc>
            </a:pPr>
            <a:r>
              <a:rPr sz="1050" b="0">
                <a:solidFill>
                  <a:srgbClr val="4A4F57"/>
                </a:solidFill>
                <a:latin typeface="Noto Sans KR"/>
                <a:ea typeface="Noto Sans KR"/>
                <a:cs typeface="Noto Sans KR"/>
              </a:rPr>
              <a:t>4년차</a:t>
            </a:r>
          </a:p>
        </p:txBody>
      </p:sp>
      <p:sp>
        <p:nvSpPr>
          <p:cNvPr id="27" name="TextBox 26"/>
          <p:cNvSpPr txBox="1"/>
          <p:nvPr/>
        </p:nvSpPr>
        <p:spPr>
          <a:xfrm>
            <a:off x="10438033" y="5792724"/>
            <a:ext cx="1280160" cy="274320"/>
          </a:xfrm>
          <a:prstGeom prst="rect">
            <a:avLst/>
          </a:prstGeom>
          <a:noFill/>
        </p:spPr>
        <p:txBody>
          <a:bodyPr wrap="square" lIns="0" rIns="0" tIns="0" bIns="0" anchor="t">
            <a:spAutoFit/>
          </a:bodyPr>
          <a:lstStyle/>
          <a:p>
            <a:pPr algn="ctr">
              <a:lnSpc>
                <a:spcPct val="100000"/>
              </a:lnSpc>
            </a:pPr>
            <a:r>
              <a:rPr sz="1050" b="0">
                <a:solidFill>
                  <a:srgbClr val="4A4F57"/>
                </a:solidFill>
                <a:latin typeface="Noto Sans KR"/>
                <a:ea typeface="Noto Sans KR"/>
                <a:cs typeface="Noto Sans KR"/>
              </a:rPr>
              <a:t>5년차</a:t>
            </a:r>
          </a:p>
        </p:txBody>
      </p:sp>
      <p:sp>
        <p:nvSpPr>
          <p:cNvPr id="28" name="TextBox 27"/>
          <p:cNvSpPr txBox="1"/>
          <p:nvPr/>
        </p:nvSpPr>
        <p:spPr>
          <a:xfrm>
            <a:off x="7697261" y="5431279"/>
            <a:ext cx="109728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1.0</a:t>
            </a:r>
          </a:p>
        </p:txBody>
      </p:sp>
      <p:sp>
        <p:nvSpPr>
          <p:cNvPr id="29" name="TextBox 28"/>
          <p:cNvSpPr txBox="1"/>
          <p:nvPr/>
        </p:nvSpPr>
        <p:spPr>
          <a:xfrm>
            <a:off x="8405314" y="5297206"/>
            <a:ext cx="109728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6.8</a:t>
            </a:r>
          </a:p>
        </p:txBody>
      </p:sp>
      <p:sp>
        <p:nvSpPr>
          <p:cNvPr id="30" name="TextBox 29"/>
          <p:cNvSpPr txBox="1"/>
          <p:nvPr/>
        </p:nvSpPr>
        <p:spPr>
          <a:xfrm>
            <a:off x="9113367" y="4802523"/>
            <a:ext cx="109728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28.2</a:t>
            </a:r>
          </a:p>
        </p:txBody>
      </p:sp>
      <p:sp>
        <p:nvSpPr>
          <p:cNvPr id="31" name="TextBox 30"/>
          <p:cNvSpPr txBox="1"/>
          <p:nvPr/>
        </p:nvSpPr>
        <p:spPr>
          <a:xfrm>
            <a:off x="9821420" y="4076680"/>
            <a:ext cx="109728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59.6</a:t>
            </a:r>
          </a:p>
        </p:txBody>
      </p:sp>
      <p:sp>
        <p:nvSpPr>
          <p:cNvPr id="32" name="TextBox 31"/>
          <p:cNvSpPr txBox="1"/>
          <p:nvPr/>
        </p:nvSpPr>
        <p:spPr>
          <a:xfrm>
            <a:off x="10529473" y="2865400"/>
            <a:ext cx="109728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112.0</a:t>
            </a:r>
          </a:p>
        </p:txBody>
      </p:sp>
      <p:sp>
        <p:nvSpPr>
          <p:cNvPr id="33" name="TextBox 3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34" name="TextBox 33"/>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산식·부문별 매출총이익 부록 A12 · 모든 수치는 사업계획서 기준 시나리오의 계획값이며 실적 아님</a:t>
            </a:r>
          </a:p>
        </p:txBody>
      </p:sp>
      <p:sp>
        <p:nvSpPr>
          <p:cNvPr id="35" name="TextBox 3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12   개발 일정</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36개월 6단계 개발, 단계 통과 조건을 충족하면 다음 단계로 진행</a:t>
            </a:r>
          </a:p>
        </p:txBody>
      </p:sp>
      <p:cxnSp>
        <p:nvCxnSpPr>
          <p:cNvPr id="4" name="Connector 3"/>
          <p:cNvCxnSpPr/>
          <p:nvPr/>
        </p:nvCxnSpPr>
        <p:spPr>
          <a:xfrm>
            <a:off x="685800" y="1243584"/>
            <a:ext cx="10820095" cy="0"/>
          </a:xfrm>
          <a:prstGeom prst="line">
            <a:avLst/>
          </a:prstGeom>
          <a:ln w="12700">
            <a:solidFill>
              <a:srgbClr val="15171A"/>
            </a:solidFill>
          </a:ln>
        </p:spPr>
      </p:cxnSp>
      <p:sp>
        <p:nvSpPr>
          <p:cNvPr id="5" name="TextBox 4"/>
          <p:cNvSpPr txBox="1"/>
          <p:nvPr/>
        </p:nvSpPr>
        <p:spPr>
          <a:xfrm>
            <a:off x="685800" y="1463040"/>
            <a:ext cx="1097280"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기간</a:t>
            </a:r>
          </a:p>
        </p:txBody>
      </p:sp>
      <p:sp>
        <p:nvSpPr>
          <p:cNvPr id="6" name="TextBox 5"/>
          <p:cNvSpPr txBox="1"/>
          <p:nvPr/>
        </p:nvSpPr>
        <p:spPr>
          <a:xfrm>
            <a:off x="5212080" y="1463040"/>
            <a:ext cx="3429000"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핵심 산출물</a:t>
            </a:r>
          </a:p>
        </p:txBody>
      </p:sp>
      <p:sp>
        <p:nvSpPr>
          <p:cNvPr id="7" name="TextBox 6"/>
          <p:cNvSpPr txBox="1"/>
          <p:nvPr/>
        </p:nvSpPr>
        <p:spPr>
          <a:xfrm>
            <a:off x="8823959" y="1463040"/>
            <a:ext cx="2681935"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단계 통과 조건</a:t>
            </a:r>
          </a:p>
        </p:txBody>
      </p:sp>
      <p:sp>
        <p:nvSpPr>
          <p:cNvPr id="8" name="TextBox 7"/>
          <p:cNvSpPr txBox="1"/>
          <p:nvPr/>
        </p:nvSpPr>
        <p:spPr>
          <a:xfrm>
            <a:off x="1645919" y="1463040"/>
            <a:ext cx="457200" cy="237744"/>
          </a:xfrm>
          <a:prstGeom prst="rect">
            <a:avLst/>
          </a:prstGeom>
          <a:noFill/>
        </p:spPr>
        <p:txBody>
          <a:bodyPr wrap="square" lIns="0" rIns="0" tIns="0" bIns="0" anchor="t">
            <a:spAutoFit/>
          </a:bodyPr>
          <a:lstStyle/>
          <a:p>
            <a:pPr algn="ctr">
              <a:lnSpc>
                <a:spcPct val="100000"/>
              </a:lnSpc>
            </a:pPr>
            <a:r>
              <a:rPr sz="1000" b="0">
                <a:solidFill>
                  <a:srgbClr val="8C9198"/>
                </a:solidFill>
                <a:latin typeface="Noto Sans KR"/>
                <a:ea typeface="Noto Sans KR"/>
                <a:cs typeface="Noto Sans KR"/>
              </a:rPr>
              <a:t>0</a:t>
            </a:r>
          </a:p>
        </p:txBody>
      </p:sp>
      <p:sp>
        <p:nvSpPr>
          <p:cNvPr id="9" name="TextBox 8"/>
          <p:cNvSpPr txBox="1"/>
          <p:nvPr/>
        </p:nvSpPr>
        <p:spPr>
          <a:xfrm>
            <a:off x="2133599" y="1463040"/>
            <a:ext cx="457200" cy="237744"/>
          </a:xfrm>
          <a:prstGeom prst="rect">
            <a:avLst/>
          </a:prstGeom>
          <a:noFill/>
        </p:spPr>
        <p:txBody>
          <a:bodyPr wrap="square" lIns="0" rIns="0" tIns="0" bIns="0" anchor="t">
            <a:spAutoFit/>
          </a:bodyPr>
          <a:lstStyle/>
          <a:p>
            <a:pPr algn="ctr">
              <a:lnSpc>
                <a:spcPct val="100000"/>
              </a:lnSpc>
            </a:pPr>
            <a:r>
              <a:rPr sz="1000" b="0">
                <a:solidFill>
                  <a:srgbClr val="8C9198"/>
                </a:solidFill>
                <a:latin typeface="Noto Sans KR"/>
                <a:ea typeface="Noto Sans KR"/>
                <a:cs typeface="Noto Sans KR"/>
              </a:rPr>
              <a:t>6</a:t>
            </a:r>
          </a:p>
        </p:txBody>
      </p:sp>
      <p:sp>
        <p:nvSpPr>
          <p:cNvPr id="10" name="TextBox 9"/>
          <p:cNvSpPr txBox="1"/>
          <p:nvPr/>
        </p:nvSpPr>
        <p:spPr>
          <a:xfrm>
            <a:off x="2621280" y="1463040"/>
            <a:ext cx="457200" cy="237744"/>
          </a:xfrm>
          <a:prstGeom prst="rect">
            <a:avLst/>
          </a:prstGeom>
          <a:noFill/>
        </p:spPr>
        <p:txBody>
          <a:bodyPr wrap="square" lIns="0" rIns="0" tIns="0" bIns="0" anchor="t">
            <a:spAutoFit/>
          </a:bodyPr>
          <a:lstStyle/>
          <a:p>
            <a:pPr algn="ctr">
              <a:lnSpc>
                <a:spcPct val="100000"/>
              </a:lnSpc>
            </a:pPr>
            <a:r>
              <a:rPr sz="1000" b="0">
                <a:solidFill>
                  <a:srgbClr val="8C9198"/>
                </a:solidFill>
                <a:latin typeface="Noto Sans KR"/>
                <a:ea typeface="Noto Sans KR"/>
                <a:cs typeface="Noto Sans KR"/>
              </a:rPr>
              <a:t>12</a:t>
            </a:r>
          </a:p>
        </p:txBody>
      </p:sp>
      <p:sp>
        <p:nvSpPr>
          <p:cNvPr id="11" name="TextBox 10"/>
          <p:cNvSpPr txBox="1"/>
          <p:nvPr/>
        </p:nvSpPr>
        <p:spPr>
          <a:xfrm>
            <a:off x="3108960" y="1463040"/>
            <a:ext cx="457200" cy="237744"/>
          </a:xfrm>
          <a:prstGeom prst="rect">
            <a:avLst/>
          </a:prstGeom>
          <a:noFill/>
        </p:spPr>
        <p:txBody>
          <a:bodyPr wrap="square" lIns="0" rIns="0" tIns="0" bIns="0" anchor="t">
            <a:spAutoFit/>
          </a:bodyPr>
          <a:lstStyle/>
          <a:p>
            <a:pPr algn="ctr">
              <a:lnSpc>
                <a:spcPct val="100000"/>
              </a:lnSpc>
            </a:pPr>
            <a:r>
              <a:rPr sz="1000" b="0">
                <a:solidFill>
                  <a:srgbClr val="8C9198"/>
                </a:solidFill>
                <a:latin typeface="Noto Sans KR"/>
                <a:ea typeface="Noto Sans KR"/>
                <a:cs typeface="Noto Sans KR"/>
              </a:rPr>
              <a:t>18</a:t>
            </a:r>
          </a:p>
        </p:txBody>
      </p:sp>
      <p:sp>
        <p:nvSpPr>
          <p:cNvPr id="12" name="TextBox 11"/>
          <p:cNvSpPr txBox="1"/>
          <p:nvPr/>
        </p:nvSpPr>
        <p:spPr>
          <a:xfrm>
            <a:off x="3596640" y="1463040"/>
            <a:ext cx="457200" cy="237744"/>
          </a:xfrm>
          <a:prstGeom prst="rect">
            <a:avLst/>
          </a:prstGeom>
          <a:noFill/>
        </p:spPr>
        <p:txBody>
          <a:bodyPr wrap="square" lIns="0" rIns="0" tIns="0" bIns="0" anchor="t">
            <a:spAutoFit/>
          </a:bodyPr>
          <a:lstStyle/>
          <a:p>
            <a:pPr algn="ctr">
              <a:lnSpc>
                <a:spcPct val="100000"/>
              </a:lnSpc>
            </a:pPr>
            <a:r>
              <a:rPr sz="1000" b="0">
                <a:solidFill>
                  <a:srgbClr val="8C9198"/>
                </a:solidFill>
                <a:latin typeface="Noto Sans KR"/>
                <a:ea typeface="Noto Sans KR"/>
                <a:cs typeface="Noto Sans KR"/>
              </a:rPr>
              <a:t>24</a:t>
            </a:r>
          </a:p>
        </p:txBody>
      </p:sp>
      <p:sp>
        <p:nvSpPr>
          <p:cNvPr id="13" name="TextBox 12"/>
          <p:cNvSpPr txBox="1"/>
          <p:nvPr/>
        </p:nvSpPr>
        <p:spPr>
          <a:xfrm>
            <a:off x="4084320" y="1463040"/>
            <a:ext cx="457200" cy="237744"/>
          </a:xfrm>
          <a:prstGeom prst="rect">
            <a:avLst/>
          </a:prstGeom>
          <a:noFill/>
        </p:spPr>
        <p:txBody>
          <a:bodyPr wrap="square" lIns="0" rIns="0" tIns="0" bIns="0" anchor="t">
            <a:spAutoFit/>
          </a:bodyPr>
          <a:lstStyle/>
          <a:p>
            <a:pPr algn="ctr">
              <a:lnSpc>
                <a:spcPct val="100000"/>
              </a:lnSpc>
            </a:pPr>
            <a:r>
              <a:rPr sz="1000" b="0">
                <a:solidFill>
                  <a:srgbClr val="8C9198"/>
                </a:solidFill>
                <a:latin typeface="Noto Sans KR"/>
                <a:ea typeface="Noto Sans KR"/>
                <a:cs typeface="Noto Sans KR"/>
              </a:rPr>
              <a:t>30</a:t>
            </a:r>
          </a:p>
        </p:txBody>
      </p:sp>
      <p:sp>
        <p:nvSpPr>
          <p:cNvPr id="14" name="TextBox 13"/>
          <p:cNvSpPr txBox="1"/>
          <p:nvPr/>
        </p:nvSpPr>
        <p:spPr>
          <a:xfrm>
            <a:off x="4572000" y="1463040"/>
            <a:ext cx="457200" cy="237744"/>
          </a:xfrm>
          <a:prstGeom prst="rect">
            <a:avLst/>
          </a:prstGeom>
          <a:noFill/>
        </p:spPr>
        <p:txBody>
          <a:bodyPr wrap="square" lIns="0" rIns="0" tIns="0" bIns="0" anchor="t">
            <a:spAutoFit/>
          </a:bodyPr>
          <a:lstStyle/>
          <a:p>
            <a:pPr algn="ctr">
              <a:lnSpc>
                <a:spcPct val="100000"/>
              </a:lnSpc>
            </a:pPr>
            <a:r>
              <a:rPr sz="1000" b="0">
                <a:solidFill>
                  <a:srgbClr val="8C9198"/>
                </a:solidFill>
                <a:latin typeface="Noto Sans KR"/>
                <a:ea typeface="Noto Sans KR"/>
                <a:cs typeface="Noto Sans KR"/>
              </a:rPr>
              <a:t>36</a:t>
            </a:r>
          </a:p>
        </p:txBody>
      </p:sp>
      <p:cxnSp>
        <p:nvCxnSpPr>
          <p:cNvPr id="15" name="Connector 14"/>
          <p:cNvCxnSpPr/>
          <p:nvPr/>
        </p:nvCxnSpPr>
        <p:spPr>
          <a:xfrm>
            <a:off x="685800" y="1792224"/>
            <a:ext cx="10820095" cy="0"/>
          </a:xfrm>
          <a:prstGeom prst="line">
            <a:avLst/>
          </a:prstGeom>
          <a:ln w="12700">
            <a:solidFill>
              <a:srgbClr val="15171A"/>
            </a:solidFill>
          </a:ln>
        </p:spPr>
      </p:cxnSp>
      <p:sp>
        <p:nvSpPr>
          <p:cNvPr id="16" name="Rectangle 15"/>
          <p:cNvSpPr/>
          <p:nvPr/>
        </p:nvSpPr>
        <p:spPr>
          <a:xfrm>
            <a:off x="1874519" y="1810512"/>
            <a:ext cx="1950720" cy="2871216"/>
          </a:xfrm>
          <a:prstGeom prst="rect">
            <a:avLst/>
          </a:prstGeom>
          <a:solidFill>
            <a:srgbClr val="FBEDE6"/>
          </a:solidFill>
          <a:ln>
            <a:noFill/>
          </a:ln>
        </p:spPr>
        <p:txBody>
          <a:bodyPr rtlCol="0" anchor="ctr"/>
          <a:lstStyle/>
          <a:p>
            <a:pPr algn="ctr"/>
          </a:p>
        </p:txBody>
      </p:sp>
      <p:sp>
        <p:nvSpPr>
          <p:cNvPr id="17" name="TextBox 16"/>
          <p:cNvSpPr txBox="1"/>
          <p:nvPr/>
        </p:nvSpPr>
        <p:spPr>
          <a:xfrm>
            <a:off x="685800" y="1847088"/>
            <a:ext cx="1097280" cy="393192"/>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0~3개월</a:t>
            </a:r>
          </a:p>
        </p:txBody>
      </p:sp>
      <p:sp>
        <p:nvSpPr>
          <p:cNvPr id="18" name="Rectangle 17"/>
          <p:cNvSpPr/>
          <p:nvPr/>
        </p:nvSpPr>
        <p:spPr>
          <a:xfrm>
            <a:off x="1892807" y="1947672"/>
            <a:ext cx="207264" cy="173736"/>
          </a:xfrm>
          <a:prstGeom prst="rect">
            <a:avLst/>
          </a:prstGeom>
          <a:solidFill>
            <a:srgbClr val="E2571B"/>
          </a:solidFill>
          <a:ln>
            <a:noFill/>
          </a:ln>
        </p:spPr>
        <p:txBody>
          <a:bodyPr rtlCol="0" anchor="ctr"/>
          <a:lstStyle/>
          <a:p>
            <a:pPr algn="ctr"/>
          </a:p>
        </p:txBody>
      </p:sp>
      <p:sp>
        <p:nvSpPr>
          <p:cNvPr id="19" name="TextBox 18"/>
          <p:cNvSpPr txBox="1"/>
          <p:nvPr/>
        </p:nvSpPr>
        <p:spPr>
          <a:xfrm>
            <a:off x="5212080" y="1847088"/>
            <a:ext cx="3429000" cy="393192"/>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고객 인터뷰, 요구사항, 구동 비교, 선행기술 조사</a:t>
            </a:r>
          </a:p>
        </p:txBody>
      </p:sp>
      <p:sp>
        <p:nvSpPr>
          <p:cNvPr id="20" name="TextBox 19"/>
          <p:cNvSpPr txBox="1"/>
          <p:nvPr/>
        </p:nvSpPr>
        <p:spPr>
          <a:xfrm>
            <a:off x="8823959" y="1847088"/>
            <a:ext cx="2681935" cy="393192"/>
          </a:xfrm>
          <a:prstGeom prst="rect">
            <a:avLst/>
          </a:prstGeom>
          <a:noFill/>
        </p:spPr>
        <p:txBody>
          <a:bodyPr wrap="square" lIns="0" rIns="0" tIns="0" bIns="0" anchor="ctr">
            <a:spAutoFit/>
          </a:bodyPr>
          <a:lstStyle/>
          <a:p>
            <a:pPr algn="l">
              <a:lnSpc>
                <a:spcPct val="100000"/>
              </a:lnSpc>
            </a:pPr>
            <a:r>
              <a:rPr sz="1050" b="0">
                <a:solidFill>
                  <a:srgbClr val="4A4F57"/>
                </a:solidFill>
                <a:latin typeface="Noto Sans KR"/>
                <a:ea typeface="Noto Sans KR"/>
                <a:cs typeface="Noto Sans KR"/>
              </a:rPr>
              <a:t>구동 구조 선정, 초기 적용 작업 3개 확정</a:t>
            </a:r>
          </a:p>
        </p:txBody>
      </p:sp>
      <p:cxnSp>
        <p:nvCxnSpPr>
          <p:cNvPr id="21" name="Connector 20"/>
          <p:cNvCxnSpPr/>
          <p:nvPr/>
        </p:nvCxnSpPr>
        <p:spPr>
          <a:xfrm>
            <a:off x="685800" y="2276856"/>
            <a:ext cx="10820095" cy="0"/>
          </a:xfrm>
          <a:prstGeom prst="line">
            <a:avLst/>
          </a:prstGeom>
          <a:ln w="9525">
            <a:solidFill>
              <a:srgbClr val="E2E4E7"/>
            </a:solidFill>
          </a:ln>
        </p:spPr>
      </p:cxnSp>
      <p:sp>
        <p:nvSpPr>
          <p:cNvPr id="22" name="TextBox 21"/>
          <p:cNvSpPr txBox="1"/>
          <p:nvPr/>
        </p:nvSpPr>
        <p:spPr>
          <a:xfrm>
            <a:off x="685800" y="2331720"/>
            <a:ext cx="1097280" cy="393192"/>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4~6개월</a:t>
            </a:r>
          </a:p>
        </p:txBody>
      </p:sp>
      <p:sp>
        <p:nvSpPr>
          <p:cNvPr id="23" name="Rectangle 22"/>
          <p:cNvSpPr/>
          <p:nvPr/>
        </p:nvSpPr>
        <p:spPr>
          <a:xfrm>
            <a:off x="2136648" y="2432304"/>
            <a:ext cx="207264" cy="173736"/>
          </a:xfrm>
          <a:prstGeom prst="rect">
            <a:avLst/>
          </a:prstGeom>
          <a:solidFill>
            <a:srgbClr val="E2571B"/>
          </a:solidFill>
          <a:ln>
            <a:noFill/>
          </a:ln>
        </p:spPr>
        <p:txBody>
          <a:bodyPr rtlCol="0" anchor="ctr"/>
          <a:lstStyle/>
          <a:p>
            <a:pPr algn="ctr"/>
          </a:p>
        </p:txBody>
      </p:sp>
      <p:sp>
        <p:nvSpPr>
          <p:cNvPr id="24" name="TextBox 23"/>
          <p:cNvSpPr txBox="1"/>
          <p:nvPr/>
        </p:nvSpPr>
        <p:spPr>
          <a:xfrm>
            <a:off x="5212080" y="2331720"/>
            <a:ext cx="3429000" cy="393192"/>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4지 알파, 센서·파지 제어, 비가열 작업 데모</a:t>
            </a:r>
          </a:p>
        </p:txBody>
      </p:sp>
      <p:sp>
        <p:nvSpPr>
          <p:cNvPr id="25" name="TextBox 24"/>
          <p:cNvSpPr txBox="1"/>
          <p:nvPr/>
        </p:nvSpPr>
        <p:spPr>
          <a:xfrm>
            <a:off x="8823959" y="2331720"/>
            <a:ext cx="2681935" cy="393192"/>
          </a:xfrm>
          <a:prstGeom prst="rect">
            <a:avLst/>
          </a:prstGeom>
          <a:noFill/>
        </p:spPr>
        <p:txBody>
          <a:bodyPr wrap="square" lIns="0" rIns="0" tIns="0" bIns="0" anchor="ctr">
            <a:spAutoFit/>
          </a:bodyPr>
          <a:lstStyle/>
          <a:p>
            <a:pPr algn="l">
              <a:lnSpc>
                <a:spcPct val="100000"/>
              </a:lnSpc>
            </a:pPr>
            <a:r>
              <a:rPr sz="1050" b="0">
                <a:solidFill>
                  <a:srgbClr val="4A4F57"/>
                </a:solidFill>
                <a:latin typeface="Noto Sans KR"/>
                <a:ea typeface="Noto Sans KR"/>
                <a:cs typeface="Noto Sans KR"/>
              </a:rPr>
              <a:t>물체 10종 반복 파지, 원시 시험 로그 확보</a:t>
            </a:r>
          </a:p>
        </p:txBody>
      </p:sp>
      <p:cxnSp>
        <p:nvCxnSpPr>
          <p:cNvPr id="26" name="Connector 25"/>
          <p:cNvCxnSpPr/>
          <p:nvPr/>
        </p:nvCxnSpPr>
        <p:spPr>
          <a:xfrm>
            <a:off x="685800" y="2761488"/>
            <a:ext cx="10820095" cy="0"/>
          </a:xfrm>
          <a:prstGeom prst="line">
            <a:avLst/>
          </a:prstGeom>
          <a:ln w="9525">
            <a:solidFill>
              <a:srgbClr val="E2E4E7"/>
            </a:solidFill>
          </a:ln>
        </p:spPr>
      </p:cxnSp>
      <p:sp>
        <p:nvSpPr>
          <p:cNvPr id="27" name="TextBox 26"/>
          <p:cNvSpPr txBox="1"/>
          <p:nvPr/>
        </p:nvSpPr>
        <p:spPr>
          <a:xfrm>
            <a:off x="685800" y="2816352"/>
            <a:ext cx="1097280" cy="393192"/>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7~12개월</a:t>
            </a:r>
          </a:p>
        </p:txBody>
      </p:sp>
      <p:sp>
        <p:nvSpPr>
          <p:cNvPr id="28" name="Rectangle 27"/>
          <p:cNvSpPr/>
          <p:nvPr/>
        </p:nvSpPr>
        <p:spPr>
          <a:xfrm>
            <a:off x="2380487" y="2916936"/>
            <a:ext cx="451104" cy="173736"/>
          </a:xfrm>
          <a:prstGeom prst="rect">
            <a:avLst/>
          </a:prstGeom>
          <a:solidFill>
            <a:srgbClr val="E2571B"/>
          </a:solidFill>
          <a:ln>
            <a:noFill/>
          </a:ln>
        </p:spPr>
        <p:txBody>
          <a:bodyPr rtlCol="0" anchor="ctr"/>
          <a:lstStyle/>
          <a:p>
            <a:pPr algn="ctr"/>
          </a:p>
        </p:txBody>
      </p:sp>
      <p:sp>
        <p:nvSpPr>
          <p:cNvPr id="29" name="TextBox 28"/>
          <p:cNvSpPr txBox="1"/>
          <p:nvPr/>
        </p:nvSpPr>
        <p:spPr>
          <a:xfrm>
            <a:off x="5212080" y="2816352"/>
            <a:ext cx="3429000" cy="393192"/>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4지 베타, 비전 추적, 제조 실증, 주방 기구 검토</a:t>
            </a:r>
          </a:p>
        </p:txBody>
      </p:sp>
      <p:sp>
        <p:nvSpPr>
          <p:cNvPr id="30" name="TextBox 29"/>
          <p:cNvSpPr txBox="1"/>
          <p:nvPr/>
        </p:nvSpPr>
        <p:spPr>
          <a:xfrm>
            <a:off x="8823959" y="2816352"/>
            <a:ext cx="2681935" cy="393192"/>
          </a:xfrm>
          <a:prstGeom prst="rect">
            <a:avLst/>
          </a:prstGeom>
          <a:noFill/>
        </p:spPr>
        <p:txBody>
          <a:bodyPr wrap="square" lIns="0" rIns="0" tIns="0" bIns="0" anchor="ctr">
            <a:spAutoFit/>
          </a:bodyPr>
          <a:lstStyle/>
          <a:p>
            <a:pPr algn="l">
              <a:lnSpc>
                <a:spcPct val="100000"/>
              </a:lnSpc>
            </a:pPr>
            <a:r>
              <a:rPr sz="1050" b="0">
                <a:solidFill>
                  <a:srgbClr val="4A4F57"/>
                </a:solidFill>
                <a:latin typeface="Noto Sans KR"/>
                <a:ea typeface="Noto Sans KR"/>
                <a:cs typeface="Noto Sans KR"/>
              </a:rPr>
              <a:t>12개월 목표 검증, 유료 실증 계약</a:t>
            </a:r>
          </a:p>
        </p:txBody>
      </p:sp>
      <p:cxnSp>
        <p:nvCxnSpPr>
          <p:cNvPr id="31" name="Connector 30"/>
          <p:cNvCxnSpPr/>
          <p:nvPr/>
        </p:nvCxnSpPr>
        <p:spPr>
          <a:xfrm>
            <a:off x="685800" y="3246120"/>
            <a:ext cx="10820095" cy="0"/>
          </a:xfrm>
          <a:prstGeom prst="line">
            <a:avLst/>
          </a:prstGeom>
          <a:ln w="9525">
            <a:solidFill>
              <a:srgbClr val="E2E4E7"/>
            </a:solidFill>
          </a:ln>
        </p:spPr>
      </p:cxnSp>
      <p:sp>
        <p:nvSpPr>
          <p:cNvPr id="32" name="TextBox 31"/>
          <p:cNvSpPr txBox="1"/>
          <p:nvPr/>
        </p:nvSpPr>
        <p:spPr>
          <a:xfrm>
            <a:off x="685800" y="3300984"/>
            <a:ext cx="1097280" cy="393192"/>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13~18개월</a:t>
            </a:r>
          </a:p>
        </p:txBody>
      </p:sp>
      <p:sp>
        <p:nvSpPr>
          <p:cNvPr id="33" name="Rectangle 32"/>
          <p:cNvSpPr/>
          <p:nvPr/>
        </p:nvSpPr>
        <p:spPr>
          <a:xfrm>
            <a:off x="2868168" y="3401568"/>
            <a:ext cx="451104" cy="173736"/>
          </a:xfrm>
          <a:prstGeom prst="rect">
            <a:avLst/>
          </a:prstGeom>
          <a:solidFill>
            <a:srgbClr val="E2571B"/>
          </a:solidFill>
          <a:ln>
            <a:noFill/>
          </a:ln>
        </p:spPr>
        <p:txBody>
          <a:bodyPr rtlCol="0" anchor="ctr"/>
          <a:lstStyle/>
          <a:p>
            <a:pPr algn="ctr"/>
          </a:p>
        </p:txBody>
      </p:sp>
      <p:sp>
        <p:nvSpPr>
          <p:cNvPr id="34" name="TextBox 33"/>
          <p:cNvSpPr txBox="1"/>
          <p:nvPr/>
        </p:nvSpPr>
        <p:spPr>
          <a:xfrm>
            <a:off x="5212080" y="3300984"/>
            <a:ext cx="3429000" cy="393192"/>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주방 양팔 통합, 젖은 식기 취급, 메뉴 1종</a:t>
            </a:r>
          </a:p>
        </p:txBody>
      </p:sp>
      <p:sp>
        <p:nvSpPr>
          <p:cNvPr id="35" name="TextBox 34"/>
          <p:cNvSpPr txBox="1"/>
          <p:nvPr/>
        </p:nvSpPr>
        <p:spPr>
          <a:xfrm>
            <a:off x="8823959" y="3300984"/>
            <a:ext cx="2681935" cy="393192"/>
          </a:xfrm>
          <a:prstGeom prst="rect">
            <a:avLst/>
          </a:prstGeom>
          <a:noFill/>
        </p:spPr>
        <p:txBody>
          <a:bodyPr wrap="square" lIns="0" rIns="0" tIns="0" bIns="0" anchor="ctr">
            <a:spAutoFit/>
          </a:bodyPr>
          <a:lstStyle/>
          <a:p>
            <a:pPr algn="l">
              <a:lnSpc>
                <a:spcPct val="100000"/>
              </a:lnSpc>
            </a:pPr>
            <a:r>
              <a:rPr sz="1050" b="0">
                <a:solidFill>
                  <a:srgbClr val="4A4F57"/>
                </a:solidFill>
                <a:latin typeface="Noto Sans KR"/>
                <a:ea typeface="Noto Sans KR"/>
                <a:cs typeface="Noto Sans KR"/>
              </a:rPr>
              <a:t>낙하·정전·열·세척 관련 검증 후 제한 운전</a:t>
            </a:r>
          </a:p>
        </p:txBody>
      </p:sp>
      <p:cxnSp>
        <p:nvCxnSpPr>
          <p:cNvPr id="36" name="Connector 35"/>
          <p:cNvCxnSpPr/>
          <p:nvPr/>
        </p:nvCxnSpPr>
        <p:spPr>
          <a:xfrm>
            <a:off x="685800" y="3730752"/>
            <a:ext cx="10820095" cy="0"/>
          </a:xfrm>
          <a:prstGeom prst="line">
            <a:avLst/>
          </a:prstGeom>
          <a:ln w="9525">
            <a:solidFill>
              <a:srgbClr val="E2E4E7"/>
            </a:solidFill>
          </a:ln>
        </p:spPr>
      </p:cxnSp>
      <p:sp>
        <p:nvSpPr>
          <p:cNvPr id="37" name="TextBox 36"/>
          <p:cNvSpPr txBox="1"/>
          <p:nvPr/>
        </p:nvSpPr>
        <p:spPr>
          <a:xfrm>
            <a:off x="685800" y="3785616"/>
            <a:ext cx="1097280" cy="393192"/>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19~24개월</a:t>
            </a:r>
          </a:p>
        </p:txBody>
      </p:sp>
      <p:sp>
        <p:nvSpPr>
          <p:cNvPr id="38" name="Rectangle 37"/>
          <p:cNvSpPr/>
          <p:nvPr/>
        </p:nvSpPr>
        <p:spPr>
          <a:xfrm>
            <a:off x="3355848" y="3886200"/>
            <a:ext cx="451104" cy="173736"/>
          </a:xfrm>
          <a:prstGeom prst="rect">
            <a:avLst/>
          </a:prstGeom>
          <a:solidFill>
            <a:srgbClr val="E2571B"/>
          </a:solidFill>
          <a:ln>
            <a:noFill/>
          </a:ln>
        </p:spPr>
        <p:txBody>
          <a:bodyPr rtlCol="0" anchor="ctr"/>
          <a:lstStyle/>
          <a:p>
            <a:pPr algn="ctr"/>
          </a:p>
        </p:txBody>
      </p:sp>
      <p:sp>
        <p:nvSpPr>
          <p:cNvPr id="39" name="TextBox 38"/>
          <p:cNvSpPr txBox="1"/>
          <p:nvPr/>
        </p:nvSpPr>
        <p:spPr>
          <a:xfrm>
            <a:off x="5212080" y="3785616"/>
            <a:ext cx="3429000" cy="393192"/>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4지 제품 검증, 5지 알파, 메뉴 3종</a:t>
            </a:r>
          </a:p>
        </p:txBody>
      </p:sp>
      <p:sp>
        <p:nvSpPr>
          <p:cNvPr id="40" name="TextBox 39"/>
          <p:cNvSpPr txBox="1"/>
          <p:nvPr/>
        </p:nvSpPr>
        <p:spPr>
          <a:xfrm>
            <a:off x="8823959" y="3785616"/>
            <a:ext cx="2681935" cy="393192"/>
          </a:xfrm>
          <a:prstGeom prst="rect">
            <a:avLst/>
          </a:prstGeom>
          <a:noFill/>
        </p:spPr>
        <p:txBody>
          <a:bodyPr wrap="square" lIns="0" rIns="0" tIns="0" bIns="0" anchor="ctr">
            <a:spAutoFit/>
          </a:bodyPr>
          <a:lstStyle/>
          <a:p>
            <a:pPr algn="l">
              <a:lnSpc>
                <a:spcPct val="100000"/>
              </a:lnSpc>
            </a:pPr>
            <a:r>
              <a:rPr sz="1050" b="0">
                <a:solidFill>
                  <a:srgbClr val="4A4F57"/>
                </a:solidFill>
                <a:latin typeface="Noto Sans KR"/>
                <a:ea typeface="Noto Sans KR"/>
                <a:cs typeface="Noto Sans KR"/>
              </a:rPr>
              <a:t>유료 실증 누적 5건, 반복 발주 2곳 목표</a:t>
            </a:r>
          </a:p>
        </p:txBody>
      </p:sp>
      <p:cxnSp>
        <p:nvCxnSpPr>
          <p:cNvPr id="41" name="Connector 40"/>
          <p:cNvCxnSpPr/>
          <p:nvPr/>
        </p:nvCxnSpPr>
        <p:spPr>
          <a:xfrm>
            <a:off x="685800" y="4215384"/>
            <a:ext cx="10820095" cy="0"/>
          </a:xfrm>
          <a:prstGeom prst="line">
            <a:avLst/>
          </a:prstGeom>
          <a:ln w="9525">
            <a:solidFill>
              <a:srgbClr val="E2E4E7"/>
            </a:solidFill>
          </a:ln>
        </p:spPr>
      </p:cxnSp>
      <p:sp>
        <p:nvSpPr>
          <p:cNvPr id="42" name="TextBox 41"/>
          <p:cNvSpPr txBox="1"/>
          <p:nvPr/>
        </p:nvSpPr>
        <p:spPr>
          <a:xfrm>
            <a:off x="685800" y="4270248"/>
            <a:ext cx="1097280" cy="393192"/>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25~36개월</a:t>
            </a:r>
          </a:p>
        </p:txBody>
      </p:sp>
      <p:sp>
        <p:nvSpPr>
          <p:cNvPr id="43" name="Rectangle 42"/>
          <p:cNvSpPr/>
          <p:nvPr/>
        </p:nvSpPr>
        <p:spPr>
          <a:xfrm>
            <a:off x="3843528" y="4370832"/>
            <a:ext cx="938784" cy="173736"/>
          </a:xfrm>
          <a:prstGeom prst="rect">
            <a:avLst/>
          </a:prstGeom>
          <a:solidFill>
            <a:srgbClr val="8C9198"/>
          </a:solidFill>
          <a:ln>
            <a:noFill/>
          </a:ln>
        </p:spPr>
        <p:txBody>
          <a:bodyPr rtlCol="0" anchor="ctr"/>
          <a:lstStyle/>
          <a:p>
            <a:pPr algn="ctr"/>
          </a:p>
        </p:txBody>
      </p:sp>
      <p:sp>
        <p:nvSpPr>
          <p:cNvPr id="44" name="TextBox 43"/>
          <p:cNvSpPr txBox="1"/>
          <p:nvPr/>
        </p:nvSpPr>
        <p:spPr>
          <a:xfrm>
            <a:off x="5212080" y="4270248"/>
            <a:ext cx="3429000" cy="393192"/>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5지 고도화, 표준 주방 셀, 제조·서비스 체계</a:t>
            </a:r>
          </a:p>
        </p:txBody>
      </p:sp>
      <p:sp>
        <p:nvSpPr>
          <p:cNvPr id="45" name="TextBox 44"/>
          <p:cNvSpPr txBox="1"/>
          <p:nvPr/>
        </p:nvSpPr>
        <p:spPr>
          <a:xfrm>
            <a:off x="8823959" y="4270248"/>
            <a:ext cx="2681935" cy="393192"/>
          </a:xfrm>
          <a:prstGeom prst="rect">
            <a:avLst/>
          </a:prstGeom>
          <a:noFill/>
        </p:spPr>
        <p:txBody>
          <a:bodyPr wrap="square" lIns="0" rIns="0" tIns="0" bIns="0" anchor="ctr">
            <a:spAutoFit/>
          </a:bodyPr>
          <a:lstStyle/>
          <a:p>
            <a:pPr algn="l">
              <a:lnSpc>
                <a:spcPct val="100000"/>
              </a:lnSpc>
            </a:pPr>
            <a:r>
              <a:rPr sz="1050" b="0">
                <a:solidFill>
                  <a:srgbClr val="4A4F57"/>
                </a:solidFill>
                <a:latin typeface="Noto Sans KR"/>
                <a:ea typeface="Noto Sans KR"/>
                <a:cs typeface="Noto Sans KR"/>
              </a:rPr>
              <a:t>후속 투자·고객 검수 충족 시 출시 확대</a:t>
            </a:r>
          </a:p>
        </p:txBody>
      </p:sp>
      <p:cxnSp>
        <p:nvCxnSpPr>
          <p:cNvPr id="46" name="Connector 45"/>
          <p:cNvCxnSpPr/>
          <p:nvPr/>
        </p:nvCxnSpPr>
        <p:spPr>
          <a:xfrm>
            <a:off x="685800" y="4700016"/>
            <a:ext cx="10820095" cy="0"/>
          </a:xfrm>
          <a:prstGeom prst="line">
            <a:avLst/>
          </a:prstGeom>
          <a:ln w="9525">
            <a:solidFill>
              <a:srgbClr val="E2E4E7"/>
            </a:solidFill>
          </a:ln>
        </p:spPr>
      </p:cxnSp>
      <p:sp>
        <p:nvSpPr>
          <p:cNvPr id="47" name="TextBox 46"/>
          <p:cNvSpPr txBox="1"/>
          <p:nvPr/>
        </p:nvSpPr>
        <p:spPr>
          <a:xfrm>
            <a:off x="1874519" y="4754880"/>
            <a:ext cx="2926080" cy="219456"/>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눈금: 투자 집행 후 개월 · 음영: Seed 자금 사용 기간 (24개월)</a:t>
            </a:r>
          </a:p>
        </p:txBody>
      </p:sp>
      <p:sp>
        <p:nvSpPr>
          <p:cNvPr id="48" name="TextBox 47"/>
          <p:cNvSpPr txBox="1"/>
          <p:nvPr/>
        </p:nvSpPr>
        <p:spPr>
          <a:xfrm>
            <a:off x="685800" y="5084064"/>
            <a:ext cx="10820095"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24개월 목표 (투자 제안 기준)</a:t>
            </a:r>
          </a:p>
        </p:txBody>
      </p:sp>
      <p:cxnSp>
        <p:nvCxnSpPr>
          <p:cNvPr id="49" name="Connector 48"/>
          <p:cNvCxnSpPr/>
          <p:nvPr/>
        </p:nvCxnSpPr>
        <p:spPr>
          <a:xfrm>
            <a:off x="685800" y="5413248"/>
            <a:ext cx="10820095" cy="0"/>
          </a:xfrm>
          <a:prstGeom prst="line">
            <a:avLst/>
          </a:prstGeom>
          <a:ln w="12700">
            <a:solidFill>
              <a:srgbClr val="15171A"/>
            </a:solidFill>
          </a:ln>
        </p:spPr>
      </p:cxnSp>
      <p:sp>
        <p:nvSpPr>
          <p:cNvPr id="50" name="TextBox 49"/>
          <p:cNvSpPr txBox="1"/>
          <p:nvPr/>
        </p:nvSpPr>
        <p:spPr>
          <a:xfrm>
            <a:off x="685800" y="5513832"/>
            <a:ext cx="1935419" cy="237744"/>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4지 핸드</a:t>
            </a:r>
          </a:p>
        </p:txBody>
      </p:sp>
      <p:sp>
        <p:nvSpPr>
          <p:cNvPr id="51" name="TextBox 50"/>
          <p:cNvSpPr txBox="1"/>
          <p:nvPr/>
        </p:nvSpPr>
        <p:spPr>
          <a:xfrm>
            <a:off x="685800" y="5760720"/>
            <a:ext cx="1935419" cy="329184"/>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제품 검증</a:t>
            </a:r>
          </a:p>
        </p:txBody>
      </p:sp>
      <p:cxnSp>
        <p:nvCxnSpPr>
          <p:cNvPr id="52" name="Connector 51"/>
          <p:cNvCxnSpPr/>
          <p:nvPr/>
        </p:nvCxnSpPr>
        <p:spPr>
          <a:xfrm>
            <a:off x="2849819" y="5541264"/>
            <a:ext cx="0" cy="566928"/>
          </a:xfrm>
          <a:prstGeom prst="line">
            <a:avLst/>
          </a:prstGeom>
          <a:ln w="9525">
            <a:solidFill>
              <a:srgbClr val="E2E4E7"/>
            </a:solidFill>
          </a:ln>
        </p:spPr>
      </p:cxnSp>
      <p:sp>
        <p:nvSpPr>
          <p:cNvPr id="53" name="TextBox 52"/>
          <p:cNvSpPr txBox="1"/>
          <p:nvPr/>
        </p:nvSpPr>
        <p:spPr>
          <a:xfrm>
            <a:off x="2986979" y="5513832"/>
            <a:ext cx="1935419" cy="237744"/>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5지 핸드</a:t>
            </a:r>
          </a:p>
        </p:txBody>
      </p:sp>
      <p:sp>
        <p:nvSpPr>
          <p:cNvPr id="54" name="TextBox 53"/>
          <p:cNvSpPr txBox="1"/>
          <p:nvPr/>
        </p:nvSpPr>
        <p:spPr>
          <a:xfrm>
            <a:off x="2986979" y="5760720"/>
            <a:ext cx="1935419" cy="329184"/>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알파 시제품</a:t>
            </a:r>
          </a:p>
        </p:txBody>
      </p:sp>
      <p:cxnSp>
        <p:nvCxnSpPr>
          <p:cNvPr id="55" name="Connector 54"/>
          <p:cNvCxnSpPr/>
          <p:nvPr/>
        </p:nvCxnSpPr>
        <p:spPr>
          <a:xfrm>
            <a:off x="5013838" y="5541264"/>
            <a:ext cx="0" cy="566928"/>
          </a:xfrm>
          <a:prstGeom prst="line">
            <a:avLst/>
          </a:prstGeom>
          <a:ln w="9525">
            <a:solidFill>
              <a:srgbClr val="E2E4E7"/>
            </a:solidFill>
          </a:ln>
        </p:spPr>
      </p:cxnSp>
      <p:sp>
        <p:nvSpPr>
          <p:cNvPr id="56" name="TextBox 55"/>
          <p:cNvSpPr txBox="1"/>
          <p:nvPr/>
        </p:nvSpPr>
        <p:spPr>
          <a:xfrm>
            <a:off x="5150998" y="5513832"/>
            <a:ext cx="1935419" cy="237744"/>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로봇 주방</a:t>
            </a:r>
          </a:p>
        </p:txBody>
      </p:sp>
      <p:sp>
        <p:nvSpPr>
          <p:cNvPr id="57" name="TextBox 56"/>
          <p:cNvSpPr txBox="1"/>
          <p:nvPr/>
        </p:nvSpPr>
        <p:spPr>
          <a:xfrm>
            <a:off x="5150998" y="5760720"/>
            <a:ext cx="1935419" cy="329184"/>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제한 메뉴 3종 실증</a:t>
            </a:r>
          </a:p>
        </p:txBody>
      </p:sp>
      <p:cxnSp>
        <p:nvCxnSpPr>
          <p:cNvPr id="58" name="Connector 57"/>
          <p:cNvCxnSpPr/>
          <p:nvPr/>
        </p:nvCxnSpPr>
        <p:spPr>
          <a:xfrm>
            <a:off x="7177857" y="5541264"/>
            <a:ext cx="0" cy="566928"/>
          </a:xfrm>
          <a:prstGeom prst="line">
            <a:avLst/>
          </a:prstGeom>
          <a:ln w="9525">
            <a:solidFill>
              <a:srgbClr val="E2E4E7"/>
            </a:solidFill>
          </a:ln>
        </p:spPr>
      </p:cxnSp>
      <p:sp>
        <p:nvSpPr>
          <p:cNvPr id="59" name="TextBox 58"/>
          <p:cNvSpPr txBox="1"/>
          <p:nvPr/>
        </p:nvSpPr>
        <p:spPr>
          <a:xfrm>
            <a:off x="7315017" y="5513832"/>
            <a:ext cx="1935419" cy="237744"/>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유료 실증</a:t>
            </a:r>
          </a:p>
        </p:txBody>
      </p:sp>
      <p:sp>
        <p:nvSpPr>
          <p:cNvPr id="60" name="TextBox 59"/>
          <p:cNvSpPr txBox="1"/>
          <p:nvPr/>
        </p:nvSpPr>
        <p:spPr>
          <a:xfrm>
            <a:off x="7315017" y="5760720"/>
            <a:ext cx="1935419" cy="329184"/>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누적 5건</a:t>
            </a:r>
          </a:p>
        </p:txBody>
      </p:sp>
      <p:cxnSp>
        <p:nvCxnSpPr>
          <p:cNvPr id="61" name="Connector 60"/>
          <p:cNvCxnSpPr/>
          <p:nvPr/>
        </p:nvCxnSpPr>
        <p:spPr>
          <a:xfrm>
            <a:off x="9341876" y="5541264"/>
            <a:ext cx="0" cy="566928"/>
          </a:xfrm>
          <a:prstGeom prst="line">
            <a:avLst/>
          </a:prstGeom>
          <a:ln w="9525">
            <a:solidFill>
              <a:srgbClr val="E2E4E7"/>
            </a:solidFill>
          </a:ln>
        </p:spPr>
      </p:cxnSp>
      <p:sp>
        <p:nvSpPr>
          <p:cNvPr id="62" name="TextBox 61"/>
          <p:cNvSpPr txBox="1"/>
          <p:nvPr/>
        </p:nvSpPr>
        <p:spPr>
          <a:xfrm>
            <a:off x="9479036" y="5513832"/>
            <a:ext cx="1935419" cy="237744"/>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반복 발주 고객</a:t>
            </a:r>
          </a:p>
        </p:txBody>
      </p:sp>
      <p:sp>
        <p:nvSpPr>
          <p:cNvPr id="63" name="TextBox 62"/>
          <p:cNvSpPr txBox="1"/>
          <p:nvPr/>
        </p:nvSpPr>
        <p:spPr>
          <a:xfrm>
            <a:off x="9479036" y="5760720"/>
            <a:ext cx="1935419" cy="329184"/>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2곳</a:t>
            </a:r>
          </a:p>
        </p:txBody>
      </p:sp>
      <p:sp>
        <p:nvSpPr>
          <p:cNvPr id="64" name="TextBox 6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65" name="TextBox 6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기간은 투자 집행일 기준 · 성능 목표와 출시 게이트는 07장 · 단계 통과 조건 미충족 시 해당 기능 출시 보류</a:t>
            </a:r>
          </a:p>
        </p:txBody>
      </p:sp>
      <p:sp>
        <p:nvSpPr>
          <p:cNvPr id="66" name="TextBox 6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13   Seed 자금 사용 계획</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Seed 20억 원은 24개월 개발·유료 실증의 현금 집행 한도</a:t>
            </a:r>
          </a:p>
        </p:txBody>
      </p:sp>
      <p:cxnSp>
        <p:nvCxnSpPr>
          <p:cNvPr id="4" name="Connector 3"/>
          <p:cNvCxnSpPr/>
          <p:nvPr/>
        </p:nvCxnSpPr>
        <p:spPr>
          <a:xfrm>
            <a:off x="685800" y="1243584"/>
            <a:ext cx="10820095" cy="0"/>
          </a:xfrm>
          <a:prstGeom prst="line">
            <a:avLst/>
          </a:prstGeom>
          <a:ln w="12700">
            <a:solidFill>
              <a:srgbClr val="15171A"/>
            </a:solidFill>
          </a:ln>
        </p:spPr>
      </p:cxnSp>
      <p:graphicFrame>
        <p:nvGraphicFramePr>
          <p:cNvPr id="5" name="Table 4"/>
          <p:cNvGraphicFramePr>
            <a:graphicFrameLocks noGrp="1"/>
          </p:cNvGraphicFramePr>
          <p:nvPr/>
        </p:nvGraphicFramePr>
        <p:xfrm>
          <a:off x="685800" y="1463040"/>
          <a:ext cx="6766560" cy="2642408"/>
        </p:xfrm>
        <a:graphic>
          <a:graphicData uri="http://schemas.openxmlformats.org/drawingml/2006/table">
            <a:tbl>
              <a:tblPr firstRow="0" bandRow="0">
                <a:tableStyleId>{2D5ABB26-0587-4C30-8999-92F81FD0307C}</a:tableStyleId>
              </a:tblPr>
              <a:tblGrid>
                <a:gridCol w="1783080"/>
                <a:gridCol w="3154680"/>
                <a:gridCol w="1051560"/>
                <a:gridCol w="777240"/>
              </a:tblGrid>
              <a:tr h="330301">
                <a:tc>
                  <a:txBody>
                    <a:bodyPr wrap="square"/>
                    <a:lstStyle/>
                    <a:p>
                      <a:pPr algn="l">
                        <a:lnSpc>
                          <a:spcPct val="100000"/>
                        </a:lnSpc>
                      </a:pPr>
                      <a:r>
                        <a:rPr sz="1100" b="1">
                          <a:solidFill>
                            <a:srgbClr val="15171A"/>
                          </a:solidFill>
                          <a:latin typeface="Noto Sans KR"/>
                          <a:ea typeface="Noto Sans KR"/>
                          <a:cs typeface="Noto Sans KR"/>
                        </a:rPr>
                        <a:t>항목</a:t>
                      </a:r>
                    </a:p>
                  </a:txBody>
                  <a:tcPr marL="73152" marR="73152" marT="59436" marB="5943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사용 목적</a:t>
                      </a:r>
                    </a:p>
                  </a:txBody>
                  <a:tcPr marL="73152" marR="73152" marT="59436" marB="5943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금액 (억 원)</a:t>
                      </a:r>
                    </a:p>
                  </a:txBody>
                  <a:tcPr marL="73152" marR="73152" marT="59436" marB="5943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비중</a:t>
                      </a:r>
                    </a:p>
                  </a:txBody>
                  <a:tcPr marL="73152" marR="73152" marT="59436" marB="59436" anchor="t">
                    <a:lnL w="0">
                      <a:noFill/>
                    </a:lnL>
                    <a:lnR w="0">
                      <a:noFill/>
                    </a:lnR>
                    <a:lnT w="12700">
                      <a:solidFill>
                        <a:srgbClr val="15171A"/>
                      </a:solidFill>
                    </a:lnT>
                    <a:lnB w="9525">
                      <a:solidFill>
                        <a:srgbClr val="15171A"/>
                      </a:solidFill>
                    </a:lnB>
                    <a:noFill/>
                  </a:tcPr>
                </a:tc>
              </a:tr>
              <a:tr h="330301">
                <a:tc>
                  <a:txBody>
                    <a:bodyPr wrap="square"/>
                    <a:lstStyle/>
                    <a:p>
                      <a:pPr algn="l">
                        <a:lnSpc>
                          <a:spcPct val="100000"/>
                        </a:lnSpc>
                      </a:pPr>
                      <a:r>
                        <a:rPr sz="1100" b="1">
                          <a:solidFill>
                            <a:srgbClr val="15171A"/>
                          </a:solidFill>
                          <a:latin typeface="Noto Sans KR"/>
                          <a:ea typeface="Noto Sans KR"/>
                          <a:cs typeface="Noto Sans KR"/>
                        </a:rPr>
                        <a:t>개발 인력</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기구·구동·제어·AI·통합 인력의 단계 채용</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10.0</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50.0%</a:t>
                      </a:r>
                    </a:p>
                  </a:txBody>
                  <a:tcPr marL="73152" marR="73152" marT="59436" marB="59436" anchor="t">
                    <a:lnL w="0">
                      <a:noFill/>
                    </a:lnL>
                    <a:lnR w="0">
                      <a:noFill/>
                    </a:lnR>
                    <a:lnT w="0">
                      <a:noFill/>
                    </a:lnT>
                    <a:lnB w="9525">
                      <a:solidFill>
                        <a:srgbClr val="E2E4E7"/>
                      </a:solidFill>
                    </a:lnB>
                    <a:noFill/>
                  </a:tcPr>
                </a:tc>
              </a:tr>
              <a:tr h="330301">
                <a:tc>
                  <a:txBody>
                    <a:bodyPr wrap="square"/>
                    <a:lstStyle/>
                    <a:p>
                      <a:pPr algn="l">
                        <a:lnSpc>
                          <a:spcPct val="100000"/>
                        </a:lnSpc>
                      </a:pPr>
                      <a:r>
                        <a:rPr sz="1100" b="1">
                          <a:solidFill>
                            <a:srgbClr val="15171A"/>
                          </a:solidFill>
                          <a:latin typeface="Noto Sans KR"/>
                          <a:ea typeface="Noto Sans KR"/>
                          <a:cs typeface="Noto Sans KR"/>
                        </a:rPr>
                        <a:t>시제품·시험 설비</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핸드 반복 제작, 팔·센서·지그·내구 시험</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3.5</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17.5%</a:t>
                      </a:r>
                    </a:p>
                  </a:txBody>
                  <a:tcPr marL="73152" marR="73152" marT="59436" marB="59436" anchor="t">
                    <a:lnL w="0">
                      <a:noFill/>
                    </a:lnL>
                    <a:lnR w="0">
                      <a:noFill/>
                    </a:lnR>
                    <a:lnT w="0">
                      <a:noFill/>
                    </a:lnT>
                    <a:lnB w="9525">
                      <a:solidFill>
                        <a:srgbClr val="E2E4E7"/>
                      </a:solidFill>
                    </a:lnB>
                    <a:noFill/>
                  </a:tcPr>
                </a:tc>
              </a:tr>
              <a:tr h="330301">
                <a:tc>
                  <a:txBody>
                    <a:bodyPr wrap="square"/>
                    <a:lstStyle/>
                    <a:p>
                      <a:pPr algn="l">
                        <a:lnSpc>
                          <a:spcPct val="100000"/>
                        </a:lnSpc>
                      </a:pPr>
                      <a:r>
                        <a:rPr sz="1100" b="1">
                          <a:solidFill>
                            <a:srgbClr val="15171A"/>
                          </a:solidFill>
                          <a:latin typeface="Noto Sans KR"/>
                          <a:ea typeface="Noto Sans KR"/>
                          <a:cs typeface="Noto Sans KR"/>
                        </a:rPr>
                        <a:t>AI 데이터·연산</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시연·실험 데이터, 저장·학습·검증 환경</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1.5</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7.5%</a:t>
                      </a:r>
                    </a:p>
                  </a:txBody>
                  <a:tcPr marL="73152" marR="73152" marT="59436" marB="59436" anchor="t">
                    <a:lnL w="0">
                      <a:noFill/>
                    </a:lnL>
                    <a:lnR w="0">
                      <a:noFill/>
                    </a:lnR>
                    <a:lnT w="0">
                      <a:noFill/>
                    </a:lnT>
                    <a:lnB w="9525">
                      <a:solidFill>
                        <a:srgbClr val="E2E4E7"/>
                      </a:solidFill>
                    </a:lnB>
                    <a:noFill/>
                  </a:tcPr>
                </a:tc>
              </a:tr>
              <a:tr h="330301">
                <a:tc>
                  <a:txBody>
                    <a:bodyPr wrap="square"/>
                    <a:lstStyle/>
                    <a:p>
                      <a:pPr algn="l">
                        <a:lnSpc>
                          <a:spcPct val="100000"/>
                        </a:lnSpc>
                      </a:pPr>
                      <a:r>
                        <a:rPr sz="1100" b="1">
                          <a:solidFill>
                            <a:srgbClr val="15171A"/>
                          </a:solidFill>
                          <a:latin typeface="Noto Sans KR"/>
                          <a:ea typeface="Noto Sans KR"/>
                          <a:cs typeface="Noto Sans KR"/>
                        </a:rPr>
                        <a:t>주방 통합 실증</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레일/프레임, 세척·가열 연동, 설치 시험</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2.0</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10.0%</a:t>
                      </a:r>
                    </a:p>
                  </a:txBody>
                  <a:tcPr marL="73152" marR="73152" marT="59436" marB="59436" anchor="t">
                    <a:lnL w="0">
                      <a:noFill/>
                    </a:lnL>
                    <a:lnR w="0">
                      <a:noFill/>
                    </a:lnR>
                    <a:lnT w="0">
                      <a:noFill/>
                    </a:lnT>
                    <a:lnB w="9525">
                      <a:solidFill>
                        <a:srgbClr val="E2E4E7"/>
                      </a:solidFill>
                    </a:lnB>
                    <a:noFill/>
                  </a:tcPr>
                </a:tc>
              </a:tr>
              <a:tr h="330301">
                <a:tc>
                  <a:txBody>
                    <a:bodyPr wrap="square"/>
                    <a:lstStyle/>
                    <a:p>
                      <a:pPr algn="l">
                        <a:lnSpc>
                          <a:spcPct val="100000"/>
                        </a:lnSpc>
                      </a:pPr>
                      <a:r>
                        <a:rPr sz="1100" b="1">
                          <a:solidFill>
                            <a:srgbClr val="15171A"/>
                          </a:solidFill>
                          <a:latin typeface="Noto Sans KR"/>
                          <a:ea typeface="Noto Sans KR"/>
                          <a:cs typeface="Noto Sans KR"/>
                        </a:rPr>
                        <a:t>안전·품질·지식재산</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시험·외부 검토·선행조사·출원</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5.0%</a:t>
                      </a:r>
                    </a:p>
                  </a:txBody>
                  <a:tcPr marL="73152" marR="73152" marT="59436" marB="59436" anchor="t">
                    <a:lnL w="0">
                      <a:noFill/>
                    </a:lnL>
                    <a:lnR w="0">
                      <a:noFill/>
                    </a:lnR>
                    <a:lnT w="0">
                      <a:noFill/>
                    </a:lnT>
                    <a:lnB w="9525">
                      <a:solidFill>
                        <a:srgbClr val="E2E4E7"/>
                      </a:solidFill>
                    </a:lnB>
                    <a:noFill/>
                  </a:tcPr>
                </a:tc>
              </a:tr>
              <a:tr h="330301">
                <a:tc>
                  <a:txBody>
                    <a:bodyPr wrap="square"/>
                    <a:lstStyle/>
                    <a:p>
                      <a:pPr algn="l">
                        <a:lnSpc>
                          <a:spcPct val="100000"/>
                        </a:lnSpc>
                      </a:pPr>
                      <a:r>
                        <a:rPr sz="1100" b="1">
                          <a:solidFill>
                            <a:srgbClr val="15171A"/>
                          </a:solidFill>
                          <a:latin typeface="Noto Sans KR"/>
                          <a:ea typeface="Noto Sans KR"/>
                          <a:cs typeface="Noto Sans KR"/>
                        </a:rPr>
                        <a:t>운영·예비비</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사업 운영, 공급 지연·재작업 대비</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2.0</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10.0%</a:t>
                      </a:r>
                    </a:p>
                  </a:txBody>
                  <a:tcPr marL="73152" marR="73152" marT="59436" marB="59436" anchor="t">
                    <a:lnL w="0">
                      <a:noFill/>
                    </a:lnL>
                    <a:lnR w="0">
                      <a:noFill/>
                    </a:lnR>
                    <a:lnT w="0">
                      <a:noFill/>
                    </a:lnT>
                    <a:lnB w="9525">
                      <a:solidFill>
                        <a:srgbClr val="E2E4E7"/>
                      </a:solidFill>
                    </a:lnB>
                    <a:noFill/>
                  </a:tcPr>
                </a:tc>
              </a:tr>
              <a:tr h="330301">
                <a:tc>
                  <a:txBody>
                    <a:bodyPr wrap="square"/>
                    <a:lstStyle/>
                    <a:p>
                      <a:pPr algn="l">
                        <a:lnSpc>
                          <a:spcPct val="100000"/>
                        </a:lnSpc>
                      </a:pPr>
                      <a:r>
                        <a:rPr sz="1100" b="1">
                          <a:solidFill>
                            <a:srgbClr val="15171A"/>
                          </a:solidFill>
                          <a:latin typeface="Noto Sans KR"/>
                          <a:ea typeface="Noto Sans KR"/>
                          <a:cs typeface="Noto Sans KR"/>
                        </a:rPr>
                        <a:t>합계</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24개월 계획 현금 집행 한도</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20.0</a:t>
                      </a:r>
                    </a:p>
                  </a:txBody>
                  <a:tcPr marL="73152" marR="73152" marT="59436" marB="59436"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100%</a:t>
                      </a:r>
                    </a:p>
                  </a:txBody>
                  <a:tcPr marL="73152" marR="73152" marT="59436" marB="59436"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4425492"/>
            <a:ext cx="6766560"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구성 비중</a:t>
            </a:r>
          </a:p>
        </p:txBody>
      </p:sp>
      <p:sp>
        <p:nvSpPr>
          <p:cNvPr id="7" name="Rectangle 6"/>
          <p:cNvSpPr/>
          <p:nvPr/>
        </p:nvSpPr>
        <p:spPr>
          <a:xfrm>
            <a:off x="685800" y="4791252"/>
            <a:ext cx="3364992" cy="384048"/>
          </a:xfrm>
          <a:prstGeom prst="rect">
            <a:avLst/>
          </a:prstGeom>
          <a:solidFill>
            <a:srgbClr val="E2571B"/>
          </a:solidFill>
          <a:ln>
            <a:noFill/>
          </a:ln>
        </p:spPr>
        <p:txBody>
          <a:bodyPr rtlCol="0" anchor="ctr"/>
          <a:lstStyle/>
          <a:p>
            <a:pPr algn="ctr"/>
          </a:p>
        </p:txBody>
      </p:sp>
      <p:sp>
        <p:nvSpPr>
          <p:cNvPr id="8" name="TextBox 7"/>
          <p:cNvSpPr txBox="1"/>
          <p:nvPr/>
        </p:nvSpPr>
        <p:spPr>
          <a:xfrm>
            <a:off x="685800" y="4791252"/>
            <a:ext cx="3364992" cy="384048"/>
          </a:xfrm>
          <a:prstGeom prst="rect">
            <a:avLst/>
          </a:prstGeom>
          <a:noFill/>
        </p:spPr>
        <p:txBody>
          <a:bodyPr wrap="square" lIns="0" rIns="0" tIns="0" bIns="0" anchor="ctr">
            <a:spAutoFit/>
          </a:bodyPr>
          <a:lstStyle/>
          <a:p>
            <a:pPr algn="ctr">
              <a:lnSpc>
                <a:spcPct val="100000"/>
              </a:lnSpc>
            </a:pPr>
            <a:r>
              <a:rPr sz="1050" b="1">
                <a:solidFill>
                  <a:srgbClr val="FFFFFF"/>
                </a:solidFill>
                <a:latin typeface="Noto Sans KR"/>
                <a:ea typeface="Noto Sans KR"/>
                <a:cs typeface="Noto Sans KR"/>
              </a:rPr>
              <a:t>10.0</a:t>
            </a:r>
          </a:p>
        </p:txBody>
      </p:sp>
      <p:sp>
        <p:nvSpPr>
          <p:cNvPr id="9" name="Rectangle 8"/>
          <p:cNvSpPr/>
          <p:nvPr/>
        </p:nvSpPr>
        <p:spPr>
          <a:xfrm>
            <a:off x="4069080" y="4791252"/>
            <a:ext cx="1165860" cy="384048"/>
          </a:xfrm>
          <a:prstGeom prst="rect">
            <a:avLst/>
          </a:prstGeom>
          <a:solidFill>
            <a:srgbClr val="4A4F57"/>
          </a:solidFill>
          <a:ln>
            <a:noFill/>
          </a:ln>
        </p:spPr>
        <p:txBody>
          <a:bodyPr rtlCol="0" anchor="ctr"/>
          <a:lstStyle/>
          <a:p>
            <a:pPr algn="ctr"/>
          </a:p>
        </p:txBody>
      </p:sp>
      <p:sp>
        <p:nvSpPr>
          <p:cNvPr id="10" name="TextBox 9"/>
          <p:cNvSpPr txBox="1"/>
          <p:nvPr/>
        </p:nvSpPr>
        <p:spPr>
          <a:xfrm>
            <a:off x="4069080" y="4791252"/>
            <a:ext cx="1165860" cy="384048"/>
          </a:xfrm>
          <a:prstGeom prst="rect">
            <a:avLst/>
          </a:prstGeom>
          <a:noFill/>
        </p:spPr>
        <p:txBody>
          <a:bodyPr wrap="square" lIns="0" rIns="0" tIns="0" bIns="0" anchor="ctr">
            <a:spAutoFit/>
          </a:bodyPr>
          <a:lstStyle/>
          <a:p>
            <a:pPr algn="ctr">
              <a:lnSpc>
                <a:spcPct val="100000"/>
              </a:lnSpc>
            </a:pPr>
            <a:r>
              <a:rPr sz="1050" b="1">
                <a:solidFill>
                  <a:srgbClr val="FFFFFF"/>
                </a:solidFill>
                <a:latin typeface="Noto Sans KR"/>
                <a:ea typeface="Noto Sans KR"/>
                <a:cs typeface="Noto Sans KR"/>
              </a:rPr>
              <a:t>3.5</a:t>
            </a:r>
          </a:p>
        </p:txBody>
      </p:sp>
      <p:sp>
        <p:nvSpPr>
          <p:cNvPr id="11" name="Rectangle 10"/>
          <p:cNvSpPr/>
          <p:nvPr/>
        </p:nvSpPr>
        <p:spPr>
          <a:xfrm>
            <a:off x="5253228" y="4791252"/>
            <a:ext cx="489204" cy="384048"/>
          </a:xfrm>
          <a:prstGeom prst="rect">
            <a:avLst/>
          </a:prstGeom>
          <a:solidFill>
            <a:srgbClr val="8C9198"/>
          </a:solidFill>
          <a:ln>
            <a:noFill/>
          </a:ln>
        </p:spPr>
        <p:txBody>
          <a:bodyPr rtlCol="0" anchor="ctr"/>
          <a:lstStyle/>
          <a:p>
            <a:pPr algn="ctr"/>
          </a:p>
        </p:txBody>
      </p:sp>
      <p:sp>
        <p:nvSpPr>
          <p:cNvPr id="12" name="TextBox 11"/>
          <p:cNvSpPr txBox="1"/>
          <p:nvPr/>
        </p:nvSpPr>
        <p:spPr>
          <a:xfrm>
            <a:off x="5253228" y="4791252"/>
            <a:ext cx="489204" cy="384048"/>
          </a:xfrm>
          <a:prstGeom prst="rect">
            <a:avLst/>
          </a:prstGeom>
          <a:noFill/>
        </p:spPr>
        <p:txBody>
          <a:bodyPr wrap="square" lIns="0" rIns="0" tIns="0" bIns="0" anchor="ctr">
            <a:spAutoFit/>
          </a:bodyPr>
          <a:lstStyle/>
          <a:p>
            <a:pPr algn="ctr">
              <a:lnSpc>
                <a:spcPct val="100000"/>
              </a:lnSpc>
            </a:pPr>
            <a:r>
              <a:rPr sz="1050" b="1">
                <a:solidFill>
                  <a:srgbClr val="FFFFFF"/>
                </a:solidFill>
                <a:latin typeface="Noto Sans KR"/>
                <a:ea typeface="Noto Sans KR"/>
                <a:cs typeface="Noto Sans KR"/>
              </a:rPr>
              <a:t>1.5</a:t>
            </a:r>
          </a:p>
        </p:txBody>
      </p:sp>
      <p:sp>
        <p:nvSpPr>
          <p:cNvPr id="13" name="Rectangle 12"/>
          <p:cNvSpPr/>
          <p:nvPr/>
        </p:nvSpPr>
        <p:spPr>
          <a:xfrm>
            <a:off x="5760720" y="4791252"/>
            <a:ext cx="658368" cy="384048"/>
          </a:xfrm>
          <a:prstGeom prst="rect">
            <a:avLst/>
          </a:prstGeom>
          <a:solidFill>
            <a:srgbClr val="A9AEB5"/>
          </a:solidFill>
          <a:ln>
            <a:noFill/>
          </a:ln>
        </p:spPr>
        <p:txBody>
          <a:bodyPr rtlCol="0" anchor="ctr"/>
          <a:lstStyle/>
          <a:p>
            <a:pPr algn="ctr"/>
          </a:p>
        </p:txBody>
      </p:sp>
      <p:sp>
        <p:nvSpPr>
          <p:cNvPr id="14" name="TextBox 13"/>
          <p:cNvSpPr txBox="1"/>
          <p:nvPr/>
        </p:nvSpPr>
        <p:spPr>
          <a:xfrm>
            <a:off x="5760720" y="4791252"/>
            <a:ext cx="658368" cy="384048"/>
          </a:xfrm>
          <a:prstGeom prst="rect">
            <a:avLst/>
          </a:prstGeom>
          <a:noFill/>
        </p:spPr>
        <p:txBody>
          <a:bodyPr wrap="square" lIns="0" rIns="0" tIns="0" bIns="0" anchor="ctr">
            <a:spAutoFit/>
          </a:bodyPr>
          <a:lstStyle/>
          <a:p>
            <a:pPr algn="ctr">
              <a:lnSpc>
                <a:spcPct val="100000"/>
              </a:lnSpc>
            </a:pPr>
            <a:r>
              <a:rPr sz="1050" b="1">
                <a:solidFill>
                  <a:srgbClr val="15171A"/>
                </a:solidFill>
                <a:latin typeface="Noto Sans KR"/>
                <a:ea typeface="Noto Sans KR"/>
                <a:cs typeface="Noto Sans KR"/>
              </a:rPr>
              <a:t>2.0</a:t>
            </a:r>
          </a:p>
        </p:txBody>
      </p:sp>
      <p:sp>
        <p:nvSpPr>
          <p:cNvPr id="15" name="Rectangle 14"/>
          <p:cNvSpPr/>
          <p:nvPr/>
        </p:nvSpPr>
        <p:spPr>
          <a:xfrm>
            <a:off x="6437376" y="4791252"/>
            <a:ext cx="320040" cy="384048"/>
          </a:xfrm>
          <a:prstGeom prst="rect">
            <a:avLst/>
          </a:prstGeom>
          <a:solidFill>
            <a:srgbClr val="C9CDD2"/>
          </a:solidFill>
          <a:ln>
            <a:noFill/>
          </a:ln>
        </p:spPr>
        <p:txBody>
          <a:bodyPr rtlCol="0" anchor="ctr"/>
          <a:lstStyle/>
          <a:p>
            <a:pPr algn="ctr"/>
          </a:p>
        </p:txBody>
      </p:sp>
      <p:sp>
        <p:nvSpPr>
          <p:cNvPr id="16" name="TextBox 15"/>
          <p:cNvSpPr txBox="1"/>
          <p:nvPr/>
        </p:nvSpPr>
        <p:spPr>
          <a:xfrm>
            <a:off x="6437376" y="4791252"/>
            <a:ext cx="320040" cy="384048"/>
          </a:xfrm>
          <a:prstGeom prst="rect">
            <a:avLst/>
          </a:prstGeom>
          <a:noFill/>
        </p:spPr>
        <p:txBody>
          <a:bodyPr wrap="square" lIns="0" rIns="0" tIns="0" bIns="0" anchor="ctr">
            <a:spAutoFit/>
          </a:bodyPr>
          <a:lstStyle/>
          <a:p>
            <a:pPr algn="ctr">
              <a:lnSpc>
                <a:spcPct val="100000"/>
              </a:lnSpc>
            </a:pPr>
            <a:r>
              <a:rPr sz="1050" b="1">
                <a:solidFill>
                  <a:srgbClr val="15171A"/>
                </a:solidFill>
                <a:latin typeface="Noto Sans KR"/>
                <a:ea typeface="Noto Sans KR"/>
                <a:cs typeface="Noto Sans KR"/>
              </a:rPr>
              <a:t>1.0</a:t>
            </a:r>
          </a:p>
        </p:txBody>
      </p:sp>
      <p:sp>
        <p:nvSpPr>
          <p:cNvPr id="17" name="Rectangle 16"/>
          <p:cNvSpPr/>
          <p:nvPr/>
        </p:nvSpPr>
        <p:spPr>
          <a:xfrm>
            <a:off x="6775704" y="4791252"/>
            <a:ext cx="658368" cy="384048"/>
          </a:xfrm>
          <a:prstGeom prst="rect">
            <a:avLst/>
          </a:prstGeom>
          <a:solidFill>
            <a:srgbClr val="DDE0E3"/>
          </a:solidFill>
          <a:ln>
            <a:noFill/>
          </a:ln>
        </p:spPr>
        <p:txBody>
          <a:bodyPr rtlCol="0" anchor="ctr"/>
          <a:lstStyle/>
          <a:p>
            <a:pPr algn="ctr"/>
          </a:p>
        </p:txBody>
      </p:sp>
      <p:sp>
        <p:nvSpPr>
          <p:cNvPr id="18" name="TextBox 17"/>
          <p:cNvSpPr txBox="1"/>
          <p:nvPr/>
        </p:nvSpPr>
        <p:spPr>
          <a:xfrm>
            <a:off x="6775704" y="4791252"/>
            <a:ext cx="658368" cy="384048"/>
          </a:xfrm>
          <a:prstGeom prst="rect">
            <a:avLst/>
          </a:prstGeom>
          <a:noFill/>
        </p:spPr>
        <p:txBody>
          <a:bodyPr wrap="square" lIns="0" rIns="0" tIns="0" bIns="0" anchor="ctr">
            <a:spAutoFit/>
          </a:bodyPr>
          <a:lstStyle/>
          <a:p>
            <a:pPr algn="ctr">
              <a:lnSpc>
                <a:spcPct val="100000"/>
              </a:lnSpc>
            </a:pPr>
            <a:r>
              <a:rPr sz="1050" b="1">
                <a:solidFill>
                  <a:srgbClr val="15171A"/>
                </a:solidFill>
                <a:latin typeface="Noto Sans KR"/>
                <a:ea typeface="Noto Sans KR"/>
                <a:cs typeface="Noto Sans KR"/>
              </a:rPr>
              <a:t>2.0</a:t>
            </a:r>
          </a:p>
        </p:txBody>
      </p:sp>
      <p:sp>
        <p:nvSpPr>
          <p:cNvPr id="19" name="Rectangle 18"/>
          <p:cNvSpPr/>
          <p:nvPr/>
        </p:nvSpPr>
        <p:spPr>
          <a:xfrm>
            <a:off x="685800" y="5330748"/>
            <a:ext cx="109728" cy="109728"/>
          </a:xfrm>
          <a:prstGeom prst="rect">
            <a:avLst/>
          </a:prstGeom>
          <a:solidFill>
            <a:srgbClr val="E2571B"/>
          </a:solidFill>
          <a:ln>
            <a:noFill/>
          </a:ln>
        </p:spPr>
        <p:txBody>
          <a:bodyPr rtlCol="0" anchor="ctr"/>
          <a:lstStyle/>
          <a:p>
            <a:pPr algn="ctr"/>
          </a:p>
        </p:txBody>
      </p:sp>
      <p:sp>
        <p:nvSpPr>
          <p:cNvPr id="20" name="TextBox 19"/>
          <p:cNvSpPr txBox="1"/>
          <p:nvPr/>
        </p:nvSpPr>
        <p:spPr>
          <a:xfrm>
            <a:off x="841248" y="5266740"/>
            <a:ext cx="1645920" cy="2286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개발 인력</a:t>
            </a:r>
          </a:p>
        </p:txBody>
      </p:sp>
      <p:sp>
        <p:nvSpPr>
          <p:cNvPr id="21" name="Rectangle 20"/>
          <p:cNvSpPr/>
          <p:nvPr/>
        </p:nvSpPr>
        <p:spPr>
          <a:xfrm>
            <a:off x="1513431" y="5330748"/>
            <a:ext cx="109728" cy="109728"/>
          </a:xfrm>
          <a:prstGeom prst="rect">
            <a:avLst/>
          </a:prstGeom>
          <a:solidFill>
            <a:srgbClr val="4A4F57"/>
          </a:solidFill>
          <a:ln>
            <a:noFill/>
          </a:ln>
        </p:spPr>
        <p:txBody>
          <a:bodyPr rtlCol="0" anchor="ctr"/>
          <a:lstStyle/>
          <a:p>
            <a:pPr algn="ctr"/>
          </a:p>
        </p:txBody>
      </p:sp>
      <p:sp>
        <p:nvSpPr>
          <p:cNvPr id="22" name="TextBox 21"/>
          <p:cNvSpPr txBox="1"/>
          <p:nvPr/>
        </p:nvSpPr>
        <p:spPr>
          <a:xfrm>
            <a:off x="1668879" y="5266740"/>
            <a:ext cx="1645920" cy="2286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시제품·시험 설비</a:t>
            </a:r>
          </a:p>
        </p:txBody>
      </p:sp>
      <p:sp>
        <p:nvSpPr>
          <p:cNvPr id="23" name="Rectangle 22"/>
          <p:cNvSpPr/>
          <p:nvPr/>
        </p:nvSpPr>
        <p:spPr>
          <a:xfrm>
            <a:off x="2741743" y="5330748"/>
            <a:ext cx="109728" cy="109728"/>
          </a:xfrm>
          <a:prstGeom prst="rect">
            <a:avLst/>
          </a:prstGeom>
          <a:solidFill>
            <a:srgbClr val="8C9198"/>
          </a:solidFill>
          <a:ln>
            <a:noFill/>
          </a:ln>
        </p:spPr>
        <p:txBody>
          <a:bodyPr rtlCol="0" anchor="ctr"/>
          <a:lstStyle/>
          <a:p>
            <a:pPr algn="ctr"/>
          </a:p>
        </p:txBody>
      </p:sp>
      <p:sp>
        <p:nvSpPr>
          <p:cNvPr id="24" name="TextBox 23"/>
          <p:cNvSpPr txBox="1"/>
          <p:nvPr/>
        </p:nvSpPr>
        <p:spPr>
          <a:xfrm>
            <a:off x="2897191" y="5266740"/>
            <a:ext cx="1645920" cy="2286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AI 데이터·연산</a:t>
            </a:r>
          </a:p>
        </p:txBody>
      </p:sp>
      <p:sp>
        <p:nvSpPr>
          <p:cNvPr id="25" name="Rectangle 24"/>
          <p:cNvSpPr/>
          <p:nvPr/>
        </p:nvSpPr>
        <p:spPr>
          <a:xfrm>
            <a:off x="3856758" y="5330748"/>
            <a:ext cx="109728" cy="109728"/>
          </a:xfrm>
          <a:prstGeom prst="rect">
            <a:avLst/>
          </a:prstGeom>
          <a:solidFill>
            <a:srgbClr val="A9AEB5"/>
          </a:solidFill>
          <a:ln>
            <a:noFill/>
          </a:ln>
        </p:spPr>
        <p:txBody>
          <a:bodyPr rtlCol="0" anchor="ctr"/>
          <a:lstStyle/>
          <a:p>
            <a:pPr algn="ctr"/>
          </a:p>
        </p:txBody>
      </p:sp>
      <p:sp>
        <p:nvSpPr>
          <p:cNvPr id="26" name="TextBox 25"/>
          <p:cNvSpPr txBox="1"/>
          <p:nvPr/>
        </p:nvSpPr>
        <p:spPr>
          <a:xfrm>
            <a:off x="4012206" y="5266740"/>
            <a:ext cx="1645920" cy="2286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주방 통합 실증</a:t>
            </a:r>
          </a:p>
        </p:txBody>
      </p:sp>
      <p:sp>
        <p:nvSpPr>
          <p:cNvPr id="27" name="Rectangle 26"/>
          <p:cNvSpPr/>
          <p:nvPr/>
        </p:nvSpPr>
        <p:spPr>
          <a:xfrm>
            <a:off x="4933409" y="5330748"/>
            <a:ext cx="109728" cy="109728"/>
          </a:xfrm>
          <a:prstGeom prst="rect">
            <a:avLst/>
          </a:prstGeom>
          <a:solidFill>
            <a:srgbClr val="C9CDD2"/>
          </a:solidFill>
          <a:ln>
            <a:noFill/>
          </a:ln>
        </p:spPr>
        <p:txBody>
          <a:bodyPr rtlCol="0" anchor="ctr"/>
          <a:lstStyle/>
          <a:p>
            <a:pPr algn="ctr"/>
          </a:p>
        </p:txBody>
      </p:sp>
      <p:sp>
        <p:nvSpPr>
          <p:cNvPr id="28" name="TextBox 27"/>
          <p:cNvSpPr txBox="1"/>
          <p:nvPr/>
        </p:nvSpPr>
        <p:spPr>
          <a:xfrm>
            <a:off x="5088857" y="5266740"/>
            <a:ext cx="1645920" cy="2286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안전·품질·지식재산</a:t>
            </a:r>
          </a:p>
        </p:txBody>
      </p:sp>
      <p:sp>
        <p:nvSpPr>
          <p:cNvPr id="29" name="Rectangle 28"/>
          <p:cNvSpPr/>
          <p:nvPr/>
        </p:nvSpPr>
        <p:spPr>
          <a:xfrm>
            <a:off x="6313382" y="5330748"/>
            <a:ext cx="109728" cy="109728"/>
          </a:xfrm>
          <a:prstGeom prst="rect">
            <a:avLst/>
          </a:prstGeom>
          <a:solidFill>
            <a:srgbClr val="DDE0E3"/>
          </a:solidFill>
          <a:ln>
            <a:noFill/>
          </a:ln>
        </p:spPr>
        <p:txBody>
          <a:bodyPr rtlCol="0" anchor="ctr"/>
          <a:lstStyle/>
          <a:p>
            <a:pPr algn="ctr"/>
          </a:p>
        </p:txBody>
      </p:sp>
      <p:sp>
        <p:nvSpPr>
          <p:cNvPr id="30" name="TextBox 29"/>
          <p:cNvSpPr txBox="1"/>
          <p:nvPr/>
        </p:nvSpPr>
        <p:spPr>
          <a:xfrm>
            <a:off x="6468830" y="5266740"/>
            <a:ext cx="1645920" cy="2286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운영·예비비</a:t>
            </a:r>
          </a:p>
        </p:txBody>
      </p:sp>
      <p:sp>
        <p:nvSpPr>
          <p:cNvPr id="31" name="TextBox 30"/>
          <p:cNvSpPr txBox="1"/>
          <p:nvPr/>
        </p:nvSpPr>
        <p:spPr>
          <a:xfrm>
            <a:off x="7909560" y="1463040"/>
            <a:ext cx="359633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집행 원칙</a:t>
            </a:r>
          </a:p>
        </p:txBody>
      </p:sp>
      <p:cxnSp>
        <p:nvCxnSpPr>
          <p:cNvPr id="32" name="Connector 31"/>
          <p:cNvCxnSpPr/>
          <p:nvPr/>
        </p:nvCxnSpPr>
        <p:spPr>
          <a:xfrm>
            <a:off x="7909560" y="1783080"/>
            <a:ext cx="3596335" cy="0"/>
          </a:xfrm>
          <a:prstGeom prst="line">
            <a:avLst/>
          </a:prstGeom>
          <a:ln w="12700">
            <a:solidFill>
              <a:srgbClr val="15171A"/>
            </a:solidFill>
          </a:ln>
        </p:spPr>
      </p:cxnSp>
      <p:sp>
        <p:nvSpPr>
          <p:cNvPr id="33" name="TextBox 32"/>
          <p:cNvSpPr txBox="1"/>
          <p:nvPr/>
        </p:nvSpPr>
        <p:spPr>
          <a:xfrm>
            <a:off x="7909560" y="1865376"/>
            <a:ext cx="3596335" cy="1563319"/>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자금 사용표는 현금 집행 예산, 손익계산서 운영비와 일대일로 일치하지 않음</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장비 자산화·재고·매출 회수 시점을 반영한 월별 현금계획은 투자 실사 전 작성</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보조금은 미확정이므로 기본 조달재원에서 제외</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개발 인력 10억 원: 7명 단계 채용 기준</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월별 채용·인건비 계획 </a:t>
            </a:r>
            <a:r>
              <a:rPr sz="1100" b="0">
                <a:solidFill>
                  <a:srgbClr val="E2571B"/>
                </a:solidFill>
                <a:latin typeface="Noto Sans KR"/>
                <a:ea typeface="Noto Sans KR"/>
                <a:cs typeface="Noto Sans KR"/>
              </a:rPr>
              <a:t>[입력 필요]</a:t>
            </a:r>
          </a:p>
        </p:txBody>
      </p:sp>
      <p:sp>
        <p:nvSpPr>
          <p:cNvPr id="34" name="TextBox 33"/>
          <p:cNvSpPr txBox="1"/>
          <p:nvPr/>
        </p:nvSpPr>
        <p:spPr>
          <a:xfrm>
            <a:off x="7909560" y="3629863"/>
            <a:ext cx="359633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손익 연결과 후속 자금</a:t>
            </a:r>
          </a:p>
        </p:txBody>
      </p:sp>
      <p:cxnSp>
        <p:nvCxnSpPr>
          <p:cNvPr id="35" name="Connector 34"/>
          <p:cNvCxnSpPr/>
          <p:nvPr/>
        </p:nvCxnSpPr>
        <p:spPr>
          <a:xfrm>
            <a:off x="7909560" y="3949903"/>
            <a:ext cx="3596335" cy="0"/>
          </a:xfrm>
          <a:prstGeom prst="line">
            <a:avLst/>
          </a:prstGeom>
          <a:ln w="12700">
            <a:solidFill>
              <a:srgbClr val="15171A"/>
            </a:solidFill>
          </a:ln>
        </p:spPr>
      </p:cxnSp>
      <p:sp>
        <p:nvSpPr>
          <p:cNvPr id="36" name="TextBox 35"/>
          <p:cNvSpPr txBox="1"/>
          <p:nvPr/>
        </p:nvSpPr>
        <p:spPr>
          <a:xfrm>
            <a:off x="7909560" y="4032199"/>
            <a:ext cx="3596335" cy="931062"/>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1~2년차 운영비 18억 원, 매출총이익 3.51억 원</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1~2년차 누적 영업손실 14.49억 원</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18~24개월에 후속 자금 조달 필요</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후속 투자 목표 규모 </a:t>
            </a:r>
            <a:r>
              <a:rPr sz="1100" b="0">
                <a:solidFill>
                  <a:srgbClr val="E2571B"/>
                </a:solidFill>
                <a:latin typeface="Noto Sans KR"/>
                <a:ea typeface="Noto Sans KR"/>
                <a:cs typeface="Noto Sans KR"/>
              </a:rPr>
              <a:t>[입력 필요]</a:t>
            </a:r>
          </a:p>
        </p:txBody>
      </p:sp>
      <p:sp>
        <p:nvSpPr>
          <p:cNvPr id="37" name="TextBox 3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38" name="TextBox 3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금액은 사업계획서 제안안 · 항목별 상세 부록 A13</a:t>
            </a:r>
          </a:p>
        </p:txBody>
      </p:sp>
      <p:sp>
        <p:nvSpPr>
          <p:cNvPr id="39" name="TextBox 3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14   조직 및 인력</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핵심 인력 7명 단계 채용, 안전·위생·특허·주방 설계는 외부 협력</a:t>
            </a:r>
          </a:p>
        </p:txBody>
      </p:sp>
      <p:cxnSp>
        <p:nvCxnSpPr>
          <p:cNvPr id="4" name="Connector 3"/>
          <p:cNvCxnSpPr/>
          <p:nvPr/>
        </p:nvCxnSpPr>
        <p:spPr>
          <a:xfrm>
            <a:off x="685800" y="1243584"/>
            <a:ext cx="10820095" cy="0"/>
          </a:xfrm>
          <a:prstGeom prst="line">
            <a:avLst/>
          </a:prstGeom>
          <a:ln w="12700">
            <a:solidFill>
              <a:srgbClr val="15171A"/>
            </a:solidFill>
          </a:ln>
        </p:spPr>
      </p:cxnSp>
      <p:sp>
        <p:nvSpPr>
          <p:cNvPr id="5" name="TextBox 4"/>
          <p:cNvSpPr txBox="1"/>
          <p:nvPr/>
        </p:nvSpPr>
        <p:spPr>
          <a:xfrm>
            <a:off x="685800" y="1463040"/>
            <a:ext cx="10820095"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창업자 (확인 자료로 보완 필요)</a:t>
            </a:r>
          </a:p>
        </p:txBody>
      </p:sp>
      <p:graphicFrame>
        <p:nvGraphicFramePr>
          <p:cNvPr id="6" name="Table 5"/>
          <p:cNvGraphicFramePr>
            <a:graphicFrameLocks noGrp="1"/>
          </p:cNvGraphicFramePr>
          <p:nvPr/>
        </p:nvGraphicFramePr>
        <p:xfrm>
          <a:off x="685800" y="1810512"/>
          <a:ext cx="10820095" cy="1018335"/>
        </p:xfrm>
        <a:graphic>
          <a:graphicData uri="http://schemas.openxmlformats.org/drawingml/2006/table">
            <a:tbl>
              <a:tblPr firstRow="0" bandRow="0">
                <a:tableStyleId>{2D5ABB26-0587-4C30-8999-92F81FD0307C}</a:tableStyleId>
              </a:tblPr>
              <a:tblGrid>
                <a:gridCol w="2103120"/>
                <a:gridCol w="1920240"/>
                <a:gridCol w="3657600"/>
                <a:gridCol w="3139135"/>
              </a:tblGrid>
              <a:tr h="339445">
                <a:tc>
                  <a:txBody>
                    <a:bodyPr wrap="square"/>
                    <a:lstStyle/>
                    <a:p>
                      <a:pPr algn="l">
                        <a:lnSpc>
                          <a:spcPct val="100000"/>
                        </a:lnSpc>
                      </a:pPr>
                      <a:r>
                        <a:rPr sz="1100" b="1">
                          <a:solidFill>
                            <a:srgbClr val="15171A"/>
                          </a:solidFill>
                          <a:latin typeface="Noto Sans KR"/>
                          <a:ea typeface="Noto Sans KR"/>
                          <a:cs typeface="Noto Sans KR"/>
                        </a:rPr>
                        <a:t>역할</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성명</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주요 경력·보유 기술</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이 사업과의 연결</a:t>
                      </a:r>
                    </a:p>
                  </a:txBody>
                  <a:tcPr marL="73152" marR="73152" marT="64008" marB="64008" anchor="t">
                    <a:lnL w="0">
                      <a:noFill/>
                    </a:lnL>
                    <a:lnR w="0">
                      <a:noFill/>
                    </a:lnR>
                    <a:lnT w="12700">
                      <a:solidFill>
                        <a:srgbClr val="15171A"/>
                      </a:solidFill>
                    </a:lnT>
                    <a:lnB w="9525">
                      <a:solidFill>
                        <a:srgbClr val="15171A"/>
                      </a:solidFill>
                    </a:lnB>
                    <a:noFill/>
                  </a:tcPr>
                </a:tc>
              </a:tr>
              <a:tr h="339445">
                <a:tc>
                  <a:txBody>
                    <a:bodyPr wrap="square"/>
                    <a:lstStyle/>
                    <a:p>
                      <a:pPr algn="l">
                        <a:lnSpc>
                          <a:spcPct val="100000"/>
                        </a:lnSpc>
                      </a:pPr>
                      <a:r>
                        <a:rPr sz="1100" b="1">
                          <a:solidFill>
                            <a:srgbClr val="15171A"/>
                          </a:solidFill>
                          <a:latin typeface="Noto Sans KR"/>
                          <a:ea typeface="Noto Sans KR"/>
                          <a:cs typeface="Noto Sans KR"/>
                        </a:rPr>
                        <a:t>대표 · 사업·제품 책임자</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[성명 입력 필요]</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[핸드·로봇·제조 자동화 관련 경력, 기간 입력 필요]</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[창업 계기, 확인한 고객 문제 입력 필요]</a:t>
                      </a:r>
                    </a:p>
                  </a:txBody>
                  <a:tcPr marL="73152" marR="73152" marT="64008" marB="64008" anchor="t">
                    <a:lnL w="0">
                      <a:noFill/>
                    </a:lnL>
                    <a:lnR w="0">
                      <a:noFill/>
                    </a:lnR>
                    <a:lnT w="0">
                      <a:noFill/>
                    </a:lnT>
                    <a:lnB w="9525">
                      <a:solidFill>
                        <a:srgbClr val="E2E4E7"/>
                      </a:solidFill>
                    </a:lnB>
                    <a:noFill/>
                  </a:tcPr>
                </a:tc>
              </a:tr>
              <a:tr h="339445">
                <a:tc>
                  <a:txBody>
                    <a:bodyPr wrap="square"/>
                    <a:lstStyle/>
                    <a:p>
                      <a:pPr algn="l">
                        <a:lnSpc>
                          <a:spcPct val="100000"/>
                        </a:lnSpc>
                      </a:pPr>
                      <a:r>
                        <a:rPr sz="1100" b="1">
                          <a:solidFill>
                            <a:srgbClr val="15171A"/>
                          </a:solidFill>
                          <a:latin typeface="Noto Sans KR"/>
                          <a:ea typeface="Noto Sans KR"/>
                          <a:cs typeface="Noto Sans KR"/>
                        </a:rPr>
                        <a:t>공동창업자</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[여부·성명 입력 필요]</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[보유 기술·장비·연구 이력 입력 필요]</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[역할·지분·전업 참여 조건 입력 필요]</a:t>
                      </a:r>
                    </a:p>
                  </a:txBody>
                  <a:tcPr marL="73152" marR="73152" marT="64008" marB="64008" anchor="t">
                    <a:lnL w="0">
                      <a:noFill/>
                    </a:lnL>
                    <a:lnR w="0">
                      <a:noFill/>
                    </a:lnR>
                    <a:lnT w="0">
                      <a:noFill/>
                    </a:lnT>
                    <a:lnB w="9525">
                      <a:solidFill>
                        <a:srgbClr val="E2E4E7"/>
                      </a:solidFill>
                    </a:lnB>
                    <a:noFill/>
                  </a:tcPr>
                </a:tc>
              </a:tr>
            </a:tbl>
          </a:graphicData>
        </a:graphic>
      </p:graphicFrame>
      <p:sp>
        <p:nvSpPr>
          <p:cNvPr id="7" name="TextBox 6"/>
          <p:cNvSpPr txBox="1"/>
          <p:nvPr/>
        </p:nvSpPr>
        <p:spPr>
          <a:xfrm>
            <a:off x="685800" y="3103168"/>
            <a:ext cx="7680960"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초기 핵심 역할 7명 (단계 채용 전제)</a:t>
            </a:r>
          </a:p>
        </p:txBody>
      </p:sp>
      <p:graphicFrame>
        <p:nvGraphicFramePr>
          <p:cNvPr id="8" name="Table 7"/>
          <p:cNvGraphicFramePr>
            <a:graphicFrameLocks noGrp="1"/>
          </p:cNvGraphicFramePr>
          <p:nvPr/>
        </p:nvGraphicFramePr>
        <p:xfrm>
          <a:off x="685800" y="3450640"/>
          <a:ext cx="7680960" cy="2203090"/>
        </p:xfrm>
        <a:graphic>
          <a:graphicData uri="http://schemas.openxmlformats.org/drawingml/2006/table">
            <a:tbl>
              <a:tblPr firstRow="0" bandRow="0">
                <a:tableStyleId>{2D5ABB26-0587-4C30-8999-92F81FD0307C}</a:tableStyleId>
              </a:tblPr>
              <a:tblGrid>
                <a:gridCol w="1600200"/>
                <a:gridCol w="548640"/>
                <a:gridCol w="3520440"/>
                <a:gridCol w="2011680"/>
              </a:tblGrid>
              <a:tr h="302818">
                <a:tc>
                  <a:txBody>
                    <a:bodyPr wrap="square"/>
                    <a:lstStyle/>
                    <a:p>
                      <a:pPr algn="l">
                        <a:lnSpc>
                          <a:spcPct val="100000"/>
                        </a:lnSpc>
                      </a:pPr>
                      <a:r>
                        <a:rPr sz="1050" b="1">
                          <a:solidFill>
                            <a:srgbClr val="15171A"/>
                          </a:solidFill>
                          <a:latin typeface="Noto Sans KR"/>
                          <a:ea typeface="Noto Sans KR"/>
                          <a:cs typeface="Noto Sans KR"/>
                        </a:rPr>
                        <a:t>역할</a:t>
                      </a:r>
                    </a:p>
                  </a:txBody>
                  <a:tcPr marL="73152" marR="73152" marT="50292" marB="50292"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050" b="1">
                          <a:solidFill>
                            <a:srgbClr val="15171A"/>
                          </a:solidFill>
                          <a:latin typeface="Noto Sans KR"/>
                          <a:ea typeface="Noto Sans KR"/>
                          <a:cs typeface="Noto Sans KR"/>
                        </a:rPr>
                        <a:t>인원</a:t>
                      </a:r>
                    </a:p>
                  </a:txBody>
                  <a:tcPr marL="73152" marR="73152" marT="50292" marB="5029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주요 업무</a:t>
                      </a:r>
                    </a:p>
                  </a:txBody>
                  <a:tcPr marL="73152" marR="73152" marT="50292" marB="5029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연계 목표</a:t>
                      </a:r>
                    </a:p>
                  </a:txBody>
                  <a:tcPr marL="73152" marR="73152" marT="50292" marB="50292" anchor="t">
                    <a:lnL w="0">
                      <a:noFill/>
                    </a:lnL>
                    <a:lnR w="0">
                      <a:noFill/>
                    </a:lnR>
                    <a:lnT w="12700">
                      <a:solidFill>
                        <a:srgbClr val="15171A"/>
                      </a:solidFill>
                    </a:lnT>
                    <a:lnB w="9525">
                      <a:solidFill>
                        <a:srgbClr val="15171A"/>
                      </a:solidFill>
                    </a:lnB>
                    <a:noFill/>
                  </a:tcPr>
                </a:tc>
              </a:tr>
              <a:tr h="302818">
                <a:tc>
                  <a:txBody>
                    <a:bodyPr wrap="square"/>
                    <a:lstStyle/>
                    <a:p>
                      <a:pPr algn="l">
                        <a:lnSpc>
                          <a:spcPct val="100000"/>
                        </a:lnSpc>
                      </a:pPr>
                      <a:r>
                        <a:rPr sz="1050" b="1">
                          <a:solidFill>
                            <a:srgbClr val="15171A"/>
                          </a:solidFill>
                          <a:latin typeface="Noto Sans KR"/>
                          <a:ea typeface="Noto Sans KR"/>
                          <a:cs typeface="Noto Sans KR"/>
                        </a:rPr>
                        <a:t>사업·제품 책임자</a:t>
                      </a:r>
                    </a:p>
                  </a:txBody>
                  <a:tcPr marL="73152" marR="73152" marT="50292" marB="50292"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고객 인터뷰·유료 실증 계약, 제품 범위·가격, 파트너</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첫 90일 검증, 유료 실증 5건</a:t>
                      </a:r>
                    </a:p>
                  </a:txBody>
                  <a:tcPr marL="73152" marR="73152" marT="50292" marB="50292" anchor="t">
                    <a:lnL w="0">
                      <a:noFill/>
                    </a:lnL>
                    <a:lnR w="0">
                      <a:noFill/>
                    </a:lnR>
                    <a:lnT w="0">
                      <a:noFill/>
                    </a:lnT>
                    <a:lnB w="9525">
                      <a:solidFill>
                        <a:srgbClr val="E2E4E7"/>
                      </a:solidFill>
                    </a:lnB>
                    <a:noFill/>
                  </a:tcPr>
                </a:tc>
              </a:tr>
              <a:tr h="495909">
                <a:tc>
                  <a:txBody>
                    <a:bodyPr wrap="square"/>
                    <a:lstStyle/>
                    <a:p>
                      <a:pPr algn="l">
                        <a:lnSpc>
                          <a:spcPct val="100000"/>
                        </a:lnSpc>
                      </a:pPr>
                      <a:r>
                        <a:rPr sz="1050" b="1">
                          <a:solidFill>
                            <a:srgbClr val="15171A"/>
                          </a:solidFill>
                          <a:latin typeface="Noto Sans KR"/>
                          <a:ea typeface="Noto Sans KR"/>
                          <a:cs typeface="Noto Sans KR"/>
                        </a:rPr>
                        <a:t>핸드 기구/구동</a:t>
                      </a:r>
                    </a:p>
                  </a:txBody>
                  <a:tcPr marL="73152" marR="73152" marT="50292" marB="50292"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손가락 골격·엄지 대향 구조, 구동 비교 시험, 교체형 접촉부, 내구 시험</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4지 알파·베타, 5지 알파</a:t>
                      </a:r>
                    </a:p>
                  </a:txBody>
                  <a:tcPr marL="73152" marR="73152" marT="50292" marB="50292" anchor="t">
                    <a:lnL w="0">
                      <a:noFill/>
                    </a:lnL>
                    <a:lnR w="0">
                      <a:noFill/>
                    </a:lnR>
                    <a:lnT w="0">
                      <a:noFill/>
                    </a:lnT>
                    <a:lnB w="9525">
                      <a:solidFill>
                        <a:srgbClr val="E2E4E7"/>
                      </a:solidFill>
                    </a:lnB>
                    <a:noFill/>
                  </a:tcPr>
                </a:tc>
              </a:tr>
              <a:tr h="495909">
                <a:tc>
                  <a:txBody>
                    <a:bodyPr wrap="square"/>
                    <a:lstStyle/>
                    <a:p>
                      <a:pPr algn="l">
                        <a:lnSpc>
                          <a:spcPct val="100000"/>
                        </a:lnSpc>
                      </a:pPr>
                      <a:r>
                        <a:rPr sz="1050" b="1">
                          <a:solidFill>
                            <a:srgbClr val="15171A"/>
                          </a:solidFill>
                          <a:latin typeface="Noto Sans KR"/>
                          <a:ea typeface="Noto Sans KR"/>
                          <a:cs typeface="Noto Sans KR"/>
                        </a:rPr>
                        <a:t>제어·임베디드</a:t>
                      </a:r>
                    </a:p>
                  </a:txBody>
                  <a:tcPr marL="73152" marR="73152" marT="50292" marB="50292"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촉각·관절/장력·손목 힘 센서, 파지·힘 제어, 로봇 통신 드라이버</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감지→제어 p95 100ms</a:t>
                      </a:r>
                    </a:p>
                  </a:txBody>
                  <a:tcPr marL="73152" marR="73152" marT="50292" marB="50292" anchor="t">
                    <a:lnL w="0">
                      <a:noFill/>
                    </a:lnL>
                    <a:lnR w="0">
                      <a:noFill/>
                    </a:lnR>
                    <a:lnT w="0">
                      <a:noFill/>
                    </a:lnT>
                    <a:lnB w="9525">
                      <a:solidFill>
                        <a:srgbClr val="E2E4E7"/>
                      </a:solidFill>
                    </a:lnB>
                    <a:noFill/>
                  </a:tcPr>
                </a:tc>
              </a:tr>
              <a:tr h="302818">
                <a:tc>
                  <a:txBody>
                    <a:bodyPr wrap="square"/>
                    <a:lstStyle/>
                    <a:p>
                      <a:pPr algn="l">
                        <a:lnSpc>
                          <a:spcPct val="100000"/>
                        </a:lnSpc>
                      </a:pPr>
                      <a:r>
                        <a:rPr sz="1050" b="1">
                          <a:solidFill>
                            <a:srgbClr val="15171A"/>
                          </a:solidFill>
                          <a:latin typeface="Noto Sans KR"/>
                          <a:ea typeface="Noto Sans KR"/>
                          <a:cs typeface="Noto Sans KR"/>
                        </a:rPr>
                        <a:t>비전·조작 AI</a:t>
                      </a:r>
                    </a:p>
                  </a:txBody>
                  <a:tcPr marL="73152" marR="73152" marT="50292" marB="50292"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도구 기능 부위 인식, 자세·동적 추적, 데이터 수집·학습·검증</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도구·용기 30종, 시도 1만 회</a:t>
                      </a:r>
                    </a:p>
                  </a:txBody>
                  <a:tcPr marL="73152" marR="73152" marT="50292" marB="50292" anchor="t">
                    <a:lnL w="0">
                      <a:noFill/>
                    </a:lnL>
                    <a:lnR w="0">
                      <a:noFill/>
                    </a:lnR>
                    <a:lnT w="0">
                      <a:noFill/>
                    </a:lnT>
                    <a:lnB w="9525">
                      <a:solidFill>
                        <a:srgbClr val="E2E4E7"/>
                      </a:solidFill>
                    </a:lnB>
                    <a:noFill/>
                  </a:tcPr>
                </a:tc>
              </a:tr>
              <a:tr h="302818">
                <a:tc>
                  <a:txBody>
                    <a:bodyPr wrap="square"/>
                    <a:lstStyle/>
                    <a:p>
                      <a:pPr algn="l">
                        <a:lnSpc>
                          <a:spcPct val="100000"/>
                        </a:lnSpc>
                      </a:pPr>
                      <a:r>
                        <a:rPr sz="1050" b="1">
                          <a:solidFill>
                            <a:srgbClr val="15171A"/>
                          </a:solidFill>
                          <a:latin typeface="Noto Sans KR"/>
                          <a:ea typeface="Noto Sans KR"/>
                          <a:cs typeface="Noto Sans KR"/>
                        </a:rPr>
                        <a:t>시스템 통합</a:t>
                      </a:r>
                    </a:p>
                  </a:txBody>
                  <a:tcPr marL="73152" marR="73152" marT="50292" marB="50292"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2개 플랫폼 장착·교정, 제조 실증, 주방 양팔·LM축 통합</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제조 실증, 주방 메뉴 3종</a:t>
                      </a:r>
                    </a:p>
                  </a:txBody>
                  <a:tcPr marL="73152" marR="73152" marT="50292" marB="50292" anchor="t">
                    <a:lnL w="0">
                      <a:noFill/>
                    </a:lnL>
                    <a:lnR w="0">
                      <a:noFill/>
                    </a:lnR>
                    <a:lnT w="0">
                      <a:noFill/>
                    </a:lnT>
                    <a:lnB w="9525">
                      <a:solidFill>
                        <a:srgbClr val="E2E4E7"/>
                      </a:solidFill>
                    </a:lnB>
                    <a:noFill/>
                  </a:tcPr>
                </a:tc>
              </a:tr>
            </a:tbl>
          </a:graphicData>
        </a:graphic>
      </p:graphicFrame>
      <p:sp>
        <p:nvSpPr>
          <p:cNvPr id="9" name="TextBox 8"/>
          <p:cNvSpPr txBox="1"/>
          <p:nvPr/>
        </p:nvSpPr>
        <p:spPr>
          <a:xfrm>
            <a:off x="8778240" y="3103168"/>
            <a:ext cx="272765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외부 협력</a:t>
            </a:r>
          </a:p>
        </p:txBody>
      </p:sp>
      <p:cxnSp>
        <p:nvCxnSpPr>
          <p:cNvPr id="10" name="Connector 9"/>
          <p:cNvCxnSpPr/>
          <p:nvPr/>
        </p:nvCxnSpPr>
        <p:spPr>
          <a:xfrm>
            <a:off x="8778240" y="3423208"/>
            <a:ext cx="2727655" cy="0"/>
          </a:xfrm>
          <a:prstGeom prst="line">
            <a:avLst/>
          </a:prstGeom>
          <a:ln w="12700">
            <a:solidFill>
              <a:srgbClr val="15171A"/>
            </a:solidFill>
          </a:ln>
        </p:spPr>
      </p:cxnSp>
      <p:sp>
        <p:nvSpPr>
          <p:cNvPr id="11" name="TextBox 10"/>
          <p:cNvSpPr txBox="1"/>
          <p:nvPr/>
        </p:nvSpPr>
        <p:spPr>
          <a:xfrm>
            <a:off x="8778240" y="3505504"/>
            <a:ext cx="2727655" cy="856183"/>
          </a:xfrm>
          <a:prstGeom prst="rect">
            <a:avLst/>
          </a:prstGeom>
          <a:noFill/>
        </p:spPr>
        <p:txBody>
          <a:bodyPr wrap="square" lIns="0" rIns="0" tIns="0" bIns="0" anchor="t">
            <a:spAutoFit/>
          </a:bodyPr>
          <a:lstStyle/>
          <a:p>
            <a:pPr algn="l" marL="164592" indent="-164592">
              <a:lnSpc>
                <a:spcPct val="100000"/>
              </a:lnSpc>
              <a:spcAft>
                <a:spcPts val="100"/>
              </a:spcAft>
              <a:buClr>
                <a:srgbClr val="8C9198"/>
              </a:buClr>
              <a:buFont typeface="Noto Sans KR"/>
              <a:buChar char="•"/>
            </a:pPr>
            <a:r>
              <a:rPr sz="1050" b="0">
                <a:solidFill>
                  <a:srgbClr val="4A4F57"/>
                </a:solidFill>
                <a:latin typeface="Noto Sans KR"/>
                <a:ea typeface="Noto Sans KR"/>
                <a:cs typeface="Noto Sans KR"/>
              </a:rPr>
              <a:t>안전: 통합 위험성 평가, 시험기관</a:t>
            </a:r>
          </a:p>
          <a:p>
            <a:pPr algn="l" marL="164592" indent="-164592">
              <a:lnSpc>
                <a:spcPct val="100000"/>
              </a:lnSpc>
              <a:spcAft>
                <a:spcPts val="100"/>
              </a:spcAft>
              <a:buClr>
                <a:srgbClr val="8C9198"/>
              </a:buClr>
              <a:buFont typeface="Noto Sans KR"/>
              <a:buChar char="•"/>
            </a:pPr>
            <a:r>
              <a:rPr sz="1050" b="0">
                <a:solidFill>
                  <a:srgbClr val="4A4F57"/>
                </a:solidFill>
                <a:latin typeface="Noto Sans KR"/>
                <a:ea typeface="Noto Sans KR"/>
                <a:cs typeface="Noto Sans KR"/>
              </a:rPr>
              <a:t>위생: 식품접촉 재질·세척 검증</a:t>
            </a:r>
          </a:p>
          <a:p>
            <a:pPr algn="l" marL="164592" indent="-164592">
              <a:lnSpc>
                <a:spcPct val="100000"/>
              </a:lnSpc>
              <a:spcAft>
                <a:spcPts val="100"/>
              </a:spcAft>
              <a:buClr>
                <a:srgbClr val="8C9198"/>
              </a:buClr>
              <a:buFont typeface="Noto Sans KR"/>
              <a:buChar char="•"/>
            </a:pPr>
            <a:r>
              <a:rPr sz="1050" b="0">
                <a:solidFill>
                  <a:srgbClr val="4A4F57"/>
                </a:solidFill>
                <a:latin typeface="Noto Sans KR"/>
                <a:ea typeface="Noto Sans KR"/>
                <a:cs typeface="Noto Sans KR"/>
              </a:rPr>
              <a:t>특허: 선행기술 조사·출원</a:t>
            </a:r>
          </a:p>
          <a:p>
            <a:pPr algn="l" marL="164592" indent="-164592">
              <a:lnSpc>
                <a:spcPct val="100000"/>
              </a:lnSpc>
              <a:buClr>
                <a:srgbClr val="8C9198"/>
              </a:buClr>
              <a:buFont typeface="Noto Sans KR"/>
              <a:buChar char="•"/>
            </a:pPr>
            <a:r>
              <a:rPr sz="1050" b="0">
                <a:solidFill>
                  <a:srgbClr val="4A4F57"/>
                </a:solidFill>
                <a:latin typeface="Noto Sans KR"/>
                <a:ea typeface="Noto Sans KR"/>
                <a:cs typeface="Noto Sans KR"/>
              </a:rPr>
              <a:t>주방 설계: 주방 제조사·설치</a:t>
            </a:r>
          </a:p>
        </p:txBody>
      </p:sp>
      <p:sp>
        <p:nvSpPr>
          <p:cNvPr id="12" name="TextBox 11"/>
          <p:cNvSpPr txBox="1"/>
          <p:nvPr/>
        </p:nvSpPr>
        <p:spPr>
          <a:xfrm>
            <a:off x="8778240" y="4544568"/>
            <a:ext cx="272765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채용 계획</a:t>
            </a:r>
          </a:p>
        </p:txBody>
      </p:sp>
      <p:cxnSp>
        <p:nvCxnSpPr>
          <p:cNvPr id="13" name="Connector 12"/>
          <p:cNvCxnSpPr/>
          <p:nvPr/>
        </p:nvCxnSpPr>
        <p:spPr>
          <a:xfrm>
            <a:off x="8778240" y="4864607"/>
            <a:ext cx="2727655" cy="0"/>
          </a:xfrm>
          <a:prstGeom prst="line">
            <a:avLst/>
          </a:prstGeom>
          <a:ln w="12700">
            <a:solidFill>
              <a:srgbClr val="15171A"/>
            </a:solidFill>
          </a:ln>
        </p:spPr>
      </p:cxnSp>
      <p:sp>
        <p:nvSpPr>
          <p:cNvPr id="14" name="TextBox 13"/>
          <p:cNvSpPr txBox="1"/>
          <p:nvPr/>
        </p:nvSpPr>
        <p:spPr>
          <a:xfrm>
            <a:off x="8778240" y="4946904"/>
            <a:ext cx="2727655" cy="444601"/>
          </a:xfrm>
          <a:prstGeom prst="rect">
            <a:avLst/>
          </a:prstGeom>
          <a:noFill/>
        </p:spPr>
        <p:txBody>
          <a:bodyPr wrap="square" lIns="0" rIns="0" tIns="0" bIns="0" anchor="t">
            <a:spAutoFit/>
          </a:bodyPr>
          <a:lstStyle/>
          <a:p>
            <a:pPr algn="l" marL="164592" indent="-164592">
              <a:lnSpc>
                <a:spcPct val="100000"/>
              </a:lnSpc>
              <a:spcAft>
                <a:spcPts val="100"/>
              </a:spcAft>
              <a:buClr>
                <a:srgbClr val="8C9198"/>
              </a:buClr>
              <a:buFont typeface="Noto Sans KR"/>
              <a:buChar char="•"/>
            </a:pPr>
            <a:r>
              <a:rPr sz="1050" b="0">
                <a:solidFill>
                  <a:srgbClr val="4A4F57"/>
                </a:solidFill>
                <a:latin typeface="Noto Sans KR"/>
                <a:ea typeface="Noto Sans KR"/>
                <a:cs typeface="Noto Sans KR"/>
              </a:rPr>
              <a:t>단계 채용, 월별 일정 </a:t>
            </a:r>
            <a:r>
              <a:rPr sz="1050" b="0">
                <a:solidFill>
                  <a:srgbClr val="E2571B"/>
                </a:solidFill>
                <a:latin typeface="Noto Sans KR"/>
                <a:ea typeface="Noto Sans KR"/>
                <a:cs typeface="Noto Sans KR"/>
              </a:rPr>
              <a:t>[입력 필요]</a:t>
            </a:r>
          </a:p>
          <a:p>
            <a:pPr algn="l" marL="164592" indent="-164592">
              <a:lnSpc>
                <a:spcPct val="100000"/>
              </a:lnSpc>
              <a:buClr>
                <a:srgbClr val="8C9198"/>
              </a:buClr>
              <a:buFont typeface="Noto Sans KR"/>
              <a:buChar char="•"/>
            </a:pPr>
            <a:r>
              <a:rPr sz="1050" b="0">
                <a:solidFill>
                  <a:srgbClr val="4A4F57"/>
                </a:solidFill>
                <a:latin typeface="Noto Sans KR"/>
                <a:ea typeface="Noto Sans KR"/>
                <a:cs typeface="Noto Sans KR"/>
              </a:rPr>
              <a:t>인건비 예산: Seed 개발 인력 10억 원</a:t>
            </a:r>
          </a:p>
        </p:txBody>
      </p:sp>
      <p:sp>
        <p:nvSpPr>
          <p:cNvPr id="15" name="TextBox 1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6" name="TextBox 15"/>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역할별 업무·연계 목표는 사업계획서의 개발 계획 기준 · 확인되지 않은 이력·성과는 기재하지 않음</a:t>
            </a:r>
          </a:p>
        </p:txBody>
      </p:sp>
      <p:sp>
        <p:nvSpPr>
          <p:cNvPr id="17" name="TextBox 1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15   제품화 위험과 투자 검증 항목</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주요 위험 7가지와 투자 실사 전에 확보할 증거 8가지</a:t>
            </a:r>
          </a:p>
        </p:txBody>
      </p:sp>
      <p:cxnSp>
        <p:nvCxnSpPr>
          <p:cNvPr id="4" name="Connector 3"/>
          <p:cNvCxnSpPr/>
          <p:nvPr/>
        </p:nvCxnSpPr>
        <p:spPr>
          <a:xfrm>
            <a:off x="685800" y="1243584"/>
            <a:ext cx="10820095" cy="0"/>
          </a:xfrm>
          <a:prstGeom prst="line">
            <a:avLst/>
          </a:prstGeom>
          <a:ln w="12700">
            <a:solidFill>
              <a:srgbClr val="15171A"/>
            </a:solidFill>
          </a:ln>
        </p:spPr>
      </p:cxnSp>
      <p:graphicFrame>
        <p:nvGraphicFramePr>
          <p:cNvPr id="5" name="Table 4"/>
          <p:cNvGraphicFramePr>
            <a:graphicFrameLocks noGrp="1"/>
          </p:cNvGraphicFramePr>
          <p:nvPr/>
        </p:nvGraphicFramePr>
        <p:xfrm>
          <a:off x="685800" y="1463040"/>
          <a:ext cx="7086600" cy="3744160"/>
        </p:xfrm>
        <a:graphic>
          <a:graphicData uri="http://schemas.openxmlformats.org/drawingml/2006/table">
            <a:tbl>
              <a:tblPr firstRow="0" bandRow="0">
                <a:tableStyleId>{2D5ABB26-0587-4C30-8999-92F81FD0307C}</a:tableStyleId>
              </a:tblPr>
              <a:tblGrid>
                <a:gridCol w="1783080"/>
                <a:gridCol w="2011680"/>
                <a:gridCol w="3291840"/>
              </a:tblGrid>
              <a:tr h="366877">
                <a:tc>
                  <a:txBody>
                    <a:bodyPr wrap="square"/>
                    <a:lstStyle/>
                    <a:p>
                      <a:pPr algn="l">
                        <a:lnSpc>
                          <a:spcPct val="100000"/>
                        </a:lnSpc>
                      </a:pPr>
                      <a:r>
                        <a:rPr sz="1100" b="1">
                          <a:solidFill>
                            <a:srgbClr val="15171A"/>
                          </a:solidFill>
                          <a:latin typeface="Noto Sans KR"/>
                          <a:ea typeface="Noto Sans KR"/>
                          <a:cs typeface="Noto Sans KR"/>
                        </a:rPr>
                        <a:t>주요 위험</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사업 영향</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대응·판정</a:t>
                      </a:r>
                    </a:p>
                  </a:txBody>
                  <a:tcPr marL="73152" marR="73152" marT="77724" marB="77724" anchor="t">
                    <a:lnL w="0">
                      <a:noFill/>
                    </a:lnL>
                    <a:lnR w="0">
                      <a:noFill/>
                    </a:lnR>
                    <a:lnT w="12700">
                      <a:solidFill>
                        <a:srgbClr val="15171A"/>
                      </a:solidFill>
                    </a:lnT>
                    <a:lnB w="9525">
                      <a:solidFill>
                        <a:srgbClr val="15171A"/>
                      </a:solidFill>
                    </a:lnB>
                    <a:noFill/>
                  </a:tcPr>
                </a:tc>
              </a:tr>
              <a:tr h="569163">
                <a:tc>
                  <a:txBody>
                    <a:bodyPr wrap="square"/>
                    <a:lstStyle/>
                    <a:p>
                      <a:pPr algn="l">
                        <a:lnSpc>
                          <a:spcPct val="100000"/>
                        </a:lnSpc>
                      </a:pPr>
                      <a:r>
                        <a:rPr sz="1100" b="1">
                          <a:solidFill>
                            <a:srgbClr val="15171A"/>
                          </a:solidFill>
                          <a:latin typeface="Noto Sans KR"/>
                          <a:ea typeface="Noto Sans KR"/>
                          <a:cs typeface="Noto Sans KR"/>
                        </a:rPr>
                        <a:t>순응성과 강성 충돌</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잘 잡아도 도구가 회전하거나 처짐</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손가락 골격·잠금·양손 지지 비교, 작업 토크별 출시 제한</a:t>
                      </a:r>
                    </a:p>
                  </a:txBody>
                  <a:tcPr marL="73152" marR="73152" marT="77724" marB="77724" anchor="t">
                    <a:lnL w="0">
                      <a:noFill/>
                    </a:lnL>
                    <a:lnR w="0">
                      <a:noFill/>
                    </a:lnR>
                    <a:lnT w="0">
                      <a:noFill/>
                    </a:lnT>
                    <a:lnB w="9525">
                      <a:solidFill>
                        <a:srgbClr val="E2E4E7"/>
                      </a:solidFill>
                    </a:lnB>
                    <a:noFill/>
                  </a:tcPr>
                </a:tc>
              </a:tr>
              <a:tr h="366877">
                <a:tc>
                  <a:txBody>
                    <a:bodyPr wrap="square"/>
                    <a:lstStyle/>
                    <a:p>
                      <a:pPr algn="l">
                        <a:lnSpc>
                          <a:spcPct val="100000"/>
                        </a:lnSpc>
                      </a:pPr>
                      <a:r>
                        <a:rPr sz="1100" b="1">
                          <a:solidFill>
                            <a:srgbClr val="15171A"/>
                          </a:solidFill>
                          <a:latin typeface="Noto Sans KR"/>
                          <a:ea typeface="Noto Sans KR"/>
                          <a:cs typeface="Noto Sans KR"/>
                        </a:rPr>
                        <a:t>반사·증기·가림</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추적 실패·오파지</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다시점 센서, 신뢰도 기준, 접촉 기반 재확인</a:t>
                      </a:r>
                    </a:p>
                  </a:txBody>
                  <a:tcPr marL="73152" marR="73152" marT="77724" marB="77724" anchor="t">
                    <a:lnL w="0">
                      <a:noFill/>
                    </a:lnL>
                    <a:lnR w="0">
                      <a:noFill/>
                    </a:lnR>
                    <a:lnT w="0">
                      <a:noFill/>
                    </a:lnT>
                    <a:lnB w="9525">
                      <a:solidFill>
                        <a:srgbClr val="E2E4E7"/>
                      </a:solidFill>
                    </a:lnB>
                    <a:noFill/>
                  </a:tcPr>
                </a:tc>
              </a:tr>
              <a:tr h="366877">
                <a:tc>
                  <a:txBody>
                    <a:bodyPr wrap="square"/>
                    <a:lstStyle/>
                    <a:p>
                      <a:pPr algn="l">
                        <a:lnSpc>
                          <a:spcPct val="100000"/>
                        </a:lnSpc>
                      </a:pPr>
                      <a:r>
                        <a:rPr sz="1100" b="1">
                          <a:solidFill>
                            <a:srgbClr val="15171A"/>
                          </a:solidFill>
                          <a:latin typeface="Noto Sans KR"/>
                          <a:ea typeface="Noto Sans KR"/>
                          <a:cs typeface="Noto Sans KR"/>
                        </a:rPr>
                        <a:t>젖음·기름·열·세제</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미끄러짐·외피 열화·오염</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소재 시험·교체 기준·세척 접근성 검증</a:t>
                      </a:r>
                    </a:p>
                  </a:txBody>
                  <a:tcPr marL="73152" marR="73152" marT="77724" marB="77724" anchor="t">
                    <a:lnL w="0">
                      <a:noFill/>
                    </a:lnL>
                    <a:lnR w="0">
                      <a:noFill/>
                    </a:lnR>
                    <a:lnT w="0">
                      <a:noFill/>
                    </a:lnT>
                    <a:lnB w="9525">
                      <a:solidFill>
                        <a:srgbClr val="E2E4E7"/>
                      </a:solidFill>
                    </a:lnB>
                    <a:noFill/>
                  </a:tcPr>
                </a:tc>
              </a:tr>
              <a:tr h="569163">
                <a:tc>
                  <a:txBody>
                    <a:bodyPr wrap="square"/>
                    <a:lstStyle/>
                    <a:p>
                      <a:pPr algn="l">
                        <a:lnSpc>
                          <a:spcPct val="100000"/>
                        </a:lnSpc>
                      </a:pPr>
                      <a:r>
                        <a:rPr sz="1100" b="1">
                          <a:solidFill>
                            <a:srgbClr val="15171A"/>
                          </a:solidFill>
                          <a:latin typeface="Noto Sans KR"/>
                          <a:ea typeface="Noto Sans KR"/>
                          <a:cs typeface="Noto Sans KR"/>
                        </a:rPr>
                        <a:t>천장·역설치·정전</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낙하·파손·재료 유출</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구조 검토, 브레이크·낙하 방지, 작업별 안전 정지 상태 설계</a:t>
                      </a:r>
                    </a:p>
                  </a:txBody>
                  <a:tcPr marL="73152" marR="73152" marT="77724" marB="77724" anchor="t">
                    <a:lnL w="0">
                      <a:noFill/>
                    </a:lnL>
                    <a:lnR w="0">
                      <a:noFill/>
                    </a:lnR>
                    <a:lnT w="0">
                      <a:noFill/>
                    </a:lnT>
                    <a:lnB w="9525">
                      <a:solidFill>
                        <a:srgbClr val="E2E4E7"/>
                      </a:solidFill>
                    </a:lnB>
                    <a:noFill/>
                  </a:tcPr>
                </a:tc>
              </a:tr>
              <a:tr h="366877">
                <a:tc>
                  <a:txBody>
                    <a:bodyPr wrap="square"/>
                    <a:lstStyle/>
                    <a:p>
                      <a:pPr algn="l">
                        <a:lnSpc>
                          <a:spcPct val="100000"/>
                        </a:lnSpc>
                      </a:pPr>
                      <a:r>
                        <a:rPr sz="1100" b="1">
                          <a:solidFill>
                            <a:srgbClr val="15171A"/>
                          </a:solidFill>
                          <a:latin typeface="Noto Sans KR"/>
                          <a:ea typeface="Noto Sans KR"/>
                          <a:cs typeface="Noto Sans KR"/>
                        </a:rPr>
                        <a:t>칼·해머·튀김</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절상·충격·화상 위험</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차폐·접근 제한·독립 인터록 충족 후 기능 활성화</a:t>
                      </a:r>
                    </a:p>
                  </a:txBody>
                  <a:tcPr marL="73152" marR="73152" marT="77724" marB="77724" anchor="t">
                    <a:lnL w="0">
                      <a:noFill/>
                    </a:lnL>
                    <a:lnR w="0">
                      <a:noFill/>
                    </a:lnR>
                    <a:lnT w="0">
                      <a:noFill/>
                    </a:lnT>
                    <a:lnB w="9525">
                      <a:solidFill>
                        <a:srgbClr val="E2E4E7"/>
                      </a:solidFill>
                    </a:lnB>
                    <a:noFill/>
                  </a:tcPr>
                </a:tc>
              </a:tr>
              <a:tr h="569163">
                <a:tc>
                  <a:txBody>
                    <a:bodyPr wrap="square"/>
                    <a:lstStyle/>
                    <a:p>
                      <a:pPr algn="l">
                        <a:lnSpc>
                          <a:spcPct val="100000"/>
                        </a:lnSpc>
                      </a:pPr>
                      <a:r>
                        <a:rPr sz="1100" b="1">
                          <a:solidFill>
                            <a:srgbClr val="15171A"/>
                          </a:solidFill>
                          <a:latin typeface="Noto Sans KR"/>
                          <a:ea typeface="Noto Sans KR"/>
                          <a:cs typeface="Noto Sans KR"/>
                        </a:rPr>
                        <a:t>과도한 맞춤 개발</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낮은 마진·서비스 비용 증가</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승인 도구·메뉴, 주방 설치 표준화, 비표준 요청 별도 견적</a:t>
                      </a:r>
                    </a:p>
                  </a:txBody>
                  <a:tcPr marL="73152" marR="73152" marT="77724" marB="77724" anchor="t">
                    <a:lnL w="0">
                      <a:noFill/>
                    </a:lnL>
                    <a:lnR w="0">
                      <a:noFill/>
                    </a:lnR>
                    <a:lnT w="0">
                      <a:noFill/>
                    </a:lnT>
                    <a:lnB w="9525">
                      <a:solidFill>
                        <a:srgbClr val="E2E4E7"/>
                      </a:solidFill>
                    </a:lnB>
                    <a:noFill/>
                  </a:tcPr>
                </a:tc>
              </a:tr>
              <a:tr h="569163">
                <a:tc>
                  <a:txBody>
                    <a:bodyPr wrap="square"/>
                    <a:lstStyle/>
                    <a:p>
                      <a:pPr algn="l">
                        <a:lnSpc>
                          <a:spcPct val="100000"/>
                        </a:lnSpc>
                      </a:pPr>
                      <a:r>
                        <a:rPr sz="1100" b="1">
                          <a:solidFill>
                            <a:srgbClr val="15171A"/>
                          </a:solidFill>
                          <a:latin typeface="Noto Sans KR"/>
                          <a:ea typeface="Noto Sans KR"/>
                          <a:cs typeface="Noto Sans KR"/>
                        </a:rPr>
                        <a:t>긴 영업주기·후속 조달</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운전자금 부족</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실증 선수금·검수 기준 계약, 단계 채용, 후속 투자 조기 착수</a:t>
                      </a:r>
                    </a:p>
                  </a:txBody>
                  <a:tcPr marL="73152" marR="73152" marT="77724" marB="7772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5481523"/>
            <a:ext cx="7086600" cy="784555"/>
          </a:xfrm>
          <a:prstGeom prst="rect">
            <a:avLst/>
          </a:prstGeom>
          <a:solidFill>
            <a:srgbClr val="F4F5F6"/>
          </a:solidFill>
          <a:ln>
            <a:noFill/>
          </a:ln>
        </p:spPr>
        <p:txBody>
          <a:bodyPr rtlCol="0" anchor="ctr"/>
          <a:lstStyle/>
          <a:p>
            <a:pPr algn="ctr"/>
          </a:p>
        </p:txBody>
      </p:sp>
      <p:sp>
        <p:nvSpPr>
          <p:cNvPr id="7" name="TextBox 6"/>
          <p:cNvSpPr txBox="1"/>
          <p:nvPr/>
        </p:nvSpPr>
        <p:spPr>
          <a:xfrm>
            <a:off x="886968" y="5627827"/>
            <a:ext cx="6684264" cy="501091"/>
          </a:xfrm>
          <a:prstGeom prst="rect">
            <a:avLst/>
          </a:prstGeom>
          <a:noFill/>
        </p:spPr>
        <p:txBody>
          <a:bodyPr wrap="square" lIns="0" rIns="0" tIns="0" bIns="0" anchor="t">
            <a:spAutoFit/>
          </a:bodyPr>
          <a:lstStyle/>
          <a:p>
            <a:pPr algn="l">
              <a:lnSpc>
                <a:spcPct val="100000"/>
              </a:lnSpc>
              <a:spcAft>
                <a:spcPts val="400"/>
              </a:spcAft>
            </a:pPr>
            <a:r>
              <a:rPr sz="1100" b="1">
                <a:solidFill>
                  <a:srgbClr val="15171A"/>
                </a:solidFill>
                <a:latin typeface="Noto Sans KR"/>
                <a:ea typeface="Noto Sans KR"/>
                <a:cs typeface="Noto Sans KR"/>
              </a:rPr>
              <a:t>투자 가치의 핵심  </a:t>
            </a:r>
            <a:r>
              <a:rPr sz="1100" b="0">
                <a:solidFill>
                  <a:srgbClr val="4A4F57"/>
                </a:solidFill>
                <a:latin typeface="Noto Sans KR"/>
                <a:ea typeface="Noto Sans KR"/>
                <a:cs typeface="Noto Sans KR"/>
              </a:rPr>
              <a:t>승인된 도구와 작업 범위를 넓히면서 같은 핸드·제어 플랫폼을 반복 판매할 수 있는지</a:t>
            </a:r>
          </a:p>
          <a:p>
            <a:pPr algn="l">
              <a:lnSpc>
                <a:spcPct val="100000"/>
              </a:lnSpc>
            </a:pPr>
            <a:r>
              <a:rPr sz="1100" b="1">
                <a:solidFill>
                  <a:srgbClr val="15171A"/>
                </a:solidFill>
                <a:latin typeface="Noto Sans KR"/>
                <a:ea typeface="Noto Sans KR"/>
                <a:cs typeface="Noto Sans KR"/>
              </a:rPr>
              <a:t>실행 전략  </a:t>
            </a:r>
            <a:r>
              <a:rPr sz="1100" b="0">
                <a:solidFill>
                  <a:srgbClr val="4A4F57"/>
                </a:solidFill>
                <a:latin typeface="Noto Sans KR"/>
                <a:ea typeface="Noto Sans KR"/>
                <a:cs typeface="Noto Sans KR"/>
              </a:rPr>
              <a:t>제조용 모듈 매출과 주방용 시스템 확장을 단계적으로 연결</a:t>
            </a:r>
          </a:p>
        </p:txBody>
      </p:sp>
      <p:sp>
        <p:nvSpPr>
          <p:cNvPr id="8" name="TextBox 7"/>
          <p:cNvSpPr txBox="1"/>
          <p:nvPr/>
        </p:nvSpPr>
        <p:spPr>
          <a:xfrm>
            <a:off x="8183879" y="1463040"/>
            <a:ext cx="332201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투자 실사 전 확보할 증거</a:t>
            </a:r>
          </a:p>
        </p:txBody>
      </p:sp>
      <p:cxnSp>
        <p:nvCxnSpPr>
          <p:cNvPr id="9" name="Connector 8"/>
          <p:cNvCxnSpPr/>
          <p:nvPr/>
        </p:nvCxnSpPr>
        <p:spPr>
          <a:xfrm>
            <a:off x="8183879" y="1783080"/>
            <a:ext cx="3322016" cy="0"/>
          </a:xfrm>
          <a:prstGeom prst="line">
            <a:avLst/>
          </a:prstGeom>
          <a:ln w="12700">
            <a:solidFill>
              <a:srgbClr val="15171A"/>
            </a:solidFill>
          </a:ln>
        </p:spPr>
      </p:cxnSp>
      <p:sp>
        <p:nvSpPr>
          <p:cNvPr id="10" name="TextBox 9"/>
          <p:cNvSpPr txBox="1"/>
          <p:nvPr/>
        </p:nvSpPr>
        <p:spPr>
          <a:xfrm>
            <a:off x="8183879" y="1865376"/>
            <a:ext cx="3322015" cy="1768246"/>
          </a:xfrm>
          <a:prstGeom prst="rect">
            <a:avLst/>
          </a:prstGeom>
          <a:noFill/>
        </p:spPr>
        <p:txBody>
          <a:bodyPr wrap="square" lIns="0" rIns="0" tIns="0" bIns="0" anchor="t">
            <a:spAutoFit/>
          </a:bodyPr>
          <a:lstStyle/>
          <a:p>
            <a:pPr algn="l">
              <a:lnSpc>
                <a:spcPct val="100000"/>
              </a:lnSpc>
              <a:spcAft>
                <a:spcPts val="200"/>
              </a:spcAft>
            </a:pPr>
            <a:r>
              <a:rPr sz="1050" b="0">
                <a:solidFill>
                  <a:srgbClr val="4A4F57"/>
                </a:solidFill>
                <a:latin typeface="Noto Sans KR"/>
                <a:ea typeface="Noto Sans KR"/>
                <a:cs typeface="Noto Sans KR"/>
              </a:rPr>
              <a:t>① 법인·주주·핵심 인력 이력</a:t>
            </a:r>
          </a:p>
          <a:p>
            <a:pPr algn="l">
              <a:lnSpc>
                <a:spcPct val="100000"/>
              </a:lnSpc>
              <a:spcAft>
                <a:spcPts val="200"/>
              </a:spcAft>
            </a:pPr>
            <a:r>
              <a:rPr sz="1050" b="0">
                <a:solidFill>
                  <a:srgbClr val="4A4F57"/>
                </a:solidFill>
                <a:latin typeface="Noto Sans KR"/>
                <a:ea typeface="Noto Sans KR"/>
                <a:cs typeface="Noto Sans KR"/>
              </a:rPr>
              <a:t>② 기존 연구·특허의 소유권과 이전 가능성</a:t>
            </a:r>
          </a:p>
          <a:p>
            <a:pPr algn="l">
              <a:lnSpc>
                <a:spcPct val="100000"/>
              </a:lnSpc>
              <a:spcAft>
                <a:spcPts val="200"/>
              </a:spcAft>
            </a:pPr>
            <a:r>
              <a:rPr sz="1050" b="0">
                <a:solidFill>
                  <a:srgbClr val="4A4F57"/>
                </a:solidFill>
                <a:latin typeface="Noto Sans KR"/>
                <a:ea typeface="Noto Sans KR"/>
                <a:cs typeface="Noto Sans KR"/>
              </a:rPr>
              <a:t>③ 시제품 무편집 시험 영상과 원시 로그</a:t>
            </a:r>
          </a:p>
          <a:p>
            <a:pPr algn="l">
              <a:lnSpc>
                <a:spcPct val="100000"/>
              </a:lnSpc>
              <a:spcAft>
                <a:spcPts val="200"/>
              </a:spcAft>
            </a:pPr>
            <a:r>
              <a:rPr sz="1050" b="0">
                <a:solidFill>
                  <a:srgbClr val="4A4F57"/>
                </a:solidFill>
                <a:latin typeface="Noto Sans KR"/>
                <a:ea typeface="Noto Sans KR"/>
                <a:cs typeface="Noto Sans KR"/>
              </a:rPr>
              <a:t>④ BOM·공급사 견적·제조 수율</a:t>
            </a:r>
          </a:p>
          <a:p>
            <a:pPr algn="l">
              <a:lnSpc>
                <a:spcPct val="100000"/>
              </a:lnSpc>
              <a:spcAft>
                <a:spcPts val="200"/>
              </a:spcAft>
            </a:pPr>
            <a:r>
              <a:rPr sz="1050" b="0">
                <a:solidFill>
                  <a:srgbClr val="4A4F57"/>
                </a:solidFill>
                <a:latin typeface="Noto Sans KR"/>
                <a:ea typeface="Noto Sans KR"/>
                <a:cs typeface="Noto Sans KR"/>
              </a:rPr>
              <a:t>⑤ 유료 실증 계약과 고객 기준 성능</a:t>
            </a:r>
          </a:p>
          <a:p>
            <a:pPr algn="l">
              <a:lnSpc>
                <a:spcPct val="100000"/>
              </a:lnSpc>
              <a:spcAft>
                <a:spcPts val="200"/>
              </a:spcAft>
            </a:pPr>
            <a:r>
              <a:rPr sz="1050" b="0">
                <a:solidFill>
                  <a:srgbClr val="4A4F57"/>
                </a:solidFill>
                <a:latin typeface="Noto Sans KR"/>
                <a:ea typeface="Noto Sans KR"/>
                <a:cs typeface="Noto Sans KR"/>
              </a:rPr>
              <a:t>⑥ 월별 현금흐름·후속 투자 계획</a:t>
            </a:r>
          </a:p>
          <a:p>
            <a:pPr algn="l">
              <a:lnSpc>
                <a:spcPct val="100000"/>
              </a:lnSpc>
              <a:spcAft>
                <a:spcPts val="200"/>
              </a:spcAft>
            </a:pPr>
            <a:r>
              <a:rPr sz="1050" b="0">
                <a:solidFill>
                  <a:srgbClr val="4A4F57"/>
                </a:solidFill>
                <a:latin typeface="Noto Sans KR"/>
                <a:ea typeface="Noto Sans KR"/>
                <a:cs typeface="Noto Sans KR"/>
              </a:rPr>
              <a:t>⑦ 시험·인증 범위와 견적</a:t>
            </a:r>
          </a:p>
          <a:p>
            <a:pPr algn="l">
              <a:lnSpc>
                <a:spcPct val="100000"/>
              </a:lnSpc>
            </a:pPr>
            <a:r>
              <a:rPr sz="1050" b="0">
                <a:solidFill>
                  <a:srgbClr val="4A4F57"/>
                </a:solidFill>
                <a:latin typeface="Noto Sans KR"/>
                <a:ea typeface="Noto Sans KR"/>
                <a:cs typeface="Noto Sans KR"/>
              </a:rPr>
              <a:t>⑧ 고객의 실제 운영비·절감시간</a:t>
            </a:r>
          </a:p>
        </p:txBody>
      </p:sp>
      <p:sp>
        <p:nvSpPr>
          <p:cNvPr id="11" name="TextBox 10"/>
          <p:cNvSpPr txBox="1"/>
          <p:nvPr/>
        </p:nvSpPr>
        <p:spPr>
          <a:xfrm>
            <a:off x="8183879" y="3706774"/>
            <a:ext cx="3322015" cy="27432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현재 상태: 확보된 자료 없음 </a:t>
            </a:r>
            <a:r>
              <a:rPr sz="1050" b="0">
                <a:solidFill>
                  <a:srgbClr val="E2571B"/>
                </a:solidFill>
                <a:latin typeface="Noto Sans KR"/>
                <a:ea typeface="Noto Sans KR"/>
                <a:cs typeface="Noto Sans KR"/>
              </a:rPr>
              <a:t>[확보 시 입력]</a:t>
            </a:r>
          </a:p>
        </p:txBody>
      </p:sp>
      <p:sp>
        <p:nvSpPr>
          <p:cNvPr id="12" name="TextBox 11"/>
          <p:cNvSpPr txBox="1"/>
          <p:nvPr/>
        </p:nvSpPr>
        <p:spPr>
          <a:xfrm>
            <a:off x="8183879" y="4136542"/>
            <a:ext cx="332201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안전·위생 검토 범위</a:t>
            </a:r>
          </a:p>
        </p:txBody>
      </p:sp>
      <p:cxnSp>
        <p:nvCxnSpPr>
          <p:cNvPr id="13" name="Connector 12"/>
          <p:cNvCxnSpPr/>
          <p:nvPr/>
        </p:nvCxnSpPr>
        <p:spPr>
          <a:xfrm>
            <a:off x="8183879" y="4456582"/>
            <a:ext cx="3322016" cy="0"/>
          </a:xfrm>
          <a:prstGeom prst="line">
            <a:avLst/>
          </a:prstGeom>
          <a:ln w="12700">
            <a:solidFill>
              <a:srgbClr val="15171A"/>
            </a:solidFill>
          </a:ln>
        </p:spPr>
      </p:cxnSp>
      <p:sp>
        <p:nvSpPr>
          <p:cNvPr id="14" name="TextBox 13"/>
          <p:cNvSpPr txBox="1"/>
          <p:nvPr/>
        </p:nvSpPr>
        <p:spPr>
          <a:xfrm>
            <a:off x="8183879" y="4538878"/>
            <a:ext cx="3322015" cy="843483"/>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050" b="0">
                <a:solidFill>
                  <a:srgbClr val="4A4F57"/>
                </a:solidFill>
                <a:latin typeface="Noto Sans KR"/>
                <a:ea typeface="Noto Sans KR"/>
                <a:cs typeface="Noto Sans KR"/>
              </a:rPr>
              <a:t>ISO 10218-2:2025(로봇 응용·셀 안전) 기준</a:t>
            </a:r>
            <a:br/>
            <a:r>
              <a:rPr sz="1050" b="0">
                <a:solidFill>
                  <a:srgbClr val="4A4F57"/>
                </a:solidFill>
                <a:latin typeface="Noto Sans KR"/>
                <a:ea typeface="Noto Sans KR"/>
                <a:cs typeface="Noto Sans KR"/>
              </a:rPr>
              <a:t>고온 도구·칼·중량물·이동축 통합 위험 평가</a:t>
            </a:r>
          </a:p>
          <a:p>
            <a:pPr algn="l" marL="164592" indent="-164592">
              <a:lnSpc>
                <a:spcPct val="100000"/>
              </a:lnSpc>
              <a:buClr>
                <a:srgbClr val="8C9198"/>
              </a:buClr>
              <a:buFont typeface="Noto Sans KR"/>
              <a:buChar char="•"/>
            </a:pPr>
            <a:r>
              <a:rPr sz="1050" b="0">
                <a:solidFill>
                  <a:srgbClr val="4A4F57"/>
                </a:solidFill>
                <a:latin typeface="Noto Sans KR"/>
                <a:ea typeface="Noto Sans KR"/>
                <a:cs typeface="Noto Sans KR"/>
              </a:rPr>
              <a:t>IP 등급 ≠ 식품 위생 적합성</a:t>
            </a:r>
            <a:br/>
            <a:r>
              <a:rPr sz="1050" b="0">
                <a:solidFill>
                  <a:srgbClr val="4A4F57"/>
                </a:solidFill>
                <a:latin typeface="Noto Sans KR"/>
                <a:ea typeface="Noto Sans KR"/>
                <a:cs typeface="Noto Sans KR"/>
              </a:rPr>
              <a:t>식품접촉 재질·세척 잔류물·미생물 별도 검증</a:t>
            </a:r>
          </a:p>
        </p:txBody>
      </p:sp>
      <p:sp>
        <p:nvSpPr>
          <p:cNvPr id="15" name="TextBox 1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6" name="TextBox 15"/>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제품 검증 전 인증 취득·규제 적합을 주장하지 않음 · 가정용 주방 적용 기준은 시험기관과 별도 결정 · 상세 부록 A14</a:t>
            </a:r>
          </a:p>
        </p:txBody>
      </p:sp>
      <p:sp>
        <p:nvSpPr>
          <p:cNvPr id="17" name="TextBox 1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38912"/>
            <a:ext cx="548640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16   투자 제안</a:t>
            </a:r>
          </a:p>
        </p:txBody>
      </p:sp>
      <p:sp>
        <p:nvSpPr>
          <p:cNvPr id="3" name="TextBox 2"/>
          <p:cNvSpPr txBox="1"/>
          <p:nvPr/>
        </p:nvSpPr>
        <p:spPr>
          <a:xfrm>
            <a:off x="685800" y="713232"/>
            <a:ext cx="10820095"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Seed 20억 원으로 24개월 내 제품 성능과 유료 고객 경제성 입증</a:t>
            </a:r>
          </a:p>
        </p:txBody>
      </p:sp>
      <p:cxnSp>
        <p:nvCxnSpPr>
          <p:cNvPr id="4" name="Connector 3"/>
          <p:cNvCxnSpPr/>
          <p:nvPr/>
        </p:nvCxnSpPr>
        <p:spPr>
          <a:xfrm>
            <a:off x="685800" y="1243584"/>
            <a:ext cx="10820095" cy="0"/>
          </a:xfrm>
          <a:prstGeom prst="line">
            <a:avLst/>
          </a:prstGeom>
          <a:ln w="12700">
            <a:solidFill>
              <a:srgbClr val="15171A"/>
            </a:solidFill>
          </a:ln>
        </p:spPr>
      </p:cxnSp>
      <p:sp>
        <p:nvSpPr>
          <p:cNvPr id="5" name="TextBox 4"/>
          <p:cNvSpPr txBox="1"/>
          <p:nvPr/>
        </p:nvSpPr>
        <p:spPr>
          <a:xfrm>
            <a:off x="685800" y="1463040"/>
            <a:ext cx="3840480"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투자 조건</a:t>
            </a:r>
          </a:p>
        </p:txBody>
      </p:sp>
      <p:cxnSp>
        <p:nvCxnSpPr>
          <p:cNvPr id="6" name="Connector 5"/>
          <p:cNvCxnSpPr/>
          <p:nvPr/>
        </p:nvCxnSpPr>
        <p:spPr>
          <a:xfrm>
            <a:off x="685800" y="1810512"/>
            <a:ext cx="3840480" cy="0"/>
          </a:xfrm>
          <a:prstGeom prst="line">
            <a:avLst/>
          </a:prstGeom>
          <a:ln w="12700">
            <a:solidFill>
              <a:srgbClr val="15171A"/>
            </a:solidFill>
          </a:ln>
        </p:spPr>
      </p:cxnSp>
      <p:graphicFrame>
        <p:nvGraphicFramePr>
          <p:cNvPr id="7" name="Table 6"/>
          <p:cNvGraphicFramePr>
            <a:graphicFrameLocks noGrp="1"/>
          </p:cNvGraphicFramePr>
          <p:nvPr/>
        </p:nvGraphicFramePr>
        <p:xfrm>
          <a:off x="685800" y="1810512"/>
          <a:ext cx="3840480" cy="2036670"/>
        </p:xfrm>
        <a:graphic>
          <a:graphicData uri="http://schemas.openxmlformats.org/drawingml/2006/table">
            <a:tbl>
              <a:tblPr firstRow="0" bandRow="0">
                <a:tableStyleId>{2D5ABB26-0587-4C30-8999-92F81FD0307C}</a:tableStyleId>
              </a:tblPr>
              <a:tblGrid>
                <a:gridCol w="1325880"/>
                <a:gridCol w="2514600"/>
              </a:tblGrid>
              <a:tr h="339445">
                <a:tc>
                  <a:txBody>
                    <a:bodyPr wrap="square"/>
                    <a:lstStyle/>
                    <a:p>
                      <a:pPr algn="l">
                        <a:lnSpc>
                          <a:spcPct val="100000"/>
                        </a:lnSpc>
                      </a:pPr>
                      <a:r>
                        <a:rPr sz="1100" b="1">
                          <a:solidFill>
                            <a:srgbClr val="15171A"/>
                          </a:solidFill>
                          <a:latin typeface="Noto Sans KR"/>
                          <a:ea typeface="Noto Sans KR"/>
                          <a:cs typeface="Noto Sans KR"/>
                        </a:rPr>
                        <a:t>투자 금액</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1">
                          <a:solidFill>
                            <a:srgbClr val="E2571B"/>
                          </a:solidFill>
                          <a:latin typeface="Noto Sans KR"/>
                          <a:ea typeface="Noto Sans KR"/>
                          <a:cs typeface="Noto Sans KR"/>
                        </a:rPr>
                        <a:t>20억 원 (Seed)</a:t>
                      </a:r>
                    </a:p>
                  </a:txBody>
                  <a:tcPr marL="73152" marR="73152" marT="64008" marB="64008" anchor="t">
                    <a:lnL w="0">
                      <a:noFill/>
                    </a:lnL>
                    <a:lnR w="0">
                      <a:noFill/>
                    </a:lnR>
                    <a:lnT w="0">
                      <a:noFill/>
                    </a:lnT>
                    <a:lnB w="9525">
                      <a:solidFill>
                        <a:srgbClr val="E2E4E7"/>
                      </a:solidFill>
                    </a:lnB>
                    <a:noFill/>
                  </a:tcPr>
                </a:tc>
              </a:tr>
              <a:tr h="339445">
                <a:tc>
                  <a:txBody>
                    <a:bodyPr wrap="square"/>
                    <a:lstStyle/>
                    <a:p>
                      <a:pPr algn="l">
                        <a:lnSpc>
                          <a:spcPct val="100000"/>
                        </a:lnSpc>
                      </a:pPr>
                      <a:r>
                        <a:rPr sz="1100" b="1">
                          <a:solidFill>
                            <a:srgbClr val="15171A"/>
                          </a:solidFill>
                          <a:latin typeface="Noto Sans KR"/>
                          <a:ea typeface="Noto Sans KR"/>
                          <a:cs typeface="Noto Sans KR"/>
                        </a:rPr>
                        <a:t>투자 형태</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[보통주·상환전환우선주 등 입력 필요]</a:t>
                      </a:r>
                    </a:p>
                  </a:txBody>
                  <a:tcPr marL="73152" marR="73152" marT="64008" marB="64008" anchor="t">
                    <a:lnL w="0">
                      <a:noFill/>
                    </a:lnL>
                    <a:lnR w="0">
                      <a:noFill/>
                    </a:lnR>
                    <a:lnT w="0">
                      <a:noFill/>
                    </a:lnT>
                    <a:lnB w="9525">
                      <a:solidFill>
                        <a:srgbClr val="E2E4E7"/>
                      </a:solidFill>
                    </a:lnB>
                    <a:noFill/>
                  </a:tcPr>
                </a:tc>
              </a:tr>
              <a:tr h="339445">
                <a:tc>
                  <a:txBody>
                    <a:bodyPr wrap="square"/>
                    <a:lstStyle/>
                    <a:p>
                      <a:pPr algn="l">
                        <a:lnSpc>
                          <a:spcPct val="100000"/>
                        </a:lnSpc>
                      </a:pPr>
                      <a:r>
                        <a:rPr sz="1100" b="1">
                          <a:solidFill>
                            <a:srgbClr val="15171A"/>
                          </a:solidFill>
                          <a:latin typeface="Noto Sans KR"/>
                          <a:ea typeface="Noto Sans KR"/>
                          <a:cs typeface="Noto Sans KR"/>
                        </a:rPr>
                        <a:t>기업가치·지분율</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협의 </a:t>
                      </a:r>
                      <a:r>
                        <a:rPr sz="1100" b="0">
                          <a:solidFill>
                            <a:srgbClr val="E2571B"/>
                          </a:solidFill>
                          <a:latin typeface="Noto Sans KR"/>
                          <a:ea typeface="Noto Sans KR"/>
                          <a:cs typeface="Noto Sans KR"/>
                        </a:rPr>
                        <a:t>[입력 필요]</a:t>
                      </a:r>
                    </a:p>
                  </a:txBody>
                  <a:tcPr marL="73152" marR="73152" marT="64008" marB="64008" anchor="t">
                    <a:lnL w="0">
                      <a:noFill/>
                    </a:lnL>
                    <a:lnR w="0">
                      <a:noFill/>
                    </a:lnR>
                    <a:lnT w="0">
                      <a:noFill/>
                    </a:lnT>
                    <a:lnB w="9525">
                      <a:solidFill>
                        <a:srgbClr val="E2E4E7"/>
                      </a:solidFill>
                    </a:lnB>
                    <a:noFill/>
                  </a:tcPr>
                </a:tc>
              </a:tr>
              <a:tr h="339445">
                <a:tc>
                  <a:txBody>
                    <a:bodyPr wrap="square"/>
                    <a:lstStyle/>
                    <a:p>
                      <a:pPr algn="l">
                        <a:lnSpc>
                          <a:spcPct val="100000"/>
                        </a:lnSpc>
                      </a:pPr>
                      <a:r>
                        <a:rPr sz="1100" b="1">
                          <a:solidFill>
                            <a:srgbClr val="15171A"/>
                          </a:solidFill>
                          <a:latin typeface="Noto Sans KR"/>
                          <a:ea typeface="Noto Sans KR"/>
                          <a:cs typeface="Noto Sans KR"/>
                        </a:rPr>
                        <a:t>자금 사용 기간</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24개월 (개발·유료 실증)</a:t>
                      </a:r>
                    </a:p>
                  </a:txBody>
                  <a:tcPr marL="73152" marR="73152" marT="64008" marB="64008" anchor="t">
                    <a:lnL w="0">
                      <a:noFill/>
                    </a:lnL>
                    <a:lnR w="0">
                      <a:noFill/>
                    </a:lnR>
                    <a:lnT w="0">
                      <a:noFill/>
                    </a:lnT>
                    <a:lnB w="9525">
                      <a:solidFill>
                        <a:srgbClr val="E2E4E7"/>
                      </a:solidFill>
                    </a:lnB>
                    <a:noFill/>
                  </a:tcPr>
                </a:tc>
              </a:tr>
              <a:tr h="339445">
                <a:tc>
                  <a:txBody>
                    <a:bodyPr wrap="square"/>
                    <a:lstStyle/>
                    <a:p>
                      <a:pPr algn="l">
                        <a:lnSpc>
                          <a:spcPct val="100000"/>
                        </a:lnSpc>
                      </a:pPr>
                      <a:r>
                        <a:rPr sz="1100" b="1">
                          <a:solidFill>
                            <a:srgbClr val="15171A"/>
                          </a:solidFill>
                          <a:latin typeface="Noto Sans KR"/>
                          <a:ea typeface="Noto Sans KR"/>
                          <a:cs typeface="Noto Sans KR"/>
                        </a:rPr>
                        <a:t>라운드 현황</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E2571B"/>
                          </a:solidFill>
                          <a:latin typeface="Noto Sans KR"/>
                          <a:ea typeface="Noto Sans KR"/>
                          <a:cs typeface="Noto Sans KR"/>
                        </a:rPr>
                        <a:t>[참여 투자자·진행 상황 입력 필요]</a:t>
                      </a:r>
                    </a:p>
                  </a:txBody>
                  <a:tcPr marL="73152" marR="73152" marT="64008" marB="64008" anchor="t">
                    <a:lnL w="0">
                      <a:noFill/>
                    </a:lnL>
                    <a:lnR w="0">
                      <a:noFill/>
                    </a:lnR>
                    <a:lnT w="0">
                      <a:noFill/>
                    </a:lnT>
                    <a:lnB w="9525">
                      <a:solidFill>
                        <a:srgbClr val="E2E4E7"/>
                      </a:solidFill>
                    </a:lnB>
                    <a:noFill/>
                  </a:tcPr>
                </a:tc>
              </a:tr>
              <a:tr h="339445">
                <a:tc>
                  <a:txBody>
                    <a:bodyPr wrap="square"/>
                    <a:lstStyle/>
                    <a:p>
                      <a:pPr algn="l">
                        <a:lnSpc>
                          <a:spcPct val="100000"/>
                        </a:lnSpc>
                      </a:pPr>
                      <a:r>
                        <a:rPr sz="1100" b="1">
                          <a:solidFill>
                            <a:srgbClr val="15171A"/>
                          </a:solidFill>
                          <a:latin typeface="Noto Sans KR"/>
                          <a:ea typeface="Noto Sans KR"/>
                          <a:cs typeface="Noto Sans KR"/>
                        </a:rPr>
                        <a:t>후속 투자</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18~24개월 착수, 규모 </a:t>
                      </a:r>
                      <a:r>
                        <a:rPr sz="1100" b="0">
                          <a:solidFill>
                            <a:srgbClr val="E2571B"/>
                          </a:solidFill>
                          <a:latin typeface="Noto Sans KR"/>
                          <a:ea typeface="Noto Sans KR"/>
                          <a:cs typeface="Noto Sans KR"/>
                        </a:rPr>
                        <a:t>[입력 필요]</a:t>
                      </a:r>
                    </a:p>
                  </a:txBody>
                  <a:tcPr marL="73152" marR="73152" marT="64008" marB="64008" anchor="t">
                    <a:lnL w="0">
                      <a:noFill/>
                    </a:lnL>
                    <a:lnR w="0">
                      <a:noFill/>
                    </a:lnR>
                    <a:lnT w="0">
                      <a:noFill/>
                    </a:lnT>
                    <a:lnB w="9525">
                      <a:solidFill>
                        <a:srgbClr val="E2E4E7"/>
                      </a:solidFill>
                    </a:lnB>
                    <a:noFill/>
                  </a:tcPr>
                </a:tc>
              </a:tr>
            </a:tbl>
          </a:graphicData>
        </a:graphic>
      </p:graphicFrame>
      <p:sp>
        <p:nvSpPr>
          <p:cNvPr id="8" name="TextBox 7"/>
          <p:cNvSpPr txBox="1"/>
          <p:nvPr/>
        </p:nvSpPr>
        <p:spPr>
          <a:xfrm>
            <a:off x="4937760" y="1463040"/>
            <a:ext cx="3566160" cy="25603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24개월 목표 (검증 지표)</a:t>
            </a:r>
          </a:p>
        </p:txBody>
      </p:sp>
      <p:cxnSp>
        <p:nvCxnSpPr>
          <p:cNvPr id="9" name="Connector 8"/>
          <p:cNvCxnSpPr/>
          <p:nvPr/>
        </p:nvCxnSpPr>
        <p:spPr>
          <a:xfrm>
            <a:off x="4937760" y="1810512"/>
            <a:ext cx="3566160" cy="0"/>
          </a:xfrm>
          <a:prstGeom prst="line">
            <a:avLst/>
          </a:prstGeom>
          <a:ln w="12700">
            <a:solidFill>
              <a:srgbClr val="15171A"/>
            </a:solidFill>
          </a:ln>
        </p:spPr>
      </p:cxnSp>
      <p:graphicFrame>
        <p:nvGraphicFramePr>
          <p:cNvPr id="10" name="Table 9"/>
          <p:cNvGraphicFramePr>
            <a:graphicFrameLocks noGrp="1"/>
          </p:cNvGraphicFramePr>
          <p:nvPr/>
        </p:nvGraphicFramePr>
        <p:xfrm>
          <a:off x="4937760" y="1810512"/>
          <a:ext cx="3566160" cy="2248099"/>
        </p:xfrm>
        <a:graphic>
          <a:graphicData uri="http://schemas.openxmlformats.org/drawingml/2006/table">
            <a:tbl>
              <a:tblPr firstRow="0" bandRow="0">
                <a:tableStyleId>{2D5ABB26-0587-4C30-8999-92F81FD0307C}</a:tableStyleId>
              </a:tblPr>
              <a:tblGrid>
                <a:gridCol w="1828800"/>
                <a:gridCol w="1737360"/>
              </a:tblGrid>
              <a:tr h="321157">
                <a:tc>
                  <a:txBody>
                    <a:bodyPr wrap="square"/>
                    <a:lstStyle/>
                    <a:p>
                      <a:pPr algn="l">
                        <a:lnSpc>
                          <a:spcPct val="100000"/>
                        </a:lnSpc>
                      </a:pPr>
                      <a:r>
                        <a:rPr sz="1100" b="0">
                          <a:solidFill>
                            <a:srgbClr val="15171A"/>
                          </a:solidFill>
                          <a:latin typeface="Noto Sans KR"/>
                          <a:ea typeface="Noto Sans KR"/>
                          <a:cs typeface="Noto Sans KR"/>
                        </a:rPr>
                        <a:t>4지 핸드</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제품 검증</a:t>
                      </a:r>
                    </a:p>
                  </a:txBody>
                  <a:tcPr marL="73152" marR="73152" marT="54864" marB="54864" anchor="t">
                    <a:lnL w="0">
                      <a:noFill/>
                    </a:lnL>
                    <a:lnR w="0">
                      <a:noFill/>
                    </a:lnR>
                    <a:lnT w="0">
                      <a:noFill/>
                    </a:lnT>
                    <a:lnB w="9525">
                      <a:solidFill>
                        <a:srgbClr val="E2E4E7"/>
                      </a:solidFill>
                    </a:lnB>
                    <a:noFill/>
                  </a:tcPr>
                </a:tc>
              </a:tr>
              <a:tr h="321157">
                <a:tc>
                  <a:txBody>
                    <a:bodyPr wrap="square"/>
                    <a:lstStyle/>
                    <a:p>
                      <a:pPr algn="l">
                        <a:lnSpc>
                          <a:spcPct val="100000"/>
                        </a:lnSpc>
                      </a:pPr>
                      <a:r>
                        <a:rPr sz="1100" b="0">
                          <a:solidFill>
                            <a:srgbClr val="15171A"/>
                          </a:solidFill>
                          <a:latin typeface="Noto Sans KR"/>
                          <a:ea typeface="Noto Sans KR"/>
                          <a:cs typeface="Noto Sans KR"/>
                        </a:rPr>
                        <a:t>5지 핸드</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알파 시제품</a:t>
                      </a:r>
                    </a:p>
                  </a:txBody>
                  <a:tcPr marL="73152" marR="73152" marT="54864" marB="54864" anchor="t">
                    <a:lnL w="0">
                      <a:noFill/>
                    </a:lnL>
                    <a:lnR w="0">
                      <a:noFill/>
                    </a:lnR>
                    <a:lnT w="0">
                      <a:noFill/>
                    </a:lnT>
                    <a:lnB w="9525">
                      <a:solidFill>
                        <a:srgbClr val="E2E4E7"/>
                      </a:solidFill>
                    </a:lnB>
                    <a:noFill/>
                  </a:tcPr>
                </a:tc>
              </a:tr>
              <a:tr h="321157">
                <a:tc>
                  <a:txBody>
                    <a:bodyPr wrap="square"/>
                    <a:lstStyle/>
                    <a:p>
                      <a:pPr algn="l">
                        <a:lnSpc>
                          <a:spcPct val="100000"/>
                        </a:lnSpc>
                      </a:pPr>
                      <a:r>
                        <a:rPr sz="1100" b="0">
                          <a:solidFill>
                            <a:srgbClr val="15171A"/>
                          </a:solidFill>
                          <a:latin typeface="Noto Sans KR"/>
                          <a:ea typeface="Noto Sans KR"/>
                          <a:cs typeface="Noto Sans KR"/>
                        </a:rPr>
                        <a:t>로봇 주방</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제한 메뉴 3종 실증</a:t>
                      </a:r>
                    </a:p>
                  </a:txBody>
                  <a:tcPr marL="73152" marR="73152" marT="54864" marB="54864" anchor="t">
                    <a:lnL w="0">
                      <a:noFill/>
                    </a:lnL>
                    <a:lnR w="0">
                      <a:noFill/>
                    </a:lnR>
                    <a:lnT w="0">
                      <a:noFill/>
                    </a:lnT>
                    <a:lnB w="9525">
                      <a:solidFill>
                        <a:srgbClr val="E2E4E7"/>
                      </a:solidFill>
                    </a:lnB>
                    <a:noFill/>
                  </a:tcPr>
                </a:tc>
              </a:tr>
              <a:tr h="321157">
                <a:tc>
                  <a:txBody>
                    <a:bodyPr wrap="square"/>
                    <a:lstStyle/>
                    <a:p>
                      <a:pPr algn="l">
                        <a:lnSpc>
                          <a:spcPct val="100000"/>
                        </a:lnSpc>
                      </a:pPr>
                      <a:r>
                        <a:rPr sz="1100" b="0">
                          <a:solidFill>
                            <a:srgbClr val="15171A"/>
                          </a:solidFill>
                          <a:latin typeface="Noto Sans KR"/>
                          <a:ea typeface="Noto Sans KR"/>
                          <a:cs typeface="Noto Sans KR"/>
                        </a:rPr>
                        <a:t>유료 실증</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누적 5건</a:t>
                      </a:r>
                    </a:p>
                  </a:txBody>
                  <a:tcPr marL="73152" marR="73152" marT="54864" marB="54864" anchor="t">
                    <a:lnL w="0">
                      <a:noFill/>
                    </a:lnL>
                    <a:lnR w="0">
                      <a:noFill/>
                    </a:lnR>
                    <a:lnT w="0">
                      <a:noFill/>
                    </a:lnT>
                    <a:lnB w="9525">
                      <a:solidFill>
                        <a:srgbClr val="E2E4E7"/>
                      </a:solidFill>
                    </a:lnB>
                    <a:noFill/>
                  </a:tcPr>
                </a:tc>
              </a:tr>
              <a:tr h="321157">
                <a:tc>
                  <a:txBody>
                    <a:bodyPr wrap="square"/>
                    <a:lstStyle/>
                    <a:p>
                      <a:pPr algn="l">
                        <a:lnSpc>
                          <a:spcPct val="100000"/>
                        </a:lnSpc>
                      </a:pPr>
                      <a:r>
                        <a:rPr sz="1100" b="0">
                          <a:solidFill>
                            <a:srgbClr val="15171A"/>
                          </a:solidFill>
                          <a:latin typeface="Noto Sans KR"/>
                          <a:ea typeface="Noto Sans KR"/>
                          <a:cs typeface="Noto Sans KR"/>
                        </a:rPr>
                        <a:t>반복 발주 고객</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2곳</a:t>
                      </a:r>
                    </a:p>
                  </a:txBody>
                  <a:tcPr marL="73152" marR="73152" marT="54864" marB="54864" anchor="t">
                    <a:lnL w="0">
                      <a:noFill/>
                    </a:lnL>
                    <a:lnR w="0">
                      <a:noFill/>
                    </a:lnR>
                    <a:lnT w="0">
                      <a:noFill/>
                    </a:lnT>
                    <a:lnB w="9525">
                      <a:solidFill>
                        <a:srgbClr val="E2E4E7"/>
                      </a:solidFill>
                    </a:lnB>
                    <a:noFill/>
                  </a:tcPr>
                </a:tc>
              </a:tr>
              <a:tr h="321157">
                <a:tc>
                  <a:txBody>
                    <a:bodyPr wrap="square"/>
                    <a:lstStyle/>
                    <a:p>
                      <a:pPr algn="l">
                        <a:lnSpc>
                          <a:spcPct val="100000"/>
                        </a:lnSpc>
                      </a:pPr>
                      <a:r>
                        <a:rPr sz="1100" b="0">
                          <a:solidFill>
                            <a:srgbClr val="15171A"/>
                          </a:solidFill>
                          <a:latin typeface="Noto Sans KR"/>
                          <a:ea typeface="Noto Sans KR"/>
                          <a:cs typeface="Noto Sans KR"/>
                        </a:rPr>
                        <a:t>정적 파지</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30종, 98% 이상</a:t>
                      </a:r>
                    </a:p>
                  </a:txBody>
                  <a:tcPr marL="73152" marR="73152" marT="54864" marB="54864" anchor="t">
                    <a:lnL w="0">
                      <a:noFill/>
                    </a:lnL>
                    <a:lnR w="0">
                      <a:noFill/>
                    </a:lnR>
                    <a:lnT w="0">
                      <a:noFill/>
                    </a:lnT>
                    <a:lnB w="9525">
                      <a:solidFill>
                        <a:srgbClr val="E2E4E7"/>
                      </a:solidFill>
                    </a:lnB>
                    <a:noFill/>
                  </a:tcPr>
                </a:tc>
              </a:tr>
              <a:tr h="321157">
                <a:tc>
                  <a:txBody>
                    <a:bodyPr wrap="square"/>
                    <a:lstStyle/>
                    <a:p>
                      <a:pPr algn="l">
                        <a:lnSpc>
                          <a:spcPct val="100000"/>
                        </a:lnSpc>
                      </a:pPr>
                      <a:r>
                        <a:rPr sz="1100" b="0">
                          <a:solidFill>
                            <a:srgbClr val="15171A"/>
                          </a:solidFill>
                          <a:latin typeface="Noto Sans KR"/>
                          <a:ea typeface="Noto Sans KR"/>
                          <a:cs typeface="Noto Sans KR"/>
                        </a:rPr>
                        <a:t>사람 개입시간</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30% 이상 감소</a:t>
                      </a:r>
                    </a:p>
                  </a:txBody>
                  <a:tcPr marL="73152" marR="73152" marT="54864" marB="54864" anchor="t">
                    <a:lnL w="0">
                      <a:noFill/>
                    </a:lnL>
                    <a:lnR w="0">
                      <a:noFill/>
                    </a:lnR>
                    <a:lnT w="0">
                      <a:noFill/>
                    </a:lnT>
                    <a:lnB w="9525">
                      <a:solidFill>
                        <a:srgbClr val="E2E4E7"/>
                      </a:solidFill>
                    </a:lnB>
                    <a:noFill/>
                  </a:tcPr>
                </a:tc>
              </a:tr>
            </a:tbl>
          </a:graphicData>
        </a:graphic>
      </p:graphicFrame>
      <p:sp>
        <p:nvSpPr>
          <p:cNvPr id="11" name="TextBox 10"/>
          <p:cNvSpPr txBox="1"/>
          <p:nvPr/>
        </p:nvSpPr>
        <p:spPr>
          <a:xfrm>
            <a:off x="8915400" y="1463040"/>
            <a:ext cx="259049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후속 투자 조건</a:t>
            </a:r>
          </a:p>
        </p:txBody>
      </p:sp>
      <p:cxnSp>
        <p:nvCxnSpPr>
          <p:cNvPr id="12" name="Connector 11"/>
          <p:cNvCxnSpPr/>
          <p:nvPr/>
        </p:nvCxnSpPr>
        <p:spPr>
          <a:xfrm>
            <a:off x="8915400" y="1783080"/>
            <a:ext cx="2590495" cy="0"/>
          </a:xfrm>
          <a:prstGeom prst="line">
            <a:avLst/>
          </a:prstGeom>
          <a:ln w="12700">
            <a:solidFill>
              <a:srgbClr val="15171A"/>
            </a:solidFill>
          </a:ln>
        </p:spPr>
      </p:cxnSp>
      <p:sp>
        <p:nvSpPr>
          <p:cNvPr id="13" name="TextBox 12"/>
          <p:cNvSpPr txBox="1"/>
          <p:nvPr/>
        </p:nvSpPr>
        <p:spPr>
          <a:xfrm>
            <a:off x="8915400" y="1865376"/>
            <a:ext cx="2590495" cy="450291"/>
          </a:xfrm>
          <a:prstGeom prst="rect">
            <a:avLst/>
          </a:prstGeom>
          <a:noFill/>
        </p:spPr>
        <p:txBody>
          <a:bodyPr wrap="square" lIns="0" rIns="0" tIns="0" bIns="0" anchor="t">
            <a:spAutoFit/>
          </a:bodyPr>
          <a:lstStyle/>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성능 시험·고객 경제성·반복 발주 확인 후 양산·주방 상품화 자금 조달</a:t>
            </a:r>
          </a:p>
        </p:txBody>
      </p:sp>
      <p:sp>
        <p:nvSpPr>
          <p:cNvPr id="14" name="TextBox 13"/>
          <p:cNvSpPr txBox="1"/>
          <p:nvPr/>
        </p:nvSpPr>
        <p:spPr>
          <a:xfrm>
            <a:off x="8915400" y="2498547"/>
            <a:ext cx="259049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투자 판단의 핵심</a:t>
            </a:r>
          </a:p>
        </p:txBody>
      </p:sp>
      <p:cxnSp>
        <p:nvCxnSpPr>
          <p:cNvPr id="15" name="Connector 14"/>
          <p:cNvCxnSpPr/>
          <p:nvPr/>
        </p:nvCxnSpPr>
        <p:spPr>
          <a:xfrm>
            <a:off x="8915400" y="2818587"/>
            <a:ext cx="2590495" cy="0"/>
          </a:xfrm>
          <a:prstGeom prst="line">
            <a:avLst/>
          </a:prstGeom>
          <a:ln w="12700">
            <a:solidFill>
              <a:srgbClr val="15171A"/>
            </a:solidFill>
          </a:ln>
        </p:spPr>
      </p:cxnSp>
      <p:sp>
        <p:nvSpPr>
          <p:cNvPr id="16" name="TextBox 15"/>
          <p:cNvSpPr txBox="1"/>
          <p:nvPr/>
        </p:nvSpPr>
        <p:spPr>
          <a:xfrm>
            <a:off x="8915400" y="2900883"/>
            <a:ext cx="2590495" cy="1082548"/>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승인된 도구·작업 범위를 넓히면서 같은 핸드·제어 플랫폼을 반복 판매할 수 있는지</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제조용 모듈 매출에서 주방 시스템으로 단계적 확장</a:t>
            </a:r>
          </a:p>
        </p:txBody>
      </p:sp>
      <p:sp>
        <p:nvSpPr>
          <p:cNvPr id="17" name="TextBox 16"/>
          <p:cNvSpPr txBox="1"/>
          <p:nvPr/>
        </p:nvSpPr>
        <p:spPr>
          <a:xfrm>
            <a:off x="8915400" y="4166311"/>
            <a:ext cx="2590495" cy="256032"/>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회수 방안 (장기 가능성)</a:t>
            </a:r>
          </a:p>
        </p:txBody>
      </p:sp>
      <p:cxnSp>
        <p:nvCxnSpPr>
          <p:cNvPr id="18" name="Connector 17"/>
          <p:cNvCxnSpPr/>
          <p:nvPr/>
        </p:nvCxnSpPr>
        <p:spPr>
          <a:xfrm>
            <a:off x="8915400" y="4486351"/>
            <a:ext cx="2590495" cy="0"/>
          </a:xfrm>
          <a:prstGeom prst="line">
            <a:avLst/>
          </a:prstGeom>
          <a:ln w="12700">
            <a:solidFill>
              <a:srgbClr val="15171A"/>
            </a:solidFill>
          </a:ln>
        </p:spPr>
      </p:cxnSp>
      <p:sp>
        <p:nvSpPr>
          <p:cNvPr id="19" name="TextBox 18"/>
          <p:cNvSpPr txBox="1"/>
          <p:nvPr/>
        </p:nvSpPr>
        <p:spPr>
          <a:xfrm>
            <a:off x="8915400" y="4568647"/>
            <a:ext cx="2590495" cy="450291"/>
          </a:xfrm>
          <a:prstGeom prst="rect">
            <a:avLst/>
          </a:prstGeom>
          <a:noFill/>
        </p:spPr>
        <p:txBody>
          <a:bodyPr wrap="square" lIns="0" rIns="0" tIns="0" bIns="0" anchor="t">
            <a:spAutoFit/>
          </a:bodyPr>
          <a:lstStyle/>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로봇·주방설비 기업의 전략적 인수, 기술특례 상장 (확정된 논의 없음)</a:t>
            </a:r>
          </a:p>
        </p:txBody>
      </p:sp>
      <p:sp>
        <p:nvSpPr>
          <p:cNvPr id="20" name="Rectangle 19"/>
          <p:cNvSpPr/>
          <p:nvPr/>
        </p:nvSpPr>
        <p:spPr>
          <a:xfrm>
            <a:off x="685800" y="5623560"/>
            <a:ext cx="10820095" cy="566928"/>
          </a:xfrm>
          <a:prstGeom prst="rect">
            <a:avLst/>
          </a:prstGeom>
          <a:solidFill>
            <a:srgbClr val="F4F5F6"/>
          </a:solidFill>
          <a:ln>
            <a:noFill/>
          </a:ln>
        </p:spPr>
        <p:txBody>
          <a:bodyPr rtlCol="0" anchor="ctr"/>
          <a:lstStyle/>
          <a:p>
            <a:pPr algn="ctr"/>
          </a:p>
        </p:txBody>
      </p:sp>
      <p:sp>
        <p:nvSpPr>
          <p:cNvPr id="21" name="TextBox 20"/>
          <p:cNvSpPr txBox="1"/>
          <p:nvPr/>
        </p:nvSpPr>
        <p:spPr>
          <a:xfrm>
            <a:off x="914400" y="5623560"/>
            <a:ext cx="10362895" cy="566928"/>
          </a:xfrm>
          <a:prstGeom prst="rect">
            <a:avLst/>
          </a:prstGeom>
          <a:noFill/>
        </p:spPr>
        <p:txBody>
          <a:bodyPr wrap="square" lIns="0" rIns="0" tIns="0" bIns="0" anchor="ctr">
            <a:spAutoFit/>
          </a:bodyPr>
          <a:lstStyle/>
          <a:p>
            <a:pPr algn="l">
              <a:lnSpc>
                <a:spcPct val="100000"/>
              </a:lnSpc>
            </a:pPr>
            <a:r>
              <a:rPr sz="1150" b="1">
                <a:solidFill>
                  <a:srgbClr val="15171A"/>
                </a:solidFill>
                <a:latin typeface="Noto Sans KR"/>
                <a:ea typeface="Noto Sans KR"/>
                <a:cs typeface="Noto Sans KR"/>
              </a:rPr>
              <a:t>연락처   </a:t>
            </a:r>
            <a:r>
              <a:rPr sz="1150" b="0">
                <a:solidFill>
                  <a:srgbClr val="4A4F57"/>
                </a:solidFill>
                <a:latin typeface="Noto Sans KR"/>
                <a:ea typeface="Noto Sans KR"/>
                <a:cs typeface="Noto Sans KR"/>
              </a:rPr>
              <a:t>대표자 </a:t>
            </a:r>
            <a:r>
              <a:rPr sz="1150" b="0">
                <a:solidFill>
                  <a:srgbClr val="E2571B"/>
                </a:solidFill>
                <a:latin typeface="Noto Sans KR"/>
                <a:ea typeface="Noto Sans KR"/>
                <a:cs typeface="Noto Sans KR"/>
              </a:rPr>
              <a:t>[입력 필요]</a:t>
            </a:r>
            <a:r>
              <a:rPr sz="1150" b="0">
                <a:solidFill>
                  <a:srgbClr val="4A4F57"/>
                </a:solidFill>
                <a:latin typeface="Noto Sans KR"/>
                <a:ea typeface="Noto Sans KR"/>
                <a:cs typeface="Noto Sans KR"/>
              </a:rPr>
              <a:t>  ·  이메일 </a:t>
            </a:r>
            <a:r>
              <a:rPr sz="1150" b="0">
                <a:solidFill>
                  <a:srgbClr val="E2571B"/>
                </a:solidFill>
                <a:latin typeface="Noto Sans KR"/>
                <a:ea typeface="Noto Sans KR"/>
                <a:cs typeface="Noto Sans KR"/>
              </a:rPr>
              <a:t>[입력 필요]</a:t>
            </a:r>
            <a:r>
              <a:rPr sz="1150" b="0">
                <a:solidFill>
                  <a:srgbClr val="4A4F57"/>
                </a:solidFill>
                <a:latin typeface="Noto Sans KR"/>
                <a:ea typeface="Noto Sans KR"/>
                <a:cs typeface="Noto Sans KR"/>
              </a:rPr>
              <a:t>  ·  전화 </a:t>
            </a:r>
            <a:r>
              <a:rPr sz="1150" b="0">
                <a:solidFill>
                  <a:srgbClr val="E2571B"/>
                </a:solidFill>
                <a:latin typeface="Noto Sans KR"/>
                <a:ea typeface="Noto Sans KR"/>
                <a:cs typeface="Noto Sans KR"/>
              </a:rPr>
              <a:t>[입력 필요]</a:t>
            </a:r>
          </a:p>
        </p:txBody>
      </p:sp>
      <p:sp>
        <p:nvSpPr>
          <p:cNvPr id="22" name="TextBox 2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23" name="TextBox 22"/>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목표는 계획이며 실적 아님 · 사실·가정 구분 부록 A1</a:t>
            </a:r>
          </a:p>
        </p:txBody>
      </p:sp>
      <p:sp>
        <p:nvSpPr>
          <p:cNvPr id="24" name="TextBox 2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822960"/>
            <a:ext cx="3657600" cy="822960"/>
          </a:xfrm>
          <a:prstGeom prst="rect">
            <a:avLst/>
          </a:prstGeom>
          <a:noFill/>
        </p:spPr>
        <p:txBody>
          <a:bodyPr wrap="square" lIns="0" rIns="0" tIns="0" bIns="0" anchor="t">
            <a:spAutoFit/>
          </a:bodyPr>
          <a:lstStyle/>
          <a:p>
            <a:pPr algn="l">
              <a:lnSpc>
                <a:spcPct val="100000"/>
              </a:lnSpc>
            </a:pPr>
            <a:r>
              <a:rPr sz="4000" b="1">
                <a:solidFill>
                  <a:srgbClr val="15171A"/>
                </a:solidFill>
                <a:latin typeface="Noto Sans KR"/>
                <a:ea typeface="Noto Sans KR"/>
                <a:cs typeface="Noto Sans KR"/>
              </a:rPr>
              <a:t>부록</a:t>
            </a:r>
          </a:p>
        </p:txBody>
      </p:sp>
      <p:sp>
        <p:nvSpPr>
          <p:cNvPr id="3" name="TextBox 2"/>
          <p:cNvSpPr txBox="1"/>
          <p:nvPr/>
        </p:nvSpPr>
        <p:spPr>
          <a:xfrm>
            <a:off x="685800" y="1691640"/>
            <a:ext cx="3383280" cy="822960"/>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본문의 근거와 상세 계획</a:t>
            </a:r>
          </a:p>
        </p:txBody>
      </p:sp>
      <p:sp>
        <p:nvSpPr>
          <p:cNvPr id="4" name="TextBox 3"/>
          <p:cNvSpPr txBox="1"/>
          <p:nvPr/>
        </p:nvSpPr>
        <p:spPr>
          <a:xfrm>
            <a:off x="4709160" y="8686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a:t>
            </a:r>
          </a:p>
        </p:txBody>
      </p:sp>
      <p:sp>
        <p:nvSpPr>
          <p:cNvPr id="5" name="TextBox 4"/>
          <p:cNvSpPr txBox="1"/>
          <p:nvPr/>
        </p:nvSpPr>
        <p:spPr>
          <a:xfrm>
            <a:off x="5303520" y="8686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작성 전제와 사실·가정 구분</a:t>
            </a:r>
          </a:p>
        </p:txBody>
      </p:sp>
      <p:cxnSp>
        <p:nvCxnSpPr>
          <p:cNvPr id="6" name="Connector 5"/>
          <p:cNvCxnSpPr/>
          <p:nvPr/>
        </p:nvCxnSpPr>
        <p:spPr>
          <a:xfrm>
            <a:off x="4709160" y="1271016"/>
            <a:ext cx="3291840" cy="0"/>
          </a:xfrm>
          <a:prstGeom prst="line">
            <a:avLst/>
          </a:prstGeom>
          <a:ln w="9525">
            <a:solidFill>
              <a:srgbClr val="E2E4E7"/>
            </a:solidFill>
          </a:ln>
        </p:spPr>
      </p:cxnSp>
      <p:sp>
        <p:nvSpPr>
          <p:cNvPr id="7" name="TextBox 6"/>
          <p:cNvSpPr txBox="1"/>
          <p:nvPr/>
        </p:nvSpPr>
        <p:spPr>
          <a:xfrm>
            <a:off x="4709160" y="1380744"/>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A2</a:t>
            </a:r>
          </a:p>
        </p:txBody>
      </p:sp>
      <p:sp>
        <p:nvSpPr>
          <p:cNvPr id="8" name="TextBox 7"/>
          <p:cNvSpPr txBox="1"/>
          <p:nvPr/>
        </p:nvSpPr>
        <p:spPr>
          <a:xfrm>
            <a:off x="5303520" y="1380744"/>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작업군별 개발 단계와 도구별 제어</a:t>
            </a:r>
          </a:p>
        </p:txBody>
      </p:sp>
      <p:cxnSp>
        <p:nvCxnSpPr>
          <p:cNvPr id="9" name="Connector 8"/>
          <p:cNvCxnSpPr/>
          <p:nvPr/>
        </p:nvCxnSpPr>
        <p:spPr>
          <a:xfrm>
            <a:off x="4709160" y="1783080"/>
            <a:ext cx="3291840" cy="0"/>
          </a:xfrm>
          <a:prstGeom prst="line">
            <a:avLst/>
          </a:prstGeom>
          <a:ln w="9525">
            <a:solidFill>
              <a:srgbClr val="E2E4E7"/>
            </a:solidFill>
          </a:ln>
        </p:spPr>
      </p:cxnSp>
      <p:sp>
        <p:nvSpPr>
          <p:cNvPr id="10" name="TextBox 9"/>
          <p:cNvSpPr txBox="1"/>
          <p:nvPr/>
        </p:nvSpPr>
        <p:spPr>
          <a:xfrm>
            <a:off x="4709160" y="1892808"/>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A3</a:t>
            </a:r>
          </a:p>
        </p:txBody>
      </p:sp>
      <p:sp>
        <p:nvSpPr>
          <p:cNvPr id="11" name="TextBox 10"/>
          <p:cNvSpPr txBox="1"/>
          <p:nvPr/>
        </p:nvSpPr>
        <p:spPr>
          <a:xfrm>
            <a:off x="5303520" y="1892808"/>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핸드 설계 상세</a:t>
            </a:r>
          </a:p>
        </p:txBody>
      </p:sp>
      <p:cxnSp>
        <p:nvCxnSpPr>
          <p:cNvPr id="12" name="Connector 11"/>
          <p:cNvCxnSpPr/>
          <p:nvPr/>
        </p:nvCxnSpPr>
        <p:spPr>
          <a:xfrm>
            <a:off x="4709160" y="2295144"/>
            <a:ext cx="3291840" cy="0"/>
          </a:xfrm>
          <a:prstGeom prst="line">
            <a:avLst/>
          </a:prstGeom>
          <a:ln w="9525">
            <a:solidFill>
              <a:srgbClr val="E2E4E7"/>
            </a:solidFill>
          </a:ln>
        </p:spPr>
      </p:cxnSp>
      <p:sp>
        <p:nvSpPr>
          <p:cNvPr id="13" name="TextBox 12"/>
          <p:cNvSpPr txBox="1"/>
          <p:nvPr/>
        </p:nvSpPr>
        <p:spPr>
          <a:xfrm>
            <a:off x="4709160" y="2404872"/>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A4</a:t>
            </a:r>
          </a:p>
        </p:txBody>
      </p:sp>
      <p:sp>
        <p:nvSpPr>
          <p:cNvPr id="14" name="TextBox 13"/>
          <p:cNvSpPr txBox="1"/>
          <p:nvPr/>
        </p:nvSpPr>
        <p:spPr>
          <a:xfrm>
            <a:off x="5303520" y="2404872"/>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비전 AI·데이터 상세</a:t>
            </a:r>
          </a:p>
        </p:txBody>
      </p:sp>
      <p:cxnSp>
        <p:nvCxnSpPr>
          <p:cNvPr id="15" name="Connector 14"/>
          <p:cNvCxnSpPr/>
          <p:nvPr/>
        </p:nvCxnSpPr>
        <p:spPr>
          <a:xfrm>
            <a:off x="4709160" y="2807208"/>
            <a:ext cx="3291840" cy="0"/>
          </a:xfrm>
          <a:prstGeom prst="line">
            <a:avLst/>
          </a:prstGeom>
          <a:ln w="9525">
            <a:solidFill>
              <a:srgbClr val="E2E4E7"/>
            </a:solidFill>
          </a:ln>
        </p:spPr>
      </p:cxnSp>
      <p:sp>
        <p:nvSpPr>
          <p:cNvPr id="16" name="TextBox 15"/>
          <p:cNvSpPr txBox="1"/>
          <p:nvPr/>
        </p:nvSpPr>
        <p:spPr>
          <a:xfrm>
            <a:off x="4709160" y="2916936"/>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A5</a:t>
            </a:r>
          </a:p>
        </p:txBody>
      </p:sp>
      <p:sp>
        <p:nvSpPr>
          <p:cNvPr id="17" name="TextBox 16"/>
          <p:cNvSpPr txBox="1"/>
          <p:nvPr/>
        </p:nvSpPr>
        <p:spPr>
          <a:xfrm>
            <a:off x="5303520" y="2916936"/>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적용 장면: 제조 반복 취급</a:t>
            </a:r>
          </a:p>
        </p:txBody>
      </p:sp>
      <p:cxnSp>
        <p:nvCxnSpPr>
          <p:cNvPr id="18" name="Connector 17"/>
          <p:cNvCxnSpPr/>
          <p:nvPr/>
        </p:nvCxnSpPr>
        <p:spPr>
          <a:xfrm>
            <a:off x="4709160" y="3319272"/>
            <a:ext cx="3291840" cy="0"/>
          </a:xfrm>
          <a:prstGeom prst="line">
            <a:avLst/>
          </a:prstGeom>
          <a:ln w="9525">
            <a:solidFill>
              <a:srgbClr val="E2E4E7"/>
            </a:solidFill>
          </a:ln>
        </p:spPr>
      </p:cxnSp>
      <p:sp>
        <p:nvSpPr>
          <p:cNvPr id="19" name="TextBox 18"/>
          <p:cNvSpPr txBox="1"/>
          <p:nvPr/>
        </p:nvSpPr>
        <p:spPr>
          <a:xfrm>
            <a:off x="4709160" y="342900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A6</a:t>
            </a:r>
          </a:p>
        </p:txBody>
      </p:sp>
      <p:sp>
        <p:nvSpPr>
          <p:cNvPr id="20" name="TextBox 19"/>
          <p:cNvSpPr txBox="1"/>
          <p:nvPr/>
        </p:nvSpPr>
        <p:spPr>
          <a:xfrm>
            <a:off x="5303520" y="342900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적용 장면: 주방 작업</a:t>
            </a:r>
          </a:p>
        </p:txBody>
      </p:sp>
      <p:cxnSp>
        <p:nvCxnSpPr>
          <p:cNvPr id="21" name="Connector 20"/>
          <p:cNvCxnSpPr/>
          <p:nvPr/>
        </p:nvCxnSpPr>
        <p:spPr>
          <a:xfrm>
            <a:off x="4709160" y="3831336"/>
            <a:ext cx="3291840" cy="0"/>
          </a:xfrm>
          <a:prstGeom prst="line">
            <a:avLst/>
          </a:prstGeom>
          <a:ln w="9525">
            <a:solidFill>
              <a:srgbClr val="E2E4E7"/>
            </a:solidFill>
          </a:ln>
        </p:spPr>
      </p:cxnSp>
      <p:sp>
        <p:nvSpPr>
          <p:cNvPr id="22" name="TextBox 21"/>
          <p:cNvSpPr txBox="1"/>
          <p:nvPr/>
        </p:nvSpPr>
        <p:spPr>
          <a:xfrm>
            <a:off x="4709160" y="3941064"/>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A7</a:t>
            </a:r>
          </a:p>
        </p:txBody>
      </p:sp>
      <p:sp>
        <p:nvSpPr>
          <p:cNvPr id="23" name="TextBox 22"/>
          <p:cNvSpPr txBox="1"/>
          <p:nvPr/>
        </p:nvSpPr>
        <p:spPr>
          <a:xfrm>
            <a:off x="5303520" y="3941064"/>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로봇 주방 설치·운영 상세</a:t>
            </a:r>
          </a:p>
        </p:txBody>
      </p:sp>
      <p:cxnSp>
        <p:nvCxnSpPr>
          <p:cNvPr id="24" name="Connector 23"/>
          <p:cNvCxnSpPr/>
          <p:nvPr/>
        </p:nvCxnSpPr>
        <p:spPr>
          <a:xfrm>
            <a:off x="4709160" y="4343400"/>
            <a:ext cx="3291840" cy="0"/>
          </a:xfrm>
          <a:prstGeom prst="line">
            <a:avLst/>
          </a:prstGeom>
          <a:ln w="9525">
            <a:solidFill>
              <a:srgbClr val="E2E4E7"/>
            </a:solidFill>
          </a:ln>
        </p:spPr>
      </p:cxnSp>
      <p:sp>
        <p:nvSpPr>
          <p:cNvPr id="25" name="TextBox 24"/>
          <p:cNvSpPr txBox="1"/>
          <p:nvPr/>
        </p:nvSpPr>
        <p:spPr>
          <a:xfrm>
            <a:off x="4709160" y="4453128"/>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A8</a:t>
            </a:r>
          </a:p>
        </p:txBody>
      </p:sp>
      <p:sp>
        <p:nvSpPr>
          <p:cNvPr id="26" name="TextBox 25"/>
          <p:cNvSpPr txBox="1"/>
          <p:nvPr/>
        </p:nvSpPr>
        <p:spPr>
          <a:xfrm>
            <a:off x="5303520" y="4453128"/>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경쟁 상세</a:t>
            </a:r>
          </a:p>
        </p:txBody>
      </p:sp>
      <p:cxnSp>
        <p:nvCxnSpPr>
          <p:cNvPr id="27" name="Connector 26"/>
          <p:cNvCxnSpPr/>
          <p:nvPr/>
        </p:nvCxnSpPr>
        <p:spPr>
          <a:xfrm>
            <a:off x="4709160" y="4855464"/>
            <a:ext cx="3291840" cy="0"/>
          </a:xfrm>
          <a:prstGeom prst="line">
            <a:avLst/>
          </a:prstGeom>
          <a:ln w="9525">
            <a:solidFill>
              <a:srgbClr val="E2E4E7"/>
            </a:solidFill>
          </a:ln>
        </p:spPr>
      </p:cxnSp>
      <p:sp>
        <p:nvSpPr>
          <p:cNvPr id="28" name="TextBox 27"/>
          <p:cNvSpPr txBox="1"/>
          <p:nvPr/>
        </p:nvSpPr>
        <p:spPr>
          <a:xfrm>
            <a:off x="8366760" y="8686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A9</a:t>
            </a:r>
          </a:p>
        </p:txBody>
      </p:sp>
      <p:sp>
        <p:nvSpPr>
          <p:cNvPr id="29" name="TextBox 28"/>
          <p:cNvSpPr txBox="1"/>
          <p:nvPr/>
        </p:nvSpPr>
        <p:spPr>
          <a:xfrm>
            <a:off x="8961120" y="8686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시장 근거 상세</a:t>
            </a:r>
          </a:p>
        </p:txBody>
      </p:sp>
      <p:cxnSp>
        <p:nvCxnSpPr>
          <p:cNvPr id="30" name="Connector 29"/>
          <p:cNvCxnSpPr/>
          <p:nvPr/>
        </p:nvCxnSpPr>
        <p:spPr>
          <a:xfrm>
            <a:off x="8366760" y="1271016"/>
            <a:ext cx="3291840" cy="0"/>
          </a:xfrm>
          <a:prstGeom prst="line">
            <a:avLst/>
          </a:prstGeom>
          <a:ln w="9525">
            <a:solidFill>
              <a:srgbClr val="E2E4E7"/>
            </a:solidFill>
          </a:ln>
        </p:spPr>
      </p:cxnSp>
      <p:sp>
        <p:nvSpPr>
          <p:cNvPr id="31" name="TextBox 30"/>
          <p:cNvSpPr txBox="1"/>
          <p:nvPr/>
        </p:nvSpPr>
        <p:spPr>
          <a:xfrm>
            <a:off x="8366760" y="1380744"/>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A10</a:t>
            </a:r>
          </a:p>
        </p:txBody>
      </p:sp>
      <p:sp>
        <p:nvSpPr>
          <p:cNvPr id="32" name="TextBox 31"/>
          <p:cNvSpPr txBox="1"/>
          <p:nvPr/>
        </p:nvSpPr>
        <p:spPr>
          <a:xfrm>
            <a:off x="8961120" y="1380744"/>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로봇 기술 동향</a:t>
            </a:r>
          </a:p>
        </p:txBody>
      </p:sp>
      <p:cxnSp>
        <p:nvCxnSpPr>
          <p:cNvPr id="33" name="Connector 32"/>
          <p:cNvCxnSpPr/>
          <p:nvPr/>
        </p:nvCxnSpPr>
        <p:spPr>
          <a:xfrm>
            <a:off x="8366760" y="1783080"/>
            <a:ext cx="3291840" cy="0"/>
          </a:xfrm>
          <a:prstGeom prst="line">
            <a:avLst/>
          </a:prstGeom>
          <a:ln w="9525">
            <a:solidFill>
              <a:srgbClr val="E2E4E7"/>
            </a:solidFill>
          </a:ln>
        </p:spPr>
      </p:cxnSp>
      <p:sp>
        <p:nvSpPr>
          <p:cNvPr id="34" name="TextBox 33"/>
          <p:cNvSpPr txBox="1"/>
          <p:nvPr/>
        </p:nvSpPr>
        <p:spPr>
          <a:xfrm>
            <a:off x="8366760" y="1892808"/>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A11</a:t>
            </a:r>
          </a:p>
        </p:txBody>
      </p:sp>
      <p:sp>
        <p:nvSpPr>
          <p:cNvPr id="35" name="TextBox 34"/>
          <p:cNvSpPr txBox="1"/>
          <p:nvPr/>
        </p:nvSpPr>
        <p:spPr>
          <a:xfrm>
            <a:off x="8961120" y="1892808"/>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가격·원가·판매 조건 가정</a:t>
            </a:r>
          </a:p>
        </p:txBody>
      </p:sp>
      <p:cxnSp>
        <p:nvCxnSpPr>
          <p:cNvPr id="36" name="Connector 35"/>
          <p:cNvCxnSpPr/>
          <p:nvPr/>
        </p:nvCxnSpPr>
        <p:spPr>
          <a:xfrm>
            <a:off x="8366760" y="2295144"/>
            <a:ext cx="3291840" cy="0"/>
          </a:xfrm>
          <a:prstGeom prst="line">
            <a:avLst/>
          </a:prstGeom>
          <a:ln w="9525">
            <a:solidFill>
              <a:srgbClr val="E2E4E7"/>
            </a:solidFill>
          </a:ln>
        </p:spPr>
      </p:cxnSp>
      <p:sp>
        <p:nvSpPr>
          <p:cNvPr id="37" name="TextBox 36"/>
          <p:cNvSpPr txBox="1"/>
          <p:nvPr/>
        </p:nvSpPr>
        <p:spPr>
          <a:xfrm>
            <a:off x="8366760" y="2404872"/>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A12</a:t>
            </a:r>
          </a:p>
        </p:txBody>
      </p:sp>
      <p:sp>
        <p:nvSpPr>
          <p:cNvPr id="38" name="TextBox 37"/>
          <p:cNvSpPr txBox="1"/>
          <p:nvPr/>
        </p:nvSpPr>
        <p:spPr>
          <a:xfrm>
            <a:off x="8961120" y="2404872"/>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5개년 재무 상세와 민감도</a:t>
            </a:r>
          </a:p>
        </p:txBody>
      </p:sp>
      <p:cxnSp>
        <p:nvCxnSpPr>
          <p:cNvPr id="39" name="Connector 38"/>
          <p:cNvCxnSpPr/>
          <p:nvPr/>
        </p:nvCxnSpPr>
        <p:spPr>
          <a:xfrm>
            <a:off x="8366760" y="2807208"/>
            <a:ext cx="3291840" cy="0"/>
          </a:xfrm>
          <a:prstGeom prst="line">
            <a:avLst/>
          </a:prstGeom>
          <a:ln w="9525">
            <a:solidFill>
              <a:srgbClr val="E2E4E7"/>
            </a:solidFill>
          </a:ln>
        </p:spPr>
      </p:cxnSp>
      <p:sp>
        <p:nvSpPr>
          <p:cNvPr id="40" name="TextBox 39"/>
          <p:cNvSpPr txBox="1"/>
          <p:nvPr/>
        </p:nvSpPr>
        <p:spPr>
          <a:xfrm>
            <a:off x="8366760" y="2916936"/>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A13</a:t>
            </a:r>
          </a:p>
        </p:txBody>
      </p:sp>
      <p:sp>
        <p:nvSpPr>
          <p:cNvPr id="41" name="TextBox 40"/>
          <p:cNvSpPr txBox="1"/>
          <p:nvPr/>
        </p:nvSpPr>
        <p:spPr>
          <a:xfrm>
            <a:off x="8961120" y="2916936"/>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Seed 자금 사용 상세</a:t>
            </a:r>
          </a:p>
        </p:txBody>
      </p:sp>
      <p:cxnSp>
        <p:nvCxnSpPr>
          <p:cNvPr id="42" name="Connector 41"/>
          <p:cNvCxnSpPr/>
          <p:nvPr/>
        </p:nvCxnSpPr>
        <p:spPr>
          <a:xfrm>
            <a:off x="8366760" y="3319272"/>
            <a:ext cx="3291840" cy="0"/>
          </a:xfrm>
          <a:prstGeom prst="line">
            <a:avLst/>
          </a:prstGeom>
          <a:ln w="9525">
            <a:solidFill>
              <a:srgbClr val="E2E4E7"/>
            </a:solidFill>
          </a:ln>
        </p:spPr>
      </p:cxnSp>
      <p:sp>
        <p:nvSpPr>
          <p:cNvPr id="43" name="TextBox 42"/>
          <p:cNvSpPr txBox="1"/>
          <p:nvPr/>
        </p:nvSpPr>
        <p:spPr>
          <a:xfrm>
            <a:off x="8366760" y="342900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A14</a:t>
            </a:r>
          </a:p>
        </p:txBody>
      </p:sp>
      <p:sp>
        <p:nvSpPr>
          <p:cNvPr id="44" name="TextBox 43"/>
          <p:cNvSpPr txBox="1"/>
          <p:nvPr/>
        </p:nvSpPr>
        <p:spPr>
          <a:xfrm>
            <a:off x="8961120" y="342900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안전·위생·인증·지식재산</a:t>
            </a:r>
          </a:p>
        </p:txBody>
      </p:sp>
      <p:cxnSp>
        <p:nvCxnSpPr>
          <p:cNvPr id="45" name="Connector 44"/>
          <p:cNvCxnSpPr/>
          <p:nvPr/>
        </p:nvCxnSpPr>
        <p:spPr>
          <a:xfrm>
            <a:off x="8366760" y="3831336"/>
            <a:ext cx="3291840" cy="0"/>
          </a:xfrm>
          <a:prstGeom prst="line">
            <a:avLst/>
          </a:prstGeom>
          <a:ln w="9525">
            <a:solidFill>
              <a:srgbClr val="E2E4E7"/>
            </a:solidFill>
          </a:ln>
        </p:spPr>
      </p:cxnSp>
      <p:sp>
        <p:nvSpPr>
          <p:cNvPr id="46" name="TextBox 45"/>
          <p:cNvSpPr txBox="1"/>
          <p:nvPr/>
        </p:nvSpPr>
        <p:spPr>
          <a:xfrm>
            <a:off x="8366760" y="3941064"/>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A15</a:t>
            </a:r>
          </a:p>
        </p:txBody>
      </p:sp>
      <p:sp>
        <p:nvSpPr>
          <p:cNvPr id="47" name="TextBox 46"/>
          <p:cNvSpPr txBox="1"/>
          <p:nvPr/>
        </p:nvSpPr>
        <p:spPr>
          <a:xfrm>
            <a:off x="8961120" y="3941064"/>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출처</a:t>
            </a:r>
          </a:p>
        </p:txBody>
      </p:sp>
      <p:cxnSp>
        <p:nvCxnSpPr>
          <p:cNvPr id="48" name="Connector 47"/>
          <p:cNvCxnSpPr/>
          <p:nvPr/>
        </p:nvCxnSpPr>
        <p:spPr>
          <a:xfrm>
            <a:off x="8366760" y="4343400"/>
            <a:ext cx="3291840" cy="0"/>
          </a:xfrm>
          <a:prstGeom prst="line">
            <a:avLst/>
          </a:prstGeom>
          <a:ln w="9525">
            <a:solidFill>
              <a:srgbClr val="E2E4E7"/>
            </a:solidFill>
          </a:ln>
        </p:spPr>
      </p:cxnSp>
      <p:sp>
        <p:nvSpPr>
          <p:cNvPr id="49" name="TextBox 4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50" name="TextBox 4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작성 전제와 사실·가정 구분</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확인된 사실, 계획, 가정, 장기 확장 가능성, 확보가 필요한 자료를 구분해 표기</a:t>
            </a:r>
          </a:p>
        </p:txBody>
      </p:sp>
      <p:graphicFrame>
        <p:nvGraphicFramePr>
          <p:cNvPr id="5" name="Table 4"/>
          <p:cNvGraphicFramePr>
            <a:graphicFrameLocks noGrp="1"/>
          </p:cNvGraphicFramePr>
          <p:nvPr/>
        </p:nvGraphicFramePr>
        <p:xfrm>
          <a:off x="685800" y="1874519"/>
          <a:ext cx="10817352" cy="3470449"/>
        </p:xfrm>
        <a:graphic>
          <a:graphicData uri="http://schemas.openxmlformats.org/drawingml/2006/table">
            <a:tbl>
              <a:tblPr firstRow="0" bandRow="0">
                <a:tableStyleId>{2D5ABB26-0587-4C30-8999-92F81FD0307C}</a:tableStyleId>
              </a:tblPr>
              <a:tblGrid>
                <a:gridCol w="1828800"/>
                <a:gridCol w="6793992"/>
                <a:gridCol w="2194560"/>
              </a:tblGrid>
              <a:tr h="366928">
                <a:tc>
                  <a:txBody>
                    <a:bodyPr wrap="square"/>
                    <a:lstStyle/>
                    <a:p>
                      <a:pPr algn="l">
                        <a:lnSpc>
                          <a:spcPct val="100000"/>
                        </a:lnSpc>
                      </a:pPr>
                      <a:r>
                        <a:rPr sz="1150" b="1">
                          <a:solidFill>
                            <a:srgbClr val="15171A"/>
                          </a:solidFill>
                          <a:latin typeface="Noto Sans KR"/>
                          <a:ea typeface="Noto Sans KR"/>
                          <a:cs typeface="Noto Sans KR"/>
                        </a:rPr>
                        <a:t>구분</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현재 내용</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표기 원칙</a:t>
                      </a:r>
                    </a:p>
                  </a:txBody>
                  <a:tcPr marL="73152" marR="73152" marT="73152" marB="73152" anchor="t">
                    <a:lnL w="0">
                      <a:noFill/>
                    </a:lnL>
                    <a:lnR w="0">
                      <a:noFill/>
                    </a:lnR>
                    <a:lnT w="12700">
                      <a:solidFill>
                        <a:srgbClr val="15171A"/>
                      </a:solidFill>
                    </a:lnT>
                    <a:lnB w="9525">
                      <a:solidFill>
                        <a:srgbClr val="15171A"/>
                      </a:solidFill>
                    </a:lnB>
                    <a:noFill/>
                  </a:tcPr>
                </a:tc>
              </a:tr>
              <a:tr h="789889">
                <a:tc>
                  <a:txBody>
                    <a:bodyPr wrap="square"/>
                    <a:lstStyle/>
                    <a:p>
                      <a:pPr algn="l">
                        <a:lnSpc>
                          <a:spcPct val="100000"/>
                        </a:lnSpc>
                      </a:pPr>
                      <a:r>
                        <a:rPr sz="1150" b="1">
                          <a:solidFill>
                            <a:srgbClr val="15171A"/>
                          </a:solidFill>
                          <a:latin typeface="Noto Sans KR"/>
                          <a:ea typeface="Noto Sans KR"/>
                          <a:cs typeface="Noto Sans KR"/>
                        </a:rPr>
                        <a:t>확인된 사실</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사업계획서 초안(2026.10.6, 회사명 미정)과 개발 구상</a:t>
                      </a:r>
                    </a:p>
                    <a:p>
                      <a:pPr algn="l">
                        <a:lnSpc>
                          <a:spcPct val="100000"/>
                        </a:lnSpc>
                      </a:pPr>
                      <a:r>
                        <a:rPr sz="1150" b="0">
                          <a:solidFill>
                            <a:srgbClr val="15171A"/>
                          </a:solidFill>
                          <a:latin typeface="Noto Sans KR"/>
                          <a:ea typeface="Noto Sans KR"/>
                          <a:cs typeface="Noto Sans KR"/>
                        </a:rPr>
                        <a:t>공개 자료 출처 확인: IFR, BCG, qbrobotics, Moley Robotics, YORI 연구(arXiv), ISO 10218-2:2025 등</a:t>
                      </a:r>
                    </a:p>
                    <a:p>
                      <a:pPr algn="l">
                        <a:lnSpc>
                          <a:spcPct val="100000"/>
                        </a:lnSpc>
                      </a:pPr>
                      <a:r>
                        <a:rPr sz="1150" b="0">
                          <a:solidFill>
                            <a:srgbClr val="15171A"/>
                          </a:solidFill>
                          <a:latin typeface="Noto Sans KR"/>
                          <a:ea typeface="Noto Sans KR"/>
                          <a:cs typeface="Noto Sans KR"/>
                        </a:rPr>
                        <a:t>법인·창업팀·특허·시제품·고객 계약·매출·보유 자금은 미확인</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회사 실적으로 표현하지 않음</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계획 (목표)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24개월 목표: 4지 제품 검증, 5지 알파, 로봇 주방 제한 메뉴 실증, 유료 실증 5건, 반복 발주 고객 2곳</a:t>
                      </a:r>
                    </a:p>
                    <a:p>
                      <a:pPr algn="l">
                        <a:lnSpc>
                          <a:spcPct val="100000"/>
                        </a:lnSpc>
                      </a:pPr>
                      <a:r>
                        <a:rPr sz="1150" b="0">
                          <a:solidFill>
                            <a:srgbClr val="15171A"/>
                          </a:solidFill>
                          <a:latin typeface="Noto Sans KR"/>
                          <a:ea typeface="Noto Sans KR"/>
                          <a:cs typeface="Noto Sans KR"/>
                        </a:rPr>
                        <a:t>12·24개월 성능 목표, 0~36개월 일정, 첫 90일 인터뷰 30곳, 핵심 인력 7명 단계 채용</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"목표", "계획"</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가정</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가격·원가: 핸드 1,500/800만 원, 주방 셀 2억/1.4억 원, SW 계약 300/90만 원, 실증 총이익률 40%</a:t>
                      </a:r>
                    </a:p>
                    <a:p>
                      <a:pPr algn="l">
                        <a:lnSpc>
                          <a:spcPct val="100000"/>
                        </a:lnSpc>
                      </a:pPr>
                      <a:r>
                        <a:rPr sz="1150" b="0">
                          <a:solidFill>
                            <a:srgbClr val="15171A"/>
                          </a:solidFill>
                          <a:latin typeface="Noto Sans KR"/>
                          <a:ea typeface="Noto Sans KR"/>
                          <a:cs typeface="Noto Sans KR"/>
                        </a:rPr>
                        <a:t>5개년 판매량·매출·손익, 초기 접근시장 75억·60억 원, 고객 투자회수 예시, Seed 사용 계획</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"가정", "제안"</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장기 확장 가능성</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5지 핸드 고도화와 휴머노이드 적용, 프리미엄 가정용 주방, 임대·RaaS, 레시피 실행 소프트웨어 확대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"장기 가능성"</a:t>
                      </a:r>
                    </a:p>
                    <a:p>
                      <a:pPr algn="l">
                        <a:lnSpc>
                          <a:spcPct val="100000"/>
                        </a:lnSpc>
                      </a:pPr>
                      <a:r>
                        <a:rPr sz="1150" b="0">
                          <a:solidFill>
                            <a:srgbClr val="15171A"/>
                          </a:solidFill>
                          <a:latin typeface="Noto Sans KR"/>
                          <a:ea typeface="Noto Sans KR"/>
                          <a:cs typeface="Noto Sans KR"/>
                        </a:rPr>
                        <a:t>기준 시나리오 미반영</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확보 필요 자료</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법인·주주·핵심 인력 이력, 특허 소유권, 무편집 시험 영상·원시 로그, BOM·공급사 견적·수율</a:t>
                      </a:r>
                    </a:p>
                    <a:p>
                      <a:pPr algn="l">
                        <a:lnSpc>
                          <a:spcPct val="100000"/>
                        </a:lnSpc>
                      </a:pPr>
                      <a:r>
                        <a:rPr sz="1150" b="0">
                          <a:solidFill>
                            <a:srgbClr val="15171A"/>
                          </a:solidFill>
                          <a:latin typeface="Noto Sans KR"/>
                          <a:ea typeface="Noto Sans KR"/>
                          <a:cs typeface="Noto Sans KR"/>
                        </a:rPr>
                        <a:t>유료 실증 계약·고객 기준 성능, 월별 현금흐름, 시험·인증 범위, 고객 운영비·절감시간</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[정보 입력 필요]</a:t>
                      </a:r>
                    </a:p>
                    <a:p>
                      <a:pPr algn="l">
                        <a:lnSpc>
                          <a:spcPct val="100000"/>
                        </a:lnSpc>
                      </a:pPr>
                      <a:r>
                        <a:rPr sz="1150" b="0">
                          <a:solidFill>
                            <a:srgbClr val="15171A"/>
                          </a:solidFill>
                          <a:latin typeface="Noto Sans KR"/>
                          <a:ea typeface="Noto Sans KR"/>
                          <a:cs typeface="Noto Sans KR"/>
                        </a:rPr>
                        <a:t>투자 실사 전 확보</a:t>
                      </a:r>
                    </a:p>
                  </a:txBody>
                  <a:tcPr marL="73152" marR="73152" marT="73152" marB="73152"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이미지: 본 자료의 핸드·로봇 이미지는 모두 자체 콘셉트 렌더링이며 실제 시험 장면이 아님. 실물 확보 시 시제품 사진 → 시험 영상 → 고객 현장 순으로 교체</a:t>
            </a:r>
          </a:p>
        </p:txBody>
      </p:sp>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8" name="TextBox 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사업계획서 작성 전제: 가격·사양·일정·투자금·시장 산정·매출 전망은 투자 검토용 제안·가정</a:t>
            </a:r>
          </a:p>
        </p:txBody>
      </p:sp>
      <p:sp>
        <p:nvSpPr>
          <p:cNvPr id="9" name="TextBox 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A2</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작업군별 개발 단계와 도구별 제어</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승인된 도구 모델부터 등록하고 손잡이 위치·허용 하중을 관리</a:t>
            </a:r>
          </a:p>
        </p:txBody>
      </p:sp>
      <p:graphicFrame>
        <p:nvGraphicFramePr>
          <p:cNvPr id="5" name="Table 4"/>
          <p:cNvGraphicFramePr>
            <a:graphicFrameLocks noGrp="1"/>
          </p:cNvGraphicFramePr>
          <p:nvPr/>
        </p:nvGraphicFramePr>
        <p:xfrm>
          <a:off x="685800" y="1874519"/>
          <a:ext cx="6675120" cy="3008576"/>
        </p:xfrm>
        <a:graphic>
          <a:graphicData uri="http://schemas.openxmlformats.org/drawingml/2006/table">
            <a:tbl>
              <a:tblPr firstRow="0" bandRow="0">
                <a:tableStyleId>{2D5ABB26-0587-4C30-8999-92F81FD0307C}</a:tableStyleId>
              </a:tblPr>
              <a:tblGrid>
                <a:gridCol w="1828800"/>
                <a:gridCol w="1280160"/>
                <a:gridCol w="3566160"/>
              </a:tblGrid>
              <a:tr h="376072">
                <a:tc>
                  <a:txBody>
                    <a:bodyPr wrap="square"/>
                    <a:lstStyle/>
                    <a:p>
                      <a:pPr algn="l">
                        <a:lnSpc>
                          <a:spcPct val="100000"/>
                        </a:lnSpc>
                      </a:pPr>
                      <a:r>
                        <a:rPr sz="1150" b="1">
                          <a:solidFill>
                            <a:srgbClr val="15171A"/>
                          </a:solidFill>
                          <a:latin typeface="Noto Sans KR"/>
                          <a:ea typeface="Noto Sans KR"/>
                          <a:cs typeface="Noto Sans KR"/>
                        </a:rPr>
                        <a:t>작업군</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개발 순서</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검증 과제</a:t>
                      </a:r>
                    </a:p>
                  </a:txBody>
                  <a:tcPr marL="73152" marR="73152" marT="77724" marB="77724" anchor="t">
                    <a:lnL w="0">
                      <a:noFill/>
                    </a:lnL>
                    <a:lnR w="0">
                      <a:noFill/>
                    </a:lnR>
                    <a:lnT w="12700">
                      <a:solidFill>
                        <a:srgbClr val="15171A"/>
                      </a:solidFill>
                    </a:lnT>
                    <a:lnB w="9525">
                      <a:solidFill>
                        <a:srgbClr val="15171A"/>
                      </a:solidFill>
                    </a:lnB>
                    <a:noFill/>
                  </a:tcPr>
                </a:tc>
              </a:tr>
              <a:tr h="376072">
                <a:tc>
                  <a:txBody>
                    <a:bodyPr wrap="square"/>
                    <a:lstStyle/>
                    <a:p>
                      <a:pPr algn="l">
                        <a:lnSpc>
                          <a:spcPct val="100000"/>
                        </a:lnSpc>
                      </a:pPr>
                      <a:r>
                        <a:rPr sz="1150" b="1">
                          <a:solidFill>
                            <a:srgbClr val="15171A"/>
                          </a:solidFill>
                          <a:latin typeface="Noto Sans KR"/>
                          <a:ea typeface="Noto Sans KR"/>
                          <a:cs typeface="Noto Sans KR"/>
                        </a:rPr>
                        <a:t>식기·용기 정렬·적층</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1">
                          <a:solidFill>
                            <a:srgbClr val="E2571B"/>
                          </a:solidFill>
                          <a:latin typeface="Noto Sans KR"/>
                          <a:ea typeface="Noto Sans KR"/>
                          <a:cs typeface="Noto Sans KR"/>
                        </a:rPr>
                        <a:t>1단계</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파손·끼임 방지, 젖은 표면 미끄러짐, 적층 안정성</a:t>
                      </a:r>
                    </a:p>
                  </a:txBody>
                  <a:tcPr marL="73152" marR="73152" marT="77724" marB="77724" anchor="t">
                    <a:lnL w="0">
                      <a:noFill/>
                    </a:lnL>
                    <a:lnR w="0">
                      <a:noFill/>
                    </a:lnR>
                    <a:lnT w="0">
                      <a:noFill/>
                    </a:lnT>
                    <a:lnB w="9525">
                      <a:solidFill>
                        <a:srgbClr val="E2E4E7"/>
                      </a:solidFill>
                    </a:lnB>
                    <a:noFill/>
                  </a:tcPr>
                </a:tc>
              </a:tr>
              <a:tr h="376072">
                <a:tc>
                  <a:txBody>
                    <a:bodyPr wrap="square"/>
                    <a:lstStyle/>
                    <a:p>
                      <a:pPr algn="l">
                        <a:lnSpc>
                          <a:spcPct val="100000"/>
                        </a:lnSpc>
                      </a:pPr>
                      <a:r>
                        <a:rPr sz="1150" b="1">
                          <a:solidFill>
                            <a:srgbClr val="15171A"/>
                          </a:solidFill>
                          <a:latin typeface="Noto Sans KR"/>
                          <a:ea typeface="Noto Sans KR"/>
                          <a:cs typeface="Noto Sans KR"/>
                        </a:rPr>
                        <a:t>드라이버·스패너</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2단계</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저토크 작업부터 시작, 반력·토크 검증</a:t>
                      </a:r>
                    </a:p>
                  </a:txBody>
                  <a:tcPr marL="73152" marR="73152" marT="77724" marB="77724" anchor="t">
                    <a:lnL w="0">
                      <a:noFill/>
                    </a:lnL>
                    <a:lnR w="0">
                      <a:noFill/>
                    </a:lnR>
                    <a:lnT w="0">
                      <a:noFill/>
                    </a:lnT>
                    <a:lnB w="9525">
                      <a:solidFill>
                        <a:srgbClr val="E2E4E7"/>
                      </a:solidFill>
                    </a:lnB>
                    <a:noFill/>
                  </a:tcPr>
                </a:tc>
              </a:tr>
              <a:tr h="376072">
                <a:tc>
                  <a:txBody>
                    <a:bodyPr wrap="square"/>
                    <a:lstStyle/>
                    <a:p>
                      <a:pPr algn="l">
                        <a:lnSpc>
                          <a:spcPct val="100000"/>
                        </a:lnSpc>
                      </a:pPr>
                      <a:r>
                        <a:rPr sz="1150" b="1">
                          <a:solidFill>
                            <a:srgbClr val="15171A"/>
                          </a:solidFill>
                          <a:latin typeface="Noto Sans KR"/>
                          <a:ea typeface="Noto Sans KR"/>
                          <a:cs typeface="Noto Sans KR"/>
                        </a:rPr>
                        <a:t>플라이어·집게</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2~3단계</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손잡이를 유지하면서 개폐하는 다지 제어</a:t>
                      </a:r>
                    </a:p>
                  </a:txBody>
                  <a:tcPr marL="73152" marR="73152" marT="77724" marB="77724" anchor="t">
                    <a:lnL w="0">
                      <a:noFill/>
                    </a:lnL>
                    <a:lnR w="0">
                      <a:noFill/>
                    </a:lnR>
                    <a:lnT w="0">
                      <a:noFill/>
                    </a:lnT>
                    <a:lnB w="9525">
                      <a:solidFill>
                        <a:srgbClr val="E2E4E7"/>
                      </a:solidFill>
                    </a:lnB>
                    <a:noFill/>
                  </a:tcPr>
                </a:tc>
              </a:tr>
              <a:tr h="376072">
                <a:tc>
                  <a:txBody>
                    <a:bodyPr wrap="square"/>
                    <a:lstStyle/>
                    <a:p>
                      <a:pPr algn="l">
                        <a:lnSpc>
                          <a:spcPct val="100000"/>
                        </a:lnSpc>
                      </a:pPr>
                      <a:r>
                        <a:rPr sz="1150" b="1">
                          <a:solidFill>
                            <a:srgbClr val="15171A"/>
                          </a:solidFill>
                          <a:latin typeface="Noto Sans KR"/>
                          <a:ea typeface="Noto Sans KR"/>
                          <a:cs typeface="Noto Sans KR"/>
                        </a:rPr>
                        <a:t>프라이팬·냄비</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2~3단계</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내용물 포함 질량·모멘트, 고온 손잡이, 양손 분담</a:t>
                      </a:r>
                    </a:p>
                  </a:txBody>
                  <a:tcPr marL="73152" marR="73152" marT="77724" marB="77724" anchor="t">
                    <a:lnL w="0">
                      <a:noFill/>
                    </a:lnL>
                    <a:lnR w="0">
                      <a:noFill/>
                    </a:lnR>
                    <a:lnT w="0">
                      <a:noFill/>
                    </a:lnT>
                    <a:lnB w="9525">
                      <a:solidFill>
                        <a:srgbClr val="E2E4E7"/>
                      </a:solidFill>
                    </a:lnB>
                    <a:noFill/>
                  </a:tcPr>
                </a:tc>
              </a:tr>
              <a:tr h="376072">
                <a:tc>
                  <a:txBody>
                    <a:bodyPr wrap="square"/>
                    <a:lstStyle/>
                    <a:p>
                      <a:pPr algn="l">
                        <a:lnSpc>
                          <a:spcPct val="100000"/>
                        </a:lnSpc>
                      </a:pPr>
                      <a:r>
                        <a:rPr sz="1150" b="1">
                          <a:solidFill>
                            <a:srgbClr val="15171A"/>
                          </a:solidFill>
                          <a:latin typeface="Noto Sans KR"/>
                          <a:ea typeface="Noto Sans KR"/>
                          <a:cs typeface="Noto Sans KR"/>
                        </a:rPr>
                        <a:t>오븐</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3단계</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문·손잡이 조작, 트레이 취급, 열·끼임 관리</a:t>
                      </a:r>
                    </a:p>
                  </a:txBody>
                  <a:tcPr marL="73152" marR="73152" marT="77724" marB="77724" anchor="t">
                    <a:lnL w="0">
                      <a:noFill/>
                    </a:lnL>
                    <a:lnR w="0">
                      <a:noFill/>
                    </a:lnR>
                    <a:lnT w="0">
                      <a:noFill/>
                    </a:lnT>
                    <a:lnB w="9525">
                      <a:solidFill>
                        <a:srgbClr val="E2E4E7"/>
                      </a:solidFill>
                    </a:lnB>
                    <a:noFill/>
                  </a:tcPr>
                </a:tc>
              </a:tr>
              <a:tr h="376072">
                <a:tc>
                  <a:txBody>
                    <a:bodyPr wrap="square"/>
                    <a:lstStyle/>
                    <a:p>
                      <a:pPr algn="l">
                        <a:lnSpc>
                          <a:spcPct val="100000"/>
                        </a:lnSpc>
                      </a:pPr>
                      <a:r>
                        <a:rPr sz="1150" b="1">
                          <a:solidFill>
                            <a:srgbClr val="15171A"/>
                          </a:solidFill>
                          <a:latin typeface="Noto Sans KR"/>
                          <a:ea typeface="Noto Sans KR"/>
                          <a:cs typeface="Noto Sans KR"/>
                        </a:rPr>
                        <a:t>나이프·해머</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후속 단계</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절단·충격 특성, 파지 이탈 검증 후 제한 작업</a:t>
                      </a:r>
                    </a:p>
                  </a:txBody>
                  <a:tcPr marL="73152" marR="73152" marT="77724" marB="77724" anchor="t">
                    <a:lnL w="0">
                      <a:noFill/>
                    </a:lnL>
                    <a:lnR w="0">
                      <a:noFill/>
                    </a:lnR>
                    <a:lnT w="0">
                      <a:noFill/>
                    </a:lnT>
                    <a:lnB w="9525">
                      <a:solidFill>
                        <a:srgbClr val="E2E4E7"/>
                      </a:solidFill>
                    </a:lnB>
                    <a:noFill/>
                  </a:tcPr>
                </a:tc>
              </a:tr>
              <a:tr h="376072">
                <a:tc>
                  <a:txBody>
                    <a:bodyPr wrap="square"/>
                    <a:lstStyle/>
                    <a:p>
                      <a:pPr algn="l">
                        <a:lnSpc>
                          <a:spcPct val="100000"/>
                        </a:lnSpc>
                      </a:pPr>
                      <a:r>
                        <a:rPr sz="1150" b="1">
                          <a:solidFill>
                            <a:srgbClr val="15171A"/>
                          </a:solidFill>
                          <a:latin typeface="Noto Sans KR"/>
                          <a:ea typeface="Noto Sans KR"/>
                          <a:cs typeface="Noto Sans KR"/>
                        </a:rPr>
                        <a:t>동적 물체·유연체</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병행 기술개발</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속도 범위·형상 변화·가림 조건별 성능 분리 평가</a:t>
                      </a:r>
                    </a:p>
                  </a:txBody>
                  <a:tcPr marL="73152" marR="73152" marT="77724" marB="77724" anchor="t">
                    <a:lnL w="0">
                      <a:noFill/>
                    </a:lnL>
                    <a:lnR w="0">
                      <a:noFill/>
                    </a:lnR>
                    <a:lnT w="0">
                      <a:noFill/>
                    </a:lnT>
                    <a:lnB w="9525">
                      <a:solidFill>
                        <a:srgbClr val="E2E4E7"/>
                      </a:solidFill>
                    </a:lnB>
                    <a:noFill/>
                  </a:tcPr>
                </a:tc>
              </a:tr>
            </a:tbl>
          </a:graphicData>
        </a:graphic>
      </p:graphicFrame>
      <p:sp>
        <p:nvSpPr>
          <p:cNvPr id="6" name="TextBox 5"/>
          <p:cNvSpPr txBox="1"/>
          <p:nvPr/>
        </p:nvSpPr>
        <p:spPr>
          <a:xfrm>
            <a:off x="7772400" y="1874519"/>
            <a:ext cx="37334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도구별 제어 핵심</a:t>
            </a:r>
          </a:p>
        </p:txBody>
      </p:sp>
      <p:cxnSp>
        <p:nvCxnSpPr>
          <p:cNvPr id="7" name="Connector 6"/>
          <p:cNvCxnSpPr/>
          <p:nvPr/>
        </p:nvCxnSpPr>
        <p:spPr>
          <a:xfrm>
            <a:off x="7772400" y="2203703"/>
            <a:ext cx="3733495" cy="0"/>
          </a:xfrm>
          <a:prstGeom prst="line">
            <a:avLst/>
          </a:prstGeom>
          <a:ln w="12700">
            <a:solidFill>
              <a:srgbClr val="15171A"/>
            </a:solidFill>
          </a:ln>
        </p:spPr>
      </p:cxnSp>
      <p:sp>
        <p:nvSpPr>
          <p:cNvPr id="8" name="TextBox 7"/>
          <p:cNvSpPr txBox="1"/>
          <p:nvPr/>
        </p:nvSpPr>
        <p:spPr>
          <a:xfrm>
            <a:off x="7772400" y="2313432"/>
            <a:ext cx="3733495" cy="1386433"/>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드라이버: 축 정렬·누름 힘·회전 토크</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스패너: 면접촉 유지·재파지</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플라이어: 손잡이 개폐력</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팬·냄비: 수평 유지와 쏟아짐 방지</a:t>
            </a:r>
          </a:p>
          <a:p>
            <a:pPr algn="l" marL="164592" indent="-164592">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해머: 충격 전달 구조의 피로·도구 이탈</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나이프: 절삭 저항·날 위치·작업물 고정</a:t>
            </a:r>
          </a:p>
        </p:txBody>
      </p:sp>
      <p:sp>
        <p:nvSpPr>
          <p:cNvPr id="9" name="TextBox 8"/>
          <p:cNvSpPr txBox="1"/>
          <p:nvPr/>
        </p:nvSpPr>
        <p:spPr>
          <a:xfrm>
            <a:off x="7772400" y="3882745"/>
            <a:ext cx="37334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설계 원칙</a:t>
            </a:r>
          </a:p>
        </p:txBody>
      </p:sp>
      <p:cxnSp>
        <p:nvCxnSpPr>
          <p:cNvPr id="10" name="Connector 9"/>
          <p:cNvCxnSpPr/>
          <p:nvPr/>
        </p:nvCxnSpPr>
        <p:spPr>
          <a:xfrm>
            <a:off x="7772400" y="4211929"/>
            <a:ext cx="3733495" cy="0"/>
          </a:xfrm>
          <a:prstGeom prst="line">
            <a:avLst/>
          </a:prstGeom>
          <a:ln w="12700">
            <a:solidFill>
              <a:srgbClr val="15171A"/>
            </a:solidFill>
          </a:ln>
        </p:spPr>
      </p:cxnSp>
      <p:sp>
        <p:nvSpPr>
          <p:cNvPr id="11" name="TextBox 10"/>
          <p:cNvSpPr txBox="1"/>
          <p:nvPr/>
        </p:nvSpPr>
        <p:spPr>
          <a:xfrm>
            <a:off x="7772400" y="4321657"/>
            <a:ext cx="3733495" cy="1335633"/>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공통 제어기·통신·손목 장착 구조 유지</a:t>
            </a:r>
            <a:br/>
            <a:r>
              <a:rPr sz="1100" b="0">
                <a:solidFill>
                  <a:srgbClr val="4A4F57"/>
                </a:solidFill>
                <a:latin typeface="Noto Sans KR"/>
                <a:ea typeface="Noto Sans KR"/>
                <a:cs typeface="Noto Sans KR"/>
              </a:rPr>
              <a:t>제조용·주방용 접촉부 분리</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하나의 재질·손가락 사양으로 모든 용도를</a:t>
            </a:r>
            <a:br/>
            <a:r>
              <a:rPr sz="1100" b="0">
                <a:solidFill>
                  <a:srgbClr val="4A4F57"/>
                </a:solidFill>
                <a:latin typeface="Noto Sans KR"/>
                <a:ea typeface="Noto Sans KR"/>
                <a:cs typeface="Noto Sans KR"/>
              </a:rPr>
              <a:t>충족한다는 가정은 두지 않음</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탈착식 슬리브·거치대 사용 시</a:t>
            </a:r>
            <a:br/>
            <a:r>
              <a:rPr sz="1100" b="0">
                <a:solidFill>
                  <a:srgbClr val="4A4F57"/>
                </a:solidFill>
                <a:latin typeface="Noto Sans KR"/>
                <a:ea typeface="Noto Sans KR"/>
                <a:cs typeface="Noto Sans KR"/>
              </a:rPr>
              <a:t>보조장치 없는 시험 결과와 구분 제시</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3" name="TextBox 12"/>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칼·해머는 차폐·접근 제한·독립 인터록 충족 후 제한 작업으로만 활성화</a:t>
            </a:r>
          </a:p>
        </p:txBody>
      </p:sp>
      <p:sp>
        <p:nvSpPr>
          <p:cNvPr id="14" name="TextBox 1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A3</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핸드 설계 상세: 구동·하중·접촉부</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구동 방식은 미확정, 3개월 이내 비교 시험으로 선정 · 특허 가능성은 선행기술 조사 후 판단</a:t>
            </a:r>
          </a:p>
        </p:txBody>
      </p:sp>
      <p:sp>
        <p:nvSpPr>
          <p:cNvPr id="5" name="TextBox 4"/>
          <p:cNvSpPr txBox="1"/>
          <p:nvPr/>
        </p:nvSpPr>
        <p:spPr>
          <a:xfrm>
            <a:off x="685800" y="1847088"/>
            <a:ext cx="667512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구동 방식 비교 시험 (0~3개월)</a:t>
            </a:r>
          </a:p>
        </p:txBody>
      </p:sp>
      <p:graphicFrame>
        <p:nvGraphicFramePr>
          <p:cNvPr id="6" name="Table 5"/>
          <p:cNvGraphicFramePr>
            <a:graphicFrameLocks noGrp="1"/>
          </p:cNvGraphicFramePr>
          <p:nvPr/>
        </p:nvGraphicFramePr>
        <p:xfrm>
          <a:off x="685800" y="2194560"/>
          <a:ext cx="6675120" cy="1467712"/>
        </p:xfrm>
        <a:graphic>
          <a:graphicData uri="http://schemas.openxmlformats.org/drawingml/2006/table">
            <a:tbl>
              <a:tblPr firstRow="0" bandRow="0">
                <a:tableStyleId>{2D5ABB26-0587-4C30-8999-92F81FD0307C}</a:tableStyleId>
              </a:tblPr>
              <a:tblGrid>
                <a:gridCol w="1463040"/>
                <a:gridCol w="1188720"/>
                <a:gridCol w="4023360"/>
              </a:tblGrid>
              <a:tr h="366928">
                <a:tc>
                  <a:txBody>
                    <a:bodyPr wrap="square"/>
                    <a:lstStyle/>
                    <a:p>
                      <a:pPr algn="l">
                        <a:lnSpc>
                          <a:spcPct val="100000"/>
                        </a:lnSpc>
                      </a:pPr>
                      <a:r>
                        <a:rPr sz="1150" b="1">
                          <a:solidFill>
                            <a:srgbClr val="15171A"/>
                          </a:solidFill>
                          <a:latin typeface="Noto Sans KR"/>
                          <a:ea typeface="Noto Sans KR"/>
                          <a:cs typeface="Noto Sans KR"/>
                        </a:rPr>
                        <a:t>후보</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위치</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검증 내용</a:t>
                      </a:r>
                    </a:p>
                  </a:txBody>
                  <a:tcPr marL="73152" marR="73152" marT="73152" marB="73152" anchor="t">
                    <a:lnL w="0">
                      <a:noFill/>
                    </a:lnL>
                    <a:lnR w="0">
                      <a:noFill/>
                    </a:lnR>
                    <a:lnT w="12700">
                      <a:solidFill>
                        <a:srgbClr val="15171A"/>
                      </a:solidFill>
                    </a:lnT>
                    <a:lnB w="9525">
                      <a:solidFill>
                        <a:srgbClr val="15171A"/>
                      </a:solidFill>
                    </a:lnB>
                    <a:noFill/>
                  </a:tcPr>
                </a:tc>
              </a:tr>
              <a:tr h="366928">
                <a:tc>
                  <a:txBody>
                    <a:bodyPr wrap="square"/>
                    <a:lstStyle/>
                    <a:p>
                      <a:pPr algn="l">
                        <a:lnSpc>
                          <a:spcPct val="100000"/>
                        </a:lnSpc>
                      </a:pPr>
                      <a:r>
                        <a:rPr sz="1150" b="1">
                          <a:solidFill>
                            <a:srgbClr val="15171A"/>
                          </a:solidFill>
                          <a:latin typeface="Noto Sans KR"/>
                          <a:ea typeface="Noto Sans KR"/>
                          <a:cs typeface="Noto Sans KR"/>
                        </a:rPr>
                        <a:t>전동 텐던</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기준 후보</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공통 평가 항목으로 측정</a:t>
                      </a:r>
                    </a:p>
                  </a:txBody>
                  <a:tcPr marL="73152" marR="73152" marT="73152" marB="73152" anchor="t">
                    <a:lnL w="0">
                      <a:noFill/>
                    </a:lnL>
                    <a:lnR w="0">
                      <a:noFill/>
                    </a:lnR>
                    <a:lnT w="0">
                      <a:noFill/>
                    </a:lnT>
                    <a:lnB w="9525">
                      <a:solidFill>
                        <a:srgbClr val="E2E4E7"/>
                      </a:solidFill>
                    </a:lnB>
                    <a:noFill/>
                  </a:tcPr>
                </a:tc>
              </a:tr>
              <a:tr h="366928">
                <a:tc>
                  <a:txBody>
                    <a:bodyPr wrap="square"/>
                    <a:lstStyle/>
                    <a:p>
                      <a:pPr algn="l">
                        <a:lnSpc>
                          <a:spcPct val="100000"/>
                        </a:lnSpc>
                      </a:pPr>
                      <a:r>
                        <a:rPr sz="1150" b="1">
                          <a:solidFill>
                            <a:srgbClr val="15171A"/>
                          </a:solidFill>
                          <a:latin typeface="Noto Sans KR"/>
                          <a:ea typeface="Noto Sans KR"/>
                          <a:cs typeface="Noto Sans KR"/>
                        </a:rPr>
                        <a:t>소형 유압</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비교 후보</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채택 시 호스 굽힘 수명, 누설 감지·격리 추가 검증</a:t>
                      </a:r>
                    </a:p>
                  </a:txBody>
                  <a:tcPr marL="73152" marR="73152" marT="73152" marB="73152" anchor="t">
                    <a:lnL w="0">
                      <a:noFill/>
                    </a:lnL>
                    <a:lnR w="0">
                      <a:noFill/>
                    </a:lnR>
                    <a:lnT w="0">
                      <a:noFill/>
                    </a:lnT>
                    <a:lnB w="9525">
                      <a:solidFill>
                        <a:srgbClr val="E2E4E7"/>
                      </a:solidFill>
                    </a:lnB>
                    <a:noFill/>
                  </a:tcPr>
                </a:tc>
              </a:tr>
              <a:tr h="366928">
                <a:tc>
                  <a:txBody>
                    <a:bodyPr wrap="square"/>
                    <a:lstStyle/>
                    <a:p>
                      <a:pPr algn="l">
                        <a:lnSpc>
                          <a:spcPct val="100000"/>
                        </a:lnSpc>
                      </a:pPr>
                      <a:r>
                        <a:rPr sz="1150" b="1">
                          <a:solidFill>
                            <a:srgbClr val="15171A"/>
                          </a:solidFill>
                          <a:latin typeface="Noto Sans KR"/>
                          <a:ea typeface="Noto Sans KR"/>
                          <a:cs typeface="Noto Sans KR"/>
                        </a:rPr>
                        <a:t>공압</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비교 후보</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공통 평가 항목으로 측정</a:t>
                      </a:r>
                    </a:p>
                  </a:txBody>
                  <a:tcPr marL="73152" marR="73152" marT="73152" marB="73152" anchor="t">
                    <a:lnL w="0">
                      <a:noFill/>
                    </a:lnL>
                    <a:lnR w="0">
                      <a:noFill/>
                    </a:lnR>
                    <a:lnT w="0">
                      <a:noFill/>
                    </a:lnT>
                    <a:lnB w="9525">
                      <a:solidFill>
                        <a:srgbClr val="E2E4E7"/>
                      </a:solidFill>
                    </a:lnB>
                    <a:noFill/>
                  </a:tcPr>
                </a:tc>
              </a:tr>
            </a:tbl>
          </a:graphicData>
        </a:graphic>
      </p:graphicFrame>
      <p:sp>
        <p:nvSpPr>
          <p:cNvPr id="7" name="TextBox 6"/>
          <p:cNvSpPr txBox="1"/>
          <p:nvPr/>
        </p:nvSpPr>
        <p:spPr>
          <a:xfrm>
            <a:off x="685800" y="3753713"/>
            <a:ext cx="6675120" cy="27432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공통 평가 항목: 손 무게, 유지력, 응답, 누설, 소음, 소비전력, 정비비</a:t>
            </a:r>
          </a:p>
        </p:txBody>
      </p:sp>
      <p:sp>
        <p:nvSpPr>
          <p:cNvPr id="8" name="TextBox 7"/>
          <p:cNvSpPr txBox="1"/>
          <p:nvPr/>
        </p:nvSpPr>
        <p:spPr>
          <a:xfrm>
            <a:off x="685800" y="4210913"/>
            <a:ext cx="667512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접촉부: 용도별 분리</a:t>
            </a:r>
          </a:p>
        </p:txBody>
      </p:sp>
      <p:cxnSp>
        <p:nvCxnSpPr>
          <p:cNvPr id="9" name="Connector 8"/>
          <p:cNvCxnSpPr/>
          <p:nvPr/>
        </p:nvCxnSpPr>
        <p:spPr>
          <a:xfrm>
            <a:off x="685800" y="4540097"/>
            <a:ext cx="6675120" cy="0"/>
          </a:xfrm>
          <a:prstGeom prst="line">
            <a:avLst/>
          </a:prstGeom>
          <a:ln w="12700">
            <a:solidFill>
              <a:srgbClr val="15171A"/>
            </a:solidFill>
          </a:ln>
        </p:spPr>
      </p:cxnSp>
      <p:graphicFrame>
        <p:nvGraphicFramePr>
          <p:cNvPr id="10" name="Table 9"/>
          <p:cNvGraphicFramePr>
            <a:graphicFrameLocks noGrp="1"/>
          </p:cNvGraphicFramePr>
          <p:nvPr/>
        </p:nvGraphicFramePr>
        <p:xfrm>
          <a:off x="685800" y="4558385"/>
          <a:ext cx="6675120" cy="1045920"/>
        </p:xfrm>
        <a:graphic>
          <a:graphicData uri="http://schemas.openxmlformats.org/drawingml/2006/table">
            <a:tbl>
              <a:tblPr firstRow="0" bandRow="0">
                <a:tableStyleId>{2D5ABB26-0587-4C30-8999-92F81FD0307C}</a:tableStyleId>
              </a:tblPr>
              <a:tblGrid>
                <a:gridCol w="1188720"/>
                <a:gridCol w="5486400"/>
              </a:tblGrid>
              <a:tr h="348640">
                <a:tc>
                  <a:txBody>
                    <a:bodyPr wrap="square"/>
                    <a:lstStyle/>
                    <a:p>
                      <a:pPr algn="l">
                        <a:lnSpc>
                          <a:spcPct val="100000"/>
                        </a:lnSpc>
                      </a:pPr>
                      <a:r>
                        <a:rPr sz="1150" b="1">
                          <a:solidFill>
                            <a:srgbClr val="15171A"/>
                          </a:solidFill>
                          <a:latin typeface="Noto Sans KR"/>
                          <a:ea typeface="Noto Sans KR"/>
                          <a:cs typeface="Noto Sans KR"/>
                        </a:rPr>
                        <a:t>주방용</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세척성·오염 관리·방수·내열성 우선, 식품용 별도 재질 선정</a:t>
                      </a:r>
                    </a:p>
                  </a:txBody>
                  <a:tcPr marL="73152" marR="73152" marT="64008" marB="64008" anchor="t">
                    <a:lnL w="0">
                      <a:noFill/>
                    </a:lnL>
                    <a:lnR w="0">
                      <a:noFill/>
                    </a:lnR>
                    <a:lnT w="0">
                      <a:noFill/>
                    </a:lnT>
                    <a:lnB w="9525">
                      <a:solidFill>
                        <a:srgbClr val="E2E4E7"/>
                      </a:solidFill>
                    </a:lnB>
                    <a:noFill/>
                  </a:tcPr>
                </a:tc>
              </a:tr>
              <a:tr h="348640">
                <a:tc>
                  <a:txBody>
                    <a:bodyPr wrap="square"/>
                    <a:lstStyle/>
                    <a:p>
                      <a:pPr algn="l">
                        <a:lnSpc>
                          <a:spcPct val="100000"/>
                        </a:lnSpc>
                      </a:pPr>
                      <a:r>
                        <a:rPr sz="1150" b="1">
                          <a:solidFill>
                            <a:srgbClr val="15171A"/>
                          </a:solidFill>
                          <a:latin typeface="Noto Sans KR"/>
                          <a:ea typeface="Noto Sans KR"/>
                          <a:cs typeface="Noto Sans KR"/>
                        </a:rPr>
                        <a:t>제조용</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내마모·토크 유지·정비성 우선</a:t>
                      </a:r>
                    </a:p>
                  </a:txBody>
                  <a:tcPr marL="73152" marR="73152" marT="64008" marB="64008" anchor="t">
                    <a:lnL w="0">
                      <a:noFill/>
                    </a:lnL>
                    <a:lnR w="0">
                      <a:noFill/>
                    </a:lnR>
                    <a:lnT w="0">
                      <a:noFill/>
                    </a:lnT>
                    <a:lnB w="9525">
                      <a:solidFill>
                        <a:srgbClr val="E2E4E7"/>
                      </a:solidFill>
                    </a:lnB>
                    <a:noFill/>
                  </a:tcPr>
                </a:tc>
              </a:tr>
              <a:tr h="348640">
                <a:tc>
                  <a:txBody>
                    <a:bodyPr wrap="square"/>
                    <a:lstStyle/>
                    <a:p>
                      <a:pPr algn="l">
                        <a:lnSpc>
                          <a:spcPct val="100000"/>
                        </a:lnSpc>
                      </a:pPr>
                      <a:r>
                        <a:rPr sz="1150" b="1">
                          <a:solidFill>
                            <a:srgbClr val="15171A"/>
                          </a:solidFill>
                          <a:latin typeface="Noto Sans KR"/>
                          <a:ea typeface="Noto Sans KR"/>
                          <a:cs typeface="Noto Sans KR"/>
                        </a:rPr>
                        <a:t>공통</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교체형 패드·외피, 미끄럼·마모·세척·재질 적합성 시험</a:t>
                      </a:r>
                    </a:p>
                  </a:txBody>
                  <a:tcPr marL="73152" marR="73152" marT="64008" marB="64008" anchor="t">
                    <a:lnL w="0">
                      <a:noFill/>
                    </a:lnL>
                    <a:lnR w="0">
                      <a:noFill/>
                    </a:lnR>
                    <a:lnT w="0">
                      <a:noFill/>
                    </a:lnT>
                    <a:lnB w="9525">
                      <a:solidFill>
                        <a:srgbClr val="E2E4E7"/>
                      </a:solidFill>
                    </a:lnB>
                    <a:noFill/>
                  </a:tcPr>
                </a:tc>
              </a:tr>
            </a:tbl>
          </a:graphicData>
        </a:graphic>
      </p:graphicFrame>
      <p:sp>
        <p:nvSpPr>
          <p:cNvPr id="11" name="TextBox 10"/>
          <p:cNvSpPr txBox="1"/>
          <p:nvPr/>
        </p:nvSpPr>
        <p:spPr>
          <a:xfrm>
            <a:off x="7772400" y="1847088"/>
            <a:ext cx="37334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하중 설계 (계산 예)</a:t>
            </a:r>
          </a:p>
        </p:txBody>
      </p:sp>
      <p:cxnSp>
        <p:nvCxnSpPr>
          <p:cNvPr id="12" name="Connector 11"/>
          <p:cNvCxnSpPr/>
          <p:nvPr/>
        </p:nvCxnSpPr>
        <p:spPr>
          <a:xfrm>
            <a:off x="7772400" y="2176272"/>
            <a:ext cx="3733495" cy="0"/>
          </a:xfrm>
          <a:prstGeom prst="line">
            <a:avLst/>
          </a:prstGeom>
          <a:ln w="12700">
            <a:solidFill>
              <a:srgbClr val="15171A"/>
            </a:solidFill>
          </a:ln>
        </p:spPr>
      </p:cxnSp>
      <p:sp>
        <p:nvSpPr>
          <p:cNvPr id="13" name="TextBox 12"/>
          <p:cNvSpPr txBox="1"/>
          <p:nvPr/>
        </p:nvSpPr>
        <p:spPr>
          <a:xfrm>
            <a:off x="7772400" y="2286000"/>
            <a:ext cx="3733495" cy="1335633"/>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3kg 냄비, 무게중심이 파지점에서 0.20m</a:t>
            </a:r>
            <a:br/>
            <a:r>
              <a:rPr sz="1100" b="0">
                <a:solidFill>
                  <a:srgbClr val="4A4F57"/>
                </a:solidFill>
                <a:latin typeface="Noto Sans KR"/>
                <a:ea typeface="Noto Sans KR"/>
                <a:cs typeface="Noto Sans KR"/>
              </a:rPr>
              <a:t>3 × 9.81 × 0.20 ≈ 5.9N·m (정적 모멘트)</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가속·충격을 더하면 요구치 증가</a:t>
            </a:r>
            <a:br/>
            <a:r>
              <a:rPr sz="1100" b="0">
                <a:solidFill>
                  <a:srgbClr val="4A4F57"/>
                </a:solidFill>
                <a:latin typeface="Noto Sans KR"/>
                <a:ea typeface="Noto Sans KR"/>
                <a:cs typeface="Noto Sans KR"/>
              </a:rPr>
              <a:t>큰 냄비는 양손 지지 또는 거치대 보조</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손의 파지 하중 ≠ 로봇 팔 가반하중</a:t>
            </a:r>
            <a:br/>
            <a:r>
              <a:rPr sz="1100" b="0">
                <a:solidFill>
                  <a:srgbClr val="4A4F57"/>
                </a:solidFill>
                <a:latin typeface="Noto Sans KR"/>
                <a:ea typeface="Noto Sans KR"/>
                <a:cs typeface="Noto Sans KR"/>
              </a:rPr>
              <a:t>팔에는 손·어댑터·센서·도구·내용물 합산</a:t>
            </a:r>
          </a:p>
        </p:txBody>
      </p:sp>
      <p:sp>
        <p:nvSpPr>
          <p:cNvPr id="14" name="TextBox 13"/>
          <p:cNvSpPr txBox="1"/>
          <p:nvPr/>
        </p:nvSpPr>
        <p:spPr>
          <a:xfrm>
            <a:off x="7772400" y="3804513"/>
            <a:ext cx="37334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감각부·로봇 장착</a:t>
            </a:r>
          </a:p>
        </p:txBody>
      </p:sp>
      <p:cxnSp>
        <p:nvCxnSpPr>
          <p:cNvPr id="15" name="Connector 14"/>
          <p:cNvCxnSpPr/>
          <p:nvPr/>
        </p:nvCxnSpPr>
        <p:spPr>
          <a:xfrm>
            <a:off x="7772400" y="4133697"/>
            <a:ext cx="3733495" cy="0"/>
          </a:xfrm>
          <a:prstGeom prst="line">
            <a:avLst/>
          </a:prstGeom>
          <a:ln w="12700">
            <a:solidFill>
              <a:srgbClr val="15171A"/>
            </a:solidFill>
          </a:ln>
        </p:spPr>
      </p:cxnSp>
      <p:sp>
        <p:nvSpPr>
          <p:cNvPr id="16" name="TextBox 15"/>
          <p:cNvSpPr txBox="1"/>
          <p:nvPr/>
        </p:nvSpPr>
        <p:spPr>
          <a:xfrm>
            <a:off x="7772400" y="4243425"/>
            <a:ext cx="3733495" cy="1133348"/>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손끝·손바닥 접촉센서, 관절·장력 센서</a:t>
            </a:r>
            <a:br/>
            <a:r>
              <a:rPr sz="1100" b="0">
                <a:solidFill>
                  <a:srgbClr val="4A4F57"/>
                </a:solidFill>
                <a:latin typeface="Noto Sans KR"/>
                <a:ea typeface="Noto Sans KR"/>
                <a:cs typeface="Noto Sans KR"/>
              </a:rPr>
              <a:t>손목 6축 힘·토크 센서</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젖음·열·오염 조건의 편차와 재교정 시험</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플랜지 어댑터·공구중심점 교정·통신 드라이버</a:t>
            </a:r>
            <a:br/>
            <a:r>
              <a:rPr sz="1100" b="0">
                <a:solidFill>
                  <a:srgbClr val="4A4F57"/>
                </a:solidFill>
                <a:latin typeface="Noto Sans KR"/>
                <a:ea typeface="Noto Sans KR"/>
                <a:cs typeface="Noto Sans KR"/>
              </a:rPr>
              <a:t>대표 로봇 2개 플랫폼에서 통합 검증</a:t>
            </a:r>
          </a:p>
        </p:txBody>
      </p:sp>
      <p:sp>
        <p:nvSpPr>
          <p:cNvPr id="17" name="TextBox 1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8" name="TextBox 1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4지는 안정적 감싸쥐기와 비용, 5지는 재파지·정밀 조작 확장을 우선 · 엄지 대향·손가락 굽힘·제한적 벌림 동작 설계</a:t>
            </a:r>
          </a:p>
        </p:txBody>
      </p:sp>
      <p:sp>
        <p:nvSpPr>
          <p:cNvPr id="19" name="TextBox 1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A4</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비전 AI·데이터 상세</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센서별 역할을 나누고 실패 유형까지 기록 · 수치는 목표이며 현재 보유 데이터 없음</a:t>
            </a:r>
          </a:p>
        </p:txBody>
      </p:sp>
      <p:graphicFrame>
        <p:nvGraphicFramePr>
          <p:cNvPr id="5" name="Table 4"/>
          <p:cNvGraphicFramePr>
            <a:graphicFrameLocks noGrp="1"/>
          </p:cNvGraphicFramePr>
          <p:nvPr/>
        </p:nvGraphicFramePr>
        <p:xfrm>
          <a:off x="685800" y="1874519"/>
          <a:ext cx="6675120" cy="2348684"/>
        </p:xfrm>
        <a:graphic>
          <a:graphicData uri="http://schemas.openxmlformats.org/drawingml/2006/table">
            <a:tbl>
              <a:tblPr firstRow="0" bandRow="0">
                <a:tableStyleId>{2D5ABB26-0587-4C30-8999-92F81FD0307C}</a:tableStyleId>
              </a:tblPr>
              <a:tblGrid>
                <a:gridCol w="1965960"/>
                <a:gridCol w="1828800"/>
                <a:gridCol w="2880360"/>
              </a:tblGrid>
              <a:tr h="357733">
                <a:tc>
                  <a:txBody>
                    <a:bodyPr wrap="square"/>
                    <a:lstStyle/>
                    <a:p>
                      <a:pPr algn="l">
                        <a:lnSpc>
                          <a:spcPct val="100000"/>
                        </a:lnSpc>
                      </a:pPr>
                      <a:r>
                        <a:rPr sz="1100" b="1">
                          <a:solidFill>
                            <a:srgbClr val="15171A"/>
                          </a:solidFill>
                          <a:latin typeface="Noto Sans KR"/>
                          <a:ea typeface="Noto Sans KR"/>
                          <a:cs typeface="Noto Sans KR"/>
                        </a:rPr>
                        <a:t>센서</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확인 대상</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한계·보완</a:t>
                      </a:r>
                    </a:p>
                  </a:txBody>
                  <a:tcPr marL="73152" marR="73152" marT="73152" marB="73152" anchor="t">
                    <a:lnL w="0">
                      <a:noFill/>
                    </a:lnL>
                    <a:lnR w="0">
                      <a:noFill/>
                    </a:lnR>
                    <a:lnT w="12700">
                      <a:solidFill>
                        <a:srgbClr val="15171A"/>
                      </a:solidFill>
                    </a:lnT>
                    <a:lnB w="9525">
                      <a:solidFill>
                        <a:srgbClr val="15171A"/>
                      </a:solidFill>
                    </a:lnB>
                    <a:noFill/>
                  </a:tcPr>
                </a:tc>
              </a:tr>
              <a:tr h="560019">
                <a:tc>
                  <a:txBody>
                    <a:bodyPr wrap="square"/>
                    <a:lstStyle/>
                    <a:p>
                      <a:pPr algn="l">
                        <a:lnSpc>
                          <a:spcPct val="100000"/>
                        </a:lnSpc>
                      </a:pPr>
                      <a:r>
                        <a:rPr sz="1100" b="1">
                          <a:solidFill>
                            <a:srgbClr val="15171A"/>
                          </a:solidFill>
                          <a:latin typeface="Noto Sans KR"/>
                          <a:ea typeface="Noto Sans KR"/>
                          <a:cs typeface="Noto Sans KR"/>
                        </a:rPr>
                        <a:t>상부 RGB-D·손목 카메라</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형상·도구 부위·배치 상태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증기·금속 반사·기울어진 표면 오차 시험, 다른 시점 재관측</a:t>
                      </a:r>
                    </a:p>
                  </a:txBody>
                  <a:tcPr marL="73152" marR="73152" marT="73152" marB="73152" anchor="t">
                    <a:lnL w="0">
                      <a:noFill/>
                    </a:lnL>
                    <a:lnR w="0">
                      <a:noFill/>
                    </a:lnR>
                    <a:lnT w="0">
                      <a:noFill/>
                    </a:lnT>
                    <a:lnB w="9525">
                      <a:solidFill>
                        <a:srgbClr val="E2E4E7"/>
                      </a:solidFill>
                    </a:lnB>
                    <a:noFill/>
                  </a:tcPr>
                </a:tc>
              </a:tr>
              <a:tr h="357733">
                <a:tc>
                  <a:txBody>
                    <a:bodyPr wrap="square"/>
                    <a:lstStyle/>
                    <a:p>
                      <a:pPr algn="l">
                        <a:lnSpc>
                          <a:spcPct val="100000"/>
                        </a:lnSpc>
                      </a:pPr>
                      <a:r>
                        <a:rPr sz="1100" b="1">
                          <a:solidFill>
                            <a:srgbClr val="15171A"/>
                          </a:solidFill>
                          <a:latin typeface="Noto Sans KR"/>
                          <a:ea typeface="Noto Sans KR"/>
                          <a:cs typeface="Noto Sans KR"/>
                        </a:rPr>
                        <a:t>촉각 (손끝·손바닥)</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접촉·미끄러짐</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젖음·열·오염 조건 편차와 재교정</a:t>
                      </a:r>
                    </a:p>
                  </a:txBody>
                  <a:tcPr marL="73152" marR="73152" marT="73152" marB="73152" anchor="t">
                    <a:lnL w="0">
                      <a:noFill/>
                    </a:lnL>
                    <a:lnR w="0">
                      <a:noFill/>
                    </a:lnR>
                    <a:lnT w="0">
                      <a:noFill/>
                    </a:lnT>
                    <a:lnB w="9525">
                      <a:solidFill>
                        <a:srgbClr val="E2E4E7"/>
                      </a:solidFill>
                    </a:lnB>
                    <a:noFill/>
                  </a:tcPr>
                </a:tc>
              </a:tr>
              <a:tr h="357733">
                <a:tc>
                  <a:txBody>
                    <a:bodyPr wrap="square"/>
                    <a:lstStyle/>
                    <a:p>
                      <a:pPr algn="l">
                        <a:lnSpc>
                          <a:spcPct val="100000"/>
                        </a:lnSpc>
                      </a:pPr>
                      <a:r>
                        <a:rPr sz="1100" b="1">
                          <a:solidFill>
                            <a:srgbClr val="15171A"/>
                          </a:solidFill>
                          <a:latin typeface="Noto Sans KR"/>
                          <a:ea typeface="Noto Sans KR"/>
                          <a:cs typeface="Noto Sans KR"/>
                        </a:rPr>
                        <a:t>손목 6축 힘·토크</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반력·토크</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도구 토크·누름 힘 확인</a:t>
                      </a:r>
                    </a:p>
                  </a:txBody>
                  <a:tcPr marL="73152" marR="73152" marT="73152" marB="73152" anchor="t">
                    <a:lnL w="0">
                      <a:noFill/>
                    </a:lnL>
                    <a:lnR w="0">
                      <a:noFill/>
                    </a:lnR>
                    <a:lnT w="0">
                      <a:noFill/>
                    </a:lnT>
                    <a:lnB w="9525">
                      <a:solidFill>
                        <a:srgbClr val="E2E4E7"/>
                      </a:solidFill>
                    </a:lnB>
                    <a:noFill/>
                  </a:tcPr>
                </a:tc>
              </a:tr>
              <a:tr h="357733">
                <a:tc>
                  <a:txBody>
                    <a:bodyPr wrap="square"/>
                    <a:lstStyle/>
                    <a:p>
                      <a:pPr algn="l">
                        <a:lnSpc>
                          <a:spcPct val="100000"/>
                        </a:lnSpc>
                      </a:pPr>
                      <a:r>
                        <a:rPr sz="1100" b="1">
                          <a:solidFill>
                            <a:srgbClr val="15171A"/>
                          </a:solidFill>
                          <a:latin typeface="Noto Sans KR"/>
                          <a:ea typeface="Noto Sans KR"/>
                          <a:cs typeface="Noto Sans KR"/>
                        </a:rPr>
                        <a:t>초음파</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근거리 장애물·액면 (보조)</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정밀 자세·조리 온도 판단에는 사용하지 않음</a:t>
                      </a:r>
                    </a:p>
                  </a:txBody>
                  <a:tcPr marL="73152" marR="73152" marT="73152" marB="73152" anchor="t">
                    <a:lnL w="0">
                      <a:noFill/>
                    </a:lnL>
                    <a:lnR w="0">
                      <a:noFill/>
                    </a:lnR>
                    <a:lnT w="0">
                      <a:noFill/>
                    </a:lnT>
                    <a:lnB w="9525">
                      <a:solidFill>
                        <a:srgbClr val="E2E4E7"/>
                      </a:solidFill>
                    </a:lnB>
                    <a:noFill/>
                  </a:tcPr>
                </a:tc>
              </a:tr>
              <a:tr h="357733">
                <a:tc>
                  <a:txBody>
                    <a:bodyPr wrap="square"/>
                    <a:lstStyle/>
                    <a:p>
                      <a:pPr algn="l">
                        <a:lnSpc>
                          <a:spcPct val="100000"/>
                        </a:lnSpc>
                      </a:pPr>
                      <a:r>
                        <a:rPr sz="1100" b="1">
                          <a:solidFill>
                            <a:srgbClr val="15171A"/>
                          </a:solidFill>
                          <a:latin typeface="Noto Sans KR"/>
                          <a:ea typeface="Noto Sans KR"/>
                          <a:cs typeface="Noto Sans KR"/>
                        </a:rPr>
                        <a:t>인덕션 출력 + 온도센서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가열 상태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온도·시간·액량 감시</a:t>
                      </a:r>
                    </a:p>
                  </a:txBody>
                  <a:tcPr marL="73152" marR="73152" marT="73152" marB="73152"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4572000"/>
            <a:ext cx="667512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성능 보고 방식</a:t>
            </a:r>
          </a:p>
        </p:txBody>
      </p:sp>
      <p:cxnSp>
        <p:nvCxnSpPr>
          <p:cNvPr id="7" name="Connector 6"/>
          <p:cNvCxnSpPr/>
          <p:nvPr/>
        </p:nvCxnSpPr>
        <p:spPr>
          <a:xfrm>
            <a:off x="685800" y="4901184"/>
            <a:ext cx="6675120" cy="0"/>
          </a:xfrm>
          <a:prstGeom prst="line">
            <a:avLst/>
          </a:prstGeom>
          <a:ln w="12700">
            <a:solidFill>
              <a:srgbClr val="15171A"/>
            </a:solidFill>
          </a:ln>
        </p:spPr>
      </p:cxnSp>
      <p:sp>
        <p:nvSpPr>
          <p:cNvPr id="8" name="TextBox 7"/>
          <p:cNvSpPr txBox="1"/>
          <p:nvPr/>
        </p:nvSpPr>
        <p:spPr>
          <a:xfrm>
            <a:off x="685800" y="5010912"/>
            <a:ext cx="6675120" cy="488391"/>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최초 시도 성공·재시도 포함 성공·작업 중단을 분리하고 시험 횟수·성공 건수·신뢰구간을 함께 보고</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동적 파지는 추적 중지와 놓침도 실패로 집계, 미관측 물체 일반화는 별도 보고</a:t>
            </a:r>
          </a:p>
        </p:txBody>
      </p:sp>
      <p:sp>
        <p:nvSpPr>
          <p:cNvPr id="9" name="TextBox 8"/>
          <p:cNvSpPr txBox="1"/>
          <p:nvPr/>
        </p:nvSpPr>
        <p:spPr>
          <a:xfrm>
            <a:off x="7772400" y="1874519"/>
            <a:ext cx="37334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데이터 기록 항목 (시간 동기화)</a:t>
            </a:r>
          </a:p>
        </p:txBody>
      </p:sp>
      <p:cxnSp>
        <p:nvCxnSpPr>
          <p:cNvPr id="10" name="Connector 9"/>
          <p:cNvCxnSpPr/>
          <p:nvPr/>
        </p:nvCxnSpPr>
        <p:spPr>
          <a:xfrm>
            <a:off x="7772400" y="2203703"/>
            <a:ext cx="3733495" cy="0"/>
          </a:xfrm>
          <a:prstGeom prst="line">
            <a:avLst/>
          </a:prstGeom>
          <a:ln w="12700">
            <a:solidFill>
              <a:srgbClr val="15171A"/>
            </a:solidFill>
          </a:ln>
        </p:spPr>
      </p:cxnSp>
      <p:sp>
        <p:nvSpPr>
          <p:cNvPr id="11" name="TextBox 10"/>
          <p:cNvSpPr txBox="1"/>
          <p:nvPr/>
        </p:nvSpPr>
        <p:spPr>
          <a:xfrm>
            <a:off x="7772400" y="2313432"/>
            <a:ext cx="3733495" cy="892962"/>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객체 ID, 도구 기능부, 파지 방식, 관절·장력, 접촉력, 물체 속도, 조명·오염 조건, 결과와 실패 원인</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초기 목표: 도구·용기 30종 이상, 시도 1만 회 이상 (수집량보다 실패 유형의 다양성)</a:t>
            </a:r>
          </a:p>
        </p:txBody>
      </p:sp>
      <p:sp>
        <p:nvSpPr>
          <p:cNvPr id="12" name="TextBox 11"/>
          <p:cNvSpPr txBox="1"/>
          <p:nvPr/>
        </p:nvSpPr>
        <p:spPr>
          <a:xfrm>
            <a:off x="7772400" y="3389274"/>
            <a:ext cx="37334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학습·검증 방식</a:t>
            </a:r>
          </a:p>
        </p:txBody>
      </p:sp>
      <p:cxnSp>
        <p:nvCxnSpPr>
          <p:cNvPr id="13" name="Connector 12"/>
          <p:cNvCxnSpPr/>
          <p:nvPr/>
        </p:nvCxnSpPr>
        <p:spPr>
          <a:xfrm>
            <a:off x="7772400" y="3718458"/>
            <a:ext cx="3733495" cy="0"/>
          </a:xfrm>
          <a:prstGeom prst="line">
            <a:avLst/>
          </a:prstGeom>
          <a:ln w="12700">
            <a:solidFill>
              <a:srgbClr val="15171A"/>
            </a:solidFill>
          </a:ln>
        </p:spPr>
      </p:cxnSp>
      <p:sp>
        <p:nvSpPr>
          <p:cNvPr id="14" name="TextBox 13"/>
          <p:cNvSpPr txBox="1"/>
          <p:nvPr/>
        </p:nvSpPr>
        <p:spPr>
          <a:xfrm>
            <a:off x="7772400" y="3828186"/>
            <a:ext cx="3733495" cy="1133348"/>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사람 시연·원격조작으로 초기 정책, 현장 데이터 추가</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프레임 단위 무작위 분할 대신 물체 모델·작업 세션·현장 단위로 분리</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VLA·모방학습은 고수준 작업 선택·동작 생성 후보, 힘·속도·안전 한계는 독립 제어 계층</a:t>
            </a:r>
          </a:p>
        </p:txBody>
      </p:sp>
      <p:sp>
        <p:nvSpPr>
          <p:cNvPr id="15" name="TextBox 14"/>
          <p:cNvSpPr txBox="1"/>
          <p:nvPr/>
        </p:nvSpPr>
        <p:spPr>
          <a:xfrm>
            <a:off x="7772400" y="5144414"/>
            <a:ext cx="37334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데이터 권리</a:t>
            </a:r>
          </a:p>
        </p:txBody>
      </p:sp>
      <p:cxnSp>
        <p:nvCxnSpPr>
          <p:cNvPr id="16" name="Connector 15"/>
          <p:cNvCxnSpPr/>
          <p:nvPr/>
        </p:nvCxnSpPr>
        <p:spPr>
          <a:xfrm>
            <a:off x="7772400" y="5473598"/>
            <a:ext cx="3733495" cy="0"/>
          </a:xfrm>
          <a:prstGeom prst="line">
            <a:avLst/>
          </a:prstGeom>
          <a:ln w="12700">
            <a:solidFill>
              <a:srgbClr val="15171A"/>
            </a:solidFill>
          </a:ln>
        </p:spPr>
      </p:cxnSp>
      <p:sp>
        <p:nvSpPr>
          <p:cNvPr id="17" name="TextBox 16"/>
          <p:cNvSpPr txBox="1"/>
          <p:nvPr/>
        </p:nvSpPr>
        <p:spPr>
          <a:xfrm>
            <a:off x="7772400" y="5583326"/>
            <a:ext cx="3733495" cy="690676"/>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고객 현장 데이터의 수집·보관·학습·재사용 범위는 계약에서 분리 합의</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오픈소스 모델·라이브러리 상업 이용 조건은 출시 전 확인</a:t>
            </a:r>
          </a:p>
        </p:txBody>
      </p:sp>
      <p:sp>
        <p:nvSpPr>
          <p:cNvPr id="18" name="TextBox 17"/>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9" name="TextBox 1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A5</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적용 장면: 제조 반복 취급 (콘셉트 렌더링)</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초기 고객(로봇 SI·제조기업) 공정 예시 · 실제 적용 공정은 첫 90일 인터뷰로 확정 · 실제 시험 장면 아님</a:t>
            </a:r>
          </a:p>
        </p:txBody>
      </p:sp>
      <p:pic>
        <p:nvPicPr>
          <p:cNvPr id="5" name="Picture 4" descr="s1_door_color_light_209x145_50_50_100.jpg"/>
          <p:cNvPicPr>
            <a:picLocks noChangeAspect="1"/>
          </p:cNvPicPr>
          <p:nvPr/>
        </p:nvPicPr>
        <p:blipFill>
          <a:blip r:embed="rId2"/>
          <a:stretch>
            <a:fillRect/>
          </a:stretch>
        </p:blipFill>
        <p:spPr>
          <a:xfrm>
            <a:off x="685800" y="1874519"/>
            <a:ext cx="1914144" cy="1325880"/>
          </a:xfrm>
          <a:prstGeom prst="rect">
            <a:avLst/>
          </a:prstGeom>
        </p:spPr>
      </p:pic>
      <p:sp>
        <p:nvSpPr>
          <p:cNvPr id="6" name="TextBox 5"/>
          <p:cNvSpPr txBox="1"/>
          <p:nvPr/>
        </p:nvSpPr>
        <p:spPr>
          <a:xfrm>
            <a:off x="685800" y="327355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1  </a:t>
            </a:r>
            <a:r>
              <a:rPr sz="1200" b="1">
                <a:solidFill>
                  <a:srgbClr val="15171A"/>
                </a:solidFill>
                <a:latin typeface="Noto Sans KR"/>
                <a:ea typeface="Noto Sans KR"/>
                <a:cs typeface="Noto Sans KR"/>
              </a:rPr>
              <a:t>문 열기</a:t>
            </a:r>
          </a:p>
        </p:txBody>
      </p:sp>
      <p:pic>
        <p:nvPicPr>
          <p:cNvPr id="7" name="Picture 6" descr="s2_pick_color_light_209x145_50_50_100.jpg"/>
          <p:cNvPicPr>
            <a:picLocks noChangeAspect="1"/>
          </p:cNvPicPr>
          <p:nvPr/>
        </p:nvPicPr>
        <p:blipFill>
          <a:blip r:embed="rId3"/>
          <a:stretch>
            <a:fillRect/>
          </a:stretch>
        </p:blipFill>
        <p:spPr>
          <a:xfrm>
            <a:off x="2746248" y="1874519"/>
            <a:ext cx="1914144" cy="1325880"/>
          </a:xfrm>
          <a:prstGeom prst="rect">
            <a:avLst/>
          </a:prstGeom>
        </p:spPr>
      </p:pic>
      <p:sp>
        <p:nvSpPr>
          <p:cNvPr id="8" name="TextBox 7"/>
          <p:cNvSpPr txBox="1"/>
          <p:nvPr/>
        </p:nvSpPr>
        <p:spPr>
          <a:xfrm>
            <a:off x="2746248" y="327355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2  </a:t>
            </a:r>
            <a:r>
              <a:rPr sz="1200" b="1">
                <a:solidFill>
                  <a:srgbClr val="15171A"/>
                </a:solidFill>
                <a:latin typeface="Noto Sans KR"/>
                <a:ea typeface="Noto Sans KR"/>
                <a:cs typeface="Noto Sans KR"/>
              </a:rPr>
              <a:t>소재 집기</a:t>
            </a:r>
          </a:p>
        </p:txBody>
      </p:sp>
      <p:pic>
        <p:nvPicPr>
          <p:cNvPr id="9" name="Picture 8" descr="s3_load_color_light_209x145_50_50_100.jpg"/>
          <p:cNvPicPr>
            <a:picLocks noChangeAspect="1"/>
          </p:cNvPicPr>
          <p:nvPr/>
        </p:nvPicPr>
        <p:blipFill>
          <a:blip r:embed="rId4"/>
          <a:stretch>
            <a:fillRect/>
          </a:stretch>
        </p:blipFill>
        <p:spPr>
          <a:xfrm>
            <a:off x="4806696" y="1874519"/>
            <a:ext cx="1914144" cy="1325880"/>
          </a:xfrm>
          <a:prstGeom prst="rect">
            <a:avLst/>
          </a:prstGeom>
        </p:spPr>
      </p:pic>
      <p:sp>
        <p:nvSpPr>
          <p:cNvPr id="10" name="TextBox 9"/>
          <p:cNvSpPr txBox="1"/>
          <p:nvPr/>
        </p:nvSpPr>
        <p:spPr>
          <a:xfrm>
            <a:off x="4806696" y="327355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3  </a:t>
            </a:r>
            <a:r>
              <a:rPr sz="1200" b="1">
                <a:solidFill>
                  <a:srgbClr val="15171A"/>
                </a:solidFill>
                <a:latin typeface="Noto Sans KR"/>
                <a:ea typeface="Noto Sans KR"/>
                <a:cs typeface="Noto Sans KR"/>
              </a:rPr>
              <a:t>기계에 넣기</a:t>
            </a:r>
          </a:p>
        </p:txBody>
      </p:sp>
      <p:pic>
        <p:nvPicPr>
          <p:cNvPr id="11" name="Picture 10" descr="s4_press_color_light_209x145_50_50_100.jpg"/>
          <p:cNvPicPr>
            <a:picLocks noChangeAspect="1"/>
          </p:cNvPicPr>
          <p:nvPr/>
        </p:nvPicPr>
        <p:blipFill>
          <a:blip r:embed="rId5"/>
          <a:stretch>
            <a:fillRect/>
          </a:stretch>
        </p:blipFill>
        <p:spPr>
          <a:xfrm>
            <a:off x="685800" y="3657600"/>
            <a:ext cx="1914144" cy="1325880"/>
          </a:xfrm>
          <a:prstGeom prst="rect">
            <a:avLst/>
          </a:prstGeom>
        </p:spPr>
      </p:pic>
      <p:sp>
        <p:nvSpPr>
          <p:cNvPr id="12" name="TextBox 11"/>
          <p:cNvSpPr txBox="1"/>
          <p:nvPr/>
        </p:nvSpPr>
        <p:spPr>
          <a:xfrm>
            <a:off x="685800" y="505663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4  </a:t>
            </a:r>
            <a:r>
              <a:rPr sz="1200" b="1">
                <a:solidFill>
                  <a:srgbClr val="15171A"/>
                </a:solidFill>
                <a:latin typeface="Noto Sans KR"/>
                <a:ea typeface="Noto Sans KR"/>
                <a:cs typeface="Noto Sans KR"/>
              </a:rPr>
              <a:t>버튼 누르기</a:t>
            </a:r>
          </a:p>
        </p:txBody>
      </p:sp>
      <p:pic>
        <p:nvPicPr>
          <p:cNvPr id="13" name="Picture 12" descr="s5_unload_color_light_209x145_50_50_100.jpg"/>
          <p:cNvPicPr>
            <a:picLocks noChangeAspect="1"/>
          </p:cNvPicPr>
          <p:nvPr/>
        </p:nvPicPr>
        <p:blipFill>
          <a:blip r:embed="rId6"/>
          <a:stretch>
            <a:fillRect/>
          </a:stretch>
        </p:blipFill>
        <p:spPr>
          <a:xfrm>
            <a:off x="2746248" y="3657600"/>
            <a:ext cx="1914144" cy="1325880"/>
          </a:xfrm>
          <a:prstGeom prst="rect">
            <a:avLst/>
          </a:prstGeom>
        </p:spPr>
      </p:pic>
      <p:sp>
        <p:nvSpPr>
          <p:cNvPr id="14" name="TextBox 13"/>
          <p:cNvSpPr txBox="1"/>
          <p:nvPr/>
        </p:nvSpPr>
        <p:spPr>
          <a:xfrm>
            <a:off x="2746248" y="505663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5  </a:t>
            </a:r>
            <a:r>
              <a:rPr sz="1200" b="1">
                <a:solidFill>
                  <a:srgbClr val="15171A"/>
                </a:solidFill>
                <a:latin typeface="Noto Sans KR"/>
                <a:ea typeface="Noto Sans KR"/>
                <a:cs typeface="Noto Sans KR"/>
              </a:rPr>
              <a:t>완성품 꺼내기</a:t>
            </a:r>
          </a:p>
        </p:txBody>
      </p:sp>
      <p:pic>
        <p:nvPicPr>
          <p:cNvPr id="15" name="Picture 14" descr="s6_close_color_light_209x145_50_50_100.jpg"/>
          <p:cNvPicPr>
            <a:picLocks noChangeAspect="1"/>
          </p:cNvPicPr>
          <p:nvPr/>
        </p:nvPicPr>
        <p:blipFill>
          <a:blip r:embed="rId7"/>
          <a:stretch>
            <a:fillRect/>
          </a:stretch>
        </p:blipFill>
        <p:spPr>
          <a:xfrm>
            <a:off x="4806696" y="3657600"/>
            <a:ext cx="1914144" cy="1325880"/>
          </a:xfrm>
          <a:prstGeom prst="rect">
            <a:avLst/>
          </a:prstGeom>
        </p:spPr>
      </p:pic>
      <p:sp>
        <p:nvSpPr>
          <p:cNvPr id="16" name="TextBox 15"/>
          <p:cNvSpPr txBox="1"/>
          <p:nvPr/>
        </p:nvSpPr>
        <p:spPr>
          <a:xfrm>
            <a:off x="4806696" y="505663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6  </a:t>
            </a:r>
            <a:r>
              <a:rPr sz="1200" b="1">
                <a:solidFill>
                  <a:srgbClr val="15171A"/>
                </a:solidFill>
                <a:latin typeface="Noto Sans KR"/>
                <a:ea typeface="Noto Sans KR"/>
                <a:cs typeface="Noto Sans KR"/>
              </a:rPr>
              <a:t>문 닫기</a:t>
            </a:r>
          </a:p>
        </p:txBody>
      </p:sp>
      <p:sp>
        <p:nvSpPr>
          <p:cNvPr id="17" name="TextBox 16"/>
          <p:cNvSpPr txBox="1"/>
          <p:nvPr/>
        </p:nvSpPr>
        <p:spPr>
          <a:xfrm>
            <a:off x="685800" y="5440680"/>
            <a:ext cx="6035040" cy="23774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공작기계 소재 투입·배출 6단계 예시 (SoftHand-4 콘셉트 모델)</a:t>
            </a:r>
          </a:p>
        </p:txBody>
      </p:sp>
      <p:sp>
        <p:nvSpPr>
          <p:cNvPr id="18" name="TextBox 17"/>
          <p:cNvSpPr txBox="1"/>
          <p:nvPr/>
        </p:nvSpPr>
        <p:spPr>
          <a:xfrm>
            <a:off x="7178040" y="1874519"/>
            <a:ext cx="43278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사업상 위치</a:t>
            </a:r>
          </a:p>
        </p:txBody>
      </p:sp>
      <p:cxnSp>
        <p:nvCxnSpPr>
          <p:cNvPr id="19" name="Connector 18"/>
          <p:cNvCxnSpPr/>
          <p:nvPr/>
        </p:nvCxnSpPr>
        <p:spPr>
          <a:xfrm>
            <a:off x="7178040" y="2203703"/>
            <a:ext cx="4327855" cy="0"/>
          </a:xfrm>
          <a:prstGeom prst="line">
            <a:avLst/>
          </a:prstGeom>
          <a:ln w="12700">
            <a:solidFill>
              <a:srgbClr val="15171A"/>
            </a:solidFill>
          </a:ln>
        </p:spPr>
      </p:cxnSp>
      <p:sp>
        <p:nvSpPr>
          <p:cNvPr id="20" name="TextBox 19"/>
          <p:cNvSpPr txBox="1"/>
          <p:nvPr/>
        </p:nvSpPr>
        <p:spPr>
          <a:xfrm>
            <a:off x="7178040" y="2313432"/>
            <a:ext cx="4327855" cy="1390802"/>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50" b="0">
                <a:solidFill>
                  <a:srgbClr val="4A4F57"/>
                </a:solidFill>
                <a:latin typeface="Noto Sans KR"/>
                <a:ea typeface="Noto Sans KR"/>
                <a:cs typeface="Noto Sans KR"/>
              </a:rPr>
              <a:t>반복 취급 공정을 가진 제조기업과 로봇 SI가</a:t>
            </a:r>
            <a:br/>
            <a:r>
              <a:rPr sz="1150" b="0">
                <a:solidFill>
                  <a:srgbClr val="4A4F57"/>
                </a:solidFill>
                <a:latin typeface="Noto Sans KR"/>
                <a:ea typeface="Noto Sans KR"/>
                <a:cs typeface="Noto Sans KR"/>
              </a:rPr>
              <a:t>초기 고객 (1~2년차)</a:t>
            </a:r>
          </a:p>
          <a:p>
            <a:pPr algn="l" marL="164592" indent="-164592">
              <a:lnSpc>
                <a:spcPct val="100000"/>
              </a:lnSpc>
              <a:spcAft>
                <a:spcPts val="300"/>
              </a:spcAft>
              <a:buClr>
                <a:srgbClr val="8C9198"/>
              </a:buClr>
              <a:buFont typeface="Noto Sans KR"/>
              <a:buChar char="•"/>
            </a:pPr>
            <a:r>
              <a:rPr sz="1150" b="0">
                <a:solidFill>
                  <a:srgbClr val="4A4F57"/>
                </a:solidFill>
                <a:latin typeface="Noto Sans KR"/>
                <a:ea typeface="Noto Sans KR"/>
                <a:cs typeface="Noto Sans KR"/>
              </a:rPr>
              <a:t>같은 핸드로 문·버튼·소재를 다루면</a:t>
            </a:r>
            <a:br/>
            <a:r>
              <a:rPr sz="1150" b="0">
                <a:solidFill>
                  <a:srgbClr val="4A4F57"/>
                </a:solidFill>
                <a:latin typeface="Noto Sans KR"/>
                <a:ea typeface="Noto Sans KR"/>
                <a:cs typeface="Noto Sans KR"/>
              </a:rPr>
              <a:t>작업별 그리퍼·지그 교체를 줄일 수 있는지 검증</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0~3개월에 초기 적용 작업 3개 확정</a:t>
            </a:r>
            <a:br/>
            <a:r>
              <a:rPr sz="1150" b="0">
                <a:solidFill>
                  <a:srgbClr val="4A4F57"/>
                </a:solidFill>
                <a:latin typeface="Noto Sans KR"/>
                <a:ea typeface="Noto Sans KR"/>
                <a:cs typeface="Noto Sans KR"/>
              </a:rPr>
              <a:t>7~12개월 제조 실증</a:t>
            </a:r>
          </a:p>
        </p:txBody>
      </p:sp>
      <p:sp>
        <p:nvSpPr>
          <p:cNvPr id="21" name="TextBox 20"/>
          <p:cNvSpPr txBox="1"/>
          <p:nvPr/>
        </p:nvSpPr>
        <p:spPr>
          <a:xfrm>
            <a:off x="7178040" y="3887114"/>
            <a:ext cx="43278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검증 지표 (목표)</a:t>
            </a:r>
          </a:p>
        </p:txBody>
      </p:sp>
      <p:cxnSp>
        <p:nvCxnSpPr>
          <p:cNvPr id="22" name="Connector 21"/>
          <p:cNvCxnSpPr/>
          <p:nvPr/>
        </p:nvCxnSpPr>
        <p:spPr>
          <a:xfrm>
            <a:off x="7178040" y="4216298"/>
            <a:ext cx="4327855" cy="0"/>
          </a:xfrm>
          <a:prstGeom prst="line">
            <a:avLst/>
          </a:prstGeom>
          <a:ln w="12700">
            <a:solidFill>
              <a:srgbClr val="15171A"/>
            </a:solidFill>
          </a:ln>
        </p:spPr>
      </p:cxnSp>
      <p:sp>
        <p:nvSpPr>
          <p:cNvPr id="23" name="TextBox 22"/>
          <p:cNvSpPr txBox="1"/>
          <p:nvPr/>
        </p:nvSpPr>
        <p:spPr>
          <a:xfrm>
            <a:off x="7178040" y="4326026"/>
            <a:ext cx="4327855" cy="967841"/>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50" b="0">
                <a:solidFill>
                  <a:srgbClr val="4A4F57"/>
                </a:solidFill>
                <a:latin typeface="Noto Sans KR"/>
                <a:ea typeface="Noto Sans KR"/>
                <a:cs typeface="Noto Sans KR"/>
              </a:rPr>
              <a:t>정적 파지 30종 98%, 정렬 오차 ±3mm (24개월)</a:t>
            </a:r>
          </a:p>
          <a:p>
            <a:pPr algn="l" marL="164592" indent="-164592">
              <a:lnSpc>
                <a:spcPct val="100000"/>
              </a:lnSpc>
              <a:spcAft>
                <a:spcPts val="300"/>
              </a:spcAft>
              <a:buClr>
                <a:srgbClr val="8C9198"/>
              </a:buClr>
              <a:buFont typeface="Noto Sans KR"/>
              <a:buChar char="•"/>
            </a:pPr>
            <a:r>
              <a:rPr sz="1150" b="0">
                <a:solidFill>
                  <a:srgbClr val="4A4F57"/>
                </a:solidFill>
                <a:latin typeface="Noto Sans KR"/>
                <a:ea typeface="Noto Sans KR"/>
                <a:cs typeface="Noto Sans KR"/>
              </a:rPr>
              <a:t>사이클타임·전환시간·성공률·총비용을</a:t>
            </a:r>
            <a:br/>
            <a:r>
              <a:rPr sz="1150" b="0">
                <a:solidFill>
                  <a:srgbClr val="4A4F57"/>
                </a:solidFill>
                <a:latin typeface="Noto Sans KR"/>
                <a:ea typeface="Noto Sans KR"/>
                <a:cs typeface="Noto Sans KR"/>
              </a:rPr>
              <a:t>전용 그리퍼와 동일 조건에서 비교</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선정 고객의 총 사람 개입시간 30% 이상 감소</a:t>
            </a:r>
          </a:p>
        </p:txBody>
      </p:sp>
      <p:sp>
        <p:nvSpPr>
          <p:cNvPr id="24" name="TextBox 2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25" name="TextBox 2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렌더링은 동일 SoftHand-4 콘셉트 모델 · 시제품 확보 시 실제 시험 영상으로 교체</a:t>
            </a:r>
          </a:p>
        </p:txBody>
      </p:sp>
      <p:sp>
        <p:nvSpPr>
          <p:cNvPr id="26" name="TextBox 2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A6</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적용 장면: 주방 작업 (콘셉트 렌더링)</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로봇 주방(3년차~) 작업 예시 · 레시피 확장 순서에 따라 단계별 검증 · 실제 시험 장면 아님</a:t>
            </a:r>
          </a:p>
        </p:txBody>
      </p:sp>
      <p:pic>
        <p:nvPicPr>
          <p:cNvPr id="5" name="Picture 4" descr="lx_pick_light_280x162_50_50_100.jpg"/>
          <p:cNvPicPr>
            <a:picLocks noChangeAspect="1"/>
          </p:cNvPicPr>
          <p:nvPr/>
        </p:nvPicPr>
        <p:blipFill>
          <a:blip r:embed="rId2"/>
          <a:stretch>
            <a:fillRect/>
          </a:stretch>
        </p:blipFill>
        <p:spPr>
          <a:xfrm>
            <a:off x="685800" y="1874519"/>
            <a:ext cx="2567863" cy="1481328"/>
          </a:xfrm>
          <a:prstGeom prst="rect">
            <a:avLst/>
          </a:prstGeom>
        </p:spPr>
      </p:pic>
      <p:sp>
        <p:nvSpPr>
          <p:cNvPr id="6" name="TextBox 5"/>
          <p:cNvSpPr txBox="1"/>
          <p:nvPr/>
        </p:nvSpPr>
        <p:spPr>
          <a:xfrm>
            <a:off x="685800" y="3429000"/>
            <a:ext cx="256786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1단계  </a:t>
            </a:r>
            <a:r>
              <a:rPr sz="1200" b="1">
                <a:solidFill>
                  <a:srgbClr val="15171A"/>
                </a:solidFill>
                <a:latin typeface="Noto Sans KR"/>
                <a:ea typeface="Noto Sans KR"/>
                <a:cs typeface="Noto Sans KR"/>
              </a:rPr>
              <a:t>재료 집기</a:t>
            </a:r>
          </a:p>
        </p:txBody>
      </p:sp>
      <p:pic>
        <p:nvPicPr>
          <p:cNvPr id="7" name="Picture 6" descr="lx_lid_light_280x162_50_50_100.jpg"/>
          <p:cNvPicPr>
            <a:picLocks noChangeAspect="1"/>
          </p:cNvPicPr>
          <p:nvPr/>
        </p:nvPicPr>
        <p:blipFill>
          <a:blip r:embed="rId3"/>
          <a:stretch>
            <a:fillRect/>
          </a:stretch>
        </p:blipFill>
        <p:spPr>
          <a:xfrm>
            <a:off x="3436543" y="1874519"/>
            <a:ext cx="2567863" cy="1481328"/>
          </a:xfrm>
          <a:prstGeom prst="rect">
            <a:avLst/>
          </a:prstGeom>
        </p:spPr>
      </p:pic>
      <p:sp>
        <p:nvSpPr>
          <p:cNvPr id="8" name="TextBox 7"/>
          <p:cNvSpPr txBox="1"/>
          <p:nvPr/>
        </p:nvSpPr>
        <p:spPr>
          <a:xfrm>
            <a:off x="3436543" y="3429000"/>
            <a:ext cx="256786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1단계  </a:t>
            </a:r>
            <a:r>
              <a:rPr sz="1200" b="1">
                <a:solidFill>
                  <a:srgbClr val="15171A"/>
                </a:solidFill>
                <a:latin typeface="Noto Sans KR"/>
                <a:ea typeface="Noto Sans KR"/>
                <a:cs typeface="Noto Sans KR"/>
              </a:rPr>
              <a:t>용기 열기</a:t>
            </a:r>
          </a:p>
        </p:txBody>
      </p:sp>
      <p:pic>
        <p:nvPicPr>
          <p:cNvPr id="9" name="Picture 8" descr="lx_plate_light_280x162_50_50_100.jpg"/>
          <p:cNvPicPr>
            <a:picLocks noChangeAspect="1"/>
          </p:cNvPicPr>
          <p:nvPr/>
        </p:nvPicPr>
        <p:blipFill>
          <a:blip r:embed="rId4"/>
          <a:stretch>
            <a:fillRect/>
          </a:stretch>
        </p:blipFill>
        <p:spPr>
          <a:xfrm>
            <a:off x="6187287" y="1874519"/>
            <a:ext cx="2567863" cy="1481328"/>
          </a:xfrm>
          <a:prstGeom prst="rect">
            <a:avLst/>
          </a:prstGeom>
        </p:spPr>
      </p:pic>
      <p:sp>
        <p:nvSpPr>
          <p:cNvPr id="10" name="TextBox 9"/>
          <p:cNvSpPr txBox="1"/>
          <p:nvPr/>
        </p:nvSpPr>
        <p:spPr>
          <a:xfrm>
            <a:off x="6187287" y="3429000"/>
            <a:ext cx="256786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1단계  </a:t>
            </a:r>
            <a:r>
              <a:rPr sz="1200" b="1">
                <a:solidFill>
                  <a:srgbClr val="15171A"/>
                </a:solidFill>
                <a:latin typeface="Noto Sans KR"/>
                <a:ea typeface="Noto Sans KR"/>
                <a:cs typeface="Noto Sans KR"/>
              </a:rPr>
              <a:t>그릇에 담기</a:t>
            </a:r>
          </a:p>
        </p:txBody>
      </p:sp>
      <p:pic>
        <p:nvPicPr>
          <p:cNvPr id="11" name="Picture 10" descr="ck_wide_light_280x162_55_42_125.jpg"/>
          <p:cNvPicPr>
            <a:picLocks noChangeAspect="1"/>
          </p:cNvPicPr>
          <p:nvPr/>
        </p:nvPicPr>
        <p:blipFill>
          <a:blip r:embed="rId5"/>
          <a:stretch>
            <a:fillRect/>
          </a:stretch>
        </p:blipFill>
        <p:spPr>
          <a:xfrm>
            <a:off x="8938031" y="1874519"/>
            <a:ext cx="2567863" cy="1481328"/>
          </a:xfrm>
          <a:prstGeom prst="rect">
            <a:avLst/>
          </a:prstGeom>
        </p:spPr>
      </p:pic>
      <p:sp>
        <p:nvSpPr>
          <p:cNvPr id="12" name="TextBox 11"/>
          <p:cNvSpPr txBox="1"/>
          <p:nvPr/>
        </p:nvSpPr>
        <p:spPr>
          <a:xfrm>
            <a:off x="8938031" y="3429000"/>
            <a:ext cx="256786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구성  </a:t>
            </a:r>
            <a:r>
              <a:rPr sz="1200" b="1">
                <a:solidFill>
                  <a:srgbClr val="15171A"/>
                </a:solidFill>
                <a:latin typeface="Noto Sans KR"/>
                <a:ea typeface="Noto Sans KR"/>
                <a:cs typeface="Noto Sans KR"/>
              </a:rPr>
              <a:t>양팔·LM 이동축 구성</a:t>
            </a:r>
          </a:p>
        </p:txBody>
      </p:sp>
      <p:pic>
        <p:nvPicPr>
          <p:cNvPr id="13" name="Picture 12" descr="lx_drop_light_280x162_50_50_100.jpg"/>
          <p:cNvPicPr>
            <a:picLocks noChangeAspect="1"/>
          </p:cNvPicPr>
          <p:nvPr/>
        </p:nvPicPr>
        <p:blipFill>
          <a:blip r:embed="rId6"/>
          <a:stretch>
            <a:fillRect/>
          </a:stretch>
        </p:blipFill>
        <p:spPr>
          <a:xfrm>
            <a:off x="685800" y="3858768"/>
            <a:ext cx="2567863" cy="1481328"/>
          </a:xfrm>
          <a:prstGeom prst="rect">
            <a:avLst/>
          </a:prstGeom>
        </p:spPr>
      </p:pic>
      <p:sp>
        <p:nvSpPr>
          <p:cNvPr id="14" name="TextBox 13"/>
          <p:cNvSpPr txBox="1"/>
          <p:nvPr/>
        </p:nvSpPr>
        <p:spPr>
          <a:xfrm>
            <a:off x="685800" y="5413248"/>
            <a:ext cx="256786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2단계  </a:t>
            </a:r>
            <a:r>
              <a:rPr sz="1200" b="1">
                <a:solidFill>
                  <a:srgbClr val="15171A"/>
                </a:solidFill>
                <a:latin typeface="Noto Sans KR"/>
                <a:ea typeface="Noto Sans KR"/>
                <a:cs typeface="Noto Sans KR"/>
              </a:rPr>
              <a:t>팬에 투입</a:t>
            </a:r>
          </a:p>
        </p:txBody>
      </p:sp>
      <p:pic>
        <p:nvPicPr>
          <p:cNvPr id="15" name="Picture 14" descr="lx_tongs_light_280x162_50_50_100.jpg"/>
          <p:cNvPicPr>
            <a:picLocks noChangeAspect="1"/>
          </p:cNvPicPr>
          <p:nvPr/>
        </p:nvPicPr>
        <p:blipFill>
          <a:blip r:embed="rId7"/>
          <a:stretch>
            <a:fillRect/>
          </a:stretch>
        </p:blipFill>
        <p:spPr>
          <a:xfrm>
            <a:off x="3436543" y="3858768"/>
            <a:ext cx="2567863" cy="1481328"/>
          </a:xfrm>
          <a:prstGeom prst="rect">
            <a:avLst/>
          </a:prstGeom>
        </p:spPr>
      </p:pic>
      <p:sp>
        <p:nvSpPr>
          <p:cNvPr id="16" name="TextBox 15"/>
          <p:cNvSpPr txBox="1"/>
          <p:nvPr/>
        </p:nvSpPr>
        <p:spPr>
          <a:xfrm>
            <a:off x="3436543" y="5413248"/>
            <a:ext cx="256786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2단계  </a:t>
            </a:r>
            <a:r>
              <a:rPr sz="1200" b="1">
                <a:solidFill>
                  <a:srgbClr val="15171A"/>
                </a:solidFill>
                <a:latin typeface="Noto Sans KR"/>
                <a:ea typeface="Noto Sans KR"/>
                <a:cs typeface="Noto Sans KR"/>
              </a:rPr>
              <a:t>집게 사용</a:t>
            </a:r>
          </a:p>
        </p:txBody>
      </p:sp>
      <p:pic>
        <p:nvPicPr>
          <p:cNvPr id="17" name="Picture 16" descr="lx_stir_light_280x162_50_50_100.jpg"/>
          <p:cNvPicPr>
            <a:picLocks noChangeAspect="1"/>
          </p:cNvPicPr>
          <p:nvPr/>
        </p:nvPicPr>
        <p:blipFill>
          <a:blip r:embed="rId8"/>
          <a:stretch>
            <a:fillRect/>
          </a:stretch>
        </p:blipFill>
        <p:spPr>
          <a:xfrm>
            <a:off x="6187287" y="3858768"/>
            <a:ext cx="2567863" cy="1481328"/>
          </a:xfrm>
          <a:prstGeom prst="rect">
            <a:avLst/>
          </a:prstGeom>
        </p:spPr>
      </p:pic>
      <p:sp>
        <p:nvSpPr>
          <p:cNvPr id="18" name="TextBox 17"/>
          <p:cNvSpPr txBox="1"/>
          <p:nvPr/>
        </p:nvSpPr>
        <p:spPr>
          <a:xfrm>
            <a:off x="6187287" y="5413248"/>
            <a:ext cx="256786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2단계  </a:t>
            </a:r>
            <a:r>
              <a:rPr sz="1200" b="1">
                <a:solidFill>
                  <a:srgbClr val="15171A"/>
                </a:solidFill>
                <a:latin typeface="Noto Sans KR"/>
                <a:ea typeface="Noto Sans KR"/>
                <a:cs typeface="Noto Sans KR"/>
              </a:rPr>
              <a:t>저속 젓기</a:t>
            </a:r>
          </a:p>
        </p:txBody>
      </p:sp>
      <p:pic>
        <p:nvPicPr>
          <p:cNvPr id="19" name="Picture 18" descr="lx_knob_light_280x162_50_50_100.jpg"/>
          <p:cNvPicPr>
            <a:picLocks noChangeAspect="1"/>
          </p:cNvPicPr>
          <p:nvPr/>
        </p:nvPicPr>
        <p:blipFill>
          <a:blip r:embed="rId9"/>
          <a:stretch>
            <a:fillRect/>
          </a:stretch>
        </p:blipFill>
        <p:spPr>
          <a:xfrm>
            <a:off x="8938031" y="3858768"/>
            <a:ext cx="2567863" cy="1481328"/>
          </a:xfrm>
          <a:prstGeom prst="rect">
            <a:avLst/>
          </a:prstGeom>
        </p:spPr>
      </p:pic>
      <p:sp>
        <p:nvSpPr>
          <p:cNvPr id="20" name="TextBox 19"/>
          <p:cNvSpPr txBox="1"/>
          <p:nvPr/>
        </p:nvSpPr>
        <p:spPr>
          <a:xfrm>
            <a:off x="8938031" y="5413248"/>
            <a:ext cx="2567863"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2단계  </a:t>
            </a:r>
            <a:r>
              <a:rPr sz="1200" b="1">
                <a:solidFill>
                  <a:srgbClr val="15171A"/>
                </a:solidFill>
                <a:latin typeface="Noto Sans KR"/>
                <a:ea typeface="Noto Sans KR"/>
                <a:cs typeface="Noto Sans KR"/>
              </a:rPr>
              <a:t>인덕션 조절</a:t>
            </a:r>
          </a:p>
        </p:txBody>
      </p:sp>
      <p:sp>
        <p:nvSpPr>
          <p:cNvPr id="21" name="TextBox 2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22" name="TextBox 21"/>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단계: 레시피 확장 순서(1 비가열 취급, 2 저속 젓기 볶음·찜) · 팬 던지기·고속 칼질은 초기 범위에서 제외</a:t>
            </a:r>
          </a:p>
        </p:txBody>
      </p:sp>
      <p:sp>
        <p:nvSpPr>
          <p:cNvPr id="23" name="TextBox 2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A7</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로봇 주방 설치·운영 상세</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실제 구조는 가반하중·작업영역·건축 구조 검토 후 확정 · 주방 셀 판매는 3년차부터 (계획)</a:t>
            </a:r>
          </a:p>
        </p:txBody>
      </p:sp>
      <p:pic>
        <p:nvPicPr>
          <p:cNvPr id="5" name="Picture 4" descr="ck_wide_light_480x275_56_42_120.jpg"/>
          <p:cNvPicPr>
            <a:picLocks noChangeAspect="1"/>
          </p:cNvPicPr>
          <p:nvPr/>
        </p:nvPicPr>
        <p:blipFill>
          <a:blip r:embed="rId2"/>
          <a:stretch>
            <a:fillRect/>
          </a:stretch>
        </p:blipFill>
        <p:spPr>
          <a:xfrm>
            <a:off x="685800" y="1874519"/>
            <a:ext cx="4389120" cy="2514600"/>
          </a:xfrm>
          <a:prstGeom prst="rect">
            <a:avLst/>
          </a:prstGeom>
        </p:spPr>
      </p:pic>
      <p:sp>
        <p:nvSpPr>
          <p:cNvPr id="6" name="TextBox 5"/>
          <p:cNvSpPr txBox="1"/>
          <p:nvPr/>
        </p:nvSpPr>
        <p:spPr>
          <a:xfrm>
            <a:off x="685800" y="4453128"/>
            <a:ext cx="4389120" cy="23774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천장 이동형 양팔 로봇 주방 콘셉트 (렌더링, 단일 공통 캐리지안)</a:t>
            </a:r>
          </a:p>
        </p:txBody>
      </p:sp>
      <p:sp>
        <p:nvSpPr>
          <p:cNvPr id="7" name="TextBox 6"/>
          <p:cNvSpPr txBox="1"/>
          <p:nvPr/>
        </p:nvSpPr>
        <p:spPr>
          <a:xfrm>
            <a:off x="685800" y="4846320"/>
            <a:ext cx="438912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캐리지 구성 비교</a:t>
            </a:r>
          </a:p>
        </p:txBody>
      </p:sp>
      <p:cxnSp>
        <p:nvCxnSpPr>
          <p:cNvPr id="8" name="Connector 7"/>
          <p:cNvCxnSpPr/>
          <p:nvPr/>
        </p:nvCxnSpPr>
        <p:spPr>
          <a:xfrm>
            <a:off x="685800" y="5175504"/>
            <a:ext cx="4389120" cy="0"/>
          </a:xfrm>
          <a:prstGeom prst="line">
            <a:avLst/>
          </a:prstGeom>
          <a:ln w="12700">
            <a:solidFill>
              <a:srgbClr val="15171A"/>
            </a:solidFill>
          </a:ln>
        </p:spPr>
      </p:cxnSp>
      <p:graphicFrame>
        <p:nvGraphicFramePr>
          <p:cNvPr id="9" name="Table 8"/>
          <p:cNvGraphicFramePr>
            <a:graphicFrameLocks noGrp="1"/>
          </p:cNvGraphicFramePr>
          <p:nvPr/>
        </p:nvGraphicFramePr>
        <p:xfrm>
          <a:off x="685800" y="5193792"/>
          <a:ext cx="4389119" cy="844600"/>
        </p:xfrm>
        <a:graphic>
          <a:graphicData uri="http://schemas.openxmlformats.org/drawingml/2006/table">
            <a:tbl>
              <a:tblPr firstRow="0" bandRow="0">
                <a:tableStyleId>{2D5ABB26-0587-4C30-8999-92F81FD0307C}</a:tableStyleId>
              </a:tblPr>
              <a:tblGrid>
                <a:gridCol w="1463040"/>
                <a:gridCol w="2926079"/>
              </a:tblGrid>
              <a:tr h="321157">
                <a:tc>
                  <a:txBody>
                    <a:bodyPr wrap="square"/>
                    <a:lstStyle/>
                    <a:p>
                      <a:pPr algn="l">
                        <a:lnSpc>
                          <a:spcPct val="100000"/>
                        </a:lnSpc>
                      </a:pPr>
                      <a:r>
                        <a:rPr sz="1100" b="1">
                          <a:solidFill>
                            <a:srgbClr val="E2571B"/>
                          </a:solidFill>
                          <a:latin typeface="Noto Sans KR"/>
                          <a:ea typeface="Noto Sans KR"/>
                          <a:cs typeface="Noto Sans KR"/>
                        </a:rPr>
                        <a:t>단일 공통 캐리지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우선 비교, 이동·충돌 제어 단순화</a:t>
                      </a:r>
                    </a:p>
                  </a:txBody>
                  <a:tcPr marL="73152" marR="73152" marT="54864" marB="54864" anchor="t">
                    <a:lnL w="0">
                      <a:noFill/>
                    </a:lnL>
                    <a:lnR w="0">
                      <a:noFill/>
                    </a:lnR>
                    <a:lnT w="0">
                      <a:noFill/>
                    </a:lnT>
                    <a:lnB w="9525">
                      <a:solidFill>
                        <a:srgbClr val="E2E4E7"/>
                      </a:solidFill>
                    </a:lnB>
                    <a:noFill/>
                  </a:tcPr>
                </a:tc>
              </a:tr>
              <a:tr h="523443">
                <a:tc>
                  <a:txBody>
                    <a:bodyPr wrap="square"/>
                    <a:lstStyle/>
                    <a:p>
                      <a:pPr algn="l">
                        <a:lnSpc>
                          <a:spcPct val="100000"/>
                        </a:lnSpc>
                      </a:pPr>
                      <a:r>
                        <a:rPr sz="1100" b="1">
                          <a:solidFill>
                            <a:srgbClr val="15171A"/>
                          </a:solidFill>
                          <a:latin typeface="Noto Sans KR"/>
                          <a:ea typeface="Noto Sans KR"/>
                          <a:cs typeface="Noto Sans KR"/>
                        </a:rPr>
                        <a:t>독립 캐리지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후속 검토, 작업 범위는 넓지만</a:t>
                      </a:r>
                    </a:p>
                    <a:p>
                      <a:pPr algn="l">
                        <a:lnSpc>
                          <a:spcPct val="100000"/>
                        </a:lnSpc>
                      </a:pPr>
                      <a:r>
                        <a:rPr sz="1100" b="0">
                          <a:solidFill>
                            <a:srgbClr val="15171A"/>
                          </a:solidFill>
                          <a:latin typeface="Noto Sans KR"/>
                          <a:ea typeface="Noto Sans KR"/>
                          <a:cs typeface="Noto Sans KR"/>
                        </a:rPr>
                        <a:t>팔·축 간 충돌과 케이블 간섭 증가</a:t>
                      </a:r>
                    </a:p>
                  </a:txBody>
                  <a:tcPr marL="73152" marR="73152" marT="54864" marB="54864" anchor="t">
                    <a:lnL w="0">
                      <a:noFill/>
                    </a:lnL>
                    <a:lnR w="0">
                      <a:noFill/>
                    </a:lnR>
                    <a:lnT w="0">
                      <a:noFill/>
                    </a:lnT>
                    <a:lnB w="9525">
                      <a:solidFill>
                        <a:srgbClr val="E2E4E7"/>
                      </a:solidFill>
                    </a:lnB>
                    <a:noFill/>
                  </a:tcPr>
                </a:tc>
              </a:tr>
            </a:tbl>
          </a:graphicData>
        </a:graphic>
      </p:graphicFrame>
      <p:sp>
        <p:nvSpPr>
          <p:cNvPr id="10" name="TextBox 9"/>
          <p:cNvSpPr txBox="1"/>
          <p:nvPr/>
        </p:nvSpPr>
        <p:spPr>
          <a:xfrm>
            <a:off x="5486400" y="1874519"/>
            <a:ext cx="60194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구조·설치 조건</a:t>
            </a:r>
          </a:p>
        </p:txBody>
      </p:sp>
      <p:cxnSp>
        <p:nvCxnSpPr>
          <p:cNvPr id="11" name="Connector 10"/>
          <p:cNvCxnSpPr/>
          <p:nvPr/>
        </p:nvCxnSpPr>
        <p:spPr>
          <a:xfrm>
            <a:off x="5486400" y="2203703"/>
            <a:ext cx="6019495" cy="0"/>
          </a:xfrm>
          <a:prstGeom prst="line">
            <a:avLst/>
          </a:prstGeom>
          <a:ln w="12700">
            <a:solidFill>
              <a:srgbClr val="15171A"/>
            </a:solidFill>
          </a:ln>
        </p:spPr>
      </p:cxnSp>
      <p:sp>
        <p:nvSpPr>
          <p:cNvPr id="12" name="TextBox 11"/>
          <p:cNvSpPr txBox="1"/>
          <p:nvPr/>
        </p:nvSpPr>
        <p:spPr>
          <a:xfrm>
            <a:off x="5486400" y="2313432"/>
            <a:ext cx="6019495" cy="1171448"/>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LM 가이드는 안내 요소, 구동기·엔코더·브레이크·종단 스토퍼·케이블 관리장치 별도 필요</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검토된 구조체 또는 독립 프레임에 고정 (천장 마감재에 직접 고정하지 않음), 역설치 허용 로봇 모델 선택</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동하중·처짐·진동·낙하 방지·정전 시 보유 상태 검증</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상부 레일 윤활제·마모분이 조리구역에 떨어지지 않도록 커버·격리 구조</a:t>
            </a:r>
          </a:p>
        </p:txBody>
      </p:sp>
      <p:sp>
        <p:nvSpPr>
          <p:cNvPr id="13" name="TextBox 12"/>
          <p:cNvSpPr txBox="1"/>
          <p:nvPr/>
        </p:nvSpPr>
        <p:spPr>
          <a:xfrm>
            <a:off x="5486400" y="3640327"/>
            <a:ext cx="60194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운영 범위와 사람에게 남는 작업</a:t>
            </a:r>
          </a:p>
        </p:txBody>
      </p:sp>
      <p:cxnSp>
        <p:nvCxnSpPr>
          <p:cNvPr id="14" name="Connector 13"/>
          <p:cNvCxnSpPr/>
          <p:nvPr/>
        </p:nvCxnSpPr>
        <p:spPr>
          <a:xfrm>
            <a:off x="5486400" y="3969512"/>
            <a:ext cx="6019495" cy="0"/>
          </a:xfrm>
          <a:prstGeom prst="line">
            <a:avLst/>
          </a:prstGeom>
          <a:ln w="12700">
            <a:solidFill>
              <a:srgbClr val="15171A"/>
            </a:solidFill>
          </a:ln>
        </p:spPr>
      </p:cxnSp>
      <p:sp>
        <p:nvSpPr>
          <p:cNvPr id="15" name="TextBox 14"/>
          <p:cNvSpPr txBox="1"/>
          <p:nvPr/>
        </p:nvSpPr>
        <p:spPr>
          <a:xfrm>
            <a:off x="5486400" y="4079239"/>
            <a:ext cx="6019495" cy="488391"/>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레시피는 재료·중량·투입 순서·온도 범위·시간·완료 조건·예외 처리가 검증된 작업 절차로 관리</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식재료 전처리, 카트리지 보충, 일일 세척 점검은 사람 작업으로 도입 제안서에 명시</a:t>
            </a:r>
          </a:p>
        </p:txBody>
      </p:sp>
      <p:sp>
        <p:nvSpPr>
          <p:cNvPr id="16" name="TextBox 15"/>
          <p:cNvSpPr txBox="1"/>
          <p:nvPr/>
        </p:nvSpPr>
        <p:spPr>
          <a:xfrm>
            <a:off x="5486400" y="4723079"/>
            <a:ext cx="60194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견적 범위</a:t>
            </a:r>
          </a:p>
        </p:txBody>
      </p:sp>
      <p:cxnSp>
        <p:nvCxnSpPr>
          <p:cNvPr id="17" name="Connector 16"/>
          <p:cNvCxnSpPr/>
          <p:nvPr/>
        </p:nvCxnSpPr>
        <p:spPr>
          <a:xfrm>
            <a:off x="5486400" y="5052263"/>
            <a:ext cx="6019495" cy="0"/>
          </a:xfrm>
          <a:prstGeom prst="line">
            <a:avLst/>
          </a:prstGeom>
          <a:ln w="12700">
            <a:solidFill>
              <a:srgbClr val="15171A"/>
            </a:solidFill>
          </a:ln>
        </p:spPr>
      </p:cxnSp>
      <p:sp>
        <p:nvSpPr>
          <p:cNvPr id="18" name="TextBox 17"/>
          <p:cNvSpPr txBox="1"/>
          <p:nvPr/>
        </p:nvSpPr>
        <p:spPr>
          <a:xfrm>
            <a:off x="5486400" y="5161991"/>
            <a:ext cx="6019495" cy="488391"/>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셀 원가: 팔 2대·핸드 2개·레일/프레임·제어/안전·설치/시운전·기본 보증</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건축 보강·싱크대 전체 교체·급배수/전기 증설은 별도 견적</a:t>
            </a:r>
          </a:p>
        </p:txBody>
      </p:sp>
      <p:sp>
        <p:nvSpPr>
          <p:cNvPr id="19" name="TextBox 1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20" name="TextBox 19"/>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경제성 검증: 재료 보충·전후 세척·복구를 포함한 사람 개입시간, 에너지·물 사용량 기록</a:t>
            </a:r>
          </a:p>
        </p:txBody>
      </p:sp>
      <p:sp>
        <p:nvSpPr>
          <p:cNvPr id="21" name="TextBox 2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A8</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경쟁 상세: 핸드 · 그리퍼 · 로봇 주방 · 조리 자동화</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공개 정보 기반 정성 비교, 독립 비교시험 아님 · 회사명은 범주 예시이며 우열을 주장하지 않음</a:t>
            </a:r>
          </a:p>
        </p:txBody>
      </p:sp>
      <p:graphicFrame>
        <p:nvGraphicFramePr>
          <p:cNvPr id="5" name="Table 4"/>
          <p:cNvGraphicFramePr>
            <a:graphicFrameLocks noGrp="1"/>
          </p:cNvGraphicFramePr>
          <p:nvPr/>
        </p:nvGraphicFramePr>
        <p:xfrm>
          <a:off x="685800" y="1783080"/>
          <a:ext cx="10820095" cy="3562398"/>
        </p:xfrm>
        <a:graphic>
          <a:graphicData uri="http://schemas.openxmlformats.org/drawingml/2006/table">
            <a:tbl>
              <a:tblPr firstRow="0" bandRow="0">
                <a:tableStyleId>{2D5ABB26-0587-4C30-8999-92F81FD0307C}</a:tableStyleId>
              </a:tblPr>
              <a:tblGrid>
                <a:gridCol w="1691640"/>
                <a:gridCol w="5120640"/>
                <a:gridCol w="1371600"/>
                <a:gridCol w="2636215"/>
              </a:tblGrid>
              <a:tr h="357733">
                <a:tc>
                  <a:txBody>
                    <a:bodyPr wrap="square"/>
                    <a:lstStyle/>
                    <a:p>
                      <a:pPr algn="l">
                        <a:lnSpc>
                          <a:spcPct val="100000"/>
                        </a:lnSpc>
                      </a:pPr>
                      <a:r>
                        <a:rPr sz="1100" b="1">
                          <a:solidFill>
                            <a:srgbClr val="15171A"/>
                          </a:solidFill>
                          <a:latin typeface="Noto Sans KR"/>
                          <a:ea typeface="Noto Sans KR"/>
                          <a:cs typeface="Noto Sans KR"/>
                        </a:rPr>
                        <a:t>범주</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대표 사례 (공개 정보)</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특성</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본 사업의 대응</a:t>
                      </a:r>
                    </a:p>
                  </a:txBody>
                  <a:tcPr marL="73152" marR="73152" marT="73152" marB="73152" anchor="t">
                    <a:lnL w="0">
                      <a:noFill/>
                    </a:lnL>
                    <a:lnR w="0">
                      <a:noFill/>
                    </a:lnR>
                    <a:lnT w="12700">
                      <a:solidFill>
                        <a:srgbClr val="15171A"/>
                      </a:solidFill>
                    </a:lnT>
                    <a:lnB w="9525">
                      <a:solidFill>
                        <a:srgbClr val="15171A"/>
                      </a:solidFill>
                    </a:lnB>
                    <a:noFill/>
                  </a:tcPr>
                </a:tc>
              </a:tr>
              <a:tr h="762304">
                <a:tc>
                  <a:txBody>
                    <a:bodyPr wrap="square"/>
                    <a:lstStyle/>
                    <a:p>
                      <a:pPr algn="l">
                        <a:lnSpc>
                          <a:spcPct val="100000"/>
                        </a:lnSpc>
                      </a:pPr>
                      <a:r>
                        <a:rPr sz="1100" b="1">
                          <a:solidFill>
                            <a:srgbClr val="15171A"/>
                          </a:solidFill>
                          <a:latin typeface="Noto Sans KR"/>
                          <a:ea typeface="Noto Sans KR"/>
                          <a:cs typeface="Noto Sans KR"/>
                        </a:rPr>
                        <a:t>소프트·다지 핸드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qbrobotics qb SoftHand Industry: 5지, 19자유도·1모터, 파워그립 2kg,</a:t>
                      </a:r>
                    </a:p>
                    <a:p>
                      <a:pPr algn="l">
                        <a:lnSpc>
                          <a:spcPct val="100000"/>
                        </a:lnSpc>
                      </a:pPr>
                      <a:r>
                        <a:rPr sz="1100" b="0">
                          <a:solidFill>
                            <a:srgbClr val="15171A"/>
                          </a:solidFill>
                          <a:latin typeface="Noto Sans KR"/>
                          <a:ea typeface="Noto Sans KR"/>
                          <a:cs typeface="Noto Sans KR"/>
                        </a:rPr>
                        <a:t>핀치 0.6kg, IP65, 0.99kg (제조사 공개)</a:t>
                      </a:r>
                    </a:p>
                    <a:p>
                      <a:pPr algn="l">
                        <a:lnSpc>
                          <a:spcPct val="100000"/>
                        </a:lnSpc>
                      </a:pPr>
                      <a:r>
                        <a:rPr sz="1100" b="0">
                          <a:solidFill>
                            <a:srgbClr val="15171A"/>
                          </a:solidFill>
                          <a:latin typeface="Noto Sans KR"/>
                          <a:ea typeface="Noto Sans KR"/>
                          <a:cs typeface="Noto Sans KR"/>
                        </a:rPr>
                        <a:t>Shadow·Allegro·Tesollo 등 다지 핸드, Tesla·Figure 등은 손 자체 개발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형상 적응</a:t>
                      </a:r>
                    </a:p>
                    <a:p>
                      <a:pPr algn="l">
                        <a:lnSpc>
                          <a:spcPct val="100000"/>
                        </a:lnSpc>
                      </a:pPr>
                      <a:r>
                        <a:rPr sz="1100" b="0">
                          <a:solidFill>
                            <a:srgbClr val="15171A"/>
                          </a:solidFill>
                          <a:latin typeface="Noto Sans KR"/>
                          <a:ea typeface="Noto Sans KR"/>
                          <a:cs typeface="Noto Sans KR"/>
                        </a:rPr>
                        <a:t>고자유도</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도구 토크 유지, 부분 독립 조작,</a:t>
                      </a:r>
                    </a:p>
                    <a:p>
                      <a:pPr algn="l">
                        <a:lnSpc>
                          <a:spcPct val="100000"/>
                        </a:lnSpc>
                      </a:pPr>
                      <a:r>
                        <a:rPr sz="1100" b="0">
                          <a:solidFill>
                            <a:srgbClr val="15171A"/>
                          </a:solidFill>
                          <a:latin typeface="Noto Sans KR"/>
                          <a:ea typeface="Noto Sans KR"/>
                          <a:cs typeface="Noto Sans KR"/>
                        </a:rPr>
                        <a:t>세척 교체부, 작업 완료율로 비교</a:t>
                      </a:r>
                    </a:p>
                  </a:txBody>
                  <a:tcPr marL="73152" marR="73152" marT="73152" marB="73152" anchor="t">
                    <a:lnL w="0">
                      <a:noFill/>
                    </a:lnL>
                    <a:lnR w="0">
                      <a:noFill/>
                    </a:lnR>
                    <a:lnT w="0">
                      <a:noFill/>
                    </a:lnT>
                    <a:lnB w="9525">
                      <a:solidFill>
                        <a:srgbClr val="E2E4E7"/>
                      </a:solidFill>
                    </a:lnB>
                    <a:noFill/>
                  </a:tcPr>
                </a:tc>
              </a:tr>
              <a:tr h="560019">
                <a:tc>
                  <a:txBody>
                    <a:bodyPr wrap="square"/>
                    <a:lstStyle/>
                    <a:p>
                      <a:pPr algn="l">
                        <a:lnSpc>
                          <a:spcPct val="100000"/>
                        </a:lnSpc>
                      </a:pPr>
                      <a:r>
                        <a:rPr sz="1100" b="1">
                          <a:solidFill>
                            <a:srgbClr val="15171A"/>
                          </a:solidFill>
                          <a:latin typeface="Noto Sans KR"/>
                          <a:ea typeface="Noto Sans KR"/>
                          <a:cs typeface="Noto Sans KR"/>
                        </a:rPr>
                        <a:t>산업용 그리퍼·EOAT</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평행·진공·적응형 그리퍼, 툴 체인저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저가·고신뢰, 지정 공정 최적화</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범용성 이득이 비용·속도 손실보다 큰 다품종 작업에 집중</a:t>
                      </a:r>
                    </a:p>
                  </a:txBody>
                  <a:tcPr marL="73152" marR="73152" marT="73152" marB="73152" anchor="t">
                    <a:lnL w="0">
                      <a:noFill/>
                    </a:lnL>
                    <a:lnR w="0">
                      <a:noFill/>
                    </a:lnR>
                    <a:lnT w="0">
                      <a:noFill/>
                    </a:lnT>
                    <a:lnB w="9525">
                      <a:solidFill>
                        <a:srgbClr val="E2E4E7"/>
                      </a:solidFill>
                    </a:lnB>
                    <a:noFill/>
                  </a:tcPr>
                </a:tc>
              </a:tr>
              <a:tr h="762304">
                <a:tc>
                  <a:txBody>
                    <a:bodyPr wrap="square"/>
                    <a:lstStyle/>
                    <a:p>
                      <a:pPr algn="l">
                        <a:lnSpc>
                          <a:spcPct val="100000"/>
                        </a:lnSpc>
                      </a:pPr>
                      <a:r>
                        <a:rPr sz="1100" b="1">
                          <a:solidFill>
                            <a:srgbClr val="15171A"/>
                          </a:solidFill>
                          <a:latin typeface="Noto Sans KR"/>
                          <a:ea typeface="Noto Sans KR"/>
                          <a:cs typeface="Noto Sans KR"/>
                        </a:rPr>
                        <a:t>로봇 주방 시스템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Moley Robotics A-AiR: 이동 플랫폼 양손 로봇, 3자유도 갠트리, 비전,</a:t>
                      </a:r>
                    </a:p>
                    <a:p>
                      <a:pPr algn="l">
                        <a:lnSpc>
                          <a:spcPct val="100000"/>
                        </a:lnSpc>
                      </a:pPr>
                      <a:r>
                        <a:rPr sz="1100" b="0">
                          <a:solidFill>
                            <a:srgbClr val="15171A"/>
                          </a:solidFill>
                          <a:latin typeface="Noto Sans KR"/>
                          <a:ea typeface="Noto Sans KR"/>
                          <a:cs typeface="Noto Sans KR"/>
                        </a:rPr>
                        <a:t>수전·오븐·블렌더 등 주방기기 연동 (공급사 소개, 2020 발표)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통합 주방 제품</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천장 양팔 주방 자체의 신규성 주장 배제</a:t>
                      </a:r>
                    </a:p>
                    <a:p>
                      <a:pPr algn="l">
                        <a:lnSpc>
                          <a:spcPct val="100000"/>
                        </a:lnSpc>
                      </a:pPr>
                      <a:r>
                        <a:rPr sz="1100" b="0">
                          <a:solidFill>
                            <a:srgbClr val="15171A"/>
                          </a:solidFill>
                          <a:latin typeface="Noto Sans KR"/>
                          <a:ea typeface="Noto Sans KR"/>
                          <a:cs typeface="Noto Sans KR"/>
                        </a:rPr>
                        <a:t>부품 플랫폼·국내 주방 통합·서비스성 검증</a:t>
                      </a:r>
                    </a:p>
                  </a:txBody>
                  <a:tcPr marL="73152" marR="73152" marT="73152" marB="73152" anchor="t">
                    <a:lnL w="0">
                      <a:noFill/>
                    </a:lnL>
                    <a:lnR w="0">
                      <a:noFill/>
                    </a:lnR>
                    <a:lnT w="0">
                      <a:noFill/>
                    </a:lnT>
                    <a:lnB w="9525">
                      <a:solidFill>
                        <a:srgbClr val="E2E4E7"/>
                      </a:solidFill>
                    </a:lnB>
                    <a:noFill/>
                  </a:tcPr>
                </a:tc>
              </a:tr>
              <a:tr h="560019">
                <a:tc>
                  <a:txBody>
                    <a:bodyPr wrap="square"/>
                    <a:lstStyle/>
                    <a:p>
                      <a:pPr algn="l">
                        <a:lnSpc>
                          <a:spcPct val="100000"/>
                        </a:lnSpc>
                      </a:pPr>
                      <a:r>
                        <a:rPr sz="1100" b="1">
                          <a:solidFill>
                            <a:srgbClr val="15171A"/>
                          </a:solidFill>
                          <a:latin typeface="Noto Sans KR"/>
                          <a:ea typeface="Noto Sans KR"/>
                          <a:cs typeface="Noto Sans KR"/>
                        </a:rPr>
                        <a:t>조리 자동화 연구</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YORI (Noh 외, arXiv:2405.11094)</a:t>
                      </a:r>
                    </a:p>
                    <a:p>
                      <a:pPr algn="l">
                        <a:lnSpc>
                          <a:spcPct val="100000"/>
                        </a:lnSpc>
                      </a:pPr>
                      <a:r>
                        <a:rPr sz="1100" b="0">
                          <a:solidFill>
                            <a:srgbClr val="15171A"/>
                          </a:solidFill>
                          <a:latin typeface="Noto Sans KR"/>
                          <a:ea typeface="Noto Sans KR"/>
                          <a:cs typeface="Noto Sans KR"/>
                        </a:rPr>
                        <a:t>모듈형 로봇 주방과 양팔 매니퓰레이터를 활용한 자율 조리</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연구 시연</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장시간 운영·정비·유료 고객</a:t>
                      </a:r>
                    </a:p>
                    <a:p>
                      <a:pPr algn="l">
                        <a:lnSpc>
                          <a:spcPct val="100000"/>
                        </a:lnSpc>
                      </a:pPr>
                      <a:r>
                        <a:rPr sz="1100" b="0">
                          <a:solidFill>
                            <a:srgbClr val="15171A"/>
                          </a:solidFill>
                          <a:latin typeface="Noto Sans KR"/>
                          <a:ea typeface="Noto Sans KR"/>
                          <a:cs typeface="Noto Sans KR"/>
                        </a:rPr>
                        <a:t>경제성 입증</a:t>
                      </a:r>
                    </a:p>
                  </a:txBody>
                  <a:tcPr marL="73152" marR="73152" marT="73152" marB="73152" anchor="t">
                    <a:lnL w="0">
                      <a:noFill/>
                    </a:lnL>
                    <a:lnR w="0">
                      <a:noFill/>
                    </a:lnR>
                    <a:lnT w="0">
                      <a:noFill/>
                    </a:lnT>
                    <a:lnB w="9525">
                      <a:solidFill>
                        <a:srgbClr val="E2E4E7"/>
                      </a:solidFill>
                    </a:lnB>
                    <a:noFill/>
                  </a:tcPr>
                </a:tc>
              </a:tr>
              <a:tr h="560019">
                <a:tc>
                  <a:txBody>
                    <a:bodyPr wrap="square"/>
                    <a:lstStyle/>
                    <a:p>
                      <a:pPr algn="l">
                        <a:lnSpc>
                          <a:spcPct val="100000"/>
                        </a:lnSpc>
                      </a:pPr>
                      <a:r>
                        <a:rPr sz="1100" b="1">
                          <a:solidFill>
                            <a:srgbClr val="15171A"/>
                          </a:solidFill>
                          <a:latin typeface="Noto Sans KR"/>
                          <a:ea typeface="Noto Sans KR"/>
                          <a:cs typeface="Noto Sans KR"/>
                        </a:rPr>
                        <a:t>전용 조리 장비</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급식 사업장 공정별 조리로봇(삼성웰스토리), 패티 조리 로봇(에니아이),</a:t>
                      </a:r>
                    </a:p>
                    <a:p>
                      <a:pPr algn="l">
                        <a:lnSpc>
                          <a:spcPct val="100000"/>
                        </a:lnSpc>
                      </a:pPr>
                      <a:r>
                        <a:rPr sz="1100" b="0">
                          <a:solidFill>
                            <a:srgbClr val="15171A"/>
                          </a:solidFill>
                          <a:latin typeface="Noto Sans KR"/>
                          <a:ea typeface="Noto Sans KR"/>
                          <a:cs typeface="Noto Sans KR"/>
                        </a:rPr>
                        <a:t>튀김 스테이션(Miso Robotics)</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지정 메뉴</a:t>
                      </a:r>
                    </a:p>
                    <a:p>
                      <a:pPr algn="l">
                        <a:lnSpc>
                          <a:spcPct val="100000"/>
                        </a:lnSpc>
                      </a:pPr>
                      <a:r>
                        <a:rPr sz="1100" b="0">
                          <a:solidFill>
                            <a:srgbClr val="15171A"/>
                          </a:solidFill>
                          <a:latin typeface="Noto Sans KR"/>
                          <a:ea typeface="Noto Sans KR"/>
                          <a:cs typeface="Noto Sans KR"/>
                        </a:rPr>
                        <a:t>고처리량</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로봇 주방은 정해진 재료·도구·</a:t>
                      </a:r>
                    </a:p>
                    <a:p>
                      <a:pPr algn="l">
                        <a:lnSpc>
                          <a:spcPct val="100000"/>
                        </a:lnSpc>
                      </a:pPr>
                      <a:r>
                        <a:rPr sz="1100" b="0">
                          <a:solidFill>
                            <a:srgbClr val="15171A"/>
                          </a:solidFill>
                          <a:latin typeface="Noto Sans KR"/>
                          <a:ea typeface="Noto Sans KR"/>
                          <a:cs typeface="Noto Sans KR"/>
                        </a:rPr>
                        <a:t>메뉴의 반복 업무에 집중</a:t>
                      </a:r>
                    </a:p>
                  </a:txBody>
                  <a:tcPr marL="73152" marR="73152" marT="73152" marB="73152"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7" name="TextBox 6"/>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출처: 부록 A15 · Moley 사진·로고는 사용하지 않음 (본 자료 이미지는 자체 콘셉트 렌더링)</a:t>
            </a:r>
          </a:p>
        </p:txBody>
      </p:sp>
      <p:sp>
        <p:nvSpPr>
          <p:cNvPr id="8" name="TextBox 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A9</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시장 근거 상세</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설치 기반과 수요 배경을 보여주는 공개 지표 · 당사 시장 규모와 매출로 전환하지 않음</a:t>
            </a:r>
          </a:p>
        </p:txBody>
      </p:sp>
      <p:graphicFrame>
        <p:nvGraphicFramePr>
          <p:cNvPr id="5" name="Table 4"/>
          <p:cNvGraphicFramePr>
            <a:graphicFrameLocks noGrp="1"/>
          </p:cNvGraphicFramePr>
          <p:nvPr/>
        </p:nvGraphicFramePr>
        <p:xfrm>
          <a:off x="685800" y="1783080"/>
          <a:ext cx="10820095" cy="3653838"/>
        </p:xfrm>
        <a:graphic>
          <a:graphicData uri="http://schemas.openxmlformats.org/drawingml/2006/table">
            <a:tbl>
              <a:tblPr firstRow="0" bandRow="0">
                <a:tableStyleId>{2D5ABB26-0587-4C30-8999-92F81FD0307C}</a:tableStyleId>
              </a:tblPr>
              <a:tblGrid>
                <a:gridCol w="2103120"/>
                <a:gridCol w="6126480"/>
                <a:gridCol w="2590495"/>
              </a:tblGrid>
              <a:tr h="330301">
                <a:tc>
                  <a:txBody>
                    <a:bodyPr wrap="square"/>
                    <a:lstStyle/>
                    <a:p>
                      <a:pPr algn="l">
                        <a:lnSpc>
                          <a:spcPct val="100000"/>
                        </a:lnSpc>
                      </a:pPr>
                      <a:r>
                        <a:rPr sz="1100" b="1">
                          <a:solidFill>
                            <a:srgbClr val="15171A"/>
                          </a:solidFill>
                          <a:latin typeface="Noto Sans KR"/>
                          <a:ea typeface="Noto Sans KR"/>
                          <a:cs typeface="Noto Sans KR"/>
                        </a:rPr>
                        <a:t>구분</a:t>
                      </a:r>
                    </a:p>
                  </a:txBody>
                  <a:tcPr marL="73152" marR="73152" marT="59436" marB="5943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내용</a:t>
                      </a:r>
                    </a:p>
                  </a:txBody>
                  <a:tcPr marL="73152" marR="73152" marT="59436" marB="5943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출처</a:t>
                      </a:r>
                    </a:p>
                  </a:txBody>
                  <a:tcPr marL="73152" marR="73152" marT="59436" marB="59436" anchor="t">
                    <a:lnL w="0">
                      <a:noFill/>
                    </a:lnL>
                    <a:lnR w="0">
                      <a:noFill/>
                    </a:lnR>
                    <a:lnT w="12700">
                      <a:solidFill>
                        <a:srgbClr val="15171A"/>
                      </a:solidFill>
                    </a:lnT>
                    <a:lnB w="9525">
                      <a:solidFill>
                        <a:srgbClr val="15171A"/>
                      </a:solidFill>
                    </a:lnB>
                    <a:noFill/>
                  </a:tcPr>
                </a:tc>
              </a:tr>
              <a:tr h="532587">
                <a:tc>
                  <a:txBody>
                    <a:bodyPr wrap="square"/>
                    <a:lstStyle/>
                    <a:p>
                      <a:pPr algn="l">
                        <a:lnSpc>
                          <a:spcPct val="100000"/>
                        </a:lnSpc>
                      </a:pPr>
                      <a:r>
                        <a:rPr sz="1100" b="1">
                          <a:solidFill>
                            <a:srgbClr val="15171A"/>
                          </a:solidFill>
                          <a:latin typeface="Noto Sans KR"/>
                          <a:ea typeface="Noto Sans KR"/>
                          <a:cs typeface="Noto Sans KR"/>
                        </a:rPr>
                        <a:t>로봇 설치 기반 (세계)</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산업용 로봇 신규 설치 2024년 약 54.2만 대 → 2025년 60만 대 이상 (+11%)</a:t>
                      </a:r>
                    </a:p>
                    <a:p>
                      <a:pPr algn="l">
                        <a:lnSpc>
                          <a:spcPct val="100000"/>
                        </a:lnSpc>
                      </a:pPr>
                      <a:r>
                        <a:rPr sz="1100" b="0">
                          <a:solidFill>
                            <a:srgbClr val="15171A"/>
                          </a:solidFill>
                          <a:latin typeface="Noto Sans KR"/>
                          <a:ea typeface="Noto Sans KR"/>
                          <a:cs typeface="Noto Sans KR"/>
                        </a:rPr>
                        <a:t>가동 대수 약 500만 대 (2025, +9%), 중국이 신규 설치의 59%</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IFR World Robotics 2025·2026</a:t>
                      </a:r>
                    </a:p>
                  </a:txBody>
                  <a:tcPr marL="73152" marR="73152" marT="59436" marB="59436" anchor="t">
                    <a:lnL w="0">
                      <a:noFill/>
                    </a:lnL>
                    <a:lnR w="0">
                      <a:noFill/>
                    </a:lnR>
                    <a:lnT w="0">
                      <a:noFill/>
                    </a:lnT>
                    <a:lnB w="9525">
                      <a:solidFill>
                        <a:srgbClr val="E2E4E7"/>
                      </a:solidFill>
                    </a:lnB>
                    <a:noFill/>
                  </a:tcPr>
                </a:tc>
              </a:tr>
              <a:tr h="532587">
                <a:tc>
                  <a:txBody>
                    <a:bodyPr wrap="square"/>
                    <a:lstStyle/>
                    <a:p>
                      <a:pPr algn="l">
                        <a:lnSpc>
                          <a:spcPct val="100000"/>
                        </a:lnSpc>
                      </a:pPr>
                      <a:r>
                        <a:rPr sz="1100" b="1">
                          <a:solidFill>
                            <a:srgbClr val="15171A"/>
                          </a:solidFill>
                          <a:latin typeface="Noto Sans KR"/>
                          <a:ea typeface="Noto Sans KR"/>
                          <a:cs typeface="Noto Sans KR"/>
                        </a:rPr>
                        <a:t>로봇 설치 기반 (국내)</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2025년 신규 설치 약 3.0만 대 (−1%), 세계 4위 시장</a:t>
                      </a:r>
                    </a:p>
                    <a:p>
                      <a:pPr algn="l">
                        <a:lnSpc>
                          <a:spcPct val="100000"/>
                        </a:lnSpc>
                      </a:pPr>
                      <a:r>
                        <a:rPr sz="1100" b="0">
                          <a:solidFill>
                            <a:srgbClr val="15171A"/>
                          </a:solidFill>
                          <a:latin typeface="Noto Sans KR"/>
                          <a:ea typeface="Noto Sans KR"/>
                          <a:cs typeface="Noto Sans KR"/>
                        </a:rPr>
                        <a:t>로봇 밀도 근로자 1만 명당 1,220대 (세계 1위, 2019년 이후 연평균 7% 증가)</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IFR World Robotics 2026</a:t>
                      </a:r>
                    </a:p>
                  </a:txBody>
                  <a:tcPr marL="73152" marR="73152" marT="59436" marB="59436" anchor="t">
                    <a:lnL w="0">
                      <a:noFill/>
                    </a:lnL>
                    <a:lnR w="0">
                      <a:noFill/>
                    </a:lnR>
                    <a:lnT w="0">
                      <a:noFill/>
                    </a:lnT>
                    <a:lnB w="9525">
                      <a:solidFill>
                        <a:srgbClr val="E2E4E7"/>
                      </a:solidFill>
                    </a:lnB>
                    <a:noFill/>
                  </a:tcPr>
                </a:tc>
              </a:tr>
              <a:tr h="532587">
                <a:tc>
                  <a:txBody>
                    <a:bodyPr wrap="square"/>
                    <a:lstStyle/>
                    <a:p>
                      <a:pPr algn="l">
                        <a:lnSpc>
                          <a:spcPct val="100000"/>
                        </a:lnSpc>
                      </a:pPr>
                      <a:r>
                        <a:rPr sz="1100" b="1">
                          <a:solidFill>
                            <a:srgbClr val="15171A"/>
                          </a:solidFill>
                          <a:latin typeface="Noto Sans KR"/>
                          <a:ea typeface="Noto Sans KR"/>
                          <a:cs typeface="Noto Sans KR"/>
                        </a:rPr>
                        <a:t>로봇 도입 비용 구조</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기존 로봇 도입 총소유비용의 약 75%가 초기 셋업·재설계</a:t>
                      </a:r>
                    </a:p>
                    <a:p>
                      <a:pPr algn="l">
                        <a:lnSpc>
                          <a:spcPct val="100000"/>
                        </a:lnSpc>
                      </a:pPr>
                      <a:r>
                        <a:rPr sz="1100" b="0">
                          <a:solidFill>
                            <a:srgbClr val="15171A"/>
                          </a:solidFill>
                          <a:latin typeface="Noto Sans KR"/>
                          <a:ea typeface="Noto Sans KR"/>
                          <a:cs typeface="Noto Sans KR"/>
                        </a:rPr>
                        <a:t>(작업 흐름 구성, 신제품 적응, 기존 공정 통합)</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BCG (2026.4)</a:t>
                      </a:r>
                    </a:p>
                  </a:txBody>
                  <a:tcPr marL="73152" marR="73152" marT="59436" marB="59436" anchor="t">
                    <a:lnL w="0">
                      <a:noFill/>
                    </a:lnL>
                    <a:lnR w="0">
                      <a:noFill/>
                    </a:lnR>
                    <a:lnT w="0">
                      <a:noFill/>
                    </a:lnT>
                    <a:lnB w="9525">
                      <a:solidFill>
                        <a:srgbClr val="E2E4E7"/>
                      </a:solidFill>
                    </a:lnB>
                    <a:noFill/>
                  </a:tcPr>
                </a:tc>
              </a:tr>
              <a:tr h="532587">
                <a:tc>
                  <a:txBody>
                    <a:bodyPr wrap="square"/>
                    <a:lstStyle/>
                    <a:p>
                      <a:pPr algn="l">
                        <a:lnSpc>
                          <a:spcPct val="100000"/>
                        </a:lnSpc>
                      </a:pPr>
                      <a:r>
                        <a:rPr sz="1100" b="1">
                          <a:solidFill>
                            <a:srgbClr val="15171A"/>
                          </a:solidFill>
                          <a:latin typeface="Noto Sans KR"/>
                          <a:ea typeface="Noto Sans KR"/>
                          <a:cs typeface="Noto Sans KR"/>
                        </a:rPr>
                        <a:t>주방 인력 (응용 제품 배경)</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숙박·음식점업 사업체 861,863개, 종사자 2,293,381명 (2023)</a:t>
                      </a:r>
                    </a:p>
                    <a:p>
                      <a:pPr algn="l">
                        <a:lnSpc>
                          <a:spcPct val="100000"/>
                        </a:lnSpc>
                      </a:pPr>
                      <a:r>
                        <a:rPr sz="1100" b="0">
                          <a:solidFill>
                            <a:srgbClr val="15171A"/>
                          </a:solidFill>
                          <a:latin typeface="Noto Sans KR"/>
                          <a:ea typeface="Noto Sans KR"/>
                          <a:cs typeface="Noto Sans KR"/>
                        </a:rPr>
                        <a:t>조리·식당 서비스 인력 부족률 코로나19 이전 대비 약 2배, 외식업체 952곳 중 27.6% 인력난 (2023)</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통계청 전국사업체조사 · 헤럴드경제 (2025.5)</a:t>
                      </a:r>
                    </a:p>
                  </a:txBody>
                  <a:tcPr marL="73152" marR="73152" marT="59436" marB="59436" anchor="t">
                    <a:lnL w="0">
                      <a:noFill/>
                    </a:lnL>
                    <a:lnR w="0">
                      <a:noFill/>
                    </a:lnR>
                    <a:lnT w="0">
                      <a:noFill/>
                    </a:lnT>
                    <a:lnB w="9525">
                      <a:solidFill>
                        <a:srgbClr val="E2E4E7"/>
                      </a:solidFill>
                    </a:lnB>
                    <a:noFill/>
                  </a:tcPr>
                </a:tc>
              </a:tr>
              <a:tr h="532587">
                <a:tc>
                  <a:txBody>
                    <a:bodyPr wrap="square"/>
                    <a:lstStyle/>
                    <a:p>
                      <a:pPr algn="l">
                        <a:lnSpc>
                          <a:spcPct val="100000"/>
                        </a:lnSpc>
                      </a:pPr>
                      <a:r>
                        <a:rPr sz="1100" b="1">
                          <a:solidFill>
                            <a:srgbClr val="15171A"/>
                          </a:solidFill>
                          <a:latin typeface="Noto Sans KR"/>
                          <a:ea typeface="Noto Sans KR"/>
                          <a:cs typeface="Noto Sans KR"/>
                        </a:rPr>
                        <a:t>국내 조리로봇 도입 사례</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부산교육청 학교 급식실 조리로봇 실증: 솥 앞 작업시간 평균 69% 감소 (2025)</a:t>
                      </a:r>
                    </a:p>
                    <a:p>
                      <a:pPr algn="l">
                        <a:lnSpc>
                          <a:spcPct val="100000"/>
                        </a:lnSpc>
                      </a:pPr>
                      <a:r>
                        <a:rPr sz="1100" b="0">
                          <a:solidFill>
                            <a:srgbClr val="15171A"/>
                          </a:solidFill>
                          <a:latin typeface="Noto Sans KR"/>
                          <a:ea typeface="Noto Sans KR"/>
                          <a:cs typeface="Noto Sans KR"/>
                        </a:rPr>
                        <a:t>삼성웰스토리 급식 사업장 공정별 조리로봇 운영 (2023~)</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서울신문 (2025.12) · 인사이트코리아</a:t>
                      </a:r>
                    </a:p>
                  </a:txBody>
                  <a:tcPr marL="73152" marR="73152" marT="59436" marB="59436" anchor="t">
                    <a:lnL w="0">
                      <a:noFill/>
                    </a:lnL>
                    <a:lnR w="0">
                      <a:noFill/>
                    </a:lnR>
                    <a:lnT w="0">
                      <a:noFill/>
                    </a:lnT>
                    <a:lnB w="9525">
                      <a:solidFill>
                        <a:srgbClr val="E2E4E7"/>
                      </a:solidFill>
                    </a:lnB>
                    <a:noFill/>
                  </a:tcPr>
                </a:tc>
              </a:tr>
              <a:tr h="330301">
                <a:tc>
                  <a:txBody>
                    <a:bodyPr wrap="square"/>
                    <a:lstStyle/>
                    <a:p>
                      <a:pPr algn="l">
                        <a:lnSpc>
                          <a:spcPct val="100000"/>
                        </a:lnSpc>
                      </a:pPr>
                      <a:r>
                        <a:rPr sz="1100" b="1">
                          <a:solidFill>
                            <a:srgbClr val="15171A"/>
                          </a:solidFill>
                          <a:latin typeface="Noto Sans KR"/>
                          <a:ea typeface="Noto Sans KR"/>
                          <a:cs typeface="Noto Sans KR"/>
                        </a:rPr>
                        <a:t>해외 외식 운영자</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미국 외식 운영자 49%: 인력 대응 기술·자동화가 자기 업종에서 더 보편화될 것</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NRA (Restaurant Dive, 2025)</a:t>
                      </a:r>
                    </a:p>
                  </a:txBody>
                  <a:tcPr marL="73152" marR="73152" marT="59436" marB="59436" anchor="t">
                    <a:lnL w="0">
                      <a:noFill/>
                    </a:lnL>
                    <a:lnR w="0">
                      <a:noFill/>
                    </a:lnR>
                    <a:lnT w="0">
                      <a:noFill/>
                    </a:lnT>
                    <a:lnB w="9525">
                      <a:solidFill>
                        <a:srgbClr val="E2E4E7"/>
                      </a:solidFill>
                    </a:lnB>
                    <a:noFill/>
                  </a:tcPr>
                </a:tc>
              </a:tr>
              <a:tr h="330301">
                <a:tc>
                  <a:txBody>
                    <a:bodyPr wrap="square"/>
                    <a:lstStyle/>
                    <a:p>
                      <a:pPr algn="l">
                        <a:lnSpc>
                          <a:spcPct val="100000"/>
                        </a:lnSpc>
                      </a:pPr>
                      <a:r>
                        <a:rPr sz="1100" b="1">
                          <a:solidFill>
                            <a:srgbClr val="15171A"/>
                          </a:solidFill>
                          <a:latin typeface="Noto Sans KR"/>
                          <a:ea typeface="Noto Sans KR"/>
                          <a:cs typeface="Noto Sans KR"/>
                        </a:rPr>
                        <a:t>시장 규모 산정 원칙</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검증되지 않은 시장 총액은 인용하지 않고 고객 후보 × 판매 단가의 상향식으로 산정 (본문 10장)</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사업계획서</a:t>
                      </a:r>
                    </a:p>
                  </a:txBody>
                  <a:tcPr marL="73152" marR="73152" marT="59436" marB="59436"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7" name="TextBox 6"/>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국내 주방 로봇 시장 규모는 공식 통계 부재로 미제시 · 국내 수요는 첫 90일 고객 인터뷰로 검증 예정</a:t>
            </a:r>
          </a:p>
        </p:txBody>
      </p:sp>
      <p:sp>
        <p:nvSpPr>
          <p:cNvPr id="8" name="TextBox 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A10</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로봇 기술 동향: 판단·시각·로봇 팔은 상용화, 손과 도구 조작은 과제</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각 수치는 출처 발표 기준이며 독립 검증 아님</a:t>
            </a:r>
          </a:p>
        </p:txBody>
      </p:sp>
      <p:graphicFrame>
        <p:nvGraphicFramePr>
          <p:cNvPr id="5" name="Table 4"/>
          <p:cNvGraphicFramePr>
            <a:graphicFrameLocks noGrp="1"/>
          </p:cNvGraphicFramePr>
          <p:nvPr/>
        </p:nvGraphicFramePr>
        <p:xfrm>
          <a:off x="685800" y="1874519"/>
          <a:ext cx="10820095" cy="3249166"/>
        </p:xfrm>
        <a:graphic>
          <a:graphicData uri="http://schemas.openxmlformats.org/drawingml/2006/table">
            <a:tbl>
              <a:tblPr firstRow="0" bandRow="0">
                <a:tableStyleId>{2D5ABB26-0587-4C30-8999-92F81FD0307C}</a:tableStyleId>
              </a:tblPr>
              <a:tblGrid>
                <a:gridCol w="2377440"/>
                <a:gridCol w="1325880"/>
                <a:gridCol w="7116775"/>
              </a:tblGrid>
              <a:tr h="394411">
                <a:tc>
                  <a:txBody>
                    <a:bodyPr wrap="square"/>
                    <a:lstStyle/>
                    <a:p>
                      <a:pPr algn="l">
                        <a:lnSpc>
                          <a:spcPct val="100000"/>
                        </a:lnSpc>
                      </a:pPr>
                      <a:r>
                        <a:rPr sz="1200" b="1">
                          <a:solidFill>
                            <a:srgbClr val="15171A"/>
                          </a:solidFill>
                          <a:latin typeface="Noto Sans KR"/>
                          <a:ea typeface="Noto Sans KR"/>
                          <a:cs typeface="Noto Sans KR"/>
                        </a:rPr>
                        <a:t>구분</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상태</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근거 (출처·시점)</a:t>
                      </a:r>
                    </a:p>
                  </a:txBody>
                  <a:tcPr marL="73152" marR="73152" marT="82296" marB="82296" anchor="t">
                    <a:lnL w="0">
                      <a:noFill/>
                    </a:lnL>
                    <a:lnR w="0">
                      <a:noFill/>
                    </a:lnR>
                    <a:lnT w="12700">
                      <a:solidFill>
                        <a:srgbClr val="15171A"/>
                      </a:solidFill>
                    </a:lnT>
                    <a:lnB w="9525">
                      <a:solidFill>
                        <a:srgbClr val="15171A"/>
                      </a:solidFill>
                    </a:lnB>
                    <a:noFill/>
                  </a:tcPr>
                </a:tc>
              </a:tr>
              <a:tr h="615086">
                <a:tc>
                  <a:txBody>
                    <a:bodyPr wrap="square"/>
                    <a:lstStyle/>
                    <a:p>
                      <a:pPr algn="l">
                        <a:lnSpc>
                          <a:spcPct val="100000"/>
                        </a:lnSpc>
                      </a:pPr>
                      <a:r>
                        <a:rPr sz="1200" b="1">
                          <a:solidFill>
                            <a:srgbClr val="15171A"/>
                          </a:solidFill>
                          <a:latin typeface="Noto Sans KR"/>
                          <a:ea typeface="Noto Sans KR"/>
                          <a:cs typeface="Noto Sans KR"/>
                        </a:rPr>
                        <a:t>판단 · AI 모델</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빠르게 발전</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Gemini Robotics 1.5 (2025.9) · NVIDIA Isaac GR00T N1.6 (2026.1) · Physical Intelligence 기업가치 56억 달러 (2025.11)</a:t>
                      </a:r>
                    </a:p>
                  </a:txBody>
                  <a:tcPr marL="73152" marR="73152" marT="82296" marB="82296" anchor="t">
                    <a:lnL w="0">
                      <a:noFill/>
                    </a:lnL>
                    <a:lnR w="0">
                      <a:noFill/>
                    </a:lnR>
                    <a:lnT w="0">
                      <a:noFill/>
                    </a:lnT>
                    <a:lnB w="9525">
                      <a:solidFill>
                        <a:srgbClr val="E2E4E7"/>
                      </a:solidFill>
                    </a:lnB>
                    <a:noFill/>
                  </a:tcPr>
                </a:tc>
              </a:tr>
              <a:tr h="394411">
                <a:tc>
                  <a:txBody>
                    <a:bodyPr wrap="square"/>
                    <a:lstStyle/>
                    <a:p>
                      <a:pPr algn="l">
                        <a:lnSpc>
                          <a:spcPct val="100000"/>
                        </a:lnSpc>
                      </a:pPr>
                      <a:r>
                        <a:rPr sz="1200" b="1">
                          <a:solidFill>
                            <a:srgbClr val="15171A"/>
                          </a:solidFill>
                          <a:latin typeface="Noto Sans KR"/>
                          <a:ea typeface="Noto Sans KR"/>
                          <a:cs typeface="Noto Sans KR"/>
                        </a:rPr>
                        <a:t>시각 · 연산</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상용 수준</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NVIDIA Jetson AGX Thor: 2,070 FP4 TFLOPS, 이전 세대 대비 AI 연산 7.5배 (2025.8)</a:t>
                      </a:r>
                    </a:p>
                  </a:txBody>
                  <a:tcPr marL="73152" marR="73152" marT="82296" marB="82296" anchor="t">
                    <a:lnL w="0">
                      <a:noFill/>
                    </a:lnL>
                    <a:lnR w="0">
                      <a:noFill/>
                    </a:lnR>
                    <a:lnT w="0">
                      <a:noFill/>
                    </a:lnT>
                    <a:lnB w="9525">
                      <a:solidFill>
                        <a:srgbClr val="E2E4E7"/>
                      </a:solidFill>
                    </a:lnB>
                    <a:noFill/>
                  </a:tcPr>
                </a:tc>
              </a:tr>
              <a:tr h="394411">
                <a:tc>
                  <a:txBody>
                    <a:bodyPr wrap="square"/>
                    <a:lstStyle/>
                    <a:p>
                      <a:pPr algn="l">
                        <a:lnSpc>
                          <a:spcPct val="100000"/>
                        </a:lnSpc>
                      </a:pPr>
                      <a:r>
                        <a:rPr sz="1200" b="1">
                          <a:solidFill>
                            <a:srgbClr val="15171A"/>
                          </a:solidFill>
                          <a:latin typeface="Noto Sans KR"/>
                          <a:ea typeface="Noto Sans KR"/>
                          <a:cs typeface="Noto Sans KR"/>
                        </a:rPr>
                        <a:t>로봇 팔·휴머노이드</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대규모 보급</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산업용 로봇 가동 약 500만 대, 연 60만 대 이상 설치 (IFR, 2026.9) · Figure 기업가치 390억 달러 (2025.9)</a:t>
                      </a:r>
                    </a:p>
                  </a:txBody>
                  <a:tcPr marL="73152" marR="73152" marT="82296" marB="82296" anchor="t">
                    <a:lnL w="0">
                      <a:noFill/>
                    </a:lnL>
                    <a:lnR w="0">
                      <a:noFill/>
                    </a:lnR>
                    <a:lnT w="0">
                      <a:noFill/>
                    </a:lnT>
                    <a:lnB w="9525">
                      <a:solidFill>
                        <a:srgbClr val="E2E4E7"/>
                      </a:solidFill>
                    </a:lnB>
                    <a:noFill/>
                  </a:tcPr>
                </a:tc>
              </a:tr>
              <a:tr h="835761">
                <a:tc>
                  <a:txBody>
                    <a:bodyPr wrap="square"/>
                    <a:lstStyle/>
                    <a:p>
                      <a:pPr algn="l">
                        <a:lnSpc>
                          <a:spcPct val="100000"/>
                        </a:lnSpc>
                      </a:pPr>
                      <a:r>
                        <a:rPr sz="1200" b="1">
                          <a:solidFill>
                            <a:srgbClr val="E2571B"/>
                          </a:solidFill>
                          <a:latin typeface="Noto Sans KR"/>
                          <a:ea typeface="Noto Sans KR"/>
                          <a:cs typeface="Noto Sans KR"/>
                        </a:rPr>
                        <a:t>손 · 도구 조작</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1">
                          <a:solidFill>
                            <a:srgbClr val="E2571B"/>
                          </a:solidFill>
                          <a:latin typeface="Noto Sans KR"/>
                          <a:ea typeface="Noto Sans KR"/>
                          <a:cs typeface="Noto Sans KR"/>
                        </a:rPr>
                        <a:t>남은 과제</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"The forearm and hand are more difficult than the entire rest of the robot." Elon Musk, Tesla 2025년 3분기 실적 발표 (2025.10)</a:t>
                      </a:r>
                    </a:p>
                    <a:p>
                      <a:pPr algn="l">
                        <a:lnSpc>
                          <a:spcPct val="100000"/>
                        </a:lnSpc>
                      </a:pPr>
                      <a:r>
                        <a:rPr sz="1200" b="0">
                          <a:solidFill>
                            <a:srgbClr val="15171A"/>
                          </a:solidFill>
                          <a:latin typeface="Noto Sans KR"/>
                          <a:ea typeface="Noto Sans KR"/>
                          <a:cs typeface="Noto Sans KR"/>
                        </a:rPr>
                        <a:t>NVIDIA 레퍼런스 휴머노이드(2026.6) 외부 촉각 핸드 채택 · Figure 03 촉각 손끝 (3g 감지, 2025.10)</a:t>
                      </a:r>
                    </a:p>
                  </a:txBody>
                  <a:tcPr marL="73152" marR="73152" marT="82296" marB="82296" anchor="t">
                    <a:lnL w="0">
                      <a:noFill/>
                    </a:lnL>
                    <a:lnR w="0">
                      <a:noFill/>
                    </a:lnR>
                    <a:lnT w="0">
                      <a:noFill/>
                    </a:lnT>
                    <a:lnB w="9525">
                      <a:solidFill>
                        <a:srgbClr val="E2E4E7"/>
                      </a:solidFill>
                    </a:lnB>
                    <a:noFill/>
                  </a:tcPr>
                </a:tc>
              </a:tr>
              <a:tr h="615086">
                <a:tc>
                  <a:txBody>
                    <a:bodyPr wrap="square"/>
                    <a:lstStyle/>
                    <a:p>
                      <a:pPr algn="l">
                        <a:lnSpc>
                          <a:spcPct val="100000"/>
                        </a:lnSpc>
                      </a:pPr>
                      <a:r>
                        <a:rPr sz="1200" b="1">
                          <a:solidFill>
                            <a:srgbClr val="15171A"/>
                          </a:solidFill>
                          <a:latin typeface="Noto Sans KR"/>
                          <a:ea typeface="Noto Sans KR"/>
                          <a:cs typeface="Noto Sans KR"/>
                        </a:rPr>
                        <a:t>자본 유입</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로보틱스 스타트업 투자 2025년 150억 달러 (사상 최대), 2026년 상반기 188억 달러 (Crunchbase News, 2026.6)</a:t>
                      </a:r>
                    </a:p>
                  </a:txBody>
                  <a:tcPr marL="73152" marR="73152" marT="82296" marB="82296"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해석: AI 모델·시각·로봇 팔이 상용화되면서 사람용 도구를 잡고 사용하는 손과 조작 소프트웨어가 남은 과제, 협동로봇·산업용 로봇·휴머노이드 모두 적용 대상</a:t>
            </a:r>
          </a:p>
        </p:txBody>
      </p:sp>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8" name="TextBox 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출처: 부록 A15</a:t>
            </a:r>
          </a:p>
        </p:txBody>
      </p:sp>
      <p:sp>
        <p:nvSpPr>
          <p:cNvPr id="9" name="TextBox 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A11</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가격·원가·판매 조건 가정</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모두 부가세 제외 계획값 · 사업계획서 수치를 그대로 사용 · 가격 수용성은 유료 실증에서 검증</a:t>
            </a:r>
          </a:p>
        </p:txBody>
      </p:sp>
      <p:graphicFrame>
        <p:nvGraphicFramePr>
          <p:cNvPr id="5" name="Table 4"/>
          <p:cNvGraphicFramePr>
            <a:graphicFrameLocks noGrp="1"/>
          </p:cNvGraphicFramePr>
          <p:nvPr/>
        </p:nvGraphicFramePr>
        <p:xfrm>
          <a:off x="685800" y="1874519"/>
          <a:ext cx="10820095" cy="1880360"/>
        </p:xfrm>
        <a:graphic>
          <a:graphicData uri="http://schemas.openxmlformats.org/drawingml/2006/table">
            <a:tbl>
              <a:tblPr firstRow="0" bandRow="0">
                <a:tableStyleId>{2D5ABB26-0587-4C30-8999-92F81FD0307C}</a:tableStyleId>
              </a:tblPr>
              <a:tblGrid>
                <a:gridCol w="2514600"/>
                <a:gridCol w="1371600"/>
                <a:gridCol w="1371600"/>
                <a:gridCol w="1005840"/>
                <a:gridCol w="4556455"/>
              </a:tblGrid>
              <a:tr h="376072">
                <a:tc>
                  <a:txBody>
                    <a:bodyPr wrap="square"/>
                    <a:lstStyle/>
                    <a:p>
                      <a:pPr algn="l">
                        <a:lnSpc>
                          <a:spcPct val="100000"/>
                        </a:lnSpc>
                      </a:pPr>
                      <a:r>
                        <a:rPr sz="1150" b="1">
                          <a:solidFill>
                            <a:srgbClr val="15171A"/>
                          </a:solidFill>
                          <a:latin typeface="Noto Sans KR"/>
                          <a:ea typeface="Noto Sans KR"/>
                          <a:cs typeface="Noto Sans KR"/>
                        </a:rPr>
                        <a:t>제품</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50" b="1">
                          <a:solidFill>
                            <a:srgbClr val="15171A"/>
                          </a:solidFill>
                          <a:latin typeface="Noto Sans KR"/>
                          <a:ea typeface="Noto Sans KR"/>
                          <a:cs typeface="Noto Sans KR"/>
                        </a:rPr>
                        <a:t>판매가</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50" b="1">
                          <a:solidFill>
                            <a:srgbClr val="15171A"/>
                          </a:solidFill>
                          <a:latin typeface="Noto Sans KR"/>
                          <a:ea typeface="Noto Sans KR"/>
                          <a:cs typeface="Noto Sans KR"/>
                        </a:rPr>
                        <a:t>직접원가</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50" b="1">
                          <a:solidFill>
                            <a:srgbClr val="15171A"/>
                          </a:solidFill>
                          <a:latin typeface="Noto Sans KR"/>
                          <a:ea typeface="Noto Sans KR"/>
                          <a:cs typeface="Noto Sans KR"/>
                        </a:rPr>
                        <a:t>총이익률</a:t>
                      </a:r>
                    </a:p>
                  </a:txBody>
                  <a:tcPr marL="73152" marR="73152" marT="77724" marB="7772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원가·계약 포함 범위</a:t>
                      </a:r>
                    </a:p>
                  </a:txBody>
                  <a:tcPr marL="73152" marR="73152" marT="77724" marB="77724" anchor="t">
                    <a:lnL w="0">
                      <a:noFill/>
                    </a:lnL>
                    <a:lnR w="0">
                      <a:noFill/>
                    </a:lnR>
                    <a:lnT w="12700">
                      <a:solidFill>
                        <a:srgbClr val="15171A"/>
                      </a:solidFill>
                    </a:lnT>
                    <a:lnB w="9525">
                      <a:solidFill>
                        <a:srgbClr val="15171A"/>
                      </a:solidFill>
                    </a:lnB>
                    <a:noFill/>
                  </a:tcPr>
                </a:tc>
              </a:tr>
              <a:tr h="376072">
                <a:tc>
                  <a:txBody>
                    <a:bodyPr wrap="square"/>
                    <a:lstStyle/>
                    <a:p>
                      <a:pPr algn="l">
                        <a:lnSpc>
                          <a:spcPct val="100000"/>
                        </a:lnSpc>
                      </a:pPr>
                      <a:r>
                        <a:rPr sz="1150" b="1">
                          <a:solidFill>
                            <a:srgbClr val="15171A"/>
                          </a:solidFill>
                          <a:latin typeface="Noto Sans KR"/>
                          <a:ea typeface="Noto Sans KR"/>
                          <a:cs typeface="Noto Sans KR"/>
                        </a:rPr>
                        <a:t>4지 중심 핸드 패키지 (평균)</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1,500만 원</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800만 원</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46.7%</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부품·조립·검사·초기 보증 충당</a:t>
                      </a:r>
                    </a:p>
                  </a:txBody>
                  <a:tcPr marL="73152" marR="73152" marT="77724" marB="77724" anchor="t">
                    <a:lnL w="0">
                      <a:noFill/>
                    </a:lnL>
                    <a:lnR w="0">
                      <a:noFill/>
                    </a:lnR>
                    <a:lnT w="0">
                      <a:noFill/>
                    </a:lnT>
                    <a:lnB w="9525">
                      <a:solidFill>
                        <a:srgbClr val="E2E4E7"/>
                      </a:solidFill>
                    </a:lnB>
                    <a:noFill/>
                  </a:tcPr>
                </a:tc>
              </a:tr>
              <a:tr h="376072">
                <a:tc>
                  <a:txBody>
                    <a:bodyPr wrap="square"/>
                    <a:lstStyle/>
                    <a:p>
                      <a:pPr algn="l">
                        <a:lnSpc>
                          <a:spcPct val="100000"/>
                        </a:lnSpc>
                      </a:pPr>
                      <a:r>
                        <a:rPr sz="1150" b="1">
                          <a:solidFill>
                            <a:srgbClr val="15171A"/>
                          </a:solidFill>
                          <a:latin typeface="Noto Sans KR"/>
                          <a:ea typeface="Noto Sans KR"/>
                          <a:cs typeface="Noto Sans KR"/>
                        </a:rPr>
                        <a:t>주방 셀 1식</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2억 원</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1억4,000만 원</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30.0%</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팔 2대·핸드 2개·레일/프레임·제어/안전·설치/시운전·기본 보증</a:t>
                      </a:r>
                    </a:p>
                  </a:txBody>
                  <a:tcPr marL="73152" marR="73152" marT="77724" marB="77724" anchor="t">
                    <a:lnL w="0">
                      <a:noFill/>
                    </a:lnL>
                    <a:lnR w="0">
                      <a:noFill/>
                    </a:lnR>
                    <a:lnT w="0">
                      <a:noFill/>
                    </a:lnT>
                    <a:lnB w="9525">
                      <a:solidFill>
                        <a:srgbClr val="E2E4E7"/>
                      </a:solidFill>
                    </a:lnB>
                    <a:noFill/>
                  </a:tcPr>
                </a:tc>
              </a:tr>
              <a:tr h="376072">
                <a:tc>
                  <a:txBody>
                    <a:bodyPr wrap="square"/>
                    <a:lstStyle/>
                    <a:p>
                      <a:pPr algn="l">
                        <a:lnSpc>
                          <a:spcPct val="100000"/>
                        </a:lnSpc>
                      </a:pPr>
                      <a:r>
                        <a:rPr sz="1150" b="1">
                          <a:solidFill>
                            <a:srgbClr val="15171A"/>
                          </a:solidFill>
                          <a:latin typeface="Noto Sans KR"/>
                          <a:ea typeface="Noto Sans KR"/>
                          <a:cs typeface="Noto Sans KR"/>
                        </a:rPr>
                        <a:t>소프트웨어 연간 계약</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300만 원/계약</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90만 원/계약</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70.0%</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원격 진단·기능 업데이트·기술지원, 필수 안전 기능은 구독과 무관</a:t>
                      </a:r>
                    </a:p>
                  </a:txBody>
                  <a:tcPr marL="73152" marR="73152" marT="77724" marB="77724" anchor="t">
                    <a:lnL w="0">
                      <a:noFill/>
                    </a:lnL>
                    <a:lnR w="0">
                      <a:noFill/>
                    </a:lnR>
                    <a:lnT w="0">
                      <a:noFill/>
                    </a:lnT>
                    <a:lnB w="9525">
                      <a:solidFill>
                        <a:srgbClr val="E2E4E7"/>
                      </a:solidFill>
                    </a:lnB>
                    <a:noFill/>
                  </a:tcPr>
                </a:tc>
              </a:tr>
              <a:tr h="376072">
                <a:tc>
                  <a:txBody>
                    <a:bodyPr wrap="square"/>
                    <a:lstStyle/>
                    <a:p>
                      <a:pPr algn="l">
                        <a:lnSpc>
                          <a:spcPct val="100000"/>
                        </a:lnSpc>
                      </a:pPr>
                      <a:r>
                        <a:rPr sz="1150" b="1">
                          <a:solidFill>
                            <a:srgbClr val="15171A"/>
                          </a:solidFill>
                          <a:latin typeface="Noto Sans KR"/>
                          <a:ea typeface="Noto Sans KR"/>
                          <a:cs typeface="Noto Sans KR"/>
                        </a:rPr>
                        <a:t>유료 실증·개발</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연 1.0~2.0억 원</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a:t>
                      </a:r>
                    </a:p>
                  </a:txBody>
                  <a:tcPr marL="73152" marR="73152" marT="77724" marB="77724" anchor="t">
                    <a:lnL w="0">
                      <a:noFill/>
                    </a:lnL>
                    <a:lnR w="0">
                      <a:noFill/>
                    </a:lnR>
                    <a:lnT w="0">
                      <a:noFill/>
                    </a:lnT>
                    <a:lnB w="9525">
                      <a:solidFill>
                        <a:srgbClr val="E2E4E7"/>
                      </a:solidFill>
                    </a:lnB>
                    <a:noFill/>
                  </a:tcPr>
                </a:tc>
                <a:tc>
                  <a:txBody>
                    <a:bodyPr wrap="square"/>
                    <a:lstStyle/>
                    <a:p>
                      <a:pPr algn="r">
                        <a:lnSpc>
                          <a:spcPct val="100000"/>
                        </a:lnSpc>
                      </a:pPr>
                      <a:r>
                        <a:rPr sz="1150" b="0">
                          <a:solidFill>
                            <a:srgbClr val="15171A"/>
                          </a:solidFill>
                          <a:latin typeface="Noto Sans KR"/>
                          <a:ea typeface="Noto Sans KR"/>
                          <a:cs typeface="Noto Sans KR"/>
                        </a:rPr>
                        <a:t>40.0%</a:t>
                      </a:r>
                    </a:p>
                  </a:txBody>
                  <a:tcPr marL="73152" marR="73152" marT="77724" marB="77724"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실증 계약과 양산 발주 구분</a:t>
                      </a:r>
                    </a:p>
                  </a:txBody>
                  <a:tcPr marL="73152" marR="73152" marT="77724" marB="7772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4074922"/>
            <a:ext cx="5181447"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판매 조건</a:t>
            </a:r>
          </a:p>
        </p:txBody>
      </p:sp>
      <p:cxnSp>
        <p:nvCxnSpPr>
          <p:cNvPr id="7" name="Connector 6"/>
          <p:cNvCxnSpPr/>
          <p:nvPr/>
        </p:nvCxnSpPr>
        <p:spPr>
          <a:xfrm>
            <a:off x="685800" y="4404106"/>
            <a:ext cx="5181447" cy="0"/>
          </a:xfrm>
          <a:prstGeom prst="line">
            <a:avLst/>
          </a:prstGeom>
          <a:ln w="12700">
            <a:solidFill>
              <a:srgbClr val="15171A"/>
            </a:solidFill>
          </a:ln>
        </p:spPr>
      </p:cxnSp>
      <p:sp>
        <p:nvSpPr>
          <p:cNvPr id="8" name="TextBox 7"/>
          <p:cNvSpPr txBox="1"/>
          <p:nvPr/>
        </p:nvSpPr>
        <p:spPr>
          <a:xfrm>
            <a:off x="685800" y="4513834"/>
            <a:ext cx="5181447" cy="969162"/>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고객 전환: 진단 → 유료 실증 계약 → 사전 합의된 성능·경제성 검수 → 구매·반복 발주</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의향서는 수주로 집계하지 않음, 실증 선수금·검수 기준 계약</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주방 셀에 들어가는 핸드는 핸드 단품 매출에서 제외</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임대·RaaS는 실제 정비비·잔존가치 확보 후 금융 파트너와 검토</a:t>
            </a:r>
          </a:p>
        </p:txBody>
      </p:sp>
      <p:sp>
        <p:nvSpPr>
          <p:cNvPr id="9" name="TextBox 8"/>
          <p:cNvSpPr txBox="1"/>
          <p:nvPr/>
        </p:nvSpPr>
        <p:spPr>
          <a:xfrm>
            <a:off x="6324447" y="4074922"/>
            <a:ext cx="5181447"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고객 투자회수 산식 (주방 셀 예시)</a:t>
            </a:r>
          </a:p>
        </p:txBody>
      </p:sp>
      <p:cxnSp>
        <p:nvCxnSpPr>
          <p:cNvPr id="10" name="Connector 9"/>
          <p:cNvCxnSpPr/>
          <p:nvPr/>
        </p:nvCxnSpPr>
        <p:spPr>
          <a:xfrm>
            <a:off x="6324447" y="4404106"/>
            <a:ext cx="5181448" cy="0"/>
          </a:xfrm>
          <a:prstGeom prst="line">
            <a:avLst/>
          </a:prstGeom>
          <a:ln w="12700">
            <a:solidFill>
              <a:srgbClr val="15171A"/>
            </a:solidFill>
          </a:ln>
        </p:spPr>
      </p:cxnSp>
      <p:sp>
        <p:nvSpPr>
          <p:cNvPr id="11" name="TextBox 10"/>
          <p:cNvSpPr txBox="1"/>
          <p:nvPr/>
        </p:nvSpPr>
        <p:spPr>
          <a:xfrm>
            <a:off x="6324447" y="4513834"/>
            <a:ext cx="5181447" cy="1171448"/>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연 순절감액 = 시간당 총 인건비 2만5천 원 × 하루 절감 시간 × 연 300일 − 연 추가 운영비 1,000만 원</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하루 6시간: 3,500만 원/년 → 2억 원 ÷ 연 순절감액 ≈ 5.7년</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하루 10시간: 6,500만 원/년 → 약 3.1년 (금융·세금·잔존가치 제외)</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프리미엄 가정용은 시간 편익·편의성·주방 차별화에 대한 지불 의사를 별도 검증</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3" name="TextBox 12"/>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비표준 요청은 별도 견적 · 초기 회사가 장비 금융과 유지보수 위험을 동시에 떠안지 않도록 설계</a:t>
            </a:r>
          </a:p>
        </p:txBody>
      </p:sp>
      <p:sp>
        <p:nvSpPr>
          <p:cNvPr id="14" name="TextBox 1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A12</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5개년 재무 상세와 민감도 (기준 시나리오)</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단위: 억 원 · 1년차 = 투자 집행 시작연도 · 사업계획서 산식과 수치를 그대로 재현</a:t>
            </a:r>
          </a:p>
        </p:txBody>
      </p:sp>
      <p:graphicFrame>
        <p:nvGraphicFramePr>
          <p:cNvPr id="5" name="Table 4"/>
          <p:cNvGraphicFramePr>
            <a:graphicFrameLocks noGrp="1"/>
          </p:cNvGraphicFramePr>
          <p:nvPr/>
        </p:nvGraphicFramePr>
        <p:xfrm>
          <a:off x="685800" y="1737360"/>
          <a:ext cx="7223760" cy="3966464"/>
        </p:xfrm>
        <a:graphic>
          <a:graphicData uri="http://schemas.openxmlformats.org/drawingml/2006/table">
            <a:tbl>
              <a:tblPr firstRow="0" bandRow="0">
                <a:tableStyleId>{2D5ABB26-0587-4C30-8999-92F81FD0307C}</a:tableStyleId>
              </a:tblPr>
              <a:tblGrid>
                <a:gridCol w="2651760"/>
                <a:gridCol w="914400"/>
                <a:gridCol w="914400"/>
                <a:gridCol w="914400"/>
                <a:gridCol w="914400"/>
                <a:gridCol w="914400"/>
              </a:tblGrid>
              <a:tr h="247904">
                <a:tc>
                  <a:txBody>
                    <a:bodyPr wrap="square"/>
                    <a:lstStyle/>
                    <a:p>
                      <a:pPr algn="l">
                        <a:lnSpc>
                          <a:spcPct val="100000"/>
                        </a:lnSpc>
                      </a:pPr>
                      <a:r>
                        <a:rPr sz="1000" b="1">
                          <a:solidFill>
                            <a:srgbClr val="15171A"/>
                          </a:solidFill>
                          <a:latin typeface="Noto Sans KR"/>
                          <a:ea typeface="Noto Sans KR"/>
                          <a:cs typeface="Noto Sans KR"/>
                        </a:rPr>
                        <a:t>항목</a:t>
                      </a:r>
                    </a:p>
                  </a:txBody>
                  <a:tcPr marL="73152" marR="73152" marT="27432" marB="27432"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1년차</a:t>
                      </a:r>
                    </a:p>
                  </a:txBody>
                  <a:tcPr marL="73152" marR="73152" marT="27432" marB="27432"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2년차</a:t>
                      </a:r>
                    </a:p>
                  </a:txBody>
                  <a:tcPr marL="73152" marR="73152" marT="27432" marB="27432"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3년차</a:t>
                      </a:r>
                    </a:p>
                  </a:txBody>
                  <a:tcPr marL="73152" marR="73152" marT="27432" marB="27432"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4년차</a:t>
                      </a:r>
                    </a:p>
                  </a:txBody>
                  <a:tcPr marL="73152" marR="73152" marT="27432" marB="27432"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5년차</a:t>
                      </a:r>
                    </a:p>
                  </a:txBody>
                  <a:tcPr marL="73152" marR="73152" marT="27432" marB="27432" anchor="t">
                    <a:lnL w="0">
                      <a:noFill/>
                    </a:lnL>
                    <a:lnR w="0">
                      <a:noFill/>
                    </a:lnR>
                    <a:lnT w="12700">
                      <a:solidFill>
                        <a:srgbClr val="15171A"/>
                      </a:solidFill>
                    </a:lnT>
                    <a:lnB w="9525">
                      <a:solidFill>
                        <a:srgbClr val="15171A"/>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핸드 단품 판매 (대)</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350</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  매출 (대수 × 0.15)</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4.50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15.00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52.50</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  매출총이익 (대당 0.07)</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2.10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7.00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14.00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24.50</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주방 셀 판매 (대)</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5</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12</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25</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  매출 (셀 × 2.0)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24.00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50.00</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  매출총이익 (셀당 0.6)</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7.20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15.00</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SW 유효 계약 (건)</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120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250</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  매출 (계약 × 0.03)</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0.30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1.20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3.60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7.50</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  매출총이익 (계약당 0.021)</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0.21</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0.84</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2.52</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5.25</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유료 실증·개발 매출 (총이익률 40%)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2.00</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1">
                          <a:solidFill>
                            <a:srgbClr val="15171A"/>
                          </a:solidFill>
                          <a:latin typeface="Noto Sans KR"/>
                          <a:ea typeface="Noto Sans KR"/>
                          <a:cs typeface="Noto Sans KR"/>
                        </a:rPr>
                        <a:t>총매출</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1.00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6.80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28.20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59.60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112.00</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매출총이익 (이익률)</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0.40 (40%)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3.11 (46%)</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11.64 (41%)</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24.52 (41%)</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45.55 (41%)</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운영비</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8.00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14.00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20.00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28.00</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1">
                          <a:solidFill>
                            <a:srgbClr val="15171A"/>
                          </a:solidFill>
                          <a:latin typeface="Noto Sans KR"/>
                          <a:ea typeface="Noto Sans KR"/>
                          <a:cs typeface="Noto Sans KR"/>
                        </a:rPr>
                        <a:t>영업손익</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−7.60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−6.89</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−2.36</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4.52</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17.55</a:t>
                      </a:r>
                    </a:p>
                  </a:txBody>
                  <a:tcPr marL="73152" marR="73152" marT="27432" marB="27432" anchor="t">
                    <a:lnL w="0">
                      <a:noFill/>
                    </a:lnL>
                    <a:lnR w="0">
                      <a:noFill/>
                    </a:lnR>
                    <a:lnT w="0">
                      <a:noFill/>
                    </a:lnT>
                    <a:lnB w="9525">
                      <a:solidFill>
                        <a:srgbClr val="E2E4E7"/>
                      </a:solidFill>
                    </a:lnB>
                    <a:noFill/>
                  </a:tcPr>
                </a:tc>
              </a:tr>
              <a:tr h="247904">
                <a:tc>
                  <a:txBody>
                    <a:bodyPr wrap="square"/>
                    <a:lstStyle/>
                    <a:p>
                      <a:pPr algn="l">
                        <a:lnSpc>
                          <a:spcPct val="100000"/>
                        </a:lnSpc>
                      </a:pPr>
                      <a:r>
                        <a:rPr sz="1000" b="0">
                          <a:solidFill>
                            <a:srgbClr val="15171A"/>
                          </a:solidFill>
                          <a:latin typeface="Noto Sans KR"/>
                          <a:ea typeface="Noto Sans KR"/>
                          <a:cs typeface="Noto Sans KR"/>
                        </a:rPr>
                        <a:t>누적 영업손익</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−7.60</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−14.49</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−16.85</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−12.33</a:t>
                      </a:r>
                    </a:p>
                  </a:txBody>
                  <a:tcPr marL="73152" marR="73152" marT="27432" marB="27432"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5.22</a:t>
                      </a:r>
                    </a:p>
                  </a:txBody>
                  <a:tcPr marL="73152" marR="73152" marT="27432" marB="27432" anchor="t">
                    <a:lnL w="0">
                      <a:noFill/>
                    </a:lnL>
                    <a:lnR w="0">
                      <a:noFill/>
                    </a:lnR>
                    <a:lnT w="0">
                      <a:noFill/>
                    </a:lnT>
                    <a:lnB w="9525">
                      <a:solidFill>
                        <a:srgbClr val="E2E4E7"/>
                      </a:solidFill>
                    </a:lnB>
                    <a:noFill/>
                  </a:tcPr>
                </a:tc>
              </a:tr>
            </a:tbl>
          </a:graphicData>
        </a:graphic>
      </p:graphicFrame>
      <p:sp>
        <p:nvSpPr>
          <p:cNvPr id="6" name="TextBox 5"/>
          <p:cNvSpPr txBox="1"/>
          <p:nvPr/>
        </p:nvSpPr>
        <p:spPr>
          <a:xfrm>
            <a:off x="8321040" y="1737360"/>
            <a:ext cx="31848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민감도 (동일 마진·운영비)</a:t>
            </a:r>
          </a:p>
        </p:txBody>
      </p:sp>
      <p:cxnSp>
        <p:nvCxnSpPr>
          <p:cNvPr id="7" name="Connector 6"/>
          <p:cNvCxnSpPr/>
          <p:nvPr/>
        </p:nvCxnSpPr>
        <p:spPr>
          <a:xfrm>
            <a:off x="8321040" y="2066543"/>
            <a:ext cx="3184855" cy="0"/>
          </a:xfrm>
          <a:prstGeom prst="line">
            <a:avLst/>
          </a:prstGeom>
          <a:ln w="12700">
            <a:solidFill>
              <a:srgbClr val="15171A"/>
            </a:solidFill>
          </a:ln>
        </p:spPr>
      </p:cxnSp>
      <p:graphicFrame>
        <p:nvGraphicFramePr>
          <p:cNvPr id="8" name="Table 7"/>
          <p:cNvGraphicFramePr>
            <a:graphicFrameLocks noGrp="1"/>
          </p:cNvGraphicFramePr>
          <p:nvPr/>
        </p:nvGraphicFramePr>
        <p:xfrm>
          <a:off x="8321040" y="2084831"/>
          <a:ext cx="3184855" cy="1460295"/>
        </p:xfrm>
        <a:graphic>
          <a:graphicData uri="http://schemas.openxmlformats.org/drawingml/2006/table">
            <a:tbl>
              <a:tblPr firstRow="0" bandRow="0">
                <a:tableStyleId>{2D5ABB26-0587-4C30-8999-92F81FD0307C}</a:tableStyleId>
              </a:tblPr>
              <a:tblGrid>
                <a:gridCol w="1143000"/>
                <a:gridCol w="2041855"/>
              </a:tblGrid>
              <a:tr h="486765">
                <a:tc>
                  <a:txBody>
                    <a:bodyPr wrap="square"/>
                    <a:lstStyle/>
                    <a:p>
                      <a:pPr algn="l">
                        <a:lnSpc>
                          <a:spcPct val="100000"/>
                        </a:lnSpc>
                      </a:pPr>
                      <a:r>
                        <a:rPr sz="1050" b="1">
                          <a:solidFill>
                            <a:srgbClr val="15171A"/>
                          </a:solidFill>
                          <a:latin typeface="Noto Sans KR"/>
                          <a:ea typeface="Noto Sans KR"/>
                          <a:cs typeface="Noto Sans KR"/>
                        </a:rPr>
                        <a:t>기준</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5년차 매출 112.00억</a:t>
                      </a:r>
                    </a:p>
                    <a:p>
                      <a:pPr algn="l">
                        <a:lnSpc>
                          <a:spcPct val="100000"/>
                        </a:lnSpc>
                      </a:pPr>
                      <a:r>
                        <a:rPr sz="1050" b="0">
                          <a:solidFill>
                            <a:srgbClr val="15171A"/>
                          </a:solidFill>
                          <a:latin typeface="Noto Sans KR"/>
                          <a:ea typeface="Noto Sans KR"/>
                          <a:cs typeface="Noto Sans KR"/>
                        </a:rPr>
                        <a:t>영업이익 17.55억</a:t>
                      </a:r>
                    </a:p>
                  </a:txBody>
                  <a:tcPr marL="73152" marR="73152" marT="45720" marB="45720" anchor="t">
                    <a:lnL w="0">
                      <a:noFill/>
                    </a:lnL>
                    <a:lnR w="0">
                      <a:noFill/>
                    </a:lnR>
                    <a:lnT w="0">
                      <a:noFill/>
                    </a:lnT>
                    <a:lnB w="9525">
                      <a:solidFill>
                        <a:srgbClr val="E2E4E7"/>
                      </a:solidFill>
                    </a:lnB>
                    <a:noFill/>
                  </a:tcPr>
                </a:tc>
              </a:tr>
              <a:tr h="486765">
                <a:tc>
                  <a:txBody>
                    <a:bodyPr wrap="square"/>
                    <a:lstStyle/>
                    <a:p>
                      <a:pPr algn="l">
                        <a:lnSpc>
                          <a:spcPct val="100000"/>
                        </a:lnSpc>
                      </a:pPr>
                      <a:r>
                        <a:rPr sz="1050" b="1">
                          <a:solidFill>
                            <a:srgbClr val="15171A"/>
                          </a:solidFill>
                          <a:latin typeface="Noto Sans KR"/>
                          <a:ea typeface="Noto Sans KR"/>
                          <a:cs typeface="Noto Sans KR"/>
                        </a:rPr>
                        <a:t>3년차 50%</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매출 14.10억</a:t>
                      </a:r>
                    </a:p>
                    <a:p>
                      <a:pPr algn="l">
                        <a:lnSpc>
                          <a:spcPct val="100000"/>
                        </a:lnSpc>
                      </a:pPr>
                      <a:r>
                        <a:rPr sz="1050" b="0">
                          <a:solidFill>
                            <a:srgbClr val="15171A"/>
                          </a:solidFill>
                          <a:latin typeface="Noto Sans KR"/>
                          <a:ea typeface="Noto Sans KR"/>
                          <a:cs typeface="Noto Sans KR"/>
                        </a:rPr>
                        <a:t>영업손실 8.18억</a:t>
                      </a:r>
                    </a:p>
                  </a:txBody>
                  <a:tcPr marL="73152" marR="73152" marT="45720" marB="45720" anchor="t">
                    <a:lnL w="0">
                      <a:noFill/>
                    </a:lnL>
                    <a:lnR w="0">
                      <a:noFill/>
                    </a:lnR>
                    <a:lnT w="0">
                      <a:noFill/>
                    </a:lnT>
                    <a:lnB w="9525">
                      <a:solidFill>
                        <a:srgbClr val="E2E4E7"/>
                      </a:solidFill>
                    </a:lnB>
                    <a:noFill/>
                  </a:tcPr>
                </a:tc>
              </a:tr>
              <a:tr h="486765">
                <a:tc>
                  <a:txBody>
                    <a:bodyPr wrap="square"/>
                    <a:lstStyle/>
                    <a:p>
                      <a:pPr algn="l">
                        <a:lnSpc>
                          <a:spcPct val="100000"/>
                        </a:lnSpc>
                      </a:pPr>
                      <a:r>
                        <a:rPr sz="1050" b="1">
                          <a:solidFill>
                            <a:srgbClr val="15171A"/>
                          </a:solidFill>
                          <a:latin typeface="Noto Sans KR"/>
                          <a:ea typeface="Noto Sans KR"/>
                          <a:cs typeface="Noto Sans KR"/>
                        </a:rPr>
                        <a:t>4년차 80%</a:t>
                      </a:r>
                    </a:p>
                  </a:txBody>
                  <a:tcPr marL="73152" marR="73152" marT="45720" marB="45720"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총이익 19.62억 &lt; 운영비 20억</a:t>
                      </a:r>
                    </a:p>
                    <a:p>
                      <a:pPr algn="l">
                        <a:lnSpc>
                          <a:spcPct val="100000"/>
                        </a:lnSpc>
                      </a:pPr>
                      <a:r>
                        <a:rPr sz="1050" b="0">
                          <a:solidFill>
                            <a:srgbClr val="15171A"/>
                          </a:solidFill>
                          <a:latin typeface="Noto Sans KR"/>
                          <a:ea typeface="Noto Sans KR"/>
                          <a:cs typeface="Noto Sans KR"/>
                        </a:rPr>
                        <a:t>영업손실 0.38억</a:t>
                      </a:r>
                    </a:p>
                  </a:txBody>
                  <a:tcPr marL="73152" marR="73152" marT="45720" marB="45720" anchor="t">
                    <a:lnL w="0">
                      <a:noFill/>
                    </a:lnL>
                    <a:lnR w="0">
                      <a:noFill/>
                    </a:lnR>
                    <a:lnT w="0">
                      <a:noFill/>
                    </a:lnT>
                    <a:lnB w="9525">
                      <a:solidFill>
                        <a:srgbClr val="E2E4E7"/>
                      </a:solidFill>
                    </a:lnB>
                    <a:noFill/>
                  </a:tcPr>
                </a:tc>
              </a:tr>
            </a:tbl>
          </a:graphicData>
        </a:graphic>
      </p:graphicFrame>
      <p:sp>
        <p:nvSpPr>
          <p:cNvPr id="9" name="TextBox 8"/>
          <p:cNvSpPr txBox="1"/>
          <p:nvPr/>
        </p:nvSpPr>
        <p:spPr>
          <a:xfrm>
            <a:off x="8321040" y="3728008"/>
            <a:ext cx="31848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산정 기준</a:t>
            </a:r>
          </a:p>
        </p:txBody>
      </p:sp>
      <p:cxnSp>
        <p:nvCxnSpPr>
          <p:cNvPr id="10" name="Connector 9"/>
          <p:cNvCxnSpPr/>
          <p:nvPr/>
        </p:nvCxnSpPr>
        <p:spPr>
          <a:xfrm>
            <a:off x="8321040" y="4057192"/>
            <a:ext cx="3184855" cy="0"/>
          </a:xfrm>
          <a:prstGeom prst="line">
            <a:avLst/>
          </a:prstGeom>
          <a:ln w="12700">
            <a:solidFill>
              <a:srgbClr val="15171A"/>
            </a:solidFill>
          </a:ln>
        </p:spPr>
      </p:cxnSp>
      <p:sp>
        <p:nvSpPr>
          <p:cNvPr id="11" name="TextBox 10"/>
          <p:cNvSpPr txBox="1"/>
          <p:nvPr/>
        </p:nvSpPr>
        <p:spPr>
          <a:xfrm>
            <a:off x="8321040" y="4166920"/>
            <a:ext cx="3184855" cy="1087373"/>
          </a:xfrm>
          <a:prstGeom prst="rect">
            <a:avLst/>
          </a:prstGeom>
          <a:noFill/>
        </p:spPr>
        <p:txBody>
          <a:bodyPr wrap="square" lIns="0" rIns="0" tIns="0" bIns="0" anchor="t">
            <a:spAutoFit/>
          </a:bodyPr>
          <a:lstStyle/>
          <a:p>
            <a:pPr algn="l" marL="164592" indent="-164592">
              <a:lnSpc>
                <a:spcPct val="100000"/>
              </a:lnSpc>
              <a:spcAft>
                <a:spcPts val="200"/>
              </a:spcAft>
              <a:buClr>
                <a:srgbClr val="8C9198"/>
              </a:buClr>
              <a:buFont typeface="Noto Sans KR"/>
              <a:buChar char="•"/>
            </a:pPr>
            <a:r>
              <a:rPr sz="1050" b="0">
                <a:solidFill>
                  <a:srgbClr val="4A4F57"/>
                </a:solidFill>
                <a:latin typeface="Noto Sans KR"/>
                <a:ea typeface="Noto Sans KR"/>
                <a:cs typeface="Noto Sans KR"/>
              </a:rPr>
              <a:t>SW 계약 수: 당해 매출 인식 가능한 연간 계약 환산치</a:t>
            </a:r>
          </a:p>
          <a:p>
            <a:pPr algn="l" marL="164592" indent="-164592">
              <a:lnSpc>
                <a:spcPct val="100000"/>
              </a:lnSpc>
              <a:spcAft>
                <a:spcPts val="200"/>
              </a:spcAft>
              <a:buClr>
                <a:srgbClr val="8C9198"/>
              </a:buClr>
              <a:buFont typeface="Noto Sans KR"/>
              <a:buChar char="•"/>
            </a:pPr>
            <a:r>
              <a:rPr sz="1050" b="0">
                <a:solidFill>
                  <a:srgbClr val="4A4F57"/>
                </a:solidFill>
                <a:latin typeface="Noto Sans KR"/>
                <a:ea typeface="Noto Sans KR"/>
                <a:cs typeface="Noto Sans KR"/>
              </a:rPr>
              <a:t>운영비: 연구개발·영업·관리·감가상각 포함 계획값</a:t>
            </a:r>
          </a:p>
          <a:p>
            <a:pPr algn="l" marL="164592" indent="-164592">
              <a:lnSpc>
                <a:spcPct val="100000"/>
              </a:lnSpc>
              <a:spcAft>
                <a:spcPts val="200"/>
              </a:spcAft>
              <a:buClr>
                <a:srgbClr val="8C9198"/>
              </a:buClr>
              <a:buFont typeface="Noto Sans KR"/>
              <a:buChar char="•"/>
            </a:pPr>
            <a:r>
              <a:rPr sz="1050" b="0">
                <a:solidFill>
                  <a:srgbClr val="4A4F57"/>
                </a:solidFill>
                <a:latin typeface="Noto Sans KR"/>
                <a:ea typeface="Noto Sans KR"/>
                <a:cs typeface="Noto Sans KR"/>
              </a:rPr>
              <a:t>단순 모델: 재고·설비·보증금·매출채권·세금 미반영</a:t>
            </a:r>
          </a:p>
          <a:p>
            <a:pPr algn="l" marL="164592" indent="-164592">
              <a:lnSpc>
                <a:spcPct val="100000"/>
              </a:lnSpc>
              <a:buClr>
                <a:srgbClr val="8C9198"/>
              </a:buClr>
              <a:buFont typeface="Noto Sans KR"/>
              <a:buChar char="•"/>
            </a:pPr>
            <a:r>
              <a:rPr sz="1050" b="0">
                <a:solidFill>
                  <a:srgbClr val="4A4F57"/>
                </a:solidFill>
                <a:latin typeface="Noto Sans KR"/>
                <a:ea typeface="Noto Sans KR"/>
                <a:cs typeface="Noto Sans KR"/>
              </a:rPr>
              <a:t>1~2년차 누적 영업손실 14.49억 원</a:t>
            </a:r>
            <a:br/>
            <a:r>
              <a:rPr sz="1050" b="0">
                <a:solidFill>
                  <a:srgbClr val="4A4F57"/>
                </a:solidFill>
                <a:latin typeface="Noto Sans KR"/>
                <a:ea typeface="Noto Sans KR"/>
                <a:cs typeface="Noto Sans KR"/>
              </a:rPr>
              <a:t>18~24개월에 후속 자금 조달</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3" name="TextBox 12"/>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4년차 영업손실 0.38억 원은 사업계획서 민감도(총이익 19.62억 &lt; 운영비 20억)의 차액</a:t>
            </a:r>
          </a:p>
        </p:txBody>
      </p:sp>
      <p:sp>
        <p:nvSpPr>
          <p:cNvPr id="14" name="TextBox 1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A13</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Seed 자금 사용 상세</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24개월 계획 현금 집행 한도 · 손익계산서 운영비와 일대일로 일치하지 않음</a:t>
            </a:r>
          </a:p>
        </p:txBody>
      </p:sp>
      <p:graphicFrame>
        <p:nvGraphicFramePr>
          <p:cNvPr id="5" name="Table 4"/>
          <p:cNvGraphicFramePr>
            <a:graphicFrameLocks noGrp="1"/>
          </p:cNvGraphicFramePr>
          <p:nvPr/>
        </p:nvGraphicFramePr>
        <p:xfrm>
          <a:off x="685800" y="1874519"/>
          <a:ext cx="10820095" cy="2788712"/>
        </p:xfrm>
        <a:graphic>
          <a:graphicData uri="http://schemas.openxmlformats.org/drawingml/2006/table">
            <a:tbl>
              <a:tblPr firstRow="0" bandRow="0">
                <a:tableStyleId>{2D5ABB26-0587-4C30-8999-92F81FD0307C}</a:tableStyleId>
              </a:tblPr>
              <a:tblGrid>
                <a:gridCol w="1828800"/>
                <a:gridCol w="1051560"/>
                <a:gridCol w="777240"/>
                <a:gridCol w="3566160"/>
                <a:gridCol w="3596335"/>
              </a:tblGrid>
              <a:tr h="348589">
                <a:tc>
                  <a:txBody>
                    <a:bodyPr wrap="square"/>
                    <a:lstStyle/>
                    <a:p>
                      <a:pPr algn="l">
                        <a:lnSpc>
                          <a:spcPct val="100000"/>
                        </a:lnSpc>
                      </a:pPr>
                      <a:r>
                        <a:rPr sz="1100" b="1">
                          <a:solidFill>
                            <a:srgbClr val="15171A"/>
                          </a:solidFill>
                          <a:latin typeface="Noto Sans KR"/>
                          <a:ea typeface="Noto Sans KR"/>
                          <a:cs typeface="Noto Sans KR"/>
                        </a:rPr>
                        <a:t>항목</a:t>
                      </a:r>
                    </a:p>
                  </a:txBody>
                  <a:tcPr marL="73152" marR="73152" marT="68580" marB="6858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금액 (억 원)</a:t>
                      </a:r>
                    </a:p>
                  </a:txBody>
                  <a:tcPr marL="73152" marR="73152" marT="68580" marB="6858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비중</a:t>
                      </a:r>
                    </a:p>
                  </a:txBody>
                  <a:tcPr marL="73152" marR="73152" marT="68580" marB="68580"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사용 목적</a:t>
                      </a:r>
                    </a:p>
                  </a:txBody>
                  <a:tcPr marL="73152" marR="73152" marT="68580" marB="68580"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관련 일정·목표 (사업계획서)</a:t>
                      </a:r>
                    </a:p>
                  </a:txBody>
                  <a:tcPr marL="73152" marR="73152" marT="68580" marB="68580" anchor="t">
                    <a:lnL w="0">
                      <a:noFill/>
                    </a:lnL>
                    <a:lnR w="0">
                      <a:noFill/>
                    </a:lnR>
                    <a:lnT w="12700">
                      <a:solidFill>
                        <a:srgbClr val="15171A"/>
                      </a:solidFill>
                    </a:lnT>
                    <a:lnB w="9525">
                      <a:solidFill>
                        <a:srgbClr val="15171A"/>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개발 인력</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10.0</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50.0%</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기구·구동·제어·AI·통합 인력의 단계 채용</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핵심 인력 7명 단계 채용 (14장)</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시제품·시험 설비</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3.5</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17.5%</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핸드 반복 제작, 팔·센서·지그·내구 시험</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4지 알파·베타, 5지 알파, 내구 시험 (10만 → 30만 회)</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AI 데이터·연산</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1.5</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7.5%</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시연·실험 데이터, 저장·학습·검증 환경</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도구·용기 30종 이상, 시도 1만 회 이상</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주방 통합 실증</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2.0</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10.0%</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레일/프레임, 세척·가열 연동, 설치 시험</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주방 양팔 통합, 메뉴 1종 → 3종 실증</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안전·품질·지식재산</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5.0%</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시험·외부 검토·선행조사·출원</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통합 위험 평가, 선행기술 조사, 출원 후보 검토</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운영·예비비</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2.0</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10.0%</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사업 운영, 공급 지연·재작업 대비</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공급 지연·재작업 대비</a:t>
                      </a:r>
                    </a:p>
                  </a:txBody>
                  <a:tcPr marL="73152" marR="73152" marT="68580" marB="68580" anchor="t">
                    <a:lnL w="0">
                      <a:noFill/>
                    </a:lnL>
                    <a:lnR w="0">
                      <a:noFill/>
                    </a:lnR>
                    <a:lnT w="0">
                      <a:noFill/>
                    </a:lnT>
                    <a:lnB w="9525">
                      <a:solidFill>
                        <a:srgbClr val="E2E4E7"/>
                      </a:solidFill>
                    </a:lnB>
                    <a:noFill/>
                  </a:tcPr>
                </a:tc>
              </a:tr>
              <a:tr h="348589">
                <a:tc>
                  <a:txBody>
                    <a:bodyPr wrap="square"/>
                    <a:lstStyle/>
                    <a:p>
                      <a:pPr algn="l">
                        <a:lnSpc>
                          <a:spcPct val="100000"/>
                        </a:lnSpc>
                      </a:pPr>
                      <a:r>
                        <a:rPr sz="1100" b="1">
                          <a:solidFill>
                            <a:srgbClr val="15171A"/>
                          </a:solidFill>
                          <a:latin typeface="Noto Sans KR"/>
                          <a:ea typeface="Noto Sans KR"/>
                          <a:cs typeface="Noto Sans KR"/>
                        </a:rPr>
                        <a:t>합계</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20.0</a:t>
                      </a:r>
                    </a:p>
                  </a:txBody>
                  <a:tcPr marL="73152" marR="73152" marT="68580" marB="68580"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100%</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24개월 계획 현금 집행 한도</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
                      </a:r>
                    </a:p>
                  </a:txBody>
                  <a:tcPr marL="73152" marR="73152" marT="68580" marB="68580"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4983276"/>
            <a:ext cx="5181447"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현금 계획 원칙</a:t>
            </a:r>
          </a:p>
        </p:txBody>
      </p:sp>
      <p:cxnSp>
        <p:nvCxnSpPr>
          <p:cNvPr id="7" name="Connector 6"/>
          <p:cNvCxnSpPr/>
          <p:nvPr/>
        </p:nvCxnSpPr>
        <p:spPr>
          <a:xfrm>
            <a:off x="685800" y="5312460"/>
            <a:ext cx="5181447" cy="0"/>
          </a:xfrm>
          <a:prstGeom prst="line">
            <a:avLst/>
          </a:prstGeom>
          <a:ln w="12700">
            <a:solidFill>
              <a:srgbClr val="15171A"/>
            </a:solidFill>
          </a:ln>
        </p:spPr>
      </p:cxnSp>
      <p:sp>
        <p:nvSpPr>
          <p:cNvPr id="8" name="TextBox 7"/>
          <p:cNvSpPr txBox="1"/>
          <p:nvPr/>
        </p:nvSpPr>
        <p:spPr>
          <a:xfrm>
            <a:off x="685800" y="5422188"/>
            <a:ext cx="5181447" cy="728776"/>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장비 자산화·재고·매출 회수 시점을 반영한 월별 현금계획 </a:t>
            </a:r>
            <a:r>
              <a:rPr sz="1100" b="0">
                <a:solidFill>
                  <a:srgbClr val="E2571B"/>
                </a:solidFill>
                <a:latin typeface="Noto Sans KR"/>
                <a:ea typeface="Noto Sans KR"/>
                <a:cs typeface="Noto Sans KR"/>
              </a:rPr>
              <a:t>[입력 필요]</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보조금은 미확정이므로 기본 조달재원에서 제외</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월별 채용·인건비 계획 </a:t>
            </a:r>
            <a:r>
              <a:rPr sz="1100" b="0">
                <a:solidFill>
                  <a:srgbClr val="E2571B"/>
                </a:solidFill>
                <a:latin typeface="Noto Sans KR"/>
                <a:ea typeface="Noto Sans KR"/>
                <a:cs typeface="Noto Sans KR"/>
              </a:rPr>
              <a:t>[입력 필요]</a:t>
            </a:r>
          </a:p>
        </p:txBody>
      </p:sp>
      <p:sp>
        <p:nvSpPr>
          <p:cNvPr id="9" name="TextBox 8"/>
          <p:cNvSpPr txBox="1"/>
          <p:nvPr/>
        </p:nvSpPr>
        <p:spPr>
          <a:xfrm>
            <a:off x="6324447" y="4983276"/>
            <a:ext cx="5181447"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손익과의 연결</a:t>
            </a:r>
          </a:p>
        </p:txBody>
      </p:sp>
      <p:cxnSp>
        <p:nvCxnSpPr>
          <p:cNvPr id="10" name="Connector 9"/>
          <p:cNvCxnSpPr/>
          <p:nvPr/>
        </p:nvCxnSpPr>
        <p:spPr>
          <a:xfrm>
            <a:off x="6324447" y="5312460"/>
            <a:ext cx="5181448" cy="0"/>
          </a:xfrm>
          <a:prstGeom prst="line">
            <a:avLst/>
          </a:prstGeom>
          <a:ln w="12700">
            <a:solidFill>
              <a:srgbClr val="15171A"/>
            </a:solidFill>
          </a:ln>
        </p:spPr>
      </p:cxnSp>
      <p:sp>
        <p:nvSpPr>
          <p:cNvPr id="11" name="TextBox 10"/>
          <p:cNvSpPr txBox="1"/>
          <p:nvPr/>
        </p:nvSpPr>
        <p:spPr>
          <a:xfrm>
            <a:off x="6324447" y="5422188"/>
            <a:ext cx="5181447" cy="728776"/>
          </a:xfrm>
          <a:prstGeom prst="rect">
            <a:avLst/>
          </a:prstGeom>
          <a:noFill/>
        </p:spPr>
        <p:txBody>
          <a:bodyPr wrap="square" lIns="0" rIns="0" tIns="0" bIns="0" anchor="t">
            <a:spAutoFit/>
          </a:bodyPr>
          <a:lstStyle/>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1~2년차 운영비 18억 원, 매출총이익 3.51억 원</a:t>
            </a:r>
          </a:p>
          <a:p>
            <a:pPr algn="l" marL="164592" indent="-164592">
              <a:lnSpc>
                <a:spcPct val="100000"/>
              </a:lnSpc>
              <a:spcAft>
                <a:spcPts val="300"/>
              </a:spcAft>
              <a:buClr>
                <a:srgbClr val="8C9198"/>
              </a:buClr>
              <a:buFont typeface="Noto Sans KR"/>
              <a:buChar char="•"/>
            </a:pPr>
            <a:r>
              <a:rPr sz="1100" b="0">
                <a:solidFill>
                  <a:srgbClr val="4A4F57"/>
                </a:solidFill>
                <a:latin typeface="Noto Sans KR"/>
                <a:ea typeface="Noto Sans KR"/>
                <a:cs typeface="Noto Sans KR"/>
              </a:rPr>
              <a:t>1~2년차 누적 영업손실 14.49억 원, 재고·설비·매출채권 반영 시 현금 소요 증가</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18~24개월에 후속 자금 조달 필요</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3" name="TextBox 12"/>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금액은 사업계획서 제안안 · 투자 실사 전 월별 현금계획으로 재작성</a:t>
            </a:r>
          </a:p>
        </p:txBody>
      </p:sp>
      <p:sp>
        <p:nvSpPr>
          <p:cNvPr id="14" name="TextBox 1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A14</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안전·위생·인증·지식재산</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제품 검증 전에는 인증 취득·규제 적합·독자성을 주장하지 않음 · 표준은 적용 검토 대상</a:t>
            </a:r>
          </a:p>
        </p:txBody>
      </p:sp>
      <p:sp>
        <p:nvSpPr>
          <p:cNvPr id="5" name="TextBox 4"/>
          <p:cNvSpPr txBox="1"/>
          <p:nvPr/>
        </p:nvSpPr>
        <p:spPr>
          <a:xfrm>
            <a:off x="685800" y="1874519"/>
            <a:ext cx="339333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안전</a:t>
            </a:r>
          </a:p>
        </p:txBody>
      </p:sp>
      <p:cxnSp>
        <p:nvCxnSpPr>
          <p:cNvPr id="6" name="Connector 5"/>
          <p:cNvCxnSpPr/>
          <p:nvPr/>
        </p:nvCxnSpPr>
        <p:spPr>
          <a:xfrm>
            <a:off x="685800" y="2203703"/>
            <a:ext cx="3393338" cy="0"/>
          </a:xfrm>
          <a:prstGeom prst="line">
            <a:avLst/>
          </a:prstGeom>
          <a:ln w="12700">
            <a:solidFill>
              <a:srgbClr val="15171A"/>
            </a:solidFill>
          </a:ln>
        </p:spPr>
      </p:cxnSp>
      <p:sp>
        <p:nvSpPr>
          <p:cNvPr id="7" name="TextBox 6"/>
          <p:cNvSpPr txBox="1"/>
          <p:nvPr/>
        </p:nvSpPr>
        <p:spPr>
          <a:xfrm>
            <a:off x="685800" y="2313432"/>
            <a:ext cx="3393338" cy="2879547"/>
          </a:xfrm>
          <a:prstGeom prst="rect">
            <a:avLst/>
          </a:prstGeom>
          <a:noFill/>
        </p:spPr>
        <p:txBody>
          <a:bodyPr wrap="square" lIns="0" rIns="0" tIns="0" bIns="0" anchor="t">
            <a:spAutoFit/>
          </a:bodyPr>
          <a:lstStyle/>
          <a:p>
            <a:pPr algn="l" marL="164592" indent="-164592">
              <a:lnSpc>
                <a:spcPct val="100000"/>
              </a:lnSpc>
              <a:spcAft>
                <a:spcPts val="800"/>
              </a:spcAft>
              <a:buClr>
                <a:srgbClr val="8C9198"/>
              </a:buClr>
              <a:buFont typeface="Noto Sans KR"/>
              <a:buChar char="•"/>
            </a:pPr>
            <a:r>
              <a:rPr sz="1200" b="0">
                <a:solidFill>
                  <a:srgbClr val="4A4F57"/>
                </a:solidFill>
                <a:latin typeface="Noto Sans KR"/>
                <a:ea typeface="Noto Sans KR"/>
                <a:cs typeface="Noto Sans KR"/>
              </a:rPr>
              <a:t>협동로봇에 소프트 핸드를 달아도 전체 시스템이 자동으로 안전해지지 않음</a:t>
            </a:r>
          </a:p>
          <a:p>
            <a:pPr algn="l" marL="164592" indent="-164592">
              <a:lnSpc>
                <a:spcPct val="100000"/>
              </a:lnSpc>
              <a:spcAft>
                <a:spcPts val="800"/>
              </a:spcAft>
              <a:buClr>
                <a:srgbClr val="8C9198"/>
              </a:buClr>
              <a:buFont typeface="Noto Sans KR"/>
              <a:buChar char="•"/>
            </a:pPr>
            <a:r>
              <a:rPr sz="1200" b="0">
                <a:solidFill>
                  <a:srgbClr val="4A4F57"/>
                </a:solidFill>
                <a:latin typeface="Noto Sans KR"/>
                <a:ea typeface="Noto Sans KR"/>
                <a:cs typeface="Noto Sans KR"/>
              </a:rPr>
              <a:t>고온 조리도구·칼·중량물·이동축을 포함한 통합 위험 평가</a:t>
            </a:r>
          </a:p>
          <a:p>
            <a:pPr algn="l" marL="164592" indent="-164592">
              <a:lnSpc>
                <a:spcPct val="100000"/>
              </a:lnSpc>
              <a:spcAft>
                <a:spcPts val="800"/>
              </a:spcAft>
              <a:buClr>
                <a:srgbClr val="8C9198"/>
              </a:buClr>
              <a:buFont typeface="Noto Sans KR"/>
              <a:buChar char="•"/>
            </a:pPr>
            <a:r>
              <a:rPr sz="1200" b="0">
                <a:solidFill>
                  <a:srgbClr val="4A4F57"/>
                </a:solidFill>
                <a:latin typeface="Noto Sans KR"/>
                <a:ea typeface="Noto Sans KR"/>
                <a:cs typeface="Noto Sans KR"/>
              </a:rPr>
              <a:t>ISO 10218-2:2025: 산업용 로봇 응용·로봇 셀 안전 요구사항</a:t>
            </a:r>
          </a:p>
          <a:p>
            <a:pPr algn="l" marL="164592" indent="-164592">
              <a:lnSpc>
                <a:spcPct val="100000"/>
              </a:lnSpc>
              <a:spcAft>
                <a:spcPts val="800"/>
              </a:spcAft>
              <a:buClr>
                <a:srgbClr val="8C9198"/>
              </a:buClr>
              <a:buFont typeface="Noto Sans KR"/>
              <a:buChar char="•"/>
            </a:pPr>
            <a:r>
              <a:rPr sz="1200" b="0">
                <a:solidFill>
                  <a:srgbClr val="4A4F57"/>
                </a:solidFill>
                <a:latin typeface="Noto Sans KR"/>
                <a:ea typeface="Noto Sans KR"/>
                <a:cs typeface="Noto Sans KR"/>
              </a:rPr>
              <a:t>가정용 주방에 같은 기준을 그대로 적용한다고 단정하지 않음, 판매국별 요구사항은 시험기관과 결정</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천장·역설치: 브레이크·낙하 방지, 정전 시 보유 상태, 작업별 안전 정지 상태</a:t>
            </a:r>
          </a:p>
        </p:txBody>
      </p:sp>
      <p:sp>
        <p:nvSpPr>
          <p:cNvPr id="8" name="TextBox 7"/>
          <p:cNvSpPr txBox="1"/>
          <p:nvPr/>
        </p:nvSpPr>
        <p:spPr>
          <a:xfrm>
            <a:off x="4399178" y="1874519"/>
            <a:ext cx="339333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위생</a:t>
            </a:r>
          </a:p>
        </p:txBody>
      </p:sp>
      <p:cxnSp>
        <p:nvCxnSpPr>
          <p:cNvPr id="9" name="Connector 8"/>
          <p:cNvCxnSpPr/>
          <p:nvPr/>
        </p:nvCxnSpPr>
        <p:spPr>
          <a:xfrm>
            <a:off x="4399178" y="2203703"/>
            <a:ext cx="3393338" cy="0"/>
          </a:xfrm>
          <a:prstGeom prst="line">
            <a:avLst/>
          </a:prstGeom>
          <a:ln w="12700">
            <a:solidFill>
              <a:srgbClr val="15171A"/>
            </a:solidFill>
          </a:ln>
        </p:spPr>
      </p:cxnSp>
      <p:sp>
        <p:nvSpPr>
          <p:cNvPr id="10" name="TextBox 9"/>
          <p:cNvSpPr txBox="1"/>
          <p:nvPr/>
        </p:nvSpPr>
        <p:spPr>
          <a:xfrm>
            <a:off x="4399178" y="2313432"/>
            <a:ext cx="3393338" cy="1895246"/>
          </a:xfrm>
          <a:prstGeom prst="rect">
            <a:avLst/>
          </a:prstGeom>
          <a:noFill/>
        </p:spPr>
        <p:txBody>
          <a:bodyPr wrap="square" lIns="0" rIns="0" tIns="0" bIns="0" anchor="t">
            <a:spAutoFit/>
          </a:bodyPr>
          <a:lstStyle/>
          <a:p>
            <a:pPr algn="l" marL="164592" indent="-164592">
              <a:lnSpc>
                <a:spcPct val="100000"/>
              </a:lnSpc>
              <a:spcAft>
                <a:spcPts val="800"/>
              </a:spcAft>
              <a:buClr>
                <a:srgbClr val="8C9198"/>
              </a:buClr>
              <a:buFont typeface="Noto Sans KR"/>
              <a:buChar char="•"/>
            </a:pPr>
            <a:r>
              <a:rPr sz="1200" b="0">
                <a:solidFill>
                  <a:srgbClr val="4A4F57"/>
                </a:solidFill>
                <a:latin typeface="Noto Sans KR"/>
                <a:ea typeface="Noto Sans KR"/>
                <a:cs typeface="Noto Sans KR"/>
              </a:rPr>
              <a:t>IP 등급은 침수·고압 세척·내열·식품 위생 적합성을 모두 의미하지 않음</a:t>
            </a:r>
          </a:p>
          <a:p>
            <a:pPr algn="l" marL="164592" indent="-164592">
              <a:lnSpc>
                <a:spcPct val="100000"/>
              </a:lnSpc>
              <a:spcAft>
                <a:spcPts val="800"/>
              </a:spcAft>
              <a:buClr>
                <a:srgbClr val="8C9198"/>
              </a:buClr>
              <a:buFont typeface="Noto Sans KR"/>
              <a:buChar char="•"/>
            </a:pPr>
            <a:r>
              <a:rPr sz="1200" b="0">
                <a:solidFill>
                  <a:srgbClr val="4A4F57"/>
                </a:solidFill>
                <a:latin typeface="Noto Sans KR"/>
                <a:ea typeface="Noto Sans KR"/>
                <a:cs typeface="Noto Sans KR"/>
              </a:rPr>
              <a:t>주방용 접촉부: 식품접촉 적합성, 세척 후 잔류물·미생물 검증, 세척제 내성</a:t>
            </a:r>
          </a:p>
          <a:p>
            <a:pPr algn="l" marL="164592" indent="-164592">
              <a:lnSpc>
                <a:spcPct val="100000"/>
              </a:lnSpc>
              <a:spcAft>
                <a:spcPts val="800"/>
              </a:spcAft>
              <a:buClr>
                <a:srgbClr val="8C9198"/>
              </a:buClr>
              <a:buFont typeface="Noto Sans KR"/>
              <a:buChar char="•"/>
            </a:pPr>
            <a:r>
              <a:rPr sz="1200" b="0">
                <a:solidFill>
                  <a:srgbClr val="4A4F57"/>
                </a:solidFill>
                <a:latin typeface="Noto Sans KR"/>
                <a:ea typeface="Noto Sans KR"/>
                <a:cs typeface="Noto Sans KR"/>
              </a:rPr>
              <a:t>오염/청결 동선 분리, 배수·비산수 관리, 세척기 연동</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상부 레일 윤활제·마모분 낙하 방지 커버·격리</a:t>
            </a:r>
          </a:p>
        </p:txBody>
      </p:sp>
      <p:sp>
        <p:nvSpPr>
          <p:cNvPr id="11" name="TextBox 10"/>
          <p:cNvSpPr txBox="1"/>
          <p:nvPr/>
        </p:nvSpPr>
        <p:spPr>
          <a:xfrm>
            <a:off x="8112556" y="1874519"/>
            <a:ext cx="339333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지식재산·영업비밀 (계획)</a:t>
            </a:r>
          </a:p>
        </p:txBody>
      </p:sp>
      <p:cxnSp>
        <p:nvCxnSpPr>
          <p:cNvPr id="12" name="Connector 11"/>
          <p:cNvCxnSpPr/>
          <p:nvPr/>
        </p:nvCxnSpPr>
        <p:spPr>
          <a:xfrm>
            <a:off x="8112556" y="2203703"/>
            <a:ext cx="3393339" cy="0"/>
          </a:xfrm>
          <a:prstGeom prst="line">
            <a:avLst/>
          </a:prstGeom>
          <a:ln w="12700">
            <a:solidFill>
              <a:srgbClr val="15171A"/>
            </a:solidFill>
          </a:ln>
        </p:spPr>
      </p:cxnSp>
      <p:sp>
        <p:nvSpPr>
          <p:cNvPr id="13" name="TextBox 12"/>
          <p:cNvSpPr txBox="1"/>
          <p:nvPr/>
        </p:nvSpPr>
        <p:spPr>
          <a:xfrm>
            <a:off x="8112556" y="2313432"/>
            <a:ext cx="3393338" cy="2115921"/>
          </a:xfrm>
          <a:prstGeom prst="rect">
            <a:avLst/>
          </a:prstGeom>
          <a:noFill/>
        </p:spPr>
        <p:txBody>
          <a:bodyPr wrap="square" lIns="0" rIns="0" tIns="0" bIns="0" anchor="t">
            <a:spAutoFit/>
          </a:bodyPr>
          <a:lstStyle/>
          <a:p>
            <a:pPr algn="l" marL="164592" indent="-164592">
              <a:lnSpc>
                <a:spcPct val="100000"/>
              </a:lnSpc>
              <a:spcAft>
                <a:spcPts val="800"/>
              </a:spcAft>
              <a:buClr>
                <a:srgbClr val="8C9198"/>
              </a:buClr>
              <a:buFont typeface="Noto Sans KR"/>
              <a:buChar char="•"/>
            </a:pPr>
            <a:r>
              <a:rPr sz="1200" b="0">
                <a:solidFill>
                  <a:srgbClr val="4A4F57"/>
                </a:solidFill>
                <a:latin typeface="Noto Sans KR"/>
                <a:ea typeface="Noto Sans KR"/>
                <a:cs typeface="Noto Sans KR"/>
              </a:rPr>
              <a:t>출원 후보: 엄지 대향·관절 순응/잠금 구조, 손끝 교체·밀봉 구조</a:t>
            </a:r>
          </a:p>
          <a:p>
            <a:pPr algn="l" marL="164592" indent="-164592">
              <a:lnSpc>
                <a:spcPct val="100000"/>
              </a:lnSpc>
              <a:spcAft>
                <a:spcPts val="800"/>
              </a:spcAft>
              <a:buClr>
                <a:srgbClr val="8C9198"/>
              </a:buClr>
              <a:buFont typeface="Noto Sans KR"/>
              <a:buChar char="•"/>
            </a:pPr>
            <a:r>
              <a:rPr sz="1200" b="0">
                <a:solidFill>
                  <a:srgbClr val="4A4F57"/>
                </a:solidFill>
                <a:latin typeface="Noto Sans KR"/>
                <a:ea typeface="Noto Sans KR"/>
                <a:cs typeface="Noto Sans KR"/>
              </a:rPr>
              <a:t>출원 후보: 미끄러짐과 반력에 따른 파지 재구성, 양팔·이동축 작업 분담 및 청결 구역 관리</a:t>
            </a:r>
          </a:p>
          <a:p>
            <a:pPr algn="l" marL="164592" indent="-164592">
              <a:lnSpc>
                <a:spcPct val="100000"/>
              </a:lnSpc>
              <a:spcAft>
                <a:spcPts val="800"/>
              </a:spcAft>
              <a:buClr>
                <a:srgbClr val="8C9198"/>
              </a:buClr>
              <a:buFont typeface="Noto Sans KR"/>
              <a:buChar char="•"/>
            </a:pPr>
            <a:r>
              <a:rPr sz="1200" b="0">
                <a:solidFill>
                  <a:srgbClr val="4A4F57"/>
                </a:solidFill>
                <a:latin typeface="Noto Sans KR"/>
                <a:ea typeface="Noto Sans KR"/>
                <a:cs typeface="Noto Sans KR"/>
              </a:rPr>
              <a:t>영업비밀 후보: 데이터 정제, 장력 보정,</a:t>
            </a:r>
            <a:br/>
            <a:r>
              <a:rPr sz="1200" b="0">
                <a:solidFill>
                  <a:srgbClr val="4A4F57"/>
                </a:solidFill>
                <a:latin typeface="Noto Sans KR"/>
                <a:ea typeface="Noto Sans KR"/>
                <a:cs typeface="Noto Sans KR"/>
              </a:rPr>
              <a:t>실패 복구 파라미터</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선행기술 조사와 권리범위 검토 전에는</a:t>
            </a:r>
            <a:br/>
            <a:r>
              <a:rPr sz="1200" b="0">
                <a:solidFill>
                  <a:srgbClr val="4A4F57"/>
                </a:solidFill>
                <a:latin typeface="Noto Sans KR"/>
                <a:ea typeface="Noto Sans KR"/>
                <a:cs typeface="Noto Sans KR"/>
              </a:rPr>
              <a:t>독자성·비침해·세계 최초를 주장하지 않음</a:t>
            </a:r>
          </a:p>
        </p:txBody>
      </p:sp>
      <p:sp>
        <p:nvSpPr>
          <p:cNvPr id="14" name="TextBox 1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15" name="TextBox 1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현재 확인된 특허 출원 없음 · 예산: 안전·품질·지식재산 1.0억 원 (Seed 사용 계획)</a:t>
            </a:r>
          </a:p>
        </p:txBody>
      </p:sp>
      <p:sp>
        <p:nvSpPr>
          <p:cNvPr id="16" name="TextBox 1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A15</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400" b="1">
                <a:solidFill>
                  <a:srgbClr val="15171A"/>
                </a:solidFill>
                <a:latin typeface="Noto Sans KR"/>
                <a:ea typeface="Noto Sans KR"/>
                <a:cs typeface="Noto Sans KR"/>
              </a:rPr>
              <a:t>출처</a:t>
            </a:r>
          </a:p>
        </p:txBody>
      </p:sp>
      <p:sp>
        <p:nvSpPr>
          <p:cNvPr id="4" name="TextBox 3"/>
          <p:cNvSpPr txBox="1"/>
          <p:nvPr/>
        </p:nvSpPr>
        <p:spPr>
          <a:xfrm>
            <a:off x="685800" y="1335024"/>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열람 기준 2026-10-06 · 가격·원가·성능·고객 수·일정·매출은 본 계획의 가정 (출처 수치 아님) · 전체 URL은 수정 보고서</a:t>
            </a:r>
          </a:p>
        </p:txBody>
      </p:sp>
      <p:graphicFrame>
        <p:nvGraphicFramePr>
          <p:cNvPr id="5" name="Table 4"/>
          <p:cNvGraphicFramePr>
            <a:graphicFrameLocks noGrp="1"/>
          </p:cNvGraphicFramePr>
          <p:nvPr/>
        </p:nvGraphicFramePr>
        <p:xfrm>
          <a:off x="685800" y="1847088"/>
          <a:ext cx="5250027" cy="3487928"/>
        </p:xfrm>
        <a:graphic>
          <a:graphicData uri="http://schemas.openxmlformats.org/drawingml/2006/table">
            <a:tbl>
              <a:tblPr firstRow="0" bandRow="0">
                <a:tableStyleId>{2D5ABB26-0587-4C30-8999-92F81FD0307C}</a:tableStyleId>
              </a:tblPr>
              <a:tblGrid>
                <a:gridCol w="502920"/>
                <a:gridCol w="3238347"/>
                <a:gridCol w="1508760"/>
              </a:tblGrid>
              <a:tr h="275336">
                <a:tc>
                  <a:txBody>
                    <a:bodyPr wrap="square"/>
                    <a:lstStyle/>
                    <a:p>
                      <a:pPr algn="l">
                        <a:lnSpc>
                          <a:spcPct val="100000"/>
                        </a:lnSpc>
                      </a:pPr>
                      <a:r>
                        <a:rPr sz="1000" b="1">
                          <a:solidFill>
                            <a:srgbClr val="15171A"/>
                          </a:solidFill>
                          <a:latin typeface="Noto Sans KR"/>
                          <a:ea typeface="Noto Sans KR"/>
                          <a:cs typeface="Noto Sans KR"/>
                        </a:rPr>
                        <a:t>번호</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출처</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도메인</a:t>
                      </a:r>
                    </a:p>
                  </a:txBody>
                  <a:tcPr marL="73152" marR="73152" marT="41148" marB="41148" anchor="t">
                    <a:lnL w="0">
                      <a:noFill/>
                    </a:lnL>
                    <a:lnR w="0">
                      <a:noFill/>
                    </a:lnR>
                    <a:lnT w="12700">
                      <a:solidFill>
                        <a:srgbClr val="15171A"/>
                      </a:solidFill>
                    </a:lnT>
                    <a:lnB w="9525">
                      <a:solidFill>
                        <a:srgbClr val="15171A"/>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S1</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IFR, World Robotics 2025 보도자료 (2025-09)</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ifr.org</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S2</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IFR, World Robotics 2026 보도자료 (2026-09-24)</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ifr.org</a:t>
                      </a:r>
                    </a:p>
                  </a:txBody>
                  <a:tcPr marL="73152" marR="73152" marT="41148" marB="41148" anchor="t">
                    <a:lnL w="0">
                      <a:noFill/>
                    </a:lnL>
                    <a:lnR w="0">
                      <a:noFill/>
                    </a:lnR>
                    <a:lnT w="0">
                      <a:noFill/>
                    </a:lnT>
                    <a:lnB w="9525">
                      <a:solidFill>
                        <a:srgbClr val="E2E4E7"/>
                      </a:solidFill>
                    </a:lnB>
                    <a:noFill/>
                  </a:tcPr>
                </a:tc>
              </a:tr>
              <a:tr h="459232">
                <a:tc>
                  <a:txBody>
                    <a:bodyPr wrap="square"/>
                    <a:lstStyle/>
                    <a:p>
                      <a:pPr algn="l">
                        <a:lnSpc>
                          <a:spcPct val="100000"/>
                        </a:lnSpc>
                      </a:pPr>
                      <a:r>
                        <a:rPr sz="1000" b="1">
                          <a:solidFill>
                            <a:srgbClr val="E2571B"/>
                          </a:solidFill>
                          <a:latin typeface="Noto Sans KR"/>
                          <a:ea typeface="Noto Sans KR"/>
                          <a:cs typeface="Noto Sans KR"/>
                        </a:rPr>
                        <a:t>S3</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BCG, How Physical AI Is Reshaping Robotics Today (2026-04)</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bcg.com</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S4</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qbrobotics, qb SoftHand Industry 제품 사양</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qbrobotics.com</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S5</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Moley Robotics, A AiR kitchen</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moley.com</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S6</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Noh 외, YORI 자율 조리 시스템, arXiv:2405.11094</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arxiv.org</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S7</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ISO 10218-2:2025 (로봇 응용·셀 안전)</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iso.org</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S8</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통계청, 2023년 전국사업체조사 결과 (2024-09-27)</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kostat.go.kr</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S9</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헤럴드경제, 외식업계 인력난 (2025-05-10)</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biz.heraldcorp.com</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S10</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서울신문, 부산 학교 급식실 조리 로봇 (2025-12-30)</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seoul.co.kr</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S11</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인사이트코리아, 삼성웰스토리 급식 조리로봇</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insightkorea.co.kr</a:t>
                      </a:r>
                    </a:p>
                  </a:txBody>
                  <a:tcPr marL="73152" marR="73152" marT="41148" marB="41148" anchor="t">
                    <a:lnL w="0">
                      <a:noFill/>
                    </a:lnL>
                    <a:lnR w="0">
                      <a:noFill/>
                    </a:lnR>
                    <a:lnT w="0">
                      <a:noFill/>
                    </a:lnT>
                    <a:lnB w="9525">
                      <a:solidFill>
                        <a:srgbClr val="E2E4E7"/>
                      </a:solidFill>
                    </a:lnB>
                    <a:noFill/>
                  </a:tcPr>
                </a:tc>
              </a:tr>
            </a:tbl>
          </a:graphicData>
        </a:graphic>
      </p:graphicFrame>
      <p:graphicFrame>
        <p:nvGraphicFramePr>
          <p:cNvPr id="6" name="Table 5"/>
          <p:cNvGraphicFramePr>
            <a:graphicFrameLocks noGrp="1"/>
          </p:cNvGraphicFramePr>
          <p:nvPr/>
        </p:nvGraphicFramePr>
        <p:xfrm>
          <a:off x="6255867" y="1847088"/>
          <a:ext cx="5250027" cy="3028696"/>
        </p:xfrm>
        <a:graphic>
          <a:graphicData uri="http://schemas.openxmlformats.org/drawingml/2006/table">
            <a:tbl>
              <a:tblPr firstRow="0" bandRow="0">
                <a:tableStyleId>{2D5ABB26-0587-4C30-8999-92F81FD0307C}</a:tableStyleId>
              </a:tblPr>
              <a:tblGrid>
                <a:gridCol w="502920"/>
                <a:gridCol w="3238347"/>
                <a:gridCol w="1508760"/>
              </a:tblGrid>
              <a:tr h="275336">
                <a:tc>
                  <a:txBody>
                    <a:bodyPr wrap="square"/>
                    <a:lstStyle/>
                    <a:p>
                      <a:pPr algn="l">
                        <a:lnSpc>
                          <a:spcPct val="100000"/>
                        </a:lnSpc>
                      </a:pPr>
                      <a:r>
                        <a:rPr sz="1000" b="1">
                          <a:solidFill>
                            <a:srgbClr val="15171A"/>
                          </a:solidFill>
                          <a:latin typeface="Noto Sans KR"/>
                          <a:ea typeface="Noto Sans KR"/>
                          <a:cs typeface="Noto Sans KR"/>
                        </a:rPr>
                        <a:t>번호</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출처</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도메인</a:t>
                      </a:r>
                    </a:p>
                  </a:txBody>
                  <a:tcPr marL="73152" marR="73152" marT="41148" marB="41148" anchor="t">
                    <a:lnL w="0">
                      <a:noFill/>
                    </a:lnL>
                    <a:lnR w="0">
                      <a:noFill/>
                    </a:lnR>
                    <a:lnT w="12700">
                      <a:solidFill>
                        <a:srgbClr val="15171A"/>
                      </a:solidFill>
                    </a:lnT>
                    <a:lnB w="9525">
                      <a:solidFill>
                        <a:srgbClr val="15171A"/>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S12</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Restaurant Dive, NRA 2025 labor market·tech</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restaurantdive.com</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S13</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AI타임스, 에니아이 햄버거 조리 로봇 (2025)</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aitimes.com</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S14</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The Robot Report, Miso Robotics Flippy</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therobotreport.com</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S15</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Tesla 2025년 3분기 실적 발표 녹취 (2025-10-22)</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fool.com</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S16</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NVIDIA, GR00T N1.6 · 레퍼런스 휴머노이드 (2026)</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nvidia.com</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S17</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CNBC, NVIDIA Jetson AGX Thor (2025-08-25)</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cnbc.com</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S18</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Google DeepMind, Gemini Robotics 1.5 (2025-09)</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deepmind.google</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S19</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Figure, Series C · Figure 03 (2025)</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figure.ai</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S20</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Bloomberg, Physical Intelligence 가치 평가 (2025-11)</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bloomberg.com</a:t>
                      </a:r>
                    </a:p>
                  </a:txBody>
                  <a:tcPr marL="73152" marR="73152" marT="41148" marB="41148" anchor="t">
                    <a:lnL w="0">
                      <a:noFill/>
                    </a:lnL>
                    <a:lnR w="0">
                      <a:noFill/>
                    </a:lnR>
                    <a:lnT w="0">
                      <a:noFill/>
                    </a:lnT>
                    <a:lnB w="9525">
                      <a:solidFill>
                        <a:srgbClr val="E2E4E7"/>
                      </a:solidFill>
                    </a:lnB>
                    <a:noFill/>
                  </a:tcPr>
                </a:tc>
              </a:tr>
              <a:tr h="275336">
                <a:tc>
                  <a:txBody>
                    <a:bodyPr wrap="square"/>
                    <a:lstStyle/>
                    <a:p>
                      <a:pPr algn="l">
                        <a:lnSpc>
                          <a:spcPct val="100000"/>
                        </a:lnSpc>
                      </a:pPr>
                      <a:r>
                        <a:rPr sz="1000" b="1">
                          <a:solidFill>
                            <a:srgbClr val="E2571B"/>
                          </a:solidFill>
                          <a:latin typeface="Noto Sans KR"/>
                          <a:ea typeface="Noto Sans KR"/>
                          <a:cs typeface="Noto Sans KR"/>
                        </a:rPr>
                        <a:t>S21</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Crunchbase News, 로보틱스 투자 (2026-06)</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news.crunchbase.com</a:t>
                      </a:r>
                    </a:p>
                  </a:txBody>
                  <a:tcPr marL="73152" marR="73152" marT="41148" marB="41148" anchor="t">
                    <a:lnL w="0">
                      <a:noFill/>
                    </a:lnL>
                    <a:lnR w="0">
                      <a:noFill/>
                    </a:lnR>
                    <a:lnT w="0">
                      <a:noFill/>
                    </a:lnT>
                    <a:lnB w="9525">
                      <a:solidFill>
                        <a:srgbClr val="E2E4E7"/>
                      </a:solidFill>
                    </a:lnB>
                    <a:noFill/>
                  </a:tcPr>
                </a:tc>
              </a:tr>
            </a:tbl>
          </a:graphicData>
        </a:graphic>
      </p:graphicFrame>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[회사명 입력 필요]  |  투자유치 사업계획서 (Seed)</a:t>
            </a:r>
          </a:p>
        </p:txBody>
      </p:sp>
      <p:sp>
        <p:nvSpPr>
          <p:cNvPr id="8" name="TextBox 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S1·S4~S7은 사업계획서 인용 출처 [1]~[5]와 같음 · 시장조사기관의 시장 총액 전망은 사용하지 않음</a:t>
            </a:r>
          </a:p>
        </p:txBody>
      </p:sp>
      <p:sp>
        <p:nvSpPr>
          <p:cNvPr id="9" name="TextBox 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Noto Sans KR"/>
        <a:ea typeface="Noto Sans KR"/>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KR"/>
        <a:ea typeface="Noto Sans KR"/>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투자유치 사업계획서 (Seed) · 사람용 도구를 잡고 사용하는 소프트 로봇핸드 개발 및 사업화</dc:title>
  <dc:subject>4지·5지 소프트 로봇핸드와 도구 사용 제어 소프트웨어, 천장 이동형 양팔 로봇 주방 · Seed 20억 원 / 24개월</dc:subject>
  <dc:creator>[회사명 입력 필요]</dc:creator>
  <cp:keywords/>
  <dc:description>generated using python-pptx</dc:description>
  <cp:lastModifiedBy/>
  <cp:revision>1</cp:revision>
  <dcterms:created xsi:type="dcterms:W3CDTF">2026-10-06T09:00:00Z</dcterms:created>
  <dcterms:modified xsi:type="dcterms:W3CDTF">2026-10-06T09:00:00Z</dcterms:modified>
  <cp:category/>
</cp:coreProperties>
</file>