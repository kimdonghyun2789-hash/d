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제출 제외 자료: 예상질문 · 방어논리 · Evidence 공백 · Founder 입력 항목 · 투자심사 Memo · Tag 원칙</a:t>
            </a:r>
          </a:p>
          <a:p>
            <a:r>
              <a:t>- 제출용 IR = MH_Robotics_Seed_TIPS_IR_Final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예상 질문 · 방어논리 · 근거 · 약한 부분</a:t>
            </a:r>
          </a:p>
          <a:p>
            <a:r>
              <a:t>- 가장 약한 부분 = 지불의사 · 원가 실측 · 팀 정보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예상 질문 · 방어논리 · 근거 · 약한 부분</a:t>
            </a:r>
          </a:p>
          <a:p>
            <a:r>
              <a:t>- 가장 약한 부분 = 지불의사 · 원가 실측 · 팀 정보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예상 질문 · 방어논리 · 근거 · 약한 부분</a:t>
            </a:r>
          </a:p>
          <a:p>
            <a:r>
              <a:t>- 가장 약한 부분 = 지불의사 · 원가 실측 · 팀 정보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현재 없음: 고객 · 계약 · 파트너 · 매출 · 시제품 Data</a:t>
            </a:r>
          </a:p>
          <a:p>
            <a:r>
              <a:t>- 우선순위: 팀 정보 → 상용 Gripper 기술 기준선 → 예약금 등 고객 행동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판단 = MEET (미팅 검토 단계)</a:t>
            </a:r>
          </a:p>
          <a:p>
            <a:r>
              <a:t>- INVEST 아님: 팀 정보 · 기술 측정값 · 고객 행동 Evidence 부재</a:t>
            </a:r>
          </a:p>
          <a:p>
            <a:r>
              <a:t>- WATCH · PASS 아님: 문제 정의 · 접근 · 단계별 검증 구조 · 자금 계획 일관</a:t>
            </a:r>
          </a:p>
          <a:p>
            <a:r>
              <a:t>- 판단을 바꿀 Evidence 5개 (우측)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모든 숫자 = FACT · DERIVED · ASSUMPTION · TARGET 중 하나</a:t>
            </a:r>
          </a:p>
          <a:p>
            <a:r>
              <a:t>- 그림 · 미검증 내용 = CONCEPT · TO BE VALIDATED · 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I0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IR 내부 검토용 자료 (제출 제외)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제출용 IR (본문 18장 + 부록)과 분리 · 발표 준비 · 내부 검토 전용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160578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6766560"/>
                <a:gridCol w="2953512"/>
              </a:tblGrid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Code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I1~I3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투자심사 예상질문 20개 · 방어논리 · 근거 · 약한 부분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발표 Q&amp;A 준비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I4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부족한 Evidence · Founder 입력 필요 정보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자료 · 첫 90일 실행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투자심사 Memo (MEET) · Scorecard · 판단을 바꿀 Evidence 5개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내부 반론 검토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2115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I6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Number Tag 원칙 (FACT · DERIVED · ASSUMPTION · TARGET · CONCEPT · TBV · FUTURE)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기준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I1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투자심사 예상질문 · 방어논리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비판적 Seed VC · TIPS 운영사 관점 · 약한 항목 = 본문 보강 + 24개월 Evidence 연결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1" cy="316711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"/>
                <a:gridCol w="1691640"/>
                <a:gridCol w="5486400"/>
                <a:gridCol w="1874519"/>
                <a:gridCol w="1444752"/>
              </a:tblGrid>
              <a:tr h="2165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방어논리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(Tag)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약한 부분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Kitchen인가?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동작이 적고 반복되며 (Pick · Place · Insert · Remove), 작업영역이 정해져 있고 (싱크 · 식세기 · 수납), 물체 범위가 닫혀 있어 기술 검증이 가능함. 매일 쓰고 주방 리모델링 · 입주라는 구매 계기가 있어 사업 검증도 가능. CLEAN → COOK 확장 경로.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가정관리 무급노동 459.5조원 (2024, FACT) · 연 주방 교체 약 30만 (ASSUMPTION)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지불의사 미검증 → M18 WTP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Robot Arm인가?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랙 · 서랍 · 상부장 작업은 방향 제어가 필요해 6축 Arm이 맞음. 전용 기계는 식기 · 주방마다 재설계, 이동형은 낮은 작업점 · 가격 · 안전 부담. Arm은 Skill · Tool로 ASSIST · COOK 확장.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FAIRINO FR5 $6,999 · xArm 6 $8,399 (FACT) → BOM 하락 경로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 BOM 중 Arm 950만원 → OEM · 국산 Partner 필요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Appliance로 해결 불가능한가?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식세기는 세척만 하고 넣기 · 꺼내기 · 수납은 가전 밖의 일. 가전 개선은 사람 작업을 줄일 뿐 이동 · 적재는 남음. MH는 가전과 경쟁하지 않고 가전 사이를 잇는 Appliance Interface를 만듦.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가전사가 로봇을 내장할 가능성 → Q15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CLEAN만으로 고객이 돈을 내는가?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모름 (핵심 미검증 가설). 가치 Anchor: 식후 정리 40분/일 × 가사서비스 1.5만원/h × 자동화 60% ≈ 월 18만원 vs Rental 월 33만원 → Gap 존재. 그래서 Premium Remodeling 고객부터, CLEAN은 Platform 검증용, ASSIST 확장 · 위생 · 편의 가치를 묶어 WTP 조사.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가사서비스 요금 1.5만원/h (FACT) · 정리 40분 (ASSUMPTION)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가치 Gap 명시 · WTP n ≥ 300 + 예약금 (M18)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COOK까지 기술적으로 연결 가능한가?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Arm · Hand · Calibration · Safety를 쓰고, 추가되는 것은 Skill · Tool · 식품접촉 규격 · 열/액체 안전. 24개월 범위는 CLEAN, ASSIST가 중간 단계, COOK은 장기 R&amp;D (FUTURE). 공개 범용 모델 (π0.5) 발전이 Skill 확장 속도를 높일 수 있음.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openpi π0 · π0.5 공개 (FACT) [S46]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조리 안전 · 위생 규격 부담 큼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Gripper를 쓰면 안 되는가? 왜 자체 Hand인가?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처음엔 상용 Gripper로 시작해 기준선을 잡고 M6에 30종 식기로 비교. 자체 Hand 가설: 얇은 접시 Edge + 컵 · 그릇 감싸기를 Tool 교체 없이, 젖은 표면 Slip 감지, 교체형 식품접촉 Pad (위생 · 소모품), 목표 원가. 우위가 없으면 Buy로 전환 (중단 기준).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Robotiq 2F-85 약 $5,825 (FACT) vs 자체 Hand 원가 가정 Pilot 200만원 → Y5 85만원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자체 개발 비용 · 기간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Kitchen마다 다른데 실제 적용 가능한가?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모든 주방이 아니라 호환 주방부터. 적용률 Remodeling 60% · Retrofit 40% (가정) → 평면 30개 분석 (M6). Calibration (Mapping · 기준점 · Template)으로 재배치, M18 주방 3종 하락 ≤ 10%p · ≤ 4시간.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 평면 5종 중 3종 기본 배치 불가 · 1종 미검토 (DERIVED)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작음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I2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투자심사 예상질문 · 방어논리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비판적 Seed VC · TIPS 운영사 관점 · 약한 항목 = 본문 보강 + 24개월 Evidence 연결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1" cy="302367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"/>
                <a:gridCol w="1691640"/>
                <a:gridCol w="5486400"/>
                <a:gridCol w="1874519"/>
                <a:gridCol w="1444752"/>
              </a:tblGrid>
              <a:tr h="2165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방어논리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(Tag)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약한 부분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환경 Integration이 과도한 공사를 요구하지 않는가?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Remodeling은 주방 공사와 동시에 진행 (Interface 증분 450만원 = Premium 주방 2,000~4,000만원의 약 11~23%). Retrofit은 Compact Mount · Dock만 (150만원). New-build는 설계 단계 반영. 일반 시공은 Partner.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Premium 주방 가격대는 ASSUMPTION (견적 20건으로 검증)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Retrofit 호환률 미검증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결국 Interior Company 아닌가?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아님. Remodeling 1세대 5년 매출 2,418만원 중 Interface는 450만원 (약 19%), 나머지는 Robot · Care · 소모품 · Skill. 시공은 Partner, MH Core는 Robot · Hand · Skill · Calibration · Interface 표준 · Safety · Commissioning.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원가 목표 90 → 38만원 (ASSUMPTION)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초기 Remodeling 채널 의존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A/S 비용이 너무 크지 않은가?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 원가 Build-up (Y3): 방문 2회 × 11만원 + 고장 0.6회 × 18만원 + Cloud 4만원 = 연 36.8만원 vs Care 요금 48만원 → 마진 23% (Y3) → 44% (Y5, 원격진단 · 동선 밀도). 고장 1.2회/년 (Warranty 6% 동반) 시 1세대 5년 −84만원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 (실측 없음)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 가정 3세대 실측 필요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Rental이 자본집약적이지 않은가?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Pilot만 MH 직접 보유, Y4부터 Rental · Capital Partner가 자산 보유 (ASP의 88%에 매입, MH 서비스료 월 6만원, Partner IRR 약 13.1%). MH B/S 부담 지양. 단, Partner 단순 회수 약 49개월 &gt; 요구 36개월 (가정) → 매입가율 · 서비스료 · 기간 협의 (M24)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코웨이 국내 렌탈 계정 748만 (2026 1Q) · LG 가전 구독 매출 2조원+ (2025) (FACT)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Partner 조건 미확인 → M24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Care에 고객이 돈을 내는가?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Care는 소프트웨어 구독이 아니라 고가 로봇의 안전 · 성능 유지 계약 (정기점검 · Calibration · 원격진단 · A/S). 가전 구독의 정기관리 수요가 선례. 가입률 70%는 가정이며 실증에서 확인.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LG 케어매니저 약 4,000명 · 정기관리 포함 구독 (FACT) [S41]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가입률 미검증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Consumables가 실제 필요한가?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억지 Lock-in이 아니라 식품 · 식기 접촉 Pad · Seal의 마모 · 위생 교체. 교체주기는 Pad 수명 시험 (M18~M24)으로 확정. 구매 고객 기대 매출은 연 약 25만원으로 비중이 작음.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식품위생법 "기구" · 고무제 규격 (FACT) [S48]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교체주기 미검증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Humanoid가 발전하면?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위협이자 기회. 공개 범용 모델은 MH 실행층에 활용 가능. Humanoid도 주방에서는 낮은 작업점 · 위생 · 안전 · 가격 ($20,000 · 월 $499) 제약이 있음. MH의 Interface · Skill · Calibration 자산은 다른 Robot Platform에도 적용 가능 (Interface 표준 제공자 Position).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1X NEO 가격 · Figure 식세기 시연 · LG CLOiD 2028 목표 (FACT)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Humanoid 가격 급락 시 가격 압박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I3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투자심사 예상질문 · 방어논리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비판적 Seed VC · TIPS 운영사 관점 · 약한 항목 = 본문 보강 + 24개월 Evidence 연결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1" cy="25202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"/>
                <a:gridCol w="1691640"/>
                <a:gridCol w="5486400"/>
                <a:gridCol w="1874519"/>
                <a:gridCol w="1444752"/>
              </a:tblGrid>
              <a:tr h="2165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#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방어논리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 (Tag)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약한 부분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Samsung / LG / Kitchen Furniture Company가 직접 하면?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가능성 있음 (LG CLOiD 2028 상용화 목표). 대응: 가전사 · 가구사는 Partner · 채널 후보 (Appliance Interface · 주방 시공), MH는 설치 · Calibration Know-how와 Installed Base Data로 차별화, 좁은 IP (Food-contact Module · 기준점 Calibration).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한샘 등 가구사의 로봇 협업 보도 없음 (2026) [S51]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대기업 진입 시 채널 협상력 약함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OEM과 무엇이 다른가?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OEM은 Arm을 파는 회사, MH는 Arm을 사서 Hand · Skill · Calibration · Interface · Safety · Care로 주방 System을 만드는 회사. OEM은 공급 Partner이자 BOM 하락 경로.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부품 OEM 의존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5034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핵심 IP는 무엇인가?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1순위: 교체형 Food-contact Module, Task Coordinate Calibration (Dock · 가전 기준점). 2순위: Robot Home · Appliance Interface · 식기 Handling. 식기 로봇 · 주방 Rail 선행특허가 있어 넓은 청구는 어렵고 구체 구조 · 방법 청구를 목표. 실제 방어력은 Data · 절차 · Installed Base.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 11,731,282 · US 10,507,584 · US 7,751,938 등 (FACT, 청구항 미검토)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 단독 방어력 약함 · 등록 미정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20억원 전후 Seed가 필요하다면 왜 그 규모인가?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Bottom-up: 24개월 지출 23.41억원 (인건비 15.3억원 · 24개월 차 약 14명) − TIPS 8억원 + 3개월 Buffer 3.55억원 = 18.96억원 (≈ 19억원). Lean (팀 · 범위 축소, 지출 19.1억원) 13.8억원. TIPS 미선정 시 Lean 범위 21.5억원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규정 (FACT) · 비용 (ASSUMPTION)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인건비 · 채용 속도 가정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뒤 어떤 Evidence가 있어야 후속투자가 가능한가?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3세대 CLEAN ≥ 90% · 유료 전환 ≥ 2세대 · 주방 3종 Transfer ≤ 10%p · Calibration ≤ 4시간 · BOM · 설치 · Service 원가 실측 · WTP n ≥ 300 (1,490만원 ≥ 30%) · Partner 조건 (리모델링 1 · 렌탈/캐피탈 1) · 출원 5건.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실증 3세대는 표본이 작음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6002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Founder가 왜 적합한가?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[Founder 정보 필요] — 현재 답할 수 없음. 필요한 역량은 로봇 조작 (Hand · Skill), 주방 · 건축 설치 (Interface · 시공 Partner), 고객 · 파트너 영업의 세 축. 이 칸이 채워지기 전에는 투자 판단 불가.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큰 공백</a:t>
                      </a:r>
                    </a:p>
                  </a:txBody>
                  <a:tcPr marL="73152" marR="73152" marT="32004" marB="3200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I4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현재 부족한 Evidence · Founder 입력 필요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현재 없는 Evidence = "없음" · Founder 칸 = 입력 전 [Founder 정보 필요]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6675120" cy="376487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600200"/>
                <a:gridCol w="2560320"/>
                <a:gridCol w="914400"/>
              </a:tblGrid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Evidence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필요한 Evidence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· 핵심 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 (자리만 정의)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이력 · 역할 · 지분 · 전업 · 리드 3명 채용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자료 · 채용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Pain (정리 시간)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40분/일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30세대 Time-diary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자체 조사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WTP · 구매 행동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인터뷰 50명 → 조사 n ≥ 300 · 예약금 Test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리모델링 상담 · 온라인 패널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Hand 성능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상용 Gripper 대비 30종 비교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WP1 시험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CLEAN 성공률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목업 ≥ 80% → 가정 ≥ 90%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WP6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Transfer · Calibration 시간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3종 · ≤ 4시간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WP3 · WP6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평면 호환률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확보 5종 (1종 수용)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평면 30개 분석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입주자모집공고 평면 · 동의 실측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BOM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공개가 기반 추정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100대/년 견적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부품사 · OEM 견적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설치 · A/S 원가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3세대 실측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WP6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Partner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없음 (계약 · LOI 없음)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리모델링 시공 1 · 렌탈/캐피탈 1 조건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협의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인증 경로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미확정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인증기관 사전상담 · 사전시험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WP5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출원 0건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선행기술조사 · 출원 5건 + PCT 1건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변리사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 기초 통계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보급률 · 주방 교체 수 공식 통계 없음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소비자 조사 · 견적 20건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자체 조사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35240" y="1790567"/>
          <a:ext cx="3870655" cy="425920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2407615"/>
              </a:tblGrid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입력 필요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신원 · 경력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 · 학력 · 경력 (연도별) · 현재 소속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 · 지분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/ CTO 등 역할, 지분 · 베스팅 (TIPS: 창업팀 2인 이상 60% 이상)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전업 여부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전업 시점 · 겸직 여부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Why This Problem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문제를 택한 이유 · 개인 경험 · 문제 인식 근거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Relevant Engineering Experience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· 기구 · 제어 · 비전 · 하드웨어 양산 경험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Hardware / Product Development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개발 · 출시한 제품 · 프로젝트 (역할 · 성과)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· Mechanical · AI Capability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논문 · 특허 · 코드 · 수상 등 증빙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Construction · Kitchen · Manufacturing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주방 · 건축 시공 · 제조 경험 (Interface · 설치 표준에 직결)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Customer / Partner Network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리모델링 · 가구사 · 건설사 · 렌탈사 접점 (실명 · 관계 수준, 없으면 "없음")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IP · 권리귀속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보유 특허 · 전 직장 / 연구실 IP 충돌 · 경업금지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법인 정보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설립일 · 소재지 (수도권 여부 = 운영사 투자 요건) · 업력 · 상호 MH Robotics 상표 검색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투자 · 과제 이력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투자 · 정부과제 · 자본금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0744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운영사 접촉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TIPS 운영사 접촉 현황 (없으면 "없음")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5088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채용 Pool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리드 3명 (Manipulation · Perception · Hand) 후보 여부</a:t>
                      </a:r>
                    </a:p>
                  </a:txBody>
                  <a:tcPr marL="73152" marR="73152" marT="27432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I5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투자심사 Memo: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내부 반론 검토 의견 · 점수 1~5 (5 = 강한 Evidence)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90567"/>
            <a:ext cx="3566160" cy="82296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637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3175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74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A9AEB5"/>
                </a:solidFill>
                <a:latin typeface="Noto Sans KR"/>
                <a:ea typeface="Noto Sans KR"/>
                <a:cs typeface="Noto Sans KR"/>
              </a:rPr>
              <a:t>(INVEST · MEET · WATCH · PASS 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506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INVEST가 아닌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06719"/>
            <a:ext cx="3566160" cy="905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Founder · 팀 정보가 없음 (가장 큰 공백)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Baseline (Hand · CLEAN 성공률) 측정값 없음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고객 지불의사 · 구매 행동 증거 없음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BOM · 설치 · Care 원가가 모두 가정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가전사 · Humanoid 진입 속도가 빠름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211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WATCH · PASS가 아닌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8142"/>
            <a:ext cx="3566160" cy="1054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문제 정의와 접근 (Hand + Skill + Calibration + Interface)이 일관되고 측정 가능한 Gate로 쪼개져 있음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Bottom-up 자금 계획 · TIPS 레버리지 · 역할 분리 (기술 vs 사업 검증)</a:t>
            </a:r>
          </a:p>
          <a:p>
            <a:pPr algn="l" marL="182880" indent="-182880">
              <a:lnSpc>
                <a:spcPct val="100000"/>
              </a:lnSpc>
              <a:spcAft>
                <a:spcPts val="100"/>
              </a:spcAft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검증 채널 (Remodeling) → Scale 채널 (신축) 순서와 Partner 구조가 현실적</a:t>
            </a:r>
          </a:p>
          <a:p>
            <a:pPr algn="l" marL="182880" indent="-182880">
              <a:lnSpc>
                <a:spcPct val="100000"/>
              </a:lnSpc>
              <a:buClr>
                <a:srgbClr val="8C9198"/>
              </a:buClr>
              <a:buFont typeface="Noto Sans KR"/>
              <a:buChar char="–"/>
            </a:pPr>
            <a:r>
              <a:rPr sz="880" b="0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FACT / ASSUMPTION / TARGET 구분이 엄격해 실사 비용이 낮음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26280" y="1790567"/>
          <a:ext cx="3566159" cy="292902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457200"/>
                <a:gridCol w="457200"/>
                <a:gridCol w="1554479"/>
              </a:tblGrid>
              <a:tr h="2386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M24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2386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팀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Founder 정보 없음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9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문제 · 고객 Pain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통계 (가사노동 가치) 있음 · 정리 시간은 가정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9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기술 · 차별성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접근은 일관 · 측정값 없음 · 선행특허 다수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9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시장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Bottom-up 산식 공개 · 비율은 가정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9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BM · Unit Economics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구조 명확 · Hardware 마진 얇음 · 원가 가정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949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경쟁 · IP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대기업 · Humanoid · 선행특허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86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계획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WP · Gate · 중단 기준 구체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238607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자금 계획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Bottom-up · TIPS 역할 분리</a:t>
                      </a:r>
                    </a:p>
                  </a:txBody>
                  <a:tcPr marL="73152" marR="73152" marT="36576" marB="3657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366760" y="1790567"/>
            <a:ext cx="31391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판단을 바꿀 Evidence (최대 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101463"/>
            <a:ext cx="3139135" cy="60523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156327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156327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Founder · 핵심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375783"/>
            <a:ext cx="2681935" cy="31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로봇 조작 · Hand 개발 실적과 주방 · 건축 설치 실적을 가진 2인 이상 전업 Founding Team (지분 · 역할 확정)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779847"/>
            <a:ext cx="3139135" cy="60523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834711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834711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기술 Baseline (M3 이내)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054167"/>
            <a:ext cx="2681935" cy="31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상용 Arm + Gripper로 30종 식기 파지 · 식세기 적재 영상과 성공률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3458230"/>
            <a:ext cx="3139135" cy="60523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351309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513094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고객 행동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732550"/>
            <a:ext cx="2681935" cy="31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Premium 리모델링 고객 10세대 이상 예약금 또는 유료 실증 의향서 (2,020만원 또는 월 33만원 조건)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4136613"/>
            <a:ext cx="3139135" cy="60523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191477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191477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설치 경제성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410933"/>
            <a:ext cx="2681935" cy="31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서로 다른 주방 2종에서 Calibration · 설치 1일 이내 (목업 가능)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4814996"/>
            <a:ext cx="3139135" cy="60523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486986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571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869860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089316"/>
            <a:ext cx="2681935" cy="31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리모델링 시공 Partner 1곳 + 렌탈 · 캐피탈 Partner 1곳의 조건부 협력 의사 (조건 명시)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INTERNAL I6  ·  내부 검토용 (제출 제외)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0392"/>
            <a:ext cx="10820095" cy="472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Number Tag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6055"/>
            <a:ext cx="10820095" cy="257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F57"/>
                </a:solidFill>
                <a:latin typeface="Noto Sans KR"/>
                <a:ea typeface="Noto Sans KR"/>
                <a:cs typeface="Noto Sans KR"/>
              </a:rPr>
              <a:t>주요 숫자 · 미검증 내용 = Tag 구분 · 전체 입력 · Tag · 출처: xlsx Inputs 시트 · docs/08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90567"/>
          <a:ext cx="10817352" cy="24221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743200"/>
                <a:gridCol w="5120640"/>
                <a:gridCol w="1627632"/>
              </a:tblGrid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Tag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정의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대표 예시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71A"/>
                      </a:solidFill>
                    </a:lnT>
                    <a:lnB w="9525">
                      <a:solidFill>
                        <a:srgbClr val="15171A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통계 · 공개자료로 확인된 값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총주택 2,018만호 · 가사노동 가치 582.4조원 · TIPS 8억원 · Robotiq 2F-85 약 $5,825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17개 입력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5C6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DERIVED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FACT 또는 가정으로 계산한 값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아파트 약 1,328만호 · 1세대 5년 Contribution · Seed 범위 · 인시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전부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B4410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ASSUMPTION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사업가설 (검증 전)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Robot ASP 1,490만원 · BOM · Rental 월 33만원 · Premium 10% · 적용률 60%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84개 입력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E2571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· 이후 목표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가정 실증 ≥ 90% · Calibration ≤ 4시간 · 출원 5건 · 설치 물량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 입력 + KPI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CONCEPT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실물 없는 설계 개념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Adaptive Hand 렌더 · Robot Home · 주방 3D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그림 · 도식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6B707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TBV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방법이 정해진 미확인 사실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식세기 보급률 · 인증 적용 범위 · Founder 정보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각주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  <a:tr h="302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8C919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없는 제품 · 기능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COOK · Robot Upgrade · Tool 확장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5171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Roadmap</a:t>
                      </a:r>
                    </a:p>
                  </a:txBody>
                  <a:tcPr marL="73152" marR="73152" marT="54864" marB="54864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4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359015"/>
            <a:ext cx="10820095" cy="421741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359015"/>
            <a:ext cx="54864" cy="421741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359015"/>
            <a:ext cx="10527487" cy="4217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5171A"/>
                </a:solidFill>
                <a:latin typeface="Noto Sans KR"/>
                <a:ea typeface="Noto Sans KR"/>
                <a:cs typeface="Noto Sans KR"/>
              </a:rPr>
              <a:t>금지: 가상 고객 · 계약 · LOI · Partner · 매출 · 근거 없는 점유율 · "최초" · 근거 없는 ROI · 비용절감률 · 성능 · 특허 등록 확정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MH Robotics  ·  내부 검토용 (제출 제외)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198"/>
                </a:solidFill>
                <a:latin typeface="Noto Sans KR"/>
                <a:ea typeface="Noto Sans KR"/>
                <a:cs typeface="Noto Sans KR"/>
              </a:rPr>
              <a:t>I6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KR"/>
        <a:ea typeface="Noto Sans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 Robotics — IR 내부 검토용 (예상질문 · 방어논리 · Evidence · 투자심사 Memo, 제출 제외)</dc:title>
  <dc:subject>Adaptive Robot Hand · Manipulation Skill · Calibration · Environment Interface · CLEAN → ASSIST → COOK</dc:subject>
  <dc:creator>MH Robotics</dc:creator>
  <cp:keywords/>
  <dc:description>generated using python-pptx</dc:description>
  <cp:lastModifiedBy/>
  <cp:revision>1</cp:revision>
  <dcterms:created xsi:type="dcterms:W3CDTF">2026-10-08T09:00:00Z</dcterms:created>
  <dcterms:modified xsi:type="dcterms:W3CDTF">2026-10-08T09:00:00Z</dcterms:modified>
  <cp:category/>
</cp:coreProperties>
</file>