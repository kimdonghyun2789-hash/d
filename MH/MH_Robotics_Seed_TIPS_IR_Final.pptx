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02"/>
          <c:y val="0.1"/>
          <c:w val="0.96"/>
          <c:h val="0.78"/>
        </c:manualLayout>
      </c:layout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Remodeling 직접</c:v>
                </c:pt>
              </c:strCache>
            </c:strRef>
          </c:tx>
          <c:spPr>
            <a:solidFill>
              <a:srgbClr val="15171A"/>
            </a:solidFill>
            <a:ln>
              <a:noFill/>
            </a:ln>
          </c:spPr>
          <c:invertIfNegative val="0"/>
          <c:cat>
            <c:strRef>
              <c:f>Sheet1!$A$2:$A$6</c:f>
              <c:strCache>
                <c:ptCount val="5"/>
                <c:pt idx="0">
                  <c:v>Y1</c:v>
                </c:pt>
                <c:pt idx="1">
                  <c:v>Y2</c:v>
                </c:pt>
                <c:pt idx="2">
                  <c:v>Y3</c:v>
                </c:pt>
                <c:pt idx="3">
                  <c:v>Y4</c:v>
                </c:pt>
                <c:pt idx="4">
                  <c:v>Y5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3</c:v>
                </c:pt>
                <c:pt idx="2">
                  <c:v>30</c:v>
                </c:pt>
                <c:pt idx="3">
                  <c:v>50</c:v>
                </c:pt>
                <c:pt idx="4">
                  <c:v>60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Remodeling Partner</c:v>
                </c:pt>
              </c:strCache>
            </c:strRef>
          </c:tx>
          <c:spPr>
            <a:solidFill>
              <a:srgbClr val="6B7078"/>
            </a:solidFill>
            <a:ln>
              <a:noFill/>
            </a:ln>
          </c:spPr>
          <c:invertIfNegative val="0"/>
          <c:cat>
            <c:strRef>
              <c:f>Sheet1!$A$2:$A$6</c:f>
              <c:strCache>
                <c:ptCount val="5"/>
                <c:pt idx="0">
                  <c:v>Y1</c:v>
                </c:pt>
                <c:pt idx="1">
                  <c:v>Y2</c:v>
                </c:pt>
                <c:pt idx="2">
                  <c:v>Y3</c:v>
                </c:pt>
                <c:pt idx="3">
                  <c:v>Y4</c:v>
                </c:pt>
                <c:pt idx="4">
                  <c:v>Y5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20</c:v>
                </c:pt>
                <c:pt idx="3">
                  <c:v>130</c:v>
                </c:pt>
                <c:pt idx="4">
                  <c:v>340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Retrofit</c:v>
                </c:pt>
              </c:strCache>
            </c:strRef>
          </c:tx>
          <c:spPr>
            <a:solidFill>
              <a:srgbClr val="A9AEB5"/>
            </a:solidFill>
            <a:ln>
              <a:noFill/>
            </a:ln>
          </c:spPr>
          <c:invertIfNegative val="0"/>
          <c:cat>
            <c:strRef>
              <c:f>Sheet1!$A$2:$A$6</c:f>
              <c:strCache>
                <c:ptCount val="5"/>
                <c:pt idx="0">
                  <c:v>Y1</c:v>
                </c:pt>
                <c:pt idx="1">
                  <c:v>Y2</c:v>
                </c:pt>
                <c:pt idx="2">
                  <c:v>Y3</c:v>
                </c:pt>
                <c:pt idx="3">
                  <c:v>Y4</c:v>
                </c:pt>
                <c:pt idx="4">
                  <c:v>Y5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20</c:v>
                </c:pt>
                <c:pt idx="4">
                  <c:v>80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New-build 입주</c:v>
                </c:pt>
              </c:strCache>
            </c:strRef>
          </c:tx>
          <c:spPr>
            <a:solidFill>
              <a:srgbClr val="D5D8DC"/>
            </a:solidFill>
            <a:ln>
              <a:noFill/>
            </a:ln>
          </c:spPr>
          <c:invertIfNegative val="0"/>
          <c:cat>
            <c:strRef>
              <c:f>Sheet1!$A$2:$A$6</c:f>
              <c:strCache>
                <c:ptCount val="5"/>
                <c:pt idx="0">
                  <c:v>Y1</c:v>
                </c:pt>
                <c:pt idx="1">
                  <c:v>Y2</c:v>
                </c:pt>
                <c:pt idx="2">
                  <c:v>Y3</c:v>
                </c:pt>
                <c:pt idx="3">
                  <c:v>Y4</c:v>
                </c:pt>
                <c:pt idx="4">
                  <c:v>Y5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80.0</c:v>
                </c:pt>
              </c:numCache>
            </c:numRef>
          </c:val>
        </c:ser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one"/>
        <c:spPr>
          <a:ln>
            <a:solidFill>
              <a:srgbClr val="E2E4E7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l"/>
        <c:majorTickMark val="none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950">
          <a:solidFill>
            <a:srgbClr val="4A4F57"/>
          </a:solidFill>
          <a:latin typeface="Noto Sans KR"/>
          <a:ea typeface="Noto Sans KR"/>
          <a:cs typeface="Noto Sans KR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02"/>
          <c:y val="0.08"/>
          <c:w val="0.96"/>
          <c:h val="0.8"/>
        </c:manualLayout>
      </c:layout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Conservative</c:v>
                </c:pt>
              </c:strCache>
            </c:strRef>
          </c:tx>
          <c:spPr>
            <a:solidFill>
              <a:srgbClr val="C9CDD2"/>
            </a:solidFill>
            <a:ln>
              <a:noFill/>
            </a:ln>
          </c:spPr>
          <c:invertIfNegative val="0"/>
          <c:cat>
            <c:strRef>
              <c:f>Sheet1!$A$2:$A$6</c:f>
              <c:strCache>
                <c:ptCount val="5"/>
                <c:pt idx="0">
                  <c:v>Y1</c:v>
                </c:pt>
                <c:pt idx="1">
                  <c:v>Y2</c:v>
                </c:pt>
                <c:pt idx="2">
                  <c:v>Y3</c:v>
                </c:pt>
                <c:pt idx="3">
                  <c:v>Y4</c:v>
                </c:pt>
                <c:pt idx="4">
                  <c:v>Y5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0.14507999999999996</c:v>
                </c:pt>
                <c:pt idx="2">
                  <c:v>3.609345</c:v>
                </c:pt>
                <c:pt idx="3">
                  <c:v>15.3286454375</c:v>
                </c:pt>
                <c:pt idx="4">
                  <c:v>33.985162790625004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Base</c:v>
                </c:pt>
              </c:strCache>
            </c:strRef>
          </c:tx>
          <c:spPr>
            <a:solidFill>
              <a:srgbClr val="15171A"/>
            </a:solidFill>
            <a:ln>
              <a:noFill/>
            </a:ln>
          </c:spPr>
          <c:invertIfNegative val="0"/>
          <c:cat>
            <c:strRef>
              <c:f>Sheet1!$A$2:$A$6</c:f>
              <c:strCache>
                <c:ptCount val="5"/>
                <c:pt idx="0">
                  <c:v>Y1</c:v>
                </c:pt>
                <c:pt idx="1">
                  <c:v>Y2</c:v>
                </c:pt>
                <c:pt idx="2">
                  <c:v>Y3</c:v>
                </c:pt>
                <c:pt idx="3">
                  <c:v>Y4</c:v>
                </c:pt>
                <c:pt idx="4">
                  <c:v>Y5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0.0</c:v>
                </c:pt>
                <c:pt idx="1">
                  <c:v>0.260511</c:v>
                </c:pt>
                <c:pt idx="2">
                  <c:v>7.4234195</c:v>
                </c:pt>
                <c:pt idx="3">
                  <c:v>35.918587</c:v>
                </c:pt>
                <c:pt idx="4">
                  <c:v>91.49063800000002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Upside</c:v>
                </c:pt>
              </c:strCache>
            </c:strRef>
          </c:tx>
          <c:spPr>
            <a:solidFill>
              <a:srgbClr val="E2571B"/>
            </a:solidFill>
            <a:ln>
              <a:noFill/>
            </a:ln>
          </c:spPr>
          <c:invertIfNegative val="0"/>
          <c:cat>
            <c:strRef>
              <c:f>Sheet1!$A$2:$A$6</c:f>
              <c:strCache>
                <c:ptCount val="5"/>
                <c:pt idx="0">
                  <c:v>Y1</c:v>
                </c:pt>
                <c:pt idx="1">
                  <c:v>Y2</c:v>
                </c:pt>
                <c:pt idx="2">
                  <c:v>Y3</c:v>
                </c:pt>
                <c:pt idx="3">
                  <c:v>Y4</c:v>
                </c:pt>
                <c:pt idx="4">
                  <c:v>Y5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0.0</c:v>
                </c:pt>
                <c:pt idx="1">
                  <c:v>0.307701</c:v>
                </c:pt>
                <c:pt idx="2">
                  <c:v>9.634628750000001</c:v>
                </c:pt>
                <c:pt idx="3">
                  <c:v>55.237646664999986</c:v>
                </c:pt>
                <c:pt idx="4">
                  <c:v>154.77567364520004</c:v>
                </c:pt>
              </c:numCache>
            </c:numRef>
          </c:val>
        </c:ser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one"/>
        <c:spPr>
          <a:ln>
            <a:solidFill>
              <a:srgbClr val="E2E4E7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l"/>
        <c:majorTickMark val="none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900">
          <a:solidFill>
            <a:srgbClr val="4A4F57"/>
          </a:solidFill>
          <a:latin typeface="Noto Sans KR"/>
          <a:ea typeface="Noto Sans KR"/>
          <a:cs typeface="Noto Sans KR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MH Robotics: 다양한 실제 주방에서 식기 정리부터 조리까지 단계적으로 수행하는 주거용 Manipulation Robotics System</a:t>
            </a:r>
          </a:p>
          <a:p>
            <a:r>
              <a:t>- 핵심: 로봇손 · 작업 Skill · Calibration · 주방 Interface의 단일 제품화</a:t>
            </a:r>
          </a:p>
          <a:p>
            <a:r>
              <a:t>- 첫 검증 Workflow = CLEAN (식기 정리) → 같은 Platform에 ASSIST · COOK 단계적 추가</a:t>
            </a:r>
          </a:p>
          <a:p>
            <a:r>
              <a:t>- 적용: 기존 주방 · Remodeling · 신축 → Installed Base 기반 Care · 소모품 · Skill 반복매출</a:t>
            </a:r>
          </a:p>
          <a:p>
            <a:r>
              <a:t>- 현재 Concept 단계 (시제품 · 고객 · 계약 · 매출 없음) → Seed · TIPS 24개월 Evidence 확보 계획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식세기 · 인덕션 · 냉장고 · 오븐 = 기기 안의 일만 자동화</a:t>
            </a:r>
          </a:p>
          <a:p>
            <a:r>
              <a:t>- 식기 이동 · 식세기 적재 · 인출 · 수납 · 재료 투입 · 도구 조작 = 여전히 사람 몫</a:t>
            </a:r>
          </a:p>
          <a:p>
            <a:r>
              <a:t>- 문제 정의: 개별 가전 기능이 아닌 주방 Workflow 전체의 Physical Manipulation 미자동화</a:t>
            </a:r>
          </a:p>
          <a:p>
            <a:r>
              <a:t>- 근거: 2024 무급 가사노동 가치 582.4조원 · 그중 가정관리 (음식 준비 · 청소 등) 78.9% (가계생산 위성계정)</a:t>
            </a:r>
          </a:p>
          <a:p>
            <a:r>
              <a:t>- 식사 후 정리 하루 약 40분 = 가설 → Time-diary 30세대로 검증 예정</a:t>
            </a:r>
          </a:p>
          <a:p>
            <a:r>
              <a:t>- 가전 사이 사람 작업 흐름 ①~④: 식탁 → 싱크 → 식세기 → 조리대 → 수납장 (CLEAN 범위)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기술: 동작 종류 적음 (집기 · 옮기기 · 놓기 · 넣기 · 빼기) · 작업영역 고정 (싱크 · 조리대 · 식세기 · 수납장)</a:t>
            </a:r>
          </a:p>
          <a:p>
            <a:r>
              <a:t>- 물체 범위 닫힘: 접시 · 컵 · 그릇 · 수저 · 뚜껑 · 도구 → 이후 식재료</a:t>
            </a:r>
          </a:p>
          <a:p>
            <a:r>
              <a:t>- 사업: 매일 사용 → 빠른 가치 체감 · 주방 Remodeling · 신축 입주 = 구매 계기</a:t>
            </a:r>
          </a:p>
          <a:p>
            <a:r>
              <a:t>- Why now: 6축 Arm 가격 하락 ($6,999~) · 공개 조작 모델 (π0.5) · 가정용 로봇 안전기준 (IEC 63682 초안)</a:t>
            </a:r>
          </a:p>
          <a:p>
            <a:r>
              <a:t>- 지불의사 = 별도 검증 (M18 WTP 조사 n ≥ 300 · 예약금 Test)</a:t>
            </a:r>
          </a:p>
          <a:p>
            <a:r>
              <a:t>- 그림: 확보 평면 (구축 2Bay A) 주방에 Interface 적용 예 → Robot 작업영역 = 조리대 한 줄 (Robot Home · 싱크 · 수납 · 식세기) 고정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가정용 로봇의 한계 = AI 성능만이 아닌 높은 환경 편차</a:t>
            </a:r>
          </a:p>
          <a:p>
            <a:r>
              <a:t>- 집마다 다른 것: 주방 형태 · 가전 위치 · 모델 · 수납 위치 · 조리대 치수 · 물건 위치 · 동선 · 조명 · 설치 오차</a:t>
            </a:r>
          </a:p>
          <a:p>
            <a:r>
              <a:t>- 범용 로봇 적용 시 집마다 인식 · Mapping · 교시 · Programming · Calibration · 검증 반복 → 설치시간 · 비용 · 신뢰성 좌우</a:t>
            </a:r>
          </a:p>
          <a:p>
            <a:r>
              <a:t>- 확보 평면 5종: 싱크 벽 길이 약 2.6~3.3m · 3종 기본 배치 불가 · 1종 미검토</a:t>
            </a:r>
          </a:p>
          <a:p>
            <a:r>
              <a:t>- MH 접근 = 모든 주방 표준화가 아닌 Robot 적응 + 필요한 지점만 Interface (다음 장)</a:t>
            </a:r>
          </a:p>
          <a:p>
            <a:r>
              <a:t>- 확보 평면 4종 주방 재작도 (로봇 없음 · 동일 축척): ㄱ자 2종 · 반도형 2종 · 기본 한 줄 배치 수용 = 구축 2Bay A 1종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접근: 주방 전체를 로봇에 맞게 바꾸는 방식이 아님</a:t>
            </a:r>
          </a:p>
          <a:p>
            <a:r>
              <a:t>- 물체 다양성 → Adaptive Robot Hand · 작업 다양성 → Manipulation Skill Library</a:t>
            </a:r>
          </a:p>
          <a:p>
            <a:r>
              <a:t>- 주방 차이 → Perception + Calibration (현장에서 좌표 · 가전 · 수납 위치 등록)</a:t>
            </a:r>
          </a:p>
          <a:p>
            <a:r>
              <a:t>- 매일 반복되는 작업점 (Robot 대기 자리 · 도구 거치대 · 식세기 랙)에만 최소 Interface</a:t>
            </a:r>
          </a:p>
          <a:p>
            <a:r>
              <a:t>- 환경 표준화 = 목적이 아닌 신뢰성 · 반복설치 수단 → 같은 Robot · Skill의 여러 주방 반복 적용</a:t>
            </a:r>
          </a:p>
          <a:p>
            <a:r>
              <a:t>- 카드 그림 예 (CONCEPT): 같은 Hand의 국자 · 컵 · 접시 파지 · 식세기 적재 · 조리대 식기 인식 · Robot Home · Rail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핵심 Hardware = 주방 물체를 다루는 로봇손</a:t>
            </a:r>
          </a:p>
          <a:p>
            <a:r>
              <a:t>- 파지 방식: 접시 가장자리 Pinch · 컵 외벽 감싸기 · 그릇 테두리 Pinch · 국자 손잡이 파지</a:t>
            </a:r>
          </a:p>
          <a:p>
            <a:r>
              <a:t>- 목표 = 손가락 수 · 자유도 경쟁이 아닌 작업 완료율 · 가격 · 위생 · 유지관리 · 내구성</a:t>
            </a:r>
          </a:p>
          <a:p>
            <a:r>
              <a:t>- 식품 접촉 Pad · Tip = 교체형 Module → 위생 관리 + 소모품 매출</a:t>
            </a:r>
          </a:p>
          <a:p>
            <a:r>
              <a:t>- 자체 Hand 우위 = 미검증 → M6 상용 Gripper (Robotiq 2F-85 등) 기준선과 30종 식기 비교, Coverage +15%p 또는 Tool 교체 50% 감소 시에만 채택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Skill = Software 구독이 아닌 Robot이 수행 가능한 작업을 늘리는 Layer</a:t>
            </a:r>
          </a:p>
          <a:p>
            <a:r>
              <a:t>- 모든 Skill = 감지 → 파지 → 조작 → 검증 → 복구의 같은 구조 · 실패 감지 시 다시 잡기 · 내려놓기</a:t>
            </a:r>
          </a:p>
          <a:p>
            <a:r>
              <a:t>- 핵심 = Skill의 주방 간 이전: 설치 시 주방 Mapping · 기준점 좌표 Calibration · 가전 · 수납 위치 등록 · 작업 Parameter 조정</a:t>
            </a:r>
          </a:p>
          <a:p>
            <a:r>
              <a:t>- M18 검증: 구조 · 가전 모델이 다른 주방 3종에서 재배치 후 성공률 하락 ≤ 10%p · 현장 Calibration ≤ 4시간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제품 = 5개 Layer 통합 (A Robot Module · B Manipulation · C Calibration · D Environment Interface · E Safety)</a:t>
            </a:r>
          </a:p>
          <a:p>
            <a:r>
              <a:t>- A: Robot Arm (OEM 구매) · Adaptive Hand · Vision · 힘 · 안전 센서 · 필요 시 Rail · Dock</a:t>
            </a:r>
          </a:p>
          <a:p>
            <a:r>
              <a:t>- B: 물체 인식 → 파지 · 경로 계획 → 실행 → 실패 감지 · 복구 / C: 주방 Mapping · 좌표 · 가전 · 수납 위치 등록</a:t>
            </a:r>
          </a:p>
          <a:p>
            <a:r>
              <a:t>- D: Robot Home · 도구 · 수납 Dock · 가전 Interface · Vision 기준점 / E: 사람 감지 · 감속 · 충돌 감지 · 비상정지 · 안전 복귀</a:t>
            </a:r>
          </a:p>
          <a:p>
            <a:r>
              <a:t>- 왜 Arm: 식세기 랙 · 서랍 · 상부장 작업 = 6축 방향 제어 필요 · 이동형은 낮은 작업점 · 가격 · 안전 부담</a:t>
            </a:r>
          </a:p>
          <a:p>
            <a:r>
              <a:t>- Robot OEM과의 차이: Arm은 구매 · MH는 Hand · Skill · Calibration · Interface · Safety · Care로 주방 System 구성</a:t>
            </a:r>
          </a:p>
          <a:p>
            <a:r>
              <a:t>- 주황 = Robot 작업 구역 · 회색 점선 = 사람 구역 (설계 개념)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첫 기술검증 Workflow = CLEAN: 조리대 한쪽 식기 인식 → 집기 → 식세기 적재 → 세척 후 인출 → 수납장 복귀</a:t>
            </a:r>
          </a:p>
          <a:p>
            <a:r>
              <a:t>- CLEAN 목적 = 식기 정리 시장이 아닌 Platform 전체 (적응 파지 · 가전 · 수납 조작 · Calibration · 안전 · 실패 복구 · 반복 실행)의 첫 End-to-End 검증</a:t>
            </a:r>
          </a:p>
          <a:p>
            <a:r>
              <a:t>- 이후 같은 Robot에 ASSIST Skill (재료 이동 · 투입 · 젓기 · 뚜껑 · 도구) 추가 → 장기 Recipe 단위 COOK</a:t>
            </a:r>
          </a:p>
          <a:p>
            <a:r>
              <a:t>- CLEAN 단독 가사대체 가치 월 약 18만원 &lt; Rental 월 33만원 → 지불의사 = Premium 고객 · ASSIST 묶음으로 검증 (M18)</a:t>
            </a:r>
          </a:p>
          <a:p>
            <a:r>
              <a:t>- COOK = 현재 검증 결과가 아닌 장기 R&amp;D 방향 (FUTURE)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제품 1개 · 설치 경로 3개 (Integration 수준만 차등)</a:t>
            </a:r>
          </a:p>
          <a:p>
            <a:r>
              <a:t>- Retrofit (기존 주방): 호환성 확인 → Compact Mount · Dock · Vision 기준점만 설치 · 현장 Calibration 비중 큼</a:t>
            </a:r>
          </a:p>
          <a:p>
            <a:r>
              <a:t>- Remodeling: 주방 교체 시 Rail · Robot Home · 식세기 Interface · 수납 Dock 동시 시공 = 첫 검증 채널</a:t>
            </a:r>
          </a:p>
          <a:p>
            <a:r>
              <a:t>- New-build: 설계 단계에서 Mount · 전원 · 통신 · Tool Dock · 가전 Interface · Service 공간 반영 → 입주 시 또는 후설치</a:t>
            </a:r>
          </a:p>
          <a:p>
            <a:r>
              <a:t>- MH Core = Robot · Hand · Skill · Calibration · Interface 표준 · 안전 · 시운전 · 품질 / Partner = 철거 · 가구 · 전기 · 배관 · 일반 시공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BM 3층: INSTALL (Robot System · Interface · 설치) → OPERATE (Rental · Care · 소모품) → EXPAND (ASSIST Skill · Tool · 이후 COOK Skill · Upgrade)</a:t>
            </a:r>
          </a:p>
          <a:p>
            <a:r>
              <a:t>- Remodeling 구매 1세대 5년: 설치 2,020만원 · 운영 366만원 · 확장 32만원</a:t>
            </a:r>
          </a:p>
          <a:p>
            <a:r>
              <a:t>- 5년 기여이익 428만원 (Y3 원가) → 798만원 (Y5 원가)</a:t>
            </a:r>
          </a:p>
          <a:p>
            <a:r>
              <a:t>- 반복 · 확장매출 = Y5 매출의 4% (설치 초기 구조) → Installed Base 누적 후 비중 확대</a:t>
            </a:r>
          </a:p>
          <a:p>
            <a:r>
              <a:t>- Rental = 고객 초기 부담 완화 수단 · Pilot은 MH 직접 · Scale은 렌탈 · 캐피탈 Partner 자산 보유 (MH = 제품 · SW · Care)</a:t>
            </a:r>
          </a:p>
          <a:p>
            <a:r>
              <a:t>- Partner 단순 회수 약 49개월 &gt; 요구 36개월 (가정) → 매입가율 · 서비스료 · 기간 협의 필요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시장 산정 = 큰 TAM이 아닌 세대 수 × 적용률 × 단가</a:t>
            </a:r>
          </a:p>
          <a:p>
            <a:r>
              <a:t>- 국내 아파트 약 1,328만호 = 기회 기반 (구매자 수 아님)</a:t>
            </a:r>
          </a:p>
          <a:p>
            <a:r>
              <a:t>- Remodeling: 연 주방 교체 약 30만 × Premium 10% × 적용 60% = 연 약 1.8만 세대 · 3,212억원</a:t>
            </a:r>
          </a:p>
          <a:p>
            <a:r>
              <a:t>- Retrofit: 호환 기존 주방 약 31.9만 세대 × 연 0.5% = 280억원 · 신축 184억원</a:t>
            </a:r>
          </a:p>
          <a:p>
            <a:r>
              <a:t>- Y5 계획 매출 91.5억원 = 대상 세대의 약 2.5%</a:t>
            </a:r>
          </a:p>
          <a:p>
            <a:r>
              <a:t>- 비율 = 전부 가정 → 견적 20건 · 평면 30개 분석 · 소비자 조사로 검증</a:t>
            </a:r>
          </a:p>
          <a:p>
            <a:r>
              <a:t>- 채널 구성: Remodeling = 대상 세대 · 연 규모 모두 최대 (Beachhead) · 신축 = Option 단가 613만원 → 세대 대비 연 규모 비중 작음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초기 Mass Market 진입 없음</a:t>
            </a:r>
          </a:p>
          <a:p>
            <a:r>
              <a:t>- Phase 1 Premium 주방 Remodeling: 제품 · 가격 수용성 · 설치 · 사용성 검증 → 첫 Reference · 실제 고객 Data</a:t>
            </a:r>
          </a:p>
          <a:p>
            <a:r>
              <a:t>- Phase 2 호환 주방 Retrofit: 전체 Remodeling 없이 적용 가능한 고객 확대</a:t>
            </a:r>
          </a:p>
          <a:p>
            <a:r>
              <a:t>- Phase 3 신축 B2B2C: 건설사 · 주방가구사 경유 Project 단위 확장</a:t>
            </a:r>
          </a:p>
          <a:p>
            <a:r>
              <a:t>- 설치 물량 증가 ≠ 본사 현장인력 비례 증가: 철거 · 가구 · 전기 · 배관 = Partner / MH = Robot · Hand · Skill · Calibration · 안전 · 시운전</a:t>
            </a:r>
          </a:p>
          <a:p>
            <a:r>
              <a:t>- Partner 조건 = M18~M24 협의 · 확보 예정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R&amp;D 목표 = 성능 향상 자체가 아닌 Unit Economics · Scale 개선</a:t>
            </a:r>
          </a:p>
          <a:p>
            <a:r>
              <a:t>- Hand 고도화 → 다룰 수 있는 물체 ↑ · Skill → 작업 범위 ↑ · Calibration → 신규 주방 적용시간 ↓ · Interface → 작업 신뢰성 ↑</a:t>
            </a:r>
          </a:p>
          <a:p>
            <a:r>
              <a:t>- 결과: 설치시간 · Engineering 비용 ↓ · 반복설치 ↑ → Installed Base ↑ → Care · 소모품 · Skill 매출 ↑</a:t>
            </a:r>
          </a:p>
          <a:p>
            <a:r>
              <a:t>- 설치 · Calibration 원가 목표: Y2 실증 90만원 → Y3 60만원 → Y5 38만원 (설치 엔지니어 약 27인시 → 12인시)</a:t>
            </a:r>
          </a:p>
          <a:p>
            <a:r>
              <a:t>- 1세대 5년 기여이익 최대 변수 = 고객 지불의사 · Robot BOM</a:t>
            </a:r>
          </a:p>
          <a:p>
            <a:r>
              <a:t>- 방어력 = 특허 단독이 아닌 Grasp Data · Calibration 절차 · Interface 표준 · Installed Base 축적 (구축 예정)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경쟁 존재: 가전사 (기기 내부 자동화 · 구독) · 조리 로봇 (전용 주방 · 조리대 기기) · Humanoid · 이동형 (범용 손 · 모델 학습) · Cobot + Gripper (부품) · 주방가구사 (시공)</a:t>
            </a:r>
          </a:p>
          <a:p>
            <a:r>
              <a:t>- MH 목표 Position: 주방 물체용 Hand · CLEAN → COOK Skill 확장 · Calibration + 최소 Interface · 주방 공사 연계 설치 · Care · 소모품</a:t>
            </a:r>
          </a:p>
          <a:p>
            <a:r>
              <a:t>- 우위 = 재배치 시간 · 경제성 실증으로 입증 필요</a:t>
            </a:r>
          </a:p>
          <a:p>
            <a:r>
              <a:t>- 가전사 · 가구사 직접 진입 가능 (LG CLOiD 2028 목표) → Interface · 시공 Partner 후보로 설계</a:t>
            </a:r>
          </a:p>
          <a:p>
            <a:r>
              <a:t>- IP 1순위: 교체형 식품접촉 Module · 가전 기준점 Calibration · 선행특허 존재 → 좁고 구체적인 청구 (등록 미정)</a:t>
            </a:r>
          </a:p>
          <a:p>
            <a:r>
              <a:t>- Humanoid = 위협만이 아님: 공개 범용 모델 → MH 실행층 활용 · MH Interface · Skill → 다른 Robot에도 적용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TIPS 과제 10.67억원 = 기술 위험 해소 (WP1 Hand · WP2 Skill · WP3 Perception · Calibration · WP4 최소 Interface · WP5 안전 · WP6 통합 CLEAN 실증)</a:t>
            </a:r>
          </a:p>
          <a:p>
            <a:r>
              <a:t>- Seed = 기관부담금 · 과제 외 인건비 · 고객 검증 · 실증 운영 · WTP · Partner 개발 · BM 검증</a:t>
            </a:r>
          </a:p>
          <a:p>
            <a:r>
              <a:t>- 일정 6개월 단위 · Gate별 판단 (계속 · 범위 축소 · 전환)</a:t>
            </a:r>
          </a:p>
          <a:p>
            <a:r>
              <a:t>- M6 상용 Gripper 대비 Hand 비교 · M12 목업 CLEAN 전 과정 · M18 주방 3종 Transfer · WTP · M24 가정 실증 · 유료 전환 · 원가 실측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필요 핵심 역량 3개: 로봇 조작 (Hand · Skill) · 주방 · 건축 설치 (Interface · 시공 Partner) · 고객 · Partner 영업</a:t>
            </a:r>
          </a:p>
          <a:p>
            <a:r>
              <a:t>- Founder 확인 항목 7개: Why This Problem · 관련 엔지니어링 경험 · 하드웨어 · 제품 개발 · Robot · 기계 · AI 역량 · 건설 · 주방 · 제조 지식 · 고객 · Partner 네트워크 · 전업 여부 · 지분</a:t>
            </a:r>
          </a:p>
          <a:p>
            <a:r>
              <a:t>- 24개월 채용 계획: Founder 2명 포함 24개월 차 약 14명 · R&amp;D 중심 · 리드 3명 (Manipulation · Perception · Hand) 우선 채용</a:t>
            </a:r>
          </a:p>
          <a:p>
            <a:r>
              <a:t>- TIPS 요건: 대표 포함 창업팀 2인 이상 지분 60% 이상 · 정부지원 5억원당 청년 1명 신규 채용</a:t>
            </a:r>
          </a:p>
          <a:p>
            <a:r>
              <a:t>- 월별 인원 (FTE): 리드 3명 M1~M2 → 사업개발 M7 → 시험 · 설치 M13 → 현장 서비스 M19 · 경영지원 0.5 FTE (M10)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투자 요청액 = 24개월 사용처 Bottom-up 산정 · 24개월 지출 약 23.4억원 (인건비 중심)</a:t>
            </a:r>
          </a:p>
          <a:p>
            <a:r>
              <a:t>- Seed Base = 지출 − TIPS 정부지원 8억원 + Buffer 3개월 3.55억원 = 약 19.0억원</a:t>
            </a:r>
          </a:p>
          <a:p>
            <a:r>
              <a:t>- Seed Lean (팀 · 목업 · 실증 축소) 약 13.8억원 · TIPS 미선정 시 Lean 범위 약 21.5억원</a:t>
            </a:r>
          </a:p>
          <a:p>
            <a:r>
              <a:t>- 24개월 Evidence: 실제 주방 작동 시제품 · 주방 간 Transfer · BOM · 설치 · 서비스 원가 실측 · WTP · 유료 실증 · Partner 조건 · 특허 출원</a:t>
            </a:r>
          </a:p>
          <a:p>
            <a:r>
              <a:t>- Series A 이후 Y3~Y4 현금 소요 약 68억원 → 후속 투자 기준 = 기술 성공 + 유료 전환 + 원가 Evidence</a:t>
            </a:r>
          </a:p>
          <a:p>
            <a:r>
              <a:t>- 회사 정의: Hand · Skill · Calibration · Environment Integration 결합 → CLEAN 검증 → 같은 Platform에서 ASSIST · COOK 확장 → 기존 주방 · Remodeling · 신축 설치 → Installed Base 반복매출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부록 = 본문 18쪽의 근거 · 계산 · 검증 계획</a:t>
            </a:r>
          </a:p>
          <a:p>
            <a:r>
              <a:t>- A TIPS 과제 상세 · B 제품 · 기술 · C 시장 · 경쟁 · D 경제성 · 재무 · E IP · Risk · F 출처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Manipulation KPI: 식기 단위 성공률 목업 80% → 주방 3종 85% → 가정 90%</a:t>
            </a:r>
          </a:p>
          <a:p>
            <a:r>
              <a:t>- 공개 연구 식세기 적재 58.7% (참고) → 더 높은 목표 = 환경 Interface 효과 확인 지표</a:t>
            </a:r>
          </a:p>
          <a:p>
            <a:r>
              <a:t>- 복구율 등 비교 기준 없는 지표 = M12 측정 후 설정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Application KPI: Calibration 4시간 · 설치 2인 1일 = 설치 원가 가정에서 역산한 목표</a:t>
            </a:r>
          </a:p>
          <a:p>
            <a:r>
              <a:t>- 주방 호환률 = 평면 30개 분석 · 상담 주방 실측으로 가정값 대체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Business KPI: BOM · 설치비 · A/S · Care 원가 = 가정 → 24개월 내 견적 · 실측으로 대체</a:t>
            </a:r>
          </a:p>
          <a:p>
            <a:r>
              <a:t>- 지불의사 = M18 조사 n ≥ 300 · 예약금 Test · 실증 3세대 유료 전환으로 확인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WP 6개: 목표 · 내용 · 산출물 · KPI</a:t>
            </a:r>
          </a:p>
          <a:p>
            <a:r>
              <a:t>- Hand = 상용 Gripper 비교 → v1~v3 개선 · Skill = Template화 → 주방마다 재사용</a:t>
            </a:r>
          </a:p>
          <a:p>
            <a:r>
              <a:t>- Calibration = 새 주방 4시간 · Interface = 필요한 곳만 표준화 · 안전 = 표준 Gap · 사전시험</a:t>
            </a:r>
          </a:p>
          <a:p>
            <a:r>
              <a:t>- WP6 = 목업 → 주방 3종 → 가정 3세대 실증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- 6개월 단위 Gate</a:t>
            </a:r>
          </a:p>
          <a:p>
            <a:r>
              <a:t>- M6 자체 Hand 우위 없음 → 상용 Gripper 전환</a:t>
            </a:r>
          </a:p>
          <a:p>
            <a:r>
              <a:t>- M12 목업 80% · M18 주방 3종 Transfer · WTP · M24 가정 실증 · 유료 전환 · 원가 실측 = Series A 조건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TIPS 과제 예산 + 회사 전체 24개월 지출 비교</a:t>
            </a:r>
          </a:p>
          <a:p>
            <a:r>
              <a:t>- 과제 총액 = 정부 8억원 ÷ 75% = 약 10.67억원 · 기관부담 2.67억원 (현물 = Founder 인건비 참여분 · 현금 = Seed)</a:t>
            </a:r>
          </a:p>
          <a:p>
            <a:r>
              <a:t>- 우측 = 24개월 전체 사용처 (TIPS 편성분 · Seed 부담분 구분)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리드 3명 (조작 · 인식 · Hand) 우선 채용 · 사업개발 M7 · 설치 엔지니어 M13</a:t>
            </a:r>
          </a:p>
          <a:p>
            <a:r>
              <a:t>- Lean안: Hand 센싱 · Skill/Data · 현장 Technician 제외 · 시험 인력 M19로 연기</a:t>
            </a:r>
          </a:p>
          <a:p>
            <a:r>
              <a:t>- 연봉 = 평균 가정 → 실제 채용 조건으로 대체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M6 자체 Hand 필요 여부 판정</a:t>
            </a:r>
          </a:p>
          <a:p>
            <a:r>
              <a:t>- 30종 세트 (접시 · 그릇 · 컵 · 유리잔 · 수저 · 뚜껑 · 도구) · 젖은 조건 · 식세기 랙 조건 시험</a:t>
            </a:r>
          </a:p>
          <a:p>
            <a:r>
              <a:t>- 비교군: 상용 Gripper · 흡착 · Soft Finger</a:t>
            </a:r>
          </a:p>
          <a:p>
            <a:r>
              <a:t>- 식품 접촉 부품 = 식품위생법 기구 기준 · 고무제 규격 대응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확보 평면 5종: 구축 2Bay A 1종만 기본 한 줄 배치 수용 · 3종 싱크 줄 2.6~2.8m · 1종 미검토</a:t>
            </a:r>
          </a:p>
          <a:p>
            <a:r>
              <a:t>- 주방마다 다른 환경의 실제 예 → Retrofit · 짧은 벽용 Compact 구성 개발 필요</a:t>
            </a:r>
          </a:p>
          <a:p>
            <a:r>
              <a:t>- 표본 작음 → 평면 30개 분석으로 확대 (M6)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Remodeling 채널 Interface 예: 조리대 끝 Robot Home에 접힌 상태 → 문 열림 → 전개 → Rail 이동</a:t>
            </a:r>
          </a:p>
          <a:p>
            <a:r>
              <a:t>- 낮은 작업점 (식세기 하단 랙) = 랙을 당겨 위에서 적재</a:t>
            </a:r>
          </a:p>
          <a:p>
            <a:r>
              <a:t>- 3D 모델 기준 보관 · 전개 · 이동 경로 충돌검사 · 실제 기구 검증 예정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대표 평면 1종에 Remodeling 방식 Interface 적용 예</a:t>
            </a:r>
          </a:p>
          <a:p>
            <a:r>
              <a:t>- 원래 ㄱ자 주방 윗벽 = 로봇 작업 줄 · 인덕션 = 옆벽 이동</a:t>
            </a:r>
          </a:p>
          <a:p>
            <a:r>
              <a:t>- 보관함 문 최대 90° (옆벽) 조건에서 보관 · 전개 · 이동 경로 재검사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협동로봇 기준 ISO 10218 (2025) 감속 · 접촉력 = 최소선</a:t>
            </a:r>
          </a:p>
          <a:p>
            <a:r>
              <a:t>- 가정용 IEC 63682 = 초안 → Gap 분석으로 반영</a:t>
            </a:r>
          </a:p>
          <a:p>
            <a:r>
              <a:t>- M9 인증기관 사전상담 · M18 전기 · EMC 사전시험</a:t>
            </a:r>
          </a:p>
          <a:p>
            <a:r>
              <a:t>- Zoning 그림: Robot Zone = 조리대 한 줄 · 사람 동선 = Human Zone (진입 시 감속 · 정지) · 조리기구 구역 = No-go (MH 안전 원칙, CONCEPT)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Robot System 원가 = 공개가 부품 기준 추정</a:t>
            </a:r>
          </a:p>
          <a:p>
            <a:r>
              <a:t>- BOM Y1 시제품 1,680만원 → Y3 1,180만원 → Y5 915만원 (가정)</a:t>
            </a:r>
          </a:p>
          <a:p>
            <a:r>
              <a:t>- 최대 항목 = Arm · 자체 Hand = 상용 Gripper보다 낮은 목표 원가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주택 통계: 국가데이터처 2025 인구주택총조사 · 국토부 주택통계</a:t>
            </a:r>
          </a:p>
          <a:p>
            <a:r>
              <a:t>- 문제 크기: 2024 가계생산 위성계정 무급 가사노동 가치</a:t>
            </a:r>
          </a:p>
          <a:p>
            <a:r>
              <a:t>- 주방 교체 세대 수 = 공식 통계 없음 → 두 방법 교차 추정 (ASSUMPTION)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주방 리모델링 · 렌탈 · 관리 서비스 참고 자료</a:t>
            </a:r>
          </a:p>
          <a:p>
            <a:r>
              <a:t>- 렌탈 · 정기관리 수요 = 코웨이 · LG 실적으로 확인 (FACT)</a:t>
            </a:r>
          </a:p>
          <a:p>
            <a:r>
              <a:t>- 로봇에 대한 같은 지불 여부 = 별개 → WTP 조사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본문 시장 산식 · 가정 전체</a:t>
            </a:r>
          </a:p>
          <a:p>
            <a:r>
              <a:t>- Remodeling · Retrofit · 신축 대상 시장 = 연 약 3,676억원 · Y5 계획 매출 91.5억원 = 대상 세대의 약 2.5%</a:t>
            </a:r>
          </a:p>
          <a:p>
            <a:r>
              <a:t>- 각 비율 → M6~M24 견적 · 평면 분석 · 소비자 조사 · 실증 Data로 대체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Humanoid · 이동형 = 설치 불필요 범용 접근 · 조리 로봇 = 전용 주방 · 조리대 기기 · Cobot · Gripper = 부품</a:t>
            </a:r>
          </a:p>
          <a:p>
            <a:r>
              <a:t>- 가구사 로봇 협업 보도 없음 (2026)</a:t>
            </a:r>
          </a:p>
          <a:p>
            <a:r>
              <a:t>- MH 우위 = 미검증 → 실증 Data로 입증 필요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가격 범위 = 원가 하한 · 시장 참고가 · 고객 가치 3방향</a:t>
            </a:r>
          </a:p>
          <a:p>
            <a:r>
              <a:t>- CLEAN 단독 가사대체 가치 월 약 18만원 &lt; Rental 요금 → 가치 Gap</a:t>
            </a:r>
          </a:p>
          <a:p>
            <a:r>
              <a:t>- Premium 고객부터 · ASSIST 확장 · 위생 · 편의 가치 묶음으로 지불의사 확인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대표 1세대 5년: Remodeling 구매 설치 시점 2,020만원 · 5년 매출 2,418만원</a:t>
            </a:r>
          </a:p>
          <a:p>
            <a:r>
              <a:t>- 기여이익 428만원 (Y3 원가) → 798만원 (Y5 원가)</a:t>
            </a:r>
          </a:p>
          <a:p>
            <a:r>
              <a:t>- Retrofit = Partner 수수료 · 현장 Calibration 비용으로 낮음 · 신축 = 세대당 수주비용 작아 높음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Rental 월 33만원 (Care · Grip Kit 포함) · Y3 월 원가 약 25.6만원 · 회수 약 40개월</a:t>
            </a:r>
          </a:p>
          <a:p>
            <a:r>
              <a:t>- Scale = Partner 자산 보유 · MH 서비스료 월 6만원 · Partner IRR 약 13%</a:t>
            </a:r>
          </a:p>
          <a:p>
            <a:r>
              <a:t>- Partner 단순 회수 약 49개월 &gt; 요구 36개월 (가정) → 매입가율 · 서비스료 · 기간 협의</a:t>
            </a:r>
          </a:p>
          <a:p>
            <a:r>
              <a:t>- Care 마진 Y3 23% → Y5 44%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Base Y5 매출 91.5억원 · 누적 현금 최저 약 -125억원 → Series A 이후 추가 투자 필요 구조</a:t>
            </a:r>
          </a:p>
          <a:p>
            <a:r>
              <a:t>- Conservative 34.0억원 · Upside 154.8억원 (가격 인상 없이 Partner 물량 · 원가 개선 차이)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- 1세대 · 회사 기준 모두 최대 변수 = 고객 지불의사 · Robot BOM</a:t>
            </a:r>
          </a:p>
          <a:p>
            <a:r>
              <a:t>- 회사 기준 다음 순위 = Partner 경유 Remodeling · Retrofit 물량 · Robot Attach Rate · Rental 비중 · Failure Rate</a:t>
            </a:r>
          </a:p>
          <a:p>
            <a:r>
              <a:t>- 24개월 핵심 Evidence = WTP · BOM 견적 · 설치 · 서비스 원가 실측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특허 후보 12개 묶음</a:t>
            </a:r>
          </a:p>
          <a:p>
            <a:r>
              <a:t>- 1순위: 교체형 식품접촉 Module · 가전 기준점 기반 좌표 Calibration (Robot Home = 2순위)</a:t>
            </a:r>
          </a:p>
          <a:p>
            <a:r>
              <a:t>- 식기 로봇 · 주방 Rail · 수납장 로봇 선행특허 존재 → 구체적인 구조 · 방법 청구</a:t>
            </a:r>
          </a:p>
          <a:p>
            <a:r>
              <a:t>- 등록 가능성 미정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주요 Risk: 자체 Hand 우위 · 주방 간 Transfer · 지불의사 · 설치 · 서비스 원가 · 가정용 안전 기준</a:t>
            </a:r>
          </a:p>
          <a:p>
            <a:r>
              <a:t>- 각 Risk = M6~M24 Gate에서 측정 가능한 Evidence로 확인 · 중단 · 재편 기준 사전 정의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출처 목록 (조회일 2026-10-07~08 · 공식 통계 · 회사 발표 · 보도 인용)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출처 목록 (조회일 2026-10-07~08 · 공식 통계 · 회사 발표 · 보도 인용)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출처 목록 (조회일 2026-10-07~08 · 공식 통계 · 회사 발표 · 보도 인용)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출처 목록 (조회일 2026-10-07~08 · 공식 통계 · 회사 발표 · 보도 인용)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5.jp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Relationship Id="rId4" Type="http://schemas.openxmlformats.org/officeDocument/2006/relationships/image" Target="../media/image9.jpg"/><Relationship Id="rId5" Type="http://schemas.openxmlformats.org/officeDocument/2006/relationships/image" Target="../media/image10.jpg"/><Relationship Id="rId6" Type="http://schemas.openxmlformats.org/officeDocument/2006/relationships/image" Target="../media/image1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2.jpg"/><Relationship Id="rId4" Type="http://schemas.openxmlformats.org/officeDocument/2006/relationships/image" Target="../media/image13.jpg"/><Relationship Id="rId5" Type="http://schemas.openxmlformats.org/officeDocument/2006/relationships/image" Target="../media/image14.jpg"/><Relationship Id="rId6" Type="http://schemas.openxmlformats.org/officeDocument/2006/relationships/image" Target="../media/image15.jpg"/><Relationship Id="rId7" Type="http://schemas.openxmlformats.org/officeDocument/2006/relationships/image" Target="../media/image1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7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8.jpg"/><Relationship Id="rId4" Type="http://schemas.openxmlformats.org/officeDocument/2006/relationships/image" Target="../media/image19.jpg"/><Relationship Id="rId5" Type="http://schemas.openxmlformats.org/officeDocument/2006/relationships/image" Target="../media/image20.jpg"/><Relationship Id="rId6" Type="http://schemas.openxmlformats.org/officeDocument/2006/relationships/image" Target="../media/image21.jpg"/><Relationship Id="rId7" Type="http://schemas.openxmlformats.org/officeDocument/2006/relationships/image" Target="../media/image2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3.jpg"/><Relationship Id="rId4" Type="http://schemas.openxmlformats.org/officeDocument/2006/relationships/image" Target="../media/image24.jpg"/><Relationship Id="rId5" Type="http://schemas.openxmlformats.org/officeDocument/2006/relationships/image" Target="../media/image25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6.jpg"/><Relationship Id="rId4" Type="http://schemas.openxmlformats.org/officeDocument/2006/relationships/image" Target="../media/image27.jpg"/><Relationship Id="rId5" Type="http://schemas.openxmlformats.org/officeDocument/2006/relationships/image" Target="../media/image28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chart" Target="../charts/char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9.jpg"/><Relationship Id="rId4" Type="http://schemas.openxmlformats.org/officeDocument/2006/relationships/image" Target="../media/image30.jpg"/><Relationship Id="rId5" Type="http://schemas.openxmlformats.org/officeDocument/2006/relationships/image" Target="../media/image31.jpg"/><Relationship Id="rId6" Type="http://schemas.openxmlformats.org/officeDocument/2006/relationships/image" Target="../media/image32.jpg"/><Relationship Id="rId7" Type="http://schemas.openxmlformats.org/officeDocument/2006/relationships/image" Target="../media/image33.jpg"/><Relationship Id="rId8" Type="http://schemas.openxmlformats.org/officeDocument/2006/relationships/image" Target="../media/image34.jpg"/><Relationship Id="rId9" Type="http://schemas.openxmlformats.org/officeDocument/2006/relationships/image" Target="../media/image35.jpg"/><Relationship Id="rId10" Type="http://schemas.openxmlformats.org/officeDocument/2006/relationships/image" Target="../media/image3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7.jpg"/><Relationship Id="rId4" Type="http://schemas.openxmlformats.org/officeDocument/2006/relationships/image" Target="../media/image38.jpg"/><Relationship Id="rId5" Type="http://schemas.openxmlformats.org/officeDocument/2006/relationships/image" Target="../media/image39.jpg"/><Relationship Id="rId6" Type="http://schemas.openxmlformats.org/officeDocument/2006/relationships/image" Target="../media/image40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41.jpg"/><Relationship Id="rId4" Type="http://schemas.openxmlformats.org/officeDocument/2006/relationships/image" Target="../media/image42.jpg"/><Relationship Id="rId5" Type="http://schemas.openxmlformats.org/officeDocument/2006/relationships/image" Target="../media/image43.jpg"/><Relationship Id="rId6" Type="http://schemas.openxmlformats.org/officeDocument/2006/relationships/image" Target="../media/image44.jpg"/><Relationship Id="rId7" Type="http://schemas.openxmlformats.org/officeDocument/2006/relationships/image" Target="../media/image45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46.jpg"/><Relationship Id="rId4" Type="http://schemas.openxmlformats.org/officeDocument/2006/relationships/image" Target="../media/image47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48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Relationship Id="rId3" Type="http://schemas.openxmlformats.org/officeDocument/2006/relationships/chart" Target="../charts/chart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892040" cy="6858000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39776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A9AEB5"/>
                </a:solidFill>
                <a:latin typeface="Noto Sans KR"/>
                <a:ea typeface="Noto Sans KR"/>
                <a:cs typeface="Noto Sans KR"/>
              </a:rPr>
              <a:t>M H   R O B O T I C 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88720"/>
            <a:ext cx="3977639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Kitchen Manipulation</a:t>
            </a:r>
          </a:p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Robotics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999232"/>
            <a:ext cx="397763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>
                <a:solidFill>
                  <a:srgbClr val="E3E5E8"/>
                </a:solidFill>
                <a:latin typeface="Noto Sans KR"/>
                <a:ea typeface="Noto Sans KR"/>
                <a:cs typeface="Noto Sans KR"/>
              </a:rPr>
              <a:t>로봇손 · 작업 Skill · Calibration · 주방 Interface 통합 제품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639312"/>
            <a:ext cx="3977639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A9AEB5"/>
                </a:solidFill>
                <a:latin typeface="Noto Sans KR"/>
                <a:ea typeface="Noto Sans KR"/>
                <a:cs typeface="Noto Sans KR"/>
              </a:rPr>
              <a:t>식기 정리 → 조리까지 단계적 확장 · 기존 주방 · Remodeling · 신축 적용 · Installed Base 반복매출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66928" y="4297680"/>
            <a:ext cx="3977640" cy="0"/>
          </a:xfrm>
          <a:prstGeom prst="line">
            <a:avLst/>
          </a:prstGeom>
          <a:ln w="12700">
            <a:solidFill>
              <a:srgbClr val="3A3F46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66928" y="44622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CLEAN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81328" y="4462272"/>
            <a:ext cx="306323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C9CDD2"/>
                </a:solidFill>
                <a:latin typeface="Noto Sans KR"/>
                <a:ea typeface="Noto Sans KR"/>
                <a:cs typeface="Noto Sans KR"/>
              </a:rPr>
              <a:t>첫 검증 Workflow (식기 정리)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79145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0868D"/>
                </a:solidFill>
                <a:latin typeface="Noto Sans KR"/>
                <a:ea typeface="Noto Sans KR"/>
                <a:cs typeface="Noto Sans KR"/>
              </a:rPr>
              <a:t>ASSIST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4791456"/>
            <a:ext cx="306323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0868D"/>
                </a:solidFill>
                <a:latin typeface="Noto Sans KR"/>
                <a:ea typeface="Noto Sans KR"/>
                <a:cs typeface="Noto Sans KR"/>
              </a:rPr>
              <a:t>중기 확장 (재료 이동 · 투입 · 도구)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1206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0868D"/>
                </a:solidFill>
                <a:latin typeface="Noto Sans KR"/>
                <a:ea typeface="Noto Sans KR"/>
                <a:cs typeface="Noto Sans KR"/>
              </a:rPr>
              <a:t>COOK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81328" y="5120640"/>
            <a:ext cx="306323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0868D"/>
                </a:solidFill>
                <a:latin typeface="Noto Sans KR"/>
                <a:ea typeface="Noto Sans KR"/>
                <a:cs typeface="Noto Sans KR"/>
              </a:rPr>
              <a:t>장기 R&amp;D 방향 (Recipe Workflow)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5779008"/>
            <a:ext cx="39776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A9AEB5"/>
                </a:solidFill>
                <a:latin typeface="Noto Sans KR"/>
                <a:ea typeface="Noto Sans KR"/>
                <a:cs typeface="Noto Sans KR"/>
              </a:rPr>
              <a:t>Seed 투자 · TIPS 창업기업 IR  |  2026.10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053328"/>
            <a:ext cx="39776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>
                <a:solidFill>
                  <a:srgbClr val="80868D"/>
                </a:solidFill>
                <a:latin typeface="Noto Sans KR"/>
                <a:ea typeface="Noto Sans KR"/>
                <a:cs typeface="Noto Sans KR"/>
              </a:rPr>
              <a:t>현재 단계: Concept (시제품 개발 전)</a:t>
            </a:r>
          </a:p>
        </p:txBody>
      </p:sp>
      <p:pic>
        <p:nvPicPr>
          <p:cNvPr id="16" name="Picture 15" descr="v2_cover_light_798x750_55_50_10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0"/>
            <a:ext cx="7299655" cy="6858000"/>
          </a:xfrm>
          <a:prstGeom prst="rect">
            <a:avLst/>
          </a:prstGeom>
        </p:spPr>
      </p:pic>
      <p:cxnSp>
        <p:nvCxnSpPr>
          <p:cNvPr id="17" name="Connector 16"/>
          <p:cNvCxnSpPr/>
          <p:nvPr/>
        </p:nvCxnSpPr>
        <p:spPr>
          <a:xfrm flipH="1" flipV="1">
            <a:off x="5720003" y="1595628"/>
            <a:ext cx="320040" cy="502920"/>
          </a:xfrm>
          <a:prstGeom prst="line">
            <a:avLst/>
          </a:prstGeom>
          <a:ln w="7620">
            <a:solidFill>
              <a:srgbClr val="5C6169"/>
            </a:solidFill>
          </a:ln>
        </p:spPr>
      </p:cxnSp>
      <p:sp>
        <p:nvSpPr>
          <p:cNvPr id="18" name="Oval 17"/>
          <p:cNvSpPr/>
          <p:nvPr/>
        </p:nvSpPr>
        <p:spPr>
          <a:xfrm>
            <a:off x="6008039" y="2066543"/>
            <a:ext cx="64008" cy="64008"/>
          </a:xfrm>
          <a:prstGeom prst="ellipse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62917" y="1476298"/>
            <a:ext cx="1257085" cy="238658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62917" y="1476298"/>
            <a:ext cx="1257085" cy="23865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Robot Home (Dock)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7361848" y="2130552"/>
            <a:ext cx="274320" cy="502920"/>
          </a:xfrm>
          <a:prstGeom prst="line">
            <a:avLst/>
          </a:prstGeom>
          <a:ln w="7620">
            <a:solidFill>
              <a:srgbClr val="5C6169"/>
            </a:solidFill>
          </a:ln>
        </p:spPr>
      </p:cxnSp>
      <p:sp>
        <p:nvSpPr>
          <p:cNvPr id="22" name="Oval 21"/>
          <p:cNvSpPr/>
          <p:nvPr/>
        </p:nvSpPr>
        <p:spPr>
          <a:xfrm>
            <a:off x="7329844" y="2601468"/>
            <a:ext cx="64008" cy="64008"/>
          </a:xfrm>
          <a:prstGeom prst="ellipse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636168" y="2011222"/>
            <a:ext cx="833023" cy="238658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36168" y="2011222"/>
            <a:ext cx="833023" cy="23865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Rail (필요 시)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0005457" y="5088636"/>
            <a:ext cx="502920" cy="411480"/>
          </a:xfrm>
          <a:prstGeom prst="line">
            <a:avLst/>
          </a:prstGeom>
          <a:ln w="7620">
            <a:solidFill>
              <a:srgbClr val="5C6169"/>
            </a:solidFill>
          </a:ln>
        </p:spPr>
      </p:cxnSp>
      <p:sp>
        <p:nvSpPr>
          <p:cNvPr id="26" name="Oval 25"/>
          <p:cNvSpPr/>
          <p:nvPr/>
        </p:nvSpPr>
        <p:spPr>
          <a:xfrm>
            <a:off x="9973453" y="5056631"/>
            <a:ext cx="64008" cy="64008"/>
          </a:xfrm>
          <a:prstGeom prst="ellipse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08377" y="5380786"/>
            <a:ext cx="1218464" cy="238658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508377" y="5380786"/>
            <a:ext cx="1218464" cy="23865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식기세척기 Interface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591495" y="6492240"/>
            <a:ext cx="997069" cy="155448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591495" y="6492240"/>
            <a:ext cx="997069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 RENDERING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20624"/>
            <a:ext cx="9601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02  문제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76656"/>
            <a:ext cx="10820095" cy="473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가전 자동화 이후에도 사람 몫으로 남은 주방 Physical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04849"/>
            <a:ext cx="10820095" cy="2481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개별 가전 기능은 자동화 · 주방 Workflow 전체의 Physical Manipulation은 아직 사람 몫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599310"/>
            <a:ext cx="5989320" cy="278892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" name="Picture 5" descr="fig_flow_kitchen_light_655x305_50_50_10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599310"/>
            <a:ext cx="5989320" cy="278892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 flipH="1" flipV="1">
            <a:off x="2178329" y="2390727"/>
            <a:ext cx="274320" cy="384048"/>
          </a:xfrm>
          <a:prstGeom prst="line">
            <a:avLst/>
          </a:prstGeom>
          <a:ln w="7620">
            <a:solidFill>
              <a:srgbClr val="8C9198"/>
            </a:solidFill>
          </a:ln>
        </p:spPr>
      </p:cxnSp>
      <p:sp>
        <p:nvSpPr>
          <p:cNvPr id="8" name="Oval 7"/>
          <p:cNvSpPr/>
          <p:nvPr/>
        </p:nvSpPr>
        <p:spPr>
          <a:xfrm>
            <a:off x="2425217" y="2747343"/>
            <a:ext cx="54864" cy="54864"/>
          </a:xfrm>
          <a:prstGeom prst="ellipse">
            <a:avLst/>
          </a:prstGeom>
          <a:solidFill>
            <a:srgbClr val="4A4F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715795" y="2275995"/>
            <a:ext cx="462534" cy="229463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15795" y="2275995"/>
            <a:ext cx="462534" cy="2294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인덕션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2057914" y="3074256"/>
            <a:ext cx="566928" cy="182880"/>
          </a:xfrm>
          <a:prstGeom prst="line">
            <a:avLst/>
          </a:prstGeom>
          <a:ln w="7620">
            <a:solidFill>
              <a:srgbClr val="8C9198"/>
            </a:solidFill>
          </a:ln>
        </p:spPr>
      </p:cxnSp>
      <p:sp>
        <p:nvSpPr>
          <p:cNvPr id="12" name="Oval 11"/>
          <p:cNvSpPr/>
          <p:nvPr/>
        </p:nvSpPr>
        <p:spPr>
          <a:xfrm>
            <a:off x="2597410" y="3046824"/>
            <a:ext cx="54864" cy="54864"/>
          </a:xfrm>
          <a:prstGeom prst="ellipse">
            <a:avLst/>
          </a:prstGeom>
          <a:solidFill>
            <a:srgbClr val="4A4F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694694" y="3142404"/>
            <a:ext cx="363220" cy="229463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94694" y="3142404"/>
            <a:ext cx="363220" cy="2294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오븐</a:t>
            </a:r>
          </a:p>
        </p:txBody>
      </p:sp>
      <p:cxnSp>
        <p:nvCxnSpPr>
          <p:cNvPr id="15" name="Connector 14"/>
          <p:cNvCxnSpPr/>
          <p:nvPr/>
        </p:nvCxnSpPr>
        <p:spPr>
          <a:xfrm flipV="1">
            <a:off x="5484742" y="2429880"/>
            <a:ext cx="0" cy="457200"/>
          </a:xfrm>
          <a:prstGeom prst="line">
            <a:avLst/>
          </a:prstGeom>
          <a:ln w="7620">
            <a:solidFill>
              <a:srgbClr val="8C9198"/>
            </a:solidFill>
          </a:ln>
        </p:spPr>
      </p:cxnSp>
      <p:sp>
        <p:nvSpPr>
          <p:cNvPr id="16" name="Oval 15"/>
          <p:cNvSpPr/>
          <p:nvPr/>
        </p:nvSpPr>
        <p:spPr>
          <a:xfrm>
            <a:off x="5457310" y="2859648"/>
            <a:ext cx="54864" cy="54864"/>
          </a:xfrm>
          <a:prstGeom prst="ellipse">
            <a:avLst/>
          </a:prstGeom>
          <a:solidFill>
            <a:srgbClr val="4A4F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253475" y="2315148"/>
            <a:ext cx="462534" cy="229463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53475" y="2315148"/>
            <a:ext cx="462534" cy="2294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냉장고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672441" y="3789268"/>
            <a:ext cx="566928" cy="329184"/>
          </a:xfrm>
          <a:prstGeom prst="line">
            <a:avLst/>
          </a:prstGeom>
          <a:ln w="7620">
            <a:solidFill>
              <a:srgbClr val="8C9198"/>
            </a:solidFill>
          </a:ln>
        </p:spPr>
      </p:cxnSp>
      <p:sp>
        <p:nvSpPr>
          <p:cNvPr id="20" name="Oval 19"/>
          <p:cNvSpPr/>
          <p:nvPr/>
        </p:nvSpPr>
        <p:spPr>
          <a:xfrm>
            <a:off x="4645009" y="3761836"/>
            <a:ext cx="54864" cy="54864"/>
          </a:xfrm>
          <a:prstGeom prst="ellipse">
            <a:avLst/>
          </a:prstGeom>
          <a:solidFill>
            <a:srgbClr val="4A4F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239369" y="4003720"/>
            <a:ext cx="661162" cy="229463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39369" y="4003720"/>
            <a:ext cx="661162" cy="2294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식기세척기</a:t>
            </a:r>
          </a:p>
        </p:txBody>
      </p:sp>
      <p:sp>
        <p:nvSpPr>
          <p:cNvPr id="23" name="Oval 22"/>
          <p:cNvSpPr/>
          <p:nvPr/>
        </p:nvSpPr>
        <p:spPr>
          <a:xfrm>
            <a:off x="3563673" y="2710399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586533" y="2733259"/>
            <a:ext cx="210312" cy="210312"/>
          </a:xfrm>
          <a:prstGeom prst="ellipse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6533" y="2733259"/>
            <a:ext cx="210312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</a:t>
            </a:r>
          </a:p>
        </p:txBody>
      </p:sp>
      <p:sp>
        <p:nvSpPr>
          <p:cNvPr id="26" name="Oval 25"/>
          <p:cNvSpPr/>
          <p:nvPr/>
        </p:nvSpPr>
        <p:spPr>
          <a:xfrm>
            <a:off x="4263675" y="2818961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286535" y="2841821"/>
            <a:ext cx="210312" cy="210312"/>
          </a:xfrm>
          <a:prstGeom prst="ellipse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86535" y="2841821"/>
            <a:ext cx="210312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</a:t>
            </a:r>
          </a:p>
        </p:txBody>
      </p:sp>
      <p:sp>
        <p:nvSpPr>
          <p:cNvPr id="29" name="Oval 28"/>
          <p:cNvSpPr/>
          <p:nvPr/>
        </p:nvSpPr>
        <p:spPr>
          <a:xfrm>
            <a:off x="4776511" y="297618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799371" y="2999048"/>
            <a:ext cx="210312" cy="210312"/>
          </a:xfrm>
          <a:prstGeom prst="ellipse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99371" y="2999048"/>
            <a:ext cx="210312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3</a:t>
            </a:r>
          </a:p>
        </p:txBody>
      </p:sp>
      <p:sp>
        <p:nvSpPr>
          <p:cNvPr id="32" name="Oval 31"/>
          <p:cNvSpPr/>
          <p:nvPr/>
        </p:nvSpPr>
        <p:spPr>
          <a:xfrm>
            <a:off x="4185065" y="2384713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207925" y="2407573"/>
            <a:ext cx="210312" cy="210312"/>
          </a:xfrm>
          <a:prstGeom prst="ellipse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07925" y="2407573"/>
            <a:ext cx="210312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49440" y="1599310"/>
            <a:ext cx="455645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기기 안 자동화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949440" y="1873630"/>
            <a:ext cx="2214219" cy="54864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095744" y="1873630"/>
            <a:ext cx="1921611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식기세척기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95744" y="1873630"/>
            <a:ext cx="1921611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세척 자동화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291675" y="1873630"/>
            <a:ext cx="2214219" cy="54864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437979" y="1873630"/>
            <a:ext cx="1921611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인덕션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37979" y="1873630"/>
            <a:ext cx="1921611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가열 자동화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949440" y="2513710"/>
            <a:ext cx="2214219" cy="54864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095744" y="2513710"/>
            <a:ext cx="1921611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냉장고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95744" y="2513710"/>
            <a:ext cx="1921611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보관 자동화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291675" y="2513710"/>
            <a:ext cx="2214219" cy="54864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437979" y="2513710"/>
            <a:ext cx="1921611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오븐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437979" y="2513710"/>
            <a:ext cx="1921611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조리 일부 자동화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49440" y="3217798"/>
            <a:ext cx="4556455" cy="1170431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132320" y="3345814"/>
            <a:ext cx="41906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가전 사이 사람이 하는 Physical Task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32320" y="3364102"/>
            <a:ext cx="41906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A9AEB5"/>
                </a:solidFill>
                <a:latin typeface="Noto Sans KR"/>
                <a:ea typeface="Noto Sans KR"/>
                <a:cs typeface="Noto Sans KR"/>
              </a:rPr>
              <a:t>①~④ = CLEAN 검증 범위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132320" y="3693286"/>
            <a:ext cx="769703" cy="246888"/>
          </a:xfrm>
          <a:prstGeom prst="rect">
            <a:avLst/>
          </a:prstGeom>
          <a:solidFill>
            <a:srgbClr val="2C30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132320" y="3693286"/>
            <a:ext cx="769703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① 식기 이동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966031" y="3693286"/>
            <a:ext cx="874859" cy="246888"/>
          </a:xfrm>
          <a:prstGeom prst="rect">
            <a:avLst/>
          </a:prstGeom>
          <a:solidFill>
            <a:srgbClr val="2C30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966031" y="3693286"/>
            <a:ext cx="874859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② 식세기 적재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904898" y="3693286"/>
            <a:ext cx="874859" cy="246888"/>
          </a:xfrm>
          <a:prstGeom prst="rect">
            <a:avLst/>
          </a:prstGeom>
          <a:solidFill>
            <a:srgbClr val="2C30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904898" y="3693286"/>
            <a:ext cx="874859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③ 식세기 인출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843766" y="3693286"/>
            <a:ext cx="533441" cy="246888"/>
          </a:xfrm>
          <a:prstGeom prst="rect">
            <a:avLst/>
          </a:prstGeom>
          <a:solidFill>
            <a:srgbClr val="2C30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843766" y="3693286"/>
            <a:ext cx="533441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④ 수납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0441215" y="3693286"/>
            <a:ext cx="734609" cy="246888"/>
          </a:xfrm>
          <a:prstGeom prst="rect">
            <a:avLst/>
          </a:prstGeom>
          <a:solidFill>
            <a:srgbClr val="2C30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441215" y="3693286"/>
            <a:ext cx="734609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C9CDD2"/>
                </a:solidFill>
                <a:latin typeface="Noto Sans KR"/>
                <a:ea typeface="Noto Sans KR"/>
                <a:cs typeface="Noto Sans KR"/>
              </a:rPr>
              <a:t>식재료 이동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132320" y="4004182"/>
            <a:ext cx="629453" cy="246888"/>
          </a:xfrm>
          <a:prstGeom prst="rect">
            <a:avLst/>
          </a:prstGeom>
          <a:solidFill>
            <a:srgbClr val="2C30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132320" y="4004182"/>
            <a:ext cx="629453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C9CDD2"/>
                </a:solidFill>
                <a:latin typeface="Noto Sans KR"/>
                <a:ea typeface="Noto Sans KR"/>
                <a:cs typeface="Noto Sans KR"/>
              </a:rPr>
              <a:t>재료 투입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825781" y="4004182"/>
            <a:ext cx="839765" cy="246888"/>
          </a:xfrm>
          <a:prstGeom prst="rect">
            <a:avLst/>
          </a:prstGeom>
          <a:solidFill>
            <a:srgbClr val="2C30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825781" y="4004182"/>
            <a:ext cx="839765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C9CDD2"/>
                </a:solidFill>
                <a:latin typeface="Noto Sans KR"/>
                <a:ea typeface="Noto Sans KR"/>
                <a:cs typeface="Noto Sans KR"/>
              </a:rPr>
              <a:t>조리도구 조작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729555" y="4004182"/>
            <a:ext cx="393192" cy="246888"/>
          </a:xfrm>
          <a:prstGeom prst="rect">
            <a:avLst/>
          </a:prstGeom>
          <a:solidFill>
            <a:srgbClr val="2C30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729555" y="4004182"/>
            <a:ext cx="393192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C9CDD2"/>
                </a:solidFill>
                <a:latin typeface="Noto Sans KR"/>
                <a:ea typeface="Noto Sans KR"/>
                <a:cs typeface="Noto Sans KR"/>
              </a:rPr>
              <a:t>젓기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186755" y="4004182"/>
            <a:ext cx="629453" cy="246888"/>
          </a:xfrm>
          <a:prstGeom prst="rect">
            <a:avLst/>
          </a:prstGeom>
          <a:solidFill>
            <a:srgbClr val="2C30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186755" y="4004182"/>
            <a:ext cx="629453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C9CDD2"/>
                </a:solidFill>
                <a:latin typeface="Noto Sans KR"/>
                <a:ea typeface="Noto Sans KR"/>
                <a:cs typeface="Noto Sans KR"/>
              </a:rPr>
              <a:t>뚜껑 조작</a:t>
            </a:r>
          </a:p>
        </p:txBody>
      </p:sp>
      <p:sp>
        <p:nvSpPr>
          <p:cNvPr id="69" name="Rectangle 68"/>
          <p:cNvSpPr/>
          <p:nvPr/>
        </p:nvSpPr>
        <p:spPr>
          <a:xfrm>
            <a:off x="9880217" y="4004182"/>
            <a:ext cx="760559" cy="246888"/>
          </a:xfrm>
          <a:prstGeom prst="rect">
            <a:avLst/>
          </a:prstGeom>
          <a:solidFill>
            <a:srgbClr val="2C30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880217" y="4004182"/>
            <a:ext cx="760559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C9CDD2"/>
                </a:solidFill>
                <a:latin typeface="Noto Sans KR"/>
                <a:ea typeface="Noto Sans KR"/>
                <a:cs typeface="Noto Sans KR"/>
              </a:rPr>
              <a:t>조리 후 정리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85800" y="4571110"/>
            <a:ext cx="10820095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Appliance Automation  </a:t>
            </a:r>
            <a:r>
              <a:rPr sz="20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≠</a:t>
            </a:r>
            <a:r>
              <a:rPr sz="20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  Physical Workflow Automation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85800" y="5119750"/>
            <a:ext cx="2499283" cy="4045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582.4조원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85800" y="5506034"/>
            <a:ext cx="2499283" cy="1929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무급 가사노동 가치 (2024)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85800" y="5759830"/>
            <a:ext cx="309499" cy="155448"/>
          </a:xfrm>
          <a:prstGeom prst="rect">
            <a:avLst/>
          </a:prstGeom>
          <a:noFill/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85800" y="5759830"/>
            <a:ext cx="309499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FACT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459403" y="5119750"/>
            <a:ext cx="2499283" cy="4045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78.9%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459403" y="5506034"/>
            <a:ext cx="2499283" cy="1929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그중 가정관리 (음식 준비 · 청소 등) 459.5조원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459403" y="5759830"/>
            <a:ext cx="309499" cy="155448"/>
          </a:xfrm>
          <a:prstGeom prst="rect">
            <a:avLst/>
          </a:prstGeom>
          <a:noFill/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459403" y="5759830"/>
            <a:ext cx="309499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FACT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233007" y="5119750"/>
            <a:ext cx="2499283" cy="4045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132분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233007" y="5506034"/>
            <a:ext cx="2499283" cy="1929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1인당 하루 가사노동 (2024, 2019년 137분)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233007" y="5759830"/>
            <a:ext cx="309499" cy="155448"/>
          </a:xfrm>
          <a:prstGeom prst="rect">
            <a:avLst/>
          </a:prstGeom>
          <a:noFill/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233007" y="5759830"/>
            <a:ext cx="309499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FACT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006611" y="5119750"/>
            <a:ext cx="2499283" cy="4045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2571B"/>
                </a:solidFill>
                <a:latin typeface="Noto Sans KR"/>
                <a:ea typeface="Noto Sans KR"/>
                <a:cs typeface="Noto Sans KR"/>
              </a:rPr>
              <a:t>약 40분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006611" y="5506034"/>
            <a:ext cx="2499283" cy="1929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하루 식사 후 정리 (식기 이동 · 식세기 · 수납)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006611" y="5759830"/>
            <a:ext cx="652984" cy="155448"/>
          </a:xfrm>
          <a:prstGeom prst="rect">
            <a:avLst/>
          </a:prstGeom>
          <a:noFill/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006611" y="5759830"/>
            <a:ext cx="652984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ASSUMPTION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85800" y="6143853"/>
            <a:ext cx="10820095" cy="1837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출처: 국가데이터처 2024 가계생산 위성계정 (2026.4) [S40] · 식사 후 정리 40분 = 가설 → Time-diary 30세대로 검증 예정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2026.10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20624"/>
            <a:ext cx="9601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03  왜 Kitchen인가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76656"/>
            <a:ext cx="10820095" cy="473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주방: 기술 · 사업성 동시 검증이 가능한 첫 적용 공간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04849"/>
            <a:ext cx="10820095" cy="2481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Robot Engineering 4개 기준 · Business 4개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99310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구축 2Bay A 주방 · Interface 적용 예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85800" y="1928494"/>
            <a:ext cx="3749040" cy="0"/>
          </a:xfrm>
          <a:prstGeom prst="line">
            <a:avLst/>
          </a:prstGeom>
          <a:ln w="12700">
            <a:solidFill>
              <a:srgbClr val="15171A"/>
            </a:solidFill>
          </a:ln>
        </p:spPr>
      </p:cxnSp>
      <p:sp>
        <p:nvSpPr>
          <p:cNvPr id="7" name="Rectangle 6"/>
          <p:cNvSpPr/>
          <p:nvPr/>
        </p:nvSpPr>
        <p:spPr>
          <a:xfrm>
            <a:off x="685800" y="2056510"/>
            <a:ext cx="3749039" cy="3255264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fig_tech_m03_kitchen_light_409x356_50_50_10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056510"/>
            <a:ext cx="3749039" cy="3255264"/>
          </a:xfrm>
          <a:prstGeom prst="rect">
            <a:avLst/>
          </a:prstGeom>
        </p:spPr>
      </p:pic>
      <p:cxnSp>
        <p:nvCxnSpPr>
          <p:cNvPr id="9" name="Connector 8"/>
          <p:cNvCxnSpPr/>
          <p:nvPr/>
        </p:nvCxnSpPr>
        <p:spPr>
          <a:xfrm flipV="1">
            <a:off x="2242926" y="2215871"/>
            <a:ext cx="320040" cy="256032"/>
          </a:xfrm>
          <a:prstGeom prst="line">
            <a:avLst/>
          </a:prstGeom>
          <a:ln w="7620">
            <a:solidFill>
              <a:srgbClr val="5C6169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2210922" y="2439899"/>
            <a:ext cx="64008" cy="64008"/>
          </a:xfrm>
          <a:prstGeom prst="ellipse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62966" y="2105736"/>
            <a:ext cx="784772" cy="220268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2966" y="2105736"/>
            <a:ext cx="784772" cy="2202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Robot Home</a:t>
            </a:r>
          </a:p>
        </p:txBody>
      </p:sp>
      <p:cxnSp>
        <p:nvCxnSpPr>
          <p:cNvPr id="13" name="Connector 12"/>
          <p:cNvCxnSpPr/>
          <p:nvPr/>
        </p:nvCxnSpPr>
        <p:spPr>
          <a:xfrm flipH="1" flipV="1">
            <a:off x="2439899" y="2969248"/>
            <a:ext cx="502920" cy="566928"/>
          </a:xfrm>
          <a:prstGeom prst="line">
            <a:avLst/>
          </a:prstGeom>
          <a:ln w="7620">
            <a:solidFill>
              <a:srgbClr val="5C6169"/>
            </a:solidFill>
          </a:ln>
        </p:spPr>
      </p:cxnSp>
      <p:sp>
        <p:nvSpPr>
          <p:cNvPr id="14" name="Oval 13"/>
          <p:cNvSpPr/>
          <p:nvPr/>
        </p:nvSpPr>
        <p:spPr>
          <a:xfrm>
            <a:off x="2910815" y="3504172"/>
            <a:ext cx="64008" cy="64008"/>
          </a:xfrm>
          <a:prstGeom prst="ellipse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088363" y="2859114"/>
            <a:ext cx="351536" cy="220268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88363" y="2859114"/>
            <a:ext cx="351536" cy="2202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싱크</a:t>
            </a:r>
          </a:p>
        </p:txBody>
      </p:sp>
      <p:cxnSp>
        <p:nvCxnSpPr>
          <p:cNvPr id="17" name="Connector 16"/>
          <p:cNvCxnSpPr/>
          <p:nvPr/>
        </p:nvCxnSpPr>
        <p:spPr>
          <a:xfrm flipH="1">
            <a:off x="2360104" y="4060168"/>
            <a:ext cx="685800" cy="502920"/>
          </a:xfrm>
          <a:prstGeom prst="line">
            <a:avLst/>
          </a:prstGeom>
          <a:ln w="7620">
            <a:solidFill>
              <a:srgbClr val="5C6169"/>
            </a:solidFill>
          </a:ln>
        </p:spPr>
      </p:cxnSp>
      <p:sp>
        <p:nvSpPr>
          <p:cNvPr id="18" name="Oval 17"/>
          <p:cNvSpPr/>
          <p:nvPr/>
        </p:nvSpPr>
        <p:spPr>
          <a:xfrm>
            <a:off x="3013900" y="4028164"/>
            <a:ext cx="64008" cy="64008"/>
          </a:xfrm>
          <a:prstGeom prst="ellipse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721755" y="4452953"/>
            <a:ext cx="638349" cy="220268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21755" y="4452953"/>
            <a:ext cx="638349" cy="2202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수납 (서랍)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333457" y="4491850"/>
            <a:ext cx="228600" cy="566928"/>
          </a:xfrm>
          <a:prstGeom prst="line">
            <a:avLst/>
          </a:prstGeom>
          <a:ln w="7620">
            <a:solidFill>
              <a:srgbClr val="5C6169"/>
            </a:solidFill>
          </a:ln>
        </p:spPr>
      </p:cxnSp>
      <p:sp>
        <p:nvSpPr>
          <p:cNvPr id="22" name="Oval 21"/>
          <p:cNvSpPr/>
          <p:nvPr/>
        </p:nvSpPr>
        <p:spPr>
          <a:xfrm>
            <a:off x="3301453" y="4459846"/>
            <a:ext cx="64008" cy="64008"/>
          </a:xfrm>
          <a:prstGeom prst="ellipse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117049" y="4948643"/>
            <a:ext cx="445008" cy="220268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17049" y="4948643"/>
            <a:ext cx="445008" cy="2202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식세기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312448" y="3278253"/>
            <a:ext cx="91440" cy="566928"/>
          </a:xfrm>
          <a:prstGeom prst="line">
            <a:avLst/>
          </a:prstGeom>
          <a:ln w="7620">
            <a:solidFill>
              <a:srgbClr val="5C6169"/>
            </a:solidFill>
          </a:ln>
        </p:spPr>
      </p:cxnSp>
      <p:sp>
        <p:nvSpPr>
          <p:cNvPr id="26" name="Oval 25"/>
          <p:cNvSpPr/>
          <p:nvPr/>
        </p:nvSpPr>
        <p:spPr>
          <a:xfrm>
            <a:off x="1280444" y="3246249"/>
            <a:ext cx="64008" cy="64008"/>
          </a:xfrm>
          <a:prstGeom prst="ellipse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32972" y="3735046"/>
            <a:ext cx="941832" cy="220268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972" y="3735046"/>
            <a:ext cx="941832" cy="2202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인덕션 (옆벽 이동)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" y="2102230"/>
            <a:ext cx="435862" cy="12801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2102230"/>
            <a:ext cx="43586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8952" y="5037455"/>
            <a:ext cx="1385728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32103" y="5092319"/>
            <a:ext cx="164592" cy="91440"/>
          </a:xfrm>
          <a:prstGeom prst="rect">
            <a:avLst/>
          </a:prstGeom>
          <a:solidFill>
            <a:srgbClr val="E2571B">
              <a:alpha val="45000"/>
            </a:srgbClr>
          </a:solidFill>
          <a:ln w="9525">
            <a:solidFill>
              <a:srgbClr val="E2571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5037455"/>
            <a:ext cx="107483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Robot 작업영역 (고정)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00600" y="1599310"/>
            <a:ext cx="31926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Robot Engineering 기준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800600" y="1928494"/>
            <a:ext cx="3192627" cy="0"/>
          </a:xfrm>
          <a:prstGeom prst="line">
            <a:avLst/>
          </a:prstGeom>
          <a:ln w="12700">
            <a:solidFill>
              <a:srgbClr val="15171A"/>
            </a:solidFill>
          </a:ln>
        </p:spPr>
      </p:cxnSp>
      <p:sp>
        <p:nvSpPr>
          <p:cNvPr id="36" name="TextBox 35"/>
          <p:cNvSpPr txBox="1"/>
          <p:nvPr/>
        </p:nvSpPr>
        <p:spPr>
          <a:xfrm>
            <a:off x="4800600" y="2056510"/>
            <a:ext cx="4389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01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39512" y="2056510"/>
            <a:ext cx="27537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집기 · 이동 · 놓기 · 넣기 · 빼기 중심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39512" y="2376551"/>
            <a:ext cx="2753715" cy="2113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동작 종류 적고 반복 → Skill Library화 용이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4800600" y="2824606"/>
            <a:ext cx="3192627" cy="0"/>
          </a:xfrm>
          <a:prstGeom prst="line">
            <a:avLst/>
          </a:prstGeom>
          <a:ln w="9525">
            <a:solidFill>
              <a:srgbClr val="E2E4E7"/>
            </a:solidFill>
          </a:ln>
        </p:spPr>
      </p:cxnSp>
      <p:sp>
        <p:nvSpPr>
          <p:cNvPr id="40" name="TextBox 39"/>
          <p:cNvSpPr txBox="1"/>
          <p:nvPr/>
        </p:nvSpPr>
        <p:spPr>
          <a:xfrm>
            <a:off x="4800600" y="2897759"/>
            <a:ext cx="4389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02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39512" y="2897759"/>
            <a:ext cx="27537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작업영역 고정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39512" y="3217799"/>
            <a:ext cx="2753715" cy="4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싱크 · 조리대 · 식세기 · 수납장 →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Calibration 대상 명확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4800600" y="3665855"/>
            <a:ext cx="3192627" cy="0"/>
          </a:xfrm>
          <a:prstGeom prst="line">
            <a:avLst/>
          </a:prstGeom>
          <a:ln w="9525">
            <a:solidFill>
              <a:srgbClr val="E2E4E7"/>
            </a:solidFill>
          </a:ln>
        </p:spPr>
      </p:cxnSp>
      <p:sp>
        <p:nvSpPr>
          <p:cNvPr id="44" name="TextBox 43"/>
          <p:cNvSpPr txBox="1"/>
          <p:nvPr/>
        </p:nvSpPr>
        <p:spPr>
          <a:xfrm>
            <a:off x="4800600" y="3739007"/>
            <a:ext cx="4389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03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239512" y="3739007"/>
            <a:ext cx="27537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물체는 다양 · 범위는 닫힘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39512" y="4059047"/>
            <a:ext cx="2753715" cy="4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접시 · 컵 · 그릇 · 수저 · 뚜껑 · 집게 · 국자 →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이후 식재료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4800600" y="4507103"/>
            <a:ext cx="3192627" cy="0"/>
          </a:xfrm>
          <a:prstGeom prst="line">
            <a:avLst/>
          </a:prstGeom>
          <a:ln w="9525">
            <a:solidFill>
              <a:srgbClr val="E2E4E7"/>
            </a:solidFill>
          </a:ln>
        </p:spPr>
      </p:cxnSp>
      <p:sp>
        <p:nvSpPr>
          <p:cNvPr id="48" name="TextBox 47"/>
          <p:cNvSpPr txBox="1"/>
          <p:nvPr/>
        </p:nvSpPr>
        <p:spPr>
          <a:xfrm>
            <a:off x="4800600" y="4580255"/>
            <a:ext cx="4389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04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39512" y="4580255"/>
            <a:ext cx="27537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가전 사이 이동 반복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39512" y="4900295"/>
            <a:ext cx="2753715" cy="2113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식세기 · 수납장 · 조리대 사이 물리적 이동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13267" y="1599310"/>
            <a:ext cx="31926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Business 기준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8313267" y="1928494"/>
            <a:ext cx="3192628" cy="0"/>
          </a:xfrm>
          <a:prstGeom prst="line">
            <a:avLst/>
          </a:prstGeom>
          <a:ln w="12700">
            <a:solidFill>
              <a:srgbClr val="15171A"/>
            </a:solidFill>
          </a:ln>
        </p:spPr>
      </p:cxnSp>
      <p:sp>
        <p:nvSpPr>
          <p:cNvPr id="53" name="TextBox 52"/>
          <p:cNvSpPr txBox="1"/>
          <p:nvPr/>
        </p:nvSpPr>
        <p:spPr>
          <a:xfrm>
            <a:off x="8313267" y="2056510"/>
            <a:ext cx="4389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01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752179" y="2056510"/>
            <a:ext cx="27537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높은 일일 사용빈도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752179" y="2376551"/>
            <a:ext cx="2753715" cy="2113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매일 식사 후 반복 → 사용 Data · 빠른 가치 체감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8313267" y="2824606"/>
            <a:ext cx="3192628" cy="0"/>
          </a:xfrm>
          <a:prstGeom prst="line">
            <a:avLst/>
          </a:prstGeom>
          <a:ln w="9525">
            <a:solidFill>
              <a:srgbClr val="E2E4E7"/>
            </a:solidFill>
          </a:ln>
        </p:spPr>
      </p:cxnSp>
      <p:sp>
        <p:nvSpPr>
          <p:cNvPr id="57" name="TextBox 56"/>
          <p:cNvSpPr txBox="1"/>
          <p:nvPr/>
        </p:nvSpPr>
        <p:spPr>
          <a:xfrm>
            <a:off x="8313267" y="2897759"/>
            <a:ext cx="4389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02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752179" y="2897759"/>
            <a:ext cx="27537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구매 계기 존재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752179" y="3217799"/>
            <a:ext cx="2753715" cy="4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주방 Remodeling · 신축 입주 시 공사 ·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설치 동시 결정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8313267" y="3665855"/>
            <a:ext cx="3192628" cy="0"/>
          </a:xfrm>
          <a:prstGeom prst="line">
            <a:avLst/>
          </a:prstGeom>
          <a:ln w="9525">
            <a:solidFill>
              <a:srgbClr val="E2E4E7"/>
            </a:solidFill>
          </a:ln>
        </p:spPr>
      </p:cxnSp>
      <p:sp>
        <p:nvSpPr>
          <p:cNvPr id="61" name="TextBox 60"/>
          <p:cNvSpPr txBox="1"/>
          <p:nvPr/>
        </p:nvSpPr>
        <p:spPr>
          <a:xfrm>
            <a:off x="8313267" y="3739007"/>
            <a:ext cx="4389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03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752179" y="3739007"/>
            <a:ext cx="27537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CLEAN → ASSIST → COOK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752179" y="4059047"/>
            <a:ext cx="2753715" cy="2113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같은 Platform + Skill · Tool 추가로 기능 확장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8313267" y="4507103"/>
            <a:ext cx="3192628" cy="0"/>
          </a:xfrm>
          <a:prstGeom prst="line">
            <a:avLst/>
          </a:prstGeom>
          <a:ln w="9525">
            <a:solidFill>
              <a:srgbClr val="E2E4E7"/>
            </a:solidFill>
          </a:ln>
        </p:spPr>
      </p:cxnSp>
      <p:sp>
        <p:nvSpPr>
          <p:cNvPr id="65" name="TextBox 64"/>
          <p:cNvSpPr txBox="1"/>
          <p:nvPr/>
        </p:nvSpPr>
        <p:spPr>
          <a:xfrm>
            <a:off x="8313267" y="4580255"/>
            <a:ext cx="4389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04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752179" y="4580255"/>
            <a:ext cx="27537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설치 이후 반복매출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752179" y="4900295"/>
            <a:ext cx="2753715" cy="2113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Installed Base 기반 Care · 소모품 · Skill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85800" y="5494655"/>
            <a:ext cx="10820095" cy="475488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68680" y="5494655"/>
            <a:ext cx="10454335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→  주거용 Manipulation의 기술성 · 고객가치 동시 검증이 가능한 첫 Application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85800" y="6143853"/>
            <a:ext cx="10820095" cy="1837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Why now: 6축 Arm $6,999~ [S15] · 공개 조작 모델 π0.5 [S46] · 가정용 로봇 안전기준 IEC 63682 초안 [S47] · 지불의사 = WTP n≥300 · 예약금 Test로 검증 (M18)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2026.10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20624"/>
            <a:ext cx="9601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04  가정용 Robot 적용의 구조적 한계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76656"/>
            <a:ext cx="10820095" cy="473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주방마다 다른 환경 → 동일 로봇 반복 설치의 구조적 한계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04849"/>
            <a:ext cx="10820095" cy="2481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Robot 지능 부족만이 아닌 높은 환경 편차 (Environment Variation) → 신뢰성 · 반복설치 제약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99310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주방마다 다른 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14600" y="1654175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확보 평면 재작도 (단지명 미표기) · 동일 축척 · 신축 2Bay = 3D 미착수</a:t>
            </a:r>
          </a:p>
        </p:txBody>
      </p:sp>
      <p:pic>
        <p:nvPicPr>
          <p:cNvPr id="7" name="Picture 6" descr="fig_var_k_old2a_light_166x152_50_50_10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928494"/>
            <a:ext cx="1517904" cy="13898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" y="3364102"/>
            <a:ext cx="151790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구축 2Bay A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ㄱ자 · 윗벽 3,255mm</a:t>
            </a:r>
          </a:p>
          <a:p>
            <a:pPr algn="l">
              <a:lnSpc>
                <a:spcPct val="100000"/>
              </a:lnSpc>
            </a:pPr>
            <a:r>
              <a:rPr sz="75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기본 한 줄 배치 수용</a:t>
            </a:r>
          </a:p>
        </p:txBody>
      </p:sp>
      <p:pic>
        <p:nvPicPr>
          <p:cNvPr id="9" name="Picture 8" descr="fig_var_k_old2b_light_166x152_50_50_10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3432" y="1928494"/>
            <a:ext cx="1517904" cy="13898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313432" y="3364102"/>
            <a:ext cx="151790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구축 2Bay B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ㄱ자 · 싱크 줄 약 2.6m</a:t>
            </a:r>
          </a:p>
          <a:p>
            <a:pPr algn="l">
              <a:lnSpc>
                <a:spcPct val="100000"/>
              </a:lnSpc>
            </a:pPr>
            <a:r>
              <a:rPr sz="75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기본 한 줄 배치 불가</a:t>
            </a:r>
          </a:p>
        </p:txBody>
      </p:sp>
      <p:pic>
        <p:nvPicPr>
          <p:cNvPr id="11" name="Picture 10" descr="fig_var_k_new3_light_166x152_50_50_10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41063" y="1928494"/>
            <a:ext cx="1517904" cy="138988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941063" y="3364102"/>
            <a:ext cx="151790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신축 3Bay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반도형 · 싱크 줄 약 2.6m</a:t>
            </a:r>
          </a:p>
          <a:p>
            <a:pPr algn="l">
              <a:lnSpc>
                <a:spcPct val="100000"/>
              </a:lnSpc>
            </a:pPr>
            <a:r>
              <a:rPr sz="75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기본 한 줄 배치 불가</a:t>
            </a:r>
          </a:p>
        </p:txBody>
      </p:sp>
      <p:pic>
        <p:nvPicPr>
          <p:cNvPr id="13" name="Picture 12" descr="fig_var_k_new4_light_166x152_50_50_10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68696" y="1928494"/>
            <a:ext cx="1517904" cy="138988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568696" y="3364102"/>
            <a:ext cx="151790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신축 4Bay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반도형 · 싱크 줄 약 2.8m</a:t>
            </a:r>
          </a:p>
          <a:p>
            <a:pPr algn="l">
              <a:lnSpc>
                <a:spcPct val="100000"/>
              </a:lnSpc>
            </a:pPr>
            <a:r>
              <a:rPr sz="75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기본 한 줄 배치 불가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4004183"/>
            <a:ext cx="2072640" cy="310896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4004183"/>
            <a:ext cx="185318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주방 형태</a:t>
            </a: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   ㅡ자 · ㄱ자 · 반도형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849880" y="4004183"/>
            <a:ext cx="2072640" cy="310896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59608" y="4004183"/>
            <a:ext cx="185318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가전 위치</a:t>
            </a: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   식세기 · 인덕션 배치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13960" y="4004183"/>
            <a:ext cx="2072640" cy="310896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23688" y="4004183"/>
            <a:ext cx="185318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수납 위치</a:t>
            </a: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   상부장 · 서랍 · 키큰장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4388231"/>
            <a:ext cx="2072640" cy="310896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5528" y="4388231"/>
            <a:ext cx="185318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조리대 치수</a:t>
            </a: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   높이 · 깊이 · 길이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849880" y="4388231"/>
            <a:ext cx="2072640" cy="310896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959608" y="4388231"/>
            <a:ext cx="185318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가전 모델</a:t>
            </a: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   랙 구조 · 문 열림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13960" y="4388231"/>
            <a:ext cx="2072640" cy="310896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23688" y="4388231"/>
            <a:ext cx="185318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물건 위치</a:t>
            </a: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   식기 놓는 자리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4772279"/>
            <a:ext cx="2072640" cy="310896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5528" y="4772279"/>
            <a:ext cx="185318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동선</a:t>
            </a: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   통로 폭 · 사람 위치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849880" y="4772279"/>
            <a:ext cx="2072640" cy="310896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959608" y="4772279"/>
            <a:ext cx="185318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조명</a:t>
            </a: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   창 · 조명 반사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13960" y="4772279"/>
            <a:ext cx="2072640" cy="310896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23688" y="4772279"/>
            <a:ext cx="185318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설치오차</a:t>
            </a: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   벽 · 가구 수직 · 수평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1599310"/>
            <a:ext cx="400781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범용 Robot 적용 시 집마다 반복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98079" y="1928494"/>
            <a:ext cx="3367735" cy="310896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98079" y="1928494"/>
            <a:ext cx="3367735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인식 (Perception)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181947" y="2239390"/>
            <a:ext cx="0" cy="96012"/>
          </a:xfrm>
          <a:prstGeom prst="line">
            <a:avLst/>
          </a:prstGeom>
          <a:ln w="12700">
            <a:solidFill>
              <a:srgbClr val="8C9198"/>
            </a:solidFill>
            <a:tailEnd type="triangle" w="med" len="med"/>
          </a:ln>
        </p:spPr>
      </p:cxnSp>
      <p:sp>
        <p:nvSpPr>
          <p:cNvPr id="37" name="Rectangle 36"/>
          <p:cNvSpPr/>
          <p:nvPr/>
        </p:nvSpPr>
        <p:spPr>
          <a:xfrm>
            <a:off x="7498079" y="2335402"/>
            <a:ext cx="3367735" cy="310896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79" y="2335402"/>
            <a:ext cx="3367735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Mapping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9181947" y="2646298"/>
            <a:ext cx="0" cy="96012"/>
          </a:xfrm>
          <a:prstGeom prst="line">
            <a:avLst/>
          </a:prstGeom>
          <a:ln w="12700">
            <a:solidFill>
              <a:srgbClr val="8C9198"/>
            </a:solidFill>
            <a:tailEnd type="triangle" w="med" len="med"/>
          </a:ln>
        </p:spPr>
      </p:cxnSp>
      <p:sp>
        <p:nvSpPr>
          <p:cNvPr id="40" name="Rectangle 39"/>
          <p:cNvSpPr/>
          <p:nvPr/>
        </p:nvSpPr>
        <p:spPr>
          <a:xfrm>
            <a:off x="7498079" y="2742311"/>
            <a:ext cx="3367735" cy="310896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498079" y="2742311"/>
            <a:ext cx="3367735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교시 (Teaching)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9181947" y="3053206"/>
            <a:ext cx="0" cy="96012"/>
          </a:xfrm>
          <a:prstGeom prst="line">
            <a:avLst/>
          </a:prstGeom>
          <a:ln w="12700">
            <a:solidFill>
              <a:srgbClr val="8C9198"/>
            </a:solidFill>
            <a:tailEnd type="triangle" w="med" len="med"/>
          </a:ln>
        </p:spPr>
      </p:cxnSp>
      <p:sp>
        <p:nvSpPr>
          <p:cNvPr id="43" name="Rectangle 42"/>
          <p:cNvSpPr/>
          <p:nvPr/>
        </p:nvSpPr>
        <p:spPr>
          <a:xfrm>
            <a:off x="7498079" y="3149218"/>
            <a:ext cx="3367735" cy="310896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498079" y="3149218"/>
            <a:ext cx="3367735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Programming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9181947" y="3460114"/>
            <a:ext cx="0" cy="96012"/>
          </a:xfrm>
          <a:prstGeom prst="line">
            <a:avLst/>
          </a:prstGeom>
          <a:ln w="12700">
            <a:solidFill>
              <a:srgbClr val="8C9198"/>
            </a:solidFill>
            <a:tailEnd type="triangle" w="med" len="med"/>
          </a:ln>
        </p:spPr>
      </p:cxnSp>
      <p:sp>
        <p:nvSpPr>
          <p:cNvPr id="46" name="Rectangle 45"/>
          <p:cNvSpPr/>
          <p:nvPr/>
        </p:nvSpPr>
        <p:spPr>
          <a:xfrm>
            <a:off x="7498079" y="3556127"/>
            <a:ext cx="3367735" cy="310896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498079" y="3556127"/>
            <a:ext cx="3367735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Calibration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9181947" y="3867023"/>
            <a:ext cx="0" cy="96012"/>
          </a:xfrm>
          <a:prstGeom prst="line">
            <a:avLst/>
          </a:prstGeom>
          <a:ln w="12700">
            <a:solidFill>
              <a:srgbClr val="8C9198"/>
            </a:solidFill>
            <a:tailEnd type="triangle" w="med" len="med"/>
          </a:ln>
        </p:spPr>
      </p:cxnSp>
      <p:sp>
        <p:nvSpPr>
          <p:cNvPr id="49" name="Rectangle 48"/>
          <p:cNvSpPr/>
          <p:nvPr/>
        </p:nvSpPr>
        <p:spPr>
          <a:xfrm>
            <a:off x="7498079" y="3963034"/>
            <a:ext cx="3367735" cy="310896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498079" y="3963034"/>
            <a:ext cx="3367735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검증 (Validation)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10957255" y="1928494"/>
            <a:ext cx="0" cy="2345436"/>
          </a:xfrm>
          <a:prstGeom prst="line">
            <a:avLst/>
          </a:prstGeom>
          <a:ln w="19050">
            <a:solidFill>
              <a:srgbClr val="15171A"/>
            </a:solidFill>
          </a:ln>
        </p:spPr>
      </p:cxnSp>
      <p:cxnSp>
        <p:nvCxnSpPr>
          <p:cNvPr id="52" name="Connector 51"/>
          <p:cNvCxnSpPr/>
          <p:nvPr/>
        </p:nvCxnSpPr>
        <p:spPr>
          <a:xfrm>
            <a:off x="10865815" y="1928494"/>
            <a:ext cx="91440" cy="0"/>
          </a:xfrm>
          <a:prstGeom prst="line">
            <a:avLst/>
          </a:prstGeom>
          <a:ln w="19050">
            <a:solidFill>
              <a:srgbClr val="15171A"/>
            </a:solidFill>
          </a:ln>
        </p:spPr>
      </p:cxnSp>
      <p:cxnSp>
        <p:nvCxnSpPr>
          <p:cNvPr id="53" name="Connector 52"/>
          <p:cNvCxnSpPr/>
          <p:nvPr/>
        </p:nvCxnSpPr>
        <p:spPr>
          <a:xfrm>
            <a:off x="10865815" y="4273930"/>
            <a:ext cx="91440" cy="0"/>
          </a:xfrm>
          <a:prstGeom prst="line">
            <a:avLst/>
          </a:prstGeom>
          <a:ln w="19050">
            <a:solidFill>
              <a:srgbClr val="15171A"/>
            </a:solidFill>
          </a:ln>
        </p:spPr>
      </p:cxnSp>
      <p:sp>
        <p:nvSpPr>
          <p:cNvPr id="54" name="TextBox 53"/>
          <p:cNvSpPr txBox="1"/>
          <p:nvPr/>
        </p:nvSpPr>
        <p:spPr>
          <a:xfrm>
            <a:off x="11012119" y="2826892"/>
            <a:ext cx="4572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집마다</a:t>
            </a:r>
          </a:p>
          <a:p>
            <a:pPr algn="l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반복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498079" y="4566539"/>
            <a:ext cx="3733495" cy="566928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680959" y="4566539"/>
            <a:ext cx="336773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모든 주방 표준화가 아닌</a:t>
            </a:r>
          </a:p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→ Robot 적응력 + 필요한 지점만 Interface</a:t>
            </a:r>
          </a:p>
        </p:txBody>
      </p:sp>
      <p:graphicFrame>
        <p:nvGraphicFramePr>
          <p:cNvPr id="57" name="Table 56"/>
          <p:cNvGraphicFramePr>
            <a:graphicFrameLocks noGrp="1"/>
          </p:cNvGraphicFramePr>
          <p:nvPr/>
        </p:nvGraphicFramePr>
        <p:xfrm>
          <a:off x="685800" y="5334634"/>
          <a:ext cx="10820095" cy="58714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234440"/>
                <a:gridCol w="8671255"/>
                <a:gridCol w="914400"/>
              </a:tblGrid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확보 평면 5종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싱크 벽 길이 약 2.6~3.3m · 3종 기본 한 줄 배치 불가 · 1종 미검토 · ㄱ자 · 일자 · 반도형 혼재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5C616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DERIVED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공개 사례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LG CLOiD: 팔 작업 범위 무릎 높이 이상 (보도) → 낮은 작업점 (식세기 하단 랙) = 환경 측 보완 필요 (MH 해석)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FACT + 해석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8" name="TextBox 57"/>
          <p:cNvSpPr txBox="1"/>
          <p:nvPr/>
        </p:nvSpPr>
        <p:spPr>
          <a:xfrm>
            <a:off x="685800" y="6143853"/>
            <a:ext cx="10820095" cy="1837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출처 [S21] · 평면 5종 = 제공 도면 재작도 (부록 B2) · 평면 30개 분석 예정 (M6)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2026.10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20624"/>
            <a:ext cx="9601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05  MH Robotics Technology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76656"/>
            <a:ext cx="10820095" cy="473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Robot 적응 + 반복 작업점에만 최소 Interface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04849"/>
            <a:ext cx="10820095" cy="2481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Robot Hand · Manipulation Skill · Calibration · Environment Interface 통합 설계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599310"/>
            <a:ext cx="2554147" cy="73152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" y="1690751"/>
            <a:ext cx="22615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물체 다양성 (Object)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001646"/>
            <a:ext cx="22615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형상 · 재질 · 젖은 표면 · 얇은 Edge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62873" y="2376551"/>
            <a:ext cx="0" cy="228600"/>
          </a:xfrm>
          <a:prstGeom prst="line">
            <a:avLst/>
          </a:prstGeom>
          <a:ln w="19050">
            <a:solidFill>
              <a:srgbClr val="8C9198"/>
            </a:solidFill>
            <a:tailEnd type="triangle" w="med" len="med"/>
          </a:ln>
        </p:spPr>
      </p:cxnSp>
      <p:sp>
        <p:nvSpPr>
          <p:cNvPr id="9" name="Rectangle 8"/>
          <p:cNvSpPr/>
          <p:nvPr/>
        </p:nvSpPr>
        <p:spPr>
          <a:xfrm>
            <a:off x="685800" y="2660015"/>
            <a:ext cx="2554147" cy="2267712"/>
          </a:xfrm>
          <a:prstGeom prst="rect">
            <a:avLst/>
          </a:prstGeom>
          <a:solidFill>
            <a:srgbClr val="FFFFFF"/>
          </a:solidFill>
          <a:ln w="15875">
            <a:solidFill>
              <a:srgbClr val="15171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8952" y="2733167"/>
            <a:ext cx="2407843" cy="10515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1" name="Picture 10" descr="fig_tech_m05_hand_light_263x114_50_50_10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2733167"/>
            <a:ext cx="2407843" cy="105156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804672" y="2778887"/>
            <a:ext cx="435862" cy="12801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2778887"/>
            <a:ext cx="43586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92685" y="3565271"/>
            <a:ext cx="1028390" cy="17373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92685" y="3565271"/>
            <a:ext cx="1028390" cy="173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국자 · 컵 · 접시 파지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" y="3857879"/>
            <a:ext cx="226153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Adaptive Robot Hand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" y="4424807"/>
            <a:ext cx="2261539" cy="466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파지 방식 전환 → 다양한 식기 · 도구를 하나의 손으로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41115" y="1599310"/>
            <a:ext cx="2554147" cy="73152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7419" y="1690751"/>
            <a:ext cx="22615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작업 다양성 (Task)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87419" y="2001646"/>
            <a:ext cx="22615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집기 · 넣기 · 꺼내기 · 열기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718189" y="2376551"/>
            <a:ext cx="0" cy="228600"/>
          </a:xfrm>
          <a:prstGeom prst="line">
            <a:avLst/>
          </a:prstGeom>
          <a:ln w="19050">
            <a:solidFill>
              <a:srgbClr val="8C9198"/>
            </a:solidFill>
            <a:tailEnd type="triangle" w="med" len="med"/>
          </a:ln>
        </p:spPr>
      </p:cxnSp>
      <p:sp>
        <p:nvSpPr>
          <p:cNvPr id="22" name="Rectangle 21"/>
          <p:cNvSpPr/>
          <p:nvPr/>
        </p:nvSpPr>
        <p:spPr>
          <a:xfrm>
            <a:off x="3441115" y="2660015"/>
            <a:ext cx="2554147" cy="2267712"/>
          </a:xfrm>
          <a:prstGeom prst="rect">
            <a:avLst/>
          </a:prstGeom>
          <a:solidFill>
            <a:srgbClr val="FFFFFF"/>
          </a:solidFill>
          <a:ln w="15875">
            <a:solidFill>
              <a:srgbClr val="15171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514267" y="2733167"/>
            <a:ext cx="2407843" cy="10515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4" name="Picture 23" descr="v2_seq_3_load_light_263x114_60_62_10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14267" y="2733167"/>
            <a:ext cx="2407843" cy="1051560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3559987" y="2778887"/>
            <a:ext cx="435862" cy="12801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59987" y="2778887"/>
            <a:ext cx="43586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39970" y="3565271"/>
            <a:ext cx="636420" cy="17373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39970" y="3565271"/>
            <a:ext cx="636420" cy="173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식세기 적재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87419" y="3857879"/>
            <a:ext cx="226153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Manipulation Skill Library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87419" y="4424807"/>
            <a:ext cx="2261539" cy="466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집기 · 놓기 · 넣기 · 빼기 · 열고 닫기 = 재사용 단위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96431" y="1599310"/>
            <a:ext cx="2554147" cy="73152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42735" y="1690751"/>
            <a:ext cx="22615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주방 차이 (Kitchen)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42735" y="2001646"/>
            <a:ext cx="22615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가전 · 수납 위치 · 설치 오차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473505" y="2376551"/>
            <a:ext cx="0" cy="228600"/>
          </a:xfrm>
          <a:prstGeom prst="line">
            <a:avLst/>
          </a:prstGeom>
          <a:ln w="19050">
            <a:solidFill>
              <a:srgbClr val="8C9198"/>
            </a:solidFill>
            <a:tailEnd type="triangle" w="med" len="med"/>
          </a:ln>
        </p:spPr>
      </p:cxnSp>
      <p:sp>
        <p:nvSpPr>
          <p:cNvPr id="35" name="Rectangle 34"/>
          <p:cNvSpPr/>
          <p:nvPr/>
        </p:nvSpPr>
        <p:spPr>
          <a:xfrm>
            <a:off x="6196431" y="2660015"/>
            <a:ext cx="2554147" cy="2267712"/>
          </a:xfrm>
          <a:prstGeom prst="rect">
            <a:avLst/>
          </a:prstGeom>
          <a:solidFill>
            <a:srgbClr val="FFFFFF"/>
          </a:solidFill>
          <a:ln w="15875">
            <a:solidFill>
              <a:srgbClr val="15171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69583" y="2733167"/>
            <a:ext cx="2407843" cy="10515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7" name="Picture 36" descr="v2_seq_1_detect_light_263x114_45_55_10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9583" y="2733167"/>
            <a:ext cx="2407843" cy="105156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6315303" y="2778887"/>
            <a:ext cx="435862" cy="12801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15303" y="2778887"/>
            <a:ext cx="43586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85585" y="3565271"/>
            <a:ext cx="846121" cy="17373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85585" y="3565271"/>
            <a:ext cx="846121" cy="173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조리대 식기 인식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42735" y="3857879"/>
            <a:ext cx="226153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Perception + Calibration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42735" y="4424807"/>
            <a:ext cx="2261539" cy="466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현장에서 좌표 · 가전 · 수납 위치 등록 → 같은 Skill 실행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951747" y="1599310"/>
            <a:ext cx="2554147" cy="73152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098051" y="1690751"/>
            <a:ext cx="22615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반복 작업점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098051" y="2001646"/>
            <a:ext cx="22615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Robot 대기 · 도구 · 식세기 랙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10228821" y="2376551"/>
            <a:ext cx="0" cy="228600"/>
          </a:xfrm>
          <a:prstGeom prst="line">
            <a:avLst/>
          </a:prstGeom>
          <a:ln w="19050">
            <a:solidFill>
              <a:srgbClr val="8C9198"/>
            </a:solidFill>
            <a:tailEnd type="triangle" w="med" len="med"/>
          </a:ln>
        </p:spPr>
      </p:cxnSp>
      <p:sp>
        <p:nvSpPr>
          <p:cNvPr id="48" name="Rectangle 47"/>
          <p:cNvSpPr/>
          <p:nvPr/>
        </p:nvSpPr>
        <p:spPr>
          <a:xfrm>
            <a:off x="8951747" y="2660015"/>
            <a:ext cx="2554147" cy="2267712"/>
          </a:xfrm>
          <a:prstGeom prst="rect">
            <a:avLst/>
          </a:prstGeom>
          <a:solidFill>
            <a:srgbClr val="FFFFFF"/>
          </a:solidFill>
          <a:ln w="15875">
            <a:solidFill>
              <a:srgbClr val="15171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024899" y="2733167"/>
            <a:ext cx="2407843" cy="10515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0" name="Picture 49" descr="v2_stow_2_open_light_263x114_40_45_10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24899" y="2733167"/>
            <a:ext cx="2407843" cy="1051560"/>
          </a:xfrm>
          <a:prstGeom prst="rect">
            <a:avLst/>
          </a:prstGeom>
        </p:spPr>
      </p:pic>
      <p:sp>
        <p:nvSpPr>
          <p:cNvPr id="51" name="Rectangle 50"/>
          <p:cNvSpPr/>
          <p:nvPr/>
        </p:nvSpPr>
        <p:spPr>
          <a:xfrm>
            <a:off x="9070619" y="2778887"/>
            <a:ext cx="435862" cy="12801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070619" y="2778887"/>
            <a:ext cx="43586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366665" y="3565271"/>
            <a:ext cx="1020357" cy="17373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366665" y="3565271"/>
            <a:ext cx="1020357" cy="173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Robot Home · Rail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098051" y="3857879"/>
            <a:ext cx="226153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Minimal Robot-friendly Interface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098051" y="4424807"/>
            <a:ext cx="2261539" cy="466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Robot Home · Tool Dock · 가전 Interface · Vision 기준점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85800" y="5110607"/>
            <a:ext cx="10820095" cy="512064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68680" y="5110607"/>
            <a:ext cx="10454335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결과: 다양한 주방에서 같은 Platform · Skill의 반복 적용 가능성 확대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5800" y="5768975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핵심 원칙  </a:t>
            </a:r>
            <a:r>
              <a:rPr sz="11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환경 표준화 = 목적이 아닌 신뢰성 · 반복설치 수단 · 주방 전체 표준화 없음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5800" y="6143853"/>
            <a:ext cx="10820095" cy="1837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검증 순서 · Gate: 16쪽 · 부록 A5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2026.10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20624"/>
            <a:ext cx="9601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06  Adaptive Kitchen Robot Hand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76656"/>
            <a:ext cx="10820095" cy="473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핵심 Hardware: 주방 물체 대응 Adaptive Robot Hand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04849"/>
            <a:ext cx="10820095" cy="2481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손가락 수 · 자유도 경쟁이 아닌 작업 완료율 · 가격 · 위생 · 유지관리 · 내구성 중심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599310"/>
            <a:ext cx="3611880" cy="301752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" name="Picture 5" descr="hand_hero_light_395x330_50_50_9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599310"/>
            <a:ext cx="3611880" cy="301752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 flipV="1">
            <a:off x="2587854" y="1983527"/>
            <a:ext cx="384048" cy="18288"/>
          </a:xfrm>
          <a:prstGeom prst="line">
            <a:avLst/>
          </a:prstGeom>
          <a:ln w="7620">
            <a:solidFill>
              <a:srgbClr val="5C6169"/>
            </a:solidFill>
          </a:ln>
        </p:spPr>
      </p:cxnSp>
      <p:sp>
        <p:nvSpPr>
          <p:cNvPr id="8" name="Oval 7"/>
          <p:cNvSpPr/>
          <p:nvPr/>
        </p:nvSpPr>
        <p:spPr>
          <a:xfrm>
            <a:off x="2555850" y="1969811"/>
            <a:ext cx="64008" cy="64008"/>
          </a:xfrm>
          <a:prstGeom prst="ellipse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971902" y="1877990"/>
            <a:ext cx="1266560" cy="211074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71902" y="1877990"/>
            <a:ext cx="1266560" cy="21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교체형 Food-contact Pad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2954606" y="4054536"/>
            <a:ext cx="365760" cy="91440"/>
          </a:xfrm>
          <a:prstGeom prst="line">
            <a:avLst/>
          </a:prstGeom>
          <a:ln w="7620">
            <a:solidFill>
              <a:srgbClr val="5C6169"/>
            </a:solidFill>
          </a:ln>
        </p:spPr>
      </p:cxnSp>
      <p:sp>
        <p:nvSpPr>
          <p:cNvPr id="12" name="Oval 11"/>
          <p:cNvSpPr/>
          <p:nvPr/>
        </p:nvSpPr>
        <p:spPr>
          <a:xfrm>
            <a:off x="2922602" y="4113972"/>
            <a:ext cx="64008" cy="64008"/>
          </a:xfrm>
          <a:prstGeom prst="ellipse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20366" y="3948999"/>
            <a:ext cx="724007" cy="211074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20366" y="3948999"/>
            <a:ext cx="724007" cy="21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힘 · 토크 센서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334921" y="4477599"/>
            <a:ext cx="411480" cy="18288"/>
          </a:xfrm>
          <a:prstGeom prst="line">
            <a:avLst/>
          </a:prstGeom>
          <a:ln w="7620">
            <a:solidFill>
              <a:srgbClr val="5C6169"/>
            </a:solidFill>
          </a:ln>
        </p:spPr>
      </p:cxnSp>
      <p:sp>
        <p:nvSpPr>
          <p:cNvPr id="16" name="Oval 15"/>
          <p:cNvSpPr/>
          <p:nvPr/>
        </p:nvSpPr>
        <p:spPr>
          <a:xfrm>
            <a:off x="2302917" y="4445595"/>
            <a:ext cx="64008" cy="64008"/>
          </a:xfrm>
          <a:prstGeom prst="ellipse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6401" y="4390350"/>
            <a:ext cx="849171" cy="211074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46401" y="4390350"/>
            <a:ext cx="849171" cy="21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Quick Changer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1714083" y="3254896"/>
            <a:ext cx="274320" cy="347472"/>
          </a:xfrm>
          <a:prstGeom prst="line">
            <a:avLst/>
          </a:prstGeom>
          <a:ln w="7620">
            <a:solidFill>
              <a:srgbClr val="5C6169"/>
            </a:solidFill>
          </a:ln>
        </p:spPr>
      </p:cxnSp>
      <p:sp>
        <p:nvSpPr>
          <p:cNvPr id="20" name="Oval 19"/>
          <p:cNvSpPr/>
          <p:nvPr/>
        </p:nvSpPr>
        <p:spPr>
          <a:xfrm>
            <a:off x="1956399" y="3222892"/>
            <a:ext cx="64008" cy="64008"/>
          </a:xfrm>
          <a:prstGeom prst="ellipse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5113" y="3496831"/>
            <a:ext cx="788970" cy="211074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5113" y="3496831"/>
            <a:ext cx="788970" cy="21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Wrist Camera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58952" y="1672463"/>
            <a:ext cx="495159" cy="155448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8952" y="1672463"/>
            <a:ext cx="495159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25696" y="1599310"/>
            <a:ext cx="1371600" cy="1463039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Picture 25" descr="hand_plate_light_150x129_45_42_11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5696" y="1599310"/>
            <a:ext cx="1371600" cy="1188719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4471416" y="1645031"/>
            <a:ext cx="435862" cy="12801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71416" y="1645031"/>
            <a:ext cx="43586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59" y="2797175"/>
            <a:ext cx="126187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접시 · 가장자리 Pinch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88736" y="1599310"/>
            <a:ext cx="1371600" cy="1463039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1" name="Picture 30" descr="hand_cup_light_150x129_62_45_11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88736" y="1599310"/>
            <a:ext cx="1371600" cy="1188719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5934455" y="1645031"/>
            <a:ext cx="435862" cy="12801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34455" y="1645031"/>
            <a:ext cx="43586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599" y="2797175"/>
            <a:ext cx="126187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컵 · 외벽 감싸기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425696" y="3153790"/>
            <a:ext cx="1371600" cy="1463039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6" name="Picture 35" descr="hand_bowl_light_150x129_42_52_11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25696" y="3153790"/>
            <a:ext cx="1371600" cy="1188719"/>
          </a:xfrm>
          <a:prstGeom prst="rect">
            <a:avLst/>
          </a:prstGeom>
        </p:spPr>
      </p:pic>
      <p:sp>
        <p:nvSpPr>
          <p:cNvPr id="37" name="Rectangle 36"/>
          <p:cNvSpPr/>
          <p:nvPr/>
        </p:nvSpPr>
        <p:spPr>
          <a:xfrm>
            <a:off x="4471416" y="3199510"/>
            <a:ext cx="435862" cy="12801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471416" y="3199510"/>
            <a:ext cx="43586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80559" y="4351654"/>
            <a:ext cx="126187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그릇 · 테두리 Pinch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888736" y="3153790"/>
            <a:ext cx="1371600" cy="1463039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1" name="Picture 40" descr="hand_tool_light_150x129_55_50_114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88736" y="3153790"/>
            <a:ext cx="1371600" cy="1188719"/>
          </a:xfrm>
          <a:prstGeom prst="rect">
            <a:avLst/>
          </a:prstGeom>
        </p:spPr>
      </p:pic>
      <p:sp>
        <p:nvSpPr>
          <p:cNvPr id="42" name="Rectangle 41"/>
          <p:cNvSpPr/>
          <p:nvPr/>
        </p:nvSpPr>
        <p:spPr>
          <a:xfrm>
            <a:off x="5934455" y="3199510"/>
            <a:ext cx="435862" cy="12801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34455" y="3199510"/>
            <a:ext cx="43586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43599" y="4351654"/>
            <a:ext cx="126187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국자 · 손잡이 파지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516367" y="1599310"/>
            <a:ext cx="39895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주방 물체의 어려움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516367" y="1855342"/>
            <a:ext cx="398952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형상 · 크기 · 재질 (유리 · 도자기 · 금속 · 플라스틱) · 젖은 표면 · 미끄러짐 · 파손 위험 · 얇은 가장자리 · 다양한 손잡이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516367" y="2495423"/>
            <a:ext cx="39895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핵심 기술 후보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516367" y="2769742"/>
            <a:ext cx="586356" cy="210312"/>
          </a:xfrm>
          <a:prstGeom prst="rect">
            <a:avLst/>
          </a:prstGeom>
          <a:solidFill>
            <a:srgbClr val="ECEE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516367" y="2769742"/>
            <a:ext cx="586356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적응 파지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57588" y="2769742"/>
            <a:ext cx="1320095" cy="210312"/>
          </a:xfrm>
          <a:prstGeom prst="rect">
            <a:avLst/>
          </a:prstGeom>
          <a:solidFill>
            <a:srgbClr val="ECEE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57588" y="2769742"/>
            <a:ext cx="1320095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유연 접촉 (Compliance)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532547" y="2769742"/>
            <a:ext cx="685670" cy="210312"/>
          </a:xfrm>
          <a:prstGeom prst="rect">
            <a:avLst/>
          </a:prstGeom>
          <a:solidFill>
            <a:srgbClr val="ECEE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532547" y="2769742"/>
            <a:ext cx="68567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파지력 제어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273081" y="2769742"/>
            <a:ext cx="685670" cy="210312"/>
          </a:xfrm>
          <a:prstGeom prst="rect">
            <a:avLst/>
          </a:prstGeom>
          <a:solidFill>
            <a:srgbClr val="ECEE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273081" y="2769742"/>
            <a:ext cx="68567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미끄럼 감지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516367" y="3025775"/>
            <a:ext cx="586356" cy="210312"/>
          </a:xfrm>
          <a:prstGeom prst="rect">
            <a:avLst/>
          </a:prstGeom>
          <a:solidFill>
            <a:srgbClr val="ECEE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16367" y="3025775"/>
            <a:ext cx="586356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다점 접촉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157588" y="3025775"/>
            <a:ext cx="586356" cy="210312"/>
          </a:xfrm>
          <a:prstGeom prst="rect">
            <a:avLst/>
          </a:prstGeom>
          <a:solidFill>
            <a:srgbClr val="ECEE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157588" y="3025775"/>
            <a:ext cx="586356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도구 파지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798808" y="3025775"/>
            <a:ext cx="1303472" cy="210312"/>
          </a:xfrm>
          <a:prstGeom prst="rect">
            <a:avLst/>
          </a:prstGeom>
          <a:solidFill>
            <a:srgbClr val="ECEE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798808" y="3025775"/>
            <a:ext cx="1303472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교체형 식품접촉 Module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516367" y="3354959"/>
            <a:ext cx="3989527" cy="1261871"/>
          </a:xfrm>
          <a:prstGeom prst="rect">
            <a:avLst/>
          </a:prstGeom>
          <a:solidFill>
            <a:srgbClr val="FFFFFF"/>
          </a:solidFill>
          <a:ln w="12700">
            <a:solidFill>
              <a:srgbClr val="15171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644383" y="3428111"/>
            <a:ext cx="37334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Buy vs Build — M6 Gate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44383" y="3702431"/>
            <a:ext cx="3733495" cy="8503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82880" indent="-182880">
              <a:lnSpc>
                <a:spcPct val="100000"/>
              </a:lnSpc>
              <a:spcAft>
                <a:spcPts val="100"/>
              </a:spcAft>
              <a:buClr>
                <a:srgbClr val="8C9198"/>
              </a:buClr>
              <a:buFont typeface="Noto Sans KR"/>
              <a:buChar char="–"/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기준선: Robotiq 2F-85 약 $5,825 · Inspire RH56 $4,500~ (FACT)</a:t>
            </a:r>
          </a:p>
          <a:p>
            <a:pPr algn="l" marL="182880" indent="-182880">
              <a:lnSpc>
                <a:spcPct val="100000"/>
              </a:lnSpc>
              <a:spcAft>
                <a:spcPts val="100"/>
              </a:spcAft>
              <a:buClr>
                <a:srgbClr val="8C9198"/>
              </a:buClr>
              <a:buFont typeface="Noto Sans KR"/>
              <a:buChar char="–"/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30종 식기로 성공률 · 파손 · 교체 · 원가 비교</a:t>
            </a:r>
          </a:p>
          <a:p>
            <a:pPr algn="l" marL="182880" indent="-182880">
              <a:lnSpc>
                <a:spcPct val="100000"/>
              </a:lnSpc>
              <a:buClr>
                <a:srgbClr val="8C9198"/>
              </a:buClr>
              <a:buFont typeface="Noto Sans KR"/>
              <a:buChar char="–"/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Coverage +15%p 또는 Tool 교체 50%↓ 시에만 자체 Hand (TARGET)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85800" y="4817998"/>
            <a:ext cx="1576974" cy="420624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85800" y="4817998"/>
            <a:ext cx="157697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물체 다양성 대응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2281062" y="5028310"/>
            <a:ext cx="182880" cy="0"/>
          </a:xfrm>
          <a:prstGeom prst="line">
            <a:avLst/>
          </a:prstGeom>
          <a:ln w="15875">
            <a:solidFill>
              <a:srgbClr val="8C9198"/>
            </a:solidFill>
            <a:tailEnd type="triangle" w="med" len="med"/>
          </a:ln>
        </p:spPr>
      </p:cxnSp>
      <p:sp>
        <p:nvSpPr>
          <p:cNvPr id="68" name="Rectangle 67"/>
          <p:cNvSpPr/>
          <p:nvPr/>
        </p:nvSpPr>
        <p:spPr>
          <a:xfrm>
            <a:off x="2482230" y="4817998"/>
            <a:ext cx="1576974" cy="420624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82230" y="4817998"/>
            <a:ext cx="157697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전용 Gripper 수 ↓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4077492" y="5028310"/>
            <a:ext cx="182880" cy="0"/>
          </a:xfrm>
          <a:prstGeom prst="line">
            <a:avLst/>
          </a:prstGeom>
          <a:ln w="15875">
            <a:solidFill>
              <a:srgbClr val="8C9198"/>
            </a:solidFill>
            <a:tailEnd type="triangle" w="med" len="med"/>
          </a:ln>
        </p:spPr>
      </p:cxnSp>
      <p:sp>
        <p:nvSpPr>
          <p:cNvPr id="71" name="Rectangle 70"/>
          <p:cNvSpPr/>
          <p:nvPr/>
        </p:nvSpPr>
        <p:spPr>
          <a:xfrm>
            <a:off x="4278660" y="4817998"/>
            <a:ext cx="1576974" cy="420624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278660" y="4817998"/>
            <a:ext cx="157697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같은 End-effector 활용 ↑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5873922" y="5028310"/>
            <a:ext cx="182880" cy="0"/>
          </a:xfrm>
          <a:prstGeom prst="line">
            <a:avLst/>
          </a:prstGeom>
          <a:ln w="15875">
            <a:solidFill>
              <a:srgbClr val="8C9198"/>
            </a:solidFill>
            <a:tailEnd type="triangle" w="med" len="med"/>
          </a:ln>
        </p:spPr>
      </p:cxnSp>
      <p:sp>
        <p:nvSpPr>
          <p:cNvPr id="74" name="Rectangle 73"/>
          <p:cNvSpPr/>
          <p:nvPr/>
        </p:nvSpPr>
        <p:spPr>
          <a:xfrm>
            <a:off x="6075090" y="4817998"/>
            <a:ext cx="1576974" cy="420624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075090" y="4817998"/>
            <a:ext cx="157697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Skill 재사용 ↑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7670352" y="5028310"/>
            <a:ext cx="182880" cy="0"/>
          </a:xfrm>
          <a:prstGeom prst="line">
            <a:avLst/>
          </a:prstGeom>
          <a:ln w="15875">
            <a:solidFill>
              <a:srgbClr val="8C9198"/>
            </a:solidFill>
            <a:tailEnd type="triangle" w="med" len="med"/>
          </a:ln>
        </p:spPr>
      </p:cxnSp>
      <p:sp>
        <p:nvSpPr>
          <p:cNvPr id="77" name="Rectangle 76"/>
          <p:cNvSpPr/>
          <p:nvPr/>
        </p:nvSpPr>
        <p:spPr>
          <a:xfrm>
            <a:off x="7871520" y="4817998"/>
            <a:ext cx="1576974" cy="420624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871520" y="4817998"/>
            <a:ext cx="157697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유지보수 단순화</a:t>
            </a:r>
          </a:p>
        </p:txBody>
      </p:sp>
      <p:sp>
        <p:nvSpPr>
          <p:cNvPr id="79" name="Rectangle 78"/>
          <p:cNvSpPr/>
          <p:nvPr/>
        </p:nvSpPr>
        <p:spPr>
          <a:xfrm>
            <a:off x="9585655" y="4817998"/>
            <a:ext cx="1920239" cy="420624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585655" y="4817998"/>
            <a:ext cx="1920239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+ Pad · Seal · Tip = 소모품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85800" y="6143853"/>
            <a:ext cx="10820095" cy="1837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식품 접촉 부품: 식품위생법 "기구" · 「기구 및 용기 · 포장의 기준 및 규격」 고무제 규격 대응 (ASSIST · COOK 단계 필수) [S42 · S48]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2026.10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20624"/>
            <a:ext cx="9601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07  Manipulation Skill · Calibration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76656"/>
            <a:ext cx="10820095" cy="473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핵심 기술: Calibration 기반 Skill의 주방 간 이전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04849"/>
            <a:ext cx="10820095" cy="2481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Skill = Robot이 수행 가능한 작업을 늘리는 확장 Layer (Software 구독 아님)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599310"/>
            <a:ext cx="1944563" cy="841248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" y="1690751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" y="1873630"/>
            <a:ext cx="168853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감지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" y="2166239"/>
            <a:ext cx="16885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물체 · 위치 인식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657795" y="2019934"/>
            <a:ext cx="219456" cy="0"/>
          </a:xfrm>
          <a:prstGeom prst="line">
            <a:avLst/>
          </a:prstGeom>
          <a:ln w="19050">
            <a:solidFill>
              <a:srgbClr val="8C9198"/>
            </a:solidFill>
            <a:tailEnd type="triangle" w="med" len="med"/>
          </a:ln>
        </p:spPr>
      </p:cxnSp>
      <p:sp>
        <p:nvSpPr>
          <p:cNvPr id="10" name="Rectangle 9"/>
          <p:cNvSpPr/>
          <p:nvPr/>
        </p:nvSpPr>
        <p:spPr>
          <a:xfrm>
            <a:off x="2904683" y="1599310"/>
            <a:ext cx="1944563" cy="841248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32699" y="1690751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32699" y="1873630"/>
            <a:ext cx="168853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파지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32699" y="2166239"/>
            <a:ext cx="16885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파지점 · 파지력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876678" y="2019934"/>
            <a:ext cx="219456" cy="0"/>
          </a:xfrm>
          <a:prstGeom prst="line">
            <a:avLst/>
          </a:prstGeom>
          <a:ln w="19050">
            <a:solidFill>
              <a:srgbClr val="8C9198"/>
            </a:solidFill>
            <a:tailEnd type="triangle" w="med" len="med"/>
          </a:ln>
        </p:spPr>
      </p:cxnSp>
      <p:sp>
        <p:nvSpPr>
          <p:cNvPr id="15" name="Rectangle 14"/>
          <p:cNvSpPr/>
          <p:nvPr/>
        </p:nvSpPr>
        <p:spPr>
          <a:xfrm>
            <a:off x="5123566" y="1599310"/>
            <a:ext cx="1944563" cy="841248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51582" y="1690751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51582" y="1873630"/>
            <a:ext cx="168853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조작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51582" y="2166239"/>
            <a:ext cx="16885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이동 · 삽입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095561" y="2019934"/>
            <a:ext cx="219456" cy="0"/>
          </a:xfrm>
          <a:prstGeom prst="line">
            <a:avLst/>
          </a:prstGeom>
          <a:ln w="19050">
            <a:solidFill>
              <a:srgbClr val="8C9198"/>
            </a:solidFill>
            <a:tailEnd type="triangle" w="med" len="med"/>
          </a:ln>
        </p:spPr>
      </p:cxnSp>
      <p:sp>
        <p:nvSpPr>
          <p:cNvPr id="20" name="Rectangle 19"/>
          <p:cNvSpPr/>
          <p:nvPr/>
        </p:nvSpPr>
        <p:spPr>
          <a:xfrm>
            <a:off x="7342449" y="1599310"/>
            <a:ext cx="1944563" cy="841248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70465" y="1690751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70465" y="1873630"/>
            <a:ext cx="168853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검증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70465" y="2166239"/>
            <a:ext cx="16885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완료 확인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314444" y="2019934"/>
            <a:ext cx="219456" cy="0"/>
          </a:xfrm>
          <a:prstGeom prst="line">
            <a:avLst/>
          </a:prstGeom>
          <a:ln w="19050">
            <a:solidFill>
              <a:srgbClr val="8C9198"/>
            </a:solidFill>
            <a:tailEnd type="triangle" w="med" len="med"/>
          </a:ln>
        </p:spPr>
      </p:cxnSp>
      <p:sp>
        <p:nvSpPr>
          <p:cNvPr id="25" name="Rectangle 24"/>
          <p:cNvSpPr/>
          <p:nvPr/>
        </p:nvSpPr>
        <p:spPr>
          <a:xfrm>
            <a:off x="9561332" y="1599310"/>
            <a:ext cx="1944563" cy="841248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89348" y="1690751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89348" y="1873630"/>
            <a:ext cx="168853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복구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89348" y="2166239"/>
            <a:ext cx="16885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다시 잡기 · 내려놓기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314730" y="2440559"/>
            <a:ext cx="0" cy="164592"/>
          </a:xfrm>
          <a:prstGeom prst="line">
            <a:avLst/>
          </a:prstGeom>
          <a:ln w="15875">
            <a:solidFill>
              <a:srgbClr val="4A4F57"/>
            </a:solidFill>
            <a:prstDash val="dash"/>
          </a:ln>
        </p:spPr>
      </p:cxnSp>
      <p:cxnSp>
        <p:nvCxnSpPr>
          <p:cNvPr id="30" name="Connector 29"/>
          <p:cNvCxnSpPr/>
          <p:nvPr/>
        </p:nvCxnSpPr>
        <p:spPr>
          <a:xfrm>
            <a:off x="3876964" y="2605151"/>
            <a:ext cx="4437766" cy="0"/>
          </a:xfrm>
          <a:prstGeom prst="line">
            <a:avLst/>
          </a:prstGeom>
          <a:ln w="15875">
            <a:solidFill>
              <a:srgbClr val="4A4F57"/>
            </a:solidFill>
            <a:prstDash val="dash"/>
          </a:ln>
        </p:spPr>
      </p:cxnSp>
      <p:cxnSp>
        <p:nvCxnSpPr>
          <p:cNvPr id="31" name="Connector 30"/>
          <p:cNvCxnSpPr/>
          <p:nvPr/>
        </p:nvCxnSpPr>
        <p:spPr>
          <a:xfrm flipV="1">
            <a:off x="3876964" y="2449702"/>
            <a:ext cx="0" cy="155449"/>
          </a:xfrm>
          <a:prstGeom prst="line">
            <a:avLst/>
          </a:prstGeom>
          <a:ln w="15875">
            <a:solidFill>
              <a:srgbClr val="4A4F57"/>
            </a:solidFill>
            <a:tailEnd type="triangle" w="med" len="med"/>
          </a:ln>
        </p:spPr>
      </p:cxnSp>
      <p:sp>
        <p:nvSpPr>
          <p:cNvPr id="32" name="TextBox 31"/>
          <p:cNvSpPr txBox="1"/>
          <p:nvPr/>
        </p:nvSpPr>
        <p:spPr>
          <a:xfrm>
            <a:off x="3986692" y="2641727"/>
            <a:ext cx="3200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실패 감지 → 다시 잡기 · 내려놓기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2897759"/>
            <a:ext cx="5486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다른 주방 → Calibration → 같은 Skill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5800" y="3190366"/>
            <a:ext cx="214884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58952" y="3236086"/>
            <a:ext cx="200253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주방 A · ㅡ자 3.2m · 빌트인 식세기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95528" y="3482974"/>
            <a:ext cx="270113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571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95528" y="3482974"/>
            <a:ext cx="27011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E2571B"/>
                </a:solidFill>
                <a:latin typeface="Noto Sans KR"/>
                <a:ea typeface="Noto Sans KR"/>
                <a:cs typeface="Noto Sans KR"/>
              </a:rPr>
              <a:t>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65641" y="3482974"/>
            <a:ext cx="540227" cy="274320"/>
          </a:xfrm>
          <a:prstGeom prst="rect">
            <a:avLst/>
          </a:prstGeom>
          <a:solidFill>
            <a:srgbClr val="ECEEF0"/>
          </a:solidFill>
          <a:ln w="63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605869" y="3482974"/>
            <a:ext cx="385876" cy="274320"/>
          </a:xfrm>
          <a:prstGeom prst="rect">
            <a:avLst/>
          </a:prstGeom>
          <a:solidFill>
            <a:srgbClr val="C9D3DC"/>
          </a:solidFill>
          <a:ln w="63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605869" y="3482974"/>
            <a:ext cx="38587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991746" y="3482974"/>
            <a:ext cx="347289" cy="274320"/>
          </a:xfrm>
          <a:prstGeom prst="rect">
            <a:avLst/>
          </a:prstGeom>
          <a:solidFill>
            <a:srgbClr val="E9EBEE"/>
          </a:solidFill>
          <a:ln w="63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991746" y="3482974"/>
            <a:ext cx="34728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수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339035" y="3482974"/>
            <a:ext cx="385876" cy="274320"/>
          </a:xfrm>
          <a:prstGeom prst="rect">
            <a:avLst/>
          </a:prstGeom>
          <a:solidFill>
            <a:srgbClr val="3A3F46"/>
          </a:solidFill>
          <a:ln w="63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339035" y="3482974"/>
            <a:ext cx="38587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85800" y="4013327"/>
            <a:ext cx="214884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58952" y="4059047"/>
            <a:ext cx="200253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주방 B · ㄱ자 · 짧은 싱크 벽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95528" y="4305935"/>
            <a:ext cx="270885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571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95528" y="4305935"/>
            <a:ext cx="270885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E2571B"/>
                </a:solidFill>
                <a:latin typeface="Noto Sans KR"/>
                <a:ea typeface="Noto Sans KR"/>
                <a:cs typeface="Noto Sans KR"/>
              </a:rPr>
              <a:t>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66413" y="4305935"/>
            <a:ext cx="481574" cy="274320"/>
          </a:xfrm>
          <a:prstGeom prst="rect">
            <a:avLst/>
          </a:prstGeom>
          <a:solidFill>
            <a:srgbClr val="ECEEF0"/>
          </a:solidFill>
          <a:ln w="63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547987" y="4305935"/>
            <a:ext cx="421377" cy="274320"/>
          </a:xfrm>
          <a:prstGeom prst="rect">
            <a:avLst/>
          </a:prstGeom>
          <a:solidFill>
            <a:srgbClr val="C9D3DC"/>
          </a:solidFill>
          <a:ln w="63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547987" y="4305935"/>
            <a:ext cx="421377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969365" y="4305935"/>
            <a:ext cx="331082" cy="274320"/>
          </a:xfrm>
          <a:prstGeom prst="rect">
            <a:avLst/>
          </a:prstGeom>
          <a:solidFill>
            <a:srgbClr val="3A3F46"/>
          </a:solidFill>
          <a:ln w="63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969365" y="4305935"/>
            <a:ext cx="33108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D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300447" y="4305935"/>
            <a:ext cx="424464" cy="347472"/>
          </a:xfrm>
          <a:prstGeom prst="rect">
            <a:avLst/>
          </a:prstGeom>
          <a:solidFill>
            <a:srgbClr val="E9EBEE"/>
          </a:solidFill>
          <a:ln w="63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300447" y="4305935"/>
            <a:ext cx="424464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수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85800" y="4836286"/>
            <a:ext cx="214884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8952" y="4882006"/>
            <a:ext cx="200253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주방 C · Retrofit · 독립형 식세기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95528" y="5128895"/>
            <a:ext cx="194481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571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95528" y="5128895"/>
            <a:ext cx="19448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E2571B"/>
                </a:solidFill>
                <a:latin typeface="Noto Sans KR"/>
                <a:ea typeface="Noto Sans KR"/>
                <a:cs typeface="Noto Sans KR"/>
              </a:rPr>
              <a:t>R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90009" y="5128895"/>
            <a:ext cx="361180" cy="274320"/>
          </a:xfrm>
          <a:prstGeom prst="rect">
            <a:avLst/>
          </a:prstGeom>
          <a:solidFill>
            <a:srgbClr val="ECEEF0"/>
          </a:solidFill>
          <a:ln w="63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351190" y="5128895"/>
            <a:ext cx="388963" cy="274320"/>
          </a:xfrm>
          <a:prstGeom prst="rect">
            <a:avLst/>
          </a:prstGeom>
          <a:solidFill>
            <a:srgbClr val="C9D3DC"/>
          </a:solidFill>
          <a:ln w="63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351190" y="5128895"/>
            <a:ext cx="38896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740154" y="5128895"/>
            <a:ext cx="444530" cy="274320"/>
          </a:xfrm>
          <a:prstGeom prst="rect">
            <a:avLst/>
          </a:prstGeom>
          <a:solidFill>
            <a:srgbClr val="E9EBEE"/>
          </a:solidFill>
          <a:ln w="63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740154" y="5128895"/>
            <a:ext cx="44453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수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276124" y="5128895"/>
            <a:ext cx="448787" cy="274320"/>
          </a:xfrm>
          <a:prstGeom prst="rect">
            <a:avLst/>
          </a:prstGeom>
          <a:solidFill>
            <a:srgbClr val="3A3F46"/>
          </a:solidFill>
          <a:ln w="63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276124" y="5128895"/>
            <a:ext cx="448787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D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2871216" y="3556126"/>
            <a:ext cx="429768" cy="822960"/>
          </a:xfrm>
          <a:prstGeom prst="line">
            <a:avLst/>
          </a:prstGeom>
          <a:ln w="12700">
            <a:solidFill>
              <a:srgbClr val="8C9198"/>
            </a:solidFill>
            <a:tailEnd type="triangle" w="med" len="med"/>
          </a:ln>
        </p:spPr>
      </p:cxnSp>
      <p:cxnSp>
        <p:nvCxnSpPr>
          <p:cNvPr id="68" name="Connector 67"/>
          <p:cNvCxnSpPr/>
          <p:nvPr/>
        </p:nvCxnSpPr>
        <p:spPr>
          <a:xfrm flipV="1">
            <a:off x="2871216" y="4379086"/>
            <a:ext cx="429768" cy="1"/>
          </a:xfrm>
          <a:prstGeom prst="line">
            <a:avLst/>
          </a:prstGeom>
          <a:ln w="12700">
            <a:solidFill>
              <a:srgbClr val="8C9198"/>
            </a:solidFill>
            <a:tailEnd type="triangle" w="med" len="med"/>
          </a:ln>
        </p:spPr>
      </p:cxnSp>
      <p:cxnSp>
        <p:nvCxnSpPr>
          <p:cNvPr id="69" name="Connector 68"/>
          <p:cNvCxnSpPr/>
          <p:nvPr/>
        </p:nvCxnSpPr>
        <p:spPr>
          <a:xfrm flipV="1">
            <a:off x="2871216" y="4379086"/>
            <a:ext cx="429768" cy="822961"/>
          </a:xfrm>
          <a:prstGeom prst="line">
            <a:avLst/>
          </a:prstGeom>
          <a:ln w="12700">
            <a:solidFill>
              <a:srgbClr val="8C9198"/>
            </a:solidFill>
            <a:tailEnd type="triangle" w="med" len="med"/>
          </a:ln>
        </p:spPr>
      </p:cxnSp>
      <p:sp>
        <p:nvSpPr>
          <p:cNvPr id="70" name="Rectangle 69"/>
          <p:cNvSpPr/>
          <p:nvPr/>
        </p:nvSpPr>
        <p:spPr>
          <a:xfrm>
            <a:off x="3337560" y="3190366"/>
            <a:ext cx="3291840" cy="2377440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520440" y="3318382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Calibration (설치 시)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520440" y="3665855"/>
            <a:ext cx="2926080" cy="365760"/>
          </a:xfrm>
          <a:prstGeom prst="rect">
            <a:avLst/>
          </a:prstGeom>
          <a:solidFill>
            <a:srgbClr val="2C30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630168" y="3665855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주방 Mapping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520440" y="4123055"/>
            <a:ext cx="2926080" cy="365760"/>
          </a:xfrm>
          <a:prstGeom prst="rect">
            <a:avLst/>
          </a:prstGeom>
          <a:solidFill>
            <a:srgbClr val="2C30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630168" y="4123055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좌표 Calibration (Dock · 기준점)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520440" y="4580255"/>
            <a:ext cx="2926080" cy="365760"/>
          </a:xfrm>
          <a:prstGeom prst="rect">
            <a:avLst/>
          </a:prstGeom>
          <a:solidFill>
            <a:srgbClr val="2C30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630168" y="4580255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가전 · 수납 위치 등록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520440" y="5037455"/>
            <a:ext cx="2926080" cy="365760"/>
          </a:xfrm>
          <a:prstGeom prst="rect">
            <a:avLst/>
          </a:prstGeom>
          <a:solidFill>
            <a:srgbClr val="2C30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630168" y="5037455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작업 Parameter 조정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6665976" y="4379086"/>
            <a:ext cx="384048" cy="0"/>
          </a:xfrm>
          <a:prstGeom prst="line">
            <a:avLst/>
          </a:prstGeom>
          <a:ln w="19050">
            <a:solidFill>
              <a:srgbClr val="8C9198"/>
            </a:solidFill>
            <a:tailEnd type="triangle" w="med" len="med"/>
          </a:ln>
        </p:spPr>
      </p:cxnSp>
      <p:sp>
        <p:nvSpPr>
          <p:cNvPr id="81" name="Rectangle 80"/>
          <p:cNvSpPr/>
          <p:nvPr/>
        </p:nvSpPr>
        <p:spPr>
          <a:xfrm>
            <a:off x="7086600" y="3190366"/>
            <a:ext cx="4419295" cy="2377440"/>
          </a:xfrm>
          <a:prstGeom prst="rect">
            <a:avLst/>
          </a:prstGeom>
          <a:solidFill>
            <a:srgbClr val="FFFFFF"/>
          </a:solidFill>
          <a:ln w="15875">
            <a:solidFill>
              <a:srgbClr val="15171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269480" y="3318382"/>
            <a:ext cx="4053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같은 CLEAN Skill Library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269480" y="3665855"/>
            <a:ext cx="4053535" cy="3657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379208" y="3665855"/>
            <a:ext cx="3870655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식기 집기 (Pick)</a:t>
            </a:r>
          </a:p>
        </p:txBody>
      </p:sp>
      <p:sp>
        <p:nvSpPr>
          <p:cNvPr id="85" name="Rectangle 84"/>
          <p:cNvSpPr/>
          <p:nvPr/>
        </p:nvSpPr>
        <p:spPr>
          <a:xfrm>
            <a:off x="7269480" y="4123055"/>
            <a:ext cx="4053535" cy="3657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379208" y="4123055"/>
            <a:ext cx="3870655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식세기 적재 (Loading)</a:t>
            </a:r>
          </a:p>
        </p:txBody>
      </p:sp>
      <p:sp>
        <p:nvSpPr>
          <p:cNvPr id="87" name="Rectangle 86"/>
          <p:cNvSpPr/>
          <p:nvPr/>
        </p:nvSpPr>
        <p:spPr>
          <a:xfrm>
            <a:off x="7269480" y="4580255"/>
            <a:ext cx="4053535" cy="3657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379208" y="4580255"/>
            <a:ext cx="3870655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식세기 인출 (Unloading)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269480" y="5037455"/>
            <a:ext cx="4053535" cy="3657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379208" y="5037455"/>
            <a:ext cx="3870655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수납 복귀 (Return)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85800" y="5677535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M18 검증 (TARGET)  </a:t>
            </a:r>
            <a:r>
              <a:rPr sz="110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구조 · 가전 모델이 다른 주방 3종에서 재배치 후 성공률 하락 ≤ 10%p · 현장 Calibration ≤ 4시간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85800" y="6143853"/>
            <a:ext cx="10820095" cy="1837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R Robot Home · S 싱크 · D 식세기 · 수 수납 (평면 도식 = CONCEPT) · KPI 근거: 부록 A1~A2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2026.10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20624"/>
            <a:ext cx="9601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08  MH Kitchen Robotics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76656"/>
            <a:ext cx="10820095" cy="473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MH Kitchen Robotics System: 5개 Layer 통합 제품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04849"/>
            <a:ext cx="10820095" cy="2481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왜 Arm: 식세기 랙 · 서랍 · 상부장 작업 = 6축 방향 제어 필요 · 이동형 = 낮은 작업점 · 가격 · 안전 부담</a:t>
            </a:r>
          </a:p>
        </p:txBody>
      </p:sp>
      <p:pic>
        <p:nvPicPr>
          <p:cNvPr id="5" name="Picture 4" descr="v2_after_light_655x468_47_50_10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599310"/>
            <a:ext cx="5989320" cy="4280281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 flipH="1" flipV="1">
            <a:off x="2401551" y="2046563"/>
            <a:ext cx="182880" cy="347472"/>
          </a:xfrm>
          <a:prstGeom prst="line">
            <a:avLst/>
          </a:prstGeom>
          <a:ln w="7620">
            <a:solidFill>
              <a:srgbClr val="5C6169"/>
            </a:solidFill>
          </a:ln>
        </p:spPr>
      </p:cxnSp>
      <p:sp>
        <p:nvSpPr>
          <p:cNvPr id="7" name="Oval 6"/>
          <p:cNvSpPr/>
          <p:nvPr/>
        </p:nvSpPr>
        <p:spPr>
          <a:xfrm>
            <a:off x="2552427" y="2362031"/>
            <a:ext cx="64008" cy="64008"/>
          </a:xfrm>
          <a:prstGeom prst="ellipse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388017" y="1931831"/>
            <a:ext cx="1013534" cy="229463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8017" y="1931831"/>
            <a:ext cx="1013534" cy="2294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D · Robot Home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3033298" y="3223312"/>
            <a:ext cx="228600" cy="384048"/>
          </a:xfrm>
          <a:prstGeom prst="line">
            <a:avLst/>
          </a:prstGeom>
          <a:ln w="7620">
            <a:solidFill>
              <a:srgbClr val="5C6169"/>
            </a:solidFill>
          </a:ln>
        </p:spPr>
      </p:cxnSp>
      <p:sp>
        <p:nvSpPr>
          <p:cNvPr id="11" name="Oval 10"/>
          <p:cNvSpPr/>
          <p:nvPr/>
        </p:nvSpPr>
        <p:spPr>
          <a:xfrm>
            <a:off x="3229894" y="3191308"/>
            <a:ext cx="64008" cy="64008"/>
          </a:xfrm>
          <a:prstGeom prst="ellipse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131500" y="3492628"/>
            <a:ext cx="901797" cy="229463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31500" y="3492628"/>
            <a:ext cx="901797" cy="2294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D · Drop Zone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082858" y="4298781"/>
            <a:ext cx="228600" cy="411480"/>
          </a:xfrm>
          <a:prstGeom prst="line">
            <a:avLst/>
          </a:prstGeom>
          <a:ln w="7620">
            <a:solidFill>
              <a:srgbClr val="5C6169"/>
            </a:solidFill>
          </a:ln>
        </p:spPr>
      </p:cxnSp>
      <p:sp>
        <p:nvSpPr>
          <p:cNvPr id="15" name="Oval 14"/>
          <p:cNvSpPr/>
          <p:nvPr/>
        </p:nvSpPr>
        <p:spPr>
          <a:xfrm>
            <a:off x="5050854" y="4266777"/>
            <a:ext cx="64008" cy="64008"/>
          </a:xfrm>
          <a:prstGeom prst="ellipse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311458" y="4595530"/>
            <a:ext cx="1151288" cy="229463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11458" y="4595530"/>
            <a:ext cx="1151288" cy="2294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D · 식세기 Interface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4185323" y="2875882"/>
            <a:ext cx="320040" cy="502920"/>
          </a:xfrm>
          <a:prstGeom prst="line">
            <a:avLst/>
          </a:prstGeom>
          <a:ln w="7620">
            <a:solidFill>
              <a:srgbClr val="5C6169"/>
            </a:solidFill>
          </a:ln>
        </p:spPr>
      </p:cxnSp>
      <p:sp>
        <p:nvSpPr>
          <p:cNvPr id="19" name="Oval 18"/>
          <p:cNvSpPr/>
          <p:nvPr/>
        </p:nvSpPr>
        <p:spPr>
          <a:xfrm>
            <a:off x="4153319" y="3346798"/>
            <a:ext cx="64008" cy="64008"/>
          </a:xfrm>
          <a:prstGeom prst="ellipse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05363" y="2761150"/>
            <a:ext cx="949953" cy="229463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05363" y="2761150"/>
            <a:ext cx="949953" cy="2294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E · Robot Zone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667514" y="4825718"/>
            <a:ext cx="365760" cy="274320"/>
          </a:xfrm>
          <a:prstGeom prst="line">
            <a:avLst/>
          </a:prstGeom>
          <a:ln w="7620">
            <a:solidFill>
              <a:srgbClr val="5C6169"/>
            </a:solidFill>
          </a:ln>
        </p:spPr>
      </p:cxnSp>
      <p:sp>
        <p:nvSpPr>
          <p:cNvPr id="23" name="Oval 22"/>
          <p:cNvSpPr/>
          <p:nvPr/>
        </p:nvSpPr>
        <p:spPr>
          <a:xfrm>
            <a:off x="3635510" y="4793714"/>
            <a:ext cx="64008" cy="64008"/>
          </a:xfrm>
          <a:prstGeom prst="ellipse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033274" y="4985306"/>
            <a:ext cx="1019151" cy="229463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033274" y="4985306"/>
            <a:ext cx="1019151" cy="2294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E · Human Zone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58952" y="1672463"/>
            <a:ext cx="495159" cy="155448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8952" y="1672463"/>
            <a:ext cx="495159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49440" y="1599310"/>
            <a:ext cx="4556455" cy="782904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949440" y="1599310"/>
            <a:ext cx="384048" cy="782904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49440" y="1599310"/>
            <a:ext cx="384048" cy="7829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61504" y="1672463"/>
            <a:ext cx="393466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Robot Module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61504" y="1946782"/>
            <a:ext cx="3934663" cy="398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Robot Arm (OEM 구매) · Adaptive Hand (M6 Build/Buy) · Vision · 힘 · 안전 센서 · 필요 시 Rail / Dock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49440" y="2473655"/>
            <a:ext cx="4556455" cy="782904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949440" y="2473655"/>
            <a:ext cx="384048" cy="782904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49440" y="2473655"/>
            <a:ext cx="384048" cy="7829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61504" y="2546807"/>
            <a:ext cx="393466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Manipulation Layer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61504" y="2821127"/>
            <a:ext cx="3934663" cy="398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물체 인식 · 파지 계획 · 경로 계획 · 작업 실행 · 실패 감지 · 복구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49440" y="3347999"/>
            <a:ext cx="4556455" cy="782904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949440" y="3347999"/>
            <a:ext cx="384048" cy="782904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949440" y="3347999"/>
            <a:ext cx="384048" cy="7829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61504" y="3421151"/>
            <a:ext cx="393466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Calibration Layer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61504" y="3695471"/>
            <a:ext cx="3934663" cy="398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주방 Mapping · 좌표 Calibration · 가전 · 수납 위치 등록 · 작업 Parameter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949440" y="4222343"/>
            <a:ext cx="4556455" cy="782904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949440" y="4222343"/>
            <a:ext cx="384048" cy="782904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949440" y="4222343"/>
            <a:ext cx="384048" cy="7829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61504" y="4295495"/>
            <a:ext cx="393466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Environment Interface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61504" y="4569815"/>
            <a:ext cx="3934663" cy="398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Robot Home · Tool Dock · 수납 Dock · 가전 Interface · Vision 기준점 · 필요 시 작업면 Guide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49440" y="5096687"/>
            <a:ext cx="4556455" cy="782904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949440" y="5096687"/>
            <a:ext cx="384048" cy="782904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949440" y="5096687"/>
            <a:ext cx="384048" cy="7829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461504" y="5169839"/>
            <a:ext cx="393466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Human-Robot Safety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461504" y="5444159"/>
            <a:ext cx="3934663" cy="398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사람 감지 · 감속 · 충돌 감지 · 비상정지 · 안전 복귀 (Safe Home Return)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5800" y="6143853"/>
            <a:ext cx="10820095" cy="1837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안전 기준: ISO 10218-2:2025 (감속 250mm/s · 접촉력) · 가정용 IEC 63682 (2026 초안) · ISO 13482 [S39 · S47]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2026.10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20624"/>
            <a:ext cx="9601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09  첫 검증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76656"/>
            <a:ext cx="10820095" cy="473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CLEAN 첫 검증 → 동일 Platform으로 ASSIST · COOK 확장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04849"/>
            <a:ext cx="10820095" cy="2481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단계별 새 로봇 개발이 아닌, 같은 Platform에 Skill · Tool 추가</a:t>
            </a:r>
          </a:p>
        </p:txBody>
      </p:sp>
      <p:pic>
        <p:nvPicPr>
          <p:cNvPr id="5" name="Picture 4" descr="v2_seq_1_detect_light_225x145_50_50_10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599310"/>
            <a:ext cx="2061606" cy="13258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31520" y="1645031"/>
            <a:ext cx="435862" cy="12801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45031"/>
            <a:ext cx="43586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925190"/>
            <a:ext cx="2061606" cy="27432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925190"/>
            <a:ext cx="206160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① 식기 인식</a:t>
            </a:r>
          </a:p>
        </p:txBody>
      </p:sp>
      <p:pic>
        <p:nvPicPr>
          <p:cNvPr id="10" name="Picture 9" descr="v2_seq_2_pick_light_225x145_50_50_10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75422" y="1599310"/>
            <a:ext cx="2061606" cy="132588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2921142" y="1645031"/>
            <a:ext cx="435862" cy="12801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21142" y="1645031"/>
            <a:ext cx="43586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75422" y="2925190"/>
            <a:ext cx="2061606" cy="27432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75422" y="2925190"/>
            <a:ext cx="206160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② 집기 (Pick)</a:t>
            </a:r>
          </a:p>
        </p:txBody>
      </p:sp>
      <p:pic>
        <p:nvPicPr>
          <p:cNvPr id="15" name="Picture 14" descr="v2_seq_3_load_light_225x145_50_50_105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65044" y="1599310"/>
            <a:ext cx="2061606" cy="132588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5110764" y="1645031"/>
            <a:ext cx="435862" cy="12801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10764" y="1645031"/>
            <a:ext cx="43586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65044" y="2925190"/>
            <a:ext cx="2061606" cy="274320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65044" y="2925190"/>
            <a:ext cx="206160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③ 식세기 적재</a:t>
            </a:r>
          </a:p>
        </p:txBody>
      </p:sp>
      <p:pic>
        <p:nvPicPr>
          <p:cNvPr id="20" name="Picture 19" descr="v2_seq_4_unload_light_225x145_50_50_105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54666" y="1599310"/>
            <a:ext cx="2061606" cy="132588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7300386" y="1645031"/>
            <a:ext cx="435862" cy="12801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00386" y="1645031"/>
            <a:ext cx="43586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54666" y="2925190"/>
            <a:ext cx="2061606" cy="274320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54666" y="2925190"/>
            <a:ext cx="206160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④ 식세기 인출</a:t>
            </a:r>
          </a:p>
        </p:txBody>
      </p:sp>
      <p:pic>
        <p:nvPicPr>
          <p:cNvPr id="25" name="Picture 24" descr="v2_seq_5_store_light_225x145_50_50_105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44288" y="1599310"/>
            <a:ext cx="2061606" cy="1325880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9490008" y="1645031"/>
            <a:ext cx="435862" cy="12801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90008" y="1645031"/>
            <a:ext cx="43586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444288" y="2925190"/>
            <a:ext cx="2061606" cy="27432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444288" y="2925190"/>
            <a:ext cx="206160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⑤ 수납 복귀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3309238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CLEAN 검증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737360" y="3309238"/>
            <a:ext cx="549780" cy="256032"/>
          </a:xfrm>
          <a:prstGeom prst="rect">
            <a:avLst/>
          </a:prstGeom>
          <a:solidFill>
            <a:srgbClr val="ECEE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737360" y="3309238"/>
            <a:ext cx="5497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적응 파지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328288" y="3309238"/>
            <a:ext cx="549780" cy="256032"/>
          </a:xfrm>
          <a:prstGeom prst="rect">
            <a:avLst/>
          </a:prstGeom>
          <a:solidFill>
            <a:srgbClr val="ECEE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328288" y="3309238"/>
            <a:ext cx="5497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물체 인식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19216" y="3309238"/>
            <a:ext cx="549780" cy="256032"/>
          </a:xfrm>
          <a:prstGeom prst="rect">
            <a:avLst/>
          </a:prstGeom>
          <a:solidFill>
            <a:srgbClr val="ECEE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919216" y="3309238"/>
            <a:ext cx="5497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경로 계획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510144" y="3309238"/>
            <a:ext cx="549780" cy="256032"/>
          </a:xfrm>
          <a:prstGeom prst="rect">
            <a:avLst/>
          </a:prstGeom>
          <a:solidFill>
            <a:srgbClr val="ECEE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510144" y="3309238"/>
            <a:ext cx="5497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가전 조작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01072" y="3309238"/>
            <a:ext cx="549780" cy="256032"/>
          </a:xfrm>
          <a:prstGeom prst="rect">
            <a:avLst/>
          </a:prstGeom>
          <a:solidFill>
            <a:srgbClr val="ECEE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01072" y="3309238"/>
            <a:ext cx="5497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수납 조작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692000" y="3309238"/>
            <a:ext cx="718401" cy="256032"/>
          </a:xfrm>
          <a:prstGeom prst="rect">
            <a:avLst/>
          </a:prstGeom>
          <a:solidFill>
            <a:srgbClr val="ECEE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692000" y="3309238"/>
            <a:ext cx="718401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Calibration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51549" y="3309238"/>
            <a:ext cx="326644" cy="256032"/>
          </a:xfrm>
          <a:prstGeom prst="rect">
            <a:avLst/>
          </a:prstGeom>
          <a:solidFill>
            <a:srgbClr val="ECEE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51549" y="3309238"/>
            <a:ext cx="32664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안전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819341" y="3309238"/>
            <a:ext cx="549780" cy="256032"/>
          </a:xfrm>
          <a:prstGeom prst="rect">
            <a:avLst/>
          </a:prstGeom>
          <a:solidFill>
            <a:srgbClr val="ECEE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819341" y="3309238"/>
            <a:ext cx="5497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실패 복구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10269" y="3309238"/>
            <a:ext cx="549780" cy="256032"/>
          </a:xfrm>
          <a:prstGeom prst="rect">
            <a:avLst/>
          </a:prstGeom>
          <a:solidFill>
            <a:srgbClr val="ECEE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10269" y="3309238"/>
            <a:ext cx="5497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반복 실행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85800" y="3766438"/>
            <a:ext cx="3350666" cy="2232025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68680" y="3876166"/>
            <a:ext cx="298490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A9AEB5"/>
                </a:solidFill>
                <a:latin typeface="Noto Sans KR"/>
                <a:ea typeface="Noto Sans KR"/>
                <a:cs typeface="Noto Sans KR"/>
              </a:rPr>
              <a:t>초기 · 기술검증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8680" y="4077334"/>
            <a:ext cx="298490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CLEAN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8680" y="4516247"/>
            <a:ext cx="298490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D5D8DC"/>
                </a:solidFill>
                <a:latin typeface="Noto Sans KR"/>
                <a:ea typeface="Noto Sans KR"/>
                <a:cs typeface="Noto Sans KR"/>
              </a:rPr>
              <a:t>식기 이동 · 식세기 적재 · 인출 · 수납 복귀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868680" y="5431536"/>
            <a:ext cx="2984906" cy="0"/>
          </a:xfrm>
          <a:prstGeom prst="line">
            <a:avLst/>
          </a:prstGeom>
          <a:ln w="9525">
            <a:solidFill>
              <a:srgbClr val="3A3F46"/>
            </a:solidFill>
          </a:ln>
        </p:spPr>
      </p:cxnSp>
      <p:sp>
        <p:nvSpPr>
          <p:cNvPr id="54" name="TextBox 53"/>
          <p:cNvSpPr txBox="1"/>
          <p:nvPr/>
        </p:nvSpPr>
        <p:spPr>
          <a:xfrm>
            <a:off x="868680" y="5486400"/>
            <a:ext cx="298490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A9AEB5"/>
                </a:solidFill>
                <a:latin typeface="Noto Sans KR"/>
                <a:ea typeface="Noto Sans KR"/>
                <a:cs typeface="Noto Sans KR"/>
              </a:rPr>
              <a:t>추가되는 것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68680" y="5696712"/>
            <a:ext cx="298490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기본 Skill 4종 · 식세기 Interface · 수납 Dock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4073042" y="4882451"/>
            <a:ext cx="310896" cy="0"/>
          </a:xfrm>
          <a:prstGeom prst="line">
            <a:avLst/>
          </a:prstGeom>
          <a:ln w="19050">
            <a:solidFill>
              <a:srgbClr val="8C9198"/>
            </a:solidFill>
            <a:tailEnd type="triangle" w="med" len="med"/>
          </a:ln>
        </p:spPr>
      </p:cxnSp>
      <p:sp>
        <p:nvSpPr>
          <p:cNvPr id="57" name="Rectangle 56"/>
          <p:cNvSpPr/>
          <p:nvPr/>
        </p:nvSpPr>
        <p:spPr>
          <a:xfrm>
            <a:off x="4420514" y="3766438"/>
            <a:ext cx="3350666" cy="2232025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603394" y="3876166"/>
            <a:ext cx="298490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중기 · 기능 확장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603394" y="4077334"/>
            <a:ext cx="298490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ASSIST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603394" y="4516247"/>
            <a:ext cx="298490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재료 이동 · 재료 투입 · 젓기 · 뚜껑 조작 · 도구 조작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4603394" y="5431536"/>
            <a:ext cx="2984906" cy="0"/>
          </a:xfrm>
          <a:prstGeom prst="line">
            <a:avLst/>
          </a:prstGeom>
          <a:ln w="9525">
            <a:solidFill>
              <a:srgbClr val="C9CDD2"/>
            </a:solidFill>
          </a:ln>
        </p:spPr>
      </p:cxnSp>
      <p:sp>
        <p:nvSpPr>
          <p:cNvPr id="62" name="TextBox 61"/>
          <p:cNvSpPr txBox="1"/>
          <p:nvPr/>
        </p:nvSpPr>
        <p:spPr>
          <a:xfrm>
            <a:off x="4603394" y="5486400"/>
            <a:ext cx="298490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추가되는 것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03394" y="5696712"/>
            <a:ext cx="298490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ASSIST Skill Pack · 집게 · 국자 · 뚜껑 Tool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807756" y="4882451"/>
            <a:ext cx="310896" cy="0"/>
          </a:xfrm>
          <a:prstGeom prst="line">
            <a:avLst/>
          </a:prstGeom>
          <a:ln w="19050">
            <a:solidFill>
              <a:srgbClr val="8C9198"/>
            </a:solidFill>
            <a:tailEnd type="triangle" w="med" len="med"/>
          </a:ln>
        </p:spPr>
      </p:cxnSp>
      <p:sp>
        <p:nvSpPr>
          <p:cNvPr id="65" name="Rectangle 64"/>
          <p:cNvSpPr/>
          <p:nvPr/>
        </p:nvSpPr>
        <p:spPr>
          <a:xfrm>
            <a:off x="8155228" y="3766438"/>
            <a:ext cx="3350666" cy="2232025"/>
          </a:xfrm>
          <a:prstGeom prst="rect">
            <a:avLst/>
          </a:prstGeom>
          <a:solidFill>
            <a:srgbClr val="FFFFFF"/>
          </a:solidFill>
          <a:ln w="9525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8108" y="3876166"/>
            <a:ext cx="298490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장기 · R&amp;D 방향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8108" y="4077334"/>
            <a:ext cx="298490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COOK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338108" y="4516247"/>
            <a:ext cx="298490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Recipe Workflow · 복수 Skill 연결 · 가전 연동 · 조리 · 조리 후 정리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8338108" y="5431536"/>
            <a:ext cx="2984907" cy="0"/>
          </a:xfrm>
          <a:prstGeom prst="line">
            <a:avLst/>
          </a:prstGeom>
          <a:ln w="9525">
            <a:solidFill>
              <a:srgbClr val="C9CDD2"/>
            </a:solidFill>
          </a:ln>
        </p:spPr>
      </p:cxnSp>
      <p:sp>
        <p:nvSpPr>
          <p:cNvPr id="70" name="TextBox 69"/>
          <p:cNvSpPr txBox="1"/>
          <p:nvPr/>
        </p:nvSpPr>
        <p:spPr>
          <a:xfrm>
            <a:off x="8338108" y="5486400"/>
            <a:ext cx="298490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추가되는 것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338108" y="5696712"/>
            <a:ext cx="298490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Recipe Skill · 식재료 Tool · 열 · 액체 안전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0545775" y="3894454"/>
            <a:ext cx="844345" cy="155448"/>
          </a:xfrm>
          <a:prstGeom prst="rect">
            <a:avLst/>
          </a:prstGeom>
          <a:noFill/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545775" y="3894454"/>
            <a:ext cx="844345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FUTURE CONCEPT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85800" y="6126480"/>
            <a:ext cx="10820095" cy="1837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CLEAN 단독 가사대체 가치 ≈ 월 18만원 &lt; Rental 월 33만원 (DERIVED) → 지불의사 = Premium 고객 · ASSIST 묶음으로 검증 (M18) · COOK = 장기 R&amp;D (FUTURE)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2026.10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20624"/>
            <a:ext cx="9601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10  Existing / Remodeling / New-build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76656"/>
            <a:ext cx="10820095" cy="473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단일 제품 · 3가지 설치 경로 (기존 주방 · Remodeling · 신축)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04849"/>
            <a:ext cx="10820095" cy="2481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주방 전체 획일화 없이 Integration 수준만 차등 적용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76272" y="1599310"/>
            <a:ext cx="298795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Existing Kitchen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76272" y="1891918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Retrofit</a:t>
            </a:r>
          </a:p>
        </p:txBody>
      </p:sp>
      <p:sp>
        <p:nvSpPr>
          <p:cNvPr id="7" name="Rectangle 6"/>
          <p:cNvSpPr/>
          <p:nvPr/>
        </p:nvSpPr>
        <p:spPr>
          <a:xfrm>
            <a:off x="4231538" y="1946782"/>
            <a:ext cx="274320" cy="91440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60722" y="1946782"/>
            <a:ext cx="274320" cy="91440"/>
          </a:xfrm>
          <a:prstGeom prst="rect">
            <a:avLst/>
          </a:prstGeom>
          <a:solidFill>
            <a:srgbClr val="ECEE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889906" y="1946782"/>
            <a:ext cx="274320" cy="91440"/>
          </a:xfrm>
          <a:prstGeom prst="rect">
            <a:avLst/>
          </a:prstGeom>
          <a:solidFill>
            <a:srgbClr val="ECEE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7410" y="1891918"/>
            <a:ext cx="9509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Integration 수준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176272" y="2166239"/>
            <a:ext cx="2987954" cy="146304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fig_flow_retrofit_light_326x160_55_65_13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6272" y="2166239"/>
            <a:ext cx="2987954" cy="1463040"/>
          </a:xfrm>
          <a:prstGeom prst="rect">
            <a:avLst/>
          </a:prstGeom>
        </p:spPr>
      </p:pic>
      <p:cxnSp>
        <p:nvCxnSpPr>
          <p:cNvPr id="13" name="Connector 12"/>
          <p:cNvCxnSpPr/>
          <p:nvPr/>
        </p:nvCxnSpPr>
        <p:spPr>
          <a:xfrm flipH="1">
            <a:off x="3065982" y="2443103"/>
            <a:ext cx="45720" cy="548640"/>
          </a:xfrm>
          <a:prstGeom prst="line">
            <a:avLst/>
          </a:prstGeom>
          <a:ln w="7620">
            <a:solidFill>
              <a:srgbClr val="5C6169"/>
            </a:solidFill>
          </a:ln>
        </p:spPr>
      </p:cxnSp>
      <p:sp>
        <p:nvSpPr>
          <p:cNvPr id="14" name="Oval 13"/>
          <p:cNvSpPr/>
          <p:nvPr/>
        </p:nvSpPr>
        <p:spPr>
          <a:xfrm>
            <a:off x="3079698" y="2411099"/>
            <a:ext cx="64008" cy="64008"/>
          </a:xfrm>
          <a:prstGeom prst="ellipse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680104" y="2881609"/>
            <a:ext cx="771755" cy="220268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80104" y="2881609"/>
            <a:ext cx="771755" cy="2202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Vision 기준점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613309" y="2725397"/>
            <a:ext cx="0" cy="566928"/>
          </a:xfrm>
          <a:prstGeom prst="line">
            <a:avLst/>
          </a:prstGeom>
          <a:ln w="7620">
            <a:solidFill>
              <a:srgbClr val="5C6169"/>
            </a:solidFill>
          </a:ln>
        </p:spPr>
      </p:cxnSp>
      <p:sp>
        <p:nvSpPr>
          <p:cNvPr id="18" name="Oval 17"/>
          <p:cNvSpPr/>
          <p:nvPr/>
        </p:nvSpPr>
        <p:spPr>
          <a:xfrm>
            <a:off x="3581305" y="2693393"/>
            <a:ext cx="64008" cy="64008"/>
          </a:xfrm>
          <a:prstGeom prst="ellipse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273505" y="3182190"/>
            <a:ext cx="679608" cy="220268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73505" y="3182190"/>
            <a:ext cx="679608" cy="2202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Drop Zone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410459" y="2749826"/>
            <a:ext cx="658368" cy="566928"/>
          </a:xfrm>
          <a:prstGeom prst="line">
            <a:avLst/>
          </a:prstGeom>
          <a:ln w="7620">
            <a:solidFill>
              <a:srgbClr val="5C6169"/>
            </a:solidFill>
          </a:ln>
        </p:spPr>
      </p:cxnSp>
      <p:sp>
        <p:nvSpPr>
          <p:cNvPr id="22" name="Oval 21"/>
          <p:cNvSpPr/>
          <p:nvPr/>
        </p:nvSpPr>
        <p:spPr>
          <a:xfrm>
            <a:off x="4378455" y="2717822"/>
            <a:ext cx="64008" cy="64008"/>
          </a:xfrm>
          <a:prstGeom prst="ellipse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112049" y="3206619"/>
            <a:ext cx="956778" cy="220268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2049" y="3206619"/>
            <a:ext cx="956778" cy="2202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Compact Mount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21991" y="2211959"/>
            <a:ext cx="435862" cy="12801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221991" y="2211959"/>
            <a:ext cx="43586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10530" y="1599310"/>
            <a:ext cx="298795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Remodeling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10530" y="1891918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Integration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65796" y="1946782"/>
            <a:ext cx="274320" cy="91440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694980" y="1946782"/>
            <a:ext cx="274320" cy="91440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24164" y="1946782"/>
            <a:ext cx="274320" cy="91440"/>
          </a:xfrm>
          <a:prstGeom prst="rect">
            <a:avLst/>
          </a:prstGeom>
          <a:solidFill>
            <a:srgbClr val="ECEE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41668" y="1891918"/>
            <a:ext cx="9509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Integration 수준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10530" y="2166239"/>
            <a:ext cx="2987954" cy="146304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4" name="Picture 33" descr="fig_flow_remodel_light_326x160_55_65_136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10530" y="2166239"/>
            <a:ext cx="2987954" cy="1463040"/>
          </a:xfrm>
          <a:prstGeom prst="rect">
            <a:avLst/>
          </a:prstGeom>
        </p:spPr>
      </p:pic>
      <p:cxnSp>
        <p:nvCxnSpPr>
          <p:cNvPr id="35" name="Connector 34"/>
          <p:cNvCxnSpPr/>
          <p:nvPr/>
        </p:nvCxnSpPr>
        <p:spPr>
          <a:xfrm>
            <a:off x="7224773" y="2299242"/>
            <a:ext cx="320040" cy="228600"/>
          </a:xfrm>
          <a:prstGeom prst="line">
            <a:avLst/>
          </a:prstGeom>
          <a:ln w="7620">
            <a:solidFill>
              <a:srgbClr val="5C6169"/>
            </a:solidFill>
          </a:ln>
        </p:spPr>
      </p:cxnSp>
      <p:sp>
        <p:nvSpPr>
          <p:cNvPr id="36" name="Oval 35"/>
          <p:cNvSpPr/>
          <p:nvPr/>
        </p:nvSpPr>
        <p:spPr>
          <a:xfrm>
            <a:off x="7192769" y="2267238"/>
            <a:ext cx="64008" cy="64008"/>
          </a:xfrm>
          <a:prstGeom prst="ellipse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544813" y="2417708"/>
            <a:ext cx="355401" cy="220268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544813" y="2417708"/>
            <a:ext cx="355401" cy="2202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Rail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524730" y="2562535"/>
            <a:ext cx="91440" cy="548640"/>
          </a:xfrm>
          <a:prstGeom prst="line">
            <a:avLst/>
          </a:prstGeom>
          <a:ln w="7620">
            <a:solidFill>
              <a:srgbClr val="5C6169"/>
            </a:solidFill>
          </a:ln>
        </p:spPr>
      </p:cxnSp>
      <p:sp>
        <p:nvSpPr>
          <p:cNvPr id="40" name="Oval 39"/>
          <p:cNvSpPr/>
          <p:nvPr/>
        </p:nvSpPr>
        <p:spPr>
          <a:xfrm>
            <a:off x="5492726" y="2530531"/>
            <a:ext cx="64008" cy="64008"/>
          </a:xfrm>
          <a:prstGeom prst="ellipse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616170" y="3001041"/>
            <a:ext cx="784772" cy="220268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16170" y="3001041"/>
            <a:ext cx="784772" cy="2202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Robot Home</a:t>
            </a:r>
          </a:p>
        </p:txBody>
      </p:sp>
      <p:cxnSp>
        <p:nvCxnSpPr>
          <p:cNvPr id="43" name="Connector 42"/>
          <p:cNvCxnSpPr/>
          <p:nvPr/>
        </p:nvCxnSpPr>
        <p:spPr>
          <a:xfrm flipH="1">
            <a:off x="6827693" y="2961546"/>
            <a:ext cx="182880" cy="411480"/>
          </a:xfrm>
          <a:prstGeom prst="line">
            <a:avLst/>
          </a:prstGeom>
          <a:ln w="7620">
            <a:solidFill>
              <a:srgbClr val="5C6169"/>
            </a:solidFill>
          </a:ln>
        </p:spPr>
      </p:cxnSp>
      <p:sp>
        <p:nvSpPr>
          <p:cNvPr id="44" name="Oval 43"/>
          <p:cNvSpPr/>
          <p:nvPr/>
        </p:nvSpPr>
        <p:spPr>
          <a:xfrm>
            <a:off x="6978569" y="2929542"/>
            <a:ext cx="64008" cy="64008"/>
          </a:xfrm>
          <a:prstGeom prst="ellipse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202035" y="3262892"/>
            <a:ext cx="625657" cy="220268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02035" y="3262892"/>
            <a:ext cx="625657" cy="2202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수납 Dock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7476932" y="3208553"/>
            <a:ext cx="731520" cy="320040"/>
          </a:xfrm>
          <a:prstGeom prst="line">
            <a:avLst/>
          </a:prstGeom>
          <a:ln w="7620">
            <a:solidFill>
              <a:srgbClr val="5C6169"/>
            </a:solidFill>
          </a:ln>
        </p:spPr>
      </p:cxnSp>
      <p:sp>
        <p:nvSpPr>
          <p:cNvPr id="48" name="Oval 47"/>
          <p:cNvSpPr/>
          <p:nvPr/>
        </p:nvSpPr>
        <p:spPr>
          <a:xfrm>
            <a:off x="7444928" y="3176549"/>
            <a:ext cx="64008" cy="64008"/>
          </a:xfrm>
          <a:prstGeom prst="ellipse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294029" y="3418458"/>
            <a:ext cx="914423" cy="220268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294029" y="3418458"/>
            <a:ext cx="914423" cy="2202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식세기 Interface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356250" y="2211959"/>
            <a:ext cx="435862" cy="12801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356250" y="2211959"/>
            <a:ext cx="43586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444788" y="1599310"/>
            <a:ext cx="298795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New-build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44788" y="1891918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설계 반영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0500055" y="1946782"/>
            <a:ext cx="274320" cy="91440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0829239" y="1946782"/>
            <a:ext cx="274320" cy="91440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1158423" y="1946782"/>
            <a:ext cx="274320" cy="91440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475927" y="1891918"/>
            <a:ext cx="9509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Integration 수준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444788" y="2166239"/>
            <a:ext cx="2987954" cy="146304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0" name="Picture 59" descr="fig_flow_newbuild_light_326x160_55_65_136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44788" y="2166239"/>
            <a:ext cx="2987954" cy="1463040"/>
          </a:xfrm>
          <a:prstGeom prst="rect">
            <a:avLst/>
          </a:prstGeom>
        </p:spPr>
      </p:pic>
      <p:cxnSp>
        <p:nvCxnSpPr>
          <p:cNvPr id="61" name="Connector 60"/>
          <p:cNvCxnSpPr/>
          <p:nvPr/>
        </p:nvCxnSpPr>
        <p:spPr>
          <a:xfrm>
            <a:off x="9111791" y="2478390"/>
            <a:ext cx="228600" cy="566928"/>
          </a:xfrm>
          <a:prstGeom prst="line">
            <a:avLst/>
          </a:prstGeom>
          <a:ln w="7620">
            <a:solidFill>
              <a:srgbClr val="5C6169"/>
            </a:solidFill>
          </a:ln>
        </p:spPr>
      </p:cxnSp>
      <p:sp>
        <p:nvSpPr>
          <p:cNvPr id="62" name="Oval 61"/>
          <p:cNvSpPr/>
          <p:nvPr/>
        </p:nvSpPr>
        <p:spPr>
          <a:xfrm>
            <a:off x="9079787" y="2446386"/>
            <a:ext cx="64008" cy="64008"/>
          </a:xfrm>
          <a:prstGeom prst="ellipse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9340391" y="2935183"/>
            <a:ext cx="652383" cy="220268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340391" y="2935183"/>
            <a:ext cx="652383" cy="2202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Tool Dock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8672545" y="2942545"/>
            <a:ext cx="228600" cy="457200"/>
          </a:xfrm>
          <a:prstGeom prst="line">
            <a:avLst/>
          </a:prstGeom>
          <a:ln w="7620">
            <a:solidFill>
              <a:srgbClr val="5C6169"/>
            </a:solidFill>
          </a:ln>
        </p:spPr>
      </p:cxnSp>
      <p:sp>
        <p:nvSpPr>
          <p:cNvPr id="66" name="Oval 65"/>
          <p:cNvSpPr/>
          <p:nvPr/>
        </p:nvSpPr>
        <p:spPr>
          <a:xfrm>
            <a:off x="8640541" y="2910541"/>
            <a:ext cx="64008" cy="64008"/>
          </a:xfrm>
          <a:prstGeom prst="ellipse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901145" y="3289611"/>
            <a:ext cx="740775" cy="220268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901145" y="3289611"/>
            <a:ext cx="740775" cy="2202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Service 공간</a:t>
            </a:r>
          </a:p>
        </p:txBody>
      </p:sp>
      <p:cxnSp>
        <p:nvCxnSpPr>
          <p:cNvPr id="69" name="Connector 68"/>
          <p:cNvCxnSpPr/>
          <p:nvPr/>
        </p:nvCxnSpPr>
        <p:spPr>
          <a:xfrm flipH="1">
            <a:off x="11037253" y="2673824"/>
            <a:ext cx="45720" cy="566928"/>
          </a:xfrm>
          <a:prstGeom prst="line">
            <a:avLst/>
          </a:prstGeom>
          <a:ln w="7620">
            <a:solidFill>
              <a:srgbClr val="5C6169"/>
            </a:solidFill>
          </a:ln>
        </p:spPr>
      </p:cxnSp>
      <p:sp>
        <p:nvSpPr>
          <p:cNvPr id="70" name="Oval 69"/>
          <p:cNvSpPr/>
          <p:nvPr/>
        </p:nvSpPr>
        <p:spPr>
          <a:xfrm>
            <a:off x="11050969" y="2641820"/>
            <a:ext cx="64008" cy="64008"/>
          </a:xfrm>
          <a:prstGeom prst="ellipse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0392490" y="3130617"/>
            <a:ext cx="644763" cy="220268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0392490" y="3130617"/>
            <a:ext cx="644763" cy="2202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전원 · 통신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490508" y="2211959"/>
            <a:ext cx="435862" cy="12801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490508" y="2211959"/>
            <a:ext cx="43586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85800" y="2166239"/>
            <a:ext cx="1325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설치 형태</a:t>
            </a:r>
          </a:p>
        </p:txBody>
      </p:sp>
      <p:graphicFrame>
        <p:nvGraphicFramePr>
          <p:cNvPr id="76" name="Table 75"/>
          <p:cNvGraphicFramePr>
            <a:graphicFrameLocks noGrp="1"/>
          </p:cNvGraphicFramePr>
          <p:nvPr/>
        </p:nvGraphicFramePr>
        <p:xfrm>
          <a:off x="685800" y="3720718"/>
          <a:ext cx="10820094" cy="165231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17320"/>
                <a:gridCol w="3134258"/>
                <a:gridCol w="3134258"/>
                <a:gridCol w="3134258"/>
              </a:tblGrid>
              <a:tr h="24780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고객 상황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주방 유지 · 호환 주방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주방 교체 시점 (Premium)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분양 · 입주 전 (건설사 · 가구사)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4780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공사 범위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최소 시공 (Mount · Dock)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주방 공사와 동시 (Partner 시공)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설계 단계에서 반영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1330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Interface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Compact Mount · Dock · Vision 기준점 · Drop Zone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Rail · Robot Home · 식세기 Interface · 수납 Dock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Mount · 전원 · 통신 · Tool Dock · 가전 Interface · Service 공간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4780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설치 · Calibration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현장 Calibration 중심 · Y3 원가 95만원 (약 29인시)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Y3 원가 60만원 (약 18인시 = 2인 약 1일)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입주 시 또는 후설치 (Option 세대)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4780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MH 매출 (가설)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Kit 150 + Robot 1,490 + 설치 120 = 1,760만원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Interface 450 + Robot 1,490 + 설치 80 = 2,020만원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Option 220만원 (B2B) + 입주 Attach 25% × (Robot + 설치)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4780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역할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Phase 2 · 고객 확대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Phase 1 · 검증 채널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Phase 3 · Scale 채널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7" name="Rectangle 76"/>
          <p:cNvSpPr/>
          <p:nvPr/>
        </p:nvSpPr>
        <p:spPr>
          <a:xfrm>
            <a:off x="685800" y="5614416"/>
            <a:ext cx="10820095" cy="384048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68680" y="5614416"/>
            <a:ext cx="10454335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MH Core  </a:t>
            </a:r>
            <a:r>
              <a:rPr sz="1050" b="0">
                <a:solidFill>
                  <a:srgbClr val="E3E5E8"/>
                </a:solidFill>
                <a:latin typeface="Noto Sans KR"/>
                <a:ea typeface="Noto Sans KR"/>
                <a:cs typeface="Noto Sans KR"/>
              </a:rPr>
              <a:t>Robot · Hand · Skill · Calibration · Interface Standard · Safety · Commissioning · QA</a:t>
            </a:r>
            <a:r>
              <a:rPr sz="1050" b="1">
                <a:solidFill>
                  <a:srgbClr val="A9AEB5"/>
                </a:solidFill>
                <a:latin typeface="Noto Sans KR"/>
                <a:ea typeface="Noto Sans KR"/>
                <a:cs typeface="Noto Sans KR"/>
              </a:rPr>
              <a:t>     Partner  </a:t>
            </a:r>
            <a:r>
              <a:rPr sz="1050" b="0">
                <a:solidFill>
                  <a:srgbClr val="A9AEB5"/>
                </a:solidFill>
                <a:latin typeface="Noto Sans KR"/>
                <a:ea typeface="Noto Sans KR"/>
                <a:cs typeface="Noto Sans KR"/>
              </a:rPr>
              <a:t>철거 · 가구 · 전기 · 배관 · 일반 시공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85800" y="6126480"/>
            <a:ext cx="10820095" cy="1837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가격 · 원가 = ASSUMPTION · VAT · 주방 공사비 별도 · 인시 = 설치 원가 ÷ 설치 엔지니어 시간당 원가 (부록 D)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2026.10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20624"/>
            <a:ext cx="9601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11  Business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76656"/>
            <a:ext cx="10820095" cy="473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설치 매출 → 사용 기간 반복매출 → 기능 확장매출의 3층 BM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04849"/>
            <a:ext cx="10820095" cy="2481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INSTALL → OPERATE → EXPAND · Hardware 외 매출 = 실제 유지관리 · 기능가치 기반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599310"/>
            <a:ext cx="6629400" cy="1225296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599310"/>
            <a:ext cx="1097280" cy="1225296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873630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INSTALL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239390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A9AEB5"/>
                </a:solidFill>
                <a:latin typeface="Noto Sans KR"/>
                <a:ea typeface="Noto Sans KR"/>
                <a:cs typeface="Noto Sans KR"/>
              </a:rPr>
              <a:t>초기 매출</a:t>
            </a:r>
          </a:p>
        </p:txBody>
      </p:sp>
      <p:pic>
        <p:nvPicPr>
          <p:cNvPr id="9" name="Picture 8" descr="v2_seq_3_load_light_122x134_50_45_10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3080" y="1599310"/>
            <a:ext cx="1115568" cy="1225296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1828800" y="1645031"/>
            <a:ext cx="435862" cy="12801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0" y="1645031"/>
            <a:ext cx="43586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81528" y="1736470"/>
            <a:ext cx="340166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Robot System (Arm · Adaptive Hand · Vision · Safety)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8055" y="1736470"/>
            <a:ext cx="63998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1,490만원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81528" y="2083942"/>
            <a:ext cx="32089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Interface · Integration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5364" y="2083942"/>
            <a:ext cx="832675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150~450만원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81528" y="2431414"/>
            <a:ext cx="328764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설치 · Calibration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4041" y="2431414"/>
            <a:ext cx="75399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80~120만원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234440" y="2833751"/>
            <a:ext cx="0" cy="109728"/>
          </a:xfrm>
          <a:prstGeom prst="line">
            <a:avLst/>
          </a:prstGeom>
          <a:ln w="15875">
            <a:solidFill>
              <a:srgbClr val="8C9198"/>
            </a:solidFill>
            <a:tailEnd type="triangle" w="med" len="med"/>
          </a:ln>
        </p:spPr>
      </p:cxnSp>
      <p:sp>
        <p:nvSpPr>
          <p:cNvPr id="19" name="Rectangle 18"/>
          <p:cNvSpPr/>
          <p:nvPr/>
        </p:nvSpPr>
        <p:spPr>
          <a:xfrm>
            <a:off x="685800" y="2952623"/>
            <a:ext cx="6629400" cy="1225296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5800" y="2952623"/>
            <a:ext cx="1097280" cy="1225296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226942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OPERATE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592702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A9AEB5"/>
                </a:solidFill>
                <a:latin typeface="Noto Sans KR"/>
                <a:ea typeface="Noto Sans KR"/>
                <a:cs typeface="Noto Sans KR"/>
              </a:rPr>
              <a:t>반복매출</a:t>
            </a:r>
          </a:p>
        </p:txBody>
      </p:sp>
      <p:pic>
        <p:nvPicPr>
          <p:cNvPr id="23" name="Picture 22" descr="hand_hero_bmpad_120_0_light_122x134_50_30_15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83080" y="2952623"/>
            <a:ext cx="1115568" cy="1225296"/>
          </a:xfrm>
          <a:prstGeom prst="rect">
            <a:avLst/>
          </a:prstGeom>
        </p:spPr>
      </p:pic>
      <p:cxnSp>
        <p:nvCxnSpPr>
          <p:cNvPr id="24" name="Connector 23"/>
          <p:cNvCxnSpPr/>
          <p:nvPr/>
        </p:nvCxnSpPr>
        <p:spPr>
          <a:xfrm>
            <a:off x="2393853" y="3346667"/>
            <a:ext cx="0" cy="585216"/>
          </a:xfrm>
          <a:prstGeom prst="line">
            <a:avLst/>
          </a:prstGeom>
          <a:ln w="7620">
            <a:solidFill>
              <a:srgbClr val="5C6169"/>
            </a:solidFill>
          </a:ln>
        </p:spPr>
      </p:cxnSp>
      <p:sp>
        <p:nvSpPr>
          <p:cNvPr id="25" name="Oval 24"/>
          <p:cNvSpPr/>
          <p:nvPr/>
        </p:nvSpPr>
        <p:spPr>
          <a:xfrm>
            <a:off x="2361849" y="3314663"/>
            <a:ext cx="64008" cy="64008"/>
          </a:xfrm>
          <a:prstGeom prst="ellipse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065530" y="3821748"/>
            <a:ext cx="656645" cy="220268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065530" y="3821748"/>
            <a:ext cx="656645" cy="2202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교체형 Pad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828800" y="2998342"/>
            <a:ext cx="435862" cy="12801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828800" y="2998342"/>
            <a:ext cx="43586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81528" y="3089782"/>
            <a:ext cx="344939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Rental (60개월, Care · Grip Kit 포함)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5790" y="3089782"/>
            <a:ext cx="59224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월 33만원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81528" y="3437254"/>
            <a:ext cx="344939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Care (Robot Lifecycle Maintenance)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5790" y="3437254"/>
            <a:ext cx="59224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연 48만원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81528" y="3784727"/>
            <a:ext cx="308229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Consumables (Pad · Seal · Tip · Cover)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18682" y="3784727"/>
            <a:ext cx="959357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연 36만원 (List)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1234440" y="4187062"/>
            <a:ext cx="0" cy="109729"/>
          </a:xfrm>
          <a:prstGeom prst="line">
            <a:avLst/>
          </a:prstGeom>
          <a:ln w="15875">
            <a:solidFill>
              <a:srgbClr val="8C9198"/>
            </a:solidFill>
            <a:tailEnd type="triangle" w="med" len="med"/>
          </a:ln>
        </p:spPr>
      </p:cxnSp>
      <p:sp>
        <p:nvSpPr>
          <p:cNvPr id="37" name="Rectangle 36"/>
          <p:cNvSpPr/>
          <p:nvPr/>
        </p:nvSpPr>
        <p:spPr>
          <a:xfrm>
            <a:off x="685800" y="4305934"/>
            <a:ext cx="6629400" cy="1225296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85800" y="4305934"/>
            <a:ext cx="1097280" cy="1225296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5800" y="4580254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EXPAND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" y="4946015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A9AEB5"/>
                </a:solidFill>
                <a:latin typeface="Noto Sans KR"/>
                <a:ea typeface="Noto Sans KR"/>
                <a:cs typeface="Noto Sans KR"/>
              </a:rPr>
              <a:t>확장매출</a:t>
            </a:r>
          </a:p>
        </p:txBody>
      </p:sp>
      <p:pic>
        <p:nvPicPr>
          <p:cNvPr id="41" name="Picture 40" descr="hand_tool_light_122x134_50_55_11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83080" y="4305934"/>
            <a:ext cx="1115568" cy="1225296"/>
          </a:xfrm>
          <a:prstGeom prst="rect">
            <a:avLst/>
          </a:prstGeom>
        </p:spPr>
      </p:pic>
      <p:sp>
        <p:nvSpPr>
          <p:cNvPr id="42" name="Rectangle 41"/>
          <p:cNvSpPr/>
          <p:nvPr/>
        </p:nvSpPr>
        <p:spPr>
          <a:xfrm>
            <a:off x="1828800" y="4351654"/>
            <a:ext cx="435862" cy="12801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828800" y="4351654"/>
            <a:ext cx="43586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081528" y="4443095"/>
            <a:ext cx="3602355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ASSIST Skill Pack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38747" y="4443095"/>
            <a:ext cx="43929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60만원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081528" y="4790567"/>
            <a:ext cx="3602355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Tool · End-effector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38747" y="4790567"/>
            <a:ext cx="43929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80만원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081528" y="5138039"/>
            <a:ext cx="347127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COOK Skill · Robot Upgrade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607668" y="5138039"/>
            <a:ext cx="57037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FUTURE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85800" y="5604383"/>
            <a:ext cx="1289612" cy="155448"/>
          </a:xfrm>
          <a:prstGeom prst="rect">
            <a:avLst/>
          </a:prstGeom>
          <a:noFill/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85800" y="5604383"/>
            <a:ext cx="1289612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가격 = ASSUMPTION (VAT 별도)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635240" y="1599310"/>
            <a:ext cx="387065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대표 1세대 · 5년 (Remodeling 구매, Y3 원가)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635240" y="1910206"/>
            <a:ext cx="3233549" cy="384048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0868789" y="1910206"/>
            <a:ext cx="585880" cy="384048"/>
          </a:xfrm>
          <a:prstGeom prst="rect">
            <a:avLst/>
          </a:prstGeom>
          <a:solidFill>
            <a:srgbClr val="6B707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1454670" y="1910206"/>
            <a:ext cx="51224" cy="384048"/>
          </a:xfrm>
          <a:prstGeom prst="rect">
            <a:avLst/>
          </a:prstGeom>
          <a:solidFill>
            <a:srgbClr val="B4B8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635240" y="2349118"/>
            <a:ext cx="387065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INSTALL 2,020  ·  OPERATE 366  ·  EXPAND 32  =  2,418만원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635240" y="2696590"/>
            <a:ext cx="1843887" cy="367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E2571B"/>
                </a:solidFill>
                <a:latin typeface="Noto Sans KR"/>
                <a:ea typeface="Noto Sans KR"/>
                <a:cs typeface="Noto Sans KR"/>
              </a:rPr>
              <a:t>428만원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635240" y="3046094"/>
            <a:ext cx="1843887" cy="1837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5년 기여이익 (Y3 원가, 이익률 18%)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635240" y="3248177"/>
            <a:ext cx="463783" cy="155448"/>
          </a:xfrm>
          <a:prstGeom prst="rect">
            <a:avLst/>
          </a:prstGeom>
          <a:noFill/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35240" y="3248177"/>
            <a:ext cx="463783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DERIVED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662007" y="2696590"/>
            <a:ext cx="1843887" cy="367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798만원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662007" y="3046094"/>
            <a:ext cx="1843887" cy="349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Y5 원가 (BOM · 설치 · Care 하락, 33%)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662007" y="3413683"/>
            <a:ext cx="463783" cy="155448"/>
          </a:xfrm>
          <a:prstGeom prst="rect">
            <a:avLst/>
          </a:prstGeom>
          <a:noFill/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662007" y="3413683"/>
            <a:ext cx="463783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DERIVED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635240" y="3812159"/>
            <a:ext cx="387065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Rental 구조 (Scale 단계)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635240" y="4104767"/>
            <a:ext cx="1070762" cy="566928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635240" y="4159631"/>
            <a:ext cx="107076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고객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635240" y="4406519"/>
            <a:ext cx="107076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월 납부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8733434" y="4388231"/>
            <a:ext cx="274320" cy="0"/>
          </a:xfrm>
          <a:prstGeom prst="line">
            <a:avLst/>
          </a:prstGeom>
          <a:ln w="15875">
            <a:solidFill>
              <a:srgbClr val="8C9198"/>
            </a:solidFill>
            <a:tailEnd type="triangle" w="med" len="med"/>
          </a:ln>
        </p:spPr>
      </p:cxnSp>
      <p:sp>
        <p:nvSpPr>
          <p:cNvPr id="70" name="Rectangle 69"/>
          <p:cNvSpPr/>
          <p:nvPr/>
        </p:nvSpPr>
        <p:spPr>
          <a:xfrm>
            <a:off x="9035186" y="4104767"/>
            <a:ext cx="1070762" cy="566928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035186" y="4159631"/>
            <a:ext cx="107076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Capital Partner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035186" y="4406519"/>
            <a:ext cx="107076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Robot 자산 보유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10133380" y="4388231"/>
            <a:ext cx="274320" cy="0"/>
          </a:xfrm>
          <a:prstGeom prst="line">
            <a:avLst/>
          </a:prstGeom>
          <a:ln w="15875">
            <a:solidFill>
              <a:srgbClr val="8C9198"/>
            </a:solidFill>
            <a:tailEnd type="triangle" w="med" len="med"/>
          </a:ln>
        </p:spPr>
      </p:cxnSp>
      <p:sp>
        <p:nvSpPr>
          <p:cNvPr id="74" name="Rectangle 73"/>
          <p:cNvSpPr/>
          <p:nvPr/>
        </p:nvSpPr>
        <p:spPr>
          <a:xfrm>
            <a:off x="10435132" y="4104767"/>
            <a:ext cx="1070762" cy="566928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435132" y="4159631"/>
            <a:ext cx="107076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MH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435132" y="4406519"/>
            <a:ext cx="107076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C9CDD2"/>
                </a:solidFill>
                <a:latin typeface="Noto Sans KR"/>
                <a:ea typeface="Noto Sans KR"/>
                <a:cs typeface="Noto Sans KR"/>
              </a:rPr>
              <a:t>제품 · SW · Care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4744847"/>
            <a:ext cx="387065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월 33만원 · Partner가 Robot을 ASP의 88%에 매입 · MH 서비스료 월 6만원</a:t>
            </a:r>
          </a:p>
          <a:p>
            <a:pPr algn="l">
              <a:lnSpc>
                <a:spcPct val="102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Partner IRR 약 13.1% · 단순 회수 약 49개월 &gt; 요구 36개월 (가정) → 조건 협의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85800" y="5978347"/>
            <a:ext cx="10820095" cy="349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Care = 정기 안전점검 · Calibration · 원격진단 · A/S (가입 70% 가정 → 실증 3세대로 확인, M24) · 소모품 = 마모 · 위생 기반 (교체주기 시험 후 확정) · 반복매출 Y3 0.4 → Y5 3.5억원 (Installed Base 663대) · Y5 매출 중 OPERATE + EXPAND 4% (DERIVED) · 선례: 코웨이 렌탈 748만 계정 · LG 구독 2조원+ [S12 · S41]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2026.10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20624"/>
            <a:ext cx="9601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12  Market / Beachhead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76656"/>
            <a:ext cx="10820095" cy="473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Bottom-up 시장 산정: 세대 수 × 적용률 × 단가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04849"/>
            <a:ext cx="10820095" cy="2481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아파트 재고 = 기회 기반 (구매시장 아님) · 비율 = ASSUMPTION (검증 계획 부록 C3)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599310"/>
            <a:ext cx="3154680" cy="4417441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2190"/>
            <a:ext cx="2697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A9AEB5"/>
                </a:solidFill>
                <a:latin typeface="Noto Sans KR"/>
                <a:ea typeface="Noto Sans KR"/>
                <a:cs typeface="Noto Sans KR"/>
              </a:rPr>
              <a:t>국내 아파트 (2025)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38222"/>
            <a:ext cx="26974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1,328만호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742311"/>
            <a:ext cx="463783" cy="155448"/>
          </a:xfrm>
          <a:prstGeom prst="rect">
            <a:avLst/>
          </a:prstGeom>
          <a:solidFill>
            <a:srgbClr val="15171A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742311"/>
            <a:ext cx="463783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DERIVED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08071"/>
            <a:ext cx="2697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E3E5E8"/>
                </a:solidFill>
                <a:latin typeface="Noto Sans KR"/>
                <a:ea typeface="Noto Sans KR"/>
                <a:cs typeface="Noto Sans KR"/>
              </a:rPr>
              <a:t>총주택 2,018만호 × 아파트 65.8%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583559"/>
            <a:ext cx="2697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E3E5E8"/>
                </a:solidFill>
                <a:latin typeface="Noto Sans KR"/>
                <a:ea typeface="Noto Sans KR"/>
                <a:cs typeface="Noto Sans KR"/>
              </a:rPr>
              <a:t>준공 20년 이상 주택 56.0%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059047"/>
            <a:ext cx="2697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E3E5E8"/>
                </a:solidFill>
                <a:latin typeface="Noto Sans KR"/>
                <a:ea typeface="Noto Sans KR"/>
                <a:cs typeface="Noto Sans KR"/>
              </a:rPr>
              <a:t>주택 매매 72.6만호 (2025)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534534"/>
            <a:ext cx="2697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E3E5E8"/>
                </a:solidFill>
                <a:latin typeface="Noto Sans KR"/>
                <a:ea typeface="Noto Sans KR"/>
                <a:cs typeface="Noto Sans KR"/>
              </a:rPr>
              <a:t>아파트 입주 23.6만 (2025) · 18.3만 (2026 예정)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4901184"/>
            <a:ext cx="2697480" cy="109728"/>
          </a:xfrm>
          <a:prstGeom prst="rect">
            <a:avLst/>
          </a:prstGeom>
          <a:solidFill>
            <a:srgbClr val="3A3F4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4901184"/>
            <a:ext cx="60941" cy="1097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047488"/>
            <a:ext cx="966331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연 주방 교체 약 30만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26451" y="5061204"/>
            <a:ext cx="652984" cy="155448"/>
          </a:xfrm>
          <a:prstGeom prst="rect">
            <a:avLst/>
          </a:prstGeom>
          <a:solidFill>
            <a:srgbClr val="15171A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26451" y="5061204"/>
            <a:ext cx="652984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ASSUMPTION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75069" y="5047488"/>
            <a:ext cx="73681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A9AEB5"/>
                </a:solidFill>
                <a:latin typeface="Noto Sans KR"/>
                <a:ea typeface="Noto Sans KR"/>
                <a:cs typeface="Noto Sans KR"/>
              </a:rPr>
              <a:t>재고 1,328만호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449824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A9AEB5"/>
                </a:solidFill>
                <a:latin typeface="Noto Sans KR"/>
                <a:ea typeface="Noto Sans KR"/>
                <a:cs typeface="Noto Sans KR"/>
              </a:rPr>
              <a:t>Stock ≠ 구매시장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4114800" y="1599310"/>
          <a:ext cx="7391095" cy="1908707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234440"/>
                <a:gridCol w="3413455"/>
                <a:gridCol w="914400"/>
                <a:gridCol w="868680"/>
                <a:gridCol w="960120"/>
              </a:tblGrid>
              <a:tr h="311861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시장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산식 (세대 × 적용률)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대상 세대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패키지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 규모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48656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① Remodeling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Beachhead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주방 교체 30만 × Premium 10% × 적용 60% · Robot Attach 85%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18,000/년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1,785만원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3,212억원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8656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② Retrofit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1,328만 × Premium 10% × 식세기 60% × 호환 40% = 31.9만 (재고) × 연 0.5%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1,593/년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1,760만원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280억원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11861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③ New-build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입주 20만 × Premium 단지 15% × Option 10%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3,000/년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613만원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184억원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11861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④ Recurring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Installed Base × 구매 고객 ARPU 58.8만원/년 (Care · 소모품)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1,000대당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5.9억원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22" name="Rectangle 21"/>
          <p:cNvSpPr/>
          <p:nvPr/>
        </p:nvSpPr>
        <p:spPr>
          <a:xfrm>
            <a:off x="4114800" y="3709187"/>
            <a:ext cx="3558387" cy="96012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97680" y="3818915"/>
            <a:ext cx="31926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SAM 합계 (① + ② + ③)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80" y="4074947"/>
            <a:ext cx="319262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연 3,676억원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47507" y="3709187"/>
            <a:ext cx="3558387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15171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30387" y="3818915"/>
            <a:ext cx="31926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Y5 계획 매출 (Base · TARGET)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0387" y="4074947"/>
            <a:ext cx="319262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2571B"/>
                </a:solidFill>
                <a:latin typeface="Noto Sans KR"/>
                <a:ea typeface="Noto Sans KR"/>
                <a:cs typeface="Noto Sans KR"/>
              </a:rPr>
              <a:t>91.5억원 · 560세대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0387" y="4422419"/>
            <a:ext cx="319262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대상 세대의 약 2.5% (DERIVED)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0" y="4870475"/>
            <a:ext cx="2469931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채널 구성: 대상 세대 × 패키지 단가 → 연 규모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48739" y="4902479"/>
            <a:ext cx="463783" cy="155448"/>
          </a:xfrm>
          <a:prstGeom prst="rect">
            <a:avLst/>
          </a:prstGeom>
          <a:noFill/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48739" y="4902479"/>
            <a:ext cx="463783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DERIVED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848142" y="4925339"/>
            <a:ext cx="109728" cy="109728"/>
          </a:xfrm>
          <a:prstGeom prst="rect">
            <a:avLst/>
          </a:prstGeom>
          <a:solidFill>
            <a:srgbClr val="5C61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03590" y="4879619"/>
            <a:ext cx="731313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① Remodeling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881208" y="4925339"/>
            <a:ext cx="109728" cy="109728"/>
          </a:xfrm>
          <a:prstGeom prst="rect">
            <a:avLst/>
          </a:prstGeom>
          <a:solidFill>
            <a:srgbClr val="9DA2A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36656" y="4879619"/>
            <a:ext cx="515524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② Retrofit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698484" y="4925339"/>
            <a:ext cx="109728" cy="109728"/>
          </a:xfrm>
          <a:prstGeom prst="rect">
            <a:avLst/>
          </a:prstGeom>
          <a:solidFill>
            <a:srgbClr val="D5D8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853932" y="4879619"/>
            <a:ext cx="65196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③ New-build</a:t>
            </a:r>
          </a:p>
        </p:txBody>
      </p:sp>
      <p:sp>
        <p:nvSpPr>
          <p:cNvPr id="38" name="Freeform 37"/>
          <p:cNvSpPr/>
          <p:nvPr/>
        </p:nvSpPr>
        <p:spPr>
          <a:xfrm>
            <a:off x="5349240" y="5583707"/>
            <a:ext cx="5367828" cy="231877"/>
          </a:xfrm>
          <a:custGeom>
            <a:avLst/>
            <a:gdLst/>
            <a:ahLst/>
            <a:cxnLst/>
            <a:rect l="l" t="t" r="r" b="b"/>
            <a:pathLst>
              <a:path w="5367828" h="231877">
                <a:moveTo>
                  <a:pt x="0" y="0"/>
                </a:moveTo>
                <a:lnTo>
                  <a:pt x="4893513" y="0"/>
                </a:lnTo>
                <a:lnTo>
                  <a:pt x="5367828" y="231877"/>
                </a:lnTo>
                <a:lnTo>
                  <a:pt x="0" y="231877"/>
                </a:lnTo>
                <a:close/>
              </a:path>
            </a:pathLst>
          </a:custGeom>
          <a:solidFill>
            <a:srgbClr val="E4E6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10265613" y="5583707"/>
            <a:ext cx="921128" cy="231877"/>
          </a:xfrm>
          <a:custGeom>
            <a:avLst/>
            <a:gdLst/>
            <a:ahLst/>
            <a:cxnLst/>
            <a:rect l="l" t="t" r="r" b="b"/>
            <a:pathLst>
              <a:path w="921128" h="231877">
                <a:moveTo>
                  <a:pt x="0" y="0"/>
                </a:moveTo>
                <a:lnTo>
                  <a:pt x="411361" y="0"/>
                </a:lnTo>
                <a:lnTo>
                  <a:pt x="921128" y="231877"/>
                </a:lnTo>
                <a:lnTo>
                  <a:pt x="474315" y="231877"/>
                </a:lnTo>
                <a:close/>
              </a:path>
            </a:pathLst>
          </a:custGeom>
          <a:solidFill>
            <a:srgbClr val="E4E6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10699834" y="5583707"/>
            <a:ext cx="806061" cy="231877"/>
          </a:xfrm>
          <a:custGeom>
            <a:avLst/>
            <a:gdLst/>
            <a:ahLst/>
            <a:cxnLst/>
            <a:rect l="l" t="t" r="r" b="b"/>
            <a:pathLst>
              <a:path w="806061" h="231877">
                <a:moveTo>
                  <a:pt x="0" y="0"/>
                </a:moveTo>
                <a:lnTo>
                  <a:pt x="806061" y="0"/>
                </a:lnTo>
                <a:lnTo>
                  <a:pt x="806061" y="231877"/>
                </a:lnTo>
                <a:lnTo>
                  <a:pt x="509767" y="231877"/>
                </a:lnTo>
                <a:close/>
              </a:path>
            </a:pathLst>
          </a:custGeom>
          <a:solidFill>
            <a:srgbClr val="E4E6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349240" y="5382539"/>
            <a:ext cx="4893513" cy="201168"/>
          </a:xfrm>
          <a:prstGeom prst="rect">
            <a:avLst/>
          </a:prstGeom>
          <a:solidFill>
            <a:srgbClr val="5C61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349240" y="5382539"/>
            <a:ext cx="4893513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18,000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265613" y="5382539"/>
            <a:ext cx="411361" cy="201168"/>
          </a:xfrm>
          <a:prstGeom prst="rect">
            <a:avLst/>
          </a:prstGeom>
          <a:solidFill>
            <a:srgbClr val="9DA2A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265613" y="5382539"/>
            <a:ext cx="411361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1,593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699834" y="5382539"/>
            <a:ext cx="806060" cy="201168"/>
          </a:xfrm>
          <a:prstGeom prst="rect">
            <a:avLst/>
          </a:prstGeom>
          <a:solidFill>
            <a:srgbClr val="D5D8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699834" y="5382539"/>
            <a:ext cx="8060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3,000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349240" y="5815584"/>
            <a:ext cx="5367828" cy="201168"/>
          </a:xfrm>
          <a:prstGeom prst="rect">
            <a:avLst/>
          </a:prstGeom>
          <a:solidFill>
            <a:srgbClr val="5C61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349240" y="5815584"/>
            <a:ext cx="536782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3,212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739928" y="5815584"/>
            <a:ext cx="446813" cy="201168"/>
          </a:xfrm>
          <a:prstGeom prst="rect">
            <a:avLst/>
          </a:prstGeom>
          <a:solidFill>
            <a:srgbClr val="9DA2A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739928" y="5815584"/>
            <a:ext cx="446813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280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1209601" y="5815584"/>
            <a:ext cx="296293" cy="201168"/>
          </a:xfrm>
          <a:prstGeom prst="rect">
            <a:avLst/>
          </a:prstGeom>
          <a:solidFill>
            <a:srgbClr val="D5D8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209601" y="5815584"/>
            <a:ext cx="296293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184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349240" y="5190515"/>
            <a:ext cx="152598" cy="118872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593278" y="5149367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560세대 = 약 2.5%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114800" y="5149367"/>
            <a:ext cx="112471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Y5 계획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114800" y="5382539"/>
            <a:ext cx="112471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대상 세대 /년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114800" y="5583707"/>
            <a:ext cx="1124712" cy="231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× 패키지 단가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114800" y="5815584"/>
            <a:ext cx="112471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연 규모 (억원)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5800" y="6126480"/>
            <a:ext cx="10820095" cy="1837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적용 60% = 확보 평면 5종 (기본 배치 수용 1)보다 높은 가정 → 평면 30개 분석으로 검증 (M6) · 주방 교체 30만 = 교차검증 29.0만 · 30.3만 기반 가정 · 출처 [S1~S6]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2026.10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20624"/>
            <a:ext cx="9601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13  GTM / Partner Distribution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76656"/>
            <a:ext cx="10820095" cy="473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Premium Remodeling 검증 → Retrofit → 신축 B2B2C 확장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04849"/>
            <a:ext cx="10820095" cy="2481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초기 Mass Market 진입 없음 · 검증 채널 (Remodeling) → 고객 확대 (Retrofit) → Scale 채널 (신축)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599310"/>
            <a:ext cx="3387242" cy="1463040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1709039"/>
            <a:ext cx="305805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A9AEB5"/>
                </a:solidFill>
                <a:latin typeface="Noto Sans KR"/>
                <a:ea typeface="Noto Sans KR"/>
                <a:cs typeface="Noto Sans KR"/>
              </a:rPr>
              <a:t>Phase 1  ·  Y2 실증 → Y3~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1928494"/>
            <a:ext cx="305805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Premium Kitchen Remodeling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2275966"/>
            <a:ext cx="305805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>
                <a:solidFill>
                  <a:srgbClr val="C9CDD2"/>
                </a:solidFill>
                <a:latin typeface="Noto Sans KR"/>
                <a:ea typeface="Noto Sans KR"/>
                <a:cs typeface="Noto Sans KR"/>
              </a:rPr>
              <a:t>목적: 제품 · 가격수용성 · 설치 · 사용성 검증 · 초기 Reference · 고객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2751455"/>
            <a:ext cx="305805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직접 판매 + 주방 · 인테리어 Partner  ·  검증 채널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109618" y="2330831"/>
            <a:ext cx="256032" cy="0"/>
          </a:xfrm>
          <a:prstGeom prst="line">
            <a:avLst/>
          </a:prstGeom>
          <a:ln w="19050">
            <a:solidFill>
              <a:srgbClr val="8C9198"/>
            </a:solidFill>
            <a:tailEnd type="triangle" w="med" len="med"/>
          </a:ln>
        </p:spPr>
      </p:cxnSp>
      <p:sp>
        <p:nvSpPr>
          <p:cNvPr id="11" name="Rectangle 10"/>
          <p:cNvSpPr/>
          <p:nvPr/>
        </p:nvSpPr>
        <p:spPr>
          <a:xfrm>
            <a:off x="4402226" y="1599310"/>
            <a:ext cx="3387242" cy="146304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66818" y="1709039"/>
            <a:ext cx="305805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Phase 2  ·  Y4~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6818" y="1928494"/>
            <a:ext cx="305805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Compatible Existing Retrofit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66818" y="2275966"/>
            <a:ext cx="305805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전체 Remodeling 없이 적용 가능한 고객 확대 · 호환성 Check 표준화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6818" y="2751455"/>
            <a:ext cx="305805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설치 Partner 경유  ·  고객 확대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826044" y="2330831"/>
            <a:ext cx="256032" cy="0"/>
          </a:xfrm>
          <a:prstGeom prst="line">
            <a:avLst/>
          </a:prstGeom>
          <a:ln w="19050">
            <a:solidFill>
              <a:srgbClr val="8C9198"/>
            </a:solidFill>
            <a:tailEnd type="triangle" w="med" len="med"/>
          </a:ln>
        </p:spPr>
      </p:cxnSp>
      <p:sp>
        <p:nvSpPr>
          <p:cNvPr id="17" name="Rectangle 16"/>
          <p:cNvSpPr/>
          <p:nvPr/>
        </p:nvSpPr>
        <p:spPr>
          <a:xfrm>
            <a:off x="8118652" y="1599310"/>
            <a:ext cx="3387242" cy="146304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83244" y="1709039"/>
            <a:ext cx="305805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Phase 3  ·  Y3 계약 → Y5 입주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83244" y="1928494"/>
            <a:ext cx="305805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New-build Apartment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3244" y="2275966"/>
            <a:ext cx="305805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건설사 · 주방가구사 B2B2C · Project 단위 Scale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83244" y="2751455"/>
            <a:ext cx="305805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Interface Option + 후설치  ·  Scale 채널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336671"/>
            <a:ext cx="5577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설치 세대 (Base, TARGET)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685800" y="3610990"/>
          <a:ext cx="5577840" cy="20948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92749" y="5527624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Y1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63694" y="5527624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Y2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34639" y="5527624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Y3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05585" y="5527624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Y4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76530" y="5527624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Y5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5629" y="5207584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46574" y="519883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017520" y="5061691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50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88465" y="4624014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200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59410" y="3573589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560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5800" y="5815583"/>
            <a:ext cx="164592" cy="128016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86968" y="5769864"/>
            <a:ext cx="92027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Remodeling 직접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990124" y="5815583"/>
            <a:ext cx="164592" cy="128016"/>
          </a:xfrm>
          <a:prstGeom prst="rect">
            <a:avLst/>
          </a:prstGeom>
          <a:solidFill>
            <a:srgbClr val="6B707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191292" y="5769864"/>
            <a:ext cx="109535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Remodeling Partner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69530" y="5815583"/>
            <a:ext cx="164592" cy="128016"/>
          </a:xfrm>
          <a:prstGeom prst="rect">
            <a:avLst/>
          </a:prstGeom>
          <a:solidFill>
            <a:srgbClr val="A9AE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70698" y="5769864"/>
            <a:ext cx="46819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Retrofit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21772" y="5815583"/>
            <a:ext cx="164592" cy="128016"/>
          </a:xfrm>
          <a:prstGeom prst="rect">
            <a:avLst/>
          </a:prstGeom>
          <a:solidFill>
            <a:srgbClr val="D5D8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22940" y="5769864"/>
            <a:ext cx="83596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New-build 입주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29400" y="3336671"/>
            <a:ext cx="48764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Product Company 구조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629400" y="3629278"/>
            <a:ext cx="2301087" cy="1875409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775704" y="3720718"/>
            <a:ext cx="20084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MH Core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75704" y="4013327"/>
            <a:ext cx="2008479" cy="14182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950" b="0">
                <a:solidFill>
                  <a:srgbClr val="E3E5E8"/>
                </a:solidFill>
                <a:latin typeface="Noto Sans KR"/>
                <a:ea typeface="Noto Sans KR"/>
                <a:cs typeface="Noto Sans KR"/>
              </a:rPr>
              <a:t>Robot · Robot Hand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950" b="0">
                <a:solidFill>
                  <a:srgbClr val="E3E5E8"/>
                </a:solidFill>
                <a:latin typeface="Noto Sans KR"/>
                <a:ea typeface="Noto Sans KR"/>
                <a:cs typeface="Noto Sans KR"/>
              </a:rPr>
              <a:t>Manipulation Skill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950" b="0">
                <a:solidFill>
                  <a:srgbClr val="E3E5E8"/>
                </a:solidFill>
                <a:latin typeface="Noto Sans KR"/>
                <a:ea typeface="Noto Sans KR"/>
                <a:cs typeface="Noto Sans KR"/>
              </a:rPr>
              <a:t>Calibration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950" b="0">
                <a:solidFill>
                  <a:srgbClr val="E3E5E8"/>
                </a:solidFill>
                <a:latin typeface="Noto Sans KR"/>
                <a:ea typeface="Noto Sans KR"/>
                <a:cs typeface="Noto Sans KR"/>
              </a:rPr>
              <a:t>Interface 표준</a:t>
            </a:r>
          </a:p>
          <a:p>
            <a:pPr algn="l">
              <a:lnSpc>
                <a:spcPct val="100000"/>
              </a:lnSpc>
            </a:pPr>
            <a:r>
              <a:rPr sz="950" b="0">
                <a:solidFill>
                  <a:srgbClr val="E3E5E8"/>
                </a:solidFill>
                <a:latin typeface="Noto Sans KR"/>
                <a:ea typeface="Noto Sans KR"/>
                <a:cs typeface="Noto Sans KR"/>
              </a:rPr>
              <a:t>안전 · 시운전 · QA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204807" y="3629278"/>
            <a:ext cx="2301087" cy="1875409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351111" y="3720718"/>
            <a:ext cx="20084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Partner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351111" y="4013327"/>
            <a:ext cx="2008479" cy="14182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철거 · 가구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전기 · 배관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일반 시공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(신축) 건설사 · 가구사</a:t>
            </a:r>
          </a:p>
          <a:p>
            <a:pPr algn="l">
              <a:lnSpc>
                <a:spcPct val="100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(Rental) 캐피탈 · 렌탈사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629400" y="5596127"/>
            <a:ext cx="4876495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설치 물량 증가 ≠ 본사 현장인력 비례 증가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5800" y="6126480"/>
            <a:ext cx="10820095" cy="1837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선례: 건설사 · 가전사 구독 · 관리 번들 — LH 공공주택 5,400여 세대 · 압구정 재건축 약 7,000세대 선택지 (LG, 2026) [S41]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2026.10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20624"/>
            <a:ext cx="9601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14  Technology-to-Economics / Moat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76656"/>
            <a:ext cx="10820095" cy="473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R&amp;D 성과의 설치비 · 서비스비 · 확장매출 연결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04849"/>
            <a:ext cx="10820095" cy="2481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성능 향상 자체가 아닌 Unit Economics · Scale 개선으로 연결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599310"/>
            <a:ext cx="2148840" cy="45720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1599310"/>
            <a:ext cx="192938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Adaptive Hand 고도화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862072" y="1827910"/>
            <a:ext cx="219456" cy="0"/>
          </a:xfrm>
          <a:prstGeom prst="line">
            <a:avLst/>
          </a:prstGeom>
          <a:ln w="15875">
            <a:solidFill>
              <a:srgbClr val="8C9198"/>
            </a:solidFill>
            <a:tailEnd type="triangle" w="med" len="med"/>
          </a:ln>
        </p:spPr>
      </p:cxnSp>
      <p:sp>
        <p:nvSpPr>
          <p:cNvPr id="8" name="Rectangle 7"/>
          <p:cNvSpPr/>
          <p:nvPr/>
        </p:nvSpPr>
        <p:spPr>
          <a:xfrm>
            <a:off x="3108960" y="1599310"/>
            <a:ext cx="1600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08960" y="1599310"/>
            <a:ext cx="1600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Object Coverage ↑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147951"/>
            <a:ext cx="2148840" cy="45720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" y="2147951"/>
            <a:ext cx="192938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Manipulation Skill 고도화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62072" y="2376551"/>
            <a:ext cx="219456" cy="0"/>
          </a:xfrm>
          <a:prstGeom prst="line">
            <a:avLst/>
          </a:prstGeom>
          <a:ln w="15875">
            <a:solidFill>
              <a:srgbClr val="8C9198"/>
            </a:solidFill>
            <a:tailEnd type="triangle" w="med" len="med"/>
          </a:ln>
        </p:spPr>
      </p:cxnSp>
      <p:sp>
        <p:nvSpPr>
          <p:cNvPr id="13" name="Rectangle 12"/>
          <p:cNvSpPr/>
          <p:nvPr/>
        </p:nvSpPr>
        <p:spPr>
          <a:xfrm>
            <a:off x="3108960" y="2147951"/>
            <a:ext cx="1600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08960" y="2147951"/>
            <a:ext cx="1600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Task Coverage ↑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2696590"/>
            <a:ext cx="2148840" cy="45720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2696590"/>
            <a:ext cx="192938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Calibration 고도화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862072" y="2925190"/>
            <a:ext cx="219456" cy="0"/>
          </a:xfrm>
          <a:prstGeom prst="line">
            <a:avLst/>
          </a:prstGeom>
          <a:ln w="15875">
            <a:solidFill>
              <a:srgbClr val="8C9198"/>
            </a:solidFill>
            <a:tailEnd type="triangle" w="med" len="med"/>
          </a:ln>
        </p:spPr>
      </p:cxnSp>
      <p:sp>
        <p:nvSpPr>
          <p:cNvPr id="18" name="Rectangle 17"/>
          <p:cNvSpPr/>
          <p:nvPr/>
        </p:nvSpPr>
        <p:spPr>
          <a:xfrm>
            <a:off x="3108960" y="2696590"/>
            <a:ext cx="1600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108960" y="2696590"/>
            <a:ext cx="1600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신규 주방 적용시간 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3245230"/>
            <a:ext cx="2148840" cy="45720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5528" y="3245230"/>
            <a:ext cx="192938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Environment Interface 최적화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862072" y="3473830"/>
            <a:ext cx="219456" cy="0"/>
          </a:xfrm>
          <a:prstGeom prst="line">
            <a:avLst/>
          </a:prstGeom>
          <a:ln w="15875">
            <a:solidFill>
              <a:srgbClr val="8C9198"/>
            </a:solidFill>
            <a:tailEnd type="triangle" w="med" len="med"/>
          </a:ln>
        </p:spPr>
      </p:cxnSp>
      <p:sp>
        <p:nvSpPr>
          <p:cNvPr id="23" name="Rectangle 22"/>
          <p:cNvSpPr/>
          <p:nvPr/>
        </p:nvSpPr>
        <p:spPr>
          <a:xfrm>
            <a:off x="3108960" y="3245230"/>
            <a:ext cx="1600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08960" y="3245230"/>
            <a:ext cx="1600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Task Reliability ↑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727448" y="1827910"/>
            <a:ext cx="164592" cy="0"/>
          </a:xfrm>
          <a:prstGeom prst="line">
            <a:avLst/>
          </a:prstGeom>
          <a:ln w="12700">
            <a:solidFill>
              <a:srgbClr val="8C9198"/>
            </a:solidFill>
          </a:ln>
        </p:spPr>
      </p:cxnSp>
      <p:cxnSp>
        <p:nvCxnSpPr>
          <p:cNvPr id="26" name="Connector 25"/>
          <p:cNvCxnSpPr/>
          <p:nvPr/>
        </p:nvCxnSpPr>
        <p:spPr>
          <a:xfrm>
            <a:off x="4727448" y="2376551"/>
            <a:ext cx="164592" cy="0"/>
          </a:xfrm>
          <a:prstGeom prst="line">
            <a:avLst/>
          </a:prstGeom>
          <a:ln w="12700">
            <a:solidFill>
              <a:srgbClr val="8C9198"/>
            </a:solidFill>
          </a:ln>
        </p:spPr>
      </p:cxnSp>
      <p:cxnSp>
        <p:nvCxnSpPr>
          <p:cNvPr id="27" name="Connector 26"/>
          <p:cNvCxnSpPr/>
          <p:nvPr/>
        </p:nvCxnSpPr>
        <p:spPr>
          <a:xfrm>
            <a:off x="4727448" y="2925190"/>
            <a:ext cx="164592" cy="0"/>
          </a:xfrm>
          <a:prstGeom prst="line">
            <a:avLst/>
          </a:prstGeom>
          <a:ln w="12700">
            <a:solidFill>
              <a:srgbClr val="8C9198"/>
            </a:solidFill>
          </a:ln>
        </p:spPr>
      </p:cxnSp>
      <p:cxnSp>
        <p:nvCxnSpPr>
          <p:cNvPr id="28" name="Connector 27"/>
          <p:cNvCxnSpPr/>
          <p:nvPr/>
        </p:nvCxnSpPr>
        <p:spPr>
          <a:xfrm>
            <a:off x="4727448" y="3473830"/>
            <a:ext cx="164592" cy="0"/>
          </a:xfrm>
          <a:prstGeom prst="line">
            <a:avLst/>
          </a:prstGeom>
          <a:ln w="12700">
            <a:solidFill>
              <a:srgbClr val="8C9198"/>
            </a:solidFill>
          </a:ln>
        </p:spPr>
      </p:cxnSp>
      <p:cxnSp>
        <p:nvCxnSpPr>
          <p:cNvPr id="29" name="Connector 28"/>
          <p:cNvCxnSpPr/>
          <p:nvPr/>
        </p:nvCxnSpPr>
        <p:spPr>
          <a:xfrm>
            <a:off x="4892040" y="1827910"/>
            <a:ext cx="0" cy="1645920"/>
          </a:xfrm>
          <a:prstGeom prst="line">
            <a:avLst/>
          </a:prstGeom>
          <a:ln w="12700">
            <a:solidFill>
              <a:srgbClr val="8C9198"/>
            </a:solidFill>
          </a:ln>
        </p:spPr>
      </p:cxnSp>
      <p:cxnSp>
        <p:nvCxnSpPr>
          <p:cNvPr id="30" name="Connector 29"/>
          <p:cNvCxnSpPr/>
          <p:nvPr/>
        </p:nvCxnSpPr>
        <p:spPr>
          <a:xfrm>
            <a:off x="4892040" y="2650871"/>
            <a:ext cx="164592" cy="0"/>
          </a:xfrm>
          <a:prstGeom prst="line">
            <a:avLst/>
          </a:prstGeom>
          <a:ln w="15875">
            <a:solidFill>
              <a:srgbClr val="8C9198"/>
            </a:solidFill>
            <a:tailEnd type="triangle" w="med" len="med"/>
          </a:ln>
        </p:spPr>
      </p:cxnSp>
      <p:sp>
        <p:nvSpPr>
          <p:cNvPr id="31" name="Rectangle 30"/>
          <p:cNvSpPr/>
          <p:nvPr/>
        </p:nvSpPr>
        <p:spPr>
          <a:xfrm>
            <a:off x="5093208" y="1599310"/>
            <a:ext cx="1261872" cy="2103120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02936" y="1690751"/>
            <a:ext cx="1042415" cy="1920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설치시간 ↓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Engineering 비용 ↓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고객경험 ↑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반복설치 ↑</a:t>
            </a:r>
          </a:p>
          <a:p>
            <a:pPr algn="l">
              <a:lnSpc>
                <a:spcPct val="105000"/>
              </a:lnSpc>
            </a:pPr>
            <a:r>
              <a:rPr sz="10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→ Installed Base ↑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5800" y="3839590"/>
            <a:ext cx="5669280" cy="420624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60" y="3839590"/>
            <a:ext cx="539496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Installed Base → </a:t>
            </a:r>
            <a:r>
              <a:rPr sz="11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Care · Consumables · Skill Upgrade 매출 ↑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0" y="1581022"/>
            <a:ext cx="483077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KPI ↔ 원가 연결 (Base · ASSUMPTION, 인시 DERIVED)</a:t>
            </a:r>
          </a:p>
        </p:txBody>
      </p:sp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6675120" y="1855342"/>
          <a:ext cx="4830775" cy="164256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950415"/>
                <a:gridCol w="960120"/>
                <a:gridCol w="960120"/>
                <a:gridCol w="960120"/>
              </a:tblGrid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연결 지표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Y2 실증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Y3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Y5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4682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설치 · Calibration 원가 (Remodeling)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90만 · 27인시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60만 · 18인시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38만 · 12인시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System BOM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1,520만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1,180만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915만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Care 원가 / 대 · 년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40.8만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36.8만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26.8만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1세대 5년 기여이익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428만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798만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37" name="TextBox 36"/>
          <p:cNvSpPr txBox="1"/>
          <p:nvPr/>
        </p:nvSpPr>
        <p:spPr>
          <a:xfrm>
            <a:off x="6675120" y="3534486"/>
            <a:ext cx="4830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Pad 수명 요구치 ≥ 5,475회 파지 (분기 교체 가정 충족 조건)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75120" y="3845382"/>
            <a:ext cx="483077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1세대 5년 기여이익 민감도 (만원)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5120" y="4137990"/>
            <a:ext cx="21031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Robot ASP (WTP) ±20%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281160" y="4165422"/>
            <a:ext cx="838047" cy="146304"/>
          </a:xfrm>
          <a:prstGeom prst="rect">
            <a:avLst/>
          </a:prstGeom>
          <a:solidFill>
            <a:srgbClr val="A9AE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0119207" y="4165422"/>
            <a:ext cx="838047" cy="146304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23960" y="4137990"/>
            <a:ext cx="420624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-286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93831" y="413799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+286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75120" y="4384878"/>
            <a:ext cx="21031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Robot BOM ±20%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427865" y="4412310"/>
            <a:ext cx="691342" cy="146304"/>
          </a:xfrm>
          <a:prstGeom prst="rect">
            <a:avLst/>
          </a:prstGeom>
          <a:solidFill>
            <a:srgbClr val="A9AE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0119207" y="4412310"/>
            <a:ext cx="691342" cy="146304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970665" y="4384878"/>
            <a:ext cx="420624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-236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847125" y="4384878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+236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675120" y="4631766"/>
            <a:ext cx="21031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Interface 가격 ±20%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855560" y="4659198"/>
            <a:ext cx="263647" cy="146304"/>
          </a:xfrm>
          <a:prstGeom prst="rect">
            <a:avLst/>
          </a:prstGeom>
          <a:solidFill>
            <a:srgbClr val="A9AE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0119207" y="4659198"/>
            <a:ext cx="263647" cy="146304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398360" y="4631766"/>
            <a:ext cx="420624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-90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419431" y="4631766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+90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675120" y="4878654"/>
            <a:ext cx="21031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직접판매 획득비용 ±50%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899501" y="4906086"/>
            <a:ext cx="219706" cy="146304"/>
          </a:xfrm>
          <a:prstGeom prst="rect">
            <a:avLst/>
          </a:prstGeom>
          <a:solidFill>
            <a:srgbClr val="A9AE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0119207" y="4906086"/>
            <a:ext cx="219706" cy="146304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442301" y="4878654"/>
            <a:ext cx="420624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-75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375489" y="4878654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+75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675120" y="5125542"/>
            <a:ext cx="21031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Failure Rate 1.2 ↔ 0.3회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873722" y="5152974"/>
            <a:ext cx="245485" cy="146304"/>
          </a:xfrm>
          <a:prstGeom prst="rect">
            <a:avLst/>
          </a:prstGeom>
          <a:solidFill>
            <a:srgbClr val="A9AE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0119207" y="5152974"/>
            <a:ext cx="144566" cy="146304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416522" y="5125542"/>
            <a:ext cx="420624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-84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300350" y="512554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+49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10119207" y="4119702"/>
            <a:ext cx="0" cy="1234440"/>
          </a:xfrm>
          <a:prstGeom prst="line">
            <a:avLst/>
          </a:prstGeom>
          <a:ln w="9525">
            <a:solidFill>
              <a:srgbClr val="15171A"/>
            </a:solidFill>
          </a:ln>
        </p:spPr>
      </p:cxnSp>
      <p:sp>
        <p:nvSpPr>
          <p:cNvPr id="65" name="Rectangle 64"/>
          <p:cNvSpPr/>
          <p:nvPr/>
        </p:nvSpPr>
        <p:spPr>
          <a:xfrm>
            <a:off x="685800" y="5449824"/>
            <a:ext cx="1082009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15171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68680" y="5449824"/>
            <a:ext cx="1045433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Moat = 단일 특허가 아닌 축적  </a:t>
            </a:r>
            <a:r>
              <a:rPr sz="10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① 주방 물체 Grasp Data · Skill Library  ② Calibration 절차 · Interface 표준 (설치시간)  ③ Installed Base · Care Data  ④ 출원 예정 IP</a:t>
            </a:r>
            <a:r>
              <a:rPr sz="10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   (TARGET)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" y="6126480"/>
            <a:ext cx="10820095" cy="1837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인시 = 설치 원가 ÷ 설치 엔지니어 시간당 원가 약 3.3만원 (연 6,600만원 기준) · 민감도 = Remodeling 구매 1세대 · Y3 원가 · 기준 428만원 (부록 D5)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2026.10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20624"/>
            <a:ext cx="9601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15  IP / Competition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76656"/>
            <a:ext cx="10820095" cy="473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경쟁 구도: 차별화 = 주방 적용 방식, 실증으로 입증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04849"/>
            <a:ext cx="10820095" cy="2481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가전사 · 가구사 직접 진입 가능 (LG CLOiD 2028 목표) → Interface · 시공 Partner 후보로 설계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599310"/>
          <a:ext cx="6903720" cy="3033689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783080"/>
                <a:gridCol w="1188720"/>
                <a:gridCol w="1188720"/>
                <a:gridCol w="1463040"/>
                <a:gridCol w="1280160"/>
              </a:tblGrid>
              <a:tr h="2715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물체 Handling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Task 범위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주방 적응 · 설치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반복매출 · 확장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43338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Kitchen Appliance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삼성 · LG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기기 내부만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세척 · 가열 · 보관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가전 설치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구독 · Care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(LG 2조원+)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3338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Cooking Robot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Moley · Posha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조리 도구 · 재료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조리 중심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전용 주방 (£248k) · 조리대 기기 ($1,750)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레시피 · 월 구독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59521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Humanoid · Mobile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1X NEO · Figure · Sunday · LG CLOiD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범용 손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가사 전반 시연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설치 불필요 · 모델 학습 중심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구독 ($499/월) · 출시 전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3338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Cobot + Gripper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UR · Doosan + Robotiq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상용 Gripper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산업 작업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Integrator 맞춤 구축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부품 판매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3338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Kitchen Furniture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한샘 · 리바트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수납 · 빌트인 가전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주방 시공 (로봇 협업 보도 없음)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시공 매출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3338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MH 목표 Position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Kitchen Hand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(식기 · 도구)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CLEAN → ASSIST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→ COOK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Calibration + 최소 Interface · 공사 연계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Care · 소모품 · Skill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863840" y="1599310"/>
          <a:ext cx="3642055" cy="2762135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60120"/>
                <a:gridCol w="1538935"/>
                <a:gridCol w="685800"/>
                <a:gridCol w="457200"/>
              </a:tblGrid>
              <a:tr h="2715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영역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출원 후보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선행 Risk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순위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59521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Hand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Food-contact Module (1) · Adaptive Finger (2) · Compliance (3)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중~상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59521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Calibration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Task Coordinate Calibration (1) · Kitchen Mapping (2)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59521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Interface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Home (2) · Appliance Interface (2) · Tool Dock (3)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3338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Manipulation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식기 Handling (2) · Failure Recovery (3)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715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Safety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Zone Control (3)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중~상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863840" y="4416313"/>
            <a:ext cx="364205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선행: Dishcare US 11,731,282 · Dishcraft US 10,507,584 · 주방 Rail Arm US 7,751,938 · 수납장 로봇 US 12,275,130 · Schmalz OFG · 24개월 출원 5건 + PCT 1건 (TARGET, 등록 미정)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413248"/>
            <a:ext cx="10820095" cy="603504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5413248"/>
            <a:ext cx="10454335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Humanoid = 위협만이 아님  </a:t>
            </a:r>
            <a:r>
              <a:rPr sz="950" b="0">
                <a:solidFill>
                  <a:srgbClr val="D5D8DC"/>
                </a:solidFill>
                <a:latin typeface="Noto Sans KR"/>
                <a:ea typeface="Noto Sans KR"/>
                <a:cs typeface="Noto Sans KR"/>
              </a:rPr>
              <a:t>공개 범용 모델 (openpi π0 · π0.5) → MH Manipulation Layer 활용 가능 · MH Interface · Skill · Calibration → 다른 Robot Platform에도 적용 · 가격 ($20,000) · 낮은 작업점 Reach 등 가정 설치 제약 → 공간 Integration으로 보완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126480"/>
            <a:ext cx="10820095" cy="1837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출처 [S19~S25 · S41 · S45 · S46 · S49~S51] · 비교 축 = 접근 방식 (공개 자료) · 특허 = 출원 후보 (등록 미정)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2026.10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20624"/>
            <a:ext cx="9601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16  TIPS R&amp;D / 24개월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76656"/>
            <a:ext cx="10820095" cy="473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TIPS = 기술 검증 (WP1~6) · Seed = 사업 검증 · 과제 외 개발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04849"/>
            <a:ext cx="10820095" cy="2481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TIPS 과제 10.67억원 = WP1~6 기술 검증 · Seed = 기관부담금 · 과제 외 인건비 · 고객 · 실증 · 사업 검증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599310"/>
            <a:ext cx="5272887" cy="1060704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81607"/>
            <a:ext cx="49071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TIPS 과제  ·  기술 검증 (Technology De-risking)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992503"/>
            <a:ext cx="245356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E3E5E8"/>
                </a:solidFill>
                <a:latin typeface="Noto Sans KR"/>
                <a:ea typeface="Noto Sans KR"/>
                <a:cs typeface="Noto Sans KR"/>
              </a:rPr>
              <a:t>WP1 Adaptive Kitchen Robot Hand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13683" y="1992503"/>
            <a:ext cx="245356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E3E5E8"/>
                </a:solidFill>
                <a:latin typeface="Noto Sans KR"/>
                <a:ea typeface="Noto Sans KR"/>
                <a:cs typeface="Noto Sans KR"/>
              </a:rPr>
              <a:t>WP2 Kitchen Manipulation Skill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211959"/>
            <a:ext cx="245356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E3E5E8"/>
                </a:solidFill>
                <a:latin typeface="Noto Sans KR"/>
                <a:ea typeface="Noto Sans KR"/>
                <a:cs typeface="Noto Sans KR"/>
              </a:rPr>
              <a:t>WP3 Perception / Calibration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13683" y="2211959"/>
            <a:ext cx="245356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E3E5E8"/>
                </a:solidFill>
                <a:latin typeface="Noto Sans KR"/>
                <a:ea typeface="Noto Sans KR"/>
                <a:cs typeface="Noto Sans KR"/>
              </a:rPr>
              <a:t>WP4 Minimal Environment Interface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431415"/>
            <a:ext cx="245356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E3E5E8"/>
                </a:solidFill>
                <a:latin typeface="Noto Sans KR"/>
                <a:ea typeface="Noto Sans KR"/>
                <a:cs typeface="Noto Sans KR"/>
              </a:rPr>
              <a:t>WP5 Human-Robot Safety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13683" y="2431415"/>
            <a:ext cx="245356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E3E5E8"/>
                </a:solidFill>
                <a:latin typeface="Noto Sans KR"/>
                <a:ea typeface="Noto Sans KR"/>
                <a:cs typeface="Noto Sans KR"/>
              </a:rPr>
              <a:t>WP6 Integrated CLEAN 실증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007" y="1599310"/>
            <a:ext cx="5272887" cy="1060704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5887" y="1681607"/>
            <a:ext cx="49071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민간 Seed  ·  사업 검증 (Commercial Validation)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5887" y="1992503"/>
            <a:ext cx="245356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과제 외 인건비 (사업 · 현장 · 지원)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0891" y="1992503"/>
            <a:ext cx="245356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목업 · 시제품 운영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5887" y="2211959"/>
            <a:ext cx="245356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고객 검증 · WTP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0891" y="2211959"/>
            <a:ext cx="245356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Pilot 운영 · 유료 전환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15887" y="2431415"/>
            <a:ext cx="245356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Partner 개발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0891" y="2431415"/>
            <a:ext cx="245356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BM 검증 · 기관부담금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2824606"/>
            <a:ext cx="2609011" cy="274320"/>
          </a:xfrm>
          <a:prstGeom prst="rect">
            <a:avLst/>
          </a:prstGeom>
          <a:solidFill>
            <a:srgbClr val="3A3F4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2824606"/>
            <a:ext cx="260901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0~6M</a:t>
            </a:r>
          </a:p>
        </p:txBody>
      </p:sp>
      <p:pic>
        <p:nvPicPr>
          <p:cNvPr id="23" name="Picture 22" descr="hand_hero_bmpad_120_48_light_92x126_50_50_10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098926"/>
            <a:ext cx="845286" cy="1152144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731520" y="3144646"/>
            <a:ext cx="435862" cy="12801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44646"/>
            <a:ext cx="43586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pic>
        <p:nvPicPr>
          <p:cNvPr id="26" name="Picture 25" descr="hand_plate_light_92x126_47_45_11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67662" y="3098926"/>
            <a:ext cx="845286" cy="1152144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1613382" y="3144646"/>
            <a:ext cx="435862" cy="12801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613382" y="3144646"/>
            <a:ext cx="43586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pic>
        <p:nvPicPr>
          <p:cNvPr id="29" name="Picture 28" descr="hand_cup_light_92x126_60_47_12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49525" y="3098926"/>
            <a:ext cx="845286" cy="1152144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2495245" y="3144646"/>
            <a:ext cx="435862" cy="12801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95245" y="3144646"/>
            <a:ext cx="43586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" y="4251071"/>
            <a:ext cx="2609011" cy="96012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3816" y="4324223"/>
            <a:ext cx="23529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82880" indent="-182880">
              <a:lnSpc>
                <a:spcPct val="95000"/>
              </a:lnSpc>
              <a:spcAft>
                <a:spcPts val="100"/>
              </a:spcAft>
              <a:buClr>
                <a:srgbClr val="8C9198"/>
              </a:buClr>
              <a:buFont typeface="Noto Sans KR"/>
              <a:buChar char="–"/>
            </a:pPr>
            <a:r>
              <a:rPr sz="9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주방 작업 분석</a:t>
            </a:r>
          </a:p>
          <a:p>
            <a:pPr algn="l" marL="182880" indent="-182880">
              <a:lnSpc>
                <a:spcPct val="95000"/>
              </a:lnSpc>
              <a:spcAft>
                <a:spcPts val="100"/>
              </a:spcAft>
              <a:buClr>
                <a:srgbClr val="8C9198"/>
              </a:buClr>
              <a:buFont typeface="Noto Sans KR"/>
              <a:buChar char="–"/>
            </a:pPr>
            <a:r>
              <a:rPr sz="9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Robot 구조 설계</a:t>
            </a:r>
          </a:p>
          <a:p>
            <a:pPr algn="l" marL="182880" indent="-182880">
              <a:lnSpc>
                <a:spcPct val="95000"/>
              </a:lnSpc>
              <a:spcAft>
                <a:spcPts val="100"/>
              </a:spcAft>
              <a:buClr>
                <a:srgbClr val="8C9198"/>
              </a:buClr>
              <a:buFont typeface="Noto Sans KR"/>
              <a:buChar char="–"/>
            </a:pPr>
            <a:r>
              <a:rPr sz="9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Hand 시제품 v1</a:t>
            </a:r>
          </a:p>
          <a:p>
            <a:pPr algn="l" marL="182880" indent="-182880">
              <a:lnSpc>
                <a:spcPct val="95000"/>
              </a:lnSpc>
              <a:spcAft>
                <a:spcPts val="100"/>
              </a:spcAft>
              <a:buClr>
                <a:srgbClr val="8C9198"/>
              </a:buClr>
              <a:buFont typeface="Noto Sans KR"/>
              <a:buChar char="–"/>
            </a:pPr>
            <a:r>
              <a:rPr sz="9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식기 30종 파지 시험</a:t>
            </a:r>
          </a:p>
          <a:p>
            <a:pPr algn="l" marL="182880" indent="-182880">
              <a:lnSpc>
                <a:spcPct val="95000"/>
              </a:lnSpc>
              <a:buClr>
                <a:srgbClr val="8C9198"/>
              </a:buClr>
              <a:buFont typeface="Noto Sans KR"/>
              <a:buChar char="–"/>
            </a:pPr>
            <a:r>
              <a:rPr sz="9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초기 Calibration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422827" y="2824606"/>
            <a:ext cx="2609011" cy="274320"/>
          </a:xfrm>
          <a:prstGeom prst="rect">
            <a:avLst/>
          </a:prstGeom>
          <a:solidFill>
            <a:srgbClr val="3A3F4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22827" y="2824606"/>
            <a:ext cx="260901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7~12M</a:t>
            </a:r>
          </a:p>
        </p:txBody>
      </p:sp>
      <p:pic>
        <p:nvPicPr>
          <p:cNvPr id="36" name="Picture 35" descr="v2_cover_light_285x126_56_53_14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22827" y="3098926"/>
            <a:ext cx="2609011" cy="1152144"/>
          </a:xfrm>
          <a:prstGeom prst="rect">
            <a:avLst/>
          </a:prstGeom>
        </p:spPr>
      </p:pic>
      <p:sp>
        <p:nvSpPr>
          <p:cNvPr id="37" name="Rectangle 36"/>
          <p:cNvSpPr/>
          <p:nvPr/>
        </p:nvSpPr>
        <p:spPr>
          <a:xfrm>
            <a:off x="3468547" y="3144646"/>
            <a:ext cx="435862" cy="12801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468547" y="3144646"/>
            <a:ext cx="43586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422827" y="4251071"/>
            <a:ext cx="2609011" cy="96012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550843" y="4324223"/>
            <a:ext cx="23529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82880" indent="-182880">
              <a:lnSpc>
                <a:spcPct val="95000"/>
              </a:lnSpc>
              <a:spcAft>
                <a:spcPts val="100"/>
              </a:spcAft>
              <a:buClr>
                <a:srgbClr val="8C9198"/>
              </a:buClr>
              <a:buFont typeface="Noto Sans KR"/>
              <a:buChar char="–"/>
            </a:pPr>
            <a:r>
              <a:rPr sz="9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CLEAN Skill</a:t>
            </a:r>
          </a:p>
          <a:p>
            <a:pPr algn="l" marL="182880" indent="-182880">
              <a:lnSpc>
                <a:spcPct val="95000"/>
              </a:lnSpc>
              <a:spcAft>
                <a:spcPts val="100"/>
              </a:spcAft>
              <a:buClr>
                <a:srgbClr val="8C9198"/>
              </a:buClr>
              <a:buFont typeface="Noto Sans KR"/>
              <a:buChar char="–"/>
            </a:pPr>
            <a:r>
              <a:rPr sz="9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식세기 연동</a:t>
            </a:r>
          </a:p>
          <a:p>
            <a:pPr algn="l" marL="182880" indent="-182880">
              <a:lnSpc>
                <a:spcPct val="95000"/>
              </a:lnSpc>
              <a:spcAft>
                <a:spcPts val="100"/>
              </a:spcAft>
              <a:buClr>
                <a:srgbClr val="8C9198"/>
              </a:buClr>
              <a:buFont typeface="Noto Sans KR"/>
              <a:buChar char="–"/>
            </a:pPr>
            <a:r>
              <a:rPr sz="9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Hand v2 · 안전 기능</a:t>
            </a:r>
          </a:p>
          <a:p>
            <a:pPr algn="l" marL="182880" indent="-182880">
              <a:lnSpc>
                <a:spcPct val="95000"/>
              </a:lnSpc>
              <a:spcAft>
                <a:spcPts val="100"/>
              </a:spcAft>
              <a:buClr>
                <a:srgbClr val="8C9198"/>
              </a:buClr>
              <a:buFont typeface="Noto Sans KR"/>
              <a:buChar char="–"/>
            </a:pPr>
            <a:r>
              <a:rPr sz="9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1:1 주방 목업</a:t>
            </a:r>
          </a:p>
          <a:p>
            <a:pPr algn="l" marL="182880" indent="-182880">
              <a:lnSpc>
                <a:spcPct val="95000"/>
              </a:lnSpc>
              <a:buClr>
                <a:srgbClr val="8C9198"/>
              </a:buClr>
              <a:buFont typeface="Noto Sans KR"/>
              <a:buChar char="–"/>
            </a:pPr>
            <a:r>
              <a:rPr sz="9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목업 CLEAN 전 과정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59855" y="2824606"/>
            <a:ext cx="2609011" cy="274320"/>
          </a:xfrm>
          <a:prstGeom prst="rect">
            <a:avLst/>
          </a:prstGeom>
          <a:solidFill>
            <a:srgbClr val="3A3F4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159855" y="2824606"/>
            <a:ext cx="260901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13~18M</a:t>
            </a:r>
          </a:p>
        </p:txBody>
      </p:sp>
      <p:pic>
        <p:nvPicPr>
          <p:cNvPr id="43" name="Picture 42" descr="apt2_kitchen_light_92x126_50_40_13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59855" y="3098926"/>
            <a:ext cx="845286" cy="1152144"/>
          </a:xfrm>
          <a:prstGeom prst="rect">
            <a:avLst/>
          </a:prstGeom>
        </p:spPr>
      </p:pic>
      <p:sp>
        <p:nvSpPr>
          <p:cNvPr id="44" name="Rectangle 43"/>
          <p:cNvSpPr/>
          <p:nvPr/>
        </p:nvSpPr>
        <p:spPr>
          <a:xfrm>
            <a:off x="6205575" y="3144646"/>
            <a:ext cx="435862" cy="12801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05575" y="3144646"/>
            <a:ext cx="43586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pic>
        <p:nvPicPr>
          <p:cNvPr id="46" name="Picture 45" descr="apt3_kitchen_light_92x126_55_40_13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41718" y="3098926"/>
            <a:ext cx="845286" cy="1152144"/>
          </a:xfrm>
          <a:prstGeom prst="rect">
            <a:avLst/>
          </a:prstGeom>
        </p:spPr>
      </p:pic>
      <p:sp>
        <p:nvSpPr>
          <p:cNvPr id="47" name="Rectangle 46"/>
          <p:cNvSpPr/>
          <p:nvPr/>
        </p:nvSpPr>
        <p:spPr>
          <a:xfrm>
            <a:off x="7087438" y="3144646"/>
            <a:ext cx="435862" cy="12801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087438" y="3144646"/>
            <a:ext cx="43586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pic>
        <p:nvPicPr>
          <p:cNvPr id="49" name="Picture 48" descr="apt4_kitchen_light_92x126_62_42_130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23580" y="3098926"/>
            <a:ext cx="845286" cy="1152144"/>
          </a:xfrm>
          <a:prstGeom prst="rect">
            <a:avLst/>
          </a:prstGeom>
        </p:spPr>
      </p:pic>
      <p:sp>
        <p:nvSpPr>
          <p:cNvPr id="50" name="Rectangle 49"/>
          <p:cNvSpPr/>
          <p:nvPr/>
        </p:nvSpPr>
        <p:spPr>
          <a:xfrm>
            <a:off x="7969300" y="3144646"/>
            <a:ext cx="435862" cy="12801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969300" y="3144646"/>
            <a:ext cx="43586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59855" y="4251071"/>
            <a:ext cx="2609011" cy="96012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287871" y="4324223"/>
            <a:ext cx="23529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82880" indent="-182880">
              <a:lnSpc>
                <a:spcPct val="95000"/>
              </a:lnSpc>
              <a:spcAft>
                <a:spcPts val="100"/>
              </a:spcAft>
              <a:buClr>
                <a:srgbClr val="8C9198"/>
              </a:buClr>
              <a:buFont typeface="Noto Sans KR"/>
              <a:buChar char="–"/>
            </a:pPr>
            <a:r>
              <a:rPr sz="9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주방 3종 적용</a:t>
            </a:r>
          </a:p>
          <a:p>
            <a:pPr algn="l" marL="182880" indent="-182880">
              <a:lnSpc>
                <a:spcPct val="95000"/>
              </a:lnSpc>
              <a:spcAft>
                <a:spcPts val="100"/>
              </a:spcAft>
              <a:buClr>
                <a:srgbClr val="8C9198"/>
              </a:buClr>
              <a:buFont typeface="Noto Sans KR"/>
              <a:buChar char="–"/>
            </a:pPr>
            <a:r>
              <a:rPr sz="9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주방 간 Transfer 시험</a:t>
            </a:r>
          </a:p>
          <a:p>
            <a:pPr algn="l" marL="182880" indent="-182880">
              <a:lnSpc>
                <a:spcPct val="95000"/>
              </a:lnSpc>
              <a:spcAft>
                <a:spcPts val="100"/>
              </a:spcAft>
              <a:buClr>
                <a:srgbClr val="8C9198"/>
              </a:buClr>
              <a:buFont typeface="Noto Sans KR"/>
              <a:buChar char="–"/>
            </a:pPr>
            <a:r>
              <a:rPr sz="9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실패 복구</a:t>
            </a:r>
          </a:p>
          <a:p>
            <a:pPr algn="l" marL="182880" indent="-182880">
              <a:lnSpc>
                <a:spcPct val="95000"/>
              </a:lnSpc>
              <a:spcAft>
                <a:spcPts val="100"/>
              </a:spcAft>
              <a:buClr>
                <a:srgbClr val="8C9198"/>
              </a:buClr>
              <a:buFont typeface="Noto Sans KR"/>
              <a:buChar char="–"/>
            </a:pPr>
            <a:r>
              <a:rPr sz="9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Pilot 착수</a:t>
            </a:r>
          </a:p>
          <a:p>
            <a:pPr algn="l" marL="182880" indent="-182880">
              <a:lnSpc>
                <a:spcPct val="95000"/>
              </a:lnSpc>
              <a:buClr>
                <a:srgbClr val="8C9198"/>
              </a:buClr>
              <a:buFont typeface="Noto Sans KR"/>
              <a:buChar char="–"/>
            </a:pPr>
            <a:r>
              <a:rPr sz="9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WTP 검증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896883" y="2824606"/>
            <a:ext cx="2609011" cy="274320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896883" y="2824606"/>
            <a:ext cx="260901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19~24M</a:t>
            </a:r>
          </a:p>
        </p:txBody>
      </p:sp>
      <p:pic>
        <p:nvPicPr>
          <p:cNvPr id="56" name="Picture 55" descr="v2_after_light_285x126_55_45_100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96883" y="3098926"/>
            <a:ext cx="2609011" cy="1152144"/>
          </a:xfrm>
          <a:prstGeom prst="rect">
            <a:avLst/>
          </a:prstGeom>
        </p:spPr>
      </p:pic>
      <p:sp>
        <p:nvSpPr>
          <p:cNvPr id="57" name="Rectangle 56"/>
          <p:cNvSpPr/>
          <p:nvPr/>
        </p:nvSpPr>
        <p:spPr>
          <a:xfrm>
            <a:off x="8942603" y="3144646"/>
            <a:ext cx="435862" cy="12801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942603" y="3144646"/>
            <a:ext cx="43586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896883" y="4251071"/>
            <a:ext cx="2609011" cy="96012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024899" y="4324223"/>
            <a:ext cx="23529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82880" indent="-182880">
              <a:lnSpc>
                <a:spcPct val="95000"/>
              </a:lnSpc>
              <a:spcAft>
                <a:spcPts val="100"/>
              </a:spcAft>
              <a:buClr>
                <a:srgbClr val="8C9198"/>
              </a:buClr>
              <a:buFont typeface="Noto Sans KR"/>
              <a:buChar char="–"/>
            </a:pPr>
            <a:r>
              <a:rPr sz="9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신뢰성 (연속 운전)</a:t>
            </a:r>
          </a:p>
          <a:p>
            <a:pPr algn="l" marL="182880" indent="-182880">
              <a:lnSpc>
                <a:spcPct val="95000"/>
              </a:lnSpc>
              <a:spcAft>
                <a:spcPts val="100"/>
              </a:spcAft>
              <a:buClr>
                <a:srgbClr val="8C9198"/>
              </a:buClr>
              <a:buFont typeface="Noto Sans KR"/>
              <a:buChar char="–"/>
            </a:pPr>
            <a:r>
              <a:rPr sz="9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설치 표준</a:t>
            </a:r>
          </a:p>
          <a:p>
            <a:pPr algn="l" marL="182880" indent="-182880">
              <a:lnSpc>
                <a:spcPct val="95000"/>
              </a:lnSpc>
              <a:spcAft>
                <a:spcPts val="100"/>
              </a:spcAft>
              <a:buClr>
                <a:srgbClr val="8C9198"/>
              </a:buClr>
              <a:buFont typeface="Noto Sans KR"/>
              <a:buChar char="–"/>
            </a:pPr>
            <a:r>
              <a:rPr sz="9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가정 실증 3세대</a:t>
            </a:r>
          </a:p>
          <a:p>
            <a:pPr algn="l" marL="182880" indent="-182880">
              <a:lnSpc>
                <a:spcPct val="95000"/>
              </a:lnSpc>
              <a:spcAft>
                <a:spcPts val="100"/>
              </a:spcAft>
              <a:buClr>
                <a:srgbClr val="8C9198"/>
              </a:buClr>
              <a:buFont typeface="Noto Sans KR"/>
              <a:buChar char="–"/>
            </a:pPr>
            <a:r>
              <a:rPr sz="9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BOM · 설치 · 서비스 원가</a:t>
            </a:r>
          </a:p>
          <a:p>
            <a:pPr algn="l" marL="182880" indent="-182880">
              <a:lnSpc>
                <a:spcPct val="95000"/>
              </a:lnSpc>
              <a:buClr>
                <a:srgbClr val="8C9198"/>
              </a:buClr>
              <a:buFont typeface="Noto Sans KR"/>
              <a:buChar char="–"/>
            </a:pPr>
            <a:r>
              <a:rPr sz="9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유료 실증 · Partner 조건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85800" y="5339206"/>
            <a:ext cx="2609011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95528" y="5384926"/>
            <a:ext cx="548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M6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95528" y="5604382"/>
            <a:ext cx="2389555" cy="356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상용 Gripper 대비 Hand 비교 (30종) → Build / Buy 결정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422827" y="5339206"/>
            <a:ext cx="2609011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532555" y="5384926"/>
            <a:ext cx="548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M12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532555" y="5604382"/>
            <a:ext cx="2389555" cy="356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목업 CLEAN 전 과정 · 식기 성공률 ≥ 80%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9855" y="5339206"/>
            <a:ext cx="2609011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69583" y="5384926"/>
            <a:ext cx="548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M18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269583" y="5604382"/>
            <a:ext cx="2389555" cy="356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주방 3종 Transfer (하락 ≤ 10%p) · WTP n≥300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896883" y="5339206"/>
            <a:ext cx="2609011" cy="640080"/>
          </a:xfrm>
          <a:prstGeom prst="rect">
            <a:avLst/>
          </a:prstGeom>
          <a:solidFill>
            <a:srgbClr val="FFFFFF"/>
          </a:solidFill>
          <a:ln w="15875">
            <a:solidFill>
              <a:srgbClr val="15171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006611" y="5384926"/>
            <a:ext cx="548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M24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006611" y="5604382"/>
            <a:ext cx="2389555" cy="356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가정 3세대 성공률 ≥ 90% · 유료 전환 ≥ 2세대 · 원가 실측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0820095" y="5119750"/>
            <a:ext cx="427880" cy="155448"/>
          </a:xfrm>
          <a:prstGeom prst="rect">
            <a:avLst/>
          </a:prstGeom>
          <a:noFill/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0820095" y="5119750"/>
            <a:ext cx="427880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TARGET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85800" y="6126480"/>
            <a:ext cx="10820095" cy="1837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TIPS 2026 일반트랙: 정부 R&amp;D 최대 8억원 · 24개월 · 정부 75% 이내 · 기관부담 25% 이상 [S33 · S52] · KPI: 부록 A1~A3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2026.10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20624"/>
            <a:ext cx="9601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17  Founder / 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76656"/>
            <a:ext cx="10820095" cy="473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Founder / Team: 필요 핵심 역량 3개 · 24개월 채용 계획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04849"/>
            <a:ext cx="10820095" cy="2481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필요 역량 = 로봇 조작 (Hand · Skill) · 주방 · 건축 설치 · 고객 · Partner 영업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599310"/>
          <a:ext cx="6035040" cy="22022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072384"/>
                <a:gridCol w="1316736"/>
                <a:gridCol w="1645920"/>
              </a:tblGrid>
              <a:tr h="2752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확인 항목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Founder 1 (대표)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Founder 2 (확보 여부 확인)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2752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Why This Problem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4A4F57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[Founder 정보 필요]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4A4F57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[Founder 정보 필요]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752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Relevant Engineering Experience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4A4F57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[Founder 정보 필요]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4A4F57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[Founder 정보 필요]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752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Hardware / Product Development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4A4F57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[Founder 정보 필요]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4A4F57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[Founder 정보 필요]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752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· Mechanical · AI Capability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4A4F57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[Founder 정보 필요]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4A4F57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[Founder 정보 필요]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752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Construction · Kitchen · Manufacturing Knowledge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4A4F57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[Founder 정보 필요]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4A4F57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[Founder 정보 필요]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752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Customer / Partner Network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4A4F57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[Founder 정보 필요]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4A4F57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[Founder 정보 필요]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752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Full-time Commitment · 지분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4A4F57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[Founder 정보 필요]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4A4F57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[Founder 정보 필요]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4030192"/>
            <a:ext cx="154775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월별 인원 (FTE · M1~M24)</a:t>
            </a:r>
          </a:p>
        </p:txBody>
      </p:sp>
      <p:sp>
        <p:nvSpPr>
          <p:cNvPr id="7" name="Rectangle 6"/>
          <p:cNvSpPr/>
          <p:nvPr/>
        </p:nvSpPr>
        <p:spPr>
          <a:xfrm>
            <a:off x="2297560" y="4062196"/>
            <a:ext cx="652984" cy="155448"/>
          </a:xfrm>
          <a:prstGeom prst="rect">
            <a:avLst/>
          </a:prstGeom>
          <a:noFill/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97560" y="4062196"/>
            <a:ext cx="652984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ASSUMPTION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3224865" y="4085056"/>
            <a:ext cx="109728" cy="109728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80313" y="4039336"/>
            <a:ext cx="43475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Founder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61370" y="4085056"/>
            <a:ext cx="109728" cy="109728"/>
          </a:xfrm>
          <a:prstGeom prst="rect">
            <a:avLst/>
          </a:prstGeom>
          <a:solidFill>
            <a:srgbClr val="4A4F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6818" y="4039336"/>
            <a:ext cx="240077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R&amp;D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03199" y="4085056"/>
            <a:ext cx="109728" cy="109728"/>
          </a:xfrm>
          <a:prstGeom prst="rect">
            <a:avLst/>
          </a:prstGeom>
          <a:solidFill>
            <a:srgbClr val="757A8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58647" y="4039336"/>
            <a:ext cx="2235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사업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8471" y="4085056"/>
            <a:ext cx="109728" cy="109728"/>
          </a:xfrm>
          <a:prstGeom prst="rect">
            <a:avLst/>
          </a:prstGeom>
          <a:solidFill>
            <a:srgbClr val="A3A8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83919" y="4039336"/>
            <a:ext cx="2235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현장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553743" y="4085056"/>
            <a:ext cx="109728" cy="109728"/>
          </a:xfrm>
          <a:prstGeom prst="rect">
            <a:avLst/>
          </a:prstGeom>
          <a:solidFill>
            <a:srgbClr val="D5D8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9191" y="4039336"/>
            <a:ext cx="410464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경영지원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4784909"/>
            <a:ext cx="3017520" cy="0"/>
          </a:xfrm>
          <a:prstGeom prst="line">
            <a:avLst/>
          </a:prstGeom>
          <a:ln w="11430">
            <a:solidFill>
              <a:srgbClr val="15171A"/>
            </a:solidFill>
          </a:ln>
        </p:spPr>
      </p:cxnSp>
      <p:sp>
        <p:nvSpPr>
          <p:cNvPr id="20" name="TextBox 19"/>
          <p:cNvSpPr txBox="1"/>
          <p:nvPr/>
        </p:nvSpPr>
        <p:spPr>
          <a:xfrm>
            <a:off x="685800" y="4602029"/>
            <a:ext cx="768207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Y1 평균 FTE 7.0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703320" y="4453449"/>
            <a:ext cx="3017520" cy="0"/>
          </a:xfrm>
          <a:prstGeom prst="line">
            <a:avLst/>
          </a:prstGeom>
          <a:ln w="11430">
            <a:solidFill>
              <a:srgbClr val="15171A"/>
            </a:solidFill>
          </a:ln>
        </p:spPr>
      </p:cxnSp>
      <p:sp>
        <p:nvSpPr>
          <p:cNvPr id="22" name="TextBox 21"/>
          <p:cNvSpPr txBox="1"/>
          <p:nvPr/>
        </p:nvSpPr>
        <p:spPr>
          <a:xfrm>
            <a:off x="2838592" y="4375725"/>
            <a:ext cx="828151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Y2 평균 FTE 12.8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3519" y="5077659"/>
            <a:ext cx="176021" cy="116132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23519" y="5019593"/>
            <a:ext cx="176021" cy="47093"/>
          </a:xfrm>
          <a:prstGeom prst="rect">
            <a:avLst/>
          </a:prstGeom>
          <a:solidFill>
            <a:srgbClr val="4A4F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74978" y="5077659"/>
            <a:ext cx="176021" cy="116132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74978" y="4903461"/>
            <a:ext cx="176021" cy="163225"/>
          </a:xfrm>
          <a:prstGeom prst="rect">
            <a:avLst/>
          </a:prstGeom>
          <a:solidFill>
            <a:srgbClr val="4A4F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226438" y="5077659"/>
            <a:ext cx="176021" cy="116132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226438" y="4903461"/>
            <a:ext cx="176021" cy="163225"/>
          </a:xfrm>
          <a:prstGeom prst="rect">
            <a:avLst/>
          </a:prstGeom>
          <a:solidFill>
            <a:srgbClr val="4A4F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477899" y="5077659"/>
            <a:ext cx="176021" cy="116132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477899" y="4845395"/>
            <a:ext cx="176021" cy="221291"/>
          </a:xfrm>
          <a:prstGeom prst="rect">
            <a:avLst/>
          </a:prstGeom>
          <a:solidFill>
            <a:srgbClr val="4A4F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729359" y="5077659"/>
            <a:ext cx="176021" cy="116132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729359" y="4845395"/>
            <a:ext cx="176021" cy="221291"/>
          </a:xfrm>
          <a:prstGeom prst="rect">
            <a:avLst/>
          </a:prstGeom>
          <a:solidFill>
            <a:srgbClr val="4A4F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980818" y="5077659"/>
            <a:ext cx="176021" cy="116132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980818" y="4787329"/>
            <a:ext cx="176021" cy="279357"/>
          </a:xfrm>
          <a:prstGeom prst="rect">
            <a:avLst/>
          </a:prstGeom>
          <a:solidFill>
            <a:srgbClr val="4A4F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32278" y="5077659"/>
            <a:ext cx="176021" cy="116132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232278" y="4787329"/>
            <a:ext cx="176021" cy="279357"/>
          </a:xfrm>
          <a:prstGeom prst="rect">
            <a:avLst/>
          </a:prstGeom>
          <a:solidFill>
            <a:srgbClr val="4A4F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232278" y="4729263"/>
            <a:ext cx="176021" cy="47093"/>
          </a:xfrm>
          <a:prstGeom prst="rect">
            <a:avLst/>
          </a:prstGeom>
          <a:solidFill>
            <a:srgbClr val="757A8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483738" y="5077659"/>
            <a:ext cx="176021" cy="116132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483738" y="4787329"/>
            <a:ext cx="176021" cy="279357"/>
          </a:xfrm>
          <a:prstGeom prst="rect">
            <a:avLst/>
          </a:prstGeom>
          <a:solidFill>
            <a:srgbClr val="4A4F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483738" y="4729263"/>
            <a:ext cx="176021" cy="47093"/>
          </a:xfrm>
          <a:prstGeom prst="rect">
            <a:avLst/>
          </a:prstGeom>
          <a:solidFill>
            <a:srgbClr val="757A8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735198" y="5077659"/>
            <a:ext cx="176021" cy="116132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735198" y="4787329"/>
            <a:ext cx="176021" cy="279357"/>
          </a:xfrm>
          <a:prstGeom prst="rect">
            <a:avLst/>
          </a:prstGeom>
          <a:solidFill>
            <a:srgbClr val="4A4F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735198" y="4729263"/>
            <a:ext cx="176021" cy="47093"/>
          </a:xfrm>
          <a:prstGeom prst="rect">
            <a:avLst/>
          </a:prstGeom>
          <a:solidFill>
            <a:srgbClr val="757A8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986658" y="5077659"/>
            <a:ext cx="176021" cy="116132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986658" y="4729263"/>
            <a:ext cx="176021" cy="337423"/>
          </a:xfrm>
          <a:prstGeom prst="rect">
            <a:avLst/>
          </a:prstGeom>
          <a:solidFill>
            <a:srgbClr val="4A4F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986658" y="4671197"/>
            <a:ext cx="176021" cy="47093"/>
          </a:xfrm>
          <a:prstGeom prst="rect">
            <a:avLst/>
          </a:prstGeom>
          <a:solidFill>
            <a:srgbClr val="757A8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986658" y="4642164"/>
            <a:ext cx="176021" cy="18060"/>
          </a:xfrm>
          <a:prstGeom prst="rect">
            <a:avLst/>
          </a:prstGeom>
          <a:solidFill>
            <a:srgbClr val="D5D8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238118" y="5077659"/>
            <a:ext cx="176021" cy="116132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238118" y="4729263"/>
            <a:ext cx="176021" cy="337423"/>
          </a:xfrm>
          <a:prstGeom prst="rect">
            <a:avLst/>
          </a:prstGeom>
          <a:solidFill>
            <a:srgbClr val="4A4F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238118" y="4671197"/>
            <a:ext cx="176021" cy="47093"/>
          </a:xfrm>
          <a:prstGeom prst="rect">
            <a:avLst/>
          </a:prstGeom>
          <a:solidFill>
            <a:srgbClr val="757A8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238118" y="4642164"/>
            <a:ext cx="176021" cy="18060"/>
          </a:xfrm>
          <a:prstGeom prst="rect">
            <a:avLst/>
          </a:prstGeom>
          <a:solidFill>
            <a:srgbClr val="D5D8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489578" y="5077659"/>
            <a:ext cx="176021" cy="116132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489578" y="4729263"/>
            <a:ext cx="176021" cy="337423"/>
          </a:xfrm>
          <a:prstGeom prst="rect">
            <a:avLst/>
          </a:prstGeom>
          <a:solidFill>
            <a:srgbClr val="4A4F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489578" y="4671197"/>
            <a:ext cx="176021" cy="47093"/>
          </a:xfrm>
          <a:prstGeom prst="rect">
            <a:avLst/>
          </a:prstGeom>
          <a:solidFill>
            <a:srgbClr val="757A8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3489578" y="4642164"/>
            <a:ext cx="176021" cy="18060"/>
          </a:xfrm>
          <a:prstGeom prst="rect">
            <a:avLst/>
          </a:prstGeom>
          <a:solidFill>
            <a:srgbClr val="D5D8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741038" y="5077659"/>
            <a:ext cx="176021" cy="116132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741038" y="4671197"/>
            <a:ext cx="176021" cy="395489"/>
          </a:xfrm>
          <a:prstGeom prst="rect">
            <a:avLst/>
          </a:prstGeom>
          <a:solidFill>
            <a:srgbClr val="4A4F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741038" y="4613131"/>
            <a:ext cx="176021" cy="47093"/>
          </a:xfrm>
          <a:prstGeom prst="rect">
            <a:avLst/>
          </a:prstGeom>
          <a:solidFill>
            <a:srgbClr val="757A8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741038" y="4555064"/>
            <a:ext cx="176021" cy="47093"/>
          </a:xfrm>
          <a:prstGeom prst="rect">
            <a:avLst/>
          </a:prstGeom>
          <a:solidFill>
            <a:srgbClr val="A3A8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741038" y="4526031"/>
            <a:ext cx="176021" cy="18060"/>
          </a:xfrm>
          <a:prstGeom prst="rect">
            <a:avLst/>
          </a:prstGeom>
          <a:solidFill>
            <a:srgbClr val="D5D8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3992498" y="5077659"/>
            <a:ext cx="176021" cy="116132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3992498" y="4671197"/>
            <a:ext cx="176021" cy="395489"/>
          </a:xfrm>
          <a:prstGeom prst="rect">
            <a:avLst/>
          </a:prstGeom>
          <a:solidFill>
            <a:srgbClr val="4A4F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992498" y="4613131"/>
            <a:ext cx="176021" cy="47093"/>
          </a:xfrm>
          <a:prstGeom prst="rect">
            <a:avLst/>
          </a:prstGeom>
          <a:solidFill>
            <a:srgbClr val="757A8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3992498" y="4555064"/>
            <a:ext cx="176021" cy="47093"/>
          </a:xfrm>
          <a:prstGeom prst="rect">
            <a:avLst/>
          </a:prstGeom>
          <a:solidFill>
            <a:srgbClr val="A3A8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3992498" y="4526031"/>
            <a:ext cx="176021" cy="18060"/>
          </a:xfrm>
          <a:prstGeom prst="rect">
            <a:avLst/>
          </a:prstGeom>
          <a:solidFill>
            <a:srgbClr val="D5D8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243958" y="5077659"/>
            <a:ext cx="176021" cy="116132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4243958" y="4671197"/>
            <a:ext cx="176021" cy="395489"/>
          </a:xfrm>
          <a:prstGeom prst="rect">
            <a:avLst/>
          </a:prstGeom>
          <a:solidFill>
            <a:srgbClr val="4A4F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243958" y="4613131"/>
            <a:ext cx="176021" cy="47093"/>
          </a:xfrm>
          <a:prstGeom prst="rect">
            <a:avLst/>
          </a:prstGeom>
          <a:solidFill>
            <a:srgbClr val="757A8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243958" y="4555064"/>
            <a:ext cx="176021" cy="47093"/>
          </a:xfrm>
          <a:prstGeom prst="rect">
            <a:avLst/>
          </a:prstGeom>
          <a:solidFill>
            <a:srgbClr val="A3A8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243958" y="4526031"/>
            <a:ext cx="176021" cy="18060"/>
          </a:xfrm>
          <a:prstGeom prst="rect">
            <a:avLst/>
          </a:prstGeom>
          <a:solidFill>
            <a:srgbClr val="D5D8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495418" y="5077659"/>
            <a:ext cx="176021" cy="116132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4495418" y="4613131"/>
            <a:ext cx="176021" cy="453555"/>
          </a:xfrm>
          <a:prstGeom prst="rect">
            <a:avLst/>
          </a:prstGeom>
          <a:solidFill>
            <a:srgbClr val="4A4F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4495418" y="4555064"/>
            <a:ext cx="176021" cy="47093"/>
          </a:xfrm>
          <a:prstGeom prst="rect">
            <a:avLst/>
          </a:prstGeom>
          <a:solidFill>
            <a:srgbClr val="757A8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495418" y="4496998"/>
            <a:ext cx="176021" cy="47093"/>
          </a:xfrm>
          <a:prstGeom prst="rect">
            <a:avLst/>
          </a:prstGeom>
          <a:solidFill>
            <a:srgbClr val="A3A8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495418" y="4467965"/>
            <a:ext cx="176021" cy="18060"/>
          </a:xfrm>
          <a:prstGeom prst="rect">
            <a:avLst/>
          </a:prstGeom>
          <a:solidFill>
            <a:srgbClr val="D5D8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4746878" y="5077659"/>
            <a:ext cx="176021" cy="116132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4746878" y="4613131"/>
            <a:ext cx="176021" cy="453555"/>
          </a:xfrm>
          <a:prstGeom prst="rect">
            <a:avLst/>
          </a:prstGeom>
          <a:solidFill>
            <a:srgbClr val="4A4F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4746878" y="4555064"/>
            <a:ext cx="176021" cy="47093"/>
          </a:xfrm>
          <a:prstGeom prst="rect">
            <a:avLst/>
          </a:prstGeom>
          <a:solidFill>
            <a:srgbClr val="757A8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4746878" y="4496998"/>
            <a:ext cx="176021" cy="47093"/>
          </a:xfrm>
          <a:prstGeom prst="rect">
            <a:avLst/>
          </a:prstGeom>
          <a:solidFill>
            <a:srgbClr val="A3A8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4746878" y="4467965"/>
            <a:ext cx="176021" cy="18060"/>
          </a:xfrm>
          <a:prstGeom prst="rect">
            <a:avLst/>
          </a:prstGeom>
          <a:solidFill>
            <a:srgbClr val="D5D8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4998339" y="5077659"/>
            <a:ext cx="176021" cy="116132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4998339" y="4613131"/>
            <a:ext cx="176021" cy="453555"/>
          </a:xfrm>
          <a:prstGeom prst="rect">
            <a:avLst/>
          </a:prstGeom>
          <a:solidFill>
            <a:srgbClr val="4A4F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998339" y="4555064"/>
            <a:ext cx="176021" cy="47093"/>
          </a:xfrm>
          <a:prstGeom prst="rect">
            <a:avLst/>
          </a:prstGeom>
          <a:solidFill>
            <a:srgbClr val="757A8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4998339" y="4496998"/>
            <a:ext cx="176021" cy="47093"/>
          </a:xfrm>
          <a:prstGeom prst="rect">
            <a:avLst/>
          </a:prstGeom>
          <a:solidFill>
            <a:srgbClr val="A3A8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4998339" y="4467965"/>
            <a:ext cx="176021" cy="18060"/>
          </a:xfrm>
          <a:prstGeom prst="rect">
            <a:avLst/>
          </a:prstGeom>
          <a:solidFill>
            <a:srgbClr val="D5D8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5249798" y="5077659"/>
            <a:ext cx="176021" cy="116132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5249798" y="4613131"/>
            <a:ext cx="176021" cy="453555"/>
          </a:xfrm>
          <a:prstGeom prst="rect">
            <a:avLst/>
          </a:prstGeom>
          <a:solidFill>
            <a:srgbClr val="4A4F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5249798" y="4555064"/>
            <a:ext cx="176021" cy="47093"/>
          </a:xfrm>
          <a:prstGeom prst="rect">
            <a:avLst/>
          </a:prstGeom>
          <a:solidFill>
            <a:srgbClr val="757A8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5249798" y="4438932"/>
            <a:ext cx="176021" cy="105159"/>
          </a:xfrm>
          <a:prstGeom prst="rect">
            <a:avLst/>
          </a:prstGeom>
          <a:solidFill>
            <a:srgbClr val="A3A8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5249798" y="4409899"/>
            <a:ext cx="176021" cy="18060"/>
          </a:xfrm>
          <a:prstGeom prst="rect">
            <a:avLst/>
          </a:prstGeom>
          <a:solidFill>
            <a:srgbClr val="D5D8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5501258" y="5077659"/>
            <a:ext cx="176021" cy="116132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5501258" y="4613131"/>
            <a:ext cx="176021" cy="453555"/>
          </a:xfrm>
          <a:prstGeom prst="rect">
            <a:avLst/>
          </a:prstGeom>
          <a:solidFill>
            <a:srgbClr val="4A4F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5501258" y="4555064"/>
            <a:ext cx="176021" cy="47093"/>
          </a:xfrm>
          <a:prstGeom prst="rect">
            <a:avLst/>
          </a:prstGeom>
          <a:solidFill>
            <a:srgbClr val="757A8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5501258" y="4438932"/>
            <a:ext cx="176021" cy="105159"/>
          </a:xfrm>
          <a:prstGeom prst="rect">
            <a:avLst/>
          </a:prstGeom>
          <a:solidFill>
            <a:srgbClr val="A3A8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5501258" y="4409899"/>
            <a:ext cx="176021" cy="18060"/>
          </a:xfrm>
          <a:prstGeom prst="rect">
            <a:avLst/>
          </a:prstGeom>
          <a:solidFill>
            <a:srgbClr val="D5D8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5752718" y="5077659"/>
            <a:ext cx="176021" cy="116132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5752718" y="4613131"/>
            <a:ext cx="176021" cy="453555"/>
          </a:xfrm>
          <a:prstGeom prst="rect">
            <a:avLst/>
          </a:prstGeom>
          <a:solidFill>
            <a:srgbClr val="4A4F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5752718" y="4555064"/>
            <a:ext cx="176021" cy="47093"/>
          </a:xfrm>
          <a:prstGeom prst="rect">
            <a:avLst/>
          </a:prstGeom>
          <a:solidFill>
            <a:srgbClr val="757A8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5752718" y="4438932"/>
            <a:ext cx="176021" cy="105159"/>
          </a:xfrm>
          <a:prstGeom prst="rect">
            <a:avLst/>
          </a:prstGeom>
          <a:solidFill>
            <a:srgbClr val="A3A8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5752718" y="4409899"/>
            <a:ext cx="176021" cy="18060"/>
          </a:xfrm>
          <a:prstGeom prst="rect">
            <a:avLst/>
          </a:prstGeom>
          <a:solidFill>
            <a:srgbClr val="D5D8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6004178" y="5077659"/>
            <a:ext cx="176021" cy="116132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6004178" y="4613131"/>
            <a:ext cx="176021" cy="453555"/>
          </a:xfrm>
          <a:prstGeom prst="rect">
            <a:avLst/>
          </a:prstGeom>
          <a:solidFill>
            <a:srgbClr val="4A4F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6004178" y="4555064"/>
            <a:ext cx="176021" cy="47093"/>
          </a:xfrm>
          <a:prstGeom prst="rect">
            <a:avLst/>
          </a:prstGeom>
          <a:solidFill>
            <a:srgbClr val="757A8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6004178" y="4438932"/>
            <a:ext cx="176021" cy="105159"/>
          </a:xfrm>
          <a:prstGeom prst="rect">
            <a:avLst/>
          </a:prstGeom>
          <a:solidFill>
            <a:srgbClr val="A3A8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6004178" y="4409899"/>
            <a:ext cx="176021" cy="18060"/>
          </a:xfrm>
          <a:prstGeom prst="rect">
            <a:avLst/>
          </a:prstGeom>
          <a:solidFill>
            <a:srgbClr val="D5D8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6255638" y="5077659"/>
            <a:ext cx="176021" cy="116132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6255638" y="4613131"/>
            <a:ext cx="176021" cy="453555"/>
          </a:xfrm>
          <a:prstGeom prst="rect">
            <a:avLst/>
          </a:prstGeom>
          <a:solidFill>
            <a:srgbClr val="4A4F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6255638" y="4555064"/>
            <a:ext cx="176021" cy="47093"/>
          </a:xfrm>
          <a:prstGeom prst="rect">
            <a:avLst/>
          </a:prstGeom>
          <a:solidFill>
            <a:srgbClr val="757A8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255638" y="4438932"/>
            <a:ext cx="176021" cy="105159"/>
          </a:xfrm>
          <a:prstGeom prst="rect">
            <a:avLst/>
          </a:prstGeom>
          <a:solidFill>
            <a:srgbClr val="A3A8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6255638" y="4409899"/>
            <a:ext cx="176021" cy="18060"/>
          </a:xfrm>
          <a:prstGeom prst="rect">
            <a:avLst/>
          </a:prstGeom>
          <a:solidFill>
            <a:srgbClr val="D5D8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6507098" y="5077659"/>
            <a:ext cx="176021" cy="116132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6507098" y="4613131"/>
            <a:ext cx="176021" cy="453555"/>
          </a:xfrm>
          <a:prstGeom prst="rect">
            <a:avLst/>
          </a:prstGeom>
          <a:solidFill>
            <a:srgbClr val="4A4F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6507098" y="4555064"/>
            <a:ext cx="176021" cy="47093"/>
          </a:xfrm>
          <a:prstGeom prst="rect">
            <a:avLst/>
          </a:prstGeom>
          <a:solidFill>
            <a:srgbClr val="757A8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6507098" y="4438932"/>
            <a:ext cx="176021" cy="105159"/>
          </a:xfrm>
          <a:prstGeom prst="rect">
            <a:avLst/>
          </a:prstGeom>
          <a:solidFill>
            <a:srgbClr val="A3A8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6507098" y="4409899"/>
            <a:ext cx="176021" cy="18060"/>
          </a:xfrm>
          <a:prstGeom prst="rect">
            <a:avLst/>
          </a:prstGeom>
          <a:solidFill>
            <a:srgbClr val="D5D8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16" name="Connector 115"/>
          <p:cNvCxnSpPr/>
          <p:nvPr/>
        </p:nvCxnSpPr>
        <p:spPr>
          <a:xfrm>
            <a:off x="685800" y="5193792"/>
            <a:ext cx="6035040" cy="0"/>
          </a:xfrm>
          <a:prstGeom prst="line">
            <a:avLst/>
          </a:prstGeom>
          <a:ln w="9525">
            <a:solidFill>
              <a:srgbClr val="C9CDD2"/>
            </a:solidFill>
          </a:ln>
        </p:spPr>
      </p:cxnSp>
      <p:sp>
        <p:nvSpPr>
          <p:cNvPr id="117" name="TextBox 116"/>
          <p:cNvSpPr txBox="1"/>
          <p:nvPr/>
        </p:nvSpPr>
        <p:spPr>
          <a:xfrm>
            <a:off x="685800" y="5221224"/>
            <a:ext cx="251459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794509" y="5221224"/>
            <a:ext cx="548640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M6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303270" y="5221224"/>
            <a:ext cx="548640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M12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812029" y="5221224"/>
            <a:ext cx="548640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M18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469379" y="5221224"/>
            <a:ext cx="251460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M24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080759" y="4227019"/>
            <a:ext cx="640080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약 14명</a:t>
            </a:r>
          </a:p>
        </p:txBody>
      </p:sp>
      <p:graphicFrame>
        <p:nvGraphicFramePr>
          <p:cNvPr id="123" name="Table 122"/>
          <p:cNvGraphicFramePr>
            <a:graphicFrameLocks noGrp="1"/>
          </p:cNvGraphicFramePr>
          <p:nvPr/>
        </p:nvGraphicFramePr>
        <p:xfrm>
          <a:off x="7040879" y="1599310"/>
          <a:ext cx="4465015" cy="3441945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139135"/>
                <a:gridCol w="548640"/>
                <a:gridCol w="777240"/>
              </a:tblGrid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역할 (채용 계획, ASSUMPTION)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시작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대표 · 사업 총괄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Founder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공동창업자 · 기술 총괄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Founder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Manipulation · 제어 리드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R&amp;D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Perception · ML 리드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M2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R&amp;D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Hand · 기구 리드 (메카트로닉스)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M2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R&amp;D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임베디드 · 전기 · 안전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M4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R&amp;D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SW · 통합 (Motion · Skill)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M6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R&amp;D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제품 · 사업개발 (고객 검증 · 파트너)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M7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사업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Hand 센싱 (Grip Force · Slip)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R&amp;D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경영지원 (재무 · 과제 관리, 0.5 FTE)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경영지원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시험 · 신뢰성 (Test · QA)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M13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R&amp;D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설치 · Commissioning 엔지니어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M13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현장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Skill · Data 엔지니어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M16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R&amp;D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현장 서비스 Technician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M19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현장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24" name="Rectangle 123"/>
          <p:cNvSpPr/>
          <p:nvPr/>
        </p:nvSpPr>
        <p:spPr>
          <a:xfrm>
            <a:off x="685800" y="5541264"/>
            <a:ext cx="10820095" cy="475488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868680" y="5541264"/>
            <a:ext cx="10454335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M24 약 14명 = Founder 2 · R&amp;D 8 · 사업 1 · 현장 2 · 경영지원 0.5  |  평균 FTE 7.0 (Y1) → 12.8 (Y2)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85800" y="6126480"/>
            <a:ext cx="10820095" cy="1837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TIPS 요건: 대표 포함 창업팀 2인 이상 지분 60% 이상 · 운영사 30% 이하 · 정부지원 5억원당 청년 1명 신규 채용 [S33]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2026.10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20624"/>
            <a:ext cx="9601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18  Investment Ask / 24M Value Creation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76656"/>
            <a:ext cx="10820095" cy="473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24개월 사용 23.4억원 · Seed 14~19억원 요청 (TIPS 8억원 별도)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04849"/>
            <a:ext cx="10820095" cy="2481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Bottom-up 사용처 산정 · Seed 범위 = Lean (팀 · 범위 축소) ~ Base (기술 + 사업 검증 + 3개월 Buffer)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599310"/>
          <a:ext cx="4480560" cy="275285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743200"/>
                <a:gridCol w="868680"/>
                <a:gridCol w="868680"/>
              </a:tblGrid>
              <a:tr h="2752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사용처 (억원)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24개월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TIPS 편성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2752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인건비 · 연구수당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15.55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6.90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752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HW · Hand · Mock-up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2.39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2.01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752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Software · Data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0.55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0.44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752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Pilot · 실증 순비용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0.73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752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Customer · Partner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0.60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752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Certification · IP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1.05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0.71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752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Space · Operating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1.86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0.60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752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예비비 (10%)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0.68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752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24개월 지출 합계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23.41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10.67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4480179"/>
          <a:ext cx="4480560" cy="1376425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743200"/>
                <a:gridCol w="868680"/>
                <a:gridCol w="868680"/>
              </a:tblGrid>
              <a:tr h="2752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TIPS 정부지원 (선정 시 · 상한)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8.00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8C9198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ASSUMPTION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752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기관부담 (현금 · 현물)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2.67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8C9198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Seed 부담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752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Seed Base = 지출 − TIPS + Buffer 3.55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18.96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8C9198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DERIVED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752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Seed Lean (지출 19.11억원 규모)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13.78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8C9198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DERIVED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752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TIPS 미선정 시 (Lean 범위)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21.52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8C9198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DERIVED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0" y="1599310"/>
            <a:ext cx="960120" cy="3685921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96128" y="1709039"/>
            <a:ext cx="7406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TODAY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96128" y="2056510"/>
            <a:ext cx="740664" cy="31372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기술 가설</a:t>
            </a:r>
          </a:p>
          <a:p>
            <a:pPr algn="l">
              <a:lnSpc>
                <a:spcPct val="102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사업 가설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473952" y="3442271"/>
            <a:ext cx="201168" cy="0"/>
          </a:xfrm>
          <a:prstGeom prst="line">
            <a:avLst/>
          </a:prstGeom>
          <a:ln w="19050">
            <a:solidFill>
              <a:srgbClr val="8C9198"/>
            </a:solidFill>
            <a:tailEnd type="triangle" w="med" len="med"/>
          </a:ln>
        </p:spPr>
      </p:cxnSp>
      <p:sp>
        <p:nvSpPr>
          <p:cNvPr id="11" name="TextBox 10"/>
          <p:cNvSpPr txBox="1"/>
          <p:nvPr/>
        </p:nvSpPr>
        <p:spPr>
          <a:xfrm>
            <a:off x="6336792" y="2875343"/>
            <a:ext cx="47548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Seed</a:t>
            </a:r>
          </a:p>
          <a:p>
            <a:pPr algn="ctr">
              <a:lnSpc>
                <a:spcPct val="100000"/>
              </a:lnSpc>
            </a:pPr>
            <a:r>
              <a:rPr sz="7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+</a:t>
            </a:r>
          </a:p>
          <a:p>
            <a:pPr algn="ctr">
              <a:lnSpc>
                <a:spcPct val="100000"/>
              </a:lnSpc>
            </a:pPr>
            <a:r>
              <a:rPr sz="7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TIPS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02552" y="1599310"/>
            <a:ext cx="3450031" cy="3685921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67144" y="1709039"/>
            <a:ext cx="31208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24M TARGET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466783" y="1727327"/>
            <a:ext cx="427880" cy="155448"/>
          </a:xfrm>
          <a:prstGeom prst="rect">
            <a:avLst/>
          </a:prstGeom>
          <a:solidFill>
            <a:srgbClr val="15171A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66783" y="1727327"/>
            <a:ext cx="427880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TARGET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67144" y="2056510"/>
            <a:ext cx="148727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A9AEB5"/>
                </a:solidFill>
                <a:latin typeface="Noto Sans KR"/>
                <a:ea typeface="Noto Sans KR"/>
                <a:cs typeface="Noto Sans KR"/>
              </a:rPr>
              <a:t>기술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67144" y="2275966"/>
            <a:ext cx="1487271" cy="29178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실제 주방 작동 시제품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Adaptive Robot Hand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Skill Library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Calibration System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안전 구조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주방 3종 시험</a:t>
            </a:r>
          </a:p>
          <a:p>
            <a:pPr algn="l">
              <a:lnSpc>
                <a:spcPct val="100000"/>
              </a:lnSpc>
            </a:pPr>
            <a:r>
              <a:rPr sz="9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Transfer 증거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0719" y="2056510"/>
            <a:ext cx="148727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A9AEB5"/>
                </a:solidFill>
                <a:latin typeface="Noto Sans KR"/>
                <a:ea typeface="Noto Sans KR"/>
                <a:cs typeface="Noto Sans KR"/>
              </a:rPr>
              <a:t>경제성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0719" y="2275966"/>
            <a:ext cx="1487271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Robot BOM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설치 원가</a:t>
            </a:r>
          </a:p>
          <a:p>
            <a:pPr algn="l">
              <a:lnSpc>
                <a:spcPct val="100000"/>
              </a:lnSpc>
            </a:pPr>
            <a:r>
              <a:rPr sz="9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서비스 원가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0719" y="3080639"/>
            <a:ext cx="148727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A9AEB5"/>
                </a:solidFill>
                <a:latin typeface="Noto Sans KR"/>
                <a:ea typeface="Noto Sans KR"/>
                <a:cs typeface="Noto Sans KR"/>
              </a:rPr>
              <a:t>시장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0719" y="3300094"/>
            <a:ext cx="1487271" cy="18936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Customer WTP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실증 · 유료 실증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Partner 조건</a:t>
            </a:r>
          </a:p>
          <a:p>
            <a:pPr algn="l">
              <a:lnSpc>
                <a:spcPct val="100000"/>
              </a:lnSpc>
            </a:pPr>
            <a:r>
              <a:rPr sz="9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특허 출원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0180015" y="3442271"/>
            <a:ext cx="201168" cy="0"/>
          </a:xfrm>
          <a:prstGeom prst="line">
            <a:avLst/>
          </a:prstGeom>
          <a:ln w="19050">
            <a:solidFill>
              <a:srgbClr val="8C9198"/>
            </a:solidFill>
            <a:tailEnd type="triangle" w="med" len="med"/>
          </a:ln>
        </p:spPr>
      </p:cxnSp>
      <p:sp>
        <p:nvSpPr>
          <p:cNvPr id="23" name="Rectangle 22"/>
          <p:cNvSpPr/>
          <p:nvPr/>
        </p:nvSpPr>
        <p:spPr>
          <a:xfrm>
            <a:off x="10408615" y="1599310"/>
            <a:ext cx="1097280" cy="3685921"/>
          </a:xfrm>
          <a:prstGeom prst="rect">
            <a:avLst/>
          </a:prstGeom>
          <a:solidFill>
            <a:srgbClr val="FFFFFF"/>
          </a:solidFill>
          <a:ln w="12700">
            <a:solidFill>
              <a:srgbClr val="15171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00055" y="1709039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NEXT ROUND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8343" y="2056510"/>
            <a:ext cx="877824" cy="31372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제품화 · 양산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같은 Platform → ASSIST Skill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Retrofit · 신축 채널 확대</a:t>
            </a:r>
          </a:p>
          <a:p>
            <a:pPr algn="l">
              <a:lnSpc>
                <a:spcPct val="102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Installed Base 반복매출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0" y="5413248"/>
            <a:ext cx="6019495" cy="438912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23560" y="5413248"/>
            <a:ext cx="5745175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Series A 판단 기준  </a:t>
            </a:r>
            <a:r>
              <a:rPr sz="11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기술 성공 + 유료 전환 + 설치 · 서비스 원가 실측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5943600"/>
            <a:ext cx="10820095" cy="349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Series A 이후 Y3~Y4 현금 소요 약 68억원 · 손익분기 연 약 1,376세대 (DERIVED, 부록 D4) · Buffer = Y2 월평균 지출 × 3개월 · TIPS 과제 10.67억원 = 정부 8 + 기관부담 2.67 (현금 1.35 · 현물 1.32) · 운영사 선투자 (수도권 2억원 이상) = Seed 포함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2026.10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Appendix 목차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본문 수치의 근거 · 계산 · 검증 계획 · 재무 수식 모델: MH_Robotics_Financial_Model.xlsx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790567"/>
            <a:ext cx="3423818" cy="292608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1790567"/>
            <a:ext cx="320436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A   TIPS 과제 상세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19751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A1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07592" y="2119751"/>
            <a:ext cx="278373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기술 KPI · Manipulation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20919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A2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07592" y="2320919"/>
            <a:ext cx="278373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기술 KPI · Application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522087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A3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07592" y="2522087"/>
            <a:ext cx="278373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기술 KPI · Business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723255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A4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07592" y="2723255"/>
            <a:ext cx="278373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R&amp;D Work Package 상세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924423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A5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7592" y="2924423"/>
            <a:ext cx="278373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Gate · 중단 기준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125591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A6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07592" y="3125591"/>
            <a:ext cx="278373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TIPS 과제 편성 · 24개월 사용처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326759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A7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07592" y="3326759"/>
            <a:ext cx="278373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24개월 팀 계획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3637655"/>
            <a:ext cx="3423818" cy="292608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5528" y="3637655"/>
            <a:ext cx="320436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   제품 · 기술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3966839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B1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07592" y="3966839"/>
            <a:ext cx="278373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Adaptive Hand 시험 계획 (Buy vs Build)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168007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B2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7592" y="4168007"/>
            <a:ext cx="278373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Kitchen Variation 근거: 확보 평면 5종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369175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B3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07592" y="4369175"/>
            <a:ext cx="278373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Environment Interface 예: Robot Home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570343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B4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07592" y="4570343"/>
            <a:ext cx="278373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대표 평면 적용 예 (구축 2Bay A)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4771511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B5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07592" y="4771511"/>
            <a:ext cx="278373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Safety · Certification 경로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4972679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B6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07592" y="4972679"/>
            <a:ext cx="278373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Robot System BOM · Benchmark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83938" y="1790567"/>
            <a:ext cx="3423818" cy="292608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93666" y="1790567"/>
            <a:ext cx="320436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C   시장 · 경쟁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29658" y="2119751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C1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05730" y="2119751"/>
            <a:ext cx="278373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Housing · 시장 통계 (FACT)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29658" y="2320919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C2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05730" y="2320919"/>
            <a:ext cx="278373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Remodeling · Rental · Care Reference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29658" y="2522087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C3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5730" y="2522087"/>
            <a:ext cx="278373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Market Sizing 산식 · 검증 계획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29658" y="2723255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C4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05730" y="2723255"/>
            <a:ext cx="278373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경쟁사 상세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383938" y="3034151"/>
            <a:ext cx="3423818" cy="292608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493666" y="3034151"/>
            <a:ext cx="320436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D   경제성 · 재무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429658" y="3363335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D1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05730" y="3363335"/>
            <a:ext cx="278373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가격 가설 (원가 · 시장 · 가치)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29658" y="3564503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D2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5730" y="3564503"/>
            <a:ext cx="278373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Household 5년 경제성 상세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429658" y="3765671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D3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05730" y="3765671"/>
            <a:ext cx="278373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Rental · Care · Consumables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29658" y="3966839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D4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05730" y="3966839"/>
            <a:ext cx="278373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5-Year Financial Model (3 Scenario)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429658" y="4168007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D5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05730" y="4168007"/>
            <a:ext cx="278373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Sensitivity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082076" y="1790567"/>
            <a:ext cx="3423818" cy="292608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191804" y="1790567"/>
            <a:ext cx="320436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E   IP · 리스크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127796" y="2119751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E1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703868" y="2119751"/>
            <a:ext cx="278373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IP Portfolio 상세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127796" y="2320919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E2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703868" y="2320919"/>
            <a:ext cx="278373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Risk Register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082076" y="2631815"/>
            <a:ext cx="3423818" cy="292608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191804" y="2631815"/>
            <a:ext cx="320436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F   출처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27796" y="2960999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F1~F4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703868" y="2960999"/>
            <a:ext cx="278373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Sources (조회일 2026-10-07~08)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" y="594360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Tag  </a:t>
            </a: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FACT 공식 자료 · DERIVED 계산값 · ASSUMPTION 사업 가설 · TARGET 목표 · CONCEPT 설계 개념 · TBV 검증 예정 · FUTURE 향후 제품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Index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 A1  ·  TIPS 과제 상세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기술 KPI (1/3) · Manipulation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목표 근거 = 공개 Benchmark · 경제성 가정 · Benchmark 없는 지표 = 측정 후 설정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90567"/>
          <a:ext cx="10817352" cy="38301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325880"/>
                <a:gridCol w="1828800"/>
                <a:gridCol w="1691640"/>
                <a:gridCol w="777240"/>
                <a:gridCol w="777240"/>
                <a:gridCol w="822960"/>
                <a:gridCol w="868680"/>
                <a:gridCol w="1783080"/>
                <a:gridCol w="941832"/>
              </a:tblGrid>
              <a:tr h="22941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KPI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정의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Benchmark (출처)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M6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M12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M18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M24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목표 근거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Tag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6707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Task Success Rate (CLEAN)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식기 1개를 사람 개입 없이 집기 → 식세기 적재 (또는 인출 → 수납)까지 끝낸 비율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Voysey 2021 식세기 적재 58.7% (실험실 · one-shot) · Dobb-E 81% (단순 가사 · 10가구) · TidyBot 85% [S36~S38]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Baseline 측정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≥ 80% (목업)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≥ 85% (주방 3종)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≥ 90% (가정 3세대)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식사 1회 식기 20개 기준 사람 개입 ≤ 2건 = 90%. 공개 연구보다 높은 목표 = 환경 Interface 효과를 확인하는 지표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TARGET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5236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Object Coverage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30종 한국 식기 · 도구 세트 중 Tool 교체 없이 파지 가능한 종류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공개 Benchmark 없음 (자체 세트 정의)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상용 Gripper Baseline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≥ 24/30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≥ 26/30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≥ 27/30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Buy vs Build 판정: 상용 Gripper 대비 +15%p 이상이면 자체 Hand 채택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TARGET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7652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Human Intervention Rate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식세기 1회분 (식기 20개)당 사람 개입 횟수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측정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≤ 4회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≤ 3회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≤ 2회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Task Success Rate와 같은 기준의 사용자 체감 지표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TARGET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7652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Failure Recovery Rate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감지된 실패 (미끄러짐 · 기울어짐 · 적재 실패) 중 자율 복구 비율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공개 Benchmark 없음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Baseline 측정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M12 결과로 설정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M18 설정값 달성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M12 측정값으로 목표 설정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TARGET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7652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Cycle Time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식기 1개 적재 평균 시간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사람 약 3~5초/개 (참고, 측정 필요)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측정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측정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≤ 40초/개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≤ 30초/개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식기 20개를 10분 안에 적재 → 식후 사람이 없는 시간에 끝남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TARGET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7652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Grip Stability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파지 중 낙하 · 미끄러짐 발생률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측정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≤ 1/200회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≤ 1/500회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≤ 1/1,000회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Pad 1세트 수명 (약 5,475회) 동안 낙하 ≤ 5회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TARGET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7652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Slip Detection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낙하 전 미끄럼 감지율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GelSight 기반 실시간 감지 99% (일상 물체 10종 · 실험실) [S44]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≥ 90%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≥ 93%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≥ 95%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연구 수준보다 낮게 시작 (젖은 표면 · 저가 센서 조건)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TARGET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5236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Hand Durability (Pad 수명)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Pad 교체 전 파지 횟수 (가속 시험)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시험 설계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가속 시험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≥ 5,475회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Grip Kit 분기 교체 가정 × 하루 60회 파지 (식기 20개 × 적재 · 인출 × 1.5회)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5C616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DERIVED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 A2  ·  TIPS 과제 상세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기술 KPI (2/3) ·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Application KPI = 설치 원가 가정 (인시)과 직접 연결 → Calibration · 설치 시간 단축 = Unit Economics 개선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90567"/>
          <a:ext cx="10817352" cy="26049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234440"/>
                <a:gridCol w="1828800"/>
                <a:gridCol w="1463040"/>
                <a:gridCol w="777240"/>
                <a:gridCol w="777240"/>
                <a:gridCol w="914400"/>
                <a:gridCol w="1097280"/>
                <a:gridCol w="1783080"/>
                <a:gridCol w="941832"/>
              </a:tblGrid>
              <a:tr h="233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KPI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정의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Benchmark (출처)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M6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M12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M18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M24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목표 근거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Tag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5346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Calibration Time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새 주방에서 현장 Calibration 완료 시간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≤ 8시간 (목업)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≤ 4시간 (주방 3종)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≤ 4시간 (가정)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설치 · Calibration 원가 Y3 60만원 = 약 18인시 (2인 1일) 안에 설치까지 끝내야 함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5C616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DERIVED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838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Site Programming Time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주방별 Custom 코드 · 교시 시간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측정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Custom 코드 0 · 교시 ≤ 1시간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동일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Template Skill만 써야 반복설치 가능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TARGET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5346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Installation Time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설치 + Calibration + Safety Check (Interface 시공 제외)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측정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Remodeling 2인 1일 · Retrofit 2인 2일 이내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설치 원가 가정과 연동 (Remodeling 약 18인시 · Retrofit 약 29인시, Y3)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5C616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DERIVED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5346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Kitchen Compatibility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분석 평면 · 상담 주방 중 적용 가능 비율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확보 평면 5종: 기본 배치 수용 1 · 미수용 3 · 미검토 1 (DERIVED)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평면 30개 분석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상담 주방 실측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가정 Remodeling 60% · Retrofit 40%를 실측으로 대체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B4410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ASSUMPTION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838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Task Transferability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주방 재배치 후 성공률 하락 (같은 Skill)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≤ 10%p (주방 3종)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≤ 10%p (가정)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Platform 반복 적용의 핵심 증거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TARGET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 A3  ·  TIPS 과제 상세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기술 KPI (3/3) · Business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Business KPI = 재무모델 가정 (BOM · 설치 · Care · 소모품 · WTP)의 실측 대체 지표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90567"/>
          <a:ext cx="10817352" cy="278420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234440"/>
                <a:gridCol w="1828800"/>
                <a:gridCol w="1463040"/>
                <a:gridCol w="777240"/>
                <a:gridCol w="777240"/>
                <a:gridCol w="914400"/>
                <a:gridCol w="1097280"/>
                <a:gridCol w="1783080"/>
                <a:gridCol w="941832"/>
              </a:tblGrid>
              <a:tr h="233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KPI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정의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Benchmark (출처)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M6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M12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M18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M24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목표 근거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Tag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3838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BOM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System 1대 원가 (Adaptive Hand 포함)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공개가 Benchmark (부록 B6)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1,680만원 (시제품)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100대/년 견적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견적 ≤ 1,180만원 (Y3 가정)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ASP 1,490만원에서 Hardware 마진 확보 (민감도 2순위)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B4410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ASSUMPTION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838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Installation Cost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1세대 설치 · Calibration 실비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목업 기준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실측 ≤ 90만원 (Y2 가정)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가정 3세대 실측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B4410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ASSUMPTION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838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Service Cost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고장 방문 (A/S) 1회 원가 · 연 발생 횟수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실측 (가정 연 0.6회)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Failure Rate 민감도 (1.2회 시 1세대 5년 −84만원)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B4410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ASSUMPTION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838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Care Cost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정기 방문 · 원격진단 · Cloud 연 원가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실측 ≤ 40.8만원/대·년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Care 요금 48만원/년 대비 마진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B4410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ASSUMPTION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838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WTP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시스템 1,490만원 이상 지불 의향 비율 (Premium 리모델링 상담 고객)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인터뷰 50명 (정성)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n ≥ 300 조사 · 예약금 Test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판정 기준 ≥ 30% (가설). 15% 미만이면 가격 · 구성 재설계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TARGET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4780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Pilot Conversion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가정 실증 3세대 중 유료 전환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실증 착수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≥ 2세대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실증 50% 할인 → 정가 전환 의향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TARGET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838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Consumables Cost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Grip Kit 원가율 (물류 포함)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Robotiq Fingertip $175~195 (참고) [S16]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견적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≤ 35%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소모품 마진 가정 검증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B4410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ASSUMPTION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 A4  ·  TIPS 과제 상세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R&amp;D Work Package 상세 (TIPS 과제)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TIPS 과제 = 기술 검증 (Technology De-risking) · WP6 실증 = 목업 → 주방 3종 → 가정 3세대 · 담당 = 채용 계획 기준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90567"/>
          <a:ext cx="10817352" cy="402376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57200"/>
                <a:gridCol w="1325880"/>
                <a:gridCol w="685800"/>
                <a:gridCol w="1508760"/>
                <a:gridCol w="2926080"/>
                <a:gridCol w="1463040"/>
                <a:gridCol w="1371600"/>
                <a:gridCol w="1078992"/>
              </a:tblGrid>
              <a:tr h="2385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WP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이름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기간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목표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주요 내용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산출물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KPI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담당 (채용 계획)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679907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WP1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Adaptive Kitchen Robot Hand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M1~M24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주방 식기 · 도구 30종을 Tool 교체 없이 하나의 손으로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· 상용 Gripper 비교군 (M1~M6) · Hand v1 (M4) · v2 (M10) · v3 (M18)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· 교체형 Food-contact Module · Grip Force · Slip Detection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· 내구 · 위생 시험 (세척 · 열 · 세제)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Hand v3 · 30종 파지 Data · 내구 시험 결과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Object Coverage · Grip Stability · Slip Detection · Pad 수명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Hand · 기구 리드 · Hand 센싱 · Manipulation 리드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5327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WP2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Kitchen Manipulation Skill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M3~M24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CLEAN Skill을 Template으로 만들어 주방마다 재사용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· Pick · Place · Insert (식세기 랙) · Remove · Open/Close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· Failure Detection · Recovery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· Skill Template · 공개 범용 모델 (π0 계열) Fine-tune 검토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CLEAN Skill Library v1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Task Success · Intervention · Recovery · Cycle Time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Manipulation 리드 · Robot SW · Skill/Data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679907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WP3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Kitchen Perception / Calibration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M2~M24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새 주방에서 4시간 안에 같은 Skill이 돌게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· 식기 30종 인식 Dataset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· Kitchen Mapping · Coordinate Calibration (Dock · 가전 기준점)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· Appliance / Storage Position Mapping · Task Parameter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Calibration Tool · 현장 절차서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Calibration Time · Task Transferability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Perception 리드 · Skill/Data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5327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WP4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Minimal Environment Interface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M3~M22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필요한 곳에만 표준 Interface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· Robot Home (보관 · 전개) · Tool Dock · Storage Dock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· 식세기 Interface (랙 · 문) · Vision Reference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· Retrofit Compact Mount · 설치 표준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Interface 표준 v1 · 설치 표준서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Installation Time · Compatibility · 표준부품 사용률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임베디드 · 전기 · 안전 · Hand 리드 · 설치 엔지니어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82702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WP5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Human-Robot Safety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M4~M24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사람 곁 주방에서 안전 기준 충족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· Zone Sensing · 감속 · 정지 · 충돌 감지 · E-Stop · Safe Home Return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· Risk Assessment · 표준 Gap (ISO 10218-2:2025 · IEC 63682 초안 · ISO 13482)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· 전기안전 · EMC 사전시험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Safety Architecture · 사전시험 결과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감속 250mm/s · 접촉력 기준 충족 · 사전시험 통과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임베디드 · 전기 · 안전 · 시험 · 신뢰성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5327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WP6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Integrated CLEAN 실증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M9~M24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목업 → 주방 3종 → 가정 3세대로 끝까지 검증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· 1:1 목업 CLEAN (M9~M12)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· 주방 3종 Transfer (M13~M18)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· 가정 실증 3세대 · 연속 운전 신뢰성 (M19~M24)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실증 보고서 · BOM · 설치 · Service 원가 실측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Task Success (가정 ≥ 90%) · Pilot Conversion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시험 · 신뢰성 · 설치 엔지니어 · 사업개발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 A5  ·  TIPS 과제 상세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Gate · 중단 기준 (24개월)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기업가치를 바꾸는 Evidence 중심 Gate · 기준 미달 시 구조 변경 · 범위 축소 · Scale 보류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90567"/>
          <a:ext cx="10817352" cy="19919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731520"/>
                <a:gridCol w="4206240"/>
                <a:gridCol w="3017520"/>
                <a:gridCol w="2862072"/>
              </a:tblGrid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Gate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확인할 Evidence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통과 기준 (TARGET)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미달 시 조치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4682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M6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Hand v1 vs 상용 Gripper (30종) · Robot Architecture 확정 · 평면 30개 분석 · 인터뷰 50명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Coverage +15%p 또는 Tool 교체 50% 감소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상용 Gripper + 교체형 Pad로 전환 (Buy) · WP1 예산 재배분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M12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목업 CLEAN 전 과정 · 식기 성공률 · 안전 기능 · 특허 출원 2건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식기 성공률 ≥ 80% · Safety 기능 동작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Loading 범위로 축소 · Interface 보강 후 재시험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682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M18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주방 3종 Transfer · Calibration 시간 · WTP n ≥ 300 · 예약금 Test · 인증 사전상담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하락 ≤ 10%p · Calibration ≤ 4시간 · WTP ≥ 30% (1,490만원)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Retrofit 보류 · Remodeling 집중 / 가격 · 구성 재설계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682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M24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가정 3세대 실증 · 유료 전환 · BOM · 설치 · Service 원가 실측 · Partner 조건 · 출원 5건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가정 ≥ 90% · 유료 전환 ≥ 2세대 · 원가가 가정 범위 안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Bridge 또는 범위 축소 후 재검증 (Series A 연기)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85800" y="3928841"/>
            <a:ext cx="10820095" cy="421741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3928841"/>
            <a:ext cx="54864" cy="421741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3928841"/>
            <a:ext cx="10527487" cy="42174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Series A 판단 = 기술 성공 + 유료 전환 + 설치 · 서비스 원가 실측 (M24) · 기준 미달 시 Bridge 또는 범위 축소 후 재검증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 A6  ·  TIPS 과제 상세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TIPS 과제 편성 · 24개월 사용처 (Base)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TIPS 과제 총 10.67억원 = 정부 8억원 (75%) + 기관부담 2.67억원 · 회사 전체 24개월 지출 23.4억원 중 일부 (금액 ASSUMPTION · 규정 FACT)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90567"/>
          <a:ext cx="4937760" cy="21287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600200"/>
                <a:gridCol w="822960"/>
                <a:gridCol w="822960"/>
                <a:gridCol w="914400"/>
                <a:gridCol w="777240"/>
              </a:tblGrid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TIPS 비목 (만원)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1차년도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2차년도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합계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인건비 (현금)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20,655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32,520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53,175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현금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인건비 (현물)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6,600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6,600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13,200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현물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연구재료비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13,240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6,880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20,120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현금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연구활동비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4,700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6,825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11,525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현금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연구수당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1,033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1,626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2,659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현금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간접비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2,749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3,238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5,988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현금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합계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48,977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57,689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106,667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4056451"/>
          <a:ext cx="4937760" cy="10643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011680"/>
                <a:gridCol w="1097280"/>
                <a:gridCol w="1828800"/>
              </a:tblGrid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정부지원 (75%)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80,000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FACT 상한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기관부담 현금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13,467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≥ 10% 충족 (51%)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기관부담 현물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13,200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Founder 참여분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간접비율 (현금 직접비 대비)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6.8%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협약 기준 적용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97880" y="1790567"/>
          <a:ext cx="5608015" cy="367140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864815"/>
                <a:gridCol w="914400"/>
                <a:gridCol w="914400"/>
                <a:gridCol w="914400"/>
              </a:tblGrid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24개월 사용처 (만원)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합계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TIPS 편성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그 외 (Seed)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인건비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152,875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66,375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86,500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연구수당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2,659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2,659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Hardware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6,400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5,120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1,280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Hand Prototype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10,000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9,000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1,000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Kitchen Mock-up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7,500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6,000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1,500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Software · Data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5,500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4,400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Pilot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Customer · Partner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6,000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6,000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Certification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6,000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3,525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2,475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IP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4,500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3,600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Space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9,600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5,988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3,612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Operating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9,000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9,000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예비비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6,800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6,800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실증 순비용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3,805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3,805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합계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234,139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106,667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127,472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 A7  ·  TIPS 과제 상세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24개월 팀 계획 (채용 계획, ASSUMPTION)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Founder 2인 = TIPS 창업팀 요건 기준 · 연 인건비 = 연봉 × 1.2 (4대보험 · 퇴직급여) · 평균 FTE 7.0 → 12.8 · 24개월 차 약 14명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90567"/>
          <a:ext cx="10817352" cy="367140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291840"/>
                <a:gridCol w="868680"/>
                <a:gridCol w="594360"/>
                <a:gridCol w="1143000"/>
                <a:gridCol w="548640"/>
                <a:gridCol w="914400"/>
                <a:gridCol w="1005840"/>
                <a:gridCol w="1005840"/>
                <a:gridCol w="1444752"/>
              </a:tblGrid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역할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시작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 인건비 (만원)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FTE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TIPS 참여율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Y1 인건비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Y2 인건비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Lean 포함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대표 · 사업 총괄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Founder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6,000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50%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6,000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6,000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예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공동창업자 · 기술 총괄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Founder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6,000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60%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6,000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6,000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예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Manipulation · 제어 리드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R&amp;D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9,600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50%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9,600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9,600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예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Perception · ML 리드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R&amp;D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M2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9,600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50%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8,800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9,600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예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Hand · 기구 리드 (메카트로닉스)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R&amp;D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M2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9,600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60%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8,800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9,600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예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임베디드 · 전기 · 안전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R&amp;D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M4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7,800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50%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5,850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7,800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예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SW · 통합 (Motion · Skill)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R&amp;D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M6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7,800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50%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4,550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7,800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예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제품 · 사업개발 (고객 검증 · 파트너)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사업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M7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7,200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0%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3,600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7,200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예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Hand 센싱 (Grip Force · Slip)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R&amp;D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7,800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50%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1,950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7,800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아니오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경영지원 (재무 · 과제 관리, 0.5 FTE)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경영지원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5,400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0.5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0%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675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2,700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예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시험 · 신뢰성 (Test · QA)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R&amp;D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M13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7,800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40%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7,800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예 (M19)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설치 · Commissioning 엔지니어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현장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M13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6,600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0%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6,600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예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Skill · Data 엔지니어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R&amp;D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M16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7,800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40%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5,850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아니오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현장 서비스 Technician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현장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M19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5,400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0%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2,700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아니오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합계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55,825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97,050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Lean 130,675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 B1  ·  제품 · 기술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Adaptive Hand 시험 계획 (Buy vs Build)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상용 Gripper 기준선 → 30종 식기 세트 비교 → 자체 Hand 개발 범위 결정 (WP1)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90567"/>
          <a:ext cx="10817352" cy="281685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554480"/>
                <a:gridCol w="8001000"/>
                <a:gridCol w="1261872"/>
              </a:tblGrid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항목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내용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Tag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4682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시험 물체 (30종)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접시 대 · 중 · 소 (도자기 · 멜라민) · 밥공기 · 국그릇 · 면기 · 컵 · 머그 · 유리잔 · 물병 · 수저 · 젓가락 · 냄비뚜껑 (유리 · 금속) · 집게 · 국자 · 뒤집개 · 보관용기 (유리 · Plastic) · 쟁반 · 도마 (소)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TARGET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조건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건조 / 젖은 표면 · 세제 잔여 · 식기 겹침 · 식세기 랙 (하단 · 상단 · 수저통) · 수납 서랍 · 상부장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TARGET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비교군 (Buy)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Robotiq 2F-85 (약 $5,825) · 저가 전동 Parallel Gripper · Suction Cup (식품용 실리콘) · Soft Finger (Fin-ray형)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FACT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자체 Hand (Build)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v1 (M4): 2+1 손가락 저구동 + 교체형 Pad · v2 (M10): Edge Lip · Slip 감지 · v3 (M18): 내구 · 위생 · 원가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6B7078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CONCEPT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측정 지표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종류별 성공률 · Tool 교체 횟수 · 파손 · 낙하 · 미끄럼 감지 · Cycle Time · Pad 마모 · 세척 후 성능 · 단가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TARGET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판정 (M6)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Coverage +15%p 이상 또는 Tool 교체 50% 감소 → 자체 Hand 채택 · 아니면 상용 Gripper + 교체형 Pad (Buy)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TARGET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식품 접촉 규격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식품위생법 "기구" · 「기구 및 용기 · 포장의 기준 및 규격」 고무제 (실리콘) 재질 · 용출 · 해외: FDA 21 CFR 177.2600 · EU 1935/2004 (수출 시)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FACT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연구 참고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GelSight 기반 실시간 미끄럼 감지 99% (일상 물체 10종 · 실험실) · 식세기 적재 연구 58.7% (트레이 25개)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FACT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85800" y="4753731"/>
            <a:ext cx="10820095" cy="421741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4753731"/>
            <a:ext cx="54864" cy="421741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4753731"/>
            <a:ext cx="10527487" cy="42174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자체 Hand 채택 조건 = Coverage +15%p 또는 Tool 교체 50% 감소 · 미달 시 Buy 전환 → 교체형 Pad · Skill 집중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B1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 B2  ·  제품 · 기술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Kitchen Variation 근거: 확보 평면 5종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제공 도면 치수선 기준 재작도 · 표본 5종 → 평면 30개 분석으로 확대 (M6, TARGET)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90567"/>
          <a:ext cx="10817352" cy="1936139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143000"/>
                <a:gridCol w="1691640"/>
                <a:gridCol w="1234440"/>
                <a:gridCol w="2743200"/>
                <a:gridCol w="1463040"/>
                <a:gridCol w="2542032"/>
              </a:tblGrid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평면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크기 (mm)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주방 형태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디지털화 (3D)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기본 배치 (Remodeling 한 줄)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4682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구축 2Bay A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구축 · 계단실형 (코어 포함)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12,390 × 11,670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ㄱ자 (윗벽 3,255mm + 옆벽)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완료 · 원본과 겹쳐 확인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수용: Remodeling 한 줄 3,150mm · 충돌검사 0cm (B4)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구축 2Bay B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구축 · 전면 발코니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10,940 × 8,500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ㄱ자 (싱크 줄 약 2.6m + 아랫벽) · 거실과 개방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완료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미수용 · 냉장고 이전 시 약 3.3m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신축 2Bay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신축 · 탑상형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15,120 × 10,730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옆벽 + 윗벽 + 아일랜드형 카운터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미착수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미검토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신축 3Bay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신축 · 판상형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12,400 × 10,550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윗벽 싱크 줄 약 2.6m + 옆벽 쿡탑 + 반도형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완료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미수용 · 단축형 (Compact Mount) 검토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신축 4Bay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신축 · 판상형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14,700 × 9,780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윗벽 싱크 줄 약 2.8m + 옆벽 쿡탑 + 반도형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완료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미수용 · 단축형 검토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85800" y="3873012"/>
            <a:ext cx="10820095" cy="421741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3873012"/>
            <a:ext cx="54864" cy="421741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3873012"/>
            <a:ext cx="10527487" cy="42174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5종 모두 싱크 · 조리기구가 다른 벽 → 로봇 구역 분리 가능 · 3종 싱크 줄 2.6~2.8m → 짧은 벽용 Compact 구성 필요 (Kitchen Compatibility KPI)</a:t>
            </a:r>
          </a:p>
        </p:txBody>
      </p:sp>
      <p:pic>
        <p:nvPicPr>
          <p:cNvPr id="9" name="Picture 8" descr="fig_var_top_old2a_light_159x150_50_50_10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4550785"/>
            <a:ext cx="1457656" cy="1374526"/>
          </a:xfrm>
          <a:prstGeom prst="rect">
            <a:avLst/>
          </a:prstGeom>
        </p:spPr>
      </p:pic>
      <p:sp>
        <p:nvSpPr>
          <p:cNvPr id="10" name="Freeform 9"/>
          <p:cNvSpPr/>
          <p:nvPr/>
        </p:nvSpPr>
        <p:spPr>
          <a:xfrm>
            <a:off x="738835" y="4970678"/>
            <a:ext cx="682142" cy="276149"/>
          </a:xfrm>
          <a:custGeom>
            <a:avLst/>
            <a:gdLst/>
            <a:ahLst/>
            <a:cxnLst/>
            <a:rect l="l" t="t" r="r" b="b"/>
            <a:pathLst>
              <a:path w="746" h="302">
                <a:moveTo>
                  <a:pt x="0" y="0"/>
                </a:moveTo>
                <a:lnTo>
                  <a:pt x="746" y="0"/>
                </a:lnTo>
                <a:lnTo>
                  <a:pt x="746" y="302"/>
                </a:lnTo>
                <a:lnTo>
                  <a:pt x="0" y="302"/>
                </a:lnTo>
                <a:close/>
              </a:path>
            </a:pathLst>
          </a:custGeom>
          <a:solidFill>
            <a:srgbClr val="15171A">
              <a:alpha val="16000"/>
            </a:srgbClr>
          </a:solidFill>
          <a:ln w="12700">
            <a:solidFill>
              <a:srgbClr val="15171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5980176"/>
            <a:ext cx="145765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구축 2Bay A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12,390 × 11,670mm</a:t>
            </a:r>
          </a:p>
        </p:txBody>
      </p:sp>
      <p:pic>
        <p:nvPicPr>
          <p:cNvPr id="12" name="Picture 11" descr="fig_var_top_old2b_light_141x110_50_50_10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73892" y="4916275"/>
            <a:ext cx="1289961" cy="1009036"/>
          </a:xfrm>
          <a:prstGeom prst="rect">
            <a:avLst/>
          </a:prstGeom>
        </p:spPr>
      </p:pic>
      <p:sp>
        <p:nvSpPr>
          <p:cNvPr id="13" name="Freeform 12"/>
          <p:cNvSpPr/>
          <p:nvPr/>
        </p:nvSpPr>
        <p:spPr>
          <a:xfrm>
            <a:off x="3536899" y="5472684"/>
            <a:ext cx="241402" cy="401422"/>
          </a:xfrm>
          <a:custGeom>
            <a:avLst/>
            <a:gdLst/>
            <a:ahLst/>
            <a:cxnLst/>
            <a:rect l="l" t="t" r="r" b="b"/>
            <a:pathLst>
              <a:path w="264" h="439">
                <a:moveTo>
                  <a:pt x="0" y="0"/>
                </a:moveTo>
                <a:lnTo>
                  <a:pt x="264" y="0"/>
                </a:lnTo>
                <a:lnTo>
                  <a:pt x="264" y="439"/>
                </a:lnTo>
                <a:lnTo>
                  <a:pt x="0" y="439"/>
                </a:lnTo>
                <a:close/>
              </a:path>
            </a:pathLst>
          </a:custGeom>
          <a:solidFill>
            <a:srgbClr val="15171A">
              <a:alpha val="16000"/>
            </a:srgbClr>
          </a:solidFill>
          <a:ln w="12700">
            <a:solidFill>
              <a:srgbClr val="15171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73892" y="5980176"/>
            <a:ext cx="1289961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구축 2Bay B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10,940 × 8,500mm</a:t>
            </a:r>
          </a:p>
        </p:txBody>
      </p:sp>
      <p:pic>
        <p:nvPicPr>
          <p:cNvPr id="15" name="Picture 14" descr="fig_var_top_new3_light_159x136_50_50_10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94290" y="4678348"/>
            <a:ext cx="1459090" cy="1246963"/>
          </a:xfrm>
          <a:prstGeom prst="rect">
            <a:avLst/>
          </a:prstGeom>
        </p:spPr>
      </p:pic>
      <p:sp>
        <p:nvSpPr>
          <p:cNvPr id="16" name="Freeform 15"/>
          <p:cNvSpPr/>
          <p:nvPr/>
        </p:nvSpPr>
        <p:spPr>
          <a:xfrm>
            <a:off x="5519318" y="4731106"/>
            <a:ext cx="386791" cy="516636"/>
          </a:xfrm>
          <a:custGeom>
            <a:avLst/>
            <a:gdLst/>
            <a:ahLst/>
            <a:cxnLst/>
            <a:rect l="l" t="t" r="r" b="b"/>
            <a:pathLst>
              <a:path w="423" h="565">
                <a:moveTo>
                  <a:pt x="0" y="229"/>
                </a:moveTo>
                <a:lnTo>
                  <a:pt x="163" y="229"/>
                </a:lnTo>
                <a:lnTo>
                  <a:pt x="163" y="0"/>
                </a:lnTo>
                <a:lnTo>
                  <a:pt x="423" y="0"/>
                </a:lnTo>
                <a:lnTo>
                  <a:pt x="422" y="565"/>
                </a:lnTo>
                <a:lnTo>
                  <a:pt x="0" y="565"/>
                </a:lnTo>
                <a:close/>
              </a:path>
            </a:pathLst>
          </a:custGeom>
          <a:solidFill>
            <a:srgbClr val="15171A">
              <a:alpha val="16000"/>
            </a:srgbClr>
          </a:solidFill>
          <a:ln w="12700">
            <a:solidFill>
              <a:srgbClr val="15171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94290" y="5980176"/>
            <a:ext cx="145909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신축 3Bay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12,400 × 10,550mm</a:t>
            </a:r>
          </a:p>
        </p:txBody>
      </p:sp>
      <p:pic>
        <p:nvPicPr>
          <p:cNvPr id="18" name="Picture 17" descr="fig_var_top_new4_light_188x126_50_50_10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83816" y="4764346"/>
            <a:ext cx="1725682" cy="1160965"/>
          </a:xfrm>
          <a:prstGeom prst="rect">
            <a:avLst/>
          </a:prstGeom>
        </p:spPr>
      </p:pic>
      <p:sp>
        <p:nvSpPr>
          <p:cNvPr id="19" name="Freeform 18"/>
          <p:cNvSpPr/>
          <p:nvPr/>
        </p:nvSpPr>
        <p:spPr>
          <a:xfrm>
            <a:off x="7613294" y="4818888"/>
            <a:ext cx="331927" cy="458114"/>
          </a:xfrm>
          <a:custGeom>
            <a:avLst/>
            <a:gdLst/>
            <a:ahLst/>
            <a:cxnLst/>
            <a:rect l="l" t="t" r="r" b="b"/>
            <a:pathLst>
              <a:path w="363" h="501">
                <a:moveTo>
                  <a:pt x="0" y="241"/>
                </a:moveTo>
                <a:lnTo>
                  <a:pt x="70" y="241"/>
                </a:lnTo>
                <a:lnTo>
                  <a:pt x="71" y="0"/>
                </a:lnTo>
                <a:lnTo>
                  <a:pt x="363" y="0"/>
                </a:lnTo>
                <a:lnTo>
                  <a:pt x="363" y="501"/>
                </a:lnTo>
                <a:lnTo>
                  <a:pt x="0" y="501"/>
                </a:lnTo>
                <a:close/>
              </a:path>
            </a:pathLst>
          </a:custGeom>
          <a:solidFill>
            <a:srgbClr val="15171A">
              <a:alpha val="16000"/>
            </a:srgbClr>
          </a:solidFill>
          <a:ln w="12700">
            <a:solidFill>
              <a:srgbClr val="15171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3816" y="5980176"/>
            <a:ext cx="172568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신축 4Bay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14,700 × 9,780mm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539935" y="5376672"/>
            <a:ext cx="237744" cy="146304"/>
          </a:xfrm>
          <a:prstGeom prst="rect">
            <a:avLst/>
          </a:prstGeom>
          <a:solidFill>
            <a:srgbClr val="15171A">
              <a:alpha val="16000"/>
            </a:srgbClr>
          </a:solidFill>
          <a:ln w="12700">
            <a:solidFill>
              <a:srgbClr val="15171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69119" y="5349240"/>
            <a:ext cx="16367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주방 · 식당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39935" y="5632704"/>
            <a:ext cx="1965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확보 평면 재작도 (단지명 미표기)</a:t>
            </a:r>
          </a:p>
          <a:p>
            <a:pPr algn="l">
              <a:lnSpc>
                <a:spcPct val="105000"/>
              </a:lnSpc>
            </a:pPr>
            <a:r>
              <a:rPr sz="8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4종 동일 축척 · 신축 2Bay = 3D 미착수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B2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 B3  ·  제품 · 기술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Environment Interface 예: Robot Home 보관 · 전개 (Remodeling)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평소 Robot Home에 접힌 상태 → 문 열림 → Rail로 전개 · 식세기 하단 랙 = 당겨서 위에서 적재 (3D 충돌검사, CONCEPT)</a:t>
            </a:r>
          </a:p>
        </p:txBody>
      </p:sp>
      <p:pic>
        <p:nvPicPr>
          <p:cNvPr id="5" name="Picture 4" descr="v2_stow_1_closed_light_227x173_50_50_10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790567"/>
            <a:ext cx="2076236" cy="158548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85800" y="3376057"/>
            <a:ext cx="2076236" cy="27432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376057"/>
            <a:ext cx="207623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① 평소: 문 닫힘</a:t>
            </a:r>
          </a:p>
        </p:txBody>
      </p:sp>
      <p:pic>
        <p:nvPicPr>
          <p:cNvPr id="8" name="Picture 7" descr="v2_stow_2_open_light_227x173_50_50_10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71764" y="1790567"/>
            <a:ext cx="2076236" cy="1585489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871764" y="3376057"/>
            <a:ext cx="2076236" cy="27432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71764" y="3376057"/>
            <a:ext cx="207623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② 문 열림</a:t>
            </a:r>
          </a:p>
        </p:txBody>
      </p:sp>
      <p:pic>
        <p:nvPicPr>
          <p:cNvPr id="11" name="Picture 10" descr="v2_stow_3_deploy_light_227x173_50_50_10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57729" y="1790567"/>
            <a:ext cx="2076236" cy="1585489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5057729" y="3376057"/>
            <a:ext cx="2076236" cy="27432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57729" y="3376057"/>
            <a:ext cx="207623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③ 전개</a:t>
            </a:r>
          </a:p>
        </p:txBody>
      </p:sp>
      <p:pic>
        <p:nvPicPr>
          <p:cNvPr id="14" name="Picture 13" descr="v2_stow_4_exit_light_227x173_50_50_10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43693" y="1790567"/>
            <a:ext cx="2076236" cy="1585489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7243693" y="3376057"/>
            <a:ext cx="2076236" cy="27432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43693" y="3376057"/>
            <a:ext cx="207623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④ Rail 이동</a:t>
            </a:r>
          </a:p>
        </p:txBody>
      </p:sp>
      <p:pic>
        <p:nvPicPr>
          <p:cNvPr id="17" name="Picture 16" descr="v2_stow_5_low_light_227x173_50_50_10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29658" y="1790567"/>
            <a:ext cx="2076236" cy="1585489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9429658" y="3376057"/>
            <a:ext cx="2076236" cy="27432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29658" y="3376057"/>
            <a:ext cx="207623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⑤ 하단 랙 적재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0664" y="1845431"/>
            <a:ext cx="495159" cy="155448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0664" y="1845431"/>
            <a:ext cx="495159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685800" y="3787537"/>
          <a:ext cx="10817352" cy="117429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645920"/>
                <a:gridCol w="8092440"/>
                <a:gridCol w="1078992"/>
              </a:tblGrid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Home (Dock)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조리대 위 끝 W45 × D62 × H137cm · 여닫이 문 1짝 · 평소 로봇 수납 (보이지 않음)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6B7078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CONCEPT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Rail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상부장 하단 (높이 약 139cm) · 바닥 사용 안 함 · Retrofit은 Compact Mount로 대체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6B7078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CONCEPT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낮은 작업점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식세기 하단 랙 44cm 당김 → 위에서 적재 (Gripper 최저 약 37cm) · 서랍도 열어서 위에서 넣음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6B7078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CONCEPT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검증 방법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캡슐 (로봇) · 상자 (가구) 충돌검사: 작업 자세 · 보관 · 전개 · Rail 이동 경로 관통 0cm (3D 모델 기준)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5C616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DERIVED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B3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 B4  ·  제품 · 기술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대표 평면 적용 예: 구축 2Bay A (CONCEPT)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제공 도면 (12,390 × 11,670mm, 코어 포함) 치수선 기준 3D화 · 왼쪽 원래 주방 · 오른쪽 MH Interface 적용</a:t>
            </a:r>
          </a:p>
        </p:txBody>
      </p:sp>
      <p:pic>
        <p:nvPicPr>
          <p:cNvPr id="5" name="Picture 4" descr="plan_old2a_top_orig_light_381x360_50_50_10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790567"/>
            <a:ext cx="3491345" cy="3291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118983"/>
            <a:ext cx="349134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원래 평면 (ㄱ자 주방)</a:t>
            </a:r>
          </a:p>
        </p:txBody>
      </p:sp>
      <p:pic>
        <p:nvPicPr>
          <p:cNvPr id="7" name="Picture 6" descr="plan_old2a_top_arki_light_381x360_50_50_10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51465" y="1790567"/>
            <a:ext cx="3491345" cy="32918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451465" y="5118983"/>
            <a:ext cx="349134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Interface 적용 (윗벽 로봇 줄 + 인덕션 옆벽)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262850" y="1790567"/>
          <a:ext cx="3243044" cy="257911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51560"/>
                <a:gridCol w="2191484"/>
              </a:tblGrid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항목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값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주방 윗벽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3,255mm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64297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로봇 작업 줄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3,150mm (Robot Home 45 · Drop Zone 70 · 싱크 80 · 서랍 60 · 식세기 60cm)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싱크 중심 이동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약 21cm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인덕션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옆벽 아래쪽으로 이동 (로봇 금지 구역)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보관함 문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최대 90° (옆벽)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682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충돌검사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보관 0cm · 전개 경로 0cm · Rail 이동 0cm 관통 (가구 63개)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B4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 B5  ·  제품 · 기술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Safety · Certification 경로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가정용 로봇 기준 발행 전 (IEC 63682 초안) → 인증기관 사전상담으로 경로 우선 확정 (WP5)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90567"/>
          <a:ext cx="7543800" cy="27907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87552"/>
                <a:gridCol w="5020056"/>
                <a:gridCol w="731520"/>
                <a:gridCol w="804672"/>
              </a:tblGrid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항목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내용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Tag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출처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43159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협동 운전 기준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ISO 10218-1/-2:2025 (2025.2 발행): ISO/TS 15066 요구 통합 · 감속 기능 250mm/s 이하 · 손 ·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손가락 준정적 접촉력 140N (부속서 M)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FACT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[S28 · S39]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3159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가정용 로봇 안전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IEC 63682 (구 IEC 60335-2-123) Robots for household and similar use: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2026 CDV 단계 (발행 전)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FACT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[S47]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개인 서비스 로봇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ISO 13482 개정 FDIS (2025.7) · 국내 ISO 13482 인증 사례 (유진로봇 AMR)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FACT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[S31 · S47]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전기 · EMC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KC 전기용품 안전 · 전자파 적합성 (가정용) — 적용 범위 사전상담 필요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6B7078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TBV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식품 접촉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「기구 및 용기 · 포장의 기준 및 규격」 고무제 규격 (ASSIST · COOK 단계 필수)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FACT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[S48]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3159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MH 안전 원칙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사람 위로 운반 금지 · Zone 진입 시 감속 · 정지 · 저가반 · 조리기구 구역 No-go ·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고장 시 Safe Home Return · 수동 주방으로 사용 가능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6B7078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CONCEPT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3159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일정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M4 Risk Assessment · M9 인증기관 사전상담 · M12 안전 기능 시험 ·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M18 사전시험 (전기 · EMC) · Series A 이후 본인증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TARGET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503920" y="1808855"/>
            <a:ext cx="30019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안전 원칙: Zoning 예</a:t>
            </a:r>
          </a:p>
        </p:txBody>
      </p:sp>
      <p:sp>
        <p:nvSpPr>
          <p:cNvPr id="7" name="Rectangle 6"/>
          <p:cNvSpPr/>
          <p:nvPr/>
        </p:nvSpPr>
        <p:spPr>
          <a:xfrm>
            <a:off x="8503920" y="2083175"/>
            <a:ext cx="3001975" cy="201168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fig_tech_b5_zones_light_328x220_50_50_10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2083175"/>
            <a:ext cx="3001975" cy="201168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549640" y="2128895"/>
            <a:ext cx="435862" cy="12801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49640" y="2128895"/>
            <a:ext cx="43586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03920" y="4222871"/>
            <a:ext cx="274320" cy="146304"/>
          </a:xfrm>
          <a:prstGeom prst="rect">
            <a:avLst/>
          </a:prstGeom>
          <a:solidFill>
            <a:srgbClr val="E2571B">
              <a:alpha val="40000"/>
            </a:srgbClr>
          </a:solidFill>
          <a:ln w="12700">
            <a:solidFill>
              <a:srgbClr val="E2571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69680" y="4186295"/>
            <a:ext cx="31089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Robot Zone  </a:t>
            </a:r>
            <a:r>
              <a:rPr sz="8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조리대 한 줄 · Robot 작업 범위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03920" y="4460615"/>
            <a:ext cx="274320" cy="146304"/>
          </a:xfrm>
          <a:prstGeom prst="rect">
            <a:avLst/>
          </a:prstGeom>
          <a:solidFill>
            <a:srgbClr val="DADD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503920" y="4460615"/>
            <a:ext cx="274320" cy="146304"/>
          </a:xfrm>
          <a:prstGeom prst="rect">
            <a:avLst/>
          </a:prstGeom>
          <a:noFill/>
          <a:ln w="12700">
            <a:solidFill>
              <a:srgbClr val="4A4F57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69680" y="4424039"/>
            <a:ext cx="31089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Human Zone  </a:t>
            </a:r>
            <a:r>
              <a:rPr sz="8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사람 동선 · 진입 시 감속 · 정지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4698359"/>
            <a:ext cx="274320" cy="146304"/>
          </a:xfrm>
          <a:prstGeom prst="rect">
            <a:avLst/>
          </a:prstGeom>
          <a:pattFill prst="wdUpDiag">
            <a:fgClr>
              <a:srgbClr val="4A4F57"/>
            </a:fgClr>
            <a:bgClr>
              <a:srgbClr val="FFFFFF"/>
            </a:bgClr>
          </a:pattFill>
          <a:ln w="12700">
            <a:solidFill>
              <a:srgbClr val="15171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69680" y="4661783"/>
            <a:ext cx="31089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No-go  </a:t>
            </a:r>
            <a:r>
              <a:rPr sz="8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조리기구 구역 · Robot 진입 금지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5064119"/>
            <a:ext cx="10820095" cy="421741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" y="5064119"/>
            <a:ext cx="54864" cy="421741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68" y="5064119"/>
            <a:ext cx="10527487" cy="42174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안전 설계 = 기준 발행 전 착수: 협동로봇 기준 (감속 · 접촉력) = 최소선 · 가정용 초안 요구 = Gap 분석 반영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B5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 B6  ·  제품 · 기술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Robot System BOM · Component Benchmark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Benchmark = 공개 판매가 (FACT, 환율 1,400원/USD ASSUMPTION) · BOM = ASSUMPTION (재무모델 Base BOM과 합계 일치)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90567"/>
          <a:ext cx="4846320" cy="2642157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651760"/>
                <a:gridCol w="1188720"/>
                <a:gridCol w="1005840"/>
              </a:tblGrid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Benchmark (FACT)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USD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만원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UR3e (3kg)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$23k~33k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3,220~4,620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Doosan E0509 (5kg)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약 $22k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3,080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UFACTORY xArm 6 (5kg)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$8,399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1,176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FAIRINO FR5 (5kg)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$6,999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980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Robotiq 2F-85 (2026 판매가)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약 $5,825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816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Inspire RH56 계열 (Dexterous)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$4,500~9,899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630~1,386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Robotiq Fingertip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$175~195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24~27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Orbbec Gemini 335 / RealSense D405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$384~400 / $514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54~56 / 72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06440" y="1790567"/>
          <a:ext cx="5699455" cy="300928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642055"/>
                <a:gridCol w="685800"/>
                <a:gridCol w="685800"/>
                <a:gridCol w="685800"/>
              </a:tblGrid>
              <a:tr h="28437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BOM (ASSUMPTION, 만원/대)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Y1 시제품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Y3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Y5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28437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6축 Arm (가반 3~5kg, Controller 포함)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950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600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450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4988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Adaptive Hand (손가락 2~3 · 교체형 Pad · 힘/미끄럼 감지 · Quick Changer)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85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8437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Rail · Carriage · Servo (Remodeling · New-build, 2.4~3.6m)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150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8437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Vision (Depth Camera 2대 + Mount)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8437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Compute (Edge GPU)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8437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Safety (Zone Sensor · Safety Controller)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8437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Home (Dock) · Harness · Enclosure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45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8437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조립 · 시험 (Pilot은 Opex 인건비 처리)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35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8437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합계 (재무모델 BOM)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1,680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1,180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915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85800" y="5440680"/>
            <a:ext cx="10820095" cy="412546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5440680"/>
            <a:ext cx="54864" cy="412546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5440680"/>
            <a:ext cx="10527487" cy="4125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BOM 하락 경로 = 수량 + Arm OEM Partner (국산 · 중국산 Cobot) + 자체 Hand 원가 설계 · Y5 Arm 450만원 = 공격적 가정 → 민감도 2순위 (D5)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B6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 C1  ·  시장 · 경쟁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Housing · 시장 통계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출처: 국가데이터처 · 국토부 · 부동산원 · 부동산114 (2026.10 기준)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90567"/>
          <a:ext cx="10817352" cy="3697577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017520"/>
                <a:gridCol w="2926080"/>
                <a:gridCol w="1097280"/>
                <a:gridCol w="3776472"/>
              </a:tblGrid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항목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값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Tag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출처 / 산식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총주택 (2025.11.1)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2,018.1만호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FACT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국가데이터처 2025 인구주택총조사 (2026.7.28) [S1]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아파트 비중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65.8%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FACT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2025 인구주택총조사 [S1]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아파트 수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약 1,328만호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5C616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DERIVED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총주택 2,018.1만 × 65.8%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준공 20년 이상 / 30년 이상 주택 비중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56.0% / 30.6%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FACT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2025 인구주택총조사 [S1]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아파트 수 · 20년 이상 아파트 (2023)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1,263만호 · 639만호 (50.7%)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FACT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2023 주택총조사 인용 보도 [S2]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주택 준공 · 인허가 · 착공 (2025)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34.2만 · 38.0만 · 27.3만호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FACT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국토부 2025.12 주택통계 [S3]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아파트 입주 2025 / 2026 예정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23만6,263 / 18만3,124가구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FACT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부동산114 REPS [S5]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주택 매매거래 (2025)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72.6만호 (10년 평균 88.5만)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FACT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KB주택시장리뷰 (부동산원 자료) [S6]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682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무급 가사노동 가치 (2024)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582.4조원 · 가정관리 459.5조원 (78.9%) · 1인당 132분/일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FACT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국가데이터처 가계생산 위성계정 (2026.4) [S40]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연간 주방 교체 교차검증 ① / ②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29.0만 / 30.3만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5C616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DERIVED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20년+ 아파트 ÷ 22년 · 매매 × 70% × 40% + 10만 (ASSUMPTION)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연간 주방 교체 (설정값)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30만 세대/년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B4410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ASSUMPTION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①·② 범위 → 견적 · Partner Data로 보정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 C2  ·  시장 · 경쟁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Remodeling · Rental · Care Reference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렌탈 · 방문관리 · 빌트인 통합 수요 = 공개 실적으로 확인 (FACT) · 로봇 Integration 지불 여부 = 별개 → WTP 조사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90567"/>
          <a:ext cx="10817352" cy="3110431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743200"/>
                <a:gridCol w="4206240"/>
                <a:gridCol w="1097280"/>
                <a:gridCol w="2770632"/>
              </a:tblGrid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항목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값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Tag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비고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국내 리모델링 시장 (건축물 전체)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2025 37조원 → 2030 44조원 (전망)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FACT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한국건설산업연구원 · 주택 주방 단독 아님 [S7]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프리미엄 Kitchen 동향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수입 · 고가 맞춤 약 90% · 키친바흐 +17% · 밀레 연계 +173%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FACT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한샘 발표 인용 보도 [S9]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한샘 리하우스 매출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2025 1Q 1,147억원 (−4.3%)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FACT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분기 실적 [S10]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신축 유상옵션 / 분양가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평균 9.7% (분양가상한제 7개 단지)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FACT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보도 · 옵션 선택 문화 [S11]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코웨이 (렌탈 · 방문관리)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2025 매출 4조9,636억 · 영업이익 8,787억 · 국내 계정 748만 (2026 1Q)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FACT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실적 보도 [S12]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682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LG 가전 구독 · Care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2025 구독 매출 2조원+ · 케어매니저 약 4,000명 · LH 5,400세대 · 재건축 약 7,000세대 선택지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FACT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실적 · 보도 [S41]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가전 A/S 출장비 (소비자 부과)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2.8만원 (삼성 · LG, 2026)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FACT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MH 방문 원가와 다름 [S13]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식기세척기 보급률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10%대 초반 (2019~2020 업계 추정, 전체 가구)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6B7078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TBV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최신 공식 통계 없음 → 조사 [S30]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주방 단독 교체 가격: 일반 / Premium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600~1,500만원 / 2,000~4,000만원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B4410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ASSUMPTION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공식 자료 없음 → 견적 20건 (M6)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 C3  ·  시장 · 경쟁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Market Sizing 산식 · 검증 계획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세대 수 × 적용률 × 단가 · 핵심 비율 = ASSUMPTION → 검증 방법 · 시점 지정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90567"/>
          <a:ext cx="10817352" cy="202813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554480"/>
                <a:gridCol w="3931920"/>
                <a:gridCol w="1280160"/>
                <a:gridCol w="2743200"/>
                <a:gridCol w="1307592"/>
              </a:tblGrid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시장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산식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대상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패키지 단가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 규모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① Remodeling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30만 × 10% × 60%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18,000세대/년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1,785만원 (Interface 450 + Attach 85% × 1,570)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3,212억원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② Retrofit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1,328만 × 10% × 60% × 40% = 31.9만 × 0.5%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1,593세대/년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1,760만원 (Kit 150 + 1,490 + 120)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280억원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③ New-build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20만 × 15% × 10%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3,000세대/년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613만원 (Option 220 + 25% × 1,570)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184억원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④ Recurring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Installed Base × ARPU 58.8만원 (Care 70% × 48 + 소모품 70% × 36)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1,000대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5.9억원/1,000대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SAM (① + ② + ③)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3,676억원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3159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Y5 계획 매출 (Base · TARGET)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560세대 · 대상의 2.5%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91.5억원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4001587"/>
          <a:ext cx="10817352" cy="202813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840480"/>
                <a:gridCol w="1828800"/>
                <a:gridCol w="4206240"/>
                <a:gridCol w="941832"/>
              </a:tblGrid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가정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Tag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검증 방법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시점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43159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 주방 교체 30만 세대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ASSUMPTION (교차검증 29.0만 · 30.3만)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견적 20건 · 인테리어 Partner 인터뷰 · 부동산원 아파트 거래 비중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M6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Premium 비중 10%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ASSUMPTION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견적 분포 (주방 2,000만원 이상)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M6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Remodeling 적용 가능률 60%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ASSUMPTION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평면 30개 분석 · 상담 주방 실측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M6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Premium 재고 10% · 식세기 60% · 호환 40% · 전환 0.5%/년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ASSUMPTION / TBV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소비자 조사 n ≥ 300 · 평면 분석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M18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신축 Premium 단지 15% · Option 10% · 입주 Attach 25%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ASSUMPTION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건설사 · 분양 옵션 사례 조사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M18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Care 가입 70% · 소모품 구매 70%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ASSUMPTION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실증 3세대 · Pilot 가입 · 교체 Data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M24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 C4  ·  시장 · 경쟁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경쟁사 상세 (공개 자료)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공개 보도 · 회사 발표 기준 · 성능 비교 Data 비공개 → 접근 방식 비교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90567"/>
          <a:ext cx="10817352" cy="327143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737360"/>
                <a:gridCol w="1371600"/>
                <a:gridCol w="2834640"/>
                <a:gridCol w="2514600"/>
                <a:gridCol w="1554480"/>
                <a:gridCol w="804672"/>
              </a:tblGrid>
              <a:tr h="25326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Player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공개 내용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가격 · 상태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접근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출처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41509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1X NEO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Humanoid (가정)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가사 전반 · 원격조작 학습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$20,000 또는 월 $499 · 2026년 말 첫 배송 목표 (확인 안 됨)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이동 · 범용 손 · 설치 불필요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[S19]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326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Figure (Helix 02)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Humanoid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식세기 인출 → 수납 → 적재 약 4분 연속 시연 (회사 발표)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가격 · 출시 미공개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범용 VLA 모델 학습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[S45]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326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Sunday Robotics Memo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이동형 가정 로봇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식세기 적재 · 테이블 정리 시연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Beta 2026년 말 · 양산 $10k 미만 목표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집안 이동 · 학습 Data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[S20]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1509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LG CLOiD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Humanoid형 홈로봇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식세기 비우기 · 빨래 등 시연 (CES 2026)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2026 실증 · 2028 상용화 목표 · 가격 미공개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가전 연계 · 팔 범위 무릎 높이 이상 (보도)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[S21]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326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Samsung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가전 · 로봇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Bot Handy (2021 Concept) · 2026 AI 가전 중심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출시 확인 안 됨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가전 내부 자동화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[S22]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326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Moley Robotic Kitchen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로봇 주방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천장 Rail 양팔 조리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£248,000 (Arm 포함, 2021)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전용 주방 · 조리 중심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[S23]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326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Posha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조리대 조리 로봇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자동 조리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$1,750 + 월 $15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조리 전용 기기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[S24]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326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Tesla Optimus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Humanoid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가정용 목표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소비자 목표가 $20k~30k (양산 시)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범용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[S25]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1509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UR · Doosan + Robotiq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Cobot + Gripper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부품 (산업용)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UR3e $23k~33k · E0509 약 $22k · 2F-85 약 $5,825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Integrator 맞춤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[S15 · S42]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326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한샘 · 리바트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주방가구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키친바흐 × 가게나우 빌트인 협업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로봇 협업 보도 없음 (2026)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주방 시공 · 수납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[S51]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85800" y="5208310"/>
            <a:ext cx="10820095" cy="421741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5208310"/>
            <a:ext cx="54864" cy="421741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5208310"/>
            <a:ext cx="10527487" cy="42174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MH의 차이 = 고정형 Kitchen System (Hand · Skill · Calibration · Interface · Care) · 우위 = 재배치 시간 · 원가 · 유료 전환으로 입증 예정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C4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 D1  ·  경제성 · 재무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가격 가설: 원가 Floor · 시장 Reference · 가치 Anchor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가격 범위 산정 → WTP 검증 · 모든 가격 = ASSUMPTION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90567"/>
          <a:ext cx="10817351" cy="219364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920240"/>
                <a:gridCol w="1463040"/>
                <a:gridCol w="2560320"/>
                <a:gridCol w="3017520"/>
                <a:gridCol w="1856231"/>
              </a:tblGrid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항목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가격 가설 (VAT 별도)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원가 Floor (ASSUMPTION 기반)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시장 Reference (FACT)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가치 Anchor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43159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System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1,490만원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BOM Y3 1,180 → Y5 915만원 (Hardware 마진 21% → 39%)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1X NEO $20,000 (약 2,800만원) · Sunday Memo 목표 $10k 미만 · UR3e $23k~33k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가사 대체 월 약 18만원 × 60개월 ≈ 1,080만원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3159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Interface · Integration (Remodeling)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450만원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Kit 원가 Y3 약 277만원 (표준부품 65%)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Premium 주방 2,000~4,000만원의 11~23% (ASSUMPTION) · 신축 유상옵션 분양가 대비 9.7% (FACT)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주방 공사와 동시 시공 → 별도 공사 회피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Installation · Calibration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80만원 (Retrofit 120)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원가 Y3 60만원 (약 18인시)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가전 출장비 2.8만원 (소비자 부과, 비교 불가) [S13]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Rental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월 33만원 (60개월)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월 원가 Y3 25.6만원 (마진 20% 요금 32.0만원)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1X NEO 월 $499 (약 70만원)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가사 대체 월 약 18만원 → Gap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Care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 48만원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원가 Y3 36.8 → Y5 26.8만원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LG 구독 정기관리 포함 (가격 구조 비공개)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안전 · 성능 유지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Consumables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 36만원 (List)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원가율 35%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Robotiq Fingertip $175~195 · 식품용 실리콘 컵 £7~20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위생 · 마모 교체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85800" y="4130517"/>
            <a:ext cx="10820095" cy="421741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4130517"/>
            <a:ext cx="54864" cy="421741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4130517"/>
            <a:ext cx="10527487" cy="42174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가치 Gap: CLEAN만의 가사 대체 가치 (월 약 18만원) &lt; Rental 월 33만원 → Premium 고객 · ASSIST 확장 · 위생 · 편의 가치로 검증 (WTP M18)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D1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 D2  ·  경제성 · 재무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Household 5년 경제성 상세 (1세대 · 만원 · Base)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구매 = Care 가입 세대 기준 · Skill · Tool = 구매율 반영 기대값 · Y3 / Y5 = 해당 연도 원가 수준 5년 적용 · 전부 DERIVED (from ASSUMPTION)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90567"/>
          <a:ext cx="10808208" cy="389076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880360"/>
                <a:gridCol w="1321308"/>
                <a:gridCol w="1321308"/>
                <a:gridCol w="1321308"/>
                <a:gridCol w="1321308"/>
                <a:gridCol w="1321308"/>
                <a:gridCol w="1321308"/>
              </a:tblGrid>
              <a:tr h="43159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항목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Remodeling 구매 Y3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Remodeling 구매 Y5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Remodeling Rental Y3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Remodeling Rental Y5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Retrofit 구매 Y3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New-build 구매 Y3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INSTALL (Interface · 설치 · Robot)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2,020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2,020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530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530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1,760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1,790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OPERATE (Rental · Care · 소모품, 5년)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366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366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2,043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2,043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366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366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EXPAND (Skill · Tool 기대값)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32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32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32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32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32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32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5년 매출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2,418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2,418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2,605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2,605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2,158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2,188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BOM (Rental은 잔존가치 차감)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1,180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915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1,003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778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1,180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1,180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Interface · 설치 · 물류 원가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362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307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362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307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190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215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Skill · Tool 원가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서비스 원가 (Care · 소모품 · Warranty)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288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238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285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224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288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288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Rental 금융비용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271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210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채널비용 (획득 · Partner · 수주)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150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150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150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150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176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25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5년 매출총이익 (채널 전)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578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948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674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1,075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490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495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5년 Lifetime Contribution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428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798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524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925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314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470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Contribution Margin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17.7%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33.0%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20.1%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35.5%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14.6%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21.5%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85800" y="5760720"/>
            <a:ext cx="10820095" cy="421741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5760720"/>
            <a:ext cx="54864" cy="421741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5760720"/>
            <a:ext cx="10527487" cy="42174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매출보다 서비스 원가 · BOM에 민감: Y3 → Y5 원가 개선 (BOM · 설치 · 방문)만으로 Contribution 약 2배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D2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 D3  ·  경제성 · 재무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Rental · Care · Consumables 단위 경제성 (Base)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Rental = 초기 부담 완화 수단 (Pilot = MH 직접 · Scale = Partner 자산) · Care = Robot Lifecycle Maintenance · 모두 DERIVED (from ASSUMPTION)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90567"/>
          <a:ext cx="3423818" cy="324885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052218"/>
                <a:gridCol w="685800"/>
                <a:gridCol w="685800"/>
              </a:tblGrid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Rental (만원/월)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Y3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Y5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감가 (잔존 15%)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16.7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13.0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금융비용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4.5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3.5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Care 원가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3.1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2.2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Grip Kit 원가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0.5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0.5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Failure Reserve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0.8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0.6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월 원가 합계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25.6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19.8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월 요금 (가정)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33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33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월 Contribution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7.4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13.2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Payback (개월)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40.1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30.3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Partner IRR (연)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13.1%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2245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Partner 단순 회수 / 요구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49 / 36개월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383938" y="1790567"/>
          <a:ext cx="3423818" cy="179862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052218"/>
                <a:gridCol w="685800"/>
                <a:gridCol w="685800"/>
              </a:tblGrid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Care (만원/대 · 년)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Y3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Y5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Care 연 요금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48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48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정기 방문 원가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22.0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12.0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고장 방문 원가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10.8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10.8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Cloud · SW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Care 원가 합계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36.8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26.8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Care Margin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23%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44%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082076" y="1790567"/>
          <a:ext cx="3423818" cy="20555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777898"/>
                <a:gridCol w="548640"/>
                <a:gridCol w="502920"/>
                <a:gridCol w="594360"/>
              </a:tblGrid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Consumables (만원/년)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단가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횟수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Grip Kit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4.5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Cleaning Kit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2.5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Protection Kit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4.0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List 합계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36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구매율 반영 매출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25.2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원가 (35%)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8.8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Contribution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16.4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D3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 D4  ·  경제성 · 재무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5-Year Financial Model (3 Scenario)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4964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Bottom-up Driver: 채널별 설치 · Robot Attach · Rental 비중 · Care / 소모품 구매율 · Interface 표준부품 사용률 · Y1~Y2 = Seed + TIPS 24개월 · Y3~ = Series A 전제 · 모두 TARGET / ASSUMPTION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2029632"/>
          <a:ext cx="6949440" cy="334029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77440"/>
                <a:gridCol w="914400"/>
                <a:gridCol w="914400"/>
                <a:gridCol w="914400"/>
                <a:gridCol w="914400"/>
                <a:gridCol w="914400"/>
              </a:tblGrid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Base (억원 · 세대 · 대)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Y1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Y2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Y3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Y4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Y5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매출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0.0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0.3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7.4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35.9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91.5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매출총이익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0.0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-0.2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1.7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10.2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32.0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Contribution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0.0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-0.3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0.7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6.4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23.1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Opex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9.2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13.8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30.5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43.9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56.7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영업이익 (근사)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-9.2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-14.1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-29.8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-37.5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-33.6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현금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-9.2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-23.4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-54.5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-91.7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-125.1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설치 세대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50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200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설치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43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174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443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Installed Robot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46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219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663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OPERATE + EXPAND 비중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0%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9%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5%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4%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4%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Conservative 매출 / 영업이익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0.0 / -9.2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0.1 / -14.2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3.6 / -30.9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15.3 / -45.0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34.0 / -56.7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Upside 매출 / 영업이익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0.0 / -9.2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0.3 / -14.0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9.6 / -29.1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55.2 / -30.8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154.8 / -6.7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909560" y="2029632"/>
            <a:ext cx="359633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매출 (억원)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909560" y="2303952"/>
          <a:ext cx="3596335" cy="32918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686654" y="5273923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Y1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77151" y="5273923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Y2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67647" y="5273923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Y3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58143" y="5273923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Y4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48640" y="5273923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Y5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09560" y="5687232"/>
            <a:ext cx="427880" cy="155448"/>
          </a:xfrm>
          <a:prstGeom prst="rect">
            <a:avLst/>
          </a:prstGeom>
          <a:noFill/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09560" y="5687232"/>
            <a:ext cx="427880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TARGET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83160" y="5687232"/>
            <a:ext cx="652984" cy="155448"/>
          </a:xfrm>
          <a:prstGeom prst="rect">
            <a:avLst/>
          </a:prstGeom>
          <a:noFill/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83160" y="5687232"/>
            <a:ext cx="652984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ASSUMPTION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9560" y="5915832"/>
            <a:ext cx="35963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손익분기 설치 물량 (Y5 단가 · 원가): 연 약 1,376세대 (DERIVED) · Series A 이후 2년 (Y3~Y4) 현금 소요 약 68억원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D4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 D5  ·  경제성 · 재무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Sensitivity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왼쪽 = Remodeling 구매 1세대 5년 Contribution (만원, Y3 원가) · 오른쪽 = 회사 Y5 Contribution (억원). 불리 ↔ 유리 · 전부 DERIVED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90567"/>
          <a:ext cx="5227167" cy="282640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672687"/>
                <a:gridCol w="777240"/>
                <a:gridCol w="777240"/>
              </a:tblGrid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1세대 5년 (기준 428만원)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불리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유리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ASP (WTP) ±20%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-286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+286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BOM ±20%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-236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+236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Interface 가격 ±20%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-90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+90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직접판매 획득비용 ±50%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-75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+75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Failure Rate 1.2 ↔ 0.3회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-84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+49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Care 요금 ±20%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-48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+48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Care 방문 원가 ±30%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-33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+33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Interface 표준부품 사용률 -15pp/+15pp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-33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+33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설치 · Calibration 원가 ±50%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-30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+30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Consumables 구매율 50% ↔ 90%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-23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+23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278727" y="1790567"/>
          <a:ext cx="5227167" cy="308335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672687"/>
                <a:gridCol w="777240"/>
                <a:gridCol w="777240"/>
              </a:tblGrid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회사 Y5 (기준 23.1억원)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불리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유리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Customer WTP (Robot ASP · Interface ±20%)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-14.3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+14.3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BOM ±20%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-8.2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+8.2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Partner 경유 Remodeling ±30%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-4.7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+4.7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Retrofit 물량 0 ↔ 2배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-3.3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+3.3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Attach Rate 65% ↔ 95%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-3.0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+1.5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Rental 비중 60% ↔ 20%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-1.4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+1.4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Failure Rate 1.2 ↔ 0.3회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-1.6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+1.1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Interface 표준부품 사용률 -15pp/+10pp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-1.3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+0.9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설치 · Calibration 원가 ±50%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-0.9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+0.9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신축 Option 선택률 5% ↔ 15%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-0.8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+0.8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Care 방문 원가 ±30%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-0.1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+0.1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85800" y="5669280"/>
            <a:ext cx="10820095" cy="412546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5669280"/>
            <a:ext cx="54864" cy="412546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5669280"/>
            <a:ext cx="10527487" cy="4125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Top 2 변수 = Customer WTP · Robot BOM → 24개월 Evidence 우선순위: WTP (M18) · BOM 견적 (M18) · 설치 · 서비스 원가 실측 (M24)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D5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 E1  ·  IP · 리스크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IP Portfolio 상세 (출원 후보 · 등록 미정)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4964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24개월 국내 출원 5건 (1순위 2건 M6~M9 · 2순위 3건 M12~M18) + PCT 1건 (M18, 1순위 중 1건) · M3 선행기술조사 (KIPRIS · USPTO · EPO · Google Patents) · 청구항 변리사 검토 · 등록 가능성 미정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2029632"/>
          <a:ext cx="10817352" cy="3817247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51560"/>
                <a:gridCol w="3657600"/>
                <a:gridCol w="1097280"/>
                <a:gridCol w="822960"/>
                <a:gridCol w="2880360"/>
                <a:gridCol w="457200"/>
                <a:gridCol w="850392"/>
              </a:tblGrid>
              <a:tr h="23492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영역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출원 후보 (Family)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사업 중요도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차별성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Prior Art Risk (참고)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순위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시점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3875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Hand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Replaceable Food-contact Module (교체형 Pad · Tip, 마모 표시, 위생 결합 구조)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 (소모품 · 위생)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중~상 (Schmalz OFG 마모부품 · Robotiq Fingertip) [S43 · S16]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M6~M9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875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Hand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Adaptive Finger Mechanism (얇은 Edge 집기 + 감싸기 겸용, Edge Lip)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 (Dishcare US 11,731,282 Tapered Finger · 저구동 Gripper 일반) [S49]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M9~M12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3492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Hand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Compliance / Stiffness (젖은 유리 · 도자기 대응 가변 강성)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중~상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M15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875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Hand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Tool Interface (국자 · 집게 · 뚜껑 Tool 결합 · Dock)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 (EP 3,881,977 교체형 End piece · Tool Changer 일반) [S50]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M18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3492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Manipulation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Kitchen Object Handling (식세기 랙 형상 기반 식기 배치 계획)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 (Dishcraft US 10,507,584) [S49]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M12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3492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Manipulation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Failure Recovery (적재 실패 · 기울어짐 감지 후 재배치)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M15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875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Calibration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Kitchen Mapping (가전 · 수납 Registry + Template)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 (Minimanipulation · Instrumented Environment US 10,518,409) [S50]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M12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3492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Calibration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Task Coordinate Calibration (Robot Home · 가전 기준점 기반 좌표 보정)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중~상 (가설)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M6~M9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875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Interface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Mount / Robot Home (보관 · 전개 경로 · Rail 결합)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 (주방 벽 Rail Arm US 7,751,938 외 · 수납장 로봇 US 12,275,130) [S50]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M9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3492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Interface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Tool Dock · Storage Dock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하~중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M18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3492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Interface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Appliance Interface (식세기 랙 · 문의 Robot 대응 구조 · 연동)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 (US 2023/0165427 식세기 맞춤 Routine) [S49]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M12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3492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Safety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Human / Robot Zone Control (주방 평면 기반 Zone · 감속 · 안전 복귀)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중~상 (협동로봇 일반 기술)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M18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E1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 E2  ·  IP · 리스크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Risk Register: Risk → Evidence → 대응 → 중단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초기 자금 목적 = 기술 · 사업 Risk → 측정 가능한 Evidence로 축소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90567"/>
          <a:ext cx="10817351" cy="342350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05840"/>
                <a:gridCol w="2926080"/>
                <a:gridCol w="2194560"/>
                <a:gridCol w="2834640"/>
                <a:gridCol w="1856231"/>
              </a:tblGrid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Risk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확인 Evidence (시점)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대응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중단 · 재편 기준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기술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자체 Hand가 상용 Gripper보다 낫지 않음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M6 30종 비교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Buy 전환 · 교체형 Pad · Skill에 집중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M6 열위 → 자체 Hand 중단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3159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기술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주방이 바뀌면 성능 급락 (Calibration 과다)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M18 주방 3종 Transfer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Interface 보강 · Remodeling 채널 집중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Calibration &gt; 8시간 → Retrofit 보류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시장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CLEAN 가치에 비해 가격이 높음 (WTP 부족)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M18 n ≥ 300 · 예약금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Rental 중심 · 구성 · 가격 재설계 · ASSIST 묶음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WTP &lt; 15% → Seed 범위 재편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사업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설치 · A/S 원가 과다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M24 가정 3세대 실측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원격진단 · Partner 교육 · 설치 표준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설치 &gt; 2인 2일 → 채널 재검토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안전 · 인증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가정용 로봇 기준 불확실 (IEC 63682 발행 전)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M9 인증기관 사전상담 · M18 사전시험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저속 · Zone 분리 · 사람 감지 시 정지 · 표준 Gap 관리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인증 경로 미확정 → 판매 보류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3159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경쟁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가전사 · Humanoid의 빠른 진입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분기 Monitoring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Interface · Skill 협력 Position · 가구사 · 건설사 Partner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3159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자금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TIPS 미선정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운영사 IR · 분기 접수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Lean 범위 · 비R&amp;D 과제 · 일정 연장 (TIPS 없이 Seed 약 21.5억원)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팀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Founder 공백 · 핵심 리드 채용 지연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M3 리드 3명 채용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리드 3명 우선 · 지분 보상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M6 리드 미충원 → 일정 재편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IP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선행특허 충돌 (식기 로봇 · 주방 Rail)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M3 예비 FTO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회피 설계 · 좁은 청구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위생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식품접촉 소재 규격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M12 소재 시험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규격 실리콘 · 교체형 구조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E2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 F1  ·  출처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Sources (1/4)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조회일 2026-10-07~08 · 공식 통계 · 회사 발표 · 보도 인용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90567"/>
          <a:ext cx="10817352" cy="3548601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02920"/>
                <a:gridCol w="2377440"/>
                <a:gridCol w="4480560"/>
                <a:gridCol w="3456432"/>
              </a:tblGrid>
              <a:tr h="18726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ID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항목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값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대표 URL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3196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S1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총주택 / 아파트 비중 / 준공 20년·30년 이상 비중 / 미거주 주택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2,018.1만호 / 65.8% / 56.0%·30.6% / 172.2만호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국가데이터처, 2025 인구주택총조사 결과 (2026.7.28 발표) — 보도: https://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www.newsis.com/view/NISX20260728_0003726109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196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S2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아파트 수 / 준공 20년 이상 아파트 (2023)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1,263만호 / 639만호 (50.7%)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통계청 주택총조사 인용 보도: https://www.smarttoday.co.kr/ko-kr/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articles/49322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196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S3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2025 주택 준공 / 인허가 / 착공 / 공동주택 분양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34만2,399호 (−17.8%) / 37만9,834호 / 27만2,685호 (−10.1%) / 19만8,373호 (−14.1%)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국토교통부, '25년 12월 주택통계 (2026.1.30): https://www.korea.kr/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briefing/pressReleaseView.do?newsId=156742136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196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S4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아파트 인허가 (2025)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34만6,773가구 (2024: 39만7,904)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국토교통부 주택통계 인용 보도: https://www.newsis.com/view/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NISX20260129_0003495426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18726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S5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아파트 입주 물량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2025 23만6,263가구 / 2026 예정 18만3,124가구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https://v.daum.net/v/GCidIvCEQs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196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S6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주택 매매거래 (2025)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72.6만호 (+13%, 10년 평균 88.5만호)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KB주택시장리뷰 2026년 2월호: https://kbthink.com/realestate/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insights/research/260213-3.html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18726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S7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국내 리모델링 시장 전망 (건축물 전체, 비주거 포함)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2025년 37조원 → 2030년 44조원 (리모델링 23.3조 + 유지보수 13.8조, 2025)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https://m.ekn.kr/view.php?key=523568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18726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S8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한샘 리하우스 스타일패키지 (전체 리모델링)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30평대 평당 100만원대 → 약 3,000만원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https://www.dailian.co.kr/news/view/1008108/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196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S9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프리미엄 Kitchen 동향 (한샘 키친바흐·빌트인 가전 연계)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국내 프리미엄 키친 시장 약 90%가 수입·고가 맞춤 / 키친바흐 매출 +17% (2025.6 기준) / 밀레 연계 부엌 매출 +173% (2024 대비)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https://www.heraldk.com/article/2025072318143590645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18726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S10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한샘 리하우스 부문 매출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2025 1Q 1,147억원 (−4.3%)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https://newstomato.com/ReadNews.aspx?no=1284742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18726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S11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신축 유상옵션 비용 비중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분양가상한제 단지 7곳 평균 분양가 대비 9.7%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https://www.etoday.co.kr/news/view/2392578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196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S12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코웨이 실적 · 렌탈 계정 (가전 Rental · 방문관리 사례)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2024 매출 4조3,101억원 · 국내 계정 671만 / 2025 매출 4조9,636억원 · 영업이익 8,787억원 / 2026 1Q 국내 계정 748만 (전체 1,173만)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https://news.bizwatch.co.kr/article/consumer/2025/02/14/0029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18726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S13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가전 A/S 출장비 (소비자 부과분)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삼성전자서비스 평절기 기본 2.8만원 (2026.1.8~) / LG전자 평절기 평일 주간 2.8만원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https://biz.sbs.co.kr/amp/article/20000282569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F1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 F2  ·  출처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Sources (2/4)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조회일 2026-10-07~08 · 공식 통계 · 회사 발표 · 보도 인용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90567"/>
          <a:ext cx="10817352" cy="4078221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02920"/>
                <a:gridCol w="2377440"/>
                <a:gridCol w="4480560"/>
                <a:gridCol w="3456432"/>
              </a:tblGrid>
              <a:tr h="18726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ID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항목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값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대표 URL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18726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S14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가사서비스 요금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플랫폼 4시간 59,900~64,900원 (약 1.5~1.6만원/h) / 2026 최저임금 10,320원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https://apps.apple.com/pl/app/id997730211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196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S15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협동로봇 가격 (Arm + Controller)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UR3e $23k~33k (공식 정가 미공개, 유통가) / Doosan E0509 약 $22k / UFACTORY xArm 6 $8,399 / FAIRINO FR5 $6,999 / UFACTORY Lite 6 Kit $4,482 (가반 0.6kg)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https://standardbots.com/blog/universal-robot-price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5207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S16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Gripper / Fingertip / Food-grade Suction Cup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Robotiq 2F-85 $4,999~ / OnRobot RG2 약 $3,200 / Robotiq Fingertip $175~195 / Piab Food-grade Silicone Cup £7~20 (FDA 21 CFR 177.2600) / 2026 판매가 2F-85 약 $5,825 (미국 리셀러, Coupling · Fingertip 포함)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https://qviro.com/product/robotiq/2f-85-robotiq/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18726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S17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Depth Camera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Intel RealSense D405 $514 / D435 $538 / Orbbec Gemini 335 $384~400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https://openelab.com/collections/robotic-camera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18726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S18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Linear Module (소형)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HIWIN KK 계열 $73~245 (소형 모듈, Robot 7축 Rail과 다름)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https://qviro.com/product/hiwin/electric-linear-axis-kk-series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196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S19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1X NEO (가정용 Humanoid)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$20,000 구매 또는 월 $499 구독. 첫 가정 배송 목표 2026년 말 (2026.10 기준 고객 배송 완료 확인 안 됨)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https://www.fastcompany.com/91428202/1x-technologies-home-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robot-neo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196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S20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Sunday Robotics Memo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식세기 적재 · 테이블 정리 시연 (회사 발표, 낯선 Airbnb 6곳 시연 보도) · Beta 2026년 말 (회사 웹사이트) · 양산 시 $10k 미만 목표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https://euronews.com/next/2025/11/25/meet-memo-a-home-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robot-that-can-grab-wine-glasses-and-load-the-dishwasher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196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S21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LG CLOiD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CES 2026 공개 · 식세기 비우기 등 시연 · 2026 현장 실증 → 가정용 상용화 2028 목표 (회사 언급 보도) · 팔 작업 범위 무릎 높이 이상 (보도) · 판매가 미공개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https://www.dezeen.com/2026/01/06/lg-ai-powered-robot-ces-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2026/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196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S22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Samsung (가정용 로봇 · 주방)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Bot Handy: CES 2021 공개 Concept (식기 이동 시연), 출시 일정 미공개 / CES · IFA 2026 주방 전시는 AI 가전 중심, 식기 로봇 출시 확인 안 됨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https://www.sammobile.com/news/meet-samsung-new-ai-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powered-household-robots-ces-2021/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18726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S23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Moley Robotic Kitchen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Arm 포함 £248,000 / Arm 제외 £128,000~140,000 (천장 Rail 양팔)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https://thespoon.tech/moleys-robotic-kitchen-goes-on-sale/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196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S24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Posha (Countertop Cooking Robot)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$1,750 (선주문 $1,500) + 월 $15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https://techcrunch.com/2025/05/06/meet-posha-a-countertop-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robot-that-cooks-your-meals-for-you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5207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S25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Tesla Optimus / Figure 03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Optimus 소비자 목표가 $20k~30k (양산 시, 2027 전후) / Figure 03 가사 시연, 가격 미공개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https://www.notebookcheck.net/Optimus-as-a-household-helper-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Elon-Musk-plans-to-bring-Tesla-robots-into-private-homes-starting-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in-2027.1212513.0.html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196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S26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IFR World Robotics 2025 — Service Robots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소비자용 서비스로봇 약 2,000만대 (2024, +11%, 대부분 청소·잔디) / 전문 서비스로봇 약 20만대 (+9%)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https://ifr.org/ifr-press-releases/news/service-robots-see-global-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growth-boom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F2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 F3  ·  출처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Sources (3/4)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조회일 2026-10-07~08 · 공식 통계 · 회사 발표 · 보도 인용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90567"/>
          <a:ext cx="10817352" cy="3548601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02920"/>
                <a:gridCol w="2377440"/>
                <a:gridCol w="4480560"/>
                <a:gridCol w="3456432"/>
              </a:tblGrid>
              <a:tr h="18726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ID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항목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값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대표 URL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18726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S27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Density (IFR World Robotics 2024)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한국 제조업 근로자 1만명당 1,012대 (세계 1위, 2023)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https://www.koreaherald.com/article/10011543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18726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S28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ISO 10218-1/-2:2025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2025.2 발행. ISO/TS 15066 (PFL·SSM) 요구사항을 본문에 통합, 기능안전·Cybersecurity 강화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https://www.sick.com/kr/ko/w/blog-robotic-norm-iso10218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18726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S29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TIPS 2026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일반 TIPS R&amp;D 최대 8억원·24개월 / 딥테크 TIPS 최대 15억원·36개월 (요건 별도)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https://www.unicornfactory.co.kr/article/2026012511000214016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18726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S30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식기세척기 보급률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2019~2020 업계 추정 10%대 초반 (최신 공식 통계 확인 안 됨 → TO BE VALIDATED)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https://www.etoday.co.kr/news/view/1789343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196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S31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ISO 13482 (Personal Care Robot) 국내 인증 사례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유진로봇 GoCart, 국내 첫 ISO 13482 인증 AMR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https://yujinrobot.com/blog/yujin-robots-gocart-becomes-koreas-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first-iso-13482-safety-certified-autonomous-mobile-robot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18726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S32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가정용 로봇 인증 동향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반려로봇 KS 인증 도입 (2026.4, 정부)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https://news.mtn.co.kr/news-detail/2026042014042480949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5207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S33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2026 TIPS 일반트랙 규정 (R&amp;D)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정부지원 최대 8억원 · 24개월 · 정부 75% 이내 / 기관부담 25% 이상 (그중 현금 10% 이상) · 운영사 투자 수도권 2억원 이상 · 비수도권 1억원 이상 · 대표 포함 창업팀 2인 이상 지분 60% 이상 · 운영사 30% 이하 · 정부지원 5억원당 청년 1명 신규 채용 · 업력 7년 이내 (신산업 10년) · 분기별 접수 연 3회 (IRIS)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https://www.kakao.vc/blog/2026-tips-what-changed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196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S34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2026 TIPS 비R&amp;D 연계 (창업사업화 · 해외마케팅)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각 10개월 최대 1.5억원, 합산 3억원 · 정부 70% 이내 (기업 30% 이상: 현금 10% 이상 · 현물 20% 이하)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https://app.rndcircle.io/gov-grant/4a69b298-641c-445a-9dac-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66cf5dd0ee72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196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S35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TIPS 일반트랙 선정평가 배점 (비공식)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기술성 40 · 사업성 40 (글로벌 성장 가능성 포함) · 사업수행 역량 20 (창업기업 전문성 · 운영사 지원계획) / 2026 가점 최대 5점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https://www.pinepat.com/ko/insights/columns/tips-application-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guide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18726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S36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식기세척기 적재 연구 (Voysey · Thuruthel · Iida)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트레이 25개 실험에서 식기 58.7% 정리 (one-shot, preprint 기준) · 비교 대회 시스템 49~79%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https://onlinelibrary.wiley.com/doi/10.1002/eng2.12321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18726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S37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Dobb-E (가정 조작 학습)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뉴욕 10가구 · 단순 가사 과제 109종 · 과제당 10회 평균 성공률 81%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https://arxiv.org/abs/2311.16098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196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S38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TidyBot · π0.5 (가정 정리)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TidyBot 실물 정리 85% (배치 기준, 2023) · π0.5 처음 보는 가정 주방 · 침실 정리, 부분 점수 기준 자체 보고 (2025)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https://arxiv.org/abs/2305.05658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196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S39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협동로봇 안전 기준 값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ISO 10218-2:2025 감속 기능 접근 가능한 가동부 250mm/s 이하 · 부속서 M (구 ISO/TS 15066) 손 · 손가락 준정적 접촉력 140N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https://blog.robotiq.com/compliance-of-the-hand-e-gripper-with-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iso-10218-22025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F3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 F4  ·  출처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Sources (4/4)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조회일 2026-10-07~08 · 공식 통계 · 회사 발표 · 보도 인용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90567"/>
          <a:ext cx="10817352" cy="4343031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02920"/>
                <a:gridCol w="2377440"/>
                <a:gridCol w="4480560"/>
                <a:gridCol w="3456432"/>
              </a:tblGrid>
              <a:tr h="18726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ID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항목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값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대표 URL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3196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S40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무급 가사노동 가치 (2024 가계생산 위성계정)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582.4조원 (GDP 약 22%) · 그중 가정관리 (음식 준비 · 청소 등) 459.5조원 (78.9%) · 1인당 하루 가사노동 132분 (2019 137분)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https://biz.sbs.co.kr/amp/article/20000307502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196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S41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가전 구독 · Care 사례 (LG전자)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2025 구독 매출 2조원 이상 (4Q 실적 발표) · 케어매니저 약 4,000명 · LH 공공주택 5,400여 세대 구독형 가전 + 6년 정기관리 · 압구정 재건축 빌트인 가전 + Care 구독 선택지 (조합원 약 7,000세대)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https://files-scs.pstatic.net/2026/01/30/SgKPKOCyxu/2025.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4Q%20Earnings%20Release%20of%20LGE_KR.pdf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196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S42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Hand Benchmark (상용)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Robotiq 2F-85 약 $5,825 (2026 판매가) · Inspire RH56 계열 $4,500~9,899 (판매가) · Inspire RH56E2 엄지 파지력 30N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https://www.roboticscenter.ai/ko/blog/robotiq-gripper-guide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5207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S43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식품 직접 접촉용 Finger Gripper (상용)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Schmalz OFG: 실리콘 파지부 · IP68 · 최대 80°C · 마모부품 Kit 별도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https://www.schmalz.com/en/vacuum-technology-for-automation/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vacuum-components/area-gripping-systems-and-end-effectors/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finger-grippers/finger-grippers-ofg-312389/10.01.51.00001/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18726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S44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미끄럼 감지 연구 (촉각 센서)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GelSight Mini 기반 실시간 미끄럼 감지, 일상 물체 10종 평균 정확도 99% (실험실) · 센서 가격 비공개 (견적)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https://arxiv.org/abs/2303.00935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196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S45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Figure Helix 식기세척기 시연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2025.9 식세기 적재 시연 · 2026.1 Helix 02 식세기 인출 → 수납 → 적재 약 4분 연속 (회사 발표, 독립 검증 없음)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https://futurism.com/future-society/figure-robot-loading-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dishwasher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18726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S46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Physical Intelligence openpi (공개 모델)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π0 · π0-FAST · π0.5 코드 · 가중치 공개 (2025.2~), 테이블 정리 등 Fine-tune 예시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https://github.com/Physical-Intelligence/openpi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196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S47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가정용 로봇 안전 표준 동향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IEC 63682 (구 IEC 60335-2-123) Robots for household and similar use — Safety: 2026 CDV 단계 (독일 의견수렴 2026.5.15~7.15) · ISO 13482 개정 FDIS (2025.7)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https://www.vde-verlag.de/standards/1701976/e-din-iec-63682-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vde-0700-123-2026-06.html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196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S48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식품 접촉 부품 규정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식품위생법상 "기구" (식품에 직접 닿는 기계 · 기구) · 「기구 및 용기 · 포장의 기준 및 규격」 (식약처 고시) 고무제 (실리콘) 재질 · 용출 규격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https://www.mfds.go.kr/brd/m_207/view.do?seq=14529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5207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S49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선행기술 — 식기 조작 로봇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US 11,731,282 (Dishcare, 쌓인 식기 사이에 넣는 Tapered Finger · 수납 Module 통합) · US 10,507,584 (Dishcraft, 식기 인식 · 랙 적재) · WO 2018/031489 (Dishcraft, 자성 식기 Gripper) · US 2023/0165427 (가정용 식세기 맞춤 Routine)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https://patents.justia.com/patent/11731282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5207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S50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선행기술 — 주방 로봇팔 · Rail · 수납장 · Skill Library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US 7,751,938 외 3건 (주방 벽 Rail 이동 로봇팔 제어) · EP 3,881,977 (가전 · 주변 고정 모듈형 Arm, 교체형 End piece) · US 12,275,130 (수납장 내 Gantry 조리 로봇) · US 10,518,409 B2 (Minimanipulation Library · Instrumented Environment)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https://image-ppubs.uspto.gov/dirsearch-public/print/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downloadPdf/7751938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196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S51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주방가구사 동향 (2026)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한샘 키친바흐 × 가게나우 빌트인장 협업 · 코리아빌드 2026 신제품 (로봇 제품 없음) — 가구사의 가정용 주방 로봇 협업 보도 확인 안 됨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https://www.hankyung.com/amp/202606170891P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18726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S52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2026 TIPS 접수 방식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공고 접수 기간 2026.1.26~12.31 · 일반트랙 분기 단위 평가 (운용사 해설) — 남은 차수 일정은 운영사 확인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https://www.venturesquare.net/announcement/1035119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F4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Noto Sans KR"/>
        <a:ea typeface="Noto Sans KR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 KR"/>
        <a:ea typeface="Noto Sans KR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MH Robotics — Kitchen Manipulation Robotics System · Seed · TIPS IR (최종본)</dc:title>
  <dc:subject>Adaptive Robot Hand · Manipulation Skill · Calibration · Environment Interface · CLEAN → ASSIST → COOK</dc:subject>
  <dc:creator>MH Robotics</dc:creator>
  <cp:keywords/>
  <dc:description>generated using python-pptx</dc:description>
  <cp:lastModifiedBy/>
  <cp:revision>1</cp:revision>
  <dcterms:created xsi:type="dcterms:W3CDTF">2026-10-08T09:00:00Z</dcterms:created>
  <dcterms:modified xsi:type="dcterms:W3CDTF">2026-10-08T09:00:00Z</dcterms:modified>
  <cp:category/>
</cp:coreProperties>
</file>