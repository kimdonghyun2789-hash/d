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1"/>
          <c:w val="0.96"/>
          <c:h val="0.78"/>
        </c:manualLayout>
      </c:layout>
      <c:barChart>
        <c:barDir val="col"/>
        <c:grouping val="stacked"/>
        <c:ser>
          <c:idx val="0"/>
          <c:order val="0"/>
          <c:tx>
            <c:strRef>
              <c:f>Sheet1!$B$1</c:f>
              <c:strCache>
                <c:ptCount val="1"/>
                <c:pt idx="0">
                  <c:v>Remodeling 직접</c:v>
                </c:pt>
              </c:strCache>
            </c:strRef>
          </c:tx>
          <c:spPr>
            <a:solidFill>
              <a:srgbClr val="15171A"/>
            </a:solidFill>
            <a:ln>
              <a:noFill/>
            </a:ln>
          </c:spPr>
          <c:invertIfNegative val="0"/>
          <c:cat>
            <c:strRef>
              <c:f>Sheet1!$A$2:$A$6</c:f>
              <c:strCache>
                <c:ptCount val="5"/>
                <c:pt idx="0">
                  <c:v>Y1</c:v>
                </c:pt>
                <c:pt idx="1">
                  <c:v>Y2</c:v>
                </c:pt>
                <c:pt idx="2">
                  <c:v>Y3</c:v>
                </c:pt>
                <c:pt idx="3">
                  <c:v>Y4</c:v>
                </c:pt>
                <c:pt idx="4">
                  <c:v>Y5</c:v>
                </c:pt>
              </c:strCache>
            </c:strRef>
          </c:cat>
          <c:val>
            <c:numRef>
              <c:f>Sheet1!$B$2:$B$6</c:f>
              <c:numCache>
                <c:formatCode>General</c:formatCode>
                <c:ptCount val="5"/>
                <c:pt idx="0">
                  <c:v>0</c:v>
                </c:pt>
                <c:pt idx="1">
                  <c:v>3</c:v>
                </c:pt>
                <c:pt idx="2">
                  <c:v>30</c:v>
                </c:pt>
                <c:pt idx="3">
                  <c:v>50</c:v>
                </c:pt>
                <c:pt idx="4">
                  <c:v>60</c:v>
                </c:pt>
              </c:numCache>
            </c:numRef>
          </c:val>
        </c:ser>
        <c:ser>
          <c:idx val="1"/>
          <c:order val="1"/>
          <c:tx>
            <c:strRef>
              <c:f>Sheet1!$C$1</c:f>
              <c:strCache>
                <c:ptCount val="1"/>
                <c:pt idx="0">
                  <c:v>Remodeling Partner</c:v>
                </c:pt>
              </c:strCache>
            </c:strRef>
          </c:tx>
          <c:spPr>
            <a:solidFill>
              <a:srgbClr val="6B7078"/>
            </a:solidFill>
            <a:ln>
              <a:noFill/>
            </a:ln>
          </c:spPr>
          <c:invertIfNegative val="0"/>
          <c:cat>
            <c:strRef>
              <c:f>Sheet1!$A$2:$A$6</c:f>
              <c:strCache>
                <c:ptCount val="5"/>
                <c:pt idx="0">
                  <c:v>Y1</c:v>
                </c:pt>
                <c:pt idx="1">
                  <c:v>Y2</c:v>
                </c:pt>
                <c:pt idx="2">
                  <c:v>Y3</c:v>
                </c:pt>
                <c:pt idx="3">
                  <c:v>Y4</c:v>
                </c:pt>
                <c:pt idx="4">
                  <c:v>Y5</c:v>
                </c:pt>
              </c:strCache>
            </c:strRef>
          </c:cat>
          <c:val>
            <c:numRef>
              <c:f>Sheet1!$C$2:$C$6</c:f>
              <c:numCache>
                <c:formatCode>General</c:formatCode>
                <c:ptCount val="5"/>
                <c:pt idx="0">
                  <c:v>0</c:v>
                </c:pt>
                <c:pt idx="1">
                  <c:v>0</c:v>
                </c:pt>
                <c:pt idx="2">
                  <c:v>20</c:v>
                </c:pt>
                <c:pt idx="3">
                  <c:v>130</c:v>
                </c:pt>
                <c:pt idx="4">
                  <c:v>340</c:v>
                </c:pt>
              </c:numCache>
            </c:numRef>
          </c:val>
        </c:ser>
        <c:ser>
          <c:idx val="2"/>
          <c:order val="2"/>
          <c:tx>
            <c:strRef>
              <c:f>Sheet1!$D$1</c:f>
              <c:strCache>
                <c:ptCount val="1"/>
                <c:pt idx="0">
                  <c:v>Retrofit</c:v>
                </c:pt>
              </c:strCache>
            </c:strRef>
          </c:tx>
          <c:spPr>
            <a:solidFill>
              <a:srgbClr val="A9AEB5"/>
            </a:solidFill>
            <a:ln>
              <a:noFill/>
            </a:ln>
          </c:spPr>
          <c:invertIfNegative val="0"/>
          <c:cat>
            <c:strRef>
              <c:f>Sheet1!$A$2:$A$6</c:f>
              <c:strCache>
                <c:ptCount val="5"/>
                <c:pt idx="0">
                  <c:v>Y1</c:v>
                </c:pt>
                <c:pt idx="1">
                  <c:v>Y2</c:v>
                </c:pt>
                <c:pt idx="2">
                  <c:v>Y3</c:v>
                </c:pt>
                <c:pt idx="3">
                  <c:v>Y4</c:v>
                </c:pt>
                <c:pt idx="4">
                  <c:v>Y5</c:v>
                </c:pt>
              </c:strCache>
            </c:strRef>
          </c:cat>
          <c:val>
            <c:numRef>
              <c:f>Sheet1!$D$2:$D$6</c:f>
              <c:numCache>
                <c:formatCode>General</c:formatCode>
                <c:ptCount val="5"/>
                <c:pt idx="0">
                  <c:v>0</c:v>
                </c:pt>
                <c:pt idx="1">
                  <c:v>0</c:v>
                </c:pt>
                <c:pt idx="2">
                  <c:v>0</c:v>
                </c:pt>
                <c:pt idx="3">
                  <c:v>20</c:v>
                </c:pt>
                <c:pt idx="4">
                  <c:v>80</c:v>
                </c:pt>
              </c:numCache>
            </c:numRef>
          </c:val>
        </c:ser>
        <c:ser>
          <c:idx val="3"/>
          <c:order val="3"/>
          <c:tx>
            <c:strRef>
              <c:f>Sheet1!$E$1</c:f>
              <c:strCache>
                <c:ptCount val="1"/>
                <c:pt idx="0">
                  <c:v>New-build 입주</c:v>
                </c:pt>
              </c:strCache>
            </c:strRef>
          </c:tx>
          <c:spPr>
            <a:solidFill>
              <a:srgbClr val="D5D8DC"/>
            </a:solidFill>
            <a:ln>
              <a:noFill/>
            </a:ln>
          </c:spPr>
          <c:invertIfNegative val="0"/>
          <c:cat>
            <c:strRef>
              <c:f>Sheet1!$A$2:$A$6</c:f>
              <c:strCache>
                <c:ptCount val="5"/>
                <c:pt idx="0">
                  <c:v>Y1</c:v>
                </c:pt>
                <c:pt idx="1">
                  <c:v>Y2</c:v>
                </c:pt>
                <c:pt idx="2">
                  <c:v>Y3</c:v>
                </c:pt>
                <c:pt idx="3">
                  <c:v>Y4</c:v>
                </c:pt>
                <c:pt idx="4">
                  <c:v>Y5</c:v>
                </c:pt>
              </c:strCache>
            </c:strRef>
          </c:cat>
          <c:val>
            <c:numRef>
              <c:f>Sheet1!$E$2:$E$6</c:f>
              <c:numCache>
                <c:formatCode>General</c:formatCode>
                <c:ptCount val="5"/>
                <c:pt idx="0">
                  <c:v>0.0</c:v>
                </c:pt>
                <c:pt idx="1">
                  <c:v>0.0</c:v>
                </c:pt>
                <c:pt idx="2">
                  <c:v>0.0</c:v>
                </c:pt>
                <c:pt idx="3">
                  <c:v>0.0</c:v>
                </c:pt>
                <c:pt idx="4">
                  <c:v>80.0</c:v>
                </c:pt>
              </c:numCache>
            </c:numRef>
          </c:val>
        </c:ser>
        <c:gapWidth val="60"/>
        <c:overlap val="100"/>
        <c:axId val="-2068027336"/>
        <c:axId val="-2113994440"/>
      </c:barChart>
      <c:catAx>
        <c:axId val="-2068027336"/>
        <c:scaling>
          <c:orientation val="minMax"/>
        </c:scaling>
        <c:delete val="0"/>
        <c:axPos val="b"/>
        <c:majorTickMark val="none"/>
        <c:minorTickMark val="none"/>
        <c:tickLblPos val="none"/>
        <c:spPr>
          <a:ln>
            <a:solidFill>
              <a:srgbClr val="E2E4E7"/>
            </a:solidFill>
          </a:ln>
        </c:spPr>
        <c:crossAx val="-2113994440"/>
        <c:crosses val="autoZero"/>
        <c:auto val="1"/>
        <c:lblAlgn val="ctr"/>
        <c:lblOffset val="100"/>
        <c:noMultiLvlLbl val="0"/>
      </c:catAx>
      <c:valAx>
        <c:axId val="-2113994440"/>
        <c:scaling>
          <c:min val="0.0"/>
        </c:scaling>
        <c:delete/>
        <c:axPos val="l"/>
        <c:majorTickMark val="none"/>
        <c:minorTickMark val="none"/>
        <c:tickLblPos val="nextTo"/>
        <c:crossAx val="-2068027336"/>
        <c:crosses val="autoZero"/>
      </c:valAx>
    </c:plotArea>
    <c:dispBlanksAs val="gap"/>
  </c:chart>
  <c:txPr>
    <a:bodyPr/>
    <a:lstStyle/>
    <a:p>
      <a:pPr>
        <a:defRPr sz="950">
          <a:solidFill>
            <a:srgbClr val="4A4F57"/>
          </a:solidFill>
          <a:latin typeface="Noto Sans KR"/>
          <a:ea typeface="Noto Sans KR"/>
          <a:cs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08"/>
          <c:w val="0.96"/>
          <c:h val="0.8"/>
        </c:manualLayout>
      </c:layout>
      <c:barChart>
        <c:barDir val="col"/>
        <c:grouping val="clustered"/>
        <c:ser>
          <c:idx val="0"/>
          <c:order val="0"/>
          <c:tx>
            <c:strRef>
              <c:f>Sheet1!$B$1</c:f>
              <c:strCache>
                <c:ptCount val="1"/>
                <c:pt idx="0">
                  <c:v>Conservative</c:v>
                </c:pt>
              </c:strCache>
            </c:strRef>
          </c:tx>
          <c:spPr>
            <a:solidFill>
              <a:srgbClr val="C9CDD2"/>
            </a:solidFill>
            <a:ln>
              <a:noFill/>
            </a:ln>
          </c:spPr>
          <c:invertIfNegative val="0"/>
          <c:cat>
            <c:strRef>
              <c:f>Sheet1!$A$2:$A$6</c:f>
              <c:strCache>
                <c:ptCount val="5"/>
                <c:pt idx="0">
                  <c:v>Y1</c:v>
                </c:pt>
                <c:pt idx="1">
                  <c:v>Y2</c:v>
                </c:pt>
                <c:pt idx="2">
                  <c:v>Y3</c:v>
                </c:pt>
                <c:pt idx="3">
                  <c:v>Y4</c:v>
                </c:pt>
                <c:pt idx="4">
                  <c:v>Y5</c:v>
                </c:pt>
              </c:strCache>
            </c:strRef>
          </c:cat>
          <c:val>
            <c:numRef>
              <c:f>Sheet1!$B$2:$B$6</c:f>
              <c:numCache>
                <c:formatCode>General</c:formatCode>
                <c:ptCount val="5"/>
                <c:pt idx="0">
                  <c:v>0.0</c:v>
                </c:pt>
                <c:pt idx="1">
                  <c:v>0.14507999999999996</c:v>
                </c:pt>
                <c:pt idx="2">
                  <c:v>3.609345</c:v>
                </c:pt>
                <c:pt idx="3">
                  <c:v>15.3286454375</c:v>
                </c:pt>
                <c:pt idx="4">
                  <c:v>33.985162790625004</c:v>
                </c:pt>
              </c:numCache>
            </c:numRef>
          </c:val>
        </c:ser>
        <c:ser>
          <c:idx val="1"/>
          <c:order val="1"/>
          <c:tx>
            <c:strRef>
              <c:f>Sheet1!$C$1</c:f>
              <c:strCache>
                <c:ptCount val="1"/>
                <c:pt idx="0">
                  <c:v>Base</c:v>
                </c:pt>
              </c:strCache>
            </c:strRef>
          </c:tx>
          <c:spPr>
            <a:solidFill>
              <a:srgbClr val="15171A"/>
            </a:solidFill>
            <a:ln>
              <a:noFill/>
            </a:ln>
          </c:spPr>
          <c:invertIfNegative val="0"/>
          <c:cat>
            <c:strRef>
              <c:f>Sheet1!$A$2:$A$6</c:f>
              <c:strCache>
                <c:ptCount val="5"/>
                <c:pt idx="0">
                  <c:v>Y1</c:v>
                </c:pt>
                <c:pt idx="1">
                  <c:v>Y2</c:v>
                </c:pt>
                <c:pt idx="2">
                  <c:v>Y3</c:v>
                </c:pt>
                <c:pt idx="3">
                  <c:v>Y4</c:v>
                </c:pt>
                <c:pt idx="4">
                  <c:v>Y5</c:v>
                </c:pt>
              </c:strCache>
            </c:strRef>
          </c:cat>
          <c:val>
            <c:numRef>
              <c:f>Sheet1!$C$2:$C$6</c:f>
              <c:numCache>
                <c:formatCode>General</c:formatCode>
                <c:ptCount val="5"/>
                <c:pt idx="0">
                  <c:v>0.0</c:v>
                </c:pt>
                <c:pt idx="1">
                  <c:v>0.260511</c:v>
                </c:pt>
                <c:pt idx="2">
                  <c:v>7.4234195</c:v>
                </c:pt>
                <c:pt idx="3">
                  <c:v>35.918587</c:v>
                </c:pt>
                <c:pt idx="4">
                  <c:v>91.49063800000002</c:v>
                </c:pt>
              </c:numCache>
            </c:numRef>
          </c:val>
        </c:ser>
        <c:ser>
          <c:idx val="2"/>
          <c:order val="2"/>
          <c:tx>
            <c:strRef>
              <c:f>Sheet1!$D$1</c:f>
              <c:strCache>
                <c:ptCount val="1"/>
                <c:pt idx="0">
                  <c:v>Upside</c:v>
                </c:pt>
              </c:strCache>
            </c:strRef>
          </c:tx>
          <c:spPr>
            <a:solidFill>
              <a:srgbClr val="E2571B"/>
            </a:solidFill>
            <a:ln>
              <a:noFill/>
            </a:ln>
          </c:spPr>
          <c:invertIfNegative val="0"/>
          <c:cat>
            <c:strRef>
              <c:f>Sheet1!$A$2:$A$6</c:f>
              <c:strCache>
                <c:ptCount val="5"/>
                <c:pt idx="0">
                  <c:v>Y1</c:v>
                </c:pt>
                <c:pt idx="1">
                  <c:v>Y2</c:v>
                </c:pt>
                <c:pt idx="2">
                  <c:v>Y3</c:v>
                </c:pt>
                <c:pt idx="3">
                  <c:v>Y4</c:v>
                </c:pt>
                <c:pt idx="4">
                  <c:v>Y5</c:v>
                </c:pt>
              </c:strCache>
            </c:strRef>
          </c:cat>
          <c:val>
            <c:numRef>
              <c:f>Sheet1!$D$2:$D$6</c:f>
              <c:numCache>
                <c:formatCode>General</c:formatCode>
                <c:ptCount val="5"/>
                <c:pt idx="0">
                  <c:v>0.0</c:v>
                </c:pt>
                <c:pt idx="1">
                  <c:v>0.307701</c:v>
                </c:pt>
                <c:pt idx="2">
                  <c:v>9.634628750000001</c:v>
                </c:pt>
                <c:pt idx="3">
                  <c:v>55.237646664999986</c:v>
                </c:pt>
                <c:pt idx="4">
                  <c:v>154.77567364520004</c:v>
                </c:pt>
              </c:numCache>
            </c:numRef>
          </c:val>
        </c:ser>
        <c:gapWidth val="50"/>
        <c:axId val="-2068027336"/>
        <c:axId val="-2113994440"/>
      </c:barChart>
      <c:catAx>
        <c:axId val="-2068027336"/>
        <c:scaling>
          <c:orientation val="minMax"/>
        </c:scaling>
        <c:delete val="0"/>
        <c:axPos val="b"/>
        <c:majorTickMark val="none"/>
        <c:minorTickMark val="none"/>
        <c:tickLblPos val="none"/>
        <c:spPr>
          <a:ln>
            <a:solidFill>
              <a:srgbClr val="E2E4E7"/>
            </a:solidFill>
          </a:ln>
        </c:spPr>
        <c:crossAx val="-2113994440"/>
        <c:crosses val="autoZero"/>
        <c:auto val="1"/>
        <c:lblAlgn val="ctr"/>
        <c:lblOffset val="100"/>
        <c:noMultiLvlLbl val="0"/>
      </c:catAx>
      <c:valAx>
        <c:axId val="-2113994440"/>
        <c:scaling>
          <c:min val="0.0"/>
        </c:scaling>
        <c:delete/>
        <c:axPos val="l"/>
        <c:majorTickMark val="none"/>
        <c:minorTickMark val="none"/>
        <c:tickLblPos val="nextTo"/>
        <c:crossAx val="-2068027336"/>
        <c:crosses val="autoZero"/>
      </c:valAx>
    </c:plotArea>
    <c:legend>
      <c:legendPos val="t"/>
      <c:overlay val="0"/>
    </c:legend>
    <c:dispBlanksAs val="gap"/>
  </c:chart>
  <c:txPr>
    <a:bodyPr/>
    <a:lstStyle/>
    <a:p>
      <a:pPr>
        <a:defRPr sz="900">
          <a:solidFill>
            <a:srgbClr val="4A4F57"/>
          </a:solidFill>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MH Robotics는 다양한 실제 주방에서 식기 정리부터 조리까지 단계적으로 수행하는 주거용 Manipulation Robotics System을 만듭니다. 핵심은 로봇손, 작업 Skill, Calibration, 주방 Interface를 하나의 제품으로 묶는 것입니다. 첫 검증 Workflow는 식기 정리, 즉 CLEAN이고, 같은 Platform 위에 ASSIST와 COOK을 단계적으로 올립니다. 현재는 Concept 단계로 시제품, 고객, 계약, LOI, 파트너, 매출이 없습니다. 오늘은 Seed와 TIPS 24개월 동안 어떤 증거를 만들지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식기세척기, 인덕션, 냉장고, 오븐은 각자 기기 안의 일을 자동으로 합니다. 하지만 식기를 옮기고, 식세기에 넣고 꺼내고, 수납하고, 재료를 옮겨 넣고, 도구를 다루는 일은 여전히 사람이 합니다. 저희는 이 문제를 개별 가전 기능이 아니라 주방 전체 Workflow의 Physical Manipulation이 자동화되지 않은 문제로 정의합니다. 국가데이터처 가계생산 위성계정을 보면 2024년 무급 가사노동 가치는 582.4조원이고 그중 음식 준비와 청소를 포함한 가정관리가 78.9%입니다. 식사 후 정리 시간 하루 약 40분은 아직 가정이며, 30세대 시간 기록으로 확인할 계획입니다.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주방인지 감성이 아니라 엔지니어링과 사업성 기준으로 설명드리겠습니다. 주방 작업은 집기, 옮기기, 놓기, 넣기, 빼기 같은 적은 수의 동작이 반복되고, 싱크, 조리대, 식기세척기, 수납장처럼 작업 영역이 정해져 있습니다. 물체는 다양하지만 접시, 컵, 그릇, 수저, 뚜껑, 도구로 범위가 닫혀 있습니다. 사업 측면에서는 매일 쓰는 공간이라 가치 체감이 빠르고, 주방 리모델링이나 신축 입주라는 구매 계기가 있습니다. 다만 고객이 실제로 돈을 낼지는 별도 검증이 필요하며, 18개월 차에 300명 이상 지불의사 조사로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가정용 로봇이 어려운 이유를 AI 성능만으로 보지 않습니다. 주방 형태, 가전 위치와 모델, 수납 위치, 조리대 치수, 물건 위치, 동선, 조명, 설치 오차가 집마다 다릅니다. 범용 로봇을 그대로 넣으면 집마다 인식, 지도 작성, 교시, 프로그래밍, Calibration, 검증을 다시 해야 하고, 이것이 설치시간과 비용, 신뢰성을 좌우합니다. 실제로 저희가 받은 평면 다섯 종만 봐도 싱크 벽 길이가 약 2.6에서 3.3미터로 다르고 세 종은 기본 배치가 들어가지 않습니다. 그렇다고 MH가 모든 주방을 표준화하겠다는 것은 아닙니다. 다음 장에서 접근 방식을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MH의 접근은 주방 전체를 로봇에 맞게 바꾸는 것이 아닙니다. 물체가 다양한 문제는 Adaptive Robot Hand로, 작업이 다양한 문제는 Manipulation Skill Library로, 주방마다 다른 문제는 Perception과 Calibration으로 풉니다. 그리고 매일 반복되는 작업 지점, 예를 들어 로봇이 쉬는 자리, 도구 거치대, 식기세척기 랙 같은 곳에만 최소한의 Interface를 둡니다. 환경 표준화는 목적이 아니라 신뢰성과 반복설치를 높이는 수단입니다. 이렇게 해야 같은 로봇과 같은 Skill을 여러 주방에서 반복 적용할 수 있다고 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MH의 핵심 하드웨어는 주방 물체를 다루는 로봇손입니다. 접시는 얇은 가장자리를 집고, 컵은 바깥 벽을 감싸고, 그릇은 테두리를 집고, 국자 같은 도구는 손잡이를 쥡니다. 저희 목표는 손가락 수나 자유도 경쟁이 아니라 작업 완료율, 가격, 위생, 유지관리, 내구성입니다. 그래서 식품이 닿는 Pad와 Tip은 교체형 모듈로 만들고, 이 모듈이 소모품 매출로도 이어집니다. 다만 자체 Hand가 상용 Gripper보다 낫다는 것은 아직 증명되지 않았습니다. 6개월 차에 Robotiq 2F-85 같은 상용 Gripper를 기준선으로 30종 식기 세트에서 비교하고, 성공률, 파손, 교체 횟수, 원가에서 우위가 확인될 때만 자체 Hand를 채택합니다.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Manipulation Skill은 단순한 소프트웨어 구독이 아니라 로봇이 할 수 있는 일을 늘리는 층입니다. 모든 Skill은 감지, 파지, 조작, 검증, 복구의 같은 구조로 실행되고, 실패를 감지하면 다시 잡거나 내려놓는 복구 동작으로 이어집니다. 핵심은 이 Skill을 다른 주방으로 옮기는 것입니다. 주방마다 가전과 수납 위치, 설치 오차가 다르기 때문에 설치 때 주방 지도를 만들고, 기준점으로 좌표를 맞추고, 가전과 수납 위치를 등록하고, 작업 파라미터를 조정합니다. 18개월 차에 구조와 가전 모델이 다른 주방 세 종에서 재배치 후 성공률 하락이 10%p 이내인지, 현장 Calibration이 4시간 안에 끝나는지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제품은 다섯 개 층으로 구성됩니다. A는 로봇 팔, Adaptive Hand, 카메라, 힘과 안전 센서, 컨트롤러로 된 Robot Module이고 필요하면 레일과 Dock을 씁니다. B는 물체 인식부터 파지 계획, 경로 계획, 실행, 실패 감지와 복구까지의 Manipulation Layer, C는 주방 지도와 좌표, 가전과 수납 위치를 맞추는 Calibration Layer입니다. D는 Robot Home, 도구와 수납 Dock, 가전 Interface, 비전 기준점 같은 최소한의 환경 Interface이고, E는 사람 감지, 감속, 충돌 감지, 비상정지, 안전 복귀입니다. 그림의 주황 영역이 로봇 작업 구역, 회색 점선이 사람 구역입니다. 설치 위치와 동작 범위는 설계 개념이며 실제 도달 범위와 안전성은 검증 전입니다.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기술검증 Workflow는 CLEAN입니다. 사람이 식기를 조리대 한쪽에 두면, 로봇이 식기를 인식하고 집어서 식기세척기에 넣고, 세척이 끝나면 꺼내서 수납장에 돌려놓습니다. CLEAN의 목적은 시장 가치를 식기 정리에 한정하는 것이 아니라, Adaptive Grasp부터 가전과 수납 상호작용, Calibration, 안전, 실패 복구, 반복 실행까지 Platform 전체를 처음으로 끝까지 검증하는 것입니다. 그다음 같은 로봇에 재료 이동과 투입, 젓기, 뚜껑, 도구 다루기 같은 ASSIST Skill을 더하고, 장기적으로 레시피 단위 COOK으로 갑니다. COOK은 현재 검증 결과가 아니라 장기 R&amp;D 방향입니다.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제품은 하나이고 설치 경로만 세 가지입니다. 기존 주방을 그대로 쓰는 Retrofit은 호환성을 확인한 뒤 작은 Mount와 Dock, 비전 기준점만 붙이고 현장 Calibration 비중이 큽니다. Remodeling은 주방을 바꿀 때 레일, Robot Home, 식기세척기 Interface, 수납 Dock을 함께 넣는 방식으로, 첫 검증 채널입니다. New-build는 설계 단계에서 Mount, 전원, 통신, 도구 Dock, 가전 Interface, 서비스 접근 공간을 반영하고, 로봇은 입주 때 또는 나중에 설치합니다. 어느 경로든 MH가 맡는 것은 로봇, 손, Skill, Calibration, Interface 표준, 안전, 시운전, 품질이고, 철거와 가구, 전기, 배관 같은 일반 시공은 파트너가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사업모델은 세 층입니다. INSTALL은 로봇 시스템, Interface와 Integration, 설치 매출로 초기 매출입니다. OPERATE는 Rental, Care, 소모품으로 쓰는 동안 받는 반복매출이고, EXPAND는 ASSIST Skill, 도구, End-effector, 이후 COOK Skill과 업그레이드 같은 확장매출입니다. Remodeling 구매 고객 한 세대를 5년으로 보면 설치 2,020만원, 운영 366만원, 확장 32만원이고, 3년차 원가 기준 기여이익은 428만원, 5년차 원가 기준 798만원입니다. Rental은 고객의 초기 부담을 낮추는 수단입니다. 초기 실증은 MH가 직접 하지만, 확장 단계에서는 렌탈이나 캐피탈 파트너가 자산을 보유하고 MH는 제품, 소프트웨어, Care를 맡아 대차대조표 부담을 줄입니다.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시장은 큰 TAM이 아니라 세대 수, 적용률, 단가로 계산했습니다. 국내 아파트는 약 1,328만호지만 이것은 기회 기반이지 살 사람의 수가 아닙니다. 첫 시장인 Remodeling은 해마다 주방을 바꾸는 약 30만 세대 중 Premium 10%, 구조상 적용 가능한 60%로 연 약 1.8만 세대, 연 약 3,212억원입니다. Retrofit은 호환 가능한 기존 주방 약 31.9만 세대 중 해마다 0.5%가 전환한다고 보면 연 약 280억원, 신축은 연 약 184억원입니다. 5년차 계획 매출 91.5억원은 이 대상 세대의 약 2.5%입니다. 모든 비율은 가정이며 견적 수집과 평면 분석으로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처음부터 대중 시장에 들어가지 않습니다. 1단계는 Premium 주방 리모델링입니다. 여기서 제품, 가격 수용성, 설치, 사용성을 검증하고 첫 Reference와 실제 고객 데이터를 만듭니다. 2단계는 전체 리모델링 없이 붙일 수 있는 호환 주방 Retrofit이고, 3단계는 건설사와 주방가구사를 통한 신축 B2B2C로 프로젝트 단위 확장입니다. 설치 물량이 늘어도 본사 현장 인력이 같은 비율로 늘지 않도록, 철거, 가구, 전기, 배관 같은 일반 시공은 파트너에게 맡기고 MH는 로봇과 손, Skill, Calibration, 안전, 시운전에 집중합니다. 현재 파트너 계약이나 LOI는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R&amp;D가 단순 성능 향상이 아니라 Unit Economics로 연결되도록 설계했습니다. Hand가 좋아지면 다룰 수 있는 물체가 늘고, Skill이 늘면 작업 범위가 넓어지고, Calibration이 빨라지면 새 주방에 적용하는 시간이 줄고, Interface가 맞으면 작업 신뢰성이 올라갑니다. 그 결과 설치 시간과 엔지니어링 비용이 줄고 반복 설치가 늘어 설치 기반이 커지며, Care와 소모품, Skill 매출이 쌓입니다. 예를 들어 설치 Calibration 원가를 실증 단계 90만원에서 3년차 60만원, 5년차 38만원으로 낮추는 것이 목표이고, 이는 설치 엔지니어 약 27인시에서 12인시로 줄이는 것과 같습니다. 한 세대 5년 기여이익에 가장 큰 영향을 주는 변수는 고객 지불의사와 로봇 BOM입니다. 방어력은 특허 하나가 아니라 Grasp 데이터, Calibration 절차와 Interface 표준, 설치 기반에서 나오며 모두 아직 구축 전입니다.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경쟁은 이미 있습니다. 가전사는 기기 안의 자동화와 구독, 조리 로봇은 전용 주방이나 조리대 기기, 휴머노이드와 이동형 로봇은 범용 손과 모델 학습, 협동로봇과 상용 Gripper는 부품, 주방가구사는 시공입니다. MH의 목표 위치는 주방 물체용 손, CLEAN에서 COOK으로의 Skill 확장, Calibration과 최소 Interface, 주방 공사와 연계된 설치, Care와 소모품입니다. 이것이 더 낫다는 것은 실제 재배치 시간과 경제성으로 증명해야 합니다. 특허는 교체형 식품접촉 모듈과 가전 기준점 Calibration을 1순위로 봅니다. 식기 조작 로봇과 주방 레일 로봇 관련 선행특허가 이미 있어 넓은 청구는 어렵고, 좁고 구체적인 청구를 목표로 합니다. 휴머노이드는 위협만이 아닙니다. 공개 범용 모델은 MH의 실행층에 활용할 수 있고, MH의 Interface와 Skill은 다른 로봇에도 적용될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TIPS 자금과 민간 Seed의 역할을 나눴습니다. TIPS R&amp;D는 기술 위험을 줄이는 데 씁니다. Adaptive Hand, Kitchen Skill, Perception과 Calibration, 최소 Interface, 안전, 통합 CLEAN 실증의 여섯 개 작업 묶음입니다. 민간 Seed는 사업 위험을 줄이는 데 씁니다. 핵심 팀, 목업 운영, 고객 검증, 실증 운영, 지불의사, 파트너 개발, 사업모델 검증입니다. 일정은 6개월 단위로 끊고 각 Gate에서 판단합니다. 6개월에는 상용 Gripper 대비 Hand 비교, 12개월에는 목업에서 CLEAN 전 과정, 18개월에는 주방 세 종 Transfer와 지불의사, 24개월에는 실제 가정 실증과 유료 전환, 원가 실측입니다.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 판단의 첫 질문은 팀입니다. 현재 확인된 대표자 이력과 기술 성과는 이 자료에 쓰지 않았습니다. 왼쪽 일곱 개 항목, 즉 왜 이 문제인지, 관련 엔지니어링 경험, 하드웨어와 제품 개발, 로봇과 기계, AI 역량, 건설과 주방, 제조 지식, 고객과 파트너 네트워크, 전업 여부를 Founder 정보로 채워야 합니다. 오른쪽은 24개월 채용 계획입니다. Founder 두 명을 포함해 24개월 차에 약 14명이며, 연구개발 인력이 중심입니다. TIPS는 대표를 포함한 창업팀 2인 이상이 지분 60% 이상을 가져야 하고, 정부지원 5억원당 청년 1명 신규 채용 요건이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 요청 금액은 근거 없이 정하지 않고 24개월 사용처에서 거꾸로 계산했습니다. 24개월 지출은 약 23.4억원이고 인건비가 가장 큽니다. TIPS에 선정되면 정부지원 8억원이 들어오고, 나머지 지출과 Series A 협상 기간 3개월 Buffer 3.5억원을 더하면 Seed 기준안은 약 19.0억원입니다. 팀과 목업, 실증 범위를 줄인 Lean안은 약 13.8억원, TIPS에 선정되지 않으면 Lean 범위로도 약 21.5억원이 필요합니다. 24개월 뒤에는 실제 주방에서 작동하는 시제품, 여러 주방 Transfer 증거, BOM과 설치, 서비스 원가 실측, 지불의사와 유료 실증, 파트너 증거, 특허 출원을 만들어 Series A를 판단받겠습니다. 후속 투자 판단 기준은 기술 성공만이 아니라 유료 전환과 원가 증거입니다.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부록은 본문 18쪽의 근거, 계산, 검증 계획입니다. A는 TIPS 과제 상세, B는 제품과 기술, C는 시장과 경쟁, D는 경제성, E는 IP와 리스크, 예상 질문, 투자 메모, F는 Tag 원칙과 출처입니다.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Manipulation KPI입니다. 식기 단위 성공률은 목업 80%, 주방 3종 85%, 가정 90%를 목표로 합니다. 공개 연구의 식기세척기 적재 성공률은 58.7%였고, 이보다 높은 목표는 환경 Interface 효과를 확인하는 지표입니다. 복구율처럼 비교 기준이 없는 지표는 12개월 차 측정 후 확정합니다.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적용 KPI입니다. Calibration 4시간과 설치 2인 1일은 설치 원가 가정에서 거꾸로 계산한 목표입니다. 주방 호환률은 평면 30개 분석과 상담 주방 실측으로 가정값을 대체합니다.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 KPI입니다. BOM, 설치비, A/S와 Care 원가는 모두 가정이며 24개월 안에 견적과 실측으로 바꿉니다. 지불의사는 18개월 차 300명 이상 조사와 예약금 테스트, 실증 3세대의 유료 전환으로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개 작업 묶음의 목표, 내용, 산출물, KPI입니다. Hand는 상용 Gripper 비교에서 시작해 세 번 개선하고, Skill은 Template으로 만들어 주방마다 재사용합니다. Calibration은 새 주방 4시간, Interface는 필요한 곳만 표준화, 안전은 표준 Gap과 사전시험, 마지막 WP6에서 가정 실증까지 끝까지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6개월마다 판단 지점을 둡니다. 6개월 차에 자체 Hand가 상용 대비 우위가 없으면 상용 Gripper로 전환합니다. 12개월 차 목업 80%, 18개월 차 주방 세 종 Transfer와 지불의사, 24개월 차 가정 실증과 유료 전환, 원가 실측이 Series A의 조건입니다.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TIPS 과제 예산과 회사 전체 지출을 함께 보여드립니다. 과제 총액은 정부지원 8억원을 75%로 나눈 약 10.67억원이고, 회사 부담 2.67억원 중 현물은 Founder 인건비 참여분, 현금은 Seed 자금으로 냅니다. 오른쪽은 24개월 전체 사용처이며 TIPS 편성분과 Seed 부담분을 나눴습니다.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24개월 채용 계획입니다. 리드 세 명 (조작, 인식, Hand)을 먼저 뽑고, 사업개발은 7개월 차, 설치 엔지니어는 13개월 차에 합류합니다. Lean안에서는 Hand 센싱, Skill/Data, 현장 Technician을 빼고 시험 인력을 19개월 차로 늦춥니다. 연봉은 평균 가정이며 실제 채용 조건으로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자체 Hand가 필요한지 6개월 차에 판정합니다. 접시, 그릇, 컵, 유리잔, 수저, 뚜껑, 도구까지 30종 세트를 젖은 조건과 식기세척기 랙 조건에서 시험하고, 상용 Gripper와 흡착, Soft Finger를 비교군으로 둡니다. 식품이 닿는 부품은 식품위생법상 기구 기준과 고무제 규격을 따릅니다.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받은 평면 다섯 종의 분류입니다. 구축 2Bay A 한 종만 기본 한 줄 배치가 들어갔고, 나머지는 싱크 줄이 2.6에서 2.8미터로 짧습니다. 이것이 주방마다 다른 환경의 실제 예이고, Retrofit과 짧은 벽용 Compact 구성을 개발해야 하는 이유입니다. 표본이 작아 평면 30개로 확대합니다.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Remodeling 채널에서 쓰는 Interface의 예입니다. 로봇은 조리대 끝 Robot Home에 접혀 있다가 문이 열리면 펴지면서 레일로 나옵니다. 식기세척기 하단 랙처럼 낮은 작업점은 랙을 당겨 위에서 넣습니다. 3D 모델에서 보관, 전개, 이동 경로의 충돌을 검사했으며 실제 기구 검증 전 개념입니다.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대표 평면 한 종에 Remodeling 방식으로 Interface를 넣은 예입니다. 원래 ㄱ자 주방의 윗벽을 로봇 작업 줄로 쓰고 인덕션은 옆벽으로 옮겼습니다. 보관함 문이 옆벽 때문에 90도까지만 열리는 조건에서 보관, 전개, 이동 경로를 다시 검사했습니다.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안전과 인증 경로입니다. 협동로봇 기준인 ISO 10218 2025년판의 감속과 접촉력 기준을 최소선으로 쓰고, 가정용 로봇 기준 IEC 63682는 아직 초안이라 Gap 분석으로 반영합니다. 9개월 차에 인증기관 사전상담, 18개월 차에 전기와 EMC 사전시험을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로봇 시스템 원가는 공개가 부품을 기준으로 추정했습니다. Pilot 1,680만원에서 Series A 이후 1,180만원, 5년차 915만원으로 내려간다고 가정했습니다. 가장 큰 항목은 Arm이며, 자체 Hand는 상용 Gripper보다 낮은 목표 원가를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주택 통계는 국가데이터처 2025 인구주택총조사와 국토부 주택통계를 기준으로 했고, 문제의 크기는 2024 가계생산 위성계정의 무급 가사노동 가치로 보여드립니다. 주방 교체 세대 수는 공식 통계가 없어 두 방법으로 교차 추정하고 가정으로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주방 리모델링과 렌탈, 관리 서비스의 참고 자료입니다. 렌탈과 정기관리 시장이 이미 크다는 것은 코웨이와 LG 실적으로 확인되지만, 로봇에 같은 지불이 일어날지는 별개라서 지불의사 조사가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시장 슬라이드의 산식과 가정을 모두 보여드립니다. Remodeling, Retrofit, 신축 세 시장을 더한 대상 시장은 연 약 3,676억원이고, 5년차 계획 매출 91.5억원은 그 안의 약 2.5%입니다. 각 비율은 6개월에서 24개월 사이에 견적, 평면 분석, 소비자 조사, 실증 데이터로 대체합니다.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경쟁사 상세입니다. 휴머노이드와 이동형 로봇은 설치가 필요 없는 범용 접근이고, 조리 로봇은 전용 주방이나 조리대 기기, 협동로봇과 Gripper는 부품입니다. 가구사의 로봇 협업 보도는 찾지 못했습니다. MH가 낫다는 것은 아직 검증 전이며 실증 데이터로 보여드려야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가격은 원가 하한, 시장 참고가, 고객 가치의 세 방향에서 범위를 잡았습니다. 솔직히 말씀드리면 식기 정리만의 가사 대체 가치는 월 18만원 수준으로 렌탈 요금보다 낮습니다. 그래서 Premium 고객부터 시작하고, ASSIST 확장과 위생, 편의 가치를 묶어 지불의사를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대표 1세대의 5년 경제성입니다. Remodeling 구매 고객은 설치 시점 2,020만원, 5년 매출 2,418만원이고 3년차 원가 기준 기여이익은 428만원, 5년차 원가 기준 798만원입니다. Retrofit은 Partner 수수료와 현장 Calibration 비용 때문에 낮고, 신축은 수주비용이 세대당으로 작아 높게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Rental은 월 33만원에 Care와 Grip Kit를 포함하고, 3년차 원가 기준 월 원가는 약 25.6만원, 현금 회수 기간은 약 40개월입니다. Scale 단계에서는 Partner가 자산을 갖고 MH는 월 6만원 서비스료를 받으며, Partner의 내부수익률은 약 13%로 계산됩니다. Care는 3년차 마진 23%, 5년차 44%입니다.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5개년 재무 모델입니다. 기준 시나리오의 5년차 매출은 91.5억원, 누적 현금 최저는 약 -125억원으로 Series A 이후 추가 투자가 필요한 구조입니다. 보수 시나리오 34.0억원, 상향 154.8억원이며 상향은 가격 인상 없이 파트너 물량과 원가 개선으로 차이가 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민감도 분석입니다. 한 세대 기준으로도, 회사 전체 기준으로도 가장 큰 변수는 고객 지불의사와 로봇 BOM입니다. 그다음이 파트너 물량, Retrofit 물량, 획득비용, 고장률입니다. 그래서 24개월 계획의 핵심 증거도 지불의사, BOM 견적, 설치와 서비스 원가 실측입니다.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특허 후보 12개 묶음입니다. 1순위는 교체형 식품접촉 모듈과 Robot Home, 가전 기준점 기반 좌표 보정입니다. 식기 로봇과 주방 레일 로봇, 수납장 로봇 관련 선행특허가 있어 넓은 권리는 어렵고, 구체적인 구조와 방법 청구를 목표로 합니다. 등록 가능성은 단정하지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주요 리스크와 확인 시점, 대응, 중단 기준입니다. 가장 큰 리스크는 자체 Hand의 우위, 주방 간 Transfer, 지불의사, 설치와 서비스 원가, 가정용 안전 기준입니다. 각 리스크는 6개월에서 24개월 사이의 Gate에서 측정 가능한 증거로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 심사에서 예상되는 질문과 방어 논리입니다. 각 질문마다 근거와 함께 아직 약한 부분을 그대로 적었습니다. 특히 지불의사, 원가 실측, 팀 정보가 가장 약한 부분입니다.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 심사에서 예상되는 질문과 방어 논리입니다. 각 질문마다 근거와 함께 아직 약한 부분을 그대로 적었습니다. 특히 지불의사, 원가 실측, 팀 정보가 가장 약한 부분입니다.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 심사에서 예상되는 질문과 방어 논리입니다. 각 질문마다 근거와 함께 아직 약한 부분을 그대로 적었습니다. 특히 지불의사, 원가 실측, 팀 정보가 가장 약한 부분입니다.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부족한 증거와 Founder가 채워야 할 정보입니다. 고객, 계약, 파트너, 매출, 시제품 데이터는 모두 없음입니다. 팀 정보가 가장 먼저 필요하고, 그다음이 상용 Gripper로 만든 기술 기준선, 고객의 예약금 같은 행동 증거입니다.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 심사역 관점에서 현재 자료만으로는 MEET, 즉 만나서 확인할 단계라고 판단합니다. 투자하지 않는 이유는 팀 정보, 기술 측정값, 고객 행동 증거가 없기 때문이고, 지켜보기만 하지 않는 이유는 문제 정의와 접근, 단계별 검증 구조, 자금 계획이 일관되기 때문입니다. 판단을 바꿀 증거는 다섯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숫자는 FACT, DERIVED, ASSUMPTION, TARGET 중 하나의 Tag를 갖고, 그림과 미검증 내용은 CONCEPT, TO BE VALIDATED, FUTURE로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목록입니다. 공식 통계와 회사 발표는 보도 인용이 많아 외부 제출 전 원문 대조가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목록입니다. 공식 통계와 회사 발표는 보도 인용이 많아 외부 제출 전 원문 대조가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목록입니다. 공식 통계와 회사 발표는 보도 인용이 많아 외부 제출 전 원문 대조가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목록입니다. 공식 통계와 회사 발표는 보도 인용이 많아 외부 제출 전 원문 대조가 필요합니다.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1.jpg"/><Relationship Id="rId7"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image" Target="../media/image1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8.jpg"/><Relationship Id="rId4" Type="http://schemas.openxmlformats.org/officeDocument/2006/relationships/image" Target="../media/image1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chart" Target="../charts/char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892040" cy="6858000"/>
          </a:xfrm>
          <a:prstGeom prst="rect">
            <a:avLst/>
          </a:prstGeom>
          <a:solidFill>
            <a:srgbClr val="15171A"/>
          </a:solidFill>
          <a:ln>
            <a:noFill/>
          </a:ln>
        </p:spPr>
        <p:txBody>
          <a:bodyPr rtlCol="0" anchor="ctr"/>
          <a:lstStyle/>
          <a:p>
            <a:pPr algn="ctr"/>
          </a:p>
        </p:txBody>
      </p:sp>
      <p:sp>
        <p:nvSpPr>
          <p:cNvPr id="3" name="TextBox 2"/>
          <p:cNvSpPr txBox="1"/>
          <p:nvPr/>
        </p:nvSpPr>
        <p:spPr>
          <a:xfrm>
            <a:off x="566928" y="658368"/>
            <a:ext cx="3977639" cy="274320"/>
          </a:xfrm>
          <a:prstGeom prst="rect">
            <a:avLst/>
          </a:prstGeom>
          <a:noFill/>
        </p:spPr>
        <p:txBody>
          <a:bodyPr wrap="square" lIns="0" rIns="0" tIns="0" bIns="0" anchor="t">
            <a:spAutoFit/>
          </a:bodyPr>
          <a:lstStyle/>
          <a:p>
            <a:pPr algn="l">
              <a:lnSpc>
                <a:spcPct val="100000"/>
              </a:lnSpc>
            </a:pPr>
            <a:r>
              <a:rPr sz="1200" b="1">
                <a:solidFill>
                  <a:srgbClr val="A9AEB5"/>
                </a:solidFill>
                <a:latin typeface="Noto Sans KR"/>
                <a:ea typeface="Noto Sans KR"/>
                <a:cs typeface="Noto Sans KR"/>
              </a:rPr>
              <a:t>M H   R O B O T I C S</a:t>
            </a:r>
          </a:p>
        </p:txBody>
      </p:sp>
      <p:sp>
        <p:nvSpPr>
          <p:cNvPr id="4" name="TextBox 3"/>
          <p:cNvSpPr txBox="1"/>
          <p:nvPr/>
        </p:nvSpPr>
        <p:spPr>
          <a:xfrm>
            <a:off x="566928" y="1188720"/>
            <a:ext cx="3977639" cy="1783080"/>
          </a:xfrm>
          <a:prstGeom prst="rect">
            <a:avLst/>
          </a:prstGeom>
          <a:noFill/>
        </p:spPr>
        <p:txBody>
          <a:bodyPr wrap="square" lIns="0" rIns="0" tIns="0" bIns="0" anchor="t">
            <a:spAutoFit/>
          </a:bodyPr>
          <a:lstStyle/>
          <a:p>
            <a:pPr algn="l">
              <a:lnSpc>
                <a:spcPct val="100000"/>
              </a:lnSpc>
            </a:pPr>
            <a:r>
              <a:rPr sz="3000" b="1">
                <a:solidFill>
                  <a:srgbClr val="FFFFFF"/>
                </a:solidFill>
                <a:latin typeface="Noto Sans KR"/>
                <a:ea typeface="Noto Sans KR"/>
                <a:cs typeface="Noto Sans KR"/>
              </a:rPr>
              <a:t>Kitchen Manipulation</a:t>
            </a:r>
          </a:p>
          <a:p>
            <a:pPr algn="l">
              <a:lnSpc>
                <a:spcPct val="100000"/>
              </a:lnSpc>
            </a:pPr>
            <a:r>
              <a:rPr sz="3000" b="1">
                <a:solidFill>
                  <a:srgbClr val="FFFFFF"/>
                </a:solidFill>
                <a:latin typeface="Noto Sans KR"/>
                <a:ea typeface="Noto Sans KR"/>
                <a:cs typeface="Noto Sans KR"/>
              </a:rPr>
              <a:t>Robotics System</a:t>
            </a:r>
          </a:p>
        </p:txBody>
      </p:sp>
      <p:sp>
        <p:nvSpPr>
          <p:cNvPr id="5" name="TextBox 4"/>
          <p:cNvSpPr txBox="1"/>
          <p:nvPr/>
        </p:nvSpPr>
        <p:spPr>
          <a:xfrm>
            <a:off x="566928" y="2999232"/>
            <a:ext cx="3977639" cy="566928"/>
          </a:xfrm>
          <a:prstGeom prst="rect">
            <a:avLst/>
          </a:prstGeom>
          <a:noFill/>
        </p:spPr>
        <p:txBody>
          <a:bodyPr wrap="square" lIns="0" rIns="0" tIns="0" bIns="0" anchor="t">
            <a:spAutoFit/>
          </a:bodyPr>
          <a:lstStyle/>
          <a:p>
            <a:pPr algn="l">
              <a:lnSpc>
                <a:spcPct val="105000"/>
              </a:lnSpc>
            </a:pPr>
            <a:r>
              <a:rPr sz="1350" b="1">
                <a:solidFill>
                  <a:srgbClr val="E3E5E8"/>
                </a:solidFill>
                <a:latin typeface="Noto Sans KR"/>
                <a:ea typeface="Noto Sans KR"/>
                <a:cs typeface="Noto Sans KR"/>
              </a:rPr>
              <a:t>로봇손 · 작업 Skill · Calibration · 주방 Interface를 하나의 제품으로</a:t>
            </a:r>
          </a:p>
        </p:txBody>
      </p:sp>
      <p:sp>
        <p:nvSpPr>
          <p:cNvPr id="6" name="TextBox 5"/>
          <p:cNvSpPr txBox="1"/>
          <p:nvPr/>
        </p:nvSpPr>
        <p:spPr>
          <a:xfrm>
            <a:off x="566928" y="3639312"/>
            <a:ext cx="3977639" cy="438912"/>
          </a:xfrm>
          <a:prstGeom prst="rect">
            <a:avLst/>
          </a:prstGeom>
          <a:noFill/>
        </p:spPr>
        <p:txBody>
          <a:bodyPr wrap="square" lIns="0" rIns="0" tIns="0" bIns="0" anchor="t">
            <a:spAutoFit/>
          </a:bodyPr>
          <a:lstStyle/>
          <a:p>
            <a:pPr algn="l">
              <a:lnSpc>
                <a:spcPct val="105000"/>
              </a:lnSpc>
            </a:pPr>
            <a:r>
              <a:rPr sz="1050" b="0">
                <a:solidFill>
                  <a:srgbClr val="A9AEB5"/>
                </a:solidFill>
                <a:latin typeface="Noto Sans KR"/>
                <a:ea typeface="Noto Sans KR"/>
                <a:cs typeface="Noto Sans KR"/>
              </a:rPr>
              <a:t>다양한 실제 주방에서 식기 정리부터 조리까지 단계적으로 확장하는 주거용 Manipulation Robotics</a:t>
            </a:r>
          </a:p>
        </p:txBody>
      </p:sp>
      <p:cxnSp>
        <p:nvCxnSpPr>
          <p:cNvPr id="7" name="Connector 6"/>
          <p:cNvCxnSpPr/>
          <p:nvPr/>
        </p:nvCxnSpPr>
        <p:spPr>
          <a:xfrm>
            <a:off x="566928" y="4297680"/>
            <a:ext cx="3977640" cy="0"/>
          </a:xfrm>
          <a:prstGeom prst="line">
            <a:avLst/>
          </a:prstGeom>
          <a:ln w="12700">
            <a:solidFill>
              <a:srgbClr val="3A3F46"/>
            </a:solidFill>
          </a:ln>
        </p:spPr>
      </p:cxnSp>
      <p:sp>
        <p:nvSpPr>
          <p:cNvPr id="8" name="TextBox 7"/>
          <p:cNvSpPr txBox="1"/>
          <p:nvPr/>
        </p:nvSpPr>
        <p:spPr>
          <a:xfrm>
            <a:off x="566928" y="4462272"/>
            <a:ext cx="914400" cy="274320"/>
          </a:xfrm>
          <a:prstGeom prst="rect">
            <a:avLst/>
          </a:prstGeom>
          <a:noFill/>
        </p:spPr>
        <p:txBody>
          <a:bodyPr wrap="square" lIns="0" rIns="0" tIns="0" bIns="0" anchor="ctr">
            <a:spAutoFit/>
          </a:bodyPr>
          <a:lstStyle/>
          <a:p>
            <a:pPr algn="l">
              <a:lnSpc>
                <a:spcPct val="100000"/>
              </a:lnSpc>
            </a:pPr>
            <a:r>
              <a:rPr sz="1100" b="1">
                <a:solidFill>
                  <a:srgbClr val="FFFFFF"/>
                </a:solidFill>
                <a:latin typeface="Noto Sans KR"/>
                <a:ea typeface="Noto Sans KR"/>
                <a:cs typeface="Noto Sans KR"/>
              </a:rPr>
              <a:t>CLEAN</a:t>
            </a:r>
          </a:p>
        </p:txBody>
      </p:sp>
      <p:sp>
        <p:nvSpPr>
          <p:cNvPr id="9" name="TextBox 8"/>
          <p:cNvSpPr txBox="1"/>
          <p:nvPr/>
        </p:nvSpPr>
        <p:spPr>
          <a:xfrm>
            <a:off x="1481328" y="4462272"/>
            <a:ext cx="3063239" cy="274320"/>
          </a:xfrm>
          <a:prstGeom prst="rect">
            <a:avLst/>
          </a:prstGeom>
          <a:noFill/>
        </p:spPr>
        <p:txBody>
          <a:bodyPr wrap="square" lIns="0" rIns="0" tIns="0" bIns="0" anchor="ctr">
            <a:spAutoFit/>
          </a:bodyPr>
          <a:lstStyle/>
          <a:p>
            <a:pPr algn="l">
              <a:lnSpc>
                <a:spcPct val="100000"/>
              </a:lnSpc>
            </a:pPr>
            <a:r>
              <a:rPr sz="1000" b="0">
                <a:solidFill>
                  <a:srgbClr val="C9CDD2"/>
                </a:solidFill>
                <a:latin typeface="Noto Sans KR"/>
                <a:ea typeface="Noto Sans KR"/>
                <a:cs typeface="Noto Sans KR"/>
              </a:rPr>
              <a:t>첫 검증 Workflow (식기 정리)</a:t>
            </a:r>
          </a:p>
        </p:txBody>
      </p:sp>
      <p:sp>
        <p:nvSpPr>
          <p:cNvPr id="10" name="TextBox 9"/>
          <p:cNvSpPr txBox="1"/>
          <p:nvPr/>
        </p:nvSpPr>
        <p:spPr>
          <a:xfrm>
            <a:off x="566928" y="4791456"/>
            <a:ext cx="914400" cy="274320"/>
          </a:xfrm>
          <a:prstGeom prst="rect">
            <a:avLst/>
          </a:prstGeom>
          <a:noFill/>
        </p:spPr>
        <p:txBody>
          <a:bodyPr wrap="square" lIns="0" rIns="0" tIns="0" bIns="0" anchor="ctr">
            <a:spAutoFit/>
          </a:bodyPr>
          <a:lstStyle/>
          <a:p>
            <a:pPr algn="l">
              <a:lnSpc>
                <a:spcPct val="100000"/>
              </a:lnSpc>
            </a:pPr>
            <a:r>
              <a:rPr sz="1100" b="1">
                <a:solidFill>
                  <a:srgbClr val="80868D"/>
                </a:solidFill>
                <a:latin typeface="Noto Sans KR"/>
                <a:ea typeface="Noto Sans KR"/>
                <a:cs typeface="Noto Sans KR"/>
              </a:rPr>
              <a:t>ASSIST</a:t>
            </a:r>
          </a:p>
        </p:txBody>
      </p:sp>
      <p:sp>
        <p:nvSpPr>
          <p:cNvPr id="11" name="TextBox 10"/>
          <p:cNvSpPr txBox="1"/>
          <p:nvPr/>
        </p:nvSpPr>
        <p:spPr>
          <a:xfrm>
            <a:off x="1481328" y="4791456"/>
            <a:ext cx="3063239" cy="274320"/>
          </a:xfrm>
          <a:prstGeom prst="rect">
            <a:avLst/>
          </a:prstGeom>
          <a:noFill/>
        </p:spPr>
        <p:txBody>
          <a:bodyPr wrap="square" lIns="0" rIns="0" tIns="0" bIns="0" anchor="ctr">
            <a:spAutoFit/>
          </a:bodyPr>
          <a:lstStyle/>
          <a:p>
            <a:pPr algn="l">
              <a:lnSpc>
                <a:spcPct val="100000"/>
              </a:lnSpc>
            </a:pPr>
            <a:r>
              <a:rPr sz="1000" b="0">
                <a:solidFill>
                  <a:srgbClr val="80868D"/>
                </a:solidFill>
                <a:latin typeface="Noto Sans KR"/>
                <a:ea typeface="Noto Sans KR"/>
                <a:cs typeface="Noto Sans KR"/>
              </a:rPr>
              <a:t>중기 확장 (재료 이동 · 투입 · 도구)</a:t>
            </a:r>
          </a:p>
        </p:txBody>
      </p:sp>
      <p:sp>
        <p:nvSpPr>
          <p:cNvPr id="12" name="TextBox 11"/>
          <p:cNvSpPr txBox="1"/>
          <p:nvPr/>
        </p:nvSpPr>
        <p:spPr>
          <a:xfrm>
            <a:off x="566928" y="5120640"/>
            <a:ext cx="914400" cy="274320"/>
          </a:xfrm>
          <a:prstGeom prst="rect">
            <a:avLst/>
          </a:prstGeom>
          <a:noFill/>
        </p:spPr>
        <p:txBody>
          <a:bodyPr wrap="square" lIns="0" rIns="0" tIns="0" bIns="0" anchor="ctr">
            <a:spAutoFit/>
          </a:bodyPr>
          <a:lstStyle/>
          <a:p>
            <a:pPr algn="l">
              <a:lnSpc>
                <a:spcPct val="100000"/>
              </a:lnSpc>
            </a:pPr>
            <a:r>
              <a:rPr sz="1100" b="1">
                <a:solidFill>
                  <a:srgbClr val="80868D"/>
                </a:solidFill>
                <a:latin typeface="Noto Sans KR"/>
                <a:ea typeface="Noto Sans KR"/>
                <a:cs typeface="Noto Sans KR"/>
              </a:rPr>
              <a:t>COOK</a:t>
            </a:r>
          </a:p>
        </p:txBody>
      </p:sp>
      <p:sp>
        <p:nvSpPr>
          <p:cNvPr id="13" name="TextBox 12"/>
          <p:cNvSpPr txBox="1"/>
          <p:nvPr/>
        </p:nvSpPr>
        <p:spPr>
          <a:xfrm>
            <a:off x="1481328" y="5120640"/>
            <a:ext cx="3063239" cy="274320"/>
          </a:xfrm>
          <a:prstGeom prst="rect">
            <a:avLst/>
          </a:prstGeom>
          <a:noFill/>
        </p:spPr>
        <p:txBody>
          <a:bodyPr wrap="square" lIns="0" rIns="0" tIns="0" bIns="0" anchor="ctr">
            <a:spAutoFit/>
          </a:bodyPr>
          <a:lstStyle/>
          <a:p>
            <a:pPr algn="l">
              <a:lnSpc>
                <a:spcPct val="100000"/>
              </a:lnSpc>
            </a:pPr>
            <a:r>
              <a:rPr sz="1000" b="0">
                <a:solidFill>
                  <a:srgbClr val="80868D"/>
                </a:solidFill>
                <a:latin typeface="Noto Sans KR"/>
                <a:ea typeface="Noto Sans KR"/>
                <a:cs typeface="Noto Sans KR"/>
              </a:rPr>
              <a:t>장기 R&amp;D 방향 (Recipe Workflow)</a:t>
            </a:r>
          </a:p>
        </p:txBody>
      </p:sp>
      <p:sp>
        <p:nvSpPr>
          <p:cNvPr id="14" name="TextBox 13"/>
          <p:cNvSpPr txBox="1"/>
          <p:nvPr/>
        </p:nvSpPr>
        <p:spPr>
          <a:xfrm>
            <a:off x="566928" y="5779008"/>
            <a:ext cx="3977639" cy="237744"/>
          </a:xfrm>
          <a:prstGeom prst="rect">
            <a:avLst/>
          </a:prstGeom>
          <a:noFill/>
        </p:spPr>
        <p:txBody>
          <a:bodyPr wrap="square" lIns="0" rIns="0" tIns="0" bIns="0" anchor="t">
            <a:spAutoFit/>
          </a:bodyPr>
          <a:lstStyle/>
          <a:p>
            <a:pPr algn="l">
              <a:lnSpc>
                <a:spcPct val="100000"/>
              </a:lnSpc>
            </a:pPr>
            <a:r>
              <a:rPr sz="950" b="0">
                <a:solidFill>
                  <a:srgbClr val="A9AEB5"/>
                </a:solidFill>
                <a:latin typeface="Noto Sans KR"/>
                <a:ea typeface="Noto Sans KR"/>
                <a:cs typeface="Noto Sans KR"/>
              </a:rPr>
              <a:t>Seed 투자 · TIPS 운영사 검토용  |  2026.10.08  |  Draft v5</a:t>
            </a:r>
          </a:p>
        </p:txBody>
      </p:sp>
      <p:sp>
        <p:nvSpPr>
          <p:cNvPr id="15" name="TextBox 14"/>
          <p:cNvSpPr txBox="1"/>
          <p:nvPr/>
        </p:nvSpPr>
        <p:spPr>
          <a:xfrm>
            <a:off x="566928" y="6053328"/>
            <a:ext cx="3977639" cy="384048"/>
          </a:xfrm>
          <a:prstGeom prst="rect">
            <a:avLst/>
          </a:prstGeom>
          <a:noFill/>
        </p:spPr>
        <p:txBody>
          <a:bodyPr wrap="square" lIns="0" rIns="0" tIns="0" bIns="0" anchor="t">
            <a:spAutoFit/>
          </a:bodyPr>
          <a:lstStyle/>
          <a:p>
            <a:pPr algn="l">
              <a:lnSpc>
                <a:spcPct val="105000"/>
              </a:lnSpc>
            </a:pPr>
            <a:r>
              <a:rPr sz="850" b="0">
                <a:solidFill>
                  <a:srgbClr val="80868D"/>
                </a:solidFill>
                <a:latin typeface="Noto Sans KR"/>
                <a:ea typeface="Noto Sans KR"/>
                <a:cs typeface="Noto Sans KR"/>
              </a:rPr>
              <a:t>Concept 단계 — 시제품 · 고객 · 계약 · LOI · 파트너 · 매출 없음 (FACT). 수치는 FACT · DERIVED · ASSUMPTION · TARGET 구분</a:t>
            </a:r>
          </a:p>
        </p:txBody>
      </p:sp>
      <p:pic>
        <p:nvPicPr>
          <p:cNvPr id="16" name="Picture 15" descr="v2_cover_light_798x750_55_50_100.jpg"/>
          <p:cNvPicPr>
            <a:picLocks noChangeAspect="1"/>
          </p:cNvPicPr>
          <p:nvPr/>
        </p:nvPicPr>
        <p:blipFill>
          <a:blip r:embed="rId3"/>
          <a:stretch>
            <a:fillRect/>
          </a:stretch>
        </p:blipFill>
        <p:spPr>
          <a:xfrm>
            <a:off x="4892040" y="0"/>
            <a:ext cx="7299655" cy="6858000"/>
          </a:xfrm>
          <a:prstGeom prst="rect">
            <a:avLst/>
          </a:prstGeom>
        </p:spPr>
      </p:pic>
      <p:cxnSp>
        <p:nvCxnSpPr>
          <p:cNvPr id="17" name="Connector 16"/>
          <p:cNvCxnSpPr/>
          <p:nvPr/>
        </p:nvCxnSpPr>
        <p:spPr>
          <a:xfrm flipH="1" flipV="1">
            <a:off x="5720003" y="1595628"/>
            <a:ext cx="320040" cy="502920"/>
          </a:xfrm>
          <a:prstGeom prst="line">
            <a:avLst/>
          </a:prstGeom>
          <a:ln w="7620">
            <a:solidFill>
              <a:srgbClr val="5C6169"/>
            </a:solidFill>
          </a:ln>
        </p:spPr>
      </p:cxnSp>
      <p:sp>
        <p:nvSpPr>
          <p:cNvPr id="18" name="Oval 17"/>
          <p:cNvSpPr/>
          <p:nvPr/>
        </p:nvSpPr>
        <p:spPr>
          <a:xfrm>
            <a:off x="6008039" y="2066543"/>
            <a:ext cx="64008" cy="64008"/>
          </a:xfrm>
          <a:prstGeom prst="ellipse">
            <a:avLst/>
          </a:prstGeom>
          <a:solidFill>
            <a:srgbClr val="15171A"/>
          </a:solidFill>
          <a:ln>
            <a:noFill/>
          </a:ln>
        </p:spPr>
        <p:txBody>
          <a:bodyPr rtlCol="0" anchor="ctr"/>
          <a:lstStyle/>
          <a:p>
            <a:pPr algn="ctr"/>
          </a:p>
        </p:txBody>
      </p:sp>
      <p:sp>
        <p:nvSpPr>
          <p:cNvPr id="19" name="Rectangle 18"/>
          <p:cNvSpPr/>
          <p:nvPr/>
        </p:nvSpPr>
        <p:spPr>
          <a:xfrm>
            <a:off x="4462917" y="1476298"/>
            <a:ext cx="1257085" cy="238658"/>
          </a:xfrm>
          <a:prstGeom prst="rect">
            <a:avLst/>
          </a:prstGeom>
          <a:solidFill>
            <a:srgbClr val="FFFFFF"/>
          </a:solidFill>
          <a:ln w="6350">
            <a:solidFill>
              <a:srgbClr val="C9CDD2"/>
            </a:solidFill>
          </a:ln>
        </p:spPr>
        <p:txBody>
          <a:bodyPr rtlCol="0" anchor="ctr"/>
          <a:lstStyle/>
          <a:p>
            <a:pPr algn="ctr"/>
          </a:p>
        </p:txBody>
      </p:sp>
      <p:sp>
        <p:nvSpPr>
          <p:cNvPr id="20" name="TextBox 19"/>
          <p:cNvSpPr txBox="1"/>
          <p:nvPr/>
        </p:nvSpPr>
        <p:spPr>
          <a:xfrm>
            <a:off x="4462917" y="1476298"/>
            <a:ext cx="1257085"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Robot Home (Dock)</a:t>
            </a:r>
          </a:p>
        </p:txBody>
      </p:sp>
      <p:cxnSp>
        <p:nvCxnSpPr>
          <p:cNvPr id="21" name="Connector 20"/>
          <p:cNvCxnSpPr/>
          <p:nvPr/>
        </p:nvCxnSpPr>
        <p:spPr>
          <a:xfrm flipV="1">
            <a:off x="7361848" y="2130552"/>
            <a:ext cx="274320" cy="502920"/>
          </a:xfrm>
          <a:prstGeom prst="line">
            <a:avLst/>
          </a:prstGeom>
          <a:ln w="7620">
            <a:solidFill>
              <a:srgbClr val="5C6169"/>
            </a:solidFill>
          </a:ln>
        </p:spPr>
      </p:cxnSp>
      <p:sp>
        <p:nvSpPr>
          <p:cNvPr id="22" name="Oval 21"/>
          <p:cNvSpPr/>
          <p:nvPr/>
        </p:nvSpPr>
        <p:spPr>
          <a:xfrm>
            <a:off x="7329844" y="2601468"/>
            <a:ext cx="64008" cy="64008"/>
          </a:xfrm>
          <a:prstGeom prst="ellipse">
            <a:avLst/>
          </a:prstGeom>
          <a:solidFill>
            <a:srgbClr val="15171A"/>
          </a:solidFill>
          <a:ln>
            <a:noFill/>
          </a:ln>
        </p:spPr>
        <p:txBody>
          <a:bodyPr rtlCol="0" anchor="ctr"/>
          <a:lstStyle/>
          <a:p>
            <a:pPr algn="ctr"/>
          </a:p>
        </p:txBody>
      </p:sp>
      <p:sp>
        <p:nvSpPr>
          <p:cNvPr id="23" name="Rectangle 22"/>
          <p:cNvSpPr/>
          <p:nvPr/>
        </p:nvSpPr>
        <p:spPr>
          <a:xfrm>
            <a:off x="7636168" y="2011222"/>
            <a:ext cx="833023" cy="238658"/>
          </a:xfrm>
          <a:prstGeom prst="rect">
            <a:avLst/>
          </a:prstGeom>
          <a:solidFill>
            <a:srgbClr val="FFFFFF"/>
          </a:solidFill>
          <a:ln w="6350">
            <a:solidFill>
              <a:srgbClr val="C9CDD2"/>
            </a:solidFill>
          </a:ln>
        </p:spPr>
        <p:txBody>
          <a:bodyPr rtlCol="0" anchor="ctr"/>
          <a:lstStyle/>
          <a:p>
            <a:pPr algn="ctr"/>
          </a:p>
        </p:txBody>
      </p:sp>
      <p:sp>
        <p:nvSpPr>
          <p:cNvPr id="24" name="TextBox 23"/>
          <p:cNvSpPr txBox="1"/>
          <p:nvPr/>
        </p:nvSpPr>
        <p:spPr>
          <a:xfrm>
            <a:off x="7636168" y="2011222"/>
            <a:ext cx="833023"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Rail (필요 시)</a:t>
            </a:r>
          </a:p>
        </p:txBody>
      </p:sp>
      <p:cxnSp>
        <p:nvCxnSpPr>
          <p:cNvPr id="25" name="Connector 24"/>
          <p:cNvCxnSpPr/>
          <p:nvPr/>
        </p:nvCxnSpPr>
        <p:spPr>
          <a:xfrm>
            <a:off x="10005457" y="5088636"/>
            <a:ext cx="502920" cy="411480"/>
          </a:xfrm>
          <a:prstGeom prst="line">
            <a:avLst/>
          </a:prstGeom>
          <a:ln w="7620">
            <a:solidFill>
              <a:srgbClr val="5C6169"/>
            </a:solidFill>
          </a:ln>
        </p:spPr>
      </p:cxnSp>
      <p:sp>
        <p:nvSpPr>
          <p:cNvPr id="26" name="Oval 25"/>
          <p:cNvSpPr/>
          <p:nvPr/>
        </p:nvSpPr>
        <p:spPr>
          <a:xfrm>
            <a:off x="9973453" y="5056631"/>
            <a:ext cx="64008" cy="64008"/>
          </a:xfrm>
          <a:prstGeom prst="ellipse">
            <a:avLst/>
          </a:prstGeom>
          <a:solidFill>
            <a:srgbClr val="15171A"/>
          </a:solidFill>
          <a:ln>
            <a:noFill/>
          </a:ln>
        </p:spPr>
        <p:txBody>
          <a:bodyPr rtlCol="0" anchor="ctr"/>
          <a:lstStyle/>
          <a:p>
            <a:pPr algn="ctr"/>
          </a:p>
        </p:txBody>
      </p:sp>
      <p:sp>
        <p:nvSpPr>
          <p:cNvPr id="27" name="Rectangle 26"/>
          <p:cNvSpPr/>
          <p:nvPr/>
        </p:nvSpPr>
        <p:spPr>
          <a:xfrm>
            <a:off x="10508377" y="5380786"/>
            <a:ext cx="1218464" cy="238658"/>
          </a:xfrm>
          <a:prstGeom prst="rect">
            <a:avLst/>
          </a:prstGeom>
          <a:solidFill>
            <a:srgbClr val="FFFFFF"/>
          </a:solidFill>
          <a:ln w="6350">
            <a:solidFill>
              <a:srgbClr val="C9CDD2"/>
            </a:solidFill>
          </a:ln>
        </p:spPr>
        <p:txBody>
          <a:bodyPr rtlCol="0" anchor="ctr"/>
          <a:lstStyle/>
          <a:p>
            <a:pPr algn="ctr"/>
          </a:p>
        </p:txBody>
      </p:sp>
      <p:sp>
        <p:nvSpPr>
          <p:cNvPr id="28" name="TextBox 27"/>
          <p:cNvSpPr txBox="1"/>
          <p:nvPr/>
        </p:nvSpPr>
        <p:spPr>
          <a:xfrm>
            <a:off x="10508377" y="5380786"/>
            <a:ext cx="1218464"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식기세척기 Interface</a:t>
            </a:r>
          </a:p>
        </p:txBody>
      </p:sp>
      <p:sp>
        <p:nvSpPr>
          <p:cNvPr id="29" name="Rectangle 28"/>
          <p:cNvSpPr/>
          <p:nvPr/>
        </p:nvSpPr>
        <p:spPr>
          <a:xfrm>
            <a:off x="10591495" y="6492240"/>
            <a:ext cx="997069" cy="155448"/>
          </a:xfrm>
          <a:prstGeom prst="rect">
            <a:avLst/>
          </a:prstGeom>
          <a:solidFill>
            <a:srgbClr val="FFFFFF"/>
          </a:solidFill>
          <a:ln w="6350">
            <a:solidFill>
              <a:srgbClr val="C9CDD2"/>
            </a:solidFill>
          </a:ln>
        </p:spPr>
        <p:txBody>
          <a:bodyPr rtlCol="0" anchor="ctr"/>
          <a:lstStyle/>
          <a:p>
            <a:pPr algn="ctr"/>
          </a:p>
        </p:txBody>
      </p:sp>
      <p:sp>
        <p:nvSpPr>
          <p:cNvPr id="30" name="TextBox 29"/>
          <p:cNvSpPr txBox="1"/>
          <p:nvPr/>
        </p:nvSpPr>
        <p:spPr>
          <a:xfrm>
            <a:off x="10591495" y="6492240"/>
            <a:ext cx="99706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 RENDERING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01  문제</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가전은 자동화됐지만, 가전 사이의 일은 아직 사람이 합니다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개별 가전 기능의 자동화는 진행됐지만, 주방 Workflow 전체의 Physical Manipulation은 아직 사람 몫</a:t>
            </a:r>
          </a:p>
        </p:txBody>
      </p:sp>
      <p:sp>
        <p:nvSpPr>
          <p:cNvPr id="5" name="Rectangle 4"/>
          <p:cNvSpPr/>
          <p:nvPr/>
        </p:nvSpPr>
        <p:spPr>
          <a:xfrm>
            <a:off x="685800" y="1599310"/>
            <a:ext cx="2554147" cy="822960"/>
          </a:xfrm>
          <a:prstGeom prst="rect">
            <a:avLst/>
          </a:prstGeom>
          <a:solidFill>
            <a:srgbClr val="F4F5F6"/>
          </a:solidFill>
          <a:ln>
            <a:noFill/>
          </a:ln>
        </p:spPr>
        <p:txBody>
          <a:bodyPr rtlCol="0" anchor="ctr"/>
          <a:lstStyle/>
          <a:p>
            <a:pPr algn="ctr"/>
          </a:p>
        </p:txBody>
      </p:sp>
      <p:sp>
        <p:nvSpPr>
          <p:cNvPr id="6" name="TextBox 5"/>
          <p:cNvSpPr txBox="1"/>
          <p:nvPr/>
        </p:nvSpPr>
        <p:spPr>
          <a:xfrm>
            <a:off x="850392" y="1709039"/>
            <a:ext cx="2224963" cy="201168"/>
          </a:xfrm>
          <a:prstGeom prst="rect">
            <a:avLst/>
          </a:prstGeom>
          <a:noFill/>
        </p:spPr>
        <p:txBody>
          <a:bodyPr wrap="square" lIns="0" rIns="0" tIns="0" bIns="0" anchor="t">
            <a:spAutoFit/>
          </a:bodyPr>
          <a:lstStyle/>
          <a:p>
            <a:pPr algn="l">
              <a:lnSpc>
                <a:spcPct val="100000"/>
              </a:lnSpc>
            </a:pPr>
            <a:r>
              <a:rPr sz="850" b="1">
                <a:solidFill>
                  <a:srgbClr val="8C9198"/>
                </a:solidFill>
                <a:latin typeface="Noto Sans KR"/>
                <a:ea typeface="Noto Sans KR"/>
                <a:cs typeface="Noto Sans KR"/>
              </a:rPr>
              <a:t>기기 안</a:t>
            </a:r>
          </a:p>
        </p:txBody>
      </p:sp>
      <p:sp>
        <p:nvSpPr>
          <p:cNvPr id="7" name="TextBox 6"/>
          <p:cNvSpPr txBox="1"/>
          <p:nvPr/>
        </p:nvSpPr>
        <p:spPr>
          <a:xfrm>
            <a:off x="850392" y="1910206"/>
            <a:ext cx="2224963"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식기세척기</a:t>
            </a:r>
          </a:p>
        </p:txBody>
      </p:sp>
      <p:sp>
        <p:nvSpPr>
          <p:cNvPr id="8" name="TextBox 7"/>
          <p:cNvSpPr txBox="1"/>
          <p:nvPr/>
        </p:nvSpPr>
        <p:spPr>
          <a:xfrm>
            <a:off x="1411147" y="1928494"/>
            <a:ext cx="1664208" cy="274320"/>
          </a:xfrm>
          <a:prstGeom prst="rect">
            <a:avLst/>
          </a:prstGeom>
          <a:noFill/>
        </p:spPr>
        <p:txBody>
          <a:bodyPr wrap="square" lIns="0" rIns="0" tIns="0" bIns="0" anchor="t">
            <a:spAutoFit/>
          </a:bodyPr>
          <a:lstStyle/>
          <a:p>
            <a:pPr algn="r">
              <a:lnSpc>
                <a:spcPct val="100000"/>
              </a:lnSpc>
            </a:pPr>
            <a:r>
              <a:rPr sz="1050" b="0">
                <a:solidFill>
                  <a:srgbClr val="4A4F57"/>
                </a:solidFill>
                <a:latin typeface="Noto Sans KR"/>
                <a:ea typeface="Noto Sans KR"/>
                <a:cs typeface="Noto Sans KR"/>
              </a:rPr>
              <a:t>세척 자동화</a:t>
            </a:r>
          </a:p>
        </p:txBody>
      </p:sp>
      <p:sp>
        <p:nvSpPr>
          <p:cNvPr id="9" name="Rectangle 8"/>
          <p:cNvSpPr/>
          <p:nvPr/>
        </p:nvSpPr>
        <p:spPr>
          <a:xfrm>
            <a:off x="3441115" y="1599310"/>
            <a:ext cx="2554147" cy="822960"/>
          </a:xfrm>
          <a:prstGeom prst="rect">
            <a:avLst/>
          </a:prstGeom>
          <a:solidFill>
            <a:srgbClr val="F4F5F6"/>
          </a:solidFill>
          <a:ln>
            <a:noFill/>
          </a:ln>
        </p:spPr>
        <p:txBody>
          <a:bodyPr rtlCol="0" anchor="ctr"/>
          <a:lstStyle/>
          <a:p>
            <a:pPr algn="ctr"/>
          </a:p>
        </p:txBody>
      </p:sp>
      <p:sp>
        <p:nvSpPr>
          <p:cNvPr id="10" name="TextBox 9"/>
          <p:cNvSpPr txBox="1"/>
          <p:nvPr/>
        </p:nvSpPr>
        <p:spPr>
          <a:xfrm>
            <a:off x="3605707" y="1709039"/>
            <a:ext cx="2224963" cy="201168"/>
          </a:xfrm>
          <a:prstGeom prst="rect">
            <a:avLst/>
          </a:prstGeom>
          <a:noFill/>
        </p:spPr>
        <p:txBody>
          <a:bodyPr wrap="square" lIns="0" rIns="0" tIns="0" bIns="0" anchor="t">
            <a:spAutoFit/>
          </a:bodyPr>
          <a:lstStyle/>
          <a:p>
            <a:pPr algn="l">
              <a:lnSpc>
                <a:spcPct val="100000"/>
              </a:lnSpc>
            </a:pPr>
            <a:r>
              <a:rPr sz="850" b="1">
                <a:solidFill>
                  <a:srgbClr val="8C9198"/>
                </a:solidFill>
                <a:latin typeface="Noto Sans KR"/>
                <a:ea typeface="Noto Sans KR"/>
                <a:cs typeface="Noto Sans KR"/>
              </a:rPr>
              <a:t>기기 안</a:t>
            </a:r>
          </a:p>
        </p:txBody>
      </p:sp>
      <p:sp>
        <p:nvSpPr>
          <p:cNvPr id="11" name="TextBox 10"/>
          <p:cNvSpPr txBox="1"/>
          <p:nvPr/>
        </p:nvSpPr>
        <p:spPr>
          <a:xfrm>
            <a:off x="3605707" y="1910206"/>
            <a:ext cx="2224963"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인덕션</a:t>
            </a:r>
          </a:p>
        </p:txBody>
      </p:sp>
      <p:sp>
        <p:nvSpPr>
          <p:cNvPr id="12" name="TextBox 11"/>
          <p:cNvSpPr txBox="1"/>
          <p:nvPr/>
        </p:nvSpPr>
        <p:spPr>
          <a:xfrm>
            <a:off x="4166463" y="1928494"/>
            <a:ext cx="1664208" cy="274320"/>
          </a:xfrm>
          <a:prstGeom prst="rect">
            <a:avLst/>
          </a:prstGeom>
          <a:noFill/>
        </p:spPr>
        <p:txBody>
          <a:bodyPr wrap="square" lIns="0" rIns="0" tIns="0" bIns="0" anchor="t">
            <a:spAutoFit/>
          </a:bodyPr>
          <a:lstStyle/>
          <a:p>
            <a:pPr algn="r">
              <a:lnSpc>
                <a:spcPct val="100000"/>
              </a:lnSpc>
            </a:pPr>
            <a:r>
              <a:rPr sz="1050" b="0">
                <a:solidFill>
                  <a:srgbClr val="4A4F57"/>
                </a:solidFill>
                <a:latin typeface="Noto Sans KR"/>
                <a:ea typeface="Noto Sans KR"/>
                <a:cs typeface="Noto Sans KR"/>
              </a:rPr>
              <a:t>가열 자동화</a:t>
            </a:r>
          </a:p>
        </p:txBody>
      </p:sp>
      <p:sp>
        <p:nvSpPr>
          <p:cNvPr id="13" name="Rectangle 12"/>
          <p:cNvSpPr/>
          <p:nvPr/>
        </p:nvSpPr>
        <p:spPr>
          <a:xfrm>
            <a:off x="6196431" y="1599310"/>
            <a:ext cx="2554147" cy="822960"/>
          </a:xfrm>
          <a:prstGeom prst="rect">
            <a:avLst/>
          </a:prstGeom>
          <a:solidFill>
            <a:srgbClr val="F4F5F6"/>
          </a:solidFill>
          <a:ln>
            <a:noFill/>
          </a:ln>
        </p:spPr>
        <p:txBody>
          <a:bodyPr rtlCol="0" anchor="ctr"/>
          <a:lstStyle/>
          <a:p>
            <a:pPr algn="ctr"/>
          </a:p>
        </p:txBody>
      </p:sp>
      <p:sp>
        <p:nvSpPr>
          <p:cNvPr id="14" name="TextBox 13"/>
          <p:cNvSpPr txBox="1"/>
          <p:nvPr/>
        </p:nvSpPr>
        <p:spPr>
          <a:xfrm>
            <a:off x="6361023" y="1709039"/>
            <a:ext cx="2224963" cy="201168"/>
          </a:xfrm>
          <a:prstGeom prst="rect">
            <a:avLst/>
          </a:prstGeom>
          <a:noFill/>
        </p:spPr>
        <p:txBody>
          <a:bodyPr wrap="square" lIns="0" rIns="0" tIns="0" bIns="0" anchor="t">
            <a:spAutoFit/>
          </a:bodyPr>
          <a:lstStyle/>
          <a:p>
            <a:pPr algn="l">
              <a:lnSpc>
                <a:spcPct val="100000"/>
              </a:lnSpc>
            </a:pPr>
            <a:r>
              <a:rPr sz="850" b="1">
                <a:solidFill>
                  <a:srgbClr val="8C9198"/>
                </a:solidFill>
                <a:latin typeface="Noto Sans KR"/>
                <a:ea typeface="Noto Sans KR"/>
                <a:cs typeface="Noto Sans KR"/>
              </a:rPr>
              <a:t>기기 안</a:t>
            </a:r>
          </a:p>
        </p:txBody>
      </p:sp>
      <p:sp>
        <p:nvSpPr>
          <p:cNvPr id="15" name="TextBox 14"/>
          <p:cNvSpPr txBox="1"/>
          <p:nvPr/>
        </p:nvSpPr>
        <p:spPr>
          <a:xfrm>
            <a:off x="6361023" y="1910206"/>
            <a:ext cx="2224963"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냉장고</a:t>
            </a:r>
          </a:p>
        </p:txBody>
      </p:sp>
      <p:sp>
        <p:nvSpPr>
          <p:cNvPr id="16" name="TextBox 15"/>
          <p:cNvSpPr txBox="1"/>
          <p:nvPr/>
        </p:nvSpPr>
        <p:spPr>
          <a:xfrm>
            <a:off x="6921779" y="1928494"/>
            <a:ext cx="1664208" cy="274320"/>
          </a:xfrm>
          <a:prstGeom prst="rect">
            <a:avLst/>
          </a:prstGeom>
          <a:noFill/>
        </p:spPr>
        <p:txBody>
          <a:bodyPr wrap="square" lIns="0" rIns="0" tIns="0" bIns="0" anchor="t">
            <a:spAutoFit/>
          </a:bodyPr>
          <a:lstStyle/>
          <a:p>
            <a:pPr algn="r">
              <a:lnSpc>
                <a:spcPct val="100000"/>
              </a:lnSpc>
            </a:pPr>
            <a:r>
              <a:rPr sz="1050" b="0">
                <a:solidFill>
                  <a:srgbClr val="4A4F57"/>
                </a:solidFill>
                <a:latin typeface="Noto Sans KR"/>
                <a:ea typeface="Noto Sans KR"/>
                <a:cs typeface="Noto Sans KR"/>
              </a:rPr>
              <a:t>보관 자동화</a:t>
            </a:r>
          </a:p>
        </p:txBody>
      </p:sp>
      <p:sp>
        <p:nvSpPr>
          <p:cNvPr id="17" name="Rectangle 16"/>
          <p:cNvSpPr/>
          <p:nvPr/>
        </p:nvSpPr>
        <p:spPr>
          <a:xfrm>
            <a:off x="8951747" y="1599310"/>
            <a:ext cx="2554147" cy="822960"/>
          </a:xfrm>
          <a:prstGeom prst="rect">
            <a:avLst/>
          </a:prstGeom>
          <a:solidFill>
            <a:srgbClr val="F4F5F6"/>
          </a:solidFill>
          <a:ln>
            <a:noFill/>
          </a:ln>
        </p:spPr>
        <p:txBody>
          <a:bodyPr rtlCol="0" anchor="ctr"/>
          <a:lstStyle/>
          <a:p>
            <a:pPr algn="ctr"/>
          </a:p>
        </p:txBody>
      </p:sp>
      <p:sp>
        <p:nvSpPr>
          <p:cNvPr id="18" name="TextBox 17"/>
          <p:cNvSpPr txBox="1"/>
          <p:nvPr/>
        </p:nvSpPr>
        <p:spPr>
          <a:xfrm>
            <a:off x="9116339" y="1709039"/>
            <a:ext cx="2224963" cy="201168"/>
          </a:xfrm>
          <a:prstGeom prst="rect">
            <a:avLst/>
          </a:prstGeom>
          <a:noFill/>
        </p:spPr>
        <p:txBody>
          <a:bodyPr wrap="square" lIns="0" rIns="0" tIns="0" bIns="0" anchor="t">
            <a:spAutoFit/>
          </a:bodyPr>
          <a:lstStyle/>
          <a:p>
            <a:pPr algn="l">
              <a:lnSpc>
                <a:spcPct val="100000"/>
              </a:lnSpc>
            </a:pPr>
            <a:r>
              <a:rPr sz="850" b="1">
                <a:solidFill>
                  <a:srgbClr val="8C9198"/>
                </a:solidFill>
                <a:latin typeface="Noto Sans KR"/>
                <a:ea typeface="Noto Sans KR"/>
                <a:cs typeface="Noto Sans KR"/>
              </a:rPr>
              <a:t>기기 안</a:t>
            </a:r>
          </a:p>
        </p:txBody>
      </p:sp>
      <p:sp>
        <p:nvSpPr>
          <p:cNvPr id="19" name="TextBox 18"/>
          <p:cNvSpPr txBox="1"/>
          <p:nvPr/>
        </p:nvSpPr>
        <p:spPr>
          <a:xfrm>
            <a:off x="9116339" y="1910206"/>
            <a:ext cx="2224963"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오븐</a:t>
            </a:r>
          </a:p>
        </p:txBody>
      </p:sp>
      <p:sp>
        <p:nvSpPr>
          <p:cNvPr id="20" name="TextBox 19"/>
          <p:cNvSpPr txBox="1"/>
          <p:nvPr/>
        </p:nvSpPr>
        <p:spPr>
          <a:xfrm>
            <a:off x="9677095" y="1928494"/>
            <a:ext cx="1664208" cy="274320"/>
          </a:xfrm>
          <a:prstGeom prst="rect">
            <a:avLst/>
          </a:prstGeom>
          <a:noFill/>
        </p:spPr>
        <p:txBody>
          <a:bodyPr wrap="square" lIns="0" rIns="0" tIns="0" bIns="0" anchor="t">
            <a:spAutoFit/>
          </a:bodyPr>
          <a:lstStyle/>
          <a:p>
            <a:pPr algn="r">
              <a:lnSpc>
                <a:spcPct val="100000"/>
              </a:lnSpc>
            </a:pPr>
            <a:r>
              <a:rPr sz="1050" b="0">
                <a:solidFill>
                  <a:srgbClr val="4A4F57"/>
                </a:solidFill>
                <a:latin typeface="Noto Sans KR"/>
                <a:ea typeface="Noto Sans KR"/>
                <a:cs typeface="Noto Sans KR"/>
              </a:rPr>
              <a:t>조리 일부 자동화</a:t>
            </a:r>
          </a:p>
        </p:txBody>
      </p:sp>
      <p:sp>
        <p:nvSpPr>
          <p:cNvPr id="21" name="Rectangle 20"/>
          <p:cNvSpPr/>
          <p:nvPr/>
        </p:nvSpPr>
        <p:spPr>
          <a:xfrm>
            <a:off x="685800" y="2623439"/>
            <a:ext cx="10820095" cy="1188720"/>
          </a:xfrm>
          <a:prstGeom prst="rect">
            <a:avLst/>
          </a:prstGeom>
          <a:solidFill>
            <a:srgbClr val="15171A"/>
          </a:solidFill>
          <a:ln>
            <a:noFill/>
          </a:ln>
        </p:spPr>
        <p:txBody>
          <a:bodyPr rtlCol="0" anchor="ctr"/>
          <a:lstStyle/>
          <a:p>
            <a:pPr algn="ctr"/>
          </a:p>
        </p:txBody>
      </p:sp>
      <p:sp>
        <p:nvSpPr>
          <p:cNvPr id="22" name="TextBox 21"/>
          <p:cNvSpPr txBox="1"/>
          <p:nvPr/>
        </p:nvSpPr>
        <p:spPr>
          <a:xfrm>
            <a:off x="914400" y="2751455"/>
            <a:ext cx="5486400" cy="27432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가전 사이에서 사람이 하는 Physical Task</a:t>
            </a:r>
          </a:p>
        </p:txBody>
      </p:sp>
      <p:sp>
        <p:nvSpPr>
          <p:cNvPr id="23" name="Rectangle 22"/>
          <p:cNvSpPr/>
          <p:nvPr/>
        </p:nvSpPr>
        <p:spPr>
          <a:xfrm>
            <a:off x="914400" y="3172079"/>
            <a:ext cx="795322" cy="256032"/>
          </a:xfrm>
          <a:prstGeom prst="rect">
            <a:avLst/>
          </a:prstGeom>
          <a:solidFill>
            <a:srgbClr val="2C3036"/>
          </a:solidFill>
          <a:ln>
            <a:noFill/>
          </a:ln>
        </p:spPr>
        <p:txBody>
          <a:bodyPr rtlCol="0" anchor="ctr"/>
          <a:lstStyle/>
          <a:p>
            <a:pPr algn="ctr"/>
          </a:p>
        </p:txBody>
      </p:sp>
      <p:sp>
        <p:nvSpPr>
          <p:cNvPr id="24" name="TextBox 23"/>
          <p:cNvSpPr txBox="1"/>
          <p:nvPr/>
        </p:nvSpPr>
        <p:spPr>
          <a:xfrm>
            <a:off x="914400" y="3172079"/>
            <a:ext cx="795322" cy="256032"/>
          </a:xfrm>
          <a:prstGeom prst="rect">
            <a:avLst/>
          </a:prstGeom>
          <a:noFill/>
        </p:spPr>
        <p:txBody>
          <a:bodyPr wrap="square" lIns="0" rIns="0" tIns="0" bIns="0" anchor="ctr">
            <a:spAutoFit/>
          </a:bodyPr>
          <a:lstStyle/>
          <a:p>
            <a:pPr algn="ctr">
              <a:lnSpc>
                <a:spcPct val="100000"/>
              </a:lnSpc>
            </a:pPr>
            <a:r>
              <a:rPr sz="1050" b="1">
                <a:solidFill>
                  <a:srgbClr val="FFFFFF"/>
                </a:solidFill>
                <a:latin typeface="Noto Sans KR"/>
                <a:ea typeface="Noto Sans KR"/>
                <a:cs typeface="Noto Sans KR"/>
              </a:rPr>
              <a:t>식기 이동</a:t>
            </a:r>
          </a:p>
        </p:txBody>
      </p:sp>
      <p:sp>
        <p:nvSpPr>
          <p:cNvPr id="25" name="Rectangle 24"/>
          <p:cNvSpPr/>
          <p:nvPr/>
        </p:nvSpPr>
        <p:spPr>
          <a:xfrm>
            <a:off x="1801162" y="3172079"/>
            <a:ext cx="918004" cy="256032"/>
          </a:xfrm>
          <a:prstGeom prst="rect">
            <a:avLst/>
          </a:prstGeom>
          <a:solidFill>
            <a:srgbClr val="2C3036"/>
          </a:solidFill>
          <a:ln>
            <a:noFill/>
          </a:ln>
        </p:spPr>
        <p:txBody>
          <a:bodyPr rtlCol="0" anchor="ctr"/>
          <a:lstStyle/>
          <a:p>
            <a:pPr algn="ctr"/>
          </a:p>
        </p:txBody>
      </p:sp>
      <p:sp>
        <p:nvSpPr>
          <p:cNvPr id="26" name="TextBox 25"/>
          <p:cNvSpPr txBox="1"/>
          <p:nvPr/>
        </p:nvSpPr>
        <p:spPr>
          <a:xfrm>
            <a:off x="1801162" y="3172079"/>
            <a:ext cx="918004" cy="256032"/>
          </a:xfrm>
          <a:prstGeom prst="rect">
            <a:avLst/>
          </a:prstGeom>
          <a:noFill/>
        </p:spPr>
        <p:txBody>
          <a:bodyPr wrap="square" lIns="0" rIns="0" tIns="0" bIns="0" anchor="ctr">
            <a:spAutoFit/>
          </a:bodyPr>
          <a:lstStyle/>
          <a:p>
            <a:pPr algn="ctr">
              <a:lnSpc>
                <a:spcPct val="100000"/>
              </a:lnSpc>
            </a:pPr>
            <a:r>
              <a:rPr sz="1050" b="1">
                <a:solidFill>
                  <a:srgbClr val="FFFFFF"/>
                </a:solidFill>
                <a:latin typeface="Noto Sans KR"/>
                <a:ea typeface="Noto Sans KR"/>
                <a:cs typeface="Noto Sans KR"/>
              </a:rPr>
              <a:t>식세기 적재</a:t>
            </a:r>
          </a:p>
        </p:txBody>
      </p:sp>
      <p:sp>
        <p:nvSpPr>
          <p:cNvPr id="27" name="Rectangle 26"/>
          <p:cNvSpPr/>
          <p:nvPr/>
        </p:nvSpPr>
        <p:spPr>
          <a:xfrm>
            <a:off x="2810607" y="3172079"/>
            <a:ext cx="918004" cy="256032"/>
          </a:xfrm>
          <a:prstGeom prst="rect">
            <a:avLst/>
          </a:prstGeom>
          <a:solidFill>
            <a:srgbClr val="2C3036"/>
          </a:solidFill>
          <a:ln>
            <a:noFill/>
          </a:ln>
        </p:spPr>
        <p:txBody>
          <a:bodyPr rtlCol="0" anchor="ctr"/>
          <a:lstStyle/>
          <a:p>
            <a:pPr algn="ctr"/>
          </a:p>
        </p:txBody>
      </p:sp>
      <p:sp>
        <p:nvSpPr>
          <p:cNvPr id="28" name="TextBox 27"/>
          <p:cNvSpPr txBox="1"/>
          <p:nvPr/>
        </p:nvSpPr>
        <p:spPr>
          <a:xfrm>
            <a:off x="2810607" y="3172079"/>
            <a:ext cx="918004" cy="256032"/>
          </a:xfrm>
          <a:prstGeom prst="rect">
            <a:avLst/>
          </a:prstGeom>
          <a:noFill/>
        </p:spPr>
        <p:txBody>
          <a:bodyPr wrap="square" lIns="0" rIns="0" tIns="0" bIns="0" anchor="ctr">
            <a:spAutoFit/>
          </a:bodyPr>
          <a:lstStyle/>
          <a:p>
            <a:pPr algn="ctr">
              <a:lnSpc>
                <a:spcPct val="100000"/>
              </a:lnSpc>
            </a:pPr>
            <a:r>
              <a:rPr sz="1050" b="1">
                <a:solidFill>
                  <a:srgbClr val="FFFFFF"/>
                </a:solidFill>
                <a:latin typeface="Noto Sans KR"/>
                <a:ea typeface="Noto Sans KR"/>
                <a:cs typeface="Noto Sans KR"/>
              </a:rPr>
              <a:t>식세기 인출</a:t>
            </a:r>
          </a:p>
        </p:txBody>
      </p:sp>
      <p:sp>
        <p:nvSpPr>
          <p:cNvPr id="29" name="Rectangle 28"/>
          <p:cNvSpPr/>
          <p:nvPr/>
        </p:nvSpPr>
        <p:spPr>
          <a:xfrm>
            <a:off x="3820051" y="3172079"/>
            <a:ext cx="519684" cy="256032"/>
          </a:xfrm>
          <a:prstGeom prst="rect">
            <a:avLst/>
          </a:prstGeom>
          <a:solidFill>
            <a:srgbClr val="2C3036"/>
          </a:solidFill>
          <a:ln>
            <a:noFill/>
          </a:ln>
        </p:spPr>
        <p:txBody>
          <a:bodyPr rtlCol="0" anchor="ctr"/>
          <a:lstStyle/>
          <a:p>
            <a:pPr algn="ctr"/>
          </a:p>
        </p:txBody>
      </p:sp>
      <p:sp>
        <p:nvSpPr>
          <p:cNvPr id="30" name="TextBox 29"/>
          <p:cNvSpPr txBox="1"/>
          <p:nvPr/>
        </p:nvSpPr>
        <p:spPr>
          <a:xfrm>
            <a:off x="3820051" y="3172079"/>
            <a:ext cx="519684" cy="256032"/>
          </a:xfrm>
          <a:prstGeom prst="rect">
            <a:avLst/>
          </a:prstGeom>
          <a:noFill/>
        </p:spPr>
        <p:txBody>
          <a:bodyPr wrap="square" lIns="0" rIns="0" tIns="0" bIns="0" anchor="ctr">
            <a:spAutoFit/>
          </a:bodyPr>
          <a:lstStyle/>
          <a:p>
            <a:pPr algn="ctr">
              <a:lnSpc>
                <a:spcPct val="100000"/>
              </a:lnSpc>
            </a:pPr>
            <a:r>
              <a:rPr sz="1050" b="1">
                <a:solidFill>
                  <a:srgbClr val="FFFFFF"/>
                </a:solidFill>
                <a:latin typeface="Noto Sans KR"/>
                <a:ea typeface="Noto Sans KR"/>
                <a:cs typeface="Noto Sans KR"/>
              </a:rPr>
              <a:t>수납</a:t>
            </a:r>
          </a:p>
        </p:txBody>
      </p:sp>
      <p:sp>
        <p:nvSpPr>
          <p:cNvPr id="31" name="Rectangle 30"/>
          <p:cNvSpPr/>
          <p:nvPr/>
        </p:nvSpPr>
        <p:spPr>
          <a:xfrm>
            <a:off x="4431175" y="3172079"/>
            <a:ext cx="918004" cy="256032"/>
          </a:xfrm>
          <a:prstGeom prst="rect">
            <a:avLst/>
          </a:prstGeom>
          <a:solidFill>
            <a:srgbClr val="2C3036"/>
          </a:solidFill>
          <a:ln>
            <a:noFill/>
          </a:ln>
        </p:spPr>
        <p:txBody>
          <a:bodyPr rtlCol="0" anchor="ctr"/>
          <a:lstStyle/>
          <a:p>
            <a:pPr algn="ctr"/>
          </a:p>
        </p:txBody>
      </p:sp>
      <p:sp>
        <p:nvSpPr>
          <p:cNvPr id="32" name="TextBox 31"/>
          <p:cNvSpPr txBox="1"/>
          <p:nvPr/>
        </p:nvSpPr>
        <p:spPr>
          <a:xfrm>
            <a:off x="4431175" y="3172079"/>
            <a:ext cx="918004" cy="256032"/>
          </a:xfrm>
          <a:prstGeom prst="rect">
            <a:avLst/>
          </a:prstGeom>
          <a:noFill/>
        </p:spPr>
        <p:txBody>
          <a:bodyPr wrap="square" lIns="0" rIns="0" tIns="0" bIns="0" anchor="ctr">
            <a:spAutoFit/>
          </a:bodyPr>
          <a:lstStyle/>
          <a:p>
            <a:pPr algn="ctr">
              <a:lnSpc>
                <a:spcPct val="100000"/>
              </a:lnSpc>
            </a:pPr>
            <a:r>
              <a:rPr sz="1050" b="1">
                <a:solidFill>
                  <a:srgbClr val="FFFFFF"/>
                </a:solidFill>
                <a:latin typeface="Noto Sans KR"/>
                <a:ea typeface="Noto Sans KR"/>
                <a:cs typeface="Noto Sans KR"/>
              </a:rPr>
              <a:t>식재료 이동</a:t>
            </a:r>
          </a:p>
        </p:txBody>
      </p:sp>
      <p:sp>
        <p:nvSpPr>
          <p:cNvPr id="33" name="Rectangle 32"/>
          <p:cNvSpPr/>
          <p:nvPr/>
        </p:nvSpPr>
        <p:spPr>
          <a:xfrm>
            <a:off x="5440620" y="3172079"/>
            <a:ext cx="795322" cy="256032"/>
          </a:xfrm>
          <a:prstGeom prst="rect">
            <a:avLst/>
          </a:prstGeom>
          <a:solidFill>
            <a:srgbClr val="2C3036"/>
          </a:solidFill>
          <a:ln>
            <a:noFill/>
          </a:ln>
        </p:spPr>
        <p:txBody>
          <a:bodyPr rtlCol="0" anchor="ctr"/>
          <a:lstStyle/>
          <a:p>
            <a:pPr algn="ctr"/>
          </a:p>
        </p:txBody>
      </p:sp>
      <p:sp>
        <p:nvSpPr>
          <p:cNvPr id="34" name="TextBox 33"/>
          <p:cNvSpPr txBox="1"/>
          <p:nvPr/>
        </p:nvSpPr>
        <p:spPr>
          <a:xfrm>
            <a:off x="5440620" y="3172079"/>
            <a:ext cx="795322" cy="256032"/>
          </a:xfrm>
          <a:prstGeom prst="rect">
            <a:avLst/>
          </a:prstGeom>
          <a:noFill/>
        </p:spPr>
        <p:txBody>
          <a:bodyPr wrap="square" lIns="0" rIns="0" tIns="0" bIns="0" anchor="ctr">
            <a:spAutoFit/>
          </a:bodyPr>
          <a:lstStyle/>
          <a:p>
            <a:pPr algn="ctr">
              <a:lnSpc>
                <a:spcPct val="100000"/>
              </a:lnSpc>
            </a:pPr>
            <a:r>
              <a:rPr sz="1050" b="1">
                <a:solidFill>
                  <a:srgbClr val="C9CDD2"/>
                </a:solidFill>
                <a:latin typeface="Noto Sans KR"/>
                <a:ea typeface="Noto Sans KR"/>
                <a:cs typeface="Noto Sans KR"/>
              </a:rPr>
              <a:t>재료 투입</a:t>
            </a:r>
          </a:p>
        </p:txBody>
      </p:sp>
      <p:sp>
        <p:nvSpPr>
          <p:cNvPr id="35" name="Rectangle 34"/>
          <p:cNvSpPr/>
          <p:nvPr/>
        </p:nvSpPr>
        <p:spPr>
          <a:xfrm>
            <a:off x="6327383" y="3172079"/>
            <a:ext cx="1394074" cy="256032"/>
          </a:xfrm>
          <a:prstGeom prst="rect">
            <a:avLst/>
          </a:prstGeom>
          <a:solidFill>
            <a:srgbClr val="2C3036"/>
          </a:solidFill>
          <a:ln>
            <a:noFill/>
          </a:ln>
        </p:spPr>
        <p:txBody>
          <a:bodyPr rtlCol="0" anchor="ctr"/>
          <a:lstStyle/>
          <a:p>
            <a:pPr algn="ctr"/>
          </a:p>
        </p:txBody>
      </p:sp>
      <p:sp>
        <p:nvSpPr>
          <p:cNvPr id="36" name="TextBox 35"/>
          <p:cNvSpPr txBox="1"/>
          <p:nvPr/>
        </p:nvSpPr>
        <p:spPr>
          <a:xfrm>
            <a:off x="6327383" y="3172079"/>
            <a:ext cx="1394074" cy="256032"/>
          </a:xfrm>
          <a:prstGeom prst="rect">
            <a:avLst/>
          </a:prstGeom>
          <a:noFill/>
        </p:spPr>
        <p:txBody>
          <a:bodyPr wrap="square" lIns="0" rIns="0" tIns="0" bIns="0" anchor="ctr">
            <a:spAutoFit/>
          </a:bodyPr>
          <a:lstStyle/>
          <a:p>
            <a:pPr algn="ctr">
              <a:lnSpc>
                <a:spcPct val="100000"/>
              </a:lnSpc>
            </a:pPr>
            <a:r>
              <a:rPr sz="1050" b="1">
                <a:solidFill>
                  <a:srgbClr val="C9CDD2"/>
                </a:solidFill>
                <a:latin typeface="Noto Sans KR"/>
                <a:ea typeface="Noto Sans KR"/>
                <a:cs typeface="Noto Sans KR"/>
              </a:rPr>
              <a:t>조리도구 Handling</a:t>
            </a:r>
          </a:p>
        </p:txBody>
      </p:sp>
      <p:sp>
        <p:nvSpPr>
          <p:cNvPr id="37" name="Rectangle 36"/>
          <p:cNvSpPr/>
          <p:nvPr/>
        </p:nvSpPr>
        <p:spPr>
          <a:xfrm>
            <a:off x="7812897" y="3172079"/>
            <a:ext cx="519684" cy="256032"/>
          </a:xfrm>
          <a:prstGeom prst="rect">
            <a:avLst/>
          </a:prstGeom>
          <a:solidFill>
            <a:srgbClr val="2C3036"/>
          </a:solidFill>
          <a:ln>
            <a:noFill/>
          </a:ln>
        </p:spPr>
        <p:txBody>
          <a:bodyPr rtlCol="0" anchor="ctr"/>
          <a:lstStyle/>
          <a:p>
            <a:pPr algn="ctr"/>
          </a:p>
        </p:txBody>
      </p:sp>
      <p:sp>
        <p:nvSpPr>
          <p:cNvPr id="38" name="TextBox 37"/>
          <p:cNvSpPr txBox="1"/>
          <p:nvPr/>
        </p:nvSpPr>
        <p:spPr>
          <a:xfrm>
            <a:off x="7812897" y="3172079"/>
            <a:ext cx="519684" cy="256032"/>
          </a:xfrm>
          <a:prstGeom prst="rect">
            <a:avLst/>
          </a:prstGeom>
          <a:noFill/>
        </p:spPr>
        <p:txBody>
          <a:bodyPr wrap="square" lIns="0" rIns="0" tIns="0" bIns="0" anchor="ctr">
            <a:spAutoFit/>
          </a:bodyPr>
          <a:lstStyle/>
          <a:p>
            <a:pPr algn="ctr">
              <a:lnSpc>
                <a:spcPct val="100000"/>
              </a:lnSpc>
            </a:pPr>
            <a:r>
              <a:rPr sz="1050" b="1">
                <a:solidFill>
                  <a:srgbClr val="C9CDD2"/>
                </a:solidFill>
                <a:latin typeface="Noto Sans KR"/>
                <a:ea typeface="Noto Sans KR"/>
                <a:cs typeface="Noto Sans KR"/>
              </a:rPr>
              <a:t>젓기</a:t>
            </a:r>
          </a:p>
        </p:txBody>
      </p:sp>
      <p:sp>
        <p:nvSpPr>
          <p:cNvPr id="39" name="Rectangle 38"/>
          <p:cNvSpPr/>
          <p:nvPr/>
        </p:nvSpPr>
        <p:spPr>
          <a:xfrm>
            <a:off x="8424021" y="3172079"/>
            <a:ext cx="795322" cy="256032"/>
          </a:xfrm>
          <a:prstGeom prst="rect">
            <a:avLst/>
          </a:prstGeom>
          <a:solidFill>
            <a:srgbClr val="2C3036"/>
          </a:solidFill>
          <a:ln>
            <a:noFill/>
          </a:ln>
        </p:spPr>
        <p:txBody>
          <a:bodyPr rtlCol="0" anchor="ctr"/>
          <a:lstStyle/>
          <a:p>
            <a:pPr algn="ctr"/>
          </a:p>
        </p:txBody>
      </p:sp>
      <p:sp>
        <p:nvSpPr>
          <p:cNvPr id="40" name="TextBox 39"/>
          <p:cNvSpPr txBox="1"/>
          <p:nvPr/>
        </p:nvSpPr>
        <p:spPr>
          <a:xfrm>
            <a:off x="8424021" y="3172079"/>
            <a:ext cx="795322" cy="256032"/>
          </a:xfrm>
          <a:prstGeom prst="rect">
            <a:avLst/>
          </a:prstGeom>
          <a:noFill/>
        </p:spPr>
        <p:txBody>
          <a:bodyPr wrap="square" lIns="0" rIns="0" tIns="0" bIns="0" anchor="ctr">
            <a:spAutoFit/>
          </a:bodyPr>
          <a:lstStyle/>
          <a:p>
            <a:pPr algn="ctr">
              <a:lnSpc>
                <a:spcPct val="100000"/>
              </a:lnSpc>
            </a:pPr>
            <a:r>
              <a:rPr sz="1050" b="1">
                <a:solidFill>
                  <a:srgbClr val="C9CDD2"/>
                </a:solidFill>
                <a:latin typeface="Noto Sans KR"/>
                <a:ea typeface="Noto Sans KR"/>
                <a:cs typeface="Noto Sans KR"/>
              </a:rPr>
              <a:t>뚜껑 조작</a:t>
            </a:r>
          </a:p>
        </p:txBody>
      </p:sp>
      <p:sp>
        <p:nvSpPr>
          <p:cNvPr id="41" name="Rectangle 40"/>
          <p:cNvSpPr/>
          <p:nvPr/>
        </p:nvSpPr>
        <p:spPr>
          <a:xfrm>
            <a:off x="9310784" y="3172079"/>
            <a:ext cx="948279" cy="256032"/>
          </a:xfrm>
          <a:prstGeom prst="rect">
            <a:avLst/>
          </a:prstGeom>
          <a:solidFill>
            <a:srgbClr val="2C3036"/>
          </a:solidFill>
          <a:ln>
            <a:noFill/>
          </a:ln>
        </p:spPr>
        <p:txBody>
          <a:bodyPr rtlCol="0" anchor="ctr"/>
          <a:lstStyle/>
          <a:p>
            <a:pPr algn="ctr"/>
          </a:p>
        </p:txBody>
      </p:sp>
      <p:sp>
        <p:nvSpPr>
          <p:cNvPr id="42" name="TextBox 41"/>
          <p:cNvSpPr txBox="1"/>
          <p:nvPr/>
        </p:nvSpPr>
        <p:spPr>
          <a:xfrm>
            <a:off x="9310784" y="3172079"/>
            <a:ext cx="948279" cy="256032"/>
          </a:xfrm>
          <a:prstGeom prst="rect">
            <a:avLst/>
          </a:prstGeom>
          <a:noFill/>
        </p:spPr>
        <p:txBody>
          <a:bodyPr wrap="square" lIns="0" rIns="0" tIns="0" bIns="0" anchor="ctr">
            <a:spAutoFit/>
          </a:bodyPr>
          <a:lstStyle/>
          <a:p>
            <a:pPr algn="ctr">
              <a:lnSpc>
                <a:spcPct val="100000"/>
              </a:lnSpc>
            </a:pPr>
            <a:r>
              <a:rPr sz="1050" b="1">
                <a:solidFill>
                  <a:srgbClr val="C9CDD2"/>
                </a:solidFill>
                <a:latin typeface="Noto Sans KR"/>
                <a:ea typeface="Noto Sans KR"/>
                <a:cs typeface="Noto Sans KR"/>
              </a:rPr>
              <a:t>조리 후 정리</a:t>
            </a:r>
          </a:p>
        </p:txBody>
      </p:sp>
      <p:sp>
        <p:nvSpPr>
          <p:cNvPr id="43" name="TextBox 42"/>
          <p:cNvSpPr txBox="1"/>
          <p:nvPr/>
        </p:nvSpPr>
        <p:spPr>
          <a:xfrm>
            <a:off x="7665415" y="2751455"/>
            <a:ext cx="3611880" cy="274320"/>
          </a:xfrm>
          <a:prstGeom prst="rect">
            <a:avLst/>
          </a:prstGeom>
          <a:noFill/>
        </p:spPr>
        <p:txBody>
          <a:bodyPr wrap="square" lIns="0" rIns="0" tIns="0" bIns="0" anchor="t">
            <a:spAutoFit/>
          </a:bodyPr>
          <a:lstStyle/>
          <a:p>
            <a:pPr algn="r">
              <a:lnSpc>
                <a:spcPct val="100000"/>
              </a:lnSpc>
            </a:pPr>
            <a:r>
              <a:rPr sz="900" b="0">
                <a:solidFill>
                  <a:srgbClr val="A9AEB5"/>
                </a:solidFill>
                <a:latin typeface="Noto Sans KR"/>
                <a:ea typeface="Noto Sans KR"/>
                <a:cs typeface="Noto Sans KR"/>
              </a:rPr>
              <a:t>앞 5개 = 첫 검증 범위 CLEAN과 직결</a:t>
            </a:r>
          </a:p>
        </p:txBody>
      </p:sp>
      <p:sp>
        <p:nvSpPr>
          <p:cNvPr id="44" name="TextBox 43"/>
          <p:cNvSpPr txBox="1"/>
          <p:nvPr/>
        </p:nvSpPr>
        <p:spPr>
          <a:xfrm>
            <a:off x="685800" y="3976751"/>
            <a:ext cx="10820095" cy="438912"/>
          </a:xfrm>
          <a:prstGeom prst="rect">
            <a:avLst/>
          </a:prstGeom>
          <a:noFill/>
        </p:spPr>
        <p:txBody>
          <a:bodyPr wrap="square" lIns="0" rIns="0" tIns="0" bIns="0" anchor="t">
            <a:spAutoFit/>
          </a:bodyPr>
          <a:lstStyle/>
          <a:p>
            <a:pPr algn="ctr">
              <a:lnSpc>
                <a:spcPct val="100000"/>
              </a:lnSpc>
            </a:pPr>
            <a:r>
              <a:rPr sz="2100" b="1">
                <a:solidFill>
                  <a:srgbClr val="15171A"/>
                </a:solidFill>
                <a:latin typeface="Noto Sans KR"/>
                <a:ea typeface="Noto Sans KR"/>
                <a:cs typeface="Noto Sans KR"/>
              </a:rPr>
              <a:t>Appliance Automation  </a:t>
            </a:r>
            <a:r>
              <a:rPr sz="2100" b="1">
                <a:solidFill>
                  <a:srgbClr val="E2571B"/>
                </a:solidFill>
                <a:latin typeface="Noto Sans KR"/>
                <a:ea typeface="Noto Sans KR"/>
                <a:cs typeface="Noto Sans KR"/>
              </a:rPr>
              <a:t>≠</a:t>
            </a:r>
            <a:r>
              <a:rPr sz="2100" b="1">
                <a:solidFill>
                  <a:srgbClr val="15171A"/>
                </a:solidFill>
                <a:latin typeface="Noto Sans KR"/>
                <a:ea typeface="Noto Sans KR"/>
                <a:cs typeface="Noto Sans KR"/>
              </a:rPr>
              <a:t>  Physical Workflow Automation</a:t>
            </a:r>
          </a:p>
        </p:txBody>
      </p:sp>
      <p:sp>
        <p:nvSpPr>
          <p:cNvPr id="45" name="TextBox 44"/>
          <p:cNvSpPr txBox="1"/>
          <p:nvPr/>
        </p:nvSpPr>
        <p:spPr>
          <a:xfrm>
            <a:off x="685800" y="4635119"/>
            <a:ext cx="2499283" cy="441350"/>
          </a:xfrm>
          <a:prstGeom prst="rect">
            <a:avLst/>
          </a:prstGeom>
          <a:noFill/>
        </p:spPr>
        <p:txBody>
          <a:bodyPr wrap="square" lIns="0" rIns="0" tIns="0" bIns="0" anchor="t">
            <a:spAutoFit/>
          </a:bodyPr>
          <a:lstStyle/>
          <a:p>
            <a:pPr algn="l">
              <a:lnSpc>
                <a:spcPct val="100000"/>
              </a:lnSpc>
            </a:pPr>
            <a:r>
              <a:rPr sz="2400" b="1">
                <a:solidFill>
                  <a:srgbClr val="15171A"/>
                </a:solidFill>
                <a:latin typeface="Noto Sans KR"/>
                <a:ea typeface="Noto Sans KR"/>
                <a:cs typeface="Noto Sans KR"/>
              </a:rPr>
              <a:t>582.4조원</a:t>
            </a:r>
          </a:p>
        </p:txBody>
      </p:sp>
      <p:sp>
        <p:nvSpPr>
          <p:cNvPr id="46" name="TextBox 45"/>
          <p:cNvSpPr txBox="1"/>
          <p:nvPr/>
        </p:nvSpPr>
        <p:spPr>
          <a:xfrm>
            <a:off x="685800" y="5058181"/>
            <a:ext cx="2499283"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무급 가사노동 가치 (2024)</a:t>
            </a:r>
          </a:p>
        </p:txBody>
      </p:sp>
      <p:sp>
        <p:nvSpPr>
          <p:cNvPr id="47" name="Rectangle 46"/>
          <p:cNvSpPr/>
          <p:nvPr/>
        </p:nvSpPr>
        <p:spPr>
          <a:xfrm>
            <a:off x="685800" y="5476367"/>
            <a:ext cx="309499" cy="155448"/>
          </a:xfrm>
          <a:prstGeom prst="rect">
            <a:avLst/>
          </a:prstGeom>
          <a:noFill/>
          <a:ln w="6350">
            <a:solidFill>
              <a:srgbClr val="C9CDD2"/>
            </a:solidFill>
          </a:ln>
        </p:spPr>
        <p:txBody>
          <a:bodyPr rtlCol="0" anchor="ctr"/>
          <a:lstStyle/>
          <a:p>
            <a:pPr algn="ctr"/>
          </a:p>
        </p:txBody>
      </p:sp>
      <p:sp>
        <p:nvSpPr>
          <p:cNvPr id="48" name="TextBox 47"/>
          <p:cNvSpPr txBox="1"/>
          <p:nvPr/>
        </p:nvSpPr>
        <p:spPr>
          <a:xfrm>
            <a:off x="685800" y="5476367"/>
            <a:ext cx="30949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FACT</a:t>
            </a:r>
          </a:p>
        </p:txBody>
      </p:sp>
      <p:sp>
        <p:nvSpPr>
          <p:cNvPr id="49" name="TextBox 48"/>
          <p:cNvSpPr txBox="1"/>
          <p:nvPr/>
        </p:nvSpPr>
        <p:spPr>
          <a:xfrm>
            <a:off x="3459403" y="4635119"/>
            <a:ext cx="2499283" cy="441350"/>
          </a:xfrm>
          <a:prstGeom prst="rect">
            <a:avLst/>
          </a:prstGeom>
          <a:noFill/>
        </p:spPr>
        <p:txBody>
          <a:bodyPr wrap="square" lIns="0" rIns="0" tIns="0" bIns="0" anchor="t">
            <a:spAutoFit/>
          </a:bodyPr>
          <a:lstStyle/>
          <a:p>
            <a:pPr algn="l">
              <a:lnSpc>
                <a:spcPct val="100000"/>
              </a:lnSpc>
            </a:pPr>
            <a:r>
              <a:rPr sz="2400" b="1">
                <a:solidFill>
                  <a:srgbClr val="15171A"/>
                </a:solidFill>
                <a:latin typeface="Noto Sans KR"/>
                <a:ea typeface="Noto Sans KR"/>
                <a:cs typeface="Noto Sans KR"/>
              </a:rPr>
              <a:t>78.9%</a:t>
            </a:r>
          </a:p>
        </p:txBody>
      </p:sp>
      <p:sp>
        <p:nvSpPr>
          <p:cNvPr id="50" name="TextBox 49"/>
          <p:cNvSpPr txBox="1"/>
          <p:nvPr/>
        </p:nvSpPr>
        <p:spPr>
          <a:xfrm>
            <a:off x="3459403" y="5058181"/>
            <a:ext cx="2499283"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그중 가정관리 (음식 준비 · 청소 등) 459.5조원</a:t>
            </a:r>
          </a:p>
        </p:txBody>
      </p:sp>
      <p:sp>
        <p:nvSpPr>
          <p:cNvPr id="51" name="Rectangle 50"/>
          <p:cNvSpPr/>
          <p:nvPr/>
        </p:nvSpPr>
        <p:spPr>
          <a:xfrm>
            <a:off x="3459403" y="5476367"/>
            <a:ext cx="309499" cy="155448"/>
          </a:xfrm>
          <a:prstGeom prst="rect">
            <a:avLst/>
          </a:prstGeom>
          <a:noFill/>
          <a:ln w="6350">
            <a:solidFill>
              <a:srgbClr val="C9CDD2"/>
            </a:solidFill>
          </a:ln>
        </p:spPr>
        <p:txBody>
          <a:bodyPr rtlCol="0" anchor="ctr"/>
          <a:lstStyle/>
          <a:p>
            <a:pPr algn="ctr"/>
          </a:p>
        </p:txBody>
      </p:sp>
      <p:sp>
        <p:nvSpPr>
          <p:cNvPr id="52" name="TextBox 51"/>
          <p:cNvSpPr txBox="1"/>
          <p:nvPr/>
        </p:nvSpPr>
        <p:spPr>
          <a:xfrm>
            <a:off x="3459403" y="5476367"/>
            <a:ext cx="30949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FACT</a:t>
            </a:r>
          </a:p>
        </p:txBody>
      </p:sp>
      <p:sp>
        <p:nvSpPr>
          <p:cNvPr id="53" name="TextBox 52"/>
          <p:cNvSpPr txBox="1"/>
          <p:nvPr/>
        </p:nvSpPr>
        <p:spPr>
          <a:xfrm>
            <a:off x="6233007" y="4635119"/>
            <a:ext cx="2499283" cy="441350"/>
          </a:xfrm>
          <a:prstGeom prst="rect">
            <a:avLst/>
          </a:prstGeom>
          <a:noFill/>
        </p:spPr>
        <p:txBody>
          <a:bodyPr wrap="square" lIns="0" rIns="0" tIns="0" bIns="0" anchor="t">
            <a:spAutoFit/>
          </a:bodyPr>
          <a:lstStyle/>
          <a:p>
            <a:pPr algn="l">
              <a:lnSpc>
                <a:spcPct val="100000"/>
              </a:lnSpc>
            </a:pPr>
            <a:r>
              <a:rPr sz="2400" b="1">
                <a:solidFill>
                  <a:srgbClr val="15171A"/>
                </a:solidFill>
                <a:latin typeface="Noto Sans KR"/>
                <a:ea typeface="Noto Sans KR"/>
                <a:cs typeface="Noto Sans KR"/>
              </a:rPr>
              <a:t>132분</a:t>
            </a:r>
          </a:p>
        </p:txBody>
      </p:sp>
      <p:sp>
        <p:nvSpPr>
          <p:cNvPr id="54" name="TextBox 53"/>
          <p:cNvSpPr txBox="1"/>
          <p:nvPr/>
        </p:nvSpPr>
        <p:spPr>
          <a:xfrm>
            <a:off x="6233007" y="5058181"/>
            <a:ext cx="2499283"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1인당 하루 가사노동 (2024, 2019년 137분)</a:t>
            </a:r>
          </a:p>
        </p:txBody>
      </p:sp>
      <p:sp>
        <p:nvSpPr>
          <p:cNvPr id="55" name="Rectangle 54"/>
          <p:cNvSpPr/>
          <p:nvPr/>
        </p:nvSpPr>
        <p:spPr>
          <a:xfrm>
            <a:off x="6233007" y="5476367"/>
            <a:ext cx="309499" cy="155448"/>
          </a:xfrm>
          <a:prstGeom prst="rect">
            <a:avLst/>
          </a:prstGeom>
          <a:noFill/>
          <a:ln w="6350">
            <a:solidFill>
              <a:srgbClr val="C9CDD2"/>
            </a:solidFill>
          </a:ln>
        </p:spPr>
        <p:txBody>
          <a:bodyPr rtlCol="0" anchor="ctr"/>
          <a:lstStyle/>
          <a:p>
            <a:pPr algn="ctr"/>
          </a:p>
        </p:txBody>
      </p:sp>
      <p:sp>
        <p:nvSpPr>
          <p:cNvPr id="56" name="TextBox 55"/>
          <p:cNvSpPr txBox="1"/>
          <p:nvPr/>
        </p:nvSpPr>
        <p:spPr>
          <a:xfrm>
            <a:off x="6233007" y="5476367"/>
            <a:ext cx="30949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FACT</a:t>
            </a:r>
          </a:p>
        </p:txBody>
      </p:sp>
      <p:sp>
        <p:nvSpPr>
          <p:cNvPr id="57" name="TextBox 56"/>
          <p:cNvSpPr txBox="1"/>
          <p:nvPr/>
        </p:nvSpPr>
        <p:spPr>
          <a:xfrm>
            <a:off x="9006611" y="4635119"/>
            <a:ext cx="2499283"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약 40분</a:t>
            </a:r>
          </a:p>
        </p:txBody>
      </p:sp>
      <p:sp>
        <p:nvSpPr>
          <p:cNvPr id="58" name="TextBox 57"/>
          <p:cNvSpPr txBox="1"/>
          <p:nvPr/>
        </p:nvSpPr>
        <p:spPr>
          <a:xfrm>
            <a:off x="9006611" y="5058181"/>
            <a:ext cx="2499283"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하루 식사 후 정리 (식기 이동 · 식세기 · 수납)</a:t>
            </a:r>
          </a:p>
        </p:txBody>
      </p:sp>
      <p:sp>
        <p:nvSpPr>
          <p:cNvPr id="59" name="Rectangle 58"/>
          <p:cNvSpPr/>
          <p:nvPr/>
        </p:nvSpPr>
        <p:spPr>
          <a:xfrm>
            <a:off x="9006611" y="5476367"/>
            <a:ext cx="652984" cy="155448"/>
          </a:xfrm>
          <a:prstGeom prst="rect">
            <a:avLst/>
          </a:prstGeom>
          <a:noFill/>
          <a:ln w="6350">
            <a:solidFill>
              <a:srgbClr val="C9CDD2"/>
            </a:solidFill>
          </a:ln>
        </p:spPr>
        <p:txBody>
          <a:bodyPr rtlCol="0" anchor="ctr"/>
          <a:lstStyle/>
          <a:p>
            <a:pPr algn="ctr"/>
          </a:p>
        </p:txBody>
      </p:sp>
      <p:sp>
        <p:nvSpPr>
          <p:cNvPr id="60" name="TextBox 59"/>
          <p:cNvSpPr txBox="1"/>
          <p:nvPr/>
        </p:nvSpPr>
        <p:spPr>
          <a:xfrm>
            <a:off x="9006611" y="5476367"/>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61" name="TextBox 60"/>
          <p:cNvSpPr txBox="1"/>
          <p:nvPr/>
        </p:nvSpPr>
        <p:spPr>
          <a:xfrm>
            <a:off x="685800" y="6143853"/>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출처: 국가데이터처 2024 가계생산 위성계정 (2026.4, 보도 인용) [S40]. 식사 후 정리 40분은 가설 → 30세대 시간 기록 (Time-diary)으로 검증.</a:t>
            </a:r>
          </a:p>
        </p:txBody>
      </p:sp>
      <p:sp>
        <p:nvSpPr>
          <p:cNvPr id="62" name="TextBox 6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63" name="TextBox 6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02  왜 Kitchen인가</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주방은 기술과 사업성을 함께 검증하기 좋은 첫 공간입니다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감성이나 미래 이미지가 아니라 Robot Engineering과 사업성 기준</a:t>
            </a:r>
          </a:p>
        </p:txBody>
      </p:sp>
      <p:sp>
        <p:nvSpPr>
          <p:cNvPr id="5" name="TextBox 4"/>
          <p:cNvSpPr txBox="1"/>
          <p:nvPr/>
        </p:nvSpPr>
        <p:spPr>
          <a:xfrm>
            <a:off x="685800" y="1599310"/>
            <a:ext cx="5227167" cy="274320"/>
          </a:xfrm>
          <a:prstGeom prst="rect">
            <a:avLst/>
          </a:prstGeom>
          <a:noFill/>
        </p:spPr>
        <p:txBody>
          <a:bodyPr wrap="square" lIns="0" rIns="0" tIns="0" bIns="0" anchor="t">
            <a:spAutoFit/>
          </a:bodyPr>
          <a:lstStyle/>
          <a:p>
            <a:pPr algn="l">
              <a:lnSpc>
                <a:spcPct val="100000"/>
              </a:lnSpc>
            </a:pPr>
            <a:r>
              <a:rPr sz="1200" b="1">
                <a:solidFill>
                  <a:srgbClr val="8C9198"/>
                </a:solidFill>
                <a:latin typeface="Noto Sans KR"/>
                <a:ea typeface="Noto Sans KR"/>
                <a:cs typeface="Noto Sans KR"/>
              </a:rPr>
              <a:t>Robot Engineering 기준</a:t>
            </a:r>
          </a:p>
        </p:txBody>
      </p:sp>
      <p:cxnSp>
        <p:nvCxnSpPr>
          <p:cNvPr id="6" name="Connector 5"/>
          <p:cNvCxnSpPr/>
          <p:nvPr/>
        </p:nvCxnSpPr>
        <p:spPr>
          <a:xfrm>
            <a:off x="685800" y="1928494"/>
            <a:ext cx="5227167" cy="0"/>
          </a:xfrm>
          <a:prstGeom prst="line">
            <a:avLst/>
          </a:prstGeom>
          <a:ln w="12700">
            <a:solidFill>
              <a:srgbClr val="15171A"/>
            </a:solidFill>
          </a:ln>
        </p:spPr>
      </p:cxnSp>
      <p:sp>
        <p:nvSpPr>
          <p:cNvPr id="7" name="TextBox 6"/>
          <p:cNvSpPr txBox="1"/>
          <p:nvPr/>
        </p:nvSpPr>
        <p:spPr>
          <a:xfrm>
            <a:off x="685800" y="2056510"/>
            <a:ext cx="457200" cy="384048"/>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01</a:t>
            </a:r>
          </a:p>
        </p:txBody>
      </p:sp>
      <p:sp>
        <p:nvSpPr>
          <p:cNvPr id="8" name="TextBox 7"/>
          <p:cNvSpPr txBox="1"/>
          <p:nvPr/>
        </p:nvSpPr>
        <p:spPr>
          <a:xfrm>
            <a:off x="1234440" y="2056510"/>
            <a:ext cx="467852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Pick · Move · Place · Insert · Remove 집중</a:t>
            </a:r>
          </a:p>
        </p:txBody>
      </p:sp>
      <p:sp>
        <p:nvSpPr>
          <p:cNvPr id="9" name="TextBox 8"/>
          <p:cNvSpPr txBox="1"/>
          <p:nvPr/>
        </p:nvSpPr>
        <p:spPr>
          <a:xfrm>
            <a:off x="1234440" y="2385694"/>
            <a:ext cx="4678527" cy="27432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동작 종류가 적고 반복 → Skill Library로 묶기 쉬움</a:t>
            </a:r>
          </a:p>
        </p:txBody>
      </p:sp>
      <p:cxnSp>
        <p:nvCxnSpPr>
          <p:cNvPr id="10" name="Connector 9"/>
          <p:cNvCxnSpPr/>
          <p:nvPr/>
        </p:nvCxnSpPr>
        <p:spPr>
          <a:xfrm>
            <a:off x="685800" y="2788031"/>
            <a:ext cx="5227167" cy="0"/>
          </a:xfrm>
          <a:prstGeom prst="line">
            <a:avLst/>
          </a:prstGeom>
          <a:ln w="9525">
            <a:solidFill>
              <a:srgbClr val="E2E4E7"/>
            </a:solidFill>
          </a:ln>
        </p:spPr>
      </p:cxnSp>
      <p:sp>
        <p:nvSpPr>
          <p:cNvPr id="11" name="TextBox 10"/>
          <p:cNvSpPr txBox="1"/>
          <p:nvPr/>
        </p:nvSpPr>
        <p:spPr>
          <a:xfrm>
            <a:off x="685800" y="2897759"/>
            <a:ext cx="457200" cy="384048"/>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02</a:t>
            </a:r>
          </a:p>
        </p:txBody>
      </p:sp>
      <p:sp>
        <p:nvSpPr>
          <p:cNvPr id="12" name="TextBox 11"/>
          <p:cNvSpPr txBox="1"/>
          <p:nvPr/>
        </p:nvSpPr>
        <p:spPr>
          <a:xfrm>
            <a:off x="1234440" y="2897759"/>
            <a:ext cx="467852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작업영역이 정해져 있음</a:t>
            </a:r>
          </a:p>
        </p:txBody>
      </p:sp>
      <p:sp>
        <p:nvSpPr>
          <p:cNvPr id="13" name="TextBox 12"/>
          <p:cNvSpPr txBox="1"/>
          <p:nvPr/>
        </p:nvSpPr>
        <p:spPr>
          <a:xfrm>
            <a:off x="1234440" y="3226942"/>
            <a:ext cx="4678527" cy="27432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Sink · Counter · Dishwasher · Storage → Calibration 대상이 명확</a:t>
            </a:r>
          </a:p>
        </p:txBody>
      </p:sp>
      <p:cxnSp>
        <p:nvCxnSpPr>
          <p:cNvPr id="14" name="Connector 13"/>
          <p:cNvCxnSpPr/>
          <p:nvPr/>
        </p:nvCxnSpPr>
        <p:spPr>
          <a:xfrm>
            <a:off x="685800" y="3629279"/>
            <a:ext cx="5227167" cy="0"/>
          </a:xfrm>
          <a:prstGeom prst="line">
            <a:avLst/>
          </a:prstGeom>
          <a:ln w="9525">
            <a:solidFill>
              <a:srgbClr val="E2E4E7"/>
            </a:solidFill>
          </a:ln>
        </p:spPr>
      </p:cxnSp>
      <p:sp>
        <p:nvSpPr>
          <p:cNvPr id="15" name="TextBox 14"/>
          <p:cNvSpPr txBox="1"/>
          <p:nvPr/>
        </p:nvSpPr>
        <p:spPr>
          <a:xfrm>
            <a:off x="685800" y="3739007"/>
            <a:ext cx="457200" cy="384048"/>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03</a:t>
            </a:r>
          </a:p>
        </p:txBody>
      </p:sp>
      <p:sp>
        <p:nvSpPr>
          <p:cNvPr id="16" name="TextBox 15"/>
          <p:cNvSpPr txBox="1"/>
          <p:nvPr/>
        </p:nvSpPr>
        <p:spPr>
          <a:xfrm>
            <a:off x="1234440" y="3739007"/>
            <a:ext cx="467852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물체는 다양하지만 범위가 닫혀 있음</a:t>
            </a:r>
          </a:p>
        </p:txBody>
      </p:sp>
      <p:sp>
        <p:nvSpPr>
          <p:cNvPr id="17" name="TextBox 16"/>
          <p:cNvSpPr txBox="1"/>
          <p:nvPr/>
        </p:nvSpPr>
        <p:spPr>
          <a:xfrm>
            <a:off x="1234440" y="4068191"/>
            <a:ext cx="4678527" cy="27432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접시 · 컵 · Bowl · 수저 · 뚜껑 · 집게 · 국자 → 이후 식재료</a:t>
            </a:r>
          </a:p>
        </p:txBody>
      </p:sp>
      <p:cxnSp>
        <p:nvCxnSpPr>
          <p:cNvPr id="18" name="Connector 17"/>
          <p:cNvCxnSpPr/>
          <p:nvPr/>
        </p:nvCxnSpPr>
        <p:spPr>
          <a:xfrm>
            <a:off x="685800" y="4470527"/>
            <a:ext cx="5227167" cy="0"/>
          </a:xfrm>
          <a:prstGeom prst="line">
            <a:avLst/>
          </a:prstGeom>
          <a:ln w="9525">
            <a:solidFill>
              <a:srgbClr val="E2E4E7"/>
            </a:solidFill>
          </a:ln>
        </p:spPr>
      </p:cxnSp>
      <p:sp>
        <p:nvSpPr>
          <p:cNvPr id="19" name="TextBox 18"/>
          <p:cNvSpPr txBox="1"/>
          <p:nvPr/>
        </p:nvSpPr>
        <p:spPr>
          <a:xfrm>
            <a:off x="685800" y="4580255"/>
            <a:ext cx="457200" cy="384048"/>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04</a:t>
            </a:r>
          </a:p>
        </p:txBody>
      </p:sp>
      <p:sp>
        <p:nvSpPr>
          <p:cNvPr id="20" name="TextBox 19"/>
          <p:cNvSpPr txBox="1"/>
          <p:nvPr/>
        </p:nvSpPr>
        <p:spPr>
          <a:xfrm>
            <a:off x="1234440" y="4580255"/>
            <a:ext cx="467852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가전 사이 이동이 반복</a:t>
            </a:r>
          </a:p>
        </p:txBody>
      </p:sp>
      <p:sp>
        <p:nvSpPr>
          <p:cNvPr id="21" name="TextBox 20"/>
          <p:cNvSpPr txBox="1"/>
          <p:nvPr/>
        </p:nvSpPr>
        <p:spPr>
          <a:xfrm>
            <a:off x="1234440" y="4909439"/>
            <a:ext cx="4678527" cy="27432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식세기 · 수납장 · 조리대 사이의 Physical Movement</a:t>
            </a:r>
          </a:p>
        </p:txBody>
      </p:sp>
      <p:sp>
        <p:nvSpPr>
          <p:cNvPr id="22" name="TextBox 21"/>
          <p:cNvSpPr txBox="1"/>
          <p:nvPr/>
        </p:nvSpPr>
        <p:spPr>
          <a:xfrm>
            <a:off x="6278727" y="1599310"/>
            <a:ext cx="5227167" cy="274320"/>
          </a:xfrm>
          <a:prstGeom prst="rect">
            <a:avLst/>
          </a:prstGeom>
          <a:noFill/>
        </p:spPr>
        <p:txBody>
          <a:bodyPr wrap="square" lIns="0" rIns="0" tIns="0" bIns="0" anchor="t">
            <a:spAutoFit/>
          </a:bodyPr>
          <a:lstStyle/>
          <a:p>
            <a:pPr algn="l">
              <a:lnSpc>
                <a:spcPct val="100000"/>
              </a:lnSpc>
            </a:pPr>
            <a:r>
              <a:rPr sz="1200" b="1">
                <a:solidFill>
                  <a:srgbClr val="8C9198"/>
                </a:solidFill>
                <a:latin typeface="Noto Sans KR"/>
                <a:ea typeface="Noto Sans KR"/>
                <a:cs typeface="Noto Sans KR"/>
              </a:rPr>
              <a:t>Business 기준</a:t>
            </a:r>
          </a:p>
        </p:txBody>
      </p:sp>
      <p:cxnSp>
        <p:nvCxnSpPr>
          <p:cNvPr id="23" name="Connector 22"/>
          <p:cNvCxnSpPr/>
          <p:nvPr/>
        </p:nvCxnSpPr>
        <p:spPr>
          <a:xfrm>
            <a:off x="6278727" y="1928494"/>
            <a:ext cx="5227168" cy="0"/>
          </a:xfrm>
          <a:prstGeom prst="line">
            <a:avLst/>
          </a:prstGeom>
          <a:ln w="12700">
            <a:solidFill>
              <a:srgbClr val="15171A"/>
            </a:solidFill>
          </a:ln>
        </p:spPr>
      </p:cxnSp>
      <p:sp>
        <p:nvSpPr>
          <p:cNvPr id="24" name="TextBox 23"/>
          <p:cNvSpPr txBox="1"/>
          <p:nvPr/>
        </p:nvSpPr>
        <p:spPr>
          <a:xfrm>
            <a:off x="6278727" y="2056510"/>
            <a:ext cx="457200" cy="384048"/>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01</a:t>
            </a:r>
          </a:p>
        </p:txBody>
      </p:sp>
      <p:sp>
        <p:nvSpPr>
          <p:cNvPr id="25" name="TextBox 24"/>
          <p:cNvSpPr txBox="1"/>
          <p:nvPr/>
        </p:nvSpPr>
        <p:spPr>
          <a:xfrm>
            <a:off x="6827367" y="2056510"/>
            <a:ext cx="467852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높은 일일 사용빈도</a:t>
            </a:r>
          </a:p>
        </p:txBody>
      </p:sp>
      <p:sp>
        <p:nvSpPr>
          <p:cNvPr id="26" name="TextBox 25"/>
          <p:cNvSpPr txBox="1"/>
          <p:nvPr/>
        </p:nvSpPr>
        <p:spPr>
          <a:xfrm>
            <a:off x="6827367" y="2385694"/>
            <a:ext cx="4678527" cy="27432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매일 식사 후 반복 → 사용 Data · 가치 체감이 빠름</a:t>
            </a:r>
          </a:p>
        </p:txBody>
      </p:sp>
      <p:cxnSp>
        <p:nvCxnSpPr>
          <p:cNvPr id="27" name="Connector 26"/>
          <p:cNvCxnSpPr/>
          <p:nvPr/>
        </p:nvCxnSpPr>
        <p:spPr>
          <a:xfrm>
            <a:off x="6278727" y="2788031"/>
            <a:ext cx="5227168" cy="0"/>
          </a:xfrm>
          <a:prstGeom prst="line">
            <a:avLst/>
          </a:prstGeom>
          <a:ln w="9525">
            <a:solidFill>
              <a:srgbClr val="E2E4E7"/>
            </a:solidFill>
          </a:ln>
        </p:spPr>
      </p:cxnSp>
      <p:sp>
        <p:nvSpPr>
          <p:cNvPr id="28" name="TextBox 27"/>
          <p:cNvSpPr txBox="1"/>
          <p:nvPr/>
        </p:nvSpPr>
        <p:spPr>
          <a:xfrm>
            <a:off x="6278727" y="2897759"/>
            <a:ext cx="457200" cy="384048"/>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02</a:t>
            </a:r>
          </a:p>
        </p:txBody>
      </p:sp>
      <p:sp>
        <p:nvSpPr>
          <p:cNvPr id="29" name="TextBox 28"/>
          <p:cNvSpPr txBox="1"/>
          <p:nvPr/>
        </p:nvSpPr>
        <p:spPr>
          <a:xfrm>
            <a:off x="6827367" y="2897759"/>
            <a:ext cx="467852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구매 계기가 있음</a:t>
            </a:r>
          </a:p>
        </p:txBody>
      </p:sp>
      <p:sp>
        <p:nvSpPr>
          <p:cNvPr id="30" name="TextBox 29"/>
          <p:cNvSpPr txBox="1"/>
          <p:nvPr/>
        </p:nvSpPr>
        <p:spPr>
          <a:xfrm>
            <a:off x="6827367" y="3226942"/>
            <a:ext cx="4678527" cy="27432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주방 Remodeling · 신축 입주 때 공사와 설치를 함께 결정</a:t>
            </a:r>
          </a:p>
        </p:txBody>
      </p:sp>
      <p:cxnSp>
        <p:nvCxnSpPr>
          <p:cNvPr id="31" name="Connector 30"/>
          <p:cNvCxnSpPr/>
          <p:nvPr/>
        </p:nvCxnSpPr>
        <p:spPr>
          <a:xfrm>
            <a:off x="6278727" y="3629279"/>
            <a:ext cx="5227168" cy="0"/>
          </a:xfrm>
          <a:prstGeom prst="line">
            <a:avLst/>
          </a:prstGeom>
          <a:ln w="9525">
            <a:solidFill>
              <a:srgbClr val="E2E4E7"/>
            </a:solidFill>
          </a:ln>
        </p:spPr>
      </p:cxnSp>
      <p:sp>
        <p:nvSpPr>
          <p:cNvPr id="32" name="TextBox 31"/>
          <p:cNvSpPr txBox="1"/>
          <p:nvPr/>
        </p:nvSpPr>
        <p:spPr>
          <a:xfrm>
            <a:off x="6278727" y="3739007"/>
            <a:ext cx="457200" cy="384048"/>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03</a:t>
            </a:r>
          </a:p>
        </p:txBody>
      </p:sp>
      <p:sp>
        <p:nvSpPr>
          <p:cNvPr id="33" name="TextBox 32"/>
          <p:cNvSpPr txBox="1"/>
          <p:nvPr/>
        </p:nvSpPr>
        <p:spPr>
          <a:xfrm>
            <a:off x="6827367" y="3739007"/>
            <a:ext cx="467852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CLEAN → ASSIST → COOK</a:t>
            </a:r>
          </a:p>
        </p:txBody>
      </p:sp>
      <p:sp>
        <p:nvSpPr>
          <p:cNvPr id="34" name="TextBox 33"/>
          <p:cNvSpPr txBox="1"/>
          <p:nvPr/>
        </p:nvSpPr>
        <p:spPr>
          <a:xfrm>
            <a:off x="6827367" y="4068191"/>
            <a:ext cx="4678527" cy="27432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같은 Platform에 Skill · Tool을 더해 기능 확장</a:t>
            </a:r>
          </a:p>
        </p:txBody>
      </p:sp>
      <p:cxnSp>
        <p:nvCxnSpPr>
          <p:cNvPr id="35" name="Connector 34"/>
          <p:cNvCxnSpPr/>
          <p:nvPr/>
        </p:nvCxnSpPr>
        <p:spPr>
          <a:xfrm>
            <a:off x="6278727" y="4470527"/>
            <a:ext cx="5227168" cy="0"/>
          </a:xfrm>
          <a:prstGeom prst="line">
            <a:avLst/>
          </a:prstGeom>
          <a:ln w="9525">
            <a:solidFill>
              <a:srgbClr val="E2E4E7"/>
            </a:solidFill>
          </a:ln>
        </p:spPr>
      </p:cxnSp>
      <p:sp>
        <p:nvSpPr>
          <p:cNvPr id="36" name="TextBox 35"/>
          <p:cNvSpPr txBox="1"/>
          <p:nvPr/>
        </p:nvSpPr>
        <p:spPr>
          <a:xfrm>
            <a:off x="6278727" y="4580255"/>
            <a:ext cx="457200" cy="384048"/>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04</a:t>
            </a:r>
          </a:p>
        </p:txBody>
      </p:sp>
      <p:sp>
        <p:nvSpPr>
          <p:cNvPr id="37" name="TextBox 36"/>
          <p:cNvSpPr txBox="1"/>
          <p:nvPr/>
        </p:nvSpPr>
        <p:spPr>
          <a:xfrm>
            <a:off x="6827367" y="4580255"/>
            <a:ext cx="467852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설치 이후 반복매출</a:t>
            </a:r>
          </a:p>
        </p:txBody>
      </p:sp>
      <p:sp>
        <p:nvSpPr>
          <p:cNvPr id="38" name="TextBox 37"/>
          <p:cNvSpPr txBox="1"/>
          <p:nvPr/>
        </p:nvSpPr>
        <p:spPr>
          <a:xfrm>
            <a:off x="6827367" y="4909439"/>
            <a:ext cx="4678527" cy="27432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Installed Base 기반 Care · 소모품 · Skill</a:t>
            </a:r>
          </a:p>
        </p:txBody>
      </p:sp>
      <p:sp>
        <p:nvSpPr>
          <p:cNvPr id="39" name="Rectangle 38"/>
          <p:cNvSpPr/>
          <p:nvPr/>
        </p:nvSpPr>
        <p:spPr>
          <a:xfrm>
            <a:off x="685800" y="5494655"/>
            <a:ext cx="10820095" cy="475488"/>
          </a:xfrm>
          <a:prstGeom prst="rect">
            <a:avLst/>
          </a:prstGeom>
          <a:solidFill>
            <a:srgbClr val="15171A"/>
          </a:solidFill>
          <a:ln>
            <a:noFill/>
          </a:ln>
        </p:spPr>
        <p:txBody>
          <a:bodyPr rtlCol="0" anchor="ctr"/>
          <a:lstStyle/>
          <a:p>
            <a:pPr algn="ctr"/>
          </a:p>
        </p:txBody>
      </p:sp>
      <p:sp>
        <p:nvSpPr>
          <p:cNvPr id="40" name="TextBox 39"/>
          <p:cNvSpPr txBox="1"/>
          <p:nvPr/>
        </p:nvSpPr>
        <p:spPr>
          <a:xfrm>
            <a:off x="868680" y="5494655"/>
            <a:ext cx="10454335" cy="475488"/>
          </a:xfrm>
          <a:prstGeom prst="rect">
            <a:avLst/>
          </a:prstGeom>
          <a:noFill/>
        </p:spPr>
        <p:txBody>
          <a:bodyPr wrap="square" lIns="0" rIns="0" tIns="0" bIns="0" anchor="ctr">
            <a:spAutoFit/>
          </a:bodyPr>
          <a:lstStyle/>
          <a:p>
            <a:pPr algn="ctr">
              <a:lnSpc>
                <a:spcPct val="100000"/>
              </a:lnSpc>
            </a:pPr>
            <a:r>
              <a:rPr sz="1300" b="1">
                <a:solidFill>
                  <a:srgbClr val="FFFFFF"/>
                </a:solidFill>
                <a:latin typeface="Noto Sans KR"/>
                <a:ea typeface="Noto Sans KR"/>
                <a:cs typeface="Noto Sans KR"/>
              </a:rPr>
              <a:t>→  주거용 Manipulation의 기술성과 고객가치를 동시에 검증할 수 있는 첫 Application</a:t>
            </a:r>
          </a:p>
        </p:txBody>
      </p:sp>
      <p:sp>
        <p:nvSpPr>
          <p:cNvPr id="41" name="TextBox 40"/>
          <p:cNvSpPr txBox="1"/>
          <p:nvPr/>
        </p:nvSpPr>
        <p:spPr>
          <a:xfrm>
            <a:off x="685800" y="6143853"/>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[사업 가설] 주방이 첫 검증 공간으로 적합하다는 판단이며, 고객 지불의사는 별도 확인 (WTP 조사 n≥300 · 예약금 Test, M18).</a:t>
            </a:r>
          </a:p>
        </p:txBody>
      </p:sp>
      <p:sp>
        <p:nvSpPr>
          <p:cNvPr id="42" name="TextBox 4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43" name="TextBox 4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03  가정용 Robot 적용의 구조적 한계</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집마다 주방이 달라, 같은 로봇을 반복 설치하기 어렵습니다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Robot Intelligence 부족만이 아니라 높은 Environment Variation이 Reliability와 반복설치를 막는 구조</a:t>
            </a:r>
          </a:p>
        </p:txBody>
      </p:sp>
      <p:sp>
        <p:nvSpPr>
          <p:cNvPr id="5" name="TextBox 4"/>
          <p:cNvSpPr txBox="1"/>
          <p:nvPr/>
        </p:nvSpPr>
        <p:spPr>
          <a:xfrm>
            <a:off x="685800" y="1599310"/>
            <a:ext cx="64008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주방마다 다른 것</a:t>
            </a:r>
          </a:p>
        </p:txBody>
      </p:sp>
      <p:sp>
        <p:nvSpPr>
          <p:cNvPr id="6" name="Rectangle 5"/>
          <p:cNvSpPr/>
          <p:nvPr/>
        </p:nvSpPr>
        <p:spPr>
          <a:xfrm>
            <a:off x="685800" y="1928494"/>
            <a:ext cx="2048255" cy="713232"/>
          </a:xfrm>
          <a:prstGeom prst="rect">
            <a:avLst/>
          </a:prstGeom>
          <a:solidFill>
            <a:srgbClr val="F4F5F6"/>
          </a:solidFill>
          <a:ln>
            <a:noFill/>
          </a:ln>
        </p:spPr>
        <p:txBody>
          <a:bodyPr rtlCol="0" anchor="ctr"/>
          <a:lstStyle/>
          <a:p>
            <a:pPr algn="ctr"/>
          </a:p>
        </p:txBody>
      </p:sp>
      <p:sp>
        <p:nvSpPr>
          <p:cNvPr id="7" name="TextBox 6"/>
          <p:cNvSpPr txBox="1"/>
          <p:nvPr/>
        </p:nvSpPr>
        <p:spPr>
          <a:xfrm>
            <a:off x="813816" y="2019934"/>
            <a:ext cx="1792223"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Kitchen Geometry</a:t>
            </a:r>
          </a:p>
        </p:txBody>
      </p:sp>
      <p:sp>
        <p:nvSpPr>
          <p:cNvPr id="8" name="TextBox 7"/>
          <p:cNvSpPr txBox="1"/>
          <p:nvPr/>
        </p:nvSpPr>
        <p:spPr>
          <a:xfrm>
            <a:off x="813816" y="2312542"/>
            <a:ext cx="1792223"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ㅡ자 · ㄱ자 · 반도형</a:t>
            </a:r>
          </a:p>
        </p:txBody>
      </p:sp>
      <p:sp>
        <p:nvSpPr>
          <p:cNvPr id="9" name="Rectangle 8"/>
          <p:cNvSpPr/>
          <p:nvPr/>
        </p:nvSpPr>
        <p:spPr>
          <a:xfrm>
            <a:off x="2862072" y="1928494"/>
            <a:ext cx="2048255" cy="713232"/>
          </a:xfrm>
          <a:prstGeom prst="rect">
            <a:avLst/>
          </a:prstGeom>
          <a:solidFill>
            <a:srgbClr val="F4F5F6"/>
          </a:solidFill>
          <a:ln>
            <a:noFill/>
          </a:ln>
        </p:spPr>
        <p:txBody>
          <a:bodyPr rtlCol="0" anchor="ctr"/>
          <a:lstStyle/>
          <a:p>
            <a:pPr algn="ctr"/>
          </a:p>
        </p:txBody>
      </p:sp>
      <p:sp>
        <p:nvSpPr>
          <p:cNvPr id="10" name="TextBox 9"/>
          <p:cNvSpPr txBox="1"/>
          <p:nvPr/>
        </p:nvSpPr>
        <p:spPr>
          <a:xfrm>
            <a:off x="2990088" y="2019934"/>
            <a:ext cx="1792223"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가전 위치</a:t>
            </a:r>
          </a:p>
        </p:txBody>
      </p:sp>
      <p:sp>
        <p:nvSpPr>
          <p:cNvPr id="11" name="TextBox 10"/>
          <p:cNvSpPr txBox="1"/>
          <p:nvPr/>
        </p:nvSpPr>
        <p:spPr>
          <a:xfrm>
            <a:off x="2990088" y="2312542"/>
            <a:ext cx="1792223"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식세기 · 인덕션 배치</a:t>
            </a:r>
          </a:p>
        </p:txBody>
      </p:sp>
      <p:sp>
        <p:nvSpPr>
          <p:cNvPr id="12" name="Rectangle 11"/>
          <p:cNvSpPr/>
          <p:nvPr/>
        </p:nvSpPr>
        <p:spPr>
          <a:xfrm>
            <a:off x="5038344" y="1928494"/>
            <a:ext cx="2048255" cy="713232"/>
          </a:xfrm>
          <a:prstGeom prst="rect">
            <a:avLst/>
          </a:prstGeom>
          <a:solidFill>
            <a:srgbClr val="F4F5F6"/>
          </a:solidFill>
          <a:ln>
            <a:noFill/>
          </a:ln>
        </p:spPr>
        <p:txBody>
          <a:bodyPr rtlCol="0" anchor="ctr"/>
          <a:lstStyle/>
          <a:p>
            <a:pPr algn="ctr"/>
          </a:p>
        </p:txBody>
      </p:sp>
      <p:sp>
        <p:nvSpPr>
          <p:cNvPr id="13" name="TextBox 12"/>
          <p:cNvSpPr txBox="1"/>
          <p:nvPr/>
        </p:nvSpPr>
        <p:spPr>
          <a:xfrm>
            <a:off x="5166359" y="2019934"/>
            <a:ext cx="1792223"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수납 위치</a:t>
            </a:r>
          </a:p>
        </p:txBody>
      </p:sp>
      <p:sp>
        <p:nvSpPr>
          <p:cNvPr id="14" name="TextBox 13"/>
          <p:cNvSpPr txBox="1"/>
          <p:nvPr/>
        </p:nvSpPr>
        <p:spPr>
          <a:xfrm>
            <a:off x="5166359" y="2312542"/>
            <a:ext cx="1792223"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상부장 · 서랍 · 키큰장</a:t>
            </a:r>
          </a:p>
        </p:txBody>
      </p:sp>
      <p:sp>
        <p:nvSpPr>
          <p:cNvPr id="15" name="Rectangle 14"/>
          <p:cNvSpPr/>
          <p:nvPr/>
        </p:nvSpPr>
        <p:spPr>
          <a:xfrm>
            <a:off x="685800" y="2751454"/>
            <a:ext cx="2048255" cy="713232"/>
          </a:xfrm>
          <a:prstGeom prst="rect">
            <a:avLst/>
          </a:prstGeom>
          <a:solidFill>
            <a:srgbClr val="F4F5F6"/>
          </a:solidFill>
          <a:ln>
            <a:noFill/>
          </a:ln>
        </p:spPr>
        <p:txBody>
          <a:bodyPr rtlCol="0" anchor="ctr"/>
          <a:lstStyle/>
          <a:p>
            <a:pPr algn="ctr"/>
          </a:p>
        </p:txBody>
      </p:sp>
      <p:sp>
        <p:nvSpPr>
          <p:cNvPr id="16" name="TextBox 15"/>
          <p:cNvSpPr txBox="1"/>
          <p:nvPr/>
        </p:nvSpPr>
        <p:spPr>
          <a:xfrm>
            <a:off x="813816" y="2842894"/>
            <a:ext cx="1792223"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조리대 치수</a:t>
            </a:r>
          </a:p>
        </p:txBody>
      </p:sp>
      <p:sp>
        <p:nvSpPr>
          <p:cNvPr id="17" name="TextBox 16"/>
          <p:cNvSpPr txBox="1"/>
          <p:nvPr/>
        </p:nvSpPr>
        <p:spPr>
          <a:xfrm>
            <a:off x="813816" y="3135502"/>
            <a:ext cx="1792223"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높이 · 깊이 · 길이</a:t>
            </a:r>
          </a:p>
        </p:txBody>
      </p:sp>
      <p:sp>
        <p:nvSpPr>
          <p:cNvPr id="18" name="Rectangle 17"/>
          <p:cNvSpPr/>
          <p:nvPr/>
        </p:nvSpPr>
        <p:spPr>
          <a:xfrm>
            <a:off x="2862072" y="2751454"/>
            <a:ext cx="2048255" cy="713232"/>
          </a:xfrm>
          <a:prstGeom prst="rect">
            <a:avLst/>
          </a:prstGeom>
          <a:solidFill>
            <a:srgbClr val="F4F5F6"/>
          </a:solidFill>
          <a:ln>
            <a:noFill/>
          </a:ln>
        </p:spPr>
        <p:txBody>
          <a:bodyPr rtlCol="0" anchor="ctr"/>
          <a:lstStyle/>
          <a:p>
            <a:pPr algn="ctr"/>
          </a:p>
        </p:txBody>
      </p:sp>
      <p:sp>
        <p:nvSpPr>
          <p:cNvPr id="19" name="TextBox 18"/>
          <p:cNvSpPr txBox="1"/>
          <p:nvPr/>
        </p:nvSpPr>
        <p:spPr>
          <a:xfrm>
            <a:off x="2990088" y="2842894"/>
            <a:ext cx="1792223"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가전 Model</a:t>
            </a:r>
          </a:p>
        </p:txBody>
      </p:sp>
      <p:sp>
        <p:nvSpPr>
          <p:cNvPr id="20" name="TextBox 19"/>
          <p:cNvSpPr txBox="1"/>
          <p:nvPr/>
        </p:nvSpPr>
        <p:spPr>
          <a:xfrm>
            <a:off x="2990088" y="3135502"/>
            <a:ext cx="1792223"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랙 구조 · 문 열림</a:t>
            </a:r>
          </a:p>
        </p:txBody>
      </p:sp>
      <p:sp>
        <p:nvSpPr>
          <p:cNvPr id="21" name="Rectangle 20"/>
          <p:cNvSpPr/>
          <p:nvPr/>
        </p:nvSpPr>
        <p:spPr>
          <a:xfrm>
            <a:off x="5038344" y="2751454"/>
            <a:ext cx="2048255" cy="713232"/>
          </a:xfrm>
          <a:prstGeom prst="rect">
            <a:avLst/>
          </a:prstGeom>
          <a:solidFill>
            <a:srgbClr val="F4F5F6"/>
          </a:solidFill>
          <a:ln>
            <a:noFill/>
          </a:ln>
        </p:spPr>
        <p:txBody>
          <a:bodyPr rtlCol="0" anchor="ctr"/>
          <a:lstStyle/>
          <a:p>
            <a:pPr algn="ctr"/>
          </a:p>
        </p:txBody>
      </p:sp>
      <p:sp>
        <p:nvSpPr>
          <p:cNvPr id="22" name="TextBox 21"/>
          <p:cNvSpPr txBox="1"/>
          <p:nvPr/>
        </p:nvSpPr>
        <p:spPr>
          <a:xfrm>
            <a:off x="5166359" y="2842894"/>
            <a:ext cx="1792223"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Object 위치</a:t>
            </a:r>
          </a:p>
        </p:txBody>
      </p:sp>
      <p:sp>
        <p:nvSpPr>
          <p:cNvPr id="23" name="TextBox 22"/>
          <p:cNvSpPr txBox="1"/>
          <p:nvPr/>
        </p:nvSpPr>
        <p:spPr>
          <a:xfrm>
            <a:off x="5166359" y="3135502"/>
            <a:ext cx="1792223"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식기 놓는 자리</a:t>
            </a:r>
          </a:p>
        </p:txBody>
      </p:sp>
      <p:sp>
        <p:nvSpPr>
          <p:cNvPr id="24" name="Rectangle 23"/>
          <p:cNvSpPr/>
          <p:nvPr/>
        </p:nvSpPr>
        <p:spPr>
          <a:xfrm>
            <a:off x="685800" y="3574414"/>
            <a:ext cx="2048255" cy="713232"/>
          </a:xfrm>
          <a:prstGeom prst="rect">
            <a:avLst/>
          </a:prstGeom>
          <a:solidFill>
            <a:srgbClr val="F4F5F6"/>
          </a:solidFill>
          <a:ln>
            <a:noFill/>
          </a:ln>
        </p:spPr>
        <p:txBody>
          <a:bodyPr rtlCol="0" anchor="ctr"/>
          <a:lstStyle/>
          <a:p>
            <a:pPr algn="ctr"/>
          </a:p>
        </p:txBody>
      </p:sp>
      <p:sp>
        <p:nvSpPr>
          <p:cNvPr id="25" name="TextBox 24"/>
          <p:cNvSpPr txBox="1"/>
          <p:nvPr/>
        </p:nvSpPr>
        <p:spPr>
          <a:xfrm>
            <a:off x="813816" y="3665854"/>
            <a:ext cx="1792223"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동선</a:t>
            </a:r>
          </a:p>
        </p:txBody>
      </p:sp>
      <p:sp>
        <p:nvSpPr>
          <p:cNvPr id="26" name="TextBox 25"/>
          <p:cNvSpPr txBox="1"/>
          <p:nvPr/>
        </p:nvSpPr>
        <p:spPr>
          <a:xfrm>
            <a:off x="813816" y="3958462"/>
            <a:ext cx="1792223"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통로 폭 · 사람 위치</a:t>
            </a:r>
          </a:p>
        </p:txBody>
      </p:sp>
      <p:sp>
        <p:nvSpPr>
          <p:cNvPr id="27" name="Rectangle 26"/>
          <p:cNvSpPr/>
          <p:nvPr/>
        </p:nvSpPr>
        <p:spPr>
          <a:xfrm>
            <a:off x="2862072" y="3574414"/>
            <a:ext cx="2048255" cy="713232"/>
          </a:xfrm>
          <a:prstGeom prst="rect">
            <a:avLst/>
          </a:prstGeom>
          <a:solidFill>
            <a:srgbClr val="F4F5F6"/>
          </a:solidFill>
          <a:ln>
            <a:noFill/>
          </a:ln>
        </p:spPr>
        <p:txBody>
          <a:bodyPr rtlCol="0" anchor="ctr"/>
          <a:lstStyle/>
          <a:p>
            <a:pPr algn="ctr"/>
          </a:p>
        </p:txBody>
      </p:sp>
      <p:sp>
        <p:nvSpPr>
          <p:cNvPr id="28" name="TextBox 27"/>
          <p:cNvSpPr txBox="1"/>
          <p:nvPr/>
        </p:nvSpPr>
        <p:spPr>
          <a:xfrm>
            <a:off x="2990088" y="3665854"/>
            <a:ext cx="1792223"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조명</a:t>
            </a:r>
          </a:p>
        </p:txBody>
      </p:sp>
      <p:sp>
        <p:nvSpPr>
          <p:cNvPr id="29" name="TextBox 28"/>
          <p:cNvSpPr txBox="1"/>
          <p:nvPr/>
        </p:nvSpPr>
        <p:spPr>
          <a:xfrm>
            <a:off x="2990088" y="3958462"/>
            <a:ext cx="1792223"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창 · 조명 반사</a:t>
            </a:r>
          </a:p>
        </p:txBody>
      </p:sp>
      <p:sp>
        <p:nvSpPr>
          <p:cNvPr id="30" name="Rectangle 29"/>
          <p:cNvSpPr/>
          <p:nvPr/>
        </p:nvSpPr>
        <p:spPr>
          <a:xfrm>
            <a:off x="5038344" y="3574414"/>
            <a:ext cx="2048255" cy="713232"/>
          </a:xfrm>
          <a:prstGeom prst="rect">
            <a:avLst/>
          </a:prstGeom>
          <a:solidFill>
            <a:srgbClr val="F4F5F6"/>
          </a:solidFill>
          <a:ln>
            <a:noFill/>
          </a:ln>
        </p:spPr>
        <p:txBody>
          <a:bodyPr rtlCol="0" anchor="ctr"/>
          <a:lstStyle/>
          <a:p>
            <a:pPr algn="ctr"/>
          </a:p>
        </p:txBody>
      </p:sp>
      <p:sp>
        <p:nvSpPr>
          <p:cNvPr id="31" name="TextBox 30"/>
          <p:cNvSpPr txBox="1"/>
          <p:nvPr/>
        </p:nvSpPr>
        <p:spPr>
          <a:xfrm>
            <a:off x="5166359" y="3665854"/>
            <a:ext cx="1792223"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설치오차</a:t>
            </a:r>
          </a:p>
        </p:txBody>
      </p:sp>
      <p:sp>
        <p:nvSpPr>
          <p:cNvPr id="32" name="TextBox 31"/>
          <p:cNvSpPr txBox="1"/>
          <p:nvPr/>
        </p:nvSpPr>
        <p:spPr>
          <a:xfrm>
            <a:off x="5166359" y="3958462"/>
            <a:ext cx="1792223"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벽 · 가구 수직 · 수평</a:t>
            </a:r>
          </a:p>
        </p:txBody>
      </p:sp>
      <p:sp>
        <p:nvSpPr>
          <p:cNvPr id="33" name="TextBox 32"/>
          <p:cNvSpPr txBox="1"/>
          <p:nvPr/>
        </p:nvSpPr>
        <p:spPr>
          <a:xfrm>
            <a:off x="7498079" y="1599310"/>
            <a:ext cx="4007815"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범용 Robot 적용 시 집마다 반복</a:t>
            </a:r>
          </a:p>
        </p:txBody>
      </p:sp>
      <p:sp>
        <p:nvSpPr>
          <p:cNvPr id="34" name="Rectangle 33"/>
          <p:cNvSpPr/>
          <p:nvPr/>
        </p:nvSpPr>
        <p:spPr>
          <a:xfrm>
            <a:off x="7498079" y="1928494"/>
            <a:ext cx="3367735" cy="310896"/>
          </a:xfrm>
          <a:prstGeom prst="rect">
            <a:avLst/>
          </a:prstGeom>
          <a:solidFill>
            <a:srgbClr val="15171A"/>
          </a:solidFill>
          <a:ln>
            <a:noFill/>
          </a:ln>
        </p:spPr>
        <p:txBody>
          <a:bodyPr rtlCol="0" anchor="ctr"/>
          <a:lstStyle/>
          <a:p>
            <a:pPr algn="ctr"/>
          </a:p>
        </p:txBody>
      </p:sp>
      <p:sp>
        <p:nvSpPr>
          <p:cNvPr id="35" name="TextBox 34"/>
          <p:cNvSpPr txBox="1"/>
          <p:nvPr/>
        </p:nvSpPr>
        <p:spPr>
          <a:xfrm>
            <a:off x="7498079" y="1928494"/>
            <a:ext cx="3367735" cy="310896"/>
          </a:xfrm>
          <a:prstGeom prst="rect">
            <a:avLst/>
          </a:prstGeom>
          <a:noFill/>
        </p:spPr>
        <p:txBody>
          <a:bodyPr wrap="square" lIns="0" rIns="0" tIns="0" bIns="0" anchor="ctr">
            <a:spAutoFit/>
          </a:bodyPr>
          <a:lstStyle/>
          <a:p>
            <a:pPr algn="ctr">
              <a:lnSpc>
                <a:spcPct val="100000"/>
              </a:lnSpc>
            </a:pPr>
            <a:r>
              <a:rPr sz="1150" b="1">
                <a:solidFill>
                  <a:srgbClr val="FFFFFF"/>
                </a:solidFill>
                <a:latin typeface="Noto Sans KR"/>
                <a:ea typeface="Noto Sans KR"/>
                <a:cs typeface="Noto Sans KR"/>
              </a:rPr>
              <a:t>Perception</a:t>
            </a:r>
          </a:p>
        </p:txBody>
      </p:sp>
      <p:cxnSp>
        <p:nvCxnSpPr>
          <p:cNvPr id="36" name="Connector 35"/>
          <p:cNvCxnSpPr/>
          <p:nvPr/>
        </p:nvCxnSpPr>
        <p:spPr>
          <a:xfrm>
            <a:off x="9181947" y="2239390"/>
            <a:ext cx="0" cy="96012"/>
          </a:xfrm>
          <a:prstGeom prst="line">
            <a:avLst/>
          </a:prstGeom>
          <a:ln w="12700">
            <a:solidFill>
              <a:srgbClr val="8C9198"/>
            </a:solidFill>
            <a:tailEnd type="triangle" w="med" len="med"/>
          </a:ln>
        </p:spPr>
      </p:cxnSp>
      <p:sp>
        <p:nvSpPr>
          <p:cNvPr id="37" name="Rectangle 36"/>
          <p:cNvSpPr/>
          <p:nvPr/>
        </p:nvSpPr>
        <p:spPr>
          <a:xfrm>
            <a:off x="7498079" y="2335402"/>
            <a:ext cx="3367735" cy="310896"/>
          </a:xfrm>
          <a:prstGeom prst="rect">
            <a:avLst/>
          </a:prstGeom>
          <a:solidFill>
            <a:srgbClr val="15171A"/>
          </a:solidFill>
          <a:ln>
            <a:noFill/>
          </a:ln>
        </p:spPr>
        <p:txBody>
          <a:bodyPr rtlCol="0" anchor="ctr"/>
          <a:lstStyle/>
          <a:p>
            <a:pPr algn="ctr"/>
          </a:p>
        </p:txBody>
      </p:sp>
      <p:sp>
        <p:nvSpPr>
          <p:cNvPr id="38" name="TextBox 37"/>
          <p:cNvSpPr txBox="1"/>
          <p:nvPr/>
        </p:nvSpPr>
        <p:spPr>
          <a:xfrm>
            <a:off x="7498079" y="2335402"/>
            <a:ext cx="3367735" cy="310896"/>
          </a:xfrm>
          <a:prstGeom prst="rect">
            <a:avLst/>
          </a:prstGeom>
          <a:noFill/>
        </p:spPr>
        <p:txBody>
          <a:bodyPr wrap="square" lIns="0" rIns="0" tIns="0" bIns="0" anchor="ctr">
            <a:spAutoFit/>
          </a:bodyPr>
          <a:lstStyle/>
          <a:p>
            <a:pPr algn="ctr">
              <a:lnSpc>
                <a:spcPct val="100000"/>
              </a:lnSpc>
            </a:pPr>
            <a:r>
              <a:rPr sz="1150" b="1">
                <a:solidFill>
                  <a:srgbClr val="FFFFFF"/>
                </a:solidFill>
                <a:latin typeface="Noto Sans KR"/>
                <a:ea typeface="Noto Sans KR"/>
                <a:cs typeface="Noto Sans KR"/>
              </a:rPr>
              <a:t>Mapping</a:t>
            </a:r>
          </a:p>
        </p:txBody>
      </p:sp>
      <p:cxnSp>
        <p:nvCxnSpPr>
          <p:cNvPr id="39" name="Connector 38"/>
          <p:cNvCxnSpPr/>
          <p:nvPr/>
        </p:nvCxnSpPr>
        <p:spPr>
          <a:xfrm>
            <a:off x="9181947" y="2646298"/>
            <a:ext cx="0" cy="96012"/>
          </a:xfrm>
          <a:prstGeom prst="line">
            <a:avLst/>
          </a:prstGeom>
          <a:ln w="12700">
            <a:solidFill>
              <a:srgbClr val="8C9198"/>
            </a:solidFill>
            <a:tailEnd type="triangle" w="med" len="med"/>
          </a:ln>
        </p:spPr>
      </p:cxnSp>
      <p:sp>
        <p:nvSpPr>
          <p:cNvPr id="40" name="Rectangle 39"/>
          <p:cNvSpPr/>
          <p:nvPr/>
        </p:nvSpPr>
        <p:spPr>
          <a:xfrm>
            <a:off x="7498079" y="2742311"/>
            <a:ext cx="3367735" cy="310896"/>
          </a:xfrm>
          <a:prstGeom prst="rect">
            <a:avLst/>
          </a:prstGeom>
          <a:solidFill>
            <a:srgbClr val="15171A"/>
          </a:solidFill>
          <a:ln>
            <a:noFill/>
          </a:ln>
        </p:spPr>
        <p:txBody>
          <a:bodyPr rtlCol="0" anchor="ctr"/>
          <a:lstStyle/>
          <a:p>
            <a:pPr algn="ctr"/>
          </a:p>
        </p:txBody>
      </p:sp>
      <p:sp>
        <p:nvSpPr>
          <p:cNvPr id="41" name="TextBox 40"/>
          <p:cNvSpPr txBox="1"/>
          <p:nvPr/>
        </p:nvSpPr>
        <p:spPr>
          <a:xfrm>
            <a:off x="7498079" y="2742311"/>
            <a:ext cx="3367735" cy="310896"/>
          </a:xfrm>
          <a:prstGeom prst="rect">
            <a:avLst/>
          </a:prstGeom>
          <a:noFill/>
        </p:spPr>
        <p:txBody>
          <a:bodyPr wrap="square" lIns="0" rIns="0" tIns="0" bIns="0" anchor="ctr">
            <a:spAutoFit/>
          </a:bodyPr>
          <a:lstStyle/>
          <a:p>
            <a:pPr algn="ctr">
              <a:lnSpc>
                <a:spcPct val="100000"/>
              </a:lnSpc>
            </a:pPr>
            <a:r>
              <a:rPr sz="1150" b="1">
                <a:solidFill>
                  <a:srgbClr val="FFFFFF"/>
                </a:solidFill>
                <a:latin typeface="Noto Sans KR"/>
                <a:ea typeface="Noto Sans KR"/>
                <a:cs typeface="Noto Sans KR"/>
              </a:rPr>
              <a:t>Teaching</a:t>
            </a:r>
          </a:p>
        </p:txBody>
      </p:sp>
      <p:cxnSp>
        <p:nvCxnSpPr>
          <p:cNvPr id="42" name="Connector 41"/>
          <p:cNvCxnSpPr/>
          <p:nvPr/>
        </p:nvCxnSpPr>
        <p:spPr>
          <a:xfrm>
            <a:off x="9181947" y="3053206"/>
            <a:ext cx="0" cy="96012"/>
          </a:xfrm>
          <a:prstGeom prst="line">
            <a:avLst/>
          </a:prstGeom>
          <a:ln w="12700">
            <a:solidFill>
              <a:srgbClr val="8C9198"/>
            </a:solidFill>
            <a:tailEnd type="triangle" w="med" len="med"/>
          </a:ln>
        </p:spPr>
      </p:cxnSp>
      <p:sp>
        <p:nvSpPr>
          <p:cNvPr id="43" name="Rectangle 42"/>
          <p:cNvSpPr/>
          <p:nvPr/>
        </p:nvSpPr>
        <p:spPr>
          <a:xfrm>
            <a:off x="7498079" y="3149218"/>
            <a:ext cx="3367735" cy="310896"/>
          </a:xfrm>
          <a:prstGeom prst="rect">
            <a:avLst/>
          </a:prstGeom>
          <a:solidFill>
            <a:srgbClr val="15171A"/>
          </a:solidFill>
          <a:ln>
            <a:noFill/>
          </a:ln>
        </p:spPr>
        <p:txBody>
          <a:bodyPr rtlCol="0" anchor="ctr"/>
          <a:lstStyle/>
          <a:p>
            <a:pPr algn="ctr"/>
          </a:p>
        </p:txBody>
      </p:sp>
      <p:sp>
        <p:nvSpPr>
          <p:cNvPr id="44" name="TextBox 43"/>
          <p:cNvSpPr txBox="1"/>
          <p:nvPr/>
        </p:nvSpPr>
        <p:spPr>
          <a:xfrm>
            <a:off x="7498079" y="3149218"/>
            <a:ext cx="3367735" cy="310896"/>
          </a:xfrm>
          <a:prstGeom prst="rect">
            <a:avLst/>
          </a:prstGeom>
          <a:noFill/>
        </p:spPr>
        <p:txBody>
          <a:bodyPr wrap="square" lIns="0" rIns="0" tIns="0" bIns="0" anchor="ctr">
            <a:spAutoFit/>
          </a:bodyPr>
          <a:lstStyle/>
          <a:p>
            <a:pPr algn="ctr">
              <a:lnSpc>
                <a:spcPct val="100000"/>
              </a:lnSpc>
            </a:pPr>
            <a:r>
              <a:rPr sz="1150" b="1">
                <a:solidFill>
                  <a:srgbClr val="FFFFFF"/>
                </a:solidFill>
                <a:latin typeface="Noto Sans KR"/>
                <a:ea typeface="Noto Sans KR"/>
                <a:cs typeface="Noto Sans KR"/>
              </a:rPr>
              <a:t>Programming</a:t>
            </a:r>
          </a:p>
        </p:txBody>
      </p:sp>
      <p:cxnSp>
        <p:nvCxnSpPr>
          <p:cNvPr id="45" name="Connector 44"/>
          <p:cNvCxnSpPr/>
          <p:nvPr/>
        </p:nvCxnSpPr>
        <p:spPr>
          <a:xfrm>
            <a:off x="9181947" y="3460114"/>
            <a:ext cx="0" cy="96012"/>
          </a:xfrm>
          <a:prstGeom prst="line">
            <a:avLst/>
          </a:prstGeom>
          <a:ln w="12700">
            <a:solidFill>
              <a:srgbClr val="8C9198"/>
            </a:solidFill>
            <a:tailEnd type="triangle" w="med" len="med"/>
          </a:ln>
        </p:spPr>
      </p:cxnSp>
      <p:sp>
        <p:nvSpPr>
          <p:cNvPr id="46" name="Rectangle 45"/>
          <p:cNvSpPr/>
          <p:nvPr/>
        </p:nvSpPr>
        <p:spPr>
          <a:xfrm>
            <a:off x="7498079" y="3556127"/>
            <a:ext cx="3367735" cy="310896"/>
          </a:xfrm>
          <a:prstGeom prst="rect">
            <a:avLst/>
          </a:prstGeom>
          <a:solidFill>
            <a:srgbClr val="15171A"/>
          </a:solidFill>
          <a:ln>
            <a:noFill/>
          </a:ln>
        </p:spPr>
        <p:txBody>
          <a:bodyPr rtlCol="0" anchor="ctr"/>
          <a:lstStyle/>
          <a:p>
            <a:pPr algn="ctr"/>
          </a:p>
        </p:txBody>
      </p:sp>
      <p:sp>
        <p:nvSpPr>
          <p:cNvPr id="47" name="TextBox 46"/>
          <p:cNvSpPr txBox="1"/>
          <p:nvPr/>
        </p:nvSpPr>
        <p:spPr>
          <a:xfrm>
            <a:off x="7498079" y="3556127"/>
            <a:ext cx="3367735" cy="310896"/>
          </a:xfrm>
          <a:prstGeom prst="rect">
            <a:avLst/>
          </a:prstGeom>
          <a:noFill/>
        </p:spPr>
        <p:txBody>
          <a:bodyPr wrap="square" lIns="0" rIns="0" tIns="0" bIns="0" anchor="ctr">
            <a:spAutoFit/>
          </a:bodyPr>
          <a:lstStyle/>
          <a:p>
            <a:pPr algn="ctr">
              <a:lnSpc>
                <a:spcPct val="100000"/>
              </a:lnSpc>
            </a:pPr>
            <a:r>
              <a:rPr sz="1150" b="1">
                <a:solidFill>
                  <a:srgbClr val="FFFFFF"/>
                </a:solidFill>
                <a:latin typeface="Noto Sans KR"/>
                <a:ea typeface="Noto Sans KR"/>
                <a:cs typeface="Noto Sans KR"/>
              </a:rPr>
              <a:t>Calibration</a:t>
            </a:r>
          </a:p>
        </p:txBody>
      </p:sp>
      <p:cxnSp>
        <p:nvCxnSpPr>
          <p:cNvPr id="48" name="Connector 47"/>
          <p:cNvCxnSpPr/>
          <p:nvPr/>
        </p:nvCxnSpPr>
        <p:spPr>
          <a:xfrm>
            <a:off x="9181947" y="3867023"/>
            <a:ext cx="0" cy="96012"/>
          </a:xfrm>
          <a:prstGeom prst="line">
            <a:avLst/>
          </a:prstGeom>
          <a:ln w="12700">
            <a:solidFill>
              <a:srgbClr val="8C9198"/>
            </a:solidFill>
            <a:tailEnd type="triangle" w="med" len="med"/>
          </a:ln>
        </p:spPr>
      </p:cxnSp>
      <p:sp>
        <p:nvSpPr>
          <p:cNvPr id="49" name="Rectangle 48"/>
          <p:cNvSpPr/>
          <p:nvPr/>
        </p:nvSpPr>
        <p:spPr>
          <a:xfrm>
            <a:off x="7498079" y="3963034"/>
            <a:ext cx="3367735" cy="310896"/>
          </a:xfrm>
          <a:prstGeom prst="rect">
            <a:avLst/>
          </a:prstGeom>
          <a:solidFill>
            <a:srgbClr val="15171A"/>
          </a:solidFill>
          <a:ln>
            <a:noFill/>
          </a:ln>
        </p:spPr>
        <p:txBody>
          <a:bodyPr rtlCol="0" anchor="ctr"/>
          <a:lstStyle/>
          <a:p>
            <a:pPr algn="ctr"/>
          </a:p>
        </p:txBody>
      </p:sp>
      <p:sp>
        <p:nvSpPr>
          <p:cNvPr id="50" name="TextBox 49"/>
          <p:cNvSpPr txBox="1"/>
          <p:nvPr/>
        </p:nvSpPr>
        <p:spPr>
          <a:xfrm>
            <a:off x="7498079" y="3963034"/>
            <a:ext cx="3367735" cy="310896"/>
          </a:xfrm>
          <a:prstGeom prst="rect">
            <a:avLst/>
          </a:prstGeom>
          <a:noFill/>
        </p:spPr>
        <p:txBody>
          <a:bodyPr wrap="square" lIns="0" rIns="0" tIns="0" bIns="0" anchor="ctr">
            <a:spAutoFit/>
          </a:bodyPr>
          <a:lstStyle/>
          <a:p>
            <a:pPr algn="ctr">
              <a:lnSpc>
                <a:spcPct val="100000"/>
              </a:lnSpc>
            </a:pPr>
            <a:r>
              <a:rPr sz="1150" b="1">
                <a:solidFill>
                  <a:srgbClr val="FFFFFF"/>
                </a:solidFill>
                <a:latin typeface="Noto Sans KR"/>
                <a:ea typeface="Noto Sans KR"/>
                <a:cs typeface="Noto Sans KR"/>
              </a:rPr>
              <a:t>Validation</a:t>
            </a:r>
          </a:p>
        </p:txBody>
      </p:sp>
      <p:cxnSp>
        <p:nvCxnSpPr>
          <p:cNvPr id="51" name="Connector 50"/>
          <p:cNvCxnSpPr/>
          <p:nvPr/>
        </p:nvCxnSpPr>
        <p:spPr>
          <a:xfrm>
            <a:off x="10957255" y="1928494"/>
            <a:ext cx="0" cy="2345436"/>
          </a:xfrm>
          <a:prstGeom prst="line">
            <a:avLst/>
          </a:prstGeom>
          <a:ln w="19050">
            <a:solidFill>
              <a:srgbClr val="E2571B"/>
            </a:solidFill>
          </a:ln>
        </p:spPr>
      </p:cxnSp>
      <p:cxnSp>
        <p:nvCxnSpPr>
          <p:cNvPr id="52" name="Connector 51"/>
          <p:cNvCxnSpPr/>
          <p:nvPr/>
        </p:nvCxnSpPr>
        <p:spPr>
          <a:xfrm>
            <a:off x="10865815" y="1928494"/>
            <a:ext cx="91440" cy="0"/>
          </a:xfrm>
          <a:prstGeom prst="line">
            <a:avLst/>
          </a:prstGeom>
          <a:ln w="19050">
            <a:solidFill>
              <a:srgbClr val="E2571B"/>
            </a:solidFill>
          </a:ln>
        </p:spPr>
      </p:cxnSp>
      <p:cxnSp>
        <p:nvCxnSpPr>
          <p:cNvPr id="53" name="Connector 52"/>
          <p:cNvCxnSpPr/>
          <p:nvPr/>
        </p:nvCxnSpPr>
        <p:spPr>
          <a:xfrm>
            <a:off x="10865815" y="4273930"/>
            <a:ext cx="91440" cy="0"/>
          </a:xfrm>
          <a:prstGeom prst="line">
            <a:avLst/>
          </a:prstGeom>
          <a:ln w="19050">
            <a:solidFill>
              <a:srgbClr val="E2571B"/>
            </a:solidFill>
          </a:ln>
        </p:spPr>
      </p:cxnSp>
      <p:sp>
        <p:nvSpPr>
          <p:cNvPr id="54" name="TextBox 53"/>
          <p:cNvSpPr txBox="1"/>
          <p:nvPr/>
        </p:nvSpPr>
        <p:spPr>
          <a:xfrm>
            <a:off x="11012119" y="2826892"/>
            <a:ext cx="457200" cy="548640"/>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집마다</a:t>
            </a:r>
          </a:p>
          <a:p>
            <a:pPr algn="l">
              <a:lnSpc>
                <a:spcPct val="100000"/>
              </a:lnSpc>
            </a:pPr>
            <a:r>
              <a:rPr sz="850" b="1">
                <a:solidFill>
                  <a:srgbClr val="E2571B"/>
                </a:solidFill>
                <a:latin typeface="Noto Sans KR"/>
                <a:ea typeface="Noto Sans KR"/>
                <a:cs typeface="Noto Sans KR"/>
              </a:rPr>
              <a:t>반복</a:t>
            </a:r>
          </a:p>
        </p:txBody>
      </p:sp>
      <p:graphicFrame>
        <p:nvGraphicFramePr>
          <p:cNvPr id="55" name="Table 54"/>
          <p:cNvGraphicFramePr>
            <a:graphicFrameLocks noGrp="1"/>
          </p:cNvGraphicFramePr>
          <p:nvPr/>
        </p:nvGraphicFramePr>
        <p:xfrm>
          <a:off x="685800" y="4488815"/>
          <a:ext cx="6400800" cy="936548"/>
        </p:xfrm>
        <a:graphic>
          <a:graphicData uri="http://schemas.openxmlformats.org/drawingml/2006/table">
            <a:tbl>
              <a:tblPr firstRow="0" bandRow="0">
                <a:tableStyleId>{2D5ABB26-0587-4C30-8999-92F81FD0307C}</a:tableStyleId>
              </a:tblPr>
              <a:tblGrid>
                <a:gridCol w="1234440"/>
                <a:gridCol w="4251960"/>
                <a:gridCol w="914400"/>
              </a:tblGrid>
              <a:tr h="468274">
                <a:tc>
                  <a:txBody>
                    <a:bodyPr wrap="square"/>
                    <a:lstStyle/>
                    <a:p>
                      <a:pPr algn="l">
                        <a:lnSpc>
                          <a:spcPct val="100000"/>
                        </a:lnSpc>
                      </a:pPr>
                      <a:r>
                        <a:rPr sz="950" b="1">
                          <a:solidFill>
                            <a:srgbClr val="15171A"/>
                          </a:solidFill>
                          <a:latin typeface="Noto Sans KR"/>
                          <a:ea typeface="Noto Sans KR"/>
                          <a:cs typeface="Noto Sans KR"/>
                        </a:rPr>
                        <a:t>받은 평면 5종</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싱크 벽 길이 약 2.6~3.3m · 3종은 기본 한 줄 배치 불가 · ㄱ자 · 일자 · 반도형 혼재 (재작도, 특정 단지 아님)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1">
                          <a:solidFill>
                            <a:srgbClr val="15171A"/>
                          </a:solidFill>
                          <a:latin typeface="Noto Sans KR"/>
                          <a:ea typeface="Noto Sans KR"/>
                          <a:cs typeface="Noto Sans KR"/>
                        </a:rPr>
                        <a:t>공개 사례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LG CLOiD: 팔 작업 범위 무릎 높이 이상 (보도) → 식세기 하단 랙 같은 낮은 작업점은 환경 측 보완 필요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bl>
          </a:graphicData>
        </a:graphic>
      </p:graphicFrame>
      <p:sp>
        <p:nvSpPr>
          <p:cNvPr id="56" name="Rectangle 55"/>
          <p:cNvSpPr/>
          <p:nvPr/>
        </p:nvSpPr>
        <p:spPr>
          <a:xfrm>
            <a:off x="7498079" y="4566539"/>
            <a:ext cx="3733495" cy="566928"/>
          </a:xfrm>
          <a:prstGeom prst="rect">
            <a:avLst/>
          </a:prstGeom>
          <a:solidFill>
            <a:srgbClr val="F4F5F6"/>
          </a:solidFill>
          <a:ln>
            <a:noFill/>
          </a:ln>
        </p:spPr>
        <p:txBody>
          <a:bodyPr rtlCol="0" anchor="ctr"/>
          <a:lstStyle/>
          <a:p>
            <a:pPr algn="ctr"/>
          </a:p>
        </p:txBody>
      </p:sp>
      <p:sp>
        <p:nvSpPr>
          <p:cNvPr id="57" name="TextBox 56"/>
          <p:cNvSpPr txBox="1"/>
          <p:nvPr/>
        </p:nvSpPr>
        <p:spPr>
          <a:xfrm>
            <a:off x="7680959" y="4566539"/>
            <a:ext cx="3367735" cy="566928"/>
          </a:xfrm>
          <a:prstGeom prst="rect">
            <a:avLst/>
          </a:prstGeom>
          <a:noFill/>
        </p:spPr>
        <p:txBody>
          <a:bodyPr wrap="square" lIns="0" rIns="0" tIns="0" bIns="0" anchor="ctr">
            <a:spAutoFit/>
          </a:bodyPr>
          <a:lstStyle/>
          <a:p>
            <a:pPr algn="ctr">
              <a:lnSpc>
                <a:spcPct val="100000"/>
              </a:lnSpc>
            </a:pPr>
            <a:r>
              <a:rPr sz="1050" b="1">
                <a:solidFill>
                  <a:srgbClr val="15171A"/>
                </a:solidFill>
                <a:latin typeface="Noto Sans KR"/>
                <a:ea typeface="Noto Sans KR"/>
                <a:cs typeface="Noto Sans KR"/>
              </a:rPr>
              <a:t>MH는 모든 주방을 표준화하지 않습니다</a:t>
            </a:r>
          </a:p>
          <a:p>
            <a:pPr algn="ctr">
              <a:lnSpc>
                <a:spcPct val="100000"/>
              </a:lnSpc>
            </a:pPr>
            <a:r>
              <a:rPr sz="1050" b="1">
                <a:solidFill>
                  <a:srgbClr val="15171A"/>
                </a:solidFill>
                <a:latin typeface="Noto Sans KR"/>
                <a:ea typeface="Noto Sans KR"/>
                <a:cs typeface="Noto Sans KR"/>
              </a:rPr>
              <a:t>→ 로봇의 적응력 + 필요한 곳만 Interface</a:t>
            </a:r>
          </a:p>
        </p:txBody>
      </p:sp>
      <p:sp>
        <p:nvSpPr>
          <p:cNvPr id="58" name="TextBox 57"/>
          <p:cNvSpPr txBox="1"/>
          <p:nvPr/>
        </p:nvSpPr>
        <p:spPr>
          <a:xfrm>
            <a:off x="685800" y="6143853"/>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[S21] LG CLOiD 보도 · 평면 5종은 사용자 제공 도면을 치수선 기준으로 재작도한 결과 (부록 B2). 표본이 작아 평면 30개 분석으로 확대 (TARGET).</a:t>
            </a:r>
          </a:p>
        </p:txBody>
      </p:sp>
      <p:sp>
        <p:nvSpPr>
          <p:cNvPr id="59" name="TextBox 5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60" name="TextBox 5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04  MH Robotics Technology Strategy</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로봇이 적응하고, 주방은 필요한 곳만 맞춥니다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Robot Hand · Manipulation Skill · Calibration · Environment Interface를 함께 설계</a:t>
            </a:r>
          </a:p>
        </p:txBody>
      </p:sp>
      <p:sp>
        <p:nvSpPr>
          <p:cNvPr id="5" name="Rectangle 4"/>
          <p:cNvSpPr/>
          <p:nvPr/>
        </p:nvSpPr>
        <p:spPr>
          <a:xfrm>
            <a:off x="685800" y="1599310"/>
            <a:ext cx="2554147" cy="841248"/>
          </a:xfrm>
          <a:prstGeom prst="rect">
            <a:avLst/>
          </a:prstGeom>
          <a:solidFill>
            <a:srgbClr val="F4F5F6"/>
          </a:solidFill>
          <a:ln>
            <a:noFill/>
          </a:ln>
        </p:spPr>
        <p:txBody>
          <a:bodyPr rtlCol="0" anchor="ctr"/>
          <a:lstStyle/>
          <a:p>
            <a:pPr algn="ctr"/>
          </a:p>
        </p:txBody>
      </p:sp>
      <p:sp>
        <p:nvSpPr>
          <p:cNvPr id="6" name="TextBox 5"/>
          <p:cNvSpPr txBox="1"/>
          <p:nvPr/>
        </p:nvSpPr>
        <p:spPr>
          <a:xfrm>
            <a:off x="832104" y="1709039"/>
            <a:ext cx="2261539" cy="274320"/>
          </a:xfrm>
          <a:prstGeom prst="rect">
            <a:avLst/>
          </a:prstGeom>
          <a:noFill/>
        </p:spPr>
        <p:txBody>
          <a:bodyPr wrap="square" lIns="0" rIns="0" tIns="0" bIns="0" anchor="t">
            <a:spAutoFit/>
          </a:bodyPr>
          <a:lstStyle/>
          <a:p>
            <a:pPr algn="l">
              <a:lnSpc>
                <a:spcPct val="100000"/>
              </a:lnSpc>
            </a:pPr>
            <a:r>
              <a:rPr sz="1250" b="1">
                <a:solidFill>
                  <a:srgbClr val="4A4F57"/>
                </a:solidFill>
                <a:latin typeface="Noto Sans KR"/>
                <a:ea typeface="Noto Sans KR"/>
                <a:cs typeface="Noto Sans KR"/>
              </a:rPr>
              <a:t>Object Variation</a:t>
            </a:r>
          </a:p>
        </p:txBody>
      </p:sp>
      <p:sp>
        <p:nvSpPr>
          <p:cNvPr id="7" name="TextBox 6"/>
          <p:cNvSpPr txBox="1"/>
          <p:nvPr/>
        </p:nvSpPr>
        <p:spPr>
          <a:xfrm>
            <a:off x="832104" y="2038222"/>
            <a:ext cx="2261539" cy="274320"/>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형상 · 재질 · 젖은 표면 · 얇은 Edge</a:t>
            </a:r>
          </a:p>
        </p:txBody>
      </p:sp>
      <p:cxnSp>
        <p:nvCxnSpPr>
          <p:cNvPr id="8" name="Connector 7"/>
          <p:cNvCxnSpPr/>
          <p:nvPr/>
        </p:nvCxnSpPr>
        <p:spPr>
          <a:xfrm>
            <a:off x="1962873" y="2486279"/>
            <a:ext cx="0" cy="301752"/>
          </a:xfrm>
          <a:prstGeom prst="line">
            <a:avLst/>
          </a:prstGeom>
          <a:ln w="19050">
            <a:solidFill>
              <a:srgbClr val="8C9198"/>
            </a:solidFill>
            <a:tailEnd type="triangle" w="med" len="med"/>
          </a:ln>
        </p:spPr>
      </p:cxnSp>
      <p:sp>
        <p:nvSpPr>
          <p:cNvPr id="9" name="Rectangle 8"/>
          <p:cNvSpPr/>
          <p:nvPr/>
        </p:nvSpPr>
        <p:spPr>
          <a:xfrm>
            <a:off x="685800" y="2842894"/>
            <a:ext cx="2554147" cy="1783080"/>
          </a:xfrm>
          <a:prstGeom prst="rect">
            <a:avLst/>
          </a:prstGeom>
          <a:solidFill>
            <a:srgbClr val="FFFFFF"/>
          </a:solidFill>
          <a:ln w="15875">
            <a:solidFill>
              <a:srgbClr val="15171A"/>
            </a:solidFill>
          </a:ln>
        </p:spPr>
        <p:txBody>
          <a:bodyPr rtlCol="0" anchor="ctr"/>
          <a:lstStyle/>
          <a:p>
            <a:pPr algn="ctr"/>
          </a:p>
        </p:txBody>
      </p:sp>
      <p:sp>
        <p:nvSpPr>
          <p:cNvPr id="10" name="TextBox 9"/>
          <p:cNvSpPr txBox="1"/>
          <p:nvPr/>
        </p:nvSpPr>
        <p:spPr>
          <a:xfrm>
            <a:off x="832104" y="2989199"/>
            <a:ext cx="2261539" cy="658368"/>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Adaptive Robot Hand</a:t>
            </a:r>
          </a:p>
        </p:txBody>
      </p:sp>
      <p:sp>
        <p:nvSpPr>
          <p:cNvPr id="11" name="TextBox 10"/>
          <p:cNvSpPr txBox="1"/>
          <p:nvPr/>
        </p:nvSpPr>
        <p:spPr>
          <a:xfrm>
            <a:off x="832104" y="3702430"/>
            <a:ext cx="2261539" cy="822960"/>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파지 방식을 바꿔 다양한 식기 · 도구를 하나의 손으로</a:t>
            </a:r>
          </a:p>
        </p:txBody>
      </p:sp>
      <p:sp>
        <p:nvSpPr>
          <p:cNvPr id="12" name="Rectangle 11"/>
          <p:cNvSpPr/>
          <p:nvPr/>
        </p:nvSpPr>
        <p:spPr>
          <a:xfrm>
            <a:off x="3441115" y="1599310"/>
            <a:ext cx="2554147" cy="841248"/>
          </a:xfrm>
          <a:prstGeom prst="rect">
            <a:avLst/>
          </a:prstGeom>
          <a:solidFill>
            <a:srgbClr val="F4F5F6"/>
          </a:solidFill>
          <a:ln>
            <a:noFill/>
          </a:ln>
        </p:spPr>
        <p:txBody>
          <a:bodyPr rtlCol="0" anchor="ctr"/>
          <a:lstStyle/>
          <a:p>
            <a:pPr algn="ctr"/>
          </a:p>
        </p:txBody>
      </p:sp>
      <p:sp>
        <p:nvSpPr>
          <p:cNvPr id="13" name="TextBox 12"/>
          <p:cNvSpPr txBox="1"/>
          <p:nvPr/>
        </p:nvSpPr>
        <p:spPr>
          <a:xfrm>
            <a:off x="3587419" y="1709039"/>
            <a:ext cx="2261539" cy="274320"/>
          </a:xfrm>
          <a:prstGeom prst="rect">
            <a:avLst/>
          </a:prstGeom>
          <a:noFill/>
        </p:spPr>
        <p:txBody>
          <a:bodyPr wrap="square" lIns="0" rIns="0" tIns="0" bIns="0" anchor="t">
            <a:spAutoFit/>
          </a:bodyPr>
          <a:lstStyle/>
          <a:p>
            <a:pPr algn="l">
              <a:lnSpc>
                <a:spcPct val="100000"/>
              </a:lnSpc>
            </a:pPr>
            <a:r>
              <a:rPr sz="1250" b="1">
                <a:solidFill>
                  <a:srgbClr val="4A4F57"/>
                </a:solidFill>
                <a:latin typeface="Noto Sans KR"/>
                <a:ea typeface="Noto Sans KR"/>
                <a:cs typeface="Noto Sans KR"/>
              </a:rPr>
              <a:t>Task Variation</a:t>
            </a:r>
          </a:p>
        </p:txBody>
      </p:sp>
      <p:sp>
        <p:nvSpPr>
          <p:cNvPr id="14" name="TextBox 13"/>
          <p:cNvSpPr txBox="1"/>
          <p:nvPr/>
        </p:nvSpPr>
        <p:spPr>
          <a:xfrm>
            <a:off x="3587419" y="2038222"/>
            <a:ext cx="2261539" cy="274320"/>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집기 · 넣기 · 꺼내기 · 열기</a:t>
            </a:r>
          </a:p>
        </p:txBody>
      </p:sp>
      <p:cxnSp>
        <p:nvCxnSpPr>
          <p:cNvPr id="15" name="Connector 14"/>
          <p:cNvCxnSpPr/>
          <p:nvPr/>
        </p:nvCxnSpPr>
        <p:spPr>
          <a:xfrm>
            <a:off x="4718189" y="2486279"/>
            <a:ext cx="0" cy="301752"/>
          </a:xfrm>
          <a:prstGeom prst="line">
            <a:avLst/>
          </a:prstGeom>
          <a:ln w="19050">
            <a:solidFill>
              <a:srgbClr val="8C9198"/>
            </a:solidFill>
            <a:tailEnd type="triangle" w="med" len="med"/>
          </a:ln>
        </p:spPr>
      </p:cxnSp>
      <p:sp>
        <p:nvSpPr>
          <p:cNvPr id="16" name="Rectangle 15"/>
          <p:cNvSpPr/>
          <p:nvPr/>
        </p:nvSpPr>
        <p:spPr>
          <a:xfrm>
            <a:off x="3441115" y="2842894"/>
            <a:ext cx="2554147" cy="1783080"/>
          </a:xfrm>
          <a:prstGeom prst="rect">
            <a:avLst/>
          </a:prstGeom>
          <a:solidFill>
            <a:srgbClr val="FFFFFF"/>
          </a:solidFill>
          <a:ln w="15875">
            <a:solidFill>
              <a:srgbClr val="15171A"/>
            </a:solidFill>
          </a:ln>
        </p:spPr>
        <p:txBody>
          <a:bodyPr rtlCol="0" anchor="ctr"/>
          <a:lstStyle/>
          <a:p>
            <a:pPr algn="ctr"/>
          </a:p>
        </p:txBody>
      </p:sp>
      <p:sp>
        <p:nvSpPr>
          <p:cNvPr id="17" name="TextBox 16"/>
          <p:cNvSpPr txBox="1"/>
          <p:nvPr/>
        </p:nvSpPr>
        <p:spPr>
          <a:xfrm>
            <a:off x="3587419" y="2989199"/>
            <a:ext cx="2261539" cy="658368"/>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Manipulation Skill Library</a:t>
            </a:r>
          </a:p>
        </p:txBody>
      </p:sp>
      <p:sp>
        <p:nvSpPr>
          <p:cNvPr id="18" name="TextBox 17"/>
          <p:cNvSpPr txBox="1"/>
          <p:nvPr/>
        </p:nvSpPr>
        <p:spPr>
          <a:xfrm>
            <a:off x="3587419" y="3702430"/>
            <a:ext cx="2261539" cy="822960"/>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Pick · Place · Insert · Remove · Open/Close를 재사용 단위로</a:t>
            </a:r>
          </a:p>
        </p:txBody>
      </p:sp>
      <p:sp>
        <p:nvSpPr>
          <p:cNvPr id="19" name="Rectangle 18"/>
          <p:cNvSpPr/>
          <p:nvPr/>
        </p:nvSpPr>
        <p:spPr>
          <a:xfrm>
            <a:off x="6196431" y="1599310"/>
            <a:ext cx="2554147" cy="841248"/>
          </a:xfrm>
          <a:prstGeom prst="rect">
            <a:avLst/>
          </a:prstGeom>
          <a:solidFill>
            <a:srgbClr val="F4F5F6"/>
          </a:solidFill>
          <a:ln>
            <a:noFill/>
          </a:ln>
        </p:spPr>
        <p:txBody>
          <a:bodyPr rtlCol="0" anchor="ctr"/>
          <a:lstStyle/>
          <a:p>
            <a:pPr algn="ctr"/>
          </a:p>
        </p:txBody>
      </p:sp>
      <p:sp>
        <p:nvSpPr>
          <p:cNvPr id="20" name="TextBox 19"/>
          <p:cNvSpPr txBox="1"/>
          <p:nvPr/>
        </p:nvSpPr>
        <p:spPr>
          <a:xfrm>
            <a:off x="6342735" y="1709039"/>
            <a:ext cx="2261539" cy="274320"/>
          </a:xfrm>
          <a:prstGeom prst="rect">
            <a:avLst/>
          </a:prstGeom>
          <a:noFill/>
        </p:spPr>
        <p:txBody>
          <a:bodyPr wrap="square" lIns="0" rIns="0" tIns="0" bIns="0" anchor="t">
            <a:spAutoFit/>
          </a:bodyPr>
          <a:lstStyle/>
          <a:p>
            <a:pPr algn="l">
              <a:lnSpc>
                <a:spcPct val="100000"/>
              </a:lnSpc>
            </a:pPr>
            <a:r>
              <a:rPr sz="1250" b="1">
                <a:solidFill>
                  <a:srgbClr val="4A4F57"/>
                </a:solidFill>
                <a:latin typeface="Noto Sans KR"/>
                <a:ea typeface="Noto Sans KR"/>
                <a:cs typeface="Noto Sans KR"/>
              </a:rPr>
              <a:t>Kitchen Variation</a:t>
            </a:r>
          </a:p>
        </p:txBody>
      </p:sp>
      <p:sp>
        <p:nvSpPr>
          <p:cNvPr id="21" name="TextBox 20"/>
          <p:cNvSpPr txBox="1"/>
          <p:nvPr/>
        </p:nvSpPr>
        <p:spPr>
          <a:xfrm>
            <a:off x="6342735" y="2038222"/>
            <a:ext cx="2261539" cy="274320"/>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가전 · 수납 위치 · 설치 오차</a:t>
            </a:r>
          </a:p>
        </p:txBody>
      </p:sp>
      <p:cxnSp>
        <p:nvCxnSpPr>
          <p:cNvPr id="22" name="Connector 21"/>
          <p:cNvCxnSpPr/>
          <p:nvPr/>
        </p:nvCxnSpPr>
        <p:spPr>
          <a:xfrm>
            <a:off x="7473505" y="2486279"/>
            <a:ext cx="0" cy="301752"/>
          </a:xfrm>
          <a:prstGeom prst="line">
            <a:avLst/>
          </a:prstGeom>
          <a:ln w="19050">
            <a:solidFill>
              <a:srgbClr val="8C9198"/>
            </a:solidFill>
            <a:tailEnd type="triangle" w="med" len="med"/>
          </a:ln>
        </p:spPr>
      </p:cxnSp>
      <p:sp>
        <p:nvSpPr>
          <p:cNvPr id="23" name="Rectangle 22"/>
          <p:cNvSpPr/>
          <p:nvPr/>
        </p:nvSpPr>
        <p:spPr>
          <a:xfrm>
            <a:off x="6196431" y="2842894"/>
            <a:ext cx="2554147" cy="1783080"/>
          </a:xfrm>
          <a:prstGeom prst="rect">
            <a:avLst/>
          </a:prstGeom>
          <a:solidFill>
            <a:srgbClr val="FFFFFF"/>
          </a:solidFill>
          <a:ln w="15875">
            <a:solidFill>
              <a:srgbClr val="15171A"/>
            </a:solidFill>
          </a:ln>
        </p:spPr>
        <p:txBody>
          <a:bodyPr rtlCol="0" anchor="ctr"/>
          <a:lstStyle/>
          <a:p>
            <a:pPr algn="ctr"/>
          </a:p>
        </p:txBody>
      </p:sp>
      <p:sp>
        <p:nvSpPr>
          <p:cNvPr id="24" name="TextBox 23"/>
          <p:cNvSpPr txBox="1"/>
          <p:nvPr/>
        </p:nvSpPr>
        <p:spPr>
          <a:xfrm>
            <a:off x="6342735" y="2989199"/>
            <a:ext cx="2261539" cy="658368"/>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Perception + Calibration</a:t>
            </a:r>
          </a:p>
        </p:txBody>
      </p:sp>
      <p:sp>
        <p:nvSpPr>
          <p:cNvPr id="25" name="TextBox 24"/>
          <p:cNvSpPr txBox="1"/>
          <p:nvPr/>
        </p:nvSpPr>
        <p:spPr>
          <a:xfrm>
            <a:off x="6342735" y="3702430"/>
            <a:ext cx="2261539" cy="822960"/>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현장에서 좌표 · 가전 · 수납 위치를 맞춰 같은 Skill 실행</a:t>
            </a:r>
          </a:p>
        </p:txBody>
      </p:sp>
      <p:sp>
        <p:nvSpPr>
          <p:cNvPr id="26" name="Rectangle 25"/>
          <p:cNvSpPr/>
          <p:nvPr/>
        </p:nvSpPr>
        <p:spPr>
          <a:xfrm>
            <a:off x="8951747" y="1599310"/>
            <a:ext cx="2554147" cy="841248"/>
          </a:xfrm>
          <a:prstGeom prst="rect">
            <a:avLst/>
          </a:prstGeom>
          <a:solidFill>
            <a:srgbClr val="F4F5F6"/>
          </a:solidFill>
          <a:ln>
            <a:noFill/>
          </a:ln>
        </p:spPr>
        <p:txBody>
          <a:bodyPr rtlCol="0" anchor="ctr"/>
          <a:lstStyle/>
          <a:p>
            <a:pPr algn="ctr"/>
          </a:p>
        </p:txBody>
      </p:sp>
      <p:sp>
        <p:nvSpPr>
          <p:cNvPr id="27" name="TextBox 26"/>
          <p:cNvSpPr txBox="1"/>
          <p:nvPr/>
        </p:nvSpPr>
        <p:spPr>
          <a:xfrm>
            <a:off x="9098051" y="1709039"/>
            <a:ext cx="2261539" cy="274320"/>
          </a:xfrm>
          <a:prstGeom prst="rect">
            <a:avLst/>
          </a:prstGeom>
          <a:noFill/>
        </p:spPr>
        <p:txBody>
          <a:bodyPr wrap="square" lIns="0" rIns="0" tIns="0" bIns="0" anchor="t">
            <a:spAutoFit/>
          </a:bodyPr>
          <a:lstStyle/>
          <a:p>
            <a:pPr algn="l">
              <a:lnSpc>
                <a:spcPct val="100000"/>
              </a:lnSpc>
            </a:pPr>
            <a:r>
              <a:rPr sz="1250" b="1">
                <a:solidFill>
                  <a:srgbClr val="4A4F57"/>
                </a:solidFill>
                <a:latin typeface="Noto Sans KR"/>
                <a:ea typeface="Noto Sans KR"/>
                <a:cs typeface="Noto Sans KR"/>
              </a:rPr>
              <a:t>반복 작업점</a:t>
            </a:r>
          </a:p>
        </p:txBody>
      </p:sp>
      <p:sp>
        <p:nvSpPr>
          <p:cNvPr id="28" name="TextBox 27"/>
          <p:cNvSpPr txBox="1"/>
          <p:nvPr/>
        </p:nvSpPr>
        <p:spPr>
          <a:xfrm>
            <a:off x="9098051" y="2038222"/>
            <a:ext cx="2261539" cy="274320"/>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Robot 대기 · 도구 · 식세기 랙</a:t>
            </a:r>
          </a:p>
        </p:txBody>
      </p:sp>
      <p:cxnSp>
        <p:nvCxnSpPr>
          <p:cNvPr id="29" name="Connector 28"/>
          <p:cNvCxnSpPr/>
          <p:nvPr/>
        </p:nvCxnSpPr>
        <p:spPr>
          <a:xfrm>
            <a:off x="10228821" y="2486279"/>
            <a:ext cx="0" cy="301752"/>
          </a:xfrm>
          <a:prstGeom prst="line">
            <a:avLst/>
          </a:prstGeom>
          <a:ln w="19050">
            <a:solidFill>
              <a:srgbClr val="8C9198"/>
            </a:solidFill>
            <a:tailEnd type="triangle" w="med" len="med"/>
          </a:ln>
        </p:spPr>
      </p:cxnSp>
      <p:sp>
        <p:nvSpPr>
          <p:cNvPr id="30" name="Rectangle 29"/>
          <p:cNvSpPr/>
          <p:nvPr/>
        </p:nvSpPr>
        <p:spPr>
          <a:xfrm>
            <a:off x="8951747" y="2842894"/>
            <a:ext cx="2554147" cy="1783080"/>
          </a:xfrm>
          <a:prstGeom prst="rect">
            <a:avLst/>
          </a:prstGeom>
          <a:solidFill>
            <a:srgbClr val="FFFFFF"/>
          </a:solidFill>
          <a:ln w="15875">
            <a:solidFill>
              <a:srgbClr val="15171A"/>
            </a:solidFill>
          </a:ln>
        </p:spPr>
        <p:txBody>
          <a:bodyPr rtlCol="0" anchor="ctr"/>
          <a:lstStyle/>
          <a:p>
            <a:pPr algn="ctr"/>
          </a:p>
        </p:txBody>
      </p:sp>
      <p:sp>
        <p:nvSpPr>
          <p:cNvPr id="31" name="TextBox 30"/>
          <p:cNvSpPr txBox="1"/>
          <p:nvPr/>
        </p:nvSpPr>
        <p:spPr>
          <a:xfrm>
            <a:off x="9098051" y="2989199"/>
            <a:ext cx="2261539" cy="658368"/>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Minimal Robot-friendly Interface</a:t>
            </a:r>
          </a:p>
        </p:txBody>
      </p:sp>
      <p:sp>
        <p:nvSpPr>
          <p:cNvPr id="32" name="TextBox 31"/>
          <p:cNvSpPr txBox="1"/>
          <p:nvPr/>
        </p:nvSpPr>
        <p:spPr>
          <a:xfrm>
            <a:off x="9098051" y="3702430"/>
            <a:ext cx="2261539" cy="822960"/>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Robot Home · Tool Dock · Appliance Interface · Vision Reference</a:t>
            </a:r>
          </a:p>
        </p:txBody>
      </p:sp>
      <p:sp>
        <p:nvSpPr>
          <p:cNvPr id="33" name="Rectangle 32"/>
          <p:cNvSpPr/>
          <p:nvPr/>
        </p:nvSpPr>
        <p:spPr>
          <a:xfrm>
            <a:off x="685800" y="4845430"/>
            <a:ext cx="10820095" cy="512064"/>
          </a:xfrm>
          <a:prstGeom prst="rect">
            <a:avLst/>
          </a:prstGeom>
          <a:solidFill>
            <a:srgbClr val="15171A"/>
          </a:solidFill>
          <a:ln>
            <a:noFill/>
          </a:ln>
        </p:spPr>
        <p:txBody>
          <a:bodyPr rtlCol="0" anchor="ctr"/>
          <a:lstStyle/>
          <a:p>
            <a:pPr algn="ctr"/>
          </a:p>
        </p:txBody>
      </p:sp>
      <p:sp>
        <p:nvSpPr>
          <p:cNvPr id="34" name="TextBox 33"/>
          <p:cNvSpPr txBox="1"/>
          <p:nvPr/>
        </p:nvSpPr>
        <p:spPr>
          <a:xfrm>
            <a:off x="868680" y="4845430"/>
            <a:ext cx="10454335" cy="512064"/>
          </a:xfrm>
          <a:prstGeom prst="rect">
            <a:avLst/>
          </a:prstGeom>
          <a:noFill/>
        </p:spPr>
        <p:txBody>
          <a:bodyPr wrap="square" lIns="0" rIns="0" tIns="0" bIns="0" anchor="ctr">
            <a:spAutoFit/>
          </a:bodyPr>
          <a:lstStyle/>
          <a:p>
            <a:pPr algn="ctr">
              <a:lnSpc>
                <a:spcPct val="100000"/>
              </a:lnSpc>
            </a:pPr>
            <a:r>
              <a:rPr sz="1400" b="1">
                <a:solidFill>
                  <a:srgbClr val="FFFFFF"/>
                </a:solidFill>
                <a:latin typeface="Noto Sans KR"/>
                <a:ea typeface="Noto Sans KR"/>
                <a:cs typeface="Noto Sans KR"/>
              </a:rPr>
              <a:t>결과: 다양한 주방에서 같은 Robot Platform과 Skill을 반복 적용</a:t>
            </a:r>
          </a:p>
        </p:txBody>
      </p:sp>
      <p:sp>
        <p:nvSpPr>
          <p:cNvPr id="35" name="TextBox 34"/>
          <p:cNvSpPr txBox="1"/>
          <p:nvPr/>
        </p:nvSpPr>
        <p:spPr>
          <a:xfrm>
            <a:off x="685800" y="5503798"/>
            <a:ext cx="10820095"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핵심 원칙  </a:t>
            </a:r>
            <a:r>
              <a:rPr sz="1100" b="0">
                <a:solidFill>
                  <a:srgbClr val="4A4F57"/>
                </a:solidFill>
                <a:latin typeface="Noto Sans KR"/>
                <a:ea typeface="Noto Sans KR"/>
                <a:cs typeface="Noto Sans KR"/>
              </a:rPr>
              <a:t>Environment Standardization은 목적이 아니라 Reliability와 반복설치를 높이는 수단. 주방 전체 표준화는 하지 않음.</a:t>
            </a:r>
          </a:p>
        </p:txBody>
      </p:sp>
      <p:sp>
        <p:nvSpPr>
          <p:cNvPr id="36" name="TextBox 35"/>
          <p:cNvSpPr txBox="1"/>
          <p:nvPr/>
        </p:nvSpPr>
        <p:spPr>
          <a:xfrm>
            <a:off x="685800" y="6143853"/>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모든 기술 요소는 현재 개발 전 (CONCEPT · TARGET). 검증 순서와 Gate는 16쪽 · 부록 A.</a:t>
            </a:r>
          </a:p>
        </p:txBody>
      </p:sp>
      <p:sp>
        <p:nvSpPr>
          <p:cNvPr id="37" name="TextBox 3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38" name="TextBox 3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05  Adaptive Kitchen Robot Hand</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핵심 Hardware: 주방 물체를 다루는 Adaptive Robot Hand</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손가락 수 · 자유도 경쟁이 아닌 Task Completion · 가격 · 위생 · 유지관리 · 내구성 중심</a:t>
            </a:r>
          </a:p>
        </p:txBody>
      </p:sp>
      <p:sp>
        <p:nvSpPr>
          <p:cNvPr id="5" name="Rectangle 4"/>
          <p:cNvSpPr/>
          <p:nvPr/>
        </p:nvSpPr>
        <p:spPr>
          <a:xfrm>
            <a:off x="685800" y="1599310"/>
            <a:ext cx="3611880" cy="3017520"/>
          </a:xfrm>
          <a:prstGeom prst="rect">
            <a:avLst/>
          </a:prstGeom>
          <a:solidFill>
            <a:srgbClr val="F4F5F6"/>
          </a:solidFill>
          <a:ln>
            <a:noFill/>
          </a:ln>
        </p:spPr>
        <p:txBody>
          <a:bodyPr rtlCol="0" anchor="ctr"/>
          <a:lstStyle/>
          <a:p>
            <a:pPr algn="ctr"/>
          </a:p>
        </p:txBody>
      </p:sp>
      <p:pic>
        <p:nvPicPr>
          <p:cNvPr id="6" name="Picture 5" descr="hand_hero_light_395x330_50_50_98.jpg"/>
          <p:cNvPicPr>
            <a:picLocks noChangeAspect="1"/>
          </p:cNvPicPr>
          <p:nvPr/>
        </p:nvPicPr>
        <p:blipFill>
          <a:blip r:embed="rId3"/>
          <a:stretch>
            <a:fillRect/>
          </a:stretch>
        </p:blipFill>
        <p:spPr>
          <a:xfrm>
            <a:off x="685800" y="1599310"/>
            <a:ext cx="3611880" cy="3017520"/>
          </a:xfrm>
          <a:prstGeom prst="rect">
            <a:avLst/>
          </a:prstGeom>
        </p:spPr>
      </p:pic>
      <p:cxnSp>
        <p:nvCxnSpPr>
          <p:cNvPr id="7" name="Connector 6"/>
          <p:cNvCxnSpPr/>
          <p:nvPr/>
        </p:nvCxnSpPr>
        <p:spPr>
          <a:xfrm flipV="1">
            <a:off x="2623265" y="1983527"/>
            <a:ext cx="384048" cy="18288"/>
          </a:xfrm>
          <a:prstGeom prst="line">
            <a:avLst/>
          </a:prstGeom>
          <a:ln w="7620">
            <a:solidFill>
              <a:srgbClr val="5C6169"/>
            </a:solidFill>
          </a:ln>
        </p:spPr>
      </p:cxnSp>
      <p:sp>
        <p:nvSpPr>
          <p:cNvPr id="8" name="Oval 7"/>
          <p:cNvSpPr/>
          <p:nvPr/>
        </p:nvSpPr>
        <p:spPr>
          <a:xfrm>
            <a:off x="2591261" y="1969811"/>
            <a:ext cx="64008" cy="64008"/>
          </a:xfrm>
          <a:prstGeom prst="ellipse">
            <a:avLst/>
          </a:prstGeom>
          <a:solidFill>
            <a:srgbClr val="15171A"/>
          </a:solidFill>
          <a:ln>
            <a:noFill/>
          </a:ln>
        </p:spPr>
        <p:txBody>
          <a:bodyPr rtlCol="0" anchor="ctr"/>
          <a:lstStyle/>
          <a:p>
            <a:pPr algn="ctr"/>
          </a:p>
        </p:txBody>
      </p:sp>
      <p:sp>
        <p:nvSpPr>
          <p:cNvPr id="9" name="Rectangle 8"/>
          <p:cNvSpPr/>
          <p:nvPr/>
        </p:nvSpPr>
        <p:spPr>
          <a:xfrm>
            <a:off x="3007313" y="1877990"/>
            <a:ext cx="1266560" cy="211074"/>
          </a:xfrm>
          <a:prstGeom prst="rect">
            <a:avLst/>
          </a:prstGeom>
          <a:solidFill>
            <a:srgbClr val="FFFFFF"/>
          </a:solidFill>
          <a:ln w="6350">
            <a:solidFill>
              <a:srgbClr val="C9CDD2"/>
            </a:solidFill>
          </a:ln>
        </p:spPr>
        <p:txBody>
          <a:bodyPr rtlCol="0" anchor="ctr"/>
          <a:lstStyle/>
          <a:p>
            <a:pPr algn="ctr"/>
          </a:p>
        </p:txBody>
      </p:sp>
      <p:sp>
        <p:nvSpPr>
          <p:cNvPr id="10" name="TextBox 9"/>
          <p:cNvSpPr txBox="1"/>
          <p:nvPr/>
        </p:nvSpPr>
        <p:spPr>
          <a:xfrm>
            <a:off x="3007313" y="1877990"/>
            <a:ext cx="1266560" cy="211074"/>
          </a:xfrm>
          <a:prstGeom prst="rect">
            <a:avLst/>
          </a:prstGeom>
          <a:noFill/>
        </p:spPr>
        <p:txBody>
          <a:bodyPr wrap="square" lIns="0" rIns="0" tIns="0" bIns="0" anchor="ctr">
            <a:spAutoFit/>
          </a:bodyPr>
          <a:lstStyle/>
          <a:p>
            <a:pPr algn="ctr">
              <a:lnSpc>
                <a:spcPct val="100000"/>
              </a:lnSpc>
            </a:pPr>
            <a:r>
              <a:rPr sz="750" b="1">
                <a:solidFill>
                  <a:srgbClr val="15171A"/>
                </a:solidFill>
                <a:latin typeface="Noto Sans KR"/>
                <a:ea typeface="Noto Sans KR"/>
                <a:cs typeface="Noto Sans KR"/>
              </a:rPr>
              <a:t>교체형 Food-contact Pad</a:t>
            </a:r>
          </a:p>
        </p:txBody>
      </p:sp>
      <p:cxnSp>
        <p:nvCxnSpPr>
          <p:cNvPr id="11" name="Connector 10"/>
          <p:cNvCxnSpPr/>
          <p:nvPr/>
        </p:nvCxnSpPr>
        <p:spPr>
          <a:xfrm flipV="1">
            <a:off x="2990017" y="4054536"/>
            <a:ext cx="365760" cy="91440"/>
          </a:xfrm>
          <a:prstGeom prst="line">
            <a:avLst/>
          </a:prstGeom>
          <a:ln w="7620">
            <a:solidFill>
              <a:srgbClr val="5C6169"/>
            </a:solidFill>
          </a:ln>
        </p:spPr>
      </p:cxnSp>
      <p:sp>
        <p:nvSpPr>
          <p:cNvPr id="12" name="Oval 11"/>
          <p:cNvSpPr/>
          <p:nvPr/>
        </p:nvSpPr>
        <p:spPr>
          <a:xfrm>
            <a:off x="2958013" y="4113972"/>
            <a:ext cx="64008" cy="64008"/>
          </a:xfrm>
          <a:prstGeom prst="ellipse">
            <a:avLst/>
          </a:prstGeom>
          <a:solidFill>
            <a:srgbClr val="15171A"/>
          </a:solidFill>
          <a:ln>
            <a:noFill/>
          </a:ln>
        </p:spPr>
        <p:txBody>
          <a:bodyPr rtlCol="0" anchor="ctr"/>
          <a:lstStyle/>
          <a:p>
            <a:pPr algn="ctr"/>
          </a:p>
        </p:txBody>
      </p:sp>
      <p:sp>
        <p:nvSpPr>
          <p:cNvPr id="13" name="Rectangle 12"/>
          <p:cNvSpPr/>
          <p:nvPr/>
        </p:nvSpPr>
        <p:spPr>
          <a:xfrm>
            <a:off x="3355777" y="3948999"/>
            <a:ext cx="724007" cy="211074"/>
          </a:xfrm>
          <a:prstGeom prst="rect">
            <a:avLst/>
          </a:prstGeom>
          <a:solidFill>
            <a:srgbClr val="FFFFFF"/>
          </a:solidFill>
          <a:ln w="6350">
            <a:solidFill>
              <a:srgbClr val="C9CDD2"/>
            </a:solidFill>
          </a:ln>
        </p:spPr>
        <p:txBody>
          <a:bodyPr rtlCol="0" anchor="ctr"/>
          <a:lstStyle/>
          <a:p>
            <a:pPr algn="ctr"/>
          </a:p>
        </p:txBody>
      </p:sp>
      <p:sp>
        <p:nvSpPr>
          <p:cNvPr id="14" name="TextBox 13"/>
          <p:cNvSpPr txBox="1"/>
          <p:nvPr/>
        </p:nvSpPr>
        <p:spPr>
          <a:xfrm>
            <a:off x="3355777" y="3948999"/>
            <a:ext cx="724007" cy="211074"/>
          </a:xfrm>
          <a:prstGeom prst="rect">
            <a:avLst/>
          </a:prstGeom>
          <a:noFill/>
        </p:spPr>
        <p:txBody>
          <a:bodyPr wrap="square" lIns="0" rIns="0" tIns="0" bIns="0" anchor="ctr">
            <a:spAutoFit/>
          </a:bodyPr>
          <a:lstStyle/>
          <a:p>
            <a:pPr algn="ctr">
              <a:lnSpc>
                <a:spcPct val="100000"/>
              </a:lnSpc>
            </a:pPr>
            <a:r>
              <a:rPr sz="750" b="1">
                <a:solidFill>
                  <a:srgbClr val="15171A"/>
                </a:solidFill>
                <a:latin typeface="Noto Sans KR"/>
                <a:ea typeface="Noto Sans KR"/>
                <a:cs typeface="Noto Sans KR"/>
              </a:rPr>
              <a:t>힘 · 토크 센서</a:t>
            </a:r>
          </a:p>
        </p:txBody>
      </p:sp>
      <p:cxnSp>
        <p:nvCxnSpPr>
          <p:cNvPr id="15" name="Connector 14"/>
          <p:cNvCxnSpPr/>
          <p:nvPr/>
        </p:nvCxnSpPr>
        <p:spPr>
          <a:xfrm>
            <a:off x="2370332" y="4477599"/>
            <a:ext cx="411480" cy="18288"/>
          </a:xfrm>
          <a:prstGeom prst="line">
            <a:avLst/>
          </a:prstGeom>
          <a:ln w="7620">
            <a:solidFill>
              <a:srgbClr val="5C6169"/>
            </a:solidFill>
          </a:ln>
        </p:spPr>
      </p:cxnSp>
      <p:sp>
        <p:nvSpPr>
          <p:cNvPr id="16" name="Oval 15"/>
          <p:cNvSpPr/>
          <p:nvPr/>
        </p:nvSpPr>
        <p:spPr>
          <a:xfrm>
            <a:off x="2338328" y="4445595"/>
            <a:ext cx="64008" cy="64008"/>
          </a:xfrm>
          <a:prstGeom prst="ellipse">
            <a:avLst/>
          </a:prstGeom>
          <a:solidFill>
            <a:srgbClr val="15171A"/>
          </a:solidFill>
          <a:ln>
            <a:noFill/>
          </a:ln>
        </p:spPr>
        <p:txBody>
          <a:bodyPr rtlCol="0" anchor="ctr"/>
          <a:lstStyle/>
          <a:p>
            <a:pPr algn="ctr"/>
          </a:p>
        </p:txBody>
      </p:sp>
      <p:sp>
        <p:nvSpPr>
          <p:cNvPr id="17" name="Rectangle 16"/>
          <p:cNvSpPr/>
          <p:nvPr/>
        </p:nvSpPr>
        <p:spPr>
          <a:xfrm>
            <a:off x="2781812" y="4390350"/>
            <a:ext cx="849171" cy="211074"/>
          </a:xfrm>
          <a:prstGeom prst="rect">
            <a:avLst/>
          </a:prstGeom>
          <a:solidFill>
            <a:srgbClr val="FFFFFF"/>
          </a:solidFill>
          <a:ln w="6350">
            <a:solidFill>
              <a:srgbClr val="C9CDD2"/>
            </a:solidFill>
          </a:ln>
        </p:spPr>
        <p:txBody>
          <a:bodyPr rtlCol="0" anchor="ctr"/>
          <a:lstStyle/>
          <a:p>
            <a:pPr algn="ctr"/>
          </a:p>
        </p:txBody>
      </p:sp>
      <p:sp>
        <p:nvSpPr>
          <p:cNvPr id="18" name="TextBox 17"/>
          <p:cNvSpPr txBox="1"/>
          <p:nvPr/>
        </p:nvSpPr>
        <p:spPr>
          <a:xfrm>
            <a:off x="2781812" y="4390350"/>
            <a:ext cx="849171" cy="211074"/>
          </a:xfrm>
          <a:prstGeom prst="rect">
            <a:avLst/>
          </a:prstGeom>
          <a:noFill/>
        </p:spPr>
        <p:txBody>
          <a:bodyPr wrap="square" lIns="0" rIns="0" tIns="0" bIns="0" anchor="ctr">
            <a:spAutoFit/>
          </a:bodyPr>
          <a:lstStyle/>
          <a:p>
            <a:pPr algn="ctr">
              <a:lnSpc>
                <a:spcPct val="100000"/>
              </a:lnSpc>
            </a:pPr>
            <a:r>
              <a:rPr sz="750" b="1">
                <a:solidFill>
                  <a:srgbClr val="15171A"/>
                </a:solidFill>
                <a:latin typeface="Noto Sans KR"/>
                <a:ea typeface="Noto Sans KR"/>
                <a:cs typeface="Noto Sans KR"/>
              </a:rPr>
              <a:t>Quick Changer</a:t>
            </a:r>
          </a:p>
        </p:txBody>
      </p:sp>
      <p:cxnSp>
        <p:nvCxnSpPr>
          <p:cNvPr id="19" name="Connector 18"/>
          <p:cNvCxnSpPr/>
          <p:nvPr/>
        </p:nvCxnSpPr>
        <p:spPr>
          <a:xfrm flipH="1">
            <a:off x="1749494" y="3254896"/>
            <a:ext cx="274320" cy="347472"/>
          </a:xfrm>
          <a:prstGeom prst="line">
            <a:avLst/>
          </a:prstGeom>
          <a:ln w="7620">
            <a:solidFill>
              <a:srgbClr val="5C6169"/>
            </a:solidFill>
          </a:ln>
        </p:spPr>
      </p:cxnSp>
      <p:sp>
        <p:nvSpPr>
          <p:cNvPr id="20" name="Oval 19"/>
          <p:cNvSpPr/>
          <p:nvPr/>
        </p:nvSpPr>
        <p:spPr>
          <a:xfrm>
            <a:off x="1991810" y="3222892"/>
            <a:ext cx="64008" cy="64008"/>
          </a:xfrm>
          <a:prstGeom prst="ellipse">
            <a:avLst/>
          </a:prstGeom>
          <a:solidFill>
            <a:srgbClr val="15171A"/>
          </a:solidFill>
          <a:ln>
            <a:noFill/>
          </a:ln>
        </p:spPr>
        <p:txBody>
          <a:bodyPr rtlCol="0" anchor="ctr"/>
          <a:lstStyle/>
          <a:p>
            <a:pPr algn="ctr"/>
          </a:p>
        </p:txBody>
      </p:sp>
      <p:sp>
        <p:nvSpPr>
          <p:cNvPr id="21" name="Rectangle 20"/>
          <p:cNvSpPr/>
          <p:nvPr/>
        </p:nvSpPr>
        <p:spPr>
          <a:xfrm>
            <a:off x="960523" y="3496831"/>
            <a:ext cx="788970" cy="211074"/>
          </a:xfrm>
          <a:prstGeom prst="rect">
            <a:avLst/>
          </a:prstGeom>
          <a:solidFill>
            <a:srgbClr val="FFFFFF"/>
          </a:solidFill>
          <a:ln w="6350">
            <a:solidFill>
              <a:srgbClr val="C9CDD2"/>
            </a:solidFill>
          </a:ln>
        </p:spPr>
        <p:txBody>
          <a:bodyPr rtlCol="0" anchor="ctr"/>
          <a:lstStyle/>
          <a:p>
            <a:pPr algn="ctr"/>
          </a:p>
        </p:txBody>
      </p:sp>
      <p:sp>
        <p:nvSpPr>
          <p:cNvPr id="22" name="TextBox 21"/>
          <p:cNvSpPr txBox="1"/>
          <p:nvPr/>
        </p:nvSpPr>
        <p:spPr>
          <a:xfrm>
            <a:off x="960523" y="3496831"/>
            <a:ext cx="788970" cy="211074"/>
          </a:xfrm>
          <a:prstGeom prst="rect">
            <a:avLst/>
          </a:prstGeom>
          <a:noFill/>
        </p:spPr>
        <p:txBody>
          <a:bodyPr wrap="square" lIns="0" rIns="0" tIns="0" bIns="0" anchor="ctr">
            <a:spAutoFit/>
          </a:bodyPr>
          <a:lstStyle/>
          <a:p>
            <a:pPr algn="ctr">
              <a:lnSpc>
                <a:spcPct val="100000"/>
              </a:lnSpc>
            </a:pPr>
            <a:r>
              <a:rPr sz="750" b="1">
                <a:solidFill>
                  <a:srgbClr val="15171A"/>
                </a:solidFill>
                <a:latin typeface="Noto Sans KR"/>
                <a:ea typeface="Noto Sans KR"/>
                <a:cs typeface="Noto Sans KR"/>
              </a:rPr>
              <a:t>Wrist Camera</a:t>
            </a:r>
          </a:p>
        </p:txBody>
      </p:sp>
      <p:sp>
        <p:nvSpPr>
          <p:cNvPr id="23" name="Rectangle 22"/>
          <p:cNvSpPr/>
          <p:nvPr/>
        </p:nvSpPr>
        <p:spPr>
          <a:xfrm>
            <a:off x="758952" y="1672463"/>
            <a:ext cx="495159" cy="155448"/>
          </a:xfrm>
          <a:prstGeom prst="rect">
            <a:avLst/>
          </a:prstGeom>
          <a:solidFill>
            <a:srgbClr val="FFFFFF"/>
          </a:solidFill>
          <a:ln w="6350">
            <a:solidFill>
              <a:srgbClr val="C9CDD2"/>
            </a:solidFill>
          </a:ln>
        </p:spPr>
        <p:txBody>
          <a:bodyPr rtlCol="0" anchor="ctr"/>
          <a:lstStyle/>
          <a:p>
            <a:pPr algn="ctr"/>
          </a:p>
        </p:txBody>
      </p:sp>
      <p:sp>
        <p:nvSpPr>
          <p:cNvPr id="24" name="TextBox 23"/>
          <p:cNvSpPr txBox="1"/>
          <p:nvPr/>
        </p:nvSpPr>
        <p:spPr>
          <a:xfrm>
            <a:off x="758952" y="1672463"/>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25" name="Rectangle 24"/>
          <p:cNvSpPr/>
          <p:nvPr/>
        </p:nvSpPr>
        <p:spPr>
          <a:xfrm>
            <a:off x="4425696" y="1599310"/>
            <a:ext cx="1371600" cy="1463039"/>
          </a:xfrm>
          <a:prstGeom prst="rect">
            <a:avLst/>
          </a:prstGeom>
          <a:solidFill>
            <a:srgbClr val="F4F5F6"/>
          </a:solidFill>
          <a:ln>
            <a:noFill/>
          </a:ln>
        </p:spPr>
        <p:txBody>
          <a:bodyPr rtlCol="0" anchor="ctr"/>
          <a:lstStyle/>
          <a:p>
            <a:pPr algn="ctr"/>
          </a:p>
        </p:txBody>
      </p:sp>
      <p:pic>
        <p:nvPicPr>
          <p:cNvPr id="26" name="Picture 25" descr="hand_plate_light_150x129_45_42_114.jpg"/>
          <p:cNvPicPr>
            <a:picLocks noChangeAspect="1"/>
          </p:cNvPicPr>
          <p:nvPr/>
        </p:nvPicPr>
        <p:blipFill>
          <a:blip r:embed="rId4"/>
          <a:stretch>
            <a:fillRect/>
          </a:stretch>
        </p:blipFill>
        <p:spPr>
          <a:xfrm>
            <a:off x="4425696" y="1599310"/>
            <a:ext cx="1371600" cy="1188719"/>
          </a:xfrm>
          <a:prstGeom prst="rect">
            <a:avLst/>
          </a:prstGeom>
        </p:spPr>
      </p:pic>
      <p:sp>
        <p:nvSpPr>
          <p:cNvPr id="27" name="TextBox 26"/>
          <p:cNvSpPr txBox="1"/>
          <p:nvPr/>
        </p:nvSpPr>
        <p:spPr>
          <a:xfrm>
            <a:off x="4480559" y="2797175"/>
            <a:ext cx="1261872" cy="237744"/>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Plate · 가장자리 Pinch</a:t>
            </a:r>
          </a:p>
        </p:txBody>
      </p:sp>
      <p:sp>
        <p:nvSpPr>
          <p:cNvPr id="28" name="Rectangle 27"/>
          <p:cNvSpPr/>
          <p:nvPr/>
        </p:nvSpPr>
        <p:spPr>
          <a:xfrm>
            <a:off x="5888736" y="1599310"/>
            <a:ext cx="1371600" cy="1463039"/>
          </a:xfrm>
          <a:prstGeom prst="rect">
            <a:avLst/>
          </a:prstGeom>
          <a:solidFill>
            <a:srgbClr val="F4F5F6"/>
          </a:solidFill>
          <a:ln>
            <a:noFill/>
          </a:ln>
        </p:spPr>
        <p:txBody>
          <a:bodyPr rtlCol="0" anchor="ctr"/>
          <a:lstStyle/>
          <a:p>
            <a:pPr algn="ctr"/>
          </a:p>
        </p:txBody>
      </p:sp>
      <p:pic>
        <p:nvPicPr>
          <p:cNvPr id="29" name="Picture 28" descr="hand_cup_light_150x129_62_45_114.jpg"/>
          <p:cNvPicPr>
            <a:picLocks noChangeAspect="1"/>
          </p:cNvPicPr>
          <p:nvPr/>
        </p:nvPicPr>
        <p:blipFill>
          <a:blip r:embed="rId5"/>
          <a:stretch>
            <a:fillRect/>
          </a:stretch>
        </p:blipFill>
        <p:spPr>
          <a:xfrm>
            <a:off x="5888736" y="1599310"/>
            <a:ext cx="1371600" cy="1188719"/>
          </a:xfrm>
          <a:prstGeom prst="rect">
            <a:avLst/>
          </a:prstGeom>
        </p:spPr>
      </p:pic>
      <p:sp>
        <p:nvSpPr>
          <p:cNvPr id="30" name="TextBox 29"/>
          <p:cNvSpPr txBox="1"/>
          <p:nvPr/>
        </p:nvSpPr>
        <p:spPr>
          <a:xfrm>
            <a:off x="5943599" y="2797175"/>
            <a:ext cx="1261872" cy="237744"/>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Cup · 외벽 감싸기</a:t>
            </a:r>
          </a:p>
        </p:txBody>
      </p:sp>
      <p:sp>
        <p:nvSpPr>
          <p:cNvPr id="31" name="Rectangle 30"/>
          <p:cNvSpPr/>
          <p:nvPr/>
        </p:nvSpPr>
        <p:spPr>
          <a:xfrm>
            <a:off x="4425696" y="3153790"/>
            <a:ext cx="1371600" cy="1463039"/>
          </a:xfrm>
          <a:prstGeom prst="rect">
            <a:avLst/>
          </a:prstGeom>
          <a:solidFill>
            <a:srgbClr val="F4F5F6"/>
          </a:solidFill>
          <a:ln>
            <a:noFill/>
          </a:ln>
        </p:spPr>
        <p:txBody>
          <a:bodyPr rtlCol="0" anchor="ctr"/>
          <a:lstStyle/>
          <a:p>
            <a:pPr algn="ctr"/>
          </a:p>
        </p:txBody>
      </p:sp>
      <p:pic>
        <p:nvPicPr>
          <p:cNvPr id="32" name="Picture 31" descr="hand_bowl_light_150x129_42_52_114.jpg"/>
          <p:cNvPicPr>
            <a:picLocks noChangeAspect="1"/>
          </p:cNvPicPr>
          <p:nvPr/>
        </p:nvPicPr>
        <p:blipFill>
          <a:blip r:embed="rId6"/>
          <a:stretch>
            <a:fillRect/>
          </a:stretch>
        </p:blipFill>
        <p:spPr>
          <a:xfrm>
            <a:off x="4425696" y="3153790"/>
            <a:ext cx="1371600" cy="1188719"/>
          </a:xfrm>
          <a:prstGeom prst="rect">
            <a:avLst/>
          </a:prstGeom>
        </p:spPr>
      </p:pic>
      <p:sp>
        <p:nvSpPr>
          <p:cNvPr id="33" name="TextBox 32"/>
          <p:cNvSpPr txBox="1"/>
          <p:nvPr/>
        </p:nvSpPr>
        <p:spPr>
          <a:xfrm>
            <a:off x="4480559" y="4351654"/>
            <a:ext cx="1261872" cy="237744"/>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Bowl · 테두리 Pinch</a:t>
            </a:r>
          </a:p>
        </p:txBody>
      </p:sp>
      <p:sp>
        <p:nvSpPr>
          <p:cNvPr id="34" name="Rectangle 33"/>
          <p:cNvSpPr/>
          <p:nvPr/>
        </p:nvSpPr>
        <p:spPr>
          <a:xfrm>
            <a:off x="5888736" y="3153790"/>
            <a:ext cx="1371600" cy="1463039"/>
          </a:xfrm>
          <a:prstGeom prst="rect">
            <a:avLst/>
          </a:prstGeom>
          <a:solidFill>
            <a:srgbClr val="F4F5F6"/>
          </a:solidFill>
          <a:ln>
            <a:noFill/>
          </a:ln>
        </p:spPr>
        <p:txBody>
          <a:bodyPr rtlCol="0" anchor="ctr"/>
          <a:lstStyle/>
          <a:p>
            <a:pPr algn="ctr"/>
          </a:p>
        </p:txBody>
      </p:sp>
      <p:pic>
        <p:nvPicPr>
          <p:cNvPr id="35" name="Picture 34" descr="hand_tool_light_150x129_55_50_114.jpg"/>
          <p:cNvPicPr>
            <a:picLocks noChangeAspect="1"/>
          </p:cNvPicPr>
          <p:nvPr/>
        </p:nvPicPr>
        <p:blipFill>
          <a:blip r:embed="rId7"/>
          <a:stretch>
            <a:fillRect/>
          </a:stretch>
        </p:blipFill>
        <p:spPr>
          <a:xfrm>
            <a:off x="5888736" y="3153790"/>
            <a:ext cx="1371600" cy="1188719"/>
          </a:xfrm>
          <a:prstGeom prst="rect">
            <a:avLst/>
          </a:prstGeom>
        </p:spPr>
      </p:pic>
      <p:sp>
        <p:nvSpPr>
          <p:cNvPr id="36" name="TextBox 35"/>
          <p:cNvSpPr txBox="1"/>
          <p:nvPr/>
        </p:nvSpPr>
        <p:spPr>
          <a:xfrm>
            <a:off x="5943599" y="4351654"/>
            <a:ext cx="1261872" cy="237744"/>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Tool · 손잡이 Power Grasp</a:t>
            </a:r>
          </a:p>
        </p:txBody>
      </p:sp>
      <p:sp>
        <p:nvSpPr>
          <p:cNvPr id="37" name="TextBox 36"/>
          <p:cNvSpPr txBox="1"/>
          <p:nvPr/>
        </p:nvSpPr>
        <p:spPr>
          <a:xfrm>
            <a:off x="7516367" y="1599310"/>
            <a:ext cx="3989527" cy="237744"/>
          </a:xfrm>
          <a:prstGeom prst="rect">
            <a:avLst/>
          </a:prstGeom>
          <a:noFill/>
        </p:spPr>
        <p:txBody>
          <a:bodyPr wrap="square" lIns="0" rIns="0" tIns="0" bIns="0" anchor="t">
            <a:spAutoFit/>
          </a:bodyPr>
          <a:lstStyle/>
          <a:p>
            <a:pPr algn="l">
              <a:lnSpc>
                <a:spcPct val="100000"/>
              </a:lnSpc>
            </a:pPr>
            <a:r>
              <a:rPr sz="1050" b="1">
                <a:solidFill>
                  <a:srgbClr val="8C9198"/>
                </a:solidFill>
                <a:latin typeface="Noto Sans KR"/>
                <a:ea typeface="Noto Sans KR"/>
                <a:cs typeface="Noto Sans KR"/>
              </a:rPr>
              <a:t>주방 물체의 어려움</a:t>
            </a:r>
          </a:p>
        </p:txBody>
      </p:sp>
      <p:sp>
        <p:nvSpPr>
          <p:cNvPr id="38" name="TextBox 37"/>
          <p:cNvSpPr txBox="1"/>
          <p:nvPr/>
        </p:nvSpPr>
        <p:spPr>
          <a:xfrm>
            <a:off x="7516367" y="1855342"/>
            <a:ext cx="3989527" cy="566928"/>
          </a:xfrm>
          <a:prstGeom prst="rect">
            <a:avLst/>
          </a:prstGeom>
          <a:noFill/>
        </p:spPr>
        <p:txBody>
          <a:bodyPr wrap="square" lIns="0" rIns="0" tIns="0" bIns="0" anchor="t">
            <a:spAutoFit/>
          </a:bodyPr>
          <a:lstStyle/>
          <a:p>
            <a:pPr algn="l">
              <a:lnSpc>
                <a:spcPct val="105000"/>
              </a:lnSpc>
            </a:pPr>
            <a:r>
              <a:rPr sz="1000" b="0">
                <a:solidFill>
                  <a:srgbClr val="15171A"/>
                </a:solidFill>
                <a:latin typeface="Noto Sans KR"/>
                <a:ea typeface="Noto Sans KR"/>
                <a:cs typeface="Noto Sans KR"/>
              </a:rPr>
              <a:t>형상 · 크기 · 재질 (유리 · 도자기 · 금속 · Plastic) · 젖은 표면 · 미끄러짐 · 파손 위험 · 얇은 Edge · 다양한 Handle</a:t>
            </a:r>
          </a:p>
        </p:txBody>
      </p:sp>
      <p:sp>
        <p:nvSpPr>
          <p:cNvPr id="39" name="TextBox 38"/>
          <p:cNvSpPr txBox="1"/>
          <p:nvPr/>
        </p:nvSpPr>
        <p:spPr>
          <a:xfrm>
            <a:off x="7516367" y="2495423"/>
            <a:ext cx="3989527" cy="237744"/>
          </a:xfrm>
          <a:prstGeom prst="rect">
            <a:avLst/>
          </a:prstGeom>
          <a:noFill/>
        </p:spPr>
        <p:txBody>
          <a:bodyPr wrap="square" lIns="0" rIns="0" tIns="0" bIns="0" anchor="t">
            <a:spAutoFit/>
          </a:bodyPr>
          <a:lstStyle/>
          <a:p>
            <a:pPr algn="l">
              <a:lnSpc>
                <a:spcPct val="100000"/>
              </a:lnSpc>
            </a:pPr>
            <a:r>
              <a:rPr sz="1050" b="1">
                <a:solidFill>
                  <a:srgbClr val="8C9198"/>
                </a:solidFill>
                <a:latin typeface="Noto Sans KR"/>
                <a:ea typeface="Noto Sans KR"/>
                <a:cs typeface="Noto Sans KR"/>
              </a:rPr>
              <a:t>핵심 기술 후보</a:t>
            </a:r>
          </a:p>
        </p:txBody>
      </p:sp>
      <p:sp>
        <p:nvSpPr>
          <p:cNvPr id="40" name="Rectangle 39"/>
          <p:cNvSpPr/>
          <p:nvPr/>
        </p:nvSpPr>
        <p:spPr>
          <a:xfrm>
            <a:off x="7516367" y="2769742"/>
            <a:ext cx="966677" cy="210312"/>
          </a:xfrm>
          <a:prstGeom prst="rect">
            <a:avLst/>
          </a:prstGeom>
          <a:solidFill>
            <a:srgbClr val="ECEEF0"/>
          </a:solidFill>
          <a:ln>
            <a:noFill/>
          </a:ln>
        </p:spPr>
        <p:txBody>
          <a:bodyPr rtlCol="0" anchor="ctr"/>
          <a:lstStyle/>
          <a:p>
            <a:pPr algn="ctr"/>
          </a:p>
        </p:txBody>
      </p:sp>
      <p:sp>
        <p:nvSpPr>
          <p:cNvPr id="41" name="TextBox 40"/>
          <p:cNvSpPr txBox="1"/>
          <p:nvPr/>
        </p:nvSpPr>
        <p:spPr>
          <a:xfrm>
            <a:off x="7516367" y="2769742"/>
            <a:ext cx="966677" cy="21031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Adaptive Grasp</a:t>
            </a:r>
          </a:p>
        </p:txBody>
      </p:sp>
      <p:sp>
        <p:nvSpPr>
          <p:cNvPr id="42" name="Rectangle 41"/>
          <p:cNvSpPr/>
          <p:nvPr/>
        </p:nvSpPr>
        <p:spPr>
          <a:xfrm>
            <a:off x="8537909" y="2769742"/>
            <a:ext cx="792220" cy="210312"/>
          </a:xfrm>
          <a:prstGeom prst="rect">
            <a:avLst/>
          </a:prstGeom>
          <a:solidFill>
            <a:srgbClr val="ECEEF0"/>
          </a:solidFill>
          <a:ln>
            <a:noFill/>
          </a:ln>
        </p:spPr>
        <p:txBody>
          <a:bodyPr rtlCol="0" anchor="ctr"/>
          <a:lstStyle/>
          <a:p>
            <a:pPr algn="ctr"/>
          </a:p>
        </p:txBody>
      </p:sp>
      <p:sp>
        <p:nvSpPr>
          <p:cNvPr id="43" name="TextBox 42"/>
          <p:cNvSpPr txBox="1"/>
          <p:nvPr/>
        </p:nvSpPr>
        <p:spPr>
          <a:xfrm>
            <a:off x="8537909" y="2769742"/>
            <a:ext cx="792220" cy="21031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Compliance</a:t>
            </a:r>
          </a:p>
        </p:txBody>
      </p:sp>
      <p:sp>
        <p:nvSpPr>
          <p:cNvPr id="44" name="Rectangle 43"/>
          <p:cNvSpPr/>
          <p:nvPr/>
        </p:nvSpPr>
        <p:spPr>
          <a:xfrm>
            <a:off x="9384993" y="2769742"/>
            <a:ext cx="1129690" cy="210312"/>
          </a:xfrm>
          <a:prstGeom prst="rect">
            <a:avLst/>
          </a:prstGeom>
          <a:solidFill>
            <a:srgbClr val="ECEEF0"/>
          </a:solidFill>
          <a:ln>
            <a:noFill/>
          </a:ln>
        </p:spPr>
        <p:txBody>
          <a:bodyPr rtlCol="0" anchor="ctr"/>
          <a:lstStyle/>
          <a:p>
            <a:pPr algn="ctr"/>
          </a:p>
        </p:txBody>
      </p:sp>
      <p:sp>
        <p:nvSpPr>
          <p:cNvPr id="45" name="TextBox 44"/>
          <p:cNvSpPr txBox="1"/>
          <p:nvPr/>
        </p:nvSpPr>
        <p:spPr>
          <a:xfrm>
            <a:off x="9384993" y="2769742"/>
            <a:ext cx="1129690" cy="21031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Grip Force Control</a:t>
            </a:r>
          </a:p>
        </p:txBody>
      </p:sp>
      <p:sp>
        <p:nvSpPr>
          <p:cNvPr id="46" name="Rectangle 45"/>
          <p:cNvSpPr/>
          <p:nvPr/>
        </p:nvSpPr>
        <p:spPr>
          <a:xfrm>
            <a:off x="10569547" y="2769742"/>
            <a:ext cx="906318" cy="210312"/>
          </a:xfrm>
          <a:prstGeom prst="rect">
            <a:avLst/>
          </a:prstGeom>
          <a:solidFill>
            <a:srgbClr val="ECEEF0"/>
          </a:solidFill>
          <a:ln>
            <a:noFill/>
          </a:ln>
        </p:spPr>
        <p:txBody>
          <a:bodyPr rtlCol="0" anchor="ctr"/>
          <a:lstStyle/>
          <a:p>
            <a:pPr algn="ctr"/>
          </a:p>
        </p:txBody>
      </p:sp>
      <p:sp>
        <p:nvSpPr>
          <p:cNvPr id="47" name="TextBox 46"/>
          <p:cNvSpPr txBox="1"/>
          <p:nvPr/>
        </p:nvSpPr>
        <p:spPr>
          <a:xfrm>
            <a:off x="10569547" y="2769742"/>
            <a:ext cx="906318" cy="21031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Slip Detection</a:t>
            </a:r>
          </a:p>
        </p:txBody>
      </p:sp>
      <p:sp>
        <p:nvSpPr>
          <p:cNvPr id="48" name="Rectangle 47"/>
          <p:cNvSpPr/>
          <p:nvPr/>
        </p:nvSpPr>
        <p:spPr>
          <a:xfrm>
            <a:off x="7516367" y="3025775"/>
            <a:ext cx="874160" cy="210312"/>
          </a:xfrm>
          <a:prstGeom prst="rect">
            <a:avLst/>
          </a:prstGeom>
          <a:solidFill>
            <a:srgbClr val="ECEEF0"/>
          </a:solidFill>
          <a:ln>
            <a:noFill/>
          </a:ln>
        </p:spPr>
        <p:txBody>
          <a:bodyPr rtlCol="0" anchor="ctr"/>
          <a:lstStyle/>
          <a:p>
            <a:pPr algn="ctr"/>
          </a:p>
        </p:txBody>
      </p:sp>
      <p:sp>
        <p:nvSpPr>
          <p:cNvPr id="49" name="TextBox 48"/>
          <p:cNvSpPr txBox="1"/>
          <p:nvPr/>
        </p:nvSpPr>
        <p:spPr>
          <a:xfrm>
            <a:off x="7516367" y="3025775"/>
            <a:ext cx="874160" cy="21031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Multi-contact</a:t>
            </a:r>
          </a:p>
        </p:txBody>
      </p:sp>
      <p:sp>
        <p:nvSpPr>
          <p:cNvPr id="50" name="Rectangle 49"/>
          <p:cNvSpPr/>
          <p:nvPr/>
        </p:nvSpPr>
        <p:spPr>
          <a:xfrm>
            <a:off x="8445392" y="3025775"/>
            <a:ext cx="900827" cy="210312"/>
          </a:xfrm>
          <a:prstGeom prst="rect">
            <a:avLst/>
          </a:prstGeom>
          <a:solidFill>
            <a:srgbClr val="ECEEF0"/>
          </a:solidFill>
          <a:ln>
            <a:noFill/>
          </a:ln>
        </p:spPr>
        <p:txBody>
          <a:bodyPr rtlCol="0" anchor="ctr"/>
          <a:lstStyle/>
          <a:p>
            <a:pPr algn="ctr"/>
          </a:p>
        </p:txBody>
      </p:sp>
      <p:sp>
        <p:nvSpPr>
          <p:cNvPr id="51" name="TextBox 50"/>
          <p:cNvSpPr txBox="1"/>
          <p:nvPr/>
        </p:nvSpPr>
        <p:spPr>
          <a:xfrm>
            <a:off x="8445392" y="3025775"/>
            <a:ext cx="900827" cy="21031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Tool Handling</a:t>
            </a:r>
          </a:p>
        </p:txBody>
      </p:sp>
      <p:sp>
        <p:nvSpPr>
          <p:cNvPr id="52" name="Rectangle 51"/>
          <p:cNvSpPr/>
          <p:nvPr/>
        </p:nvSpPr>
        <p:spPr>
          <a:xfrm>
            <a:off x="9401084" y="3025775"/>
            <a:ext cx="1955406" cy="210312"/>
          </a:xfrm>
          <a:prstGeom prst="rect">
            <a:avLst/>
          </a:prstGeom>
          <a:solidFill>
            <a:srgbClr val="ECEEF0"/>
          </a:solidFill>
          <a:ln>
            <a:noFill/>
          </a:ln>
        </p:spPr>
        <p:txBody>
          <a:bodyPr rtlCol="0" anchor="ctr"/>
          <a:lstStyle/>
          <a:p>
            <a:pPr algn="ctr"/>
          </a:p>
        </p:txBody>
      </p:sp>
      <p:sp>
        <p:nvSpPr>
          <p:cNvPr id="53" name="TextBox 52"/>
          <p:cNvSpPr txBox="1"/>
          <p:nvPr/>
        </p:nvSpPr>
        <p:spPr>
          <a:xfrm>
            <a:off x="9401084" y="3025775"/>
            <a:ext cx="1955406" cy="21031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Replaceable Food-contact Module</a:t>
            </a:r>
          </a:p>
        </p:txBody>
      </p:sp>
      <p:sp>
        <p:nvSpPr>
          <p:cNvPr id="54" name="Rectangle 53"/>
          <p:cNvSpPr/>
          <p:nvPr/>
        </p:nvSpPr>
        <p:spPr>
          <a:xfrm>
            <a:off x="7516367" y="3354959"/>
            <a:ext cx="3989527" cy="1261871"/>
          </a:xfrm>
          <a:prstGeom prst="rect">
            <a:avLst/>
          </a:prstGeom>
          <a:solidFill>
            <a:srgbClr val="FFFFFF"/>
          </a:solidFill>
          <a:ln w="12700">
            <a:solidFill>
              <a:srgbClr val="15171A"/>
            </a:solidFill>
          </a:ln>
        </p:spPr>
        <p:txBody>
          <a:bodyPr rtlCol="0" anchor="ctr"/>
          <a:lstStyle/>
          <a:p>
            <a:pPr algn="ctr"/>
          </a:p>
        </p:txBody>
      </p:sp>
      <p:sp>
        <p:nvSpPr>
          <p:cNvPr id="55" name="TextBox 54"/>
          <p:cNvSpPr txBox="1"/>
          <p:nvPr/>
        </p:nvSpPr>
        <p:spPr>
          <a:xfrm>
            <a:off x="7644383" y="3428111"/>
            <a:ext cx="3733495"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Buy vs Build — M6 Gate</a:t>
            </a:r>
          </a:p>
        </p:txBody>
      </p:sp>
      <p:sp>
        <p:nvSpPr>
          <p:cNvPr id="56" name="TextBox 55"/>
          <p:cNvSpPr txBox="1"/>
          <p:nvPr/>
        </p:nvSpPr>
        <p:spPr>
          <a:xfrm>
            <a:off x="7644383" y="3702431"/>
            <a:ext cx="3733495" cy="850391"/>
          </a:xfrm>
          <a:prstGeom prst="rect">
            <a:avLst/>
          </a:prstGeom>
          <a:noFill/>
        </p:spPr>
        <p:txBody>
          <a:bodyPr wrap="square" lIns="0" rIns="0" tIns="0" bIns="0" anchor="t">
            <a:spAutoFit/>
          </a:bodyPr>
          <a:lstStyle/>
          <a:p>
            <a:pPr algn="l" marL="182880" indent="-182880">
              <a:lnSpc>
                <a:spcPct val="100000"/>
              </a:lnSpc>
              <a:spcAft>
                <a:spcPts val="100"/>
              </a:spcAft>
              <a:buClr>
                <a:srgbClr val="8C9198"/>
              </a:buClr>
              <a:buFont typeface="Noto Sans KR"/>
              <a:buChar char="–"/>
            </a:pPr>
            <a:r>
              <a:rPr sz="900" b="0">
                <a:solidFill>
                  <a:srgbClr val="4A4F57"/>
                </a:solidFill>
                <a:latin typeface="Noto Sans KR"/>
                <a:ea typeface="Noto Sans KR"/>
                <a:cs typeface="Noto Sans KR"/>
              </a:rPr>
              <a:t>기준선: Robotiq 2F-85 약 $5,825 · Inspire RH56 $4,500~ (FACT)</a:t>
            </a:r>
          </a:p>
          <a:p>
            <a:pPr algn="l" marL="182880" indent="-182880">
              <a:lnSpc>
                <a:spcPct val="100000"/>
              </a:lnSpc>
              <a:spcAft>
                <a:spcPts val="100"/>
              </a:spcAft>
              <a:buClr>
                <a:srgbClr val="8C9198"/>
              </a:buClr>
              <a:buFont typeface="Noto Sans KR"/>
              <a:buChar char="–"/>
            </a:pPr>
            <a:r>
              <a:rPr sz="900" b="0">
                <a:solidFill>
                  <a:srgbClr val="4A4F57"/>
                </a:solidFill>
                <a:latin typeface="Noto Sans KR"/>
                <a:ea typeface="Noto Sans KR"/>
                <a:cs typeface="Noto Sans KR"/>
              </a:rPr>
              <a:t>30종 식기로 성공률 · 파손 · 교체 · 원가 비교</a:t>
            </a:r>
          </a:p>
          <a:p>
            <a:pPr algn="l" marL="182880" indent="-182880">
              <a:lnSpc>
                <a:spcPct val="100000"/>
              </a:lnSpc>
              <a:buClr>
                <a:srgbClr val="8C9198"/>
              </a:buClr>
              <a:buFont typeface="Noto Sans KR"/>
              <a:buChar char="–"/>
            </a:pPr>
            <a:r>
              <a:rPr sz="900" b="0">
                <a:solidFill>
                  <a:srgbClr val="4A4F57"/>
                </a:solidFill>
                <a:latin typeface="Noto Sans KR"/>
                <a:ea typeface="Noto Sans KR"/>
                <a:cs typeface="Noto Sans KR"/>
              </a:rPr>
              <a:t>우위 확인 시에만 자체 Hand 채택 (TARGET)</a:t>
            </a:r>
          </a:p>
        </p:txBody>
      </p:sp>
      <p:sp>
        <p:nvSpPr>
          <p:cNvPr id="57" name="Rectangle 56"/>
          <p:cNvSpPr/>
          <p:nvPr/>
        </p:nvSpPr>
        <p:spPr>
          <a:xfrm>
            <a:off x="685800" y="4817998"/>
            <a:ext cx="1576974" cy="420624"/>
          </a:xfrm>
          <a:prstGeom prst="rect">
            <a:avLst/>
          </a:prstGeom>
          <a:solidFill>
            <a:srgbClr val="F4F5F6"/>
          </a:solidFill>
          <a:ln>
            <a:noFill/>
          </a:ln>
        </p:spPr>
        <p:txBody>
          <a:bodyPr rtlCol="0" anchor="ctr"/>
          <a:lstStyle/>
          <a:p>
            <a:pPr algn="ctr"/>
          </a:p>
        </p:txBody>
      </p:sp>
      <p:sp>
        <p:nvSpPr>
          <p:cNvPr id="58" name="TextBox 57"/>
          <p:cNvSpPr txBox="1"/>
          <p:nvPr/>
        </p:nvSpPr>
        <p:spPr>
          <a:xfrm>
            <a:off x="685800" y="4817998"/>
            <a:ext cx="1576974" cy="420624"/>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Object Variation 대응</a:t>
            </a:r>
          </a:p>
        </p:txBody>
      </p:sp>
      <p:cxnSp>
        <p:nvCxnSpPr>
          <p:cNvPr id="59" name="Connector 58"/>
          <p:cNvCxnSpPr/>
          <p:nvPr/>
        </p:nvCxnSpPr>
        <p:spPr>
          <a:xfrm>
            <a:off x="2281062" y="5028310"/>
            <a:ext cx="182880" cy="0"/>
          </a:xfrm>
          <a:prstGeom prst="line">
            <a:avLst/>
          </a:prstGeom>
          <a:ln w="15875">
            <a:solidFill>
              <a:srgbClr val="8C9198"/>
            </a:solidFill>
            <a:tailEnd type="triangle" w="med" len="med"/>
          </a:ln>
        </p:spPr>
      </p:cxnSp>
      <p:sp>
        <p:nvSpPr>
          <p:cNvPr id="60" name="Rectangle 59"/>
          <p:cNvSpPr/>
          <p:nvPr/>
        </p:nvSpPr>
        <p:spPr>
          <a:xfrm>
            <a:off x="2482230" y="4817998"/>
            <a:ext cx="1576974" cy="420624"/>
          </a:xfrm>
          <a:prstGeom prst="rect">
            <a:avLst/>
          </a:prstGeom>
          <a:solidFill>
            <a:srgbClr val="F4F5F6"/>
          </a:solidFill>
          <a:ln>
            <a:noFill/>
          </a:ln>
        </p:spPr>
        <p:txBody>
          <a:bodyPr rtlCol="0" anchor="ctr"/>
          <a:lstStyle/>
          <a:p>
            <a:pPr algn="ctr"/>
          </a:p>
        </p:txBody>
      </p:sp>
      <p:sp>
        <p:nvSpPr>
          <p:cNvPr id="61" name="TextBox 60"/>
          <p:cNvSpPr txBox="1"/>
          <p:nvPr/>
        </p:nvSpPr>
        <p:spPr>
          <a:xfrm>
            <a:off x="2482230" y="4817998"/>
            <a:ext cx="1576974" cy="420624"/>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전용 Gripper 수 ↓</a:t>
            </a:r>
          </a:p>
        </p:txBody>
      </p:sp>
      <p:cxnSp>
        <p:nvCxnSpPr>
          <p:cNvPr id="62" name="Connector 61"/>
          <p:cNvCxnSpPr/>
          <p:nvPr/>
        </p:nvCxnSpPr>
        <p:spPr>
          <a:xfrm>
            <a:off x="4077492" y="5028310"/>
            <a:ext cx="182880" cy="0"/>
          </a:xfrm>
          <a:prstGeom prst="line">
            <a:avLst/>
          </a:prstGeom>
          <a:ln w="15875">
            <a:solidFill>
              <a:srgbClr val="8C9198"/>
            </a:solidFill>
            <a:tailEnd type="triangle" w="med" len="med"/>
          </a:ln>
        </p:spPr>
      </p:cxnSp>
      <p:sp>
        <p:nvSpPr>
          <p:cNvPr id="63" name="Rectangle 62"/>
          <p:cNvSpPr/>
          <p:nvPr/>
        </p:nvSpPr>
        <p:spPr>
          <a:xfrm>
            <a:off x="4278660" y="4817998"/>
            <a:ext cx="1576974" cy="420624"/>
          </a:xfrm>
          <a:prstGeom prst="rect">
            <a:avLst/>
          </a:prstGeom>
          <a:solidFill>
            <a:srgbClr val="F4F5F6"/>
          </a:solidFill>
          <a:ln>
            <a:noFill/>
          </a:ln>
        </p:spPr>
        <p:txBody>
          <a:bodyPr rtlCol="0" anchor="ctr"/>
          <a:lstStyle/>
          <a:p>
            <a:pPr algn="ctr"/>
          </a:p>
        </p:txBody>
      </p:sp>
      <p:sp>
        <p:nvSpPr>
          <p:cNvPr id="64" name="TextBox 63"/>
          <p:cNvSpPr txBox="1"/>
          <p:nvPr/>
        </p:nvSpPr>
        <p:spPr>
          <a:xfrm>
            <a:off x="4278660" y="4817998"/>
            <a:ext cx="1576974" cy="420624"/>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같은 End-effector 활용 ↑</a:t>
            </a:r>
          </a:p>
        </p:txBody>
      </p:sp>
      <p:cxnSp>
        <p:nvCxnSpPr>
          <p:cNvPr id="65" name="Connector 64"/>
          <p:cNvCxnSpPr/>
          <p:nvPr/>
        </p:nvCxnSpPr>
        <p:spPr>
          <a:xfrm>
            <a:off x="5873922" y="5028310"/>
            <a:ext cx="182880" cy="0"/>
          </a:xfrm>
          <a:prstGeom prst="line">
            <a:avLst/>
          </a:prstGeom>
          <a:ln w="15875">
            <a:solidFill>
              <a:srgbClr val="8C9198"/>
            </a:solidFill>
            <a:tailEnd type="triangle" w="med" len="med"/>
          </a:ln>
        </p:spPr>
      </p:cxnSp>
      <p:sp>
        <p:nvSpPr>
          <p:cNvPr id="66" name="Rectangle 65"/>
          <p:cNvSpPr/>
          <p:nvPr/>
        </p:nvSpPr>
        <p:spPr>
          <a:xfrm>
            <a:off x="6075090" y="4817998"/>
            <a:ext cx="1576974" cy="420624"/>
          </a:xfrm>
          <a:prstGeom prst="rect">
            <a:avLst/>
          </a:prstGeom>
          <a:solidFill>
            <a:srgbClr val="F4F5F6"/>
          </a:solidFill>
          <a:ln>
            <a:noFill/>
          </a:ln>
        </p:spPr>
        <p:txBody>
          <a:bodyPr rtlCol="0" anchor="ctr"/>
          <a:lstStyle/>
          <a:p>
            <a:pPr algn="ctr"/>
          </a:p>
        </p:txBody>
      </p:sp>
      <p:sp>
        <p:nvSpPr>
          <p:cNvPr id="67" name="TextBox 66"/>
          <p:cNvSpPr txBox="1"/>
          <p:nvPr/>
        </p:nvSpPr>
        <p:spPr>
          <a:xfrm>
            <a:off x="6075090" y="4817998"/>
            <a:ext cx="1576974" cy="420624"/>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Skill 재사용 ↑</a:t>
            </a:r>
          </a:p>
        </p:txBody>
      </p:sp>
      <p:cxnSp>
        <p:nvCxnSpPr>
          <p:cNvPr id="68" name="Connector 67"/>
          <p:cNvCxnSpPr/>
          <p:nvPr/>
        </p:nvCxnSpPr>
        <p:spPr>
          <a:xfrm>
            <a:off x="7670352" y="5028310"/>
            <a:ext cx="182880" cy="0"/>
          </a:xfrm>
          <a:prstGeom prst="line">
            <a:avLst/>
          </a:prstGeom>
          <a:ln w="15875">
            <a:solidFill>
              <a:srgbClr val="8C9198"/>
            </a:solidFill>
            <a:tailEnd type="triangle" w="med" len="med"/>
          </a:ln>
        </p:spPr>
      </p:cxnSp>
      <p:sp>
        <p:nvSpPr>
          <p:cNvPr id="69" name="Rectangle 68"/>
          <p:cNvSpPr/>
          <p:nvPr/>
        </p:nvSpPr>
        <p:spPr>
          <a:xfrm>
            <a:off x="7871520" y="4817998"/>
            <a:ext cx="1576974" cy="420624"/>
          </a:xfrm>
          <a:prstGeom prst="rect">
            <a:avLst/>
          </a:prstGeom>
          <a:solidFill>
            <a:srgbClr val="F4F5F6"/>
          </a:solidFill>
          <a:ln>
            <a:noFill/>
          </a:ln>
        </p:spPr>
        <p:txBody>
          <a:bodyPr rtlCol="0" anchor="ctr"/>
          <a:lstStyle/>
          <a:p>
            <a:pPr algn="ctr"/>
          </a:p>
        </p:txBody>
      </p:sp>
      <p:sp>
        <p:nvSpPr>
          <p:cNvPr id="70" name="TextBox 69"/>
          <p:cNvSpPr txBox="1"/>
          <p:nvPr/>
        </p:nvSpPr>
        <p:spPr>
          <a:xfrm>
            <a:off x="7871520" y="4817998"/>
            <a:ext cx="1576974" cy="420624"/>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유지보수 단순화</a:t>
            </a:r>
          </a:p>
        </p:txBody>
      </p:sp>
      <p:sp>
        <p:nvSpPr>
          <p:cNvPr id="71" name="Rectangle 70"/>
          <p:cNvSpPr/>
          <p:nvPr/>
        </p:nvSpPr>
        <p:spPr>
          <a:xfrm>
            <a:off x="9585655" y="4817998"/>
            <a:ext cx="1920239" cy="420624"/>
          </a:xfrm>
          <a:prstGeom prst="rect">
            <a:avLst/>
          </a:prstGeom>
          <a:solidFill>
            <a:srgbClr val="15171A"/>
          </a:solidFill>
          <a:ln>
            <a:noFill/>
          </a:ln>
        </p:spPr>
        <p:txBody>
          <a:bodyPr rtlCol="0" anchor="ctr"/>
          <a:lstStyle/>
          <a:p>
            <a:pPr algn="ctr"/>
          </a:p>
        </p:txBody>
      </p:sp>
      <p:sp>
        <p:nvSpPr>
          <p:cNvPr id="72" name="TextBox 71"/>
          <p:cNvSpPr txBox="1"/>
          <p:nvPr/>
        </p:nvSpPr>
        <p:spPr>
          <a:xfrm>
            <a:off x="9585655" y="4817998"/>
            <a:ext cx="1920239" cy="420624"/>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 Pad · Seal · Tip = 소모품</a:t>
            </a:r>
          </a:p>
        </p:txBody>
      </p:sp>
      <p:sp>
        <p:nvSpPr>
          <p:cNvPr id="73" name="TextBox 72"/>
          <p:cNvSpPr txBox="1"/>
          <p:nvPr/>
        </p:nvSpPr>
        <p:spPr>
          <a:xfrm>
            <a:off x="685800" y="6143853"/>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렌더는 설계 검증 전 개념 형상 (CONCEPT). 식품 접촉 부품: 식품위생법 "기구" · 「기구 및 용기 · 포장의 기준 및 규격」 고무제 규격 대응 (ASSIST · COOK 단계 필수) [S42 · S48].</a:t>
            </a:r>
          </a:p>
        </p:txBody>
      </p:sp>
      <p:sp>
        <p:nvSpPr>
          <p:cNvPr id="74" name="TextBox 7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75" name="TextBox 7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06  Manipulation Skill · Calibration</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같은 Skill을 다른 주방으로 옮기는 것이 핵심 기술입니다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Skill = 단순 Software 구독이 아닌 Robot Capability의 확장 Layer</a:t>
            </a:r>
          </a:p>
        </p:txBody>
      </p:sp>
      <p:sp>
        <p:nvSpPr>
          <p:cNvPr id="5" name="Rectangle 4"/>
          <p:cNvSpPr/>
          <p:nvPr/>
        </p:nvSpPr>
        <p:spPr>
          <a:xfrm>
            <a:off x="685800" y="1599310"/>
            <a:ext cx="1944563" cy="841248"/>
          </a:xfrm>
          <a:prstGeom prst="rect">
            <a:avLst/>
          </a:prstGeom>
          <a:solidFill>
            <a:srgbClr val="F4F5F6"/>
          </a:solidFill>
          <a:ln>
            <a:noFill/>
          </a:ln>
        </p:spPr>
        <p:txBody>
          <a:bodyPr rtlCol="0" anchor="ctr"/>
          <a:lstStyle/>
          <a:p>
            <a:pPr algn="ctr"/>
          </a:p>
        </p:txBody>
      </p:sp>
      <p:sp>
        <p:nvSpPr>
          <p:cNvPr id="6" name="TextBox 5"/>
          <p:cNvSpPr txBox="1"/>
          <p:nvPr/>
        </p:nvSpPr>
        <p:spPr>
          <a:xfrm>
            <a:off x="813816" y="1690751"/>
            <a:ext cx="457200" cy="219456"/>
          </a:xfrm>
          <a:prstGeom prst="rect">
            <a:avLst/>
          </a:prstGeom>
          <a:noFill/>
        </p:spPr>
        <p:txBody>
          <a:bodyPr wrap="square" lIns="0" rIns="0" tIns="0" bIns="0" anchor="t">
            <a:spAutoFit/>
          </a:bodyPr>
          <a:lstStyle/>
          <a:p>
            <a:pPr algn="l">
              <a:lnSpc>
                <a:spcPct val="100000"/>
              </a:lnSpc>
            </a:pPr>
            <a:r>
              <a:rPr sz="900" b="1">
                <a:solidFill>
                  <a:srgbClr val="8C9198"/>
                </a:solidFill>
                <a:latin typeface="Noto Sans KR"/>
                <a:ea typeface="Noto Sans KR"/>
                <a:cs typeface="Noto Sans KR"/>
              </a:rPr>
              <a:t>01</a:t>
            </a:r>
          </a:p>
        </p:txBody>
      </p:sp>
      <p:sp>
        <p:nvSpPr>
          <p:cNvPr id="7" name="TextBox 6"/>
          <p:cNvSpPr txBox="1"/>
          <p:nvPr/>
        </p:nvSpPr>
        <p:spPr>
          <a:xfrm>
            <a:off x="813816" y="1873630"/>
            <a:ext cx="168853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감지</a:t>
            </a:r>
          </a:p>
        </p:txBody>
      </p:sp>
      <p:sp>
        <p:nvSpPr>
          <p:cNvPr id="8" name="TextBox 7"/>
          <p:cNvSpPr txBox="1"/>
          <p:nvPr/>
        </p:nvSpPr>
        <p:spPr>
          <a:xfrm>
            <a:off x="813816" y="2166239"/>
            <a:ext cx="1688531" cy="219456"/>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Object Detection</a:t>
            </a:r>
          </a:p>
        </p:txBody>
      </p:sp>
      <p:cxnSp>
        <p:nvCxnSpPr>
          <p:cNvPr id="9" name="Connector 8"/>
          <p:cNvCxnSpPr/>
          <p:nvPr/>
        </p:nvCxnSpPr>
        <p:spPr>
          <a:xfrm>
            <a:off x="2657795" y="2019934"/>
            <a:ext cx="219456" cy="0"/>
          </a:xfrm>
          <a:prstGeom prst="line">
            <a:avLst/>
          </a:prstGeom>
          <a:ln w="19050">
            <a:solidFill>
              <a:srgbClr val="8C9198"/>
            </a:solidFill>
            <a:tailEnd type="triangle" w="med" len="med"/>
          </a:ln>
        </p:spPr>
      </p:cxnSp>
      <p:sp>
        <p:nvSpPr>
          <p:cNvPr id="10" name="Rectangle 9"/>
          <p:cNvSpPr/>
          <p:nvPr/>
        </p:nvSpPr>
        <p:spPr>
          <a:xfrm>
            <a:off x="2904683" y="1599310"/>
            <a:ext cx="1944563" cy="841248"/>
          </a:xfrm>
          <a:prstGeom prst="rect">
            <a:avLst/>
          </a:prstGeom>
          <a:solidFill>
            <a:srgbClr val="F4F5F6"/>
          </a:solidFill>
          <a:ln>
            <a:noFill/>
          </a:ln>
        </p:spPr>
        <p:txBody>
          <a:bodyPr rtlCol="0" anchor="ctr"/>
          <a:lstStyle/>
          <a:p>
            <a:pPr algn="ctr"/>
          </a:p>
        </p:txBody>
      </p:sp>
      <p:sp>
        <p:nvSpPr>
          <p:cNvPr id="11" name="TextBox 10"/>
          <p:cNvSpPr txBox="1"/>
          <p:nvPr/>
        </p:nvSpPr>
        <p:spPr>
          <a:xfrm>
            <a:off x="3032699" y="1690751"/>
            <a:ext cx="457200" cy="219456"/>
          </a:xfrm>
          <a:prstGeom prst="rect">
            <a:avLst/>
          </a:prstGeom>
          <a:noFill/>
        </p:spPr>
        <p:txBody>
          <a:bodyPr wrap="square" lIns="0" rIns="0" tIns="0" bIns="0" anchor="t">
            <a:spAutoFit/>
          </a:bodyPr>
          <a:lstStyle/>
          <a:p>
            <a:pPr algn="l">
              <a:lnSpc>
                <a:spcPct val="100000"/>
              </a:lnSpc>
            </a:pPr>
            <a:r>
              <a:rPr sz="900" b="1">
                <a:solidFill>
                  <a:srgbClr val="8C9198"/>
                </a:solidFill>
                <a:latin typeface="Noto Sans KR"/>
                <a:ea typeface="Noto Sans KR"/>
                <a:cs typeface="Noto Sans KR"/>
              </a:rPr>
              <a:t>02</a:t>
            </a:r>
          </a:p>
        </p:txBody>
      </p:sp>
      <p:sp>
        <p:nvSpPr>
          <p:cNvPr id="12" name="TextBox 11"/>
          <p:cNvSpPr txBox="1"/>
          <p:nvPr/>
        </p:nvSpPr>
        <p:spPr>
          <a:xfrm>
            <a:off x="3032699" y="1873630"/>
            <a:ext cx="168853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파지</a:t>
            </a:r>
          </a:p>
        </p:txBody>
      </p:sp>
      <p:sp>
        <p:nvSpPr>
          <p:cNvPr id="13" name="TextBox 12"/>
          <p:cNvSpPr txBox="1"/>
          <p:nvPr/>
        </p:nvSpPr>
        <p:spPr>
          <a:xfrm>
            <a:off x="3032699" y="2166239"/>
            <a:ext cx="1688531" cy="219456"/>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Grasp · Force</a:t>
            </a:r>
          </a:p>
        </p:txBody>
      </p:sp>
      <p:cxnSp>
        <p:nvCxnSpPr>
          <p:cNvPr id="14" name="Connector 13"/>
          <p:cNvCxnSpPr/>
          <p:nvPr/>
        </p:nvCxnSpPr>
        <p:spPr>
          <a:xfrm>
            <a:off x="4876678" y="2019934"/>
            <a:ext cx="219456" cy="0"/>
          </a:xfrm>
          <a:prstGeom prst="line">
            <a:avLst/>
          </a:prstGeom>
          <a:ln w="19050">
            <a:solidFill>
              <a:srgbClr val="8C9198"/>
            </a:solidFill>
            <a:tailEnd type="triangle" w="med" len="med"/>
          </a:ln>
        </p:spPr>
      </p:cxnSp>
      <p:sp>
        <p:nvSpPr>
          <p:cNvPr id="15" name="Rectangle 14"/>
          <p:cNvSpPr/>
          <p:nvPr/>
        </p:nvSpPr>
        <p:spPr>
          <a:xfrm>
            <a:off x="5123566" y="1599310"/>
            <a:ext cx="1944563" cy="841248"/>
          </a:xfrm>
          <a:prstGeom prst="rect">
            <a:avLst/>
          </a:prstGeom>
          <a:solidFill>
            <a:srgbClr val="F4F5F6"/>
          </a:solidFill>
          <a:ln>
            <a:noFill/>
          </a:ln>
        </p:spPr>
        <p:txBody>
          <a:bodyPr rtlCol="0" anchor="ctr"/>
          <a:lstStyle/>
          <a:p>
            <a:pPr algn="ctr"/>
          </a:p>
        </p:txBody>
      </p:sp>
      <p:sp>
        <p:nvSpPr>
          <p:cNvPr id="16" name="TextBox 15"/>
          <p:cNvSpPr txBox="1"/>
          <p:nvPr/>
        </p:nvSpPr>
        <p:spPr>
          <a:xfrm>
            <a:off x="5251582" y="1690751"/>
            <a:ext cx="457200" cy="219456"/>
          </a:xfrm>
          <a:prstGeom prst="rect">
            <a:avLst/>
          </a:prstGeom>
          <a:noFill/>
        </p:spPr>
        <p:txBody>
          <a:bodyPr wrap="square" lIns="0" rIns="0" tIns="0" bIns="0" anchor="t">
            <a:spAutoFit/>
          </a:bodyPr>
          <a:lstStyle/>
          <a:p>
            <a:pPr algn="l">
              <a:lnSpc>
                <a:spcPct val="100000"/>
              </a:lnSpc>
            </a:pPr>
            <a:r>
              <a:rPr sz="900" b="1">
                <a:solidFill>
                  <a:srgbClr val="8C9198"/>
                </a:solidFill>
                <a:latin typeface="Noto Sans KR"/>
                <a:ea typeface="Noto Sans KR"/>
                <a:cs typeface="Noto Sans KR"/>
              </a:rPr>
              <a:t>03</a:t>
            </a:r>
          </a:p>
        </p:txBody>
      </p:sp>
      <p:sp>
        <p:nvSpPr>
          <p:cNvPr id="17" name="TextBox 16"/>
          <p:cNvSpPr txBox="1"/>
          <p:nvPr/>
        </p:nvSpPr>
        <p:spPr>
          <a:xfrm>
            <a:off x="5251582" y="1873630"/>
            <a:ext cx="168853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조작</a:t>
            </a:r>
          </a:p>
        </p:txBody>
      </p:sp>
      <p:sp>
        <p:nvSpPr>
          <p:cNvPr id="18" name="TextBox 17"/>
          <p:cNvSpPr txBox="1"/>
          <p:nvPr/>
        </p:nvSpPr>
        <p:spPr>
          <a:xfrm>
            <a:off x="5251582" y="2166239"/>
            <a:ext cx="1688531" cy="219456"/>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Move · Insert</a:t>
            </a:r>
          </a:p>
        </p:txBody>
      </p:sp>
      <p:cxnSp>
        <p:nvCxnSpPr>
          <p:cNvPr id="19" name="Connector 18"/>
          <p:cNvCxnSpPr/>
          <p:nvPr/>
        </p:nvCxnSpPr>
        <p:spPr>
          <a:xfrm>
            <a:off x="7095561" y="2019934"/>
            <a:ext cx="219456" cy="0"/>
          </a:xfrm>
          <a:prstGeom prst="line">
            <a:avLst/>
          </a:prstGeom>
          <a:ln w="19050">
            <a:solidFill>
              <a:srgbClr val="8C9198"/>
            </a:solidFill>
            <a:tailEnd type="triangle" w="med" len="med"/>
          </a:ln>
        </p:spPr>
      </p:cxnSp>
      <p:sp>
        <p:nvSpPr>
          <p:cNvPr id="20" name="Rectangle 19"/>
          <p:cNvSpPr/>
          <p:nvPr/>
        </p:nvSpPr>
        <p:spPr>
          <a:xfrm>
            <a:off x="7342449" y="1599310"/>
            <a:ext cx="1944563" cy="841248"/>
          </a:xfrm>
          <a:prstGeom prst="rect">
            <a:avLst/>
          </a:prstGeom>
          <a:solidFill>
            <a:srgbClr val="F4F5F6"/>
          </a:solidFill>
          <a:ln>
            <a:noFill/>
          </a:ln>
        </p:spPr>
        <p:txBody>
          <a:bodyPr rtlCol="0" anchor="ctr"/>
          <a:lstStyle/>
          <a:p>
            <a:pPr algn="ctr"/>
          </a:p>
        </p:txBody>
      </p:sp>
      <p:sp>
        <p:nvSpPr>
          <p:cNvPr id="21" name="TextBox 20"/>
          <p:cNvSpPr txBox="1"/>
          <p:nvPr/>
        </p:nvSpPr>
        <p:spPr>
          <a:xfrm>
            <a:off x="7470465" y="1690751"/>
            <a:ext cx="457200" cy="219456"/>
          </a:xfrm>
          <a:prstGeom prst="rect">
            <a:avLst/>
          </a:prstGeom>
          <a:noFill/>
        </p:spPr>
        <p:txBody>
          <a:bodyPr wrap="square" lIns="0" rIns="0" tIns="0" bIns="0" anchor="t">
            <a:spAutoFit/>
          </a:bodyPr>
          <a:lstStyle/>
          <a:p>
            <a:pPr algn="l">
              <a:lnSpc>
                <a:spcPct val="100000"/>
              </a:lnSpc>
            </a:pPr>
            <a:r>
              <a:rPr sz="900" b="1">
                <a:solidFill>
                  <a:srgbClr val="8C9198"/>
                </a:solidFill>
                <a:latin typeface="Noto Sans KR"/>
                <a:ea typeface="Noto Sans KR"/>
                <a:cs typeface="Noto Sans KR"/>
              </a:rPr>
              <a:t>04</a:t>
            </a:r>
          </a:p>
        </p:txBody>
      </p:sp>
      <p:sp>
        <p:nvSpPr>
          <p:cNvPr id="22" name="TextBox 21"/>
          <p:cNvSpPr txBox="1"/>
          <p:nvPr/>
        </p:nvSpPr>
        <p:spPr>
          <a:xfrm>
            <a:off x="7470465" y="1873630"/>
            <a:ext cx="168853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검증</a:t>
            </a:r>
          </a:p>
        </p:txBody>
      </p:sp>
      <p:sp>
        <p:nvSpPr>
          <p:cNvPr id="23" name="TextBox 22"/>
          <p:cNvSpPr txBox="1"/>
          <p:nvPr/>
        </p:nvSpPr>
        <p:spPr>
          <a:xfrm>
            <a:off x="7470465" y="2166239"/>
            <a:ext cx="1688531" cy="219456"/>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Success Check</a:t>
            </a:r>
          </a:p>
        </p:txBody>
      </p:sp>
      <p:cxnSp>
        <p:nvCxnSpPr>
          <p:cNvPr id="24" name="Connector 23"/>
          <p:cNvCxnSpPr/>
          <p:nvPr/>
        </p:nvCxnSpPr>
        <p:spPr>
          <a:xfrm>
            <a:off x="9314444" y="2019934"/>
            <a:ext cx="219456" cy="0"/>
          </a:xfrm>
          <a:prstGeom prst="line">
            <a:avLst/>
          </a:prstGeom>
          <a:ln w="19050">
            <a:solidFill>
              <a:srgbClr val="8C9198"/>
            </a:solidFill>
            <a:tailEnd type="triangle" w="med" len="med"/>
          </a:ln>
        </p:spPr>
      </p:cxnSp>
      <p:sp>
        <p:nvSpPr>
          <p:cNvPr id="25" name="Rectangle 24"/>
          <p:cNvSpPr/>
          <p:nvPr/>
        </p:nvSpPr>
        <p:spPr>
          <a:xfrm>
            <a:off x="9561332" y="1599310"/>
            <a:ext cx="1944563" cy="841248"/>
          </a:xfrm>
          <a:prstGeom prst="rect">
            <a:avLst/>
          </a:prstGeom>
          <a:solidFill>
            <a:srgbClr val="F4F5F6"/>
          </a:solidFill>
          <a:ln>
            <a:noFill/>
          </a:ln>
        </p:spPr>
        <p:txBody>
          <a:bodyPr rtlCol="0" anchor="ctr"/>
          <a:lstStyle/>
          <a:p>
            <a:pPr algn="ctr"/>
          </a:p>
        </p:txBody>
      </p:sp>
      <p:sp>
        <p:nvSpPr>
          <p:cNvPr id="26" name="TextBox 25"/>
          <p:cNvSpPr txBox="1"/>
          <p:nvPr/>
        </p:nvSpPr>
        <p:spPr>
          <a:xfrm>
            <a:off x="9689348" y="1690751"/>
            <a:ext cx="457200" cy="219456"/>
          </a:xfrm>
          <a:prstGeom prst="rect">
            <a:avLst/>
          </a:prstGeom>
          <a:noFill/>
        </p:spPr>
        <p:txBody>
          <a:bodyPr wrap="square" lIns="0" rIns="0" tIns="0" bIns="0" anchor="t">
            <a:spAutoFit/>
          </a:bodyPr>
          <a:lstStyle/>
          <a:p>
            <a:pPr algn="l">
              <a:lnSpc>
                <a:spcPct val="100000"/>
              </a:lnSpc>
            </a:pPr>
            <a:r>
              <a:rPr sz="900" b="1">
                <a:solidFill>
                  <a:srgbClr val="8C9198"/>
                </a:solidFill>
                <a:latin typeface="Noto Sans KR"/>
                <a:ea typeface="Noto Sans KR"/>
                <a:cs typeface="Noto Sans KR"/>
              </a:rPr>
              <a:t>05</a:t>
            </a:r>
          </a:p>
        </p:txBody>
      </p:sp>
      <p:sp>
        <p:nvSpPr>
          <p:cNvPr id="27" name="TextBox 26"/>
          <p:cNvSpPr txBox="1"/>
          <p:nvPr/>
        </p:nvSpPr>
        <p:spPr>
          <a:xfrm>
            <a:off x="9689348" y="1873630"/>
            <a:ext cx="168853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복구</a:t>
            </a:r>
          </a:p>
        </p:txBody>
      </p:sp>
      <p:sp>
        <p:nvSpPr>
          <p:cNvPr id="28" name="TextBox 27"/>
          <p:cNvSpPr txBox="1"/>
          <p:nvPr/>
        </p:nvSpPr>
        <p:spPr>
          <a:xfrm>
            <a:off x="9689348" y="2166239"/>
            <a:ext cx="1688531" cy="219456"/>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Recovery</a:t>
            </a:r>
          </a:p>
        </p:txBody>
      </p:sp>
      <p:cxnSp>
        <p:nvCxnSpPr>
          <p:cNvPr id="29" name="Connector 28"/>
          <p:cNvCxnSpPr/>
          <p:nvPr/>
        </p:nvCxnSpPr>
        <p:spPr>
          <a:xfrm>
            <a:off x="8314730" y="2440559"/>
            <a:ext cx="0" cy="164592"/>
          </a:xfrm>
          <a:prstGeom prst="line">
            <a:avLst/>
          </a:prstGeom>
          <a:ln w="15875">
            <a:solidFill>
              <a:srgbClr val="E2571B"/>
            </a:solidFill>
            <a:prstDash val="dash"/>
          </a:ln>
        </p:spPr>
      </p:cxnSp>
      <p:cxnSp>
        <p:nvCxnSpPr>
          <p:cNvPr id="30" name="Connector 29"/>
          <p:cNvCxnSpPr/>
          <p:nvPr/>
        </p:nvCxnSpPr>
        <p:spPr>
          <a:xfrm>
            <a:off x="3876964" y="2605151"/>
            <a:ext cx="4437766" cy="0"/>
          </a:xfrm>
          <a:prstGeom prst="line">
            <a:avLst/>
          </a:prstGeom>
          <a:ln w="15875">
            <a:solidFill>
              <a:srgbClr val="E2571B"/>
            </a:solidFill>
            <a:prstDash val="dash"/>
          </a:ln>
        </p:spPr>
      </p:cxnSp>
      <p:cxnSp>
        <p:nvCxnSpPr>
          <p:cNvPr id="31" name="Connector 30"/>
          <p:cNvCxnSpPr/>
          <p:nvPr/>
        </p:nvCxnSpPr>
        <p:spPr>
          <a:xfrm flipV="1">
            <a:off x="3876964" y="2449702"/>
            <a:ext cx="0" cy="155449"/>
          </a:xfrm>
          <a:prstGeom prst="line">
            <a:avLst/>
          </a:prstGeom>
          <a:ln w="15875">
            <a:solidFill>
              <a:srgbClr val="E2571B"/>
            </a:solidFill>
            <a:tailEnd type="triangle" w="med" len="med"/>
          </a:ln>
        </p:spPr>
      </p:cxnSp>
      <p:sp>
        <p:nvSpPr>
          <p:cNvPr id="32" name="TextBox 31"/>
          <p:cNvSpPr txBox="1"/>
          <p:nvPr/>
        </p:nvSpPr>
        <p:spPr>
          <a:xfrm>
            <a:off x="3986692" y="2641727"/>
            <a:ext cx="3200400" cy="201168"/>
          </a:xfrm>
          <a:prstGeom prst="rect">
            <a:avLst/>
          </a:prstGeom>
          <a:noFill/>
        </p:spPr>
        <p:txBody>
          <a:bodyPr wrap="square" lIns="0" rIns="0" tIns="0" bIns="0" anchor="t">
            <a:spAutoFit/>
          </a:bodyPr>
          <a:lstStyle/>
          <a:p>
            <a:pPr algn="l">
              <a:lnSpc>
                <a:spcPct val="100000"/>
              </a:lnSpc>
            </a:pPr>
            <a:r>
              <a:rPr sz="850" b="0">
                <a:solidFill>
                  <a:srgbClr val="E2571B"/>
                </a:solidFill>
                <a:latin typeface="Noto Sans KR"/>
                <a:ea typeface="Noto Sans KR"/>
                <a:cs typeface="Noto Sans KR"/>
              </a:rPr>
              <a:t>실패 감지 → 다시 잡기 · 내려놓기</a:t>
            </a:r>
          </a:p>
        </p:txBody>
      </p:sp>
      <p:sp>
        <p:nvSpPr>
          <p:cNvPr id="33" name="TextBox 32"/>
          <p:cNvSpPr txBox="1"/>
          <p:nvPr/>
        </p:nvSpPr>
        <p:spPr>
          <a:xfrm>
            <a:off x="685800" y="2897759"/>
            <a:ext cx="5486400" cy="237744"/>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다른 주방 → Calibration → 같은 Skill</a:t>
            </a:r>
          </a:p>
        </p:txBody>
      </p:sp>
      <p:sp>
        <p:nvSpPr>
          <p:cNvPr id="34" name="Rectangle 33"/>
          <p:cNvSpPr/>
          <p:nvPr/>
        </p:nvSpPr>
        <p:spPr>
          <a:xfrm>
            <a:off x="685800" y="3190366"/>
            <a:ext cx="2148840" cy="731520"/>
          </a:xfrm>
          <a:prstGeom prst="rect">
            <a:avLst/>
          </a:prstGeom>
          <a:solidFill>
            <a:srgbClr val="FFFFFF"/>
          </a:solidFill>
          <a:ln w="9525">
            <a:solidFill>
              <a:srgbClr val="C9CDD2"/>
            </a:solidFill>
          </a:ln>
        </p:spPr>
        <p:txBody>
          <a:bodyPr rtlCol="0" anchor="ctr"/>
          <a:lstStyle/>
          <a:p>
            <a:pPr algn="ctr"/>
          </a:p>
        </p:txBody>
      </p:sp>
      <p:sp>
        <p:nvSpPr>
          <p:cNvPr id="35" name="TextBox 34"/>
          <p:cNvSpPr txBox="1"/>
          <p:nvPr/>
        </p:nvSpPr>
        <p:spPr>
          <a:xfrm>
            <a:off x="758952" y="3236086"/>
            <a:ext cx="2002536" cy="201168"/>
          </a:xfrm>
          <a:prstGeom prst="rect">
            <a:avLst/>
          </a:prstGeom>
          <a:noFill/>
        </p:spPr>
        <p:txBody>
          <a:bodyPr wrap="square" lIns="0" rIns="0" tIns="0" bIns="0" anchor="t">
            <a:spAutoFit/>
          </a:bodyPr>
          <a:lstStyle/>
          <a:p>
            <a:pPr algn="l">
              <a:lnSpc>
                <a:spcPct val="100000"/>
              </a:lnSpc>
            </a:pPr>
            <a:r>
              <a:rPr sz="850" b="1">
                <a:solidFill>
                  <a:srgbClr val="15171A"/>
                </a:solidFill>
                <a:latin typeface="Noto Sans KR"/>
                <a:ea typeface="Noto Sans KR"/>
                <a:cs typeface="Noto Sans KR"/>
              </a:rPr>
              <a:t>Kitchen A · ㅡ자 3.2m · 빌트인 식세기</a:t>
            </a:r>
          </a:p>
        </p:txBody>
      </p:sp>
      <p:sp>
        <p:nvSpPr>
          <p:cNvPr id="36" name="Rectangle 35"/>
          <p:cNvSpPr/>
          <p:nvPr/>
        </p:nvSpPr>
        <p:spPr>
          <a:xfrm>
            <a:off x="795528" y="3482974"/>
            <a:ext cx="270113" cy="274320"/>
          </a:xfrm>
          <a:prstGeom prst="rect">
            <a:avLst/>
          </a:prstGeom>
          <a:solidFill>
            <a:srgbClr val="FFFFFF"/>
          </a:solidFill>
          <a:ln w="12700">
            <a:solidFill>
              <a:srgbClr val="E2571B"/>
            </a:solidFill>
          </a:ln>
        </p:spPr>
        <p:txBody>
          <a:bodyPr rtlCol="0" anchor="ctr"/>
          <a:lstStyle/>
          <a:p>
            <a:pPr algn="ctr"/>
          </a:p>
        </p:txBody>
      </p:sp>
      <p:sp>
        <p:nvSpPr>
          <p:cNvPr id="37" name="TextBox 36"/>
          <p:cNvSpPr txBox="1"/>
          <p:nvPr/>
        </p:nvSpPr>
        <p:spPr>
          <a:xfrm>
            <a:off x="795528" y="3482974"/>
            <a:ext cx="270113" cy="274320"/>
          </a:xfrm>
          <a:prstGeom prst="rect">
            <a:avLst/>
          </a:prstGeom>
          <a:noFill/>
        </p:spPr>
        <p:txBody>
          <a:bodyPr wrap="square" lIns="0" rIns="0" tIns="0" bIns="0" anchor="ctr">
            <a:spAutoFit/>
          </a:bodyPr>
          <a:lstStyle/>
          <a:p>
            <a:pPr algn="ctr">
              <a:lnSpc>
                <a:spcPct val="100000"/>
              </a:lnSpc>
            </a:pPr>
            <a:r>
              <a:rPr sz="750" b="1">
                <a:solidFill>
                  <a:srgbClr val="E2571B"/>
                </a:solidFill>
                <a:latin typeface="Noto Sans KR"/>
                <a:ea typeface="Noto Sans KR"/>
                <a:cs typeface="Noto Sans KR"/>
              </a:rPr>
              <a:t>R</a:t>
            </a:r>
          </a:p>
        </p:txBody>
      </p:sp>
      <p:sp>
        <p:nvSpPr>
          <p:cNvPr id="38" name="Rectangle 37"/>
          <p:cNvSpPr/>
          <p:nvPr/>
        </p:nvSpPr>
        <p:spPr>
          <a:xfrm>
            <a:off x="1065641" y="3482974"/>
            <a:ext cx="540227" cy="274320"/>
          </a:xfrm>
          <a:prstGeom prst="rect">
            <a:avLst/>
          </a:prstGeom>
          <a:solidFill>
            <a:srgbClr val="ECEEF0"/>
          </a:solidFill>
          <a:ln w="6350">
            <a:solidFill>
              <a:srgbClr val="FFFFFF"/>
            </a:solidFill>
          </a:ln>
        </p:spPr>
        <p:txBody>
          <a:bodyPr rtlCol="0" anchor="ctr"/>
          <a:lstStyle/>
          <a:p>
            <a:pPr algn="ctr"/>
          </a:p>
        </p:txBody>
      </p:sp>
      <p:sp>
        <p:nvSpPr>
          <p:cNvPr id="39" name="Rectangle 38"/>
          <p:cNvSpPr/>
          <p:nvPr/>
        </p:nvSpPr>
        <p:spPr>
          <a:xfrm>
            <a:off x="1605869" y="3482974"/>
            <a:ext cx="385876" cy="274320"/>
          </a:xfrm>
          <a:prstGeom prst="rect">
            <a:avLst/>
          </a:prstGeom>
          <a:solidFill>
            <a:srgbClr val="C9D3DC"/>
          </a:solidFill>
          <a:ln w="6350">
            <a:solidFill>
              <a:srgbClr val="FFFFFF"/>
            </a:solidFill>
          </a:ln>
        </p:spPr>
        <p:txBody>
          <a:bodyPr rtlCol="0" anchor="ctr"/>
          <a:lstStyle/>
          <a:p>
            <a:pPr algn="ctr"/>
          </a:p>
        </p:txBody>
      </p:sp>
      <p:sp>
        <p:nvSpPr>
          <p:cNvPr id="40" name="TextBox 39"/>
          <p:cNvSpPr txBox="1"/>
          <p:nvPr/>
        </p:nvSpPr>
        <p:spPr>
          <a:xfrm>
            <a:off x="1605869" y="3482974"/>
            <a:ext cx="385876" cy="274320"/>
          </a:xfrm>
          <a:prstGeom prst="rect">
            <a:avLst/>
          </a:prstGeom>
          <a:noFill/>
        </p:spPr>
        <p:txBody>
          <a:bodyPr wrap="square" lIns="0" rIns="0" tIns="0" bIns="0" anchor="ctr">
            <a:spAutoFit/>
          </a:bodyPr>
          <a:lstStyle/>
          <a:p>
            <a:pPr algn="ctr">
              <a:lnSpc>
                <a:spcPct val="100000"/>
              </a:lnSpc>
            </a:pPr>
            <a:r>
              <a:rPr sz="750" b="1">
                <a:solidFill>
                  <a:srgbClr val="15171A"/>
                </a:solidFill>
                <a:latin typeface="Noto Sans KR"/>
                <a:ea typeface="Noto Sans KR"/>
                <a:cs typeface="Noto Sans KR"/>
              </a:rPr>
              <a:t>S</a:t>
            </a:r>
          </a:p>
        </p:txBody>
      </p:sp>
      <p:sp>
        <p:nvSpPr>
          <p:cNvPr id="41" name="Rectangle 40"/>
          <p:cNvSpPr/>
          <p:nvPr/>
        </p:nvSpPr>
        <p:spPr>
          <a:xfrm>
            <a:off x="1991746" y="3482974"/>
            <a:ext cx="347289" cy="274320"/>
          </a:xfrm>
          <a:prstGeom prst="rect">
            <a:avLst/>
          </a:prstGeom>
          <a:solidFill>
            <a:srgbClr val="E9EBEE"/>
          </a:solidFill>
          <a:ln w="6350">
            <a:solidFill>
              <a:srgbClr val="FFFFFF"/>
            </a:solidFill>
          </a:ln>
        </p:spPr>
        <p:txBody>
          <a:bodyPr rtlCol="0" anchor="ctr"/>
          <a:lstStyle/>
          <a:p>
            <a:pPr algn="ctr"/>
          </a:p>
        </p:txBody>
      </p:sp>
      <p:sp>
        <p:nvSpPr>
          <p:cNvPr id="42" name="TextBox 41"/>
          <p:cNvSpPr txBox="1"/>
          <p:nvPr/>
        </p:nvSpPr>
        <p:spPr>
          <a:xfrm>
            <a:off x="1991746" y="3482974"/>
            <a:ext cx="347289" cy="274320"/>
          </a:xfrm>
          <a:prstGeom prst="rect">
            <a:avLst/>
          </a:prstGeom>
          <a:noFill/>
        </p:spPr>
        <p:txBody>
          <a:bodyPr wrap="square" lIns="0" rIns="0" tIns="0" bIns="0" anchor="ctr">
            <a:spAutoFit/>
          </a:bodyPr>
          <a:lstStyle/>
          <a:p>
            <a:pPr algn="ctr">
              <a:lnSpc>
                <a:spcPct val="100000"/>
              </a:lnSpc>
            </a:pPr>
            <a:r>
              <a:rPr sz="750" b="1">
                <a:solidFill>
                  <a:srgbClr val="4A4F57"/>
                </a:solidFill>
                <a:latin typeface="Noto Sans KR"/>
                <a:ea typeface="Noto Sans KR"/>
                <a:cs typeface="Noto Sans KR"/>
              </a:rPr>
              <a:t>수</a:t>
            </a:r>
          </a:p>
        </p:txBody>
      </p:sp>
      <p:sp>
        <p:nvSpPr>
          <p:cNvPr id="43" name="Rectangle 42"/>
          <p:cNvSpPr/>
          <p:nvPr/>
        </p:nvSpPr>
        <p:spPr>
          <a:xfrm>
            <a:off x="2339035" y="3482974"/>
            <a:ext cx="385876" cy="274320"/>
          </a:xfrm>
          <a:prstGeom prst="rect">
            <a:avLst/>
          </a:prstGeom>
          <a:solidFill>
            <a:srgbClr val="3A3F46"/>
          </a:solidFill>
          <a:ln w="6350">
            <a:solidFill>
              <a:srgbClr val="FFFFFF"/>
            </a:solidFill>
          </a:ln>
        </p:spPr>
        <p:txBody>
          <a:bodyPr rtlCol="0" anchor="ctr"/>
          <a:lstStyle/>
          <a:p>
            <a:pPr algn="ctr"/>
          </a:p>
        </p:txBody>
      </p:sp>
      <p:sp>
        <p:nvSpPr>
          <p:cNvPr id="44" name="TextBox 43"/>
          <p:cNvSpPr txBox="1"/>
          <p:nvPr/>
        </p:nvSpPr>
        <p:spPr>
          <a:xfrm>
            <a:off x="2339035" y="3482974"/>
            <a:ext cx="385876" cy="274320"/>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D</a:t>
            </a:r>
          </a:p>
        </p:txBody>
      </p:sp>
      <p:sp>
        <p:nvSpPr>
          <p:cNvPr id="45" name="Rectangle 44"/>
          <p:cNvSpPr/>
          <p:nvPr/>
        </p:nvSpPr>
        <p:spPr>
          <a:xfrm>
            <a:off x="685800" y="4013327"/>
            <a:ext cx="2148840" cy="731520"/>
          </a:xfrm>
          <a:prstGeom prst="rect">
            <a:avLst/>
          </a:prstGeom>
          <a:solidFill>
            <a:srgbClr val="FFFFFF"/>
          </a:solidFill>
          <a:ln w="9525">
            <a:solidFill>
              <a:srgbClr val="C9CDD2"/>
            </a:solidFill>
          </a:ln>
        </p:spPr>
        <p:txBody>
          <a:bodyPr rtlCol="0" anchor="ctr"/>
          <a:lstStyle/>
          <a:p>
            <a:pPr algn="ctr"/>
          </a:p>
        </p:txBody>
      </p:sp>
      <p:sp>
        <p:nvSpPr>
          <p:cNvPr id="46" name="TextBox 45"/>
          <p:cNvSpPr txBox="1"/>
          <p:nvPr/>
        </p:nvSpPr>
        <p:spPr>
          <a:xfrm>
            <a:off x="758952" y="4059047"/>
            <a:ext cx="2002536" cy="201168"/>
          </a:xfrm>
          <a:prstGeom prst="rect">
            <a:avLst/>
          </a:prstGeom>
          <a:noFill/>
        </p:spPr>
        <p:txBody>
          <a:bodyPr wrap="square" lIns="0" rIns="0" tIns="0" bIns="0" anchor="t">
            <a:spAutoFit/>
          </a:bodyPr>
          <a:lstStyle/>
          <a:p>
            <a:pPr algn="l">
              <a:lnSpc>
                <a:spcPct val="100000"/>
              </a:lnSpc>
            </a:pPr>
            <a:r>
              <a:rPr sz="850" b="1">
                <a:solidFill>
                  <a:srgbClr val="15171A"/>
                </a:solidFill>
                <a:latin typeface="Noto Sans KR"/>
                <a:ea typeface="Noto Sans KR"/>
                <a:cs typeface="Noto Sans KR"/>
              </a:rPr>
              <a:t>Kitchen B · ㄱ자 · 짧은 싱크 벽</a:t>
            </a:r>
          </a:p>
        </p:txBody>
      </p:sp>
      <p:sp>
        <p:nvSpPr>
          <p:cNvPr id="47" name="Rectangle 46"/>
          <p:cNvSpPr/>
          <p:nvPr/>
        </p:nvSpPr>
        <p:spPr>
          <a:xfrm>
            <a:off x="795528" y="4305935"/>
            <a:ext cx="270885" cy="274320"/>
          </a:xfrm>
          <a:prstGeom prst="rect">
            <a:avLst/>
          </a:prstGeom>
          <a:solidFill>
            <a:srgbClr val="FFFFFF"/>
          </a:solidFill>
          <a:ln w="12700">
            <a:solidFill>
              <a:srgbClr val="E2571B"/>
            </a:solidFill>
          </a:ln>
        </p:spPr>
        <p:txBody>
          <a:bodyPr rtlCol="0" anchor="ctr"/>
          <a:lstStyle/>
          <a:p>
            <a:pPr algn="ctr"/>
          </a:p>
        </p:txBody>
      </p:sp>
      <p:sp>
        <p:nvSpPr>
          <p:cNvPr id="48" name="TextBox 47"/>
          <p:cNvSpPr txBox="1"/>
          <p:nvPr/>
        </p:nvSpPr>
        <p:spPr>
          <a:xfrm>
            <a:off x="795528" y="4305935"/>
            <a:ext cx="270885" cy="274320"/>
          </a:xfrm>
          <a:prstGeom prst="rect">
            <a:avLst/>
          </a:prstGeom>
          <a:noFill/>
        </p:spPr>
        <p:txBody>
          <a:bodyPr wrap="square" lIns="0" rIns="0" tIns="0" bIns="0" anchor="ctr">
            <a:spAutoFit/>
          </a:bodyPr>
          <a:lstStyle/>
          <a:p>
            <a:pPr algn="ctr">
              <a:lnSpc>
                <a:spcPct val="100000"/>
              </a:lnSpc>
            </a:pPr>
            <a:r>
              <a:rPr sz="750" b="1">
                <a:solidFill>
                  <a:srgbClr val="E2571B"/>
                </a:solidFill>
                <a:latin typeface="Noto Sans KR"/>
                <a:ea typeface="Noto Sans KR"/>
                <a:cs typeface="Noto Sans KR"/>
              </a:rPr>
              <a:t>R</a:t>
            </a:r>
          </a:p>
        </p:txBody>
      </p:sp>
      <p:sp>
        <p:nvSpPr>
          <p:cNvPr id="49" name="Rectangle 48"/>
          <p:cNvSpPr/>
          <p:nvPr/>
        </p:nvSpPr>
        <p:spPr>
          <a:xfrm>
            <a:off x="1066413" y="4305935"/>
            <a:ext cx="481574" cy="274320"/>
          </a:xfrm>
          <a:prstGeom prst="rect">
            <a:avLst/>
          </a:prstGeom>
          <a:solidFill>
            <a:srgbClr val="ECEEF0"/>
          </a:solidFill>
          <a:ln w="6350">
            <a:solidFill>
              <a:srgbClr val="FFFFFF"/>
            </a:solidFill>
          </a:ln>
        </p:spPr>
        <p:txBody>
          <a:bodyPr rtlCol="0" anchor="ctr"/>
          <a:lstStyle/>
          <a:p>
            <a:pPr algn="ctr"/>
          </a:p>
        </p:txBody>
      </p:sp>
      <p:sp>
        <p:nvSpPr>
          <p:cNvPr id="50" name="Rectangle 49"/>
          <p:cNvSpPr/>
          <p:nvPr/>
        </p:nvSpPr>
        <p:spPr>
          <a:xfrm>
            <a:off x="1547987" y="4305935"/>
            <a:ext cx="421377" cy="274320"/>
          </a:xfrm>
          <a:prstGeom prst="rect">
            <a:avLst/>
          </a:prstGeom>
          <a:solidFill>
            <a:srgbClr val="C9D3DC"/>
          </a:solidFill>
          <a:ln w="6350">
            <a:solidFill>
              <a:srgbClr val="FFFFFF"/>
            </a:solidFill>
          </a:ln>
        </p:spPr>
        <p:txBody>
          <a:bodyPr rtlCol="0" anchor="ctr"/>
          <a:lstStyle/>
          <a:p>
            <a:pPr algn="ctr"/>
          </a:p>
        </p:txBody>
      </p:sp>
      <p:sp>
        <p:nvSpPr>
          <p:cNvPr id="51" name="TextBox 50"/>
          <p:cNvSpPr txBox="1"/>
          <p:nvPr/>
        </p:nvSpPr>
        <p:spPr>
          <a:xfrm>
            <a:off x="1547987" y="4305935"/>
            <a:ext cx="421377" cy="274320"/>
          </a:xfrm>
          <a:prstGeom prst="rect">
            <a:avLst/>
          </a:prstGeom>
          <a:noFill/>
        </p:spPr>
        <p:txBody>
          <a:bodyPr wrap="square" lIns="0" rIns="0" tIns="0" bIns="0" anchor="ctr">
            <a:spAutoFit/>
          </a:bodyPr>
          <a:lstStyle/>
          <a:p>
            <a:pPr algn="ctr">
              <a:lnSpc>
                <a:spcPct val="100000"/>
              </a:lnSpc>
            </a:pPr>
            <a:r>
              <a:rPr sz="750" b="1">
                <a:solidFill>
                  <a:srgbClr val="15171A"/>
                </a:solidFill>
                <a:latin typeface="Noto Sans KR"/>
                <a:ea typeface="Noto Sans KR"/>
                <a:cs typeface="Noto Sans KR"/>
              </a:rPr>
              <a:t>S</a:t>
            </a:r>
          </a:p>
        </p:txBody>
      </p:sp>
      <p:sp>
        <p:nvSpPr>
          <p:cNvPr id="52" name="Rectangle 51"/>
          <p:cNvSpPr/>
          <p:nvPr/>
        </p:nvSpPr>
        <p:spPr>
          <a:xfrm>
            <a:off x="1969365" y="4305935"/>
            <a:ext cx="331082" cy="274320"/>
          </a:xfrm>
          <a:prstGeom prst="rect">
            <a:avLst/>
          </a:prstGeom>
          <a:solidFill>
            <a:srgbClr val="3A3F46"/>
          </a:solidFill>
          <a:ln w="6350">
            <a:solidFill>
              <a:srgbClr val="FFFFFF"/>
            </a:solidFill>
          </a:ln>
        </p:spPr>
        <p:txBody>
          <a:bodyPr rtlCol="0" anchor="ctr"/>
          <a:lstStyle/>
          <a:p>
            <a:pPr algn="ctr"/>
          </a:p>
        </p:txBody>
      </p:sp>
      <p:sp>
        <p:nvSpPr>
          <p:cNvPr id="53" name="TextBox 52"/>
          <p:cNvSpPr txBox="1"/>
          <p:nvPr/>
        </p:nvSpPr>
        <p:spPr>
          <a:xfrm>
            <a:off x="1969365" y="4305935"/>
            <a:ext cx="331082" cy="274320"/>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D</a:t>
            </a:r>
          </a:p>
        </p:txBody>
      </p:sp>
      <p:sp>
        <p:nvSpPr>
          <p:cNvPr id="54" name="Rectangle 53"/>
          <p:cNvSpPr/>
          <p:nvPr/>
        </p:nvSpPr>
        <p:spPr>
          <a:xfrm>
            <a:off x="2300447" y="4305935"/>
            <a:ext cx="424464" cy="347472"/>
          </a:xfrm>
          <a:prstGeom prst="rect">
            <a:avLst/>
          </a:prstGeom>
          <a:solidFill>
            <a:srgbClr val="E9EBEE"/>
          </a:solidFill>
          <a:ln w="6350">
            <a:solidFill>
              <a:srgbClr val="FFFFFF"/>
            </a:solidFill>
          </a:ln>
        </p:spPr>
        <p:txBody>
          <a:bodyPr rtlCol="0" anchor="ctr"/>
          <a:lstStyle/>
          <a:p>
            <a:pPr algn="ctr"/>
          </a:p>
        </p:txBody>
      </p:sp>
      <p:sp>
        <p:nvSpPr>
          <p:cNvPr id="55" name="TextBox 54"/>
          <p:cNvSpPr txBox="1"/>
          <p:nvPr/>
        </p:nvSpPr>
        <p:spPr>
          <a:xfrm>
            <a:off x="2300447" y="4305935"/>
            <a:ext cx="424464" cy="347472"/>
          </a:xfrm>
          <a:prstGeom prst="rect">
            <a:avLst/>
          </a:prstGeom>
          <a:noFill/>
        </p:spPr>
        <p:txBody>
          <a:bodyPr wrap="square" lIns="0" rIns="0" tIns="0" bIns="0" anchor="ctr">
            <a:spAutoFit/>
          </a:bodyPr>
          <a:lstStyle/>
          <a:p>
            <a:pPr algn="ctr">
              <a:lnSpc>
                <a:spcPct val="100000"/>
              </a:lnSpc>
            </a:pPr>
            <a:r>
              <a:rPr sz="750" b="1">
                <a:solidFill>
                  <a:srgbClr val="4A4F57"/>
                </a:solidFill>
                <a:latin typeface="Noto Sans KR"/>
                <a:ea typeface="Noto Sans KR"/>
                <a:cs typeface="Noto Sans KR"/>
              </a:rPr>
              <a:t>수</a:t>
            </a:r>
          </a:p>
        </p:txBody>
      </p:sp>
      <p:sp>
        <p:nvSpPr>
          <p:cNvPr id="56" name="Rectangle 55"/>
          <p:cNvSpPr/>
          <p:nvPr/>
        </p:nvSpPr>
        <p:spPr>
          <a:xfrm>
            <a:off x="685800" y="4836286"/>
            <a:ext cx="2148840" cy="731520"/>
          </a:xfrm>
          <a:prstGeom prst="rect">
            <a:avLst/>
          </a:prstGeom>
          <a:solidFill>
            <a:srgbClr val="FFFFFF"/>
          </a:solidFill>
          <a:ln w="9525">
            <a:solidFill>
              <a:srgbClr val="C9CDD2"/>
            </a:solidFill>
          </a:ln>
        </p:spPr>
        <p:txBody>
          <a:bodyPr rtlCol="0" anchor="ctr"/>
          <a:lstStyle/>
          <a:p>
            <a:pPr algn="ctr"/>
          </a:p>
        </p:txBody>
      </p:sp>
      <p:sp>
        <p:nvSpPr>
          <p:cNvPr id="57" name="TextBox 56"/>
          <p:cNvSpPr txBox="1"/>
          <p:nvPr/>
        </p:nvSpPr>
        <p:spPr>
          <a:xfrm>
            <a:off x="758952" y="4882006"/>
            <a:ext cx="2002536" cy="201168"/>
          </a:xfrm>
          <a:prstGeom prst="rect">
            <a:avLst/>
          </a:prstGeom>
          <a:noFill/>
        </p:spPr>
        <p:txBody>
          <a:bodyPr wrap="square" lIns="0" rIns="0" tIns="0" bIns="0" anchor="t">
            <a:spAutoFit/>
          </a:bodyPr>
          <a:lstStyle/>
          <a:p>
            <a:pPr algn="l">
              <a:lnSpc>
                <a:spcPct val="100000"/>
              </a:lnSpc>
            </a:pPr>
            <a:r>
              <a:rPr sz="850" b="1">
                <a:solidFill>
                  <a:srgbClr val="15171A"/>
                </a:solidFill>
                <a:latin typeface="Noto Sans KR"/>
                <a:ea typeface="Noto Sans KR"/>
                <a:cs typeface="Noto Sans KR"/>
              </a:rPr>
              <a:t>Kitchen C · Retrofit · 독립형 식세기</a:t>
            </a:r>
          </a:p>
        </p:txBody>
      </p:sp>
      <p:sp>
        <p:nvSpPr>
          <p:cNvPr id="58" name="Rectangle 57"/>
          <p:cNvSpPr/>
          <p:nvPr/>
        </p:nvSpPr>
        <p:spPr>
          <a:xfrm>
            <a:off x="795528" y="5128895"/>
            <a:ext cx="194481" cy="274320"/>
          </a:xfrm>
          <a:prstGeom prst="rect">
            <a:avLst/>
          </a:prstGeom>
          <a:solidFill>
            <a:srgbClr val="FFFFFF"/>
          </a:solidFill>
          <a:ln w="12700">
            <a:solidFill>
              <a:srgbClr val="E2571B"/>
            </a:solidFill>
          </a:ln>
        </p:spPr>
        <p:txBody>
          <a:bodyPr rtlCol="0" anchor="ctr"/>
          <a:lstStyle/>
          <a:p>
            <a:pPr algn="ctr"/>
          </a:p>
        </p:txBody>
      </p:sp>
      <p:sp>
        <p:nvSpPr>
          <p:cNvPr id="59" name="TextBox 58"/>
          <p:cNvSpPr txBox="1"/>
          <p:nvPr/>
        </p:nvSpPr>
        <p:spPr>
          <a:xfrm>
            <a:off x="795528" y="5128895"/>
            <a:ext cx="194481" cy="274320"/>
          </a:xfrm>
          <a:prstGeom prst="rect">
            <a:avLst/>
          </a:prstGeom>
          <a:noFill/>
        </p:spPr>
        <p:txBody>
          <a:bodyPr wrap="square" lIns="0" rIns="0" tIns="0" bIns="0" anchor="ctr">
            <a:spAutoFit/>
          </a:bodyPr>
          <a:lstStyle/>
          <a:p>
            <a:pPr algn="ctr">
              <a:lnSpc>
                <a:spcPct val="100000"/>
              </a:lnSpc>
            </a:pPr>
            <a:r>
              <a:rPr sz="750" b="1">
                <a:solidFill>
                  <a:srgbClr val="E2571B"/>
                </a:solidFill>
                <a:latin typeface="Noto Sans KR"/>
                <a:ea typeface="Noto Sans KR"/>
                <a:cs typeface="Noto Sans KR"/>
              </a:rPr>
              <a:t>R</a:t>
            </a:r>
          </a:p>
        </p:txBody>
      </p:sp>
      <p:sp>
        <p:nvSpPr>
          <p:cNvPr id="60" name="Rectangle 59"/>
          <p:cNvSpPr/>
          <p:nvPr/>
        </p:nvSpPr>
        <p:spPr>
          <a:xfrm>
            <a:off x="990009" y="5128895"/>
            <a:ext cx="361180" cy="274320"/>
          </a:xfrm>
          <a:prstGeom prst="rect">
            <a:avLst/>
          </a:prstGeom>
          <a:solidFill>
            <a:srgbClr val="ECEEF0"/>
          </a:solidFill>
          <a:ln w="6350">
            <a:solidFill>
              <a:srgbClr val="FFFFFF"/>
            </a:solidFill>
          </a:ln>
        </p:spPr>
        <p:txBody>
          <a:bodyPr rtlCol="0" anchor="ctr"/>
          <a:lstStyle/>
          <a:p>
            <a:pPr algn="ctr"/>
          </a:p>
        </p:txBody>
      </p:sp>
      <p:sp>
        <p:nvSpPr>
          <p:cNvPr id="61" name="Rectangle 60"/>
          <p:cNvSpPr/>
          <p:nvPr/>
        </p:nvSpPr>
        <p:spPr>
          <a:xfrm>
            <a:off x="1351190" y="5128895"/>
            <a:ext cx="388963" cy="274320"/>
          </a:xfrm>
          <a:prstGeom prst="rect">
            <a:avLst/>
          </a:prstGeom>
          <a:solidFill>
            <a:srgbClr val="C9D3DC"/>
          </a:solidFill>
          <a:ln w="6350">
            <a:solidFill>
              <a:srgbClr val="FFFFFF"/>
            </a:solidFill>
          </a:ln>
        </p:spPr>
        <p:txBody>
          <a:bodyPr rtlCol="0" anchor="ctr"/>
          <a:lstStyle/>
          <a:p>
            <a:pPr algn="ctr"/>
          </a:p>
        </p:txBody>
      </p:sp>
      <p:sp>
        <p:nvSpPr>
          <p:cNvPr id="62" name="TextBox 61"/>
          <p:cNvSpPr txBox="1"/>
          <p:nvPr/>
        </p:nvSpPr>
        <p:spPr>
          <a:xfrm>
            <a:off x="1351190" y="5128895"/>
            <a:ext cx="388963" cy="274320"/>
          </a:xfrm>
          <a:prstGeom prst="rect">
            <a:avLst/>
          </a:prstGeom>
          <a:noFill/>
        </p:spPr>
        <p:txBody>
          <a:bodyPr wrap="square" lIns="0" rIns="0" tIns="0" bIns="0" anchor="ctr">
            <a:spAutoFit/>
          </a:bodyPr>
          <a:lstStyle/>
          <a:p>
            <a:pPr algn="ctr">
              <a:lnSpc>
                <a:spcPct val="100000"/>
              </a:lnSpc>
            </a:pPr>
            <a:r>
              <a:rPr sz="750" b="1">
                <a:solidFill>
                  <a:srgbClr val="15171A"/>
                </a:solidFill>
                <a:latin typeface="Noto Sans KR"/>
                <a:ea typeface="Noto Sans KR"/>
                <a:cs typeface="Noto Sans KR"/>
              </a:rPr>
              <a:t>S</a:t>
            </a:r>
          </a:p>
        </p:txBody>
      </p:sp>
      <p:sp>
        <p:nvSpPr>
          <p:cNvPr id="63" name="Rectangle 62"/>
          <p:cNvSpPr/>
          <p:nvPr/>
        </p:nvSpPr>
        <p:spPr>
          <a:xfrm>
            <a:off x="1740154" y="5128895"/>
            <a:ext cx="444530" cy="274320"/>
          </a:xfrm>
          <a:prstGeom prst="rect">
            <a:avLst/>
          </a:prstGeom>
          <a:solidFill>
            <a:srgbClr val="E9EBEE"/>
          </a:solidFill>
          <a:ln w="6350">
            <a:solidFill>
              <a:srgbClr val="FFFFFF"/>
            </a:solidFill>
          </a:ln>
        </p:spPr>
        <p:txBody>
          <a:bodyPr rtlCol="0" anchor="ctr"/>
          <a:lstStyle/>
          <a:p>
            <a:pPr algn="ctr"/>
          </a:p>
        </p:txBody>
      </p:sp>
      <p:sp>
        <p:nvSpPr>
          <p:cNvPr id="64" name="TextBox 63"/>
          <p:cNvSpPr txBox="1"/>
          <p:nvPr/>
        </p:nvSpPr>
        <p:spPr>
          <a:xfrm>
            <a:off x="1740154" y="5128895"/>
            <a:ext cx="444530" cy="274320"/>
          </a:xfrm>
          <a:prstGeom prst="rect">
            <a:avLst/>
          </a:prstGeom>
          <a:noFill/>
        </p:spPr>
        <p:txBody>
          <a:bodyPr wrap="square" lIns="0" rIns="0" tIns="0" bIns="0" anchor="ctr">
            <a:spAutoFit/>
          </a:bodyPr>
          <a:lstStyle/>
          <a:p>
            <a:pPr algn="ctr">
              <a:lnSpc>
                <a:spcPct val="100000"/>
              </a:lnSpc>
            </a:pPr>
            <a:r>
              <a:rPr sz="750" b="1">
                <a:solidFill>
                  <a:srgbClr val="4A4F57"/>
                </a:solidFill>
                <a:latin typeface="Noto Sans KR"/>
                <a:ea typeface="Noto Sans KR"/>
                <a:cs typeface="Noto Sans KR"/>
              </a:rPr>
              <a:t>수</a:t>
            </a:r>
          </a:p>
        </p:txBody>
      </p:sp>
      <p:sp>
        <p:nvSpPr>
          <p:cNvPr id="65" name="Rectangle 64"/>
          <p:cNvSpPr/>
          <p:nvPr/>
        </p:nvSpPr>
        <p:spPr>
          <a:xfrm>
            <a:off x="2276124" y="5128895"/>
            <a:ext cx="448787" cy="274320"/>
          </a:xfrm>
          <a:prstGeom prst="rect">
            <a:avLst/>
          </a:prstGeom>
          <a:solidFill>
            <a:srgbClr val="3A3F46"/>
          </a:solidFill>
          <a:ln w="6350">
            <a:solidFill>
              <a:srgbClr val="FFFFFF"/>
            </a:solidFill>
          </a:ln>
        </p:spPr>
        <p:txBody>
          <a:bodyPr rtlCol="0" anchor="ctr"/>
          <a:lstStyle/>
          <a:p>
            <a:pPr algn="ctr"/>
          </a:p>
        </p:txBody>
      </p:sp>
      <p:sp>
        <p:nvSpPr>
          <p:cNvPr id="66" name="TextBox 65"/>
          <p:cNvSpPr txBox="1"/>
          <p:nvPr/>
        </p:nvSpPr>
        <p:spPr>
          <a:xfrm>
            <a:off x="2276124" y="5128895"/>
            <a:ext cx="448787" cy="274320"/>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D</a:t>
            </a:r>
          </a:p>
        </p:txBody>
      </p:sp>
      <p:cxnSp>
        <p:nvCxnSpPr>
          <p:cNvPr id="67" name="Connector 66"/>
          <p:cNvCxnSpPr/>
          <p:nvPr/>
        </p:nvCxnSpPr>
        <p:spPr>
          <a:xfrm>
            <a:off x="2871216" y="3556126"/>
            <a:ext cx="429768" cy="822960"/>
          </a:xfrm>
          <a:prstGeom prst="line">
            <a:avLst/>
          </a:prstGeom>
          <a:ln w="12700">
            <a:solidFill>
              <a:srgbClr val="8C9198"/>
            </a:solidFill>
            <a:tailEnd type="triangle" w="med" len="med"/>
          </a:ln>
        </p:spPr>
      </p:cxnSp>
      <p:cxnSp>
        <p:nvCxnSpPr>
          <p:cNvPr id="68" name="Connector 67"/>
          <p:cNvCxnSpPr/>
          <p:nvPr/>
        </p:nvCxnSpPr>
        <p:spPr>
          <a:xfrm flipV="1">
            <a:off x="2871216" y="4379086"/>
            <a:ext cx="429768" cy="1"/>
          </a:xfrm>
          <a:prstGeom prst="line">
            <a:avLst/>
          </a:prstGeom>
          <a:ln w="12700">
            <a:solidFill>
              <a:srgbClr val="8C9198"/>
            </a:solidFill>
            <a:tailEnd type="triangle" w="med" len="med"/>
          </a:ln>
        </p:spPr>
      </p:cxnSp>
      <p:cxnSp>
        <p:nvCxnSpPr>
          <p:cNvPr id="69" name="Connector 68"/>
          <p:cNvCxnSpPr/>
          <p:nvPr/>
        </p:nvCxnSpPr>
        <p:spPr>
          <a:xfrm flipV="1">
            <a:off x="2871216" y="4379086"/>
            <a:ext cx="429768" cy="822961"/>
          </a:xfrm>
          <a:prstGeom prst="line">
            <a:avLst/>
          </a:prstGeom>
          <a:ln w="12700">
            <a:solidFill>
              <a:srgbClr val="8C9198"/>
            </a:solidFill>
            <a:tailEnd type="triangle" w="med" len="med"/>
          </a:ln>
        </p:spPr>
      </p:cxnSp>
      <p:sp>
        <p:nvSpPr>
          <p:cNvPr id="70" name="Rectangle 69"/>
          <p:cNvSpPr/>
          <p:nvPr/>
        </p:nvSpPr>
        <p:spPr>
          <a:xfrm>
            <a:off x="3337560" y="3190366"/>
            <a:ext cx="3291840" cy="2377440"/>
          </a:xfrm>
          <a:prstGeom prst="rect">
            <a:avLst/>
          </a:prstGeom>
          <a:solidFill>
            <a:srgbClr val="15171A"/>
          </a:solidFill>
          <a:ln>
            <a:noFill/>
          </a:ln>
        </p:spPr>
        <p:txBody>
          <a:bodyPr rtlCol="0" anchor="ctr"/>
          <a:lstStyle/>
          <a:p>
            <a:pPr algn="ctr"/>
          </a:p>
        </p:txBody>
      </p:sp>
      <p:sp>
        <p:nvSpPr>
          <p:cNvPr id="71" name="TextBox 70"/>
          <p:cNvSpPr txBox="1"/>
          <p:nvPr/>
        </p:nvSpPr>
        <p:spPr>
          <a:xfrm>
            <a:off x="3520440" y="3318382"/>
            <a:ext cx="2926080" cy="274320"/>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Calibration (설치 시)</a:t>
            </a:r>
          </a:p>
        </p:txBody>
      </p:sp>
      <p:sp>
        <p:nvSpPr>
          <p:cNvPr id="72" name="Rectangle 71"/>
          <p:cNvSpPr/>
          <p:nvPr/>
        </p:nvSpPr>
        <p:spPr>
          <a:xfrm>
            <a:off x="3520440" y="3665855"/>
            <a:ext cx="2926080" cy="365760"/>
          </a:xfrm>
          <a:prstGeom prst="rect">
            <a:avLst/>
          </a:prstGeom>
          <a:solidFill>
            <a:srgbClr val="2C3036"/>
          </a:solidFill>
          <a:ln>
            <a:noFill/>
          </a:ln>
        </p:spPr>
        <p:txBody>
          <a:bodyPr rtlCol="0" anchor="ctr"/>
          <a:lstStyle/>
          <a:p>
            <a:pPr algn="ctr"/>
          </a:p>
        </p:txBody>
      </p:sp>
      <p:sp>
        <p:nvSpPr>
          <p:cNvPr id="73" name="TextBox 72"/>
          <p:cNvSpPr txBox="1"/>
          <p:nvPr/>
        </p:nvSpPr>
        <p:spPr>
          <a:xfrm>
            <a:off x="3630168" y="3665855"/>
            <a:ext cx="2743200" cy="365760"/>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Kitchen Mapping</a:t>
            </a:r>
          </a:p>
        </p:txBody>
      </p:sp>
      <p:sp>
        <p:nvSpPr>
          <p:cNvPr id="74" name="Rectangle 73"/>
          <p:cNvSpPr/>
          <p:nvPr/>
        </p:nvSpPr>
        <p:spPr>
          <a:xfrm>
            <a:off x="3520440" y="4123055"/>
            <a:ext cx="2926080" cy="365760"/>
          </a:xfrm>
          <a:prstGeom prst="rect">
            <a:avLst/>
          </a:prstGeom>
          <a:solidFill>
            <a:srgbClr val="2C3036"/>
          </a:solidFill>
          <a:ln>
            <a:noFill/>
          </a:ln>
        </p:spPr>
        <p:txBody>
          <a:bodyPr rtlCol="0" anchor="ctr"/>
          <a:lstStyle/>
          <a:p>
            <a:pPr algn="ctr"/>
          </a:p>
        </p:txBody>
      </p:sp>
      <p:sp>
        <p:nvSpPr>
          <p:cNvPr id="75" name="TextBox 74"/>
          <p:cNvSpPr txBox="1"/>
          <p:nvPr/>
        </p:nvSpPr>
        <p:spPr>
          <a:xfrm>
            <a:off x="3630168" y="4123055"/>
            <a:ext cx="2743200" cy="365760"/>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Coordinate Calibration (Dock · 기준점)</a:t>
            </a:r>
          </a:p>
        </p:txBody>
      </p:sp>
      <p:sp>
        <p:nvSpPr>
          <p:cNvPr id="76" name="Rectangle 75"/>
          <p:cNvSpPr/>
          <p:nvPr/>
        </p:nvSpPr>
        <p:spPr>
          <a:xfrm>
            <a:off x="3520440" y="4580255"/>
            <a:ext cx="2926080" cy="365760"/>
          </a:xfrm>
          <a:prstGeom prst="rect">
            <a:avLst/>
          </a:prstGeom>
          <a:solidFill>
            <a:srgbClr val="2C3036"/>
          </a:solidFill>
          <a:ln>
            <a:noFill/>
          </a:ln>
        </p:spPr>
        <p:txBody>
          <a:bodyPr rtlCol="0" anchor="ctr"/>
          <a:lstStyle/>
          <a:p>
            <a:pPr algn="ctr"/>
          </a:p>
        </p:txBody>
      </p:sp>
      <p:sp>
        <p:nvSpPr>
          <p:cNvPr id="77" name="TextBox 76"/>
          <p:cNvSpPr txBox="1"/>
          <p:nvPr/>
        </p:nvSpPr>
        <p:spPr>
          <a:xfrm>
            <a:off x="3630168" y="4580255"/>
            <a:ext cx="2743200" cy="365760"/>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Appliance · Storage Position Mapping</a:t>
            </a:r>
          </a:p>
        </p:txBody>
      </p:sp>
      <p:sp>
        <p:nvSpPr>
          <p:cNvPr id="78" name="Rectangle 77"/>
          <p:cNvSpPr/>
          <p:nvPr/>
        </p:nvSpPr>
        <p:spPr>
          <a:xfrm>
            <a:off x="3520440" y="5037455"/>
            <a:ext cx="2926080" cy="365760"/>
          </a:xfrm>
          <a:prstGeom prst="rect">
            <a:avLst/>
          </a:prstGeom>
          <a:solidFill>
            <a:srgbClr val="2C3036"/>
          </a:solidFill>
          <a:ln>
            <a:noFill/>
          </a:ln>
        </p:spPr>
        <p:txBody>
          <a:bodyPr rtlCol="0" anchor="ctr"/>
          <a:lstStyle/>
          <a:p>
            <a:pPr algn="ctr"/>
          </a:p>
        </p:txBody>
      </p:sp>
      <p:sp>
        <p:nvSpPr>
          <p:cNvPr id="79" name="TextBox 78"/>
          <p:cNvSpPr txBox="1"/>
          <p:nvPr/>
        </p:nvSpPr>
        <p:spPr>
          <a:xfrm>
            <a:off x="3630168" y="5037455"/>
            <a:ext cx="2743200" cy="365760"/>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Task Parameter Adjustment</a:t>
            </a:r>
          </a:p>
        </p:txBody>
      </p:sp>
      <p:cxnSp>
        <p:nvCxnSpPr>
          <p:cNvPr id="80" name="Connector 79"/>
          <p:cNvCxnSpPr/>
          <p:nvPr/>
        </p:nvCxnSpPr>
        <p:spPr>
          <a:xfrm>
            <a:off x="6665976" y="4379086"/>
            <a:ext cx="384048" cy="0"/>
          </a:xfrm>
          <a:prstGeom prst="line">
            <a:avLst/>
          </a:prstGeom>
          <a:ln w="19050">
            <a:solidFill>
              <a:srgbClr val="8C9198"/>
            </a:solidFill>
            <a:tailEnd type="triangle" w="med" len="med"/>
          </a:ln>
        </p:spPr>
      </p:cxnSp>
      <p:sp>
        <p:nvSpPr>
          <p:cNvPr id="81" name="Rectangle 80"/>
          <p:cNvSpPr/>
          <p:nvPr/>
        </p:nvSpPr>
        <p:spPr>
          <a:xfrm>
            <a:off x="7086600" y="3190366"/>
            <a:ext cx="4419295" cy="2377440"/>
          </a:xfrm>
          <a:prstGeom prst="rect">
            <a:avLst/>
          </a:prstGeom>
          <a:solidFill>
            <a:srgbClr val="FFFFFF"/>
          </a:solidFill>
          <a:ln w="15875">
            <a:solidFill>
              <a:srgbClr val="15171A"/>
            </a:solidFill>
          </a:ln>
        </p:spPr>
        <p:txBody>
          <a:bodyPr rtlCol="0" anchor="ctr"/>
          <a:lstStyle/>
          <a:p>
            <a:pPr algn="ctr"/>
          </a:p>
        </p:txBody>
      </p:sp>
      <p:sp>
        <p:nvSpPr>
          <p:cNvPr id="82" name="TextBox 81"/>
          <p:cNvSpPr txBox="1"/>
          <p:nvPr/>
        </p:nvSpPr>
        <p:spPr>
          <a:xfrm>
            <a:off x="7269480" y="3318382"/>
            <a:ext cx="405353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같은 CLEAN Skill Library</a:t>
            </a:r>
          </a:p>
        </p:txBody>
      </p:sp>
      <p:sp>
        <p:nvSpPr>
          <p:cNvPr id="83" name="Rectangle 82"/>
          <p:cNvSpPr/>
          <p:nvPr/>
        </p:nvSpPr>
        <p:spPr>
          <a:xfrm>
            <a:off x="7269480" y="3665855"/>
            <a:ext cx="4053535" cy="365760"/>
          </a:xfrm>
          <a:prstGeom prst="rect">
            <a:avLst/>
          </a:prstGeom>
          <a:solidFill>
            <a:srgbClr val="F4F5F6"/>
          </a:solidFill>
          <a:ln>
            <a:noFill/>
          </a:ln>
        </p:spPr>
        <p:txBody>
          <a:bodyPr rtlCol="0" anchor="ctr"/>
          <a:lstStyle/>
          <a:p>
            <a:pPr algn="ctr"/>
          </a:p>
        </p:txBody>
      </p:sp>
      <p:sp>
        <p:nvSpPr>
          <p:cNvPr id="84" name="TextBox 83"/>
          <p:cNvSpPr txBox="1"/>
          <p:nvPr/>
        </p:nvSpPr>
        <p:spPr>
          <a:xfrm>
            <a:off x="7379208" y="3665855"/>
            <a:ext cx="3870655" cy="365760"/>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식기 Pick</a:t>
            </a:r>
          </a:p>
        </p:txBody>
      </p:sp>
      <p:sp>
        <p:nvSpPr>
          <p:cNvPr id="85" name="Rectangle 84"/>
          <p:cNvSpPr/>
          <p:nvPr/>
        </p:nvSpPr>
        <p:spPr>
          <a:xfrm>
            <a:off x="7269480" y="4123055"/>
            <a:ext cx="4053535" cy="365760"/>
          </a:xfrm>
          <a:prstGeom prst="rect">
            <a:avLst/>
          </a:prstGeom>
          <a:solidFill>
            <a:srgbClr val="F4F5F6"/>
          </a:solidFill>
          <a:ln>
            <a:noFill/>
          </a:ln>
        </p:spPr>
        <p:txBody>
          <a:bodyPr rtlCol="0" anchor="ctr"/>
          <a:lstStyle/>
          <a:p>
            <a:pPr algn="ctr"/>
          </a:p>
        </p:txBody>
      </p:sp>
      <p:sp>
        <p:nvSpPr>
          <p:cNvPr id="86" name="TextBox 85"/>
          <p:cNvSpPr txBox="1"/>
          <p:nvPr/>
        </p:nvSpPr>
        <p:spPr>
          <a:xfrm>
            <a:off x="7379208" y="4123055"/>
            <a:ext cx="3870655" cy="365760"/>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Dishwasher Loading</a:t>
            </a:r>
          </a:p>
        </p:txBody>
      </p:sp>
      <p:sp>
        <p:nvSpPr>
          <p:cNvPr id="87" name="Rectangle 86"/>
          <p:cNvSpPr/>
          <p:nvPr/>
        </p:nvSpPr>
        <p:spPr>
          <a:xfrm>
            <a:off x="7269480" y="4580255"/>
            <a:ext cx="4053535" cy="365760"/>
          </a:xfrm>
          <a:prstGeom prst="rect">
            <a:avLst/>
          </a:prstGeom>
          <a:solidFill>
            <a:srgbClr val="F4F5F6"/>
          </a:solidFill>
          <a:ln>
            <a:noFill/>
          </a:ln>
        </p:spPr>
        <p:txBody>
          <a:bodyPr rtlCol="0" anchor="ctr"/>
          <a:lstStyle/>
          <a:p>
            <a:pPr algn="ctr"/>
          </a:p>
        </p:txBody>
      </p:sp>
      <p:sp>
        <p:nvSpPr>
          <p:cNvPr id="88" name="TextBox 87"/>
          <p:cNvSpPr txBox="1"/>
          <p:nvPr/>
        </p:nvSpPr>
        <p:spPr>
          <a:xfrm>
            <a:off x="7379208" y="4580255"/>
            <a:ext cx="3870655" cy="365760"/>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Dishwasher Unloading</a:t>
            </a:r>
          </a:p>
        </p:txBody>
      </p:sp>
      <p:sp>
        <p:nvSpPr>
          <p:cNvPr id="89" name="Rectangle 88"/>
          <p:cNvSpPr/>
          <p:nvPr/>
        </p:nvSpPr>
        <p:spPr>
          <a:xfrm>
            <a:off x="7269480" y="5037455"/>
            <a:ext cx="4053535" cy="365760"/>
          </a:xfrm>
          <a:prstGeom prst="rect">
            <a:avLst/>
          </a:prstGeom>
          <a:solidFill>
            <a:srgbClr val="F4F5F6"/>
          </a:solidFill>
          <a:ln>
            <a:noFill/>
          </a:ln>
        </p:spPr>
        <p:txBody>
          <a:bodyPr rtlCol="0" anchor="ctr"/>
          <a:lstStyle/>
          <a:p>
            <a:pPr algn="ctr"/>
          </a:p>
        </p:txBody>
      </p:sp>
      <p:sp>
        <p:nvSpPr>
          <p:cNvPr id="90" name="TextBox 89"/>
          <p:cNvSpPr txBox="1"/>
          <p:nvPr/>
        </p:nvSpPr>
        <p:spPr>
          <a:xfrm>
            <a:off x="7379208" y="5037455"/>
            <a:ext cx="3870655" cy="365760"/>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Storage Return</a:t>
            </a:r>
          </a:p>
        </p:txBody>
      </p:sp>
      <p:sp>
        <p:nvSpPr>
          <p:cNvPr id="91" name="TextBox 90"/>
          <p:cNvSpPr txBox="1"/>
          <p:nvPr/>
        </p:nvSpPr>
        <p:spPr>
          <a:xfrm>
            <a:off x="685800" y="5677535"/>
            <a:ext cx="10820095" cy="274320"/>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M18 검증 (TARGET)  </a:t>
            </a:r>
            <a:r>
              <a:rPr sz="1100" b="0">
                <a:solidFill>
                  <a:srgbClr val="15171A"/>
                </a:solidFill>
                <a:latin typeface="Noto Sans KR"/>
                <a:ea typeface="Noto Sans KR"/>
                <a:cs typeface="Noto Sans KR"/>
              </a:rPr>
              <a:t>구조 · 가전 모델이 다른 주방 3종에서 재배치 후 성공률 하락 ≤ 10%p · 현장 Calibration ≤ 4시간</a:t>
            </a:r>
          </a:p>
        </p:txBody>
      </p:sp>
      <p:sp>
        <p:nvSpPr>
          <p:cNvPr id="92" name="TextBox 91"/>
          <p:cNvSpPr txBox="1"/>
          <p:nvPr/>
        </p:nvSpPr>
        <p:spPr>
          <a:xfrm>
            <a:off x="685800" y="6143853"/>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평면 도식은 개념 예시 (R = Robot Home, S = Sink, D = Dishwasher, 수 = 수납). 수치 목표의 근거는 부록 A1~A2 KPI 표.</a:t>
            </a:r>
          </a:p>
        </p:txBody>
      </p:sp>
      <p:sp>
        <p:nvSpPr>
          <p:cNvPr id="93" name="TextBox 9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94" name="TextBox 9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07  MH Kitchen Robotics System</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MH Kitchen Robotics System: 다섯 개 층을 하나의 제품으로</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Robot Module · 실행 · Calibration · Environment Interface · Safety의 시스템 통합</a:t>
            </a:r>
          </a:p>
        </p:txBody>
      </p:sp>
      <p:pic>
        <p:nvPicPr>
          <p:cNvPr id="5" name="Picture 4" descr="v2_after_light_655x468_47_50_108.jpg"/>
          <p:cNvPicPr>
            <a:picLocks noChangeAspect="1"/>
          </p:cNvPicPr>
          <p:nvPr/>
        </p:nvPicPr>
        <p:blipFill>
          <a:blip r:embed="rId3"/>
          <a:stretch>
            <a:fillRect/>
          </a:stretch>
        </p:blipFill>
        <p:spPr>
          <a:xfrm>
            <a:off x="685800" y="1599310"/>
            <a:ext cx="5989320" cy="4280281"/>
          </a:xfrm>
          <a:prstGeom prst="rect">
            <a:avLst/>
          </a:prstGeom>
        </p:spPr>
      </p:pic>
      <p:cxnSp>
        <p:nvCxnSpPr>
          <p:cNvPr id="6" name="Connector 5"/>
          <p:cNvCxnSpPr/>
          <p:nvPr/>
        </p:nvCxnSpPr>
        <p:spPr>
          <a:xfrm flipH="1" flipV="1">
            <a:off x="2401551" y="2046563"/>
            <a:ext cx="182880" cy="347472"/>
          </a:xfrm>
          <a:prstGeom prst="line">
            <a:avLst/>
          </a:prstGeom>
          <a:ln w="7620">
            <a:solidFill>
              <a:srgbClr val="5C6169"/>
            </a:solidFill>
          </a:ln>
        </p:spPr>
      </p:cxnSp>
      <p:sp>
        <p:nvSpPr>
          <p:cNvPr id="7" name="Oval 6"/>
          <p:cNvSpPr/>
          <p:nvPr/>
        </p:nvSpPr>
        <p:spPr>
          <a:xfrm>
            <a:off x="2552427" y="2362031"/>
            <a:ext cx="64008" cy="64008"/>
          </a:xfrm>
          <a:prstGeom prst="ellipse">
            <a:avLst/>
          </a:prstGeom>
          <a:solidFill>
            <a:srgbClr val="15171A"/>
          </a:solidFill>
          <a:ln>
            <a:noFill/>
          </a:ln>
        </p:spPr>
        <p:txBody>
          <a:bodyPr rtlCol="0" anchor="ctr"/>
          <a:lstStyle/>
          <a:p>
            <a:pPr algn="ctr"/>
          </a:p>
        </p:txBody>
      </p:sp>
      <p:sp>
        <p:nvSpPr>
          <p:cNvPr id="8" name="Rectangle 7"/>
          <p:cNvSpPr/>
          <p:nvPr/>
        </p:nvSpPr>
        <p:spPr>
          <a:xfrm>
            <a:off x="1388017" y="1931831"/>
            <a:ext cx="1013534" cy="229463"/>
          </a:xfrm>
          <a:prstGeom prst="rect">
            <a:avLst/>
          </a:prstGeom>
          <a:solidFill>
            <a:srgbClr val="FFFFFF"/>
          </a:solidFill>
          <a:ln w="6350">
            <a:solidFill>
              <a:srgbClr val="C9CDD2"/>
            </a:solidFill>
          </a:ln>
        </p:spPr>
        <p:txBody>
          <a:bodyPr rtlCol="0" anchor="ctr"/>
          <a:lstStyle/>
          <a:p>
            <a:pPr algn="ctr"/>
          </a:p>
        </p:txBody>
      </p:sp>
      <p:sp>
        <p:nvSpPr>
          <p:cNvPr id="9" name="TextBox 8"/>
          <p:cNvSpPr txBox="1"/>
          <p:nvPr/>
        </p:nvSpPr>
        <p:spPr>
          <a:xfrm>
            <a:off x="1388017" y="1931831"/>
            <a:ext cx="1013534" cy="229463"/>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D · Robot Home</a:t>
            </a:r>
          </a:p>
        </p:txBody>
      </p:sp>
      <p:cxnSp>
        <p:nvCxnSpPr>
          <p:cNvPr id="10" name="Connector 9"/>
          <p:cNvCxnSpPr/>
          <p:nvPr/>
        </p:nvCxnSpPr>
        <p:spPr>
          <a:xfrm flipH="1">
            <a:off x="3033298" y="3223312"/>
            <a:ext cx="228600" cy="384048"/>
          </a:xfrm>
          <a:prstGeom prst="line">
            <a:avLst/>
          </a:prstGeom>
          <a:ln w="7620">
            <a:solidFill>
              <a:srgbClr val="5C6169"/>
            </a:solidFill>
          </a:ln>
        </p:spPr>
      </p:cxnSp>
      <p:sp>
        <p:nvSpPr>
          <p:cNvPr id="11" name="Oval 10"/>
          <p:cNvSpPr/>
          <p:nvPr/>
        </p:nvSpPr>
        <p:spPr>
          <a:xfrm>
            <a:off x="3229894" y="3191308"/>
            <a:ext cx="64008" cy="64008"/>
          </a:xfrm>
          <a:prstGeom prst="ellipse">
            <a:avLst/>
          </a:prstGeom>
          <a:solidFill>
            <a:srgbClr val="15171A"/>
          </a:solidFill>
          <a:ln>
            <a:noFill/>
          </a:ln>
        </p:spPr>
        <p:txBody>
          <a:bodyPr rtlCol="0" anchor="ctr"/>
          <a:lstStyle/>
          <a:p>
            <a:pPr algn="ctr"/>
          </a:p>
        </p:txBody>
      </p:sp>
      <p:sp>
        <p:nvSpPr>
          <p:cNvPr id="12" name="Rectangle 11"/>
          <p:cNvSpPr/>
          <p:nvPr/>
        </p:nvSpPr>
        <p:spPr>
          <a:xfrm>
            <a:off x="2131500" y="3492628"/>
            <a:ext cx="901797" cy="229463"/>
          </a:xfrm>
          <a:prstGeom prst="rect">
            <a:avLst/>
          </a:prstGeom>
          <a:solidFill>
            <a:srgbClr val="FFFFFF"/>
          </a:solidFill>
          <a:ln w="6350">
            <a:solidFill>
              <a:srgbClr val="C9CDD2"/>
            </a:solidFill>
          </a:ln>
        </p:spPr>
        <p:txBody>
          <a:bodyPr rtlCol="0" anchor="ctr"/>
          <a:lstStyle/>
          <a:p>
            <a:pPr algn="ctr"/>
          </a:p>
        </p:txBody>
      </p:sp>
      <p:sp>
        <p:nvSpPr>
          <p:cNvPr id="13" name="TextBox 12"/>
          <p:cNvSpPr txBox="1"/>
          <p:nvPr/>
        </p:nvSpPr>
        <p:spPr>
          <a:xfrm>
            <a:off x="2131500" y="3492628"/>
            <a:ext cx="901797" cy="229463"/>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D · Drop Zone</a:t>
            </a:r>
          </a:p>
        </p:txBody>
      </p:sp>
      <p:cxnSp>
        <p:nvCxnSpPr>
          <p:cNvPr id="14" name="Connector 13"/>
          <p:cNvCxnSpPr/>
          <p:nvPr/>
        </p:nvCxnSpPr>
        <p:spPr>
          <a:xfrm>
            <a:off x="5082858" y="4298781"/>
            <a:ext cx="228600" cy="411480"/>
          </a:xfrm>
          <a:prstGeom prst="line">
            <a:avLst/>
          </a:prstGeom>
          <a:ln w="7620">
            <a:solidFill>
              <a:srgbClr val="5C6169"/>
            </a:solidFill>
          </a:ln>
        </p:spPr>
      </p:cxnSp>
      <p:sp>
        <p:nvSpPr>
          <p:cNvPr id="15" name="Oval 14"/>
          <p:cNvSpPr/>
          <p:nvPr/>
        </p:nvSpPr>
        <p:spPr>
          <a:xfrm>
            <a:off x="5050854" y="4266777"/>
            <a:ext cx="64008" cy="64008"/>
          </a:xfrm>
          <a:prstGeom prst="ellipse">
            <a:avLst/>
          </a:prstGeom>
          <a:solidFill>
            <a:srgbClr val="15171A"/>
          </a:solidFill>
          <a:ln>
            <a:noFill/>
          </a:ln>
        </p:spPr>
        <p:txBody>
          <a:bodyPr rtlCol="0" anchor="ctr"/>
          <a:lstStyle/>
          <a:p>
            <a:pPr algn="ctr"/>
          </a:p>
        </p:txBody>
      </p:sp>
      <p:sp>
        <p:nvSpPr>
          <p:cNvPr id="16" name="Rectangle 15"/>
          <p:cNvSpPr/>
          <p:nvPr/>
        </p:nvSpPr>
        <p:spPr>
          <a:xfrm>
            <a:off x="5311458" y="4595530"/>
            <a:ext cx="1151288" cy="229463"/>
          </a:xfrm>
          <a:prstGeom prst="rect">
            <a:avLst/>
          </a:prstGeom>
          <a:solidFill>
            <a:srgbClr val="FFFFFF"/>
          </a:solidFill>
          <a:ln w="6350">
            <a:solidFill>
              <a:srgbClr val="C9CDD2"/>
            </a:solidFill>
          </a:ln>
        </p:spPr>
        <p:txBody>
          <a:bodyPr rtlCol="0" anchor="ctr"/>
          <a:lstStyle/>
          <a:p>
            <a:pPr algn="ctr"/>
          </a:p>
        </p:txBody>
      </p:sp>
      <p:sp>
        <p:nvSpPr>
          <p:cNvPr id="17" name="TextBox 16"/>
          <p:cNvSpPr txBox="1"/>
          <p:nvPr/>
        </p:nvSpPr>
        <p:spPr>
          <a:xfrm>
            <a:off x="5311458" y="4595530"/>
            <a:ext cx="1151288" cy="229463"/>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D · 식세기 Interface</a:t>
            </a:r>
          </a:p>
        </p:txBody>
      </p:sp>
      <p:cxnSp>
        <p:nvCxnSpPr>
          <p:cNvPr id="18" name="Connector 17"/>
          <p:cNvCxnSpPr/>
          <p:nvPr/>
        </p:nvCxnSpPr>
        <p:spPr>
          <a:xfrm flipV="1">
            <a:off x="4185323" y="2875882"/>
            <a:ext cx="320040" cy="502920"/>
          </a:xfrm>
          <a:prstGeom prst="line">
            <a:avLst/>
          </a:prstGeom>
          <a:ln w="7620">
            <a:solidFill>
              <a:srgbClr val="5C6169"/>
            </a:solidFill>
          </a:ln>
        </p:spPr>
      </p:cxnSp>
      <p:sp>
        <p:nvSpPr>
          <p:cNvPr id="19" name="Oval 18"/>
          <p:cNvSpPr/>
          <p:nvPr/>
        </p:nvSpPr>
        <p:spPr>
          <a:xfrm>
            <a:off x="4153319" y="3346798"/>
            <a:ext cx="64008" cy="64008"/>
          </a:xfrm>
          <a:prstGeom prst="ellipse">
            <a:avLst/>
          </a:prstGeom>
          <a:solidFill>
            <a:srgbClr val="15171A"/>
          </a:solidFill>
          <a:ln>
            <a:noFill/>
          </a:ln>
        </p:spPr>
        <p:txBody>
          <a:bodyPr rtlCol="0" anchor="ctr"/>
          <a:lstStyle/>
          <a:p>
            <a:pPr algn="ctr"/>
          </a:p>
        </p:txBody>
      </p:sp>
      <p:sp>
        <p:nvSpPr>
          <p:cNvPr id="20" name="Rectangle 19"/>
          <p:cNvSpPr/>
          <p:nvPr/>
        </p:nvSpPr>
        <p:spPr>
          <a:xfrm>
            <a:off x="4505363" y="2761150"/>
            <a:ext cx="949953" cy="229463"/>
          </a:xfrm>
          <a:prstGeom prst="rect">
            <a:avLst/>
          </a:prstGeom>
          <a:solidFill>
            <a:srgbClr val="FFFFFF"/>
          </a:solidFill>
          <a:ln w="6350">
            <a:solidFill>
              <a:srgbClr val="C9CDD2"/>
            </a:solidFill>
          </a:ln>
        </p:spPr>
        <p:txBody>
          <a:bodyPr rtlCol="0" anchor="ctr"/>
          <a:lstStyle/>
          <a:p>
            <a:pPr algn="ctr"/>
          </a:p>
        </p:txBody>
      </p:sp>
      <p:sp>
        <p:nvSpPr>
          <p:cNvPr id="21" name="TextBox 20"/>
          <p:cNvSpPr txBox="1"/>
          <p:nvPr/>
        </p:nvSpPr>
        <p:spPr>
          <a:xfrm>
            <a:off x="4505363" y="2761150"/>
            <a:ext cx="949953" cy="229463"/>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E · Robot Zone</a:t>
            </a:r>
          </a:p>
        </p:txBody>
      </p:sp>
      <p:cxnSp>
        <p:nvCxnSpPr>
          <p:cNvPr id="22" name="Connector 21"/>
          <p:cNvCxnSpPr/>
          <p:nvPr/>
        </p:nvCxnSpPr>
        <p:spPr>
          <a:xfrm>
            <a:off x="3667514" y="4825718"/>
            <a:ext cx="365760" cy="274320"/>
          </a:xfrm>
          <a:prstGeom prst="line">
            <a:avLst/>
          </a:prstGeom>
          <a:ln w="7620">
            <a:solidFill>
              <a:srgbClr val="5C6169"/>
            </a:solidFill>
          </a:ln>
        </p:spPr>
      </p:cxnSp>
      <p:sp>
        <p:nvSpPr>
          <p:cNvPr id="23" name="Oval 22"/>
          <p:cNvSpPr/>
          <p:nvPr/>
        </p:nvSpPr>
        <p:spPr>
          <a:xfrm>
            <a:off x="3635510" y="4793714"/>
            <a:ext cx="64008" cy="64008"/>
          </a:xfrm>
          <a:prstGeom prst="ellipse">
            <a:avLst/>
          </a:prstGeom>
          <a:solidFill>
            <a:srgbClr val="15171A"/>
          </a:solidFill>
          <a:ln>
            <a:noFill/>
          </a:ln>
        </p:spPr>
        <p:txBody>
          <a:bodyPr rtlCol="0" anchor="ctr"/>
          <a:lstStyle/>
          <a:p>
            <a:pPr algn="ctr"/>
          </a:p>
        </p:txBody>
      </p:sp>
      <p:sp>
        <p:nvSpPr>
          <p:cNvPr id="24" name="Rectangle 23"/>
          <p:cNvSpPr/>
          <p:nvPr/>
        </p:nvSpPr>
        <p:spPr>
          <a:xfrm>
            <a:off x="4033274" y="4985306"/>
            <a:ext cx="1019151" cy="229463"/>
          </a:xfrm>
          <a:prstGeom prst="rect">
            <a:avLst/>
          </a:prstGeom>
          <a:solidFill>
            <a:srgbClr val="FFFFFF"/>
          </a:solidFill>
          <a:ln w="6350">
            <a:solidFill>
              <a:srgbClr val="C9CDD2"/>
            </a:solidFill>
          </a:ln>
        </p:spPr>
        <p:txBody>
          <a:bodyPr rtlCol="0" anchor="ctr"/>
          <a:lstStyle/>
          <a:p>
            <a:pPr algn="ctr"/>
          </a:p>
        </p:txBody>
      </p:sp>
      <p:sp>
        <p:nvSpPr>
          <p:cNvPr id="25" name="TextBox 24"/>
          <p:cNvSpPr txBox="1"/>
          <p:nvPr/>
        </p:nvSpPr>
        <p:spPr>
          <a:xfrm>
            <a:off x="4033274" y="4985306"/>
            <a:ext cx="1019151" cy="229463"/>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E · Human Zone</a:t>
            </a:r>
          </a:p>
        </p:txBody>
      </p:sp>
      <p:sp>
        <p:nvSpPr>
          <p:cNvPr id="26" name="Rectangle 25"/>
          <p:cNvSpPr/>
          <p:nvPr/>
        </p:nvSpPr>
        <p:spPr>
          <a:xfrm>
            <a:off x="758952" y="1672463"/>
            <a:ext cx="495159" cy="155448"/>
          </a:xfrm>
          <a:prstGeom prst="rect">
            <a:avLst/>
          </a:prstGeom>
          <a:solidFill>
            <a:srgbClr val="FFFFFF"/>
          </a:solidFill>
          <a:ln w="6350">
            <a:solidFill>
              <a:srgbClr val="C9CDD2"/>
            </a:solidFill>
          </a:ln>
        </p:spPr>
        <p:txBody>
          <a:bodyPr rtlCol="0" anchor="ctr"/>
          <a:lstStyle/>
          <a:p>
            <a:pPr algn="ctr"/>
          </a:p>
        </p:txBody>
      </p:sp>
      <p:sp>
        <p:nvSpPr>
          <p:cNvPr id="27" name="TextBox 26"/>
          <p:cNvSpPr txBox="1"/>
          <p:nvPr/>
        </p:nvSpPr>
        <p:spPr>
          <a:xfrm>
            <a:off x="758952" y="1672463"/>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28" name="Rectangle 27"/>
          <p:cNvSpPr/>
          <p:nvPr/>
        </p:nvSpPr>
        <p:spPr>
          <a:xfrm>
            <a:off x="6949440" y="1599310"/>
            <a:ext cx="4556455" cy="782904"/>
          </a:xfrm>
          <a:prstGeom prst="rect">
            <a:avLst/>
          </a:prstGeom>
          <a:solidFill>
            <a:srgbClr val="F4F5F6"/>
          </a:solidFill>
          <a:ln>
            <a:noFill/>
          </a:ln>
        </p:spPr>
        <p:txBody>
          <a:bodyPr rtlCol="0" anchor="ctr"/>
          <a:lstStyle/>
          <a:p>
            <a:pPr algn="ctr"/>
          </a:p>
        </p:txBody>
      </p:sp>
      <p:sp>
        <p:nvSpPr>
          <p:cNvPr id="29" name="Rectangle 28"/>
          <p:cNvSpPr/>
          <p:nvPr/>
        </p:nvSpPr>
        <p:spPr>
          <a:xfrm>
            <a:off x="6949440" y="1599310"/>
            <a:ext cx="384048" cy="782904"/>
          </a:xfrm>
          <a:prstGeom prst="rect">
            <a:avLst/>
          </a:prstGeom>
          <a:solidFill>
            <a:srgbClr val="15171A"/>
          </a:solidFill>
          <a:ln>
            <a:noFill/>
          </a:ln>
        </p:spPr>
        <p:txBody>
          <a:bodyPr rtlCol="0" anchor="ctr"/>
          <a:lstStyle/>
          <a:p>
            <a:pPr algn="ctr"/>
          </a:p>
        </p:txBody>
      </p:sp>
      <p:sp>
        <p:nvSpPr>
          <p:cNvPr id="30" name="TextBox 29"/>
          <p:cNvSpPr txBox="1"/>
          <p:nvPr/>
        </p:nvSpPr>
        <p:spPr>
          <a:xfrm>
            <a:off x="6949440" y="1599310"/>
            <a:ext cx="384048" cy="782904"/>
          </a:xfrm>
          <a:prstGeom prst="rect">
            <a:avLst/>
          </a:prstGeom>
          <a:noFill/>
        </p:spPr>
        <p:txBody>
          <a:bodyPr wrap="square" lIns="0" rIns="0" tIns="0" bIns="0" anchor="ctr">
            <a:spAutoFit/>
          </a:bodyPr>
          <a:lstStyle/>
          <a:p>
            <a:pPr algn="ctr">
              <a:lnSpc>
                <a:spcPct val="100000"/>
              </a:lnSpc>
            </a:pPr>
            <a:r>
              <a:rPr sz="1500" b="1">
                <a:solidFill>
                  <a:srgbClr val="FFFFFF"/>
                </a:solidFill>
                <a:latin typeface="Noto Sans KR"/>
                <a:ea typeface="Noto Sans KR"/>
                <a:cs typeface="Noto Sans KR"/>
              </a:rPr>
              <a:t>A</a:t>
            </a:r>
          </a:p>
        </p:txBody>
      </p:sp>
      <p:sp>
        <p:nvSpPr>
          <p:cNvPr id="31" name="TextBox 30"/>
          <p:cNvSpPr txBox="1"/>
          <p:nvPr/>
        </p:nvSpPr>
        <p:spPr>
          <a:xfrm>
            <a:off x="7461504" y="1672463"/>
            <a:ext cx="3934663"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Robot Module</a:t>
            </a:r>
          </a:p>
        </p:txBody>
      </p:sp>
      <p:sp>
        <p:nvSpPr>
          <p:cNvPr id="32" name="TextBox 31"/>
          <p:cNvSpPr txBox="1"/>
          <p:nvPr/>
        </p:nvSpPr>
        <p:spPr>
          <a:xfrm>
            <a:off x="7461504" y="1946782"/>
            <a:ext cx="3934663" cy="398856"/>
          </a:xfrm>
          <a:prstGeom prst="rect">
            <a:avLst/>
          </a:prstGeom>
          <a:noFill/>
        </p:spPr>
        <p:txBody>
          <a:bodyPr wrap="square" lIns="0" rIns="0" tIns="0" bIns="0" anchor="t">
            <a:spAutoFit/>
          </a:bodyPr>
          <a:lstStyle/>
          <a:p>
            <a:pPr algn="l">
              <a:lnSpc>
                <a:spcPct val="102000"/>
              </a:lnSpc>
            </a:pPr>
            <a:r>
              <a:rPr sz="950" b="0">
                <a:solidFill>
                  <a:srgbClr val="4A4F57"/>
                </a:solidFill>
                <a:latin typeface="Noto Sans KR"/>
                <a:ea typeface="Noto Sans KR"/>
                <a:cs typeface="Noto Sans KR"/>
              </a:rPr>
              <a:t>Robot Arm · Adaptive Hand · Vision · Force / Safety Sensor · Controller · 필요 시 Rail / Dock</a:t>
            </a:r>
          </a:p>
        </p:txBody>
      </p:sp>
      <p:sp>
        <p:nvSpPr>
          <p:cNvPr id="33" name="Rectangle 32"/>
          <p:cNvSpPr/>
          <p:nvPr/>
        </p:nvSpPr>
        <p:spPr>
          <a:xfrm>
            <a:off x="6949440" y="2473655"/>
            <a:ext cx="4556455" cy="782904"/>
          </a:xfrm>
          <a:prstGeom prst="rect">
            <a:avLst/>
          </a:prstGeom>
          <a:solidFill>
            <a:srgbClr val="F4F5F6"/>
          </a:solidFill>
          <a:ln>
            <a:noFill/>
          </a:ln>
        </p:spPr>
        <p:txBody>
          <a:bodyPr rtlCol="0" anchor="ctr"/>
          <a:lstStyle/>
          <a:p>
            <a:pPr algn="ctr"/>
          </a:p>
        </p:txBody>
      </p:sp>
      <p:sp>
        <p:nvSpPr>
          <p:cNvPr id="34" name="Rectangle 33"/>
          <p:cNvSpPr/>
          <p:nvPr/>
        </p:nvSpPr>
        <p:spPr>
          <a:xfrm>
            <a:off x="6949440" y="2473655"/>
            <a:ext cx="384048" cy="782904"/>
          </a:xfrm>
          <a:prstGeom prst="rect">
            <a:avLst/>
          </a:prstGeom>
          <a:solidFill>
            <a:srgbClr val="15171A"/>
          </a:solidFill>
          <a:ln>
            <a:noFill/>
          </a:ln>
        </p:spPr>
        <p:txBody>
          <a:bodyPr rtlCol="0" anchor="ctr"/>
          <a:lstStyle/>
          <a:p>
            <a:pPr algn="ctr"/>
          </a:p>
        </p:txBody>
      </p:sp>
      <p:sp>
        <p:nvSpPr>
          <p:cNvPr id="35" name="TextBox 34"/>
          <p:cNvSpPr txBox="1"/>
          <p:nvPr/>
        </p:nvSpPr>
        <p:spPr>
          <a:xfrm>
            <a:off x="6949440" y="2473655"/>
            <a:ext cx="384048" cy="782904"/>
          </a:xfrm>
          <a:prstGeom prst="rect">
            <a:avLst/>
          </a:prstGeom>
          <a:noFill/>
        </p:spPr>
        <p:txBody>
          <a:bodyPr wrap="square" lIns="0" rIns="0" tIns="0" bIns="0" anchor="ctr">
            <a:spAutoFit/>
          </a:bodyPr>
          <a:lstStyle/>
          <a:p>
            <a:pPr algn="ctr">
              <a:lnSpc>
                <a:spcPct val="100000"/>
              </a:lnSpc>
            </a:pPr>
            <a:r>
              <a:rPr sz="1500" b="1">
                <a:solidFill>
                  <a:srgbClr val="FFFFFF"/>
                </a:solidFill>
                <a:latin typeface="Noto Sans KR"/>
                <a:ea typeface="Noto Sans KR"/>
                <a:cs typeface="Noto Sans KR"/>
              </a:rPr>
              <a:t>B</a:t>
            </a:r>
          </a:p>
        </p:txBody>
      </p:sp>
      <p:sp>
        <p:nvSpPr>
          <p:cNvPr id="36" name="TextBox 35"/>
          <p:cNvSpPr txBox="1"/>
          <p:nvPr/>
        </p:nvSpPr>
        <p:spPr>
          <a:xfrm>
            <a:off x="7461504" y="2546807"/>
            <a:ext cx="3934663"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Manipulation Layer</a:t>
            </a:r>
          </a:p>
        </p:txBody>
      </p:sp>
      <p:sp>
        <p:nvSpPr>
          <p:cNvPr id="37" name="TextBox 36"/>
          <p:cNvSpPr txBox="1"/>
          <p:nvPr/>
        </p:nvSpPr>
        <p:spPr>
          <a:xfrm>
            <a:off x="7461504" y="2821127"/>
            <a:ext cx="3934663" cy="398856"/>
          </a:xfrm>
          <a:prstGeom prst="rect">
            <a:avLst/>
          </a:prstGeom>
          <a:noFill/>
        </p:spPr>
        <p:txBody>
          <a:bodyPr wrap="square" lIns="0" rIns="0" tIns="0" bIns="0" anchor="t">
            <a:spAutoFit/>
          </a:bodyPr>
          <a:lstStyle/>
          <a:p>
            <a:pPr algn="l">
              <a:lnSpc>
                <a:spcPct val="102000"/>
              </a:lnSpc>
            </a:pPr>
            <a:r>
              <a:rPr sz="950" b="0">
                <a:solidFill>
                  <a:srgbClr val="4A4F57"/>
                </a:solidFill>
                <a:latin typeface="Noto Sans KR"/>
                <a:ea typeface="Noto Sans KR"/>
                <a:cs typeface="Noto Sans KR"/>
              </a:rPr>
              <a:t>Object Detection · Grasp Planning · Motion Planning · Task Execution · Failure Detection · Recovery</a:t>
            </a:r>
          </a:p>
        </p:txBody>
      </p:sp>
      <p:sp>
        <p:nvSpPr>
          <p:cNvPr id="38" name="Rectangle 37"/>
          <p:cNvSpPr/>
          <p:nvPr/>
        </p:nvSpPr>
        <p:spPr>
          <a:xfrm>
            <a:off x="6949440" y="3347999"/>
            <a:ext cx="4556455" cy="782904"/>
          </a:xfrm>
          <a:prstGeom prst="rect">
            <a:avLst/>
          </a:prstGeom>
          <a:solidFill>
            <a:srgbClr val="F4F5F6"/>
          </a:solidFill>
          <a:ln>
            <a:noFill/>
          </a:ln>
        </p:spPr>
        <p:txBody>
          <a:bodyPr rtlCol="0" anchor="ctr"/>
          <a:lstStyle/>
          <a:p>
            <a:pPr algn="ctr"/>
          </a:p>
        </p:txBody>
      </p:sp>
      <p:sp>
        <p:nvSpPr>
          <p:cNvPr id="39" name="Rectangle 38"/>
          <p:cNvSpPr/>
          <p:nvPr/>
        </p:nvSpPr>
        <p:spPr>
          <a:xfrm>
            <a:off x="6949440" y="3347999"/>
            <a:ext cx="384048" cy="782904"/>
          </a:xfrm>
          <a:prstGeom prst="rect">
            <a:avLst/>
          </a:prstGeom>
          <a:solidFill>
            <a:srgbClr val="15171A"/>
          </a:solidFill>
          <a:ln>
            <a:noFill/>
          </a:ln>
        </p:spPr>
        <p:txBody>
          <a:bodyPr rtlCol="0" anchor="ctr"/>
          <a:lstStyle/>
          <a:p>
            <a:pPr algn="ctr"/>
          </a:p>
        </p:txBody>
      </p:sp>
      <p:sp>
        <p:nvSpPr>
          <p:cNvPr id="40" name="TextBox 39"/>
          <p:cNvSpPr txBox="1"/>
          <p:nvPr/>
        </p:nvSpPr>
        <p:spPr>
          <a:xfrm>
            <a:off x="6949440" y="3347999"/>
            <a:ext cx="384048" cy="782904"/>
          </a:xfrm>
          <a:prstGeom prst="rect">
            <a:avLst/>
          </a:prstGeom>
          <a:noFill/>
        </p:spPr>
        <p:txBody>
          <a:bodyPr wrap="square" lIns="0" rIns="0" tIns="0" bIns="0" anchor="ctr">
            <a:spAutoFit/>
          </a:bodyPr>
          <a:lstStyle/>
          <a:p>
            <a:pPr algn="ctr">
              <a:lnSpc>
                <a:spcPct val="100000"/>
              </a:lnSpc>
            </a:pPr>
            <a:r>
              <a:rPr sz="1500" b="1">
                <a:solidFill>
                  <a:srgbClr val="FFFFFF"/>
                </a:solidFill>
                <a:latin typeface="Noto Sans KR"/>
                <a:ea typeface="Noto Sans KR"/>
                <a:cs typeface="Noto Sans KR"/>
              </a:rPr>
              <a:t>C</a:t>
            </a:r>
          </a:p>
        </p:txBody>
      </p:sp>
      <p:sp>
        <p:nvSpPr>
          <p:cNvPr id="41" name="TextBox 40"/>
          <p:cNvSpPr txBox="1"/>
          <p:nvPr/>
        </p:nvSpPr>
        <p:spPr>
          <a:xfrm>
            <a:off x="7461504" y="3421151"/>
            <a:ext cx="3934663"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Calibration Layer</a:t>
            </a:r>
          </a:p>
        </p:txBody>
      </p:sp>
      <p:sp>
        <p:nvSpPr>
          <p:cNvPr id="42" name="TextBox 41"/>
          <p:cNvSpPr txBox="1"/>
          <p:nvPr/>
        </p:nvSpPr>
        <p:spPr>
          <a:xfrm>
            <a:off x="7461504" y="3695471"/>
            <a:ext cx="3934663" cy="398856"/>
          </a:xfrm>
          <a:prstGeom prst="rect">
            <a:avLst/>
          </a:prstGeom>
          <a:noFill/>
        </p:spPr>
        <p:txBody>
          <a:bodyPr wrap="square" lIns="0" rIns="0" tIns="0" bIns="0" anchor="t">
            <a:spAutoFit/>
          </a:bodyPr>
          <a:lstStyle/>
          <a:p>
            <a:pPr algn="l">
              <a:lnSpc>
                <a:spcPct val="102000"/>
              </a:lnSpc>
            </a:pPr>
            <a:r>
              <a:rPr sz="950" b="0">
                <a:solidFill>
                  <a:srgbClr val="4A4F57"/>
                </a:solidFill>
                <a:latin typeface="Noto Sans KR"/>
                <a:ea typeface="Noto Sans KR"/>
                <a:cs typeface="Noto Sans KR"/>
              </a:rPr>
              <a:t>Kitchen Mapping · Coordinate Calibration · Appliance / Storage Position Mapping · Task Parameter</a:t>
            </a:r>
          </a:p>
        </p:txBody>
      </p:sp>
      <p:sp>
        <p:nvSpPr>
          <p:cNvPr id="43" name="Rectangle 42"/>
          <p:cNvSpPr/>
          <p:nvPr/>
        </p:nvSpPr>
        <p:spPr>
          <a:xfrm>
            <a:off x="6949440" y="4222343"/>
            <a:ext cx="4556455" cy="782904"/>
          </a:xfrm>
          <a:prstGeom prst="rect">
            <a:avLst/>
          </a:prstGeom>
          <a:solidFill>
            <a:srgbClr val="F4F5F6"/>
          </a:solidFill>
          <a:ln>
            <a:noFill/>
          </a:ln>
        </p:spPr>
        <p:txBody>
          <a:bodyPr rtlCol="0" anchor="ctr"/>
          <a:lstStyle/>
          <a:p>
            <a:pPr algn="ctr"/>
          </a:p>
        </p:txBody>
      </p:sp>
      <p:sp>
        <p:nvSpPr>
          <p:cNvPr id="44" name="Rectangle 43"/>
          <p:cNvSpPr/>
          <p:nvPr/>
        </p:nvSpPr>
        <p:spPr>
          <a:xfrm>
            <a:off x="6949440" y="4222343"/>
            <a:ext cx="384048" cy="782904"/>
          </a:xfrm>
          <a:prstGeom prst="rect">
            <a:avLst/>
          </a:prstGeom>
          <a:solidFill>
            <a:srgbClr val="15171A"/>
          </a:solidFill>
          <a:ln>
            <a:noFill/>
          </a:ln>
        </p:spPr>
        <p:txBody>
          <a:bodyPr rtlCol="0" anchor="ctr"/>
          <a:lstStyle/>
          <a:p>
            <a:pPr algn="ctr"/>
          </a:p>
        </p:txBody>
      </p:sp>
      <p:sp>
        <p:nvSpPr>
          <p:cNvPr id="45" name="TextBox 44"/>
          <p:cNvSpPr txBox="1"/>
          <p:nvPr/>
        </p:nvSpPr>
        <p:spPr>
          <a:xfrm>
            <a:off x="6949440" y="4222343"/>
            <a:ext cx="384048" cy="782904"/>
          </a:xfrm>
          <a:prstGeom prst="rect">
            <a:avLst/>
          </a:prstGeom>
          <a:noFill/>
        </p:spPr>
        <p:txBody>
          <a:bodyPr wrap="square" lIns="0" rIns="0" tIns="0" bIns="0" anchor="ctr">
            <a:spAutoFit/>
          </a:bodyPr>
          <a:lstStyle/>
          <a:p>
            <a:pPr algn="ctr">
              <a:lnSpc>
                <a:spcPct val="100000"/>
              </a:lnSpc>
            </a:pPr>
            <a:r>
              <a:rPr sz="1500" b="1">
                <a:solidFill>
                  <a:srgbClr val="FFFFFF"/>
                </a:solidFill>
                <a:latin typeface="Noto Sans KR"/>
                <a:ea typeface="Noto Sans KR"/>
                <a:cs typeface="Noto Sans KR"/>
              </a:rPr>
              <a:t>D</a:t>
            </a:r>
          </a:p>
        </p:txBody>
      </p:sp>
      <p:sp>
        <p:nvSpPr>
          <p:cNvPr id="46" name="TextBox 45"/>
          <p:cNvSpPr txBox="1"/>
          <p:nvPr/>
        </p:nvSpPr>
        <p:spPr>
          <a:xfrm>
            <a:off x="7461504" y="4295495"/>
            <a:ext cx="3934663"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Environment Interface</a:t>
            </a:r>
          </a:p>
        </p:txBody>
      </p:sp>
      <p:sp>
        <p:nvSpPr>
          <p:cNvPr id="47" name="TextBox 46"/>
          <p:cNvSpPr txBox="1"/>
          <p:nvPr/>
        </p:nvSpPr>
        <p:spPr>
          <a:xfrm>
            <a:off x="7461504" y="4569815"/>
            <a:ext cx="3934663" cy="398856"/>
          </a:xfrm>
          <a:prstGeom prst="rect">
            <a:avLst/>
          </a:prstGeom>
          <a:noFill/>
        </p:spPr>
        <p:txBody>
          <a:bodyPr wrap="square" lIns="0" rIns="0" tIns="0" bIns="0" anchor="t">
            <a:spAutoFit/>
          </a:bodyPr>
          <a:lstStyle/>
          <a:p>
            <a:pPr algn="l">
              <a:lnSpc>
                <a:spcPct val="102000"/>
              </a:lnSpc>
            </a:pPr>
            <a:r>
              <a:rPr sz="950" b="0">
                <a:solidFill>
                  <a:srgbClr val="4A4F57"/>
                </a:solidFill>
                <a:latin typeface="Noto Sans KR"/>
                <a:ea typeface="Noto Sans KR"/>
                <a:cs typeface="Noto Sans KR"/>
              </a:rPr>
              <a:t>Robot Home · Tool Dock · Storage Dock · Appliance Interface · Vision Reference · 필요 시 Working Surface Guide</a:t>
            </a:r>
          </a:p>
        </p:txBody>
      </p:sp>
      <p:sp>
        <p:nvSpPr>
          <p:cNvPr id="48" name="Rectangle 47"/>
          <p:cNvSpPr/>
          <p:nvPr/>
        </p:nvSpPr>
        <p:spPr>
          <a:xfrm>
            <a:off x="6949440" y="5096687"/>
            <a:ext cx="4556455" cy="782904"/>
          </a:xfrm>
          <a:prstGeom prst="rect">
            <a:avLst/>
          </a:prstGeom>
          <a:solidFill>
            <a:srgbClr val="F4F5F6"/>
          </a:solidFill>
          <a:ln>
            <a:noFill/>
          </a:ln>
        </p:spPr>
        <p:txBody>
          <a:bodyPr rtlCol="0" anchor="ctr"/>
          <a:lstStyle/>
          <a:p>
            <a:pPr algn="ctr"/>
          </a:p>
        </p:txBody>
      </p:sp>
      <p:sp>
        <p:nvSpPr>
          <p:cNvPr id="49" name="Rectangle 48"/>
          <p:cNvSpPr/>
          <p:nvPr/>
        </p:nvSpPr>
        <p:spPr>
          <a:xfrm>
            <a:off x="6949440" y="5096687"/>
            <a:ext cx="384048" cy="782904"/>
          </a:xfrm>
          <a:prstGeom prst="rect">
            <a:avLst/>
          </a:prstGeom>
          <a:solidFill>
            <a:srgbClr val="15171A"/>
          </a:solidFill>
          <a:ln>
            <a:noFill/>
          </a:ln>
        </p:spPr>
        <p:txBody>
          <a:bodyPr rtlCol="0" anchor="ctr"/>
          <a:lstStyle/>
          <a:p>
            <a:pPr algn="ctr"/>
          </a:p>
        </p:txBody>
      </p:sp>
      <p:sp>
        <p:nvSpPr>
          <p:cNvPr id="50" name="TextBox 49"/>
          <p:cNvSpPr txBox="1"/>
          <p:nvPr/>
        </p:nvSpPr>
        <p:spPr>
          <a:xfrm>
            <a:off x="6949440" y="5096687"/>
            <a:ext cx="384048" cy="782904"/>
          </a:xfrm>
          <a:prstGeom prst="rect">
            <a:avLst/>
          </a:prstGeom>
          <a:noFill/>
        </p:spPr>
        <p:txBody>
          <a:bodyPr wrap="square" lIns="0" rIns="0" tIns="0" bIns="0" anchor="ctr">
            <a:spAutoFit/>
          </a:bodyPr>
          <a:lstStyle/>
          <a:p>
            <a:pPr algn="ctr">
              <a:lnSpc>
                <a:spcPct val="100000"/>
              </a:lnSpc>
            </a:pPr>
            <a:r>
              <a:rPr sz="1500" b="1">
                <a:solidFill>
                  <a:srgbClr val="FFFFFF"/>
                </a:solidFill>
                <a:latin typeface="Noto Sans KR"/>
                <a:ea typeface="Noto Sans KR"/>
                <a:cs typeface="Noto Sans KR"/>
              </a:rPr>
              <a:t>E</a:t>
            </a:r>
          </a:p>
        </p:txBody>
      </p:sp>
      <p:sp>
        <p:nvSpPr>
          <p:cNvPr id="51" name="TextBox 50"/>
          <p:cNvSpPr txBox="1"/>
          <p:nvPr/>
        </p:nvSpPr>
        <p:spPr>
          <a:xfrm>
            <a:off x="7461504" y="5169839"/>
            <a:ext cx="3934663"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Human-Robot Safety</a:t>
            </a:r>
          </a:p>
        </p:txBody>
      </p:sp>
      <p:sp>
        <p:nvSpPr>
          <p:cNvPr id="52" name="TextBox 51"/>
          <p:cNvSpPr txBox="1"/>
          <p:nvPr/>
        </p:nvSpPr>
        <p:spPr>
          <a:xfrm>
            <a:off x="7461504" y="5444159"/>
            <a:ext cx="3934663" cy="398856"/>
          </a:xfrm>
          <a:prstGeom prst="rect">
            <a:avLst/>
          </a:prstGeom>
          <a:noFill/>
        </p:spPr>
        <p:txBody>
          <a:bodyPr wrap="square" lIns="0" rIns="0" tIns="0" bIns="0" anchor="t">
            <a:spAutoFit/>
          </a:bodyPr>
          <a:lstStyle/>
          <a:p>
            <a:pPr algn="l">
              <a:lnSpc>
                <a:spcPct val="102000"/>
              </a:lnSpc>
            </a:pPr>
            <a:r>
              <a:rPr sz="950" b="0">
                <a:solidFill>
                  <a:srgbClr val="4A4F57"/>
                </a:solidFill>
                <a:latin typeface="Noto Sans KR"/>
                <a:ea typeface="Noto Sans KR"/>
                <a:cs typeface="Noto Sans KR"/>
              </a:rPr>
              <a:t>Human Detection · Speed Control · Collision Detection · Emergency Stop · Safe Home Return</a:t>
            </a:r>
          </a:p>
        </p:txBody>
      </p:sp>
      <p:sp>
        <p:nvSpPr>
          <p:cNvPr id="53" name="TextBox 52"/>
          <p:cNvSpPr txBox="1"/>
          <p:nvPr/>
        </p:nvSpPr>
        <p:spPr>
          <a:xfrm>
            <a:off x="685800" y="6143853"/>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설치 위치 · 동작범위는 설계 개념 (CONCEPT), 실제 Reach · 안전성은 검증 전. 안전 기준: ISO 10218-2:2025 감속 250mm/s 등 참고 · 가정용 IEC 63682 (2026 초안) · ISO 13482 개정 대응 [S39 · S47].</a:t>
            </a:r>
          </a:p>
        </p:txBody>
      </p:sp>
      <p:sp>
        <p:nvSpPr>
          <p:cNvPr id="54" name="TextBox 5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55" name="TextBox 5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08  첫 검증 Workflow</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CLEAN은 첫 검증 Workflow이고, 제품 범위는 주방 전체입니다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새 로봇을 단계마다 다시 만드는 것이 아니라, 같은 Platform에 Skill과 Tool을 추가</a:t>
            </a:r>
          </a:p>
        </p:txBody>
      </p:sp>
      <p:pic>
        <p:nvPicPr>
          <p:cNvPr id="5" name="Picture 4" descr="v2_seq_1_detect_light_225x145_50_50_105.jpg"/>
          <p:cNvPicPr>
            <a:picLocks noChangeAspect="1"/>
          </p:cNvPicPr>
          <p:nvPr/>
        </p:nvPicPr>
        <p:blipFill>
          <a:blip r:embed="rId3"/>
          <a:stretch>
            <a:fillRect/>
          </a:stretch>
        </p:blipFill>
        <p:spPr>
          <a:xfrm>
            <a:off x="685800" y="1599310"/>
            <a:ext cx="2061606" cy="1325880"/>
          </a:xfrm>
          <a:prstGeom prst="rect">
            <a:avLst/>
          </a:prstGeom>
        </p:spPr>
      </p:pic>
      <p:sp>
        <p:nvSpPr>
          <p:cNvPr id="6" name="Rectangle 5"/>
          <p:cNvSpPr/>
          <p:nvPr/>
        </p:nvSpPr>
        <p:spPr>
          <a:xfrm>
            <a:off x="685800" y="2925190"/>
            <a:ext cx="2061606" cy="274320"/>
          </a:xfrm>
          <a:prstGeom prst="rect">
            <a:avLst/>
          </a:prstGeom>
          <a:solidFill>
            <a:srgbClr val="F4F5F6"/>
          </a:solidFill>
          <a:ln>
            <a:noFill/>
          </a:ln>
        </p:spPr>
        <p:txBody>
          <a:bodyPr rtlCol="0" anchor="ctr"/>
          <a:lstStyle/>
          <a:p>
            <a:pPr algn="ctr"/>
          </a:p>
        </p:txBody>
      </p:sp>
      <p:sp>
        <p:nvSpPr>
          <p:cNvPr id="7" name="TextBox 6"/>
          <p:cNvSpPr txBox="1"/>
          <p:nvPr/>
        </p:nvSpPr>
        <p:spPr>
          <a:xfrm>
            <a:off x="685800" y="2925190"/>
            <a:ext cx="2061606" cy="27432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① 식기 인식</a:t>
            </a:r>
          </a:p>
        </p:txBody>
      </p:sp>
      <p:pic>
        <p:nvPicPr>
          <p:cNvPr id="8" name="Picture 7" descr="v2_seq_2_pick_light_225x145_50_50_105.jpg"/>
          <p:cNvPicPr>
            <a:picLocks noChangeAspect="1"/>
          </p:cNvPicPr>
          <p:nvPr/>
        </p:nvPicPr>
        <p:blipFill>
          <a:blip r:embed="rId4"/>
          <a:stretch>
            <a:fillRect/>
          </a:stretch>
        </p:blipFill>
        <p:spPr>
          <a:xfrm>
            <a:off x="2875422" y="1599310"/>
            <a:ext cx="2061606" cy="1325880"/>
          </a:xfrm>
          <a:prstGeom prst="rect">
            <a:avLst/>
          </a:prstGeom>
        </p:spPr>
      </p:pic>
      <p:sp>
        <p:nvSpPr>
          <p:cNvPr id="9" name="Rectangle 8"/>
          <p:cNvSpPr/>
          <p:nvPr/>
        </p:nvSpPr>
        <p:spPr>
          <a:xfrm>
            <a:off x="2875422" y="2925190"/>
            <a:ext cx="2061606" cy="274320"/>
          </a:xfrm>
          <a:prstGeom prst="rect">
            <a:avLst/>
          </a:prstGeom>
          <a:solidFill>
            <a:srgbClr val="F4F5F6"/>
          </a:solidFill>
          <a:ln>
            <a:noFill/>
          </a:ln>
        </p:spPr>
        <p:txBody>
          <a:bodyPr rtlCol="0" anchor="ctr"/>
          <a:lstStyle/>
          <a:p>
            <a:pPr algn="ctr"/>
          </a:p>
        </p:txBody>
      </p:sp>
      <p:sp>
        <p:nvSpPr>
          <p:cNvPr id="10" name="TextBox 9"/>
          <p:cNvSpPr txBox="1"/>
          <p:nvPr/>
        </p:nvSpPr>
        <p:spPr>
          <a:xfrm>
            <a:off x="2875422" y="2925190"/>
            <a:ext cx="2061606" cy="27432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② Pick</a:t>
            </a:r>
          </a:p>
        </p:txBody>
      </p:sp>
      <p:pic>
        <p:nvPicPr>
          <p:cNvPr id="11" name="Picture 10" descr="v2_seq_3_load_light_225x145_50_50_105.jpg"/>
          <p:cNvPicPr>
            <a:picLocks noChangeAspect="1"/>
          </p:cNvPicPr>
          <p:nvPr/>
        </p:nvPicPr>
        <p:blipFill>
          <a:blip r:embed="rId5"/>
          <a:stretch>
            <a:fillRect/>
          </a:stretch>
        </p:blipFill>
        <p:spPr>
          <a:xfrm>
            <a:off x="5065044" y="1599310"/>
            <a:ext cx="2061606" cy="1325880"/>
          </a:xfrm>
          <a:prstGeom prst="rect">
            <a:avLst/>
          </a:prstGeom>
        </p:spPr>
      </p:pic>
      <p:sp>
        <p:nvSpPr>
          <p:cNvPr id="12" name="Rectangle 11"/>
          <p:cNvSpPr/>
          <p:nvPr/>
        </p:nvSpPr>
        <p:spPr>
          <a:xfrm>
            <a:off x="5065044" y="2925190"/>
            <a:ext cx="2061606" cy="274320"/>
          </a:xfrm>
          <a:prstGeom prst="rect">
            <a:avLst/>
          </a:prstGeom>
          <a:solidFill>
            <a:srgbClr val="15171A"/>
          </a:solidFill>
          <a:ln>
            <a:noFill/>
          </a:ln>
        </p:spPr>
        <p:txBody>
          <a:bodyPr rtlCol="0" anchor="ctr"/>
          <a:lstStyle/>
          <a:p>
            <a:pPr algn="ctr"/>
          </a:p>
        </p:txBody>
      </p:sp>
      <p:sp>
        <p:nvSpPr>
          <p:cNvPr id="13" name="TextBox 12"/>
          <p:cNvSpPr txBox="1"/>
          <p:nvPr/>
        </p:nvSpPr>
        <p:spPr>
          <a:xfrm>
            <a:off x="5065044" y="2925190"/>
            <a:ext cx="2061606" cy="274320"/>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③ Dishwasher Loading</a:t>
            </a:r>
          </a:p>
        </p:txBody>
      </p:sp>
      <p:pic>
        <p:nvPicPr>
          <p:cNvPr id="14" name="Picture 13" descr="v2_seq_4_unload_light_225x145_50_50_105.jpg"/>
          <p:cNvPicPr>
            <a:picLocks noChangeAspect="1"/>
          </p:cNvPicPr>
          <p:nvPr/>
        </p:nvPicPr>
        <p:blipFill>
          <a:blip r:embed="rId6"/>
          <a:stretch>
            <a:fillRect/>
          </a:stretch>
        </p:blipFill>
        <p:spPr>
          <a:xfrm>
            <a:off x="7254666" y="1599310"/>
            <a:ext cx="2061606" cy="1325880"/>
          </a:xfrm>
          <a:prstGeom prst="rect">
            <a:avLst/>
          </a:prstGeom>
        </p:spPr>
      </p:pic>
      <p:sp>
        <p:nvSpPr>
          <p:cNvPr id="15" name="Rectangle 14"/>
          <p:cNvSpPr/>
          <p:nvPr/>
        </p:nvSpPr>
        <p:spPr>
          <a:xfrm>
            <a:off x="7254666" y="2925190"/>
            <a:ext cx="2061606" cy="274320"/>
          </a:xfrm>
          <a:prstGeom prst="rect">
            <a:avLst/>
          </a:prstGeom>
          <a:solidFill>
            <a:srgbClr val="15171A"/>
          </a:solidFill>
          <a:ln>
            <a:noFill/>
          </a:ln>
        </p:spPr>
        <p:txBody>
          <a:bodyPr rtlCol="0" anchor="ctr"/>
          <a:lstStyle/>
          <a:p>
            <a:pPr algn="ctr"/>
          </a:p>
        </p:txBody>
      </p:sp>
      <p:sp>
        <p:nvSpPr>
          <p:cNvPr id="16" name="TextBox 15"/>
          <p:cNvSpPr txBox="1"/>
          <p:nvPr/>
        </p:nvSpPr>
        <p:spPr>
          <a:xfrm>
            <a:off x="7254666" y="2925190"/>
            <a:ext cx="2061606" cy="274320"/>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④ Dishwasher Unloading</a:t>
            </a:r>
          </a:p>
        </p:txBody>
      </p:sp>
      <p:pic>
        <p:nvPicPr>
          <p:cNvPr id="17" name="Picture 16" descr="v2_seq_5_store_light_225x145_50_50_105.jpg"/>
          <p:cNvPicPr>
            <a:picLocks noChangeAspect="1"/>
          </p:cNvPicPr>
          <p:nvPr/>
        </p:nvPicPr>
        <p:blipFill>
          <a:blip r:embed="rId7"/>
          <a:stretch>
            <a:fillRect/>
          </a:stretch>
        </p:blipFill>
        <p:spPr>
          <a:xfrm>
            <a:off x="9444288" y="1599310"/>
            <a:ext cx="2061606" cy="1325880"/>
          </a:xfrm>
          <a:prstGeom prst="rect">
            <a:avLst/>
          </a:prstGeom>
        </p:spPr>
      </p:pic>
      <p:sp>
        <p:nvSpPr>
          <p:cNvPr id="18" name="Rectangle 17"/>
          <p:cNvSpPr/>
          <p:nvPr/>
        </p:nvSpPr>
        <p:spPr>
          <a:xfrm>
            <a:off x="9444288" y="2925190"/>
            <a:ext cx="2061606" cy="274320"/>
          </a:xfrm>
          <a:prstGeom prst="rect">
            <a:avLst/>
          </a:prstGeom>
          <a:solidFill>
            <a:srgbClr val="F4F5F6"/>
          </a:solidFill>
          <a:ln>
            <a:noFill/>
          </a:ln>
        </p:spPr>
        <p:txBody>
          <a:bodyPr rtlCol="0" anchor="ctr"/>
          <a:lstStyle/>
          <a:p>
            <a:pPr algn="ctr"/>
          </a:p>
        </p:txBody>
      </p:sp>
      <p:sp>
        <p:nvSpPr>
          <p:cNvPr id="19" name="TextBox 18"/>
          <p:cNvSpPr txBox="1"/>
          <p:nvPr/>
        </p:nvSpPr>
        <p:spPr>
          <a:xfrm>
            <a:off x="9444288" y="2925190"/>
            <a:ext cx="2061606" cy="27432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⑤ Storage Return</a:t>
            </a:r>
          </a:p>
        </p:txBody>
      </p:sp>
      <p:sp>
        <p:nvSpPr>
          <p:cNvPr id="20" name="Rectangle 19"/>
          <p:cNvSpPr/>
          <p:nvPr/>
        </p:nvSpPr>
        <p:spPr>
          <a:xfrm>
            <a:off x="740664" y="1654175"/>
            <a:ext cx="495159" cy="155448"/>
          </a:xfrm>
          <a:prstGeom prst="rect">
            <a:avLst/>
          </a:prstGeom>
          <a:solidFill>
            <a:srgbClr val="FFFFFF"/>
          </a:solidFill>
          <a:ln w="6350">
            <a:solidFill>
              <a:srgbClr val="C9CDD2"/>
            </a:solidFill>
          </a:ln>
        </p:spPr>
        <p:txBody>
          <a:bodyPr rtlCol="0" anchor="ctr"/>
          <a:lstStyle/>
          <a:p>
            <a:pPr algn="ctr"/>
          </a:p>
        </p:txBody>
      </p:sp>
      <p:sp>
        <p:nvSpPr>
          <p:cNvPr id="21" name="TextBox 20"/>
          <p:cNvSpPr txBox="1"/>
          <p:nvPr/>
        </p:nvSpPr>
        <p:spPr>
          <a:xfrm>
            <a:off x="740664" y="1654175"/>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22" name="TextBox 21"/>
          <p:cNvSpPr txBox="1"/>
          <p:nvPr/>
        </p:nvSpPr>
        <p:spPr>
          <a:xfrm>
            <a:off x="685800" y="3309238"/>
            <a:ext cx="1280160" cy="256032"/>
          </a:xfrm>
          <a:prstGeom prst="rect">
            <a:avLst/>
          </a:prstGeom>
          <a:noFill/>
        </p:spPr>
        <p:txBody>
          <a:bodyPr wrap="square" lIns="0" rIns="0" tIns="0" bIns="0" anchor="ctr">
            <a:spAutoFit/>
          </a:bodyPr>
          <a:lstStyle/>
          <a:p>
            <a:pPr algn="l">
              <a:lnSpc>
                <a:spcPct val="100000"/>
              </a:lnSpc>
            </a:pPr>
            <a:r>
              <a:rPr sz="1000" b="1">
                <a:solidFill>
                  <a:srgbClr val="8C9198"/>
                </a:solidFill>
                <a:latin typeface="Noto Sans KR"/>
                <a:ea typeface="Noto Sans KR"/>
                <a:cs typeface="Noto Sans KR"/>
              </a:rPr>
              <a:t>CLEAN 검증</a:t>
            </a:r>
          </a:p>
        </p:txBody>
      </p:sp>
      <p:sp>
        <p:nvSpPr>
          <p:cNvPr id="23" name="Rectangle 22"/>
          <p:cNvSpPr/>
          <p:nvPr/>
        </p:nvSpPr>
        <p:spPr>
          <a:xfrm>
            <a:off x="1737360" y="3309238"/>
            <a:ext cx="930101" cy="256032"/>
          </a:xfrm>
          <a:prstGeom prst="rect">
            <a:avLst/>
          </a:prstGeom>
          <a:solidFill>
            <a:srgbClr val="ECEEF0"/>
          </a:solidFill>
          <a:ln>
            <a:noFill/>
          </a:ln>
        </p:spPr>
        <p:txBody>
          <a:bodyPr rtlCol="0" anchor="ctr"/>
          <a:lstStyle/>
          <a:p>
            <a:pPr algn="ctr"/>
          </a:p>
        </p:txBody>
      </p:sp>
      <p:sp>
        <p:nvSpPr>
          <p:cNvPr id="24" name="TextBox 23"/>
          <p:cNvSpPr txBox="1"/>
          <p:nvPr/>
        </p:nvSpPr>
        <p:spPr>
          <a:xfrm>
            <a:off x="1737360" y="3309238"/>
            <a:ext cx="930101" cy="25603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Adaptive Grasp</a:t>
            </a:r>
          </a:p>
        </p:txBody>
      </p:sp>
      <p:sp>
        <p:nvSpPr>
          <p:cNvPr id="25" name="Rectangle 24"/>
          <p:cNvSpPr/>
          <p:nvPr/>
        </p:nvSpPr>
        <p:spPr>
          <a:xfrm>
            <a:off x="2708609" y="3309238"/>
            <a:ext cx="1138124" cy="256032"/>
          </a:xfrm>
          <a:prstGeom prst="rect">
            <a:avLst/>
          </a:prstGeom>
          <a:solidFill>
            <a:srgbClr val="ECEEF0"/>
          </a:solidFill>
          <a:ln>
            <a:noFill/>
          </a:ln>
        </p:spPr>
        <p:txBody>
          <a:bodyPr rtlCol="0" anchor="ctr"/>
          <a:lstStyle/>
          <a:p>
            <a:pPr algn="ctr"/>
          </a:p>
        </p:txBody>
      </p:sp>
      <p:sp>
        <p:nvSpPr>
          <p:cNvPr id="26" name="TextBox 25"/>
          <p:cNvSpPr txBox="1"/>
          <p:nvPr/>
        </p:nvSpPr>
        <p:spPr>
          <a:xfrm>
            <a:off x="2708609" y="3309238"/>
            <a:ext cx="1138124" cy="25603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Object Recognition</a:t>
            </a:r>
          </a:p>
        </p:txBody>
      </p:sp>
      <p:sp>
        <p:nvSpPr>
          <p:cNvPr id="27" name="Rectangle 26"/>
          <p:cNvSpPr/>
          <p:nvPr/>
        </p:nvSpPr>
        <p:spPr>
          <a:xfrm>
            <a:off x="3887881" y="3309238"/>
            <a:ext cx="998329" cy="256032"/>
          </a:xfrm>
          <a:prstGeom prst="rect">
            <a:avLst/>
          </a:prstGeom>
          <a:solidFill>
            <a:srgbClr val="ECEEF0"/>
          </a:solidFill>
          <a:ln>
            <a:noFill/>
          </a:ln>
        </p:spPr>
        <p:txBody>
          <a:bodyPr rtlCol="0" anchor="ctr"/>
          <a:lstStyle/>
          <a:p>
            <a:pPr algn="ctr"/>
          </a:p>
        </p:txBody>
      </p:sp>
      <p:sp>
        <p:nvSpPr>
          <p:cNvPr id="28" name="TextBox 27"/>
          <p:cNvSpPr txBox="1"/>
          <p:nvPr/>
        </p:nvSpPr>
        <p:spPr>
          <a:xfrm>
            <a:off x="3887881" y="3309238"/>
            <a:ext cx="998329" cy="25603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Motion Planning</a:t>
            </a:r>
          </a:p>
        </p:txBody>
      </p:sp>
      <p:sp>
        <p:nvSpPr>
          <p:cNvPr id="29" name="Rectangle 28"/>
          <p:cNvSpPr/>
          <p:nvPr/>
        </p:nvSpPr>
        <p:spPr>
          <a:xfrm>
            <a:off x="4927358" y="3309238"/>
            <a:ext cx="1263886" cy="256032"/>
          </a:xfrm>
          <a:prstGeom prst="rect">
            <a:avLst/>
          </a:prstGeom>
          <a:solidFill>
            <a:srgbClr val="ECEEF0"/>
          </a:solidFill>
          <a:ln>
            <a:noFill/>
          </a:ln>
        </p:spPr>
        <p:txBody>
          <a:bodyPr rtlCol="0" anchor="ctr"/>
          <a:lstStyle/>
          <a:p>
            <a:pPr algn="ctr"/>
          </a:p>
        </p:txBody>
      </p:sp>
      <p:sp>
        <p:nvSpPr>
          <p:cNvPr id="30" name="TextBox 29"/>
          <p:cNvSpPr txBox="1"/>
          <p:nvPr/>
        </p:nvSpPr>
        <p:spPr>
          <a:xfrm>
            <a:off x="4927358" y="3309238"/>
            <a:ext cx="1263886" cy="25603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Appliance Interaction</a:t>
            </a:r>
          </a:p>
        </p:txBody>
      </p:sp>
      <p:sp>
        <p:nvSpPr>
          <p:cNvPr id="31" name="Rectangle 30"/>
          <p:cNvSpPr/>
          <p:nvPr/>
        </p:nvSpPr>
        <p:spPr>
          <a:xfrm>
            <a:off x="6232393" y="3309238"/>
            <a:ext cx="1145360" cy="256032"/>
          </a:xfrm>
          <a:prstGeom prst="rect">
            <a:avLst/>
          </a:prstGeom>
          <a:solidFill>
            <a:srgbClr val="ECEEF0"/>
          </a:solidFill>
          <a:ln>
            <a:noFill/>
          </a:ln>
        </p:spPr>
        <p:txBody>
          <a:bodyPr rtlCol="0" anchor="ctr"/>
          <a:lstStyle/>
          <a:p>
            <a:pPr algn="ctr"/>
          </a:p>
        </p:txBody>
      </p:sp>
      <p:sp>
        <p:nvSpPr>
          <p:cNvPr id="32" name="TextBox 31"/>
          <p:cNvSpPr txBox="1"/>
          <p:nvPr/>
        </p:nvSpPr>
        <p:spPr>
          <a:xfrm>
            <a:off x="6232393" y="3309238"/>
            <a:ext cx="1145360" cy="25603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Storage Interaction</a:t>
            </a:r>
          </a:p>
        </p:txBody>
      </p:sp>
      <p:sp>
        <p:nvSpPr>
          <p:cNvPr id="33" name="Rectangle 32"/>
          <p:cNvSpPr/>
          <p:nvPr/>
        </p:nvSpPr>
        <p:spPr>
          <a:xfrm>
            <a:off x="7418901" y="3309238"/>
            <a:ext cx="718401" cy="256032"/>
          </a:xfrm>
          <a:prstGeom prst="rect">
            <a:avLst/>
          </a:prstGeom>
          <a:solidFill>
            <a:srgbClr val="ECEEF0"/>
          </a:solidFill>
          <a:ln>
            <a:noFill/>
          </a:ln>
        </p:spPr>
        <p:txBody>
          <a:bodyPr rtlCol="0" anchor="ctr"/>
          <a:lstStyle/>
          <a:p>
            <a:pPr algn="ctr"/>
          </a:p>
        </p:txBody>
      </p:sp>
      <p:sp>
        <p:nvSpPr>
          <p:cNvPr id="34" name="TextBox 33"/>
          <p:cNvSpPr txBox="1"/>
          <p:nvPr/>
        </p:nvSpPr>
        <p:spPr>
          <a:xfrm>
            <a:off x="7418901" y="3309238"/>
            <a:ext cx="718401" cy="25603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Calibration</a:t>
            </a:r>
          </a:p>
        </p:txBody>
      </p:sp>
      <p:sp>
        <p:nvSpPr>
          <p:cNvPr id="35" name="Rectangle 34"/>
          <p:cNvSpPr/>
          <p:nvPr/>
        </p:nvSpPr>
        <p:spPr>
          <a:xfrm>
            <a:off x="8178450" y="3309238"/>
            <a:ext cx="465789" cy="256032"/>
          </a:xfrm>
          <a:prstGeom prst="rect">
            <a:avLst/>
          </a:prstGeom>
          <a:solidFill>
            <a:srgbClr val="ECEEF0"/>
          </a:solidFill>
          <a:ln>
            <a:noFill/>
          </a:ln>
        </p:spPr>
        <p:txBody>
          <a:bodyPr rtlCol="0" anchor="ctr"/>
          <a:lstStyle/>
          <a:p>
            <a:pPr algn="ctr"/>
          </a:p>
        </p:txBody>
      </p:sp>
      <p:sp>
        <p:nvSpPr>
          <p:cNvPr id="36" name="TextBox 35"/>
          <p:cNvSpPr txBox="1"/>
          <p:nvPr/>
        </p:nvSpPr>
        <p:spPr>
          <a:xfrm>
            <a:off x="8178450" y="3309238"/>
            <a:ext cx="465789" cy="25603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Safety</a:t>
            </a:r>
          </a:p>
        </p:txBody>
      </p:sp>
      <p:sp>
        <p:nvSpPr>
          <p:cNvPr id="37" name="Rectangle 36"/>
          <p:cNvSpPr/>
          <p:nvPr/>
        </p:nvSpPr>
        <p:spPr>
          <a:xfrm>
            <a:off x="8685388" y="3309238"/>
            <a:ext cx="1005236" cy="256032"/>
          </a:xfrm>
          <a:prstGeom prst="rect">
            <a:avLst/>
          </a:prstGeom>
          <a:solidFill>
            <a:srgbClr val="ECEEF0"/>
          </a:solidFill>
          <a:ln>
            <a:noFill/>
          </a:ln>
        </p:spPr>
        <p:txBody>
          <a:bodyPr rtlCol="0" anchor="ctr"/>
          <a:lstStyle/>
          <a:p>
            <a:pPr algn="ctr"/>
          </a:p>
        </p:txBody>
      </p:sp>
      <p:sp>
        <p:nvSpPr>
          <p:cNvPr id="38" name="TextBox 37"/>
          <p:cNvSpPr txBox="1"/>
          <p:nvPr/>
        </p:nvSpPr>
        <p:spPr>
          <a:xfrm>
            <a:off x="8685388" y="3309238"/>
            <a:ext cx="1005236" cy="25603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Failure Recovery</a:t>
            </a:r>
          </a:p>
        </p:txBody>
      </p:sp>
      <p:sp>
        <p:nvSpPr>
          <p:cNvPr id="39" name="Rectangle 38"/>
          <p:cNvSpPr/>
          <p:nvPr/>
        </p:nvSpPr>
        <p:spPr>
          <a:xfrm>
            <a:off x="9731772" y="3309238"/>
            <a:ext cx="1138234" cy="256032"/>
          </a:xfrm>
          <a:prstGeom prst="rect">
            <a:avLst/>
          </a:prstGeom>
          <a:solidFill>
            <a:srgbClr val="ECEEF0"/>
          </a:solidFill>
          <a:ln>
            <a:noFill/>
          </a:ln>
        </p:spPr>
        <p:txBody>
          <a:bodyPr rtlCol="0" anchor="ctr"/>
          <a:lstStyle/>
          <a:p>
            <a:pPr algn="ctr"/>
          </a:p>
        </p:txBody>
      </p:sp>
      <p:sp>
        <p:nvSpPr>
          <p:cNvPr id="40" name="TextBox 39"/>
          <p:cNvSpPr txBox="1"/>
          <p:nvPr/>
        </p:nvSpPr>
        <p:spPr>
          <a:xfrm>
            <a:off x="9731772" y="3309238"/>
            <a:ext cx="1138234" cy="256032"/>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반복 Task Execution</a:t>
            </a:r>
          </a:p>
        </p:txBody>
      </p:sp>
      <p:sp>
        <p:nvSpPr>
          <p:cNvPr id="41" name="Rectangle 40"/>
          <p:cNvSpPr/>
          <p:nvPr/>
        </p:nvSpPr>
        <p:spPr>
          <a:xfrm>
            <a:off x="685800" y="3766438"/>
            <a:ext cx="3350666" cy="2232025"/>
          </a:xfrm>
          <a:prstGeom prst="rect">
            <a:avLst/>
          </a:prstGeom>
          <a:solidFill>
            <a:srgbClr val="15171A"/>
          </a:solidFill>
          <a:ln>
            <a:noFill/>
          </a:ln>
        </p:spPr>
        <p:txBody>
          <a:bodyPr rtlCol="0" anchor="ctr"/>
          <a:lstStyle/>
          <a:p>
            <a:pPr algn="ctr"/>
          </a:p>
        </p:txBody>
      </p:sp>
      <p:sp>
        <p:nvSpPr>
          <p:cNvPr id="42" name="TextBox 41"/>
          <p:cNvSpPr txBox="1"/>
          <p:nvPr/>
        </p:nvSpPr>
        <p:spPr>
          <a:xfrm>
            <a:off x="868680" y="3876166"/>
            <a:ext cx="2984906" cy="201168"/>
          </a:xfrm>
          <a:prstGeom prst="rect">
            <a:avLst/>
          </a:prstGeom>
          <a:noFill/>
        </p:spPr>
        <p:txBody>
          <a:bodyPr wrap="square" lIns="0" rIns="0" tIns="0" bIns="0" anchor="t">
            <a:spAutoFit/>
          </a:bodyPr>
          <a:lstStyle/>
          <a:p>
            <a:pPr algn="l">
              <a:lnSpc>
                <a:spcPct val="100000"/>
              </a:lnSpc>
            </a:pPr>
            <a:r>
              <a:rPr sz="900" b="1">
                <a:solidFill>
                  <a:srgbClr val="A9AEB5"/>
                </a:solidFill>
                <a:latin typeface="Noto Sans KR"/>
                <a:ea typeface="Noto Sans KR"/>
                <a:cs typeface="Noto Sans KR"/>
              </a:rPr>
              <a:t>초기 · 기술검증</a:t>
            </a:r>
          </a:p>
        </p:txBody>
      </p:sp>
      <p:sp>
        <p:nvSpPr>
          <p:cNvPr id="43" name="TextBox 42"/>
          <p:cNvSpPr txBox="1"/>
          <p:nvPr/>
        </p:nvSpPr>
        <p:spPr>
          <a:xfrm>
            <a:off x="868680" y="4077334"/>
            <a:ext cx="2984906" cy="384048"/>
          </a:xfrm>
          <a:prstGeom prst="rect">
            <a:avLst/>
          </a:prstGeom>
          <a:noFill/>
        </p:spPr>
        <p:txBody>
          <a:bodyPr wrap="square" lIns="0" rIns="0" tIns="0" bIns="0" anchor="t">
            <a:spAutoFit/>
          </a:bodyPr>
          <a:lstStyle/>
          <a:p>
            <a:pPr algn="l">
              <a:lnSpc>
                <a:spcPct val="100000"/>
              </a:lnSpc>
            </a:pPr>
            <a:r>
              <a:rPr sz="1900" b="1">
                <a:solidFill>
                  <a:srgbClr val="FFFFFF"/>
                </a:solidFill>
                <a:latin typeface="Noto Sans KR"/>
                <a:ea typeface="Noto Sans KR"/>
                <a:cs typeface="Noto Sans KR"/>
              </a:rPr>
              <a:t>CLEAN</a:t>
            </a:r>
          </a:p>
        </p:txBody>
      </p:sp>
      <p:sp>
        <p:nvSpPr>
          <p:cNvPr id="44" name="TextBox 43"/>
          <p:cNvSpPr txBox="1"/>
          <p:nvPr/>
        </p:nvSpPr>
        <p:spPr>
          <a:xfrm>
            <a:off x="868680" y="4516247"/>
            <a:ext cx="2984906" cy="566928"/>
          </a:xfrm>
          <a:prstGeom prst="rect">
            <a:avLst/>
          </a:prstGeom>
          <a:noFill/>
        </p:spPr>
        <p:txBody>
          <a:bodyPr wrap="square" lIns="0" rIns="0" tIns="0" bIns="0" anchor="t">
            <a:spAutoFit/>
          </a:bodyPr>
          <a:lstStyle/>
          <a:p>
            <a:pPr algn="l">
              <a:lnSpc>
                <a:spcPct val="105000"/>
              </a:lnSpc>
            </a:pPr>
            <a:r>
              <a:rPr sz="1050" b="0">
                <a:solidFill>
                  <a:srgbClr val="D5D8DC"/>
                </a:solidFill>
                <a:latin typeface="Noto Sans KR"/>
                <a:ea typeface="Noto Sans KR"/>
                <a:cs typeface="Noto Sans KR"/>
              </a:rPr>
              <a:t>식기 이동 · Dishwasher Loading / Unloading · Storage Return</a:t>
            </a:r>
          </a:p>
        </p:txBody>
      </p:sp>
      <p:cxnSp>
        <p:nvCxnSpPr>
          <p:cNvPr id="45" name="Connector 44"/>
          <p:cNvCxnSpPr/>
          <p:nvPr/>
        </p:nvCxnSpPr>
        <p:spPr>
          <a:xfrm>
            <a:off x="868680" y="5431536"/>
            <a:ext cx="2984906" cy="0"/>
          </a:xfrm>
          <a:prstGeom prst="line">
            <a:avLst/>
          </a:prstGeom>
          <a:ln w="9525">
            <a:solidFill>
              <a:srgbClr val="3A3F46"/>
            </a:solidFill>
          </a:ln>
        </p:spPr>
      </p:cxnSp>
      <p:sp>
        <p:nvSpPr>
          <p:cNvPr id="46" name="TextBox 45"/>
          <p:cNvSpPr txBox="1"/>
          <p:nvPr/>
        </p:nvSpPr>
        <p:spPr>
          <a:xfrm>
            <a:off x="868680" y="5486400"/>
            <a:ext cx="2984906" cy="201168"/>
          </a:xfrm>
          <a:prstGeom prst="rect">
            <a:avLst/>
          </a:prstGeom>
          <a:noFill/>
        </p:spPr>
        <p:txBody>
          <a:bodyPr wrap="square" lIns="0" rIns="0" tIns="0" bIns="0" anchor="t">
            <a:spAutoFit/>
          </a:bodyPr>
          <a:lstStyle/>
          <a:p>
            <a:pPr algn="l">
              <a:lnSpc>
                <a:spcPct val="100000"/>
              </a:lnSpc>
            </a:pPr>
            <a:r>
              <a:rPr sz="850" b="1">
                <a:solidFill>
                  <a:srgbClr val="A9AEB5"/>
                </a:solidFill>
                <a:latin typeface="Noto Sans KR"/>
                <a:ea typeface="Noto Sans KR"/>
                <a:cs typeface="Noto Sans KR"/>
              </a:rPr>
              <a:t>추가되는 것</a:t>
            </a:r>
          </a:p>
        </p:txBody>
      </p:sp>
      <p:sp>
        <p:nvSpPr>
          <p:cNvPr id="47" name="TextBox 46"/>
          <p:cNvSpPr txBox="1"/>
          <p:nvPr/>
        </p:nvSpPr>
        <p:spPr>
          <a:xfrm>
            <a:off x="868680" y="5696712"/>
            <a:ext cx="2984906" cy="237744"/>
          </a:xfrm>
          <a:prstGeom prst="rect">
            <a:avLst/>
          </a:prstGeom>
          <a:noFill/>
        </p:spPr>
        <p:txBody>
          <a:bodyPr wrap="square" lIns="0" rIns="0" tIns="0" bIns="0" anchor="t">
            <a:spAutoFit/>
          </a:bodyPr>
          <a:lstStyle/>
          <a:p>
            <a:pPr algn="l">
              <a:lnSpc>
                <a:spcPct val="100000"/>
              </a:lnSpc>
            </a:pPr>
            <a:r>
              <a:rPr sz="950" b="1">
                <a:solidFill>
                  <a:srgbClr val="FFFFFF"/>
                </a:solidFill>
                <a:latin typeface="Noto Sans KR"/>
                <a:ea typeface="Noto Sans KR"/>
                <a:cs typeface="Noto Sans KR"/>
              </a:rPr>
              <a:t>기본 Skill 4종 · 식세기 Interface · Storage Dock</a:t>
            </a:r>
          </a:p>
        </p:txBody>
      </p:sp>
      <p:cxnSp>
        <p:nvCxnSpPr>
          <p:cNvPr id="48" name="Connector 47"/>
          <p:cNvCxnSpPr/>
          <p:nvPr/>
        </p:nvCxnSpPr>
        <p:spPr>
          <a:xfrm>
            <a:off x="4073042" y="4882451"/>
            <a:ext cx="310896" cy="0"/>
          </a:xfrm>
          <a:prstGeom prst="line">
            <a:avLst/>
          </a:prstGeom>
          <a:ln w="19050">
            <a:solidFill>
              <a:srgbClr val="8C9198"/>
            </a:solidFill>
            <a:tailEnd type="triangle" w="med" len="med"/>
          </a:ln>
        </p:spPr>
      </p:cxnSp>
      <p:sp>
        <p:nvSpPr>
          <p:cNvPr id="49" name="Rectangle 48"/>
          <p:cNvSpPr/>
          <p:nvPr/>
        </p:nvSpPr>
        <p:spPr>
          <a:xfrm>
            <a:off x="4420514" y="3766438"/>
            <a:ext cx="3350666" cy="2232025"/>
          </a:xfrm>
          <a:prstGeom prst="rect">
            <a:avLst/>
          </a:prstGeom>
          <a:solidFill>
            <a:srgbClr val="F4F5F6"/>
          </a:solidFill>
          <a:ln>
            <a:noFill/>
          </a:ln>
        </p:spPr>
        <p:txBody>
          <a:bodyPr rtlCol="0" anchor="ctr"/>
          <a:lstStyle/>
          <a:p>
            <a:pPr algn="ctr"/>
          </a:p>
        </p:txBody>
      </p:sp>
      <p:sp>
        <p:nvSpPr>
          <p:cNvPr id="50" name="TextBox 49"/>
          <p:cNvSpPr txBox="1"/>
          <p:nvPr/>
        </p:nvSpPr>
        <p:spPr>
          <a:xfrm>
            <a:off x="4603394" y="3876166"/>
            <a:ext cx="2984906" cy="201168"/>
          </a:xfrm>
          <a:prstGeom prst="rect">
            <a:avLst/>
          </a:prstGeom>
          <a:noFill/>
        </p:spPr>
        <p:txBody>
          <a:bodyPr wrap="square" lIns="0" rIns="0" tIns="0" bIns="0" anchor="t">
            <a:spAutoFit/>
          </a:bodyPr>
          <a:lstStyle/>
          <a:p>
            <a:pPr algn="l">
              <a:lnSpc>
                <a:spcPct val="100000"/>
              </a:lnSpc>
            </a:pPr>
            <a:r>
              <a:rPr sz="900" b="1">
                <a:solidFill>
                  <a:srgbClr val="8C9198"/>
                </a:solidFill>
                <a:latin typeface="Noto Sans KR"/>
                <a:ea typeface="Noto Sans KR"/>
                <a:cs typeface="Noto Sans KR"/>
              </a:rPr>
              <a:t>중기 · 기능 확장</a:t>
            </a:r>
          </a:p>
        </p:txBody>
      </p:sp>
      <p:sp>
        <p:nvSpPr>
          <p:cNvPr id="51" name="TextBox 50"/>
          <p:cNvSpPr txBox="1"/>
          <p:nvPr/>
        </p:nvSpPr>
        <p:spPr>
          <a:xfrm>
            <a:off x="4603394" y="4077334"/>
            <a:ext cx="2984906" cy="384048"/>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ASSIST</a:t>
            </a:r>
          </a:p>
        </p:txBody>
      </p:sp>
      <p:sp>
        <p:nvSpPr>
          <p:cNvPr id="52" name="TextBox 51"/>
          <p:cNvSpPr txBox="1"/>
          <p:nvPr/>
        </p:nvSpPr>
        <p:spPr>
          <a:xfrm>
            <a:off x="4603394" y="4516247"/>
            <a:ext cx="2984906" cy="566928"/>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재료 이동 · 재료 투입 · 젓기 · 뚜껑 조작 · Tool Handling</a:t>
            </a:r>
          </a:p>
        </p:txBody>
      </p:sp>
      <p:cxnSp>
        <p:nvCxnSpPr>
          <p:cNvPr id="53" name="Connector 52"/>
          <p:cNvCxnSpPr/>
          <p:nvPr/>
        </p:nvCxnSpPr>
        <p:spPr>
          <a:xfrm>
            <a:off x="4603394" y="5431536"/>
            <a:ext cx="2984906" cy="0"/>
          </a:xfrm>
          <a:prstGeom prst="line">
            <a:avLst/>
          </a:prstGeom>
          <a:ln w="9525">
            <a:solidFill>
              <a:srgbClr val="C9CDD2"/>
            </a:solidFill>
          </a:ln>
        </p:spPr>
      </p:cxnSp>
      <p:sp>
        <p:nvSpPr>
          <p:cNvPr id="54" name="TextBox 53"/>
          <p:cNvSpPr txBox="1"/>
          <p:nvPr/>
        </p:nvSpPr>
        <p:spPr>
          <a:xfrm>
            <a:off x="4603394" y="5486400"/>
            <a:ext cx="2984906" cy="201168"/>
          </a:xfrm>
          <a:prstGeom prst="rect">
            <a:avLst/>
          </a:prstGeom>
          <a:noFill/>
        </p:spPr>
        <p:txBody>
          <a:bodyPr wrap="square" lIns="0" rIns="0" tIns="0" bIns="0" anchor="t">
            <a:spAutoFit/>
          </a:bodyPr>
          <a:lstStyle/>
          <a:p>
            <a:pPr algn="l">
              <a:lnSpc>
                <a:spcPct val="100000"/>
              </a:lnSpc>
            </a:pPr>
            <a:r>
              <a:rPr sz="850" b="1">
                <a:solidFill>
                  <a:srgbClr val="8C9198"/>
                </a:solidFill>
                <a:latin typeface="Noto Sans KR"/>
                <a:ea typeface="Noto Sans KR"/>
                <a:cs typeface="Noto Sans KR"/>
              </a:rPr>
              <a:t>추가되는 것</a:t>
            </a:r>
          </a:p>
        </p:txBody>
      </p:sp>
      <p:sp>
        <p:nvSpPr>
          <p:cNvPr id="55" name="TextBox 54"/>
          <p:cNvSpPr txBox="1"/>
          <p:nvPr/>
        </p:nvSpPr>
        <p:spPr>
          <a:xfrm>
            <a:off x="4603394" y="5696712"/>
            <a:ext cx="2984906" cy="237744"/>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ASSIST Skill Pack · 집게 · 국자 · 뚜껑 Tool</a:t>
            </a:r>
          </a:p>
        </p:txBody>
      </p:sp>
      <p:cxnSp>
        <p:nvCxnSpPr>
          <p:cNvPr id="56" name="Connector 55"/>
          <p:cNvCxnSpPr/>
          <p:nvPr/>
        </p:nvCxnSpPr>
        <p:spPr>
          <a:xfrm>
            <a:off x="7807756" y="4882451"/>
            <a:ext cx="310896" cy="0"/>
          </a:xfrm>
          <a:prstGeom prst="line">
            <a:avLst/>
          </a:prstGeom>
          <a:ln w="19050">
            <a:solidFill>
              <a:srgbClr val="8C9198"/>
            </a:solidFill>
            <a:tailEnd type="triangle" w="med" len="med"/>
          </a:ln>
        </p:spPr>
      </p:cxnSp>
      <p:sp>
        <p:nvSpPr>
          <p:cNvPr id="57" name="Rectangle 56"/>
          <p:cNvSpPr/>
          <p:nvPr/>
        </p:nvSpPr>
        <p:spPr>
          <a:xfrm>
            <a:off x="8155228" y="3766438"/>
            <a:ext cx="3350666" cy="2232025"/>
          </a:xfrm>
          <a:prstGeom prst="rect">
            <a:avLst/>
          </a:prstGeom>
          <a:solidFill>
            <a:srgbClr val="FFFFFF"/>
          </a:solidFill>
          <a:ln w="9525">
            <a:solidFill>
              <a:srgbClr val="C9CDD2"/>
            </a:solidFill>
          </a:ln>
        </p:spPr>
        <p:txBody>
          <a:bodyPr rtlCol="0" anchor="ctr"/>
          <a:lstStyle/>
          <a:p>
            <a:pPr algn="ctr"/>
          </a:p>
        </p:txBody>
      </p:sp>
      <p:sp>
        <p:nvSpPr>
          <p:cNvPr id="58" name="TextBox 57"/>
          <p:cNvSpPr txBox="1"/>
          <p:nvPr/>
        </p:nvSpPr>
        <p:spPr>
          <a:xfrm>
            <a:off x="8338108" y="3876166"/>
            <a:ext cx="2984906" cy="201168"/>
          </a:xfrm>
          <a:prstGeom prst="rect">
            <a:avLst/>
          </a:prstGeom>
          <a:noFill/>
        </p:spPr>
        <p:txBody>
          <a:bodyPr wrap="square" lIns="0" rIns="0" tIns="0" bIns="0" anchor="t">
            <a:spAutoFit/>
          </a:bodyPr>
          <a:lstStyle/>
          <a:p>
            <a:pPr algn="l">
              <a:lnSpc>
                <a:spcPct val="100000"/>
              </a:lnSpc>
            </a:pPr>
            <a:r>
              <a:rPr sz="900" b="1">
                <a:solidFill>
                  <a:srgbClr val="8C9198"/>
                </a:solidFill>
                <a:latin typeface="Noto Sans KR"/>
                <a:ea typeface="Noto Sans KR"/>
                <a:cs typeface="Noto Sans KR"/>
              </a:rPr>
              <a:t>장기 · R&amp;D 방향</a:t>
            </a:r>
          </a:p>
        </p:txBody>
      </p:sp>
      <p:sp>
        <p:nvSpPr>
          <p:cNvPr id="59" name="TextBox 58"/>
          <p:cNvSpPr txBox="1"/>
          <p:nvPr/>
        </p:nvSpPr>
        <p:spPr>
          <a:xfrm>
            <a:off x="8338108" y="4077334"/>
            <a:ext cx="2984906" cy="384048"/>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COOK</a:t>
            </a:r>
          </a:p>
        </p:txBody>
      </p:sp>
      <p:sp>
        <p:nvSpPr>
          <p:cNvPr id="60" name="TextBox 59"/>
          <p:cNvSpPr txBox="1"/>
          <p:nvPr/>
        </p:nvSpPr>
        <p:spPr>
          <a:xfrm>
            <a:off x="8338108" y="4516247"/>
            <a:ext cx="2984906" cy="566928"/>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Recipe Workflow · 복수 Skill 연결 · Appliance 연동 · 조리 · 조리 후 정리</a:t>
            </a:r>
          </a:p>
        </p:txBody>
      </p:sp>
      <p:cxnSp>
        <p:nvCxnSpPr>
          <p:cNvPr id="61" name="Connector 60"/>
          <p:cNvCxnSpPr/>
          <p:nvPr/>
        </p:nvCxnSpPr>
        <p:spPr>
          <a:xfrm>
            <a:off x="8338108" y="5431536"/>
            <a:ext cx="2984907" cy="0"/>
          </a:xfrm>
          <a:prstGeom prst="line">
            <a:avLst/>
          </a:prstGeom>
          <a:ln w="9525">
            <a:solidFill>
              <a:srgbClr val="C9CDD2"/>
            </a:solidFill>
          </a:ln>
        </p:spPr>
      </p:cxnSp>
      <p:sp>
        <p:nvSpPr>
          <p:cNvPr id="62" name="TextBox 61"/>
          <p:cNvSpPr txBox="1"/>
          <p:nvPr/>
        </p:nvSpPr>
        <p:spPr>
          <a:xfrm>
            <a:off x="8338108" y="5486400"/>
            <a:ext cx="2984906" cy="201168"/>
          </a:xfrm>
          <a:prstGeom prst="rect">
            <a:avLst/>
          </a:prstGeom>
          <a:noFill/>
        </p:spPr>
        <p:txBody>
          <a:bodyPr wrap="square" lIns="0" rIns="0" tIns="0" bIns="0" anchor="t">
            <a:spAutoFit/>
          </a:bodyPr>
          <a:lstStyle/>
          <a:p>
            <a:pPr algn="l">
              <a:lnSpc>
                <a:spcPct val="100000"/>
              </a:lnSpc>
            </a:pPr>
            <a:r>
              <a:rPr sz="850" b="1">
                <a:solidFill>
                  <a:srgbClr val="8C9198"/>
                </a:solidFill>
                <a:latin typeface="Noto Sans KR"/>
                <a:ea typeface="Noto Sans KR"/>
                <a:cs typeface="Noto Sans KR"/>
              </a:rPr>
              <a:t>추가되는 것</a:t>
            </a:r>
          </a:p>
        </p:txBody>
      </p:sp>
      <p:sp>
        <p:nvSpPr>
          <p:cNvPr id="63" name="TextBox 62"/>
          <p:cNvSpPr txBox="1"/>
          <p:nvPr/>
        </p:nvSpPr>
        <p:spPr>
          <a:xfrm>
            <a:off x="8338108" y="5696712"/>
            <a:ext cx="2984906" cy="237744"/>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Recipe Skill · 가전 연동 · 식재료 Tool (식품접촉 규격)</a:t>
            </a:r>
          </a:p>
        </p:txBody>
      </p:sp>
      <p:sp>
        <p:nvSpPr>
          <p:cNvPr id="64" name="Rectangle 63"/>
          <p:cNvSpPr/>
          <p:nvPr/>
        </p:nvSpPr>
        <p:spPr>
          <a:xfrm>
            <a:off x="10545775" y="3894454"/>
            <a:ext cx="844345" cy="155448"/>
          </a:xfrm>
          <a:prstGeom prst="rect">
            <a:avLst/>
          </a:prstGeom>
          <a:noFill/>
          <a:ln w="6350">
            <a:solidFill>
              <a:srgbClr val="C9CDD2"/>
            </a:solidFill>
          </a:ln>
        </p:spPr>
        <p:txBody>
          <a:bodyPr rtlCol="0" anchor="ctr"/>
          <a:lstStyle/>
          <a:p>
            <a:pPr algn="ctr"/>
          </a:p>
        </p:txBody>
      </p:sp>
      <p:sp>
        <p:nvSpPr>
          <p:cNvPr id="65" name="TextBox 64"/>
          <p:cNvSpPr txBox="1"/>
          <p:nvPr/>
        </p:nvSpPr>
        <p:spPr>
          <a:xfrm>
            <a:off x="10545775" y="3894454"/>
            <a:ext cx="844345"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FUTURE CONCEPT</a:t>
            </a:r>
          </a:p>
        </p:txBody>
      </p:sp>
      <p:sp>
        <p:nvSpPr>
          <p:cNvPr id="66" name="TextBox 65"/>
          <p:cNvSpPr txBox="1"/>
          <p:nvPr/>
        </p:nvSpPr>
        <p:spPr>
          <a:xfrm>
            <a:off x="685800" y="6126480"/>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같은 Robot Platform + Skill 확장 + Tool 확장. COOK과 자율조리는 현재 검증 결과가 아닌 장기 R&amp;D 방향 (FUTURE CONCEPT).</a:t>
            </a:r>
          </a:p>
        </p:txBody>
      </p:sp>
      <p:sp>
        <p:nvSpPr>
          <p:cNvPr id="67" name="TextBox 6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68" name="TextBox 6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09  Existing / Remodeling / New-build</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제품은 하나, 설치 경로는 세 가지입니다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주방 전체를 획일화하지 않고 Integration 수준만 다르게 적용</a:t>
            </a:r>
          </a:p>
        </p:txBody>
      </p:sp>
      <p:sp>
        <p:nvSpPr>
          <p:cNvPr id="5" name="TextBox 4"/>
          <p:cNvSpPr txBox="1"/>
          <p:nvPr/>
        </p:nvSpPr>
        <p:spPr>
          <a:xfrm>
            <a:off x="2377440" y="1599310"/>
            <a:ext cx="2890418" cy="310896"/>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Existing Kitchen</a:t>
            </a:r>
          </a:p>
        </p:txBody>
      </p:sp>
      <p:sp>
        <p:nvSpPr>
          <p:cNvPr id="6" name="TextBox 5"/>
          <p:cNvSpPr txBox="1"/>
          <p:nvPr/>
        </p:nvSpPr>
        <p:spPr>
          <a:xfrm>
            <a:off x="2377440" y="1928494"/>
            <a:ext cx="289041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Retrofit</a:t>
            </a:r>
          </a:p>
        </p:txBody>
      </p:sp>
      <p:sp>
        <p:nvSpPr>
          <p:cNvPr id="7" name="Rectangle 6"/>
          <p:cNvSpPr/>
          <p:nvPr/>
        </p:nvSpPr>
        <p:spPr>
          <a:xfrm>
            <a:off x="2377440" y="2202815"/>
            <a:ext cx="329184" cy="109728"/>
          </a:xfrm>
          <a:prstGeom prst="rect">
            <a:avLst/>
          </a:prstGeom>
          <a:solidFill>
            <a:srgbClr val="15171A"/>
          </a:solidFill>
          <a:ln>
            <a:noFill/>
          </a:ln>
        </p:spPr>
        <p:txBody>
          <a:bodyPr rtlCol="0" anchor="ctr"/>
          <a:lstStyle/>
          <a:p>
            <a:pPr algn="ctr"/>
          </a:p>
        </p:txBody>
      </p:sp>
      <p:sp>
        <p:nvSpPr>
          <p:cNvPr id="8" name="Rectangle 7"/>
          <p:cNvSpPr/>
          <p:nvPr/>
        </p:nvSpPr>
        <p:spPr>
          <a:xfrm>
            <a:off x="2761488" y="2202815"/>
            <a:ext cx="329184" cy="109728"/>
          </a:xfrm>
          <a:prstGeom prst="rect">
            <a:avLst/>
          </a:prstGeom>
          <a:solidFill>
            <a:srgbClr val="ECEEF0"/>
          </a:solidFill>
          <a:ln>
            <a:noFill/>
          </a:ln>
        </p:spPr>
        <p:txBody>
          <a:bodyPr rtlCol="0" anchor="ctr"/>
          <a:lstStyle/>
          <a:p>
            <a:pPr algn="ctr"/>
          </a:p>
        </p:txBody>
      </p:sp>
      <p:sp>
        <p:nvSpPr>
          <p:cNvPr id="9" name="Rectangle 8"/>
          <p:cNvSpPr/>
          <p:nvPr/>
        </p:nvSpPr>
        <p:spPr>
          <a:xfrm>
            <a:off x="3145536" y="2202815"/>
            <a:ext cx="329184" cy="109728"/>
          </a:xfrm>
          <a:prstGeom prst="rect">
            <a:avLst/>
          </a:prstGeom>
          <a:solidFill>
            <a:srgbClr val="ECEEF0"/>
          </a:solidFill>
          <a:ln>
            <a:noFill/>
          </a:ln>
        </p:spPr>
        <p:txBody>
          <a:bodyPr rtlCol="0" anchor="ctr"/>
          <a:lstStyle/>
          <a:p>
            <a:pPr algn="ctr"/>
          </a:p>
        </p:txBody>
      </p:sp>
      <p:sp>
        <p:nvSpPr>
          <p:cNvPr id="10" name="TextBox 9"/>
          <p:cNvSpPr txBox="1"/>
          <p:nvPr/>
        </p:nvSpPr>
        <p:spPr>
          <a:xfrm>
            <a:off x="3611880" y="2147951"/>
            <a:ext cx="1655978" cy="219456"/>
          </a:xfrm>
          <a:prstGeom prst="rect">
            <a:avLst/>
          </a:prstGeom>
          <a:noFill/>
        </p:spPr>
        <p:txBody>
          <a:bodyPr wrap="square" lIns="0" rIns="0" tIns="0" bIns="0" anchor="t">
            <a:spAutoFit/>
          </a:bodyPr>
          <a:lstStyle/>
          <a:p>
            <a:pPr algn="l">
              <a:lnSpc>
                <a:spcPct val="100000"/>
              </a:lnSpc>
            </a:pPr>
            <a:r>
              <a:rPr sz="800" b="0">
                <a:solidFill>
                  <a:srgbClr val="8C9198"/>
                </a:solidFill>
                <a:latin typeface="Noto Sans KR"/>
                <a:ea typeface="Noto Sans KR"/>
                <a:cs typeface="Noto Sans KR"/>
              </a:rPr>
              <a:t>Integration 수준</a:t>
            </a:r>
          </a:p>
        </p:txBody>
      </p:sp>
      <p:sp>
        <p:nvSpPr>
          <p:cNvPr id="11" name="TextBox 10"/>
          <p:cNvSpPr txBox="1"/>
          <p:nvPr/>
        </p:nvSpPr>
        <p:spPr>
          <a:xfrm>
            <a:off x="5450738" y="1599310"/>
            <a:ext cx="2890418" cy="310896"/>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Remodeling</a:t>
            </a:r>
          </a:p>
        </p:txBody>
      </p:sp>
      <p:sp>
        <p:nvSpPr>
          <p:cNvPr id="12" name="TextBox 11"/>
          <p:cNvSpPr txBox="1"/>
          <p:nvPr/>
        </p:nvSpPr>
        <p:spPr>
          <a:xfrm>
            <a:off x="5450738" y="1928494"/>
            <a:ext cx="289041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Integration</a:t>
            </a:r>
          </a:p>
        </p:txBody>
      </p:sp>
      <p:sp>
        <p:nvSpPr>
          <p:cNvPr id="13" name="Rectangle 12"/>
          <p:cNvSpPr/>
          <p:nvPr/>
        </p:nvSpPr>
        <p:spPr>
          <a:xfrm>
            <a:off x="5450738" y="2202815"/>
            <a:ext cx="329184" cy="109728"/>
          </a:xfrm>
          <a:prstGeom prst="rect">
            <a:avLst/>
          </a:prstGeom>
          <a:solidFill>
            <a:srgbClr val="15171A"/>
          </a:solidFill>
          <a:ln>
            <a:noFill/>
          </a:ln>
        </p:spPr>
        <p:txBody>
          <a:bodyPr rtlCol="0" anchor="ctr"/>
          <a:lstStyle/>
          <a:p>
            <a:pPr algn="ctr"/>
          </a:p>
        </p:txBody>
      </p:sp>
      <p:sp>
        <p:nvSpPr>
          <p:cNvPr id="14" name="Rectangle 13"/>
          <p:cNvSpPr/>
          <p:nvPr/>
        </p:nvSpPr>
        <p:spPr>
          <a:xfrm>
            <a:off x="5834786" y="2202815"/>
            <a:ext cx="329184" cy="109728"/>
          </a:xfrm>
          <a:prstGeom prst="rect">
            <a:avLst/>
          </a:prstGeom>
          <a:solidFill>
            <a:srgbClr val="15171A"/>
          </a:solidFill>
          <a:ln>
            <a:noFill/>
          </a:ln>
        </p:spPr>
        <p:txBody>
          <a:bodyPr rtlCol="0" anchor="ctr"/>
          <a:lstStyle/>
          <a:p>
            <a:pPr algn="ctr"/>
          </a:p>
        </p:txBody>
      </p:sp>
      <p:sp>
        <p:nvSpPr>
          <p:cNvPr id="15" name="Rectangle 14"/>
          <p:cNvSpPr/>
          <p:nvPr/>
        </p:nvSpPr>
        <p:spPr>
          <a:xfrm>
            <a:off x="6218834" y="2202815"/>
            <a:ext cx="329184" cy="109728"/>
          </a:xfrm>
          <a:prstGeom prst="rect">
            <a:avLst/>
          </a:prstGeom>
          <a:solidFill>
            <a:srgbClr val="ECEEF0"/>
          </a:solidFill>
          <a:ln>
            <a:noFill/>
          </a:ln>
        </p:spPr>
        <p:txBody>
          <a:bodyPr rtlCol="0" anchor="ctr"/>
          <a:lstStyle/>
          <a:p>
            <a:pPr algn="ctr"/>
          </a:p>
        </p:txBody>
      </p:sp>
      <p:sp>
        <p:nvSpPr>
          <p:cNvPr id="16" name="TextBox 15"/>
          <p:cNvSpPr txBox="1"/>
          <p:nvPr/>
        </p:nvSpPr>
        <p:spPr>
          <a:xfrm>
            <a:off x="6685178" y="2147951"/>
            <a:ext cx="1655978" cy="219456"/>
          </a:xfrm>
          <a:prstGeom prst="rect">
            <a:avLst/>
          </a:prstGeom>
          <a:noFill/>
        </p:spPr>
        <p:txBody>
          <a:bodyPr wrap="square" lIns="0" rIns="0" tIns="0" bIns="0" anchor="t">
            <a:spAutoFit/>
          </a:bodyPr>
          <a:lstStyle/>
          <a:p>
            <a:pPr algn="l">
              <a:lnSpc>
                <a:spcPct val="100000"/>
              </a:lnSpc>
            </a:pPr>
            <a:r>
              <a:rPr sz="800" b="0">
                <a:solidFill>
                  <a:srgbClr val="8C9198"/>
                </a:solidFill>
                <a:latin typeface="Noto Sans KR"/>
                <a:ea typeface="Noto Sans KR"/>
                <a:cs typeface="Noto Sans KR"/>
              </a:rPr>
              <a:t>Integration 수준</a:t>
            </a:r>
          </a:p>
        </p:txBody>
      </p:sp>
      <p:sp>
        <p:nvSpPr>
          <p:cNvPr id="17" name="TextBox 16"/>
          <p:cNvSpPr txBox="1"/>
          <p:nvPr/>
        </p:nvSpPr>
        <p:spPr>
          <a:xfrm>
            <a:off x="8524036" y="1599310"/>
            <a:ext cx="2890418" cy="310896"/>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New-build</a:t>
            </a:r>
          </a:p>
        </p:txBody>
      </p:sp>
      <p:sp>
        <p:nvSpPr>
          <p:cNvPr id="18" name="TextBox 17"/>
          <p:cNvSpPr txBox="1"/>
          <p:nvPr/>
        </p:nvSpPr>
        <p:spPr>
          <a:xfrm>
            <a:off x="8524036" y="1928494"/>
            <a:ext cx="289041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설계 반영</a:t>
            </a:r>
          </a:p>
        </p:txBody>
      </p:sp>
      <p:sp>
        <p:nvSpPr>
          <p:cNvPr id="19" name="Rectangle 18"/>
          <p:cNvSpPr/>
          <p:nvPr/>
        </p:nvSpPr>
        <p:spPr>
          <a:xfrm>
            <a:off x="8524036" y="2202815"/>
            <a:ext cx="329184" cy="109728"/>
          </a:xfrm>
          <a:prstGeom prst="rect">
            <a:avLst/>
          </a:prstGeom>
          <a:solidFill>
            <a:srgbClr val="15171A"/>
          </a:solidFill>
          <a:ln>
            <a:noFill/>
          </a:ln>
        </p:spPr>
        <p:txBody>
          <a:bodyPr rtlCol="0" anchor="ctr"/>
          <a:lstStyle/>
          <a:p>
            <a:pPr algn="ctr"/>
          </a:p>
        </p:txBody>
      </p:sp>
      <p:sp>
        <p:nvSpPr>
          <p:cNvPr id="20" name="Rectangle 19"/>
          <p:cNvSpPr/>
          <p:nvPr/>
        </p:nvSpPr>
        <p:spPr>
          <a:xfrm>
            <a:off x="8908084" y="2202815"/>
            <a:ext cx="329184" cy="109728"/>
          </a:xfrm>
          <a:prstGeom prst="rect">
            <a:avLst/>
          </a:prstGeom>
          <a:solidFill>
            <a:srgbClr val="15171A"/>
          </a:solidFill>
          <a:ln>
            <a:noFill/>
          </a:ln>
        </p:spPr>
        <p:txBody>
          <a:bodyPr rtlCol="0" anchor="ctr"/>
          <a:lstStyle/>
          <a:p>
            <a:pPr algn="ctr"/>
          </a:p>
        </p:txBody>
      </p:sp>
      <p:sp>
        <p:nvSpPr>
          <p:cNvPr id="21" name="Rectangle 20"/>
          <p:cNvSpPr/>
          <p:nvPr/>
        </p:nvSpPr>
        <p:spPr>
          <a:xfrm>
            <a:off x="9292132" y="2202815"/>
            <a:ext cx="329184" cy="109728"/>
          </a:xfrm>
          <a:prstGeom prst="rect">
            <a:avLst/>
          </a:prstGeom>
          <a:solidFill>
            <a:srgbClr val="15171A"/>
          </a:solidFill>
          <a:ln>
            <a:noFill/>
          </a:ln>
        </p:spPr>
        <p:txBody>
          <a:bodyPr rtlCol="0" anchor="ctr"/>
          <a:lstStyle/>
          <a:p>
            <a:pPr algn="ctr"/>
          </a:p>
        </p:txBody>
      </p:sp>
      <p:sp>
        <p:nvSpPr>
          <p:cNvPr id="22" name="TextBox 21"/>
          <p:cNvSpPr txBox="1"/>
          <p:nvPr/>
        </p:nvSpPr>
        <p:spPr>
          <a:xfrm>
            <a:off x="9758476" y="2147951"/>
            <a:ext cx="1655978" cy="219456"/>
          </a:xfrm>
          <a:prstGeom prst="rect">
            <a:avLst/>
          </a:prstGeom>
          <a:noFill/>
        </p:spPr>
        <p:txBody>
          <a:bodyPr wrap="square" lIns="0" rIns="0" tIns="0" bIns="0" anchor="t">
            <a:spAutoFit/>
          </a:bodyPr>
          <a:lstStyle/>
          <a:p>
            <a:pPr algn="l">
              <a:lnSpc>
                <a:spcPct val="100000"/>
              </a:lnSpc>
            </a:pPr>
            <a:r>
              <a:rPr sz="800" b="0">
                <a:solidFill>
                  <a:srgbClr val="8C9198"/>
                </a:solidFill>
                <a:latin typeface="Noto Sans KR"/>
                <a:ea typeface="Noto Sans KR"/>
                <a:cs typeface="Noto Sans KR"/>
              </a:rPr>
              <a:t>Integration 수준</a:t>
            </a:r>
          </a:p>
        </p:txBody>
      </p:sp>
      <p:graphicFrame>
        <p:nvGraphicFramePr>
          <p:cNvPr id="23" name="Table 22"/>
          <p:cNvGraphicFramePr>
            <a:graphicFrameLocks noGrp="1"/>
          </p:cNvGraphicFramePr>
          <p:nvPr/>
        </p:nvGraphicFramePr>
        <p:xfrm>
          <a:off x="685800" y="2467990"/>
          <a:ext cx="10820094" cy="2294128"/>
        </p:xfrm>
        <a:graphic>
          <a:graphicData uri="http://schemas.openxmlformats.org/drawingml/2006/table">
            <a:tbl>
              <a:tblPr firstRow="0" bandRow="0">
                <a:tableStyleId>{2D5ABB26-0587-4C30-8999-92F81FD0307C}</a:tableStyleId>
              </a:tblPr>
              <a:tblGrid>
                <a:gridCol w="1600200"/>
                <a:gridCol w="3073298"/>
                <a:gridCol w="3073298"/>
                <a:gridCol w="3073298"/>
              </a:tblGrid>
              <a:tr h="321056">
                <a:tc>
                  <a:txBody>
                    <a:bodyPr wrap="square"/>
                    <a:lstStyle/>
                    <a:p>
                      <a:pPr algn="l">
                        <a:lnSpc>
                          <a:spcPct val="100000"/>
                        </a:lnSpc>
                      </a:pPr>
                      <a:r>
                        <a:rPr sz="1000" b="0">
                          <a:solidFill>
                            <a:srgbClr val="15171A"/>
                          </a:solidFill>
                          <a:latin typeface="Noto Sans KR"/>
                          <a:ea typeface="Noto Sans KR"/>
                          <a:cs typeface="Noto Sans KR"/>
                        </a:rPr>
                        <a:t>고객 상황</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주방 유지 · 호환 주방</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주방 교체 시점 (Premium)</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분양 · 입주 전 (건설사 · 가구사)</a:t>
                      </a:r>
                    </a:p>
                  </a:txBody>
                  <a:tcPr marL="73152" marR="73152" marT="64008" marB="64008" anchor="t">
                    <a:lnL w="0">
                      <a:noFill/>
                    </a:lnL>
                    <a:lnR w="0">
                      <a:noFill/>
                    </a:lnR>
                    <a:lnT w="0">
                      <a:noFill/>
                    </a:lnT>
                    <a:lnB w="9525">
                      <a:solidFill>
                        <a:srgbClr val="E2E4E7"/>
                      </a:solidFill>
                    </a:lnB>
                    <a:noFill/>
                  </a:tcPr>
                </a:tc>
              </a:tr>
              <a:tr h="321056">
                <a:tc>
                  <a:txBody>
                    <a:bodyPr wrap="square"/>
                    <a:lstStyle/>
                    <a:p>
                      <a:pPr algn="l">
                        <a:lnSpc>
                          <a:spcPct val="100000"/>
                        </a:lnSpc>
                      </a:pPr>
                      <a:r>
                        <a:rPr sz="1000" b="0">
                          <a:solidFill>
                            <a:srgbClr val="15171A"/>
                          </a:solidFill>
                          <a:latin typeface="Noto Sans KR"/>
                          <a:ea typeface="Noto Sans KR"/>
                          <a:cs typeface="Noto Sans KR"/>
                        </a:rPr>
                        <a:t>공사 범위</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최소 시공 (Mount · Dock)</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주방 공사와 동시 (Partner 시공)</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설계 단계에서 반영</a:t>
                      </a:r>
                    </a:p>
                  </a:txBody>
                  <a:tcPr marL="73152" marR="73152" marT="64008" marB="64008" anchor="t">
                    <a:lnL w="0">
                      <a:noFill/>
                    </a:lnL>
                    <a:lnR w="0">
                      <a:noFill/>
                    </a:lnR>
                    <a:lnT w="0">
                      <a:noFill/>
                    </a:lnT>
                    <a:lnB w="9525">
                      <a:solidFill>
                        <a:srgbClr val="E2E4E7"/>
                      </a:solidFill>
                    </a:lnB>
                    <a:noFill/>
                  </a:tcPr>
                </a:tc>
              </a:tr>
              <a:tr h="504952">
                <a:tc>
                  <a:txBody>
                    <a:bodyPr wrap="square"/>
                    <a:lstStyle/>
                    <a:p>
                      <a:pPr algn="l">
                        <a:lnSpc>
                          <a:spcPct val="100000"/>
                        </a:lnSpc>
                      </a:pPr>
                      <a:r>
                        <a:rPr sz="1000" b="0">
                          <a:solidFill>
                            <a:srgbClr val="15171A"/>
                          </a:solidFill>
                          <a:latin typeface="Noto Sans KR"/>
                          <a:ea typeface="Noto Sans KR"/>
                          <a:cs typeface="Noto Sans KR"/>
                        </a:rPr>
                        <a:t>Interface</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Compact Mount · Dock · Vision Reference · Drop Zone</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Rail · Robot Home · 식세기 Interface · Storage Dock</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Mount · 전원 · 통신 · Tool Dock · Appliance Interface · Service Access</a:t>
                      </a:r>
                    </a:p>
                  </a:txBody>
                  <a:tcPr marL="73152" marR="73152" marT="64008" marB="64008" anchor="t">
                    <a:lnL w="0">
                      <a:noFill/>
                    </a:lnL>
                    <a:lnR w="0">
                      <a:noFill/>
                    </a:lnR>
                    <a:lnT w="0">
                      <a:noFill/>
                    </a:lnT>
                    <a:lnB w="9525">
                      <a:solidFill>
                        <a:srgbClr val="E2E4E7"/>
                      </a:solidFill>
                    </a:lnB>
                    <a:noFill/>
                  </a:tcPr>
                </a:tc>
              </a:tr>
              <a:tr h="321056">
                <a:tc>
                  <a:txBody>
                    <a:bodyPr wrap="square"/>
                    <a:lstStyle/>
                    <a:p>
                      <a:pPr algn="l">
                        <a:lnSpc>
                          <a:spcPct val="100000"/>
                        </a:lnSpc>
                      </a:pPr>
                      <a:r>
                        <a:rPr sz="1000" b="0">
                          <a:solidFill>
                            <a:srgbClr val="15171A"/>
                          </a:solidFill>
                          <a:latin typeface="Noto Sans KR"/>
                          <a:ea typeface="Noto Sans KR"/>
                          <a:cs typeface="Noto Sans KR"/>
                        </a:rPr>
                        <a:t>설치 · Calibration</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현장 Calibration 중심 · Y3 원가 95만원 (약 29인시)</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Y3 원가 60만원 (약 18인시 = 2인 약 1일)</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입주 시 또는 후설치 (Option 세대)</a:t>
                      </a:r>
                    </a:p>
                  </a:txBody>
                  <a:tcPr marL="73152" marR="73152" marT="64008" marB="64008" anchor="t">
                    <a:lnL w="0">
                      <a:noFill/>
                    </a:lnL>
                    <a:lnR w="0">
                      <a:noFill/>
                    </a:lnR>
                    <a:lnT w="0">
                      <a:noFill/>
                    </a:lnT>
                    <a:lnB w="9525">
                      <a:solidFill>
                        <a:srgbClr val="E2E4E7"/>
                      </a:solidFill>
                    </a:lnB>
                    <a:noFill/>
                  </a:tcPr>
                </a:tc>
              </a:tr>
              <a:tr h="504952">
                <a:tc>
                  <a:txBody>
                    <a:bodyPr wrap="square"/>
                    <a:lstStyle/>
                    <a:p>
                      <a:pPr algn="l">
                        <a:lnSpc>
                          <a:spcPct val="100000"/>
                        </a:lnSpc>
                      </a:pPr>
                      <a:r>
                        <a:rPr sz="1000" b="0">
                          <a:solidFill>
                            <a:srgbClr val="15171A"/>
                          </a:solidFill>
                          <a:latin typeface="Noto Sans KR"/>
                          <a:ea typeface="Noto Sans KR"/>
                          <a:cs typeface="Noto Sans KR"/>
                        </a:rPr>
                        <a:t>MH 매출 (가설)</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 150 + Robot 1,490 + 설치 120 = 1,760만원</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Interface 450 + Robot 1,490 + 설치 80 = 2,020만원</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Option 220만원 (B2B) + 입주 Attach 25% × (Robot + 설치)</a:t>
                      </a:r>
                    </a:p>
                  </a:txBody>
                  <a:tcPr marL="73152" marR="73152" marT="64008" marB="64008" anchor="t">
                    <a:lnL w="0">
                      <a:noFill/>
                    </a:lnL>
                    <a:lnR w="0">
                      <a:noFill/>
                    </a:lnR>
                    <a:lnT w="0">
                      <a:noFill/>
                    </a:lnT>
                    <a:lnB w="9525">
                      <a:solidFill>
                        <a:srgbClr val="E2E4E7"/>
                      </a:solidFill>
                    </a:lnB>
                    <a:noFill/>
                  </a:tcPr>
                </a:tc>
              </a:tr>
              <a:tr h="321056">
                <a:tc>
                  <a:txBody>
                    <a:bodyPr wrap="square"/>
                    <a:lstStyle/>
                    <a:p>
                      <a:pPr algn="l">
                        <a:lnSpc>
                          <a:spcPct val="100000"/>
                        </a:lnSpc>
                      </a:pPr>
                      <a:r>
                        <a:rPr sz="1000" b="0">
                          <a:solidFill>
                            <a:srgbClr val="15171A"/>
                          </a:solidFill>
                          <a:latin typeface="Noto Sans KR"/>
                          <a:ea typeface="Noto Sans KR"/>
                          <a:cs typeface="Noto Sans KR"/>
                        </a:rPr>
                        <a:t>역할</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1">
                          <a:solidFill>
                            <a:srgbClr val="15171A"/>
                          </a:solidFill>
                          <a:latin typeface="Noto Sans KR"/>
                          <a:ea typeface="Noto Sans KR"/>
                          <a:cs typeface="Noto Sans KR"/>
                        </a:rPr>
                        <a:t>Phase 2 · 고객 확대</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1">
                          <a:solidFill>
                            <a:srgbClr val="E2571B"/>
                          </a:solidFill>
                          <a:latin typeface="Noto Sans KR"/>
                          <a:ea typeface="Noto Sans KR"/>
                          <a:cs typeface="Noto Sans KR"/>
                        </a:rPr>
                        <a:t>Phase 1 · 검증 채널</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1000" b="1">
                          <a:solidFill>
                            <a:srgbClr val="15171A"/>
                          </a:solidFill>
                          <a:latin typeface="Noto Sans KR"/>
                          <a:ea typeface="Noto Sans KR"/>
                          <a:cs typeface="Noto Sans KR"/>
                        </a:rPr>
                        <a:t>Phase 3 · Scale 채널</a:t>
                      </a:r>
                    </a:p>
                  </a:txBody>
                  <a:tcPr marL="73152" marR="73152" marT="64008" marB="64008" anchor="t">
                    <a:lnL w="0">
                      <a:noFill/>
                    </a:lnL>
                    <a:lnR w="0">
                      <a:noFill/>
                    </a:lnR>
                    <a:lnT w="0">
                      <a:noFill/>
                    </a:lnT>
                    <a:lnB w="9525">
                      <a:solidFill>
                        <a:srgbClr val="E2E4E7"/>
                      </a:solidFill>
                    </a:lnB>
                    <a:noFill/>
                  </a:tcPr>
                </a:tc>
              </a:tr>
            </a:tbl>
          </a:graphicData>
        </a:graphic>
      </p:graphicFrame>
      <p:sp>
        <p:nvSpPr>
          <p:cNvPr id="24" name="Rectangle 23"/>
          <p:cNvSpPr/>
          <p:nvPr/>
        </p:nvSpPr>
        <p:spPr>
          <a:xfrm>
            <a:off x="685800" y="5541264"/>
            <a:ext cx="10820095" cy="457200"/>
          </a:xfrm>
          <a:prstGeom prst="rect">
            <a:avLst/>
          </a:prstGeom>
          <a:solidFill>
            <a:srgbClr val="15171A"/>
          </a:solidFill>
          <a:ln>
            <a:noFill/>
          </a:ln>
        </p:spPr>
        <p:txBody>
          <a:bodyPr rtlCol="0" anchor="ctr"/>
          <a:lstStyle/>
          <a:p>
            <a:pPr algn="ctr"/>
          </a:p>
        </p:txBody>
      </p:sp>
      <p:sp>
        <p:nvSpPr>
          <p:cNvPr id="25" name="TextBox 24"/>
          <p:cNvSpPr txBox="1"/>
          <p:nvPr/>
        </p:nvSpPr>
        <p:spPr>
          <a:xfrm>
            <a:off x="868680" y="5541264"/>
            <a:ext cx="10454335" cy="457200"/>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MH Core  </a:t>
            </a:r>
            <a:r>
              <a:rPr sz="1050" b="0">
                <a:solidFill>
                  <a:srgbClr val="E3E5E8"/>
                </a:solidFill>
                <a:latin typeface="Noto Sans KR"/>
                <a:ea typeface="Noto Sans KR"/>
                <a:cs typeface="Noto Sans KR"/>
              </a:rPr>
              <a:t>Robot · Hand · Skill · Calibration · Interface Standard · Safety · Commissioning · QA</a:t>
            </a:r>
            <a:r>
              <a:rPr sz="1050" b="1">
                <a:solidFill>
                  <a:srgbClr val="A9AEB5"/>
                </a:solidFill>
                <a:latin typeface="Noto Sans KR"/>
                <a:ea typeface="Noto Sans KR"/>
                <a:cs typeface="Noto Sans KR"/>
              </a:rPr>
              <a:t>     Partner  </a:t>
            </a:r>
            <a:r>
              <a:rPr sz="1050" b="0">
                <a:solidFill>
                  <a:srgbClr val="A9AEB5"/>
                </a:solidFill>
                <a:latin typeface="Noto Sans KR"/>
                <a:ea typeface="Noto Sans KR"/>
                <a:cs typeface="Noto Sans KR"/>
              </a:rPr>
              <a:t>철거 · 가구 · 전기 · 배관 · 일반 시공</a:t>
            </a:r>
          </a:p>
        </p:txBody>
      </p:sp>
      <p:sp>
        <p:nvSpPr>
          <p:cNvPr id="26" name="TextBox 25"/>
          <p:cNvSpPr txBox="1"/>
          <p:nvPr/>
        </p:nvSpPr>
        <p:spPr>
          <a:xfrm>
            <a:off x="685800" y="6126480"/>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가격 · 원가 · 인시는 ASSUMPTION / DERIVED (VAT 별도, 주방 공사비 별도). 인시 = 설치 원가 ÷ 설치 엔지니어 시간당 원가 (부록 D).</a:t>
            </a:r>
          </a:p>
        </p:txBody>
      </p:sp>
      <p:sp>
        <p:nvSpPr>
          <p:cNvPr id="27" name="TextBox 2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28" name="TextBox 2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10  Business Model</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설치로 시작해, 쓰는 동안 반복매출이 쌓이는 3층 구조입니다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INSTALL → OPERATE → EXPAND. Hardware 외 매출은 실제 유지관리와 기능가치에 근거</a:t>
            </a:r>
          </a:p>
        </p:txBody>
      </p:sp>
      <p:sp>
        <p:nvSpPr>
          <p:cNvPr id="5" name="Rectangle 4"/>
          <p:cNvSpPr/>
          <p:nvPr/>
        </p:nvSpPr>
        <p:spPr>
          <a:xfrm>
            <a:off x="685800" y="1599310"/>
            <a:ext cx="6629400" cy="1170432"/>
          </a:xfrm>
          <a:prstGeom prst="rect">
            <a:avLst/>
          </a:prstGeom>
          <a:solidFill>
            <a:srgbClr val="F4F5F6"/>
          </a:solidFill>
          <a:ln>
            <a:noFill/>
          </a:ln>
        </p:spPr>
        <p:txBody>
          <a:bodyPr rtlCol="0" anchor="ctr"/>
          <a:lstStyle/>
          <a:p>
            <a:pPr algn="ctr"/>
          </a:p>
        </p:txBody>
      </p:sp>
      <p:sp>
        <p:nvSpPr>
          <p:cNvPr id="6" name="Rectangle 5"/>
          <p:cNvSpPr/>
          <p:nvPr/>
        </p:nvSpPr>
        <p:spPr>
          <a:xfrm>
            <a:off x="685800" y="1599310"/>
            <a:ext cx="1325880" cy="1170432"/>
          </a:xfrm>
          <a:prstGeom prst="rect">
            <a:avLst/>
          </a:prstGeom>
          <a:solidFill>
            <a:srgbClr val="15171A"/>
          </a:solidFill>
          <a:ln>
            <a:noFill/>
          </a:ln>
        </p:spPr>
        <p:txBody>
          <a:bodyPr rtlCol="0" anchor="ctr"/>
          <a:lstStyle/>
          <a:p>
            <a:pPr algn="ctr"/>
          </a:p>
        </p:txBody>
      </p:sp>
      <p:sp>
        <p:nvSpPr>
          <p:cNvPr id="7" name="TextBox 6"/>
          <p:cNvSpPr txBox="1"/>
          <p:nvPr/>
        </p:nvSpPr>
        <p:spPr>
          <a:xfrm>
            <a:off x="685800" y="1873630"/>
            <a:ext cx="1325880" cy="329184"/>
          </a:xfrm>
          <a:prstGeom prst="rect">
            <a:avLst/>
          </a:prstGeom>
          <a:noFill/>
        </p:spPr>
        <p:txBody>
          <a:bodyPr wrap="square" lIns="0" rIns="0" tIns="0" bIns="0" anchor="t">
            <a:spAutoFit/>
          </a:bodyPr>
          <a:lstStyle/>
          <a:p>
            <a:pPr algn="ctr">
              <a:lnSpc>
                <a:spcPct val="100000"/>
              </a:lnSpc>
            </a:pPr>
            <a:r>
              <a:rPr sz="1400" b="1">
                <a:solidFill>
                  <a:srgbClr val="FFFFFF"/>
                </a:solidFill>
                <a:latin typeface="Noto Sans KR"/>
                <a:ea typeface="Noto Sans KR"/>
                <a:cs typeface="Noto Sans KR"/>
              </a:rPr>
              <a:t>INSTALL</a:t>
            </a:r>
          </a:p>
        </p:txBody>
      </p:sp>
      <p:sp>
        <p:nvSpPr>
          <p:cNvPr id="8" name="TextBox 7"/>
          <p:cNvSpPr txBox="1"/>
          <p:nvPr/>
        </p:nvSpPr>
        <p:spPr>
          <a:xfrm>
            <a:off x="685800" y="2239390"/>
            <a:ext cx="1325880" cy="237744"/>
          </a:xfrm>
          <a:prstGeom prst="rect">
            <a:avLst/>
          </a:prstGeom>
          <a:noFill/>
        </p:spPr>
        <p:txBody>
          <a:bodyPr wrap="square" lIns="0" rIns="0" tIns="0" bIns="0" anchor="t">
            <a:spAutoFit/>
          </a:bodyPr>
          <a:lstStyle/>
          <a:p>
            <a:pPr algn="ctr">
              <a:lnSpc>
                <a:spcPct val="100000"/>
              </a:lnSpc>
            </a:pPr>
            <a:r>
              <a:rPr sz="950" b="0">
                <a:solidFill>
                  <a:srgbClr val="A9AEB5"/>
                </a:solidFill>
                <a:latin typeface="Noto Sans KR"/>
                <a:ea typeface="Noto Sans KR"/>
                <a:cs typeface="Noto Sans KR"/>
              </a:rPr>
              <a:t>초기 매출</a:t>
            </a:r>
          </a:p>
        </p:txBody>
      </p:sp>
      <p:sp>
        <p:nvSpPr>
          <p:cNvPr id="9" name="TextBox 8"/>
          <p:cNvSpPr txBox="1"/>
          <p:nvPr/>
        </p:nvSpPr>
        <p:spPr>
          <a:xfrm>
            <a:off x="2194560" y="1745614"/>
            <a:ext cx="3520440" cy="27432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Robot System (Arm · Adaptive Hand · Vision · Safety)</a:t>
            </a:r>
          </a:p>
        </p:txBody>
      </p:sp>
      <p:sp>
        <p:nvSpPr>
          <p:cNvPr id="10" name="TextBox 9"/>
          <p:cNvSpPr txBox="1"/>
          <p:nvPr/>
        </p:nvSpPr>
        <p:spPr>
          <a:xfrm>
            <a:off x="5715000" y="1745614"/>
            <a:ext cx="1463040" cy="274320"/>
          </a:xfrm>
          <a:prstGeom prst="rect">
            <a:avLst/>
          </a:prstGeom>
          <a:noFill/>
        </p:spPr>
        <p:txBody>
          <a:bodyPr wrap="square" lIns="0" rIns="0" tIns="0" bIns="0" anchor="ctr">
            <a:spAutoFit/>
          </a:bodyPr>
          <a:lstStyle/>
          <a:p>
            <a:pPr algn="r">
              <a:lnSpc>
                <a:spcPct val="100000"/>
              </a:lnSpc>
            </a:pPr>
            <a:r>
              <a:rPr sz="1050" b="1">
                <a:solidFill>
                  <a:srgbClr val="15171A"/>
                </a:solidFill>
                <a:latin typeface="Noto Sans KR"/>
                <a:ea typeface="Noto Sans KR"/>
                <a:cs typeface="Noto Sans KR"/>
              </a:rPr>
              <a:t>1,490만원</a:t>
            </a:r>
          </a:p>
        </p:txBody>
      </p:sp>
      <p:sp>
        <p:nvSpPr>
          <p:cNvPr id="11" name="TextBox 10"/>
          <p:cNvSpPr txBox="1"/>
          <p:nvPr/>
        </p:nvSpPr>
        <p:spPr>
          <a:xfrm>
            <a:off x="2194560" y="2074798"/>
            <a:ext cx="3520440" cy="27432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Interface · Integration</a:t>
            </a:r>
          </a:p>
        </p:txBody>
      </p:sp>
      <p:sp>
        <p:nvSpPr>
          <p:cNvPr id="12" name="TextBox 11"/>
          <p:cNvSpPr txBox="1"/>
          <p:nvPr/>
        </p:nvSpPr>
        <p:spPr>
          <a:xfrm>
            <a:off x="5715000" y="2074798"/>
            <a:ext cx="1463040" cy="274320"/>
          </a:xfrm>
          <a:prstGeom prst="rect">
            <a:avLst/>
          </a:prstGeom>
          <a:noFill/>
        </p:spPr>
        <p:txBody>
          <a:bodyPr wrap="square" lIns="0" rIns="0" tIns="0" bIns="0" anchor="ctr">
            <a:spAutoFit/>
          </a:bodyPr>
          <a:lstStyle/>
          <a:p>
            <a:pPr algn="r">
              <a:lnSpc>
                <a:spcPct val="100000"/>
              </a:lnSpc>
            </a:pPr>
            <a:r>
              <a:rPr sz="1050" b="1">
                <a:solidFill>
                  <a:srgbClr val="15171A"/>
                </a:solidFill>
                <a:latin typeface="Noto Sans KR"/>
                <a:ea typeface="Noto Sans KR"/>
                <a:cs typeface="Noto Sans KR"/>
              </a:rPr>
              <a:t>150~450만원</a:t>
            </a:r>
          </a:p>
        </p:txBody>
      </p:sp>
      <p:sp>
        <p:nvSpPr>
          <p:cNvPr id="13" name="TextBox 12"/>
          <p:cNvSpPr txBox="1"/>
          <p:nvPr/>
        </p:nvSpPr>
        <p:spPr>
          <a:xfrm>
            <a:off x="2194560" y="2403982"/>
            <a:ext cx="3520440" cy="27432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Installation · Calibration</a:t>
            </a:r>
          </a:p>
        </p:txBody>
      </p:sp>
      <p:sp>
        <p:nvSpPr>
          <p:cNvPr id="14" name="TextBox 13"/>
          <p:cNvSpPr txBox="1"/>
          <p:nvPr/>
        </p:nvSpPr>
        <p:spPr>
          <a:xfrm>
            <a:off x="5715000" y="2403982"/>
            <a:ext cx="1463040" cy="274320"/>
          </a:xfrm>
          <a:prstGeom prst="rect">
            <a:avLst/>
          </a:prstGeom>
          <a:noFill/>
        </p:spPr>
        <p:txBody>
          <a:bodyPr wrap="square" lIns="0" rIns="0" tIns="0" bIns="0" anchor="ctr">
            <a:spAutoFit/>
          </a:bodyPr>
          <a:lstStyle/>
          <a:p>
            <a:pPr algn="r">
              <a:lnSpc>
                <a:spcPct val="100000"/>
              </a:lnSpc>
            </a:pPr>
            <a:r>
              <a:rPr sz="1050" b="1">
                <a:solidFill>
                  <a:srgbClr val="15171A"/>
                </a:solidFill>
                <a:latin typeface="Noto Sans KR"/>
                <a:ea typeface="Noto Sans KR"/>
                <a:cs typeface="Noto Sans KR"/>
              </a:rPr>
              <a:t>80~120만원</a:t>
            </a:r>
          </a:p>
        </p:txBody>
      </p:sp>
      <p:cxnSp>
        <p:nvCxnSpPr>
          <p:cNvPr id="15" name="Connector 14"/>
          <p:cNvCxnSpPr/>
          <p:nvPr/>
        </p:nvCxnSpPr>
        <p:spPr>
          <a:xfrm>
            <a:off x="1344168" y="2778886"/>
            <a:ext cx="0" cy="109728"/>
          </a:xfrm>
          <a:prstGeom prst="line">
            <a:avLst/>
          </a:prstGeom>
          <a:ln w="15875">
            <a:solidFill>
              <a:srgbClr val="8C9198"/>
            </a:solidFill>
            <a:tailEnd type="triangle" w="med" len="med"/>
          </a:ln>
        </p:spPr>
      </p:cxnSp>
      <p:sp>
        <p:nvSpPr>
          <p:cNvPr id="16" name="Rectangle 15"/>
          <p:cNvSpPr/>
          <p:nvPr/>
        </p:nvSpPr>
        <p:spPr>
          <a:xfrm>
            <a:off x="685800" y="2897759"/>
            <a:ext cx="6629400" cy="1170432"/>
          </a:xfrm>
          <a:prstGeom prst="rect">
            <a:avLst/>
          </a:prstGeom>
          <a:solidFill>
            <a:srgbClr val="F4F5F6"/>
          </a:solidFill>
          <a:ln>
            <a:noFill/>
          </a:ln>
        </p:spPr>
        <p:txBody>
          <a:bodyPr rtlCol="0" anchor="ctr"/>
          <a:lstStyle/>
          <a:p>
            <a:pPr algn="ctr"/>
          </a:p>
        </p:txBody>
      </p:sp>
      <p:sp>
        <p:nvSpPr>
          <p:cNvPr id="17" name="Rectangle 16"/>
          <p:cNvSpPr/>
          <p:nvPr/>
        </p:nvSpPr>
        <p:spPr>
          <a:xfrm>
            <a:off x="685800" y="2897759"/>
            <a:ext cx="1325880" cy="1170432"/>
          </a:xfrm>
          <a:prstGeom prst="rect">
            <a:avLst/>
          </a:prstGeom>
          <a:solidFill>
            <a:srgbClr val="15171A"/>
          </a:solidFill>
          <a:ln>
            <a:noFill/>
          </a:ln>
        </p:spPr>
        <p:txBody>
          <a:bodyPr rtlCol="0" anchor="ctr"/>
          <a:lstStyle/>
          <a:p>
            <a:pPr algn="ctr"/>
          </a:p>
        </p:txBody>
      </p:sp>
      <p:sp>
        <p:nvSpPr>
          <p:cNvPr id="18" name="TextBox 17"/>
          <p:cNvSpPr txBox="1"/>
          <p:nvPr/>
        </p:nvSpPr>
        <p:spPr>
          <a:xfrm>
            <a:off x="685800" y="3172078"/>
            <a:ext cx="1325880" cy="329184"/>
          </a:xfrm>
          <a:prstGeom prst="rect">
            <a:avLst/>
          </a:prstGeom>
          <a:noFill/>
        </p:spPr>
        <p:txBody>
          <a:bodyPr wrap="square" lIns="0" rIns="0" tIns="0" bIns="0" anchor="t">
            <a:spAutoFit/>
          </a:bodyPr>
          <a:lstStyle/>
          <a:p>
            <a:pPr algn="ctr">
              <a:lnSpc>
                <a:spcPct val="100000"/>
              </a:lnSpc>
            </a:pPr>
            <a:r>
              <a:rPr sz="1400" b="1">
                <a:solidFill>
                  <a:srgbClr val="FFFFFF"/>
                </a:solidFill>
                <a:latin typeface="Noto Sans KR"/>
                <a:ea typeface="Noto Sans KR"/>
                <a:cs typeface="Noto Sans KR"/>
              </a:rPr>
              <a:t>OPERATE</a:t>
            </a:r>
          </a:p>
        </p:txBody>
      </p:sp>
      <p:sp>
        <p:nvSpPr>
          <p:cNvPr id="19" name="TextBox 18"/>
          <p:cNvSpPr txBox="1"/>
          <p:nvPr/>
        </p:nvSpPr>
        <p:spPr>
          <a:xfrm>
            <a:off x="685800" y="3537838"/>
            <a:ext cx="1325880" cy="237744"/>
          </a:xfrm>
          <a:prstGeom prst="rect">
            <a:avLst/>
          </a:prstGeom>
          <a:noFill/>
        </p:spPr>
        <p:txBody>
          <a:bodyPr wrap="square" lIns="0" rIns="0" tIns="0" bIns="0" anchor="t">
            <a:spAutoFit/>
          </a:bodyPr>
          <a:lstStyle/>
          <a:p>
            <a:pPr algn="ctr">
              <a:lnSpc>
                <a:spcPct val="100000"/>
              </a:lnSpc>
            </a:pPr>
            <a:r>
              <a:rPr sz="950" b="0">
                <a:solidFill>
                  <a:srgbClr val="A9AEB5"/>
                </a:solidFill>
                <a:latin typeface="Noto Sans KR"/>
                <a:ea typeface="Noto Sans KR"/>
                <a:cs typeface="Noto Sans KR"/>
              </a:rPr>
              <a:t>반복매출</a:t>
            </a:r>
          </a:p>
        </p:txBody>
      </p:sp>
      <p:sp>
        <p:nvSpPr>
          <p:cNvPr id="20" name="TextBox 19"/>
          <p:cNvSpPr txBox="1"/>
          <p:nvPr/>
        </p:nvSpPr>
        <p:spPr>
          <a:xfrm>
            <a:off x="2194560" y="3044063"/>
            <a:ext cx="3520440" cy="27432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Rental (60개월, Care · Grip Kit 포함)</a:t>
            </a:r>
          </a:p>
        </p:txBody>
      </p:sp>
      <p:sp>
        <p:nvSpPr>
          <p:cNvPr id="21" name="TextBox 20"/>
          <p:cNvSpPr txBox="1"/>
          <p:nvPr/>
        </p:nvSpPr>
        <p:spPr>
          <a:xfrm>
            <a:off x="5715000" y="3044063"/>
            <a:ext cx="1463040" cy="274320"/>
          </a:xfrm>
          <a:prstGeom prst="rect">
            <a:avLst/>
          </a:prstGeom>
          <a:noFill/>
        </p:spPr>
        <p:txBody>
          <a:bodyPr wrap="square" lIns="0" rIns="0" tIns="0" bIns="0" anchor="ctr">
            <a:spAutoFit/>
          </a:bodyPr>
          <a:lstStyle/>
          <a:p>
            <a:pPr algn="r">
              <a:lnSpc>
                <a:spcPct val="100000"/>
              </a:lnSpc>
            </a:pPr>
            <a:r>
              <a:rPr sz="1050" b="1">
                <a:solidFill>
                  <a:srgbClr val="15171A"/>
                </a:solidFill>
                <a:latin typeface="Noto Sans KR"/>
                <a:ea typeface="Noto Sans KR"/>
                <a:cs typeface="Noto Sans KR"/>
              </a:rPr>
              <a:t>월 33만원</a:t>
            </a:r>
          </a:p>
        </p:txBody>
      </p:sp>
      <p:sp>
        <p:nvSpPr>
          <p:cNvPr id="22" name="TextBox 21"/>
          <p:cNvSpPr txBox="1"/>
          <p:nvPr/>
        </p:nvSpPr>
        <p:spPr>
          <a:xfrm>
            <a:off x="2194560" y="3373247"/>
            <a:ext cx="3520440" cy="27432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Care (Robot Lifecycle Maintenance)</a:t>
            </a:r>
          </a:p>
        </p:txBody>
      </p:sp>
      <p:sp>
        <p:nvSpPr>
          <p:cNvPr id="23" name="TextBox 22"/>
          <p:cNvSpPr txBox="1"/>
          <p:nvPr/>
        </p:nvSpPr>
        <p:spPr>
          <a:xfrm>
            <a:off x="5715000" y="3373247"/>
            <a:ext cx="1463040" cy="274320"/>
          </a:xfrm>
          <a:prstGeom prst="rect">
            <a:avLst/>
          </a:prstGeom>
          <a:noFill/>
        </p:spPr>
        <p:txBody>
          <a:bodyPr wrap="square" lIns="0" rIns="0" tIns="0" bIns="0" anchor="ctr">
            <a:spAutoFit/>
          </a:bodyPr>
          <a:lstStyle/>
          <a:p>
            <a:pPr algn="r">
              <a:lnSpc>
                <a:spcPct val="100000"/>
              </a:lnSpc>
            </a:pPr>
            <a:r>
              <a:rPr sz="1050" b="1">
                <a:solidFill>
                  <a:srgbClr val="15171A"/>
                </a:solidFill>
                <a:latin typeface="Noto Sans KR"/>
                <a:ea typeface="Noto Sans KR"/>
                <a:cs typeface="Noto Sans KR"/>
              </a:rPr>
              <a:t>연 48만원</a:t>
            </a:r>
          </a:p>
        </p:txBody>
      </p:sp>
      <p:sp>
        <p:nvSpPr>
          <p:cNvPr id="24" name="TextBox 23"/>
          <p:cNvSpPr txBox="1"/>
          <p:nvPr/>
        </p:nvSpPr>
        <p:spPr>
          <a:xfrm>
            <a:off x="2194560" y="3702431"/>
            <a:ext cx="3520440" cy="27432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Consumables (Pad · Seal · Tip · Cover)</a:t>
            </a:r>
          </a:p>
        </p:txBody>
      </p:sp>
      <p:sp>
        <p:nvSpPr>
          <p:cNvPr id="25" name="TextBox 24"/>
          <p:cNvSpPr txBox="1"/>
          <p:nvPr/>
        </p:nvSpPr>
        <p:spPr>
          <a:xfrm>
            <a:off x="5715000" y="3702431"/>
            <a:ext cx="1463040" cy="274320"/>
          </a:xfrm>
          <a:prstGeom prst="rect">
            <a:avLst/>
          </a:prstGeom>
          <a:noFill/>
        </p:spPr>
        <p:txBody>
          <a:bodyPr wrap="square" lIns="0" rIns="0" tIns="0" bIns="0" anchor="ctr">
            <a:spAutoFit/>
          </a:bodyPr>
          <a:lstStyle/>
          <a:p>
            <a:pPr algn="r">
              <a:lnSpc>
                <a:spcPct val="100000"/>
              </a:lnSpc>
            </a:pPr>
            <a:r>
              <a:rPr sz="1050" b="1">
                <a:solidFill>
                  <a:srgbClr val="15171A"/>
                </a:solidFill>
                <a:latin typeface="Noto Sans KR"/>
                <a:ea typeface="Noto Sans KR"/>
                <a:cs typeface="Noto Sans KR"/>
              </a:rPr>
              <a:t>연 36만원 (List)</a:t>
            </a:r>
          </a:p>
        </p:txBody>
      </p:sp>
      <p:cxnSp>
        <p:nvCxnSpPr>
          <p:cNvPr id="26" name="Connector 25"/>
          <p:cNvCxnSpPr/>
          <p:nvPr/>
        </p:nvCxnSpPr>
        <p:spPr>
          <a:xfrm>
            <a:off x="1344168" y="4077334"/>
            <a:ext cx="0" cy="109728"/>
          </a:xfrm>
          <a:prstGeom prst="line">
            <a:avLst/>
          </a:prstGeom>
          <a:ln w="15875">
            <a:solidFill>
              <a:srgbClr val="8C9198"/>
            </a:solidFill>
            <a:tailEnd type="triangle" w="med" len="med"/>
          </a:ln>
        </p:spPr>
      </p:cxnSp>
      <p:sp>
        <p:nvSpPr>
          <p:cNvPr id="27" name="Rectangle 26"/>
          <p:cNvSpPr/>
          <p:nvPr/>
        </p:nvSpPr>
        <p:spPr>
          <a:xfrm>
            <a:off x="685800" y="4196207"/>
            <a:ext cx="6629400" cy="1170432"/>
          </a:xfrm>
          <a:prstGeom prst="rect">
            <a:avLst/>
          </a:prstGeom>
          <a:solidFill>
            <a:srgbClr val="F4F5F6"/>
          </a:solidFill>
          <a:ln>
            <a:noFill/>
          </a:ln>
        </p:spPr>
        <p:txBody>
          <a:bodyPr rtlCol="0" anchor="ctr"/>
          <a:lstStyle/>
          <a:p>
            <a:pPr algn="ctr"/>
          </a:p>
        </p:txBody>
      </p:sp>
      <p:sp>
        <p:nvSpPr>
          <p:cNvPr id="28" name="Rectangle 27"/>
          <p:cNvSpPr/>
          <p:nvPr/>
        </p:nvSpPr>
        <p:spPr>
          <a:xfrm>
            <a:off x="685800" y="4196207"/>
            <a:ext cx="1325880" cy="1170432"/>
          </a:xfrm>
          <a:prstGeom prst="rect">
            <a:avLst/>
          </a:prstGeom>
          <a:solidFill>
            <a:srgbClr val="15171A"/>
          </a:solidFill>
          <a:ln>
            <a:noFill/>
          </a:ln>
        </p:spPr>
        <p:txBody>
          <a:bodyPr rtlCol="0" anchor="ctr"/>
          <a:lstStyle/>
          <a:p>
            <a:pPr algn="ctr"/>
          </a:p>
        </p:txBody>
      </p:sp>
      <p:sp>
        <p:nvSpPr>
          <p:cNvPr id="29" name="TextBox 28"/>
          <p:cNvSpPr txBox="1"/>
          <p:nvPr/>
        </p:nvSpPr>
        <p:spPr>
          <a:xfrm>
            <a:off x="685800" y="4470527"/>
            <a:ext cx="1325880" cy="329184"/>
          </a:xfrm>
          <a:prstGeom prst="rect">
            <a:avLst/>
          </a:prstGeom>
          <a:noFill/>
        </p:spPr>
        <p:txBody>
          <a:bodyPr wrap="square" lIns="0" rIns="0" tIns="0" bIns="0" anchor="t">
            <a:spAutoFit/>
          </a:bodyPr>
          <a:lstStyle/>
          <a:p>
            <a:pPr algn="ctr">
              <a:lnSpc>
                <a:spcPct val="100000"/>
              </a:lnSpc>
            </a:pPr>
            <a:r>
              <a:rPr sz="1400" b="1">
                <a:solidFill>
                  <a:srgbClr val="FFFFFF"/>
                </a:solidFill>
                <a:latin typeface="Noto Sans KR"/>
                <a:ea typeface="Noto Sans KR"/>
                <a:cs typeface="Noto Sans KR"/>
              </a:rPr>
              <a:t>EXPAND</a:t>
            </a:r>
          </a:p>
        </p:txBody>
      </p:sp>
      <p:sp>
        <p:nvSpPr>
          <p:cNvPr id="30" name="TextBox 29"/>
          <p:cNvSpPr txBox="1"/>
          <p:nvPr/>
        </p:nvSpPr>
        <p:spPr>
          <a:xfrm>
            <a:off x="685800" y="4836287"/>
            <a:ext cx="1325880" cy="237744"/>
          </a:xfrm>
          <a:prstGeom prst="rect">
            <a:avLst/>
          </a:prstGeom>
          <a:noFill/>
        </p:spPr>
        <p:txBody>
          <a:bodyPr wrap="square" lIns="0" rIns="0" tIns="0" bIns="0" anchor="t">
            <a:spAutoFit/>
          </a:bodyPr>
          <a:lstStyle/>
          <a:p>
            <a:pPr algn="ctr">
              <a:lnSpc>
                <a:spcPct val="100000"/>
              </a:lnSpc>
            </a:pPr>
            <a:r>
              <a:rPr sz="950" b="0">
                <a:solidFill>
                  <a:srgbClr val="A9AEB5"/>
                </a:solidFill>
                <a:latin typeface="Noto Sans KR"/>
                <a:ea typeface="Noto Sans KR"/>
                <a:cs typeface="Noto Sans KR"/>
              </a:rPr>
              <a:t>확장매출</a:t>
            </a:r>
          </a:p>
        </p:txBody>
      </p:sp>
      <p:sp>
        <p:nvSpPr>
          <p:cNvPr id="31" name="TextBox 30"/>
          <p:cNvSpPr txBox="1"/>
          <p:nvPr/>
        </p:nvSpPr>
        <p:spPr>
          <a:xfrm>
            <a:off x="2194560" y="4342511"/>
            <a:ext cx="3520440" cy="27432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ASSIST Skill Pack</a:t>
            </a:r>
          </a:p>
        </p:txBody>
      </p:sp>
      <p:sp>
        <p:nvSpPr>
          <p:cNvPr id="32" name="TextBox 31"/>
          <p:cNvSpPr txBox="1"/>
          <p:nvPr/>
        </p:nvSpPr>
        <p:spPr>
          <a:xfrm>
            <a:off x="5715000" y="4342511"/>
            <a:ext cx="1463040" cy="274320"/>
          </a:xfrm>
          <a:prstGeom prst="rect">
            <a:avLst/>
          </a:prstGeom>
          <a:noFill/>
        </p:spPr>
        <p:txBody>
          <a:bodyPr wrap="square" lIns="0" rIns="0" tIns="0" bIns="0" anchor="ctr">
            <a:spAutoFit/>
          </a:bodyPr>
          <a:lstStyle/>
          <a:p>
            <a:pPr algn="r">
              <a:lnSpc>
                <a:spcPct val="100000"/>
              </a:lnSpc>
            </a:pPr>
            <a:r>
              <a:rPr sz="1050" b="1">
                <a:solidFill>
                  <a:srgbClr val="15171A"/>
                </a:solidFill>
                <a:latin typeface="Noto Sans KR"/>
                <a:ea typeface="Noto Sans KR"/>
                <a:cs typeface="Noto Sans KR"/>
              </a:rPr>
              <a:t>60만원</a:t>
            </a:r>
          </a:p>
        </p:txBody>
      </p:sp>
      <p:sp>
        <p:nvSpPr>
          <p:cNvPr id="33" name="TextBox 32"/>
          <p:cNvSpPr txBox="1"/>
          <p:nvPr/>
        </p:nvSpPr>
        <p:spPr>
          <a:xfrm>
            <a:off x="2194560" y="4671695"/>
            <a:ext cx="3520440" cy="27432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Tool · End-effector</a:t>
            </a:r>
          </a:p>
        </p:txBody>
      </p:sp>
      <p:sp>
        <p:nvSpPr>
          <p:cNvPr id="34" name="TextBox 33"/>
          <p:cNvSpPr txBox="1"/>
          <p:nvPr/>
        </p:nvSpPr>
        <p:spPr>
          <a:xfrm>
            <a:off x="5715000" y="4671695"/>
            <a:ext cx="1463040" cy="274320"/>
          </a:xfrm>
          <a:prstGeom prst="rect">
            <a:avLst/>
          </a:prstGeom>
          <a:noFill/>
        </p:spPr>
        <p:txBody>
          <a:bodyPr wrap="square" lIns="0" rIns="0" tIns="0" bIns="0" anchor="ctr">
            <a:spAutoFit/>
          </a:bodyPr>
          <a:lstStyle/>
          <a:p>
            <a:pPr algn="r">
              <a:lnSpc>
                <a:spcPct val="100000"/>
              </a:lnSpc>
            </a:pPr>
            <a:r>
              <a:rPr sz="1050" b="1">
                <a:solidFill>
                  <a:srgbClr val="15171A"/>
                </a:solidFill>
                <a:latin typeface="Noto Sans KR"/>
                <a:ea typeface="Noto Sans KR"/>
                <a:cs typeface="Noto Sans KR"/>
              </a:rPr>
              <a:t>80만원</a:t>
            </a:r>
          </a:p>
        </p:txBody>
      </p:sp>
      <p:sp>
        <p:nvSpPr>
          <p:cNvPr id="35" name="TextBox 34"/>
          <p:cNvSpPr txBox="1"/>
          <p:nvPr/>
        </p:nvSpPr>
        <p:spPr>
          <a:xfrm>
            <a:off x="2194560" y="5000879"/>
            <a:ext cx="3520440" cy="27432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COOK Skill · Robot Upgrade</a:t>
            </a:r>
          </a:p>
        </p:txBody>
      </p:sp>
      <p:sp>
        <p:nvSpPr>
          <p:cNvPr id="36" name="TextBox 35"/>
          <p:cNvSpPr txBox="1"/>
          <p:nvPr/>
        </p:nvSpPr>
        <p:spPr>
          <a:xfrm>
            <a:off x="5715000" y="5000879"/>
            <a:ext cx="1463040" cy="274320"/>
          </a:xfrm>
          <a:prstGeom prst="rect">
            <a:avLst/>
          </a:prstGeom>
          <a:noFill/>
        </p:spPr>
        <p:txBody>
          <a:bodyPr wrap="square" lIns="0" rIns="0" tIns="0" bIns="0" anchor="ctr">
            <a:spAutoFit/>
          </a:bodyPr>
          <a:lstStyle/>
          <a:p>
            <a:pPr algn="r">
              <a:lnSpc>
                <a:spcPct val="100000"/>
              </a:lnSpc>
            </a:pPr>
            <a:r>
              <a:rPr sz="1050" b="1">
                <a:solidFill>
                  <a:srgbClr val="15171A"/>
                </a:solidFill>
                <a:latin typeface="Noto Sans KR"/>
                <a:ea typeface="Noto Sans KR"/>
                <a:cs typeface="Noto Sans KR"/>
              </a:rPr>
              <a:t>FUTURE</a:t>
            </a:r>
          </a:p>
        </p:txBody>
      </p:sp>
      <p:sp>
        <p:nvSpPr>
          <p:cNvPr id="37" name="Rectangle 36"/>
          <p:cNvSpPr/>
          <p:nvPr/>
        </p:nvSpPr>
        <p:spPr>
          <a:xfrm>
            <a:off x="685800" y="5439791"/>
            <a:ext cx="2061725" cy="155448"/>
          </a:xfrm>
          <a:prstGeom prst="rect">
            <a:avLst/>
          </a:prstGeom>
          <a:noFill/>
          <a:ln w="6350">
            <a:solidFill>
              <a:srgbClr val="C9CDD2"/>
            </a:solidFill>
          </a:ln>
        </p:spPr>
        <p:txBody>
          <a:bodyPr rtlCol="0" anchor="ctr"/>
          <a:lstStyle/>
          <a:p>
            <a:pPr algn="ctr"/>
          </a:p>
        </p:txBody>
      </p:sp>
      <p:sp>
        <p:nvSpPr>
          <p:cNvPr id="38" name="TextBox 37"/>
          <p:cNvSpPr txBox="1"/>
          <p:nvPr/>
        </p:nvSpPr>
        <p:spPr>
          <a:xfrm>
            <a:off x="685800" y="5439791"/>
            <a:ext cx="2061725"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가격 = ASSUMPTION (VAT 별도) · 실측 · WTP 검증 전</a:t>
            </a:r>
          </a:p>
        </p:txBody>
      </p:sp>
      <p:sp>
        <p:nvSpPr>
          <p:cNvPr id="39" name="TextBox 38"/>
          <p:cNvSpPr txBox="1"/>
          <p:nvPr/>
        </p:nvSpPr>
        <p:spPr>
          <a:xfrm>
            <a:off x="7635240" y="1599310"/>
            <a:ext cx="3870655" cy="237744"/>
          </a:xfrm>
          <a:prstGeom prst="rect">
            <a:avLst/>
          </a:prstGeom>
          <a:noFill/>
        </p:spPr>
        <p:txBody>
          <a:bodyPr wrap="square" lIns="0" rIns="0" tIns="0" bIns="0" anchor="t">
            <a:spAutoFit/>
          </a:bodyPr>
          <a:lstStyle/>
          <a:p>
            <a:pPr algn="l">
              <a:lnSpc>
                <a:spcPct val="100000"/>
              </a:lnSpc>
            </a:pPr>
            <a:r>
              <a:rPr sz="1050" b="1">
                <a:solidFill>
                  <a:srgbClr val="8C9198"/>
                </a:solidFill>
                <a:latin typeface="Noto Sans KR"/>
                <a:ea typeface="Noto Sans KR"/>
                <a:cs typeface="Noto Sans KR"/>
              </a:rPr>
              <a:t>대표 1세대 · 5년 (Remodeling 구매, Y3 원가)</a:t>
            </a:r>
          </a:p>
        </p:txBody>
      </p:sp>
      <p:sp>
        <p:nvSpPr>
          <p:cNvPr id="40" name="Rectangle 39"/>
          <p:cNvSpPr/>
          <p:nvPr/>
        </p:nvSpPr>
        <p:spPr>
          <a:xfrm>
            <a:off x="7635240" y="1910206"/>
            <a:ext cx="3233549" cy="384048"/>
          </a:xfrm>
          <a:prstGeom prst="rect">
            <a:avLst/>
          </a:prstGeom>
          <a:solidFill>
            <a:srgbClr val="15171A"/>
          </a:solidFill>
          <a:ln>
            <a:noFill/>
          </a:ln>
        </p:spPr>
        <p:txBody>
          <a:bodyPr rtlCol="0" anchor="ctr"/>
          <a:lstStyle/>
          <a:p>
            <a:pPr algn="ctr"/>
          </a:p>
        </p:txBody>
      </p:sp>
      <p:sp>
        <p:nvSpPr>
          <p:cNvPr id="41" name="Rectangle 40"/>
          <p:cNvSpPr/>
          <p:nvPr/>
        </p:nvSpPr>
        <p:spPr>
          <a:xfrm>
            <a:off x="10868789" y="1910206"/>
            <a:ext cx="585880" cy="384048"/>
          </a:xfrm>
          <a:prstGeom prst="rect">
            <a:avLst/>
          </a:prstGeom>
          <a:solidFill>
            <a:srgbClr val="6B7078"/>
          </a:solidFill>
          <a:ln>
            <a:noFill/>
          </a:ln>
        </p:spPr>
        <p:txBody>
          <a:bodyPr rtlCol="0" anchor="ctr"/>
          <a:lstStyle/>
          <a:p>
            <a:pPr algn="ctr"/>
          </a:p>
        </p:txBody>
      </p:sp>
      <p:sp>
        <p:nvSpPr>
          <p:cNvPr id="42" name="Rectangle 41"/>
          <p:cNvSpPr/>
          <p:nvPr/>
        </p:nvSpPr>
        <p:spPr>
          <a:xfrm>
            <a:off x="11454670" y="1910206"/>
            <a:ext cx="51224" cy="384048"/>
          </a:xfrm>
          <a:prstGeom prst="rect">
            <a:avLst/>
          </a:prstGeom>
          <a:solidFill>
            <a:srgbClr val="B4B8BE"/>
          </a:solidFill>
          <a:ln>
            <a:noFill/>
          </a:ln>
        </p:spPr>
        <p:txBody>
          <a:bodyPr rtlCol="0" anchor="ctr"/>
          <a:lstStyle/>
          <a:p>
            <a:pPr algn="ctr"/>
          </a:p>
        </p:txBody>
      </p:sp>
      <p:sp>
        <p:nvSpPr>
          <p:cNvPr id="43" name="TextBox 42"/>
          <p:cNvSpPr txBox="1"/>
          <p:nvPr/>
        </p:nvSpPr>
        <p:spPr>
          <a:xfrm>
            <a:off x="7635240" y="2349118"/>
            <a:ext cx="3870655" cy="23774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INSTALL 2,020  ·  OPERATE 366  ·  EXPAND 32  =  2,418만원</a:t>
            </a:r>
          </a:p>
        </p:txBody>
      </p:sp>
      <p:sp>
        <p:nvSpPr>
          <p:cNvPr id="44" name="TextBox 43"/>
          <p:cNvSpPr txBox="1"/>
          <p:nvPr/>
        </p:nvSpPr>
        <p:spPr>
          <a:xfrm>
            <a:off x="7635240" y="2696590"/>
            <a:ext cx="1843887"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428만원</a:t>
            </a:r>
          </a:p>
        </p:txBody>
      </p:sp>
      <p:sp>
        <p:nvSpPr>
          <p:cNvPr id="45" name="TextBox 44"/>
          <p:cNvSpPr txBox="1"/>
          <p:nvPr/>
        </p:nvSpPr>
        <p:spPr>
          <a:xfrm>
            <a:off x="7635240" y="3046094"/>
            <a:ext cx="1843887"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5년 기여이익 (Y3 원가, 이익률 18%)</a:t>
            </a:r>
          </a:p>
        </p:txBody>
      </p:sp>
      <p:sp>
        <p:nvSpPr>
          <p:cNvPr id="46" name="Rectangle 45"/>
          <p:cNvSpPr/>
          <p:nvPr/>
        </p:nvSpPr>
        <p:spPr>
          <a:xfrm>
            <a:off x="7635240" y="3248177"/>
            <a:ext cx="463783" cy="155448"/>
          </a:xfrm>
          <a:prstGeom prst="rect">
            <a:avLst/>
          </a:prstGeom>
          <a:noFill/>
          <a:ln w="6350">
            <a:solidFill>
              <a:srgbClr val="C9CDD2"/>
            </a:solidFill>
          </a:ln>
        </p:spPr>
        <p:txBody>
          <a:bodyPr rtlCol="0" anchor="ctr"/>
          <a:lstStyle/>
          <a:p>
            <a:pPr algn="ctr"/>
          </a:p>
        </p:txBody>
      </p:sp>
      <p:sp>
        <p:nvSpPr>
          <p:cNvPr id="47" name="TextBox 46"/>
          <p:cNvSpPr txBox="1"/>
          <p:nvPr/>
        </p:nvSpPr>
        <p:spPr>
          <a:xfrm>
            <a:off x="7635240" y="3248177"/>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48" name="TextBox 47"/>
          <p:cNvSpPr txBox="1"/>
          <p:nvPr/>
        </p:nvSpPr>
        <p:spPr>
          <a:xfrm>
            <a:off x="9662007" y="2696590"/>
            <a:ext cx="1843887" cy="367792"/>
          </a:xfrm>
          <a:prstGeom prst="rect">
            <a:avLst/>
          </a:prstGeom>
          <a:noFill/>
        </p:spPr>
        <p:txBody>
          <a:bodyPr wrap="square" lIns="0" rIns="0" tIns="0" bIns="0" anchor="t">
            <a:spAutoFit/>
          </a:bodyPr>
          <a:lstStyle/>
          <a:p>
            <a:pPr algn="l">
              <a:lnSpc>
                <a:spcPct val="100000"/>
              </a:lnSpc>
            </a:pPr>
            <a:r>
              <a:rPr sz="2000" b="1">
                <a:solidFill>
                  <a:srgbClr val="15171A"/>
                </a:solidFill>
                <a:latin typeface="Noto Sans KR"/>
                <a:ea typeface="Noto Sans KR"/>
                <a:cs typeface="Noto Sans KR"/>
              </a:rPr>
              <a:t>798만원</a:t>
            </a:r>
          </a:p>
        </p:txBody>
      </p:sp>
      <p:sp>
        <p:nvSpPr>
          <p:cNvPr id="49" name="TextBox 48"/>
          <p:cNvSpPr txBox="1"/>
          <p:nvPr/>
        </p:nvSpPr>
        <p:spPr>
          <a:xfrm>
            <a:off x="9662007" y="3046094"/>
            <a:ext cx="1843887" cy="349300"/>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Y5 원가 (BOM · 설치 · Care 하락, 33%)</a:t>
            </a:r>
          </a:p>
        </p:txBody>
      </p:sp>
      <p:sp>
        <p:nvSpPr>
          <p:cNvPr id="50" name="Rectangle 49"/>
          <p:cNvSpPr/>
          <p:nvPr/>
        </p:nvSpPr>
        <p:spPr>
          <a:xfrm>
            <a:off x="9662007" y="3413683"/>
            <a:ext cx="463783" cy="155448"/>
          </a:xfrm>
          <a:prstGeom prst="rect">
            <a:avLst/>
          </a:prstGeom>
          <a:noFill/>
          <a:ln w="6350">
            <a:solidFill>
              <a:srgbClr val="C9CDD2"/>
            </a:solidFill>
          </a:ln>
        </p:spPr>
        <p:txBody>
          <a:bodyPr rtlCol="0" anchor="ctr"/>
          <a:lstStyle/>
          <a:p>
            <a:pPr algn="ctr"/>
          </a:p>
        </p:txBody>
      </p:sp>
      <p:sp>
        <p:nvSpPr>
          <p:cNvPr id="51" name="TextBox 50"/>
          <p:cNvSpPr txBox="1"/>
          <p:nvPr/>
        </p:nvSpPr>
        <p:spPr>
          <a:xfrm>
            <a:off x="9662007" y="3413683"/>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52" name="TextBox 51"/>
          <p:cNvSpPr txBox="1"/>
          <p:nvPr/>
        </p:nvSpPr>
        <p:spPr>
          <a:xfrm>
            <a:off x="7635240" y="3812159"/>
            <a:ext cx="3870655" cy="237744"/>
          </a:xfrm>
          <a:prstGeom prst="rect">
            <a:avLst/>
          </a:prstGeom>
          <a:noFill/>
        </p:spPr>
        <p:txBody>
          <a:bodyPr wrap="square" lIns="0" rIns="0" tIns="0" bIns="0" anchor="t">
            <a:spAutoFit/>
          </a:bodyPr>
          <a:lstStyle/>
          <a:p>
            <a:pPr algn="l">
              <a:lnSpc>
                <a:spcPct val="100000"/>
              </a:lnSpc>
            </a:pPr>
            <a:r>
              <a:rPr sz="1050" b="1">
                <a:solidFill>
                  <a:srgbClr val="8C9198"/>
                </a:solidFill>
                <a:latin typeface="Noto Sans KR"/>
                <a:ea typeface="Noto Sans KR"/>
                <a:cs typeface="Noto Sans KR"/>
              </a:rPr>
              <a:t>Rental 구조 (Scale 단계)</a:t>
            </a:r>
          </a:p>
        </p:txBody>
      </p:sp>
      <p:sp>
        <p:nvSpPr>
          <p:cNvPr id="53" name="Rectangle 52"/>
          <p:cNvSpPr/>
          <p:nvPr/>
        </p:nvSpPr>
        <p:spPr>
          <a:xfrm>
            <a:off x="7635240" y="4104767"/>
            <a:ext cx="1070762" cy="566928"/>
          </a:xfrm>
          <a:prstGeom prst="rect">
            <a:avLst/>
          </a:prstGeom>
          <a:solidFill>
            <a:srgbClr val="F4F5F6"/>
          </a:solidFill>
          <a:ln>
            <a:noFill/>
          </a:ln>
        </p:spPr>
        <p:txBody>
          <a:bodyPr rtlCol="0" anchor="ctr"/>
          <a:lstStyle/>
          <a:p>
            <a:pPr algn="ctr"/>
          </a:p>
        </p:txBody>
      </p:sp>
      <p:sp>
        <p:nvSpPr>
          <p:cNvPr id="54" name="TextBox 53"/>
          <p:cNvSpPr txBox="1"/>
          <p:nvPr/>
        </p:nvSpPr>
        <p:spPr>
          <a:xfrm>
            <a:off x="7635240" y="4159631"/>
            <a:ext cx="1070762" cy="256032"/>
          </a:xfrm>
          <a:prstGeom prst="rect">
            <a:avLst/>
          </a:prstGeom>
          <a:noFill/>
        </p:spPr>
        <p:txBody>
          <a:bodyPr wrap="square" lIns="0" rIns="0" tIns="0" bIns="0" anchor="t">
            <a:spAutoFit/>
          </a:bodyPr>
          <a:lstStyle/>
          <a:p>
            <a:pPr algn="ctr">
              <a:lnSpc>
                <a:spcPct val="100000"/>
              </a:lnSpc>
            </a:pPr>
            <a:r>
              <a:rPr sz="1050" b="1">
                <a:solidFill>
                  <a:srgbClr val="15171A"/>
                </a:solidFill>
                <a:latin typeface="Noto Sans KR"/>
                <a:ea typeface="Noto Sans KR"/>
                <a:cs typeface="Noto Sans KR"/>
              </a:rPr>
              <a:t>고객</a:t>
            </a:r>
          </a:p>
        </p:txBody>
      </p:sp>
      <p:sp>
        <p:nvSpPr>
          <p:cNvPr id="55" name="TextBox 54"/>
          <p:cNvSpPr txBox="1"/>
          <p:nvPr/>
        </p:nvSpPr>
        <p:spPr>
          <a:xfrm>
            <a:off x="7635240" y="4406519"/>
            <a:ext cx="1070762" cy="219456"/>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월 납부</a:t>
            </a:r>
          </a:p>
        </p:txBody>
      </p:sp>
      <p:cxnSp>
        <p:nvCxnSpPr>
          <p:cNvPr id="56" name="Connector 55"/>
          <p:cNvCxnSpPr/>
          <p:nvPr/>
        </p:nvCxnSpPr>
        <p:spPr>
          <a:xfrm>
            <a:off x="8733434" y="4388231"/>
            <a:ext cx="274320" cy="0"/>
          </a:xfrm>
          <a:prstGeom prst="line">
            <a:avLst/>
          </a:prstGeom>
          <a:ln w="15875">
            <a:solidFill>
              <a:srgbClr val="8C9198"/>
            </a:solidFill>
            <a:tailEnd type="triangle" w="med" len="med"/>
          </a:ln>
        </p:spPr>
      </p:cxnSp>
      <p:sp>
        <p:nvSpPr>
          <p:cNvPr id="57" name="Rectangle 56"/>
          <p:cNvSpPr/>
          <p:nvPr/>
        </p:nvSpPr>
        <p:spPr>
          <a:xfrm>
            <a:off x="9035186" y="4104767"/>
            <a:ext cx="1070762" cy="566928"/>
          </a:xfrm>
          <a:prstGeom prst="rect">
            <a:avLst/>
          </a:prstGeom>
          <a:solidFill>
            <a:srgbClr val="F4F5F6"/>
          </a:solidFill>
          <a:ln>
            <a:noFill/>
          </a:ln>
        </p:spPr>
        <p:txBody>
          <a:bodyPr rtlCol="0" anchor="ctr"/>
          <a:lstStyle/>
          <a:p>
            <a:pPr algn="ctr"/>
          </a:p>
        </p:txBody>
      </p:sp>
      <p:sp>
        <p:nvSpPr>
          <p:cNvPr id="58" name="TextBox 57"/>
          <p:cNvSpPr txBox="1"/>
          <p:nvPr/>
        </p:nvSpPr>
        <p:spPr>
          <a:xfrm>
            <a:off x="9035186" y="4159631"/>
            <a:ext cx="1070762" cy="256032"/>
          </a:xfrm>
          <a:prstGeom prst="rect">
            <a:avLst/>
          </a:prstGeom>
          <a:noFill/>
        </p:spPr>
        <p:txBody>
          <a:bodyPr wrap="square" lIns="0" rIns="0" tIns="0" bIns="0" anchor="t">
            <a:spAutoFit/>
          </a:bodyPr>
          <a:lstStyle/>
          <a:p>
            <a:pPr algn="ctr">
              <a:lnSpc>
                <a:spcPct val="100000"/>
              </a:lnSpc>
            </a:pPr>
            <a:r>
              <a:rPr sz="1050" b="1">
                <a:solidFill>
                  <a:srgbClr val="15171A"/>
                </a:solidFill>
                <a:latin typeface="Noto Sans KR"/>
                <a:ea typeface="Noto Sans KR"/>
                <a:cs typeface="Noto Sans KR"/>
              </a:rPr>
              <a:t>Capital Partner</a:t>
            </a:r>
          </a:p>
        </p:txBody>
      </p:sp>
      <p:sp>
        <p:nvSpPr>
          <p:cNvPr id="59" name="TextBox 58"/>
          <p:cNvSpPr txBox="1"/>
          <p:nvPr/>
        </p:nvSpPr>
        <p:spPr>
          <a:xfrm>
            <a:off x="9035186" y="4406519"/>
            <a:ext cx="1070762" cy="219456"/>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Robot 자산 보유</a:t>
            </a:r>
          </a:p>
        </p:txBody>
      </p:sp>
      <p:cxnSp>
        <p:nvCxnSpPr>
          <p:cNvPr id="60" name="Connector 59"/>
          <p:cNvCxnSpPr/>
          <p:nvPr/>
        </p:nvCxnSpPr>
        <p:spPr>
          <a:xfrm>
            <a:off x="10133380" y="4388231"/>
            <a:ext cx="274320" cy="0"/>
          </a:xfrm>
          <a:prstGeom prst="line">
            <a:avLst/>
          </a:prstGeom>
          <a:ln w="15875">
            <a:solidFill>
              <a:srgbClr val="8C9198"/>
            </a:solidFill>
            <a:tailEnd type="triangle" w="med" len="med"/>
          </a:ln>
        </p:spPr>
      </p:cxnSp>
      <p:sp>
        <p:nvSpPr>
          <p:cNvPr id="61" name="Rectangle 60"/>
          <p:cNvSpPr/>
          <p:nvPr/>
        </p:nvSpPr>
        <p:spPr>
          <a:xfrm>
            <a:off x="10435132" y="4104767"/>
            <a:ext cx="1070762" cy="566928"/>
          </a:xfrm>
          <a:prstGeom prst="rect">
            <a:avLst/>
          </a:prstGeom>
          <a:solidFill>
            <a:srgbClr val="15171A"/>
          </a:solidFill>
          <a:ln>
            <a:noFill/>
          </a:ln>
        </p:spPr>
        <p:txBody>
          <a:bodyPr rtlCol="0" anchor="ctr"/>
          <a:lstStyle/>
          <a:p>
            <a:pPr algn="ctr"/>
          </a:p>
        </p:txBody>
      </p:sp>
      <p:sp>
        <p:nvSpPr>
          <p:cNvPr id="62" name="TextBox 61"/>
          <p:cNvSpPr txBox="1"/>
          <p:nvPr/>
        </p:nvSpPr>
        <p:spPr>
          <a:xfrm>
            <a:off x="10435132" y="4159631"/>
            <a:ext cx="1070762" cy="256032"/>
          </a:xfrm>
          <a:prstGeom prst="rect">
            <a:avLst/>
          </a:prstGeom>
          <a:noFill/>
        </p:spPr>
        <p:txBody>
          <a:bodyPr wrap="square" lIns="0" rIns="0" tIns="0" bIns="0" anchor="t">
            <a:spAutoFit/>
          </a:bodyPr>
          <a:lstStyle/>
          <a:p>
            <a:pPr algn="ctr">
              <a:lnSpc>
                <a:spcPct val="100000"/>
              </a:lnSpc>
            </a:pPr>
            <a:r>
              <a:rPr sz="1050" b="1">
                <a:solidFill>
                  <a:srgbClr val="FFFFFF"/>
                </a:solidFill>
                <a:latin typeface="Noto Sans KR"/>
                <a:ea typeface="Noto Sans KR"/>
                <a:cs typeface="Noto Sans KR"/>
              </a:rPr>
              <a:t>MH</a:t>
            </a:r>
          </a:p>
        </p:txBody>
      </p:sp>
      <p:sp>
        <p:nvSpPr>
          <p:cNvPr id="63" name="TextBox 62"/>
          <p:cNvSpPr txBox="1"/>
          <p:nvPr/>
        </p:nvSpPr>
        <p:spPr>
          <a:xfrm>
            <a:off x="10435132" y="4406519"/>
            <a:ext cx="1070762" cy="219456"/>
          </a:xfrm>
          <a:prstGeom prst="rect">
            <a:avLst/>
          </a:prstGeom>
          <a:noFill/>
        </p:spPr>
        <p:txBody>
          <a:bodyPr wrap="square" lIns="0" rIns="0" tIns="0" bIns="0" anchor="t">
            <a:spAutoFit/>
          </a:bodyPr>
          <a:lstStyle/>
          <a:p>
            <a:pPr algn="ctr">
              <a:lnSpc>
                <a:spcPct val="100000"/>
              </a:lnSpc>
            </a:pPr>
            <a:r>
              <a:rPr sz="850" b="0">
                <a:solidFill>
                  <a:srgbClr val="C9CDD2"/>
                </a:solidFill>
                <a:latin typeface="Noto Sans KR"/>
                <a:ea typeface="Noto Sans KR"/>
                <a:cs typeface="Noto Sans KR"/>
              </a:rPr>
              <a:t>Product · SW · Care</a:t>
            </a:r>
          </a:p>
        </p:txBody>
      </p:sp>
      <p:sp>
        <p:nvSpPr>
          <p:cNvPr id="64" name="TextBox 63"/>
          <p:cNvSpPr txBox="1"/>
          <p:nvPr/>
        </p:nvSpPr>
        <p:spPr>
          <a:xfrm>
            <a:off x="7635240" y="4744847"/>
            <a:ext cx="3870655" cy="566928"/>
          </a:xfrm>
          <a:prstGeom prst="rect">
            <a:avLst/>
          </a:prstGeom>
          <a:noFill/>
        </p:spPr>
        <p:txBody>
          <a:bodyPr wrap="square" lIns="0" rIns="0" tIns="0" bIns="0" anchor="t">
            <a:spAutoFit/>
          </a:bodyPr>
          <a:lstStyle/>
          <a:p>
            <a:pPr algn="l">
              <a:lnSpc>
                <a:spcPct val="102000"/>
              </a:lnSpc>
            </a:pPr>
            <a:r>
              <a:rPr sz="900" b="0">
                <a:solidFill>
                  <a:srgbClr val="4A4F57"/>
                </a:solidFill>
                <a:latin typeface="Noto Sans KR"/>
                <a:ea typeface="Noto Sans KR"/>
                <a:cs typeface="Noto Sans KR"/>
              </a:rPr>
              <a:t>월 33만원 → Partner가 Robot을 ASP의 88%에 매입 · MH 서비스료 월 6만원</a:t>
            </a:r>
          </a:p>
          <a:p>
            <a:pPr algn="l">
              <a:lnSpc>
                <a:spcPct val="102000"/>
              </a:lnSpc>
            </a:pPr>
            <a:r>
              <a:rPr sz="900" b="0">
                <a:solidFill>
                  <a:srgbClr val="4A4F57"/>
                </a:solidFill>
                <a:latin typeface="Noto Sans KR"/>
                <a:ea typeface="Noto Sans KR"/>
                <a:cs typeface="Noto Sans KR"/>
              </a:rPr>
              <a:t>Partner IRR 약 13.1% (DERIVED) · Pilot은 MH 직접, Scale은 Partner 보유</a:t>
            </a:r>
          </a:p>
        </p:txBody>
      </p:sp>
      <p:sp>
        <p:nvSpPr>
          <p:cNvPr id="65" name="TextBox 64"/>
          <p:cNvSpPr txBox="1"/>
          <p:nvPr/>
        </p:nvSpPr>
        <p:spPr>
          <a:xfrm>
            <a:off x="685800" y="5978347"/>
            <a:ext cx="10820095" cy="349300"/>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Care = 정기 안전점검 · Calibration · 원격진단 · SW Update · A/S (Software 구독 아님). Consumables = 실제 마모 · 위생 기반, 교체주기는 개발 중 검증. Installed Base가 연 설치의 6배일 때 OPERATE + EXPAND 비중 약 29% (DERIVED). 참고 FACT: 코웨이 국내 렌탈 계정 748만 (2026 1Q) · LG 가전 구독 매출 2조원+ (2025) [S12 · S41].</a:t>
            </a:r>
          </a:p>
        </p:txBody>
      </p:sp>
      <p:sp>
        <p:nvSpPr>
          <p:cNvPr id="66" name="TextBox 6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67" name="TextBox 6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11  Market / Beachhead</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큰 TAM 대신, 세대 수 × 적용률 × 단가로 시작 시장을 계산합니다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아파트 재고는 기회 기반이지 확정 구매시장이 아님. 비율은 모두 ASSUMPTION (검증 계획 부록 C)</a:t>
            </a:r>
          </a:p>
        </p:txBody>
      </p:sp>
      <p:sp>
        <p:nvSpPr>
          <p:cNvPr id="5" name="Rectangle 4"/>
          <p:cNvSpPr/>
          <p:nvPr/>
        </p:nvSpPr>
        <p:spPr>
          <a:xfrm>
            <a:off x="685800" y="1599310"/>
            <a:ext cx="3154680" cy="4417441"/>
          </a:xfrm>
          <a:prstGeom prst="rect">
            <a:avLst/>
          </a:prstGeom>
          <a:solidFill>
            <a:srgbClr val="15171A"/>
          </a:solidFill>
          <a:ln>
            <a:noFill/>
          </a:ln>
        </p:spPr>
        <p:txBody>
          <a:bodyPr rtlCol="0" anchor="ctr"/>
          <a:lstStyle/>
          <a:p>
            <a:pPr algn="ctr"/>
          </a:p>
        </p:txBody>
      </p:sp>
      <p:sp>
        <p:nvSpPr>
          <p:cNvPr id="6" name="TextBox 5"/>
          <p:cNvSpPr txBox="1"/>
          <p:nvPr/>
        </p:nvSpPr>
        <p:spPr>
          <a:xfrm>
            <a:off x="914400" y="1782190"/>
            <a:ext cx="2697480" cy="237744"/>
          </a:xfrm>
          <a:prstGeom prst="rect">
            <a:avLst/>
          </a:prstGeom>
          <a:noFill/>
        </p:spPr>
        <p:txBody>
          <a:bodyPr wrap="square" lIns="0" rIns="0" tIns="0" bIns="0" anchor="t">
            <a:spAutoFit/>
          </a:bodyPr>
          <a:lstStyle/>
          <a:p>
            <a:pPr algn="l">
              <a:lnSpc>
                <a:spcPct val="100000"/>
              </a:lnSpc>
            </a:pPr>
            <a:r>
              <a:rPr sz="1000" b="1">
                <a:solidFill>
                  <a:srgbClr val="A9AEB5"/>
                </a:solidFill>
                <a:latin typeface="Noto Sans KR"/>
                <a:ea typeface="Noto Sans KR"/>
                <a:cs typeface="Noto Sans KR"/>
              </a:rPr>
              <a:t>국내 아파트 (2025)</a:t>
            </a:r>
          </a:p>
        </p:txBody>
      </p:sp>
      <p:sp>
        <p:nvSpPr>
          <p:cNvPr id="7" name="TextBox 6"/>
          <p:cNvSpPr txBox="1"/>
          <p:nvPr/>
        </p:nvSpPr>
        <p:spPr>
          <a:xfrm>
            <a:off x="914400" y="2038222"/>
            <a:ext cx="2697480" cy="685800"/>
          </a:xfrm>
          <a:prstGeom prst="rect">
            <a:avLst/>
          </a:prstGeom>
          <a:noFill/>
        </p:spPr>
        <p:txBody>
          <a:bodyPr wrap="square" lIns="0" rIns="0" tIns="0" bIns="0" anchor="t">
            <a:spAutoFit/>
          </a:bodyPr>
          <a:lstStyle/>
          <a:p>
            <a:pPr algn="l">
              <a:lnSpc>
                <a:spcPct val="100000"/>
              </a:lnSpc>
            </a:pPr>
            <a:r>
              <a:rPr sz="3600" b="1">
                <a:solidFill>
                  <a:srgbClr val="FFFFFF"/>
                </a:solidFill>
                <a:latin typeface="Noto Sans KR"/>
                <a:ea typeface="Noto Sans KR"/>
                <a:cs typeface="Noto Sans KR"/>
              </a:rPr>
              <a:t>1,328만호</a:t>
            </a:r>
          </a:p>
        </p:txBody>
      </p:sp>
      <p:sp>
        <p:nvSpPr>
          <p:cNvPr id="8" name="Rectangle 7"/>
          <p:cNvSpPr/>
          <p:nvPr/>
        </p:nvSpPr>
        <p:spPr>
          <a:xfrm>
            <a:off x="914400" y="2742311"/>
            <a:ext cx="463783" cy="155448"/>
          </a:xfrm>
          <a:prstGeom prst="rect">
            <a:avLst/>
          </a:prstGeom>
          <a:solidFill>
            <a:srgbClr val="15171A"/>
          </a:solidFill>
          <a:ln w="6350">
            <a:solidFill>
              <a:srgbClr val="C9CDD2"/>
            </a:solidFill>
          </a:ln>
        </p:spPr>
        <p:txBody>
          <a:bodyPr rtlCol="0" anchor="ctr"/>
          <a:lstStyle/>
          <a:p>
            <a:pPr algn="ctr"/>
          </a:p>
        </p:txBody>
      </p:sp>
      <p:sp>
        <p:nvSpPr>
          <p:cNvPr id="9" name="TextBox 8"/>
          <p:cNvSpPr txBox="1"/>
          <p:nvPr/>
        </p:nvSpPr>
        <p:spPr>
          <a:xfrm>
            <a:off x="914400" y="2742311"/>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10" name="TextBox 9"/>
          <p:cNvSpPr txBox="1"/>
          <p:nvPr/>
        </p:nvSpPr>
        <p:spPr>
          <a:xfrm>
            <a:off x="914400" y="3108071"/>
            <a:ext cx="2697480" cy="384048"/>
          </a:xfrm>
          <a:prstGeom prst="rect">
            <a:avLst/>
          </a:prstGeom>
          <a:noFill/>
        </p:spPr>
        <p:txBody>
          <a:bodyPr wrap="square" lIns="0" rIns="0" tIns="0" bIns="0" anchor="t">
            <a:spAutoFit/>
          </a:bodyPr>
          <a:lstStyle/>
          <a:p>
            <a:pPr algn="l">
              <a:lnSpc>
                <a:spcPct val="102000"/>
              </a:lnSpc>
            </a:pPr>
            <a:r>
              <a:rPr sz="1000" b="0">
                <a:solidFill>
                  <a:srgbClr val="E3E5E8"/>
                </a:solidFill>
                <a:latin typeface="Noto Sans KR"/>
                <a:ea typeface="Noto Sans KR"/>
                <a:cs typeface="Noto Sans KR"/>
              </a:rPr>
              <a:t>총주택 2,018만호 × 아파트 65.8%</a:t>
            </a:r>
          </a:p>
        </p:txBody>
      </p:sp>
      <p:sp>
        <p:nvSpPr>
          <p:cNvPr id="11" name="TextBox 10"/>
          <p:cNvSpPr txBox="1"/>
          <p:nvPr/>
        </p:nvSpPr>
        <p:spPr>
          <a:xfrm>
            <a:off x="914400" y="3583559"/>
            <a:ext cx="2697480" cy="384048"/>
          </a:xfrm>
          <a:prstGeom prst="rect">
            <a:avLst/>
          </a:prstGeom>
          <a:noFill/>
        </p:spPr>
        <p:txBody>
          <a:bodyPr wrap="square" lIns="0" rIns="0" tIns="0" bIns="0" anchor="t">
            <a:spAutoFit/>
          </a:bodyPr>
          <a:lstStyle/>
          <a:p>
            <a:pPr algn="l">
              <a:lnSpc>
                <a:spcPct val="102000"/>
              </a:lnSpc>
            </a:pPr>
            <a:r>
              <a:rPr sz="1000" b="0">
                <a:solidFill>
                  <a:srgbClr val="E3E5E8"/>
                </a:solidFill>
                <a:latin typeface="Noto Sans KR"/>
                <a:ea typeface="Noto Sans KR"/>
                <a:cs typeface="Noto Sans KR"/>
              </a:rPr>
              <a:t>준공 20년 이상 주택 56.0%</a:t>
            </a:r>
          </a:p>
        </p:txBody>
      </p:sp>
      <p:sp>
        <p:nvSpPr>
          <p:cNvPr id="12" name="TextBox 11"/>
          <p:cNvSpPr txBox="1"/>
          <p:nvPr/>
        </p:nvSpPr>
        <p:spPr>
          <a:xfrm>
            <a:off x="914400" y="4059047"/>
            <a:ext cx="2697480" cy="384048"/>
          </a:xfrm>
          <a:prstGeom prst="rect">
            <a:avLst/>
          </a:prstGeom>
          <a:noFill/>
        </p:spPr>
        <p:txBody>
          <a:bodyPr wrap="square" lIns="0" rIns="0" tIns="0" bIns="0" anchor="t">
            <a:spAutoFit/>
          </a:bodyPr>
          <a:lstStyle/>
          <a:p>
            <a:pPr algn="l">
              <a:lnSpc>
                <a:spcPct val="102000"/>
              </a:lnSpc>
            </a:pPr>
            <a:r>
              <a:rPr sz="1000" b="0">
                <a:solidFill>
                  <a:srgbClr val="E3E5E8"/>
                </a:solidFill>
                <a:latin typeface="Noto Sans KR"/>
                <a:ea typeface="Noto Sans KR"/>
                <a:cs typeface="Noto Sans KR"/>
              </a:rPr>
              <a:t>주택 매매 72.6만호 (2025)</a:t>
            </a:r>
          </a:p>
        </p:txBody>
      </p:sp>
      <p:sp>
        <p:nvSpPr>
          <p:cNvPr id="13" name="TextBox 12"/>
          <p:cNvSpPr txBox="1"/>
          <p:nvPr/>
        </p:nvSpPr>
        <p:spPr>
          <a:xfrm>
            <a:off x="914400" y="4534534"/>
            <a:ext cx="2697480" cy="384048"/>
          </a:xfrm>
          <a:prstGeom prst="rect">
            <a:avLst/>
          </a:prstGeom>
          <a:noFill/>
        </p:spPr>
        <p:txBody>
          <a:bodyPr wrap="square" lIns="0" rIns="0" tIns="0" bIns="0" anchor="t">
            <a:spAutoFit/>
          </a:bodyPr>
          <a:lstStyle/>
          <a:p>
            <a:pPr algn="l">
              <a:lnSpc>
                <a:spcPct val="102000"/>
              </a:lnSpc>
            </a:pPr>
            <a:r>
              <a:rPr sz="1000" b="0">
                <a:solidFill>
                  <a:srgbClr val="E3E5E8"/>
                </a:solidFill>
                <a:latin typeface="Noto Sans KR"/>
                <a:ea typeface="Noto Sans KR"/>
                <a:cs typeface="Noto Sans KR"/>
              </a:rPr>
              <a:t>아파트 입주 23.6만 (2025) · 18.3만 (2026 예정)</a:t>
            </a:r>
          </a:p>
        </p:txBody>
      </p:sp>
      <p:sp>
        <p:nvSpPr>
          <p:cNvPr id="14" name="TextBox 13"/>
          <p:cNvSpPr txBox="1"/>
          <p:nvPr/>
        </p:nvSpPr>
        <p:spPr>
          <a:xfrm>
            <a:off x="914400" y="5449824"/>
            <a:ext cx="2697480" cy="457200"/>
          </a:xfrm>
          <a:prstGeom prst="rect">
            <a:avLst/>
          </a:prstGeom>
          <a:noFill/>
        </p:spPr>
        <p:txBody>
          <a:bodyPr wrap="square" lIns="0" rIns="0" tIns="0" bIns="0" anchor="t">
            <a:spAutoFit/>
          </a:bodyPr>
          <a:lstStyle/>
          <a:p>
            <a:pPr algn="l">
              <a:lnSpc>
                <a:spcPct val="102000"/>
              </a:lnSpc>
            </a:pPr>
            <a:r>
              <a:rPr sz="900" b="0">
                <a:solidFill>
                  <a:srgbClr val="A9AEB5"/>
                </a:solidFill>
                <a:latin typeface="Noto Sans KR"/>
                <a:ea typeface="Noto Sans KR"/>
                <a:cs typeface="Noto Sans KR"/>
              </a:rPr>
              <a:t>기회 기반 (Stock) ≠ 구매시장. 실제 계산은 오른쪽 Funnel</a:t>
            </a:r>
          </a:p>
        </p:txBody>
      </p:sp>
      <p:graphicFrame>
        <p:nvGraphicFramePr>
          <p:cNvPr id="15" name="Table 14"/>
          <p:cNvGraphicFramePr>
            <a:graphicFrameLocks noGrp="1"/>
          </p:cNvGraphicFramePr>
          <p:nvPr/>
        </p:nvGraphicFramePr>
        <p:xfrm>
          <a:off x="4114800" y="1599310"/>
          <a:ext cx="7391095" cy="1908707"/>
        </p:xfrm>
        <a:graphic>
          <a:graphicData uri="http://schemas.openxmlformats.org/drawingml/2006/table">
            <a:tbl>
              <a:tblPr firstRow="0" bandRow="0">
                <a:tableStyleId>{2D5ABB26-0587-4C30-8999-92F81FD0307C}</a:tableStyleId>
              </a:tblPr>
              <a:tblGrid>
                <a:gridCol w="1234440"/>
                <a:gridCol w="3413455"/>
                <a:gridCol w="914400"/>
                <a:gridCol w="868680"/>
                <a:gridCol w="960120"/>
              </a:tblGrid>
              <a:tr h="311861">
                <a:tc>
                  <a:txBody>
                    <a:bodyPr wrap="square"/>
                    <a:lstStyle/>
                    <a:p>
                      <a:pPr algn="l">
                        <a:lnSpc>
                          <a:spcPct val="100000"/>
                        </a:lnSpc>
                      </a:pPr>
                      <a:r>
                        <a:rPr sz="950" b="1">
                          <a:solidFill>
                            <a:srgbClr val="15171A"/>
                          </a:solidFill>
                          <a:latin typeface="Noto Sans KR"/>
                          <a:ea typeface="Noto Sans KR"/>
                          <a:cs typeface="Noto Sans KR"/>
                        </a:rPr>
                        <a:t>시장</a:t>
                      </a:r>
                    </a:p>
                  </a:txBody>
                  <a:tcPr marL="73152" marR="73152" marT="64008" marB="6400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산식 (세대 × 적용률)</a:t>
                      </a:r>
                    </a:p>
                  </a:txBody>
                  <a:tcPr marL="73152" marR="73152" marT="64008" marB="6400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대상 세대</a:t>
                      </a:r>
                    </a:p>
                  </a:txBody>
                  <a:tcPr marL="73152" marR="73152" marT="64008" marB="6400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패키지</a:t>
                      </a:r>
                    </a:p>
                  </a:txBody>
                  <a:tcPr marL="73152" marR="73152" marT="64008" marB="6400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연 규모</a:t>
                      </a:r>
                    </a:p>
                  </a:txBody>
                  <a:tcPr marL="73152" marR="73152" marT="64008" marB="64008" anchor="t">
                    <a:lnL w="0">
                      <a:noFill/>
                    </a:lnL>
                    <a:lnR w="0">
                      <a:noFill/>
                    </a:lnR>
                    <a:lnT w="12700">
                      <a:solidFill>
                        <a:srgbClr val="15171A"/>
                      </a:solidFill>
                    </a:lnT>
                    <a:lnB w="9525">
                      <a:solidFill>
                        <a:srgbClr val="15171A"/>
                      </a:solidFill>
                    </a:lnB>
                    <a:noFill/>
                  </a:tcPr>
                </a:tc>
              </a:tr>
              <a:tr h="486562">
                <a:tc>
                  <a:txBody>
                    <a:bodyPr wrap="square"/>
                    <a:lstStyle/>
                    <a:p>
                      <a:pPr algn="l">
                        <a:lnSpc>
                          <a:spcPct val="100000"/>
                        </a:lnSpc>
                      </a:pPr>
                      <a:r>
                        <a:rPr sz="950" b="1">
                          <a:solidFill>
                            <a:srgbClr val="E2571B"/>
                          </a:solidFill>
                          <a:latin typeface="Noto Sans KR"/>
                          <a:ea typeface="Noto Sans KR"/>
                          <a:cs typeface="Noto Sans KR"/>
                        </a:rPr>
                        <a:t>① Remodeling</a:t>
                      </a:r>
                    </a:p>
                    <a:p>
                      <a:pPr algn="l">
                        <a:lnSpc>
                          <a:spcPct val="100000"/>
                        </a:lnSpc>
                      </a:pPr>
                      <a:r>
                        <a:rPr sz="950" b="1">
                          <a:solidFill>
                            <a:srgbClr val="E2571B"/>
                          </a:solidFill>
                          <a:latin typeface="Noto Sans KR"/>
                          <a:ea typeface="Noto Sans KR"/>
                          <a:cs typeface="Noto Sans KR"/>
                        </a:rPr>
                        <a:t>Beachhead</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주방 교체 30만 × Premium 10% × 적용 60%</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18,000/년</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1,784만원</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3,212억원</a:t>
                      </a:r>
                    </a:p>
                  </a:txBody>
                  <a:tcPr marL="73152" marR="73152" marT="64008" marB="64008" anchor="t">
                    <a:lnL w="0">
                      <a:noFill/>
                    </a:lnL>
                    <a:lnR w="0">
                      <a:noFill/>
                    </a:lnR>
                    <a:lnT w="0">
                      <a:noFill/>
                    </a:lnT>
                    <a:lnB w="9525">
                      <a:solidFill>
                        <a:srgbClr val="E2E4E7"/>
                      </a:solidFill>
                    </a:lnB>
                    <a:noFill/>
                  </a:tcPr>
                </a:tc>
              </a:tr>
              <a:tr h="486562">
                <a:tc>
                  <a:txBody>
                    <a:bodyPr wrap="square"/>
                    <a:lstStyle/>
                    <a:p>
                      <a:pPr algn="l">
                        <a:lnSpc>
                          <a:spcPct val="100000"/>
                        </a:lnSpc>
                      </a:pPr>
                      <a:r>
                        <a:rPr sz="950" b="1">
                          <a:solidFill>
                            <a:srgbClr val="15171A"/>
                          </a:solidFill>
                          <a:latin typeface="Noto Sans KR"/>
                          <a:ea typeface="Noto Sans KR"/>
                          <a:cs typeface="Noto Sans KR"/>
                        </a:rPr>
                        <a:t>② Retrofit</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1,328만 × Premium 10% × 식세기 60% × 호환 40% = 31.9만 (재고) × 연 0.5%</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1,593/년</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1,760만원</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280억원</a:t>
                      </a:r>
                    </a:p>
                  </a:txBody>
                  <a:tcPr marL="73152" marR="73152" marT="64008" marB="64008" anchor="t">
                    <a:lnL w="0">
                      <a:noFill/>
                    </a:lnL>
                    <a:lnR w="0">
                      <a:noFill/>
                    </a:lnR>
                    <a:lnT w="0">
                      <a:noFill/>
                    </a:lnT>
                    <a:lnB w="9525">
                      <a:solidFill>
                        <a:srgbClr val="E2E4E7"/>
                      </a:solidFill>
                    </a:lnB>
                    <a:noFill/>
                  </a:tcPr>
                </a:tc>
              </a:tr>
              <a:tr h="311861">
                <a:tc>
                  <a:txBody>
                    <a:bodyPr wrap="square"/>
                    <a:lstStyle/>
                    <a:p>
                      <a:pPr algn="l">
                        <a:lnSpc>
                          <a:spcPct val="100000"/>
                        </a:lnSpc>
                      </a:pPr>
                      <a:r>
                        <a:rPr sz="950" b="1">
                          <a:solidFill>
                            <a:srgbClr val="15171A"/>
                          </a:solidFill>
                          <a:latin typeface="Noto Sans KR"/>
                          <a:ea typeface="Noto Sans KR"/>
                          <a:cs typeface="Noto Sans KR"/>
                        </a:rPr>
                        <a:t>③ New-build</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입주 20만 × Premium 단지 15% × Option 10%</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3,000/년</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612만원</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184억원</a:t>
                      </a:r>
                    </a:p>
                  </a:txBody>
                  <a:tcPr marL="73152" marR="73152" marT="64008" marB="64008" anchor="t">
                    <a:lnL w="0">
                      <a:noFill/>
                    </a:lnL>
                    <a:lnR w="0">
                      <a:noFill/>
                    </a:lnR>
                    <a:lnT w="0">
                      <a:noFill/>
                    </a:lnT>
                    <a:lnB w="9525">
                      <a:solidFill>
                        <a:srgbClr val="E2E4E7"/>
                      </a:solidFill>
                    </a:lnB>
                    <a:noFill/>
                  </a:tcPr>
                </a:tc>
              </a:tr>
              <a:tr h="311861">
                <a:tc>
                  <a:txBody>
                    <a:bodyPr wrap="square"/>
                    <a:lstStyle/>
                    <a:p>
                      <a:pPr algn="l">
                        <a:lnSpc>
                          <a:spcPct val="100000"/>
                        </a:lnSpc>
                      </a:pPr>
                      <a:r>
                        <a:rPr sz="950" b="1">
                          <a:solidFill>
                            <a:srgbClr val="15171A"/>
                          </a:solidFill>
                          <a:latin typeface="Noto Sans KR"/>
                          <a:ea typeface="Noto Sans KR"/>
                          <a:cs typeface="Noto Sans KR"/>
                        </a:rPr>
                        <a:t>④ Recurring</a:t>
                      </a:r>
                    </a:p>
                  </a:txBody>
                  <a:tcPr marL="73152" marR="73152" marT="64008" marB="64008"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Installed Base × 구매 고객 ARPU 58.8만원/년 (Care · 소모품)</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1,000대당</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a:t>
                      </a:r>
                    </a:p>
                  </a:txBody>
                  <a:tcPr marL="73152" marR="73152" marT="64008" marB="64008"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5.9억원</a:t>
                      </a:r>
                    </a:p>
                  </a:txBody>
                  <a:tcPr marL="73152" marR="73152" marT="64008" marB="64008" anchor="t">
                    <a:lnL w="0">
                      <a:noFill/>
                    </a:lnL>
                    <a:lnR w="0">
                      <a:noFill/>
                    </a:lnR>
                    <a:lnT w="0">
                      <a:noFill/>
                    </a:lnT>
                    <a:lnB w="9525">
                      <a:solidFill>
                        <a:srgbClr val="E2E4E7"/>
                      </a:solidFill>
                    </a:lnB>
                    <a:noFill/>
                  </a:tcPr>
                </a:tc>
              </a:tr>
            </a:tbl>
          </a:graphicData>
        </a:graphic>
      </p:graphicFrame>
      <p:sp>
        <p:nvSpPr>
          <p:cNvPr id="16" name="Rectangle 15"/>
          <p:cNvSpPr/>
          <p:nvPr/>
        </p:nvSpPr>
        <p:spPr>
          <a:xfrm>
            <a:off x="4114800" y="3709187"/>
            <a:ext cx="3558387" cy="960120"/>
          </a:xfrm>
          <a:prstGeom prst="rect">
            <a:avLst/>
          </a:prstGeom>
          <a:solidFill>
            <a:srgbClr val="F4F5F6"/>
          </a:solidFill>
          <a:ln>
            <a:noFill/>
          </a:ln>
        </p:spPr>
        <p:txBody>
          <a:bodyPr rtlCol="0" anchor="ctr"/>
          <a:lstStyle/>
          <a:p>
            <a:pPr algn="ctr"/>
          </a:p>
        </p:txBody>
      </p:sp>
      <p:sp>
        <p:nvSpPr>
          <p:cNvPr id="17" name="TextBox 16"/>
          <p:cNvSpPr txBox="1"/>
          <p:nvPr/>
        </p:nvSpPr>
        <p:spPr>
          <a:xfrm>
            <a:off x="4297680" y="3818915"/>
            <a:ext cx="3192627" cy="237744"/>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SAM 합계 (① + ② + ③)</a:t>
            </a:r>
          </a:p>
        </p:txBody>
      </p:sp>
      <p:sp>
        <p:nvSpPr>
          <p:cNvPr id="18" name="TextBox 17"/>
          <p:cNvSpPr txBox="1"/>
          <p:nvPr/>
        </p:nvSpPr>
        <p:spPr>
          <a:xfrm>
            <a:off x="4297680" y="4074947"/>
            <a:ext cx="3192627" cy="45720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연 3,676억원</a:t>
            </a:r>
          </a:p>
        </p:txBody>
      </p:sp>
      <p:sp>
        <p:nvSpPr>
          <p:cNvPr id="19" name="Rectangle 18"/>
          <p:cNvSpPr/>
          <p:nvPr/>
        </p:nvSpPr>
        <p:spPr>
          <a:xfrm>
            <a:off x="7947507" y="3709187"/>
            <a:ext cx="3558387" cy="960120"/>
          </a:xfrm>
          <a:prstGeom prst="rect">
            <a:avLst/>
          </a:prstGeom>
          <a:solidFill>
            <a:srgbClr val="FFFFFF"/>
          </a:solidFill>
          <a:ln w="12700">
            <a:solidFill>
              <a:srgbClr val="15171A"/>
            </a:solidFill>
          </a:ln>
        </p:spPr>
        <p:txBody>
          <a:bodyPr rtlCol="0" anchor="ctr"/>
          <a:lstStyle/>
          <a:p>
            <a:pPr algn="ctr"/>
          </a:p>
        </p:txBody>
      </p:sp>
      <p:sp>
        <p:nvSpPr>
          <p:cNvPr id="20" name="TextBox 19"/>
          <p:cNvSpPr txBox="1"/>
          <p:nvPr/>
        </p:nvSpPr>
        <p:spPr>
          <a:xfrm>
            <a:off x="8130387" y="3818915"/>
            <a:ext cx="3192627" cy="237744"/>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SOM: Y5 매출 (Base Plan)</a:t>
            </a:r>
          </a:p>
        </p:txBody>
      </p:sp>
      <p:sp>
        <p:nvSpPr>
          <p:cNvPr id="21" name="TextBox 20"/>
          <p:cNvSpPr txBox="1"/>
          <p:nvPr/>
        </p:nvSpPr>
        <p:spPr>
          <a:xfrm>
            <a:off x="8130387" y="4074947"/>
            <a:ext cx="3192627" cy="457200"/>
          </a:xfrm>
          <a:prstGeom prst="rect">
            <a:avLst/>
          </a:prstGeom>
          <a:noFill/>
        </p:spPr>
        <p:txBody>
          <a:bodyPr wrap="square" lIns="0" rIns="0" tIns="0" bIns="0" anchor="t">
            <a:spAutoFit/>
          </a:bodyPr>
          <a:lstStyle/>
          <a:p>
            <a:pPr algn="l">
              <a:lnSpc>
                <a:spcPct val="100000"/>
              </a:lnSpc>
            </a:pPr>
            <a:r>
              <a:rPr sz="2200" b="1">
                <a:solidFill>
                  <a:srgbClr val="E2571B"/>
                </a:solidFill>
                <a:latin typeface="Noto Sans KR"/>
                <a:ea typeface="Noto Sans KR"/>
                <a:cs typeface="Noto Sans KR"/>
              </a:rPr>
              <a:t>91.5억원 · 560세대</a:t>
            </a:r>
          </a:p>
        </p:txBody>
      </p:sp>
      <p:sp>
        <p:nvSpPr>
          <p:cNvPr id="22" name="TextBox 21"/>
          <p:cNvSpPr txBox="1"/>
          <p:nvPr/>
        </p:nvSpPr>
        <p:spPr>
          <a:xfrm>
            <a:off x="8130387" y="4422419"/>
            <a:ext cx="3192627"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대상 세대의 약 2.5% (TARGET)</a:t>
            </a:r>
          </a:p>
        </p:txBody>
      </p:sp>
      <p:sp>
        <p:nvSpPr>
          <p:cNvPr id="23" name="TextBox 22"/>
          <p:cNvSpPr txBox="1"/>
          <p:nvPr/>
        </p:nvSpPr>
        <p:spPr>
          <a:xfrm>
            <a:off x="685800" y="6126480"/>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주방 교체 30만은 두 방식 교차검증 (29.0만 · 30.3만) 후 설정한 가정. 참고 TAM (Premium 세대 × 전체 패키지) 연 1.2조원은 판단에 쓰지 않음. 출처 [S1~S6].</a:t>
            </a:r>
          </a:p>
        </p:txBody>
      </p:sp>
      <p:sp>
        <p:nvSpPr>
          <p:cNvPr id="24" name="TextBox 2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25" name="TextBox 2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12  GTM / Partner Distribution</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고객의 돈과 설치비를 먼저 검증하고, 파트너로 늘립니다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초기 Mass Market 진입 없음. Premium Remodeling → 호환 주방 Retrofit → 신축 B2B2C</a:t>
            </a:r>
          </a:p>
        </p:txBody>
      </p:sp>
      <p:sp>
        <p:nvSpPr>
          <p:cNvPr id="5" name="Rectangle 4"/>
          <p:cNvSpPr/>
          <p:nvPr/>
        </p:nvSpPr>
        <p:spPr>
          <a:xfrm>
            <a:off x="685800" y="1599310"/>
            <a:ext cx="3387242" cy="1463040"/>
          </a:xfrm>
          <a:prstGeom prst="rect">
            <a:avLst/>
          </a:prstGeom>
          <a:solidFill>
            <a:srgbClr val="15171A"/>
          </a:solidFill>
          <a:ln>
            <a:noFill/>
          </a:ln>
        </p:spPr>
        <p:txBody>
          <a:bodyPr rtlCol="0" anchor="ctr"/>
          <a:lstStyle/>
          <a:p>
            <a:pPr algn="ctr"/>
          </a:p>
        </p:txBody>
      </p:sp>
      <p:sp>
        <p:nvSpPr>
          <p:cNvPr id="6" name="TextBox 5"/>
          <p:cNvSpPr txBox="1"/>
          <p:nvPr/>
        </p:nvSpPr>
        <p:spPr>
          <a:xfrm>
            <a:off x="850392" y="1709039"/>
            <a:ext cx="3058058" cy="201168"/>
          </a:xfrm>
          <a:prstGeom prst="rect">
            <a:avLst/>
          </a:prstGeom>
          <a:noFill/>
        </p:spPr>
        <p:txBody>
          <a:bodyPr wrap="square" lIns="0" rIns="0" tIns="0" bIns="0" anchor="t">
            <a:spAutoFit/>
          </a:bodyPr>
          <a:lstStyle/>
          <a:p>
            <a:pPr algn="l">
              <a:lnSpc>
                <a:spcPct val="100000"/>
              </a:lnSpc>
            </a:pPr>
            <a:r>
              <a:rPr sz="900" b="1">
                <a:solidFill>
                  <a:srgbClr val="A9AEB5"/>
                </a:solidFill>
                <a:latin typeface="Noto Sans KR"/>
                <a:ea typeface="Noto Sans KR"/>
                <a:cs typeface="Noto Sans KR"/>
              </a:rPr>
              <a:t>Phase 1  ·  Y2 실증 → Y3~</a:t>
            </a:r>
          </a:p>
        </p:txBody>
      </p:sp>
      <p:sp>
        <p:nvSpPr>
          <p:cNvPr id="7" name="TextBox 6"/>
          <p:cNvSpPr txBox="1"/>
          <p:nvPr/>
        </p:nvSpPr>
        <p:spPr>
          <a:xfrm>
            <a:off x="850392" y="1928494"/>
            <a:ext cx="3058058" cy="310896"/>
          </a:xfrm>
          <a:prstGeom prst="rect">
            <a:avLst/>
          </a:prstGeom>
          <a:noFill/>
        </p:spPr>
        <p:txBody>
          <a:bodyPr wrap="square" lIns="0" rIns="0" tIns="0" bIns="0" anchor="t">
            <a:spAutoFit/>
          </a:bodyPr>
          <a:lstStyle/>
          <a:p>
            <a:pPr algn="l">
              <a:lnSpc>
                <a:spcPct val="100000"/>
              </a:lnSpc>
            </a:pPr>
            <a:r>
              <a:rPr sz="1350" b="1">
                <a:solidFill>
                  <a:srgbClr val="FFFFFF"/>
                </a:solidFill>
                <a:latin typeface="Noto Sans KR"/>
                <a:ea typeface="Noto Sans KR"/>
                <a:cs typeface="Noto Sans KR"/>
              </a:rPr>
              <a:t>Premium Kitchen Remodeling</a:t>
            </a:r>
          </a:p>
        </p:txBody>
      </p:sp>
      <p:sp>
        <p:nvSpPr>
          <p:cNvPr id="8" name="TextBox 7"/>
          <p:cNvSpPr txBox="1"/>
          <p:nvPr/>
        </p:nvSpPr>
        <p:spPr>
          <a:xfrm>
            <a:off x="850392" y="2275966"/>
            <a:ext cx="3058058" cy="457200"/>
          </a:xfrm>
          <a:prstGeom prst="rect">
            <a:avLst/>
          </a:prstGeom>
          <a:noFill/>
        </p:spPr>
        <p:txBody>
          <a:bodyPr wrap="square" lIns="0" rIns="0" tIns="0" bIns="0" anchor="t">
            <a:spAutoFit/>
          </a:bodyPr>
          <a:lstStyle/>
          <a:p>
            <a:pPr algn="l">
              <a:lnSpc>
                <a:spcPct val="102000"/>
              </a:lnSpc>
            </a:pPr>
            <a:r>
              <a:rPr sz="950" b="0">
                <a:solidFill>
                  <a:srgbClr val="C9CDD2"/>
                </a:solidFill>
                <a:latin typeface="Noto Sans KR"/>
                <a:ea typeface="Noto Sans KR"/>
                <a:cs typeface="Noto Sans KR"/>
              </a:rPr>
              <a:t>목적: 제품 · 가격수용성 · 설치 · 사용성 검증 · 초기 Reference · 고객 Data</a:t>
            </a:r>
          </a:p>
        </p:txBody>
      </p:sp>
      <p:sp>
        <p:nvSpPr>
          <p:cNvPr id="9" name="TextBox 8"/>
          <p:cNvSpPr txBox="1"/>
          <p:nvPr/>
        </p:nvSpPr>
        <p:spPr>
          <a:xfrm>
            <a:off x="850392" y="2751455"/>
            <a:ext cx="3058058" cy="237744"/>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직접 판매 + 주방 · 인테리어 Partner  ·  검증 채널</a:t>
            </a:r>
          </a:p>
        </p:txBody>
      </p:sp>
      <p:cxnSp>
        <p:nvCxnSpPr>
          <p:cNvPr id="10" name="Connector 9"/>
          <p:cNvCxnSpPr/>
          <p:nvPr/>
        </p:nvCxnSpPr>
        <p:spPr>
          <a:xfrm>
            <a:off x="4109618" y="2330831"/>
            <a:ext cx="256032" cy="0"/>
          </a:xfrm>
          <a:prstGeom prst="line">
            <a:avLst/>
          </a:prstGeom>
          <a:ln w="19050">
            <a:solidFill>
              <a:srgbClr val="8C9198"/>
            </a:solidFill>
            <a:tailEnd type="triangle" w="med" len="med"/>
          </a:ln>
        </p:spPr>
      </p:cxnSp>
      <p:sp>
        <p:nvSpPr>
          <p:cNvPr id="11" name="Rectangle 10"/>
          <p:cNvSpPr/>
          <p:nvPr/>
        </p:nvSpPr>
        <p:spPr>
          <a:xfrm>
            <a:off x="4402226" y="1599310"/>
            <a:ext cx="3387242" cy="1463040"/>
          </a:xfrm>
          <a:prstGeom prst="rect">
            <a:avLst/>
          </a:prstGeom>
          <a:solidFill>
            <a:srgbClr val="F4F5F6"/>
          </a:solidFill>
          <a:ln>
            <a:noFill/>
          </a:ln>
        </p:spPr>
        <p:txBody>
          <a:bodyPr rtlCol="0" anchor="ctr"/>
          <a:lstStyle/>
          <a:p>
            <a:pPr algn="ctr"/>
          </a:p>
        </p:txBody>
      </p:sp>
      <p:sp>
        <p:nvSpPr>
          <p:cNvPr id="12" name="TextBox 11"/>
          <p:cNvSpPr txBox="1"/>
          <p:nvPr/>
        </p:nvSpPr>
        <p:spPr>
          <a:xfrm>
            <a:off x="4566818" y="1709039"/>
            <a:ext cx="3058058" cy="201168"/>
          </a:xfrm>
          <a:prstGeom prst="rect">
            <a:avLst/>
          </a:prstGeom>
          <a:noFill/>
        </p:spPr>
        <p:txBody>
          <a:bodyPr wrap="square" lIns="0" rIns="0" tIns="0" bIns="0" anchor="t">
            <a:spAutoFit/>
          </a:bodyPr>
          <a:lstStyle/>
          <a:p>
            <a:pPr algn="l">
              <a:lnSpc>
                <a:spcPct val="100000"/>
              </a:lnSpc>
            </a:pPr>
            <a:r>
              <a:rPr sz="900" b="1">
                <a:solidFill>
                  <a:srgbClr val="8C9198"/>
                </a:solidFill>
                <a:latin typeface="Noto Sans KR"/>
                <a:ea typeface="Noto Sans KR"/>
                <a:cs typeface="Noto Sans KR"/>
              </a:rPr>
              <a:t>Phase 2  ·  Y4~</a:t>
            </a:r>
          </a:p>
        </p:txBody>
      </p:sp>
      <p:sp>
        <p:nvSpPr>
          <p:cNvPr id="13" name="TextBox 12"/>
          <p:cNvSpPr txBox="1"/>
          <p:nvPr/>
        </p:nvSpPr>
        <p:spPr>
          <a:xfrm>
            <a:off x="4566818" y="1928494"/>
            <a:ext cx="3058058" cy="310896"/>
          </a:xfrm>
          <a:prstGeom prst="rect">
            <a:avLst/>
          </a:prstGeom>
          <a:noFill/>
        </p:spPr>
        <p:txBody>
          <a:bodyPr wrap="square" lIns="0" rIns="0" tIns="0" bIns="0" anchor="t">
            <a:spAutoFit/>
          </a:bodyPr>
          <a:lstStyle/>
          <a:p>
            <a:pPr algn="l">
              <a:lnSpc>
                <a:spcPct val="100000"/>
              </a:lnSpc>
            </a:pPr>
            <a:r>
              <a:rPr sz="1350" b="1">
                <a:solidFill>
                  <a:srgbClr val="15171A"/>
                </a:solidFill>
                <a:latin typeface="Noto Sans KR"/>
                <a:ea typeface="Noto Sans KR"/>
                <a:cs typeface="Noto Sans KR"/>
              </a:rPr>
              <a:t>Compatible Existing Retrofit</a:t>
            </a:r>
          </a:p>
        </p:txBody>
      </p:sp>
      <p:sp>
        <p:nvSpPr>
          <p:cNvPr id="14" name="TextBox 13"/>
          <p:cNvSpPr txBox="1"/>
          <p:nvPr/>
        </p:nvSpPr>
        <p:spPr>
          <a:xfrm>
            <a:off x="4566818" y="2275966"/>
            <a:ext cx="3058058" cy="457200"/>
          </a:xfrm>
          <a:prstGeom prst="rect">
            <a:avLst/>
          </a:prstGeom>
          <a:noFill/>
        </p:spPr>
        <p:txBody>
          <a:bodyPr wrap="square" lIns="0" rIns="0" tIns="0" bIns="0" anchor="t">
            <a:spAutoFit/>
          </a:bodyPr>
          <a:lstStyle/>
          <a:p>
            <a:pPr algn="l">
              <a:lnSpc>
                <a:spcPct val="102000"/>
              </a:lnSpc>
            </a:pPr>
            <a:r>
              <a:rPr sz="950" b="0">
                <a:solidFill>
                  <a:srgbClr val="4A4F57"/>
                </a:solidFill>
                <a:latin typeface="Noto Sans KR"/>
                <a:ea typeface="Noto Sans KR"/>
                <a:cs typeface="Noto Sans KR"/>
              </a:rPr>
              <a:t>전체 Remodeling 없이 적용 가능한 고객 확대 · 호환성 Check 표준화</a:t>
            </a:r>
          </a:p>
        </p:txBody>
      </p:sp>
      <p:sp>
        <p:nvSpPr>
          <p:cNvPr id="15" name="TextBox 14"/>
          <p:cNvSpPr txBox="1"/>
          <p:nvPr/>
        </p:nvSpPr>
        <p:spPr>
          <a:xfrm>
            <a:off x="4566818" y="2751455"/>
            <a:ext cx="3058058" cy="237744"/>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설치 Partner 경유  ·  고객 확대</a:t>
            </a:r>
          </a:p>
        </p:txBody>
      </p:sp>
      <p:cxnSp>
        <p:nvCxnSpPr>
          <p:cNvPr id="16" name="Connector 15"/>
          <p:cNvCxnSpPr/>
          <p:nvPr/>
        </p:nvCxnSpPr>
        <p:spPr>
          <a:xfrm>
            <a:off x="7826044" y="2330831"/>
            <a:ext cx="256032" cy="0"/>
          </a:xfrm>
          <a:prstGeom prst="line">
            <a:avLst/>
          </a:prstGeom>
          <a:ln w="19050">
            <a:solidFill>
              <a:srgbClr val="8C9198"/>
            </a:solidFill>
            <a:tailEnd type="triangle" w="med" len="med"/>
          </a:ln>
        </p:spPr>
      </p:cxnSp>
      <p:sp>
        <p:nvSpPr>
          <p:cNvPr id="17" name="Rectangle 16"/>
          <p:cNvSpPr/>
          <p:nvPr/>
        </p:nvSpPr>
        <p:spPr>
          <a:xfrm>
            <a:off x="8118652" y="1599310"/>
            <a:ext cx="3387242" cy="1463040"/>
          </a:xfrm>
          <a:prstGeom prst="rect">
            <a:avLst/>
          </a:prstGeom>
          <a:solidFill>
            <a:srgbClr val="F4F5F6"/>
          </a:solidFill>
          <a:ln>
            <a:noFill/>
          </a:ln>
        </p:spPr>
        <p:txBody>
          <a:bodyPr rtlCol="0" anchor="ctr"/>
          <a:lstStyle/>
          <a:p>
            <a:pPr algn="ctr"/>
          </a:p>
        </p:txBody>
      </p:sp>
      <p:sp>
        <p:nvSpPr>
          <p:cNvPr id="18" name="TextBox 17"/>
          <p:cNvSpPr txBox="1"/>
          <p:nvPr/>
        </p:nvSpPr>
        <p:spPr>
          <a:xfrm>
            <a:off x="8283244" y="1709039"/>
            <a:ext cx="3058058" cy="201168"/>
          </a:xfrm>
          <a:prstGeom prst="rect">
            <a:avLst/>
          </a:prstGeom>
          <a:noFill/>
        </p:spPr>
        <p:txBody>
          <a:bodyPr wrap="square" lIns="0" rIns="0" tIns="0" bIns="0" anchor="t">
            <a:spAutoFit/>
          </a:bodyPr>
          <a:lstStyle/>
          <a:p>
            <a:pPr algn="l">
              <a:lnSpc>
                <a:spcPct val="100000"/>
              </a:lnSpc>
            </a:pPr>
            <a:r>
              <a:rPr sz="900" b="1">
                <a:solidFill>
                  <a:srgbClr val="8C9198"/>
                </a:solidFill>
                <a:latin typeface="Noto Sans KR"/>
                <a:ea typeface="Noto Sans KR"/>
                <a:cs typeface="Noto Sans KR"/>
              </a:rPr>
              <a:t>Phase 3  ·  Y3 계약 → Y5 입주</a:t>
            </a:r>
          </a:p>
        </p:txBody>
      </p:sp>
      <p:sp>
        <p:nvSpPr>
          <p:cNvPr id="19" name="TextBox 18"/>
          <p:cNvSpPr txBox="1"/>
          <p:nvPr/>
        </p:nvSpPr>
        <p:spPr>
          <a:xfrm>
            <a:off x="8283244" y="1928494"/>
            <a:ext cx="3058058" cy="310896"/>
          </a:xfrm>
          <a:prstGeom prst="rect">
            <a:avLst/>
          </a:prstGeom>
          <a:noFill/>
        </p:spPr>
        <p:txBody>
          <a:bodyPr wrap="square" lIns="0" rIns="0" tIns="0" bIns="0" anchor="t">
            <a:spAutoFit/>
          </a:bodyPr>
          <a:lstStyle/>
          <a:p>
            <a:pPr algn="l">
              <a:lnSpc>
                <a:spcPct val="100000"/>
              </a:lnSpc>
            </a:pPr>
            <a:r>
              <a:rPr sz="1350" b="1">
                <a:solidFill>
                  <a:srgbClr val="15171A"/>
                </a:solidFill>
                <a:latin typeface="Noto Sans KR"/>
                <a:ea typeface="Noto Sans KR"/>
                <a:cs typeface="Noto Sans KR"/>
              </a:rPr>
              <a:t>New-build Apartment</a:t>
            </a:r>
          </a:p>
        </p:txBody>
      </p:sp>
      <p:sp>
        <p:nvSpPr>
          <p:cNvPr id="20" name="TextBox 19"/>
          <p:cNvSpPr txBox="1"/>
          <p:nvPr/>
        </p:nvSpPr>
        <p:spPr>
          <a:xfrm>
            <a:off x="8283244" y="2275966"/>
            <a:ext cx="3058058" cy="457200"/>
          </a:xfrm>
          <a:prstGeom prst="rect">
            <a:avLst/>
          </a:prstGeom>
          <a:noFill/>
        </p:spPr>
        <p:txBody>
          <a:bodyPr wrap="square" lIns="0" rIns="0" tIns="0" bIns="0" anchor="t">
            <a:spAutoFit/>
          </a:bodyPr>
          <a:lstStyle/>
          <a:p>
            <a:pPr algn="l">
              <a:lnSpc>
                <a:spcPct val="102000"/>
              </a:lnSpc>
            </a:pPr>
            <a:r>
              <a:rPr sz="950" b="0">
                <a:solidFill>
                  <a:srgbClr val="4A4F57"/>
                </a:solidFill>
                <a:latin typeface="Noto Sans KR"/>
                <a:ea typeface="Noto Sans KR"/>
                <a:cs typeface="Noto Sans KR"/>
              </a:rPr>
              <a:t>건설사 · 주방가구사 B2B2C · Project 단위 Scale</a:t>
            </a:r>
          </a:p>
        </p:txBody>
      </p:sp>
      <p:sp>
        <p:nvSpPr>
          <p:cNvPr id="21" name="TextBox 20"/>
          <p:cNvSpPr txBox="1"/>
          <p:nvPr/>
        </p:nvSpPr>
        <p:spPr>
          <a:xfrm>
            <a:off x="8283244" y="2751455"/>
            <a:ext cx="3058058" cy="237744"/>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Interface Option + 후설치  ·  Scale 채널</a:t>
            </a:r>
          </a:p>
        </p:txBody>
      </p:sp>
      <p:sp>
        <p:nvSpPr>
          <p:cNvPr id="22" name="TextBox 21"/>
          <p:cNvSpPr txBox="1"/>
          <p:nvPr/>
        </p:nvSpPr>
        <p:spPr>
          <a:xfrm>
            <a:off x="685800" y="3336671"/>
            <a:ext cx="5577840" cy="237744"/>
          </a:xfrm>
          <a:prstGeom prst="rect">
            <a:avLst/>
          </a:prstGeom>
          <a:noFill/>
        </p:spPr>
        <p:txBody>
          <a:bodyPr wrap="square" lIns="0" rIns="0" tIns="0" bIns="0" anchor="t">
            <a:spAutoFit/>
          </a:bodyPr>
          <a:lstStyle/>
          <a:p>
            <a:pPr algn="l">
              <a:lnSpc>
                <a:spcPct val="100000"/>
              </a:lnSpc>
            </a:pPr>
            <a:r>
              <a:rPr sz="1050" b="1">
                <a:solidFill>
                  <a:srgbClr val="8C9198"/>
                </a:solidFill>
                <a:latin typeface="Noto Sans KR"/>
                <a:ea typeface="Noto Sans KR"/>
                <a:cs typeface="Noto Sans KR"/>
              </a:rPr>
              <a:t>설치 세대 (Base, TARGET)</a:t>
            </a:r>
          </a:p>
        </p:txBody>
      </p:sp>
      <p:graphicFrame>
        <p:nvGraphicFramePr>
          <p:cNvPr id="23" name="Chart 22"/>
          <p:cNvGraphicFramePr>
            <a:graphicFrameLocks noGrp="1"/>
          </p:cNvGraphicFramePr>
          <p:nvPr/>
        </p:nvGraphicFramePr>
        <p:xfrm>
          <a:off x="685800" y="3610990"/>
          <a:ext cx="5577840" cy="2094864"/>
        </p:xfrm>
        <a:graphic>
          <a:graphicData uri="http://schemas.openxmlformats.org/drawingml/2006/chart">
            <c:chart xmlns:c="http://schemas.openxmlformats.org/drawingml/2006/chart" r:id="rId3"/>
          </a:graphicData>
        </a:graphic>
      </p:graphicFrame>
      <p:sp>
        <p:nvSpPr>
          <p:cNvPr id="24" name="TextBox 23"/>
          <p:cNvSpPr txBox="1"/>
          <p:nvPr/>
        </p:nvSpPr>
        <p:spPr>
          <a:xfrm>
            <a:off x="692749" y="5527624"/>
            <a:ext cx="1280160" cy="274320"/>
          </a:xfrm>
          <a:prstGeom prst="rect">
            <a:avLst/>
          </a:prstGeom>
          <a:noFill/>
        </p:spPr>
        <p:txBody>
          <a:bodyPr wrap="square" lIns="0" rIns="0" tIns="0" bIns="0" anchor="t">
            <a:spAutoFit/>
          </a:bodyPr>
          <a:lstStyle/>
          <a:p>
            <a:pPr algn="ctr">
              <a:lnSpc>
                <a:spcPct val="100000"/>
              </a:lnSpc>
            </a:pPr>
            <a:r>
              <a:rPr sz="950" b="0">
                <a:solidFill>
                  <a:srgbClr val="4A4F57"/>
                </a:solidFill>
                <a:latin typeface="Noto Sans KR"/>
                <a:ea typeface="Noto Sans KR"/>
                <a:cs typeface="Noto Sans KR"/>
              </a:rPr>
              <a:t>Y1</a:t>
            </a:r>
          </a:p>
        </p:txBody>
      </p:sp>
      <p:sp>
        <p:nvSpPr>
          <p:cNvPr id="25" name="TextBox 24"/>
          <p:cNvSpPr txBox="1"/>
          <p:nvPr/>
        </p:nvSpPr>
        <p:spPr>
          <a:xfrm>
            <a:off x="1763694" y="5527624"/>
            <a:ext cx="1280160" cy="274320"/>
          </a:xfrm>
          <a:prstGeom prst="rect">
            <a:avLst/>
          </a:prstGeom>
          <a:noFill/>
        </p:spPr>
        <p:txBody>
          <a:bodyPr wrap="square" lIns="0" rIns="0" tIns="0" bIns="0" anchor="t">
            <a:spAutoFit/>
          </a:bodyPr>
          <a:lstStyle/>
          <a:p>
            <a:pPr algn="ctr">
              <a:lnSpc>
                <a:spcPct val="100000"/>
              </a:lnSpc>
            </a:pPr>
            <a:r>
              <a:rPr sz="950" b="0">
                <a:solidFill>
                  <a:srgbClr val="4A4F57"/>
                </a:solidFill>
                <a:latin typeface="Noto Sans KR"/>
                <a:ea typeface="Noto Sans KR"/>
                <a:cs typeface="Noto Sans KR"/>
              </a:rPr>
              <a:t>Y2</a:t>
            </a:r>
          </a:p>
        </p:txBody>
      </p:sp>
      <p:sp>
        <p:nvSpPr>
          <p:cNvPr id="26" name="TextBox 25"/>
          <p:cNvSpPr txBox="1"/>
          <p:nvPr/>
        </p:nvSpPr>
        <p:spPr>
          <a:xfrm>
            <a:off x="2834639" y="5527624"/>
            <a:ext cx="1280160" cy="274320"/>
          </a:xfrm>
          <a:prstGeom prst="rect">
            <a:avLst/>
          </a:prstGeom>
          <a:noFill/>
        </p:spPr>
        <p:txBody>
          <a:bodyPr wrap="square" lIns="0" rIns="0" tIns="0" bIns="0" anchor="t">
            <a:spAutoFit/>
          </a:bodyPr>
          <a:lstStyle/>
          <a:p>
            <a:pPr algn="ctr">
              <a:lnSpc>
                <a:spcPct val="100000"/>
              </a:lnSpc>
            </a:pPr>
            <a:r>
              <a:rPr sz="950" b="0">
                <a:solidFill>
                  <a:srgbClr val="4A4F57"/>
                </a:solidFill>
                <a:latin typeface="Noto Sans KR"/>
                <a:ea typeface="Noto Sans KR"/>
                <a:cs typeface="Noto Sans KR"/>
              </a:rPr>
              <a:t>Y3</a:t>
            </a:r>
          </a:p>
        </p:txBody>
      </p:sp>
      <p:sp>
        <p:nvSpPr>
          <p:cNvPr id="27" name="TextBox 26"/>
          <p:cNvSpPr txBox="1"/>
          <p:nvPr/>
        </p:nvSpPr>
        <p:spPr>
          <a:xfrm>
            <a:off x="3905585" y="5527624"/>
            <a:ext cx="1280160" cy="274320"/>
          </a:xfrm>
          <a:prstGeom prst="rect">
            <a:avLst/>
          </a:prstGeom>
          <a:noFill/>
        </p:spPr>
        <p:txBody>
          <a:bodyPr wrap="square" lIns="0" rIns="0" tIns="0" bIns="0" anchor="t">
            <a:spAutoFit/>
          </a:bodyPr>
          <a:lstStyle/>
          <a:p>
            <a:pPr algn="ctr">
              <a:lnSpc>
                <a:spcPct val="100000"/>
              </a:lnSpc>
            </a:pPr>
            <a:r>
              <a:rPr sz="950" b="0">
                <a:solidFill>
                  <a:srgbClr val="4A4F57"/>
                </a:solidFill>
                <a:latin typeface="Noto Sans KR"/>
                <a:ea typeface="Noto Sans KR"/>
                <a:cs typeface="Noto Sans KR"/>
              </a:rPr>
              <a:t>Y4</a:t>
            </a:r>
          </a:p>
        </p:txBody>
      </p:sp>
      <p:sp>
        <p:nvSpPr>
          <p:cNvPr id="28" name="TextBox 27"/>
          <p:cNvSpPr txBox="1"/>
          <p:nvPr/>
        </p:nvSpPr>
        <p:spPr>
          <a:xfrm>
            <a:off x="4976530" y="5527624"/>
            <a:ext cx="1280160" cy="274320"/>
          </a:xfrm>
          <a:prstGeom prst="rect">
            <a:avLst/>
          </a:prstGeom>
          <a:noFill/>
        </p:spPr>
        <p:txBody>
          <a:bodyPr wrap="square" lIns="0" rIns="0" tIns="0" bIns="0" anchor="t">
            <a:spAutoFit/>
          </a:bodyPr>
          <a:lstStyle/>
          <a:p>
            <a:pPr algn="ctr">
              <a:lnSpc>
                <a:spcPct val="100000"/>
              </a:lnSpc>
            </a:pPr>
            <a:r>
              <a:rPr sz="950" b="0">
                <a:solidFill>
                  <a:srgbClr val="4A4F57"/>
                </a:solidFill>
                <a:latin typeface="Noto Sans KR"/>
                <a:ea typeface="Noto Sans KR"/>
                <a:cs typeface="Noto Sans KR"/>
              </a:rPr>
              <a:t>Y5</a:t>
            </a:r>
          </a:p>
        </p:txBody>
      </p:sp>
      <p:sp>
        <p:nvSpPr>
          <p:cNvPr id="29" name="TextBox 28"/>
          <p:cNvSpPr txBox="1"/>
          <p:nvPr/>
        </p:nvSpPr>
        <p:spPr>
          <a:xfrm>
            <a:off x="875629" y="5207584"/>
            <a:ext cx="91440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0</a:t>
            </a:r>
          </a:p>
        </p:txBody>
      </p:sp>
      <p:sp>
        <p:nvSpPr>
          <p:cNvPr id="30" name="TextBox 29"/>
          <p:cNvSpPr txBox="1"/>
          <p:nvPr/>
        </p:nvSpPr>
        <p:spPr>
          <a:xfrm>
            <a:off x="1946574" y="5198830"/>
            <a:ext cx="91440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3</a:t>
            </a:r>
          </a:p>
        </p:txBody>
      </p:sp>
      <p:sp>
        <p:nvSpPr>
          <p:cNvPr id="31" name="TextBox 30"/>
          <p:cNvSpPr txBox="1"/>
          <p:nvPr/>
        </p:nvSpPr>
        <p:spPr>
          <a:xfrm>
            <a:off x="3017520" y="5061691"/>
            <a:ext cx="91440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50</a:t>
            </a:r>
          </a:p>
        </p:txBody>
      </p:sp>
      <p:sp>
        <p:nvSpPr>
          <p:cNvPr id="32" name="TextBox 31"/>
          <p:cNvSpPr txBox="1"/>
          <p:nvPr/>
        </p:nvSpPr>
        <p:spPr>
          <a:xfrm>
            <a:off x="4088465" y="4624014"/>
            <a:ext cx="91440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200</a:t>
            </a:r>
          </a:p>
        </p:txBody>
      </p:sp>
      <p:sp>
        <p:nvSpPr>
          <p:cNvPr id="33" name="TextBox 32"/>
          <p:cNvSpPr txBox="1"/>
          <p:nvPr/>
        </p:nvSpPr>
        <p:spPr>
          <a:xfrm>
            <a:off x="5159410" y="3573589"/>
            <a:ext cx="91440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560</a:t>
            </a:r>
          </a:p>
        </p:txBody>
      </p:sp>
      <p:sp>
        <p:nvSpPr>
          <p:cNvPr id="34" name="Rectangle 33"/>
          <p:cNvSpPr/>
          <p:nvPr/>
        </p:nvSpPr>
        <p:spPr>
          <a:xfrm>
            <a:off x="685800" y="5815583"/>
            <a:ext cx="164592" cy="128016"/>
          </a:xfrm>
          <a:prstGeom prst="rect">
            <a:avLst/>
          </a:prstGeom>
          <a:solidFill>
            <a:srgbClr val="15171A"/>
          </a:solidFill>
          <a:ln>
            <a:noFill/>
          </a:ln>
        </p:spPr>
        <p:txBody>
          <a:bodyPr rtlCol="0" anchor="ctr"/>
          <a:lstStyle/>
          <a:p>
            <a:pPr algn="ctr"/>
          </a:p>
        </p:txBody>
      </p:sp>
      <p:sp>
        <p:nvSpPr>
          <p:cNvPr id="35" name="TextBox 34"/>
          <p:cNvSpPr txBox="1"/>
          <p:nvPr/>
        </p:nvSpPr>
        <p:spPr>
          <a:xfrm>
            <a:off x="886968" y="5769864"/>
            <a:ext cx="920276"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Remodeling 직접</a:t>
            </a:r>
          </a:p>
        </p:txBody>
      </p:sp>
      <p:sp>
        <p:nvSpPr>
          <p:cNvPr id="36" name="Rectangle 35"/>
          <p:cNvSpPr/>
          <p:nvPr/>
        </p:nvSpPr>
        <p:spPr>
          <a:xfrm>
            <a:off x="1990124" y="5815583"/>
            <a:ext cx="164592" cy="128016"/>
          </a:xfrm>
          <a:prstGeom prst="rect">
            <a:avLst/>
          </a:prstGeom>
          <a:solidFill>
            <a:srgbClr val="6B7078"/>
          </a:solidFill>
          <a:ln>
            <a:noFill/>
          </a:ln>
        </p:spPr>
        <p:txBody>
          <a:bodyPr rtlCol="0" anchor="ctr"/>
          <a:lstStyle/>
          <a:p>
            <a:pPr algn="ctr"/>
          </a:p>
        </p:txBody>
      </p:sp>
      <p:sp>
        <p:nvSpPr>
          <p:cNvPr id="37" name="TextBox 36"/>
          <p:cNvSpPr txBox="1"/>
          <p:nvPr/>
        </p:nvSpPr>
        <p:spPr>
          <a:xfrm>
            <a:off x="2191292" y="5769864"/>
            <a:ext cx="1095358"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Remodeling Partner</a:t>
            </a:r>
          </a:p>
        </p:txBody>
      </p:sp>
      <p:sp>
        <p:nvSpPr>
          <p:cNvPr id="38" name="Rectangle 37"/>
          <p:cNvSpPr/>
          <p:nvPr/>
        </p:nvSpPr>
        <p:spPr>
          <a:xfrm>
            <a:off x="3469530" y="5815583"/>
            <a:ext cx="164592" cy="128016"/>
          </a:xfrm>
          <a:prstGeom prst="rect">
            <a:avLst/>
          </a:prstGeom>
          <a:solidFill>
            <a:srgbClr val="A9AEB5"/>
          </a:solidFill>
          <a:ln>
            <a:noFill/>
          </a:ln>
        </p:spPr>
        <p:txBody>
          <a:bodyPr rtlCol="0" anchor="ctr"/>
          <a:lstStyle/>
          <a:p>
            <a:pPr algn="ctr"/>
          </a:p>
        </p:txBody>
      </p:sp>
      <p:sp>
        <p:nvSpPr>
          <p:cNvPr id="39" name="TextBox 38"/>
          <p:cNvSpPr txBox="1"/>
          <p:nvPr/>
        </p:nvSpPr>
        <p:spPr>
          <a:xfrm>
            <a:off x="3670698" y="5769864"/>
            <a:ext cx="468193"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Retrofit</a:t>
            </a:r>
          </a:p>
        </p:txBody>
      </p:sp>
      <p:sp>
        <p:nvSpPr>
          <p:cNvPr id="40" name="Rectangle 39"/>
          <p:cNvSpPr/>
          <p:nvPr/>
        </p:nvSpPr>
        <p:spPr>
          <a:xfrm>
            <a:off x="4321772" y="5815583"/>
            <a:ext cx="164592" cy="128016"/>
          </a:xfrm>
          <a:prstGeom prst="rect">
            <a:avLst/>
          </a:prstGeom>
          <a:solidFill>
            <a:srgbClr val="D5D8DC"/>
          </a:solidFill>
          <a:ln>
            <a:noFill/>
          </a:ln>
        </p:spPr>
        <p:txBody>
          <a:bodyPr rtlCol="0" anchor="ctr"/>
          <a:lstStyle/>
          <a:p>
            <a:pPr algn="ctr"/>
          </a:p>
        </p:txBody>
      </p:sp>
      <p:sp>
        <p:nvSpPr>
          <p:cNvPr id="41" name="TextBox 40"/>
          <p:cNvSpPr txBox="1"/>
          <p:nvPr/>
        </p:nvSpPr>
        <p:spPr>
          <a:xfrm>
            <a:off x="4522940" y="5769864"/>
            <a:ext cx="835966"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New-build 입주</a:t>
            </a:r>
          </a:p>
        </p:txBody>
      </p:sp>
      <p:sp>
        <p:nvSpPr>
          <p:cNvPr id="42" name="TextBox 41"/>
          <p:cNvSpPr txBox="1"/>
          <p:nvPr/>
        </p:nvSpPr>
        <p:spPr>
          <a:xfrm>
            <a:off x="6629400" y="3336671"/>
            <a:ext cx="4876495" cy="237744"/>
          </a:xfrm>
          <a:prstGeom prst="rect">
            <a:avLst/>
          </a:prstGeom>
          <a:noFill/>
        </p:spPr>
        <p:txBody>
          <a:bodyPr wrap="square" lIns="0" rIns="0" tIns="0" bIns="0" anchor="t">
            <a:spAutoFit/>
          </a:bodyPr>
          <a:lstStyle/>
          <a:p>
            <a:pPr algn="l">
              <a:lnSpc>
                <a:spcPct val="100000"/>
              </a:lnSpc>
            </a:pPr>
            <a:r>
              <a:rPr sz="1050" b="1">
                <a:solidFill>
                  <a:srgbClr val="8C9198"/>
                </a:solidFill>
                <a:latin typeface="Noto Sans KR"/>
                <a:ea typeface="Noto Sans KR"/>
                <a:cs typeface="Noto Sans KR"/>
              </a:rPr>
              <a:t>Product Company 구조</a:t>
            </a:r>
          </a:p>
        </p:txBody>
      </p:sp>
      <p:sp>
        <p:nvSpPr>
          <p:cNvPr id="43" name="Rectangle 42"/>
          <p:cNvSpPr/>
          <p:nvPr/>
        </p:nvSpPr>
        <p:spPr>
          <a:xfrm>
            <a:off x="6629400" y="3629278"/>
            <a:ext cx="2301087" cy="1875409"/>
          </a:xfrm>
          <a:prstGeom prst="rect">
            <a:avLst/>
          </a:prstGeom>
          <a:solidFill>
            <a:srgbClr val="15171A"/>
          </a:solidFill>
          <a:ln>
            <a:noFill/>
          </a:ln>
        </p:spPr>
        <p:txBody>
          <a:bodyPr rtlCol="0" anchor="ctr"/>
          <a:lstStyle/>
          <a:p>
            <a:pPr algn="ctr"/>
          </a:p>
        </p:txBody>
      </p:sp>
      <p:sp>
        <p:nvSpPr>
          <p:cNvPr id="44" name="TextBox 43"/>
          <p:cNvSpPr txBox="1"/>
          <p:nvPr/>
        </p:nvSpPr>
        <p:spPr>
          <a:xfrm>
            <a:off x="6775704" y="3720718"/>
            <a:ext cx="2008479" cy="256032"/>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MH Core</a:t>
            </a:r>
          </a:p>
        </p:txBody>
      </p:sp>
      <p:sp>
        <p:nvSpPr>
          <p:cNvPr id="45" name="TextBox 44"/>
          <p:cNvSpPr txBox="1"/>
          <p:nvPr/>
        </p:nvSpPr>
        <p:spPr>
          <a:xfrm>
            <a:off x="6775704" y="4013327"/>
            <a:ext cx="2008479" cy="1418209"/>
          </a:xfrm>
          <a:prstGeom prst="rect">
            <a:avLst/>
          </a:prstGeom>
          <a:noFill/>
        </p:spPr>
        <p:txBody>
          <a:bodyPr wrap="square" lIns="0" rIns="0" tIns="0" bIns="0" anchor="t">
            <a:spAutoFit/>
          </a:bodyPr>
          <a:lstStyle/>
          <a:p>
            <a:pPr algn="l">
              <a:lnSpc>
                <a:spcPct val="100000"/>
              </a:lnSpc>
              <a:spcAft>
                <a:spcPts val="100"/>
              </a:spcAft>
            </a:pPr>
            <a:r>
              <a:rPr sz="950" b="0">
                <a:solidFill>
                  <a:srgbClr val="E3E5E8"/>
                </a:solidFill>
                <a:latin typeface="Noto Sans KR"/>
                <a:ea typeface="Noto Sans KR"/>
                <a:cs typeface="Noto Sans KR"/>
              </a:rPr>
              <a:t>Robot · Robot Hand</a:t>
            </a:r>
          </a:p>
          <a:p>
            <a:pPr algn="l">
              <a:lnSpc>
                <a:spcPct val="100000"/>
              </a:lnSpc>
              <a:spcAft>
                <a:spcPts val="100"/>
              </a:spcAft>
            </a:pPr>
            <a:r>
              <a:rPr sz="950" b="0">
                <a:solidFill>
                  <a:srgbClr val="E3E5E8"/>
                </a:solidFill>
                <a:latin typeface="Noto Sans KR"/>
                <a:ea typeface="Noto Sans KR"/>
                <a:cs typeface="Noto Sans KR"/>
              </a:rPr>
              <a:t>Manipulation Skill</a:t>
            </a:r>
          </a:p>
          <a:p>
            <a:pPr algn="l">
              <a:lnSpc>
                <a:spcPct val="100000"/>
              </a:lnSpc>
              <a:spcAft>
                <a:spcPts val="100"/>
              </a:spcAft>
            </a:pPr>
            <a:r>
              <a:rPr sz="950" b="0">
                <a:solidFill>
                  <a:srgbClr val="E3E5E8"/>
                </a:solidFill>
                <a:latin typeface="Noto Sans KR"/>
                <a:ea typeface="Noto Sans KR"/>
                <a:cs typeface="Noto Sans KR"/>
              </a:rPr>
              <a:t>Calibration</a:t>
            </a:r>
          </a:p>
          <a:p>
            <a:pPr algn="l">
              <a:lnSpc>
                <a:spcPct val="100000"/>
              </a:lnSpc>
              <a:spcAft>
                <a:spcPts val="100"/>
              </a:spcAft>
            </a:pPr>
            <a:r>
              <a:rPr sz="950" b="0">
                <a:solidFill>
                  <a:srgbClr val="E3E5E8"/>
                </a:solidFill>
                <a:latin typeface="Noto Sans KR"/>
                <a:ea typeface="Noto Sans KR"/>
                <a:cs typeface="Noto Sans KR"/>
              </a:rPr>
              <a:t>Interface Standard</a:t>
            </a:r>
          </a:p>
          <a:p>
            <a:pPr algn="l">
              <a:lnSpc>
                <a:spcPct val="100000"/>
              </a:lnSpc>
            </a:pPr>
            <a:r>
              <a:rPr sz="950" b="0">
                <a:solidFill>
                  <a:srgbClr val="E3E5E8"/>
                </a:solidFill>
                <a:latin typeface="Noto Sans KR"/>
                <a:ea typeface="Noto Sans KR"/>
                <a:cs typeface="Noto Sans KR"/>
              </a:rPr>
              <a:t>Safety · Commissioning · QA</a:t>
            </a:r>
          </a:p>
        </p:txBody>
      </p:sp>
      <p:sp>
        <p:nvSpPr>
          <p:cNvPr id="46" name="Rectangle 45"/>
          <p:cNvSpPr/>
          <p:nvPr/>
        </p:nvSpPr>
        <p:spPr>
          <a:xfrm>
            <a:off x="9204807" y="3629278"/>
            <a:ext cx="2301087" cy="1875409"/>
          </a:xfrm>
          <a:prstGeom prst="rect">
            <a:avLst/>
          </a:prstGeom>
          <a:solidFill>
            <a:srgbClr val="F4F5F6"/>
          </a:solidFill>
          <a:ln>
            <a:noFill/>
          </a:ln>
        </p:spPr>
        <p:txBody>
          <a:bodyPr rtlCol="0" anchor="ctr"/>
          <a:lstStyle/>
          <a:p>
            <a:pPr algn="ctr"/>
          </a:p>
        </p:txBody>
      </p:sp>
      <p:sp>
        <p:nvSpPr>
          <p:cNvPr id="47" name="TextBox 46"/>
          <p:cNvSpPr txBox="1"/>
          <p:nvPr/>
        </p:nvSpPr>
        <p:spPr>
          <a:xfrm>
            <a:off x="9351111" y="3720718"/>
            <a:ext cx="2008479"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Partner</a:t>
            </a:r>
          </a:p>
        </p:txBody>
      </p:sp>
      <p:sp>
        <p:nvSpPr>
          <p:cNvPr id="48" name="TextBox 47"/>
          <p:cNvSpPr txBox="1"/>
          <p:nvPr/>
        </p:nvSpPr>
        <p:spPr>
          <a:xfrm>
            <a:off x="9351111" y="4013327"/>
            <a:ext cx="2008479" cy="1418209"/>
          </a:xfrm>
          <a:prstGeom prst="rect">
            <a:avLst/>
          </a:prstGeom>
          <a:noFill/>
        </p:spPr>
        <p:txBody>
          <a:bodyPr wrap="square" lIns="0" rIns="0" tIns="0" bIns="0" anchor="t">
            <a:spAutoFit/>
          </a:bodyPr>
          <a:lstStyle/>
          <a:p>
            <a:pPr algn="l">
              <a:lnSpc>
                <a:spcPct val="100000"/>
              </a:lnSpc>
              <a:spcAft>
                <a:spcPts val="100"/>
              </a:spcAft>
            </a:pPr>
            <a:r>
              <a:rPr sz="950" b="0">
                <a:solidFill>
                  <a:srgbClr val="4A4F57"/>
                </a:solidFill>
                <a:latin typeface="Noto Sans KR"/>
                <a:ea typeface="Noto Sans KR"/>
                <a:cs typeface="Noto Sans KR"/>
              </a:rPr>
              <a:t>철거 · 가구</a:t>
            </a:r>
          </a:p>
          <a:p>
            <a:pPr algn="l">
              <a:lnSpc>
                <a:spcPct val="100000"/>
              </a:lnSpc>
              <a:spcAft>
                <a:spcPts val="100"/>
              </a:spcAft>
            </a:pPr>
            <a:r>
              <a:rPr sz="950" b="0">
                <a:solidFill>
                  <a:srgbClr val="4A4F57"/>
                </a:solidFill>
                <a:latin typeface="Noto Sans KR"/>
                <a:ea typeface="Noto Sans KR"/>
                <a:cs typeface="Noto Sans KR"/>
              </a:rPr>
              <a:t>전기 · 배관</a:t>
            </a:r>
          </a:p>
          <a:p>
            <a:pPr algn="l">
              <a:lnSpc>
                <a:spcPct val="100000"/>
              </a:lnSpc>
              <a:spcAft>
                <a:spcPts val="100"/>
              </a:spcAft>
            </a:pPr>
            <a:r>
              <a:rPr sz="950" b="0">
                <a:solidFill>
                  <a:srgbClr val="4A4F57"/>
                </a:solidFill>
                <a:latin typeface="Noto Sans KR"/>
                <a:ea typeface="Noto Sans KR"/>
                <a:cs typeface="Noto Sans KR"/>
              </a:rPr>
              <a:t>일반 시공</a:t>
            </a:r>
          </a:p>
          <a:p>
            <a:pPr algn="l">
              <a:lnSpc>
                <a:spcPct val="100000"/>
              </a:lnSpc>
              <a:spcAft>
                <a:spcPts val="100"/>
              </a:spcAft>
            </a:pPr>
            <a:r>
              <a:rPr sz="950" b="0">
                <a:solidFill>
                  <a:srgbClr val="4A4F57"/>
                </a:solidFill>
                <a:latin typeface="Noto Sans KR"/>
                <a:ea typeface="Noto Sans KR"/>
                <a:cs typeface="Noto Sans KR"/>
              </a:rPr>
              <a:t>(신축) 건설사 · 가구사</a:t>
            </a:r>
          </a:p>
          <a:p>
            <a:pPr algn="l">
              <a:lnSpc>
                <a:spcPct val="100000"/>
              </a:lnSpc>
            </a:pPr>
            <a:r>
              <a:rPr sz="950" b="0">
                <a:solidFill>
                  <a:srgbClr val="4A4F57"/>
                </a:solidFill>
                <a:latin typeface="Noto Sans KR"/>
                <a:ea typeface="Noto Sans KR"/>
                <a:cs typeface="Noto Sans KR"/>
              </a:rPr>
              <a:t>(Rental) 캐피탈 · 렌탈사</a:t>
            </a:r>
          </a:p>
        </p:txBody>
      </p:sp>
      <p:sp>
        <p:nvSpPr>
          <p:cNvPr id="49" name="TextBox 48"/>
          <p:cNvSpPr txBox="1"/>
          <p:nvPr/>
        </p:nvSpPr>
        <p:spPr>
          <a:xfrm>
            <a:off x="6629400" y="5596127"/>
            <a:ext cx="4876495" cy="384048"/>
          </a:xfrm>
          <a:prstGeom prst="rect">
            <a:avLst/>
          </a:prstGeom>
          <a:noFill/>
        </p:spPr>
        <p:txBody>
          <a:bodyPr wrap="square" lIns="0" rIns="0" tIns="0" bIns="0" anchor="ctr">
            <a:spAutoFit/>
          </a:bodyPr>
          <a:lstStyle/>
          <a:p>
            <a:pPr algn="l">
              <a:lnSpc>
                <a:spcPct val="100000"/>
              </a:lnSpc>
            </a:pPr>
            <a:r>
              <a:rPr sz="1150" b="1">
                <a:solidFill>
                  <a:srgbClr val="E2571B"/>
                </a:solidFill>
                <a:latin typeface="Noto Sans KR"/>
                <a:ea typeface="Noto Sans KR"/>
                <a:cs typeface="Noto Sans KR"/>
              </a:rPr>
              <a:t>설치 물량 증가 ≠ 본사 현장인력 비례 증가</a:t>
            </a:r>
          </a:p>
        </p:txBody>
      </p:sp>
      <p:sp>
        <p:nvSpPr>
          <p:cNvPr id="50" name="TextBox 49"/>
          <p:cNvSpPr txBox="1"/>
          <p:nvPr/>
        </p:nvSpPr>
        <p:spPr>
          <a:xfrm>
            <a:off x="685800" y="6126480"/>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선례 (FACT, MH와 무관): 건설사 · 가전사의 구독 · 관리 번들 — LH 공공주택 5,400여 세대 · 압구정 재건축 약 7,000세대 선택지 (LG, 2026) [S41]. 현재 MH 파트너 계약 · LOI 없음.</a:t>
            </a:r>
          </a:p>
        </p:txBody>
      </p:sp>
      <p:sp>
        <p:nvSpPr>
          <p:cNvPr id="51" name="TextBox 5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52" name="TextBox 5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13  Technology-to-Economics / Moat</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R&amp;D 성과가 설치비 · 서비스비 · 확장매출로 이어지는 구조입니다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성능 향상 자체가 아니라 Unit Economics와 Scale 개선으로 연결</a:t>
            </a:r>
          </a:p>
        </p:txBody>
      </p:sp>
      <p:sp>
        <p:nvSpPr>
          <p:cNvPr id="5" name="Rectangle 4"/>
          <p:cNvSpPr/>
          <p:nvPr/>
        </p:nvSpPr>
        <p:spPr>
          <a:xfrm>
            <a:off x="685800" y="1599310"/>
            <a:ext cx="2148840" cy="457200"/>
          </a:xfrm>
          <a:prstGeom prst="rect">
            <a:avLst/>
          </a:prstGeom>
          <a:solidFill>
            <a:srgbClr val="F4F5F6"/>
          </a:solidFill>
          <a:ln>
            <a:noFill/>
          </a:ln>
        </p:spPr>
        <p:txBody>
          <a:bodyPr rtlCol="0" anchor="ctr"/>
          <a:lstStyle/>
          <a:p>
            <a:pPr algn="ctr"/>
          </a:p>
        </p:txBody>
      </p:sp>
      <p:sp>
        <p:nvSpPr>
          <p:cNvPr id="6" name="TextBox 5"/>
          <p:cNvSpPr txBox="1"/>
          <p:nvPr/>
        </p:nvSpPr>
        <p:spPr>
          <a:xfrm>
            <a:off x="795528" y="1599310"/>
            <a:ext cx="1929384" cy="457200"/>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Adaptive Hand 고도화</a:t>
            </a:r>
          </a:p>
        </p:txBody>
      </p:sp>
      <p:cxnSp>
        <p:nvCxnSpPr>
          <p:cNvPr id="7" name="Connector 6"/>
          <p:cNvCxnSpPr/>
          <p:nvPr/>
        </p:nvCxnSpPr>
        <p:spPr>
          <a:xfrm>
            <a:off x="2862072" y="1827910"/>
            <a:ext cx="219456" cy="0"/>
          </a:xfrm>
          <a:prstGeom prst="line">
            <a:avLst/>
          </a:prstGeom>
          <a:ln w="15875">
            <a:solidFill>
              <a:srgbClr val="8C9198"/>
            </a:solidFill>
            <a:tailEnd type="triangle" w="med" len="med"/>
          </a:ln>
        </p:spPr>
      </p:cxnSp>
      <p:sp>
        <p:nvSpPr>
          <p:cNvPr id="8" name="Rectangle 7"/>
          <p:cNvSpPr/>
          <p:nvPr/>
        </p:nvSpPr>
        <p:spPr>
          <a:xfrm>
            <a:off x="3108960" y="1599310"/>
            <a:ext cx="1600200" cy="457200"/>
          </a:xfrm>
          <a:prstGeom prst="rect">
            <a:avLst/>
          </a:prstGeom>
          <a:solidFill>
            <a:srgbClr val="FFFFFF"/>
          </a:solidFill>
          <a:ln w="9525">
            <a:solidFill>
              <a:srgbClr val="C9CDD2"/>
            </a:solidFill>
          </a:ln>
        </p:spPr>
        <p:txBody>
          <a:bodyPr rtlCol="0" anchor="ctr"/>
          <a:lstStyle/>
          <a:p>
            <a:pPr algn="ctr"/>
          </a:p>
        </p:txBody>
      </p:sp>
      <p:sp>
        <p:nvSpPr>
          <p:cNvPr id="9" name="TextBox 8"/>
          <p:cNvSpPr txBox="1"/>
          <p:nvPr/>
        </p:nvSpPr>
        <p:spPr>
          <a:xfrm>
            <a:off x="3108960" y="1599310"/>
            <a:ext cx="1600200" cy="45720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Object Coverage ↑</a:t>
            </a:r>
          </a:p>
        </p:txBody>
      </p:sp>
      <p:sp>
        <p:nvSpPr>
          <p:cNvPr id="10" name="Rectangle 9"/>
          <p:cNvSpPr/>
          <p:nvPr/>
        </p:nvSpPr>
        <p:spPr>
          <a:xfrm>
            <a:off x="685800" y="2147951"/>
            <a:ext cx="2148840" cy="457200"/>
          </a:xfrm>
          <a:prstGeom prst="rect">
            <a:avLst/>
          </a:prstGeom>
          <a:solidFill>
            <a:srgbClr val="F4F5F6"/>
          </a:solidFill>
          <a:ln>
            <a:noFill/>
          </a:ln>
        </p:spPr>
        <p:txBody>
          <a:bodyPr rtlCol="0" anchor="ctr"/>
          <a:lstStyle/>
          <a:p>
            <a:pPr algn="ctr"/>
          </a:p>
        </p:txBody>
      </p:sp>
      <p:sp>
        <p:nvSpPr>
          <p:cNvPr id="11" name="TextBox 10"/>
          <p:cNvSpPr txBox="1"/>
          <p:nvPr/>
        </p:nvSpPr>
        <p:spPr>
          <a:xfrm>
            <a:off x="795528" y="2147951"/>
            <a:ext cx="1929384" cy="457200"/>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Manipulation Skill 고도화</a:t>
            </a:r>
          </a:p>
        </p:txBody>
      </p:sp>
      <p:cxnSp>
        <p:nvCxnSpPr>
          <p:cNvPr id="12" name="Connector 11"/>
          <p:cNvCxnSpPr/>
          <p:nvPr/>
        </p:nvCxnSpPr>
        <p:spPr>
          <a:xfrm>
            <a:off x="2862072" y="2376551"/>
            <a:ext cx="219456" cy="0"/>
          </a:xfrm>
          <a:prstGeom prst="line">
            <a:avLst/>
          </a:prstGeom>
          <a:ln w="15875">
            <a:solidFill>
              <a:srgbClr val="8C9198"/>
            </a:solidFill>
            <a:tailEnd type="triangle" w="med" len="med"/>
          </a:ln>
        </p:spPr>
      </p:cxnSp>
      <p:sp>
        <p:nvSpPr>
          <p:cNvPr id="13" name="Rectangle 12"/>
          <p:cNvSpPr/>
          <p:nvPr/>
        </p:nvSpPr>
        <p:spPr>
          <a:xfrm>
            <a:off x="3108960" y="2147951"/>
            <a:ext cx="1600200" cy="457200"/>
          </a:xfrm>
          <a:prstGeom prst="rect">
            <a:avLst/>
          </a:prstGeom>
          <a:solidFill>
            <a:srgbClr val="FFFFFF"/>
          </a:solidFill>
          <a:ln w="9525">
            <a:solidFill>
              <a:srgbClr val="C9CDD2"/>
            </a:solidFill>
          </a:ln>
        </p:spPr>
        <p:txBody>
          <a:bodyPr rtlCol="0" anchor="ctr"/>
          <a:lstStyle/>
          <a:p>
            <a:pPr algn="ctr"/>
          </a:p>
        </p:txBody>
      </p:sp>
      <p:sp>
        <p:nvSpPr>
          <p:cNvPr id="14" name="TextBox 13"/>
          <p:cNvSpPr txBox="1"/>
          <p:nvPr/>
        </p:nvSpPr>
        <p:spPr>
          <a:xfrm>
            <a:off x="3108960" y="2147951"/>
            <a:ext cx="1600200" cy="45720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Task Coverage ↑</a:t>
            </a:r>
          </a:p>
        </p:txBody>
      </p:sp>
      <p:sp>
        <p:nvSpPr>
          <p:cNvPr id="15" name="Rectangle 14"/>
          <p:cNvSpPr/>
          <p:nvPr/>
        </p:nvSpPr>
        <p:spPr>
          <a:xfrm>
            <a:off x="685800" y="2696590"/>
            <a:ext cx="2148840" cy="457200"/>
          </a:xfrm>
          <a:prstGeom prst="rect">
            <a:avLst/>
          </a:prstGeom>
          <a:solidFill>
            <a:srgbClr val="F4F5F6"/>
          </a:solidFill>
          <a:ln>
            <a:noFill/>
          </a:ln>
        </p:spPr>
        <p:txBody>
          <a:bodyPr rtlCol="0" anchor="ctr"/>
          <a:lstStyle/>
          <a:p>
            <a:pPr algn="ctr"/>
          </a:p>
        </p:txBody>
      </p:sp>
      <p:sp>
        <p:nvSpPr>
          <p:cNvPr id="16" name="TextBox 15"/>
          <p:cNvSpPr txBox="1"/>
          <p:nvPr/>
        </p:nvSpPr>
        <p:spPr>
          <a:xfrm>
            <a:off x="795528" y="2696590"/>
            <a:ext cx="1929384" cy="457200"/>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Calibration 고도화</a:t>
            </a:r>
          </a:p>
        </p:txBody>
      </p:sp>
      <p:cxnSp>
        <p:nvCxnSpPr>
          <p:cNvPr id="17" name="Connector 16"/>
          <p:cNvCxnSpPr/>
          <p:nvPr/>
        </p:nvCxnSpPr>
        <p:spPr>
          <a:xfrm>
            <a:off x="2862072" y="2925190"/>
            <a:ext cx="219456" cy="0"/>
          </a:xfrm>
          <a:prstGeom prst="line">
            <a:avLst/>
          </a:prstGeom>
          <a:ln w="15875">
            <a:solidFill>
              <a:srgbClr val="8C9198"/>
            </a:solidFill>
            <a:tailEnd type="triangle" w="med" len="med"/>
          </a:ln>
        </p:spPr>
      </p:cxnSp>
      <p:sp>
        <p:nvSpPr>
          <p:cNvPr id="18" name="Rectangle 17"/>
          <p:cNvSpPr/>
          <p:nvPr/>
        </p:nvSpPr>
        <p:spPr>
          <a:xfrm>
            <a:off x="3108960" y="2696590"/>
            <a:ext cx="1600200" cy="457200"/>
          </a:xfrm>
          <a:prstGeom prst="rect">
            <a:avLst/>
          </a:prstGeom>
          <a:solidFill>
            <a:srgbClr val="FFFFFF"/>
          </a:solidFill>
          <a:ln w="9525">
            <a:solidFill>
              <a:srgbClr val="C9CDD2"/>
            </a:solidFill>
          </a:ln>
        </p:spPr>
        <p:txBody>
          <a:bodyPr rtlCol="0" anchor="ctr"/>
          <a:lstStyle/>
          <a:p>
            <a:pPr algn="ctr"/>
          </a:p>
        </p:txBody>
      </p:sp>
      <p:sp>
        <p:nvSpPr>
          <p:cNvPr id="19" name="TextBox 18"/>
          <p:cNvSpPr txBox="1"/>
          <p:nvPr/>
        </p:nvSpPr>
        <p:spPr>
          <a:xfrm>
            <a:off x="3108960" y="2696590"/>
            <a:ext cx="1600200" cy="45720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신규 주방 적용시간 ↓</a:t>
            </a:r>
          </a:p>
        </p:txBody>
      </p:sp>
      <p:sp>
        <p:nvSpPr>
          <p:cNvPr id="20" name="Rectangle 19"/>
          <p:cNvSpPr/>
          <p:nvPr/>
        </p:nvSpPr>
        <p:spPr>
          <a:xfrm>
            <a:off x="685800" y="3245230"/>
            <a:ext cx="2148840" cy="457200"/>
          </a:xfrm>
          <a:prstGeom prst="rect">
            <a:avLst/>
          </a:prstGeom>
          <a:solidFill>
            <a:srgbClr val="F4F5F6"/>
          </a:solidFill>
          <a:ln>
            <a:noFill/>
          </a:ln>
        </p:spPr>
        <p:txBody>
          <a:bodyPr rtlCol="0" anchor="ctr"/>
          <a:lstStyle/>
          <a:p>
            <a:pPr algn="ctr"/>
          </a:p>
        </p:txBody>
      </p:sp>
      <p:sp>
        <p:nvSpPr>
          <p:cNvPr id="21" name="TextBox 20"/>
          <p:cNvSpPr txBox="1"/>
          <p:nvPr/>
        </p:nvSpPr>
        <p:spPr>
          <a:xfrm>
            <a:off x="795528" y="3245230"/>
            <a:ext cx="1929384" cy="457200"/>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Environment Interface 최적화</a:t>
            </a:r>
          </a:p>
        </p:txBody>
      </p:sp>
      <p:cxnSp>
        <p:nvCxnSpPr>
          <p:cNvPr id="22" name="Connector 21"/>
          <p:cNvCxnSpPr/>
          <p:nvPr/>
        </p:nvCxnSpPr>
        <p:spPr>
          <a:xfrm>
            <a:off x="2862072" y="3473830"/>
            <a:ext cx="219456" cy="0"/>
          </a:xfrm>
          <a:prstGeom prst="line">
            <a:avLst/>
          </a:prstGeom>
          <a:ln w="15875">
            <a:solidFill>
              <a:srgbClr val="8C9198"/>
            </a:solidFill>
            <a:tailEnd type="triangle" w="med" len="med"/>
          </a:ln>
        </p:spPr>
      </p:cxnSp>
      <p:sp>
        <p:nvSpPr>
          <p:cNvPr id="23" name="Rectangle 22"/>
          <p:cNvSpPr/>
          <p:nvPr/>
        </p:nvSpPr>
        <p:spPr>
          <a:xfrm>
            <a:off x="3108960" y="3245230"/>
            <a:ext cx="1600200" cy="457200"/>
          </a:xfrm>
          <a:prstGeom prst="rect">
            <a:avLst/>
          </a:prstGeom>
          <a:solidFill>
            <a:srgbClr val="FFFFFF"/>
          </a:solidFill>
          <a:ln w="9525">
            <a:solidFill>
              <a:srgbClr val="C9CDD2"/>
            </a:solidFill>
          </a:ln>
        </p:spPr>
        <p:txBody>
          <a:bodyPr rtlCol="0" anchor="ctr"/>
          <a:lstStyle/>
          <a:p>
            <a:pPr algn="ctr"/>
          </a:p>
        </p:txBody>
      </p:sp>
      <p:sp>
        <p:nvSpPr>
          <p:cNvPr id="24" name="TextBox 23"/>
          <p:cNvSpPr txBox="1"/>
          <p:nvPr/>
        </p:nvSpPr>
        <p:spPr>
          <a:xfrm>
            <a:off x="3108960" y="3245230"/>
            <a:ext cx="1600200" cy="45720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Task Reliability ↑</a:t>
            </a:r>
          </a:p>
        </p:txBody>
      </p:sp>
      <p:cxnSp>
        <p:nvCxnSpPr>
          <p:cNvPr id="25" name="Connector 24"/>
          <p:cNvCxnSpPr/>
          <p:nvPr/>
        </p:nvCxnSpPr>
        <p:spPr>
          <a:xfrm>
            <a:off x="4727448" y="1827910"/>
            <a:ext cx="164592" cy="0"/>
          </a:xfrm>
          <a:prstGeom prst="line">
            <a:avLst/>
          </a:prstGeom>
          <a:ln w="12700">
            <a:solidFill>
              <a:srgbClr val="8C9198"/>
            </a:solidFill>
          </a:ln>
        </p:spPr>
      </p:cxnSp>
      <p:cxnSp>
        <p:nvCxnSpPr>
          <p:cNvPr id="26" name="Connector 25"/>
          <p:cNvCxnSpPr/>
          <p:nvPr/>
        </p:nvCxnSpPr>
        <p:spPr>
          <a:xfrm>
            <a:off x="4727448" y="2376551"/>
            <a:ext cx="164592" cy="0"/>
          </a:xfrm>
          <a:prstGeom prst="line">
            <a:avLst/>
          </a:prstGeom>
          <a:ln w="12700">
            <a:solidFill>
              <a:srgbClr val="8C9198"/>
            </a:solidFill>
          </a:ln>
        </p:spPr>
      </p:cxnSp>
      <p:cxnSp>
        <p:nvCxnSpPr>
          <p:cNvPr id="27" name="Connector 26"/>
          <p:cNvCxnSpPr/>
          <p:nvPr/>
        </p:nvCxnSpPr>
        <p:spPr>
          <a:xfrm>
            <a:off x="4727448" y="2925190"/>
            <a:ext cx="164592" cy="0"/>
          </a:xfrm>
          <a:prstGeom prst="line">
            <a:avLst/>
          </a:prstGeom>
          <a:ln w="12700">
            <a:solidFill>
              <a:srgbClr val="8C9198"/>
            </a:solidFill>
          </a:ln>
        </p:spPr>
      </p:cxnSp>
      <p:cxnSp>
        <p:nvCxnSpPr>
          <p:cNvPr id="28" name="Connector 27"/>
          <p:cNvCxnSpPr/>
          <p:nvPr/>
        </p:nvCxnSpPr>
        <p:spPr>
          <a:xfrm>
            <a:off x="4727448" y="3473830"/>
            <a:ext cx="164592" cy="0"/>
          </a:xfrm>
          <a:prstGeom prst="line">
            <a:avLst/>
          </a:prstGeom>
          <a:ln w="12700">
            <a:solidFill>
              <a:srgbClr val="8C9198"/>
            </a:solidFill>
          </a:ln>
        </p:spPr>
      </p:cxnSp>
      <p:cxnSp>
        <p:nvCxnSpPr>
          <p:cNvPr id="29" name="Connector 28"/>
          <p:cNvCxnSpPr/>
          <p:nvPr/>
        </p:nvCxnSpPr>
        <p:spPr>
          <a:xfrm>
            <a:off x="4892040" y="1827910"/>
            <a:ext cx="0" cy="1645920"/>
          </a:xfrm>
          <a:prstGeom prst="line">
            <a:avLst/>
          </a:prstGeom>
          <a:ln w="12700">
            <a:solidFill>
              <a:srgbClr val="8C9198"/>
            </a:solidFill>
          </a:ln>
        </p:spPr>
      </p:cxnSp>
      <p:cxnSp>
        <p:nvCxnSpPr>
          <p:cNvPr id="30" name="Connector 29"/>
          <p:cNvCxnSpPr/>
          <p:nvPr/>
        </p:nvCxnSpPr>
        <p:spPr>
          <a:xfrm>
            <a:off x="4892040" y="2650871"/>
            <a:ext cx="164592" cy="0"/>
          </a:xfrm>
          <a:prstGeom prst="line">
            <a:avLst/>
          </a:prstGeom>
          <a:ln w="15875">
            <a:solidFill>
              <a:srgbClr val="8C9198"/>
            </a:solidFill>
            <a:tailEnd type="triangle" w="med" len="med"/>
          </a:ln>
        </p:spPr>
      </p:cxnSp>
      <p:sp>
        <p:nvSpPr>
          <p:cNvPr id="31" name="Rectangle 30"/>
          <p:cNvSpPr/>
          <p:nvPr/>
        </p:nvSpPr>
        <p:spPr>
          <a:xfrm>
            <a:off x="5093208" y="1599310"/>
            <a:ext cx="1261872" cy="2103120"/>
          </a:xfrm>
          <a:prstGeom prst="rect">
            <a:avLst/>
          </a:prstGeom>
          <a:solidFill>
            <a:srgbClr val="15171A"/>
          </a:solidFill>
          <a:ln>
            <a:noFill/>
          </a:ln>
        </p:spPr>
        <p:txBody>
          <a:bodyPr rtlCol="0" anchor="ctr"/>
          <a:lstStyle/>
          <a:p>
            <a:pPr algn="ctr"/>
          </a:p>
        </p:txBody>
      </p:sp>
      <p:sp>
        <p:nvSpPr>
          <p:cNvPr id="32" name="TextBox 31"/>
          <p:cNvSpPr txBox="1"/>
          <p:nvPr/>
        </p:nvSpPr>
        <p:spPr>
          <a:xfrm>
            <a:off x="5202936" y="1690751"/>
            <a:ext cx="1042415" cy="1920240"/>
          </a:xfrm>
          <a:prstGeom prst="rect">
            <a:avLst/>
          </a:prstGeom>
          <a:noFill/>
        </p:spPr>
        <p:txBody>
          <a:bodyPr wrap="square" lIns="0" rIns="0" tIns="0" bIns="0" anchor="ctr">
            <a:spAutoFit/>
          </a:bodyPr>
          <a:lstStyle/>
          <a:p>
            <a:pPr algn="l">
              <a:lnSpc>
                <a:spcPct val="105000"/>
              </a:lnSpc>
              <a:spcAft>
                <a:spcPts val="200"/>
              </a:spcAft>
            </a:pPr>
            <a:r>
              <a:rPr sz="1000" b="1">
                <a:solidFill>
                  <a:srgbClr val="FFFFFF"/>
                </a:solidFill>
                <a:latin typeface="Noto Sans KR"/>
                <a:ea typeface="Noto Sans KR"/>
                <a:cs typeface="Noto Sans KR"/>
              </a:rPr>
              <a:t>설치시간 ↓</a:t>
            </a:r>
          </a:p>
          <a:p>
            <a:pPr algn="l">
              <a:lnSpc>
                <a:spcPct val="105000"/>
              </a:lnSpc>
              <a:spcAft>
                <a:spcPts val="200"/>
              </a:spcAft>
            </a:pPr>
            <a:r>
              <a:rPr sz="1000" b="1">
                <a:solidFill>
                  <a:srgbClr val="FFFFFF"/>
                </a:solidFill>
                <a:latin typeface="Noto Sans KR"/>
                <a:ea typeface="Noto Sans KR"/>
                <a:cs typeface="Noto Sans KR"/>
              </a:rPr>
              <a:t>Engineering Cost ↓</a:t>
            </a:r>
          </a:p>
          <a:p>
            <a:pPr algn="l">
              <a:lnSpc>
                <a:spcPct val="105000"/>
              </a:lnSpc>
              <a:spcAft>
                <a:spcPts val="200"/>
              </a:spcAft>
            </a:pPr>
            <a:r>
              <a:rPr sz="1000" b="1">
                <a:solidFill>
                  <a:srgbClr val="FFFFFF"/>
                </a:solidFill>
                <a:latin typeface="Noto Sans KR"/>
                <a:ea typeface="Noto Sans KR"/>
                <a:cs typeface="Noto Sans KR"/>
              </a:rPr>
              <a:t>고객경험 ↑</a:t>
            </a:r>
          </a:p>
          <a:p>
            <a:pPr algn="l">
              <a:lnSpc>
                <a:spcPct val="105000"/>
              </a:lnSpc>
              <a:spcAft>
                <a:spcPts val="200"/>
              </a:spcAft>
            </a:pPr>
            <a:r>
              <a:rPr sz="1000" b="1">
                <a:solidFill>
                  <a:srgbClr val="FFFFFF"/>
                </a:solidFill>
                <a:latin typeface="Noto Sans KR"/>
                <a:ea typeface="Noto Sans KR"/>
                <a:cs typeface="Noto Sans KR"/>
              </a:rPr>
              <a:t>반복설치 ↑</a:t>
            </a:r>
          </a:p>
          <a:p>
            <a:pPr algn="l">
              <a:lnSpc>
                <a:spcPct val="105000"/>
              </a:lnSpc>
            </a:pPr>
            <a:r>
              <a:rPr sz="1000" b="1">
                <a:solidFill>
                  <a:srgbClr val="FFFFFF"/>
                </a:solidFill>
                <a:latin typeface="Noto Sans KR"/>
                <a:ea typeface="Noto Sans KR"/>
                <a:cs typeface="Noto Sans KR"/>
              </a:rPr>
              <a:t>→ Installed Base ↑</a:t>
            </a:r>
          </a:p>
        </p:txBody>
      </p:sp>
      <p:sp>
        <p:nvSpPr>
          <p:cNvPr id="33" name="Rectangle 32"/>
          <p:cNvSpPr/>
          <p:nvPr/>
        </p:nvSpPr>
        <p:spPr>
          <a:xfrm>
            <a:off x="685800" y="3839590"/>
            <a:ext cx="5669280" cy="420624"/>
          </a:xfrm>
          <a:prstGeom prst="rect">
            <a:avLst/>
          </a:prstGeom>
          <a:solidFill>
            <a:srgbClr val="F4F5F6"/>
          </a:solidFill>
          <a:ln>
            <a:noFill/>
          </a:ln>
        </p:spPr>
        <p:txBody>
          <a:bodyPr rtlCol="0" anchor="ctr"/>
          <a:lstStyle/>
          <a:p>
            <a:pPr algn="ctr"/>
          </a:p>
        </p:txBody>
      </p:sp>
      <p:sp>
        <p:nvSpPr>
          <p:cNvPr id="34" name="TextBox 33"/>
          <p:cNvSpPr txBox="1"/>
          <p:nvPr/>
        </p:nvSpPr>
        <p:spPr>
          <a:xfrm>
            <a:off x="822960" y="3839590"/>
            <a:ext cx="5394960" cy="420624"/>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Installed Base → </a:t>
            </a:r>
            <a:r>
              <a:rPr sz="1100" b="1">
                <a:solidFill>
                  <a:srgbClr val="E2571B"/>
                </a:solidFill>
                <a:latin typeface="Noto Sans KR"/>
                <a:ea typeface="Noto Sans KR"/>
                <a:cs typeface="Noto Sans KR"/>
              </a:rPr>
              <a:t>Care · Consumables · Skill Upgrade 매출 ↑</a:t>
            </a:r>
          </a:p>
        </p:txBody>
      </p:sp>
      <p:sp>
        <p:nvSpPr>
          <p:cNvPr id="35" name="TextBox 34"/>
          <p:cNvSpPr txBox="1"/>
          <p:nvPr/>
        </p:nvSpPr>
        <p:spPr>
          <a:xfrm>
            <a:off x="6675120" y="1581022"/>
            <a:ext cx="4830775" cy="237744"/>
          </a:xfrm>
          <a:prstGeom prst="rect">
            <a:avLst/>
          </a:prstGeom>
          <a:noFill/>
        </p:spPr>
        <p:txBody>
          <a:bodyPr wrap="square" lIns="0" rIns="0" tIns="0" bIns="0" anchor="t">
            <a:spAutoFit/>
          </a:bodyPr>
          <a:lstStyle/>
          <a:p>
            <a:pPr algn="l">
              <a:lnSpc>
                <a:spcPct val="100000"/>
              </a:lnSpc>
            </a:pPr>
            <a:r>
              <a:rPr sz="1050" b="1">
                <a:solidFill>
                  <a:srgbClr val="8C9198"/>
                </a:solidFill>
                <a:latin typeface="Noto Sans KR"/>
                <a:ea typeface="Noto Sans KR"/>
                <a:cs typeface="Noto Sans KR"/>
              </a:rPr>
              <a:t>KPI ↔ 원가 연결 (Base, DERIVED)</a:t>
            </a:r>
          </a:p>
        </p:txBody>
      </p:sp>
      <p:graphicFrame>
        <p:nvGraphicFramePr>
          <p:cNvPr id="36" name="Table 35"/>
          <p:cNvGraphicFramePr>
            <a:graphicFrameLocks noGrp="1"/>
          </p:cNvGraphicFramePr>
          <p:nvPr/>
        </p:nvGraphicFramePr>
        <p:xfrm>
          <a:off x="6675120" y="1855342"/>
          <a:ext cx="4830775" cy="1642566"/>
        </p:xfrm>
        <a:graphic>
          <a:graphicData uri="http://schemas.openxmlformats.org/drawingml/2006/table">
            <a:tbl>
              <a:tblPr firstRow="0" bandRow="0">
                <a:tableStyleId>{2D5ABB26-0587-4C30-8999-92F81FD0307C}</a:tableStyleId>
              </a:tblPr>
              <a:tblGrid>
                <a:gridCol w="1950415"/>
                <a:gridCol w="960120"/>
                <a:gridCol w="960120"/>
                <a:gridCol w="960120"/>
              </a:tblGrid>
              <a:tr h="293573">
                <a:tc>
                  <a:txBody>
                    <a:bodyPr wrap="square"/>
                    <a:lstStyle/>
                    <a:p>
                      <a:pPr algn="l">
                        <a:lnSpc>
                          <a:spcPct val="100000"/>
                        </a:lnSpc>
                      </a:pPr>
                      <a:r>
                        <a:rPr sz="950" b="1">
                          <a:solidFill>
                            <a:srgbClr val="15171A"/>
                          </a:solidFill>
                          <a:latin typeface="Noto Sans KR"/>
                          <a:ea typeface="Noto Sans KR"/>
                          <a:cs typeface="Noto Sans KR"/>
                        </a:rPr>
                        <a:t>연결 지표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Y2 실증</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설치 · Calibration 원가 (Remodeling)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90만 · 27인시</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60만 · 18인시</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38만 · 12인시</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Robot System BOM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1,520만</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1,180만</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915만</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Care 원가 / 대 · 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40.8만</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36.8만</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26.8만</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1세대 5년 기여이익</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428만</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798만</a:t>
                      </a:r>
                    </a:p>
                  </a:txBody>
                  <a:tcPr marL="73152" marR="73152" marT="54864" marB="54864" anchor="t">
                    <a:lnL w="0">
                      <a:noFill/>
                    </a:lnL>
                    <a:lnR w="0">
                      <a:noFill/>
                    </a:lnR>
                    <a:lnT w="0">
                      <a:noFill/>
                    </a:lnT>
                    <a:lnB w="9525">
                      <a:solidFill>
                        <a:srgbClr val="E2E4E7"/>
                      </a:solidFill>
                    </a:lnB>
                    <a:noFill/>
                  </a:tcPr>
                </a:tc>
              </a:tr>
            </a:tbl>
          </a:graphicData>
        </a:graphic>
      </p:graphicFrame>
      <p:sp>
        <p:nvSpPr>
          <p:cNvPr id="37" name="TextBox 36"/>
          <p:cNvSpPr txBox="1"/>
          <p:nvPr/>
        </p:nvSpPr>
        <p:spPr>
          <a:xfrm>
            <a:off x="6675120" y="3534486"/>
            <a:ext cx="4830775"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Pad 수명 목표 ≥ 약 5,475회 파지 (분기 교체 · 하루 60회 가정)</a:t>
            </a:r>
          </a:p>
        </p:txBody>
      </p:sp>
      <p:sp>
        <p:nvSpPr>
          <p:cNvPr id="38" name="TextBox 37"/>
          <p:cNvSpPr txBox="1"/>
          <p:nvPr/>
        </p:nvSpPr>
        <p:spPr>
          <a:xfrm>
            <a:off x="6675120" y="3845382"/>
            <a:ext cx="4830775" cy="237744"/>
          </a:xfrm>
          <a:prstGeom prst="rect">
            <a:avLst/>
          </a:prstGeom>
          <a:noFill/>
        </p:spPr>
        <p:txBody>
          <a:bodyPr wrap="square" lIns="0" rIns="0" tIns="0" bIns="0" anchor="t">
            <a:spAutoFit/>
          </a:bodyPr>
          <a:lstStyle/>
          <a:p>
            <a:pPr algn="l">
              <a:lnSpc>
                <a:spcPct val="100000"/>
              </a:lnSpc>
            </a:pPr>
            <a:r>
              <a:rPr sz="1050" b="1">
                <a:solidFill>
                  <a:srgbClr val="8C9198"/>
                </a:solidFill>
                <a:latin typeface="Noto Sans KR"/>
                <a:ea typeface="Noto Sans KR"/>
                <a:cs typeface="Noto Sans KR"/>
              </a:rPr>
              <a:t>1세대 5년 기여이익 민감도 (만원)</a:t>
            </a:r>
          </a:p>
        </p:txBody>
      </p:sp>
      <p:sp>
        <p:nvSpPr>
          <p:cNvPr id="39" name="TextBox 38"/>
          <p:cNvSpPr txBox="1"/>
          <p:nvPr/>
        </p:nvSpPr>
        <p:spPr>
          <a:xfrm>
            <a:off x="6675120" y="4137990"/>
            <a:ext cx="2103120" cy="201168"/>
          </a:xfrm>
          <a:prstGeom prst="rect">
            <a:avLst/>
          </a:prstGeom>
          <a:noFill/>
        </p:spPr>
        <p:txBody>
          <a:bodyPr wrap="square" lIns="0" rIns="0" tIns="0" bIns="0" anchor="ctr">
            <a:spAutoFit/>
          </a:bodyPr>
          <a:lstStyle/>
          <a:p>
            <a:pPr algn="r">
              <a:lnSpc>
                <a:spcPct val="100000"/>
              </a:lnSpc>
            </a:pPr>
            <a:r>
              <a:rPr sz="850" b="0">
                <a:solidFill>
                  <a:srgbClr val="15171A"/>
                </a:solidFill>
                <a:latin typeface="Noto Sans KR"/>
                <a:ea typeface="Noto Sans KR"/>
                <a:cs typeface="Noto Sans KR"/>
              </a:rPr>
              <a:t>Robot ASP (WTP) ±20%</a:t>
            </a:r>
          </a:p>
        </p:txBody>
      </p:sp>
      <p:sp>
        <p:nvSpPr>
          <p:cNvPr id="40" name="Rectangle 39"/>
          <p:cNvSpPr/>
          <p:nvPr/>
        </p:nvSpPr>
        <p:spPr>
          <a:xfrm>
            <a:off x="9281160" y="4165422"/>
            <a:ext cx="838047" cy="146304"/>
          </a:xfrm>
          <a:prstGeom prst="rect">
            <a:avLst/>
          </a:prstGeom>
          <a:solidFill>
            <a:srgbClr val="A9AEB5"/>
          </a:solidFill>
          <a:ln>
            <a:noFill/>
          </a:ln>
        </p:spPr>
        <p:txBody>
          <a:bodyPr rtlCol="0" anchor="ctr"/>
          <a:lstStyle/>
          <a:p>
            <a:pPr algn="ctr"/>
          </a:p>
        </p:txBody>
      </p:sp>
      <p:sp>
        <p:nvSpPr>
          <p:cNvPr id="41" name="Rectangle 40"/>
          <p:cNvSpPr/>
          <p:nvPr/>
        </p:nvSpPr>
        <p:spPr>
          <a:xfrm>
            <a:off x="10119207" y="4165422"/>
            <a:ext cx="838047" cy="146304"/>
          </a:xfrm>
          <a:prstGeom prst="rect">
            <a:avLst/>
          </a:prstGeom>
          <a:solidFill>
            <a:srgbClr val="E2571B"/>
          </a:solidFill>
          <a:ln>
            <a:noFill/>
          </a:ln>
        </p:spPr>
        <p:txBody>
          <a:bodyPr rtlCol="0" anchor="ctr"/>
          <a:lstStyle/>
          <a:p>
            <a:pPr algn="ctr"/>
          </a:p>
        </p:txBody>
      </p:sp>
      <p:sp>
        <p:nvSpPr>
          <p:cNvPr id="42" name="TextBox 41"/>
          <p:cNvSpPr txBox="1"/>
          <p:nvPr/>
        </p:nvSpPr>
        <p:spPr>
          <a:xfrm>
            <a:off x="8823960" y="4137990"/>
            <a:ext cx="420624" cy="201168"/>
          </a:xfrm>
          <a:prstGeom prst="rect">
            <a:avLst/>
          </a:prstGeom>
          <a:noFill/>
        </p:spPr>
        <p:txBody>
          <a:bodyPr wrap="square" lIns="0" rIns="0" tIns="0" bIns="0" anchor="ctr">
            <a:spAutoFit/>
          </a:bodyPr>
          <a:lstStyle/>
          <a:p>
            <a:pPr algn="r">
              <a:lnSpc>
                <a:spcPct val="100000"/>
              </a:lnSpc>
            </a:pPr>
            <a:r>
              <a:rPr sz="750" b="0">
                <a:solidFill>
                  <a:srgbClr val="4A4F57"/>
                </a:solidFill>
                <a:latin typeface="Noto Sans KR"/>
                <a:ea typeface="Noto Sans KR"/>
                <a:cs typeface="Noto Sans KR"/>
              </a:rPr>
              <a:t>-286</a:t>
            </a:r>
          </a:p>
        </p:txBody>
      </p:sp>
      <p:sp>
        <p:nvSpPr>
          <p:cNvPr id="43" name="TextBox 42"/>
          <p:cNvSpPr txBox="1"/>
          <p:nvPr/>
        </p:nvSpPr>
        <p:spPr>
          <a:xfrm>
            <a:off x="10993831" y="4137990"/>
            <a:ext cx="457200" cy="201168"/>
          </a:xfrm>
          <a:prstGeom prst="rect">
            <a:avLst/>
          </a:prstGeom>
          <a:noFill/>
        </p:spPr>
        <p:txBody>
          <a:bodyPr wrap="square" lIns="0" rIns="0" tIns="0" bIns="0" anchor="ctr">
            <a:spAutoFit/>
          </a:bodyPr>
          <a:lstStyle/>
          <a:p>
            <a:pPr algn="l">
              <a:lnSpc>
                <a:spcPct val="100000"/>
              </a:lnSpc>
            </a:pPr>
            <a:r>
              <a:rPr sz="750" b="0">
                <a:solidFill>
                  <a:srgbClr val="4A4F57"/>
                </a:solidFill>
                <a:latin typeface="Noto Sans KR"/>
                <a:ea typeface="Noto Sans KR"/>
                <a:cs typeface="Noto Sans KR"/>
              </a:rPr>
              <a:t>+286</a:t>
            </a:r>
          </a:p>
        </p:txBody>
      </p:sp>
      <p:sp>
        <p:nvSpPr>
          <p:cNvPr id="44" name="TextBox 43"/>
          <p:cNvSpPr txBox="1"/>
          <p:nvPr/>
        </p:nvSpPr>
        <p:spPr>
          <a:xfrm>
            <a:off x="6675120" y="4384878"/>
            <a:ext cx="2103120" cy="201168"/>
          </a:xfrm>
          <a:prstGeom prst="rect">
            <a:avLst/>
          </a:prstGeom>
          <a:noFill/>
        </p:spPr>
        <p:txBody>
          <a:bodyPr wrap="square" lIns="0" rIns="0" tIns="0" bIns="0" anchor="ctr">
            <a:spAutoFit/>
          </a:bodyPr>
          <a:lstStyle/>
          <a:p>
            <a:pPr algn="r">
              <a:lnSpc>
                <a:spcPct val="100000"/>
              </a:lnSpc>
            </a:pPr>
            <a:r>
              <a:rPr sz="850" b="0">
                <a:solidFill>
                  <a:srgbClr val="15171A"/>
                </a:solidFill>
                <a:latin typeface="Noto Sans KR"/>
                <a:ea typeface="Noto Sans KR"/>
                <a:cs typeface="Noto Sans KR"/>
              </a:rPr>
              <a:t>Robot BOM ±20%</a:t>
            </a:r>
          </a:p>
        </p:txBody>
      </p:sp>
      <p:sp>
        <p:nvSpPr>
          <p:cNvPr id="45" name="Rectangle 44"/>
          <p:cNvSpPr/>
          <p:nvPr/>
        </p:nvSpPr>
        <p:spPr>
          <a:xfrm>
            <a:off x="9427865" y="4412310"/>
            <a:ext cx="691342" cy="146304"/>
          </a:xfrm>
          <a:prstGeom prst="rect">
            <a:avLst/>
          </a:prstGeom>
          <a:solidFill>
            <a:srgbClr val="A9AEB5"/>
          </a:solidFill>
          <a:ln>
            <a:noFill/>
          </a:ln>
        </p:spPr>
        <p:txBody>
          <a:bodyPr rtlCol="0" anchor="ctr"/>
          <a:lstStyle/>
          <a:p>
            <a:pPr algn="ctr"/>
          </a:p>
        </p:txBody>
      </p:sp>
      <p:sp>
        <p:nvSpPr>
          <p:cNvPr id="46" name="Rectangle 45"/>
          <p:cNvSpPr/>
          <p:nvPr/>
        </p:nvSpPr>
        <p:spPr>
          <a:xfrm>
            <a:off x="10119207" y="4412310"/>
            <a:ext cx="691342" cy="146304"/>
          </a:xfrm>
          <a:prstGeom prst="rect">
            <a:avLst/>
          </a:prstGeom>
          <a:solidFill>
            <a:srgbClr val="E2571B"/>
          </a:solidFill>
          <a:ln>
            <a:noFill/>
          </a:ln>
        </p:spPr>
        <p:txBody>
          <a:bodyPr rtlCol="0" anchor="ctr"/>
          <a:lstStyle/>
          <a:p>
            <a:pPr algn="ctr"/>
          </a:p>
        </p:txBody>
      </p:sp>
      <p:sp>
        <p:nvSpPr>
          <p:cNvPr id="47" name="TextBox 46"/>
          <p:cNvSpPr txBox="1"/>
          <p:nvPr/>
        </p:nvSpPr>
        <p:spPr>
          <a:xfrm>
            <a:off x="8970665" y="4384878"/>
            <a:ext cx="420624" cy="201168"/>
          </a:xfrm>
          <a:prstGeom prst="rect">
            <a:avLst/>
          </a:prstGeom>
          <a:noFill/>
        </p:spPr>
        <p:txBody>
          <a:bodyPr wrap="square" lIns="0" rIns="0" tIns="0" bIns="0" anchor="ctr">
            <a:spAutoFit/>
          </a:bodyPr>
          <a:lstStyle/>
          <a:p>
            <a:pPr algn="r">
              <a:lnSpc>
                <a:spcPct val="100000"/>
              </a:lnSpc>
            </a:pPr>
            <a:r>
              <a:rPr sz="750" b="0">
                <a:solidFill>
                  <a:srgbClr val="4A4F57"/>
                </a:solidFill>
                <a:latin typeface="Noto Sans KR"/>
                <a:ea typeface="Noto Sans KR"/>
                <a:cs typeface="Noto Sans KR"/>
              </a:rPr>
              <a:t>-236</a:t>
            </a:r>
          </a:p>
        </p:txBody>
      </p:sp>
      <p:sp>
        <p:nvSpPr>
          <p:cNvPr id="48" name="TextBox 47"/>
          <p:cNvSpPr txBox="1"/>
          <p:nvPr/>
        </p:nvSpPr>
        <p:spPr>
          <a:xfrm>
            <a:off x="10847125" y="4384878"/>
            <a:ext cx="457200" cy="201168"/>
          </a:xfrm>
          <a:prstGeom prst="rect">
            <a:avLst/>
          </a:prstGeom>
          <a:noFill/>
        </p:spPr>
        <p:txBody>
          <a:bodyPr wrap="square" lIns="0" rIns="0" tIns="0" bIns="0" anchor="ctr">
            <a:spAutoFit/>
          </a:bodyPr>
          <a:lstStyle/>
          <a:p>
            <a:pPr algn="l">
              <a:lnSpc>
                <a:spcPct val="100000"/>
              </a:lnSpc>
            </a:pPr>
            <a:r>
              <a:rPr sz="750" b="0">
                <a:solidFill>
                  <a:srgbClr val="4A4F57"/>
                </a:solidFill>
                <a:latin typeface="Noto Sans KR"/>
                <a:ea typeface="Noto Sans KR"/>
                <a:cs typeface="Noto Sans KR"/>
              </a:rPr>
              <a:t>+236</a:t>
            </a:r>
          </a:p>
        </p:txBody>
      </p:sp>
      <p:sp>
        <p:nvSpPr>
          <p:cNvPr id="49" name="TextBox 48"/>
          <p:cNvSpPr txBox="1"/>
          <p:nvPr/>
        </p:nvSpPr>
        <p:spPr>
          <a:xfrm>
            <a:off x="6675120" y="4631766"/>
            <a:ext cx="2103120" cy="201168"/>
          </a:xfrm>
          <a:prstGeom prst="rect">
            <a:avLst/>
          </a:prstGeom>
          <a:noFill/>
        </p:spPr>
        <p:txBody>
          <a:bodyPr wrap="square" lIns="0" rIns="0" tIns="0" bIns="0" anchor="ctr">
            <a:spAutoFit/>
          </a:bodyPr>
          <a:lstStyle/>
          <a:p>
            <a:pPr algn="r">
              <a:lnSpc>
                <a:spcPct val="100000"/>
              </a:lnSpc>
            </a:pPr>
            <a:r>
              <a:rPr sz="850" b="0">
                <a:solidFill>
                  <a:srgbClr val="15171A"/>
                </a:solidFill>
                <a:latin typeface="Noto Sans KR"/>
                <a:ea typeface="Noto Sans KR"/>
                <a:cs typeface="Noto Sans KR"/>
              </a:rPr>
              <a:t>Interface 가격 ±20%</a:t>
            </a:r>
          </a:p>
        </p:txBody>
      </p:sp>
      <p:sp>
        <p:nvSpPr>
          <p:cNvPr id="50" name="Rectangle 49"/>
          <p:cNvSpPr/>
          <p:nvPr/>
        </p:nvSpPr>
        <p:spPr>
          <a:xfrm>
            <a:off x="9855560" y="4659198"/>
            <a:ext cx="263647" cy="146304"/>
          </a:xfrm>
          <a:prstGeom prst="rect">
            <a:avLst/>
          </a:prstGeom>
          <a:solidFill>
            <a:srgbClr val="A9AEB5"/>
          </a:solidFill>
          <a:ln>
            <a:noFill/>
          </a:ln>
        </p:spPr>
        <p:txBody>
          <a:bodyPr rtlCol="0" anchor="ctr"/>
          <a:lstStyle/>
          <a:p>
            <a:pPr algn="ctr"/>
          </a:p>
        </p:txBody>
      </p:sp>
      <p:sp>
        <p:nvSpPr>
          <p:cNvPr id="51" name="Rectangle 50"/>
          <p:cNvSpPr/>
          <p:nvPr/>
        </p:nvSpPr>
        <p:spPr>
          <a:xfrm>
            <a:off x="10119207" y="4659198"/>
            <a:ext cx="263647" cy="146304"/>
          </a:xfrm>
          <a:prstGeom prst="rect">
            <a:avLst/>
          </a:prstGeom>
          <a:solidFill>
            <a:srgbClr val="E2571B"/>
          </a:solidFill>
          <a:ln>
            <a:noFill/>
          </a:ln>
        </p:spPr>
        <p:txBody>
          <a:bodyPr rtlCol="0" anchor="ctr"/>
          <a:lstStyle/>
          <a:p>
            <a:pPr algn="ctr"/>
          </a:p>
        </p:txBody>
      </p:sp>
      <p:sp>
        <p:nvSpPr>
          <p:cNvPr id="52" name="TextBox 51"/>
          <p:cNvSpPr txBox="1"/>
          <p:nvPr/>
        </p:nvSpPr>
        <p:spPr>
          <a:xfrm>
            <a:off x="9398360" y="4631766"/>
            <a:ext cx="420624" cy="201168"/>
          </a:xfrm>
          <a:prstGeom prst="rect">
            <a:avLst/>
          </a:prstGeom>
          <a:noFill/>
        </p:spPr>
        <p:txBody>
          <a:bodyPr wrap="square" lIns="0" rIns="0" tIns="0" bIns="0" anchor="ctr">
            <a:spAutoFit/>
          </a:bodyPr>
          <a:lstStyle/>
          <a:p>
            <a:pPr algn="r">
              <a:lnSpc>
                <a:spcPct val="100000"/>
              </a:lnSpc>
            </a:pPr>
            <a:r>
              <a:rPr sz="750" b="0">
                <a:solidFill>
                  <a:srgbClr val="4A4F57"/>
                </a:solidFill>
                <a:latin typeface="Noto Sans KR"/>
                <a:ea typeface="Noto Sans KR"/>
                <a:cs typeface="Noto Sans KR"/>
              </a:rPr>
              <a:t>-90</a:t>
            </a:r>
          </a:p>
        </p:txBody>
      </p:sp>
      <p:sp>
        <p:nvSpPr>
          <p:cNvPr id="53" name="TextBox 52"/>
          <p:cNvSpPr txBox="1"/>
          <p:nvPr/>
        </p:nvSpPr>
        <p:spPr>
          <a:xfrm>
            <a:off x="10419431" y="4631766"/>
            <a:ext cx="457200" cy="201168"/>
          </a:xfrm>
          <a:prstGeom prst="rect">
            <a:avLst/>
          </a:prstGeom>
          <a:noFill/>
        </p:spPr>
        <p:txBody>
          <a:bodyPr wrap="square" lIns="0" rIns="0" tIns="0" bIns="0" anchor="ctr">
            <a:spAutoFit/>
          </a:bodyPr>
          <a:lstStyle/>
          <a:p>
            <a:pPr algn="l">
              <a:lnSpc>
                <a:spcPct val="100000"/>
              </a:lnSpc>
            </a:pPr>
            <a:r>
              <a:rPr sz="750" b="0">
                <a:solidFill>
                  <a:srgbClr val="4A4F57"/>
                </a:solidFill>
                <a:latin typeface="Noto Sans KR"/>
                <a:ea typeface="Noto Sans KR"/>
                <a:cs typeface="Noto Sans KR"/>
              </a:rPr>
              <a:t>+90</a:t>
            </a:r>
          </a:p>
        </p:txBody>
      </p:sp>
      <p:sp>
        <p:nvSpPr>
          <p:cNvPr id="54" name="TextBox 53"/>
          <p:cNvSpPr txBox="1"/>
          <p:nvPr/>
        </p:nvSpPr>
        <p:spPr>
          <a:xfrm>
            <a:off x="6675120" y="4878654"/>
            <a:ext cx="2103120" cy="201168"/>
          </a:xfrm>
          <a:prstGeom prst="rect">
            <a:avLst/>
          </a:prstGeom>
          <a:noFill/>
        </p:spPr>
        <p:txBody>
          <a:bodyPr wrap="square" lIns="0" rIns="0" tIns="0" bIns="0" anchor="ctr">
            <a:spAutoFit/>
          </a:bodyPr>
          <a:lstStyle/>
          <a:p>
            <a:pPr algn="r">
              <a:lnSpc>
                <a:spcPct val="100000"/>
              </a:lnSpc>
            </a:pPr>
            <a:r>
              <a:rPr sz="850" b="0">
                <a:solidFill>
                  <a:srgbClr val="15171A"/>
                </a:solidFill>
                <a:latin typeface="Noto Sans KR"/>
                <a:ea typeface="Noto Sans KR"/>
                <a:cs typeface="Noto Sans KR"/>
              </a:rPr>
              <a:t>직접판매 획득비용 ±50%</a:t>
            </a:r>
          </a:p>
        </p:txBody>
      </p:sp>
      <p:sp>
        <p:nvSpPr>
          <p:cNvPr id="55" name="Rectangle 54"/>
          <p:cNvSpPr/>
          <p:nvPr/>
        </p:nvSpPr>
        <p:spPr>
          <a:xfrm>
            <a:off x="9899501" y="4906086"/>
            <a:ext cx="219706" cy="146304"/>
          </a:xfrm>
          <a:prstGeom prst="rect">
            <a:avLst/>
          </a:prstGeom>
          <a:solidFill>
            <a:srgbClr val="A9AEB5"/>
          </a:solidFill>
          <a:ln>
            <a:noFill/>
          </a:ln>
        </p:spPr>
        <p:txBody>
          <a:bodyPr rtlCol="0" anchor="ctr"/>
          <a:lstStyle/>
          <a:p>
            <a:pPr algn="ctr"/>
          </a:p>
        </p:txBody>
      </p:sp>
      <p:sp>
        <p:nvSpPr>
          <p:cNvPr id="56" name="Rectangle 55"/>
          <p:cNvSpPr/>
          <p:nvPr/>
        </p:nvSpPr>
        <p:spPr>
          <a:xfrm>
            <a:off x="10119207" y="4906086"/>
            <a:ext cx="219706" cy="146304"/>
          </a:xfrm>
          <a:prstGeom prst="rect">
            <a:avLst/>
          </a:prstGeom>
          <a:solidFill>
            <a:srgbClr val="E2571B"/>
          </a:solidFill>
          <a:ln>
            <a:noFill/>
          </a:ln>
        </p:spPr>
        <p:txBody>
          <a:bodyPr rtlCol="0" anchor="ctr"/>
          <a:lstStyle/>
          <a:p>
            <a:pPr algn="ctr"/>
          </a:p>
        </p:txBody>
      </p:sp>
      <p:sp>
        <p:nvSpPr>
          <p:cNvPr id="57" name="TextBox 56"/>
          <p:cNvSpPr txBox="1"/>
          <p:nvPr/>
        </p:nvSpPr>
        <p:spPr>
          <a:xfrm>
            <a:off x="9442301" y="4878654"/>
            <a:ext cx="420624" cy="201168"/>
          </a:xfrm>
          <a:prstGeom prst="rect">
            <a:avLst/>
          </a:prstGeom>
          <a:noFill/>
        </p:spPr>
        <p:txBody>
          <a:bodyPr wrap="square" lIns="0" rIns="0" tIns="0" bIns="0" anchor="ctr">
            <a:spAutoFit/>
          </a:bodyPr>
          <a:lstStyle/>
          <a:p>
            <a:pPr algn="r">
              <a:lnSpc>
                <a:spcPct val="100000"/>
              </a:lnSpc>
            </a:pPr>
            <a:r>
              <a:rPr sz="750" b="0">
                <a:solidFill>
                  <a:srgbClr val="4A4F57"/>
                </a:solidFill>
                <a:latin typeface="Noto Sans KR"/>
                <a:ea typeface="Noto Sans KR"/>
                <a:cs typeface="Noto Sans KR"/>
              </a:rPr>
              <a:t>-75</a:t>
            </a:r>
          </a:p>
        </p:txBody>
      </p:sp>
      <p:sp>
        <p:nvSpPr>
          <p:cNvPr id="58" name="TextBox 57"/>
          <p:cNvSpPr txBox="1"/>
          <p:nvPr/>
        </p:nvSpPr>
        <p:spPr>
          <a:xfrm>
            <a:off x="10375489" y="4878654"/>
            <a:ext cx="457200" cy="201168"/>
          </a:xfrm>
          <a:prstGeom prst="rect">
            <a:avLst/>
          </a:prstGeom>
          <a:noFill/>
        </p:spPr>
        <p:txBody>
          <a:bodyPr wrap="square" lIns="0" rIns="0" tIns="0" bIns="0" anchor="ctr">
            <a:spAutoFit/>
          </a:bodyPr>
          <a:lstStyle/>
          <a:p>
            <a:pPr algn="l">
              <a:lnSpc>
                <a:spcPct val="100000"/>
              </a:lnSpc>
            </a:pPr>
            <a:r>
              <a:rPr sz="750" b="0">
                <a:solidFill>
                  <a:srgbClr val="4A4F57"/>
                </a:solidFill>
                <a:latin typeface="Noto Sans KR"/>
                <a:ea typeface="Noto Sans KR"/>
                <a:cs typeface="Noto Sans KR"/>
              </a:rPr>
              <a:t>+75</a:t>
            </a:r>
          </a:p>
        </p:txBody>
      </p:sp>
      <p:sp>
        <p:nvSpPr>
          <p:cNvPr id="59" name="TextBox 58"/>
          <p:cNvSpPr txBox="1"/>
          <p:nvPr/>
        </p:nvSpPr>
        <p:spPr>
          <a:xfrm>
            <a:off x="6675120" y="5125542"/>
            <a:ext cx="2103120" cy="201168"/>
          </a:xfrm>
          <a:prstGeom prst="rect">
            <a:avLst/>
          </a:prstGeom>
          <a:noFill/>
        </p:spPr>
        <p:txBody>
          <a:bodyPr wrap="square" lIns="0" rIns="0" tIns="0" bIns="0" anchor="ctr">
            <a:spAutoFit/>
          </a:bodyPr>
          <a:lstStyle/>
          <a:p>
            <a:pPr algn="r">
              <a:lnSpc>
                <a:spcPct val="100000"/>
              </a:lnSpc>
            </a:pPr>
            <a:r>
              <a:rPr sz="850" b="0">
                <a:solidFill>
                  <a:srgbClr val="15171A"/>
                </a:solidFill>
                <a:latin typeface="Noto Sans KR"/>
                <a:ea typeface="Noto Sans KR"/>
                <a:cs typeface="Noto Sans KR"/>
              </a:rPr>
              <a:t>Failure Rate 0.3 ↔ 1.2회</a:t>
            </a:r>
          </a:p>
        </p:txBody>
      </p:sp>
      <p:sp>
        <p:nvSpPr>
          <p:cNvPr id="60" name="Rectangle 59"/>
          <p:cNvSpPr/>
          <p:nvPr/>
        </p:nvSpPr>
        <p:spPr>
          <a:xfrm>
            <a:off x="9873722" y="5152974"/>
            <a:ext cx="245485" cy="146304"/>
          </a:xfrm>
          <a:prstGeom prst="rect">
            <a:avLst/>
          </a:prstGeom>
          <a:solidFill>
            <a:srgbClr val="A9AEB5"/>
          </a:solidFill>
          <a:ln>
            <a:noFill/>
          </a:ln>
        </p:spPr>
        <p:txBody>
          <a:bodyPr rtlCol="0" anchor="ctr"/>
          <a:lstStyle/>
          <a:p>
            <a:pPr algn="ctr"/>
          </a:p>
        </p:txBody>
      </p:sp>
      <p:sp>
        <p:nvSpPr>
          <p:cNvPr id="61" name="Rectangle 60"/>
          <p:cNvSpPr/>
          <p:nvPr/>
        </p:nvSpPr>
        <p:spPr>
          <a:xfrm>
            <a:off x="10119207" y="5152974"/>
            <a:ext cx="144566" cy="146304"/>
          </a:xfrm>
          <a:prstGeom prst="rect">
            <a:avLst/>
          </a:prstGeom>
          <a:solidFill>
            <a:srgbClr val="E2571B"/>
          </a:solidFill>
          <a:ln>
            <a:noFill/>
          </a:ln>
        </p:spPr>
        <p:txBody>
          <a:bodyPr rtlCol="0" anchor="ctr"/>
          <a:lstStyle/>
          <a:p>
            <a:pPr algn="ctr"/>
          </a:p>
        </p:txBody>
      </p:sp>
      <p:sp>
        <p:nvSpPr>
          <p:cNvPr id="62" name="TextBox 61"/>
          <p:cNvSpPr txBox="1"/>
          <p:nvPr/>
        </p:nvSpPr>
        <p:spPr>
          <a:xfrm>
            <a:off x="9416522" y="5125542"/>
            <a:ext cx="420624" cy="201168"/>
          </a:xfrm>
          <a:prstGeom prst="rect">
            <a:avLst/>
          </a:prstGeom>
          <a:noFill/>
        </p:spPr>
        <p:txBody>
          <a:bodyPr wrap="square" lIns="0" rIns="0" tIns="0" bIns="0" anchor="ctr">
            <a:spAutoFit/>
          </a:bodyPr>
          <a:lstStyle/>
          <a:p>
            <a:pPr algn="r">
              <a:lnSpc>
                <a:spcPct val="100000"/>
              </a:lnSpc>
            </a:pPr>
            <a:r>
              <a:rPr sz="750" b="0">
                <a:solidFill>
                  <a:srgbClr val="4A4F57"/>
                </a:solidFill>
                <a:latin typeface="Noto Sans KR"/>
                <a:ea typeface="Noto Sans KR"/>
                <a:cs typeface="Noto Sans KR"/>
              </a:rPr>
              <a:t>-84</a:t>
            </a:r>
          </a:p>
        </p:txBody>
      </p:sp>
      <p:sp>
        <p:nvSpPr>
          <p:cNvPr id="63" name="TextBox 62"/>
          <p:cNvSpPr txBox="1"/>
          <p:nvPr/>
        </p:nvSpPr>
        <p:spPr>
          <a:xfrm>
            <a:off x="10300350" y="5125542"/>
            <a:ext cx="457200" cy="201168"/>
          </a:xfrm>
          <a:prstGeom prst="rect">
            <a:avLst/>
          </a:prstGeom>
          <a:noFill/>
        </p:spPr>
        <p:txBody>
          <a:bodyPr wrap="square" lIns="0" rIns="0" tIns="0" bIns="0" anchor="ctr">
            <a:spAutoFit/>
          </a:bodyPr>
          <a:lstStyle/>
          <a:p>
            <a:pPr algn="l">
              <a:lnSpc>
                <a:spcPct val="100000"/>
              </a:lnSpc>
            </a:pPr>
            <a:r>
              <a:rPr sz="750" b="0">
                <a:solidFill>
                  <a:srgbClr val="4A4F57"/>
                </a:solidFill>
                <a:latin typeface="Noto Sans KR"/>
                <a:ea typeface="Noto Sans KR"/>
                <a:cs typeface="Noto Sans KR"/>
              </a:rPr>
              <a:t>+49</a:t>
            </a:r>
          </a:p>
        </p:txBody>
      </p:sp>
      <p:cxnSp>
        <p:nvCxnSpPr>
          <p:cNvPr id="64" name="Connector 63"/>
          <p:cNvCxnSpPr/>
          <p:nvPr/>
        </p:nvCxnSpPr>
        <p:spPr>
          <a:xfrm>
            <a:off x="10119207" y="4119702"/>
            <a:ext cx="0" cy="1234440"/>
          </a:xfrm>
          <a:prstGeom prst="line">
            <a:avLst/>
          </a:prstGeom>
          <a:ln w="9525">
            <a:solidFill>
              <a:srgbClr val="15171A"/>
            </a:solidFill>
          </a:ln>
        </p:spPr>
      </p:cxnSp>
      <p:sp>
        <p:nvSpPr>
          <p:cNvPr id="65" name="Rectangle 64"/>
          <p:cNvSpPr/>
          <p:nvPr/>
        </p:nvSpPr>
        <p:spPr>
          <a:xfrm>
            <a:off x="685800" y="5449824"/>
            <a:ext cx="10820095" cy="566928"/>
          </a:xfrm>
          <a:prstGeom prst="rect">
            <a:avLst/>
          </a:prstGeom>
          <a:solidFill>
            <a:srgbClr val="FFFFFF"/>
          </a:solidFill>
          <a:ln w="12700">
            <a:solidFill>
              <a:srgbClr val="15171A"/>
            </a:solidFill>
          </a:ln>
        </p:spPr>
        <p:txBody>
          <a:bodyPr rtlCol="0" anchor="ctr"/>
          <a:lstStyle/>
          <a:p>
            <a:pPr algn="ctr"/>
          </a:p>
        </p:txBody>
      </p:sp>
      <p:sp>
        <p:nvSpPr>
          <p:cNvPr id="66" name="TextBox 65"/>
          <p:cNvSpPr txBox="1"/>
          <p:nvPr/>
        </p:nvSpPr>
        <p:spPr>
          <a:xfrm>
            <a:off x="868680" y="5449824"/>
            <a:ext cx="10454335" cy="566928"/>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Moat = 단일 특허가 아닌 축적  </a:t>
            </a:r>
            <a:r>
              <a:rPr sz="1000" b="0">
                <a:solidFill>
                  <a:srgbClr val="4A4F57"/>
                </a:solidFill>
                <a:latin typeface="Noto Sans KR"/>
                <a:ea typeface="Noto Sans KR"/>
                <a:cs typeface="Noto Sans KR"/>
              </a:rPr>
              <a:t>① 주방 물체 Grasp Data · Skill Library  ② Calibration 절차 · Interface 표준 (설치시간)  ③ Installed Base · Care Data  ④ 출원 예정 IP</a:t>
            </a:r>
            <a:r>
              <a:rPr sz="1000" b="1">
                <a:solidFill>
                  <a:srgbClr val="E2571B"/>
                </a:solidFill>
                <a:latin typeface="Noto Sans KR"/>
                <a:ea typeface="Noto Sans KR"/>
                <a:cs typeface="Noto Sans KR"/>
              </a:rPr>
              <a:t>   — 모두 구축 전 (TARGET)</a:t>
            </a:r>
          </a:p>
        </p:txBody>
      </p:sp>
      <p:sp>
        <p:nvSpPr>
          <p:cNvPr id="67" name="TextBox 66"/>
          <p:cNvSpPr txBox="1"/>
          <p:nvPr/>
        </p:nvSpPr>
        <p:spPr>
          <a:xfrm>
            <a:off x="685800" y="6126480"/>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인시 = 설치 원가 ÷ 설치 엔지니어 시간당 원가 약 3.3만원 (연 6,600만원 기준). 민감도: Remodeling 구매 1세대 · Y3 원가 · 기준 428만원 (부록 D).</a:t>
            </a:r>
          </a:p>
        </p:txBody>
      </p:sp>
      <p:sp>
        <p:nvSpPr>
          <p:cNvPr id="68" name="TextBox 67"/>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69" name="TextBox 6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14  IP / Competition</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경쟁은 이미 있습니다. 차이는 주방 적용 방식이며, 실증으로 증명합니다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비교는 접근 방식 설명이며 성능 우위 주장이 아님 (공개 자료 기준)</a:t>
            </a:r>
          </a:p>
        </p:txBody>
      </p:sp>
      <p:graphicFrame>
        <p:nvGraphicFramePr>
          <p:cNvPr id="5" name="Table 4"/>
          <p:cNvGraphicFramePr>
            <a:graphicFrameLocks noGrp="1"/>
          </p:cNvGraphicFramePr>
          <p:nvPr/>
        </p:nvGraphicFramePr>
        <p:xfrm>
          <a:off x="685800" y="1599310"/>
          <a:ext cx="6903720" cy="3033689"/>
        </p:xfrm>
        <a:graphic>
          <a:graphicData uri="http://schemas.openxmlformats.org/drawingml/2006/table">
            <a:tbl>
              <a:tblPr firstRow="0" bandRow="0">
                <a:tableStyleId>{2D5ABB26-0587-4C30-8999-92F81FD0307C}</a:tableStyleId>
              </a:tblPr>
              <a:tblGrid>
                <a:gridCol w="1783080"/>
                <a:gridCol w="1188720"/>
                <a:gridCol w="1188720"/>
                <a:gridCol w="1463040"/>
                <a:gridCol w="1280160"/>
              </a:tblGrid>
              <a:tr h="271556">
                <a:tc>
                  <a:txBody>
                    <a:bodyPr wrap="square"/>
                    <a:lstStyle/>
                    <a:p>
                      <a:pPr algn="l">
                        <a:lnSpc>
                          <a:spcPct val="100000"/>
                        </a:lnSpc>
                      </a:pPr>
                      <a:r>
                        <a:rPr sz="880" b="1">
                          <a:solidFill>
                            <a:srgbClr val="15171A"/>
                          </a:solidFill>
                          <a:latin typeface="Noto Sans KR"/>
                          <a:ea typeface="Noto Sans KR"/>
                          <a:cs typeface="Noto Sans KR"/>
                        </a:rPr>
                        <a:t>Category</a:t>
                      </a:r>
                    </a:p>
                  </a:txBody>
                  <a:tcPr marL="73152" marR="73152" marT="50292" marB="50292"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80" b="1">
                          <a:solidFill>
                            <a:srgbClr val="15171A"/>
                          </a:solidFill>
                          <a:latin typeface="Noto Sans KR"/>
                          <a:ea typeface="Noto Sans KR"/>
                          <a:cs typeface="Noto Sans KR"/>
                        </a:rPr>
                        <a:t>Object Handling</a:t>
                      </a:r>
                    </a:p>
                  </a:txBody>
                  <a:tcPr marL="73152" marR="73152" marT="50292" marB="50292"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80" b="1">
                          <a:solidFill>
                            <a:srgbClr val="15171A"/>
                          </a:solidFill>
                          <a:latin typeface="Noto Sans KR"/>
                          <a:ea typeface="Noto Sans KR"/>
                          <a:cs typeface="Noto Sans KR"/>
                        </a:rPr>
                        <a:t>Task 범위</a:t>
                      </a:r>
                    </a:p>
                  </a:txBody>
                  <a:tcPr marL="73152" marR="73152" marT="50292" marB="50292"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80" b="1">
                          <a:solidFill>
                            <a:srgbClr val="15171A"/>
                          </a:solidFill>
                          <a:latin typeface="Noto Sans KR"/>
                          <a:ea typeface="Noto Sans KR"/>
                          <a:cs typeface="Noto Sans KR"/>
                        </a:rPr>
                        <a:t>주방 적응 · 설치</a:t>
                      </a:r>
                    </a:p>
                  </a:txBody>
                  <a:tcPr marL="73152" marR="73152" marT="50292" marB="50292"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80" b="1">
                          <a:solidFill>
                            <a:srgbClr val="15171A"/>
                          </a:solidFill>
                          <a:latin typeface="Noto Sans KR"/>
                          <a:ea typeface="Noto Sans KR"/>
                          <a:cs typeface="Noto Sans KR"/>
                        </a:rPr>
                        <a:t>반복매출 · 확장</a:t>
                      </a:r>
                    </a:p>
                  </a:txBody>
                  <a:tcPr marL="73152" marR="73152" marT="50292" marB="50292" anchor="t">
                    <a:lnL w="0">
                      <a:noFill/>
                    </a:lnL>
                    <a:lnR w="0">
                      <a:noFill/>
                    </a:lnR>
                    <a:lnT w="12700">
                      <a:solidFill>
                        <a:srgbClr val="15171A"/>
                      </a:solidFill>
                    </a:lnT>
                    <a:lnB w="9525">
                      <a:solidFill>
                        <a:srgbClr val="15171A"/>
                      </a:solidFill>
                    </a:lnB>
                    <a:noFill/>
                  </a:tcPr>
                </a:tc>
              </a:tr>
              <a:tr h="433384">
                <a:tc>
                  <a:txBody>
                    <a:bodyPr wrap="square"/>
                    <a:lstStyle/>
                    <a:p>
                      <a:pPr algn="l">
                        <a:lnSpc>
                          <a:spcPct val="100000"/>
                        </a:lnSpc>
                      </a:pPr>
                      <a:r>
                        <a:rPr sz="880" b="1">
                          <a:solidFill>
                            <a:srgbClr val="15171A"/>
                          </a:solidFill>
                          <a:latin typeface="Noto Sans KR"/>
                          <a:ea typeface="Noto Sans KR"/>
                          <a:cs typeface="Noto Sans KR"/>
                        </a:rPr>
                        <a:t>Kitchen Appliance</a:t>
                      </a:r>
                    </a:p>
                    <a:p>
                      <a:pPr algn="l">
                        <a:lnSpc>
                          <a:spcPct val="100000"/>
                        </a:lnSpc>
                      </a:pPr>
                      <a:r>
                        <a:rPr sz="880" b="1">
                          <a:solidFill>
                            <a:srgbClr val="15171A"/>
                          </a:solidFill>
                          <a:latin typeface="Noto Sans KR"/>
                          <a:ea typeface="Noto Sans KR"/>
                          <a:cs typeface="Noto Sans KR"/>
                        </a:rPr>
                        <a:t>삼성 · LG</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기기 내부만</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세척 · 가열 · 보관</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가전 설치</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구독 · Care</a:t>
                      </a:r>
                    </a:p>
                    <a:p>
                      <a:pPr algn="l">
                        <a:lnSpc>
                          <a:spcPct val="100000"/>
                        </a:lnSpc>
                      </a:pPr>
                      <a:r>
                        <a:rPr sz="880" b="0">
                          <a:solidFill>
                            <a:srgbClr val="15171A"/>
                          </a:solidFill>
                          <a:latin typeface="Noto Sans KR"/>
                          <a:ea typeface="Noto Sans KR"/>
                          <a:cs typeface="Noto Sans KR"/>
                        </a:rPr>
                        <a:t>(LG 2조원+)</a:t>
                      </a:r>
                    </a:p>
                  </a:txBody>
                  <a:tcPr marL="73152" marR="73152" marT="50292" marB="50292" anchor="t">
                    <a:lnL w="0">
                      <a:noFill/>
                    </a:lnL>
                    <a:lnR w="0">
                      <a:noFill/>
                    </a:lnR>
                    <a:lnT w="0">
                      <a:noFill/>
                    </a:lnT>
                    <a:lnB w="9525">
                      <a:solidFill>
                        <a:srgbClr val="E2E4E7"/>
                      </a:solidFill>
                    </a:lnB>
                    <a:noFill/>
                  </a:tcPr>
                </a:tc>
              </a:tr>
              <a:tr h="433384">
                <a:tc>
                  <a:txBody>
                    <a:bodyPr wrap="square"/>
                    <a:lstStyle/>
                    <a:p>
                      <a:pPr algn="l">
                        <a:lnSpc>
                          <a:spcPct val="100000"/>
                        </a:lnSpc>
                      </a:pPr>
                      <a:r>
                        <a:rPr sz="880" b="1">
                          <a:solidFill>
                            <a:srgbClr val="15171A"/>
                          </a:solidFill>
                          <a:latin typeface="Noto Sans KR"/>
                          <a:ea typeface="Noto Sans KR"/>
                          <a:cs typeface="Noto Sans KR"/>
                        </a:rPr>
                        <a:t>Cooking Robot</a:t>
                      </a:r>
                    </a:p>
                    <a:p>
                      <a:pPr algn="l">
                        <a:lnSpc>
                          <a:spcPct val="100000"/>
                        </a:lnSpc>
                      </a:pPr>
                      <a:r>
                        <a:rPr sz="880" b="1">
                          <a:solidFill>
                            <a:srgbClr val="15171A"/>
                          </a:solidFill>
                          <a:latin typeface="Noto Sans KR"/>
                          <a:ea typeface="Noto Sans KR"/>
                          <a:cs typeface="Noto Sans KR"/>
                        </a:rPr>
                        <a:t>Moley · Posha</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조리 도구 · 재료</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조리 중심</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전용 주방 (£248k) · 조리대 기기 ($1,750)</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레시피 · 월 구독</a:t>
                      </a:r>
                    </a:p>
                  </a:txBody>
                  <a:tcPr marL="73152" marR="73152" marT="50292" marB="50292" anchor="t">
                    <a:lnL w="0">
                      <a:noFill/>
                    </a:lnL>
                    <a:lnR w="0">
                      <a:noFill/>
                    </a:lnR>
                    <a:lnT w="0">
                      <a:noFill/>
                    </a:lnT>
                    <a:lnB w="9525">
                      <a:solidFill>
                        <a:srgbClr val="E2E4E7"/>
                      </a:solidFill>
                    </a:lnB>
                    <a:noFill/>
                  </a:tcPr>
                </a:tc>
              </a:tr>
              <a:tr h="595213">
                <a:tc>
                  <a:txBody>
                    <a:bodyPr wrap="square"/>
                    <a:lstStyle/>
                    <a:p>
                      <a:pPr algn="l">
                        <a:lnSpc>
                          <a:spcPct val="100000"/>
                        </a:lnSpc>
                      </a:pPr>
                      <a:r>
                        <a:rPr sz="880" b="1">
                          <a:solidFill>
                            <a:srgbClr val="15171A"/>
                          </a:solidFill>
                          <a:latin typeface="Noto Sans KR"/>
                          <a:ea typeface="Noto Sans KR"/>
                          <a:cs typeface="Noto Sans KR"/>
                        </a:rPr>
                        <a:t>Humanoid · Mobile</a:t>
                      </a:r>
                    </a:p>
                    <a:p>
                      <a:pPr algn="l">
                        <a:lnSpc>
                          <a:spcPct val="100000"/>
                        </a:lnSpc>
                      </a:pPr>
                      <a:r>
                        <a:rPr sz="880" b="1">
                          <a:solidFill>
                            <a:srgbClr val="15171A"/>
                          </a:solidFill>
                          <a:latin typeface="Noto Sans KR"/>
                          <a:ea typeface="Noto Sans KR"/>
                          <a:cs typeface="Noto Sans KR"/>
                        </a:rPr>
                        <a:t>1X NEO · Figure · Sunday · LG CLOiD</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범용 손</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가사 전반 시연</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설치 불필요 · 모델 학습 중심</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구독 ($499/월) · 출시 전</a:t>
                      </a:r>
                    </a:p>
                  </a:txBody>
                  <a:tcPr marL="73152" marR="73152" marT="50292" marB="50292" anchor="t">
                    <a:lnL w="0">
                      <a:noFill/>
                    </a:lnL>
                    <a:lnR w="0">
                      <a:noFill/>
                    </a:lnR>
                    <a:lnT w="0">
                      <a:noFill/>
                    </a:lnT>
                    <a:lnB w="9525">
                      <a:solidFill>
                        <a:srgbClr val="E2E4E7"/>
                      </a:solidFill>
                    </a:lnB>
                    <a:noFill/>
                  </a:tcPr>
                </a:tc>
              </a:tr>
              <a:tr h="433384">
                <a:tc>
                  <a:txBody>
                    <a:bodyPr wrap="square"/>
                    <a:lstStyle/>
                    <a:p>
                      <a:pPr algn="l">
                        <a:lnSpc>
                          <a:spcPct val="100000"/>
                        </a:lnSpc>
                      </a:pPr>
                      <a:r>
                        <a:rPr sz="880" b="1">
                          <a:solidFill>
                            <a:srgbClr val="15171A"/>
                          </a:solidFill>
                          <a:latin typeface="Noto Sans KR"/>
                          <a:ea typeface="Noto Sans KR"/>
                          <a:cs typeface="Noto Sans KR"/>
                        </a:rPr>
                        <a:t>Cobot + Gripper</a:t>
                      </a:r>
                    </a:p>
                    <a:p>
                      <a:pPr algn="l">
                        <a:lnSpc>
                          <a:spcPct val="100000"/>
                        </a:lnSpc>
                      </a:pPr>
                      <a:r>
                        <a:rPr sz="880" b="1">
                          <a:solidFill>
                            <a:srgbClr val="15171A"/>
                          </a:solidFill>
                          <a:latin typeface="Noto Sans KR"/>
                          <a:ea typeface="Noto Sans KR"/>
                          <a:cs typeface="Noto Sans KR"/>
                        </a:rPr>
                        <a:t>UR · Doosan + Robotiq</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상용 Gripper</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산업 작업</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Integrator 맞춤 구축</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부품 판매</a:t>
                      </a:r>
                    </a:p>
                  </a:txBody>
                  <a:tcPr marL="73152" marR="73152" marT="50292" marB="50292" anchor="t">
                    <a:lnL w="0">
                      <a:noFill/>
                    </a:lnL>
                    <a:lnR w="0">
                      <a:noFill/>
                    </a:lnR>
                    <a:lnT w="0">
                      <a:noFill/>
                    </a:lnT>
                    <a:lnB w="9525">
                      <a:solidFill>
                        <a:srgbClr val="E2E4E7"/>
                      </a:solidFill>
                    </a:lnB>
                    <a:noFill/>
                  </a:tcPr>
                </a:tc>
              </a:tr>
              <a:tr h="433384">
                <a:tc>
                  <a:txBody>
                    <a:bodyPr wrap="square"/>
                    <a:lstStyle/>
                    <a:p>
                      <a:pPr algn="l">
                        <a:lnSpc>
                          <a:spcPct val="100000"/>
                        </a:lnSpc>
                      </a:pPr>
                      <a:r>
                        <a:rPr sz="880" b="1">
                          <a:solidFill>
                            <a:srgbClr val="15171A"/>
                          </a:solidFill>
                          <a:latin typeface="Noto Sans KR"/>
                          <a:ea typeface="Noto Sans KR"/>
                          <a:cs typeface="Noto Sans KR"/>
                        </a:rPr>
                        <a:t>Kitchen Furniture</a:t>
                      </a:r>
                    </a:p>
                    <a:p>
                      <a:pPr algn="l">
                        <a:lnSpc>
                          <a:spcPct val="100000"/>
                        </a:lnSpc>
                      </a:pPr>
                      <a:r>
                        <a:rPr sz="880" b="1">
                          <a:solidFill>
                            <a:srgbClr val="15171A"/>
                          </a:solidFill>
                          <a:latin typeface="Noto Sans KR"/>
                          <a:ea typeface="Noto Sans KR"/>
                          <a:cs typeface="Noto Sans KR"/>
                        </a:rPr>
                        <a:t>한샘 · 리바트</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수납 · 빌트인 가전</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주방 시공 (로봇 협업 보도 없음)</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시공 매출</a:t>
                      </a:r>
                    </a:p>
                  </a:txBody>
                  <a:tcPr marL="73152" marR="73152" marT="50292" marB="50292" anchor="t">
                    <a:lnL w="0">
                      <a:noFill/>
                    </a:lnL>
                    <a:lnR w="0">
                      <a:noFill/>
                    </a:lnR>
                    <a:lnT w="0">
                      <a:noFill/>
                    </a:lnT>
                    <a:lnB w="9525">
                      <a:solidFill>
                        <a:srgbClr val="E2E4E7"/>
                      </a:solidFill>
                    </a:lnB>
                    <a:noFill/>
                  </a:tcPr>
                </a:tc>
              </a:tr>
              <a:tr h="433384">
                <a:tc>
                  <a:txBody>
                    <a:bodyPr wrap="square"/>
                    <a:lstStyle/>
                    <a:p>
                      <a:pPr algn="l">
                        <a:lnSpc>
                          <a:spcPct val="100000"/>
                        </a:lnSpc>
                      </a:pPr>
                      <a:r>
                        <a:rPr sz="880" b="1">
                          <a:solidFill>
                            <a:srgbClr val="E2571B"/>
                          </a:solidFill>
                          <a:latin typeface="Noto Sans KR"/>
                          <a:ea typeface="Noto Sans KR"/>
                          <a:cs typeface="Noto Sans KR"/>
                        </a:rPr>
                        <a:t>MH 목표 Position</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1">
                          <a:solidFill>
                            <a:srgbClr val="15171A"/>
                          </a:solidFill>
                          <a:latin typeface="Noto Sans KR"/>
                          <a:ea typeface="Noto Sans KR"/>
                          <a:cs typeface="Noto Sans KR"/>
                        </a:rPr>
                        <a:t>Kitchen Hand</a:t>
                      </a:r>
                    </a:p>
                    <a:p>
                      <a:pPr algn="l">
                        <a:lnSpc>
                          <a:spcPct val="100000"/>
                        </a:lnSpc>
                      </a:pPr>
                      <a:r>
                        <a:rPr sz="880" b="1">
                          <a:solidFill>
                            <a:srgbClr val="15171A"/>
                          </a:solidFill>
                          <a:latin typeface="Noto Sans KR"/>
                          <a:ea typeface="Noto Sans KR"/>
                          <a:cs typeface="Noto Sans KR"/>
                        </a:rPr>
                        <a:t>(식기 · 도구)</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1">
                          <a:solidFill>
                            <a:srgbClr val="15171A"/>
                          </a:solidFill>
                          <a:latin typeface="Noto Sans KR"/>
                          <a:ea typeface="Noto Sans KR"/>
                          <a:cs typeface="Noto Sans KR"/>
                        </a:rPr>
                        <a:t>CLEAN → ASSIST</a:t>
                      </a:r>
                    </a:p>
                    <a:p>
                      <a:pPr algn="l">
                        <a:lnSpc>
                          <a:spcPct val="100000"/>
                        </a:lnSpc>
                      </a:pPr>
                      <a:r>
                        <a:rPr sz="880" b="1">
                          <a:solidFill>
                            <a:srgbClr val="15171A"/>
                          </a:solidFill>
                          <a:latin typeface="Noto Sans KR"/>
                          <a:ea typeface="Noto Sans KR"/>
                          <a:cs typeface="Noto Sans KR"/>
                        </a:rPr>
                        <a:t>→ COOK</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1">
                          <a:solidFill>
                            <a:srgbClr val="15171A"/>
                          </a:solidFill>
                          <a:latin typeface="Noto Sans KR"/>
                          <a:ea typeface="Noto Sans KR"/>
                          <a:cs typeface="Noto Sans KR"/>
                        </a:rPr>
                        <a:t>Calibration + 최소 Interface · 공사 연계</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1">
                          <a:solidFill>
                            <a:srgbClr val="15171A"/>
                          </a:solidFill>
                          <a:latin typeface="Noto Sans KR"/>
                          <a:ea typeface="Noto Sans KR"/>
                          <a:cs typeface="Noto Sans KR"/>
                        </a:rPr>
                        <a:t>Care · 소모품 · Skill</a:t>
                      </a:r>
                    </a:p>
                  </a:txBody>
                  <a:tcPr marL="73152" marR="73152" marT="50292" marB="50292"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7863840" y="1599310"/>
          <a:ext cx="3642055" cy="2762134"/>
        </p:xfrm>
        <a:graphic>
          <a:graphicData uri="http://schemas.openxmlformats.org/drawingml/2006/table">
            <a:tbl>
              <a:tblPr firstRow="0" bandRow="0">
                <a:tableStyleId>{2D5ABB26-0587-4C30-8999-92F81FD0307C}</a:tableStyleId>
              </a:tblPr>
              <a:tblGrid>
                <a:gridCol w="960120"/>
                <a:gridCol w="1538935"/>
                <a:gridCol w="685800"/>
                <a:gridCol w="457200"/>
              </a:tblGrid>
              <a:tr h="271556">
                <a:tc>
                  <a:txBody>
                    <a:bodyPr wrap="square"/>
                    <a:lstStyle/>
                    <a:p>
                      <a:pPr algn="l">
                        <a:lnSpc>
                          <a:spcPct val="100000"/>
                        </a:lnSpc>
                      </a:pPr>
                      <a:r>
                        <a:rPr sz="880" b="1">
                          <a:solidFill>
                            <a:srgbClr val="15171A"/>
                          </a:solidFill>
                          <a:latin typeface="Noto Sans KR"/>
                          <a:ea typeface="Noto Sans KR"/>
                          <a:cs typeface="Noto Sans KR"/>
                        </a:rPr>
                        <a:t>영역</a:t>
                      </a:r>
                    </a:p>
                  </a:txBody>
                  <a:tcPr marL="73152" marR="73152" marT="50292" marB="50292"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80" b="1">
                          <a:solidFill>
                            <a:srgbClr val="15171A"/>
                          </a:solidFill>
                          <a:latin typeface="Noto Sans KR"/>
                          <a:ea typeface="Noto Sans KR"/>
                          <a:cs typeface="Noto Sans KR"/>
                        </a:rPr>
                        <a:t>출원 후보</a:t>
                      </a:r>
                    </a:p>
                  </a:txBody>
                  <a:tcPr marL="73152" marR="73152" marT="50292" marB="50292"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80" b="1">
                          <a:solidFill>
                            <a:srgbClr val="15171A"/>
                          </a:solidFill>
                          <a:latin typeface="Noto Sans KR"/>
                          <a:ea typeface="Noto Sans KR"/>
                          <a:cs typeface="Noto Sans KR"/>
                        </a:rPr>
                        <a:t>선행 Risk</a:t>
                      </a:r>
                    </a:p>
                  </a:txBody>
                  <a:tcPr marL="73152" marR="73152" marT="50292" marB="50292"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80" b="1">
                          <a:solidFill>
                            <a:srgbClr val="15171A"/>
                          </a:solidFill>
                          <a:latin typeface="Noto Sans KR"/>
                          <a:ea typeface="Noto Sans KR"/>
                          <a:cs typeface="Noto Sans KR"/>
                        </a:rPr>
                        <a:t>순위</a:t>
                      </a:r>
                    </a:p>
                  </a:txBody>
                  <a:tcPr marL="73152" marR="73152" marT="50292" marB="50292" anchor="t">
                    <a:lnL w="0">
                      <a:noFill/>
                    </a:lnL>
                    <a:lnR w="0">
                      <a:noFill/>
                    </a:lnR>
                    <a:lnT w="12700">
                      <a:solidFill>
                        <a:srgbClr val="15171A"/>
                      </a:solidFill>
                    </a:lnT>
                    <a:lnB w="9525">
                      <a:solidFill>
                        <a:srgbClr val="15171A"/>
                      </a:solidFill>
                    </a:lnB>
                    <a:noFill/>
                  </a:tcPr>
                </a:tc>
              </a:tr>
              <a:tr h="595213">
                <a:tc>
                  <a:txBody>
                    <a:bodyPr wrap="square"/>
                    <a:lstStyle/>
                    <a:p>
                      <a:pPr algn="l">
                        <a:lnSpc>
                          <a:spcPct val="100000"/>
                        </a:lnSpc>
                      </a:pPr>
                      <a:r>
                        <a:rPr sz="880" b="1">
                          <a:solidFill>
                            <a:srgbClr val="15171A"/>
                          </a:solidFill>
                          <a:latin typeface="Noto Sans KR"/>
                          <a:ea typeface="Noto Sans KR"/>
                          <a:cs typeface="Noto Sans KR"/>
                        </a:rPr>
                        <a:t>Robot Hand</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Replaceable Food-contact Module · Adaptive Finger · Compliance</a:t>
                      </a:r>
                    </a:p>
                  </a:txBody>
                  <a:tcPr marL="73152" marR="73152" marT="50292" marB="50292" anchor="t">
                    <a:lnL w="0">
                      <a:noFill/>
                    </a:lnL>
                    <a:lnR w="0">
                      <a:noFill/>
                    </a:lnR>
                    <a:lnT w="0">
                      <a:noFill/>
                    </a:lnT>
                    <a:lnB w="9525">
                      <a:solidFill>
                        <a:srgbClr val="E2E4E7"/>
                      </a:solidFill>
                    </a:lnB>
                    <a:noFill/>
                  </a:tcPr>
                </a:tc>
                <a:tc>
                  <a:txBody>
                    <a:bodyPr wrap="square"/>
                    <a:lstStyle/>
                    <a:p>
                      <a:pPr algn="ctr">
                        <a:lnSpc>
                          <a:spcPct val="100000"/>
                        </a:lnSpc>
                      </a:pPr>
                      <a:r>
                        <a:rPr sz="880" b="0">
                          <a:solidFill>
                            <a:srgbClr val="15171A"/>
                          </a:solidFill>
                          <a:latin typeface="Noto Sans KR"/>
                          <a:ea typeface="Noto Sans KR"/>
                          <a:cs typeface="Noto Sans KR"/>
                        </a:rPr>
                        <a:t>중~상</a:t>
                      </a:r>
                    </a:p>
                  </a:txBody>
                  <a:tcPr marL="73152" marR="73152" marT="50292" marB="50292" anchor="t">
                    <a:lnL w="0">
                      <a:noFill/>
                    </a:lnL>
                    <a:lnR w="0">
                      <a:noFill/>
                    </a:lnR>
                    <a:lnT w="0">
                      <a:noFill/>
                    </a:lnT>
                    <a:lnB w="9525">
                      <a:solidFill>
                        <a:srgbClr val="E2E4E7"/>
                      </a:solidFill>
                    </a:lnB>
                    <a:noFill/>
                  </a:tcPr>
                </a:tc>
                <a:tc>
                  <a:txBody>
                    <a:bodyPr wrap="square"/>
                    <a:lstStyle/>
                    <a:p>
                      <a:pPr algn="ctr">
                        <a:lnSpc>
                          <a:spcPct val="100000"/>
                        </a:lnSpc>
                      </a:pPr>
                      <a:r>
                        <a:rPr sz="880" b="1">
                          <a:solidFill>
                            <a:srgbClr val="E2571B"/>
                          </a:solidFill>
                          <a:latin typeface="Noto Sans KR"/>
                          <a:ea typeface="Noto Sans KR"/>
                          <a:cs typeface="Noto Sans KR"/>
                        </a:rPr>
                        <a:t>1</a:t>
                      </a:r>
                    </a:p>
                  </a:txBody>
                  <a:tcPr marL="73152" marR="73152" marT="50292" marB="50292" anchor="t">
                    <a:lnL w="0">
                      <a:noFill/>
                    </a:lnL>
                    <a:lnR w="0">
                      <a:noFill/>
                    </a:lnR>
                    <a:lnT w="0">
                      <a:noFill/>
                    </a:lnT>
                    <a:lnB w="9525">
                      <a:solidFill>
                        <a:srgbClr val="E2E4E7"/>
                      </a:solidFill>
                    </a:lnB>
                    <a:noFill/>
                  </a:tcPr>
                </a:tc>
              </a:tr>
              <a:tr h="595213">
                <a:tc>
                  <a:txBody>
                    <a:bodyPr wrap="square"/>
                    <a:lstStyle/>
                    <a:p>
                      <a:pPr algn="l">
                        <a:lnSpc>
                          <a:spcPct val="100000"/>
                        </a:lnSpc>
                      </a:pPr>
                      <a:r>
                        <a:rPr sz="880" b="1">
                          <a:solidFill>
                            <a:srgbClr val="15171A"/>
                          </a:solidFill>
                          <a:latin typeface="Noto Sans KR"/>
                          <a:ea typeface="Noto Sans KR"/>
                          <a:cs typeface="Noto Sans KR"/>
                        </a:rPr>
                        <a:t>Calibration</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Task Coordinate Calibration (Dock · 가전 기준점) · Kitchen Mapping</a:t>
                      </a:r>
                    </a:p>
                  </a:txBody>
                  <a:tcPr marL="73152" marR="73152" marT="50292" marB="50292" anchor="t">
                    <a:lnL w="0">
                      <a:noFill/>
                    </a:lnL>
                    <a:lnR w="0">
                      <a:noFill/>
                    </a:lnR>
                    <a:lnT w="0">
                      <a:noFill/>
                    </a:lnT>
                    <a:lnB w="9525">
                      <a:solidFill>
                        <a:srgbClr val="E2E4E7"/>
                      </a:solidFill>
                    </a:lnB>
                    <a:noFill/>
                  </a:tcPr>
                </a:tc>
                <a:tc>
                  <a:txBody>
                    <a:bodyPr wrap="square"/>
                    <a:lstStyle/>
                    <a:p>
                      <a:pPr algn="ctr">
                        <a:lnSpc>
                          <a:spcPct val="100000"/>
                        </a:lnSpc>
                      </a:pPr>
                      <a:r>
                        <a:rPr sz="880" b="0">
                          <a:solidFill>
                            <a:srgbClr val="15171A"/>
                          </a:solidFill>
                          <a:latin typeface="Noto Sans KR"/>
                          <a:ea typeface="Noto Sans KR"/>
                          <a:cs typeface="Noto Sans KR"/>
                        </a:rPr>
                        <a:t>중</a:t>
                      </a:r>
                    </a:p>
                  </a:txBody>
                  <a:tcPr marL="73152" marR="73152" marT="50292" marB="50292" anchor="t">
                    <a:lnL w="0">
                      <a:noFill/>
                    </a:lnL>
                    <a:lnR w="0">
                      <a:noFill/>
                    </a:lnR>
                    <a:lnT w="0">
                      <a:noFill/>
                    </a:lnT>
                    <a:lnB w="9525">
                      <a:solidFill>
                        <a:srgbClr val="E2E4E7"/>
                      </a:solidFill>
                    </a:lnB>
                    <a:noFill/>
                  </a:tcPr>
                </a:tc>
                <a:tc>
                  <a:txBody>
                    <a:bodyPr wrap="square"/>
                    <a:lstStyle/>
                    <a:p>
                      <a:pPr algn="ctr">
                        <a:lnSpc>
                          <a:spcPct val="100000"/>
                        </a:lnSpc>
                      </a:pPr>
                      <a:r>
                        <a:rPr sz="880" b="1">
                          <a:solidFill>
                            <a:srgbClr val="E2571B"/>
                          </a:solidFill>
                          <a:latin typeface="Noto Sans KR"/>
                          <a:ea typeface="Noto Sans KR"/>
                          <a:cs typeface="Noto Sans KR"/>
                        </a:rPr>
                        <a:t>1</a:t>
                      </a:r>
                    </a:p>
                  </a:txBody>
                  <a:tcPr marL="73152" marR="73152" marT="50292" marB="50292" anchor="t">
                    <a:lnL w="0">
                      <a:noFill/>
                    </a:lnL>
                    <a:lnR w="0">
                      <a:noFill/>
                    </a:lnR>
                    <a:lnT w="0">
                      <a:noFill/>
                    </a:lnT>
                    <a:lnB w="9525">
                      <a:solidFill>
                        <a:srgbClr val="E2E4E7"/>
                      </a:solidFill>
                    </a:lnB>
                    <a:noFill/>
                  </a:tcPr>
                </a:tc>
              </a:tr>
              <a:tr h="433384">
                <a:tc>
                  <a:txBody>
                    <a:bodyPr wrap="square"/>
                    <a:lstStyle/>
                    <a:p>
                      <a:pPr algn="l">
                        <a:lnSpc>
                          <a:spcPct val="100000"/>
                        </a:lnSpc>
                      </a:pPr>
                      <a:r>
                        <a:rPr sz="880" b="1">
                          <a:solidFill>
                            <a:srgbClr val="15171A"/>
                          </a:solidFill>
                          <a:latin typeface="Noto Sans KR"/>
                          <a:ea typeface="Noto Sans KR"/>
                          <a:cs typeface="Noto Sans KR"/>
                        </a:rPr>
                        <a:t>Interface</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Robot Home · Tool Dock · Appliance Interface</a:t>
                      </a:r>
                    </a:p>
                  </a:txBody>
                  <a:tcPr marL="73152" marR="73152" marT="50292" marB="50292" anchor="t">
                    <a:lnL w="0">
                      <a:noFill/>
                    </a:lnL>
                    <a:lnR w="0">
                      <a:noFill/>
                    </a:lnR>
                    <a:lnT w="0">
                      <a:noFill/>
                    </a:lnT>
                    <a:lnB w="9525">
                      <a:solidFill>
                        <a:srgbClr val="E2E4E7"/>
                      </a:solidFill>
                    </a:lnB>
                    <a:noFill/>
                  </a:tcPr>
                </a:tc>
                <a:tc>
                  <a:txBody>
                    <a:bodyPr wrap="square"/>
                    <a:lstStyle/>
                    <a:p>
                      <a:pPr algn="ctr">
                        <a:lnSpc>
                          <a:spcPct val="100000"/>
                        </a:lnSpc>
                      </a:pPr>
                      <a:r>
                        <a:rPr sz="880" b="0">
                          <a:solidFill>
                            <a:srgbClr val="15171A"/>
                          </a:solidFill>
                          <a:latin typeface="Noto Sans KR"/>
                          <a:ea typeface="Noto Sans KR"/>
                          <a:cs typeface="Noto Sans KR"/>
                        </a:rPr>
                        <a:t>상</a:t>
                      </a:r>
                    </a:p>
                  </a:txBody>
                  <a:tcPr marL="73152" marR="73152" marT="50292" marB="50292" anchor="t">
                    <a:lnL w="0">
                      <a:noFill/>
                    </a:lnL>
                    <a:lnR w="0">
                      <a:noFill/>
                    </a:lnR>
                    <a:lnT w="0">
                      <a:noFill/>
                    </a:lnT>
                    <a:lnB w="9525">
                      <a:solidFill>
                        <a:srgbClr val="E2E4E7"/>
                      </a:solidFill>
                    </a:lnB>
                    <a:noFill/>
                  </a:tcPr>
                </a:tc>
                <a:tc>
                  <a:txBody>
                    <a:bodyPr wrap="square"/>
                    <a:lstStyle/>
                    <a:p>
                      <a:pPr algn="ctr">
                        <a:lnSpc>
                          <a:spcPct val="100000"/>
                        </a:lnSpc>
                      </a:pPr>
                      <a:r>
                        <a:rPr sz="880" b="0">
                          <a:solidFill>
                            <a:srgbClr val="15171A"/>
                          </a:solidFill>
                          <a:latin typeface="Noto Sans KR"/>
                          <a:ea typeface="Noto Sans KR"/>
                          <a:cs typeface="Noto Sans KR"/>
                        </a:rPr>
                        <a:t>2</a:t>
                      </a:r>
                    </a:p>
                  </a:txBody>
                  <a:tcPr marL="73152" marR="73152" marT="50292" marB="50292" anchor="t">
                    <a:lnL w="0">
                      <a:noFill/>
                    </a:lnL>
                    <a:lnR w="0">
                      <a:noFill/>
                    </a:lnR>
                    <a:lnT w="0">
                      <a:noFill/>
                    </a:lnT>
                    <a:lnB w="9525">
                      <a:solidFill>
                        <a:srgbClr val="E2E4E7"/>
                      </a:solidFill>
                    </a:lnB>
                    <a:noFill/>
                  </a:tcPr>
                </a:tc>
              </a:tr>
              <a:tr h="433384">
                <a:tc>
                  <a:txBody>
                    <a:bodyPr wrap="square"/>
                    <a:lstStyle/>
                    <a:p>
                      <a:pPr algn="l">
                        <a:lnSpc>
                          <a:spcPct val="100000"/>
                        </a:lnSpc>
                      </a:pPr>
                      <a:r>
                        <a:rPr sz="880" b="1">
                          <a:solidFill>
                            <a:srgbClr val="15171A"/>
                          </a:solidFill>
                          <a:latin typeface="Noto Sans KR"/>
                          <a:ea typeface="Noto Sans KR"/>
                          <a:cs typeface="Noto Sans KR"/>
                        </a:rPr>
                        <a:t>Manipulation</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식기 Handling · Failure Recovery</a:t>
                      </a:r>
                    </a:p>
                  </a:txBody>
                  <a:tcPr marL="73152" marR="73152" marT="50292" marB="50292" anchor="t">
                    <a:lnL w="0">
                      <a:noFill/>
                    </a:lnL>
                    <a:lnR w="0">
                      <a:noFill/>
                    </a:lnR>
                    <a:lnT w="0">
                      <a:noFill/>
                    </a:lnT>
                    <a:lnB w="9525">
                      <a:solidFill>
                        <a:srgbClr val="E2E4E7"/>
                      </a:solidFill>
                    </a:lnB>
                    <a:noFill/>
                  </a:tcPr>
                </a:tc>
                <a:tc>
                  <a:txBody>
                    <a:bodyPr wrap="square"/>
                    <a:lstStyle/>
                    <a:p>
                      <a:pPr algn="ctr">
                        <a:lnSpc>
                          <a:spcPct val="100000"/>
                        </a:lnSpc>
                      </a:pPr>
                      <a:r>
                        <a:rPr sz="880" b="0">
                          <a:solidFill>
                            <a:srgbClr val="15171A"/>
                          </a:solidFill>
                          <a:latin typeface="Noto Sans KR"/>
                          <a:ea typeface="Noto Sans KR"/>
                          <a:cs typeface="Noto Sans KR"/>
                        </a:rPr>
                        <a:t>상</a:t>
                      </a:r>
                    </a:p>
                  </a:txBody>
                  <a:tcPr marL="73152" marR="73152" marT="50292" marB="50292" anchor="t">
                    <a:lnL w="0">
                      <a:noFill/>
                    </a:lnL>
                    <a:lnR w="0">
                      <a:noFill/>
                    </a:lnR>
                    <a:lnT w="0">
                      <a:noFill/>
                    </a:lnT>
                    <a:lnB w="9525">
                      <a:solidFill>
                        <a:srgbClr val="E2E4E7"/>
                      </a:solidFill>
                    </a:lnB>
                    <a:noFill/>
                  </a:tcPr>
                </a:tc>
                <a:tc>
                  <a:txBody>
                    <a:bodyPr wrap="square"/>
                    <a:lstStyle/>
                    <a:p>
                      <a:pPr algn="ctr">
                        <a:lnSpc>
                          <a:spcPct val="100000"/>
                        </a:lnSpc>
                      </a:pPr>
                      <a:r>
                        <a:rPr sz="880" b="0">
                          <a:solidFill>
                            <a:srgbClr val="15171A"/>
                          </a:solidFill>
                          <a:latin typeface="Noto Sans KR"/>
                          <a:ea typeface="Noto Sans KR"/>
                          <a:cs typeface="Noto Sans KR"/>
                        </a:rPr>
                        <a:t>2</a:t>
                      </a:r>
                    </a:p>
                  </a:txBody>
                  <a:tcPr marL="73152" marR="73152" marT="50292" marB="50292" anchor="t">
                    <a:lnL w="0">
                      <a:noFill/>
                    </a:lnL>
                    <a:lnR w="0">
                      <a:noFill/>
                    </a:lnR>
                    <a:lnT w="0">
                      <a:noFill/>
                    </a:lnT>
                    <a:lnB w="9525">
                      <a:solidFill>
                        <a:srgbClr val="E2E4E7"/>
                      </a:solidFill>
                    </a:lnB>
                    <a:noFill/>
                  </a:tcPr>
                </a:tc>
              </a:tr>
              <a:tr h="433384">
                <a:tc>
                  <a:txBody>
                    <a:bodyPr wrap="square"/>
                    <a:lstStyle/>
                    <a:p>
                      <a:pPr algn="l">
                        <a:lnSpc>
                          <a:spcPct val="100000"/>
                        </a:lnSpc>
                      </a:pPr>
                      <a:r>
                        <a:rPr sz="880" b="1">
                          <a:solidFill>
                            <a:srgbClr val="15171A"/>
                          </a:solidFill>
                          <a:latin typeface="Noto Sans KR"/>
                          <a:ea typeface="Noto Sans KR"/>
                          <a:cs typeface="Noto Sans KR"/>
                        </a:rPr>
                        <a:t>Safety</a:t>
                      </a:r>
                    </a:p>
                  </a:txBody>
                  <a:tcPr marL="73152" marR="73152" marT="50292" marB="50292"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Human / Robot Zone Control</a:t>
                      </a:r>
                    </a:p>
                  </a:txBody>
                  <a:tcPr marL="73152" marR="73152" marT="50292" marB="50292" anchor="t">
                    <a:lnL w="0">
                      <a:noFill/>
                    </a:lnL>
                    <a:lnR w="0">
                      <a:noFill/>
                    </a:lnR>
                    <a:lnT w="0">
                      <a:noFill/>
                    </a:lnT>
                    <a:lnB w="9525">
                      <a:solidFill>
                        <a:srgbClr val="E2E4E7"/>
                      </a:solidFill>
                    </a:lnB>
                    <a:noFill/>
                  </a:tcPr>
                </a:tc>
                <a:tc>
                  <a:txBody>
                    <a:bodyPr wrap="square"/>
                    <a:lstStyle/>
                    <a:p>
                      <a:pPr algn="ctr">
                        <a:lnSpc>
                          <a:spcPct val="100000"/>
                        </a:lnSpc>
                      </a:pPr>
                      <a:r>
                        <a:rPr sz="880" b="0">
                          <a:solidFill>
                            <a:srgbClr val="15171A"/>
                          </a:solidFill>
                          <a:latin typeface="Noto Sans KR"/>
                          <a:ea typeface="Noto Sans KR"/>
                          <a:cs typeface="Noto Sans KR"/>
                        </a:rPr>
                        <a:t>중~상</a:t>
                      </a:r>
                    </a:p>
                  </a:txBody>
                  <a:tcPr marL="73152" marR="73152" marT="50292" marB="50292" anchor="t">
                    <a:lnL w="0">
                      <a:noFill/>
                    </a:lnL>
                    <a:lnR w="0">
                      <a:noFill/>
                    </a:lnR>
                    <a:lnT w="0">
                      <a:noFill/>
                    </a:lnT>
                    <a:lnB w="9525">
                      <a:solidFill>
                        <a:srgbClr val="E2E4E7"/>
                      </a:solidFill>
                    </a:lnB>
                    <a:noFill/>
                  </a:tcPr>
                </a:tc>
                <a:tc>
                  <a:txBody>
                    <a:bodyPr wrap="square"/>
                    <a:lstStyle/>
                    <a:p>
                      <a:pPr algn="ctr">
                        <a:lnSpc>
                          <a:spcPct val="100000"/>
                        </a:lnSpc>
                      </a:pPr>
                      <a:r>
                        <a:rPr sz="880" b="0">
                          <a:solidFill>
                            <a:srgbClr val="15171A"/>
                          </a:solidFill>
                          <a:latin typeface="Noto Sans KR"/>
                          <a:ea typeface="Noto Sans KR"/>
                          <a:cs typeface="Noto Sans KR"/>
                        </a:rPr>
                        <a:t>3</a:t>
                      </a:r>
                    </a:p>
                  </a:txBody>
                  <a:tcPr marL="73152" marR="73152" marT="50292" marB="50292" anchor="t">
                    <a:lnL w="0">
                      <a:noFill/>
                    </a:lnL>
                    <a:lnR w="0">
                      <a:noFill/>
                    </a:lnR>
                    <a:lnT w="0">
                      <a:noFill/>
                    </a:lnT>
                    <a:lnB w="9525">
                      <a:solidFill>
                        <a:srgbClr val="E2E4E7"/>
                      </a:solidFill>
                    </a:lnB>
                    <a:noFill/>
                  </a:tcPr>
                </a:tc>
              </a:tr>
            </a:tbl>
          </a:graphicData>
        </a:graphic>
      </p:graphicFrame>
      <p:sp>
        <p:nvSpPr>
          <p:cNvPr id="7" name="TextBox 6"/>
          <p:cNvSpPr txBox="1"/>
          <p:nvPr/>
        </p:nvSpPr>
        <p:spPr>
          <a:xfrm>
            <a:off x="7863840" y="4416313"/>
            <a:ext cx="3642055" cy="566928"/>
          </a:xfrm>
          <a:prstGeom prst="rect">
            <a:avLst/>
          </a:prstGeom>
          <a:noFill/>
        </p:spPr>
        <p:txBody>
          <a:bodyPr wrap="square" lIns="0" rIns="0" tIns="0" bIns="0" anchor="t">
            <a:spAutoFit/>
          </a:bodyPr>
          <a:lstStyle/>
          <a:p>
            <a:pPr algn="l">
              <a:lnSpc>
                <a:spcPct val="102000"/>
              </a:lnSpc>
            </a:pPr>
            <a:r>
              <a:rPr sz="850" b="0">
                <a:solidFill>
                  <a:srgbClr val="4A4F57"/>
                </a:solidFill>
                <a:latin typeface="Noto Sans KR"/>
                <a:ea typeface="Noto Sans KR"/>
                <a:cs typeface="Noto Sans KR"/>
              </a:rPr>
              <a:t>선행: Dishcare US 11,731,282 · Dishcraft US 10,507,584 · 주방 Rail Arm US 7,751,938 · 수납장 로봇 US 12,275,130 · Schmalz OFG. 등록 가능성 미정 · 24개월 출원 5건 + PCT 1건 목표</a:t>
            </a:r>
          </a:p>
        </p:txBody>
      </p:sp>
      <p:sp>
        <p:nvSpPr>
          <p:cNvPr id="8" name="Rectangle 7"/>
          <p:cNvSpPr/>
          <p:nvPr/>
        </p:nvSpPr>
        <p:spPr>
          <a:xfrm>
            <a:off x="685800" y="5413248"/>
            <a:ext cx="10820095" cy="603504"/>
          </a:xfrm>
          <a:prstGeom prst="rect">
            <a:avLst/>
          </a:prstGeom>
          <a:solidFill>
            <a:srgbClr val="15171A"/>
          </a:solidFill>
          <a:ln>
            <a:noFill/>
          </a:ln>
        </p:spPr>
        <p:txBody>
          <a:bodyPr rtlCol="0" anchor="ctr"/>
          <a:lstStyle/>
          <a:p>
            <a:pPr algn="ctr"/>
          </a:p>
        </p:txBody>
      </p:sp>
      <p:sp>
        <p:nvSpPr>
          <p:cNvPr id="9" name="TextBox 8"/>
          <p:cNvSpPr txBox="1"/>
          <p:nvPr/>
        </p:nvSpPr>
        <p:spPr>
          <a:xfrm>
            <a:off x="868680" y="5413248"/>
            <a:ext cx="10454335" cy="603504"/>
          </a:xfrm>
          <a:prstGeom prst="rect">
            <a:avLst/>
          </a:prstGeom>
          <a:noFill/>
        </p:spPr>
        <p:txBody>
          <a:bodyPr wrap="square" lIns="0" rIns="0" tIns="0" bIns="0" anchor="ctr">
            <a:spAutoFit/>
          </a:bodyPr>
          <a:lstStyle/>
          <a:p>
            <a:pPr algn="l">
              <a:lnSpc>
                <a:spcPct val="102000"/>
              </a:lnSpc>
            </a:pPr>
            <a:r>
              <a:rPr sz="950" b="1">
                <a:solidFill>
                  <a:srgbClr val="FFFFFF"/>
                </a:solidFill>
                <a:latin typeface="Noto Sans KR"/>
                <a:ea typeface="Noto Sans KR"/>
                <a:cs typeface="Noto Sans KR"/>
              </a:rPr>
              <a:t>Humanoid는 위협만이 아님  </a:t>
            </a:r>
            <a:r>
              <a:rPr sz="950" b="0">
                <a:solidFill>
                  <a:srgbClr val="D5D8DC"/>
                </a:solidFill>
                <a:latin typeface="Noto Sans KR"/>
                <a:ea typeface="Noto Sans KR"/>
                <a:cs typeface="Noto Sans KR"/>
              </a:rPr>
              <a:t>공개 범용 모델 (openpi π0 · π0.5)은 MH Manipulation Layer에 활용 가능 · MH의 Interface · Skill · Calibration은 다른 Robot Platform에도 적용 · 가격 ($20,000) · 낮은 작업점 Reach 같은 가정 설치 제약은 공간 Integration으로 보완</a:t>
            </a:r>
          </a:p>
        </p:txBody>
      </p:sp>
      <p:sp>
        <p:nvSpPr>
          <p:cNvPr id="10" name="TextBox 9"/>
          <p:cNvSpPr txBox="1"/>
          <p:nvPr/>
        </p:nvSpPr>
        <p:spPr>
          <a:xfrm>
            <a:off x="685800" y="6126480"/>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공개 자료 [S19~S25 · S41 · S45 · S46 · S49~S51]. 경쟁사 성능 비교 Data 없음 → 비교 축은 접근 방식. 특허 청구항 · 권리상태는 변리사 검토 전.</a:t>
            </a:r>
          </a:p>
        </p:txBody>
      </p:sp>
      <p:sp>
        <p:nvSpPr>
          <p:cNvPr id="11" name="TextBox 1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12" name="TextBox 1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15  TIPS R&amp;D / 24개월 Roadmap</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TIPS는 기술 위험을, Seed는 사업 위험을 줄이는 데 씁니다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TIPS R&amp;D = Technology De-risking · 민간 Seed = Commercial Validation (역할 중복 최소화)</a:t>
            </a:r>
          </a:p>
        </p:txBody>
      </p:sp>
      <p:sp>
        <p:nvSpPr>
          <p:cNvPr id="5" name="Rectangle 4"/>
          <p:cNvSpPr/>
          <p:nvPr/>
        </p:nvSpPr>
        <p:spPr>
          <a:xfrm>
            <a:off x="685800" y="1599310"/>
            <a:ext cx="5272887" cy="1207008"/>
          </a:xfrm>
          <a:prstGeom prst="rect">
            <a:avLst/>
          </a:prstGeom>
          <a:solidFill>
            <a:srgbClr val="15171A"/>
          </a:solidFill>
          <a:ln>
            <a:noFill/>
          </a:ln>
        </p:spPr>
        <p:txBody>
          <a:bodyPr rtlCol="0" anchor="ctr"/>
          <a:lstStyle/>
          <a:p>
            <a:pPr algn="ctr"/>
          </a:p>
        </p:txBody>
      </p:sp>
      <p:sp>
        <p:nvSpPr>
          <p:cNvPr id="6" name="TextBox 5"/>
          <p:cNvSpPr txBox="1"/>
          <p:nvPr/>
        </p:nvSpPr>
        <p:spPr>
          <a:xfrm>
            <a:off x="868680" y="1690751"/>
            <a:ext cx="4907127" cy="27432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TIPS R&amp;D  ·  Technology De-risking</a:t>
            </a:r>
          </a:p>
        </p:txBody>
      </p:sp>
      <p:sp>
        <p:nvSpPr>
          <p:cNvPr id="7" name="TextBox 6"/>
          <p:cNvSpPr txBox="1"/>
          <p:nvPr/>
        </p:nvSpPr>
        <p:spPr>
          <a:xfrm>
            <a:off x="868680" y="2038222"/>
            <a:ext cx="2453563" cy="237744"/>
          </a:xfrm>
          <a:prstGeom prst="rect">
            <a:avLst/>
          </a:prstGeom>
          <a:noFill/>
        </p:spPr>
        <p:txBody>
          <a:bodyPr wrap="square" lIns="0" rIns="0" tIns="0" bIns="0" anchor="t">
            <a:spAutoFit/>
          </a:bodyPr>
          <a:lstStyle/>
          <a:p>
            <a:pPr algn="l">
              <a:lnSpc>
                <a:spcPct val="100000"/>
              </a:lnSpc>
            </a:pPr>
            <a:r>
              <a:rPr sz="950" b="0">
                <a:solidFill>
                  <a:srgbClr val="E3E5E8"/>
                </a:solidFill>
                <a:latin typeface="Noto Sans KR"/>
                <a:ea typeface="Noto Sans KR"/>
                <a:cs typeface="Noto Sans KR"/>
              </a:rPr>
              <a:t>WP1 Adaptive Kitchen Robot Hand</a:t>
            </a:r>
          </a:p>
        </p:txBody>
      </p:sp>
      <p:sp>
        <p:nvSpPr>
          <p:cNvPr id="8" name="TextBox 7"/>
          <p:cNvSpPr txBox="1"/>
          <p:nvPr/>
        </p:nvSpPr>
        <p:spPr>
          <a:xfrm>
            <a:off x="3413683" y="2038222"/>
            <a:ext cx="2453563" cy="237744"/>
          </a:xfrm>
          <a:prstGeom prst="rect">
            <a:avLst/>
          </a:prstGeom>
          <a:noFill/>
        </p:spPr>
        <p:txBody>
          <a:bodyPr wrap="square" lIns="0" rIns="0" tIns="0" bIns="0" anchor="t">
            <a:spAutoFit/>
          </a:bodyPr>
          <a:lstStyle/>
          <a:p>
            <a:pPr algn="l">
              <a:lnSpc>
                <a:spcPct val="100000"/>
              </a:lnSpc>
            </a:pPr>
            <a:r>
              <a:rPr sz="950" b="0">
                <a:solidFill>
                  <a:srgbClr val="E3E5E8"/>
                </a:solidFill>
                <a:latin typeface="Noto Sans KR"/>
                <a:ea typeface="Noto Sans KR"/>
                <a:cs typeface="Noto Sans KR"/>
              </a:rPr>
              <a:t>WP2 Kitchen Manipulation Skill</a:t>
            </a:r>
          </a:p>
        </p:txBody>
      </p:sp>
      <p:sp>
        <p:nvSpPr>
          <p:cNvPr id="9" name="TextBox 8"/>
          <p:cNvSpPr txBox="1"/>
          <p:nvPr/>
        </p:nvSpPr>
        <p:spPr>
          <a:xfrm>
            <a:off x="868680" y="2285111"/>
            <a:ext cx="2453563" cy="237744"/>
          </a:xfrm>
          <a:prstGeom prst="rect">
            <a:avLst/>
          </a:prstGeom>
          <a:noFill/>
        </p:spPr>
        <p:txBody>
          <a:bodyPr wrap="square" lIns="0" rIns="0" tIns="0" bIns="0" anchor="t">
            <a:spAutoFit/>
          </a:bodyPr>
          <a:lstStyle/>
          <a:p>
            <a:pPr algn="l">
              <a:lnSpc>
                <a:spcPct val="100000"/>
              </a:lnSpc>
            </a:pPr>
            <a:r>
              <a:rPr sz="950" b="0">
                <a:solidFill>
                  <a:srgbClr val="E3E5E8"/>
                </a:solidFill>
                <a:latin typeface="Noto Sans KR"/>
                <a:ea typeface="Noto Sans KR"/>
                <a:cs typeface="Noto Sans KR"/>
              </a:rPr>
              <a:t>WP3 Perception / Calibration</a:t>
            </a:r>
          </a:p>
        </p:txBody>
      </p:sp>
      <p:sp>
        <p:nvSpPr>
          <p:cNvPr id="10" name="TextBox 9"/>
          <p:cNvSpPr txBox="1"/>
          <p:nvPr/>
        </p:nvSpPr>
        <p:spPr>
          <a:xfrm>
            <a:off x="3413683" y="2285111"/>
            <a:ext cx="2453563" cy="237744"/>
          </a:xfrm>
          <a:prstGeom prst="rect">
            <a:avLst/>
          </a:prstGeom>
          <a:noFill/>
        </p:spPr>
        <p:txBody>
          <a:bodyPr wrap="square" lIns="0" rIns="0" tIns="0" bIns="0" anchor="t">
            <a:spAutoFit/>
          </a:bodyPr>
          <a:lstStyle/>
          <a:p>
            <a:pPr algn="l">
              <a:lnSpc>
                <a:spcPct val="100000"/>
              </a:lnSpc>
            </a:pPr>
            <a:r>
              <a:rPr sz="950" b="0">
                <a:solidFill>
                  <a:srgbClr val="E3E5E8"/>
                </a:solidFill>
                <a:latin typeface="Noto Sans KR"/>
                <a:ea typeface="Noto Sans KR"/>
                <a:cs typeface="Noto Sans KR"/>
              </a:rPr>
              <a:t>WP4 Minimal Environment Interface</a:t>
            </a:r>
          </a:p>
        </p:txBody>
      </p:sp>
      <p:sp>
        <p:nvSpPr>
          <p:cNvPr id="11" name="TextBox 10"/>
          <p:cNvSpPr txBox="1"/>
          <p:nvPr/>
        </p:nvSpPr>
        <p:spPr>
          <a:xfrm>
            <a:off x="868680" y="2531999"/>
            <a:ext cx="2453563" cy="237744"/>
          </a:xfrm>
          <a:prstGeom prst="rect">
            <a:avLst/>
          </a:prstGeom>
          <a:noFill/>
        </p:spPr>
        <p:txBody>
          <a:bodyPr wrap="square" lIns="0" rIns="0" tIns="0" bIns="0" anchor="t">
            <a:spAutoFit/>
          </a:bodyPr>
          <a:lstStyle/>
          <a:p>
            <a:pPr algn="l">
              <a:lnSpc>
                <a:spcPct val="100000"/>
              </a:lnSpc>
            </a:pPr>
            <a:r>
              <a:rPr sz="950" b="0">
                <a:solidFill>
                  <a:srgbClr val="E3E5E8"/>
                </a:solidFill>
                <a:latin typeface="Noto Sans KR"/>
                <a:ea typeface="Noto Sans KR"/>
                <a:cs typeface="Noto Sans KR"/>
              </a:rPr>
              <a:t>WP5 Human-Robot Safety</a:t>
            </a:r>
          </a:p>
        </p:txBody>
      </p:sp>
      <p:sp>
        <p:nvSpPr>
          <p:cNvPr id="12" name="TextBox 11"/>
          <p:cNvSpPr txBox="1"/>
          <p:nvPr/>
        </p:nvSpPr>
        <p:spPr>
          <a:xfrm>
            <a:off x="3413683" y="2531999"/>
            <a:ext cx="2453563" cy="237744"/>
          </a:xfrm>
          <a:prstGeom prst="rect">
            <a:avLst/>
          </a:prstGeom>
          <a:noFill/>
        </p:spPr>
        <p:txBody>
          <a:bodyPr wrap="square" lIns="0" rIns="0" tIns="0" bIns="0" anchor="t">
            <a:spAutoFit/>
          </a:bodyPr>
          <a:lstStyle/>
          <a:p>
            <a:pPr algn="l">
              <a:lnSpc>
                <a:spcPct val="100000"/>
              </a:lnSpc>
            </a:pPr>
            <a:r>
              <a:rPr sz="950" b="0">
                <a:solidFill>
                  <a:srgbClr val="E3E5E8"/>
                </a:solidFill>
                <a:latin typeface="Noto Sans KR"/>
                <a:ea typeface="Noto Sans KR"/>
                <a:cs typeface="Noto Sans KR"/>
              </a:rPr>
              <a:t>WP6 Integrated CLEAN 실증</a:t>
            </a:r>
          </a:p>
        </p:txBody>
      </p:sp>
      <p:sp>
        <p:nvSpPr>
          <p:cNvPr id="13" name="Rectangle 12"/>
          <p:cNvSpPr/>
          <p:nvPr/>
        </p:nvSpPr>
        <p:spPr>
          <a:xfrm>
            <a:off x="6233007" y="1599310"/>
            <a:ext cx="5272887" cy="1207008"/>
          </a:xfrm>
          <a:prstGeom prst="rect">
            <a:avLst/>
          </a:prstGeom>
          <a:solidFill>
            <a:srgbClr val="F4F5F6"/>
          </a:solidFill>
          <a:ln>
            <a:noFill/>
          </a:ln>
        </p:spPr>
        <p:txBody>
          <a:bodyPr rtlCol="0" anchor="ctr"/>
          <a:lstStyle/>
          <a:p>
            <a:pPr algn="ctr"/>
          </a:p>
        </p:txBody>
      </p:sp>
      <p:sp>
        <p:nvSpPr>
          <p:cNvPr id="14" name="TextBox 13"/>
          <p:cNvSpPr txBox="1"/>
          <p:nvPr/>
        </p:nvSpPr>
        <p:spPr>
          <a:xfrm>
            <a:off x="6415887" y="1690751"/>
            <a:ext cx="4907127"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민간 Seed  ·  Commercial Validation</a:t>
            </a:r>
          </a:p>
        </p:txBody>
      </p:sp>
      <p:sp>
        <p:nvSpPr>
          <p:cNvPr id="15" name="TextBox 14"/>
          <p:cNvSpPr txBox="1"/>
          <p:nvPr/>
        </p:nvSpPr>
        <p:spPr>
          <a:xfrm>
            <a:off x="6415887" y="2038222"/>
            <a:ext cx="2453563" cy="23774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Core Team (사업 · 현장 · 경영지원)</a:t>
            </a:r>
          </a:p>
        </p:txBody>
      </p:sp>
      <p:sp>
        <p:nvSpPr>
          <p:cNvPr id="16" name="TextBox 15"/>
          <p:cNvSpPr txBox="1"/>
          <p:nvPr/>
        </p:nvSpPr>
        <p:spPr>
          <a:xfrm>
            <a:off x="8960891" y="2038222"/>
            <a:ext cx="2453563" cy="23774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Prototype · Mock-up 운영</a:t>
            </a:r>
          </a:p>
        </p:txBody>
      </p:sp>
      <p:sp>
        <p:nvSpPr>
          <p:cNvPr id="17" name="TextBox 16"/>
          <p:cNvSpPr txBox="1"/>
          <p:nvPr/>
        </p:nvSpPr>
        <p:spPr>
          <a:xfrm>
            <a:off x="6415887" y="2285111"/>
            <a:ext cx="2453563" cy="23774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Customer Validation · WTP</a:t>
            </a:r>
          </a:p>
        </p:txBody>
      </p:sp>
      <p:sp>
        <p:nvSpPr>
          <p:cNvPr id="18" name="TextBox 17"/>
          <p:cNvSpPr txBox="1"/>
          <p:nvPr/>
        </p:nvSpPr>
        <p:spPr>
          <a:xfrm>
            <a:off x="8960891" y="2285111"/>
            <a:ext cx="2453563" cy="23774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Pilot 운영 · 유료 전환</a:t>
            </a:r>
          </a:p>
        </p:txBody>
      </p:sp>
      <p:sp>
        <p:nvSpPr>
          <p:cNvPr id="19" name="TextBox 18"/>
          <p:cNvSpPr txBox="1"/>
          <p:nvPr/>
        </p:nvSpPr>
        <p:spPr>
          <a:xfrm>
            <a:off x="6415887" y="2531999"/>
            <a:ext cx="2453563" cy="23774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Partner Development</a:t>
            </a:r>
          </a:p>
        </p:txBody>
      </p:sp>
      <p:sp>
        <p:nvSpPr>
          <p:cNvPr id="20" name="TextBox 19"/>
          <p:cNvSpPr txBox="1"/>
          <p:nvPr/>
        </p:nvSpPr>
        <p:spPr>
          <a:xfrm>
            <a:off x="8960891" y="2531999"/>
            <a:ext cx="2453563" cy="23774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BM Validation · 인증 본시험 · 기관부담금</a:t>
            </a:r>
          </a:p>
        </p:txBody>
      </p:sp>
      <p:sp>
        <p:nvSpPr>
          <p:cNvPr id="21" name="Rectangle 20"/>
          <p:cNvSpPr/>
          <p:nvPr/>
        </p:nvSpPr>
        <p:spPr>
          <a:xfrm>
            <a:off x="685800" y="3007487"/>
            <a:ext cx="2609011" cy="292608"/>
          </a:xfrm>
          <a:prstGeom prst="rect">
            <a:avLst/>
          </a:prstGeom>
          <a:solidFill>
            <a:srgbClr val="3A3F46"/>
          </a:solidFill>
          <a:ln>
            <a:noFill/>
          </a:ln>
        </p:spPr>
        <p:txBody>
          <a:bodyPr rtlCol="0" anchor="ctr"/>
          <a:lstStyle/>
          <a:p>
            <a:pPr algn="ctr"/>
          </a:p>
        </p:txBody>
      </p:sp>
      <p:sp>
        <p:nvSpPr>
          <p:cNvPr id="22" name="TextBox 21"/>
          <p:cNvSpPr txBox="1"/>
          <p:nvPr/>
        </p:nvSpPr>
        <p:spPr>
          <a:xfrm>
            <a:off x="685800" y="3007487"/>
            <a:ext cx="2609011" cy="292608"/>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0~6M</a:t>
            </a:r>
          </a:p>
        </p:txBody>
      </p:sp>
      <p:sp>
        <p:nvSpPr>
          <p:cNvPr id="23" name="Rectangle 22"/>
          <p:cNvSpPr/>
          <p:nvPr/>
        </p:nvSpPr>
        <p:spPr>
          <a:xfrm>
            <a:off x="685800" y="3300094"/>
            <a:ext cx="2609011" cy="1188720"/>
          </a:xfrm>
          <a:prstGeom prst="rect">
            <a:avLst/>
          </a:prstGeom>
          <a:solidFill>
            <a:srgbClr val="F4F5F6"/>
          </a:solidFill>
          <a:ln>
            <a:noFill/>
          </a:ln>
        </p:spPr>
        <p:txBody>
          <a:bodyPr rtlCol="0" anchor="ctr"/>
          <a:lstStyle/>
          <a:p>
            <a:pPr algn="ctr"/>
          </a:p>
        </p:txBody>
      </p:sp>
      <p:sp>
        <p:nvSpPr>
          <p:cNvPr id="24" name="TextBox 23"/>
          <p:cNvSpPr txBox="1"/>
          <p:nvPr/>
        </p:nvSpPr>
        <p:spPr>
          <a:xfrm>
            <a:off x="813816" y="3373247"/>
            <a:ext cx="2352979" cy="1060704"/>
          </a:xfrm>
          <a:prstGeom prst="rect">
            <a:avLst/>
          </a:prstGeom>
          <a:noFill/>
        </p:spPr>
        <p:txBody>
          <a:bodyPr wrap="square" lIns="0" rIns="0" tIns="0" bIns="0" anchor="t">
            <a:spAutoFit/>
          </a:bodyPr>
          <a:lstStyle/>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Kitchen Task 분석</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Robot Architecture</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Hand Prototype v1</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Object Grasp Test (30종)</a:t>
            </a:r>
          </a:p>
          <a:p>
            <a:pPr algn="l" marL="182880" indent="-182880">
              <a:lnSpc>
                <a:spcPct val="100000"/>
              </a:lnSpc>
              <a:buClr>
                <a:srgbClr val="8C9198"/>
              </a:buClr>
              <a:buFont typeface="Noto Sans KR"/>
              <a:buChar char="–"/>
            </a:pPr>
            <a:r>
              <a:rPr sz="950" b="0">
                <a:solidFill>
                  <a:srgbClr val="15171A"/>
                </a:solidFill>
                <a:latin typeface="Noto Sans KR"/>
                <a:ea typeface="Noto Sans KR"/>
                <a:cs typeface="Noto Sans KR"/>
              </a:rPr>
              <a:t>초기 Calibration</a:t>
            </a:r>
          </a:p>
        </p:txBody>
      </p:sp>
      <p:sp>
        <p:nvSpPr>
          <p:cNvPr id="25" name="Rectangle 24"/>
          <p:cNvSpPr/>
          <p:nvPr/>
        </p:nvSpPr>
        <p:spPr>
          <a:xfrm>
            <a:off x="3422827" y="3007487"/>
            <a:ext cx="2609011" cy="292608"/>
          </a:xfrm>
          <a:prstGeom prst="rect">
            <a:avLst/>
          </a:prstGeom>
          <a:solidFill>
            <a:srgbClr val="3A3F46"/>
          </a:solidFill>
          <a:ln>
            <a:noFill/>
          </a:ln>
        </p:spPr>
        <p:txBody>
          <a:bodyPr rtlCol="0" anchor="ctr"/>
          <a:lstStyle/>
          <a:p>
            <a:pPr algn="ctr"/>
          </a:p>
        </p:txBody>
      </p:sp>
      <p:sp>
        <p:nvSpPr>
          <p:cNvPr id="26" name="TextBox 25"/>
          <p:cNvSpPr txBox="1"/>
          <p:nvPr/>
        </p:nvSpPr>
        <p:spPr>
          <a:xfrm>
            <a:off x="3422827" y="3007487"/>
            <a:ext cx="2609011" cy="292608"/>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7~12M</a:t>
            </a:r>
          </a:p>
        </p:txBody>
      </p:sp>
      <p:sp>
        <p:nvSpPr>
          <p:cNvPr id="27" name="Rectangle 26"/>
          <p:cNvSpPr/>
          <p:nvPr/>
        </p:nvSpPr>
        <p:spPr>
          <a:xfrm>
            <a:off x="3422827" y="3300094"/>
            <a:ext cx="2609011" cy="1188720"/>
          </a:xfrm>
          <a:prstGeom prst="rect">
            <a:avLst/>
          </a:prstGeom>
          <a:solidFill>
            <a:srgbClr val="F4F5F6"/>
          </a:solidFill>
          <a:ln>
            <a:noFill/>
          </a:ln>
        </p:spPr>
        <p:txBody>
          <a:bodyPr rtlCol="0" anchor="ctr"/>
          <a:lstStyle/>
          <a:p>
            <a:pPr algn="ctr"/>
          </a:p>
        </p:txBody>
      </p:sp>
      <p:sp>
        <p:nvSpPr>
          <p:cNvPr id="28" name="TextBox 27"/>
          <p:cNvSpPr txBox="1"/>
          <p:nvPr/>
        </p:nvSpPr>
        <p:spPr>
          <a:xfrm>
            <a:off x="3550843" y="3373247"/>
            <a:ext cx="2352979" cy="1060704"/>
          </a:xfrm>
          <a:prstGeom prst="rect">
            <a:avLst/>
          </a:prstGeom>
          <a:noFill/>
        </p:spPr>
        <p:txBody>
          <a:bodyPr wrap="square" lIns="0" rIns="0" tIns="0" bIns="0" anchor="t">
            <a:spAutoFit/>
          </a:bodyPr>
          <a:lstStyle/>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CLEAN Skill</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Dishwasher Interaction</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Hand v2 · Safety</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1:1 Kitchen Mock-up</a:t>
            </a:r>
          </a:p>
          <a:p>
            <a:pPr algn="l" marL="182880" indent="-182880">
              <a:lnSpc>
                <a:spcPct val="100000"/>
              </a:lnSpc>
              <a:buClr>
                <a:srgbClr val="8C9198"/>
              </a:buClr>
              <a:buFont typeface="Noto Sans KR"/>
              <a:buChar char="–"/>
            </a:pPr>
            <a:r>
              <a:rPr sz="950" b="0">
                <a:solidFill>
                  <a:srgbClr val="15171A"/>
                </a:solidFill>
                <a:latin typeface="Noto Sans KR"/>
                <a:ea typeface="Noto Sans KR"/>
                <a:cs typeface="Noto Sans KR"/>
              </a:rPr>
              <a:t>목업 CLEAN 전 과정</a:t>
            </a:r>
          </a:p>
        </p:txBody>
      </p:sp>
      <p:sp>
        <p:nvSpPr>
          <p:cNvPr id="29" name="Rectangle 28"/>
          <p:cNvSpPr/>
          <p:nvPr/>
        </p:nvSpPr>
        <p:spPr>
          <a:xfrm>
            <a:off x="6159855" y="3007487"/>
            <a:ext cx="2609011" cy="292608"/>
          </a:xfrm>
          <a:prstGeom prst="rect">
            <a:avLst/>
          </a:prstGeom>
          <a:solidFill>
            <a:srgbClr val="3A3F46"/>
          </a:solidFill>
          <a:ln>
            <a:noFill/>
          </a:ln>
        </p:spPr>
        <p:txBody>
          <a:bodyPr rtlCol="0" anchor="ctr"/>
          <a:lstStyle/>
          <a:p>
            <a:pPr algn="ctr"/>
          </a:p>
        </p:txBody>
      </p:sp>
      <p:sp>
        <p:nvSpPr>
          <p:cNvPr id="30" name="TextBox 29"/>
          <p:cNvSpPr txBox="1"/>
          <p:nvPr/>
        </p:nvSpPr>
        <p:spPr>
          <a:xfrm>
            <a:off x="6159855" y="3007487"/>
            <a:ext cx="2609011" cy="292608"/>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13~18M</a:t>
            </a:r>
          </a:p>
        </p:txBody>
      </p:sp>
      <p:sp>
        <p:nvSpPr>
          <p:cNvPr id="31" name="Rectangle 30"/>
          <p:cNvSpPr/>
          <p:nvPr/>
        </p:nvSpPr>
        <p:spPr>
          <a:xfrm>
            <a:off x="6159855" y="3300094"/>
            <a:ext cx="2609011" cy="1188720"/>
          </a:xfrm>
          <a:prstGeom prst="rect">
            <a:avLst/>
          </a:prstGeom>
          <a:solidFill>
            <a:srgbClr val="F4F5F6"/>
          </a:solidFill>
          <a:ln>
            <a:noFill/>
          </a:ln>
        </p:spPr>
        <p:txBody>
          <a:bodyPr rtlCol="0" anchor="ctr"/>
          <a:lstStyle/>
          <a:p>
            <a:pPr algn="ctr"/>
          </a:p>
        </p:txBody>
      </p:sp>
      <p:sp>
        <p:nvSpPr>
          <p:cNvPr id="32" name="TextBox 31"/>
          <p:cNvSpPr txBox="1"/>
          <p:nvPr/>
        </p:nvSpPr>
        <p:spPr>
          <a:xfrm>
            <a:off x="6287871" y="3373247"/>
            <a:ext cx="2352979" cy="1060704"/>
          </a:xfrm>
          <a:prstGeom prst="rect">
            <a:avLst/>
          </a:prstGeom>
          <a:noFill/>
        </p:spPr>
        <p:txBody>
          <a:bodyPr wrap="square" lIns="0" rIns="0" tIns="0" bIns="0" anchor="t">
            <a:spAutoFit/>
          </a:bodyPr>
          <a:lstStyle/>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다양한 Kitchen 적용</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Task Transfer Test</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Failure Recovery</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Pilot 착수</a:t>
            </a:r>
          </a:p>
          <a:p>
            <a:pPr algn="l" marL="182880" indent="-182880">
              <a:lnSpc>
                <a:spcPct val="100000"/>
              </a:lnSpc>
              <a:buClr>
                <a:srgbClr val="8C9198"/>
              </a:buClr>
              <a:buFont typeface="Noto Sans KR"/>
              <a:buChar char="–"/>
            </a:pPr>
            <a:r>
              <a:rPr sz="950" b="0">
                <a:solidFill>
                  <a:srgbClr val="15171A"/>
                </a:solidFill>
                <a:latin typeface="Noto Sans KR"/>
                <a:ea typeface="Noto Sans KR"/>
                <a:cs typeface="Noto Sans KR"/>
              </a:rPr>
              <a:t>WTP Validation</a:t>
            </a:r>
          </a:p>
        </p:txBody>
      </p:sp>
      <p:sp>
        <p:nvSpPr>
          <p:cNvPr id="33" name="Rectangle 32"/>
          <p:cNvSpPr/>
          <p:nvPr/>
        </p:nvSpPr>
        <p:spPr>
          <a:xfrm>
            <a:off x="8896883" y="3007487"/>
            <a:ext cx="2609011" cy="292608"/>
          </a:xfrm>
          <a:prstGeom prst="rect">
            <a:avLst/>
          </a:prstGeom>
          <a:solidFill>
            <a:srgbClr val="15171A"/>
          </a:solidFill>
          <a:ln>
            <a:noFill/>
          </a:ln>
        </p:spPr>
        <p:txBody>
          <a:bodyPr rtlCol="0" anchor="ctr"/>
          <a:lstStyle/>
          <a:p>
            <a:pPr algn="ctr"/>
          </a:p>
        </p:txBody>
      </p:sp>
      <p:sp>
        <p:nvSpPr>
          <p:cNvPr id="34" name="TextBox 33"/>
          <p:cNvSpPr txBox="1"/>
          <p:nvPr/>
        </p:nvSpPr>
        <p:spPr>
          <a:xfrm>
            <a:off x="8896883" y="3007487"/>
            <a:ext cx="2609011" cy="292608"/>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19~24M</a:t>
            </a:r>
          </a:p>
        </p:txBody>
      </p:sp>
      <p:sp>
        <p:nvSpPr>
          <p:cNvPr id="35" name="Rectangle 34"/>
          <p:cNvSpPr/>
          <p:nvPr/>
        </p:nvSpPr>
        <p:spPr>
          <a:xfrm>
            <a:off x="8896883" y="3300094"/>
            <a:ext cx="2609011" cy="1188720"/>
          </a:xfrm>
          <a:prstGeom prst="rect">
            <a:avLst/>
          </a:prstGeom>
          <a:solidFill>
            <a:srgbClr val="F4F5F6"/>
          </a:solidFill>
          <a:ln>
            <a:noFill/>
          </a:ln>
        </p:spPr>
        <p:txBody>
          <a:bodyPr rtlCol="0" anchor="ctr"/>
          <a:lstStyle/>
          <a:p>
            <a:pPr algn="ctr"/>
          </a:p>
        </p:txBody>
      </p:sp>
      <p:sp>
        <p:nvSpPr>
          <p:cNvPr id="36" name="TextBox 35"/>
          <p:cNvSpPr txBox="1"/>
          <p:nvPr/>
        </p:nvSpPr>
        <p:spPr>
          <a:xfrm>
            <a:off x="9024899" y="3373247"/>
            <a:ext cx="2352979" cy="1060704"/>
          </a:xfrm>
          <a:prstGeom prst="rect">
            <a:avLst/>
          </a:prstGeom>
          <a:noFill/>
        </p:spPr>
        <p:txBody>
          <a:bodyPr wrap="square" lIns="0" rIns="0" tIns="0" bIns="0" anchor="t">
            <a:spAutoFit/>
          </a:bodyPr>
          <a:lstStyle/>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Reliability</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Installation Standard</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Real-home Pilot 3세대</a:t>
            </a:r>
          </a:p>
          <a:p>
            <a:pPr algn="l" marL="182880" indent="-182880">
              <a:lnSpc>
                <a:spcPct val="100000"/>
              </a:lnSpc>
              <a:spcAft>
                <a:spcPts val="100"/>
              </a:spcAft>
              <a:buClr>
                <a:srgbClr val="8C9198"/>
              </a:buClr>
              <a:buFont typeface="Noto Sans KR"/>
              <a:buChar char="–"/>
            </a:pPr>
            <a:r>
              <a:rPr sz="950" b="0">
                <a:solidFill>
                  <a:srgbClr val="15171A"/>
                </a:solidFill>
                <a:latin typeface="Noto Sans KR"/>
                <a:ea typeface="Noto Sans KR"/>
                <a:cs typeface="Noto Sans KR"/>
              </a:rPr>
              <a:t>BOM · 설치 · Service 원가</a:t>
            </a:r>
          </a:p>
          <a:p>
            <a:pPr algn="l" marL="182880" indent="-182880">
              <a:lnSpc>
                <a:spcPct val="100000"/>
              </a:lnSpc>
              <a:buClr>
                <a:srgbClr val="8C9198"/>
              </a:buClr>
              <a:buFont typeface="Noto Sans KR"/>
              <a:buChar char="–"/>
            </a:pPr>
            <a:r>
              <a:rPr sz="950" b="0">
                <a:solidFill>
                  <a:srgbClr val="15171A"/>
                </a:solidFill>
                <a:latin typeface="Noto Sans KR"/>
                <a:ea typeface="Noto Sans KR"/>
                <a:cs typeface="Noto Sans KR"/>
              </a:rPr>
              <a:t>Paid Pilot · Partner 검증</a:t>
            </a:r>
          </a:p>
        </p:txBody>
      </p:sp>
      <p:sp>
        <p:nvSpPr>
          <p:cNvPr id="37" name="Rectangle 36"/>
          <p:cNvSpPr/>
          <p:nvPr/>
        </p:nvSpPr>
        <p:spPr>
          <a:xfrm>
            <a:off x="685800" y="4635119"/>
            <a:ext cx="2609011" cy="713232"/>
          </a:xfrm>
          <a:prstGeom prst="rect">
            <a:avLst/>
          </a:prstGeom>
          <a:solidFill>
            <a:srgbClr val="FFFFFF"/>
          </a:solidFill>
          <a:ln w="9525">
            <a:solidFill>
              <a:srgbClr val="C9CDD2"/>
            </a:solidFill>
          </a:ln>
        </p:spPr>
        <p:txBody>
          <a:bodyPr rtlCol="0" anchor="ctr"/>
          <a:lstStyle/>
          <a:p>
            <a:pPr algn="ctr"/>
          </a:p>
        </p:txBody>
      </p:sp>
      <p:sp>
        <p:nvSpPr>
          <p:cNvPr id="38" name="TextBox 37"/>
          <p:cNvSpPr txBox="1"/>
          <p:nvPr/>
        </p:nvSpPr>
        <p:spPr>
          <a:xfrm>
            <a:off x="795528" y="4689983"/>
            <a:ext cx="548640" cy="237744"/>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M6</a:t>
            </a:r>
          </a:p>
        </p:txBody>
      </p:sp>
      <p:sp>
        <p:nvSpPr>
          <p:cNvPr id="39" name="TextBox 38"/>
          <p:cNvSpPr txBox="1"/>
          <p:nvPr/>
        </p:nvSpPr>
        <p:spPr>
          <a:xfrm>
            <a:off x="795528" y="4927727"/>
            <a:ext cx="2389555" cy="402336"/>
          </a:xfrm>
          <a:prstGeom prst="rect">
            <a:avLst/>
          </a:prstGeom>
          <a:noFill/>
        </p:spPr>
        <p:txBody>
          <a:bodyPr wrap="square" lIns="0" rIns="0" tIns="0" bIns="0" anchor="t">
            <a:spAutoFit/>
          </a:bodyPr>
          <a:lstStyle/>
          <a:p>
            <a:pPr algn="l">
              <a:lnSpc>
                <a:spcPct val="100000"/>
              </a:lnSpc>
            </a:pPr>
            <a:r>
              <a:rPr sz="880" b="0">
                <a:solidFill>
                  <a:srgbClr val="15171A"/>
                </a:solidFill>
                <a:latin typeface="Noto Sans KR"/>
                <a:ea typeface="Noto Sans KR"/>
                <a:cs typeface="Noto Sans KR"/>
              </a:rPr>
              <a:t>상용 Gripper 대비 Hand 비교 (30종) → Build / Buy 결정</a:t>
            </a:r>
          </a:p>
        </p:txBody>
      </p:sp>
      <p:sp>
        <p:nvSpPr>
          <p:cNvPr id="40" name="Rectangle 39"/>
          <p:cNvSpPr/>
          <p:nvPr/>
        </p:nvSpPr>
        <p:spPr>
          <a:xfrm>
            <a:off x="3422827" y="4635119"/>
            <a:ext cx="2609011" cy="713232"/>
          </a:xfrm>
          <a:prstGeom prst="rect">
            <a:avLst/>
          </a:prstGeom>
          <a:solidFill>
            <a:srgbClr val="FFFFFF"/>
          </a:solidFill>
          <a:ln w="9525">
            <a:solidFill>
              <a:srgbClr val="C9CDD2"/>
            </a:solidFill>
          </a:ln>
        </p:spPr>
        <p:txBody>
          <a:bodyPr rtlCol="0" anchor="ctr"/>
          <a:lstStyle/>
          <a:p>
            <a:pPr algn="ctr"/>
          </a:p>
        </p:txBody>
      </p:sp>
      <p:sp>
        <p:nvSpPr>
          <p:cNvPr id="41" name="TextBox 40"/>
          <p:cNvSpPr txBox="1"/>
          <p:nvPr/>
        </p:nvSpPr>
        <p:spPr>
          <a:xfrm>
            <a:off x="3532555" y="4689983"/>
            <a:ext cx="548640" cy="237744"/>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M12</a:t>
            </a:r>
          </a:p>
        </p:txBody>
      </p:sp>
      <p:sp>
        <p:nvSpPr>
          <p:cNvPr id="42" name="TextBox 41"/>
          <p:cNvSpPr txBox="1"/>
          <p:nvPr/>
        </p:nvSpPr>
        <p:spPr>
          <a:xfrm>
            <a:off x="3532555" y="4927727"/>
            <a:ext cx="2389555" cy="402336"/>
          </a:xfrm>
          <a:prstGeom prst="rect">
            <a:avLst/>
          </a:prstGeom>
          <a:noFill/>
        </p:spPr>
        <p:txBody>
          <a:bodyPr wrap="square" lIns="0" rIns="0" tIns="0" bIns="0" anchor="t">
            <a:spAutoFit/>
          </a:bodyPr>
          <a:lstStyle/>
          <a:p>
            <a:pPr algn="l">
              <a:lnSpc>
                <a:spcPct val="100000"/>
              </a:lnSpc>
            </a:pPr>
            <a:r>
              <a:rPr sz="880" b="0">
                <a:solidFill>
                  <a:srgbClr val="15171A"/>
                </a:solidFill>
                <a:latin typeface="Noto Sans KR"/>
                <a:ea typeface="Noto Sans KR"/>
                <a:cs typeface="Noto Sans KR"/>
              </a:rPr>
              <a:t>목업 CLEAN 전 과정 · 식기 성공률 ≥ 80%</a:t>
            </a:r>
          </a:p>
        </p:txBody>
      </p:sp>
      <p:sp>
        <p:nvSpPr>
          <p:cNvPr id="43" name="Rectangle 42"/>
          <p:cNvSpPr/>
          <p:nvPr/>
        </p:nvSpPr>
        <p:spPr>
          <a:xfrm>
            <a:off x="6159855" y="4635119"/>
            <a:ext cx="2609011" cy="713232"/>
          </a:xfrm>
          <a:prstGeom prst="rect">
            <a:avLst/>
          </a:prstGeom>
          <a:solidFill>
            <a:srgbClr val="FFFFFF"/>
          </a:solidFill>
          <a:ln w="9525">
            <a:solidFill>
              <a:srgbClr val="C9CDD2"/>
            </a:solidFill>
          </a:ln>
        </p:spPr>
        <p:txBody>
          <a:bodyPr rtlCol="0" anchor="ctr"/>
          <a:lstStyle/>
          <a:p>
            <a:pPr algn="ctr"/>
          </a:p>
        </p:txBody>
      </p:sp>
      <p:sp>
        <p:nvSpPr>
          <p:cNvPr id="44" name="TextBox 43"/>
          <p:cNvSpPr txBox="1"/>
          <p:nvPr/>
        </p:nvSpPr>
        <p:spPr>
          <a:xfrm>
            <a:off x="6269583" y="4689983"/>
            <a:ext cx="548640" cy="237744"/>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M18</a:t>
            </a:r>
          </a:p>
        </p:txBody>
      </p:sp>
      <p:sp>
        <p:nvSpPr>
          <p:cNvPr id="45" name="TextBox 44"/>
          <p:cNvSpPr txBox="1"/>
          <p:nvPr/>
        </p:nvSpPr>
        <p:spPr>
          <a:xfrm>
            <a:off x="6269583" y="4927727"/>
            <a:ext cx="2389555" cy="402336"/>
          </a:xfrm>
          <a:prstGeom prst="rect">
            <a:avLst/>
          </a:prstGeom>
          <a:noFill/>
        </p:spPr>
        <p:txBody>
          <a:bodyPr wrap="square" lIns="0" rIns="0" tIns="0" bIns="0" anchor="t">
            <a:spAutoFit/>
          </a:bodyPr>
          <a:lstStyle/>
          <a:p>
            <a:pPr algn="l">
              <a:lnSpc>
                <a:spcPct val="100000"/>
              </a:lnSpc>
            </a:pPr>
            <a:r>
              <a:rPr sz="880" b="0">
                <a:solidFill>
                  <a:srgbClr val="15171A"/>
                </a:solidFill>
                <a:latin typeface="Noto Sans KR"/>
                <a:ea typeface="Noto Sans KR"/>
                <a:cs typeface="Noto Sans KR"/>
              </a:rPr>
              <a:t>주방 3종 Transfer (하락 ≤ 10%p) · WTP n≥300</a:t>
            </a:r>
          </a:p>
        </p:txBody>
      </p:sp>
      <p:sp>
        <p:nvSpPr>
          <p:cNvPr id="46" name="Rectangle 45"/>
          <p:cNvSpPr/>
          <p:nvPr/>
        </p:nvSpPr>
        <p:spPr>
          <a:xfrm>
            <a:off x="8896883" y="4635119"/>
            <a:ext cx="2609011" cy="713232"/>
          </a:xfrm>
          <a:prstGeom prst="rect">
            <a:avLst/>
          </a:prstGeom>
          <a:solidFill>
            <a:srgbClr val="FFFFFF"/>
          </a:solidFill>
          <a:ln w="15875">
            <a:solidFill>
              <a:srgbClr val="E2571B"/>
            </a:solidFill>
          </a:ln>
        </p:spPr>
        <p:txBody>
          <a:bodyPr rtlCol="0" anchor="ctr"/>
          <a:lstStyle/>
          <a:p>
            <a:pPr algn="ctr"/>
          </a:p>
        </p:txBody>
      </p:sp>
      <p:sp>
        <p:nvSpPr>
          <p:cNvPr id="47" name="TextBox 46"/>
          <p:cNvSpPr txBox="1"/>
          <p:nvPr/>
        </p:nvSpPr>
        <p:spPr>
          <a:xfrm>
            <a:off x="9006611" y="4689983"/>
            <a:ext cx="548640" cy="237744"/>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M24</a:t>
            </a:r>
          </a:p>
        </p:txBody>
      </p:sp>
      <p:sp>
        <p:nvSpPr>
          <p:cNvPr id="48" name="TextBox 47"/>
          <p:cNvSpPr txBox="1"/>
          <p:nvPr/>
        </p:nvSpPr>
        <p:spPr>
          <a:xfrm>
            <a:off x="9006611" y="4927727"/>
            <a:ext cx="2389555" cy="402336"/>
          </a:xfrm>
          <a:prstGeom prst="rect">
            <a:avLst/>
          </a:prstGeom>
          <a:noFill/>
        </p:spPr>
        <p:txBody>
          <a:bodyPr wrap="square" lIns="0" rIns="0" tIns="0" bIns="0" anchor="t">
            <a:spAutoFit/>
          </a:bodyPr>
          <a:lstStyle/>
          <a:p>
            <a:pPr algn="l">
              <a:lnSpc>
                <a:spcPct val="100000"/>
              </a:lnSpc>
            </a:pPr>
            <a:r>
              <a:rPr sz="880" b="0">
                <a:solidFill>
                  <a:srgbClr val="15171A"/>
                </a:solidFill>
                <a:latin typeface="Noto Sans KR"/>
                <a:ea typeface="Noto Sans KR"/>
                <a:cs typeface="Noto Sans KR"/>
              </a:rPr>
              <a:t>가정 실증 3세대 ≥ 90% · 유료 전환 · 원가 실측</a:t>
            </a:r>
          </a:p>
        </p:txBody>
      </p:sp>
      <p:sp>
        <p:nvSpPr>
          <p:cNvPr id="49" name="Rectangle 48"/>
          <p:cNvSpPr/>
          <p:nvPr/>
        </p:nvSpPr>
        <p:spPr>
          <a:xfrm>
            <a:off x="10820095" y="4415663"/>
            <a:ext cx="427880" cy="155448"/>
          </a:xfrm>
          <a:prstGeom prst="rect">
            <a:avLst/>
          </a:prstGeom>
          <a:noFill/>
          <a:ln w="6350">
            <a:solidFill>
              <a:srgbClr val="C9CDD2"/>
            </a:solidFill>
          </a:ln>
        </p:spPr>
        <p:txBody>
          <a:bodyPr rtlCol="0" anchor="ctr"/>
          <a:lstStyle/>
          <a:p>
            <a:pPr algn="ctr"/>
          </a:p>
        </p:txBody>
      </p:sp>
      <p:sp>
        <p:nvSpPr>
          <p:cNvPr id="50" name="TextBox 49"/>
          <p:cNvSpPr txBox="1"/>
          <p:nvPr/>
        </p:nvSpPr>
        <p:spPr>
          <a:xfrm>
            <a:off x="10820095" y="4415663"/>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51" name="TextBox 50"/>
          <p:cNvSpPr txBox="1"/>
          <p:nvPr/>
        </p:nvSpPr>
        <p:spPr>
          <a:xfrm>
            <a:off x="685800" y="6126480"/>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TIPS 2026 일반트랙: 정부 R&amp;D 최대 8억원 · 24개월 · 정부 75% 이내 / 기관부담 25% 이상 (FACT, 선정 미확정) [S33 · S52]. KPI 근거 · 측정 방법은 부록 A1~A3.</a:t>
            </a:r>
          </a:p>
        </p:txBody>
      </p:sp>
      <p:sp>
        <p:nvSpPr>
          <p:cNvPr id="52" name="TextBox 5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53" name="TextBox 5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16  Founder / Team</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투자 판단의 첫 질문은 팀입니다. Founder 칸은 아직 비어 있습니다</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확인되지 않은 대표자 이력 · 기술 성과는 기재하지 않음</a:t>
            </a:r>
          </a:p>
        </p:txBody>
      </p:sp>
      <p:graphicFrame>
        <p:nvGraphicFramePr>
          <p:cNvPr id="5" name="Table 4"/>
          <p:cNvGraphicFramePr>
            <a:graphicFrameLocks noGrp="1"/>
          </p:cNvGraphicFramePr>
          <p:nvPr/>
        </p:nvGraphicFramePr>
        <p:xfrm>
          <a:off x="685800" y="1599310"/>
          <a:ext cx="5760720" cy="2742741"/>
        </p:xfrm>
        <a:graphic>
          <a:graphicData uri="http://schemas.openxmlformats.org/drawingml/2006/table">
            <a:tbl>
              <a:tblPr firstRow="0" bandRow="0">
                <a:tableStyleId>{2D5ABB26-0587-4C30-8999-92F81FD0307C}</a:tableStyleId>
              </a:tblPr>
              <a:tblGrid>
                <a:gridCol w="2651760"/>
                <a:gridCol w="1554480"/>
                <a:gridCol w="1554480"/>
              </a:tblGrid>
              <a:tr h="321005">
                <a:tc>
                  <a:txBody>
                    <a:bodyPr wrap="square"/>
                    <a:lstStyle/>
                    <a:p>
                      <a:pPr algn="l">
                        <a:lnSpc>
                          <a:spcPct val="100000"/>
                        </a:lnSpc>
                      </a:pPr>
                      <a:r>
                        <a:rPr sz="950" b="1">
                          <a:solidFill>
                            <a:srgbClr val="15171A"/>
                          </a:solidFill>
                          <a:latin typeface="Noto Sans KR"/>
                          <a:ea typeface="Noto Sans KR"/>
                          <a:cs typeface="Noto Sans KR"/>
                        </a:rPr>
                        <a:t>확인 항목</a:t>
                      </a:r>
                    </a:p>
                  </a:txBody>
                  <a:tcPr marL="73152" marR="73152" marT="68580" marB="6858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Founder 1 (대표)</a:t>
                      </a:r>
                    </a:p>
                  </a:txBody>
                  <a:tcPr marL="73152" marR="73152" marT="68580" marB="6858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Founder 2</a:t>
                      </a:r>
                    </a:p>
                  </a:txBody>
                  <a:tcPr marL="73152" marR="73152" marT="68580" marB="68580" anchor="t">
                    <a:lnL w="0">
                      <a:noFill/>
                    </a:lnL>
                    <a:lnR w="0">
                      <a:noFill/>
                    </a:lnR>
                    <a:lnT w="12700">
                      <a:solidFill>
                        <a:srgbClr val="15171A"/>
                      </a:solidFill>
                    </a:lnT>
                    <a:lnB w="9525">
                      <a:solidFill>
                        <a:srgbClr val="15171A"/>
                      </a:solidFill>
                    </a:lnB>
                    <a:noFill/>
                  </a:tcPr>
                </a:tc>
              </a:tr>
              <a:tr h="321005">
                <a:tc>
                  <a:txBody>
                    <a:bodyPr wrap="square"/>
                    <a:lstStyle/>
                    <a:p>
                      <a:pPr algn="l">
                        <a:lnSpc>
                          <a:spcPct val="100000"/>
                        </a:lnSpc>
                      </a:pPr>
                      <a:r>
                        <a:rPr sz="950" b="0">
                          <a:solidFill>
                            <a:srgbClr val="15171A"/>
                          </a:solidFill>
                          <a:latin typeface="Noto Sans KR"/>
                          <a:ea typeface="Noto Sans KR"/>
                          <a:cs typeface="Noto Sans KR"/>
                        </a:rPr>
                        <a:t>Why This Problem</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r>
              <a:tr h="321005">
                <a:tc>
                  <a:txBody>
                    <a:bodyPr wrap="square"/>
                    <a:lstStyle/>
                    <a:p>
                      <a:pPr algn="l">
                        <a:lnSpc>
                          <a:spcPct val="100000"/>
                        </a:lnSpc>
                      </a:pPr>
                      <a:r>
                        <a:rPr sz="950" b="0">
                          <a:solidFill>
                            <a:srgbClr val="15171A"/>
                          </a:solidFill>
                          <a:latin typeface="Noto Sans KR"/>
                          <a:ea typeface="Noto Sans KR"/>
                          <a:cs typeface="Noto Sans KR"/>
                        </a:rPr>
                        <a:t>Relevant Engineering Experience</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r>
              <a:tr h="321005">
                <a:tc>
                  <a:txBody>
                    <a:bodyPr wrap="square"/>
                    <a:lstStyle/>
                    <a:p>
                      <a:pPr algn="l">
                        <a:lnSpc>
                          <a:spcPct val="100000"/>
                        </a:lnSpc>
                      </a:pPr>
                      <a:r>
                        <a:rPr sz="950" b="0">
                          <a:solidFill>
                            <a:srgbClr val="15171A"/>
                          </a:solidFill>
                          <a:latin typeface="Noto Sans KR"/>
                          <a:ea typeface="Noto Sans KR"/>
                          <a:cs typeface="Noto Sans KR"/>
                        </a:rPr>
                        <a:t>Hardware / Product Development</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r>
              <a:tr h="321005">
                <a:tc>
                  <a:txBody>
                    <a:bodyPr wrap="square"/>
                    <a:lstStyle/>
                    <a:p>
                      <a:pPr algn="l">
                        <a:lnSpc>
                          <a:spcPct val="100000"/>
                        </a:lnSpc>
                      </a:pPr>
                      <a:r>
                        <a:rPr sz="950" b="0">
                          <a:solidFill>
                            <a:srgbClr val="15171A"/>
                          </a:solidFill>
                          <a:latin typeface="Noto Sans KR"/>
                          <a:ea typeface="Noto Sans KR"/>
                          <a:cs typeface="Noto Sans KR"/>
                        </a:rPr>
                        <a:t>Robot · Mechanical · AI Capability</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r>
              <a:tr h="495706">
                <a:tc>
                  <a:txBody>
                    <a:bodyPr wrap="square"/>
                    <a:lstStyle/>
                    <a:p>
                      <a:pPr algn="l">
                        <a:lnSpc>
                          <a:spcPct val="100000"/>
                        </a:lnSpc>
                      </a:pPr>
                      <a:r>
                        <a:rPr sz="950" b="0">
                          <a:solidFill>
                            <a:srgbClr val="15171A"/>
                          </a:solidFill>
                          <a:latin typeface="Noto Sans KR"/>
                          <a:ea typeface="Noto Sans KR"/>
                          <a:cs typeface="Noto Sans KR"/>
                        </a:rPr>
                        <a:t>Construction · Kitchen · Manufacturing Knowledge</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r>
              <a:tr h="321005">
                <a:tc>
                  <a:txBody>
                    <a:bodyPr wrap="square"/>
                    <a:lstStyle/>
                    <a:p>
                      <a:pPr algn="l">
                        <a:lnSpc>
                          <a:spcPct val="100000"/>
                        </a:lnSpc>
                      </a:pPr>
                      <a:r>
                        <a:rPr sz="950" b="0">
                          <a:solidFill>
                            <a:srgbClr val="15171A"/>
                          </a:solidFill>
                          <a:latin typeface="Noto Sans KR"/>
                          <a:ea typeface="Noto Sans KR"/>
                          <a:cs typeface="Noto Sans KR"/>
                        </a:rPr>
                        <a:t>Customer / Partner Network</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r>
              <a:tr h="321005">
                <a:tc>
                  <a:txBody>
                    <a:bodyPr wrap="square"/>
                    <a:lstStyle/>
                    <a:p>
                      <a:pPr algn="l">
                        <a:lnSpc>
                          <a:spcPct val="100000"/>
                        </a:lnSpc>
                      </a:pPr>
                      <a:r>
                        <a:rPr sz="950" b="0">
                          <a:solidFill>
                            <a:srgbClr val="15171A"/>
                          </a:solidFill>
                          <a:latin typeface="Noto Sans KR"/>
                          <a:ea typeface="Noto Sans KR"/>
                          <a:cs typeface="Noto Sans KR"/>
                        </a:rPr>
                        <a:t>Full-time Commitment · 지분</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c>
                  <a:txBody>
                    <a:bodyPr wrap="square"/>
                    <a:lstStyle/>
                    <a:p>
                      <a:pPr algn="l">
                        <a:lnSpc>
                          <a:spcPct val="100000"/>
                        </a:lnSpc>
                      </a:pPr>
                      <a:r>
                        <a:rPr sz="950" b="1">
                          <a:solidFill>
                            <a:srgbClr val="E2571B"/>
                          </a:solidFill>
                          <a:latin typeface="Noto Sans KR"/>
                          <a:ea typeface="Noto Sans KR"/>
                          <a:cs typeface="Noto Sans KR"/>
                        </a:rPr>
                        <a:t>[Founder 정보 필요]</a:t>
                      </a:r>
                    </a:p>
                  </a:txBody>
                  <a:tcPr marL="73152" marR="73152" marT="68580" marB="68580"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766559" y="1599310"/>
          <a:ext cx="4739335" cy="3441945"/>
        </p:xfrm>
        <a:graphic>
          <a:graphicData uri="http://schemas.openxmlformats.org/drawingml/2006/table">
            <a:tbl>
              <a:tblPr firstRow="0" bandRow="0">
                <a:tableStyleId>{2D5ABB26-0587-4C30-8999-92F81FD0307C}</a:tableStyleId>
              </a:tblPr>
              <a:tblGrid>
                <a:gridCol w="3413455"/>
                <a:gridCol w="548640"/>
                <a:gridCol w="777240"/>
              </a:tblGrid>
              <a:tr h="229463">
                <a:tc>
                  <a:txBody>
                    <a:bodyPr wrap="square"/>
                    <a:lstStyle/>
                    <a:p>
                      <a:pPr algn="l">
                        <a:lnSpc>
                          <a:spcPct val="100000"/>
                        </a:lnSpc>
                      </a:pPr>
                      <a:r>
                        <a:rPr sz="850" b="1">
                          <a:solidFill>
                            <a:srgbClr val="15171A"/>
                          </a:solidFill>
                          <a:latin typeface="Noto Sans KR"/>
                          <a:ea typeface="Noto Sans KR"/>
                          <a:cs typeface="Noto Sans KR"/>
                        </a:rPr>
                        <a:t>역할 (채용 계획, ASSUMPTION)</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50" b="1">
                          <a:solidFill>
                            <a:srgbClr val="15171A"/>
                          </a:solidFill>
                          <a:latin typeface="Noto Sans KR"/>
                          <a:ea typeface="Noto Sans KR"/>
                          <a:cs typeface="Noto Sans KR"/>
                        </a:rPr>
                        <a:t>시작</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구분</a:t>
                      </a:r>
                    </a:p>
                  </a:txBody>
                  <a:tcPr marL="73152" marR="73152" marT="32004" marB="32004" anchor="t">
                    <a:lnL w="0">
                      <a:noFill/>
                    </a:lnL>
                    <a:lnR w="0">
                      <a:noFill/>
                    </a:lnR>
                    <a:lnT w="12700">
                      <a:solidFill>
                        <a:srgbClr val="15171A"/>
                      </a:solidFill>
                    </a:lnT>
                    <a:lnB w="9525">
                      <a:solidFill>
                        <a:srgbClr val="15171A"/>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대표 · 사업 총괄</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Founder</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공동창업자 · 기술 총괄</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Founder</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Manipulation · 제어 리드</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Perception · ML 리드</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M2</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Hand · 기구 리드 (메카트로닉스)</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M2</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임베디드 · 전기 · 안전</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M4</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Robot SW · 통합 (Motion · Skill)</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M6</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제품 · 사업개발 (고객 검증 · 파트너)</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M7</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사업</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Hand 센싱 (Grip Force · Slip)</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경영지원 (재무 · 과제 관리, 0.5 FTE)</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경영지원</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시험 · 신뢰성 (Test · QA)</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M13</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설치 · Commissioning 엔지니어</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M13</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현장</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Skill · Data 엔지니어</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M16</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현장 서비스 Technician</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M19</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현장</a:t>
                      </a:r>
                    </a:p>
                  </a:txBody>
                  <a:tcPr marL="73152" marR="73152" marT="32004" marB="32004" anchor="t">
                    <a:lnL w="0">
                      <a:noFill/>
                    </a:lnL>
                    <a:lnR w="0">
                      <a:noFill/>
                    </a:lnR>
                    <a:lnT w="0">
                      <a:noFill/>
                    </a:lnT>
                    <a:lnB w="9525">
                      <a:solidFill>
                        <a:srgbClr val="E2E4E7"/>
                      </a:solidFill>
                    </a:lnB>
                    <a:noFill/>
                  </a:tcPr>
                </a:tc>
              </a:tr>
            </a:tbl>
          </a:graphicData>
        </a:graphic>
      </p:graphicFrame>
      <p:sp>
        <p:nvSpPr>
          <p:cNvPr id="7" name="Rectangle 6"/>
          <p:cNvSpPr/>
          <p:nvPr/>
        </p:nvSpPr>
        <p:spPr>
          <a:xfrm>
            <a:off x="685800" y="5541264"/>
            <a:ext cx="10820095" cy="475488"/>
          </a:xfrm>
          <a:prstGeom prst="rect">
            <a:avLst/>
          </a:prstGeom>
          <a:solidFill>
            <a:srgbClr val="F4F5F6"/>
          </a:solidFill>
          <a:ln>
            <a:noFill/>
          </a:ln>
        </p:spPr>
        <p:txBody>
          <a:bodyPr rtlCol="0" anchor="ctr"/>
          <a:lstStyle/>
          <a:p>
            <a:pPr algn="ctr"/>
          </a:p>
        </p:txBody>
      </p:sp>
      <p:sp>
        <p:nvSpPr>
          <p:cNvPr id="8" name="TextBox 7"/>
          <p:cNvSpPr txBox="1"/>
          <p:nvPr/>
        </p:nvSpPr>
        <p:spPr>
          <a:xfrm>
            <a:off x="868680" y="5541264"/>
            <a:ext cx="10454335" cy="475488"/>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M24 약 14명 = Founder 2 · R&amp;D 8 · 사업 1 · 현장 2 · 경영지원 0.5  |  평균 FTE 7.0 (Y1) → 12.8 (Y2)</a:t>
            </a:r>
          </a:p>
        </p:txBody>
      </p:sp>
      <p:sp>
        <p:nvSpPr>
          <p:cNvPr id="9" name="TextBox 8"/>
          <p:cNvSpPr txBox="1"/>
          <p:nvPr/>
        </p:nvSpPr>
        <p:spPr>
          <a:xfrm>
            <a:off x="685800" y="6126480"/>
            <a:ext cx="10820095" cy="183794"/>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TIPS 요건 (2026 공고, 원문 확인 필요): 대표 포함 창업팀 2인 이상 지분 60% 이상 · 운영사 30% 이하 · 정부지원 5억원당 청년 1명 신규 채용 [S33]. 필수 자료: 신원 · 역할 · 지분 · 고용형태 · 역량 증빙 · 특허 권리귀속.</a:t>
            </a:r>
          </a:p>
        </p:txBody>
      </p:sp>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96012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17  Investment Ask / 24M Value Creation</a:t>
            </a:r>
          </a:p>
        </p:txBody>
      </p:sp>
      <p:sp>
        <p:nvSpPr>
          <p:cNvPr id="3" name="TextBox 2"/>
          <p:cNvSpPr txBox="1"/>
          <p:nvPr/>
        </p:nvSpPr>
        <p:spPr>
          <a:xfrm>
            <a:off x="685800" y="676656"/>
            <a:ext cx="10820095" cy="473328"/>
          </a:xfrm>
          <a:prstGeom prst="rect">
            <a:avLst/>
          </a:prstGeom>
          <a:noFill/>
        </p:spPr>
        <p:txBody>
          <a:bodyPr wrap="square" lIns="0" rIns="0" tIns="0" bIns="0" anchor="t">
            <a:spAutoFit/>
          </a:bodyPr>
          <a:lstStyle/>
          <a:p>
            <a:pPr algn="l">
              <a:lnSpc>
                <a:spcPct val="95000"/>
              </a:lnSpc>
            </a:pPr>
            <a:r>
              <a:rPr sz="2500" b="1">
                <a:solidFill>
                  <a:srgbClr val="15171A"/>
                </a:solidFill>
                <a:latin typeface="Noto Sans KR"/>
                <a:ea typeface="Noto Sans KR"/>
                <a:cs typeface="Noto Sans KR"/>
              </a:rPr>
              <a:t>24개월 23.4억원 계획: TIPS 8억원 + Seed 14~19억원</a:t>
            </a:r>
          </a:p>
        </p:txBody>
      </p:sp>
      <p:sp>
        <p:nvSpPr>
          <p:cNvPr id="4" name="TextBox 3"/>
          <p:cNvSpPr txBox="1"/>
          <p:nvPr/>
        </p:nvSpPr>
        <p:spPr>
          <a:xfrm>
            <a:off x="685800" y="120484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Bottom-up 사용처 기준. Seed 범위 = Lean (팀 축소) ~ Base (기술 + 사업 검증 + 3개월 Buffer)</a:t>
            </a:r>
          </a:p>
        </p:txBody>
      </p:sp>
      <p:graphicFrame>
        <p:nvGraphicFramePr>
          <p:cNvPr id="5" name="Table 4"/>
          <p:cNvGraphicFramePr>
            <a:graphicFrameLocks noGrp="1"/>
          </p:cNvGraphicFramePr>
          <p:nvPr/>
        </p:nvGraphicFramePr>
        <p:xfrm>
          <a:off x="685800" y="1599310"/>
          <a:ext cx="4480560" cy="2752850"/>
        </p:xfrm>
        <a:graphic>
          <a:graphicData uri="http://schemas.openxmlformats.org/drawingml/2006/table">
            <a:tbl>
              <a:tblPr firstRow="0" bandRow="0">
                <a:tableStyleId>{2D5ABB26-0587-4C30-8999-92F81FD0307C}</a:tableStyleId>
              </a:tblPr>
              <a:tblGrid>
                <a:gridCol w="2743200"/>
                <a:gridCol w="868680"/>
                <a:gridCol w="868680"/>
              </a:tblGrid>
              <a:tr h="275285">
                <a:tc>
                  <a:txBody>
                    <a:bodyPr wrap="square"/>
                    <a:lstStyle/>
                    <a:p>
                      <a:pPr algn="l">
                        <a:lnSpc>
                          <a:spcPct val="100000"/>
                        </a:lnSpc>
                      </a:pPr>
                      <a:r>
                        <a:rPr sz="950" b="1">
                          <a:solidFill>
                            <a:srgbClr val="15171A"/>
                          </a:solidFill>
                          <a:latin typeface="Noto Sans KR"/>
                          <a:ea typeface="Noto Sans KR"/>
                          <a:cs typeface="Noto Sans KR"/>
                        </a:rPr>
                        <a:t>사용처 (억원)</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24개월</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TIPS 편성</a:t>
                      </a:r>
                    </a:p>
                  </a:txBody>
                  <a:tcPr marL="73152" marR="73152" marT="45720" marB="45720" anchor="t">
                    <a:lnL w="0">
                      <a:noFill/>
                    </a:lnL>
                    <a:lnR w="0">
                      <a:noFill/>
                    </a:lnR>
                    <a:lnT w="12700">
                      <a:solidFill>
                        <a:srgbClr val="15171A"/>
                      </a:solidFill>
                    </a:lnT>
                    <a:lnB w="9525">
                      <a:solidFill>
                        <a:srgbClr val="15171A"/>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인건비 · 연구수당</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15.55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6.90</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Robot HW · Hand · Mock-up</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2.39</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2.01</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Software · Data</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0.55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0.44</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Pilot · 실증 순비용</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0.73</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Customer · Partner</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0.60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Certification · IP</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0.71</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Space · Operating</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1.86</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0.60</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예비비 (10%)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0.68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1">
                          <a:solidFill>
                            <a:srgbClr val="15171A"/>
                          </a:solidFill>
                          <a:latin typeface="Noto Sans KR"/>
                          <a:ea typeface="Noto Sans KR"/>
                          <a:cs typeface="Noto Sans KR"/>
                        </a:rPr>
                        <a:t>24개월 지출 합계</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23.4</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10.67</a:t>
                      </a:r>
                    </a:p>
                  </a:txBody>
                  <a:tcPr marL="73152" marR="73152" marT="45720" marB="45720"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85800" y="4480179"/>
          <a:ext cx="4480560" cy="1376425"/>
        </p:xfrm>
        <a:graphic>
          <a:graphicData uri="http://schemas.openxmlformats.org/drawingml/2006/table">
            <a:tbl>
              <a:tblPr firstRow="0" bandRow="0">
                <a:tableStyleId>{2D5ABB26-0587-4C30-8999-92F81FD0307C}</a:tableStyleId>
              </a:tblPr>
              <a:tblGrid>
                <a:gridCol w="2743200"/>
                <a:gridCol w="868680"/>
                <a:gridCol w="868680"/>
              </a:tblGrid>
              <a:tr h="275285">
                <a:tc>
                  <a:txBody>
                    <a:bodyPr wrap="square"/>
                    <a:lstStyle/>
                    <a:p>
                      <a:pPr algn="l">
                        <a:lnSpc>
                          <a:spcPct val="100000"/>
                        </a:lnSpc>
                      </a:pPr>
                      <a:r>
                        <a:rPr sz="950" b="0">
                          <a:solidFill>
                            <a:srgbClr val="15171A"/>
                          </a:solidFill>
                          <a:latin typeface="Noto Sans KR"/>
                          <a:ea typeface="Noto Sans KR"/>
                          <a:cs typeface="Noto Sans KR"/>
                        </a:rPr>
                        <a:t>TIPS 정부지원 (선정 시)</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FACT</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기관부담 (현금 · 현물)</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2.67</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Seed 부담</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1">
                          <a:solidFill>
                            <a:srgbClr val="15171A"/>
                          </a:solidFill>
                          <a:latin typeface="Noto Sans KR"/>
                          <a:ea typeface="Noto Sans KR"/>
                          <a:cs typeface="Noto Sans KR"/>
                        </a:rPr>
                        <a:t>Seed Base = 지출 − TIPS + Buffer 3개월</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19.0</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DERIVED</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Seed Lean (팀 축소 · 범위 축소)</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13.8</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DERIVED</a:t>
                      </a:r>
                    </a:p>
                  </a:txBody>
                  <a:tcPr marL="73152" marR="73152" marT="45720" marB="45720" anchor="t">
                    <a:lnL w="0">
                      <a:noFill/>
                    </a:lnL>
                    <a:lnR w="0">
                      <a:noFill/>
                    </a:lnR>
                    <a:lnT w="0">
                      <a:noFill/>
                    </a:lnT>
                    <a:lnB w="9525">
                      <a:solidFill>
                        <a:srgbClr val="E2E4E7"/>
                      </a:solidFill>
                    </a:lnB>
                    <a:noFill/>
                  </a:tcPr>
                </a:tc>
              </a:tr>
              <a:tr h="275285">
                <a:tc>
                  <a:txBody>
                    <a:bodyPr wrap="square"/>
                    <a:lstStyle/>
                    <a:p>
                      <a:pPr algn="l">
                        <a:lnSpc>
                          <a:spcPct val="100000"/>
                        </a:lnSpc>
                      </a:pPr>
                      <a:r>
                        <a:rPr sz="950" b="0">
                          <a:solidFill>
                            <a:srgbClr val="15171A"/>
                          </a:solidFill>
                          <a:latin typeface="Noto Sans KR"/>
                          <a:ea typeface="Noto Sans KR"/>
                          <a:cs typeface="Noto Sans KR"/>
                        </a:rPr>
                        <a:t>TIPS 미선정 시 (Lean 범위)</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21.5</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DERIVED</a:t>
                      </a:r>
                    </a:p>
                  </a:txBody>
                  <a:tcPr marL="73152" marR="73152" marT="45720" marB="45720" anchor="t">
                    <a:lnL w="0">
                      <a:noFill/>
                    </a:lnL>
                    <a:lnR w="0">
                      <a:noFill/>
                    </a:lnR>
                    <a:lnT w="0">
                      <a:noFill/>
                    </a:lnT>
                    <a:lnB w="9525">
                      <a:solidFill>
                        <a:srgbClr val="E2E4E7"/>
                      </a:solidFill>
                    </a:lnB>
                    <a:noFill/>
                  </a:tcPr>
                </a:tc>
              </a:tr>
            </a:tbl>
          </a:graphicData>
        </a:graphic>
      </p:graphicFrame>
      <p:sp>
        <p:nvSpPr>
          <p:cNvPr id="7" name="Rectangle 6"/>
          <p:cNvSpPr/>
          <p:nvPr/>
        </p:nvSpPr>
        <p:spPr>
          <a:xfrm>
            <a:off x="5486400" y="1599310"/>
            <a:ext cx="960120" cy="3685921"/>
          </a:xfrm>
          <a:prstGeom prst="rect">
            <a:avLst/>
          </a:prstGeom>
          <a:solidFill>
            <a:srgbClr val="F4F5F6"/>
          </a:solidFill>
          <a:ln>
            <a:noFill/>
          </a:ln>
        </p:spPr>
        <p:txBody>
          <a:bodyPr rtlCol="0" anchor="ctr"/>
          <a:lstStyle/>
          <a:p>
            <a:pPr algn="ctr"/>
          </a:p>
        </p:txBody>
      </p:sp>
      <p:sp>
        <p:nvSpPr>
          <p:cNvPr id="8" name="TextBox 7"/>
          <p:cNvSpPr txBox="1"/>
          <p:nvPr/>
        </p:nvSpPr>
        <p:spPr>
          <a:xfrm>
            <a:off x="5596128" y="1709039"/>
            <a:ext cx="740664"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TODAY</a:t>
            </a:r>
          </a:p>
        </p:txBody>
      </p:sp>
      <p:sp>
        <p:nvSpPr>
          <p:cNvPr id="9" name="TextBox 8"/>
          <p:cNvSpPr txBox="1"/>
          <p:nvPr/>
        </p:nvSpPr>
        <p:spPr>
          <a:xfrm>
            <a:off x="5596128" y="2056510"/>
            <a:ext cx="740664" cy="3137281"/>
          </a:xfrm>
          <a:prstGeom prst="rect">
            <a:avLst/>
          </a:prstGeom>
          <a:noFill/>
        </p:spPr>
        <p:txBody>
          <a:bodyPr wrap="square" lIns="0" rIns="0" tIns="0" bIns="0" anchor="t">
            <a:spAutoFit/>
          </a:bodyPr>
          <a:lstStyle/>
          <a:p>
            <a:pPr algn="l">
              <a:lnSpc>
                <a:spcPct val="102000"/>
              </a:lnSpc>
              <a:spcAft>
                <a:spcPts val="300"/>
              </a:spcAft>
            </a:pPr>
            <a:r>
              <a:rPr sz="900" b="0">
                <a:solidFill>
                  <a:srgbClr val="4A4F57"/>
                </a:solidFill>
                <a:latin typeface="Noto Sans KR"/>
                <a:ea typeface="Noto Sans KR"/>
                <a:cs typeface="Noto Sans KR"/>
              </a:rPr>
              <a:t>Concept</a:t>
            </a:r>
          </a:p>
          <a:p>
            <a:pPr algn="l">
              <a:lnSpc>
                <a:spcPct val="102000"/>
              </a:lnSpc>
              <a:spcAft>
                <a:spcPts val="300"/>
              </a:spcAft>
            </a:pPr>
            <a:r>
              <a:rPr sz="900" b="0">
                <a:solidFill>
                  <a:srgbClr val="4A4F57"/>
                </a:solidFill>
                <a:latin typeface="Noto Sans KR"/>
                <a:ea typeface="Noto Sans KR"/>
                <a:cs typeface="Noto Sans KR"/>
              </a:rPr>
              <a:t>Technology Hypothesis</a:t>
            </a:r>
          </a:p>
          <a:p>
            <a:pPr algn="l">
              <a:lnSpc>
                <a:spcPct val="102000"/>
              </a:lnSpc>
            </a:pPr>
            <a:r>
              <a:rPr sz="900" b="0">
                <a:solidFill>
                  <a:srgbClr val="4A4F57"/>
                </a:solidFill>
                <a:latin typeface="Noto Sans KR"/>
                <a:ea typeface="Noto Sans KR"/>
                <a:cs typeface="Noto Sans KR"/>
              </a:rPr>
              <a:t>Business Hypothesis</a:t>
            </a:r>
          </a:p>
        </p:txBody>
      </p:sp>
      <p:cxnSp>
        <p:nvCxnSpPr>
          <p:cNvPr id="10" name="Connector 9"/>
          <p:cNvCxnSpPr/>
          <p:nvPr/>
        </p:nvCxnSpPr>
        <p:spPr>
          <a:xfrm>
            <a:off x="6473952" y="3442271"/>
            <a:ext cx="201168" cy="0"/>
          </a:xfrm>
          <a:prstGeom prst="line">
            <a:avLst/>
          </a:prstGeom>
          <a:ln w="19050">
            <a:solidFill>
              <a:srgbClr val="8C9198"/>
            </a:solidFill>
            <a:tailEnd type="triangle" w="med" len="med"/>
          </a:ln>
        </p:spPr>
      </p:cxnSp>
      <p:sp>
        <p:nvSpPr>
          <p:cNvPr id="11" name="TextBox 10"/>
          <p:cNvSpPr txBox="1"/>
          <p:nvPr/>
        </p:nvSpPr>
        <p:spPr>
          <a:xfrm>
            <a:off x="6336792" y="2875343"/>
            <a:ext cx="475488" cy="502920"/>
          </a:xfrm>
          <a:prstGeom prst="rect">
            <a:avLst/>
          </a:prstGeom>
          <a:noFill/>
        </p:spPr>
        <p:txBody>
          <a:bodyPr wrap="square" lIns="0" rIns="0" tIns="0" bIns="0" anchor="t">
            <a:spAutoFit/>
          </a:bodyPr>
          <a:lstStyle/>
          <a:p>
            <a:pPr algn="ctr">
              <a:lnSpc>
                <a:spcPct val="100000"/>
              </a:lnSpc>
            </a:pPr>
            <a:r>
              <a:rPr sz="750" b="1">
                <a:solidFill>
                  <a:srgbClr val="8C9198"/>
                </a:solidFill>
                <a:latin typeface="Noto Sans KR"/>
                <a:ea typeface="Noto Sans KR"/>
                <a:cs typeface="Noto Sans KR"/>
              </a:rPr>
              <a:t>Seed</a:t>
            </a:r>
          </a:p>
          <a:p>
            <a:pPr algn="ctr">
              <a:lnSpc>
                <a:spcPct val="100000"/>
              </a:lnSpc>
            </a:pPr>
            <a:r>
              <a:rPr sz="750" b="1">
                <a:solidFill>
                  <a:srgbClr val="8C9198"/>
                </a:solidFill>
                <a:latin typeface="Noto Sans KR"/>
                <a:ea typeface="Noto Sans KR"/>
                <a:cs typeface="Noto Sans KR"/>
              </a:rPr>
              <a:t>+</a:t>
            </a:r>
          </a:p>
          <a:p>
            <a:pPr algn="ctr">
              <a:lnSpc>
                <a:spcPct val="100000"/>
              </a:lnSpc>
            </a:pPr>
            <a:r>
              <a:rPr sz="750" b="1">
                <a:solidFill>
                  <a:srgbClr val="8C9198"/>
                </a:solidFill>
                <a:latin typeface="Noto Sans KR"/>
                <a:ea typeface="Noto Sans KR"/>
                <a:cs typeface="Noto Sans KR"/>
              </a:rPr>
              <a:t>TIPS</a:t>
            </a:r>
          </a:p>
        </p:txBody>
      </p:sp>
      <p:sp>
        <p:nvSpPr>
          <p:cNvPr id="12" name="Rectangle 11"/>
          <p:cNvSpPr/>
          <p:nvPr/>
        </p:nvSpPr>
        <p:spPr>
          <a:xfrm>
            <a:off x="6702552" y="1599310"/>
            <a:ext cx="3450031" cy="3685921"/>
          </a:xfrm>
          <a:prstGeom prst="rect">
            <a:avLst/>
          </a:prstGeom>
          <a:solidFill>
            <a:srgbClr val="15171A"/>
          </a:solidFill>
          <a:ln>
            <a:noFill/>
          </a:ln>
        </p:spPr>
        <p:txBody>
          <a:bodyPr rtlCol="0" anchor="ctr"/>
          <a:lstStyle/>
          <a:p>
            <a:pPr algn="ctr"/>
          </a:p>
        </p:txBody>
      </p:sp>
      <p:sp>
        <p:nvSpPr>
          <p:cNvPr id="13" name="TextBox 12"/>
          <p:cNvSpPr txBox="1"/>
          <p:nvPr/>
        </p:nvSpPr>
        <p:spPr>
          <a:xfrm>
            <a:off x="6867144" y="1709039"/>
            <a:ext cx="3120847" cy="27432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24M TARGET</a:t>
            </a:r>
          </a:p>
        </p:txBody>
      </p:sp>
      <p:sp>
        <p:nvSpPr>
          <p:cNvPr id="14" name="Rectangle 13"/>
          <p:cNvSpPr/>
          <p:nvPr/>
        </p:nvSpPr>
        <p:spPr>
          <a:xfrm>
            <a:off x="9466783" y="1727327"/>
            <a:ext cx="427880" cy="155448"/>
          </a:xfrm>
          <a:prstGeom prst="rect">
            <a:avLst/>
          </a:prstGeom>
          <a:solidFill>
            <a:srgbClr val="15171A"/>
          </a:solidFill>
          <a:ln w="6350">
            <a:solidFill>
              <a:srgbClr val="C9CDD2"/>
            </a:solidFill>
          </a:ln>
        </p:spPr>
        <p:txBody>
          <a:bodyPr rtlCol="0" anchor="ctr"/>
          <a:lstStyle/>
          <a:p>
            <a:pPr algn="ctr"/>
          </a:p>
        </p:txBody>
      </p:sp>
      <p:sp>
        <p:nvSpPr>
          <p:cNvPr id="15" name="TextBox 14"/>
          <p:cNvSpPr txBox="1"/>
          <p:nvPr/>
        </p:nvSpPr>
        <p:spPr>
          <a:xfrm>
            <a:off x="9466783" y="1727327"/>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16" name="TextBox 15"/>
          <p:cNvSpPr txBox="1"/>
          <p:nvPr/>
        </p:nvSpPr>
        <p:spPr>
          <a:xfrm>
            <a:off x="6867144" y="2056510"/>
            <a:ext cx="1487271" cy="201168"/>
          </a:xfrm>
          <a:prstGeom prst="rect">
            <a:avLst/>
          </a:prstGeom>
          <a:noFill/>
        </p:spPr>
        <p:txBody>
          <a:bodyPr wrap="square" lIns="0" rIns="0" tIns="0" bIns="0" anchor="t">
            <a:spAutoFit/>
          </a:bodyPr>
          <a:lstStyle/>
          <a:p>
            <a:pPr algn="l">
              <a:lnSpc>
                <a:spcPct val="100000"/>
              </a:lnSpc>
            </a:pPr>
            <a:r>
              <a:rPr sz="850" b="1">
                <a:solidFill>
                  <a:srgbClr val="A9AEB5"/>
                </a:solidFill>
                <a:latin typeface="Noto Sans KR"/>
                <a:ea typeface="Noto Sans KR"/>
                <a:cs typeface="Noto Sans KR"/>
              </a:rPr>
              <a:t>기술</a:t>
            </a:r>
          </a:p>
        </p:txBody>
      </p:sp>
      <p:sp>
        <p:nvSpPr>
          <p:cNvPr id="17" name="TextBox 16"/>
          <p:cNvSpPr txBox="1"/>
          <p:nvPr/>
        </p:nvSpPr>
        <p:spPr>
          <a:xfrm>
            <a:off x="6867144" y="2275966"/>
            <a:ext cx="1487271" cy="2917825"/>
          </a:xfrm>
          <a:prstGeom prst="rect">
            <a:avLst/>
          </a:prstGeom>
          <a:noFill/>
        </p:spPr>
        <p:txBody>
          <a:bodyPr wrap="square" lIns="0" rIns="0" tIns="0" bIns="0" anchor="t">
            <a:spAutoFit/>
          </a:bodyPr>
          <a:lstStyle/>
          <a:p>
            <a:pPr algn="l">
              <a:lnSpc>
                <a:spcPct val="100000"/>
              </a:lnSpc>
              <a:spcAft>
                <a:spcPts val="200"/>
              </a:spcAft>
            </a:pPr>
            <a:r>
              <a:rPr sz="900" b="0">
                <a:solidFill>
                  <a:srgbClr val="FFFFFF"/>
                </a:solidFill>
                <a:latin typeface="Noto Sans KR"/>
                <a:ea typeface="Noto Sans KR"/>
                <a:cs typeface="Noto Sans KR"/>
              </a:rPr>
              <a:t>Working Kitchen Prototype</a:t>
            </a:r>
          </a:p>
          <a:p>
            <a:pPr algn="l">
              <a:lnSpc>
                <a:spcPct val="100000"/>
              </a:lnSpc>
              <a:spcAft>
                <a:spcPts val="200"/>
              </a:spcAft>
            </a:pPr>
            <a:r>
              <a:rPr sz="900" b="0">
                <a:solidFill>
                  <a:srgbClr val="FFFFFF"/>
                </a:solidFill>
                <a:latin typeface="Noto Sans KR"/>
                <a:ea typeface="Noto Sans KR"/>
                <a:cs typeface="Noto Sans KR"/>
              </a:rPr>
              <a:t>Adaptive Robot Hand</a:t>
            </a:r>
          </a:p>
          <a:p>
            <a:pPr algn="l">
              <a:lnSpc>
                <a:spcPct val="100000"/>
              </a:lnSpc>
              <a:spcAft>
                <a:spcPts val="200"/>
              </a:spcAft>
            </a:pPr>
            <a:r>
              <a:rPr sz="900" b="0">
                <a:solidFill>
                  <a:srgbClr val="FFFFFF"/>
                </a:solidFill>
                <a:latin typeface="Noto Sans KR"/>
                <a:ea typeface="Noto Sans KR"/>
                <a:cs typeface="Noto Sans KR"/>
              </a:rPr>
              <a:t>Skill Library</a:t>
            </a:r>
          </a:p>
          <a:p>
            <a:pPr algn="l">
              <a:lnSpc>
                <a:spcPct val="100000"/>
              </a:lnSpc>
              <a:spcAft>
                <a:spcPts val="200"/>
              </a:spcAft>
            </a:pPr>
            <a:r>
              <a:rPr sz="900" b="0">
                <a:solidFill>
                  <a:srgbClr val="FFFFFF"/>
                </a:solidFill>
                <a:latin typeface="Noto Sans KR"/>
                <a:ea typeface="Noto Sans KR"/>
                <a:cs typeface="Noto Sans KR"/>
              </a:rPr>
              <a:t>Calibration System</a:t>
            </a:r>
          </a:p>
          <a:p>
            <a:pPr algn="l">
              <a:lnSpc>
                <a:spcPct val="100000"/>
              </a:lnSpc>
              <a:spcAft>
                <a:spcPts val="200"/>
              </a:spcAft>
            </a:pPr>
            <a:r>
              <a:rPr sz="900" b="0">
                <a:solidFill>
                  <a:srgbClr val="FFFFFF"/>
                </a:solidFill>
                <a:latin typeface="Noto Sans KR"/>
                <a:ea typeface="Noto Sans KR"/>
                <a:cs typeface="Noto Sans KR"/>
              </a:rPr>
              <a:t>Safety Architecture</a:t>
            </a:r>
          </a:p>
          <a:p>
            <a:pPr algn="l">
              <a:lnSpc>
                <a:spcPct val="100000"/>
              </a:lnSpc>
              <a:spcAft>
                <a:spcPts val="200"/>
              </a:spcAft>
            </a:pPr>
            <a:r>
              <a:rPr sz="900" b="0">
                <a:solidFill>
                  <a:srgbClr val="FFFFFF"/>
                </a:solidFill>
                <a:latin typeface="Noto Sans KR"/>
                <a:ea typeface="Noto Sans KR"/>
                <a:cs typeface="Noto Sans KR"/>
              </a:rPr>
              <a:t>Multiple Kitchen Test</a:t>
            </a:r>
          </a:p>
          <a:p>
            <a:pPr algn="l">
              <a:lnSpc>
                <a:spcPct val="100000"/>
              </a:lnSpc>
            </a:pPr>
            <a:r>
              <a:rPr sz="900" b="0">
                <a:solidFill>
                  <a:srgbClr val="FFFFFF"/>
                </a:solidFill>
                <a:latin typeface="Noto Sans KR"/>
                <a:ea typeface="Noto Sans KR"/>
                <a:cs typeface="Noto Sans KR"/>
              </a:rPr>
              <a:t>Task Transfer Evidence</a:t>
            </a:r>
          </a:p>
        </p:txBody>
      </p:sp>
      <p:sp>
        <p:nvSpPr>
          <p:cNvPr id="18" name="TextBox 17"/>
          <p:cNvSpPr txBox="1"/>
          <p:nvPr/>
        </p:nvSpPr>
        <p:spPr>
          <a:xfrm>
            <a:off x="8500719" y="2056510"/>
            <a:ext cx="1487271" cy="201168"/>
          </a:xfrm>
          <a:prstGeom prst="rect">
            <a:avLst/>
          </a:prstGeom>
          <a:noFill/>
        </p:spPr>
        <p:txBody>
          <a:bodyPr wrap="square" lIns="0" rIns="0" tIns="0" bIns="0" anchor="t">
            <a:spAutoFit/>
          </a:bodyPr>
          <a:lstStyle/>
          <a:p>
            <a:pPr algn="l">
              <a:lnSpc>
                <a:spcPct val="100000"/>
              </a:lnSpc>
            </a:pPr>
            <a:r>
              <a:rPr sz="850" b="1">
                <a:solidFill>
                  <a:srgbClr val="A9AEB5"/>
                </a:solidFill>
                <a:latin typeface="Noto Sans KR"/>
                <a:ea typeface="Noto Sans KR"/>
                <a:cs typeface="Noto Sans KR"/>
              </a:rPr>
              <a:t>경제성</a:t>
            </a:r>
          </a:p>
        </p:txBody>
      </p:sp>
      <p:sp>
        <p:nvSpPr>
          <p:cNvPr id="19" name="TextBox 18"/>
          <p:cNvSpPr txBox="1"/>
          <p:nvPr/>
        </p:nvSpPr>
        <p:spPr>
          <a:xfrm>
            <a:off x="8500719" y="2275966"/>
            <a:ext cx="1487271" cy="731520"/>
          </a:xfrm>
          <a:prstGeom prst="rect">
            <a:avLst/>
          </a:prstGeom>
          <a:noFill/>
        </p:spPr>
        <p:txBody>
          <a:bodyPr wrap="square" lIns="0" rIns="0" tIns="0" bIns="0" anchor="t">
            <a:spAutoFit/>
          </a:bodyPr>
          <a:lstStyle/>
          <a:p>
            <a:pPr algn="l">
              <a:lnSpc>
                <a:spcPct val="100000"/>
              </a:lnSpc>
              <a:spcAft>
                <a:spcPts val="200"/>
              </a:spcAft>
            </a:pPr>
            <a:r>
              <a:rPr sz="900" b="0">
                <a:solidFill>
                  <a:srgbClr val="FFFFFF"/>
                </a:solidFill>
                <a:latin typeface="Noto Sans KR"/>
                <a:ea typeface="Noto Sans KR"/>
                <a:cs typeface="Noto Sans KR"/>
              </a:rPr>
              <a:t>Robot BOM</a:t>
            </a:r>
          </a:p>
          <a:p>
            <a:pPr algn="l">
              <a:lnSpc>
                <a:spcPct val="100000"/>
              </a:lnSpc>
              <a:spcAft>
                <a:spcPts val="200"/>
              </a:spcAft>
            </a:pPr>
            <a:r>
              <a:rPr sz="900" b="0">
                <a:solidFill>
                  <a:srgbClr val="FFFFFF"/>
                </a:solidFill>
                <a:latin typeface="Noto Sans KR"/>
                <a:ea typeface="Noto Sans KR"/>
                <a:cs typeface="Noto Sans KR"/>
              </a:rPr>
              <a:t>Installation Cost</a:t>
            </a:r>
          </a:p>
          <a:p>
            <a:pPr algn="l">
              <a:lnSpc>
                <a:spcPct val="100000"/>
              </a:lnSpc>
            </a:pPr>
            <a:r>
              <a:rPr sz="900" b="0">
                <a:solidFill>
                  <a:srgbClr val="FFFFFF"/>
                </a:solidFill>
                <a:latin typeface="Noto Sans KR"/>
                <a:ea typeface="Noto Sans KR"/>
                <a:cs typeface="Noto Sans KR"/>
              </a:rPr>
              <a:t>Service Cost</a:t>
            </a:r>
          </a:p>
        </p:txBody>
      </p:sp>
      <p:sp>
        <p:nvSpPr>
          <p:cNvPr id="20" name="TextBox 19"/>
          <p:cNvSpPr txBox="1"/>
          <p:nvPr/>
        </p:nvSpPr>
        <p:spPr>
          <a:xfrm>
            <a:off x="8500719" y="3080639"/>
            <a:ext cx="1487271" cy="201168"/>
          </a:xfrm>
          <a:prstGeom prst="rect">
            <a:avLst/>
          </a:prstGeom>
          <a:noFill/>
        </p:spPr>
        <p:txBody>
          <a:bodyPr wrap="square" lIns="0" rIns="0" tIns="0" bIns="0" anchor="t">
            <a:spAutoFit/>
          </a:bodyPr>
          <a:lstStyle/>
          <a:p>
            <a:pPr algn="l">
              <a:lnSpc>
                <a:spcPct val="100000"/>
              </a:lnSpc>
            </a:pPr>
            <a:r>
              <a:rPr sz="850" b="1">
                <a:solidFill>
                  <a:srgbClr val="A9AEB5"/>
                </a:solidFill>
                <a:latin typeface="Noto Sans KR"/>
                <a:ea typeface="Noto Sans KR"/>
                <a:cs typeface="Noto Sans KR"/>
              </a:rPr>
              <a:t>시장</a:t>
            </a:r>
          </a:p>
        </p:txBody>
      </p:sp>
      <p:sp>
        <p:nvSpPr>
          <p:cNvPr id="21" name="TextBox 20"/>
          <p:cNvSpPr txBox="1"/>
          <p:nvPr/>
        </p:nvSpPr>
        <p:spPr>
          <a:xfrm>
            <a:off x="8500719" y="3300094"/>
            <a:ext cx="1487271" cy="1893697"/>
          </a:xfrm>
          <a:prstGeom prst="rect">
            <a:avLst/>
          </a:prstGeom>
          <a:noFill/>
        </p:spPr>
        <p:txBody>
          <a:bodyPr wrap="square" lIns="0" rIns="0" tIns="0" bIns="0" anchor="t">
            <a:spAutoFit/>
          </a:bodyPr>
          <a:lstStyle/>
          <a:p>
            <a:pPr algn="l">
              <a:lnSpc>
                <a:spcPct val="100000"/>
              </a:lnSpc>
              <a:spcAft>
                <a:spcPts val="200"/>
              </a:spcAft>
            </a:pPr>
            <a:r>
              <a:rPr sz="900" b="0">
                <a:solidFill>
                  <a:srgbClr val="FFFFFF"/>
                </a:solidFill>
                <a:latin typeface="Noto Sans KR"/>
                <a:ea typeface="Noto Sans KR"/>
                <a:cs typeface="Noto Sans KR"/>
              </a:rPr>
              <a:t>Customer WTP</a:t>
            </a:r>
          </a:p>
          <a:p>
            <a:pPr algn="l">
              <a:lnSpc>
                <a:spcPct val="100000"/>
              </a:lnSpc>
              <a:spcAft>
                <a:spcPts val="200"/>
              </a:spcAft>
            </a:pPr>
            <a:r>
              <a:rPr sz="900" b="0">
                <a:solidFill>
                  <a:srgbClr val="FFFFFF"/>
                </a:solidFill>
                <a:latin typeface="Noto Sans KR"/>
                <a:ea typeface="Noto Sans KR"/>
                <a:cs typeface="Noto Sans KR"/>
              </a:rPr>
              <a:t>Pilot · Paid Pilot</a:t>
            </a:r>
          </a:p>
          <a:p>
            <a:pPr algn="l">
              <a:lnSpc>
                <a:spcPct val="100000"/>
              </a:lnSpc>
              <a:spcAft>
                <a:spcPts val="200"/>
              </a:spcAft>
            </a:pPr>
            <a:r>
              <a:rPr sz="900" b="0">
                <a:solidFill>
                  <a:srgbClr val="FFFFFF"/>
                </a:solidFill>
                <a:latin typeface="Noto Sans KR"/>
                <a:ea typeface="Noto Sans KR"/>
                <a:cs typeface="Noto Sans KR"/>
              </a:rPr>
              <a:t>Partner Evidence</a:t>
            </a:r>
          </a:p>
          <a:p>
            <a:pPr algn="l">
              <a:lnSpc>
                <a:spcPct val="100000"/>
              </a:lnSpc>
            </a:pPr>
            <a:r>
              <a:rPr sz="900" b="0">
                <a:solidFill>
                  <a:srgbClr val="FFFFFF"/>
                </a:solidFill>
                <a:latin typeface="Noto Sans KR"/>
                <a:ea typeface="Noto Sans KR"/>
                <a:cs typeface="Noto Sans KR"/>
              </a:rPr>
              <a:t>Patent 출원</a:t>
            </a:r>
          </a:p>
        </p:txBody>
      </p:sp>
      <p:cxnSp>
        <p:nvCxnSpPr>
          <p:cNvPr id="22" name="Connector 21"/>
          <p:cNvCxnSpPr/>
          <p:nvPr/>
        </p:nvCxnSpPr>
        <p:spPr>
          <a:xfrm>
            <a:off x="10180015" y="3442271"/>
            <a:ext cx="201168" cy="0"/>
          </a:xfrm>
          <a:prstGeom prst="line">
            <a:avLst/>
          </a:prstGeom>
          <a:ln w="19050">
            <a:solidFill>
              <a:srgbClr val="8C9198"/>
            </a:solidFill>
            <a:tailEnd type="triangle" w="med" len="med"/>
          </a:ln>
        </p:spPr>
      </p:cxnSp>
      <p:sp>
        <p:nvSpPr>
          <p:cNvPr id="23" name="Rectangle 22"/>
          <p:cNvSpPr/>
          <p:nvPr/>
        </p:nvSpPr>
        <p:spPr>
          <a:xfrm>
            <a:off x="10408615" y="1599310"/>
            <a:ext cx="1097280" cy="3685921"/>
          </a:xfrm>
          <a:prstGeom prst="rect">
            <a:avLst/>
          </a:prstGeom>
          <a:solidFill>
            <a:srgbClr val="FFFFFF"/>
          </a:solidFill>
          <a:ln w="12700">
            <a:solidFill>
              <a:srgbClr val="15171A"/>
            </a:solidFill>
          </a:ln>
        </p:spPr>
        <p:txBody>
          <a:bodyPr rtlCol="0" anchor="ctr"/>
          <a:lstStyle/>
          <a:p>
            <a:pPr algn="ctr"/>
          </a:p>
        </p:txBody>
      </p:sp>
      <p:sp>
        <p:nvSpPr>
          <p:cNvPr id="24" name="TextBox 23"/>
          <p:cNvSpPr txBox="1"/>
          <p:nvPr/>
        </p:nvSpPr>
        <p:spPr>
          <a:xfrm>
            <a:off x="10500055" y="1709039"/>
            <a:ext cx="914400" cy="274320"/>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NEXT ROUND</a:t>
            </a:r>
          </a:p>
        </p:txBody>
      </p:sp>
      <p:sp>
        <p:nvSpPr>
          <p:cNvPr id="25" name="TextBox 24"/>
          <p:cNvSpPr txBox="1"/>
          <p:nvPr/>
        </p:nvSpPr>
        <p:spPr>
          <a:xfrm>
            <a:off x="10518343" y="2056510"/>
            <a:ext cx="877824" cy="3137281"/>
          </a:xfrm>
          <a:prstGeom prst="rect">
            <a:avLst/>
          </a:prstGeom>
          <a:noFill/>
        </p:spPr>
        <p:txBody>
          <a:bodyPr wrap="square" lIns="0" rIns="0" tIns="0" bIns="0" anchor="t">
            <a:spAutoFit/>
          </a:bodyPr>
          <a:lstStyle/>
          <a:p>
            <a:pPr algn="l">
              <a:lnSpc>
                <a:spcPct val="102000"/>
              </a:lnSpc>
              <a:spcAft>
                <a:spcPts val="300"/>
              </a:spcAft>
            </a:pPr>
            <a:r>
              <a:rPr sz="900" b="0">
                <a:solidFill>
                  <a:srgbClr val="4A4F57"/>
                </a:solidFill>
                <a:latin typeface="Noto Sans KR"/>
                <a:ea typeface="Noto Sans KR"/>
                <a:cs typeface="Noto Sans KR"/>
              </a:rPr>
              <a:t>Productization</a:t>
            </a:r>
          </a:p>
          <a:p>
            <a:pPr algn="l">
              <a:lnSpc>
                <a:spcPct val="102000"/>
              </a:lnSpc>
              <a:spcAft>
                <a:spcPts val="300"/>
              </a:spcAft>
            </a:pPr>
            <a:r>
              <a:rPr sz="900" b="0">
                <a:solidFill>
                  <a:srgbClr val="4A4F57"/>
                </a:solidFill>
                <a:latin typeface="Noto Sans KR"/>
                <a:ea typeface="Noto Sans KR"/>
                <a:cs typeface="Noto Sans KR"/>
              </a:rPr>
              <a:t>Production</a:t>
            </a:r>
          </a:p>
          <a:p>
            <a:pPr algn="l">
              <a:lnSpc>
                <a:spcPct val="102000"/>
              </a:lnSpc>
              <a:spcAft>
                <a:spcPts val="300"/>
              </a:spcAft>
            </a:pPr>
            <a:r>
              <a:rPr sz="900" b="0">
                <a:solidFill>
                  <a:srgbClr val="4A4F57"/>
                </a:solidFill>
                <a:latin typeface="Noto Sans KR"/>
                <a:ea typeface="Noto Sans KR"/>
                <a:cs typeface="Noto Sans KR"/>
              </a:rPr>
              <a:t>Distribution</a:t>
            </a:r>
          </a:p>
          <a:p>
            <a:pPr algn="l">
              <a:lnSpc>
                <a:spcPct val="102000"/>
              </a:lnSpc>
            </a:pPr>
            <a:r>
              <a:rPr sz="900" b="0">
                <a:solidFill>
                  <a:srgbClr val="4A4F57"/>
                </a:solidFill>
                <a:latin typeface="Noto Sans KR"/>
                <a:ea typeface="Noto Sans KR"/>
                <a:cs typeface="Noto Sans KR"/>
              </a:rPr>
              <a:t>Scale</a:t>
            </a:r>
          </a:p>
        </p:txBody>
      </p:sp>
      <p:sp>
        <p:nvSpPr>
          <p:cNvPr id="26" name="Rectangle 25"/>
          <p:cNvSpPr/>
          <p:nvPr/>
        </p:nvSpPr>
        <p:spPr>
          <a:xfrm>
            <a:off x="5486400" y="5413248"/>
            <a:ext cx="6019495" cy="438912"/>
          </a:xfrm>
          <a:prstGeom prst="rect">
            <a:avLst/>
          </a:prstGeom>
          <a:solidFill>
            <a:srgbClr val="F4F5F6"/>
          </a:solidFill>
          <a:ln>
            <a:noFill/>
          </a:ln>
        </p:spPr>
        <p:txBody>
          <a:bodyPr rtlCol="0" anchor="ctr"/>
          <a:lstStyle/>
          <a:p>
            <a:pPr algn="ctr"/>
          </a:p>
        </p:txBody>
      </p:sp>
      <p:sp>
        <p:nvSpPr>
          <p:cNvPr id="27" name="TextBox 26"/>
          <p:cNvSpPr txBox="1"/>
          <p:nvPr/>
        </p:nvSpPr>
        <p:spPr>
          <a:xfrm>
            <a:off x="5623560" y="5413248"/>
            <a:ext cx="5745175" cy="438912"/>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Series A 판단 기준  </a:t>
            </a:r>
            <a:r>
              <a:rPr sz="1100" b="1">
                <a:solidFill>
                  <a:srgbClr val="E2571B"/>
                </a:solidFill>
                <a:latin typeface="Noto Sans KR"/>
                <a:ea typeface="Noto Sans KR"/>
                <a:cs typeface="Noto Sans KR"/>
              </a:rPr>
              <a:t>기술 성공 + 유료 전환 + 설치 · 서비스 원가 실측</a:t>
            </a:r>
          </a:p>
        </p:txBody>
      </p:sp>
      <p:sp>
        <p:nvSpPr>
          <p:cNvPr id="28" name="TextBox 27"/>
          <p:cNvSpPr txBox="1"/>
          <p:nvPr/>
        </p:nvSpPr>
        <p:spPr>
          <a:xfrm>
            <a:off x="685800" y="5943600"/>
            <a:ext cx="10820095" cy="349300"/>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Buffer = Y2 월평균 지출 × 3개월 (3.5억원). TIPS 과제 총 10.67억원 = 정부 8억원 (75%) + 기관부담 2.67억원 (현금 1.35 · 현물 1.32). 운영사 선투자 요건 (수도권 2억원 이상)은 Seed 라운드에 포함. 투자 조건 · 기업가치는 협의 (본 자료에서 제시하지 않음).</a:t>
            </a:r>
          </a:p>
        </p:txBody>
      </p:sp>
      <p:sp>
        <p:nvSpPr>
          <p:cNvPr id="29" name="TextBox 2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운영사 검토용 IR  ·  Draft v5  ·  2026.10</a:t>
            </a:r>
          </a:p>
        </p:txBody>
      </p:sp>
      <p:sp>
        <p:nvSpPr>
          <p:cNvPr id="30" name="TextBox 2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Appendix 목차</a:t>
            </a:r>
          </a:p>
        </p:txBody>
      </p:sp>
      <p:sp>
        <p:nvSpPr>
          <p:cNvPr id="4" name="TextBox 3"/>
          <p:cNvSpPr txBox="1"/>
          <p:nvPr/>
        </p:nvSpPr>
        <p:spPr>
          <a:xfrm>
            <a:off x="685800" y="1396055"/>
            <a:ext cx="10820095" cy="496417"/>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본문 수치의 근거 · 계산 · 검증 계획. 재무 수식 모델: MH_Robotics_Financial_Model.xlsx · 이전 판 (ARKI v4) 본문 · 부록은 archive/ARKI_v4에 삭제 없이 보관</a:t>
            </a:r>
          </a:p>
        </p:txBody>
      </p:sp>
      <p:sp>
        <p:nvSpPr>
          <p:cNvPr id="5" name="Rectangle 4"/>
          <p:cNvSpPr/>
          <p:nvPr/>
        </p:nvSpPr>
        <p:spPr>
          <a:xfrm>
            <a:off x="685800" y="2029632"/>
            <a:ext cx="3423818" cy="292608"/>
          </a:xfrm>
          <a:prstGeom prst="rect">
            <a:avLst/>
          </a:prstGeom>
          <a:solidFill>
            <a:srgbClr val="15171A"/>
          </a:solidFill>
          <a:ln>
            <a:noFill/>
          </a:ln>
        </p:spPr>
        <p:txBody>
          <a:bodyPr rtlCol="0" anchor="ctr"/>
          <a:lstStyle/>
          <a:p>
            <a:pPr algn="ctr"/>
          </a:p>
        </p:txBody>
      </p:sp>
      <p:sp>
        <p:nvSpPr>
          <p:cNvPr id="6" name="TextBox 5"/>
          <p:cNvSpPr txBox="1"/>
          <p:nvPr/>
        </p:nvSpPr>
        <p:spPr>
          <a:xfrm>
            <a:off x="795528" y="2029632"/>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A   TIPS 과제 상세</a:t>
            </a:r>
          </a:p>
        </p:txBody>
      </p:sp>
      <p:sp>
        <p:nvSpPr>
          <p:cNvPr id="7" name="TextBox 6"/>
          <p:cNvSpPr txBox="1"/>
          <p:nvPr/>
        </p:nvSpPr>
        <p:spPr>
          <a:xfrm>
            <a:off x="731520" y="2358816"/>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A1</a:t>
            </a:r>
          </a:p>
        </p:txBody>
      </p:sp>
      <p:sp>
        <p:nvSpPr>
          <p:cNvPr id="8" name="TextBox 7"/>
          <p:cNvSpPr txBox="1"/>
          <p:nvPr/>
        </p:nvSpPr>
        <p:spPr>
          <a:xfrm>
            <a:off x="1307592" y="2358816"/>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기술 KPI · Manipulation</a:t>
            </a:r>
          </a:p>
        </p:txBody>
      </p:sp>
      <p:sp>
        <p:nvSpPr>
          <p:cNvPr id="9" name="TextBox 8"/>
          <p:cNvSpPr txBox="1"/>
          <p:nvPr/>
        </p:nvSpPr>
        <p:spPr>
          <a:xfrm>
            <a:off x="731520" y="2559984"/>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A2</a:t>
            </a:r>
          </a:p>
        </p:txBody>
      </p:sp>
      <p:sp>
        <p:nvSpPr>
          <p:cNvPr id="10" name="TextBox 9"/>
          <p:cNvSpPr txBox="1"/>
          <p:nvPr/>
        </p:nvSpPr>
        <p:spPr>
          <a:xfrm>
            <a:off x="1307592" y="2559984"/>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기술 KPI · Application</a:t>
            </a:r>
          </a:p>
        </p:txBody>
      </p:sp>
      <p:sp>
        <p:nvSpPr>
          <p:cNvPr id="11" name="TextBox 10"/>
          <p:cNvSpPr txBox="1"/>
          <p:nvPr/>
        </p:nvSpPr>
        <p:spPr>
          <a:xfrm>
            <a:off x="731520" y="2761152"/>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A3</a:t>
            </a:r>
          </a:p>
        </p:txBody>
      </p:sp>
      <p:sp>
        <p:nvSpPr>
          <p:cNvPr id="12" name="TextBox 11"/>
          <p:cNvSpPr txBox="1"/>
          <p:nvPr/>
        </p:nvSpPr>
        <p:spPr>
          <a:xfrm>
            <a:off x="1307592" y="2761152"/>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기술 KPI · Business</a:t>
            </a:r>
          </a:p>
        </p:txBody>
      </p:sp>
      <p:sp>
        <p:nvSpPr>
          <p:cNvPr id="13" name="TextBox 12"/>
          <p:cNvSpPr txBox="1"/>
          <p:nvPr/>
        </p:nvSpPr>
        <p:spPr>
          <a:xfrm>
            <a:off x="731520" y="2962320"/>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A4</a:t>
            </a:r>
          </a:p>
        </p:txBody>
      </p:sp>
      <p:sp>
        <p:nvSpPr>
          <p:cNvPr id="14" name="TextBox 13"/>
          <p:cNvSpPr txBox="1"/>
          <p:nvPr/>
        </p:nvSpPr>
        <p:spPr>
          <a:xfrm>
            <a:off x="1307592" y="2962320"/>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R&amp;D Work Package 상세</a:t>
            </a:r>
          </a:p>
        </p:txBody>
      </p:sp>
      <p:sp>
        <p:nvSpPr>
          <p:cNvPr id="15" name="TextBox 14"/>
          <p:cNvSpPr txBox="1"/>
          <p:nvPr/>
        </p:nvSpPr>
        <p:spPr>
          <a:xfrm>
            <a:off x="731520" y="3163488"/>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A5</a:t>
            </a:r>
          </a:p>
        </p:txBody>
      </p:sp>
      <p:sp>
        <p:nvSpPr>
          <p:cNvPr id="16" name="TextBox 15"/>
          <p:cNvSpPr txBox="1"/>
          <p:nvPr/>
        </p:nvSpPr>
        <p:spPr>
          <a:xfrm>
            <a:off x="1307592" y="3163488"/>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Gate · 중단 기준</a:t>
            </a:r>
          </a:p>
        </p:txBody>
      </p:sp>
      <p:sp>
        <p:nvSpPr>
          <p:cNvPr id="17" name="TextBox 16"/>
          <p:cNvSpPr txBox="1"/>
          <p:nvPr/>
        </p:nvSpPr>
        <p:spPr>
          <a:xfrm>
            <a:off x="731520" y="3364656"/>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A6</a:t>
            </a:r>
          </a:p>
        </p:txBody>
      </p:sp>
      <p:sp>
        <p:nvSpPr>
          <p:cNvPr id="18" name="TextBox 17"/>
          <p:cNvSpPr txBox="1"/>
          <p:nvPr/>
        </p:nvSpPr>
        <p:spPr>
          <a:xfrm>
            <a:off x="1307592" y="3364656"/>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TIPS 과제 편성 · 24개월 사용처</a:t>
            </a:r>
          </a:p>
        </p:txBody>
      </p:sp>
      <p:sp>
        <p:nvSpPr>
          <p:cNvPr id="19" name="TextBox 18"/>
          <p:cNvSpPr txBox="1"/>
          <p:nvPr/>
        </p:nvSpPr>
        <p:spPr>
          <a:xfrm>
            <a:off x="731520" y="3565824"/>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A7</a:t>
            </a:r>
          </a:p>
        </p:txBody>
      </p:sp>
      <p:sp>
        <p:nvSpPr>
          <p:cNvPr id="20" name="TextBox 19"/>
          <p:cNvSpPr txBox="1"/>
          <p:nvPr/>
        </p:nvSpPr>
        <p:spPr>
          <a:xfrm>
            <a:off x="1307592" y="3565824"/>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24개월 팀 계획</a:t>
            </a:r>
          </a:p>
        </p:txBody>
      </p:sp>
      <p:sp>
        <p:nvSpPr>
          <p:cNvPr id="21" name="Rectangle 20"/>
          <p:cNvSpPr/>
          <p:nvPr/>
        </p:nvSpPr>
        <p:spPr>
          <a:xfrm>
            <a:off x="685800" y="3876720"/>
            <a:ext cx="3423818" cy="292608"/>
          </a:xfrm>
          <a:prstGeom prst="rect">
            <a:avLst/>
          </a:prstGeom>
          <a:solidFill>
            <a:srgbClr val="15171A"/>
          </a:solidFill>
          <a:ln>
            <a:noFill/>
          </a:ln>
        </p:spPr>
        <p:txBody>
          <a:bodyPr rtlCol="0" anchor="ctr"/>
          <a:lstStyle/>
          <a:p>
            <a:pPr algn="ctr"/>
          </a:p>
        </p:txBody>
      </p:sp>
      <p:sp>
        <p:nvSpPr>
          <p:cNvPr id="22" name="TextBox 21"/>
          <p:cNvSpPr txBox="1"/>
          <p:nvPr/>
        </p:nvSpPr>
        <p:spPr>
          <a:xfrm>
            <a:off x="795528" y="3876720"/>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B   제품 · 기술</a:t>
            </a:r>
          </a:p>
        </p:txBody>
      </p:sp>
      <p:sp>
        <p:nvSpPr>
          <p:cNvPr id="23" name="TextBox 22"/>
          <p:cNvSpPr txBox="1"/>
          <p:nvPr/>
        </p:nvSpPr>
        <p:spPr>
          <a:xfrm>
            <a:off x="731520" y="4205904"/>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a:t>
            </a:r>
          </a:p>
        </p:txBody>
      </p:sp>
      <p:sp>
        <p:nvSpPr>
          <p:cNvPr id="24" name="TextBox 23"/>
          <p:cNvSpPr txBox="1"/>
          <p:nvPr/>
        </p:nvSpPr>
        <p:spPr>
          <a:xfrm>
            <a:off x="1307592" y="4205904"/>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Adaptive Hand 시험 계획 (Buy vs Build)</a:t>
            </a:r>
          </a:p>
        </p:txBody>
      </p:sp>
      <p:sp>
        <p:nvSpPr>
          <p:cNvPr id="25" name="TextBox 24"/>
          <p:cNvSpPr txBox="1"/>
          <p:nvPr/>
        </p:nvSpPr>
        <p:spPr>
          <a:xfrm>
            <a:off x="731520" y="4407072"/>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B2</a:t>
            </a:r>
          </a:p>
        </p:txBody>
      </p:sp>
      <p:sp>
        <p:nvSpPr>
          <p:cNvPr id="26" name="TextBox 25"/>
          <p:cNvSpPr txBox="1"/>
          <p:nvPr/>
        </p:nvSpPr>
        <p:spPr>
          <a:xfrm>
            <a:off x="1307592" y="4407072"/>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Kitchen Variation 근거: 받은 평면 5종</a:t>
            </a:r>
          </a:p>
        </p:txBody>
      </p:sp>
      <p:sp>
        <p:nvSpPr>
          <p:cNvPr id="27" name="TextBox 26"/>
          <p:cNvSpPr txBox="1"/>
          <p:nvPr/>
        </p:nvSpPr>
        <p:spPr>
          <a:xfrm>
            <a:off x="731520" y="4608240"/>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B3</a:t>
            </a:r>
          </a:p>
        </p:txBody>
      </p:sp>
      <p:sp>
        <p:nvSpPr>
          <p:cNvPr id="28" name="TextBox 27"/>
          <p:cNvSpPr txBox="1"/>
          <p:nvPr/>
        </p:nvSpPr>
        <p:spPr>
          <a:xfrm>
            <a:off x="1307592" y="4608240"/>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Environment Interface 예: Robot Home</a:t>
            </a:r>
          </a:p>
        </p:txBody>
      </p:sp>
      <p:sp>
        <p:nvSpPr>
          <p:cNvPr id="29" name="TextBox 28"/>
          <p:cNvSpPr txBox="1"/>
          <p:nvPr/>
        </p:nvSpPr>
        <p:spPr>
          <a:xfrm>
            <a:off x="731520" y="4809408"/>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B4</a:t>
            </a:r>
          </a:p>
        </p:txBody>
      </p:sp>
      <p:sp>
        <p:nvSpPr>
          <p:cNvPr id="30" name="TextBox 29"/>
          <p:cNvSpPr txBox="1"/>
          <p:nvPr/>
        </p:nvSpPr>
        <p:spPr>
          <a:xfrm>
            <a:off x="1307592" y="4809408"/>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대표 평면 적용 예 (구축 2Bay A)</a:t>
            </a:r>
          </a:p>
        </p:txBody>
      </p:sp>
      <p:sp>
        <p:nvSpPr>
          <p:cNvPr id="31" name="TextBox 30"/>
          <p:cNvSpPr txBox="1"/>
          <p:nvPr/>
        </p:nvSpPr>
        <p:spPr>
          <a:xfrm>
            <a:off x="731520" y="5010576"/>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B5</a:t>
            </a:r>
          </a:p>
        </p:txBody>
      </p:sp>
      <p:sp>
        <p:nvSpPr>
          <p:cNvPr id="32" name="TextBox 31"/>
          <p:cNvSpPr txBox="1"/>
          <p:nvPr/>
        </p:nvSpPr>
        <p:spPr>
          <a:xfrm>
            <a:off x="1307592" y="5010576"/>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Safety · Certification 경로</a:t>
            </a:r>
          </a:p>
        </p:txBody>
      </p:sp>
      <p:sp>
        <p:nvSpPr>
          <p:cNvPr id="33" name="TextBox 32"/>
          <p:cNvSpPr txBox="1"/>
          <p:nvPr/>
        </p:nvSpPr>
        <p:spPr>
          <a:xfrm>
            <a:off x="731520" y="5211744"/>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B6</a:t>
            </a:r>
          </a:p>
        </p:txBody>
      </p:sp>
      <p:sp>
        <p:nvSpPr>
          <p:cNvPr id="34" name="TextBox 33"/>
          <p:cNvSpPr txBox="1"/>
          <p:nvPr/>
        </p:nvSpPr>
        <p:spPr>
          <a:xfrm>
            <a:off x="1307592" y="5211744"/>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Robot System BOM · Benchmark</a:t>
            </a:r>
          </a:p>
        </p:txBody>
      </p:sp>
      <p:sp>
        <p:nvSpPr>
          <p:cNvPr id="35" name="Rectangle 34"/>
          <p:cNvSpPr/>
          <p:nvPr/>
        </p:nvSpPr>
        <p:spPr>
          <a:xfrm>
            <a:off x="4383938" y="2029632"/>
            <a:ext cx="3423818" cy="292608"/>
          </a:xfrm>
          <a:prstGeom prst="rect">
            <a:avLst/>
          </a:prstGeom>
          <a:solidFill>
            <a:srgbClr val="15171A"/>
          </a:solidFill>
          <a:ln>
            <a:noFill/>
          </a:ln>
        </p:spPr>
        <p:txBody>
          <a:bodyPr rtlCol="0" anchor="ctr"/>
          <a:lstStyle/>
          <a:p>
            <a:pPr algn="ctr"/>
          </a:p>
        </p:txBody>
      </p:sp>
      <p:sp>
        <p:nvSpPr>
          <p:cNvPr id="36" name="TextBox 35"/>
          <p:cNvSpPr txBox="1"/>
          <p:nvPr/>
        </p:nvSpPr>
        <p:spPr>
          <a:xfrm>
            <a:off x="4493666" y="2029632"/>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C   시장 · 경쟁</a:t>
            </a:r>
          </a:p>
        </p:txBody>
      </p:sp>
      <p:sp>
        <p:nvSpPr>
          <p:cNvPr id="37" name="TextBox 36"/>
          <p:cNvSpPr txBox="1"/>
          <p:nvPr/>
        </p:nvSpPr>
        <p:spPr>
          <a:xfrm>
            <a:off x="4429658" y="2358816"/>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C1</a:t>
            </a:r>
          </a:p>
        </p:txBody>
      </p:sp>
      <p:sp>
        <p:nvSpPr>
          <p:cNvPr id="38" name="TextBox 37"/>
          <p:cNvSpPr txBox="1"/>
          <p:nvPr/>
        </p:nvSpPr>
        <p:spPr>
          <a:xfrm>
            <a:off x="5005730" y="2358816"/>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Housing · 시장 통계 (FACT)</a:t>
            </a:r>
          </a:p>
        </p:txBody>
      </p:sp>
      <p:sp>
        <p:nvSpPr>
          <p:cNvPr id="39" name="TextBox 38"/>
          <p:cNvSpPr txBox="1"/>
          <p:nvPr/>
        </p:nvSpPr>
        <p:spPr>
          <a:xfrm>
            <a:off x="4429658" y="2559984"/>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C2</a:t>
            </a:r>
          </a:p>
        </p:txBody>
      </p:sp>
      <p:sp>
        <p:nvSpPr>
          <p:cNvPr id="40" name="TextBox 39"/>
          <p:cNvSpPr txBox="1"/>
          <p:nvPr/>
        </p:nvSpPr>
        <p:spPr>
          <a:xfrm>
            <a:off x="5005730" y="2559984"/>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Remodeling · Rental · Care Reference</a:t>
            </a:r>
          </a:p>
        </p:txBody>
      </p:sp>
      <p:sp>
        <p:nvSpPr>
          <p:cNvPr id="41" name="TextBox 40"/>
          <p:cNvSpPr txBox="1"/>
          <p:nvPr/>
        </p:nvSpPr>
        <p:spPr>
          <a:xfrm>
            <a:off x="4429658" y="2761152"/>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C3</a:t>
            </a:r>
          </a:p>
        </p:txBody>
      </p:sp>
      <p:sp>
        <p:nvSpPr>
          <p:cNvPr id="42" name="TextBox 41"/>
          <p:cNvSpPr txBox="1"/>
          <p:nvPr/>
        </p:nvSpPr>
        <p:spPr>
          <a:xfrm>
            <a:off x="5005730" y="2761152"/>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Market Sizing 산식 · 검증 계획</a:t>
            </a:r>
          </a:p>
        </p:txBody>
      </p:sp>
      <p:sp>
        <p:nvSpPr>
          <p:cNvPr id="43" name="TextBox 42"/>
          <p:cNvSpPr txBox="1"/>
          <p:nvPr/>
        </p:nvSpPr>
        <p:spPr>
          <a:xfrm>
            <a:off x="4429658" y="2962320"/>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C4</a:t>
            </a:r>
          </a:p>
        </p:txBody>
      </p:sp>
      <p:sp>
        <p:nvSpPr>
          <p:cNvPr id="44" name="TextBox 43"/>
          <p:cNvSpPr txBox="1"/>
          <p:nvPr/>
        </p:nvSpPr>
        <p:spPr>
          <a:xfrm>
            <a:off x="5005730" y="2962320"/>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경쟁사 상세</a:t>
            </a:r>
          </a:p>
        </p:txBody>
      </p:sp>
      <p:sp>
        <p:nvSpPr>
          <p:cNvPr id="45" name="Rectangle 44"/>
          <p:cNvSpPr/>
          <p:nvPr/>
        </p:nvSpPr>
        <p:spPr>
          <a:xfrm>
            <a:off x="4383938" y="3273216"/>
            <a:ext cx="3423818" cy="292608"/>
          </a:xfrm>
          <a:prstGeom prst="rect">
            <a:avLst/>
          </a:prstGeom>
          <a:solidFill>
            <a:srgbClr val="15171A"/>
          </a:solidFill>
          <a:ln>
            <a:noFill/>
          </a:ln>
        </p:spPr>
        <p:txBody>
          <a:bodyPr rtlCol="0" anchor="ctr"/>
          <a:lstStyle/>
          <a:p>
            <a:pPr algn="ctr"/>
          </a:p>
        </p:txBody>
      </p:sp>
      <p:sp>
        <p:nvSpPr>
          <p:cNvPr id="46" name="TextBox 45"/>
          <p:cNvSpPr txBox="1"/>
          <p:nvPr/>
        </p:nvSpPr>
        <p:spPr>
          <a:xfrm>
            <a:off x="4493666" y="3273216"/>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D   경제성 · 재무</a:t>
            </a:r>
          </a:p>
        </p:txBody>
      </p:sp>
      <p:sp>
        <p:nvSpPr>
          <p:cNvPr id="47" name="TextBox 46"/>
          <p:cNvSpPr txBox="1"/>
          <p:nvPr/>
        </p:nvSpPr>
        <p:spPr>
          <a:xfrm>
            <a:off x="4429658" y="3602400"/>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D1</a:t>
            </a:r>
          </a:p>
        </p:txBody>
      </p:sp>
      <p:sp>
        <p:nvSpPr>
          <p:cNvPr id="48" name="TextBox 47"/>
          <p:cNvSpPr txBox="1"/>
          <p:nvPr/>
        </p:nvSpPr>
        <p:spPr>
          <a:xfrm>
            <a:off x="5005730" y="3602400"/>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가격 가설 (원가 · 시장 · 가치)</a:t>
            </a:r>
          </a:p>
        </p:txBody>
      </p:sp>
      <p:sp>
        <p:nvSpPr>
          <p:cNvPr id="49" name="TextBox 48"/>
          <p:cNvSpPr txBox="1"/>
          <p:nvPr/>
        </p:nvSpPr>
        <p:spPr>
          <a:xfrm>
            <a:off x="4429658" y="3803568"/>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D2</a:t>
            </a:r>
          </a:p>
        </p:txBody>
      </p:sp>
      <p:sp>
        <p:nvSpPr>
          <p:cNvPr id="50" name="TextBox 49"/>
          <p:cNvSpPr txBox="1"/>
          <p:nvPr/>
        </p:nvSpPr>
        <p:spPr>
          <a:xfrm>
            <a:off x="5005730" y="3803568"/>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Household 5년 경제성 상세</a:t>
            </a:r>
          </a:p>
        </p:txBody>
      </p:sp>
      <p:sp>
        <p:nvSpPr>
          <p:cNvPr id="51" name="TextBox 50"/>
          <p:cNvSpPr txBox="1"/>
          <p:nvPr/>
        </p:nvSpPr>
        <p:spPr>
          <a:xfrm>
            <a:off x="4429658" y="4004736"/>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D3</a:t>
            </a:r>
          </a:p>
        </p:txBody>
      </p:sp>
      <p:sp>
        <p:nvSpPr>
          <p:cNvPr id="52" name="TextBox 51"/>
          <p:cNvSpPr txBox="1"/>
          <p:nvPr/>
        </p:nvSpPr>
        <p:spPr>
          <a:xfrm>
            <a:off x="5005730" y="4004736"/>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Rental · Care · Consumables</a:t>
            </a:r>
          </a:p>
        </p:txBody>
      </p:sp>
      <p:sp>
        <p:nvSpPr>
          <p:cNvPr id="53" name="TextBox 52"/>
          <p:cNvSpPr txBox="1"/>
          <p:nvPr/>
        </p:nvSpPr>
        <p:spPr>
          <a:xfrm>
            <a:off x="4429658" y="4205904"/>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D4</a:t>
            </a:r>
          </a:p>
        </p:txBody>
      </p:sp>
      <p:sp>
        <p:nvSpPr>
          <p:cNvPr id="54" name="TextBox 53"/>
          <p:cNvSpPr txBox="1"/>
          <p:nvPr/>
        </p:nvSpPr>
        <p:spPr>
          <a:xfrm>
            <a:off x="5005730" y="4205904"/>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5-Year Financial Model (3 Scenario)</a:t>
            </a:r>
          </a:p>
        </p:txBody>
      </p:sp>
      <p:sp>
        <p:nvSpPr>
          <p:cNvPr id="55" name="TextBox 54"/>
          <p:cNvSpPr txBox="1"/>
          <p:nvPr/>
        </p:nvSpPr>
        <p:spPr>
          <a:xfrm>
            <a:off x="4429658" y="4407072"/>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D5</a:t>
            </a:r>
          </a:p>
        </p:txBody>
      </p:sp>
      <p:sp>
        <p:nvSpPr>
          <p:cNvPr id="56" name="TextBox 55"/>
          <p:cNvSpPr txBox="1"/>
          <p:nvPr/>
        </p:nvSpPr>
        <p:spPr>
          <a:xfrm>
            <a:off x="5005730" y="4407072"/>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Sensitivity</a:t>
            </a:r>
          </a:p>
        </p:txBody>
      </p:sp>
      <p:sp>
        <p:nvSpPr>
          <p:cNvPr id="57" name="Rectangle 56"/>
          <p:cNvSpPr/>
          <p:nvPr/>
        </p:nvSpPr>
        <p:spPr>
          <a:xfrm>
            <a:off x="8082076" y="2029632"/>
            <a:ext cx="3423818" cy="292608"/>
          </a:xfrm>
          <a:prstGeom prst="rect">
            <a:avLst/>
          </a:prstGeom>
          <a:solidFill>
            <a:srgbClr val="15171A"/>
          </a:solidFill>
          <a:ln>
            <a:noFill/>
          </a:ln>
        </p:spPr>
        <p:txBody>
          <a:bodyPr rtlCol="0" anchor="ctr"/>
          <a:lstStyle/>
          <a:p>
            <a:pPr algn="ctr"/>
          </a:p>
        </p:txBody>
      </p:sp>
      <p:sp>
        <p:nvSpPr>
          <p:cNvPr id="58" name="TextBox 57"/>
          <p:cNvSpPr txBox="1"/>
          <p:nvPr/>
        </p:nvSpPr>
        <p:spPr>
          <a:xfrm>
            <a:off x="8191804" y="2029632"/>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E   IP · 리스크 · Q&amp;A</a:t>
            </a:r>
          </a:p>
        </p:txBody>
      </p:sp>
      <p:sp>
        <p:nvSpPr>
          <p:cNvPr id="59" name="TextBox 58"/>
          <p:cNvSpPr txBox="1"/>
          <p:nvPr/>
        </p:nvSpPr>
        <p:spPr>
          <a:xfrm>
            <a:off x="8127796" y="2358816"/>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E1</a:t>
            </a:r>
          </a:p>
        </p:txBody>
      </p:sp>
      <p:sp>
        <p:nvSpPr>
          <p:cNvPr id="60" name="TextBox 59"/>
          <p:cNvSpPr txBox="1"/>
          <p:nvPr/>
        </p:nvSpPr>
        <p:spPr>
          <a:xfrm>
            <a:off x="8703868" y="2358816"/>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IP Portfolio 상세</a:t>
            </a:r>
          </a:p>
        </p:txBody>
      </p:sp>
      <p:sp>
        <p:nvSpPr>
          <p:cNvPr id="61" name="TextBox 60"/>
          <p:cNvSpPr txBox="1"/>
          <p:nvPr/>
        </p:nvSpPr>
        <p:spPr>
          <a:xfrm>
            <a:off x="8127796" y="2559984"/>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E2</a:t>
            </a:r>
          </a:p>
        </p:txBody>
      </p:sp>
      <p:sp>
        <p:nvSpPr>
          <p:cNvPr id="62" name="TextBox 61"/>
          <p:cNvSpPr txBox="1"/>
          <p:nvPr/>
        </p:nvSpPr>
        <p:spPr>
          <a:xfrm>
            <a:off x="8703868" y="2559984"/>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Risk Register</a:t>
            </a:r>
          </a:p>
        </p:txBody>
      </p:sp>
      <p:sp>
        <p:nvSpPr>
          <p:cNvPr id="63" name="TextBox 62"/>
          <p:cNvSpPr txBox="1"/>
          <p:nvPr/>
        </p:nvSpPr>
        <p:spPr>
          <a:xfrm>
            <a:off x="8127796" y="2761152"/>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E3~E5</a:t>
            </a:r>
          </a:p>
        </p:txBody>
      </p:sp>
      <p:sp>
        <p:nvSpPr>
          <p:cNvPr id="64" name="TextBox 63"/>
          <p:cNvSpPr txBox="1"/>
          <p:nvPr/>
        </p:nvSpPr>
        <p:spPr>
          <a:xfrm>
            <a:off x="8703868" y="2761152"/>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투자심사 예상질문 20 · 방어논리</a:t>
            </a:r>
          </a:p>
        </p:txBody>
      </p:sp>
      <p:sp>
        <p:nvSpPr>
          <p:cNvPr id="65" name="TextBox 64"/>
          <p:cNvSpPr txBox="1"/>
          <p:nvPr/>
        </p:nvSpPr>
        <p:spPr>
          <a:xfrm>
            <a:off x="8127796" y="2962320"/>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E6</a:t>
            </a:r>
          </a:p>
        </p:txBody>
      </p:sp>
      <p:sp>
        <p:nvSpPr>
          <p:cNvPr id="66" name="TextBox 65"/>
          <p:cNvSpPr txBox="1"/>
          <p:nvPr/>
        </p:nvSpPr>
        <p:spPr>
          <a:xfrm>
            <a:off x="8703868" y="2962320"/>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부족한 Evidence · Founder 입력 필요</a:t>
            </a:r>
          </a:p>
        </p:txBody>
      </p:sp>
      <p:sp>
        <p:nvSpPr>
          <p:cNvPr id="67" name="TextBox 66"/>
          <p:cNvSpPr txBox="1"/>
          <p:nvPr/>
        </p:nvSpPr>
        <p:spPr>
          <a:xfrm>
            <a:off x="8127796" y="3163488"/>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E7</a:t>
            </a:r>
          </a:p>
        </p:txBody>
      </p:sp>
      <p:sp>
        <p:nvSpPr>
          <p:cNvPr id="68" name="TextBox 67"/>
          <p:cNvSpPr txBox="1"/>
          <p:nvPr/>
        </p:nvSpPr>
        <p:spPr>
          <a:xfrm>
            <a:off x="8703868" y="3163488"/>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투자심사 Memo · 판단</a:t>
            </a:r>
          </a:p>
        </p:txBody>
      </p:sp>
      <p:sp>
        <p:nvSpPr>
          <p:cNvPr id="69" name="Rectangle 68"/>
          <p:cNvSpPr/>
          <p:nvPr/>
        </p:nvSpPr>
        <p:spPr>
          <a:xfrm>
            <a:off x="8082076" y="3474384"/>
            <a:ext cx="3423818" cy="292608"/>
          </a:xfrm>
          <a:prstGeom prst="rect">
            <a:avLst/>
          </a:prstGeom>
          <a:solidFill>
            <a:srgbClr val="15171A"/>
          </a:solidFill>
          <a:ln>
            <a:noFill/>
          </a:ln>
        </p:spPr>
        <p:txBody>
          <a:bodyPr rtlCol="0" anchor="ctr"/>
          <a:lstStyle/>
          <a:p>
            <a:pPr algn="ctr"/>
          </a:p>
        </p:txBody>
      </p:sp>
      <p:sp>
        <p:nvSpPr>
          <p:cNvPr id="70" name="TextBox 69"/>
          <p:cNvSpPr txBox="1"/>
          <p:nvPr/>
        </p:nvSpPr>
        <p:spPr>
          <a:xfrm>
            <a:off x="8191804" y="3474384"/>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F   참고</a:t>
            </a:r>
          </a:p>
        </p:txBody>
      </p:sp>
      <p:sp>
        <p:nvSpPr>
          <p:cNvPr id="71" name="TextBox 70"/>
          <p:cNvSpPr txBox="1"/>
          <p:nvPr/>
        </p:nvSpPr>
        <p:spPr>
          <a:xfrm>
            <a:off x="8127796" y="3803568"/>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F1</a:t>
            </a:r>
          </a:p>
        </p:txBody>
      </p:sp>
      <p:sp>
        <p:nvSpPr>
          <p:cNvPr id="72" name="TextBox 71"/>
          <p:cNvSpPr txBox="1"/>
          <p:nvPr/>
        </p:nvSpPr>
        <p:spPr>
          <a:xfrm>
            <a:off x="8703868" y="3803568"/>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Number Tag 원칙</a:t>
            </a:r>
          </a:p>
        </p:txBody>
      </p:sp>
      <p:sp>
        <p:nvSpPr>
          <p:cNvPr id="73" name="TextBox 72"/>
          <p:cNvSpPr txBox="1"/>
          <p:nvPr/>
        </p:nvSpPr>
        <p:spPr>
          <a:xfrm>
            <a:off x="8127796" y="4004736"/>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F2~F5</a:t>
            </a:r>
          </a:p>
        </p:txBody>
      </p:sp>
      <p:sp>
        <p:nvSpPr>
          <p:cNvPr id="74" name="TextBox 73"/>
          <p:cNvSpPr txBox="1"/>
          <p:nvPr/>
        </p:nvSpPr>
        <p:spPr>
          <a:xfrm>
            <a:off x="8703868" y="4004736"/>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Sources</a:t>
            </a:r>
          </a:p>
        </p:txBody>
      </p:sp>
      <p:sp>
        <p:nvSpPr>
          <p:cNvPr id="75" name="TextBox 7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6" name="TextBox 7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Index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A1  ·  TIPS 과제 상세</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기술 KPI (1/3) · Manipulation</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근거 없는 정량목표 금지: 목표는 공개 Benchmark 또는 경제성 가정에서 도출. Benchmark가 없는 지표는 측정 후 확정.</a:t>
            </a:r>
          </a:p>
        </p:txBody>
      </p:sp>
      <p:graphicFrame>
        <p:nvGraphicFramePr>
          <p:cNvPr id="5" name="Table 4"/>
          <p:cNvGraphicFramePr>
            <a:graphicFrameLocks noGrp="1"/>
          </p:cNvGraphicFramePr>
          <p:nvPr/>
        </p:nvGraphicFramePr>
        <p:xfrm>
          <a:off x="685800" y="1790567"/>
          <a:ext cx="10817352" cy="3830112"/>
        </p:xfrm>
        <a:graphic>
          <a:graphicData uri="http://schemas.openxmlformats.org/drawingml/2006/table">
            <a:tbl>
              <a:tblPr firstRow="0" bandRow="0">
                <a:tableStyleId>{2D5ABB26-0587-4C30-8999-92F81FD0307C}</a:tableStyleId>
              </a:tblPr>
              <a:tblGrid>
                <a:gridCol w="1325880"/>
                <a:gridCol w="1828800"/>
                <a:gridCol w="1691640"/>
                <a:gridCol w="777240"/>
                <a:gridCol w="777240"/>
                <a:gridCol w="822960"/>
                <a:gridCol w="868680"/>
                <a:gridCol w="1783080"/>
                <a:gridCol w="941832"/>
              </a:tblGrid>
              <a:tr h="229412">
                <a:tc>
                  <a:txBody>
                    <a:bodyPr wrap="square"/>
                    <a:lstStyle/>
                    <a:p>
                      <a:pPr algn="l">
                        <a:lnSpc>
                          <a:spcPct val="100000"/>
                        </a:lnSpc>
                      </a:pPr>
                      <a:r>
                        <a:rPr sz="800" b="1">
                          <a:solidFill>
                            <a:srgbClr val="15171A"/>
                          </a:solidFill>
                          <a:latin typeface="Noto Sans KR"/>
                          <a:ea typeface="Noto Sans KR"/>
                          <a:cs typeface="Noto Sans KR"/>
                        </a:rPr>
                        <a:t>KPI</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정의</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Benchmark (출처)</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M6</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M12</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M18</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M24</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목표 근거</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Tag</a:t>
                      </a:r>
                    </a:p>
                  </a:txBody>
                  <a:tcPr marL="73152" marR="73152" marT="36576" marB="36576" anchor="t">
                    <a:lnL w="0">
                      <a:noFill/>
                    </a:lnL>
                    <a:lnR w="0">
                      <a:noFill/>
                    </a:lnR>
                    <a:lnT w="12700">
                      <a:solidFill>
                        <a:srgbClr val="15171A"/>
                      </a:solidFill>
                    </a:lnT>
                    <a:lnB w="9525">
                      <a:solidFill>
                        <a:srgbClr val="15171A"/>
                      </a:solidFill>
                    </a:lnB>
                    <a:noFill/>
                  </a:tcPr>
                </a:tc>
              </a:tr>
              <a:tr h="670763">
                <a:tc>
                  <a:txBody>
                    <a:bodyPr wrap="square"/>
                    <a:lstStyle/>
                    <a:p>
                      <a:pPr algn="l">
                        <a:lnSpc>
                          <a:spcPct val="100000"/>
                        </a:lnSpc>
                      </a:pPr>
                      <a:r>
                        <a:rPr sz="800" b="1">
                          <a:solidFill>
                            <a:srgbClr val="15171A"/>
                          </a:solidFill>
                          <a:latin typeface="Noto Sans KR"/>
                          <a:ea typeface="Noto Sans KR"/>
                          <a:cs typeface="Noto Sans KR"/>
                        </a:rPr>
                        <a:t>Task Success Rate (CLEAN)</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식기 1개를 사람 개입 없이 집기 → 식세기 적재 (또는 인출 → 수납)까지 끝낸 비율</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Voysey 2021 식세기 적재 58.7% (실험실 · one-shot) · Dobb-E 81% (단순 가사 · 10가구) · TidyBot 85% [S36~S38]</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Baseline 측정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80% (목업)</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85% (주방 3종)</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 90% (가정 3세대)</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식사 1회 식기 20개 기준 사람 개입 ≤ 2건 = 90%. 공개 연구보다 높은 목표 = 환경 Interface 효과를 확인하는 지표</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r h="523646">
                <a:tc>
                  <a:txBody>
                    <a:bodyPr wrap="square"/>
                    <a:lstStyle/>
                    <a:p>
                      <a:pPr algn="l">
                        <a:lnSpc>
                          <a:spcPct val="100000"/>
                        </a:lnSpc>
                      </a:pPr>
                      <a:r>
                        <a:rPr sz="800" b="1">
                          <a:solidFill>
                            <a:srgbClr val="15171A"/>
                          </a:solidFill>
                          <a:latin typeface="Noto Sans KR"/>
                          <a:ea typeface="Noto Sans KR"/>
                          <a:cs typeface="Noto Sans KR"/>
                        </a:rPr>
                        <a:t>Object Coverage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30종 한국 식기 · 도구 세트 중 Tool 교체 없이 파지 가능한 종류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공개 Benchmark 없음 (자체 세트 정의)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상용 Gripper Baseline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24/30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26/30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 27/30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Buy vs Build 판정: 상용 Gripper 대비 +15%p 이상이면 자체 Hand 채택</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r h="376529">
                <a:tc>
                  <a:txBody>
                    <a:bodyPr wrap="square"/>
                    <a:lstStyle/>
                    <a:p>
                      <a:pPr algn="l">
                        <a:lnSpc>
                          <a:spcPct val="100000"/>
                        </a:lnSpc>
                      </a:pPr>
                      <a:r>
                        <a:rPr sz="800" b="1">
                          <a:solidFill>
                            <a:srgbClr val="15171A"/>
                          </a:solidFill>
                          <a:latin typeface="Noto Sans KR"/>
                          <a:ea typeface="Noto Sans KR"/>
                          <a:cs typeface="Noto Sans KR"/>
                        </a:rPr>
                        <a:t>Human Intervention Rate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식세기 1회분 (식기 20개)당 사람 개입 횟수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측정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4회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3회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 2회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Task Success Rate와 같은 기준의 사용자 체감 지표</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r h="376529">
                <a:tc>
                  <a:txBody>
                    <a:bodyPr wrap="square"/>
                    <a:lstStyle/>
                    <a:p>
                      <a:pPr algn="l">
                        <a:lnSpc>
                          <a:spcPct val="100000"/>
                        </a:lnSpc>
                      </a:pPr>
                      <a:r>
                        <a:rPr sz="800" b="1">
                          <a:solidFill>
                            <a:srgbClr val="15171A"/>
                          </a:solidFill>
                          <a:latin typeface="Noto Sans KR"/>
                          <a:ea typeface="Noto Sans KR"/>
                          <a:cs typeface="Noto Sans KR"/>
                        </a:rPr>
                        <a:t>Failure Recovery Rate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감지된 실패 (미끄러짐 · 기울어짐 · 적재 실패) 중 자율 복구 비율</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공개 Benchmark 없음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Baseline 측정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M12 결과로 설정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M18 설정값 달성</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근거 없는 수치 목표는 두지 않음 → M12 측정 후 확정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r h="376529">
                <a:tc>
                  <a:txBody>
                    <a:bodyPr wrap="square"/>
                    <a:lstStyle/>
                    <a:p>
                      <a:pPr algn="l">
                        <a:lnSpc>
                          <a:spcPct val="100000"/>
                        </a:lnSpc>
                      </a:pPr>
                      <a:r>
                        <a:rPr sz="800" b="1">
                          <a:solidFill>
                            <a:srgbClr val="15171A"/>
                          </a:solidFill>
                          <a:latin typeface="Noto Sans KR"/>
                          <a:ea typeface="Noto Sans KR"/>
                          <a:cs typeface="Noto Sans KR"/>
                        </a:rPr>
                        <a:t>Cycle Time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식기 1개 적재 평균 시간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사람 약 3~5초/개 (참고, 측정 필요)</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측정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측정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40초/개</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 30초/개</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식기 20개를 10분 안에 적재 → 식후 사람이 없는 시간에 끝남</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r h="376529">
                <a:tc>
                  <a:txBody>
                    <a:bodyPr wrap="square"/>
                    <a:lstStyle/>
                    <a:p>
                      <a:pPr algn="l">
                        <a:lnSpc>
                          <a:spcPct val="100000"/>
                        </a:lnSpc>
                      </a:pPr>
                      <a:r>
                        <a:rPr sz="800" b="1">
                          <a:solidFill>
                            <a:srgbClr val="15171A"/>
                          </a:solidFill>
                          <a:latin typeface="Noto Sans KR"/>
                          <a:ea typeface="Noto Sans KR"/>
                          <a:cs typeface="Noto Sans KR"/>
                        </a:rPr>
                        <a:t>Grip Stability</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파지 중 낙하 · 미끄러짐 발생률</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측정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1/200회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1/500회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 1/1,000회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Pad 1세트 수명 (약 5,500회) 동안 낙하 ≤ 5회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r h="376529">
                <a:tc>
                  <a:txBody>
                    <a:bodyPr wrap="square"/>
                    <a:lstStyle/>
                    <a:p>
                      <a:pPr algn="l">
                        <a:lnSpc>
                          <a:spcPct val="100000"/>
                        </a:lnSpc>
                      </a:pPr>
                      <a:r>
                        <a:rPr sz="800" b="1">
                          <a:solidFill>
                            <a:srgbClr val="15171A"/>
                          </a:solidFill>
                          <a:latin typeface="Noto Sans KR"/>
                          <a:ea typeface="Noto Sans KR"/>
                          <a:cs typeface="Noto Sans KR"/>
                        </a:rPr>
                        <a:t>Slip Detection</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낙하 전 미끄럼 감지율</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GelSight 기반 실시간 감지 99% (일상 물체 10종 · 실험실) [S44]</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90%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93%</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 95%</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연구 수준보다 낮게 시작 (젖은 표면 · 저가 센서 조건)</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r h="523646">
                <a:tc>
                  <a:txBody>
                    <a:bodyPr wrap="square"/>
                    <a:lstStyle/>
                    <a:p>
                      <a:pPr algn="l">
                        <a:lnSpc>
                          <a:spcPct val="100000"/>
                        </a:lnSpc>
                      </a:pPr>
                      <a:r>
                        <a:rPr sz="800" b="1">
                          <a:solidFill>
                            <a:srgbClr val="15171A"/>
                          </a:solidFill>
                          <a:latin typeface="Noto Sans KR"/>
                          <a:ea typeface="Noto Sans KR"/>
                          <a:cs typeface="Noto Sans KR"/>
                        </a:rPr>
                        <a:t>Hand Durability (Pad 수명)</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Pad 교체 전 파지 횟수 (가속 시험)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시험 설계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가속 시험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 5,475회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Grip Kit 분기 교체 가정 × 하루 60회 파지 (식기 20개 × 적재 · 인출 × 1.5회)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36576" marB="36576"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A2  ·  TIPS 과제 상세</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기술 KPI (2/3) · Application</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Application KPI는 설치 원가 가정 (인시)과 직접 연결 → Calibration · 설치 시간이 줄면 Unit Economics가 바뀜</a:t>
            </a:r>
          </a:p>
        </p:txBody>
      </p:sp>
      <p:graphicFrame>
        <p:nvGraphicFramePr>
          <p:cNvPr id="5" name="Table 4"/>
          <p:cNvGraphicFramePr>
            <a:graphicFrameLocks noGrp="1"/>
          </p:cNvGraphicFramePr>
          <p:nvPr/>
        </p:nvGraphicFramePr>
        <p:xfrm>
          <a:off x="685800" y="1790567"/>
          <a:ext cx="10817352" cy="2454105"/>
        </p:xfrm>
        <a:graphic>
          <a:graphicData uri="http://schemas.openxmlformats.org/drawingml/2006/table">
            <a:tbl>
              <a:tblPr firstRow="0" bandRow="0">
                <a:tableStyleId>{2D5ABB26-0587-4C30-8999-92F81FD0307C}</a:tableStyleId>
              </a:tblPr>
              <a:tblGrid>
                <a:gridCol w="1234440"/>
                <a:gridCol w="1828800"/>
                <a:gridCol w="1463040"/>
                <a:gridCol w="777240"/>
                <a:gridCol w="777240"/>
                <a:gridCol w="914400"/>
                <a:gridCol w="1097280"/>
                <a:gridCol w="1783080"/>
                <a:gridCol w="941832"/>
              </a:tblGrid>
              <a:tr h="233090">
                <a:tc>
                  <a:txBody>
                    <a:bodyPr wrap="square"/>
                    <a:lstStyle/>
                    <a:p>
                      <a:pPr algn="l">
                        <a:lnSpc>
                          <a:spcPct val="100000"/>
                        </a:lnSpc>
                      </a:pPr>
                      <a:r>
                        <a:rPr sz="819" b="1">
                          <a:solidFill>
                            <a:srgbClr val="15171A"/>
                          </a:solidFill>
                          <a:latin typeface="Noto Sans KR"/>
                          <a:ea typeface="Noto Sans KR"/>
                          <a:cs typeface="Noto Sans KR"/>
                        </a:rPr>
                        <a:t>KPI</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정의</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Benchmark (출처)</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M6</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M12</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M18</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M24</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목표 근거</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Tag</a:t>
                      </a:r>
                    </a:p>
                  </a:txBody>
                  <a:tcPr marL="73152" marR="73152" marT="36576" marB="36576" anchor="t">
                    <a:lnL w="0">
                      <a:noFill/>
                    </a:lnL>
                    <a:lnR w="0">
                      <a:noFill/>
                    </a:lnR>
                    <a:lnT w="12700">
                      <a:solidFill>
                        <a:srgbClr val="15171A"/>
                      </a:solidFill>
                    </a:lnT>
                    <a:lnB w="9525">
                      <a:solidFill>
                        <a:srgbClr val="15171A"/>
                      </a:solidFill>
                    </a:lnB>
                    <a:noFill/>
                  </a:tcPr>
                </a:tc>
              </a:tr>
              <a:tr h="534680">
                <a:tc>
                  <a:txBody>
                    <a:bodyPr wrap="square"/>
                    <a:lstStyle/>
                    <a:p>
                      <a:pPr algn="l">
                        <a:lnSpc>
                          <a:spcPct val="100000"/>
                        </a:lnSpc>
                      </a:pPr>
                      <a:r>
                        <a:rPr sz="819" b="1">
                          <a:solidFill>
                            <a:srgbClr val="15171A"/>
                          </a:solidFill>
                          <a:latin typeface="Noto Sans KR"/>
                          <a:ea typeface="Noto Sans KR"/>
                          <a:cs typeface="Noto Sans KR"/>
                        </a:rPr>
                        <a:t>Calibration Time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새 주방에서 현장 Calibration 완료 시간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 8시간 (목업)</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 4시간 (주방 3종)</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 4시간 (가정)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설치 · Calibration 원가 Y3 60만원 = 약 18인시 (2인 1일) 안에 설치까지 끝내야 함</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36576" marB="36576" anchor="t">
                    <a:lnL w="0">
                      <a:noFill/>
                    </a:lnL>
                    <a:lnR w="0">
                      <a:noFill/>
                    </a:lnR>
                    <a:lnT w="0">
                      <a:noFill/>
                    </a:lnT>
                    <a:lnB w="9525">
                      <a:solidFill>
                        <a:srgbClr val="E2E4E7"/>
                      </a:solidFill>
                    </a:lnB>
                    <a:noFill/>
                  </a:tcPr>
                </a:tc>
              </a:tr>
              <a:tr h="383885">
                <a:tc>
                  <a:txBody>
                    <a:bodyPr wrap="square"/>
                    <a:lstStyle/>
                    <a:p>
                      <a:pPr algn="l">
                        <a:lnSpc>
                          <a:spcPct val="100000"/>
                        </a:lnSpc>
                      </a:pPr>
                      <a:r>
                        <a:rPr sz="819" b="1">
                          <a:solidFill>
                            <a:srgbClr val="15171A"/>
                          </a:solidFill>
                          <a:latin typeface="Noto Sans KR"/>
                          <a:ea typeface="Noto Sans KR"/>
                          <a:cs typeface="Noto Sans KR"/>
                        </a:rPr>
                        <a:t>Site Programming Time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주방별 Custom 코드 · 교시 시간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측정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Custom 코드 0 · 교시 ≤ 1시간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동일</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Template Skill만 써야 반복설치 가능</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r h="534680">
                <a:tc>
                  <a:txBody>
                    <a:bodyPr wrap="square"/>
                    <a:lstStyle/>
                    <a:p>
                      <a:pPr algn="l">
                        <a:lnSpc>
                          <a:spcPct val="100000"/>
                        </a:lnSpc>
                      </a:pPr>
                      <a:r>
                        <a:rPr sz="819" b="1">
                          <a:solidFill>
                            <a:srgbClr val="15171A"/>
                          </a:solidFill>
                          <a:latin typeface="Noto Sans KR"/>
                          <a:ea typeface="Noto Sans KR"/>
                          <a:cs typeface="Noto Sans KR"/>
                        </a:rPr>
                        <a:t>Installation Time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Robot 설치 + Calibration + Safety Check (Interface 시공 제외)</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측정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Remodeling 2인 1일 · Retrofit 2인 2일 이내</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설치 원가 가정과 연동 (Remodeling 약 18인시 · Retrofit 약 29인시, Y3)</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36576" marB="36576" anchor="t">
                    <a:lnL w="0">
                      <a:noFill/>
                    </a:lnL>
                    <a:lnR w="0">
                      <a:noFill/>
                    </a:lnR>
                    <a:lnT w="0">
                      <a:noFill/>
                    </a:lnT>
                    <a:lnB w="9525">
                      <a:solidFill>
                        <a:srgbClr val="E2E4E7"/>
                      </a:solidFill>
                    </a:lnB>
                    <a:noFill/>
                  </a:tcPr>
                </a:tc>
              </a:tr>
              <a:tr h="383885">
                <a:tc>
                  <a:txBody>
                    <a:bodyPr wrap="square"/>
                    <a:lstStyle/>
                    <a:p>
                      <a:pPr algn="l">
                        <a:lnSpc>
                          <a:spcPct val="100000"/>
                        </a:lnSpc>
                      </a:pPr>
                      <a:r>
                        <a:rPr sz="819" b="1">
                          <a:solidFill>
                            <a:srgbClr val="15171A"/>
                          </a:solidFill>
                          <a:latin typeface="Noto Sans KR"/>
                          <a:ea typeface="Noto Sans KR"/>
                          <a:cs typeface="Noto Sans KR"/>
                        </a:rPr>
                        <a:t>Kitchen Compatibility</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분석 평면 · 상담 주방 중 적용 가능 비율</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받은 평면 5종 중 2종 기본 배치 수용 (DERIVED)</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평면 30개 분석</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상담 주방 실측</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가정 Remodeling 60% · Retrofit 40%를 실측으로 대체</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36576" marB="36576" anchor="t">
                    <a:lnL w="0">
                      <a:noFill/>
                    </a:lnL>
                    <a:lnR w="0">
                      <a:noFill/>
                    </a:lnR>
                    <a:lnT w="0">
                      <a:noFill/>
                    </a:lnT>
                    <a:lnB w="9525">
                      <a:solidFill>
                        <a:srgbClr val="E2E4E7"/>
                      </a:solidFill>
                    </a:lnB>
                    <a:noFill/>
                  </a:tcPr>
                </a:tc>
              </a:tr>
              <a:tr h="383885">
                <a:tc>
                  <a:txBody>
                    <a:bodyPr wrap="square"/>
                    <a:lstStyle/>
                    <a:p>
                      <a:pPr algn="l">
                        <a:lnSpc>
                          <a:spcPct val="100000"/>
                        </a:lnSpc>
                      </a:pPr>
                      <a:r>
                        <a:rPr sz="819" b="1">
                          <a:solidFill>
                            <a:srgbClr val="15171A"/>
                          </a:solidFill>
                          <a:latin typeface="Noto Sans KR"/>
                          <a:ea typeface="Noto Sans KR"/>
                          <a:cs typeface="Noto Sans KR"/>
                        </a:rPr>
                        <a:t>Task Transferability</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주방 재배치 후 성공률 하락 (같은 Skill)</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 10%p (주방 3종)</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 10%p (가정)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Platform 반복 적용의 핵심 증거</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A3  ·  TIPS 과제 상세</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기술 KPI (3/3) · Business</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Business KPI는 재무모델 가정 (BOM · 설치 · Care · 소모품 · WTP)을 실측으로 바꾸는 지표</a:t>
            </a:r>
          </a:p>
        </p:txBody>
      </p:sp>
      <p:graphicFrame>
        <p:nvGraphicFramePr>
          <p:cNvPr id="5" name="Table 4"/>
          <p:cNvGraphicFramePr>
            <a:graphicFrameLocks noGrp="1"/>
          </p:cNvGraphicFramePr>
          <p:nvPr/>
        </p:nvGraphicFramePr>
        <p:xfrm>
          <a:off x="685800" y="1790567"/>
          <a:ext cx="10817352" cy="2784202"/>
        </p:xfrm>
        <a:graphic>
          <a:graphicData uri="http://schemas.openxmlformats.org/drawingml/2006/table">
            <a:tbl>
              <a:tblPr firstRow="0" bandRow="0">
                <a:tableStyleId>{2D5ABB26-0587-4C30-8999-92F81FD0307C}</a:tableStyleId>
              </a:tblPr>
              <a:tblGrid>
                <a:gridCol w="1234440"/>
                <a:gridCol w="1828800"/>
                <a:gridCol w="1463040"/>
                <a:gridCol w="777240"/>
                <a:gridCol w="777240"/>
                <a:gridCol w="914400"/>
                <a:gridCol w="1097280"/>
                <a:gridCol w="1783080"/>
                <a:gridCol w="941832"/>
              </a:tblGrid>
              <a:tr h="233090">
                <a:tc>
                  <a:txBody>
                    <a:bodyPr wrap="square"/>
                    <a:lstStyle/>
                    <a:p>
                      <a:pPr algn="l">
                        <a:lnSpc>
                          <a:spcPct val="100000"/>
                        </a:lnSpc>
                      </a:pPr>
                      <a:r>
                        <a:rPr sz="819" b="1">
                          <a:solidFill>
                            <a:srgbClr val="15171A"/>
                          </a:solidFill>
                          <a:latin typeface="Noto Sans KR"/>
                          <a:ea typeface="Noto Sans KR"/>
                          <a:cs typeface="Noto Sans KR"/>
                        </a:rPr>
                        <a:t>KPI</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정의</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Benchmark (출처)</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M6</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M12</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M18</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M24</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목표 근거</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19" b="1">
                          <a:solidFill>
                            <a:srgbClr val="15171A"/>
                          </a:solidFill>
                          <a:latin typeface="Noto Sans KR"/>
                          <a:ea typeface="Noto Sans KR"/>
                          <a:cs typeface="Noto Sans KR"/>
                        </a:rPr>
                        <a:t>Tag</a:t>
                      </a:r>
                    </a:p>
                  </a:txBody>
                  <a:tcPr marL="73152" marR="73152" marT="36576" marB="36576" anchor="t">
                    <a:lnL w="0">
                      <a:noFill/>
                    </a:lnL>
                    <a:lnR w="0">
                      <a:noFill/>
                    </a:lnR>
                    <a:lnT w="12700">
                      <a:solidFill>
                        <a:srgbClr val="15171A"/>
                      </a:solidFill>
                    </a:lnT>
                    <a:lnB w="9525">
                      <a:solidFill>
                        <a:srgbClr val="15171A"/>
                      </a:solidFill>
                    </a:lnB>
                    <a:noFill/>
                  </a:tcPr>
                </a:tc>
              </a:tr>
              <a:tr h="383885">
                <a:tc>
                  <a:txBody>
                    <a:bodyPr wrap="square"/>
                    <a:lstStyle/>
                    <a:p>
                      <a:pPr algn="l">
                        <a:lnSpc>
                          <a:spcPct val="100000"/>
                        </a:lnSpc>
                      </a:pPr>
                      <a:r>
                        <a:rPr sz="819" b="1">
                          <a:solidFill>
                            <a:srgbClr val="15171A"/>
                          </a:solidFill>
                          <a:latin typeface="Noto Sans KR"/>
                          <a:ea typeface="Noto Sans KR"/>
                          <a:cs typeface="Noto Sans KR"/>
                        </a:rPr>
                        <a:t>Robot BOM</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Robot System 1대 원가 (Adaptive Hand 포함)</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공개가 Benchmark (부록 B6)</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1,680만원 (Pilot)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100대/년 견적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견적 ≤ 1,180만원 (Y3 가정)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Robot ASP 1,490만원에서 Hardware 마진 확보 (민감도 2순위)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36576" marB="36576" anchor="t">
                    <a:lnL w="0">
                      <a:noFill/>
                    </a:lnL>
                    <a:lnR w="0">
                      <a:noFill/>
                    </a:lnR>
                    <a:lnT w="0">
                      <a:noFill/>
                    </a:lnT>
                    <a:lnB w="9525">
                      <a:solidFill>
                        <a:srgbClr val="E2E4E7"/>
                      </a:solidFill>
                    </a:lnB>
                    <a:noFill/>
                  </a:tcPr>
                </a:tc>
              </a:tr>
              <a:tr h="383885">
                <a:tc>
                  <a:txBody>
                    <a:bodyPr wrap="square"/>
                    <a:lstStyle/>
                    <a:p>
                      <a:pPr algn="l">
                        <a:lnSpc>
                          <a:spcPct val="100000"/>
                        </a:lnSpc>
                      </a:pPr>
                      <a:r>
                        <a:rPr sz="819" b="1">
                          <a:solidFill>
                            <a:srgbClr val="15171A"/>
                          </a:solidFill>
                          <a:latin typeface="Noto Sans KR"/>
                          <a:ea typeface="Noto Sans KR"/>
                          <a:cs typeface="Noto Sans KR"/>
                        </a:rPr>
                        <a:t>Installation Cost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1세대 설치 · Calibration 실비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목업 기준</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실측 ≤ 90만원 (Y2 가정)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가정 3세대 실측</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36576" marB="36576" anchor="t">
                    <a:lnL w="0">
                      <a:noFill/>
                    </a:lnL>
                    <a:lnR w="0">
                      <a:noFill/>
                    </a:lnR>
                    <a:lnT w="0">
                      <a:noFill/>
                    </a:lnT>
                    <a:lnB w="9525">
                      <a:solidFill>
                        <a:srgbClr val="E2E4E7"/>
                      </a:solidFill>
                    </a:lnB>
                    <a:noFill/>
                  </a:tcPr>
                </a:tc>
              </a:tr>
              <a:tr h="383885">
                <a:tc>
                  <a:txBody>
                    <a:bodyPr wrap="square"/>
                    <a:lstStyle/>
                    <a:p>
                      <a:pPr algn="l">
                        <a:lnSpc>
                          <a:spcPct val="100000"/>
                        </a:lnSpc>
                      </a:pPr>
                      <a:r>
                        <a:rPr sz="819" b="1">
                          <a:solidFill>
                            <a:srgbClr val="15171A"/>
                          </a:solidFill>
                          <a:latin typeface="Noto Sans KR"/>
                          <a:ea typeface="Noto Sans KR"/>
                          <a:cs typeface="Noto Sans KR"/>
                        </a:rPr>
                        <a:t>Service Cost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고장 방문 (A/S) 1회 원가 · 연 발생 횟수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실측 (가정 연 0.6회)</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Failure Rate 민감도 (1.2회 시 1세대 5년 −84만원)</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36576" marB="36576" anchor="t">
                    <a:lnL w="0">
                      <a:noFill/>
                    </a:lnL>
                    <a:lnR w="0">
                      <a:noFill/>
                    </a:lnR>
                    <a:lnT w="0">
                      <a:noFill/>
                    </a:lnT>
                    <a:lnB w="9525">
                      <a:solidFill>
                        <a:srgbClr val="E2E4E7"/>
                      </a:solidFill>
                    </a:lnB>
                    <a:noFill/>
                  </a:tcPr>
                </a:tc>
              </a:tr>
              <a:tr h="383885">
                <a:tc>
                  <a:txBody>
                    <a:bodyPr wrap="square"/>
                    <a:lstStyle/>
                    <a:p>
                      <a:pPr algn="l">
                        <a:lnSpc>
                          <a:spcPct val="100000"/>
                        </a:lnSpc>
                      </a:pPr>
                      <a:r>
                        <a:rPr sz="819" b="1">
                          <a:solidFill>
                            <a:srgbClr val="15171A"/>
                          </a:solidFill>
                          <a:latin typeface="Noto Sans KR"/>
                          <a:ea typeface="Noto Sans KR"/>
                          <a:cs typeface="Noto Sans KR"/>
                        </a:rPr>
                        <a:t>Care Cost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정기 방문 · 원격진단 · Cloud 연 원가</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실측 ≤ 40.8만원/대·년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Care 요금 48만원/년 대비 마진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36576" marB="36576" anchor="t">
                    <a:lnL w="0">
                      <a:noFill/>
                    </a:lnL>
                    <a:lnR w="0">
                      <a:noFill/>
                    </a:lnR>
                    <a:lnT w="0">
                      <a:noFill/>
                    </a:lnT>
                    <a:lnB w="9525">
                      <a:solidFill>
                        <a:srgbClr val="E2E4E7"/>
                      </a:solidFill>
                    </a:lnB>
                    <a:noFill/>
                  </a:tcPr>
                </a:tc>
              </a:tr>
              <a:tr h="383885">
                <a:tc>
                  <a:txBody>
                    <a:bodyPr wrap="square"/>
                    <a:lstStyle/>
                    <a:p>
                      <a:pPr algn="l">
                        <a:lnSpc>
                          <a:spcPct val="100000"/>
                        </a:lnSpc>
                      </a:pPr>
                      <a:r>
                        <a:rPr sz="819" b="1">
                          <a:solidFill>
                            <a:srgbClr val="15171A"/>
                          </a:solidFill>
                          <a:latin typeface="Noto Sans KR"/>
                          <a:ea typeface="Noto Sans KR"/>
                          <a:cs typeface="Noto Sans KR"/>
                        </a:rPr>
                        <a:t>WTP</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시스템 1,490만원 이상 지불 의향 비율 (Premium 리모델링 상담 고객)</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인터뷰 50명 (정성)</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n ≥ 300 조사 · 예약금 Test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판정 기준 ≥ 30% (가설). 15% 미만이면 가격 · 구성 재설계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819" b="1">
                          <a:solidFill>
                            <a:srgbClr val="15171A"/>
                          </a:solidFill>
                          <a:latin typeface="Noto Sans KR"/>
                          <a:ea typeface="Noto Sans KR"/>
                          <a:cs typeface="Noto Sans KR"/>
                        </a:rPr>
                        <a:t>Pilot Conversion</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가정 실증 3세대 중 유료 전환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실증 착수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 2세대</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실증 50% 할인 → 정가 전환 의향</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36576" marB="36576" anchor="t">
                    <a:lnL w="0">
                      <a:noFill/>
                    </a:lnL>
                    <a:lnR w="0">
                      <a:noFill/>
                    </a:lnR>
                    <a:lnT w="0">
                      <a:noFill/>
                    </a:lnT>
                    <a:lnB w="9525">
                      <a:solidFill>
                        <a:srgbClr val="E2E4E7"/>
                      </a:solidFill>
                    </a:lnB>
                    <a:noFill/>
                  </a:tcPr>
                </a:tc>
              </a:tr>
              <a:tr h="383885">
                <a:tc>
                  <a:txBody>
                    <a:bodyPr wrap="square"/>
                    <a:lstStyle/>
                    <a:p>
                      <a:pPr algn="l">
                        <a:lnSpc>
                          <a:spcPct val="100000"/>
                        </a:lnSpc>
                      </a:pPr>
                      <a:r>
                        <a:rPr sz="819" b="1">
                          <a:solidFill>
                            <a:srgbClr val="15171A"/>
                          </a:solidFill>
                          <a:latin typeface="Noto Sans KR"/>
                          <a:ea typeface="Noto Sans KR"/>
                          <a:cs typeface="Noto Sans KR"/>
                        </a:rPr>
                        <a:t>Consumables Cost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Grip Kit 원가율 (물류 포함)</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Robotiq Fingertip $175~195 (참고) [S16]</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견적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1">
                          <a:solidFill>
                            <a:srgbClr val="15171A"/>
                          </a:solidFill>
                          <a:latin typeface="Noto Sans KR"/>
                          <a:ea typeface="Noto Sans KR"/>
                          <a:cs typeface="Noto Sans KR"/>
                        </a:rPr>
                        <a:t>≤ 35%</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19" b="0">
                          <a:solidFill>
                            <a:srgbClr val="15171A"/>
                          </a:solidFill>
                          <a:latin typeface="Noto Sans KR"/>
                          <a:ea typeface="Noto Sans KR"/>
                          <a:cs typeface="Noto Sans KR"/>
                        </a:rPr>
                        <a:t>소모품 마진 가정 검증</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36576" marB="36576"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A4  ·  TIPS 과제 상세</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R&amp;D Work Package 상세 (TIPS 과제)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TIPS R&amp;D = Technology De-risking. WP6 실증은 목업 → 주방 3종 → 가정 3세대 순서. 담당은 채용 계획 기준 (현재 인원 없음).</a:t>
            </a:r>
          </a:p>
        </p:txBody>
      </p:sp>
      <p:graphicFrame>
        <p:nvGraphicFramePr>
          <p:cNvPr id="5" name="Table 4"/>
          <p:cNvGraphicFramePr>
            <a:graphicFrameLocks noGrp="1"/>
          </p:cNvGraphicFramePr>
          <p:nvPr/>
        </p:nvGraphicFramePr>
        <p:xfrm>
          <a:off x="685800" y="1790567"/>
          <a:ext cx="10817352" cy="4023764"/>
        </p:xfrm>
        <a:graphic>
          <a:graphicData uri="http://schemas.openxmlformats.org/drawingml/2006/table">
            <a:tbl>
              <a:tblPr firstRow="0" bandRow="0">
                <a:tableStyleId>{2D5ABB26-0587-4C30-8999-92F81FD0307C}</a:tableStyleId>
              </a:tblPr>
              <a:tblGrid>
                <a:gridCol w="457200"/>
                <a:gridCol w="1325880"/>
                <a:gridCol w="685800"/>
                <a:gridCol w="1508760"/>
                <a:gridCol w="2926080"/>
                <a:gridCol w="1463040"/>
                <a:gridCol w="1371600"/>
                <a:gridCol w="1078992"/>
              </a:tblGrid>
              <a:tr h="238556">
                <a:tc>
                  <a:txBody>
                    <a:bodyPr wrap="square"/>
                    <a:lstStyle/>
                    <a:p>
                      <a:pPr algn="l">
                        <a:lnSpc>
                          <a:spcPct val="100000"/>
                        </a:lnSpc>
                      </a:pPr>
                      <a:r>
                        <a:rPr sz="800" b="1">
                          <a:solidFill>
                            <a:srgbClr val="15171A"/>
                          </a:solidFill>
                          <a:latin typeface="Noto Sans KR"/>
                          <a:ea typeface="Noto Sans KR"/>
                          <a:cs typeface="Noto Sans KR"/>
                        </a:rPr>
                        <a:t>WP</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이름</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기간</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목표</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주요 내용</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산출물</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KPI</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담당 (채용 계획)</a:t>
                      </a:r>
                    </a:p>
                  </a:txBody>
                  <a:tcPr marL="73152" marR="73152" marT="41148" marB="41148" anchor="t">
                    <a:lnL w="0">
                      <a:noFill/>
                    </a:lnL>
                    <a:lnR w="0">
                      <a:noFill/>
                    </a:lnR>
                    <a:lnT w="12700">
                      <a:solidFill>
                        <a:srgbClr val="15171A"/>
                      </a:solidFill>
                    </a:lnT>
                    <a:lnB w="9525">
                      <a:solidFill>
                        <a:srgbClr val="15171A"/>
                      </a:solidFill>
                    </a:lnB>
                    <a:noFill/>
                  </a:tcPr>
                </a:tc>
              </a:tr>
              <a:tr h="679907">
                <a:tc>
                  <a:txBody>
                    <a:bodyPr wrap="square"/>
                    <a:lstStyle/>
                    <a:p>
                      <a:pPr algn="l">
                        <a:lnSpc>
                          <a:spcPct val="100000"/>
                        </a:lnSpc>
                      </a:pPr>
                      <a:r>
                        <a:rPr sz="800" b="1">
                          <a:solidFill>
                            <a:srgbClr val="15171A"/>
                          </a:solidFill>
                          <a:latin typeface="Noto Sans KR"/>
                          <a:ea typeface="Noto Sans KR"/>
                          <a:cs typeface="Noto Sans KR"/>
                        </a:rPr>
                        <a:t>WP1</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Adaptive Kitchen Robot Hand</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M1~M24</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주방 식기 · 도구 30종을 Tool 교체 없이 하나의 손으로</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상용 Gripper 비교군 (M1~M6) · Hand v1 (M4) · v2 (M10) · v3 (M18)</a:t>
                      </a:r>
                    </a:p>
                    <a:p>
                      <a:pPr algn="l">
                        <a:lnSpc>
                          <a:spcPct val="100000"/>
                        </a:lnSpc>
                      </a:pPr>
                      <a:r>
                        <a:rPr sz="800" b="0">
                          <a:solidFill>
                            <a:srgbClr val="15171A"/>
                          </a:solidFill>
                          <a:latin typeface="Noto Sans KR"/>
                          <a:ea typeface="Noto Sans KR"/>
                          <a:cs typeface="Noto Sans KR"/>
                        </a:rPr>
                        <a:t>· 교체형 Food-contact Module · Grip Force · Slip Detection</a:t>
                      </a:r>
                    </a:p>
                    <a:p>
                      <a:pPr algn="l">
                        <a:lnSpc>
                          <a:spcPct val="100000"/>
                        </a:lnSpc>
                      </a:pPr>
                      <a:r>
                        <a:rPr sz="800" b="0">
                          <a:solidFill>
                            <a:srgbClr val="15171A"/>
                          </a:solidFill>
                          <a:latin typeface="Noto Sans KR"/>
                          <a:ea typeface="Noto Sans KR"/>
                          <a:cs typeface="Noto Sans KR"/>
                        </a:rPr>
                        <a:t>· 내구 · 위생 시험 (세척 · 열 · 세제)</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Hand v3 · 30종 파지 Data · 내구 시험 결과</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Object Coverage · Grip Stability · Slip Detection · Pad 수명</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Hand · 기구 리드 · Hand 센싱 · Manipulation 리드</a:t>
                      </a:r>
                    </a:p>
                  </a:txBody>
                  <a:tcPr marL="73152" marR="73152" marT="41148" marB="41148" anchor="t">
                    <a:lnL w="0">
                      <a:noFill/>
                    </a:lnL>
                    <a:lnR w="0">
                      <a:noFill/>
                    </a:lnR>
                    <a:lnT w="0">
                      <a:noFill/>
                    </a:lnT>
                    <a:lnB w="9525">
                      <a:solidFill>
                        <a:srgbClr val="E2E4E7"/>
                      </a:solidFill>
                    </a:lnB>
                    <a:noFill/>
                  </a:tcPr>
                </a:tc>
              </a:tr>
              <a:tr h="532790">
                <a:tc>
                  <a:txBody>
                    <a:bodyPr wrap="square"/>
                    <a:lstStyle/>
                    <a:p>
                      <a:pPr algn="l">
                        <a:lnSpc>
                          <a:spcPct val="100000"/>
                        </a:lnSpc>
                      </a:pPr>
                      <a:r>
                        <a:rPr sz="800" b="1">
                          <a:solidFill>
                            <a:srgbClr val="15171A"/>
                          </a:solidFill>
                          <a:latin typeface="Noto Sans KR"/>
                          <a:ea typeface="Noto Sans KR"/>
                          <a:cs typeface="Noto Sans KR"/>
                        </a:rPr>
                        <a:t>WP2</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Kitchen Manipulation Skill</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M3~M24</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CLEAN Skill을 Template으로 만들어 주방마다 재사용</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Pick · Place · Insert (식세기 랙) · Remove · Open/Close</a:t>
                      </a:r>
                    </a:p>
                    <a:p>
                      <a:pPr algn="l">
                        <a:lnSpc>
                          <a:spcPct val="100000"/>
                        </a:lnSpc>
                      </a:pPr>
                      <a:r>
                        <a:rPr sz="800" b="0">
                          <a:solidFill>
                            <a:srgbClr val="15171A"/>
                          </a:solidFill>
                          <a:latin typeface="Noto Sans KR"/>
                          <a:ea typeface="Noto Sans KR"/>
                          <a:cs typeface="Noto Sans KR"/>
                        </a:rPr>
                        <a:t>· Failure Detection · Recovery</a:t>
                      </a:r>
                    </a:p>
                    <a:p>
                      <a:pPr algn="l">
                        <a:lnSpc>
                          <a:spcPct val="100000"/>
                        </a:lnSpc>
                      </a:pPr>
                      <a:r>
                        <a:rPr sz="800" b="0">
                          <a:solidFill>
                            <a:srgbClr val="15171A"/>
                          </a:solidFill>
                          <a:latin typeface="Noto Sans KR"/>
                          <a:ea typeface="Noto Sans KR"/>
                          <a:cs typeface="Noto Sans KR"/>
                        </a:rPr>
                        <a:t>· Skill Template · 공개 범용 모델 (π0 계열) Fine-tune 검토</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CLEAN Skill Library v1</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Task Success · Intervention · Recovery · Cycle Time</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Manipulation 리드 · Robot SW · Skill/Data</a:t>
                      </a:r>
                    </a:p>
                  </a:txBody>
                  <a:tcPr marL="73152" marR="73152" marT="41148" marB="41148" anchor="t">
                    <a:lnL w="0">
                      <a:noFill/>
                    </a:lnL>
                    <a:lnR w="0">
                      <a:noFill/>
                    </a:lnR>
                    <a:lnT w="0">
                      <a:noFill/>
                    </a:lnT>
                    <a:lnB w="9525">
                      <a:solidFill>
                        <a:srgbClr val="E2E4E7"/>
                      </a:solidFill>
                    </a:lnB>
                    <a:noFill/>
                  </a:tcPr>
                </a:tc>
              </a:tr>
              <a:tr h="679907">
                <a:tc>
                  <a:txBody>
                    <a:bodyPr wrap="square"/>
                    <a:lstStyle/>
                    <a:p>
                      <a:pPr algn="l">
                        <a:lnSpc>
                          <a:spcPct val="100000"/>
                        </a:lnSpc>
                      </a:pPr>
                      <a:r>
                        <a:rPr sz="800" b="1">
                          <a:solidFill>
                            <a:srgbClr val="15171A"/>
                          </a:solidFill>
                          <a:latin typeface="Noto Sans KR"/>
                          <a:ea typeface="Noto Sans KR"/>
                          <a:cs typeface="Noto Sans KR"/>
                        </a:rPr>
                        <a:t>WP3</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Kitchen Perception / Calibration</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M2~M24</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새 주방에서 4시간 안에 같은 Skill이 돌게</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식기 30종 인식 Dataset</a:t>
                      </a:r>
                    </a:p>
                    <a:p>
                      <a:pPr algn="l">
                        <a:lnSpc>
                          <a:spcPct val="100000"/>
                        </a:lnSpc>
                      </a:pPr>
                      <a:r>
                        <a:rPr sz="800" b="0">
                          <a:solidFill>
                            <a:srgbClr val="15171A"/>
                          </a:solidFill>
                          <a:latin typeface="Noto Sans KR"/>
                          <a:ea typeface="Noto Sans KR"/>
                          <a:cs typeface="Noto Sans KR"/>
                        </a:rPr>
                        <a:t>· Kitchen Mapping · Coordinate Calibration (Dock · 가전 기준점)</a:t>
                      </a:r>
                    </a:p>
                    <a:p>
                      <a:pPr algn="l">
                        <a:lnSpc>
                          <a:spcPct val="100000"/>
                        </a:lnSpc>
                      </a:pPr>
                      <a:r>
                        <a:rPr sz="800" b="0">
                          <a:solidFill>
                            <a:srgbClr val="15171A"/>
                          </a:solidFill>
                          <a:latin typeface="Noto Sans KR"/>
                          <a:ea typeface="Noto Sans KR"/>
                          <a:cs typeface="Noto Sans KR"/>
                        </a:rPr>
                        <a:t>· Appliance / Storage Position Mapping · Task Parameter</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Calibration Tool · 현장 절차서</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Calibration Time · Task Transferability</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Perception 리드 · Skill/Data</a:t>
                      </a:r>
                    </a:p>
                  </a:txBody>
                  <a:tcPr marL="73152" marR="73152" marT="41148" marB="41148" anchor="t">
                    <a:lnL w="0">
                      <a:noFill/>
                    </a:lnL>
                    <a:lnR w="0">
                      <a:noFill/>
                    </a:lnR>
                    <a:lnT w="0">
                      <a:noFill/>
                    </a:lnT>
                    <a:lnB w="9525">
                      <a:solidFill>
                        <a:srgbClr val="E2E4E7"/>
                      </a:solidFill>
                    </a:lnB>
                    <a:noFill/>
                  </a:tcPr>
                </a:tc>
              </a:tr>
              <a:tr h="532790">
                <a:tc>
                  <a:txBody>
                    <a:bodyPr wrap="square"/>
                    <a:lstStyle/>
                    <a:p>
                      <a:pPr algn="l">
                        <a:lnSpc>
                          <a:spcPct val="100000"/>
                        </a:lnSpc>
                      </a:pPr>
                      <a:r>
                        <a:rPr sz="800" b="1">
                          <a:solidFill>
                            <a:srgbClr val="15171A"/>
                          </a:solidFill>
                          <a:latin typeface="Noto Sans KR"/>
                          <a:ea typeface="Noto Sans KR"/>
                          <a:cs typeface="Noto Sans KR"/>
                        </a:rPr>
                        <a:t>WP4</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Minimal Environment Interface</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M3~M22</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필요한 곳에만 표준 Interface</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Robot Home (보관 · 전개) · Tool Dock · Storage Dock</a:t>
                      </a:r>
                    </a:p>
                    <a:p>
                      <a:pPr algn="l">
                        <a:lnSpc>
                          <a:spcPct val="100000"/>
                        </a:lnSpc>
                      </a:pPr>
                      <a:r>
                        <a:rPr sz="800" b="0">
                          <a:solidFill>
                            <a:srgbClr val="15171A"/>
                          </a:solidFill>
                          <a:latin typeface="Noto Sans KR"/>
                          <a:ea typeface="Noto Sans KR"/>
                          <a:cs typeface="Noto Sans KR"/>
                        </a:rPr>
                        <a:t>· 식세기 Interface (랙 · 문) · Vision Reference</a:t>
                      </a:r>
                    </a:p>
                    <a:p>
                      <a:pPr algn="l">
                        <a:lnSpc>
                          <a:spcPct val="100000"/>
                        </a:lnSpc>
                      </a:pPr>
                      <a:r>
                        <a:rPr sz="800" b="0">
                          <a:solidFill>
                            <a:srgbClr val="15171A"/>
                          </a:solidFill>
                          <a:latin typeface="Noto Sans KR"/>
                          <a:ea typeface="Noto Sans KR"/>
                          <a:cs typeface="Noto Sans KR"/>
                        </a:rPr>
                        <a:t>· Retrofit Compact Mount · 설치 표준</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Interface 표준 v1 · 설치 표준서</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Installation Time · Compatibility · 표준부품 사용률</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임베디드 · 전기 · 안전 · Hand 리드 · 설치 엔지니어</a:t>
                      </a:r>
                    </a:p>
                  </a:txBody>
                  <a:tcPr marL="73152" marR="73152" marT="41148" marB="41148" anchor="t">
                    <a:lnL w="0">
                      <a:noFill/>
                    </a:lnL>
                    <a:lnR w="0">
                      <a:noFill/>
                    </a:lnR>
                    <a:lnT w="0">
                      <a:noFill/>
                    </a:lnT>
                    <a:lnB w="9525">
                      <a:solidFill>
                        <a:srgbClr val="E2E4E7"/>
                      </a:solidFill>
                    </a:lnB>
                    <a:noFill/>
                  </a:tcPr>
                </a:tc>
              </a:tr>
              <a:tr h="827024">
                <a:tc>
                  <a:txBody>
                    <a:bodyPr wrap="square"/>
                    <a:lstStyle/>
                    <a:p>
                      <a:pPr algn="l">
                        <a:lnSpc>
                          <a:spcPct val="100000"/>
                        </a:lnSpc>
                      </a:pPr>
                      <a:r>
                        <a:rPr sz="800" b="1">
                          <a:solidFill>
                            <a:srgbClr val="15171A"/>
                          </a:solidFill>
                          <a:latin typeface="Noto Sans KR"/>
                          <a:ea typeface="Noto Sans KR"/>
                          <a:cs typeface="Noto Sans KR"/>
                        </a:rPr>
                        <a:t>WP5</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Human-Robot Safety</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M4~M24</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사람 곁 주방에서 안전 기준 충족</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Zone Sensing · 감속 · 정지 · 충돌 감지 · E-Stop · Safe Home Return</a:t>
                      </a:r>
                    </a:p>
                    <a:p>
                      <a:pPr algn="l">
                        <a:lnSpc>
                          <a:spcPct val="100000"/>
                        </a:lnSpc>
                      </a:pPr>
                      <a:r>
                        <a:rPr sz="800" b="0">
                          <a:solidFill>
                            <a:srgbClr val="15171A"/>
                          </a:solidFill>
                          <a:latin typeface="Noto Sans KR"/>
                          <a:ea typeface="Noto Sans KR"/>
                          <a:cs typeface="Noto Sans KR"/>
                        </a:rPr>
                        <a:t>· Risk Assessment · 표준 Gap (ISO 10218-2:2025 · IEC 63682 초안 · ISO 13482)</a:t>
                      </a:r>
                    </a:p>
                    <a:p>
                      <a:pPr algn="l">
                        <a:lnSpc>
                          <a:spcPct val="100000"/>
                        </a:lnSpc>
                      </a:pPr>
                      <a:r>
                        <a:rPr sz="800" b="0">
                          <a:solidFill>
                            <a:srgbClr val="15171A"/>
                          </a:solidFill>
                          <a:latin typeface="Noto Sans KR"/>
                          <a:ea typeface="Noto Sans KR"/>
                          <a:cs typeface="Noto Sans KR"/>
                        </a:rPr>
                        <a:t>· 전기안전 · EMC 사전시험</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Safety Architecture · 사전시험 결과</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감속 250mm/s · 접촉력 기준 충족 · 사전시험 통과</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임베디드 · 전기 · 안전 · 시험 · 신뢰성</a:t>
                      </a:r>
                    </a:p>
                  </a:txBody>
                  <a:tcPr marL="73152" marR="73152" marT="41148" marB="41148" anchor="t">
                    <a:lnL w="0">
                      <a:noFill/>
                    </a:lnL>
                    <a:lnR w="0">
                      <a:noFill/>
                    </a:lnR>
                    <a:lnT w="0">
                      <a:noFill/>
                    </a:lnT>
                    <a:lnB w="9525">
                      <a:solidFill>
                        <a:srgbClr val="E2E4E7"/>
                      </a:solidFill>
                    </a:lnB>
                    <a:noFill/>
                  </a:tcPr>
                </a:tc>
              </a:tr>
              <a:tr h="532790">
                <a:tc>
                  <a:txBody>
                    <a:bodyPr wrap="square"/>
                    <a:lstStyle/>
                    <a:p>
                      <a:pPr algn="l">
                        <a:lnSpc>
                          <a:spcPct val="100000"/>
                        </a:lnSpc>
                      </a:pPr>
                      <a:r>
                        <a:rPr sz="800" b="1">
                          <a:solidFill>
                            <a:srgbClr val="15171A"/>
                          </a:solidFill>
                          <a:latin typeface="Noto Sans KR"/>
                          <a:ea typeface="Noto Sans KR"/>
                          <a:cs typeface="Noto Sans KR"/>
                        </a:rPr>
                        <a:t>WP6</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1">
                          <a:solidFill>
                            <a:srgbClr val="15171A"/>
                          </a:solidFill>
                          <a:latin typeface="Noto Sans KR"/>
                          <a:ea typeface="Noto Sans KR"/>
                          <a:cs typeface="Noto Sans KR"/>
                        </a:rPr>
                        <a:t>Integrated CLEAN 실증</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M9~M24</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목업 → 주방 3종 → 가정 3세대로 끝까지 검증</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 1:1 목업 CLEAN (M9~M12)</a:t>
                      </a:r>
                    </a:p>
                    <a:p>
                      <a:pPr algn="l">
                        <a:lnSpc>
                          <a:spcPct val="100000"/>
                        </a:lnSpc>
                      </a:pPr>
                      <a:r>
                        <a:rPr sz="800" b="0">
                          <a:solidFill>
                            <a:srgbClr val="15171A"/>
                          </a:solidFill>
                          <a:latin typeface="Noto Sans KR"/>
                          <a:ea typeface="Noto Sans KR"/>
                          <a:cs typeface="Noto Sans KR"/>
                        </a:rPr>
                        <a:t>· 주방 3종 Transfer (M13~M18)</a:t>
                      </a:r>
                    </a:p>
                    <a:p>
                      <a:pPr algn="l">
                        <a:lnSpc>
                          <a:spcPct val="100000"/>
                        </a:lnSpc>
                      </a:pPr>
                      <a:r>
                        <a:rPr sz="800" b="0">
                          <a:solidFill>
                            <a:srgbClr val="15171A"/>
                          </a:solidFill>
                          <a:latin typeface="Noto Sans KR"/>
                          <a:ea typeface="Noto Sans KR"/>
                          <a:cs typeface="Noto Sans KR"/>
                        </a:rPr>
                        <a:t>· 가정 실증 3세대 · 연속 운전 신뢰성 (M19~M24)</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실증 보고서 · BOM · 설치 · Service 원가 실측</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Task Success (가정 ≥ 90%) · Pilot Conversion</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00" b="0">
                          <a:solidFill>
                            <a:srgbClr val="15171A"/>
                          </a:solidFill>
                          <a:latin typeface="Noto Sans KR"/>
                          <a:ea typeface="Noto Sans KR"/>
                          <a:cs typeface="Noto Sans KR"/>
                        </a:rPr>
                        <a:t>시험 · 신뢰성 · 설치 엔지니어 · 사업개발</a:t>
                      </a:r>
                    </a:p>
                  </a:txBody>
                  <a:tcPr marL="73152" marR="73152" marT="41148" marB="41148"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A5  ·  TIPS 과제 상세</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Gate · 중단 기준 (24개월)</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Roadmap이 아니라 기업가치를 바꾸는 Evidence 중심. 기준 미달 시 구조 변경 · 범위 축소 · Scale 보류.</a:t>
            </a:r>
          </a:p>
        </p:txBody>
      </p:sp>
      <p:graphicFrame>
        <p:nvGraphicFramePr>
          <p:cNvPr id="5" name="Table 4"/>
          <p:cNvGraphicFramePr>
            <a:graphicFrameLocks noGrp="1"/>
          </p:cNvGraphicFramePr>
          <p:nvPr/>
        </p:nvGraphicFramePr>
        <p:xfrm>
          <a:off x="685800" y="1790567"/>
          <a:ext cx="10817352" cy="1991968"/>
        </p:xfrm>
        <a:graphic>
          <a:graphicData uri="http://schemas.openxmlformats.org/drawingml/2006/table">
            <a:tbl>
              <a:tblPr firstRow="0" bandRow="0">
                <a:tableStyleId>{2D5ABB26-0587-4C30-8999-92F81FD0307C}</a:tableStyleId>
              </a:tblPr>
              <a:tblGrid>
                <a:gridCol w="731520"/>
                <a:gridCol w="4206240"/>
                <a:gridCol w="3017520"/>
                <a:gridCol w="2862072"/>
              </a:tblGrid>
              <a:tr h="293573">
                <a:tc>
                  <a:txBody>
                    <a:bodyPr wrap="square"/>
                    <a:lstStyle/>
                    <a:p>
                      <a:pPr algn="l">
                        <a:lnSpc>
                          <a:spcPct val="100000"/>
                        </a:lnSpc>
                      </a:pPr>
                      <a:r>
                        <a:rPr sz="950" b="1">
                          <a:solidFill>
                            <a:srgbClr val="15171A"/>
                          </a:solidFill>
                          <a:latin typeface="Noto Sans KR"/>
                          <a:ea typeface="Noto Sans KR"/>
                          <a:cs typeface="Noto Sans KR"/>
                        </a:rPr>
                        <a:t>Gate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확인할 Evidence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통과 기준 (TARGET)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미달 시 조치</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1">
                          <a:solidFill>
                            <a:srgbClr val="E2571B"/>
                          </a:solidFill>
                          <a:latin typeface="Noto Sans KR"/>
                          <a:ea typeface="Noto Sans KR"/>
                          <a:cs typeface="Noto Sans KR"/>
                        </a:rPr>
                        <a:t>M6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Hand v1 vs 상용 Gripper (30종) · Robot Architecture 확정 · 평면 30개 분석 · 인터뷰 50명</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Coverage +15%p 또는 Tool 교체 50% 감소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상용 Gripper + 교체형 Pad로 전환 (Buy) · WP1 예산 재배분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E2571B"/>
                          </a:solidFill>
                          <a:latin typeface="Noto Sans KR"/>
                          <a:ea typeface="Noto Sans KR"/>
                          <a:cs typeface="Noto Sans KR"/>
                        </a:rPr>
                        <a:t>M12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목업 CLEAN 전 과정 · 식기 성공률 · 안전 기능 · 특허 출원 2건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식기 성공률 ≥ 80% · Safety 기능 동작</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Loading 범위로 축소 · Interface 보강 후 재시험</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1">
                          <a:solidFill>
                            <a:srgbClr val="E2571B"/>
                          </a:solidFill>
                          <a:latin typeface="Noto Sans KR"/>
                          <a:ea typeface="Noto Sans KR"/>
                          <a:cs typeface="Noto Sans KR"/>
                        </a:rPr>
                        <a:t>M18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주방 3종 Transfer · Calibration 시간 · WTP n ≥ 300 · 예약금 Test · 인증 사전상담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하락 ≤ 10%p · Calibration ≤ 4시간 · WTP ≥ 30% (1,490만원)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Retrofit 보류 · Remodeling 집중 / 가격 · 구성 재설계</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1">
                          <a:solidFill>
                            <a:srgbClr val="E2571B"/>
                          </a:solidFill>
                          <a:latin typeface="Noto Sans KR"/>
                          <a:ea typeface="Noto Sans KR"/>
                          <a:cs typeface="Noto Sans KR"/>
                        </a:rPr>
                        <a:t>M24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 3세대 실증 · 유료 전환 · BOM · 설치 · Service 원가 실측 · Partner 조건 · 출원 5건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 ≥ 90% · 유료 전환 ≥ 2세대 · 원가가 가정 범위 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Bridge 또는 범위 축소 후 재검증 (Series A 연기)</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3928841"/>
            <a:ext cx="10820095" cy="421741"/>
          </a:xfrm>
          <a:prstGeom prst="rect">
            <a:avLst/>
          </a:prstGeom>
          <a:solidFill>
            <a:srgbClr val="F4F5F6"/>
          </a:solidFill>
          <a:ln>
            <a:noFill/>
          </a:ln>
        </p:spPr>
        <p:txBody>
          <a:bodyPr rtlCol="0" anchor="ctr"/>
          <a:lstStyle/>
          <a:p>
            <a:pPr algn="ctr"/>
          </a:p>
        </p:txBody>
      </p:sp>
      <p:sp>
        <p:nvSpPr>
          <p:cNvPr id="7" name="Rectangle 6"/>
          <p:cNvSpPr/>
          <p:nvPr/>
        </p:nvSpPr>
        <p:spPr>
          <a:xfrm>
            <a:off x="685800" y="3928841"/>
            <a:ext cx="54864" cy="421741"/>
          </a:xfrm>
          <a:prstGeom prst="rect">
            <a:avLst/>
          </a:prstGeom>
          <a:solidFill>
            <a:srgbClr val="E2571B"/>
          </a:solidFill>
          <a:ln>
            <a:noFill/>
          </a:ln>
        </p:spPr>
        <p:txBody>
          <a:bodyPr rtlCol="0" anchor="ctr"/>
          <a:lstStyle/>
          <a:p>
            <a:pPr algn="ctr"/>
          </a:p>
        </p:txBody>
      </p:sp>
      <p:sp>
        <p:nvSpPr>
          <p:cNvPr id="8" name="TextBox 7"/>
          <p:cNvSpPr txBox="1"/>
          <p:nvPr/>
        </p:nvSpPr>
        <p:spPr>
          <a:xfrm>
            <a:off x="886968" y="3928841"/>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Series A 판단 = 기술 성공 + 유료 전환 + 설치 · 서비스 원가 실측 (M24). 기준 미달 시 Bridge 또는 범위 축소 후 재검증</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A6  ·  TIPS 과제 상세</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TIPS 과제 편성 · 24개월 사용처 (Base)</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TIPS 과제 총 10.67억원 = 정부 8억원 (75%) + 기관부담 2.67억원. 회사 전체 24개월 지출 23.4억원 중 일부 (모든 값 ASSUMPTION, 규정은 FACT)</a:t>
            </a:r>
          </a:p>
        </p:txBody>
      </p:sp>
      <p:graphicFrame>
        <p:nvGraphicFramePr>
          <p:cNvPr id="5" name="Table 4"/>
          <p:cNvGraphicFramePr>
            <a:graphicFrameLocks noGrp="1"/>
          </p:cNvGraphicFramePr>
          <p:nvPr/>
        </p:nvGraphicFramePr>
        <p:xfrm>
          <a:off x="685800" y="1790567"/>
          <a:ext cx="4937760" cy="2128720"/>
        </p:xfrm>
        <a:graphic>
          <a:graphicData uri="http://schemas.openxmlformats.org/drawingml/2006/table">
            <a:tbl>
              <a:tblPr firstRow="0" bandRow="0">
                <a:tableStyleId>{2D5ABB26-0587-4C30-8999-92F81FD0307C}</a:tableStyleId>
              </a:tblPr>
              <a:tblGrid>
                <a:gridCol w="1600200"/>
                <a:gridCol w="822960"/>
                <a:gridCol w="822960"/>
                <a:gridCol w="914400"/>
                <a:gridCol w="777240"/>
              </a:tblGrid>
              <a:tr h="266090">
                <a:tc>
                  <a:txBody>
                    <a:bodyPr wrap="square"/>
                    <a:lstStyle/>
                    <a:p>
                      <a:pPr algn="l">
                        <a:lnSpc>
                          <a:spcPct val="100000"/>
                        </a:lnSpc>
                      </a:pPr>
                      <a:r>
                        <a:rPr sz="900" b="1">
                          <a:solidFill>
                            <a:srgbClr val="15171A"/>
                          </a:solidFill>
                          <a:latin typeface="Noto Sans KR"/>
                          <a:ea typeface="Noto Sans KR"/>
                          <a:cs typeface="Noto Sans KR"/>
                        </a:rPr>
                        <a:t>TIPS 비목 (만원)</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1차년도</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2차년도</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합계</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00" b="1">
                          <a:solidFill>
                            <a:srgbClr val="15171A"/>
                          </a:solidFill>
                          <a:latin typeface="Noto Sans KR"/>
                          <a:ea typeface="Noto Sans KR"/>
                          <a:cs typeface="Noto Sans KR"/>
                        </a:rPr>
                        <a:t>구분</a:t>
                      </a:r>
                    </a:p>
                  </a:txBody>
                  <a:tcPr marL="73152" marR="73152" marT="45720" marB="45720" anchor="t">
                    <a:lnL w="0">
                      <a:noFill/>
                    </a:lnL>
                    <a:lnR w="0">
                      <a:noFill/>
                    </a:lnR>
                    <a:lnT w="12700">
                      <a:solidFill>
                        <a:srgbClr val="15171A"/>
                      </a:solidFill>
                    </a:lnT>
                    <a:lnB w="9525">
                      <a:solidFill>
                        <a:srgbClr val="15171A"/>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인건비 (현금)</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20,655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32,520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53,175</a:t>
                      </a:r>
                    </a:p>
                  </a:txBody>
                  <a:tcPr marL="73152" marR="73152" marT="45720" marB="45720" anchor="t">
                    <a:lnL w="0">
                      <a:noFill/>
                    </a:lnL>
                    <a:lnR w="0">
                      <a:noFill/>
                    </a:lnR>
                    <a:lnT w="0">
                      <a:noFill/>
                    </a:lnT>
                    <a:lnB w="9525">
                      <a:solidFill>
                        <a:srgbClr val="E2E4E7"/>
                      </a:solidFill>
                    </a:lnB>
                    <a:noFill/>
                  </a:tcPr>
                </a:tc>
                <a:tc>
                  <a:txBody>
                    <a:bodyPr wrap="square"/>
                    <a:lstStyle/>
                    <a:p>
                      <a:pPr algn="ctr">
                        <a:lnSpc>
                          <a:spcPct val="100000"/>
                        </a:lnSpc>
                      </a:pPr>
                      <a:r>
                        <a:rPr sz="900" b="0">
                          <a:solidFill>
                            <a:srgbClr val="15171A"/>
                          </a:solidFill>
                          <a:latin typeface="Noto Sans KR"/>
                          <a:ea typeface="Noto Sans KR"/>
                          <a:cs typeface="Noto Sans KR"/>
                        </a:rPr>
                        <a:t>현금</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인건비 (현물)</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6,600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6,600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13,200</a:t>
                      </a:r>
                    </a:p>
                  </a:txBody>
                  <a:tcPr marL="73152" marR="73152" marT="45720" marB="45720" anchor="t">
                    <a:lnL w="0">
                      <a:noFill/>
                    </a:lnL>
                    <a:lnR w="0">
                      <a:noFill/>
                    </a:lnR>
                    <a:lnT w="0">
                      <a:noFill/>
                    </a:lnT>
                    <a:lnB w="9525">
                      <a:solidFill>
                        <a:srgbClr val="E2E4E7"/>
                      </a:solidFill>
                    </a:lnB>
                    <a:noFill/>
                  </a:tcPr>
                </a:tc>
                <a:tc>
                  <a:txBody>
                    <a:bodyPr wrap="square"/>
                    <a:lstStyle/>
                    <a:p>
                      <a:pPr algn="ctr">
                        <a:lnSpc>
                          <a:spcPct val="100000"/>
                        </a:lnSpc>
                      </a:pPr>
                      <a:r>
                        <a:rPr sz="900" b="0">
                          <a:solidFill>
                            <a:srgbClr val="15171A"/>
                          </a:solidFill>
                          <a:latin typeface="Noto Sans KR"/>
                          <a:ea typeface="Noto Sans KR"/>
                          <a:cs typeface="Noto Sans KR"/>
                        </a:rPr>
                        <a:t>현물</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연구재료비</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13,240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6,880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20,120</a:t>
                      </a:r>
                    </a:p>
                  </a:txBody>
                  <a:tcPr marL="73152" marR="73152" marT="45720" marB="45720" anchor="t">
                    <a:lnL w="0">
                      <a:noFill/>
                    </a:lnL>
                    <a:lnR w="0">
                      <a:noFill/>
                    </a:lnR>
                    <a:lnT w="0">
                      <a:noFill/>
                    </a:lnT>
                    <a:lnB w="9525">
                      <a:solidFill>
                        <a:srgbClr val="E2E4E7"/>
                      </a:solidFill>
                    </a:lnB>
                    <a:noFill/>
                  </a:tcPr>
                </a:tc>
                <a:tc>
                  <a:txBody>
                    <a:bodyPr wrap="square"/>
                    <a:lstStyle/>
                    <a:p>
                      <a:pPr algn="ctr">
                        <a:lnSpc>
                          <a:spcPct val="100000"/>
                        </a:lnSpc>
                      </a:pPr>
                      <a:r>
                        <a:rPr sz="900" b="0">
                          <a:solidFill>
                            <a:srgbClr val="15171A"/>
                          </a:solidFill>
                          <a:latin typeface="Noto Sans KR"/>
                          <a:ea typeface="Noto Sans KR"/>
                          <a:cs typeface="Noto Sans KR"/>
                        </a:rPr>
                        <a:t>현금</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연구활동비</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4,700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6,825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11,525</a:t>
                      </a:r>
                    </a:p>
                  </a:txBody>
                  <a:tcPr marL="73152" marR="73152" marT="45720" marB="45720" anchor="t">
                    <a:lnL w="0">
                      <a:noFill/>
                    </a:lnL>
                    <a:lnR w="0">
                      <a:noFill/>
                    </a:lnR>
                    <a:lnT w="0">
                      <a:noFill/>
                    </a:lnT>
                    <a:lnB w="9525">
                      <a:solidFill>
                        <a:srgbClr val="E2E4E7"/>
                      </a:solidFill>
                    </a:lnB>
                    <a:noFill/>
                  </a:tcPr>
                </a:tc>
                <a:tc>
                  <a:txBody>
                    <a:bodyPr wrap="square"/>
                    <a:lstStyle/>
                    <a:p>
                      <a:pPr algn="ctr">
                        <a:lnSpc>
                          <a:spcPct val="100000"/>
                        </a:lnSpc>
                      </a:pPr>
                      <a:r>
                        <a:rPr sz="900" b="0">
                          <a:solidFill>
                            <a:srgbClr val="15171A"/>
                          </a:solidFill>
                          <a:latin typeface="Noto Sans KR"/>
                          <a:ea typeface="Noto Sans KR"/>
                          <a:cs typeface="Noto Sans KR"/>
                        </a:rPr>
                        <a:t>현금</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연구수당</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1,033</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1,626</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2,659</a:t>
                      </a:r>
                    </a:p>
                  </a:txBody>
                  <a:tcPr marL="73152" marR="73152" marT="45720" marB="45720" anchor="t">
                    <a:lnL w="0">
                      <a:noFill/>
                    </a:lnL>
                    <a:lnR w="0">
                      <a:noFill/>
                    </a:lnR>
                    <a:lnT w="0">
                      <a:noFill/>
                    </a:lnT>
                    <a:lnB w="9525">
                      <a:solidFill>
                        <a:srgbClr val="E2E4E7"/>
                      </a:solidFill>
                    </a:lnB>
                    <a:noFill/>
                  </a:tcPr>
                </a:tc>
                <a:tc>
                  <a:txBody>
                    <a:bodyPr wrap="square"/>
                    <a:lstStyle/>
                    <a:p>
                      <a:pPr algn="ctr">
                        <a:lnSpc>
                          <a:spcPct val="100000"/>
                        </a:lnSpc>
                      </a:pPr>
                      <a:r>
                        <a:rPr sz="900" b="0">
                          <a:solidFill>
                            <a:srgbClr val="15171A"/>
                          </a:solidFill>
                          <a:latin typeface="Noto Sans KR"/>
                          <a:ea typeface="Noto Sans KR"/>
                          <a:cs typeface="Noto Sans KR"/>
                        </a:rPr>
                        <a:t>현금</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간접비</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2,749</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3,238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5,988</a:t>
                      </a:r>
                    </a:p>
                  </a:txBody>
                  <a:tcPr marL="73152" marR="73152" marT="45720" marB="45720" anchor="t">
                    <a:lnL w="0">
                      <a:noFill/>
                    </a:lnL>
                    <a:lnR w="0">
                      <a:noFill/>
                    </a:lnR>
                    <a:lnT w="0">
                      <a:noFill/>
                    </a:lnT>
                    <a:lnB w="9525">
                      <a:solidFill>
                        <a:srgbClr val="E2E4E7"/>
                      </a:solidFill>
                    </a:lnB>
                    <a:noFill/>
                  </a:tcPr>
                </a:tc>
                <a:tc>
                  <a:txBody>
                    <a:bodyPr wrap="square"/>
                    <a:lstStyle/>
                    <a:p>
                      <a:pPr algn="ctr">
                        <a:lnSpc>
                          <a:spcPct val="100000"/>
                        </a:lnSpc>
                      </a:pPr>
                      <a:r>
                        <a:rPr sz="900" b="0">
                          <a:solidFill>
                            <a:srgbClr val="15171A"/>
                          </a:solidFill>
                          <a:latin typeface="Noto Sans KR"/>
                          <a:ea typeface="Noto Sans KR"/>
                          <a:cs typeface="Noto Sans KR"/>
                        </a:rPr>
                        <a:t>현금</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합계</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48,977</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57,689</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106,667</a:t>
                      </a:r>
                    </a:p>
                  </a:txBody>
                  <a:tcPr marL="73152" marR="73152" marT="45720" marB="45720" anchor="t">
                    <a:lnL w="0">
                      <a:noFill/>
                    </a:lnL>
                    <a:lnR w="0">
                      <a:noFill/>
                    </a:lnR>
                    <a:lnT w="0">
                      <a:noFill/>
                    </a:lnT>
                    <a:lnB w="9525">
                      <a:solidFill>
                        <a:srgbClr val="E2E4E7"/>
                      </a:solidFill>
                    </a:lnB>
                    <a:noFill/>
                  </a:tcPr>
                </a:tc>
                <a:tc>
                  <a:txBody>
                    <a:bodyPr wrap="square"/>
                    <a:lstStyle/>
                    <a:p>
                      <a:pPr algn="ctr">
                        <a:lnSpc>
                          <a:spcPct val="100000"/>
                        </a:lnSpc>
                      </a:pPr>
                      <a:r>
                        <a:rPr sz="900" b="0">
                          <a:solidFill>
                            <a:srgbClr val="15171A"/>
                          </a:solidFill>
                          <a:latin typeface="Noto Sans KR"/>
                          <a:ea typeface="Noto Sans KR"/>
                          <a:cs typeface="Noto Sans KR"/>
                        </a:rPr>
                        <a:t/>
                      </a:r>
                    </a:p>
                  </a:txBody>
                  <a:tcPr marL="73152" marR="73152" marT="45720" marB="45720"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85800" y="4056451"/>
          <a:ext cx="4937760" cy="1064360"/>
        </p:xfrm>
        <a:graphic>
          <a:graphicData uri="http://schemas.openxmlformats.org/drawingml/2006/table">
            <a:tbl>
              <a:tblPr firstRow="0" bandRow="0">
                <a:tableStyleId>{2D5ABB26-0587-4C30-8999-92F81FD0307C}</a:tableStyleId>
              </a:tblPr>
              <a:tblGrid>
                <a:gridCol w="2011680"/>
                <a:gridCol w="1097280"/>
                <a:gridCol w="1828800"/>
              </a:tblGrid>
              <a:tr h="266090">
                <a:tc>
                  <a:txBody>
                    <a:bodyPr wrap="square"/>
                    <a:lstStyle/>
                    <a:p>
                      <a:pPr algn="l">
                        <a:lnSpc>
                          <a:spcPct val="100000"/>
                        </a:lnSpc>
                      </a:pPr>
                      <a:r>
                        <a:rPr sz="900" b="0">
                          <a:solidFill>
                            <a:srgbClr val="15171A"/>
                          </a:solidFill>
                          <a:latin typeface="Noto Sans KR"/>
                          <a:ea typeface="Noto Sans KR"/>
                          <a:cs typeface="Noto Sans KR"/>
                        </a:rPr>
                        <a:t>정부지원 (75%)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80,000</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FACT 상한</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기관부담 현금</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13,467</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 10% 충족 (51%)</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기관부담 현물</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13,200</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Founder 참여분</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간접비율 (현금 직접비 대비)</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6.8%</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협약 기준 확인 필요</a:t>
                      </a:r>
                    </a:p>
                  </a:txBody>
                  <a:tcPr marL="73152" marR="73152" marT="45720" marB="45720" anchor="t">
                    <a:lnL w="0">
                      <a:noFill/>
                    </a:lnL>
                    <a:lnR w="0">
                      <a:noFill/>
                    </a:lnR>
                    <a:lnT w="0">
                      <a:noFill/>
                    </a:lnT>
                    <a:lnB w="9525">
                      <a:solidFill>
                        <a:srgbClr val="E2E4E7"/>
                      </a:solidFill>
                    </a:lnB>
                    <a:noFill/>
                  </a:tcPr>
                </a:tc>
              </a:tr>
            </a:tbl>
          </a:graphicData>
        </a:graphic>
      </p:graphicFrame>
      <p:graphicFrame>
        <p:nvGraphicFramePr>
          <p:cNvPr id="7" name="Table 6"/>
          <p:cNvGraphicFramePr>
            <a:graphicFrameLocks noGrp="1"/>
          </p:cNvGraphicFramePr>
          <p:nvPr/>
        </p:nvGraphicFramePr>
        <p:xfrm>
          <a:off x="5897880" y="1790567"/>
          <a:ext cx="5608015" cy="3671408"/>
        </p:xfrm>
        <a:graphic>
          <a:graphicData uri="http://schemas.openxmlformats.org/drawingml/2006/table">
            <a:tbl>
              <a:tblPr firstRow="0" bandRow="0">
                <a:tableStyleId>{2D5ABB26-0587-4C30-8999-92F81FD0307C}</a:tableStyleId>
              </a:tblPr>
              <a:tblGrid>
                <a:gridCol w="2864815"/>
                <a:gridCol w="914400"/>
                <a:gridCol w="914400"/>
                <a:gridCol w="914400"/>
              </a:tblGrid>
              <a:tr h="229463">
                <a:tc>
                  <a:txBody>
                    <a:bodyPr wrap="square"/>
                    <a:lstStyle/>
                    <a:p>
                      <a:pPr algn="l">
                        <a:lnSpc>
                          <a:spcPct val="100000"/>
                        </a:lnSpc>
                      </a:pPr>
                      <a:r>
                        <a:rPr sz="850" b="1">
                          <a:solidFill>
                            <a:srgbClr val="15171A"/>
                          </a:solidFill>
                          <a:latin typeface="Noto Sans KR"/>
                          <a:ea typeface="Noto Sans KR"/>
                          <a:cs typeface="Noto Sans KR"/>
                        </a:rPr>
                        <a:t>24개월 사용처 (만원)</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50" b="1">
                          <a:solidFill>
                            <a:srgbClr val="15171A"/>
                          </a:solidFill>
                          <a:latin typeface="Noto Sans KR"/>
                          <a:ea typeface="Noto Sans KR"/>
                          <a:cs typeface="Noto Sans KR"/>
                        </a:rPr>
                        <a:t>합계</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50" b="1">
                          <a:solidFill>
                            <a:srgbClr val="15171A"/>
                          </a:solidFill>
                          <a:latin typeface="Noto Sans KR"/>
                          <a:ea typeface="Noto Sans KR"/>
                          <a:cs typeface="Noto Sans KR"/>
                        </a:rPr>
                        <a:t>TIPS 편성</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50" b="1">
                          <a:solidFill>
                            <a:srgbClr val="15171A"/>
                          </a:solidFill>
                          <a:latin typeface="Noto Sans KR"/>
                          <a:ea typeface="Noto Sans KR"/>
                          <a:cs typeface="Noto Sans KR"/>
                        </a:rPr>
                        <a:t>그 외 (Seed)</a:t>
                      </a:r>
                    </a:p>
                  </a:txBody>
                  <a:tcPr marL="73152" marR="73152" marT="32004" marB="32004" anchor="t">
                    <a:lnL w="0">
                      <a:noFill/>
                    </a:lnL>
                    <a:lnR w="0">
                      <a:noFill/>
                    </a:lnR>
                    <a:lnT w="12700">
                      <a:solidFill>
                        <a:srgbClr val="15171A"/>
                      </a:solidFill>
                    </a:lnT>
                    <a:lnB w="9525">
                      <a:solidFill>
                        <a:srgbClr val="15171A"/>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인건비</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152,875</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66,375</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86,500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연구수당</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2,659</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2,659</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Robot Hardware</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6,400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5,120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1,280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Hand Prototype</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10,000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9,000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1,000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Kitchen Mock-up</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7,500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1,500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Software · Data</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5,500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4,400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1,100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Pilot</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3,500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3,500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Customer · Partner</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6,000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Certification</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3,525</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2,475</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IP</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4,500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3,600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900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Space</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9,600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5,988</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3,612</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Operating</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9,000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9,000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예비비</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6,800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6,800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실증 순비용</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3,805</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3,805</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1">
                          <a:solidFill>
                            <a:srgbClr val="15171A"/>
                          </a:solidFill>
                          <a:latin typeface="Noto Sans KR"/>
                          <a:ea typeface="Noto Sans KR"/>
                          <a:cs typeface="Noto Sans KR"/>
                        </a:rPr>
                        <a:t>합계</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234,139</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106,667</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127,472</a:t>
                      </a:r>
                    </a:p>
                  </a:txBody>
                  <a:tcPr marL="73152" marR="73152" marT="32004" marB="32004" anchor="t">
                    <a:lnL w="0">
                      <a:noFill/>
                    </a:lnL>
                    <a:lnR w="0">
                      <a:noFill/>
                    </a:lnR>
                    <a:lnT w="0">
                      <a:noFill/>
                    </a:lnT>
                    <a:lnB w="9525">
                      <a:solidFill>
                        <a:srgbClr val="E2E4E7"/>
                      </a:solidFill>
                    </a:lnB>
                    <a:noFill/>
                  </a:tcPr>
                </a:tc>
              </a:tr>
            </a:tbl>
          </a:graphicData>
        </a:graphic>
      </p:graphicFrame>
      <p:sp>
        <p:nvSpPr>
          <p:cNvPr id="8" name="TextBox 7"/>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9" name="TextBox 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A7  ·  TIPS 과제 상세</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24개월 팀 계획 (채용 계획, ASSUMPTION)</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Founder 2인 = TIPS 요건 기준의 자리 (인물 정보 없음). 연 인건비 = 연봉 × 1.2 (4대보험 · 퇴직급여). 평균 FTE 7.0 → 12.8, 24개월 차 약 14명.</a:t>
            </a:r>
          </a:p>
        </p:txBody>
      </p:sp>
      <p:graphicFrame>
        <p:nvGraphicFramePr>
          <p:cNvPr id="5" name="Table 4"/>
          <p:cNvGraphicFramePr>
            <a:graphicFrameLocks noGrp="1"/>
          </p:cNvGraphicFramePr>
          <p:nvPr/>
        </p:nvGraphicFramePr>
        <p:xfrm>
          <a:off x="685800" y="1790567"/>
          <a:ext cx="10817352" cy="3671408"/>
        </p:xfrm>
        <a:graphic>
          <a:graphicData uri="http://schemas.openxmlformats.org/drawingml/2006/table">
            <a:tbl>
              <a:tblPr firstRow="0" bandRow="0">
                <a:tableStyleId>{2D5ABB26-0587-4C30-8999-92F81FD0307C}</a:tableStyleId>
              </a:tblPr>
              <a:tblGrid>
                <a:gridCol w="3291840"/>
                <a:gridCol w="868680"/>
                <a:gridCol w="594360"/>
                <a:gridCol w="1143000"/>
                <a:gridCol w="548640"/>
                <a:gridCol w="914400"/>
                <a:gridCol w="1005840"/>
                <a:gridCol w="1005840"/>
                <a:gridCol w="1444752"/>
              </a:tblGrid>
              <a:tr h="229463">
                <a:tc>
                  <a:txBody>
                    <a:bodyPr wrap="square"/>
                    <a:lstStyle/>
                    <a:p>
                      <a:pPr algn="l">
                        <a:lnSpc>
                          <a:spcPct val="100000"/>
                        </a:lnSpc>
                      </a:pPr>
                      <a:r>
                        <a:rPr sz="850" b="1">
                          <a:solidFill>
                            <a:srgbClr val="15171A"/>
                          </a:solidFill>
                          <a:latin typeface="Noto Sans KR"/>
                          <a:ea typeface="Noto Sans KR"/>
                          <a:cs typeface="Noto Sans KR"/>
                        </a:rPr>
                        <a:t>역할</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구분</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50" b="1">
                          <a:solidFill>
                            <a:srgbClr val="15171A"/>
                          </a:solidFill>
                          <a:latin typeface="Noto Sans KR"/>
                          <a:ea typeface="Noto Sans KR"/>
                          <a:cs typeface="Noto Sans KR"/>
                        </a:rPr>
                        <a:t>시작</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50" b="1">
                          <a:solidFill>
                            <a:srgbClr val="15171A"/>
                          </a:solidFill>
                          <a:latin typeface="Noto Sans KR"/>
                          <a:ea typeface="Noto Sans KR"/>
                          <a:cs typeface="Noto Sans KR"/>
                        </a:rPr>
                        <a:t>연 인건비 (만원)</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50" b="1">
                          <a:solidFill>
                            <a:srgbClr val="15171A"/>
                          </a:solidFill>
                          <a:latin typeface="Noto Sans KR"/>
                          <a:ea typeface="Noto Sans KR"/>
                          <a:cs typeface="Noto Sans KR"/>
                        </a:rPr>
                        <a:t>FTE</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50" b="1">
                          <a:solidFill>
                            <a:srgbClr val="15171A"/>
                          </a:solidFill>
                          <a:latin typeface="Noto Sans KR"/>
                          <a:ea typeface="Noto Sans KR"/>
                          <a:cs typeface="Noto Sans KR"/>
                        </a:rPr>
                        <a:t>TIPS 참여율</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50" b="1">
                          <a:solidFill>
                            <a:srgbClr val="15171A"/>
                          </a:solidFill>
                          <a:latin typeface="Noto Sans KR"/>
                          <a:ea typeface="Noto Sans KR"/>
                          <a:cs typeface="Noto Sans KR"/>
                        </a:rPr>
                        <a:t>Y1 인건비</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50" b="1">
                          <a:solidFill>
                            <a:srgbClr val="15171A"/>
                          </a:solidFill>
                          <a:latin typeface="Noto Sans KR"/>
                          <a:ea typeface="Noto Sans KR"/>
                          <a:cs typeface="Noto Sans KR"/>
                        </a:rPr>
                        <a:t>Y2 인건비</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Lean 포함</a:t>
                      </a:r>
                    </a:p>
                  </a:txBody>
                  <a:tcPr marL="73152" marR="73152" marT="32004" marB="32004" anchor="t">
                    <a:lnL w="0">
                      <a:noFill/>
                    </a:lnL>
                    <a:lnR w="0">
                      <a:noFill/>
                    </a:lnR>
                    <a:lnT w="12700">
                      <a:solidFill>
                        <a:srgbClr val="15171A"/>
                      </a:solidFill>
                    </a:lnT>
                    <a:lnB w="9525">
                      <a:solidFill>
                        <a:srgbClr val="15171A"/>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대표 · 사업 총괄</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Founder</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공동창업자 · 기술 총괄</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Founder</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Manipulation · 제어 리드</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9,600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9,600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9,600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Perception · ML 리드</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M2</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9,600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8,800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9,600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Hand · 기구 리드 (메카트로닉스)</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M2</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9,600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8,800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9,600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임베디드 · 전기 · 안전</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M4</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7,800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5,850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7,800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Robot SW · 통합 (Motion · Skill)</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M6</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7,800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4,550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7,800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제품 · 사업개발 (고객 검증 · 파트너)</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사업</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M7</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7,200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3,600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7,200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Hand 센싱 (Grip Force · Slip)</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7,800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1,950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7,800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아니오</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경영지원 (재무 · 과제 관리, 0.5 FTE)</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경영지원</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5,400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0.5</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675</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2,700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시험 · 신뢰성 (Test · QA)</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M13</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7,800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40%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7,800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 (M19)</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설치 · Commissioning 엔지니어</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현장</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M13</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6,600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6,600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예</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Skill · Data 엔지니어</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R&amp;D</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M16</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7,800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40%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5,850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아니오</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현장 서비스 Technician</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현장</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M19</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5,400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2,700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아니오</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1">
                          <a:solidFill>
                            <a:srgbClr val="15171A"/>
                          </a:solidFill>
                          <a:latin typeface="Noto Sans KR"/>
                          <a:ea typeface="Noto Sans KR"/>
                          <a:cs typeface="Noto Sans KR"/>
                        </a:rPr>
                        <a:t>합계</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
                      </a:r>
                    </a:p>
                  </a:txBody>
                  <a:tcPr marL="73152" marR="73152" marT="32004" marB="32004"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55,825</a:t>
                      </a:r>
                    </a:p>
                  </a:txBody>
                  <a:tcPr marL="73152" marR="73152" marT="32004" marB="32004"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97,050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Lean 130,675</a:t>
                      </a:r>
                    </a:p>
                  </a:txBody>
                  <a:tcPr marL="73152" marR="73152" marT="32004" marB="3200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A7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  ·  제품 · 기술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Adaptive Hand 시험 계획 (Buy vs Build)</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상용 Gripper를 먼저 기준선으로 쓰고, 30종 식기 세트로 비교한 뒤 자체 Hand 개발 범위를 결정 (WP1)</a:t>
            </a:r>
          </a:p>
        </p:txBody>
      </p:sp>
      <p:graphicFrame>
        <p:nvGraphicFramePr>
          <p:cNvPr id="5" name="Table 4"/>
          <p:cNvGraphicFramePr>
            <a:graphicFrameLocks noGrp="1"/>
          </p:cNvGraphicFramePr>
          <p:nvPr/>
        </p:nvGraphicFramePr>
        <p:xfrm>
          <a:off x="685800" y="1790567"/>
          <a:ext cx="10817352" cy="2816858"/>
        </p:xfrm>
        <a:graphic>
          <a:graphicData uri="http://schemas.openxmlformats.org/drawingml/2006/table">
            <a:tbl>
              <a:tblPr firstRow="0" bandRow="0">
                <a:tableStyleId>{2D5ABB26-0587-4C30-8999-92F81FD0307C}</a:tableStyleId>
              </a:tblPr>
              <a:tblGrid>
                <a:gridCol w="1554480"/>
                <a:gridCol w="8001000"/>
                <a:gridCol w="1261872"/>
              </a:tblGrid>
              <a:tr h="293573">
                <a:tc>
                  <a:txBody>
                    <a:bodyPr wrap="square"/>
                    <a:lstStyle/>
                    <a:p>
                      <a:pPr algn="l">
                        <a:lnSpc>
                          <a:spcPct val="100000"/>
                        </a:lnSpc>
                      </a:pPr>
                      <a:r>
                        <a:rPr sz="95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1">
                          <a:solidFill>
                            <a:srgbClr val="15171A"/>
                          </a:solidFill>
                          <a:latin typeface="Noto Sans KR"/>
                          <a:ea typeface="Noto Sans KR"/>
                          <a:cs typeface="Noto Sans KR"/>
                        </a:rPr>
                        <a:t>시험 물체 (30종)</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접시 대 · 중 · 소 (도자기 · 멜라민) · 밥공기 · 국그릇 · 면기 · 컵 · 머그 · 유리잔 · 물병 · 수저 · 젓가락 · 냄비뚜껑 (유리 · 금속) · 집게 · 국자 · 뒤집개 · 보관용기 (유리 · Plastic) · 쟁반 · 도마 (소)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조건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건조 / 젖은 표면 · 세제 잔여 · 식기 겹침 · 식세기 랙 (하단 · 상단 · 수저통) · 수납 서랍 · 상부장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비교군 (Buy)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Robotiq 2F-85 (약 $5,825) · 저가 전동 Parallel Gripper · Suction Cup (식품용 실리콘) · Soft Finger (Fin-ray형)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자체 Hand (Build)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v1 (M4): 2+1 손가락 저구동 + 교체형 Pad · v2 (M10): Edge Lip · Slip 감지 · v3 (M18): 내구 · 위생 · 원가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측정 지표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종류별 성공률 · Tool 교체 횟수 · 파손 · 낙하 · 미끄럼 감지 · Cycle Time · Pad 마모 · 세척 후 성능 · 단가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판정 (M6)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Coverage +15%p 이상 또는 Tool 교체 50% 감소 → 자체 Hand 채택 · 아니면 상용 Gripper + 교체형 Pad (Buy)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식품 접촉 규격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식품위생법 "기구" · 「기구 및 용기 · 포장의 기준 및 규격」 고무제 (실리콘) 재질 · 용출 · 해외: FDA 21 CFR 177.2600 · EU 1935/2004 (수출 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연구 참고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GelSight 기반 실시간 미끄럼 감지 99% (일상 물체 10종 · 실험실) · 식세기 적재 연구 58.7% (트레이 25개)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753731"/>
            <a:ext cx="10820095" cy="421741"/>
          </a:xfrm>
          <a:prstGeom prst="rect">
            <a:avLst/>
          </a:prstGeom>
          <a:solidFill>
            <a:srgbClr val="F4F5F6"/>
          </a:solidFill>
          <a:ln>
            <a:noFill/>
          </a:ln>
        </p:spPr>
        <p:txBody>
          <a:bodyPr rtlCol="0" anchor="ctr"/>
          <a:lstStyle/>
          <a:p>
            <a:pPr algn="ctr"/>
          </a:p>
        </p:txBody>
      </p:sp>
      <p:sp>
        <p:nvSpPr>
          <p:cNvPr id="7" name="Rectangle 6"/>
          <p:cNvSpPr/>
          <p:nvPr/>
        </p:nvSpPr>
        <p:spPr>
          <a:xfrm>
            <a:off x="685800" y="4753731"/>
            <a:ext cx="54864" cy="421741"/>
          </a:xfrm>
          <a:prstGeom prst="rect">
            <a:avLst/>
          </a:prstGeom>
          <a:solidFill>
            <a:srgbClr val="E2571B"/>
          </a:solidFill>
          <a:ln>
            <a:noFill/>
          </a:ln>
        </p:spPr>
        <p:txBody>
          <a:bodyPr rtlCol="0" anchor="ctr"/>
          <a:lstStyle/>
          <a:p>
            <a:pPr algn="ctr"/>
          </a:p>
        </p:txBody>
      </p:sp>
      <p:sp>
        <p:nvSpPr>
          <p:cNvPr id="8" name="TextBox 7"/>
          <p:cNvSpPr txBox="1"/>
          <p:nvPr/>
        </p:nvSpPr>
        <p:spPr>
          <a:xfrm>
            <a:off x="886968" y="4753731"/>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자체 Hand 채택 조건 = 성공률 · 교체 횟수 · 원가 중 하나 이상에서 명확한 우위. 우위가 없으면 Buy로 전환하고 교체형 Pad · Skill에 집중</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B2  ·  제품 · 기술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Kitchen Variation 근거: 받은 평면 5종</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사용자 제공 도면을 치수선 기준으로 재작도 (특정 단지 표기 없음). 표본 5종 → 평면 30개 분석으로 확대 (M6, TARGET)</a:t>
            </a:r>
          </a:p>
        </p:txBody>
      </p:sp>
      <p:graphicFrame>
        <p:nvGraphicFramePr>
          <p:cNvPr id="5" name="Table 4"/>
          <p:cNvGraphicFramePr>
            <a:graphicFrameLocks noGrp="1"/>
          </p:cNvGraphicFramePr>
          <p:nvPr/>
        </p:nvGraphicFramePr>
        <p:xfrm>
          <a:off x="685800" y="1790567"/>
          <a:ext cx="10817352" cy="1936139"/>
        </p:xfrm>
        <a:graphic>
          <a:graphicData uri="http://schemas.openxmlformats.org/drawingml/2006/table">
            <a:tbl>
              <a:tblPr firstRow="0" bandRow="0">
                <a:tableStyleId>{2D5ABB26-0587-4C30-8999-92F81FD0307C}</a:tableStyleId>
              </a:tblPr>
              <a:tblGrid>
                <a:gridCol w="1143000"/>
                <a:gridCol w="1691640"/>
                <a:gridCol w="1234440"/>
                <a:gridCol w="2743200"/>
                <a:gridCol w="1463040"/>
                <a:gridCol w="2542032"/>
              </a:tblGrid>
              <a:tr h="293573">
                <a:tc>
                  <a:txBody>
                    <a:bodyPr wrap="square"/>
                    <a:lstStyle/>
                    <a:p>
                      <a:pPr algn="l">
                        <a:lnSpc>
                          <a:spcPct val="100000"/>
                        </a:lnSpc>
                      </a:pPr>
                      <a:r>
                        <a:rPr sz="950" b="1">
                          <a:solidFill>
                            <a:srgbClr val="15171A"/>
                          </a:solidFill>
                          <a:latin typeface="Noto Sans KR"/>
                          <a:ea typeface="Noto Sans KR"/>
                          <a:cs typeface="Noto Sans KR"/>
                        </a:rPr>
                        <a:t>평면</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구분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크기 (mm)</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주방 형태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디지털화 (3D)</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기본 배치 (Remodeling 한 줄)</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구축 2Bay A</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구축 · 계단실형 (코어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12,390 × 11,670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ㄱ자 (윗벽 3,255mm + 옆벽)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원본과 겹쳐 확인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수용: Remodeling 한 줄 3,150mm · 충돌검사 0cm (B4)</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구축 2Bay B</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구축 · 전면 발코니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10,940 × 8,500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ㄱ자 (싱크 줄 약 2.6m + 아랫벽) · 거실과 개방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미수용 · 냉장고 이전 시 약 3.3m</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신축 2Bay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신축 · 탑상형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15,120 × 10,730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옆벽 + 윗벽 + 아일랜드형 카운터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미착수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신축 3Bay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신축 · 판상형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12,400 × 10,550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윗벽 싱크 줄 약 2.6m + 옆벽 쿡탑 + 반도형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미수용 · 단축형 (Compact Mount) 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신축 4Bay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신축 · 판상형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14,700 × 9,780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윗벽 싱크 줄 약 2.8m + 옆벽 쿡탑 + 반도형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미수용 · 단축형 검토</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3873012"/>
            <a:ext cx="10820095" cy="421741"/>
          </a:xfrm>
          <a:prstGeom prst="rect">
            <a:avLst/>
          </a:prstGeom>
          <a:solidFill>
            <a:srgbClr val="F4F5F6"/>
          </a:solidFill>
          <a:ln>
            <a:noFill/>
          </a:ln>
        </p:spPr>
        <p:txBody>
          <a:bodyPr rtlCol="0" anchor="ctr"/>
          <a:lstStyle/>
          <a:p>
            <a:pPr algn="ctr"/>
          </a:p>
        </p:txBody>
      </p:sp>
      <p:sp>
        <p:nvSpPr>
          <p:cNvPr id="7" name="Rectangle 6"/>
          <p:cNvSpPr/>
          <p:nvPr/>
        </p:nvSpPr>
        <p:spPr>
          <a:xfrm>
            <a:off x="685800" y="3873012"/>
            <a:ext cx="54864" cy="421741"/>
          </a:xfrm>
          <a:prstGeom prst="rect">
            <a:avLst/>
          </a:prstGeom>
          <a:solidFill>
            <a:srgbClr val="E2571B"/>
          </a:solidFill>
          <a:ln>
            <a:noFill/>
          </a:ln>
        </p:spPr>
        <p:txBody>
          <a:bodyPr rtlCol="0" anchor="ctr"/>
          <a:lstStyle/>
          <a:p>
            <a:pPr algn="ctr"/>
          </a:p>
        </p:txBody>
      </p:sp>
      <p:sp>
        <p:nvSpPr>
          <p:cNvPr id="8" name="TextBox 7"/>
          <p:cNvSpPr txBox="1"/>
          <p:nvPr/>
        </p:nvSpPr>
        <p:spPr>
          <a:xfrm>
            <a:off x="886968" y="3873012"/>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5종 모두 싱크와 조리기구가 다른 벽 → 로봇 구역 분리 가능. 다만 3종은 싱크 줄 2.6~2.8m → 짧은 벽용 Compact 구성 필요 (Kitchen Compatibility KPI)</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B3  ·  제품 · 기술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Environment Interface 예: Robot Home 보관 · 전개 (Remodeling)</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평소엔 Robot Home에 접혀 있다가 문이 열리면 Rail로 나옴 · 낮은 식세기 하단 랙은 랙을 당겨 위에서 적재 (3D 충돌검사, CONCEPT)</a:t>
            </a:r>
          </a:p>
        </p:txBody>
      </p:sp>
      <p:pic>
        <p:nvPicPr>
          <p:cNvPr id="5" name="Picture 4" descr="v2_stow_1_closed_light_227x173_50_50_100.jpg"/>
          <p:cNvPicPr>
            <a:picLocks noChangeAspect="1"/>
          </p:cNvPicPr>
          <p:nvPr/>
        </p:nvPicPr>
        <p:blipFill>
          <a:blip r:embed="rId3"/>
          <a:stretch>
            <a:fillRect/>
          </a:stretch>
        </p:blipFill>
        <p:spPr>
          <a:xfrm>
            <a:off x="685800" y="1790567"/>
            <a:ext cx="2076236" cy="1585489"/>
          </a:xfrm>
          <a:prstGeom prst="rect">
            <a:avLst/>
          </a:prstGeom>
        </p:spPr>
      </p:pic>
      <p:sp>
        <p:nvSpPr>
          <p:cNvPr id="6" name="Rectangle 5"/>
          <p:cNvSpPr/>
          <p:nvPr/>
        </p:nvSpPr>
        <p:spPr>
          <a:xfrm>
            <a:off x="685800" y="3376057"/>
            <a:ext cx="2076236" cy="274320"/>
          </a:xfrm>
          <a:prstGeom prst="rect">
            <a:avLst/>
          </a:prstGeom>
          <a:solidFill>
            <a:srgbClr val="F4F5F6"/>
          </a:solidFill>
          <a:ln>
            <a:noFill/>
          </a:ln>
        </p:spPr>
        <p:txBody>
          <a:bodyPr rtlCol="0" anchor="ctr"/>
          <a:lstStyle/>
          <a:p>
            <a:pPr algn="ctr"/>
          </a:p>
        </p:txBody>
      </p:sp>
      <p:sp>
        <p:nvSpPr>
          <p:cNvPr id="7" name="TextBox 6"/>
          <p:cNvSpPr txBox="1"/>
          <p:nvPr/>
        </p:nvSpPr>
        <p:spPr>
          <a:xfrm>
            <a:off x="685800" y="3376057"/>
            <a:ext cx="2076236" cy="27432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① 평소: 문 닫힘</a:t>
            </a:r>
          </a:p>
        </p:txBody>
      </p:sp>
      <p:pic>
        <p:nvPicPr>
          <p:cNvPr id="8" name="Picture 7" descr="v2_stow_2_open_light_227x173_50_50_100.jpg"/>
          <p:cNvPicPr>
            <a:picLocks noChangeAspect="1"/>
          </p:cNvPicPr>
          <p:nvPr/>
        </p:nvPicPr>
        <p:blipFill>
          <a:blip r:embed="rId4"/>
          <a:stretch>
            <a:fillRect/>
          </a:stretch>
        </p:blipFill>
        <p:spPr>
          <a:xfrm>
            <a:off x="2871764" y="1790567"/>
            <a:ext cx="2076236" cy="1585489"/>
          </a:xfrm>
          <a:prstGeom prst="rect">
            <a:avLst/>
          </a:prstGeom>
        </p:spPr>
      </p:pic>
      <p:sp>
        <p:nvSpPr>
          <p:cNvPr id="9" name="Rectangle 8"/>
          <p:cNvSpPr/>
          <p:nvPr/>
        </p:nvSpPr>
        <p:spPr>
          <a:xfrm>
            <a:off x="2871764" y="3376057"/>
            <a:ext cx="2076236" cy="274320"/>
          </a:xfrm>
          <a:prstGeom prst="rect">
            <a:avLst/>
          </a:prstGeom>
          <a:solidFill>
            <a:srgbClr val="F4F5F6"/>
          </a:solidFill>
          <a:ln>
            <a:noFill/>
          </a:ln>
        </p:spPr>
        <p:txBody>
          <a:bodyPr rtlCol="0" anchor="ctr"/>
          <a:lstStyle/>
          <a:p>
            <a:pPr algn="ctr"/>
          </a:p>
        </p:txBody>
      </p:sp>
      <p:sp>
        <p:nvSpPr>
          <p:cNvPr id="10" name="TextBox 9"/>
          <p:cNvSpPr txBox="1"/>
          <p:nvPr/>
        </p:nvSpPr>
        <p:spPr>
          <a:xfrm>
            <a:off x="2871764" y="3376057"/>
            <a:ext cx="2076236" cy="27432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② 문 열림</a:t>
            </a:r>
          </a:p>
        </p:txBody>
      </p:sp>
      <p:pic>
        <p:nvPicPr>
          <p:cNvPr id="11" name="Picture 10" descr="v2_stow_3_deploy_light_227x173_50_50_100.jpg"/>
          <p:cNvPicPr>
            <a:picLocks noChangeAspect="1"/>
          </p:cNvPicPr>
          <p:nvPr/>
        </p:nvPicPr>
        <p:blipFill>
          <a:blip r:embed="rId5"/>
          <a:stretch>
            <a:fillRect/>
          </a:stretch>
        </p:blipFill>
        <p:spPr>
          <a:xfrm>
            <a:off x="5057729" y="1790567"/>
            <a:ext cx="2076236" cy="1585489"/>
          </a:xfrm>
          <a:prstGeom prst="rect">
            <a:avLst/>
          </a:prstGeom>
        </p:spPr>
      </p:pic>
      <p:sp>
        <p:nvSpPr>
          <p:cNvPr id="12" name="Rectangle 11"/>
          <p:cNvSpPr/>
          <p:nvPr/>
        </p:nvSpPr>
        <p:spPr>
          <a:xfrm>
            <a:off x="5057729" y="3376057"/>
            <a:ext cx="2076236" cy="274320"/>
          </a:xfrm>
          <a:prstGeom prst="rect">
            <a:avLst/>
          </a:prstGeom>
          <a:solidFill>
            <a:srgbClr val="F4F5F6"/>
          </a:solidFill>
          <a:ln>
            <a:noFill/>
          </a:ln>
        </p:spPr>
        <p:txBody>
          <a:bodyPr rtlCol="0" anchor="ctr"/>
          <a:lstStyle/>
          <a:p>
            <a:pPr algn="ctr"/>
          </a:p>
        </p:txBody>
      </p:sp>
      <p:sp>
        <p:nvSpPr>
          <p:cNvPr id="13" name="TextBox 12"/>
          <p:cNvSpPr txBox="1"/>
          <p:nvPr/>
        </p:nvSpPr>
        <p:spPr>
          <a:xfrm>
            <a:off x="5057729" y="3376057"/>
            <a:ext cx="2076236" cy="27432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③ 전개</a:t>
            </a:r>
          </a:p>
        </p:txBody>
      </p:sp>
      <p:pic>
        <p:nvPicPr>
          <p:cNvPr id="14" name="Picture 13" descr="v2_stow_4_exit_light_227x173_50_50_100.jpg"/>
          <p:cNvPicPr>
            <a:picLocks noChangeAspect="1"/>
          </p:cNvPicPr>
          <p:nvPr/>
        </p:nvPicPr>
        <p:blipFill>
          <a:blip r:embed="rId6"/>
          <a:stretch>
            <a:fillRect/>
          </a:stretch>
        </p:blipFill>
        <p:spPr>
          <a:xfrm>
            <a:off x="7243693" y="1790567"/>
            <a:ext cx="2076236" cy="1585489"/>
          </a:xfrm>
          <a:prstGeom prst="rect">
            <a:avLst/>
          </a:prstGeom>
        </p:spPr>
      </p:pic>
      <p:sp>
        <p:nvSpPr>
          <p:cNvPr id="15" name="Rectangle 14"/>
          <p:cNvSpPr/>
          <p:nvPr/>
        </p:nvSpPr>
        <p:spPr>
          <a:xfrm>
            <a:off x="7243693" y="3376057"/>
            <a:ext cx="2076236" cy="274320"/>
          </a:xfrm>
          <a:prstGeom prst="rect">
            <a:avLst/>
          </a:prstGeom>
          <a:solidFill>
            <a:srgbClr val="F4F5F6"/>
          </a:solidFill>
          <a:ln>
            <a:noFill/>
          </a:ln>
        </p:spPr>
        <p:txBody>
          <a:bodyPr rtlCol="0" anchor="ctr"/>
          <a:lstStyle/>
          <a:p>
            <a:pPr algn="ctr"/>
          </a:p>
        </p:txBody>
      </p:sp>
      <p:sp>
        <p:nvSpPr>
          <p:cNvPr id="16" name="TextBox 15"/>
          <p:cNvSpPr txBox="1"/>
          <p:nvPr/>
        </p:nvSpPr>
        <p:spPr>
          <a:xfrm>
            <a:off x="7243693" y="3376057"/>
            <a:ext cx="2076236" cy="27432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④ Rail 이동</a:t>
            </a:r>
          </a:p>
        </p:txBody>
      </p:sp>
      <p:pic>
        <p:nvPicPr>
          <p:cNvPr id="17" name="Picture 16" descr="v2_stow_5_low_light_227x173_50_50_100.jpg"/>
          <p:cNvPicPr>
            <a:picLocks noChangeAspect="1"/>
          </p:cNvPicPr>
          <p:nvPr/>
        </p:nvPicPr>
        <p:blipFill>
          <a:blip r:embed="rId7"/>
          <a:stretch>
            <a:fillRect/>
          </a:stretch>
        </p:blipFill>
        <p:spPr>
          <a:xfrm>
            <a:off x="9429658" y="1790567"/>
            <a:ext cx="2076236" cy="1585489"/>
          </a:xfrm>
          <a:prstGeom prst="rect">
            <a:avLst/>
          </a:prstGeom>
        </p:spPr>
      </p:pic>
      <p:sp>
        <p:nvSpPr>
          <p:cNvPr id="18" name="Rectangle 17"/>
          <p:cNvSpPr/>
          <p:nvPr/>
        </p:nvSpPr>
        <p:spPr>
          <a:xfrm>
            <a:off x="9429658" y="3376057"/>
            <a:ext cx="2076236" cy="274320"/>
          </a:xfrm>
          <a:prstGeom prst="rect">
            <a:avLst/>
          </a:prstGeom>
          <a:solidFill>
            <a:srgbClr val="F4F5F6"/>
          </a:solidFill>
          <a:ln>
            <a:noFill/>
          </a:ln>
        </p:spPr>
        <p:txBody>
          <a:bodyPr rtlCol="0" anchor="ctr"/>
          <a:lstStyle/>
          <a:p>
            <a:pPr algn="ctr"/>
          </a:p>
        </p:txBody>
      </p:sp>
      <p:sp>
        <p:nvSpPr>
          <p:cNvPr id="19" name="TextBox 18"/>
          <p:cNvSpPr txBox="1"/>
          <p:nvPr/>
        </p:nvSpPr>
        <p:spPr>
          <a:xfrm>
            <a:off x="9429658" y="3376057"/>
            <a:ext cx="2076236" cy="27432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⑤ 하단 랙 적재</a:t>
            </a:r>
          </a:p>
        </p:txBody>
      </p:sp>
      <p:sp>
        <p:nvSpPr>
          <p:cNvPr id="20" name="Rectangle 19"/>
          <p:cNvSpPr/>
          <p:nvPr/>
        </p:nvSpPr>
        <p:spPr>
          <a:xfrm>
            <a:off x="740664" y="1845431"/>
            <a:ext cx="495159" cy="155448"/>
          </a:xfrm>
          <a:prstGeom prst="rect">
            <a:avLst/>
          </a:prstGeom>
          <a:solidFill>
            <a:srgbClr val="FFFFFF"/>
          </a:solidFill>
          <a:ln w="6350">
            <a:solidFill>
              <a:srgbClr val="C9CDD2"/>
            </a:solidFill>
          </a:ln>
        </p:spPr>
        <p:txBody>
          <a:bodyPr rtlCol="0" anchor="ctr"/>
          <a:lstStyle/>
          <a:p>
            <a:pPr algn="ctr"/>
          </a:p>
        </p:txBody>
      </p:sp>
      <p:sp>
        <p:nvSpPr>
          <p:cNvPr id="21" name="TextBox 20"/>
          <p:cNvSpPr txBox="1"/>
          <p:nvPr/>
        </p:nvSpPr>
        <p:spPr>
          <a:xfrm>
            <a:off x="740664" y="1845431"/>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graphicFrame>
        <p:nvGraphicFramePr>
          <p:cNvPr id="22" name="Table 21"/>
          <p:cNvGraphicFramePr>
            <a:graphicFrameLocks noGrp="1"/>
          </p:cNvGraphicFramePr>
          <p:nvPr/>
        </p:nvGraphicFramePr>
        <p:xfrm>
          <a:off x="685800" y="3787537"/>
          <a:ext cx="10817352" cy="1174292"/>
        </p:xfrm>
        <a:graphic>
          <a:graphicData uri="http://schemas.openxmlformats.org/drawingml/2006/table">
            <a:tbl>
              <a:tblPr firstRow="0" bandRow="0">
                <a:tableStyleId>{2D5ABB26-0587-4C30-8999-92F81FD0307C}</a:tableStyleId>
              </a:tblPr>
              <a:tblGrid>
                <a:gridCol w="1645920"/>
                <a:gridCol w="8092440"/>
                <a:gridCol w="1078992"/>
              </a:tblGrid>
              <a:tr h="293573">
                <a:tc>
                  <a:txBody>
                    <a:bodyPr wrap="square"/>
                    <a:lstStyle/>
                    <a:p>
                      <a:pPr algn="l">
                        <a:lnSpc>
                          <a:spcPct val="100000"/>
                        </a:lnSpc>
                      </a:pPr>
                      <a:r>
                        <a:rPr sz="950" b="0">
                          <a:solidFill>
                            <a:srgbClr val="15171A"/>
                          </a:solidFill>
                          <a:latin typeface="Noto Sans KR"/>
                          <a:ea typeface="Noto Sans KR"/>
                          <a:cs typeface="Noto Sans KR"/>
                        </a:rPr>
                        <a:t>Robot Home (Dock)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조리대 위 끝 W45 × D62 × H137cm · 여닫이 문 1짝 · 평소 로봇 수납 (보이지 않음)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Rail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상부장 하단 (높이 약 139cm) · 바닥 사용 안 함 · Retrofit은 Compact Mount로 대체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낮은 작업점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식세기 하단 랙 44cm 당김 → 위에서 적재 (Gripper 최저 약 37cm) · 서랍도 열어서 위에서 넣음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검증 방법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캡슐 (로봇) · 상자 (가구) 충돌검사: 작업 자세 · 보관 · 전개 · Rail 이동 경로 관통 0cm (3D 모델 기준)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r>
            </a:tbl>
          </a:graphicData>
        </a:graphic>
      </p:graphicFrame>
      <p:sp>
        <p:nvSpPr>
          <p:cNvPr id="23" name="TextBox 2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24" name="TextBox 2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B4  ·  제품 · 기술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대표 평면 적용 예: 구축 2Bay A (CONCEPT)</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받은 도면 (12,390 × 11,670mm, 코어 포함)을 치수선 기준으로 3D화 · 왼쪽 원래 주방, 오른쪽 MH Interface 적용 (특정 단지 아님)</a:t>
            </a:r>
          </a:p>
        </p:txBody>
      </p:sp>
      <p:pic>
        <p:nvPicPr>
          <p:cNvPr id="5" name="Picture 4" descr="plan_old2a_top_orig_light_381x360_50_50_100.jpg"/>
          <p:cNvPicPr>
            <a:picLocks noChangeAspect="1"/>
          </p:cNvPicPr>
          <p:nvPr/>
        </p:nvPicPr>
        <p:blipFill>
          <a:blip r:embed="rId3"/>
          <a:stretch>
            <a:fillRect/>
          </a:stretch>
        </p:blipFill>
        <p:spPr>
          <a:xfrm>
            <a:off x="685800" y="1790567"/>
            <a:ext cx="3491345" cy="3291840"/>
          </a:xfrm>
          <a:prstGeom prst="rect">
            <a:avLst/>
          </a:prstGeom>
        </p:spPr>
      </p:pic>
      <p:sp>
        <p:nvSpPr>
          <p:cNvPr id="6" name="TextBox 5"/>
          <p:cNvSpPr txBox="1"/>
          <p:nvPr/>
        </p:nvSpPr>
        <p:spPr>
          <a:xfrm>
            <a:off x="685800" y="5118983"/>
            <a:ext cx="3491345" cy="219456"/>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원래 평면 (ㄱ자 주방)</a:t>
            </a:r>
          </a:p>
        </p:txBody>
      </p:sp>
      <p:pic>
        <p:nvPicPr>
          <p:cNvPr id="7" name="Picture 6" descr="plan_old2a_top_arki_light_381x360_50_50_100.jpg"/>
          <p:cNvPicPr>
            <a:picLocks noChangeAspect="1"/>
          </p:cNvPicPr>
          <p:nvPr/>
        </p:nvPicPr>
        <p:blipFill>
          <a:blip r:embed="rId4"/>
          <a:stretch>
            <a:fillRect/>
          </a:stretch>
        </p:blipFill>
        <p:spPr>
          <a:xfrm>
            <a:off x="4451465" y="1790567"/>
            <a:ext cx="3491345" cy="3291840"/>
          </a:xfrm>
          <a:prstGeom prst="rect">
            <a:avLst/>
          </a:prstGeom>
        </p:spPr>
      </p:pic>
      <p:sp>
        <p:nvSpPr>
          <p:cNvPr id="8" name="TextBox 7"/>
          <p:cNvSpPr txBox="1"/>
          <p:nvPr/>
        </p:nvSpPr>
        <p:spPr>
          <a:xfrm>
            <a:off x="4451465" y="5118983"/>
            <a:ext cx="3491345" cy="219456"/>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Interface 적용 (윗벽 로봇 줄 + 인덕션 옆벽)</a:t>
            </a:r>
          </a:p>
        </p:txBody>
      </p:sp>
      <p:graphicFrame>
        <p:nvGraphicFramePr>
          <p:cNvPr id="9" name="Table 8"/>
          <p:cNvGraphicFramePr>
            <a:graphicFrameLocks noGrp="1"/>
          </p:cNvGraphicFramePr>
          <p:nvPr/>
        </p:nvGraphicFramePr>
        <p:xfrm>
          <a:off x="8262850" y="1790567"/>
          <a:ext cx="3243044" cy="2579114"/>
        </p:xfrm>
        <a:graphic>
          <a:graphicData uri="http://schemas.openxmlformats.org/drawingml/2006/table">
            <a:tbl>
              <a:tblPr firstRow="0" bandRow="0">
                <a:tableStyleId>{2D5ABB26-0587-4C30-8999-92F81FD0307C}</a:tableStyleId>
              </a:tblPr>
              <a:tblGrid>
                <a:gridCol w="1051560"/>
                <a:gridCol w="2191484"/>
              </a:tblGrid>
              <a:tr h="293573">
                <a:tc>
                  <a:txBody>
                    <a:bodyPr wrap="square"/>
                    <a:lstStyle/>
                    <a:p>
                      <a:pPr algn="l">
                        <a:lnSpc>
                          <a:spcPct val="100000"/>
                        </a:lnSpc>
                      </a:pPr>
                      <a:r>
                        <a:rPr sz="95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주방 윗벽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3,255mm</a:t>
                      </a:r>
                    </a:p>
                  </a:txBody>
                  <a:tcPr marL="73152" marR="73152" marT="54864" marB="54864" anchor="t">
                    <a:lnL w="0">
                      <a:noFill/>
                    </a:lnL>
                    <a:lnR w="0">
                      <a:noFill/>
                    </a:lnR>
                    <a:lnT w="0">
                      <a:noFill/>
                    </a:lnT>
                    <a:lnB w="9525">
                      <a:solidFill>
                        <a:srgbClr val="E2E4E7"/>
                      </a:solidFill>
                    </a:lnB>
                    <a:noFill/>
                  </a:tcPr>
                </a:tc>
              </a:tr>
              <a:tr h="642975">
                <a:tc>
                  <a:txBody>
                    <a:bodyPr wrap="square"/>
                    <a:lstStyle/>
                    <a:p>
                      <a:pPr algn="l">
                        <a:lnSpc>
                          <a:spcPct val="100000"/>
                        </a:lnSpc>
                      </a:pPr>
                      <a:r>
                        <a:rPr sz="950" b="0">
                          <a:solidFill>
                            <a:srgbClr val="15171A"/>
                          </a:solidFill>
                          <a:latin typeface="Noto Sans KR"/>
                          <a:ea typeface="Noto Sans KR"/>
                          <a:cs typeface="Noto Sans KR"/>
                        </a:rPr>
                        <a:t>로봇 작업 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3,150mm (Robot Home 45 · Drop Zone 70 · 싱크 80 · 서랍 60 · 식세기 60cm)</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싱크 중심 이동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약 21cm</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인덕션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옆벽 아래쪽으로 이동 (로봇 금지 구역)</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보관함 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최대 90° (옆벽)</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충돌검사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보관 0cm · 전개 경로 0cm · Rail 이동 0cm 관통 (가구 63개)</a:t>
                      </a:r>
                    </a:p>
                  </a:txBody>
                  <a:tcPr marL="73152" marR="73152" marT="54864" marB="54864" anchor="t">
                    <a:lnL w="0">
                      <a:noFill/>
                    </a:lnL>
                    <a:lnR w="0">
                      <a:noFill/>
                    </a:lnR>
                    <a:lnT w="0">
                      <a:noFill/>
                    </a:lnT>
                    <a:lnB w="9525">
                      <a:solidFill>
                        <a:srgbClr val="E2E4E7"/>
                      </a:solidFill>
                    </a:lnB>
                    <a:noFill/>
                  </a:tcPr>
                </a:tc>
              </a:tr>
            </a:tbl>
          </a:graphicData>
        </a:graphic>
      </p:graphicFrame>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B5  ·  제품 · 기술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Safety · Certification 경로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가정용 로봇 기준이 발행 전 (IEC 63682 초안)이므로 인증기관 사전상담으로 경로를 먼저 확정 (WP5)</a:t>
            </a:r>
          </a:p>
        </p:txBody>
      </p:sp>
      <p:graphicFrame>
        <p:nvGraphicFramePr>
          <p:cNvPr id="5" name="Table 4"/>
          <p:cNvGraphicFramePr>
            <a:graphicFrameLocks noGrp="1"/>
          </p:cNvGraphicFramePr>
          <p:nvPr/>
        </p:nvGraphicFramePr>
        <p:xfrm>
          <a:off x="685800" y="1790567"/>
          <a:ext cx="10817352" cy="2348584"/>
        </p:xfrm>
        <a:graphic>
          <a:graphicData uri="http://schemas.openxmlformats.org/drawingml/2006/table">
            <a:tbl>
              <a:tblPr firstRow="0" bandRow="0">
                <a:tableStyleId>{2D5ABB26-0587-4C30-8999-92F81FD0307C}</a:tableStyleId>
              </a:tblPr>
              <a:tblGrid>
                <a:gridCol w="1554480"/>
                <a:gridCol w="7315200"/>
                <a:gridCol w="1097280"/>
                <a:gridCol w="850392"/>
              </a:tblGrid>
              <a:tr h="293573">
                <a:tc>
                  <a:txBody>
                    <a:bodyPr wrap="square"/>
                    <a:lstStyle/>
                    <a:p>
                      <a:pPr algn="l">
                        <a:lnSpc>
                          <a:spcPct val="100000"/>
                        </a:lnSpc>
                      </a:pPr>
                      <a:r>
                        <a:rPr sz="95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출처</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협동 운전 기준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ISO 10218-1/-2:2025 (2025.2 발행): ISO/TS 15066 요구 통합 · 감속 기능 250mm/s 이하 · 손 · 손가락 준정적 접촉력 140N (부속서 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[S28 · S39]</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가정용 로봇 안전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IEC 63682 (구 IEC 60335-2-123) Robots for household and similar use: 2026 CDV 단계 (발행 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[S47]</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개인 서비스 로봇</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ISO 13482 개정 FDIS (2025.7) · 국내 ISO 13482 인증 사례 (유진로봇 AMR)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[S31 · S47]</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전기 · EMC</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KC 전기용품 안전 · 전자파 적합성 (가정용) — 적용 범위 사전상담 필요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식품 접촉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「기구 및 용기 · 포장의 기준 및 규격」 고무제 규격 (ASSIST · COOK 단계 필수)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[S48]</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MH 안전 원칙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사람 위로 운반 금지 · Zone 진입 시 감속 · 정지 · 저가반 · 조리기구 구역 No-go · 고장 시 Safe Home Return · 수동 주방으로 사용 가능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일정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M4 Risk Assessment · M9 인증기관 사전상담 · M12 안전 기능 시험 · M18 사전시험 (전기 · EMC) · Series A 이후 본인증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285457"/>
            <a:ext cx="10820095" cy="421741"/>
          </a:xfrm>
          <a:prstGeom prst="rect">
            <a:avLst/>
          </a:prstGeom>
          <a:solidFill>
            <a:srgbClr val="F4F5F6"/>
          </a:solidFill>
          <a:ln>
            <a:noFill/>
          </a:ln>
        </p:spPr>
        <p:txBody>
          <a:bodyPr rtlCol="0" anchor="ctr"/>
          <a:lstStyle/>
          <a:p>
            <a:pPr algn="ctr"/>
          </a:p>
        </p:txBody>
      </p:sp>
      <p:sp>
        <p:nvSpPr>
          <p:cNvPr id="7" name="Rectangle 6"/>
          <p:cNvSpPr/>
          <p:nvPr/>
        </p:nvSpPr>
        <p:spPr>
          <a:xfrm>
            <a:off x="685800" y="4285457"/>
            <a:ext cx="54864" cy="421741"/>
          </a:xfrm>
          <a:prstGeom prst="rect">
            <a:avLst/>
          </a:prstGeom>
          <a:solidFill>
            <a:srgbClr val="E2571B"/>
          </a:solidFill>
          <a:ln>
            <a:noFill/>
          </a:ln>
        </p:spPr>
        <p:txBody>
          <a:bodyPr rtlCol="0" anchor="ctr"/>
          <a:lstStyle/>
          <a:p>
            <a:pPr algn="ctr"/>
          </a:p>
        </p:txBody>
      </p:sp>
      <p:sp>
        <p:nvSpPr>
          <p:cNvPr id="8" name="TextBox 7"/>
          <p:cNvSpPr txBox="1"/>
          <p:nvPr/>
        </p:nvSpPr>
        <p:spPr>
          <a:xfrm>
            <a:off x="886968" y="4285457"/>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안전 설계는 기준 발행을 기다리지 않음: 협동로봇 기준 (감속 · 접촉력)을 최소선으로, 가정용 초안 요구를 Gap 분석으로 반영</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B6  ·  제품 · 기술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Robot System BOM · Component Benchmark</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Benchmark = 공개 판매가 (FACT, 환율 1,400원/USD ASSUMPTION). BOM = ASSUMPTION, 재무모델 Base BOM과 합계 일치 (model.py assert).</a:t>
            </a:r>
          </a:p>
        </p:txBody>
      </p:sp>
      <p:graphicFrame>
        <p:nvGraphicFramePr>
          <p:cNvPr id="5" name="Table 4"/>
          <p:cNvGraphicFramePr>
            <a:graphicFrameLocks noGrp="1"/>
          </p:cNvGraphicFramePr>
          <p:nvPr/>
        </p:nvGraphicFramePr>
        <p:xfrm>
          <a:off x="685800" y="1790567"/>
          <a:ext cx="4846320" cy="2642157"/>
        </p:xfrm>
        <a:graphic>
          <a:graphicData uri="http://schemas.openxmlformats.org/drawingml/2006/table">
            <a:tbl>
              <a:tblPr firstRow="0" bandRow="0">
                <a:tableStyleId>{2D5ABB26-0587-4C30-8999-92F81FD0307C}</a:tableStyleId>
              </a:tblPr>
              <a:tblGrid>
                <a:gridCol w="2651760"/>
                <a:gridCol w="1188720"/>
                <a:gridCol w="1005840"/>
              </a:tblGrid>
              <a:tr h="293573">
                <a:tc>
                  <a:txBody>
                    <a:bodyPr wrap="square"/>
                    <a:lstStyle/>
                    <a:p>
                      <a:pPr algn="l">
                        <a:lnSpc>
                          <a:spcPct val="100000"/>
                        </a:lnSpc>
                      </a:pPr>
                      <a:r>
                        <a:rPr sz="950" b="1">
                          <a:solidFill>
                            <a:srgbClr val="15171A"/>
                          </a:solidFill>
                          <a:latin typeface="Noto Sans KR"/>
                          <a:ea typeface="Noto Sans KR"/>
                          <a:cs typeface="Noto Sans KR"/>
                        </a:rPr>
                        <a:t>Benchmark (FACT)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USD</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만원</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UR3e (3kg)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$23k~33k</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3,220~4,620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Doosan E0509 (5kg)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약 $22k</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3,080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UFACTORY xArm 6 (5kg)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$8,399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1,176</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FAIRINO FR5 (5kg)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$6,999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980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Robotiq 2F-85 (2026 판매가)</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약 $5,825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816</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Inspire RH56 계열 (Dexterous)</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$4,500~9,899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630~1,386</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Robotiq Fingertip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$175~195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24~27</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Orbbec Gemini 335 / RealSense D405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$384~400 / $514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54~56 / 72</a:t>
                      </a:r>
                    </a:p>
                  </a:txBody>
                  <a:tcPr marL="73152" marR="73152" marT="54864" marB="54864"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5806440" y="1790567"/>
          <a:ext cx="5699455" cy="3009286"/>
        </p:xfrm>
        <a:graphic>
          <a:graphicData uri="http://schemas.openxmlformats.org/drawingml/2006/table">
            <a:tbl>
              <a:tblPr firstRow="0" bandRow="0">
                <a:tableStyleId>{2D5ABB26-0587-4C30-8999-92F81FD0307C}</a:tableStyleId>
              </a:tblPr>
              <a:tblGrid>
                <a:gridCol w="3642055"/>
                <a:gridCol w="685800"/>
                <a:gridCol w="685800"/>
                <a:gridCol w="685800"/>
              </a:tblGrid>
              <a:tr h="284378">
                <a:tc>
                  <a:txBody>
                    <a:bodyPr wrap="square"/>
                    <a:lstStyle/>
                    <a:p>
                      <a:pPr algn="l">
                        <a:lnSpc>
                          <a:spcPct val="100000"/>
                        </a:lnSpc>
                      </a:pPr>
                      <a:r>
                        <a:rPr sz="900" b="1">
                          <a:solidFill>
                            <a:srgbClr val="15171A"/>
                          </a:solidFill>
                          <a:latin typeface="Noto Sans KR"/>
                          <a:ea typeface="Noto Sans KR"/>
                          <a:cs typeface="Noto Sans KR"/>
                        </a:rPr>
                        <a:t>BOM (ASSUMPTION, 만원/대)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Pilot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6축 Arm (가반 3~5kg, Controller 포함)</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Adaptive Hand (손가락 2~3 · 교체형 Pad · 힘/미끄럼 감지 · Quick Changer)</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85</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Rail · Carriage · Servo (Remodeling · New-build, 2.4~3.6m)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Vision (Depth Camera 2대 + Mount)</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Compute (Edge GPU)</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Safety (Zone Sensor · Safety Controller)</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Robot Home (Dock) · Harness · Enclosure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조립 · 시험 (Pilot은 Opex 인건비 처리)</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35</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1">
                          <a:solidFill>
                            <a:srgbClr val="15171A"/>
                          </a:solidFill>
                          <a:latin typeface="Noto Sans KR"/>
                          <a:ea typeface="Noto Sans KR"/>
                          <a:cs typeface="Noto Sans KR"/>
                        </a:rPr>
                        <a:t>합계 (재무모델 BOM)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1,680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1,180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1">
                          <a:solidFill>
                            <a:srgbClr val="E2571B"/>
                          </a:solidFill>
                          <a:latin typeface="Noto Sans KR"/>
                          <a:ea typeface="Noto Sans KR"/>
                          <a:cs typeface="Noto Sans KR"/>
                        </a:rPr>
                        <a:t>915</a:t>
                      </a:r>
                    </a:p>
                  </a:txBody>
                  <a:tcPr marL="73152" marR="73152" marT="54864" marB="54864" anchor="t">
                    <a:lnL w="0">
                      <a:noFill/>
                    </a:lnL>
                    <a:lnR w="0">
                      <a:noFill/>
                    </a:lnR>
                    <a:lnT w="0">
                      <a:noFill/>
                    </a:lnT>
                    <a:lnB w="9525">
                      <a:solidFill>
                        <a:srgbClr val="E2E4E7"/>
                      </a:solidFill>
                    </a:lnB>
                    <a:noFill/>
                  </a:tcPr>
                </a:tc>
              </a:tr>
            </a:tbl>
          </a:graphicData>
        </a:graphic>
      </p:graphicFrame>
      <p:sp>
        <p:nvSpPr>
          <p:cNvPr id="7" name="Rectangle 6"/>
          <p:cNvSpPr/>
          <p:nvPr/>
        </p:nvSpPr>
        <p:spPr>
          <a:xfrm>
            <a:off x="685800" y="5440680"/>
            <a:ext cx="10820095" cy="412546"/>
          </a:xfrm>
          <a:prstGeom prst="rect">
            <a:avLst/>
          </a:prstGeom>
          <a:solidFill>
            <a:srgbClr val="F4F5F6"/>
          </a:solidFill>
          <a:ln>
            <a:noFill/>
          </a:ln>
        </p:spPr>
        <p:txBody>
          <a:bodyPr rtlCol="0" anchor="ctr"/>
          <a:lstStyle/>
          <a:p>
            <a:pPr algn="ctr"/>
          </a:p>
        </p:txBody>
      </p:sp>
      <p:sp>
        <p:nvSpPr>
          <p:cNvPr id="8" name="Rectangle 7"/>
          <p:cNvSpPr/>
          <p:nvPr/>
        </p:nvSpPr>
        <p:spPr>
          <a:xfrm>
            <a:off x="685800" y="5440680"/>
            <a:ext cx="54864" cy="412546"/>
          </a:xfrm>
          <a:prstGeom prst="rect">
            <a:avLst/>
          </a:prstGeom>
          <a:solidFill>
            <a:srgbClr val="E2571B"/>
          </a:solidFill>
          <a:ln>
            <a:noFill/>
          </a:ln>
        </p:spPr>
        <p:txBody>
          <a:bodyPr rtlCol="0" anchor="ctr"/>
          <a:lstStyle/>
          <a:p>
            <a:pPr algn="ctr"/>
          </a:p>
        </p:txBody>
      </p:sp>
      <p:sp>
        <p:nvSpPr>
          <p:cNvPr id="9" name="TextBox 8"/>
          <p:cNvSpPr txBox="1"/>
          <p:nvPr/>
        </p:nvSpPr>
        <p:spPr>
          <a:xfrm>
            <a:off x="886968" y="544068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BOM 하락 경로 = 수량 + Arm OEM Partner (국산 · 중국산 Cobot) + 자체 Hand 원가 설계. Y5 Arm 450만원은 공격적 가정 → 민감도 2순위 (D5)</a:t>
            </a:r>
          </a:p>
        </p:txBody>
      </p:sp>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C1  ·  시장 · 경쟁</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Housing · 시장 통계</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공식 통계는 검색 시점 (2026-10-07~08) 보도 인용 → 외부 제출 전 원문 (국가데이터처 · 국토부 보도자료) 대조 필요</a:t>
            </a:r>
          </a:p>
        </p:txBody>
      </p:sp>
      <p:graphicFrame>
        <p:nvGraphicFramePr>
          <p:cNvPr id="5" name="Table 4"/>
          <p:cNvGraphicFramePr>
            <a:graphicFrameLocks noGrp="1"/>
          </p:cNvGraphicFramePr>
          <p:nvPr/>
        </p:nvGraphicFramePr>
        <p:xfrm>
          <a:off x="685800" y="1790567"/>
          <a:ext cx="10817352" cy="3404004"/>
        </p:xfrm>
        <a:graphic>
          <a:graphicData uri="http://schemas.openxmlformats.org/drawingml/2006/table">
            <a:tbl>
              <a:tblPr firstRow="0" bandRow="0">
                <a:tableStyleId>{2D5ABB26-0587-4C30-8999-92F81FD0307C}</a:tableStyleId>
              </a:tblPr>
              <a:tblGrid>
                <a:gridCol w="3017520"/>
                <a:gridCol w="2926080"/>
                <a:gridCol w="1097280"/>
                <a:gridCol w="3776472"/>
              </a:tblGrid>
              <a:tr h="293573">
                <a:tc>
                  <a:txBody>
                    <a:bodyPr wrap="square"/>
                    <a:lstStyle/>
                    <a:p>
                      <a:pPr algn="l">
                        <a:lnSpc>
                          <a:spcPct val="100000"/>
                        </a:lnSpc>
                      </a:pPr>
                      <a:r>
                        <a:rPr sz="95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출처 / 산식</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총주택 (2025.11.1)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2,018.1만호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국가데이터처 2025 인구주택총조사 (2026.7.28) [S1]</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아파트 비중 / 아파트 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65.8% / 약 1,328만호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비중 FACT, 호수는 2,018.1만 × 65.8% (DERIVED)</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준공 20년 이상 / 30년 이상 주택 비중</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56.0% / 30.6%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2025 인구주택총조사 [S1]</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아파트 수 · 20년 이상 아파트 (2023)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1,263만호 · 639만호 (50.7%)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2023 주택총조사 인용 보도 [S2]</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주택 준공 · 인허가 · 착공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34.2만 · 38.0만 · 27.3만호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국토부 2025.12 주택통계 [S3]</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아파트 입주 2025 / 2026 예정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23만6,263 / 18만3,124가구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부동산114 REPS [S5]</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주택 매매거래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72.6만호 (10년 평균 88.5만)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KB주택시장리뷰 (부동산원 자료) [S6]</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무급 가사노동 가치 (2024)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582.4조원 · 가정관리 459.5조원 (78.9%) · 1인당 132분/일</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국가데이터처 가계생산 위성계정 (2026.4) [S40]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연간 주방 교체 교차검증 ① / 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29.0만 / 30.3만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20년+ 아파트 ÷ 22년 · 매매 × 70% × 40% + 10만 (ASSUMPTION)</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연간 주방 교체 (설정값)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30만 세대/년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①·② 범위 → 견적 · Partner Data로 보정</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C2  ·  시장 · 경쟁</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Remodeling · Rental · Care Reference</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렌탈 · 방문관리 · 빌트인 통합 수요는 공개 실적으로 확인 (FACT). 단, 로봇 Integration에 대한 지불 여부는 별개 → WTP 조사</a:t>
            </a:r>
          </a:p>
        </p:txBody>
      </p:sp>
      <p:graphicFrame>
        <p:nvGraphicFramePr>
          <p:cNvPr id="5" name="Table 4"/>
          <p:cNvGraphicFramePr>
            <a:graphicFrameLocks noGrp="1"/>
          </p:cNvGraphicFramePr>
          <p:nvPr/>
        </p:nvGraphicFramePr>
        <p:xfrm>
          <a:off x="685800" y="1790567"/>
          <a:ext cx="10817352" cy="3110431"/>
        </p:xfrm>
        <a:graphic>
          <a:graphicData uri="http://schemas.openxmlformats.org/drawingml/2006/table">
            <a:tbl>
              <a:tblPr firstRow="0" bandRow="0">
                <a:tableStyleId>{2D5ABB26-0587-4C30-8999-92F81FD0307C}</a:tableStyleId>
              </a:tblPr>
              <a:tblGrid>
                <a:gridCol w="2743200"/>
                <a:gridCol w="4206240"/>
                <a:gridCol w="1097280"/>
                <a:gridCol w="2770632"/>
              </a:tblGrid>
              <a:tr h="293573">
                <a:tc>
                  <a:txBody>
                    <a:bodyPr wrap="square"/>
                    <a:lstStyle/>
                    <a:p>
                      <a:pPr algn="l">
                        <a:lnSpc>
                          <a:spcPct val="100000"/>
                        </a:lnSpc>
                      </a:pPr>
                      <a:r>
                        <a:rPr sz="95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비고</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국내 리모델링 시장 (건축물 전체)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2025 37조원 → 2030 44조원 (전망)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한국건설산업연구원 · 주택 주방 단독 아님 [S7]</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프리미엄 Kitchen 동향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수입 · 고가 맞춤 약 90% · 키친바흐 +17% · 밀레 연계 +173%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한샘 발표 인용 보도 [S9]</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한샘 리하우스 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2025 1Q 1,147억원 (−4.3%)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분기 실적 [S10]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신축 유상옵션 / 분양가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평균 9.7% (분양가상한제 7개 단지)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보도 · 옵션 선택 문화 [S11]</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코웨이 (렌탈 · 방문관리)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2025 매출 4조9,636억 · 영업이익 8,787억 · 국내 계정 748만 (2026 1Q)</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실적 보도 [S12]</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LG 가전 구독 · Care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2025 구독 매출 2조원+ · 케어매니저 약 4,000명 · LH 5,400세대 · 재건축 약 7,000세대 선택지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실적 · 보도 [S41]</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가전 A/S 출장비 (소비자 부과)</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2.8만원 (삼성 · LG, 2026)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MH 방문 원가와 다름 [S13]</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식기세척기 보급률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10%대 초반 (2019~2020 업계 추정, 전체 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최신 공식 통계 없음 → 조사 [S30]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주방 단독 교체 가격: 일반 / Premium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600~1,500만원 / 2,000~4,000만원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공식 자료 없음 → 견적 20건 (M6)</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C3  ·  시장 · 경쟁</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Market Sizing 산식 · 검증 계획</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세대 수 × 적용률 × 단가. 핵심 비율은 ASSUMPTION → 검증 방법과 시점 지정</a:t>
            </a:r>
          </a:p>
        </p:txBody>
      </p:sp>
      <p:graphicFrame>
        <p:nvGraphicFramePr>
          <p:cNvPr id="5" name="Table 4"/>
          <p:cNvGraphicFramePr>
            <a:graphicFrameLocks noGrp="1"/>
          </p:cNvGraphicFramePr>
          <p:nvPr/>
        </p:nvGraphicFramePr>
        <p:xfrm>
          <a:off x="685800" y="1790567"/>
          <a:ext cx="10817352" cy="1862630"/>
        </p:xfrm>
        <a:graphic>
          <a:graphicData uri="http://schemas.openxmlformats.org/drawingml/2006/table">
            <a:tbl>
              <a:tblPr firstRow="0" bandRow="0">
                <a:tableStyleId>{2D5ABB26-0587-4C30-8999-92F81FD0307C}</a:tableStyleId>
              </a:tblPr>
              <a:tblGrid>
                <a:gridCol w="1554480"/>
                <a:gridCol w="3931920"/>
                <a:gridCol w="1280160"/>
                <a:gridCol w="2743200"/>
                <a:gridCol w="1307592"/>
              </a:tblGrid>
              <a:tr h="266090">
                <a:tc>
                  <a:txBody>
                    <a:bodyPr wrap="square"/>
                    <a:lstStyle/>
                    <a:p>
                      <a:pPr algn="l">
                        <a:lnSpc>
                          <a:spcPct val="100000"/>
                        </a:lnSpc>
                      </a:pPr>
                      <a:r>
                        <a:rPr sz="900" b="1">
                          <a:solidFill>
                            <a:srgbClr val="15171A"/>
                          </a:solidFill>
                          <a:latin typeface="Noto Sans KR"/>
                          <a:ea typeface="Noto Sans KR"/>
                          <a:cs typeface="Noto Sans KR"/>
                        </a:rPr>
                        <a:t>시장</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산식</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대상</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패키지 단가</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연 규모</a:t>
                      </a:r>
                    </a:p>
                  </a:txBody>
                  <a:tcPr marL="73152" marR="73152" marT="45720" marB="45720" anchor="t">
                    <a:lnL w="0">
                      <a:noFill/>
                    </a:lnL>
                    <a:lnR w="0">
                      <a:noFill/>
                    </a:lnR>
                    <a:lnT w="12700">
                      <a:solidFill>
                        <a:srgbClr val="15171A"/>
                      </a:solidFill>
                    </a:lnT>
                    <a:lnB w="9525">
                      <a:solidFill>
                        <a:srgbClr val="15171A"/>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① Remodeling</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30만 × 10% × 60%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18,000세대/년</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1,784만원 (Interface 450 + Attach 85% × 1,570)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3,212억원</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② Retrofit</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1,328만 × 10% × 60% × 40% = 31.9만 × 0.5%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1,593세대/년</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1,760만원 (Kit 150 + 1,490 + 120)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280억원</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③ New-build</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20만 × 15% × 10%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3,000세대/년</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612만원 (Option 220 + 25% × 1,570)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184억원</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④ Recurring</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Installed Base × ARPU 58.8만원 (Care 70% × 48 + 소모품 70% × 36)</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1,000대</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5.9억원/1,000대</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SAM (① + ② + ③)</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3,676억원</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SOM (Y5 Base Plan)</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560세대 · 대상의 2.5%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E2571B"/>
                          </a:solidFill>
                          <a:latin typeface="Noto Sans KR"/>
                          <a:ea typeface="Noto Sans KR"/>
                          <a:cs typeface="Noto Sans KR"/>
                        </a:rPr>
                        <a:t>91.5억원</a:t>
                      </a:r>
                    </a:p>
                  </a:txBody>
                  <a:tcPr marL="73152" marR="73152" marT="45720" marB="45720"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85800" y="3836080"/>
          <a:ext cx="10817352" cy="2028136"/>
        </p:xfrm>
        <a:graphic>
          <a:graphicData uri="http://schemas.openxmlformats.org/drawingml/2006/table">
            <a:tbl>
              <a:tblPr firstRow="0" bandRow="0">
                <a:tableStyleId>{2D5ABB26-0587-4C30-8999-92F81FD0307C}</a:tableStyleId>
              </a:tblPr>
              <a:tblGrid>
                <a:gridCol w="3840480"/>
                <a:gridCol w="1828800"/>
                <a:gridCol w="4206240"/>
                <a:gridCol w="941832"/>
              </a:tblGrid>
              <a:tr h="266090">
                <a:tc>
                  <a:txBody>
                    <a:bodyPr wrap="square"/>
                    <a:lstStyle/>
                    <a:p>
                      <a:pPr algn="l">
                        <a:lnSpc>
                          <a:spcPct val="100000"/>
                        </a:lnSpc>
                      </a:pPr>
                      <a:r>
                        <a:rPr sz="900" b="1">
                          <a:solidFill>
                            <a:srgbClr val="15171A"/>
                          </a:solidFill>
                          <a:latin typeface="Noto Sans KR"/>
                          <a:ea typeface="Noto Sans KR"/>
                          <a:cs typeface="Noto Sans KR"/>
                        </a:rPr>
                        <a:t>가정</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Tag</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검증 방법</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시점</a:t>
                      </a:r>
                    </a:p>
                  </a:txBody>
                  <a:tcPr marL="73152" marR="73152" marT="45720" marB="45720" anchor="t">
                    <a:lnL w="0">
                      <a:noFill/>
                    </a:lnL>
                    <a:lnR w="0">
                      <a:noFill/>
                    </a:lnR>
                    <a:lnT w="12700">
                      <a:solidFill>
                        <a:srgbClr val="15171A"/>
                      </a:solidFill>
                    </a:lnT>
                    <a:lnB w="9525">
                      <a:solidFill>
                        <a:srgbClr val="15171A"/>
                      </a:solidFill>
                    </a:lnB>
                    <a:noFill/>
                  </a:tcPr>
                </a:tc>
              </a:tr>
              <a:tr h="431596">
                <a:tc>
                  <a:txBody>
                    <a:bodyPr wrap="square"/>
                    <a:lstStyle/>
                    <a:p>
                      <a:pPr algn="l">
                        <a:lnSpc>
                          <a:spcPct val="100000"/>
                        </a:lnSpc>
                      </a:pPr>
                      <a:r>
                        <a:rPr sz="900" b="0">
                          <a:solidFill>
                            <a:srgbClr val="15171A"/>
                          </a:solidFill>
                          <a:latin typeface="Noto Sans KR"/>
                          <a:ea typeface="Noto Sans KR"/>
                          <a:cs typeface="Noto Sans KR"/>
                        </a:rPr>
                        <a:t>연 주방 교체 30만 세대</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ASSUMPTION (교차검증 29.0만 · 30.3만)</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견적 20건 · 인테리어 Partner 인터뷰 · 부동산원 아파트 거래 비중</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M6</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Premium 비중 10%</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ASSUMPTION</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견적 분포 (주방 2,000만원 이상)</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M6</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Remodeling 적용 가능률 60%</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ASSUMPTION</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평면 30개 분석 · 상담 주방 실측</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M6</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Premium 재고 10% · 식세기 60% · 호환 40% · 전환 0.5%/년</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ASSUMPTION / TBV</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소비자 조사 n ≥ 300 · 평면 분석</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M18</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신축 Premium 단지 15% · Option 10% · 입주 Attach 25%</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ASSUMPTION</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건설사 · 분양 옵션 사례 조사</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M18</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Care 가입 70% · 소모품 구매 70%</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ASSUMPTION</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실증 3세대 · Pilot 가입 · 교체 Data</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M24</a:t>
                      </a:r>
                    </a:p>
                  </a:txBody>
                  <a:tcPr marL="73152" marR="73152" marT="45720" marB="45720" anchor="t">
                    <a:lnL w="0">
                      <a:noFill/>
                    </a:lnL>
                    <a:lnR w="0">
                      <a:noFill/>
                    </a:lnR>
                    <a:lnT w="0">
                      <a:noFill/>
                    </a:lnT>
                    <a:lnB w="9525">
                      <a:solidFill>
                        <a:srgbClr val="E2E4E7"/>
                      </a:solidFill>
                    </a:lnB>
                    <a:noFill/>
                  </a:tcPr>
                </a:tc>
              </a:tr>
            </a:tbl>
          </a:graphicData>
        </a:graphic>
      </p:graphicFrame>
      <p:sp>
        <p:nvSpPr>
          <p:cNvPr id="7" name="TextBox 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8" name="TextBox 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C4  ·  시장 · 경쟁</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경쟁사 상세 (공개 자료)</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공개 보도 · 회사 발표 기준. 성능 비교 Data는 공개되지 않아 하지 않음. "최초 · 압도적" 주장 없음.</a:t>
            </a:r>
          </a:p>
        </p:txBody>
      </p:sp>
      <p:graphicFrame>
        <p:nvGraphicFramePr>
          <p:cNvPr id="5" name="Table 4"/>
          <p:cNvGraphicFramePr>
            <a:graphicFrameLocks noGrp="1"/>
          </p:cNvGraphicFramePr>
          <p:nvPr/>
        </p:nvGraphicFramePr>
        <p:xfrm>
          <a:off x="685800" y="1790567"/>
          <a:ext cx="10817352" cy="3271432"/>
        </p:xfrm>
        <a:graphic>
          <a:graphicData uri="http://schemas.openxmlformats.org/drawingml/2006/table">
            <a:tbl>
              <a:tblPr firstRow="0" bandRow="0">
                <a:tableStyleId>{2D5ABB26-0587-4C30-8999-92F81FD0307C}</a:tableStyleId>
              </a:tblPr>
              <a:tblGrid>
                <a:gridCol w="1737360"/>
                <a:gridCol w="1371600"/>
                <a:gridCol w="2834640"/>
                <a:gridCol w="2514600"/>
                <a:gridCol w="1554480"/>
                <a:gridCol w="804672"/>
              </a:tblGrid>
              <a:tr h="253268">
                <a:tc>
                  <a:txBody>
                    <a:bodyPr wrap="square"/>
                    <a:lstStyle/>
                    <a:p>
                      <a:pPr algn="l">
                        <a:lnSpc>
                          <a:spcPct val="100000"/>
                        </a:lnSpc>
                      </a:pPr>
                      <a:r>
                        <a:rPr sz="880" b="1">
                          <a:solidFill>
                            <a:srgbClr val="15171A"/>
                          </a:solidFill>
                          <a:latin typeface="Noto Sans KR"/>
                          <a:ea typeface="Noto Sans KR"/>
                          <a:cs typeface="Noto Sans KR"/>
                        </a:rPr>
                        <a:t>Player</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80" b="1">
                          <a:solidFill>
                            <a:srgbClr val="15171A"/>
                          </a:solidFill>
                          <a:latin typeface="Noto Sans KR"/>
                          <a:ea typeface="Noto Sans KR"/>
                          <a:cs typeface="Noto Sans KR"/>
                        </a:rPr>
                        <a:t>구분</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80" b="1">
                          <a:solidFill>
                            <a:srgbClr val="15171A"/>
                          </a:solidFill>
                          <a:latin typeface="Noto Sans KR"/>
                          <a:ea typeface="Noto Sans KR"/>
                          <a:cs typeface="Noto Sans KR"/>
                        </a:rPr>
                        <a:t>공개 내용</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80" b="1">
                          <a:solidFill>
                            <a:srgbClr val="15171A"/>
                          </a:solidFill>
                          <a:latin typeface="Noto Sans KR"/>
                          <a:ea typeface="Noto Sans KR"/>
                          <a:cs typeface="Noto Sans KR"/>
                        </a:rPr>
                        <a:t>가격 · 상태</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80" b="1">
                          <a:solidFill>
                            <a:srgbClr val="15171A"/>
                          </a:solidFill>
                          <a:latin typeface="Noto Sans KR"/>
                          <a:ea typeface="Noto Sans KR"/>
                          <a:cs typeface="Noto Sans KR"/>
                        </a:rPr>
                        <a:t>접근</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80" b="1">
                          <a:solidFill>
                            <a:srgbClr val="15171A"/>
                          </a:solidFill>
                          <a:latin typeface="Noto Sans KR"/>
                          <a:ea typeface="Noto Sans KR"/>
                          <a:cs typeface="Noto Sans KR"/>
                        </a:rPr>
                        <a:t>출처</a:t>
                      </a:r>
                    </a:p>
                  </a:txBody>
                  <a:tcPr marL="73152" marR="73152" marT="41148" marB="41148" anchor="t">
                    <a:lnL w="0">
                      <a:noFill/>
                    </a:lnL>
                    <a:lnR w="0">
                      <a:noFill/>
                    </a:lnR>
                    <a:lnT w="12700">
                      <a:solidFill>
                        <a:srgbClr val="15171A"/>
                      </a:solidFill>
                    </a:lnT>
                    <a:lnB w="9525">
                      <a:solidFill>
                        <a:srgbClr val="15171A"/>
                      </a:solidFill>
                    </a:lnB>
                    <a:noFill/>
                  </a:tcPr>
                </a:tc>
              </a:tr>
              <a:tr h="415096">
                <a:tc>
                  <a:txBody>
                    <a:bodyPr wrap="square"/>
                    <a:lstStyle/>
                    <a:p>
                      <a:pPr algn="l">
                        <a:lnSpc>
                          <a:spcPct val="100000"/>
                        </a:lnSpc>
                      </a:pPr>
                      <a:r>
                        <a:rPr sz="880" b="1">
                          <a:solidFill>
                            <a:srgbClr val="15171A"/>
                          </a:solidFill>
                          <a:latin typeface="Noto Sans KR"/>
                          <a:ea typeface="Noto Sans KR"/>
                          <a:cs typeface="Noto Sans KR"/>
                        </a:rPr>
                        <a:t>1X NEO</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Humanoid (가정)</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가사 전반 · 원격조작 학습</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$20,000 또는 월 $499 · 2026년 말 첫 배송 목표 (확인 안 됨)</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이동 · 범용 손 · 설치 불필요</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[S19]</a:t>
                      </a:r>
                    </a:p>
                  </a:txBody>
                  <a:tcPr marL="73152" marR="73152" marT="41148" marB="41148" anchor="t">
                    <a:lnL w="0">
                      <a:noFill/>
                    </a:lnL>
                    <a:lnR w="0">
                      <a:noFill/>
                    </a:lnR>
                    <a:lnT w="0">
                      <a:noFill/>
                    </a:lnT>
                    <a:lnB w="9525">
                      <a:solidFill>
                        <a:srgbClr val="E2E4E7"/>
                      </a:solidFill>
                    </a:lnB>
                    <a:noFill/>
                  </a:tcPr>
                </a:tc>
              </a:tr>
              <a:tr h="253268">
                <a:tc>
                  <a:txBody>
                    <a:bodyPr wrap="square"/>
                    <a:lstStyle/>
                    <a:p>
                      <a:pPr algn="l">
                        <a:lnSpc>
                          <a:spcPct val="100000"/>
                        </a:lnSpc>
                      </a:pPr>
                      <a:r>
                        <a:rPr sz="880" b="1">
                          <a:solidFill>
                            <a:srgbClr val="15171A"/>
                          </a:solidFill>
                          <a:latin typeface="Noto Sans KR"/>
                          <a:ea typeface="Noto Sans KR"/>
                          <a:cs typeface="Noto Sans KR"/>
                        </a:rPr>
                        <a:t>Figure (Helix 02)</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Humanoid</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식세기 인출 → 수납 → 적재 약 4분 연속 시연 (회사 발표)</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가격 · 출시 미공개</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범용 VLA 모델 학습</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[S45]</a:t>
                      </a:r>
                    </a:p>
                  </a:txBody>
                  <a:tcPr marL="73152" marR="73152" marT="41148" marB="41148" anchor="t">
                    <a:lnL w="0">
                      <a:noFill/>
                    </a:lnL>
                    <a:lnR w="0">
                      <a:noFill/>
                    </a:lnR>
                    <a:lnT w="0">
                      <a:noFill/>
                    </a:lnT>
                    <a:lnB w="9525">
                      <a:solidFill>
                        <a:srgbClr val="E2E4E7"/>
                      </a:solidFill>
                    </a:lnB>
                    <a:noFill/>
                  </a:tcPr>
                </a:tc>
              </a:tr>
              <a:tr h="253268">
                <a:tc>
                  <a:txBody>
                    <a:bodyPr wrap="square"/>
                    <a:lstStyle/>
                    <a:p>
                      <a:pPr algn="l">
                        <a:lnSpc>
                          <a:spcPct val="100000"/>
                        </a:lnSpc>
                      </a:pPr>
                      <a:r>
                        <a:rPr sz="880" b="1">
                          <a:solidFill>
                            <a:srgbClr val="15171A"/>
                          </a:solidFill>
                          <a:latin typeface="Noto Sans KR"/>
                          <a:ea typeface="Noto Sans KR"/>
                          <a:cs typeface="Noto Sans KR"/>
                        </a:rPr>
                        <a:t>Sunday Robotics Memo</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이동형 가정 로봇</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식세기 적재 · 테이블 정리 시연</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Beta 2026년 말 · 양산 $10k 미만 목표</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집안 이동 · 학습 Data</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[S20]</a:t>
                      </a:r>
                    </a:p>
                  </a:txBody>
                  <a:tcPr marL="73152" marR="73152" marT="41148" marB="41148" anchor="t">
                    <a:lnL w="0">
                      <a:noFill/>
                    </a:lnL>
                    <a:lnR w="0">
                      <a:noFill/>
                    </a:lnR>
                    <a:lnT w="0">
                      <a:noFill/>
                    </a:lnT>
                    <a:lnB w="9525">
                      <a:solidFill>
                        <a:srgbClr val="E2E4E7"/>
                      </a:solidFill>
                    </a:lnB>
                    <a:noFill/>
                  </a:tcPr>
                </a:tc>
              </a:tr>
              <a:tr h="415096">
                <a:tc>
                  <a:txBody>
                    <a:bodyPr wrap="square"/>
                    <a:lstStyle/>
                    <a:p>
                      <a:pPr algn="l">
                        <a:lnSpc>
                          <a:spcPct val="100000"/>
                        </a:lnSpc>
                      </a:pPr>
                      <a:r>
                        <a:rPr sz="880" b="1">
                          <a:solidFill>
                            <a:srgbClr val="15171A"/>
                          </a:solidFill>
                          <a:latin typeface="Noto Sans KR"/>
                          <a:ea typeface="Noto Sans KR"/>
                          <a:cs typeface="Noto Sans KR"/>
                        </a:rPr>
                        <a:t>LG CLOiD</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Humanoid형 홈로봇</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식세기 비우기 · 빨래 등 시연 (CES 2026)</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2026 실증 · 2028 상용화 목표 · 가격 미공개</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가전 연계 · 팔 범위 무릎 높이 이상 (보도)</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[S21]</a:t>
                      </a:r>
                    </a:p>
                  </a:txBody>
                  <a:tcPr marL="73152" marR="73152" marT="41148" marB="41148" anchor="t">
                    <a:lnL w="0">
                      <a:noFill/>
                    </a:lnL>
                    <a:lnR w="0">
                      <a:noFill/>
                    </a:lnR>
                    <a:lnT w="0">
                      <a:noFill/>
                    </a:lnT>
                    <a:lnB w="9525">
                      <a:solidFill>
                        <a:srgbClr val="E2E4E7"/>
                      </a:solidFill>
                    </a:lnB>
                    <a:noFill/>
                  </a:tcPr>
                </a:tc>
              </a:tr>
              <a:tr h="253268">
                <a:tc>
                  <a:txBody>
                    <a:bodyPr wrap="square"/>
                    <a:lstStyle/>
                    <a:p>
                      <a:pPr algn="l">
                        <a:lnSpc>
                          <a:spcPct val="100000"/>
                        </a:lnSpc>
                      </a:pPr>
                      <a:r>
                        <a:rPr sz="880" b="1">
                          <a:solidFill>
                            <a:srgbClr val="15171A"/>
                          </a:solidFill>
                          <a:latin typeface="Noto Sans KR"/>
                          <a:ea typeface="Noto Sans KR"/>
                          <a:cs typeface="Noto Sans KR"/>
                        </a:rPr>
                        <a:t>Samsung</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가전 · 로봇</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Bot Handy (2021 Concept) · 2026 AI 가전 중심</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출시 확인 안 됨</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가전 내부 자동화</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[S22]</a:t>
                      </a:r>
                    </a:p>
                  </a:txBody>
                  <a:tcPr marL="73152" marR="73152" marT="41148" marB="41148" anchor="t">
                    <a:lnL w="0">
                      <a:noFill/>
                    </a:lnL>
                    <a:lnR w="0">
                      <a:noFill/>
                    </a:lnR>
                    <a:lnT w="0">
                      <a:noFill/>
                    </a:lnT>
                    <a:lnB w="9525">
                      <a:solidFill>
                        <a:srgbClr val="E2E4E7"/>
                      </a:solidFill>
                    </a:lnB>
                    <a:noFill/>
                  </a:tcPr>
                </a:tc>
              </a:tr>
              <a:tr h="253268">
                <a:tc>
                  <a:txBody>
                    <a:bodyPr wrap="square"/>
                    <a:lstStyle/>
                    <a:p>
                      <a:pPr algn="l">
                        <a:lnSpc>
                          <a:spcPct val="100000"/>
                        </a:lnSpc>
                      </a:pPr>
                      <a:r>
                        <a:rPr sz="880" b="1">
                          <a:solidFill>
                            <a:srgbClr val="15171A"/>
                          </a:solidFill>
                          <a:latin typeface="Noto Sans KR"/>
                          <a:ea typeface="Noto Sans KR"/>
                          <a:cs typeface="Noto Sans KR"/>
                        </a:rPr>
                        <a:t>Moley Robotic Kitchen</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로봇 주방</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천장 Rail 양팔 조리</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£248,000 (Arm 포함, 2021)</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전용 주방 · 조리 중심</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[S23]</a:t>
                      </a:r>
                    </a:p>
                  </a:txBody>
                  <a:tcPr marL="73152" marR="73152" marT="41148" marB="41148" anchor="t">
                    <a:lnL w="0">
                      <a:noFill/>
                    </a:lnL>
                    <a:lnR w="0">
                      <a:noFill/>
                    </a:lnR>
                    <a:lnT w="0">
                      <a:noFill/>
                    </a:lnT>
                    <a:lnB w="9525">
                      <a:solidFill>
                        <a:srgbClr val="E2E4E7"/>
                      </a:solidFill>
                    </a:lnB>
                    <a:noFill/>
                  </a:tcPr>
                </a:tc>
              </a:tr>
              <a:tr h="253268">
                <a:tc>
                  <a:txBody>
                    <a:bodyPr wrap="square"/>
                    <a:lstStyle/>
                    <a:p>
                      <a:pPr algn="l">
                        <a:lnSpc>
                          <a:spcPct val="100000"/>
                        </a:lnSpc>
                      </a:pPr>
                      <a:r>
                        <a:rPr sz="880" b="1">
                          <a:solidFill>
                            <a:srgbClr val="15171A"/>
                          </a:solidFill>
                          <a:latin typeface="Noto Sans KR"/>
                          <a:ea typeface="Noto Sans KR"/>
                          <a:cs typeface="Noto Sans KR"/>
                        </a:rPr>
                        <a:t>Posha</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조리대 조리 로봇</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자동 조리</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$1,750 + 월 $15</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조리 전용 기기</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[S24]</a:t>
                      </a:r>
                    </a:p>
                  </a:txBody>
                  <a:tcPr marL="73152" marR="73152" marT="41148" marB="41148" anchor="t">
                    <a:lnL w="0">
                      <a:noFill/>
                    </a:lnL>
                    <a:lnR w="0">
                      <a:noFill/>
                    </a:lnR>
                    <a:lnT w="0">
                      <a:noFill/>
                    </a:lnT>
                    <a:lnB w="9525">
                      <a:solidFill>
                        <a:srgbClr val="E2E4E7"/>
                      </a:solidFill>
                    </a:lnB>
                    <a:noFill/>
                  </a:tcPr>
                </a:tc>
              </a:tr>
              <a:tr h="253268">
                <a:tc>
                  <a:txBody>
                    <a:bodyPr wrap="square"/>
                    <a:lstStyle/>
                    <a:p>
                      <a:pPr algn="l">
                        <a:lnSpc>
                          <a:spcPct val="100000"/>
                        </a:lnSpc>
                      </a:pPr>
                      <a:r>
                        <a:rPr sz="880" b="1">
                          <a:solidFill>
                            <a:srgbClr val="15171A"/>
                          </a:solidFill>
                          <a:latin typeface="Noto Sans KR"/>
                          <a:ea typeface="Noto Sans KR"/>
                          <a:cs typeface="Noto Sans KR"/>
                        </a:rPr>
                        <a:t>Tesla Optimus</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Humanoid</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가정용 목표</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소비자 목표가 $20k~30k (양산 시)</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범용</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[S25]</a:t>
                      </a:r>
                    </a:p>
                  </a:txBody>
                  <a:tcPr marL="73152" marR="73152" marT="41148" marB="41148" anchor="t">
                    <a:lnL w="0">
                      <a:noFill/>
                    </a:lnL>
                    <a:lnR w="0">
                      <a:noFill/>
                    </a:lnR>
                    <a:lnT w="0">
                      <a:noFill/>
                    </a:lnT>
                    <a:lnB w="9525">
                      <a:solidFill>
                        <a:srgbClr val="E2E4E7"/>
                      </a:solidFill>
                    </a:lnB>
                    <a:noFill/>
                  </a:tcPr>
                </a:tc>
              </a:tr>
              <a:tr h="415096">
                <a:tc>
                  <a:txBody>
                    <a:bodyPr wrap="square"/>
                    <a:lstStyle/>
                    <a:p>
                      <a:pPr algn="l">
                        <a:lnSpc>
                          <a:spcPct val="100000"/>
                        </a:lnSpc>
                      </a:pPr>
                      <a:r>
                        <a:rPr sz="880" b="1">
                          <a:solidFill>
                            <a:srgbClr val="15171A"/>
                          </a:solidFill>
                          <a:latin typeface="Noto Sans KR"/>
                          <a:ea typeface="Noto Sans KR"/>
                          <a:cs typeface="Noto Sans KR"/>
                        </a:rPr>
                        <a:t>UR · Doosan + Robotiq</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Cobot + Gripper</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부품 (산업용)</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UR3e $23k~33k · E0509 약 $22k · 2F-85 약 $5,825</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Integrator 맞춤</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[S15 · S42]</a:t>
                      </a:r>
                    </a:p>
                  </a:txBody>
                  <a:tcPr marL="73152" marR="73152" marT="41148" marB="41148" anchor="t">
                    <a:lnL w="0">
                      <a:noFill/>
                    </a:lnL>
                    <a:lnR w="0">
                      <a:noFill/>
                    </a:lnR>
                    <a:lnT w="0">
                      <a:noFill/>
                    </a:lnT>
                    <a:lnB w="9525">
                      <a:solidFill>
                        <a:srgbClr val="E2E4E7"/>
                      </a:solidFill>
                    </a:lnB>
                    <a:noFill/>
                  </a:tcPr>
                </a:tc>
              </a:tr>
              <a:tr h="253268">
                <a:tc>
                  <a:txBody>
                    <a:bodyPr wrap="square"/>
                    <a:lstStyle/>
                    <a:p>
                      <a:pPr algn="l">
                        <a:lnSpc>
                          <a:spcPct val="100000"/>
                        </a:lnSpc>
                      </a:pPr>
                      <a:r>
                        <a:rPr sz="880" b="1">
                          <a:solidFill>
                            <a:srgbClr val="15171A"/>
                          </a:solidFill>
                          <a:latin typeface="Noto Sans KR"/>
                          <a:ea typeface="Noto Sans KR"/>
                          <a:cs typeface="Noto Sans KR"/>
                        </a:rPr>
                        <a:t>한샘 · 리바트</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주방가구</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키친바흐 × 가게나우 빌트인 협업</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로봇 협업 보도 없음 (2026)</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주방 시공 · 수납</a:t>
                      </a:r>
                    </a:p>
                  </a:txBody>
                  <a:tcPr marL="73152" marR="73152" marT="41148" marB="41148" anchor="t">
                    <a:lnL w="0">
                      <a:noFill/>
                    </a:lnL>
                    <a:lnR w="0">
                      <a:noFill/>
                    </a:lnR>
                    <a:lnT w="0">
                      <a:noFill/>
                    </a:lnT>
                    <a:lnB w="9525">
                      <a:solidFill>
                        <a:srgbClr val="E2E4E7"/>
                      </a:solidFill>
                    </a:lnB>
                    <a:noFill/>
                  </a:tcPr>
                </a:tc>
                <a:tc>
                  <a:txBody>
                    <a:bodyPr wrap="square"/>
                    <a:lstStyle/>
                    <a:p>
                      <a:pPr algn="l">
                        <a:lnSpc>
                          <a:spcPct val="100000"/>
                        </a:lnSpc>
                      </a:pPr>
                      <a:r>
                        <a:rPr sz="880" b="0">
                          <a:solidFill>
                            <a:srgbClr val="15171A"/>
                          </a:solidFill>
                          <a:latin typeface="Noto Sans KR"/>
                          <a:ea typeface="Noto Sans KR"/>
                          <a:cs typeface="Noto Sans KR"/>
                        </a:rPr>
                        <a:t>[S51]</a:t>
                      </a:r>
                    </a:p>
                  </a:txBody>
                  <a:tcPr marL="73152" marR="73152" marT="41148" marB="41148"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208310"/>
            <a:ext cx="10820095" cy="421741"/>
          </a:xfrm>
          <a:prstGeom prst="rect">
            <a:avLst/>
          </a:prstGeom>
          <a:solidFill>
            <a:srgbClr val="F4F5F6"/>
          </a:solidFill>
          <a:ln>
            <a:noFill/>
          </a:ln>
        </p:spPr>
        <p:txBody>
          <a:bodyPr rtlCol="0" anchor="ctr"/>
          <a:lstStyle/>
          <a:p>
            <a:pPr algn="ctr"/>
          </a:p>
        </p:txBody>
      </p:sp>
      <p:sp>
        <p:nvSpPr>
          <p:cNvPr id="7" name="Rectangle 6"/>
          <p:cNvSpPr/>
          <p:nvPr/>
        </p:nvSpPr>
        <p:spPr>
          <a:xfrm>
            <a:off x="685800" y="5208310"/>
            <a:ext cx="54864" cy="421741"/>
          </a:xfrm>
          <a:prstGeom prst="rect">
            <a:avLst/>
          </a:prstGeom>
          <a:solidFill>
            <a:srgbClr val="E2571B"/>
          </a:solidFill>
          <a:ln>
            <a:noFill/>
          </a:ln>
        </p:spPr>
        <p:txBody>
          <a:bodyPr rtlCol="0" anchor="ctr"/>
          <a:lstStyle/>
          <a:p>
            <a:pPr algn="ctr"/>
          </a:p>
        </p:txBody>
      </p:sp>
      <p:sp>
        <p:nvSpPr>
          <p:cNvPr id="8" name="TextBox 7"/>
          <p:cNvSpPr txBox="1"/>
          <p:nvPr/>
        </p:nvSpPr>
        <p:spPr>
          <a:xfrm>
            <a:off x="886968" y="5208310"/>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MH의 차이 = 고정형 Kitchen System (Hand · Skill · Calibration · Interface · Care). 우위는 미검증 → 재배치 시간 · 원가 · 유료 전환으로 증명</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D1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가격 가설: 원가 Floor · 시장 Reference · 가치 Anchor</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범위를 먼저 계산하고 WTP로 검증하는 구조. 모든 가격 = ASSUMPTION</a:t>
            </a:r>
          </a:p>
        </p:txBody>
      </p:sp>
      <p:graphicFrame>
        <p:nvGraphicFramePr>
          <p:cNvPr id="5" name="Table 4"/>
          <p:cNvGraphicFramePr>
            <a:graphicFrameLocks noGrp="1"/>
          </p:cNvGraphicFramePr>
          <p:nvPr/>
        </p:nvGraphicFramePr>
        <p:xfrm>
          <a:off x="685800" y="1790567"/>
          <a:ext cx="10817351" cy="2193642"/>
        </p:xfrm>
        <a:graphic>
          <a:graphicData uri="http://schemas.openxmlformats.org/drawingml/2006/table">
            <a:tbl>
              <a:tblPr firstRow="0" bandRow="0">
                <a:tableStyleId>{2D5ABB26-0587-4C30-8999-92F81FD0307C}</a:tableStyleId>
              </a:tblPr>
              <a:tblGrid>
                <a:gridCol w="1920240"/>
                <a:gridCol w="1463040"/>
                <a:gridCol w="2560320"/>
                <a:gridCol w="3017520"/>
                <a:gridCol w="1856231"/>
              </a:tblGrid>
              <a:tr h="266090">
                <a:tc>
                  <a:txBody>
                    <a:bodyPr wrap="square"/>
                    <a:lstStyle/>
                    <a:p>
                      <a:pPr algn="l">
                        <a:lnSpc>
                          <a:spcPct val="100000"/>
                        </a:lnSpc>
                      </a:pPr>
                      <a:r>
                        <a:rPr sz="900" b="1">
                          <a:solidFill>
                            <a:srgbClr val="15171A"/>
                          </a:solidFill>
                          <a:latin typeface="Noto Sans KR"/>
                          <a:ea typeface="Noto Sans KR"/>
                          <a:cs typeface="Noto Sans KR"/>
                        </a:rPr>
                        <a:t>항목</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가격 가설 (VAT 별도)</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원가 Floor (DERIVED)</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시장 Reference (FACT)</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가치 Anchor</a:t>
                      </a:r>
                    </a:p>
                  </a:txBody>
                  <a:tcPr marL="73152" marR="73152" marT="45720" marB="45720" anchor="t">
                    <a:lnL w="0">
                      <a:noFill/>
                    </a:lnL>
                    <a:lnR w="0">
                      <a:noFill/>
                    </a:lnR>
                    <a:lnT w="12700">
                      <a:solidFill>
                        <a:srgbClr val="15171A"/>
                      </a:solidFill>
                    </a:lnT>
                    <a:lnB w="9525">
                      <a:solidFill>
                        <a:srgbClr val="15171A"/>
                      </a:solidFill>
                    </a:lnB>
                    <a:noFill/>
                  </a:tcPr>
                </a:tc>
              </a:tr>
              <a:tr h="431596">
                <a:tc>
                  <a:txBody>
                    <a:bodyPr wrap="square"/>
                    <a:lstStyle/>
                    <a:p>
                      <a:pPr algn="l">
                        <a:lnSpc>
                          <a:spcPct val="100000"/>
                        </a:lnSpc>
                      </a:pPr>
                      <a:r>
                        <a:rPr sz="900" b="1">
                          <a:solidFill>
                            <a:srgbClr val="15171A"/>
                          </a:solidFill>
                          <a:latin typeface="Noto Sans KR"/>
                          <a:ea typeface="Noto Sans KR"/>
                          <a:cs typeface="Noto Sans KR"/>
                        </a:rPr>
                        <a:t>Robot System</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1,490만원</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BOM Y3 1,180 → Y5 915만원 (Hardware 마진 21% → 39%)</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1X NEO $20,000 (약 2,800만원) · Sunday Memo 목표 $10k 미만 · UR3e $23k~33k</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가사 대체 월 약 18만원 × 60개월 ≈ 1,080만원</a:t>
                      </a:r>
                    </a:p>
                  </a:txBody>
                  <a:tcPr marL="73152" marR="73152" marT="45720" marB="45720" anchor="t">
                    <a:lnL w="0">
                      <a:noFill/>
                    </a:lnL>
                    <a:lnR w="0">
                      <a:noFill/>
                    </a:lnR>
                    <a:lnT w="0">
                      <a:noFill/>
                    </a:lnT>
                    <a:lnB w="9525">
                      <a:solidFill>
                        <a:srgbClr val="E2E4E7"/>
                      </a:solidFill>
                    </a:lnB>
                    <a:noFill/>
                  </a:tcPr>
                </a:tc>
              </a:tr>
              <a:tr h="431596">
                <a:tc>
                  <a:txBody>
                    <a:bodyPr wrap="square"/>
                    <a:lstStyle/>
                    <a:p>
                      <a:pPr algn="l">
                        <a:lnSpc>
                          <a:spcPct val="100000"/>
                        </a:lnSpc>
                      </a:pPr>
                      <a:r>
                        <a:rPr sz="900" b="1">
                          <a:solidFill>
                            <a:srgbClr val="15171A"/>
                          </a:solidFill>
                          <a:latin typeface="Noto Sans KR"/>
                          <a:ea typeface="Noto Sans KR"/>
                          <a:cs typeface="Noto Sans KR"/>
                        </a:rPr>
                        <a:t>Interface · Integration (Remodeling)</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450만원</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Kit 원가 Y3 약 277만원 (표준부품 65%)</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Premium 주방 2,000~4,000만원의 11~23% (ASSUMPTION) · 신축 유상옵션 분양가 대비 9.7% (FACT)</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주방 공사와 동시 시공 → 별도 공사 회피</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Installation · Calibration</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80만원 (Retrofit 120)</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원가 Y3 60만원 (약 18인시)</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가전 출장비 2.8만원 (소비자 부과, 비교 불가) [S13]</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Rental</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월 33만원 (60개월)</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월 원가 Y3 25.6만원 (마진 20% 요금 32.0만원)</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1X NEO 월 $499 (약 70만원)</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가사 대체 월 약 18만원 → Gap</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Care</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연 48만원</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원가 Y3 36.8 → Y5 26.8만원</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LG 구독 정기관리 포함 (가격 구조 비공개)</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안전 · 성능 유지</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Consumables</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연 36만원 (List)</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원가율 35%</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Robotiq Fingertip $175~195 · 식품용 실리콘 컵 £7~20</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위생 · 마모 교체</a:t>
                      </a:r>
                    </a:p>
                  </a:txBody>
                  <a:tcPr marL="73152" marR="73152" marT="45720" marB="45720"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130517"/>
            <a:ext cx="10820095" cy="421741"/>
          </a:xfrm>
          <a:prstGeom prst="rect">
            <a:avLst/>
          </a:prstGeom>
          <a:solidFill>
            <a:srgbClr val="F4F5F6"/>
          </a:solidFill>
          <a:ln>
            <a:noFill/>
          </a:ln>
        </p:spPr>
        <p:txBody>
          <a:bodyPr rtlCol="0" anchor="ctr"/>
          <a:lstStyle/>
          <a:p>
            <a:pPr algn="ctr"/>
          </a:p>
        </p:txBody>
      </p:sp>
      <p:sp>
        <p:nvSpPr>
          <p:cNvPr id="7" name="Rectangle 6"/>
          <p:cNvSpPr/>
          <p:nvPr/>
        </p:nvSpPr>
        <p:spPr>
          <a:xfrm>
            <a:off x="685800" y="4130517"/>
            <a:ext cx="54864" cy="421741"/>
          </a:xfrm>
          <a:prstGeom prst="rect">
            <a:avLst/>
          </a:prstGeom>
          <a:solidFill>
            <a:srgbClr val="E2571B"/>
          </a:solidFill>
          <a:ln>
            <a:noFill/>
          </a:ln>
        </p:spPr>
        <p:txBody>
          <a:bodyPr rtlCol="0" anchor="ctr"/>
          <a:lstStyle/>
          <a:p>
            <a:pPr algn="ctr"/>
          </a:p>
        </p:txBody>
      </p:sp>
      <p:sp>
        <p:nvSpPr>
          <p:cNvPr id="8" name="TextBox 7"/>
          <p:cNvSpPr txBox="1"/>
          <p:nvPr/>
        </p:nvSpPr>
        <p:spPr>
          <a:xfrm>
            <a:off x="886968" y="4130517"/>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가치 Gap: CLEAN만의 가사 대체 가치 (월 약 18만원) &lt; Rental 월 33만원 → Premium 고객 · ASSIST 확장 · 위생 · 편의 가치로 검증 (WTP M18)</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D2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Household 5년 경제성 상세 (1세대 · 만원 · Base)</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구매 = Care 가입 세대 기준, Skill · Tool은 구매율 반영 기대값. Y3 / Y5 = 해당 연도 원가 수준을 5년간 적용. 전부 DERIVED (from ASSUMPTION)</a:t>
            </a:r>
          </a:p>
        </p:txBody>
      </p:sp>
      <p:graphicFrame>
        <p:nvGraphicFramePr>
          <p:cNvPr id="5" name="Table 4"/>
          <p:cNvGraphicFramePr>
            <a:graphicFrameLocks noGrp="1"/>
          </p:cNvGraphicFramePr>
          <p:nvPr/>
        </p:nvGraphicFramePr>
        <p:xfrm>
          <a:off x="685800" y="1790567"/>
          <a:ext cx="10808208" cy="3624676"/>
        </p:xfrm>
        <a:graphic>
          <a:graphicData uri="http://schemas.openxmlformats.org/drawingml/2006/table">
            <a:tbl>
              <a:tblPr firstRow="0" bandRow="0">
                <a:tableStyleId>{2D5ABB26-0587-4C30-8999-92F81FD0307C}</a:tableStyleId>
              </a:tblPr>
              <a:tblGrid>
                <a:gridCol w="2880360"/>
                <a:gridCol w="1321308"/>
                <a:gridCol w="1321308"/>
                <a:gridCol w="1321308"/>
                <a:gridCol w="1321308"/>
                <a:gridCol w="1321308"/>
                <a:gridCol w="1321308"/>
              </a:tblGrid>
              <a:tr h="431596">
                <a:tc>
                  <a:txBody>
                    <a:bodyPr wrap="square"/>
                    <a:lstStyle/>
                    <a:p>
                      <a:pPr algn="l">
                        <a:lnSpc>
                          <a:spcPct val="100000"/>
                        </a:lnSpc>
                      </a:pPr>
                      <a:r>
                        <a:rPr sz="900" b="1">
                          <a:solidFill>
                            <a:srgbClr val="15171A"/>
                          </a:solidFill>
                          <a:latin typeface="Noto Sans KR"/>
                          <a:ea typeface="Noto Sans KR"/>
                          <a:cs typeface="Noto Sans KR"/>
                        </a:rPr>
                        <a:t>항목</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Remodeling 구매 Y3</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Remodeling 구매 Y5</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Remodeling Rental Y3</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Remodeling Rental Y5</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Retrofit 구매 Y3</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New-build 구매 Y3</a:t>
                      </a:r>
                    </a:p>
                  </a:txBody>
                  <a:tcPr marL="73152" marR="73152" marT="45720" marB="45720" anchor="t">
                    <a:lnL w="0">
                      <a:noFill/>
                    </a:lnL>
                    <a:lnR w="0">
                      <a:noFill/>
                    </a:lnR>
                    <a:lnT w="12700">
                      <a:solidFill>
                        <a:srgbClr val="15171A"/>
                      </a:solidFill>
                    </a:lnT>
                    <a:lnB w="9525">
                      <a:solidFill>
                        <a:srgbClr val="15171A"/>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INSTALL (Interface · 설치 · Robot)</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2,020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2,020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530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530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1,760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1,790</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OPERATE (Rental · Care · 소모품, 5년)</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366</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366</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2,043</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2,043</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366</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366</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EXPAND (Skill · Tool 기대값)</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5년 매출</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2,418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2,418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2,605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2,605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2,158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2,188</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Robot BOM (Rental은 잔존가치 차감)</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1,180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915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1,003</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778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1,180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1,180</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Interface · 설치 · 물류 원가</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362</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307</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362</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307</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190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215</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서비스 원가 (Care · 소모품 · Warranty)</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288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238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285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224</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288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288</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Rental 금융비용</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271</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210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채널비용 (획득 · Partner · 수주)</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176</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25</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5년 매출총이익 (채널 전)</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578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948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674</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1,075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490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495</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5년 Lifetime Contribution</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E2571B"/>
                          </a:solidFill>
                          <a:latin typeface="Noto Sans KR"/>
                          <a:ea typeface="Noto Sans KR"/>
                          <a:cs typeface="Noto Sans KR"/>
                        </a:rPr>
                        <a:t>428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E2571B"/>
                          </a:solidFill>
                          <a:latin typeface="Noto Sans KR"/>
                          <a:ea typeface="Noto Sans KR"/>
                          <a:cs typeface="Noto Sans KR"/>
                        </a:rPr>
                        <a:t>798</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E2571B"/>
                          </a:solidFill>
                          <a:latin typeface="Noto Sans KR"/>
                          <a:ea typeface="Noto Sans KR"/>
                          <a:cs typeface="Noto Sans KR"/>
                        </a:rPr>
                        <a:t>524</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E2571B"/>
                          </a:solidFill>
                          <a:latin typeface="Noto Sans KR"/>
                          <a:ea typeface="Noto Sans KR"/>
                          <a:cs typeface="Noto Sans KR"/>
                        </a:rPr>
                        <a:t>925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E2571B"/>
                          </a:solidFill>
                          <a:latin typeface="Noto Sans KR"/>
                          <a:ea typeface="Noto Sans KR"/>
                          <a:cs typeface="Noto Sans KR"/>
                        </a:rPr>
                        <a:t>314</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E2571B"/>
                          </a:solidFill>
                          <a:latin typeface="Noto Sans KR"/>
                          <a:ea typeface="Noto Sans KR"/>
                          <a:cs typeface="Noto Sans KR"/>
                        </a:rPr>
                        <a:t>470</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0">
                          <a:solidFill>
                            <a:srgbClr val="15171A"/>
                          </a:solidFill>
                          <a:latin typeface="Noto Sans KR"/>
                          <a:ea typeface="Noto Sans KR"/>
                          <a:cs typeface="Noto Sans KR"/>
                        </a:rPr>
                        <a:t>Contribution Margin</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17.7%</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33.0%</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20.1%</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35.5%</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14.6%</a:t>
                      </a:r>
                    </a:p>
                  </a:txBody>
                  <a:tcPr marL="73152" marR="73152" marT="45720" marB="4572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21.5%</a:t>
                      </a:r>
                    </a:p>
                  </a:txBody>
                  <a:tcPr marL="73152" marR="73152" marT="45720" marB="45720"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561553"/>
            <a:ext cx="10820095" cy="421741"/>
          </a:xfrm>
          <a:prstGeom prst="rect">
            <a:avLst/>
          </a:prstGeom>
          <a:solidFill>
            <a:srgbClr val="F4F5F6"/>
          </a:solidFill>
          <a:ln>
            <a:noFill/>
          </a:ln>
        </p:spPr>
        <p:txBody>
          <a:bodyPr rtlCol="0" anchor="ctr"/>
          <a:lstStyle/>
          <a:p>
            <a:pPr algn="ctr"/>
          </a:p>
        </p:txBody>
      </p:sp>
      <p:sp>
        <p:nvSpPr>
          <p:cNvPr id="7" name="Rectangle 6"/>
          <p:cNvSpPr/>
          <p:nvPr/>
        </p:nvSpPr>
        <p:spPr>
          <a:xfrm>
            <a:off x="685800" y="5561553"/>
            <a:ext cx="54864" cy="421741"/>
          </a:xfrm>
          <a:prstGeom prst="rect">
            <a:avLst/>
          </a:prstGeom>
          <a:solidFill>
            <a:srgbClr val="E2571B"/>
          </a:solidFill>
          <a:ln>
            <a:noFill/>
          </a:ln>
        </p:spPr>
        <p:txBody>
          <a:bodyPr rtlCol="0" anchor="ctr"/>
          <a:lstStyle/>
          <a:p>
            <a:pPr algn="ctr"/>
          </a:p>
        </p:txBody>
      </p:sp>
      <p:sp>
        <p:nvSpPr>
          <p:cNvPr id="8" name="TextBox 7"/>
          <p:cNvSpPr txBox="1"/>
          <p:nvPr/>
        </p:nvSpPr>
        <p:spPr>
          <a:xfrm>
            <a:off x="886968" y="5561553"/>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매출보다 서비스 원가 · BOM에 민감: Y3 → Y5 원가 개선 (BOM · 설치 · 방문)만으로 Contribution이 약 2배</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D3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Rental · Care · Consumables 단위 경제성 (Base)</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Rental = 초기 부담을 낮추는 수단 (Pilot은 MH 직접, Scale은 Partner 자산). Care = Robot Lifecycle Maintenance. 모두 DERIVED (from ASSUMPTION)</a:t>
            </a:r>
          </a:p>
        </p:txBody>
      </p:sp>
      <p:graphicFrame>
        <p:nvGraphicFramePr>
          <p:cNvPr id="5" name="Table 4"/>
          <p:cNvGraphicFramePr>
            <a:graphicFrameLocks noGrp="1"/>
          </p:cNvGraphicFramePr>
          <p:nvPr/>
        </p:nvGraphicFramePr>
        <p:xfrm>
          <a:off x="685800" y="1790567"/>
          <a:ext cx="3423818" cy="2826406"/>
        </p:xfrm>
        <a:graphic>
          <a:graphicData uri="http://schemas.openxmlformats.org/drawingml/2006/table">
            <a:tbl>
              <a:tblPr firstRow="0" bandRow="0">
                <a:tableStyleId>{2D5ABB26-0587-4C30-8999-92F81FD0307C}</a:tableStyleId>
              </a:tblPr>
              <a:tblGrid>
                <a:gridCol w="2052218"/>
                <a:gridCol w="685800"/>
                <a:gridCol w="685800"/>
              </a:tblGrid>
              <a:tr h="256946">
                <a:tc>
                  <a:txBody>
                    <a:bodyPr wrap="square"/>
                    <a:lstStyle/>
                    <a:p>
                      <a:pPr algn="l">
                        <a:lnSpc>
                          <a:spcPct val="100000"/>
                        </a:lnSpc>
                      </a:pPr>
                      <a:r>
                        <a:rPr sz="900" b="1">
                          <a:solidFill>
                            <a:srgbClr val="15171A"/>
                          </a:solidFill>
                          <a:latin typeface="Noto Sans KR"/>
                          <a:ea typeface="Noto Sans KR"/>
                          <a:cs typeface="Noto Sans KR"/>
                        </a:rPr>
                        <a:t>Rental (만원/월)</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Y3</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Y5</a:t>
                      </a:r>
                    </a:p>
                  </a:txBody>
                  <a:tcPr marL="73152" marR="73152" marT="41148" marB="41148" anchor="t">
                    <a:lnL w="0">
                      <a:noFill/>
                    </a:lnL>
                    <a:lnR w="0">
                      <a:noFill/>
                    </a:lnR>
                    <a:lnT w="12700">
                      <a:solidFill>
                        <a:srgbClr val="15171A"/>
                      </a:solidFill>
                    </a:lnT>
                    <a:lnB w="9525">
                      <a:solidFill>
                        <a:srgbClr val="15171A"/>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감가 (잔존 15%)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16.7</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13.0</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금융비용</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3.5</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Care 원가</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3.1</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2.2</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Grip Kit 원가</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0.5</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Failure Reserve</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0.8</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0.6</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1">
                          <a:solidFill>
                            <a:srgbClr val="15171A"/>
                          </a:solidFill>
                          <a:latin typeface="Noto Sans KR"/>
                          <a:ea typeface="Noto Sans KR"/>
                          <a:cs typeface="Noto Sans KR"/>
                        </a:rPr>
                        <a:t>월 원가 합계</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25.6</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19.8</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월 요금 (가정)</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33</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1">
                          <a:solidFill>
                            <a:srgbClr val="15171A"/>
                          </a:solidFill>
                          <a:latin typeface="Noto Sans KR"/>
                          <a:ea typeface="Noto Sans KR"/>
                          <a:cs typeface="Noto Sans KR"/>
                        </a:rPr>
                        <a:t>월 Contribution</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13.2</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Payback (개월)</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40.1</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30.3</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Partner IRR (연)</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13.1%</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1148" marB="41148"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4383938" y="1790567"/>
          <a:ext cx="3423818" cy="1798622"/>
        </p:xfrm>
        <a:graphic>
          <a:graphicData uri="http://schemas.openxmlformats.org/drawingml/2006/table">
            <a:tbl>
              <a:tblPr firstRow="0" bandRow="0">
                <a:tableStyleId>{2D5ABB26-0587-4C30-8999-92F81FD0307C}</a:tableStyleId>
              </a:tblPr>
              <a:tblGrid>
                <a:gridCol w="2052218"/>
                <a:gridCol w="685800"/>
                <a:gridCol w="685800"/>
              </a:tblGrid>
              <a:tr h="256946">
                <a:tc>
                  <a:txBody>
                    <a:bodyPr wrap="square"/>
                    <a:lstStyle/>
                    <a:p>
                      <a:pPr algn="l">
                        <a:lnSpc>
                          <a:spcPct val="100000"/>
                        </a:lnSpc>
                      </a:pPr>
                      <a:r>
                        <a:rPr sz="900" b="1">
                          <a:solidFill>
                            <a:srgbClr val="15171A"/>
                          </a:solidFill>
                          <a:latin typeface="Noto Sans KR"/>
                          <a:ea typeface="Noto Sans KR"/>
                          <a:cs typeface="Noto Sans KR"/>
                        </a:rPr>
                        <a:t>Care (만원/대 · 년)</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Y3</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Y5</a:t>
                      </a:r>
                    </a:p>
                  </a:txBody>
                  <a:tcPr marL="73152" marR="73152" marT="41148" marB="41148" anchor="t">
                    <a:lnL w="0">
                      <a:noFill/>
                    </a:lnL>
                    <a:lnR w="0">
                      <a:noFill/>
                    </a:lnR>
                    <a:lnT w="12700">
                      <a:solidFill>
                        <a:srgbClr val="15171A"/>
                      </a:solidFill>
                    </a:lnT>
                    <a:lnB w="9525">
                      <a:solidFill>
                        <a:srgbClr val="15171A"/>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Care 연 요금</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48</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48</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정기 방문 원가</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22.0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12.0</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고장 방문 원가</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10.8</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10.8</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Cloud · SW</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1">
                          <a:solidFill>
                            <a:srgbClr val="15171A"/>
                          </a:solidFill>
                          <a:latin typeface="Noto Sans KR"/>
                          <a:ea typeface="Noto Sans KR"/>
                          <a:cs typeface="Noto Sans KR"/>
                        </a:rPr>
                        <a:t>Care 원가 합계</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36.8</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26.8</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1">
                          <a:solidFill>
                            <a:srgbClr val="15171A"/>
                          </a:solidFill>
                          <a:latin typeface="Noto Sans KR"/>
                          <a:ea typeface="Noto Sans KR"/>
                          <a:cs typeface="Noto Sans KR"/>
                        </a:rPr>
                        <a:t>Care Margin</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44%</a:t>
                      </a:r>
                    </a:p>
                  </a:txBody>
                  <a:tcPr marL="73152" marR="73152" marT="41148" marB="41148" anchor="t">
                    <a:lnL w="0">
                      <a:noFill/>
                    </a:lnL>
                    <a:lnR w="0">
                      <a:noFill/>
                    </a:lnR>
                    <a:lnT w="0">
                      <a:noFill/>
                    </a:lnT>
                    <a:lnB w="9525">
                      <a:solidFill>
                        <a:srgbClr val="E2E4E7"/>
                      </a:solidFill>
                    </a:lnB>
                    <a:noFill/>
                  </a:tcPr>
                </a:tc>
              </a:tr>
            </a:tbl>
          </a:graphicData>
        </a:graphic>
      </p:graphicFrame>
      <p:graphicFrame>
        <p:nvGraphicFramePr>
          <p:cNvPr id="7" name="Table 6"/>
          <p:cNvGraphicFramePr>
            <a:graphicFrameLocks noGrp="1"/>
          </p:cNvGraphicFramePr>
          <p:nvPr/>
        </p:nvGraphicFramePr>
        <p:xfrm>
          <a:off x="8082076" y="1790567"/>
          <a:ext cx="3423818" cy="2055568"/>
        </p:xfrm>
        <a:graphic>
          <a:graphicData uri="http://schemas.openxmlformats.org/drawingml/2006/table">
            <a:tbl>
              <a:tblPr firstRow="0" bandRow="0">
                <a:tableStyleId>{2D5ABB26-0587-4C30-8999-92F81FD0307C}</a:tableStyleId>
              </a:tblPr>
              <a:tblGrid>
                <a:gridCol w="1777898"/>
                <a:gridCol w="548640"/>
                <a:gridCol w="502920"/>
                <a:gridCol w="594360"/>
              </a:tblGrid>
              <a:tr h="256946">
                <a:tc>
                  <a:txBody>
                    <a:bodyPr wrap="square"/>
                    <a:lstStyle/>
                    <a:p>
                      <a:pPr algn="l">
                        <a:lnSpc>
                          <a:spcPct val="100000"/>
                        </a:lnSpc>
                      </a:pPr>
                      <a:r>
                        <a:rPr sz="900" b="1">
                          <a:solidFill>
                            <a:srgbClr val="15171A"/>
                          </a:solidFill>
                          <a:latin typeface="Noto Sans KR"/>
                          <a:ea typeface="Noto Sans KR"/>
                          <a:cs typeface="Noto Sans KR"/>
                        </a:rPr>
                        <a:t>Consumables (만원/년)</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단가</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횟수</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연</a:t>
                      </a:r>
                    </a:p>
                  </a:txBody>
                  <a:tcPr marL="73152" marR="73152" marT="41148" marB="41148" anchor="t">
                    <a:lnL w="0">
                      <a:noFill/>
                    </a:lnL>
                    <a:lnR w="0">
                      <a:noFill/>
                    </a:lnR>
                    <a:lnT w="12700">
                      <a:solidFill>
                        <a:srgbClr val="15171A"/>
                      </a:solidFill>
                    </a:lnT>
                    <a:lnB w="9525">
                      <a:solidFill>
                        <a:srgbClr val="15171A"/>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Grip Kit</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Cleaning Kit</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10</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Protection Kit</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1">
                          <a:solidFill>
                            <a:srgbClr val="15171A"/>
                          </a:solidFill>
                          <a:latin typeface="Noto Sans KR"/>
                          <a:ea typeface="Noto Sans KR"/>
                          <a:cs typeface="Noto Sans KR"/>
                        </a:rPr>
                        <a:t>List 합계</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구매율 반영 매출</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25.2</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원가 (35%)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8.8</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1">
                          <a:solidFill>
                            <a:srgbClr val="15171A"/>
                          </a:solidFill>
                          <a:latin typeface="Noto Sans KR"/>
                          <a:ea typeface="Noto Sans KR"/>
                          <a:cs typeface="Noto Sans KR"/>
                        </a:rPr>
                        <a:t>Contribution</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16.4</a:t>
                      </a:r>
                    </a:p>
                  </a:txBody>
                  <a:tcPr marL="73152" marR="73152" marT="41148" marB="41148" anchor="t">
                    <a:lnL w="0">
                      <a:noFill/>
                    </a:lnL>
                    <a:lnR w="0">
                      <a:noFill/>
                    </a:lnR>
                    <a:lnT w="0">
                      <a:noFill/>
                    </a:lnT>
                    <a:lnB w="9525">
                      <a:solidFill>
                        <a:srgbClr val="E2E4E7"/>
                      </a:solidFill>
                    </a:lnB>
                    <a:noFill/>
                  </a:tcPr>
                </a:tc>
              </a:tr>
            </a:tbl>
          </a:graphicData>
        </a:graphic>
      </p:graphicFrame>
      <p:sp>
        <p:nvSpPr>
          <p:cNvPr id="8" name="TextBox 7"/>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9" name="TextBox 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D4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5-Year Financial Model (3 Scenario)</a:t>
            </a:r>
          </a:p>
        </p:txBody>
      </p:sp>
      <p:sp>
        <p:nvSpPr>
          <p:cNvPr id="4" name="TextBox 3"/>
          <p:cNvSpPr txBox="1"/>
          <p:nvPr/>
        </p:nvSpPr>
        <p:spPr>
          <a:xfrm>
            <a:off x="685800" y="1396055"/>
            <a:ext cx="10820095" cy="496417"/>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Bottom-up Driver: 채널별 설치 · Robot Attach · Rental 비중 · Care / 소모품 구매율 · Interface 표준부품 사용률. Y1~Y2 = Seed + TIPS 24개월, Y3~ = Series A 전제. 모두 TARGET / ASSUMPTION</a:t>
            </a:r>
          </a:p>
        </p:txBody>
      </p:sp>
      <p:graphicFrame>
        <p:nvGraphicFramePr>
          <p:cNvPr id="5" name="Table 4"/>
          <p:cNvGraphicFramePr>
            <a:graphicFrameLocks noGrp="1"/>
          </p:cNvGraphicFramePr>
          <p:nvPr/>
        </p:nvGraphicFramePr>
        <p:xfrm>
          <a:off x="685800" y="2029632"/>
          <a:ext cx="6949440" cy="3340298"/>
        </p:xfrm>
        <a:graphic>
          <a:graphicData uri="http://schemas.openxmlformats.org/drawingml/2006/table">
            <a:tbl>
              <a:tblPr firstRow="0" bandRow="0">
                <a:tableStyleId>{2D5ABB26-0587-4C30-8999-92F81FD0307C}</a:tableStyleId>
              </a:tblPr>
              <a:tblGrid>
                <a:gridCol w="2377440"/>
                <a:gridCol w="914400"/>
                <a:gridCol w="914400"/>
                <a:gridCol w="914400"/>
                <a:gridCol w="914400"/>
                <a:gridCol w="914400"/>
              </a:tblGrid>
              <a:tr h="256946">
                <a:tc>
                  <a:txBody>
                    <a:bodyPr wrap="square"/>
                    <a:lstStyle/>
                    <a:p>
                      <a:pPr algn="l">
                        <a:lnSpc>
                          <a:spcPct val="100000"/>
                        </a:lnSpc>
                      </a:pPr>
                      <a:r>
                        <a:rPr sz="900" b="1">
                          <a:solidFill>
                            <a:srgbClr val="15171A"/>
                          </a:solidFill>
                          <a:latin typeface="Noto Sans KR"/>
                          <a:ea typeface="Noto Sans KR"/>
                          <a:cs typeface="Noto Sans KR"/>
                        </a:rPr>
                        <a:t>Base (억원 · 세대 · 대)</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Y1</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Y2</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Y3</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Y4</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Y5</a:t>
                      </a:r>
                    </a:p>
                  </a:txBody>
                  <a:tcPr marL="73152" marR="73152" marT="41148" marB="41148" anchor="t">
                    <a:lnL w="0">
                      <a:noFill/>
                    </a:lnL>
                    <a:lnR w="0">
                      <a:noFill/>
                    </a:lnR>
                    <a:lnT w="12700">
                      <a:solidFill>
                        <a:srgbClr val="15171A"/>
                      </a:solidFill>
                    </a:lnT>
                    <a:lnB w="9525">
                      <a:solidFill>
                        <a:srgbClr val="15171A"/>
                      </a:solidFill>
                    </a:lnB>
                    <a:noFill/>
                  </a:tcPr>
                </a:tc>
              </a:tr>
              <a:tr h="256946">
                <a:tc>
                  <a:txBody>
                    <a:bodyPr wrap="square"/>
                    <a:lstStyle/>
                    <a:p>
                      <a:pPr algn="l">
                        <a:lnSpc>
                          <a:spcPct val="100000"/>
                        </a:lnSpc>
                      </a:pPr>
                      <a:r>
                        <a:rPr sz="900" b="1">
                          <a:solidFill>
                            <a:srgbClr val="15171A"/>
                          </a:solidFill>
                          <a:latin typeface="Noto Sans KR"/>
                          <a:ea typeface="Noto Sans KR"/>
                          <a:cs typeface="Noto Sans KR"/>
                        </a:rPr>
                        <a:t>매출</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35.9</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91.5</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매출총이익</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1.7</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10.2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32.0</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Contribution</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0.7</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23.1</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Opex</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13.8</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43.9</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56.7</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1">
                          <a:solidFill>
                            <a:srgbClr val="15171A"/>
                          </a:solidFill>
                          <a:latin typeface="Noto Sans KR"/>
                          <a:ea typeface="Noto Sans KR"/>
                          <a:cs typeface="Noto Sans KR"/>
                        </a:rPr>
                        <a:t>영업이익 (근사)</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-14.1</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-29.8</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-37.5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-33.6</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누적 현금</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-23.4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-54.5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-91.7</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-125.1</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설치 세대</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560</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Robot 설치</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174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443</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Installed Robot</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46</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219</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663</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OPERATE + EXPAND 비중</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Conservative 매출 / 영업이익</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 / -9.2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0.1 / -14.2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 / -30.9</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15.3 / -45.0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34.0 / -56.7</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Upside 매출 / 영업이익</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 / -9.2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 / -14.0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9.6 / -29.1</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55.2 / -30.8</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154.8 / -6.7</a:t>
                      </a:r>
                    </a:p>
                  </a:txBody>
                  <a:tcPr marL="73152" marR="73152" marT="41148" marB="41148" anchor="t">
                    <a:lnL w="0">
                      <a:noFill/>
                    </a:lnL>
                    <a:lnR w="0">
                      <a:noFill/>
                    </a:lnR>
                    <a:lnT w="0">
                      <a:noFill/>
                    </a:lnT>
                    <a:lnB w="9525">
                      <a:solidFill>
                        <a:srgbClr val="E2E4E7"/>
                      </a:solidFill>
                    </a:lnB>
                    <a:noFill/>
                  </a:tcPr>
                </a:tc>
              </a:tr>
            </a:tbl>
          </a:graphicData>
        </a:graphic>
      </p:graphicFrame>
      <p:sp>
        <p:nvSpPr>
          <p:cNvPr id="6" name="TextBox 5"/>
          <p:cNvSpPr txBox="1"/>
          <p:nvPr/>
        </p:nvSpPr>
        <p:spPr>
          <a:xfrm>
            <a:off x="7909560" y="2029632"/>
            <a:ext cx="3596335" cy="237744"/>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매출 (억원)</a:t>
            </a:r>
          </a:p>
        </p:txBody>
      </p:sp>
      <p:graphicFrame>
        <p:nvGraphicFramePr>
          <p:cNvPr id="7" name="Chart 6"/>
          <p:cNvGraphicFramePr>
            <a:graphicFrameLocks noGrp="1"/>
          </p:cNvGraphicFramePr>
          <p:nvPr/>
        </p:nvGraphicFramePr>
        <p:xfrm>
          <a:off x="7909560" y="2303952"/>
          <a:ext cx="3596335" cy="3291840"/>
        </p:xfrm>
        <a:graphic>
          <a:graphicData uri="http://schemas.openxmlformats.org/drawingml/2006/chart">
            <c:chart xmlns:c="http://schemas.openxmlformats.org/drawingml/2006/chart" r:id="rId3"/>
          </a:graphicData>
        </a:graphic>
      </p:graphicFrame>
      <p:sp>
        <p:nvSpPr>
          <p:cNvPr id="8" name="TextBox 7"/>
          <p:cNvSpPr txBox="1"/>
          <p:nvPr/>
        </p:nvSpPr>
        <p:spPr>
          <a:xfrm>
            <a:off x="7686654" y="5273923"/>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Y1</a:t>
            </a:r>
          </a:p>
        </p:txBody>
      </p:sp>
      <p:sp>
        <p:nvSpPr>
          <p:cNvPr id="9" name="TextBox 8"/>
          <p:cNvSpPr txBox="1"/>
          <p:nvPr/>
        </p:nvSpPr>
        <p:spPr>
          <a:xfrm>
            <a:off x="8377151" y="5273923"/>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Y2</a:t>
            </a:r>
          </a:p>
        </p:txBody>
      </p:sp>
      <p:sp>
        <p:nvSpPr>
          <p:cNvPr id="10" name="TextBox 9"/>
          <p:cNvSpPr txBox="1"/>
          <p:nvPr/>
        </p:nvSpPr>
        <p:spPr>
          <a:xfrm>
            <a:off x="9067647" y="5273923"/>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Y3</a:t>
            </a:r>
          </a:p>
        </p:txBody>
      </p:sp>
      <p:sp>
        <p:nvSpPr>
          <p:cNvPr id="11" name="TextBox 10"/>
          <p:cNvSpPr txBox="1"/>
          <p:nvPr/>
        </p:nvSpPr>
        <p:spPr>
          <a:xfrm>
            <a:off x="9758143" y="5273923"/>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Y4</a:t>
            </a:r>
          </a:p>
        </p:txBody>
      </p:sp>
      <p:sp>
        <p:nvSpPr>
          <p:cNvPr id="12" name="TextBox 11"/>
          <p:cNvSpPr txBox="1"/>
          <p:nvPr/>
        </p:nvSpPr>
        <p:spPr>
          <a:xfrm>
            <a:off x="10448640" y="5273923"/>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Y5</a:t>
            </a:r>
          </a:p>
        </p:txBody>
      </p:sp>
      <p:sp>
        <p:nvSpPr>
          <p:cNvPr id="13" name="Rectangle 12"/>
          <p:cNvSpPr/>
          <p:nvPr/>
        </p:nvSpPr>
        <p:spPr>
          <a:xfrm>
            <a:off x="7909560" y="5687232"/>
            <a:ext cx="427880" cy="155448"/>
          </a:xfrm>
          <a:prstGeom prst="rect">
            <a:avLst/>
          </a:prstGeom>
          <a:noFill/>
          <a:ln w="6350">
            <a:solidFill>
              <a:srgbClr val="C9CDD2"/>
            </a:solidFill>
          </a:ln>
        </p:spPr>
        <p:txBody>
          <a:bodyPr rtlCol="0" anchor="ctr"/>
          <a:lstStyle/>
          <a:p>
            <a:pPr algn="ctr"/>
          </a:p>
        </p:txBody>
      </p:sp>
      <p:sp>
        <p:nvSpPr>
          <p:cNvPr id="14" name="TextBox 13"/>
          <p:cNvSpPr txBox="1"/>
          <p:nvPr/>
        </p:nvSpPr>
        <p:spPr>
          <a:xfrm>
            <a:off x="7909560" y="5687232"/>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15" name="Rectangle 14"/>
          <p:cNvSpPr/>
          <p:nvPr/>
        </p:nvSpPr>
        <p:spPr>
          <a:xfrm>
            <a:off x="8383160" y="5687232"/>
            <a:ext cx="652984" cy="155448"/>
          </a:xfrm>
          <a:prstGeom prst="rect">
            <a:avLst/>
          </a:prstGeom>
          <a:noFill/>
          <a:ln w="6350">
            <a:solidFill>
              <a:srgbClr val="C9CDD2"/>
            </a:solidFill>
          </a:ln>
        </p:spPr>
        <p:txBody>
          <a:bodyPr rtlCol="0" anchor="ctr"/>
          <a:lstStyle/>
          <a:p>
            <a:pPr algn="ctr"/>
          </a:p>
        </p:txBody>
      </p:sp>
      <p:sp>
        <p:nvSpPr>
          <p:cNvPr id="16" name="TextBox 15"/>
          <p:cNvSpPr txBox="1"/>
          <p:nvPr/>
        </p:nvSpPr>
        <p:spPr>
          <a:xfrm>
            <a:off x="8383160" y="5687232"/>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17" name="TextBox 16"/>
          <p:cNvSpPr txBox="1"/>
          <p:nvPr/>
        </p:nvSpPr>
        <p:spPr>
          <a:xfrm>
            <a:off x="7909560" y="5915832"/>
            <a:ext cx="3596335" cy="640080"/>
          </a:xfrm>
          <a:prstGeom prst="rect">
            <a:avLst/>
          </a:prstGeom>
          <a:noFill/>
        </p:spPr>
        <p:txBody>
          <a:bodyPr wrap="square" lIns="0" rIns="0" tIns="0" bIns="0" anchor="t">
            <a:spAutoFit/>
          </a:bodyPr>
          <a:lstStyle/>
          <a:p>
            <a:pPr algn="l">
              <a:lnSpc>
                <a:spcPct val="102000"/>
              </a:lnSpc>
            </a:pPr>
            <a:r>
              <a:rPr sz="900" b="0">
                <a:solidFill>
                  <a:srgbClr val="4A4F57"/>
                </a:solidFill>
                <a:latin typeface="Noto Sans KR"/>
                <a:ea typeface="Noto Sans KR"/>
                <a:cs typeface="Noto Sans KR"/>
              </a:rPr>
              <a:t>손익분기 설치 물량 (Y5 단가 · 원가): 연 약 1,376세대 (DERIVED) · Series A 이후 2년 (Y3~Y4) 현금 소요 약 68억원</a:t>
            </a:r>
          </a:p>
        </p:txBody>
      </p:sp>
      <p:sp>
        <p:nvSpPr>
          <p:cNvPr id="18" name="TextBox 17"/>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9" name="TextBox 1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D5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Sensitivity</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왼쪽 = Remodeling 구매 1세대 5년 Contribution (만원, Y3 원가) · 오른쪽 = 회사 Y5 Contribution (억원). 불리 ↔ 유리. 전부 DERIVED</a:t>
            </a:r>
          </a:p>
        </p:txBody>
      </p:sp>
      <p:graphicFrame>
        <p:nvGraphicFramePr>
          <p:cNvPr id="5" name="Table 4"/>
          <p:cNvGraphicFramePr>
            <a:graphicFrameLocks noGrp="1"/>
          </p:cNvGraphicFramePr>
          <p:nvPr/>
        </p:nvGraphicFramePr>
        <p:xfrm>
          <a:off x="685800" y="1790567"/>
          <a:ext cx="5227167" cy="2826406"/>
        </p:xfrm>
        <a:graphic>
          <a:graphicData uri="http://schemas.openxmlformats.org/drawingml/2006/table">
            <a:tbl>
              <a:tblPr firstRow="0" bandRow="0">
                <a:tableStyleId>{2D5ABB26-0587-4C30-8999-92F81FD0307C}</a:tableStyleId>
              </a:tblPr>
              <a:tblGrid>
                <a:gridCol w="3672687"/>
                <a:gridCol w="777240"/>
                <a:gridCol w="777240"/>
              </a:tblGrid>
              <a:tr h="256946">
                <a:tc>
                  <a:txBody>
                    <a:bodyPr wrap="square"/>
                    <a:lstStyle/>
                    <a:p>
                      <a:pPr algn="l">
                        <a:lnSpc>
                          <a:spcPct val="100000"/>
                        </a:lnSpc>
                      </a:pPr>
                      <a:r>
                        <a:rPr sz="900" b="1">
                          <a:solidFill>
                            <a:srgbClr val="15171A"/>
                          </a:solidFill>
                          <a:latin typeface="Noto Sans KR"/>
                          <a:ea typeface="Noto Sans KR"/>
                          <a:cs typeface="Noto Sans KR"/>
                        </a:rPr>
                        <a:t>1세대 5년 (기준 428만원)</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불리</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유리</a:t>
                      </a:r>
                    </a:p>
                  </a:txBody>
                  <a:tcPr marL="73152" marR="73152" marT="41148" marB="41148" anchor="t">
                    <a:lnL w="0">
                      <a:noFill/>
                    </a:lnL>
                    <a:lnR w="0">
                      <a:noFill/>
                    </a:lnR>
                    <a:lnT w="12700">
                      <a:solidFill>
                        <a:srgbClr val="15171A"/>
                      </a:solidFill>
                    </a:lnT>
                    <a:lnB w="9525">
                      <a:solidFill>
                        <a:srgbClr val="15171A"/>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Robot ASP (WTP) ±20%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-286</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+286</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Robot BOM ±20%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-236</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+236</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Interface 가격 ±20%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+90</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직접판매 획득비용 ±50%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+75</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Failure Rate 0.3 ↔ 1.2회</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+49</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Care 요금 ±20%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-48</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+48</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Care 방문 원가 ±30%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+33</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Interface 표준부품 사용률 -15pp/+15pp</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+33</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설치 · Calibration 원가 ±50%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Consumables 구매율 50% ↔ 90%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+23</a:t>
                      </a:r>
                    </a:p>
                  </a:txBody>
                  <a:tcPr marL="73152" marR="73152" marT="41148" marB="41148"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278727" y="1790567"/>
          <a:ext cx="5227167" cy="3083352"/>
        </p:xfrm>
        <a:graphic>
          <a:graphicData uri="http://schemas.openxmlformats.org/drawingml/2006/table">
            <a:tbl>
              <a:tblPr firstRow="0" bandRow="0">
                <a:tableStyleId>{2D5ABB26-0587-4C30-8999-92F81FD0307C}</a:tableStyleId>
              </a:tblPr>
              <a:tblGrid>
                <a:gridCol w="3672687"/>
                <a:gridCol w="777240"/>
                <a:gridCol w="777240"/>
              </a:tblGrid>
              <a:tr h="256946">
                <a:tc>
                  <a:txBody>
                    <a:bodyPr wrap="square"/>
                    <a:lstStyle/>
                    <a:p>
                      <a:pPr algn="l">
                        <a:lnSpc>
                          <a:spcPct val="100000"/>
                        </a:lnSpc>
                      </a:pPr>
                      <a:r>
                        <a:rPr sz="900" b="1">
                          <a:solidFill>
                            <a:srgbClr val="15171A"/>
                          </a:solidFill>
                          <a:latin typeface="Noto Sans KR"/>
                          <a:ea typeface="Noto Sans KR"/>
                          <a:cs typeface="Noto Sans KR"/>
                        </a:rPr>
                        <a:t>회사 Y5 (기준 23.1억원)</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불리</a:t>
                      </a:r>
                    </a:p>
                  </a:txBody>
                  <a:tcPr marL="73152" marR="73152" marT="41148" marB="41148"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유리</a:t>
                      </a:r>
                    </a:p>
                  </a:txBody>
                  <a:tcPr marL="73152" marR="73152" marT="41148" marB="41148" anchor="t">
                    <a:lnL w="0">
                      <a:noFill/>
                    </a:lnL>
                    <a:lnR w="0">
                      <a:noFill/>
                    </a:lnR>
                    <a:lnT w="12700">
                      <a:solidFill>
                        <a:srgbClr val="15171A"/>
                      </a:solidFill>
                    </a:lnT>
                    <a:lnB w="9525">
                      <a:solidFill>
                        <a:srgbClr val="15171A"/>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Customer WTP (Robot ASP · Interface ±20%)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+14.3</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Robot BOM ±20%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-8.2</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+8.2</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Partner 경유 Remodeling ±30%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-4.7</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+4.7</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Retrofit 물량 0 ↔ 2배</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+3.3</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Robot Attach Rate 65% ↔ 95%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Rental 비중 20% ↔ 60%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Failure Rate 0.3 ↔ 1.2회</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-1.6</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Interface 표준부품 사용률 -15pp/+10pp</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+0.9</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설치 · Calibration 원가 ±50%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-0.9</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+0.9</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신축 Option 선택률 5% ↔ 15%</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-0.8</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+0.8</a:t>
                      </a:r>
                    </a:p>
                  </a:txBody>
                  <a:tcPr marL="73152" marR="73152" marT="41148" marB="41148" anchor="t">
                    <a:lnL w="0">
                      <a:noFill/>
                    </a:lnL>
                    <a:lnR w="0">
                      <a:noFill/>
                    </a:lnR>
                    <a:lnT w="0">
                      <a:noFill/>
                    </a:lnT>
                    <a:lnB w="9525">
                      <a:solidFill>
                        <a:srgbClr val="E2E4E7"/>
                      </a:solidFill>
                    </a:lnB>
                    <a:noFill/>
                  </a:tcPr>
                </a:tc>
              </a:tr>
              <a:tr h="256946">
                <a:tc>
                  <a:txBody>
                    <a:bodyPr wrap="square"/>
                    <a:lstStyle/>
                    <a:p>
                      <a:pPr algn="l">
                        <a:lnSpc>
                          <a:spcPct val="100000"/>
                        </a:lnSpc>
                      </a:pPr>
                      <a:r>
                        <a:rPr sz="900" b="0">
                          <a:solidFill>
                            <a:srgbClr val="15171A"/>
                          </a:solidFill>
                          <a:latin typeface="Noto Sans KR"/>
                          <a:ea typeface="Noto Sans KR"/>
                          <a:cs typeface="Noto Sans KR"/>
                        </a:rPr>
                        <a:t>Care 방문 원가 ±30%</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-0.1</a:t>
                      </a:r>
                    </a:p>
                  </a:txBody>
                  <a:tcPr marL="73152" marR="73152" marT="41148" marB="41148"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+0.1</a:t>
                      </a:r>
                    </a:p>
                  </a:txBody>
                  <a:tcPr marL="73152" marR="73152" marT="41148" marB="41148" anchor="t">
                    <a:lnL w="0">
                      <a:noFill/>
                    </a:lnL>
                    <a:lnR w="0">
                      <a:noFill/>
                    </a:lnR>
                    <a:lnT w="0">
                      <a:noFill/>
                    </a:lnT>
                    <a:lnB w="9525">
                      <a:solidFill>
                        <a:srgbClr val="E2E4E7"/>
                      </a:solidFill>
                    </a:lnB>
                    <a:noFill/>
                  </a:tcPr>
                </a:tc>
              </a:tr>
            </a:tbl>
          </a:graphicData>
        </a:graphic>
      </p:graphicFrame>
      <p:sp>
        <p:nvSpPr>
          <p:cNvPr id="7" name="Rectangle 6"/>
          <p:cNvSpPr/>
          <p:nvPr/>
        </p:nvSpPr>
        <p:spPr>
          <a:xfrm>
            <a:off x="685800" y="5669280"/>
            <a:ext cx="10820095" cy="412546"/>
          </a:xfrm>
          <a:prstGeom prst="rect">
            <a:avLst/>
          </a:prstGeom>
          <a:solidFill>
            <a:srgbClr val="F4F5F6"/>
          </a:solidFill>
          <a:ln>
            <a:noFill/>
          </a:ln>
        </p:spPr>
        <p:txBody>
          <a:bodyPr rtlCol="0" anchor="ctr"/>
          <a:lstStyle/>
          <a:p>
            <a:pPr algn="ctr"/>
          </a:p>
        </p:txBody>
      </p:sp>
      <p:sp>
        <p:nvSpPr>
          <p:cNvPr id="8" name="Rectangle 7"/>
          <p:cNvSpPr/>
          <p:nvPr/>
        </p:nvSpPr>
        <p:spPr>
          <a:xfrm>
            <a:off x="685800" y="5669280"/>
            <a:ext cx="54864" cy="412546"/>
          </a:xfrm>
          <a:prstGeom prst="rect">
            <a:avLst/>
          </a:prstGeom>
          <a:solidFill>
            <a:srgbClr val="E2571B"/>
          </a:solidFill>
          <a:ln>
            <a:noFill/>
          </a:ln>
        </p:spPr>
        <p:txBody>
          <a:bodyPr rtlCol="0" anchor="ctr"/>
          <a:lstStyle/>
          <a:p>
            <a:pPr algn="ctr"/>
          </a:p>
        </p:txBody>
      </p:sp>
      <p:sp>
        <p:nvSpPr>
          <p:cNvPr id="9" name="TextBox 8"/>
          <p:cNvSpPr txBox="1"/>
          <p:nvPr/>
        </p:nvSpPr>
        <p:spPr>
          <a:xfrm>
            <a:off x="886968" y="566928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Top 2 변수 = Customer WTP · Robot BOM → 24개월 Evidence 우선순위: WTP (M18) · BOM 견적 (M18) · 설치 · 서비스 원가 실측 (M24)</a:t>
            </a:r>
          </a:p>
        </p:txBody>
      </p:sp>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E1  ·  IP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IP Portfolio 상세 (출원 후보 · 등록 미정)</a:t>
            </a:r>
          </a:p>
        </p:txBody>
      </p:sp>
      <p:sp>
        <p:nvSpPr>
          <p:cNvPr id="4" name="TextBox 3"/>
          <p:cNvSpPr txBox="1"/>
          <p:nvPr/>
        </p:nvSpPr>
        <p:spPr>
          <a:xfrm>
            <a:off x="685800" y="1396055"/>
            <a:ext cx="10820095" cy="496417"/>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24개월 국내 출원 5건 (1순위 2건 M6~M9 · 2순위 3건 M12~M18) + PCT 1건 (M18, 1순위 중 1건). M3 선행기술조사 (KIPRIS · USPTO · EPO · Google Patents) · 청구항은 변리사 검토. 등록 가능성은 미정.</a:t>
            </a:r>
          </a:p>
        </p:txBody>
      </p:sp>
      <p:graphicFrame>
        <p:nvGraphicFramePr>
          <p:cNvPr id="5" name="Table 4"/>
          <p:cNvGraphicFramePr>
            <a:graphicFrameLocks noGrp="1"/>
          </p:cNvGraphicFramePr>
          <p:nvPr/>
        </p:nvGraphicFramePr>
        <p:xfrm>
          <a:off x="685800" y="2029632"/>
          <a:ext cx="10817352" cy="3817247"/>
        </p:xfrm>
        <a:graphic>
          <a:graphicData uri="http://schemas.openxmlformats.org/drawingml/2006/table">
            <a:tbl>
              <a:tblPr firstRow="0" bandRow="0">
                <a:tableStyleId>{2D5ABB26-0587-4C30-8999-92F81FD0307C}</a:tableStyleId>
              </a:tblPr>
              <a:tblGrid>
                <a:gridCol w="1051560"/>
                <a:gridCol w="3657600"/>
                <a:gridCol w="1097280"/>
                <a:gridCol w="822960"/>
                <a:gridCol w="2880360"/>
                <a:gridCol w="457200"/>
                <a:gridCol w="850392"/>
              </a:tblGrid>
              <a:tr h="234929">
                <a:tc>
                  <a:txBody>
                    <a:bodyPr wrap="square"/>
                    <a:lstStyle/>
                    <a:p>
                      <a:pPr algn="l">
                        <a:lnSpc>
                          <a:spcPct val="100000"/>
                        </a:lnSpc>
                      </a:pPr>
                      <a:r>
                        <a:rPr sz="830" b="1">
                          <a:solidFill>
                            <a:srgbClr val="15171A"/>
                          </a:solidFill>
                          <a:latin typeface="Noto Sans KR"/>
                          <a:ea typeface="Noto Sans KR"/>
                          <a:cs typeface="Noto Sans KR"/>
                        </a:rPr>
                        <a:t>영역</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30" b="1">
                          <a:solidFill>
                            <a:srgbClr val="15171A"/>
                          </a:solidFill>
                          <a:latin typeface="Noto Sans KR"/>
                          <a:ea typeface="Noto Sans KR"/>
                          <a:cs typeface="Noto Sans KR"/>
                        </a:rPr>
                        <a:t>출원 후보 (Family)</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30" b="1">
                          <a:solidFill>
                            <a:srgbClr val="15171A"/>
                          </a:solidFill>
                          <a:latin typeface="Noto Sans KR"/>
                          <a:ea typeface="Noto Sans KR"/>
                          <a:cs typeface="Noto Sans KR"/>
                        </a:rPr>
                        <a:t>사업 중요도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30" b="1">
                          <a:solidFill>
                            <a:srgbClr val="15171A"/>
                          </a:solidFill>
                          <a:latin typeface="Noto Sans KR"/>
                          <a:ea typeface="Noto Sans KR"/>
                          <a:cs typeface="Noto Sans KR"/>
                        </a:rPr>
                        <a:t>차별성</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30" b="1">
                          <a:solidFill>
                            <a:srgbClr val="15171A"/>
                          </a:solidFill>
                          <a:latin typeface="Noto Sans KR"/>
                          <a:ea typeface="Noto Sans KR"/>
                          <a:cs typeface="Noto Sans KR"/>
                        </a:rPr>
                        <a:t>Prior Art Risk (참고)</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30" b="1">
                          <a:solidFill>
                            <a:srgbClr val="15171A"/>
                          </a:solidFill>
                          <a:latin typeface="Noto Sans KR"/>
                          <a:ea typeface="Noto Sans KR"/>
                          <a:cs typeface="Noto Sans KR"/>
                        </a:rPr>
                        <a:t>순위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30" b="1">
                          <a:solidFill>
                            <a:srgbClr val="15171A"/>
                          </a:solidFill>
                          <a:latin typeface="Noto Sans KR"/>
                          <a:ea typeface="Noto Sans KR"/>
                          <a:cs typeface="Noto Sans KR"/>
                        </a:rPr>
                        <a:t>시점</a:t>
                      </a:r>
                    </a:p>
                  </a:txBody>
                  <a:tcPr marL="73152" marR="73152" marT="36576" marB="36576" anchor="t">
                    <a:lnL w="0">
                      <a:noFill/>
                    </a:lnL>
                    <a:lnR w="0">
                      <a:noFill/>
                    </a:lnR>
                    <a:lnT w="12700">
                      <a:solidFill>
                        <a:srgbClr val="15171A"/>
                      </a:solidFill>
                    </a:lnT>
                    <a:lnB w="9525">
                      <a:solidFill>
                        <a:srgbClr val="15171A"/>
                      </a:solidFill>
                    </a:lnB>
                    <a:noFill/>
                  </a:tcPr>
                </a:tc>
              </a:tr>
              <a:tr h="387563">
                <a:tc>
                  <a:txBody>
                    <a:bodyPr wrap="square"/>
                    <a:lstStyle/>
                    <a:p>
                      <a:pPr algn="l">
                        <a:lnSpc>
                          <a:spcPct val="100000"/>
                        </a:lnSpc>
                      </a:pPr>
                      <a:r>
                        <a:rPr sz="830" b="1">
                          <a:solidFill>
                            <a:srgbClr val="15171A"/>
                          </a:solidFill>
                          <a:latin typeface="Noto Sans KR"/>
                          <a:ea typeface="Noto Sans KR"/>
                          <a:cs typeface="Noto Sans KR"/>
                        </a:rPr>
                        <a:t>Robot Hand</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Replaceable Food-contact Module (교체형 Pad · Tip, 마모 표시, 위생 결합 구조)</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 (소모품 · 위생)</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중~상 (Schmalz OFG 마모부품 · Robotiq Fingertip) [S43 · S16]</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E2571B"/>
                          </a:solidFill>
                          <a:latin typeface="Noto Sans KR"/>
                          <a:ea typeface="Noto Sans KR"/>
                          <a:cs typeface="Noto Sans KR"/>
                        </a:rPr>
                        <a:t>1</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M6~M9</a:t>
                      </a:r>
                    </a:p>
                  </a:txBody>
                  <a:tcPr marL="73152" marR="73152" marT="36576" marB="36576" anchor="t">
                    <a:lnL w="0">
                      <a:noFill/>
                    </a:lnL>
                    <a:lnR w="0">
                      <a:noFill/>
                    </a:lnR>
                    <a:lnT w="0">
                      <a:noFill/>
                    </a:lnT>
                    <a:lnB w="9525">
                      <a:solidFill>
                        <a:srgbClr val="E2E4E7"/>
                      </a:solidFill>
                    </a:lnB>
                    <a:noFill/>
                  </a:tcPr>
                </a:tc>
              </a:tr>
              <a:tr h="387563">
                <a:tc>
                  <a:txBody>
                    <a:bodyPr wrap="square"/>
                    <a:lstStyle/>
                    <a:p>
                      <a:pPr algn="l">
                        <a:lnSpc>
                          <a:spcPct val="100000"/>
                        </a:lnSpc>
                      </a:pPr>
                      <a:r>
                        <a:rPr sz="830" b="1">
                          <a:solidFill>
                            <a:srgbClr val="15171A"/>
                          </a:solidFill>
                          <a:latin typeface="Noto Sans KR"/>
                          <a:ea typeface="Noto Sans KR"/>
                          <a:cs typeface="Noto Sans KR"/>
                        </a:rPr>
                        <a:t>Robot Hand</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Adaptive Finger Mechanism (얇은 Edge 집기 + 감싸기 겸용, Edge Lip)</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 (Dishcare US 11,731,282 Tapered Finger · 저구동 Gripper 일반) [S49]</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15171A"/>
                          </a:solidFill>
                          <a:latin typeface="Noto Sans KR"/>
                          <a:ea typeface="Noto Sans KR"/>
                          <a:cs typeface="Noto Sans KR"/>
                        </a:rPr>
                        <a:t>2</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M9~M12</a:t>
                      </a:r>
                    </a:p>
                  </a:txBody>
                  <a:tcPr marL="73152" marR="73152" marT="36576" marB="36576" anchor="t">
                    <a:lnL w="0">
                      <a:noFill/>
                    </a:lnL>
                    <a:lnR w="0">
                      <a:noFill/>
                    </a:lnR>
                    <a:lnT w="0">
                      <a:noFill/>
                    </a:lnT>
                    <a:lnB w="9525">
                      <a:solidFill>
                        <a:srgbClr val="E2E4E7"/>
                      </a:solidFill>
                    </a:lnB>
                    <a:noFill/>
                  </a:tcPr>
                </a:tc>
              </a:tr>
              <a:tr h="234929">
                <a:tc>
                  <a:txBody>
                    <a:bodyPr wrap="square"/>
                    <a:lstStyle/>
                    <a:p>
                      <a:pPr algn="l">
                        <a:lnSpc>
                          <a:spcPct val="100000"/>
                        </a:lnSpc>
                      </a:pPr>
                      <a:r>
                        <a:rPr sz="830" b="1">
                          <a:solidFill>
                            <a:srgbClr val="15171A"/>
                          </a:solidFill>
                          <a:latin typeface="Noto Sans KR"/>
                          <a:ea typeface="Noto Sans KR"/>
                          <a:cs typeface="Noto Sans KR"/>
                        </a:rPr>
                        <a:t>Robot Hand</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Compliance / Stiffness (젖은 유리 · 도자기 대응 가변 강성)</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M15</a:t>
                      </a:r>
                    </a:p>
                  </a:txBody>
                  <a:tcPr marL="73152" marR="73152" marT="36576" marB="36576" anchor="t">
                    <a:lnL w="0">
                      <a:noFill/>
                    </a:lnL>
                    <a:lnR w="0">
                      <a:noFill/>
                    </a:lnR>
                    <a:lnT w="0">
                      <a:noFill/>
                    </a:lnT>
                    <a:lnB w="9525">
                      <a:solidFill>
                        <a:srgbClr val="E2E4E7"/>
                      </a:solidFill>
                    </a:lnB>
                    <a:noFill/>
                  </a:tcPr>
                </a:tc>
              </a:tr>
              <a:tr h="387563">
                <a:tc>
                  <a:txBody>
                    <a:bodyPr wrap="square"/>
                    <a:lstStyle/>
                    <a:p>
                      <a:pPr algn="l">
                        <a:lnSpc>
                          <a:spcPct val="100000"/>
                        </a:lnSpc>
                      </a:pPr>
                      <a:r>
                        <a:rPr sz="830" b="1">
                          <a:solidFill>
                            <a:srgbClr val="15171A"/>
                          </a:solidFill>
                          <a:latin typeface="Noto Sans KR"/>
                          <a:ea typeface="Noto Sans KR"/>
                          <a:cs typeface="Noto Sans KR"/>
                        </a:rPr>
                        <a:t>Robot Hand</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Tool Interface (국자 · 집게 · 뚜껑 Tool 결합 · Dock)</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 (EP 3,881,977 교체형 End piece · Tool Changer 일반) [S50]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M18</a:t>
                      </a:r>
                    </a:p>
                  </a:txBody>
                  <a:tcPr marL="73152" marR="73152" marT="36576" marB="36576" anchor="t">
                    <a:lnL w="0">
                      <a:noFill/>
                    </a:lnL>
                    <a:lnR w="0">
                      <a:noFill/>
                    </a:lnR>
                    <a:lnT w="0">
                      <a:noFill/>
                    </a:lnT>
                    <a:lnB w="9525">
                      <a:solidFill>
                        <a:srgbClr val="E2E4E7"/>
                      </a:solidFill>
                    </a:lnB>
                    <a:noFill/>
                  </a:tcPr>
                </a:tc>
              </a:tr>
              <a:tr h="234929">
                <a:tc>
                  <a:txBody>
                    <a:bodyPr wrap="square"/>
                    <a:lstStyle/>
                    <a:p>
                      <a:pPr algn="l">
                        <a:lnSpc>
                          <a:spcPct val="100000"/>
                        </a:lnSpc>
                      </a:pPr>
                      <a:r>
                        <a:rPr sz="830" b="1">
                          <a:solidFill>
                            <a:srgbClr val="15171A"/>
                          </a:solidFill>
                          <a:latin typeface="Noto Sans KR"/>
                          <a:ea typeface="Noto Sans KR"/>
                          <a:cs typeface="Noto Sans KR"/>
                        </a:rPr>
                        <a:t>Manipulation</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Kitchen Object Handling (식세기 랙 형상 기반 식기 배치 계획)</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 (Dishcraft US 10,507,584) [S49]</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15171A"/>
                          </a:solidFill>
                          <a:latin typeface="Noto Sans KR"/>
                          <a:ea typeface="Noto Sans KR"/>
                          <a:cs typeface="Noto Sans KR"/>
                        </a:rPr>
                        <a:t>2</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M12</a:t>
                      </a:r>
                    </a:p>
                  </a:txBody>
                  <a:tcPr marL="73152" marR="73152" marT="36576" marB="36576" anchor="t">
                    <a:lnL w="0">
                      <a:noFill/>
                    </a:lnL>
                    <a:lnR w="0">
                      <a:noFill/>
                    </a:lnR>
                    <a:lnT w="0">
                      <a:noFill/>
                    </a:lnT>
                    <a:lnB w="9525">
                      <a:solidFill>
                        <a:srgbClr val="E2E4E7"/>
                      </a:solidFill>
                    </a:lnB>
                    <a:noFill/>
                  </a:tcPr>
                </a:tc>
              </a:tr>
              <a:tr h="234929">
                <a:tc>
                  <a:txBody>
                    <a:bodyPr wrap="square"/>
                    <a:lstStyle/>
                    <a:p>
                      <a:pPr algn="l">
                        <a:lnSpc>
                          <a:spcPct val="100000"/>
                        </a:lnSpc>
                      </a:pPr>
                      <a:r>
                        <a:rPr sz="830" b="1">
                          <a:solidFill>
                            <a:srgbClr val="15171A"/>
                          </a:solidFill>
                          <a:latin typeface="Noto Sans KR"/>
                          <a:ea typeface="Noto Sans KR"/>
                          <a:cs typeface="Noto Sans KR"/>
                        </a:rPr>
                        <a:t>Manipulation</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Failure Recovery (적재 실패 · 기울어짐 감지 후 재배치)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M15</a:t>
                      </a:r>
                    </a:p>
                  </a:txBody>
                  <a:tcPr marL="73152" marR="73152" marT="36576" marB="36576" anchor="t">
                    <a:lnL w="0">
                      <a:noFill/>
                    </a:lnL>
                    <a:lnR w="0">
                      <a:noFill/>
                    </a:lnR>
                    <a:lnT w="0">
                      <a:noFill/>
                    </a:lnT>
                    <a:lnB w="9525">
                      <a:solidFill>
                        <a:srgbClr val="E2E4E7"/>
                      </a:solidFill>
                    </a:lnB>
                    <a:noFill/>
                  </a:tcPr>
                </a:tc>
              </a:tr>
              <a:tr h="387563">
                <a:tc>
                  <a:txBody>
                    <a:bodyPr wrap="square"/>
                    <a:lstStyle/>
                    <a:p>
                      <a:pPr algn="l">
                        <a:lnSpc>
                          <a:spcPct val="100000"/>
                        </a:lnSpc>
                      </a:pPr>
                      <a:r>
                        <a:rPr sz="830" b="1">
                          <a:solidFill>
                            <a:srgbClr val="15171A"/>
                          </a:solidFill>
                          <a:latin typeface="Noto Sans KR"/>
                          <a:ea typeface="Noto Sans KR"/>
                          <a:cs typeface="Noto Sans KR"/>
                        </a:rPr>
                        <a:t>Calibration</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Kitchen Mapping (가전 · 수납 Registry + Template)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 (Minimanipulation · Instrumented Environment US 10,518,409) [S50]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15171A"/>
                          </a:solidFill>
                          <a:latin typeface="Noto Sans KR"/>
                          <a:ea typeface="Noto Sans KR"/>
                          <a:cs typeface="Noto Sans KR"/>
                        </a:rPr>
                        <a:t>2</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M12</a:t>
                      </a:r>
                    </a:p>
                  </a:txBody>
                  <a:tcPr marL="73152" marR="73152" marT="36576" marB="36576" anchor="t">
                    <a:lnL w="0">
                      <a:noFill/>
                    </a:lnL>
                    <a:lnR w="0">
                      <a:noFill/>
                    </a:lnR>
                    <a:lnT w="0">
                      <a:noFill/>
                    </a:lnT>
                    <a:lnB w="9525">
                      <a:solidFill>
                        <a:srgbClr val="E2E4E7"/>
                      </a:solidFill>
                    </a:lnB>
                    <a:noFill/>
                  </a:tcPr>
                </a:tc>
              </a:tr>
              <a:tr h="234929">
                <a:tc>
                  <a:txBody>
                    <a:bodyPr wrap="square"/>
                    <a:lstStyle/>
                    <a:p>
                      <a:pPr algn="l">
                        <a:lnSpc>
                          <a:spcPct val="100000"/>
                        </a:lnSpc>
                      </a:pPr>
                      <a:r>
                        <a:rPr sz="830" b="1">
                          <a:solidFill>
                            <a:srgbClr val="15171A"/>
                          </a:solidFill>
                          <a:latin typeface="Noto Sans KR"/>
                          <a:ea typeface="Noto Sans KR"/>
                          <a:cs typeface="Noto Sans KR"/>
                        </a:rPr>
                        <a:t>Calibration</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Task Coordinate Calibration (Robot Home · 가전 기준점 기반 좌표 보정)</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중~상 (가설)</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E2571B"/>
                          </a:solidFill>
                          <a:latin typeface="Noto Sans KR"/>
                          <a:ea typeface="Noto Sans KR"/>
                          <a:cs typeface="Noto Sans KR"/>
                        </a:rPr>
                        <a:t>1</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M6~M9</a:t>
                      </a:r>
                    </a:p>
                  </a:txBody>
                  <a:tcPr marL="73152" marR="73152" marT="36576" marB="36576" anchor="t">
                    <a:lnL w="0">
                      <a:noFill/>
                    </a:lnL>
                    <a:lnR w="0">
                      <a:noFill/>
                    </a:lnR>
                    <a:lnT w="0">
                      <a:noFill/>
                    </a:lnT>
                    <a:lnB w="9525">
                      <a:solidFill>
                        <a:srgbClr val="E2E4E7"/>
                      </a:solidFill>
                    </a:lnB>
                    <a:noFill/>
                  </a:tcPr>
                </a:tc>
              </a:tr>
              <a:tr h="387563">
                <a:tc>
                  <a:txBody>
                    <a:bodyPr wrap="square"/>
                    <a:lstStyle/>
                    <a:p>
                      <a:pPr algn="l">
                        <a:lnSpc>
                          <a:spcPct val="100000"/>
                        </a:lnSpc>
                      </a:pPr>
                      <a:r>
                        <a:rPr sz="830" b="1">
                          <a:solidFill>
                            <a:srgbClr val="15171A"/>
                          </a:solidFill>
                          <a:latin typeface="Noto Sans KR"/>
                          <a:ea typeface="Noto Sans KR"/>
                          <a:cs typeface="Noto Sans KR"/>
                        </a:rPr>
                        <a:t>Interface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Robot Mount / Robot Home (보관 · 전개 경로 · Rail 결합)</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 (주방 벽 Rail Arm US 7,751,938 외 · 수납장 로봇 US 12,275,130) [S50]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15171A"/>
                          </a:solidFill>
                          <a:latin typeface="Noto Sans KR"/>
                          <a:ea typeface="Noto Sans KR"/>
                          <a:cs typeface="Noto Sans KR"/>
                        </a:rPr>
                        <a:t>2</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M9</a:t>
                      </a:r>
                    </a:p>
                  </a:txBody>
                  <a:tcPr marL="73152" marR="73152" marT="36576" marB="36576" anchor="t">
                    <a:lnL w="0">
                      <a:noFill/>
                    </a:lnL>
                    <a:lnR w="0">
                      <a:noFill/>
                    </a:lnR>
                    <a:lnT w="0">
                      <a:noFill/>
                    </a:lnT>
                    <a:lnB w="9525">
                      <a:solidFill>
                        <a:srgbClr val="E2E4E7"/>
                      </a:solidFill>
                    </a:lnB>
                    <a:noFill/>
                  </a:tcPr>
                </a:tc>
              </a:tr>
              <a:tr h="234929">
                <a:tc>
                  <a:txBody>
                    <a:bodyPr wrap="square"/>
                    <a:lstStyle/>
                    <a:p>
                      <a:pPr algn="l">
                        <a:lnSpc>
                          <a:spcPct val="100000"/>
                        </a:lnSpc>
                      </a:pPr>
                      <a:r>
                        <a:rPr sz="830" b="1">
                          <a:solidFill>
                            <a:srgbClr val="15171A"/>
                          </a:solidFill>
                          <a:latin typeface="Noto Sans KR"/>
                          <a:ea typeface="Noto Sans KR"/>
                          <a:cs typeface="Noto Sans KR"/>
                        </a:rPr>
                        <a:t>Interface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Tool Dock · Storage Dock</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하~중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M18</a:t>
                      </a:r>
                    </a:p>
                  </a:txBody>
                  <a:tcPr marL="73152" marR="73152" marT="36576" marB="36576" anchor="t">
                    <a:lnL w="0">
                      <a:noFill/>
                    </a:lnL>
                    <a:lnR w="0">
                      <a:noFill/>
                    </a:lnR>
                    <a:lnT w="0">
                      <a:noFill/>
                    </a:lnT>
                    <a:lnB w="9525">
                      <a:solidFill>
                        <a:srgbClr val="E2E4E7"/>
                      </a:solidFill>
                    </a:lnB>
                    <a:noFill/>
                  </a:tcPr>
                </a:tc>
              </a:tr>
              <a:tr h="234929">
                <a:tc>
                  <a:txBody>
                    <a:bodyPr wrap="square"/>
                    <a:lstStyle/>
                    <a:p>
                      <a:pPr algn="l">
                        <a:lnSpc>
                          <a:spcPct val="100000"/>
                        </a:lnSpc>
                      </a:pPr>
                      <a:r>
                        <a:rPr sz="830" b="1">
                          <a:solidFill>
                            <a:srgbClr val="15171A"/>
                          </a:solidFill>
                          <a:latin typeface="Noto Sans KR"/>
                          <a:ea typeface="Noto Sans KR"/>
                          <a:cs typeface="Noto Sans KR"/>
                        </a:rPr>
                        <a:t>Interface</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Appliance Interface (식세기 랙 · 문의 Robot 대응 구조 · 연동)</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 (US 2023/0165427 식세기 맞춤 Routine) [S49]</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15171A"/>
                          </a:solidFill>
                          <a:latin typeface="Noto Sans KR"/>
                          <a:ea typeface="Noto Sans KR"/>
                          <a:cs typeface="Noto Sans KR"/>
                        </a:rPr>
                        <a:t>2</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M12</a:t>
                      </a:r>
                    </a:p>
                  </a:txBody>
                  <a:tcPr marL="73152" marR="73152" marT="36576" marB="36576" anchor="t">
                    <a:lnL w="0">
                      <a:noFill/>
                    </a:lnL>
                    <a:lnR w="0">
                      <a:noFill/>
                    </a:lnR>
                    <a:lnT w="0">
                      <a:noFill/>
                    </a:lnT>
                    <a:lnB w="9525">
                      <a:solidFill>
                        <a:srgbClr val="E2E4E7"/>
                      </a:solidFill>
                    </a:lnB>
                    <a:noFill/>
                  </a:tcPr>
                </a:tc>
              </a:tr>
              <a:tr h="234929">
                <a:tc>
                  <a:txBody>
                    <a:bodyPr wrap="square"/>
                    <a:lstStyle/>
                    <a:p>
                      <a:pPr algn="l">
                        <a:lnSpc>
                          <a:spcPct val="100000"/>
                        </a:lnSpc>
                      </a:pPr>
                      <a:r>
                        <a:rPr sz="830" b="1">
                          <a:solidFill>
                            <a:srgbClr val="15171A"/>
                          </a:solidFill>
                          <a:latin typeface="Noto Sans KR"/>
                          <a:ea typeface="Noto Sans KR"/>
                          <a:cs typeface="Noto Sans KR"/>
                        </a:rPr>
                        <a:t>Safety</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Human / Robot Zone Control (주방 평면 기반 Zone · 감속 · 안전 복귀)</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중~상 (협동로봇 일반 기술)</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1">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30" b="0">
                          <a:solidFill>
                            <a:srgbClr val="15171A"/>
                          </a:solidFill>
                          <a:latin typeface="Noto Sans KR"/>
                          <a:ea typeface="Noto Sans KR"/>
                          <a:cs typeface="Noto Sans KR"/>
                        </a:rPr>
                        <a:t>M18</a:t>
                      </a:r>
                    </a:p>
                  </a:txBody>
                  <a:tcPr marL="73152" marR="73152" marT="36576" marB="36576"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E2  ·  IP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Risk Register: Risk → Evidence → 대응 → 중단 기준</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초기 자금의 목적 = 기술 · 사업 Risk를 측정 가능한 Evidence로 줄이는 것</a:t>
            </a:r>
          </a:p>
        </p:txBody>
      </p:sp>
      <p:graphicFrame>
        <p:nvGraphicFramePr>
          <p:cNvPr id="5" name="Table 4"/>
          <p:cNvGraphicFramePr>
            <a:graphicFrameLocks noGrp="1"/>
          </p:cNvGraphicFramePr>
          <p:nvPr/>
        </p:nvGraphicFramePr>
        <p:xfrm>
          <a:off x="685800" y="1790567"/>
          <a:ext cx="10817351" cy="3423508"/>
        </p:xfrm>
        <a:graphic>
          <a:graphicData uri="http://schemas.openxmlformats.org/drawingml/2006/table">
            <a:tbl>
              <a:tblPr firstRow="0" bandRow="0">
                <a:tableStyleId>{2D5ABB26-0587-4C30-8999-92F81FD0307C}</a:tableStyleId>
              </a:tblPr>
              <a:tblGrid>
                <a:gridCol w="1005840"/>
                <a:gridCol w="2926080"/>
                <a:gridCol w="2194560"/>
                <a:gridCol w="2834640"/>
                <a:gridCol w="1856231"/>
              </a:tblGrid>
              <a:tr h="266090">
                <a:tc>
                  <a:txBody>
                    <a:bodyPr wrap="square"/>
                    <a:lstStyle/>
                    <a:p>
                      <a:pPr algn="l">
                        <a:lnSpc>
                          <a:spcPct val="100000"/>
                        </a:lnSpc>
                      </a:pPr>
                      <a:r>
                        <a:rPr sz="900" b="1">
                          <a:solidFill>
                            <a:srgbClr val="15171A"/>
                          </a:solidFill>
                          <a:latin typeface="Noto Sans KR"/>
                          <a:ea typeface="Noto Sans KR"/>
                          <a:cs typeface="Noto Sans KR"/>
                        </a:rPr>
                        <a:t>구분</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Risk</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확인 Evidence (시점)</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대응</a:t>
                      </a:r>
                    </a:p>
                  </a:txBody>
                  <a:tcPr marL="73152" marR="73152" marT="45720" marB="4572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중단 · 재편 기준</a:t>
                      </a:r>
                    </a:p>
                  </a:txBody>
                  <a:tcPr marL="73152" marR="73152" marT="45720" marB="45720" anchor="t">
                    <a:lnL w="0">
                      <a:noFill/>
                    </a:lnL>
                    <a:lnR w="0">
                      <a:noFill/>
                    </a:lnR>
                    <a:lnT w="12700">
                      <a:solidFill>
                        <a:srgbClr val="15171A"/>
                      </a:solidFill>
                    </a:lnT>
                    <a:lnB w="9525">
                      <a:solidFill>
                        <a:srgbClr val="15171A"/>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기술</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자체 Hand가 상용 Gripper보다 낫지 않음</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M6 30종 비교</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Buy 전환 · 교체형 Pad · Skill에 집중</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M6 열위 → 자체 Hand 중단</a:t>
                      </a:r>
                    </a:p>
                  </a:txBody>
                  <a:tcPr marL="73152" marR="73152" marT="45720" marB="45720" anchor="t">
                    <a:lnL w="0">
                      <a:noFill/>
                    </a:lnL>
                    <a:lnR w="0">
                      <a:noFill/>
                    </a:lnR>
                    <a:lnT w="0">
                      <a:noFill/>
                    </a:lnT>
                    <a:lnB w="9525">
                      <a:solidFill>
                        <a:srgbClr val="E2E4E7"/>
                      </a:solidFill>
                    </a:lnB>
                    <a:noFill/>
                  </a:tcPr>
                </a:tc>
              </a:tr>
              <a:tr h="431596">
                <a:tc>
                  <a:txBody>
                    <a:bodyPr wrap="square"/>
                    <a:lstStyle/>
                    <a:p>
                      <a:pPr algn="l">
                        <a:lnSpc>
                          <a:spcPct val="100000"/>
                        </a:lnSpc>
                      </a:pPr>
                      <a:r>
                        <a:rPr sz="900" b="1">
                          <a:solidFill>
                            <a:srgbClr val="15171A"/>
                          </a:solidFill>
                          <a:latin typeface="Noto Sans KR"/>
                          <a:ea typeface="Noto Sans KR"/>
                          <a:cs typeface="Noto Sans KR"/>
                        </a:rPr>
                        <a:t>기술</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주방이 바뀌면 성능 급락 (Calibration 과다)</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M18 주방 3종 Transfer</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Interface 보강 · Remodeling 채널 집중</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Calibration &gt; 8시간 → Retrofit 보류</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시장</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CLEAN 가치에 비해 가격이 높음 (WTP 부족)</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M18 n ≥ 300 · 예약금</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Rental 중심 · 구성 · 가격 재설계 · ASSIST 묶음</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WTP &lt; 15% → Seed 범위 재편</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사업</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설치 · A/S 원가 과다</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M24 가정 3세대 실측</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원격진단 · Partner 교육 · 설치 표준</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설치 &gt; 2인 2일 → 채널 재검토</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안전 · 인증</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가정용 로봇 기준 불확실 (IEC 63682 발행 전)</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M9 인증기관 사전상담 · M18 사전시험</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저속 · Zone 분리 · 사람 감지 시 정지 · 표준 Gap 관리</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인증 경로 미확정 → 판매 보류</a:t>
                      </a:r>
                    </a:p>
                  </a:txBody>
                  <a:tcPr marL="73152" marR="73152" marT="45720" marB="45720" anchor="t">
                    <a:lnL w="0">
                      <a:noFill/>
                    </a:lnL>
                    <a:lnR w="0">
                      <a:noFill/>
                    </a:lnR>
                    <a:lnT w="0">
                      <a:noFill/>
                    </a:lnT>
                    <a:lnB w="9525">
                      <a:solidFill>
                        <a:srgbClr val="E2E4E7"/>
                      </a:solidFill>
                    </a:lnB>
                    <a:noFill/>
                  </a:tcPr>
                </a:tc>
              </a:tr>
              <a:tr h="431596">
                <a:tc>
                  <a:txBody>
                    <a:bodyPr wrap="square"/>
                    <a:lstStyle/>
                    <a:p>
                      <a:pPr algn="l">
                        <a:lnSpc>
                          <a:spcPct val="100000"/>
                        </a:lnSpc>
                      </a:pPr>
                      <a:r>
                        <a:rPr sz="900" b="1">
                          <a:solidFill>
                            <a:srgbClr val="15171A"/>
                          </a:solidFill>
                          <a:latin typeface="Noto Sans KR"/>
                          <a:ea typeface="Noto Sans KR"/>
                          <a:cs typeface="Noto Sans KR"/>
                        </a:rPr>
                        <a:t>경쟁</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가전사 · Humanoid의 빠른 진입</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분기 Monitoring</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Interface · Skill 협력 Position · 가구사 · 건설사 Partner</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45720" marB="45720" anchor="t">
                    <a:lnL w="0">
                      <a:noFill/>
                    </a:lnL>
                    <a:lnR w="0">
                      <a:noFill/>
                    </a:lnR>
                    <a:lnT w="0">
                      <a:noFill/>
                    </a:lnT>
                    <a:lnB w="9525">
                      <a:solidFill>
                        <a:srgbClr val="E2E4E7"/>
                      </a:solidFill>
                    </a:lnB>
                    <a:noFill/>
                  </a:tcPr>
                </a:tc>
              </a:tr>
              <a:tr h="431596">
                <a:tc>
                  <a:txBody>
                    <a:bodyPr wrap="square"/>
                    <a:lstStyle/>
                    <a:p>
                      <a:pPr algn="l">
                        <a:lnSpc>
                          <a:spcPct val="100000"/>
                        </a:lnSpc>
                      </a:pPr>
                      <a:r>
                        <a:rPr sz="900" b="1">
                          <a:solidFill>
                            <a:srgbClr val="15171A"/>
                          </a:solidFill>
                          <a:latin typeface="Noto Sans KR"/>
                          <a:ea typeface="Noto Sans KR"/>
                          <a:cs typeface="Noto Sans KR"/>
                        </a:rPr>
                        <a:t>자금</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TIPS 미선정</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운영사 IR · 분기 접수</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Lean 범위 · 비R&amp;D 과제 · 일정 연장 (TIPS 없이 Seed 약 21.5억원)</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팀</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Founder 공백 · 핵심 리드 채용 지연</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M3 리드 3명 채용</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리드 3명 우선 · 지분 보상</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M6 리드 미충원 → 일정 재편</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IP</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선행특허 충돌 (식기 로봇 · 주방 Rail)</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M3 예비 FTO</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회피 설계 · 좁은 청구</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45720" marB="45720" anchor="t">
                    <a:lnL w="0">
                      <a:noFill/>
                    </a:lnL>
                    <a:lnR w="0">
                      <a:noFill/>
                    </a:lnR>
                    <a:lnT w="0">
                      <a:noFill/>
                    </a:lnT>
                    <a:lnB w="9525">
                      <a:solidFill>
                        <a:srgbClr val="E2E4E7"/>
                      </a:solidFill>
                    </a:lnB>
                    <a:noFill/>
                  </a:tcPr>
                </a:tc>
              </a:tr>
              <a:tr h="266090">
                <a:tc>
                  <a:txBody>
                    <a:bodyPr wrap="square"/>
                    <a:lstStyle/>
                    <a:p>
                      <a:pPr algn="l">
                        <a:lnSpc>
                          <a:spcPct val="100000"/>
                        </a:lnSpc>
                      </a:pPr>
                      <a:r>
                        <a:rPr sz="900" b="1">
                          <a:solidFill>
                            <a:srgbClr val="15171A"/>
                          </a:solidFill>
                          <a:latin typeface="Noto Sans KR"/>
                          <a:ea typeface="Noto Sans KR"/>
                          <a:cs typeface="Noto Sans KR"/>
                        </a:rPr>
                        <a:t>위생</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식품접촉 소재 규격</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M12 소재 시험</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규격 실리콘 · 교체형 구조</a:t>
                      </a:r>
                    </a:p>
                  </a:txBody>
                  <a:tcPr marL="73152" marR="73152" marT="45720" marB="45720"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45720" marB="45720"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E3  ·  IP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투자심사 예상질문 · 방어논리 (1/3)</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매우 비판적인 Seed VC · TIPS 운영사 관점. 답이 약한 항목은 본문 논리 보강 + 24개월 Evidence로 연결.</a:t>
            </a:r>
          </a:p>
        </p:txBody>
      </p:sp>
      <p:graphicFrame>
        <p:nvGraphicFramePr>
          <p:cNvPr id="5" name="Table 4"/>
          <p:cNvGraphicFramePr>
            <a:graphicFrameLocks noGrp="1"/>
          </p:cNvGraphicFramePr>
          <p:nvPr/>
        </p:nvGraphicFramePr>
        <p:xfrm>
          <a:off x="685800" y="1790567"/>
          <a:ext cx="10817351" cy="3167110"/>
        </p:xfrm>
        <a:graphic>
          <a:graphicData uri="http://schemas.openxmlformats.org/drawingml/2006/table">
            <a:tbl>
              <a:tblPr firstRow="0" bandRow="0">
                <a:tableStyleId>{2D5ABB26-0587-4C30-8999-92F81FD0307C}</a:tableStyleId>
              </a:tblPr>
              <a:tblGrid>
                <a:gridCol w="320040"/>
                <a:gridCol w="1691640"/>
                <a:gridCol w="5486400"/>
                <a:gridCol w="1874519"/>
                <a:gridCol w="1444752"/>
              </a:tblGrid>
              <a:tr h="216590">
                <a:tc>
                  <a:txBody>
                    <a:bodyPr wrap="square"/>
                    <a:lstStyle/>
                    <a:p>
                      <a:pPr algn="l">
                        <a:lnSpc>
                          <a:spcPct val="100000"/>
                        </a:lnSpc>
                      </a:pPr>
                      <a:r>
                        <a:rPr sz="780" b="1">
                          <a:solidFill>
                            <a:srgbClr val="15171A"/>
                          </a:solidFill>
                          <a:latin typeface="Noto Sans KR"/>
                          <a:ea typeface="Noto Sans KR"/>
                          <a:cs typeface="Noto Sans KR"/>
                        </a:rPr>
                        <a:t>#</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질문</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방어논리</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근거 (Tag)</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약한 부분</a:t>
                      </a:r>
                    </a:p>
                  </a:txBody>
                  <a:tcPr marL="73152" marR="73152" marT="32004" marB="32004" anchor="t">
                    <a:lnL w="0">
                      <a:noFill/>
                    </a:lnL>
                    <a:lnR w="0">
                      <a:noFill/>
                    </a:lnR>
                    <a:lnT w="12700">
                      <a:solidFill>
                        <a:srgbClr val="15171A"/>
                      </a:solidFill>
                    </a:lnT>
                    <a:lnB w="9525">
                      <a:solidFill>
                        <a:srgbClr val="15171A"/>
                      </a:solidFill>
                    </a:lnB>
                    <a:noFill/>
                  </a:tcPr>
                </a:tc>
              </a:tr>
              <a:tr h="503468">
                <a:tc>
                  <a:txBody>
                    <a:bodyPr wrap="square"/>
                    <a:lstStyle/>
                    <a:p>
                      <a:pPr algn="l">
                        <a:lnSpc>
                          <a:spcPct val="100000"/>
                        </a:lnSpc>
                      </a:pPr>
                      <a:r>
                        <a:rPr sz="780" b="1">
                          <a:solidFill>
                            <a:srgbClr val="15171A"/>
                          </a:solidFill>
                          <a:latin typeface="Noto Sans KR"/>
                          <a:ea typeface="Noto Sans KR"/>
                          <a:cs typeface="Noto Sans KR"/>
                        </a:rPr>
                        <a:t>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왜 Kitchen인가?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동작이 적고 반복되며 (Pick · Place · Insert · Remove), 작업영역이 정해져 있고 (싱크 · 식세기 · 수납), 물체 범위가 닫혀 있어 기술 검증이 가능함. 매일 쓰고 주방 리모델링 · 입주라는 구매 계기가 있어 사업 검증도 가능. CLEAN → COOK 확장 경로.</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가정관리 무급노동 459.5조원 (2024, FACT) · 연 주방 교체 약 30만 (ASSUMPTION)</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지불의사 미검증 → M18 WTP</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2</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왜 Robot Arm인가?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식세기 랙 · 서랍 · 상부장 작업은 방향 제어가 필요해 6축 Arm이 맞음. 전용 기계는 식기 · 주방마다 재설계, 이동형은 낮은 작업점 · 가격 · 안전 부담. Arm은 Skill · Tool로 ASSIST · COOK 확장.</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FAIRINO FR5 $6,999 · xArm 6 $8,399 (FACT) → BOM 하락 경로</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Pilot BOM 중 Arm 950만원 → OEM · 국산 Partner 필요</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3</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기존 Appliance로 해결 불가능한가?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식세기는 세척만 하고 넣기 · 꺼내기 · 수납은 가전 밖의 일. 가전 개선은 사람 작업을 줄일 뿐 이동 · 적재는 남음. MH는 가전과 경쟁하지 않고 가전 사이를 잇는 Appliance Interface를 만듦.</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가전사가 로봇을 내장할 가능성 → Q15</a:t>
                      </a:r>
                    </a:p>
                  </a:txBody>
                  <a:tcPr marL="73152" marR="73152" marT="32004" marB="32004" anchor="t">
                    <a:lnL w="0">
                      <a:noFill/>
                    </a:lnL>
                    <a:lnR w="0">
                      <a:noFill/>
                    </a:lnR>
                    <a:lnT w="0">
                      <a:noFill/>
                    </a:lnT>
                    <a:lnB w="9525">
                      <a:solidFill>
                        <a:srgbClr val="E2E4E7"/>
                      </a:solidFill>
                    </a:lnB>
                    <a:noFill/>
                  </a:tcPr>
                </a:tc>
              </a:tr>
              <a:tr h="503468">
                <a:tc>
                  <a:txBody>
                    <a:bodyPr wrap="square"/>
                    <a:lstStyle/>
                    <a:p>
                      <a:pPr algn="l">
                        <a:lnSpc>
                          <a:spcPct val="100000"/>
                        </a:lnSpc>
                      </a:pPr>
                      <a:r>
                        <a:rPr sz="780" b="1">
                          <a:solidFill>
                            <a:srgbClr val="15171A"/>
                          </a:solidFill>
                          <a:latin typeface="Noto Sans KR"/>
                          <a:ea typeface="Noto Sans KR"/>
                          <a:cs typeface="Noto Sans KR"/>
                        </a:rPr>
                        <a:t>4</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CLEAN만으로 고객이 돈을 내는가?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아직 모름 (핵심 미검증 가설). 가치 Anchor: 식후 정리 40분/일 × 가사서비스 1.5만원/h × 자동화 60% ≈ 월 18만원 vs Rental 월 33만원 → Gap 존재. 그래서 Premium Remodeling 고객부터, CLEAN은 Platform 검증용, ASSIST 확장 · 위생 · 편의 가치를 묶어 WTP 조사.</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가사서비스 요금 1.5만원/h (FACT) · 정리 40분 (ASSUMPTION)</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가치 Gap 명시 · WTP n ≥ 300 + 예약금 (M18)</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5</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COOK까지 기술적으로 연결 가능한가?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같은 Arm · Hand · Calibration · Safety를 쓰고, 추가되는 것은 Skill · Tool · 식품접촉 규격 · 열/액체 안전. 24개월 범위는 CLEAN, ASSIST가 중간 단계, COOK은 장기 R&amp;D (FUTURE). 공개 범용 모델 (π0.5) 발전이 Skill 확장 속도를 높일 수 있음.</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openpi π0 · π0.5 공개 (FACT) [S46]</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조리 안전 · 위생 규격 부담 큼</a:t>
                      </a:r>
                    </a:p>
                  </a:txBody>
                  <a:tcPr marL="73152" marR="73152" marT="32004" marB="32004" anchor="t">
                    <a:lnL w="0">
                      <a:noFill/>
                    </a:lnL>
                    <a:lnR w="0">
                      <a:noFill/>
                    </a:lnR>
                    <a:lnT w="0">
                      <a:noFill/>
                    </a:lnT>
                    <a:lnB w="9525">
                      <a:solidFill>
                        <a:srgbClr val="E2E4E7"/>
                      </a:solidFill>
                    </a:lnB>
                    <a:noFill/>
                  </a:tcPr>
                </a:tc>
              </a:tr>
              <a:tr h="503468">
                <a:tc>
                  <a:txBody>
                    <a:bodyPr wrap="square"/>
                    <a:lstStyle/>
                    <a:p>
                      <a:pPr algn="l">
                        <a:lnSpc>
                          <a:spcPct val="100000"/>
                        </a:lnSpc>
                      </a:pPr>
                      <a:r>
                        <a:rPr sz="780" b="1">
                          <a:solidFill>
                            <a:srgbClr val="15171A"/>
                          </a:solidFill>
                          <a:latin typeface="Noto Sans KR"/>
                          <a:ea typeface="Noto Sans KR"/>
                          <a:cs typeface="Noto Sans KR"/>
                        </a:rPr>
                        <a:t>6</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상용 Gripper를 쓰면 안 되는가? 왜 자체 Hand인가?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처음엔 상용 Gripper로 시작해 기준선을 잡고 M6에 30종 식기로 비교. 자체 Hand 가설: 얇은 접시 Edge + 컵 · 그릇 감싸기를 Tool 교체 없이, 젖은 표면 Slip 감지, 교체형 식품접촉 Pad (위생 · 소모품), 목표 원가. 우위가 없으면 Buy로 전환 (중단 기준).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Robotiq 2F-85 약 $5,825 (FACT) vs 자체 Hand 원가 가정 Pilot 200만원 → Y5 85만원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자체 개발 비용 · 기간</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7</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Kitchen마다 다른데 실제 적용 가능한가?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모든 주방이 아니라 호환 주방부터. 적용률 Remodeling 60% · Retrofit 40% (가정) → 평면 30개 분석 (M6). Calibration (Mapping · 기준점 · Template)으로 재배치, M18 주방 3종 하락 ≤ 10%p · ≤ 4시간.</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받은 평면 5종 중 3종 기본 배치 불가 (DERIVED)</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표본 작음</a:t>
                      </a:r>
                    </a:p>
                  </a:txBody>
                  <a:tcPr marL="73152" marR="73152" marT="32004" marB="3200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E4  ·  IP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투자심사 예상질문 · 방어논리 (2/3)</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매우 비판적인 Seed VC · TIPS 운영사 관점. 답이 약한 항목은 본문 논리 보강 + 24개월 Evidence로 연결.</a:t>
            </a:r>
          </a:p>
        </p:txBody>
      </p:sp>
      <p:graphicFrame>
        <p:nvGraphicFramePr>
          <p:cNvPr id="5" name="Table 4"/>
          <p:cNvGraphicFramePr>
            <a:graphicFrameLocks noGrp="1"/>
          </p:cNvGraphicFramePr>
          <p:nvPr/>
        </p:nvGraphicFramePr>
        <p:xfrm>
          <a:off x="685800" y="1790567"/>
          <a:ext cx="10817351" cy="3023671"/>
        </p:xfrm>
        <a:graphic>
          <a:graphicData uri="http://schemas.openxmlformats.org/drawingml/2006/table">
            <a:tbl>
              <a:tblPr firstRow="0" bandRow="0">
                <a:tableStyleId>{2D5ABB26-0587-4C30-8999-92F81FD0307C}</a:tableStyleId>
              </a:tblPr>
              <a:tblGrid>
                <a:gridCol w="320040"/>
                <a:gridCol w="1691640"/>
                <a:gridCol w="5486400"/>
                <a:gridCol w="1874519"/>
                <a:gridCol w="1444752"/>
              </a:tblGrid>
              <a:tr h="216590">
                <a:tc>
                  <a:txBody>
                    <a:bodyPr wrap="square"/>
                    <a:lstStyle/>
                    <a:p>
                      <a:pPr algn="l">
                        <a:lnSpc>
                          <a:spcPct val="100000"/>
                        </a:lnSpc>
                      </a:pPr>
                      <a:r>
                        <a:rPr sz="780" b="1">
                          <a:solidFill>
                            <a:srgbClr val="15171A"/>
                          </a:solidFill>
                          <a:latin typeface="Noto Sans KR"/>
                          <a:ea typeface="Noto Sans KR"/>
                          <a:cs typeface="Noto Sans KR"/>
                        </a:rPr>
                        <a:t>#</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질문</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방어논리</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근거 (Tag)</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약한 부분</a:t>
                      </a:r>
                    </a:p>
                  </a:txBody>
                  <a:tcPr marL="73152" marR="73152" marT="32004" marB="32004" anchor="t">
                    <a:lnL w="0">
                      <a:noFill/>
                    </a:lnL>
                    <a:lnR w="0">
                      <a:noFill/>
                    </a:lnR>
                    <a:lnT w="12700">
                      <a:solidFill>
                        <a:srgbClr val="15171A"/>
                      </a:solidFill>
                    </a:lnT>
                    <a:lnB w="9525">
                      <a:solidFill>
                        <a:srgbClr val="15171A"/>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8</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환경 Integration이 과도한 공사를 요구하지 않는가?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Remodeling은 주방 공사와 동시에 진행 (Interface 증분 450만원 = Premium 주방 2,000~4,000만원의 약 11~23%). Retrofit은 Compact Mount · Dock만 (150만원). New-build는 설계 단계 반영. 일반 시공은 Partner.</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Premium 주방 가격대는 ASSUMPTION (견적 20건으로 검증)</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Retrofit 호환률 미검증</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9</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결국 Interior Company 아닌가?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아님. Remodeling 1세대 5년 매출 2,418만원 중 Interface는 450만원 (약 19%), 나머지는 Robot · Care · 소모품 · Skill. 시공은 Partner, MH Core는 Robot · Hand · Skill · Calibration · Interface 표준 · Safety · Commissioning.</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설치 원가 목표 90 → 38만원 (DERIVED)</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초기 Remodeling 채널 의존</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10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A/S 비용이 너무 크지 않은가?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Care 원가 Build-up: 방문 2회 × 11~13만원 + 고장 0.6회 × 18만원 + Cloud 4만원 = 연 36.8만원 (Y3) vs Care 요금 48만원 → 마진 23% (Y3) → 44% (Y5, 원격진단 · 동선 밀도). Failure Rate 1.2회면 1세대 5년 −84만원.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ASSUMPTION (실측 없음)</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M24 가정 3세대 실측 필요</a:t>
                      </a:r>
                    </a:p>
                  </a:txBody>
                  <a:tcPr marL="73152" marR="73152" marT="32004" marB="32004" anchor="t">
                    <a:lnL w="0">
                      <a:noFill/>
                    </a:lnL>
                    <a:lnR w="0">
                      <a:noFill/>
                    </a:lnR>
                    <a:lnT w="0">
                      <a:noFill/>
                    </a:lnT>
                    <a:lnB w="9525">
                      <a:solidFill>
                        <a:srgbClr val="E2E4E7"/>
                      </a:solidFill>
                    </a:lnB>
                    <a:noFill/>
                  </a:tcPr>
                </a:tc>
              </a:tr>
              <a:tr h="503468">
                <a:tc>
                  <a:txBody>
                    <a:bodyPr wrap="square"/>
                    <a:lstStyle/>
                    <a:p>
                      <a:pPr algn="l">
                        <a:lnSpc>
                          <a:spcPct val="100000"/>
                        </a:lnSpc>
                      </a:pPr>
                      <a:r>
                        <a:rPr sz="780" b="1">
                          <a:solidFill>
                            <a:srgbClr val="15171A"/>
                          </a:solidFill>
                          <a:latin typeface="Noto Sans KR"/>
                          <a:ea typeface="Noto Sans KR"/>
                          <a:cs typeface="Noto Sans KR"/>
                        </a:rPr>
                        <a:t>11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Rental이 자본집약적이지 않은가?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Pilot만 MH 직접 보유, Y4부터 Rental · Capital Partner가 자산 보유 (ASP의 88%에 매입, MH 서비스료 월 6만원, Partner IRR 약 13.1%). MH B/S 부담 지양.</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코웨이 국내 렌탈 계정 748만 (2026 1Q) · LG 가전 구독 매출 2조원+ (2025) (FACT)</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Partner 조건 미확인 → M24</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12</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Care에 고객이 돈을 내는가?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Care는 소프트웨어 구독이 아니라 고가 로봇의 안전 · 성능 유지 계약 (정기점검 · Calibration · 원격진단 · A/S). 가전 구독의 정기관리 수요가 선례. 가입률 70%는 가정이며 실증에서 확인.</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LG 케어매니저 약 4,000명 · 정기관리 포함 구독 (FACT) [S41]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가입률 미검증</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13</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Consumables가 실제 필요한가?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억지 Lock-in이 아니라 식품 · 식기 접촉 Pad · Seal의 마모 · 위생 교체. 교체주기는 Pad 수명 시험 (M18~M24)으로 확정. 구매 고객 기대 매출은 연 약 25만원으로 비중이 작음.</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식품위생법 "기구" · 고무제 규격 (FACT) [S48]</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교체주기 미검증</a:t>
                      </a:r>
                    </a:p>
                  </a:txBody>
                  <a:tcPr marL="73152" marR="73152" marT="32004" marB="32004" anchor="t">
                    <a:lnL w="0">
                      <a:noFill/>
                    </a:lnL>
                    <a:lnR w="0">
                      <a:noFill/>
                    </a:lnR>
                    <a:lnT w="0">
                      <a:noFill/>
                    </a:lnT>
                    <a:lnB w="9525">
                      <a:solidFill>
                        <a:srgbClr val="E2E4E7"/>
                      </a:solidFill>
                    </a:lnB>
                    <a:noFill/>
                  </a:tcPr>
                </a:tc>
              </a:tr>
              <a:tr h="503468">
                <a:tc>
                  <a:txBody>
                    <a:bodyPr wrap="square"/>
                    <a:lstStyle/>
                    <a:p>
                      <a:pPr algn="l">
                        <a:lnSpc>
                          <a:spcPct val="100000"/>
                        </a:lnSpc>
                      </a:pPr>
                      <a:r>
                        <a:rPr sz="780" b="1">
                          <a:solidFill>
                            <a:srgbClr val="15171A"/>
                          </a:solidFill>
                          <a:latin typeface="Noto Sans KR"/>
                          <a:ea typeface="Noto Sans KR"/>
                          <a:cs typeface="Noto Sans KR"/>
                        </a:rPr>
                        <a:t>14</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Humanoid가 발전하면?</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위협이자 기회. 공개 범용 모델은 MH 실행층에 활용 가능. Humanoid도 주방에서는 낮은 작업점 · 위생 · 안전 · 가격 ($20,000 · 월 $499) 제약이 있음. MH의 Interface · Skill · Calibration 자산은 다른 Robot Platform에도 적용 가능 (Interface 표준 제공자 Position).</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1X NEO 가격 · Figure 식세기 시연 · LG CLOiD 2028 목표 (FACT)</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Humanoid 가격 급락 시 가격 압박</a:t>
                      </a:r>
                    </a:p>
                  </a:txBody>
                  <a:tcPr marL="73152" marR="73152" marT="32004" marB="3200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E5  ·  IP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투자심사 예상질문 · 방어논리 (3/3)</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매우 비판적인 Seed VC · TIPS 운영사 관점. 답이 약한 항목은 본문 논리 보강 + 24개월 Evidence로 연결.</a:t>
            </a:r>
          </a:p>
        </p:txBody>
      </p:sp>
      <p:graphicFrame>
        <p:nvGraphicFramePr>
          <p:cNvPr id="5" name="Table 4"/>
          <p:cNvGraphicFramePr>
            <a:graphicFrameLocks noGrp="1"/>
          </p:cNvGraphicFramePr>
          <p:nvPr/>
        </p:nvGraphicFramePr>
        <p:xfrm>
          <a:off x="685800" y="1790567"/>
          <a:ext cx="10817351" cy="2520203"/>
        </p:xfrm>
        <a:graphic>
          <a:graphicData uri="http://schemas.openxmlformats.org/drawingml/2006/table">
            <a:tbl>
              <a:tblPr firstRow="0" bandRow="0">
                <a:tableStyleId>{2D5ABB26-0587-4C30-8999-92F81FD0307C}</a:tableStyleId>
              </a:tblPr>
              <a:tblGrid>
                <a:gridCol w="320040"/>
                <a:gridCol w="1691640"/>
                <a:gridCol w="5486400"/>
                <a:gridCol w="1874519"/>
                <a:gridCol w="1444752"/>
              </a:tblGrid>
              <a:tr h="216590">
                <a:tc>
                  <a:txBody>
                    <a:bodyPr wrap="square"/>
                    <a:lstStyle/>
                    <a:p>
                      <a:pPr algn="l">
                        <a:lnSpc>
                          <a:spcPct val="100000"/>
                        </a:lnSpc>
                      </a:pPr>
                      <a:r>
                        <a:rPr sz="780" b="1">
                          <a:solidFill>
                            <a:srgbClr val="15171A"/>
                          </a:solidFill>
                          <a:latin typeface="Noto Sans KR"/>
                          <a:ea typeface="Noto Sans KR"/>
                          <a:cs typeface="Noto Sans KR"/>
                        </a:rPr>
                        <a:t>#</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질문</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방어논리</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근거 (Tag)</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약한 부분</a:t>
                      </a:r>
                    </a:p>
                  </a:txBody>
                  <a:tcPr marL="73152" marR="73152" marT="32004" marB="32004" anchor="t">
                    <a:lnL w="0">
                      <a:noFill/>
                    </a:lnL>
                    <a:lnR w="0">
                      <a:noFill/>
                    </a:lnR>
                    <a:lnT w="12700">
                      <a:solidFill>
                        <a:srgbClr val="15171A"/>
                      </a:solidFill>
                    </a:lnT>
                    <a:lnB w="9525">
                      <a:solidFill>
                        <a:srgbClr val="15171A"/>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15</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Samsung / LG / Kitchen Furniture Company가 직접 하면?</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가능성 있음 (LG CLOiD 2028 상용화 목표). 대응: 가전사 · 가구사는 Partner · 채널 후보 (Appliance Interface · 주방 시공), MH는 설치 · Calibration Know-how와 Installed Base Data로 차별화, 좁은 IP (Food-contact Module · 기준점 Calibration).</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한샘 등 가구사의 로봇 협업 보도 없음 (2026) [S51]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대기업 진입 시 채널 협상력 약함</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16</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Robot OEM과 무엇이 다른가?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OEM은 Arm을 파는 회사, MH는 Arm을 사서 Hand · Skill · Calibration · Interface · Safety · Care로 주방 System을 만드는 회사. OEM은 공급 Partner이자 BOM 하락 경로.</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핵심 부품 OEM 의존</a:t>
                      </a:r>
                    </a:p>
                  </a:txBody>
                  <a:tcPr marL="73152" marR="73152" marT="32004" marB="32004" anchor="t">
                    <a:lnL w="0">
                      <a:noFill/>
                    </a:lnL>
                    <a:lnR w="0">
                      <a:noFill/>
                    </a:lnR>
                    <a:lnT w="0">
                      <a:noFill/>
                    </a:lnT>
                    <a:lnB w="9525">
                      <a:solidFill>
                        <a:srgbClr val="E2E4E7"/>
                      </a:solidFill>
                    </a:lnB>
                    <a:noFill/>
                  </a:tcPr>
                </a:tc>
              </a:tr>
              <a:tr h="503468">
                <a:tc>
                  <a:txBody>
                    <a:bodyPr wrap="square"/>
                    <a:lstStyle/>
                    <a:p>
                      <a:pPr algn="l">
                        <a:lnSpc>
                          <a:spcPct val="100000"/>
                        </a:lnSpc>
                      </a:pPr>
                      <a:r>
                        <a:rPr sz="780" b="1">
                          <a:solidFill>
                            <a:srgbClr val="15171A"/>
                          </a:solidFill>
                          <a:latin typeface="Noto Sans KR"/>
                          <a:ea typeface="Noto Sans KR"/>
                          <a:cs typeface="Noto Sans KR"/>
                        </a:rPr>
                        <a:t>17</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실제 핵심 IP는 무엇인가?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1순위: 교체형 Food-contact Module, Task Coordinate Calibration (Dock · 가전 기준점). 2순위: Robot Home · Appliance Interface · 식기 Handling. 식기 로봇 · 주방 Rail 선행특허가 있어 넓은 청구는 어렵고 구체 구조 · 방법 청구를 목표. 실제 방어력은 Data · 절차 · Installed Base.</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US 11,731,282 · US 10,507,584 · US 7,751,938 등 (FACT, 청구항 미검토)</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IP 단독 방어력 약함 · 등록 미정</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18</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20억원 전후 Seed가 필요하다면 왜 그 규모인가?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Bottom-up: 24개월 지출 23.4억원 (인건비 15.3억원 = 24개월 차 약 14명) − TIPS 8억원 + 3개월 Buffer 3.5억원 = 19.0억원. Lean (팀 축소 · 범위 축소) 13.8억원. TIPS 미선정 시 Lean 범위 21.5억원.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TIPS 규정 (FACT) · 비용 (ASSUMPTION)</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인건비 · 채용 속도 가정</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19</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24개월 뒤 어떤 Evidence가 있어야 후속투자가 가능한가?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가정 3세대 CLEAN ≥ 90% · 유료 전환 ≥ 2세대 · 주방 3종 Transfer ≤ 10%p · Calibration ≤ 4시간 · BOM · 설치 · Service 원가 실측 · WTP n ≥ 300 (1,490만원 ≥ 30%) · Partner 조건 (리모델링 1 · 렌탈/캐피탈 1) · 출원 5건.</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TARGET</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실증 3세대는 표본이 작음</a:t>
                      </a:r>
                    </a:p>
                  </a:txBody>
                  <a:tcPr marL="73152" marR="73152" marT="32004" marB="32004" anchor="t">
                    <a:lnL w="0">
                      <a:noFill/>
                    </a:lnL>
                    <a:lnR w="0">
                      <a:noFill/>
                    </a:lnR>
                    <a:lnT w="0">
                      <a:noFill/>
                    </a:lnT>
                    <a:lnB w="9525">
                      <a:solidFill>
                        <a:srgbClr val="E2E4E7"/>
                      </a:solidFill>
                    </a:lnB>
                    <a:noFill/>
                  </a:tcPr>
                </a:tc>
              </a:tr>
              <a:tr h="360029">
                <a:tc>
                  <a:txBody>
                    <a:bodyPr wrap="square"/>
                    <a:lstStyle/>
                    <a:p>
                      <a:pPr algn="l">
                        <a:lnSpc>
                          <a:spcPct val="100000"/>
                        </a:lnSpc>
                      </a:pPr>
                      <a:r>
                        <a:rPr sz="780" b="1">
                          <a:solidFill>
                            <a:srgbClr val="15171A"/>
                          </a:solidFill>
                          <a:latin typeface="Noto Sans KR"/>
                          <a:ea typeface="Noto Sans KR"/>
                          <a:cs typeface="Noto Sans KR"/>
                        </a:rPr>
                        <a:t>20</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1">
                          <a:solidFill>
                            <a:srgbClr val="15171A"/>
                          </a:solidFill>
                          <a:latin typeface="Noto Sans KR"/>
                          <a:ea typeface="Noto Sans KR"/>
                          <a:cs typeface="Noto Sans KR"/>
                        </a:rPr>
                        <a:t>Founder가 왜 적합한가?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[Founder 정보 필요] — 현재 답할 수 없음. 필요한 역량은 로봇 조작 (Hand · Skill), 주방 · 건축 설치 (Interface · 시공 Partner), 고객 · 파트너 영업의 세 축. 이 칸이 채워지기 전에는 투자 판단 불가.</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없음</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780" b="0">
                          <a:solidFill>
                            <a:srgbClr val="E2571B"/>
                          </a:solidFill>
                          <a:latin typeface="Noto Sans KR"/>
                          <a:ea typeface="Noto Sans KR"/>
                          <a:cs typeface="Noto Sans KR"/>
                        </a:rPr>
                        <a:t>가장 큰 공백</a:t>
                      </a:r>
                    </a:p>
                  </a:txBody>
                  <a:tcPr marL="73152" marR="73152" marT="32004" marB="3200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E6  ·  IP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현재 부족한 Evidence · Founder 입력 필요 정보</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존재하지 않는 Evidence는 "없음"으로 표기. Founder 정보는 임의 작성하지 않음.</a:t>
            </a:r>
          </a:p>
        </p:txBody>
      </p:sp>
      <p:graphicFrame>
        <p:nvGraphicFramePr>
          <p:cNvPr id="5" name="Table 4"/>
          <p:cNvGraphicFramePr>
            <a:graphicFrameLocks noGrp="1"/>
          </p:cNvGraphicFramePr>
          <p:nvPr/>
        </p:nvGraphicFramePr>
        <p:xfrm>
          <a:off x="685800" y="1790567"/>
          <a:ext cx="6675120" cy="3764878"/>
        </p:xfrm>
        <a:graphic>
          <a:graphicData uri="http://schemas.openxmlformats.org/drawingml/2006/table">
            <a:tbl>
              <a:tblPr firstRow="0" bandRow="0">
                <a:tableStyleId>{2D5ABB26-0587-4C30-8999-92F81FD0307C}</a:tableStyleId>
              </a:tblPr>
              <a:tblGrid>
                <a:gridCol w="1600200"/>
                <a:gridCol w="1600200"/>
                <a:gridCol w="2560320"/>
                <a:gridCol w="914400"/>
              </a:tblGrid>
              <a:tr h="207446">
                <a:tc>
                  <a:txBody>
                    <a:bodyPr wrap="square"/>
                    <a:lstStyle/>
                    <a:p>
                      <a:pPr algn="l">
                        <a:lnSpc>
                          <a:spcPct val="100000"/>
                        </a:lnSpc>
                      </a:pPr>
                      <a:r>
                        <a:rPr sz="780" b="1">
                          <a:solidFill>
                            <a:srgbClr val="15171A"/>
                          </a:solidFill>
                          <a:latin typeface="Noto Sans KR"/>
                          <a:ea typeface="Noto Sans KR"/>
                          <a:cs typeface="Noto Sans KR"/>
                        </a:rPr>
                        <a:t>Evidence</a:t>
                      </a:r>
                    </a:p>
                  </a:txBody>
                  <a:tcPr marL="73152" marR="73152" marT="27432" marB="27432"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현재</a:t>
                      </a:r>
                    </a:p>
                  </a:txBody>
                  <a:tcPr marL="73152" marR="73152" marT="27432" marB="27432"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필요한 Evidence</a:t>
                      </a:r>
                    </a:p>
                  </a:txBody>
                  <a:tcPr marL="73152" marR="73152" marT="27432" marB="27432"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시점</a:t>
                      </a:r>
                    </a:p>
                  </a:txBody>
                  <a:tcPr marL="73152" marR="73152" marT="27432" marB="27432" anchor="t">
                    <a:lnL w="0">
                      <a:noFill/>
                    </a:lnL>
                    <a:lnR w="0">
                      <a:noFill/>
                    </a:lnR>
                    <a:lnT w="12700">
                      <a:solidFill>
                        <a:srgbClr val="15171A"/>
                      </a:solidFill>
                    </a:lnT>
                    <a:lnB w="9525">
                      <a:solidFill>
                        <a:srgbClr val="15171A"/>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Founder · 핵심 팀</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없음 (자리만 정의)</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이력 · 역할 · 지분 · 전업 · 리드 3명 채용</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Founder 자료 · 채용</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고객 Pain (정리 시간)</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가정 40분/일</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30세대 Time-diary</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자체 조사</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WTP · 구매 행동</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없음</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인터뷰 50명 → 조사 n ≥ 300 · 예약금 Test</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리모델링 상담 · 온라인 패널</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Hand 성능</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없음</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상용 Gripper 대비 30종 비교</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WP1 시험</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CLEAN 성공률</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없음</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목업 ≥ 80% → 가정 ≥ 90%</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WP6</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주방 Transfer · Calibration 시간</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없음</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주방 3종 · ≤ 4시간</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WP3 · WP6</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평면 호환률</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받은 5종 (2종 수용)</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평면 30개 분석</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입주자모집공고 평면 · 동의 실측</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BOM</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공개가 기반 추정</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100대/년 견적</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부품사 · OEM 견적</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설치 · A/S 원가</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가정</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가정 3세대 실측</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WP6</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Partner</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없음 (계약 · LOI 없음)</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리모델링 시공 1 · 렌탈/캐피탈 1 조건</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협의</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인증 경로</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미확정</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인증기관 사전상담 · 사전시험</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WP5</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IP</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출원 0건</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선행기술조사 · 출원 5건 + PCT 1건</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변리사</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시장 기초 통계</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식세기 보급률 · 주방 교체 수 공식 통계 없음</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소비자 조사 · 견적 20건</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자체 조사</a:t>
                      </a:r>
                    </a:p>
                  </a:txBody>
                  <a:tcPr marL="73152" marR="73152" marT="27432" marB="27432"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7635240" y="1790567"/>
          <a:ext cx="3870655" cy="4259202"/>
        </p:xfrm>
        <a:graphic>
          <a:graphicData uri="http://schemas.openxmlformats.org/drawingml/2006/table">
            <a:tbl>
              <a:tblPr firstRow="0" bandRow="0">
                <a:tableStyleId>{2D5ABB26-0587-4C30-8999-92F81FD0307C}</a:tableStyleId>
              </a:tblPr>
              <a:tblGrid>
                <a:gridCol w="1463040"/>
                <a:gridCol w="2407615"/>
              </a:tblGrid>
              <a:tr h="207446">
                <a:tc>
                  <a:txBody>
                    <a:bodyPr wrap="square"/>
                    <a:lstStyle/>
                    <a:p>
                      <a:pPr algn="l">
                        <a:lnSpc>
                          <a:spcPct val="100000"/>
                        </a:lnSpc>
                      </a:pPr>
                      <a:r>
                        <a:rPr sz="780" b="1">
                          <a:solidFill>
                            <a:srgbClr val="15171A"/>
                          </a:solidFill>
                          <a:latin typeface="Noto Sans KR"/>
                          <a:ea typeface="Noto Sans KR"/>
                          <a:cs typeface="Noto Sans KR"/>
                        </a:rPr>
                        <a:t>Founder 입력 필요</a:t>
                      </a:r>
                    </a:p>
                  </a:txBody>
                  <a:tcPr marL="73152" marR="73152" marT="27432" marB="27432"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80" b="1">
                          <a:solidFill>
                            <a:srgbClr val="15171A"/>
                          </a:solidFill>
                          <a:latin typeface="Noto Sans KR"/>
                          <a:ea typeface="Noto Sans KR"/>
                          <a:cs typeface="Noto Sans KR"/>
                        </a:rPr>
                        <a:t>내용</a:t>
                      </a:r>
                    </a:p>
                  </a:txBody>
                  <a:tcPr marL="73152" marR="73152" marT="27432" marB="27432" anchor="t">
                    <a:lnL w="0">
                      <a:noFill/>
                    </a:lnL>
                    <a:lnR w="0">
                      <a:noFill/>
                    </a:lnR>
                    <a:lnT w="12700">
                      <a:solidFill>
                        <a:srgbClr val="15171A"/>
                      </a:solidFill>
                    </a:lnT>
                    <a:lnB w="9525">
                      <a:solidFill>
                        <a:srgbClr val="15171A"/>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신원 · 경력</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이름 · 학력 · 경력 (연도별) · 현재 소속</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역할 · 지분</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대표 / CTO 등 역할, 지분 · 베스팅 (TIPS: 창업팀 2인 이상 60% 이상)</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전업 여부</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전업 시점 · 겸직 여부</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Why This Problem</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이 문제를 택한 이유 · 개인 경험 · 문제 인식 근거</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Relevant Engineering Experience</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로봇 · 기구 · 제어 · 비전 · 하드웨어 양산 경험</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Hardware / Product Development</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개발 · 출시한 제품 · 프로젝트 (역할 · 성과)</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Robot · Mechanical · AI Capability</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논문 · 특허 · 코드 · 수상 등 증빙</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Construction · Kitchen · Manufacturing</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주방 · 건축 시공 · 제조 경험 (Interface · 설치 표준에 직결)</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Customer / Partner Network</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리모델링 · 가구사 · 건설사 · 렌탈사 접점 (실명 · 관계 수준, 없으면 "없음")</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IP · 권리귀속</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보유 특허 · 전 직장 / 연구실 IP 충돌 · 경업금지</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법인 정보</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설립일 · 소재지 (수도권 여부 = 운영사 투자 요건) · 업력 · 상호 MH Robotics 상표 검색</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투자 · 과제 이력</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기존 투자 · 정부과제 · 자본금</a:t>
                      </a:r>
                    </a:p>
                  </a:txBody>
                  <a:tcPr marL="73152" marR="73152" marT="27432" marB="27432" anchor="t">
                    <a:lnL w="0">
                      <a:noFill/>
                    </a:lnL>
                    <a:lnR w="0">
                      <a:noFill/>
                    </a:lnR>
                    <a:lnT w="0">
                      <a:noFill/>
                    </a:lnT>
                    <a:lnB w="9525">
                      <a:solidFill>
                        <a:srgbClr val="E2E4E7"/>
                      </a:solidFill>
                    </a:lnB>
                    <a:noFill/>
                  </a:tcPr>
                </a:tc>
              </a:tr>
              <a:tr h="207446">
                <a:tc>
                  <a:txBody>
                    <a:bodyPr wrap="square"/>
                    <a:lstStyle/>
                    <a:p>
                      <a:pPr algn="l">
                        <a:lnSpc>
                          <a:spcPct val="100000"/>
                        </a:lnSpc>
                      </a:pPr>
                      <a:r>
                        <a:rPr sz="780" b="1">
                          <a:solidFill>
                            <a:srgbClr val="15171A"/>
                          </a:solidFill>
                          <a:latin typeface="Noto Sans KR"/>
                          <a:ea typeface="Noto Sans KR"/>
                          <a:cs typeface="Noto Sans KR"/>
                        </a:rPr>
                        <a:t>운영사 접촉</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TIPS 운영사 접촉 현황 (없으면 "없음")</a:t>
                      </a:r>
                    </a:p>
                  </a:txBody>
                  <a:tcPr marL="73152" marR="73152" marT="27432" marB="27432" anchor="t">
                    <a:lnL w="0">
                      <a:noFill/>
                    </a:lnL>
                    <a:lnR w="0">
                      <a:noFill/>
                    </a:lnR>
                    <a:lnT w="0">
                      <a:noFill/>
                    </a:lnT>
                    <a:lnB w="9525">
                      <a:solidFill>
                        <a:srgbClr val="E2E4E7"/>
                      </a:solidFill>
                    </a:lnB>
                    <a:noFill/>
                  </a:tcPr>
                </a:tc>
              </a:tr>
              <a:tr h="350885">
                <a:tc>
                  <a:txBody>
                    <a:bodyPr wrap="square"/>
                    <a:lstStyle/>
                    <a:p>
                      <a:pPr algn="l">
                        <a:lnSpc>
                          <a:spcPct val="100000"/>
                        </a:lnSpc>
                      </a:pPr>
                      <a:r>
                        <a:rPr sz="780" b="1">
                          <a:solidFill>
                            <a:srgbClr val="15171A"/>
                          </a:solidFill>
                          <a:latin typeface="Noto Sans KR"/>
                          <a:ea typeface="Noto Sans KR"/>
                          <a:cs typeface="Noto Sans KR"/>
                        </a:rPr>
                        <a:t>채용 Pool</a:t>
                      </a:r>
                    </a:p>
                  </a:txBody>
                  <a:tcPr marL="73152" marR="73152" marT="27432" marB="27432" anchor="t">
                    <a:lnL w="0">
                      <a:noFill/>
                    </a:lnL>
                    <a:lnR w="0">
                      <a:noFill/>
                    </a:lnR>
                    <a:lnT w="0">
                      <a:noFill/>
                    </a:lnT>
                    <a:lnB w="9525">
                      <a:solidFill>
                        <a:srgbClr val="E2E4E7"/>
                      </a:solidFill>
                    </a:lnB>
                    <a:noFill/>
                  </a:tcPr>
                </a:tc>
                <a:tc>
                  <a:txBody>
                    <a:bodyPr wrap="square"/>
                    <a:lstStyle/>
                    <a:p>
                      <a:pPr algn="l">
                        <a:lnSpc>
                          <a:spcPct val="100000"/>
                        </a:lnSpc>
                      </a:pPr>
                      <a:r>
                        <a:rPr sz="780" b="0">
                          <a:solidFill>
                            <a:srgbClr val="15171A"/>
                          </a:solidFill>
                          <a:latin typeface="Noto Sans KR"/>
                          <a:ea typeface="Noto Sans KR"/>
                          <a:cs typeface="Noto Sans KR"/>
                        </a:rPr>
                        <a:t>리드 3명 (Manipulation · Perception · Hand) 후보 여부</a:t>
                      </a:r>
                    </a:p>
                  </a:txBody>
                  <a:tcPr marL="73152" marR="73152" marT="27432" marB="27432" anchor="t">
                    <a:lnL w="0">
                      <a:noFill/>
                    </a:lnL>
                    <a:lnR w="0">
                      <a:noFill/>
                    </a:lnR>
                    <a:lnT w="0">
                      <a:noFill/>
                    </a:lnT>
                    <a:lnB w="9525">
                      <a:solidFill>
                        <a:srgbClr val="E2E4E7"/>
                      </a:solidFill>
                    </a:lnB>
                    <a:noFill/>
                  </a:tcPr>
                </a:tc>
              </a:tr>
            </a:tbl>
          </a:graphicData>
        </a:graphic>
      </p:graphicFrame>
      <p:sp>
        <p:nvSpPr>
          <p:cNvPr id="7" name="TextBox 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8" name="TextBox 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E7  ·  IP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투자심사 Memo: MEET</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본 판단은 자료 작성자의 반론 검토 의견 (실제 투자 결정 아님). 점수 1~5 (5 = 강한 Evidence).</a:t>
            </a:r>
          </a:p>
        </p:txBody>
      </p:sp>
      <p:sp>
        <p:nvSpPr>
          <p:cNvPr id="5" name="Rectangle 4"/>
          <p:cNvSpPr/>
          <p:nvPr/>
        </p:nvSpPr>
        <p:spPr>
          <a:xfrm>
            <a:off x="685800" y="1790567"/>
            <a:ext cx="3566160" cy="822960"/>
          </a:xfrm>
          <a:prstGeom prst="rect">
            <a:avLst/>
          </a:prstGeom>
          <a:solidFill>
            <a:srgbClr val="15171A"/>
          </a:solidFill>
          <a:ln>
            <a:noFill/>
          </a:ln>
        </p:spPr>
        <p:txBody>
          <a:bodyPr rtlCol="0" anchor="ctr"/>
          <a:lstStyle/>
          <a:p>
            <a:pPr algn="ctr"/>
          </a:p>
        </p:txBody>
      </p:sp>
      <p:sp>
        <p:nvSpPr>
          <p:cNvPr id="6" name="TextBox 5"/>
          <p:cNvSpPr txBox="1"/>
          <p:nvPr/>
        </p:nvSpPr>
        <p:spPr>
          <a:xfrm>
            <a:off x="868680" y="1863719"/>
            <a:ext cx="3200400" cy="274320"/>
          </a:xfrm>
          <a:prstGeom prst="rect">
            <a:avLst/>
          </a:prstGeom>
          <a:noFill/>
        </p:spPr>
        <p:txBody>
          <a:bodyPr wrap="square" lIns="0" rIns="0" tIns="0" bIns="0" anchor="t">
            <a:spAutoFit/>
          </a:bodyPr>
          <a:lstStyle/>
          <a:p>
            <a:pPr algn="l">
              <a:lnSpc>
                <a:spcPct val="100000"/>
              </a:lnSpc>
            </a:pPr>
            <a:r>
              <a:rPr sz="1000" b="1">
                <a:solidFill>
                  <a:srgbClr val="A9AEB5"/>
                </a:solidFill>
                <a:latin typeface="Noto Sans KR"/>
                <a:ea typeface="Noto Sans KR"/>
                <a:cs typeface="Noto Sans KR"/>
              </a:rPr>
              <a:t>판단</a:t>
            </a:r>
          </a:p>
        </p:txBody>
      </p:sp>
      <p:sp>
        <p:nvSpPr>
          <p:cNvPr id="7" name="TextBox 6"/>
          <p:cNvSpPr txBox="1"/>
          <p:nvPr/>
        </p:nvSpPr>
        <p:spPr>
          <a:xfrm>
            <a:off x="868680" y="2083175"/>
            <a:ext cx="1280160" cy="457200"/>
          </a:xfrm>
          <a:prstGeom prst="rect">
            <a:avLst/>
          </a:prstGeom>
          <a:noFill/>
        </p:spPr>
        <p:txBody>
          <a:bodyPr wrap="square" lIns="0" rIns="0" tIns="0" bIns="0" anchor="t">
            <a:spAutoFit/>
          </a:bodyPr>
          <a:lstStyle/>
          <a:p>
            <a:pPr algn="l">
              <a:lnSpc>
                <a:spcPct val="100000"/>
              </a:lnSpc>
            </a:pPr>
            <a:r>
              <a:rPr sz="2000" b="1">
                <a:solidFill>
                  <a:srgbClr val="FFFFFF"/>
                </a:solidFill>
                <a:latin typeface="Noto Sans KR"/>
                <a:ea typeface="Noto Sans KR"/>
                <a:cs typeface="Noto Sans KR"/>
              </a:rPr>
              <a:t>MEET</a:t>
            </a:r>
          </a:p>
        </p:txBody>
      </p:sp>
      <p:sp>
        <p:nvSpPr>
          <p:cNvPr id="8" name="TextBox 7"/>
          <p:cNvSpPr txBox="1"/>
          <p:nvPr/>
        </p:nvSpPr>
        <p:spPr>
          <a:xfrm>
            <a:off x="2011680" y="2174615"/>
            <a:ext cx="2057400" cy="274320"/>
          </a:xfrm>
          <a:prstGeom prst="rect">
            <a:avLst/>
          </a:prstGeom>
          <a:noFill/>
        </p:spPr>
        <p:txBody>
          <a:bodyPr wrap="square" lIns="0" rIns="0" tIns="0" bIns="0" anchor="t">
            <a:spAutoFit/>
          </a:bodyPr>
          <a:lstStyle/>
          <a:p>
            <a:pPr algn="l">
              <a:lnSpc>
                <a:spcPct val="100000"/>
              </a:lnSpc>
            </a:pPr>
            <a:r>
              <a:rPr sz="900" b="0">
                <a:solidFill>
                  <a:srgbClr val="A9AEB5"/>
                </a:solidFill>
                <a:latin typeface="Noto Sans KR"/>
                <a:ea typeface="Noto Sans KR"/>
                <a:cs typeface="Noto Sans KR"/>
              </a:rPr>
              <a:t>(INVEST · MEET · WATCH · PASS 중)</a:t>
            </a:r>
          </a:p>
        </p:txBody>
      </p:sp>
      <p:sp>
        <p:nvSpPr>
          <p:cNvPr id="9" name="TextBox 8"/>
          <p:cNvSpPr txBox="1"/>
          <p:nvPr/>
        </p:nvSpPr>
        <p:spPr>
          <a:xfrm>
            <a:off x="685800" y="2750687"/>
            <a:ext cx="3566160" cy="237744"/>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INVEST가 아닌 이유</a:t>
            </a:r>
          </a:p>
        </p:txBody>
      </p:sp>
      <p:sp>
        <p:nvSpPr>
          <p:cNvPr id="10" name="TextBox 9"/>
          <p:cNvSpPr txBox="1"/>
          <p:nvPr/>
        </p:nvSpPr>
        <p:spPr>
          <a:xfrm>
            <a:off x="685800" y="3006719"/>
            <a:ext cx="3566160" cy="905662"/>
          </a:xfrm>
          <a:prstGeom prst="rect">
            <a:avLst/>
          </a:prstGeom>
          <a:noFill/>
        </p:spPr>
        <p:txBody>
          <a:bodyPr wrap="square" lIns="0" rIns="0" tIns="0" bIns="0" anchor="t">
            <a:spAutoFit/>
          </a:bodyPr>
          <a:lstStyle/>
          <a:p>
            <a:pPr algn="l" marL="182880" indent="-182880">
              <a:lnSpc>
                <a:spcPct val="100000"/>
              </a:lnSpc>
              <a:spcAft>
                <a:spcPts val="100"/>
              </a:spcAft>
              <a:buClr>
                <a:srgbClr val="8C9198"/>
              </a:buClr>
              <a:buFont typeface="Noto Sans KR"/>
              <a:buChar char="–"/>
            </a:pPr>
            <a:r>
              <a:rPr sz="880" b="0">
                <a:solidFill>
                  <a:srgbClr val="15171A"/>
                </a:solidFill>
                <a:latin typeface="Noto Sans KR"/>
                <a:ea typeface="Noto Sans KR"/>
                <a:cs typeface="Noto Sans KR"/>
              </a:rPr>
              <a:t>Founder · 팀 정보가 없음 (가장 큰 공백)</a:t>
            </a:r>
          </a:p>
          <a:p>
            <a:pPr algn="l" marL="182880" indent="-182880">
              <a:lnSpc>
                <a:spcPct val="100000"/>
              </a:lnSpc>
              <a:spcAft>
                <a:spcPts val="100"/>
              </a:spcAft>
              <a:buClr>
                <a:srgbClr val="8C9198"/>
              </a:buClr>
              <a:buFont typeface="Noto Sans KR"/>
              <a:buChar char="–"/>
            </a:pPr>
            <a:r>
              <a:rPr sz="880" b="0">
                <a:solidFill>
                  <a:srgbClr val="15171A"/>
                </a:solidFill>
                <a:latin typeface="Noto Sans KR"/>
                <a:ea typeface="Noto Sans KR"/>
                <a:cs typeface="Noto Sans KR"/>
              </a:rPr>
              <a:t>기술 Baseline (Hand · CLEAN 성공률) 측정값 없음</a:t>
            </a:r>
          </a:p>
          <a:p>
            <a:pPr algn="l" marL="182880" indent="-182880">
              <a:lnSpc>
                <a:spcPct val="100000"/>
              </a:lnSpc>
              <a:spcAft>
                <a:spcPts val="100"/>
              </a:spcAft>
              <a:buClr>
                <a:srgbClr val="8C9198"/>
              </a:buClr>
              <a:buFont typeface="Noto Sans KR"/>
              <a:buChar char="–"/>
            </a:pPr>
            <a:r>
              <a:rPr sz="880" b="0">
                <a:solidFill>
                  <a:srgbClr val="15171A"/>
                </a:solidFill>
                <a:latin typeface="Noto Sans KR"/>
                <a:ea typeface="Noto Sans KR"/>
                <a:cs typeface="Noto Sans KR"/>
              </a:rPr>
              <a:t>고객 지불의사 · 구매 행동 증거 없음</a:t>
            </a:r>
          </a:p>
          <a:p>
            <a:pPr algn="l" marL="182880" indent="-182880">
              <a:lnSpc>
                <a:spcPct val="100000"/>
              </a:lnSpc>
              <a:spcAft>
                <a:spcPts val="100"/>
              </a:spcAft>
              <a:buClr>
                <a:srgbClr val="8C9198"/>
              </a:buClr>
              <a:buFont typeface="Noto Sans KR"/>
              <a:buChar char="–"/>
            </a:pPr>
            <a:r>
              <a:rPr sz="880" b="0">
                <a:solidFill>
                  <a:srgbClr val="15171A"/>
                </a:solidFill>
                <a:latin typeface="Noto Sans KR"/>
                <a:ea typeface="Noto Sans KR"/>
                <a:cs typeface="Noto Sans KR"/>
              </a:rPr>
              <a:t>BOM · 설치 · Care 원가가 모두 가정</a:t>
            </a:r>
          </a:p>
          <a:p>
            <a:pPr algn="l" marL="182880" indent="-182880">
              <a:lnSpc>
                <a:spcPct val="100000"/>
              </a:lnSpc>
              <a:buClr>
                <a:srgbClr val="8C9198"/>
              </a:buClr>
              <a:buFont typeface="Noto Sans KR"/>
              <a:buChar char="–"/>
            </a:pPr>
            <a:r>
              <a:rPr sz="880" b="0">
                <a:solidFill>
                  <a:srgbClr val="15171A"/>
                </a:solidFill>
                <a:latin typeface="Noto Sans KR"/>
                <a:ea typeface="Noto Sans KR"/>
                <a:cs typeface="Noto Sans KR"/>
              </a:rPr>
              <a:t>가전사 · Humanoid 진입 속도가 빠름</a:t>
            </a:r>
          </a:p>
        </p:txBody>
      </p:sp>
      <p:sp>
        <p:nvSpPr>
          <p:cNvPr id="11" name="TextBox 10"/>
          <p:cNvSpPr txBox="1"/>
          <p:nvPr/>
        </p:nvSpPr>
        <p:spPr>
          <a:xfrm>
            <a:off x="685800" y="4022110"/>
            <a:ext cx="3566160" cy="237744"/>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WATCH · PASS가 아닌 이유</a:t>
            </a:r>
          </a:p>
        </p:txBody>
      </p:sp>
      <p:sp>
        <p:nvSpPr>
          <p:cNvPr id="12" name="TextBox 11"/>
          <p:cNvSpPr txBox="1"/>
          <p:nvPr/>
        </p:nvSpPr>
        <p:spPr>
          <a:xfrm>
            <a:off x="685800" y="4278142"/>
            <a:ext cx="3566160" cy="1054790"/>
          </a:xfrm>
          <a:prstGeom prst="rect">
            <a:avLst/>
          </a:prstGeom>
          <a:noFill/>
        </p:spPr>
        <p:txBody>
          <a:bodyPr wrap="square" lIns="0" rIns="0" tIns="0" bIns="0" anchor="t">
            <a:spAutoFit/>
          </a:bodyPr>
          <a:lstStyle/>
          <a:p>
            <a:pPr algn="l" marL="182880" indent="-182880">
              <a:lnSpc>
                <a:spcPct val="100000"/>
              </a:lnSpc>
              <a:spcAft>
                <a:spcPts val="100"/>
              </a:spcAft>
              <a:buClr>
                <a:srgbClr val="8C9198"/>
              </a:buClr>
              <a:buFont typeface="Noto Sans KR"/>
              <a:buChar char="–"/>
            </a:pPr>
            <a:r>
              <a:rPr sz="880" b="0">
                <a:solidFill>
                  <a:srgbClr val="15171A"/>
                </a:solidFill>
                <a:latin typeface="Noto Sans KR"/>
                <a:ea typeface="Noto Sans KR"/>
                <a:cs typeface="Noto Sans KR"/>
              </a:rPr>
              <a:t>문제 정의와 접근 (Hand + Skill + Calibration + Interface)이 일관되고 측정 가능한 Gate로 쪼개져 있음</a:t>
            </a:r>
          </a:p>
          <a:p>
            <a:pPr algn="l" marL="182880" indent="-182880">
              <a:lnSpc>
                <a:spcPct val="100000"/>
              </a:lnSpc>
              <a:spcAft>
                <a:spcPts val="100"/>
              </a:spcAft>
              <a:buClr>
                <a:srgbClr val="8C9198"/>
              </a:buClr>
              <a:buFont typeface="Noto Sans KR"/>
              <a:buChar char="–"/>
            </a:pPr>
            <a:r>
              <a:rPr sz="880" b="0">
                <a:solidFill>
                  <a:srgbClr val="15171A"/>
                </a:solidFill>
                <a:latin typeface="Noto Sans KR"/>
                <a:ea typeface="Noto Sans KR"/>
                <a:cs typeface="Noto Sans KR"/>
              </a:rPr>
              <a:t>Bottom-up 자금 계획 · TIPS 레버리지 · 역할 분리 (기술 vs 사업 검증)</a:t>
            </a:r>
          </a:p>
          <a:p>
            <a:pPr algn="l" marL="182880" indent="-182880">
              <a:lnSpc>
                <a:spcPct val="100000"/>
              </a:lnSpc>
              <a:spcAft>
                <a:spcPts val="100"/>
              </a:spcAft>
              <a:buClr>
                <a:srgbClr val="8C9198"/>
              </a:buClr>
              <a:buFont typeface="Noto Sans KR"/>
              <a:buChar char="–"/>
            </a:pPr>
            <a:r>
              <a:rPr sz="880" b="0">
                <a:solidFill>
                  <a:srgbClr val="15171A"/>
                </a:solidFill>
                <a:latin typeface="Noto Sans KR"/>
                <a:ea typeface="Noto Sans KR"/>
                <a:cs typeface="Noto Sans KR"/>
              </a:rPr>
              <a:t>검증 채널 (Remodeling) → Scale 채널 (신축) 순서와 Partner 구조가 현실적</a:t>
            </a:r>
          </a:p>
          <a:p>
            <a:pPr algn="l" marL="182880" indent="-182880">
              <a:lnSpc>
                <a:spcPct val="100000"/>
              </a:lnSpc>
              <a:buClr>
                <a:srgbClr val="8C9198"/>
              </a:buClr>
              <a:buFont typeface="Noto Sans KR"/>
              <a:buChar char="–"/>
            </a:pPr>
            <a:r>
              <a:rPr sz="880" b="0">
                <a:solidFill>
                  <a:srgbClr val="15171A"/>
                </a:solidFill>
                <a:latin typeface="Noto Sans KR"/>
                <a:ea typeface="Noto Sans KR"/>
                <a:cs typeface="Noto Sans KR"/>
              </a:rPr>
              <a:t>FACT / ASSUMPTION / TARGET 구분이 엄격해 실사 비용이 낮음</a:t>
            </a:r>
          </a:p>
        </p:txBody>
      </p:sp>
      <p:graphicFrame>
        <p:nvGraphicFramePr>
          <p:cNvPr id="13" name="Table 12"/>
          <p:cNvGraphicFramePr>
            <a:graphicFrameLocks noGrp="1"/>
          </p:cNvGraphicFramePr>
          <p:nvPr/>
        </p:nvGraphicFramePr>
        <p:xfrm>
          <a:off x="4526280" y="1790567"/>
          <a:ext cx="3566159" cy="2929023"/>
        </p:xfrm>
        <a:graphic>
          <a:graphicData uri="http://schemas.openxmlformats.org/drawingml/2006/table">
            <a:tbl>
              <a:tblPr firstRow="0" bandRow="0">
                <a:tableStyleId>{2D5ABB26-0587-4C30-8999-92F81FD0307C}</a:tableStyleId>
              </a:tblPr>
              <a:tblGrid>
                <a:gridCol w="1097280"/>
                <a:gridCol w="457200"/>
                <a:gridCol w="457200"/>
                <a:gridCol w="1554479"/>
              </a:tblGrid>
              <a:tr h="238607">
                <a:tc>
                  <a:txBody>
                    <a:bodyPr wrap="square"/>
                    <a:lstStyle/>
                    <a:p>
                      <a:pPr algn="l">
                        <a:lnSpc>
                          <a:spcPct val="100000"/>
                        </a:lnSpc>
                      </a:pPr>
                      <a:r>
                        <a:rPr sz="850" b="1">
                          <a:solidFill>
                            <a:srgbClr val="15171A"/>
                          </a:solidFill>
                          <a:latin typeface="Noto Sans KR"/>
                          <a:ea typeface="Noto Sans KR"/>
                          <a:cs typeface="Noto Sans KR"/>
                        </a:rPr>
                        <a:t>항목</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50" b="1">
                          <a:solidFill>
                            <a:srgbClr val="15171A"/>
                          </a:solidFill>
                          <a:latin typeface="Noto Sans KR"/>
                          <a:ea typeface="Noto Sans KR"/>
                          <a:cs typeface="Noto Sans KR"/>
                        </a:rPr>
                        <a:t>현재</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50" b="1">
                          <a:solidFill>
                            <a:srgbClr val="15171A"/>
                          </a:solidFill>
                          <a:latin typeface="Noto Sans KR"/>
                          <a:ea typeface="Noto Sans KR"/>
                          <a:cs typeface="Noto Sans KR"/>
                        </a:rPr>
                        <a:t>M24</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근거</a:t>
                      </a:r>
                    </a:p>
                  </a:txBody>
                  <a:tcPr marL="73152" marR="73152" marT="36576" marB="36576" anchor="t">
                    <a:lnL w="0">
                      <a:noFill/>
                    </a:lnL>
                    <a:lnR w="0">
                      <a:noFill/>
                    </a:lnR>
                    <a:lnT w="12700">
                      <a:solidFill>
                        <a:srgbClr val="15171A"/>
                      </a:solidFill>
                    </a:lnT>
                    <a:lnB w="9525">
                      <a:solidFill>
                        <a:srgbClr val="15171A"/>
                      </a:solidFill>
                    </a:lnB>
                    <a:noFill/>
                  </a:tcPr>
                </a:tc>
              </a:tr>
              <a:tr h="238607">
                <a:tc>
                  <a:txBody>
                    <a:bodyPr wrap="square"/>
                    <a:lstStyle/>
                    <a:p>
                      <a:pPr algn="l">
                        <a:lnSpc>
                          <a:spcPct val="100000"/>
                        </a:lnSpc>
                      </a:pPr>
                      <a:r>
                        <a:rPr sz="850" b="0">
                          <a:solidFill>
                            <a:srgbClr val="15171A"/>
                          </a:solidFill>
                          <a:latin typeface="Noto Sans KR"/>
                          <a:ea typeface="Noto Sans KR"/>
                          <a:cs typeface="Noto Sans KR"/>
                        </a:rPr>
                        <a:t>팀</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4</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Founder 정보 없음</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0">
                          <a:solidFill>
                            <a:srgbClr val="15171A"/>
                          </a:solidFill>
                          <a:latin typeface="Noto Sans KR"/>
                          <a:ea typeface="Noto Sans KR"/>
                          <a:cs typeface="Noto Sans KR"/>
                        </a:rPr>
                        <a:t>문제 · 고객 Pain</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4</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공식 통계 (가사노동 가치) 있음 · 정리 시간은 가정</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0">
                          <a:solidFill>
                            <a:srgbClr val="15171A"/>
                          </a:solidFill>
                          <a:latin typeface="Noto Sans KR"/>
                          <a:ea typeface="Noto Sans KR"/>
                          <a:cs typeface="Noto Sans KR"/>
                        </a:rPr>
                        <a:t>기술 · 차별성</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2</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4</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접근은 일관 · 측정값 없음 · 선행특허 다수</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0">
                          <a:solidFill>
                            <a:srgbClr val="15171A"/>
                          </a:solidFill>
                          <a:latin typeface="Noto Sans KR"/>
                          <a:ea typeface="Noto Sans KR"/>
                          <a:cs typeface="Noto Sans KR"/>
                        </a:rPr>
                        <a:t>시장</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4</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Bottom-up 산식 공개 · 비율은 가정</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0">
                          <a:solidFill>
                            <a:srgbClr val="15171A"/>
                          </a:solidFill>
                          <a:latin typeface="Noto Sans KR"/>
                          <a:ea typeface="Noto Sans KR"/>
                          <a:cs typeface="Noto Sans KR"/>
                        </a:rPr>
                        <a:t>BM · Unit Economics</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4</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구조 명확 · Hardware 마진 얇음 · 원가 가정</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0">
                          <a:solidFill>
                            <a:srgbClr val="15171A"/>
                          </a:solidFill>
                          <a:latin typeface="Noto Sans KR"/>
                          <a:ea typeface="Noto Sans KR"/>
                          <a:cs typeface="Noto Sans KR"/>
                        </a:rPr>
                        <a:t>경쟁 · IP</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2</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대기업 · Humanoid · 선행특허</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0">
                          <a:solidFill>
                            <a:srgbClr val="15171A"/>
                          </a:solidFill>
                          <a:latin typeface="Noto Sans KR"/>
                          <a:ea typeface="Noto Sans KR"/>
                          <a:cs typeface="Noto Sans KR"/>
                        </a:rPr>
                        <a:t>실행 계획</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4</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4</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WP · Gate · 중단 기준 구체</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0">
                          <a:solidFill>
                            <a:srgbClr val="15171A"/>
                          </a:solidFill>
                          <a:latin typeface="Noto Sans KR"/>
                          <a:ea typeface="Noto Sans KR"/>
                          <a:cs typeface="Noto Sans KR"/>
                        </a:rPr>
                        <a:t>자금 계획</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4</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4</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Bottom-up · TIPS 역할 분리</a:t>
                      </a:r>
                    </a:p>
                  </a:txBody>
                  <a:tcPr marL="73152" marR="73152" marT="36576" marB="36576" anchor="t">
                    <a:lnL w="0">
                      <a:noFill/>
                    </a:lnL>
                    <a:lnR w="0">
                      <a:noFill/>
                    </a:lnR>
                    <a:lnT w="0">
                      <a:noFill/>
                    </a:lnT>
                    <a:lnB w="9525">
                      <a:solidFill>
                        <a:srgbClr val="E2E4E7"/>
                      </a:solidFill>
                    </a:lnB>
                    <a:noFill/>
                  </a:tcPr>
                </a:tc>
              </a:tr>
            </a:tbl>
          </a:graphicData>
        </a:graphic>
      </p:graphicFrame>
      <p:sp>
        <p:nvSpPr>
          <p:cNvPr id="14" name="TextBox 13"/>
          <p:cNvSpPr txBox="1"/>
          <p:nvPr/>
        </p:nvSpPr>
        <p:spPr>
          <a:xfrm>
            <a:off x="8366760" y="1790567"/>
            <a:ext cx="3139135" cy="237744"/>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판단을 바꿀 Evidence (최대 5)</a:t>
            </a:r>
          </a:p>
        </p:txBody>
      </p:sp>
      <p:sp>
        <p:nvSpPr>
          <p:cNvPr id="15" name="Rectangle 14"/>
          <p:cNvSpPr/>
          <p:nvPr/>
        </p:nvSpPr>
        <p:spPr>
          <a:xfrm>
            <a:off x="8366760" y="2101463"/>
            <a:ext cx="3139135" cy="605231"/>
          </a:xfrm>
          <a:prstGeom prst="rect">
            <a:avLst/>
          </a:prstGeom>
          <a:solidFill>
            <a:srgbClr val="F4F5F6"/>
          </a:solidFill>
          <a:ln>
            <a:noFill/>
          </a:ln>
        </p:spPr>
        <p:txBody>
          <a:bodyPr rtlCol="0" anchor="ctr"/>
          <a:lstStyle/>
          <a:p>
            <a:pPr algn="ctr"/>
          </a:p>
        </p:txBody>
      </p:sp>
      <p:sp>
        <p:nvSpPr>
          <p:cNvPr id="16" name="TextBox 15"/>
          <p:cNvSpPr txBox="1"/>
          <p:nvPr/>
        </p:nvSpPr>
        <p:spPr>
          <a:xfrm>
            <a:off x="8476488" y="2156327"/>
            <a:ext cx="27432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1</a:t>
            </a:r>
          </a:p>
        </p:txBody>
      </p:sp>
      <p:sp>
        <p:nvSpPr>
          <p:cNvPr id="17" name="TextBox 16"/>
          <p:cNvSpPr txBox="1"/>
          <p:nvPr/>
        </p:nvSpPr>
        <p:spPr>
          <a:xfrm>
            <a:off x="8732520" y="2156327"/>
            <a:ext cx="2681935" cy="219456"/>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Founder · 핵심 팀</a:t>
            </a:r>
          </a:p>
        </p:txBody>
      </p:sp>
      <p:sp>
        <p:nvSpPr>
          <p:cNvPr id="18" name="TextBox 17"/>
          <p:cNvSpPr txBox="1"/>
          <p:nvPr/>
        </p:nvSpPr>
        <p:spPr>
          <a:xfrm>
            <a:off x="8732520" y="2375783"/>
            <a:ext cx="2681935" cy="312623"/>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로봇 조작 · Hand 개발 실적과 주방 · 건축 설치 실적을 가진 2인 이상 전업 Founding Team (지분 · 역할 확정)</a:t>
            </a:r>
          </a:p>
        </p:txBody>
      </p:sp>
      <p:sp>
        <p:nvSpPr>
          <p:cNvPr id="19" name="Rectangle 18"/>
          <p:cNvSpPr/>
          <p:nvPr/>
        </p:nvSpPr>
        <p:spPr>
          <a:xfrm>
            <a:off x="8366760" y="2779847"/>
            <a:ext cx="3139135" cy="605231"/>
          </a:xfrm>
          <a:prstGeom prst="rect">
            <a:avLst/>
          </a:prstGeom>
          <a:solidFill>
            <a:srgbClr val="F4F5F6"/>
          </a:solidFill>
          <a:ln>
            <a:noFill/>
          </a:ln>
        </p:spPr>
        <p:txBody>
          <a:bodyPr rtlCol="0" anchor="ctr"/>
          <a:lstStyle/>
          <a:p>
            <a:pPr algn="ctr"/>
          </a:p>
        </p:txBody>
      </p:sp>
      <p:sp>
        <p:nvSpPr>
          <p:cNvPr id="20" name="TextBox 19"/>
          <p:cNvSpPr txBox="1"/>
          <p:nvPr/>
        </p:nvSpPr>
        <p:spPr>
          <a:xfrm>
            <a:off x="8476488" y="2834711"/>
            <a:ext cx="27432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2</a:t>
            </a:r>
          </a:p>
        </p:txBody>
      </p:sp>
      <p:sp>
        <p:nvSpPr>
          <p:cNvPr id="21" name="TextBox 20"/>
          <p:cNvSpPr txBox="1"/>
          <p:nvPr/>
        </p:nvSpPr>
        <p:spPr>
          <a:xfrm>
            <a:off x="8732520" y="2834711"/>
            <a:ext cx="2681935" cy="219456"/>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기술 Baseline (M3 이내)</a:t>
            </a:r>
          </a:p>
        </p:txBody>
      </p:sp>
      <p:sp>
        <p:nvSpPr>
          <p:cNvPr id="22" name="TextBox 21"/>
          <p:cNvSpPr txBox="1"/>
          <p:nvPr/>
        </p:nvSpPr>
        <p:spPr>
          <a:xfrm>
            <a:off x="8732520" y="3054167"/>
            <a:ext cx="2681935" cy="312623"/>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상용 Arm + Gripper로 30종 식기 파지 · 식세기 적재 영상과 성공률 Data</a:t>
            </a:r>
          </a:p>
        </p:txBody>
      </p:sp>
      <p:sp>
        <p:nvSpPr>
          <p:cNvPr id="23" name="Rectangle 22"/>
          <p:cNvSpPr/>
          <p:nvPr/>
        </p:nvSpPr>
        <p:spPr>
          <a:xfrm>
            <a:off x="8366760" y="3458230"/>
            <a:ext cx="3139135" cy="605231"/>
          </a:xfrm>
          <a:prstGeom prst="rect">
            <a:avLst/>
          </a:prstGeom>
          <a:solidFill>
            <a:srgbClr val="F4F5F6"/>
          </a:solidFill>
          <a:ln>
            <a:noFill/>
          </a:ln>
        </p:spPr>
        <p:txBody>
          <a:bodyPr rtlCol="0" anchor="ctr"/>
          <a:lstStyle/>
          <a:p>
            <a:pPr algn="ctr"/>
          </a:p>
        </p:txBody>
      </p:sp>
      <p:sp>
        <p:nvSpPr>
          <p:cNvPr id="24" name="TextBox 23"/>
          <p:cNvSpPr txBox="1"/>
          <p:nvPr/>
        </p:nvSpPr>
        <p:spPr>
          <a:xfrm>
            <a:off x="8476488" y="3513094"/>
            <a:ext cx="27432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3</a:t>
            </a:r>
          </a:p>
        </p:txBody>
      </p:sp>
      <p:sp>
        <p:nvSpPr>
          <p:cNvPr id="25" name="TextBox 24"/>
          <p:cNvSpPr txBox="1"/>
          <p:nvPr/>
        </p:nvSpPr>
        <p:spPr>
          <a:xfrm>
            <a:off x="8732520" y="3513094"/>
            <a:ext cx="2681935" cy="219456"/>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고객 행동</a:t>
            </a:r>
          </a:p>
        </p:txBody>
      </p:sp>
      <p:sp>
        <p:nvSpPr>
          <p:cNvPr id="26" name="TextBox 25"/>
          <p:cNvSpPr txBox="1"/>
          <p:nvPr/>
        </p:nvSpPr>
        <p:spPr>
          <a:xfrm>
            <a:off x="8732520" y="3732550"/>
            <a:ext cx="2681935" cy="312623"/>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Premium 리모델링 고객 10세대 이상 예약금 또는 유료 실증 의향서 (가격 1,760~2,020만원 조건 명시)</a:t>
            </a:r>
          </a:p>
        </p:txBody>
      </p:sp>
      <p:sp>
        <p:nvSpPr>
          <p:cNvPr id="27" name="Rectangle 26"/>
          <p:cNvSpPr/>
          <p:nvPr/>
        </p:nvSpPr>
        <p:spPr>
          <a:xfrm>
            <a:off x="8366760" y="4136613"/>
            <a:ext cx="3139135" cy="605231"/>
          </a:xfrm>
          <a:prstGeom prst="rect">
            <a:avLst/>
          </a:prstGeom>
          <a:solidFill>
            <a:srgbClr val="F4F5F6"/>
          </a:solidFill>
          <a:ln>
            <a:noFill/>
          </a:ln>
        </p:spPr>
        <p:txBody>
          <a:bodyPr rtlCol="0" anchor="ctr"/>
          <a:lstStyle/>
          <a:p>
            <a:pPr algn="ctr"/>
          </a:p>
        </p:txBody>
      </p:sp>
      <p:sp>
        <p:nvSpPr>
          <p:cNvPr id="28" name="TextBox 27"/>
          <p:cNvSpPr txBox="1"/>
          <p:nvPr/>
        </p:nvSpPr>
        <p:spPr>
          <a:xfrm>
            <a:off x="8476488" y="4191477"/>
            <a:ext cx="27432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4</a:t>
            </a:r>
          </a:p>
        </p:txBody>
      </p:sp>
      <p:sp>
        <p:nvSpPr>
          <p:cNvPr id="29" name="TextBox 28"/>
          <p:cNvSpPr txBox="1"/>
          <p:nvPr/>
        </p:nvSpPr>
        <p:spPr>
          <a:xfrm>
            <a:off x="8732520" y="4191477"/>
            <a:ext cx="2681935" cy="219456"/>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설치 경제성</a:t>
            </a:r>
          </a:p>
        </p:txBody>
      </p:sp>
      <p:sp>
        <p:nvSpPr>
          <p:cNvPr id="30" name="TextBox 29"/>
          <p:cNvSpPr txBox="1"/>
          <p:nvPr/>
        </p:nvSpPr>
        <p:spPr>
          <a:xfrm>
            <a:off x="8732520" y="4410933"/>
            <a:ext cx="2681935" cy="312623"/>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서로 다른 주방 2종에서 Calibration · 설치 1일 이내 (목업 가능)</a:t>
            </a:r>
          </a:p>
        </p:txBody>
      </p:sp>
      <p:sp>
        <p:nvSpPr>
          <p:cNvPr id="31" name="Rectangle 30"/>
          <p:cNvSpPr/>
          <p:nvPr/>
        </p:nvSpPr>
        <p:spPr>
          <a:xfrm>
            <a:off x="8366760" y="4814996"/>
            <a:ext cx="3139135" cy="605231"/>
          </a:xfrm>
          <a:prstGeom prst="rect">
            <a:avLst/>
          </a:prstGeom>
          <a:solidFill>
            <a:srgbClr val="F4F5F6"/>
          </a:solidFill>
          <a:ln>
            <a:noFill/>
          </a:ln>
        </p:spPr>
        <p:txBody>
          <a:bodyPr rtlCol="0" anchor="ctr"/>
          <a:lstStyle/>
          <a:p>
            <a:pPr algn="ctr"/>
          </a:p>
        </p:txBody>
      </p:sp>
      <p:sp>
        <p:nvSpPr>
          <p:cNvPr id="32" name="TextBox 31"/>
          <p:cNvSpPr txBox="1"/>
          <p:nvPr/>
        </p:nvSpPr>
        <p:spPr>
          <a:xfrm>
            <a:off x="8476488" y="4869860"/>
            <a:ext cx="27432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5</a:t>
            </a:r>
          </a:p>
        </p:txBody>
      </p:sp>
      <p:sp>
        <p:nvSpPr>
          <p:cNvPr id="33" name="TextBox 32"/>
          <p:cNvSpPr txBox="1"/>
          <p:nvPr/>
        </p:nvSpPr>
        <p:spPr>
          <a:xfrm>
            <a:off x="8732520" y="4869860"/>
            <a:ext cx="2681935" cy="219456"/>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Partner</a:t>
            </a:r>
          </a:p>
        </p:txBody>
      </p:sp>
      <p:sp>
        <p:nvSpPr>
          <p:cNvPr id="34" name="TextBox 33"/>
          <p:cNvSpPr txBox="1"/>
          <p:nvPr/>
        </p:nvSpPr>
        <p:spPr>
          <a:xfrm>
            <a:off x="8732520" y="5089316"/>
            <a:ext cx="2681935" cy="312623"/>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리모델링 시공 Partner 1곳 + 렌탈 · 캐피탈 Partner 1곳의 조건부 협력 의사 (조건 명시)</a:t>
            </a:r>
          </a:p>
        </p:txBody>
      </p:sp>
      <p:sp>
        <p:nvSpPr>
          <p:cNvPr id="35" name="TextBox 3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36" name="TextBox 3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F1  ·  참고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Number Tag 원칙</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모든 주요 숫자와 미검증 내용을 Tag로 구분. 전체 입력 · Tag · 출처: xlsx Inputs 시트 · docs/08_Tag_Register.md</a:t>
            </a:r>
          </a:p>
        </p:txBody>
      </p:sp>
      <p:graphicFrame>
        <p:nvGraphicFramePr>
          <p:cNvPr id="5" name="Table 4"/>
          <p:cNvGraphicFramePr>
            <a:graphicFrameLocks noGrp="1"/>
          </p:cNvGraphicFramePr>
          <p:nvPr/>
        </p:nvGraphicFramePr>
        <p:xfrm>
          <a:off x="685800" y="1790567"/>
          <a:ext cx="10817352" cy="2422144"/>
        </p:xfrm>
        <a:graphic>
          <a:graphicData uri="http://schemas.openxmlformats.org/drawingml/2006/table">
            <a:tbl>
              <a:tblPr firstRow="0" bandRow="0">
                <a:tableStyleId>{2D5ABB26-0587-4C30-8999-92F81FD0307C}</a:tableStyleId>
              </a:tblPr>
              <a:tblGrid>
                <a:gridCol w="1325880"/>
                <a:gridCol w="2743200"/>
                <a:gridCol w="5120640"/>
                <a:gridCol w="1627632"/>
              </a:tblGrid>
              <a:tr h="302768">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정의</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대표 예시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적용</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공식 통계 · 공개자료로 확인된 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총주택 2,018만호 · 가사노동 가치 582.4조원 · TIPS 8억원 · Robotiq 2F-85 약 $5,825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17개 입력</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FACT 또는 가정으로 계산한 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아파트 약 1,328만호 · 1세대 5년 Contribution · Seed 범위 · 인시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계산 전부</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현재 사업가설 (검증 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ASP 1,490만원 · BOM · Rental 월 33만원 · Premium 10% · 적용률 60%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83개 입력</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24개월 · 이후 목표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가정 실증 ≥ 90% · Calibration ≤ 4시간 · 출원 5건 · 설치 물량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5개 입력 + KPI</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실물 없는 설계 개념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Adaptive Hand 렌더 · Robot Home · 주방 3D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그림 · 도식</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검증 방법이 정해진 미확인 사실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식세기 보급률 · 인증 적용 범위 · Founder 정보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각주</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900" b="1">
                          <a:solidFill>
                            <a:srgbClr val="8C9198"/>
                          </a:solidFill>
                          <a:latin typeface="Noto Sans KR"/>
                          <a:ea typeface="Noto Sans KR"/>
                          <a:cs typeface="Noto Sans KR"/>
                        </a:rPr>
                        <a:t>FUTURE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현재 없는 제품 · 기능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COOK · Robot Upgrade · Tool 확장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Roadmap</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359015"/>
            <a:ext cx="10820095" cy="421741"/>
          </a:xfrm>
          <a:prstGeom prst="rect">
            <a:avLst/>
          </a:prstGeom>
          <a:solidFill>
            <a:srgbClr val="F4F5F6"/>
          </a:solidFill>
          <a:ln>
            <a:noFill/>
          </a:ln>
        </p:spPr>
        <p:txBody>
          <a:bodyPr rtlCol="0" anchor="ctr"/>
          <a:lstStyle/>
          <a:p>
            <a:pPr algn="ctr"/>
          </a:p>
        </p:txBody>
      </p:sp>
      <p:sp>
        <p:nvSpPr>
          <p:cNvPr id="7" name="Rectangle 6"/>
          <p:cNvSpPr/>
          <p:nvPr/>
        </p:nvSpPr>
        <p:spPr>
          <a:xfrm>
            <a:off x="685800" y="4359015"/>
            <a:ext cx="54864" cy="421741"/>
          </a:xfrm>
          <a:prstGeom prst="rect">
            <a:avLst/>
          </a:prstGeom>
          <a:solidFill>
            <a:srgbClr val="E2571B"/>
          </a:solidFill>
          <a:ln>
            <a:noFill/>
          </a:ln>
        </p:spPr>
        <p:txBody>
          <a:bodyPr rtlCol="0" anchor="ctr"/>
          <a:lstStyle/>
          <a:p>
            <a:pPr algn="ctr"/>
          </a:p>
        </p:txBody>
      </p:sp>
      <p:sp>
        <p:nvSpPr>
          <p:cNvPr id="8" name="TextBox 7"/>
          <p:cNvSpPr txBox="1"/>
          <p:nvPr/>
        </p:nvSpPr>
        <p:spPr>
          <a:xfrm>
            <a:off x="886968" y="4359015"/>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금지: 가상 고객 · 계약 · LOI · Partner · 매출 · 근거 없는 점유율 · "최초" · 근거 없는 ROI · 비용절감률 · 성능 · 특허 등록 확정 표현</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F2  ·  참고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Sources (1/4)</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조회일 2026-10-07~08 · 검색 결과 · 보도 인용 기준. 외부 제출 전 원문 대조 필요.</a:t>
            </a:r>
          </a:p>
        </p:txBody>
      </p:sp>
      <p:graphicFrame>
        <p:nvGraphicFramePr>
          <p:cNvPr id="5" name="Table 4"/>
          <p:cNvGraphicFramePr>
            <a:graphicFrameLocks noGrp="1"/>
          </p:cNvGraphicFramePr>
          <p:nvPr/>
        </p:nvGraphicFramePr>
        <p:xfrm>
          <a:off x="685800" y="1790567"/>
          <a:ext cx="10817352" cy="3548601"/>
        </p:xfrm>
        <a:graphic>
          <a:graphicData uri="http://schemas.openxmlformats.org/drawingml/2006/table">
            <a:tbl>
              <a:tblPr firstRow="0" bandRow="0">
                <a:tableStyleId>{2D5ABB26-0587-4C30-8999-92F81FD0307C}</a:tableStyleId>
              </a:tblPr>
              <a:tblGrid>
                <a:gridCol w="502920"/>
                <a:gridCol w="2377440"/>
                <a:gridCol w="4480560"/>
                <a:gridCol w="3456432"/>
              </a:tblGrid>
              <a:tr h="187269">
                <a:tc>
                  <a:txBody>
                    <a:bodyPr wrap="square"/>
                    <a:lstStyle/>
                    <a:p>
                      <a:pPr algn="l">
                        <a:lnSpc>
                          <a:spcPct val="100000"/>
                        </a:lnSpc>
                      </a:pPr>
                      <a:r>
                        <a:rPr sz="720" b="1">
                          <a:solidFill>
                            <a:srgbClr val="15171A"/>
                          </a:solidFill>
                          <a:latin typeface="Noto Sans KR"/>
                          <a:ea typeface="Noto Sans KR"/>
                          <a:cs typeface="Noto Sans KR"/>
                        </a:rPr>
                        <a:t>ID</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항목</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값</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대표 URL (전체: docs/07)</a:t>
                      </a:r>
                    </a:p>
                  </a:txBody>
                  <a:tcPr marL="73152" marR="73152" marT="22860" marB="22860" anchor="t">
                    <a:lnL w="0">
                      <a:noFill/>
                    </a:lnL>
                    <a:lnR w="0">
                      <a:noFill/>
                    </a:lnR>
                    <a:lnT w="12700">
                      <a:solidFill>
                        <a:srgbClr val="15171A"/>
                      </a:solidFill>
                    </a:lnT>
                    <a:lnB w="9525">
                      <a:solidFill>
                        <a:srgbClr val="15171A"/>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S1</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총주택 / 아파트 비중 / 준공 20년·30년 이상 비중 / 미거주 주택</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2,018.1만호 / 65.8% / 56.0%·30.6% / 172.2만호</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국가데이터처, 2025 인구주택총조사 결과 (2026.7.28 발표) — 보도: https://www.newsis.com/view/NISX20260728_000372610</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S2</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아파트 수 / 준공 20년 이상 아파트 (2023)</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1,263만호 / 639만호 (50.7%)</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통계청 주택총조사 인용 보도: https://www.smarttoday.co.kr/ko-kr/articles/49322</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S3</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2025 주택 준공 / 인허가 / 착공 / 공동주택 분양</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34만2,399호 (−17.8%) / 37만9,834호 / 27만2,685호 (−10.1%) / 19만8,373호 (−14.1%)</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국토교통부, '25년 12월 주택통계 (2026.1.30): https://www.korea.kr/briefing/pressReleaseView.do?newsId=1567</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S4</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아파트 인허가 (2025)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34만6,773가구 (2024: 39만7,904)</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국토교통부 주택통계 인용 보도: https://www.newsis.com/view/NISX20260129_0003495426</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아파트 입주 물량</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2025 23만6,263가구 / 2026 예정 18만3,124가구</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https://v.daum.net/v/GCidIvCEQs</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S6</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주택 매매거래 (2025)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72.6만호 (+13%, 10년 평균 88.5만호)</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KB주택시장리뷰 2026년 2월호: https://kbthink.com/realestate/insights/research/260213-3.html</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S7</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국내 리모델링 시장 전망 (건축물 전체, 비주거 포함)</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2025년 37조원 → 2030년 44조원 (리모델링 23.3조 + 유지보수 13.8조, 2025)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https://m.ekn.kr/view.php?key=523568</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S8</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한샘 리하우스 스타일패키지 (전체 리모델링)</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30평대 평당 100만원대 → 약 3,000만원</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https://www.dailian.co.kr/news/view/1008108/</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S9</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프리미엄 Kitchen 동향 (한샘 키친바흐·빌트인 가전 연계)</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국내 프리미엄 키친 시장 약 90%가 수입·고가 맞춤 / 키친바흐 매출 +17% (2025.6 기준) / 밀레 연계 부엌 매출 +173% (2024 대비)</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https://www.heraldk.com/article/2025072318143590645</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S10</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한샘 리하우스 부문 매출</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2025 1Q 1,147억원 (−4.3%)</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https://newstomato.com/ReadNews.aspx?no=1284742</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S11</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신축 유상옵션 비용 비중</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분양가상한제 단지 7곳 평균 분양가 대비 9.7%</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https://www.etoday.co.kr/news/view/2392578</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S12</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코웨이 실적 · 렌탈 계정 (가전 Rental · 방문관리 사례)</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2024 매출 4조3,101억원 · 국내 계정 671만 / 2025 매출 4조9,636억원 · 영업이익 8,787억원 / 2026 1Q 국내 계정 748만 (전체 1,173만)</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https://news.bizwatch.co.kr/article/consumer/2025/02/14/0029</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S13</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가전 A/S 출장비 (소비자 부과분)</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삼성전자서비스 평절기 기본 2.8만원 (2026.1.8~) / LG전자 평절기 평일 주간 2.8만원</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https://biz.sbs.co.kr/amp/article/20000282569</a:t>
                      </a:r>
                    </a:p>
                  </a:txBody>
                  <a:tcPr marL="73152" marR="73152" marT="22860" marB="22860"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F3  ·  참고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Sources (2/4)</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조회일 2026-10-07~08 · 검색 결과 · 보도 인용 기준. 외부 제출 전 원문 대조 필요.</a:t>
            </a:r>
          </a:p>
        </p:txBody>
      </p:sp>
      <p:graphicFrame>
        <p:nvGraphicFramePr>
          <p:cNvPr id="5" name="Table 4"/>
          <p:cNvGraphicFramePr>
            <a:graphicFrameLocks noGrp="1"/>
          </p:cNvGraphicFramePr>
          <p:nvPr/>
        </p:nvGraphicFramePr>
        <p:xfrm>
          <a:off x="685800" y="1790567"/>
          <a:ext cx="10817352" cy="3813411"/>
        </p:xfrm>
        <a:graphic>
          <a:graphicData uri="http://schemas.openxmlformats.org/drawingml/2006/table">
            <a:tbl>
              <a:tblPr firstRow="0" bandRow="0">
                <a:tableStyleId>{2D5ABB26-0587-4C30-8999-92F81FD0307C}</a:tableStyleId>
              </a:tblPr>
              <a:tblGrid>
                <a:gridCol w="502920"/>
                <a:gridCol w="2377440"/>
                <a:gridCol w="4480560"/>
                <a:gridCol w="3456432"/>
              </a:tblGrid>
              <a:tr h="187269">
                <a:tc>
                  <a:txBody>
                    <a:bodyPr wrap="square"/>
                    <a:lstStyle/>
                    <a:p>
                      <a:pPr algn="l">
                        <a:lnSpc>
                          <a:spcPct val="100000"/>
                        </a:lnSpc>
                      </a:pPr>
                      <a:r>
                        <a:rPr sz="720" b="1">
                          <a:solidFill>
                            <a:srgbClr val="15171A"/>
                          </a:solidFill>
                          <a:latin typeface="Noto Sans KR"/>
                          <a:ea typeface="Noto Sans KR"/>
                          <a:cs typeface="Noto Sans KR"/>
                        </a:rPr>
                        <a:t>ID</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항목</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값</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대표 URL (전체: docs/07)</a:t>
                      </a:r>
                    </a:p>
                  </a:txBody>
                  <a:tcPr marL="73152" marR="73152" marT="22860" marB="22860" anchor="t">
                    <a:lnL w="0">
                      <a:noFill/>
                    </a:lnL>
                    <a:lnR w="0">
                      <a:noFill/>
                    </a:lnR>
                    <a:lnT w="12700">
                      <a:solidFill>
                        <a:srgbClr val="15171A"/>
                      </a:solidFill>
                    </a:lnT>
                    <a:lnB w="9525">
                      <a:solidFill>
                        <a:srgbClr val="15171A"/>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S14</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가사서비스 요금</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플랫폼 4시간 59,900~64,900원 (약 1.5~1.6만원/h) / 2026 최저임금 10,320원</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https://apps.apple.com/pl/app/id997730211</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S15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협동로봇 가격 (Arm + Controller)</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UR3e $23k~33k (공식 정가 미공개, 유통가) / Doosan E0509 약 $22k / UFACTORY xArm 6 $8,399 / FAIRINO FR5 $6,999 / UFACTORY Lite 6 Kit $4,482 (가반 0.6kg)</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https://standardbots.com/blog/universal-robot-price</a:t>
                      </a:r>
                    </a:p>
                  </a:txBody>
                  <a:tcPr marL="73152" marR="73152" marT="22860" marB="22860" anchor="t">
                    <a:lnL w="0">
                      <a:noFill/>
                    </a:lnL>
                    <a:lnR w="0">
                      <a:noFill/>
                    </a:lnR>
                    <a:lnT w="0">
                      <a:noFill/>
                    </a:lnT>
                    <a:lnB w="9525">
                      <a:solidFill>
                        <a:srgbClr val="E2E4E7"/>
                      </a:solidFill>
                    </a:lnB>
                    <a:noFill/>
                  </a:tcPr>
                </a:tc>
              </a:tr>
              <a:tr h="452079">
                <a:tc>
                  <a:txBody>
                    <a:bodyPr wrap="square"/>
                    <a:lstStyle/>
                    <a:p>
                      <a:pPr algn="l">
                        <a:lnSpc>
                          <a:spcPct val="100000"/>
                        </a:lnSpc>
                      </a:pPr>
                      <a:r>
                        <a:rPr sz="720" b="1">
                          <a:solidFill>
                            <a:srgbClr val="15171A"/>
                          </a:solidFill>
                          <a:latin typeface="Noto Sans KR"/>
                          <a:ea typeface="Noto Sans KR"/>
                          <a:cs typeface="Noto Sans KR"/>
                        </a:rPr>
                        <a:t>S16</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Gripper / Fingertip / Food-grade Suction Cup</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Robotiq 2F-85 $4,999~ / OnRobot RG2 약 $3,200 / Robotiq Fingertip $175~195 / Piab Food-grade Silicone Cup £7~20 (FDA 21 CFR 177.2600) / 2026 판매가 2F-85 약 $5,825 (미국 리셀러, Coupling · Fingertip 포함)</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https://qviro.com/product/robotiq/2f-85-robotiq/</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S17</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Depth Camera</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Intel RealSense D405 $514 / D435 $538 / Orbbec Gemini 335 $384~400</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https://openelab.com/collections/robotic-camera</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S18</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Linear Module (소형)</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HIWIN KK 계열 $73~245 (소형 모듈, Robot 7축 Rail과 다름)</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https://qviro.com/product/hiwin/electric-linear-axis-kk-series</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S19</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1X NEO (가정용 Humanoid)</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$20,000 구매 또는 월 $499 구독. 첫 가정 배송 목표 2026년 말 (2026.10 기준 고객 배송 완료 확인 안 됨)</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https://www.fastcompany.com/91428202/1x-technologies-home-robot-neo</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S20</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Sunday Robotics Memo</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식세기 적재 · 테이블 정리 시연 (회사 발표, 낯선 Airbnb 6곳 시연 보도) · Beta 2026년 말 (회사 웹사이트) · 양산 시 $10k 미만 목표</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https://euronews.com/next/2025/11/25/meet-memo-a-home-robot-that-can-grab-wine-glasses-and-load</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S21</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LG CLOiD</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CES 2026 공개 · 식세기 비우기 등 시연 · 2026 현장 실증 → 가정용 상용화 2028 목표 (회사 언급 보도) · 팔 작업 범위 무릎 높이 이상 (보도) · 판매가 미공개</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https://www.dezeen.com/2026/01/06/lg-ai-powered-robot-ces-2026/</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S22</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Samsung (가정용 로봇 · 주방)</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Bot Handy: CES 2021 공개 Concept (식기 이동 시연), 출시 일정 미공개 / CES · IFA 2026 주방 전시는 AI 가전 중심, 식기 로봇 출시 확인 안 됨</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https://www.sammobile.com/news/meet-samsung-new-ai-powered-household-robots-ces-2021/</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S23</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Moley Robotic Kitchen</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Arm 포함 £248,000 / Arm 제외 £128,000~140,000 (천장 Rail 양팔)</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https://thespoon.tech/moleys-robotic-kitchen-goes-on-sale/</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S24</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Posha (Countertop Cooking Robot)</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$1,750 (선주문 $1,500) + 월 $15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https://techcrunch.com/2025/05/06/meet-posha-a-countertop-robot-that-cooks-your-meals-for-you</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S25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Tesla Optimus / Figure 03</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Optimus 소비자 목표가 $20k~30k (양산 시, 2027 전후) / Figure 03 가사 시연, 가격 미공개</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https://www.notebookcheck.net/Optimus-as-a-household-helper-Elon-Musk-plans-to-bring-Tesla-robo</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S26</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IFR World Robotics 2025 — Service Robots</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소비자용 서비스로봇 약 2,000만대 (2024, +11%, 대부분 청소·잔디) / 전문 서비스로봇 약 20만대 (+9%)</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https://ifr.org/ifr-press-releases/news/service-robots-see-global-growth-boom</a:t>
                      </a:r>
                    </a:p>
                  </a:txBody>
                  <a:tcPr marL="73152" marR="73152" marT="22860" marB="22860"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F4  ·  참고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Sources (3/4)</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조회일 2026-10-07~08 · 검색 결과 · 보도 인용 기준. 외부 제출 전 원문 대조 필요.</a:t>
            </a:r>
          </a:p>
        </p:txBody>
      </p:sp>
      <p:graphicFrame>
        <p:nvGraphicFramePr>
          <p:cNvPr id="5" name="Table 4"/>
          <p:cNvGraphicFramePr>
            <a:graphicFrameLocks noGrp="1"/>
          </p:cNvGraphicFramePr>
          <p:nvPr/>
        </p:nvGraphicFramePr>
        <p:xfrm>
          <a:off x="685800" y="1790567"/>
          <a:ext cx="10817352" cy="3416196"/>
        </p:xfrm>
        <a:graphic>
          <a:graphicData uri="http://schemas.openxmlformats.org/drawingml/2006/table">
            <a:tbl>
              <a:tblPr firstRow="0" bandRow="0">
                <a:tableStyleId>{2D5ABB26-0587-4C30-8999-92F81FD0307C}</a:tableStyleId>
              </a:tblPr>
              <a:tblGrid>
                <a:gridCol w="502920"/>
                <a:gridCol w="2377440"/>
                <a:gridCol w="4480560"/>
                <a:gridCol w="3456432"/>
              </a:tblGrid>
              <a:tr h="187269">
                <a:tc>
                  <a:txBody>
                    <a:bodyPr wrap="square"/>
                    <a:lstStyle/>
                    <a:p>
                      <a:pPr algn="l">
                        <a:lnSpc>
                          <a:spcPct val="100000"/>
                        </a:lnSpc>
                      </a:pPr>
                      <a:r>
                        <a:rPr sz="720" b="1">
                          <a:solidFill>
                            <a:srgbClr val="15171A"/>
                          </a:solidFill>
                          <a:latin typeface="Noto Sans KR"/>
                          <a:ea typeface="Noto Sans KR"/>
                          <a:cs typeface="Noto Sans KR"/>
                        </a:rPr>
                        <a:t>ID</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항목</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값</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대표 URL (전체: docs/07)</a:t>
                      </a:r>
                    </a:p>
                  </a:txBody>
                  <a:tcPr marL="73152" marR="73152" marT="22860" marB="22860" anchor="t">
                    <a:lnL w="0">
                      <a:noFill/>
                    </a:lnL>
                    <a:lnR w="0">
                      <a:noFill/>
                    </a:lnR>
                    <a:lnT w="12700">
                      <a:solidFill>
                        <a:srgbClr val="15171A"/>
                      </a:solidFill>
                    </a:lnT>
                    <a:lnB w="9525">
                      <a:solidFill>
                        <a:srgbClr val="15171A"/>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S27</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Robot Density (IFR World Robotics 2024)</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한국 제조업 근로자 1만명당 1,012대 (세계 1위, 2023)</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https://www.koreaherald.com/article/10011543</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S28</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ISO 10218-1/-2:2025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2025.2 발행. ISO/TS 15066 (PFL·SSM) 요구사항을 본문에 통합, 기능안전·Cybersecurity 강화</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https://www.sick.com/kr/ko/w/blog-robotic-norm-iso10218</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S29</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TIPS 2026</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일반 TIPS R&amp;D 최대 8억원·24개월 / 딥테크 TIPS 최대 15억원·36개월 (요건 별도)</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https://www.unicornfactory.co.kr/article/2026012511000214016</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S30</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식기세척기 보급률</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2019~2020 업계 추정 10%대 초반 (최신 공식 통계 확인 안 됨 → TO BE VALIDATED)</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https://www.etoday.co.kr/news/view/1789343</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S31</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ISO 13482 (Personal Care Robot) 국내 인증 사례</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유진로봇 GoCart, 국내 첫 ISO 13482 인증 AMR</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https://yujinrobot.com/blog/yujin-robots-gocart-becomes-koreas-first-iso-13482-safety-certified</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S32</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가정용 로봇 인증 동향</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반려로봇 KS 인증 도입 (2026.4, 정부)</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https://news.mtn.co.kr/news-detail/2026042014042480949</a:t>
                      </a:r>
                    </a:p>
                  </a:txBody>
                  <a:tcPr marL="73152" marR="73152" marT="22860" marB="22860" anchor="t">
                    <a:lnL w="0">
                      <a:noFill/>
                    </a:lnL>
                    <a:lnR w="0">
                      <a:noFill/>
                    </a:lnR>
                    <a:lnT w="0">
                      <a:noFill/>
                    </a:lnT>
                    <a:lnB w="9525">
                      <a:solidFill>
                        <a:srgbClr val="E2E4E7"/>
                      </a:solidFill>
                    </a:lnB>
                    <a:noFill/>
                  </a:tcPr>
                </a:tc>
              </a:tr>
              <a:tr h="452079">
                <a:tc>
                  <a:txBody>
                    <a:bodyPr wrap="square"/>
                    <a:lstStyle/>
                    <a:p>
                      <a:pPr algn="l">
                        <a:lnSpc>
                          <a:spcPct val="100000"/>
                        </a:lnSpc>
                      </a:pPr>
                      <a:r>
                        <a:rPr sz="720" b="1">
                          <a:solidFill>
                            <a:srgbClr val="15171A"/>
                          </a:solidFill>
                          <a:latin typeface="Noto Sans KR"/>
                          <a:ea typeface="Noto Sans KR"/>
                          <a:cs typeface="Noto Sans KR"/>
                        </a:rPr>
                        <a:t>S33</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2026 TIPS 일반트랙 규정 (R&amp;D)</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정부지원 최대 8억원 · 24개월 · 정부 75% 이내 / 기관부담 25% 이상 (그중 현금 10% 이상) · 운영사 투자 수도권 2억원 이상 · 비수도권 1억원 이상 · 대표 포함 창업팀 2인 이상 지분 60% 이상 · 운영사 30% 이하 · 정부지원 5억원당 청년 1명 신규 채용 · 업력 7년 이내 (신산업 10년) · 분기별 접수 연 3회 (IRIS)</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https://www.kakao.vc/blog/2026-tips-what-changed</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S34</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2026 TIPS 비R&amp;D 연계 (창업사업화 · 해외마케팅)</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각 10개월 최대 1.5억원, 합산 3억원 · 정부 70% 이내 (기업 30% 이상: 현금 10% 이상 · 현물 20% 이하)</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https://app.rndcircle.io/gov-grant/4a69b298-641c-445a-9dac-66cf5dd0ee72</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S35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TIPS 일반트랙 선정평가 배점 (비공식)</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기술성 40 · 사업성 40 (글로벌 성장 가능성 포함) · 사업수행 역량 20 (창업기업 전문성 · 운영사 지원계획) / 2026 가점 최대 5점</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https://www.pinepat.com/ko/insights/columns/tips-application-guide</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S36</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식기세척기 적재 연구 (Voysey · Thuruthel · Iida)</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트레이 25개 실험에서 식기 58.7% 정리 (one-shot, preprint 기준) · 비교 대회 시스템 49~79%</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https://onlinelibrary.wiley.com/doi/10.1002/eng2.12321</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S37</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Dobb-E (가정 조작 학습)</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뉴욕 10가구 · 단순 가사 과제 109종 · 과제당 10회 평균 성공률 81%</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https://arxiv.org/abs/2311.16098</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S38</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TidyBot · π0.5 (가정 정리)</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TidyBot 실물 정리 85% (배치 기준, 2023) · π0.5 처음 보는 가정 주방 · 침실 정리, 부분 점수 기준 자체 보고 (2025)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https://arxiv.org/abs/2305.05658</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S39</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협동로봇 안전 기준 값</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ISO 10218-2:2025 감속 기능 접근 가능한 가동부 250mm/s 이하 · 부속서 M (구 ISO/TS 15066) 손 · 손가락 준정적 접촉력 140N</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https://blog.robotiq.com/compliance-of-the-hand-e-gripper-with-iso-10218-22025</a:t>
                      </a:r>
                    </a:p>
                  </a:txBody>
                  <a:tcPr marL="73152" marR="73152" marT="22860" marB="22860"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F5  ·  참고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Sources (4/4)</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조회일 2026-10-07~08 · 검색 결과 · 보도 인용 기준. 외부 제출 전 원문 대조 필요.</a:t>
            </a:r>
          </a:p>
        </p:txBody>
      </p:sp>
      <p:graphicFrame>
        <p:nvGraphicFramePr>
          <p:cNvPr id="5" name="Table 4"/>
          <p:cNvGraphicFramePr>
            <a:graphicFrameLocks noGrp="1"/>
          </p:cNvGraphicFramePr>
          <p:nvPr/>
        </p:nvGraphicFramePr>
        <p:xfrm>
          <a:off x="685800" y="1790567"/>
          <a:ext cx="10817352" cy="4078221"/>
        </p:xfrm>
        <a:graphic>
          <a:graphicData uri="http://schemas.openxmlformats.org/drawingml/2006/table">
            <a:tbl>
              <a:tblPr firstRow="0" bandRow="0">
                <a:tableStyleId>{2D5ABB26-0587-4C30-8999-92F81FD0307C}</a:tableStyleId>
              </a:tblPr>
              <a:tblGrid>
                <a:gridCol w="502920"/>
                <a:gridCol w="2377440"/>
                <a:gridCol w="4480560"/>
                <a:gridCol w="3456432"/>
              </a:tblGrid>
              <a:tr h="187269">
                <a:tc>
                  <a:txBody>
                    <a:bodyPr wrap="square"/>
                    <a:lstStyle/>
                    <a:p>
                      <a:pPr algn="l">
                        <a:lnSpc>
                          <a:spcPct val="100000"/>
                        </a:lnSpc>
                      </a:pPr>
                      <a:r>
                        <a:rPr sz="720" b="1">
                          <a:solidFill>
                            <a:srgbClr val="15171A"/>
                          </a:solidFill>
                          <a:latin typeface="Noto Sans KR"/>
                          <a:ea typeface="Noto Sans KR"/>
                          <a:cs typeface="Noto Sans KR"/>
                        </a:rPr>
                        <a:t>ID</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항목</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값</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720" b="1">
                          <a:solidFill>
                            <a:srgbClr val="15171A"/>
                          </a:solidFill>
                          <a:latin typeface="Noto Sans KR"/>
                          <a:ea typeface="Noto Sans KR"/>
                          <a:cs typeface="Noto Sans KR"/>
                        </a:rPr>
                        <a:t>대표 URL (전체: docs/07)</a:t>
                      </a:r>
                    </a:p>
                  </a:txBody>
                  <a:tcPr marL="73152" marR="73152" marT="22860" marB="22860" anchor="t">
                    <a:lnL w="0">
                      <a:noFill/>
                    </a:lnL>
                    <a:lnR w="0">
                      <a:noFill/>
                    </a:lnR>
                    <a:lnT w="12700">
                      <a:solidFill>
                        <a:srgbClr val="15171A"/>
                      </a:solidFill>
                    </a:lnT>
                    <a:lnB w="9525">
                      <a:solidFill>
                        <a:srgbClr val="15171A"/>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S40</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무급 가사노동 가치 (2024 가계생산 위성계정)</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582.4조원 (GDP 약 22%) · 그중 가정관리 (음식 준비 · 청소 등) 459.5조원 (78.9%) · 1인당 하루 가사노동 132분 (2019 137분)</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https://biz.sbs.co.kr/amp/article/20000307502</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S41</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가전 구독 · Care 사례 (LG전자)</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2025 구독 매출 2조원 이상 (4Q 실적 발표) · 케어매니저 약 4,000명 · LH 공공주택 5,400여 세대 구독형 가전 + 6년 정기관리 · 압구정 재건축 빌트인 가전 + Care 구독 선택지 (조합원 약 7,000세대)</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https://files-scs.pstatic.net/2026/01/30/SgKPKOCyxu/2025.4Q%20Earnings%20Release%20of%20LGE_KR.</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S42</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Robot Hand Benchmark (상용)</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Robotiq 2F-85 약 $5,825 (2026 판매가) · Inspire RH56 계열 $4,500~9,899 (판매가) · Inspire RH56E2 엄지 파지력 30N</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https://www.roboticscenter.ai/ko/blog/robotiq-gripper-guide</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S43</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식품 직접 접촉용 Finger Gripper (상용)</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Schmalz OFG: 실리콘 파지부 · IP68 · 최대 80°C · 마모부품 Kit 별도</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https://www.schmalz.com/en/vacuum-technology-for-automation/vacuum-components/area-gripping-sys</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S44</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미끄럼 감지 연구 (촉각 센서)</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GelSight Mini 기반 실시간 미끄럼 감지, 일상 물체 10종 평균 정확도 99% (실험실) · 센서 가격 비공개 (견적)</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https://arxiv.org/abs/2303.00935</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S45</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Figure Helix 식기세척기 시연</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2025.9 식세기 적재 시연 · 2026.1 Helix 02 식세기 인출 → 수납 → 적재 약 4분 연속 (회사 발표, 독립 검증 없음)</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https://futurism.com/future-society/figure-robot-loading-dishwasher</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S46</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Physical Intelligence openpi (공개 모델)</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π0 · π0-FAST · π0.5 코드 · 가중치 공개 (2025.2~), 테이블 정리 등 Fine-tune 예시</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https://github.com/Physical-Intelligence/openpi</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S47</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가정용 로봇 안전 표준 동향</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IEC 63682 (구 IEC 60335-2-123) Robots for household and similar use — Safety: 2026 CDV 단계 (독일 의견수렴 2026.5.15~7.15) · ISO 13482 개정 FDIS (2025.7)</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https://www.vde-verlag.de/standards/1701976/e-din-iec-63682-vde-0700-123-2026-06.html</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S48</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식품 접촉 부품 규정</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식품위생법상 "기구" (식품에 직접 닿는 기계 · 기구) · 「기구 및 용기 · 포장의 기준 및 규격」 (식약처 고시) 고무제 (실리콘) 재질 · 용출 규격</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https://www.mfds.go.kr/brd/m_207/view.do?seq=14529</a:t>
                      </a:r>
                    </a:p>
                  </a:txBody>
                  <a:tcPr marL="73152" marR="73152" marT="22860" marB="22860" anchor="t">
                    <a:lnL w="0">
                      <a:noFill/>
                    </a:lnL>
                    <a:lnR w="0">
                      <a:noFill/>
                    </a:lnR>
                    <a:lnT w="0">
                      <a:noFill/>
                    </a:lnT>
                    <a:lnB w="9525">
                      <a:solidFill>
                        <a:srgbClr val="E2E4E7"/>
                      </a:solidFill>
                    </a:lnB>
                    <a:noFill/>
                  </a:tcPr>
                </a:tc>
              </a:tr>
              <a:tr h="452079">
                <a:tc>
                  <a:txBody>
                    <a:bodyPr wrap="square"/>
                    <a:lstStyle/>
                    <a:p>
                      <a:pPr algn="l">
                        <a:lnSpc>
                          <a:spcPct val="100000"/>
                        </a:lnSpc>
                      </a:pPr>
                      <a:r>
                        <a:rPr sz="720" b="1">
                          <a:solidFill>
                            <a:srgbClr val="15171A"/>
                          </a:solidFill>
                          <a:latin typeface="Noto Sans KR"/>
                          <a:ea typeface="Noto Sans KR"/>
                          <a:cs typeface="Noto Sans KR"/>
                        </a:rPr>
                        <a:t>S49</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선행기술 — 식기 조작 로봇</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US 11,731,282 (Dishcare, 쌓인 식기 사이에 넣는 Tapered Finger · 수납 Module 통합) · US 10,507,584 (Dishcraft, 식기 인식 · 랙 적재) · WO 2018/031489 (Dishcraft, 자성 식기 Gripper) · US 2023/0165427 (가정용 식세기 맞춤 Routine)</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https://patents.justia.com/patent/11731282</a:t>
                      </a:r>
                    </a:p>
                  </a:txBody>
                  <a:tcPr marL="73152" marR="73152" marT="22860" marB="22860" anchor="t">
                    <a:lnL w="0">
                      <a:noFill/>
                    </a:lnL>
                    <a:lnR w="0">
                      <a:noFill/>
                    </a:lnR>
                    <a:lnT w="0">
                      <a:noFill/>
                    </a:lnT>
                    <a:lnB w="9525">
                      <a:solidFill>
                        <a:srgbClr val="E2E4E7"/>
                      </a:solidFill>
                    </a:lnB>
                    <a:noFill/>
                  </a:tcPr>
                </a:tc>
              </a:tr>
              <a:tr h="452079">
                <a:tc>
                  <a:txBody>
                    <a:bodyPr wrap="square"/>
                    <a:lstStyle/>
                    <a:p>
                      <a:pPr algn="l">
                        <a:lnSpc>
                          <a:spcPct val="100000"/>
                        </a:lnSpc>
                      </a:pPr>
                      <a:r>
                        <a:rPr sz="720" b="1">
                          <a:solidFill>
                            <a:srgbClr val="15171A"/>
                          </a:solidFill>
                          <a:latin typeface="Noto Sans KR"/>
                          <a:ea typeface="Noto Sans KR"/>
                          <a:cs typeface="Noto Sans KR"/>
                        </a:rPr>
                        <a:t>S50</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선행기술 — 주방 로봇팔 · Rail · 수납장 · Skill Library</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US 7,751,938 외 3건 (주방 벽 Rail 이동 로봇팔 제어) · EP 3,881,977 (가전 · 주변 고정 모듈형 Arm, 교체형 End piece) · US 12,275,130 (수납장 내 Gantry 조리 로봇) · US 10,518,409 B2 (Minimanipulation Library · Instrumented Environment)</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https://image-ppubs.uspto.gov/dirsearch-public/print/downloadPdf/7751938</a:t>
                      </a:r>
                    </a:p>
                  </a:txBody>
                  <a:tcPr marL="73152" marR="73152" marT="22860" marB="22860" anchor="t">
                    <a:lnL w="0">
                      <a:noFill/>
                    </a:lnL>
                    <a:lnR w="0">
                      <a:noFill/>
                    </a:lnR>
                    <a:lnT w="0">
                      <a:noFill/>
                    </a:lnT>
                    <a:lnB w="9525">
                      <a:solidFill>
                        <a:srgbClr val="E2E4E7"/>
                      </a:solidFill>
                    </a:lnB>
                    <a:noFill/>
                  </a:tcPr>
                </a:tc>
              </a:tr>
              <a:tr h="319674">
                <a:tc>
                  <a:txBody>
                    <a:bodyPr wrap="square"/>
                    <a:lstStyle/>
                    <a:p>
                      <a:pPr algn="l">
                        <a:lnSpc>
                          <a:spcPct val="100000"/>
                        </a:lnSpc>
                      </a:pPr>
                      <a:r>
                        <a:rPr sz="720" b="1">
                          <a:solidFill>
                            <a:srgbClr val="15171A"/>
                          </a:solidFill>
                          <a:latin typeface="Noto Sans KR"/>
                          <a:ea typeface="Noto Sans KR"/>
                          <a:cs typeface="Noto Sans KR"/>
                        </a:rPr>
                        <a:t>S51</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주방가구사 동향 (2026)</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한샘 키친바흐 × 가게나우 빌트인장 협업 · 코리아빌드 2026 신제품 (로봇 제품 없음) — 가구사의 가정용 주방 로봇 협업 보도 확인 안 됨</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https://www.hankyung.com/amp/202606170891P</a:t>
                      </a:r>
                    </a:p>
                  </a:txBody>
                  <a:tcPr marL="73152" marR="73152" marT="22860" marB="22860" anchor="t">
                    <a:lnL w="0">
                      <a:noFill/>
                    </a:lnL>
                    <a:lnR w="0">
                      <a:noFill/>
                    </a:lnR>
                    <a:lnT w="0">
                      <a:noFill/>
                    </a:lnT>
                    <a:lnB w="9525">
                      <a:solidFill>
                        <a:srgbClr val="E2E4E7"/>
                      </a:solidFill>
                    </a:lnB>
                    <a:noFill/>
                  </a:tcPr>
                </a:tc>
              </a:tr>
              <a:tr h="187269">
                <a:tc>
                  <a:txBody>
                    <a:bodyPr wrap="square"/>
                    <a:lstStyle/>
                    <a:p>
                      <a:pPr algn="l">
                        <a:lnSpc>
                          <a:spcPct val="100000"/>
                        </a:lnSpc>
                      </a:pPr>
                      <a:r>
                        <a:rPr sz="720" b="1">
                          <a:solidFill>
                            <a:srgbClr val="15171A"/>
                          </a:solidFill>
                          <a:latin typeface="Noto Sans KR"/>
                          <a:ea typeface="Noto Sans KR"/>
                          <a:cs typeface="Noto Sans KR"/>
                        </a:rPr>
                        <a:t>S52</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2026 TIPS 접수 방식</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공고 접수 기간 2026.1.26~12.31 · 일반트랙 분기 단위 평가 (운용사 해설) — 남은 차수 일정은 운영사 확인</a:t>
                      </a:r>
                    </a:p>
                  </a:txBody>
                  <a:tcPr marL="73152" marR="73152" marT="22860" marB="22860" anchor="t">
                    <a:lnL w="0">
                      <a:noFill/>
                    </a:lnL>
                    <a:lnR w="0">
                      <a:noFill/>
                    </a:lnR>
                    <a:lnT w="0">
                      <a:noFill/>
                    </a:lnT>
                    <a:lnB w="9525">
                      <a:solidFill>
                        <a:srgbClr val="E2E4E7"/>
                      </a:solidFill>
                    </a:lnB>
                    <a:noFill/>
                  </a:tcPr>
                </a:tc>
                <a:tc>
                  <a:txBody>
                    <a:bodyPr wrap="square"/>
                    <a:lstStyle/>
                    <a:p>
                      <a:pPr algn="l">
                        <a:lnSpc>
                          <a:spcPct val="100000"/>
                        </a:lnSpc>
                      </a:pPr>
                      <a:r>
                        <a:rPr sz="720" b="0">
                          <a:solidFill>
                            <a:srgbClr val="15171A"/>
                          </a:solidFill>
                          <a:latin typeface="Noto Sans KR"/>
                          <a:ea typeface="Noto Sans KR"/>
                          <a:cs typeface="Noto Sans KR"/>
                        </a:rPr>
                        <a:t>https://www.venturesquare.net/announcement/1035119</a:t>
                      </a:r>
                    </a:p>
                  </a:txBody>
                  <a:tcPr marL="73152" marR="73152" marT="22860" marB="22860"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MH Robotics  ·  Seed · TIPS IR  ·  Draft v5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Noto Sans KR"/>
        <a:ea typeface="Noto Sans KR"/>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KR"/>
        <a:ea typeface="Noto Sans KR"/>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MH Robotics — Kitchen Manipulation Robotics System · Seed · TIPS IR Deck (Draft v5)</dc:title>
  <dc:subject>Adaptive Robot Hand · Manipulation Skill · Calibration · Environment Interface · CLEAN → ASSIST → COOK</dc:subject>
  <dc:creator>MH Robotics</dc:creator>
  <cp:keywords/>
  <dc:description>generated using python-pptx</dc:description>
  <cp:lastModifiedBy/>
  <cp:revision>1</cp:revision>
  <dcterms:created xsi:type="dcterms:W3CDTF">2026-10-08T09:00:00Z</dcterms:created>
  <dcterms:modified xsi:type="dcterms:W3CDTF">2026-10-08T09:00:00Z</dcterms:modified>
  <cp:category/>
</cp:coreProperties>
</file>