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2"/>
          <c:w val="0.96"/>
          <c:h val="0.76"/>
        </c:manualLayout>
      </c:layout>
      <c:barChart>
        <c:barDir val="col"/>
        <c:grouping val="stacked"/>
        <c:ser>
          <c:idx val="0"/>
          <c:order val="0"/>
          <c:tx>
            <c:strRef>
              <c:f>Sheet1!$B$1</c:f>
              <c:strCache>
                <c:ptCount val="1"/>
                <c:pt idx="0">
                  <c:v>Build</c:v>
                </c:pt>
              </c:strCache>
            </c:strRef>
          </c:tx>
          <c:spPr>
            <a:solidFill>
              <a:srgbClr val="C9CDD2"/>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Sheet1!$B$2:$B$6</c:f>
              <c:numCache>
                <c:formatCode>General</c:formatCode>
                <c:ptCount val="5"/>
                <c:pt idx="0">
                  <c:v>30.51694554164699</c:v>
                </c:pt>
                <c:pt idx="1">
                  <c:v>34.72516672940213</c:v>
                </c:pt>
                <c:pt idx="2">
                  <c:v>28.6995195675816</c:v>
                </c:pt>
                <c:pt idx="3">
                  <c:v>29.218777267324654</c:v>
                </c:pt>
                <c:pt idx="4">
                  <c:v>21.343722682475516</c:v>
                </c:pt>
              </c:numCache>
            </c:numRef>
          </c:val>
        </c:ser>
        <c:ser>
          <c:idx val="1"/>
          <c:order val="1"/>
          <c:tx>
            <c:strRef>
              <c:f>Sheet1!$C$1</c:f>
              <c:strCache>
                <c:ptCount val="1"/>
                <c:pt idx="0">
                  <c:v>Robot</c:v>
                </c:pt>
              </c:strCache>
            </c:strRef>
          </c:tx>
          <c:spPr>
            <a:solidFill>
              <a:srgbClr val="15171A"/>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Sheet1!$C$2:$C$6</c:f>
              <c:numCache>
                <c:formatCode>General</c:formatCode>
                <c:ptCount val="5"/>
                <c:pt idx="0">
                  <c:v>60.05504566026002</c:v>
                </c:pt>
                <c:pt idx="1">
                  <c:v>59.43165359836189</c:v>
                </c:pt>
                <c:pt idx="2">
                  <c:v>67.0859113812359</c:v>
                </c:pt>
                <c:pt idx="3">
                  <c:v>66.44254432373916</c:v>
                </c:pt>
                <c:pt idx="4">
                  <c:v>49.680110401625846</c:v>
                </c:pt>
              </c:numCache>
            </c:numRef>
          </c:val>
        </c:ser>
        <c:ser>
          <c:idx val="2"/>
          <c:order val="2"/>
          <c:tx>
            <c:strRef>
              <c:f>Sheet1!$D$1</c:f>
              <c:strCache>
                <c:ptCount val="1"/>
                <c:pt idx="0">
                  <c:v>Recurring</c:v>
                </c:pt>
              </c:strCache>
            </c:strRef>
          </c:tx>
          <c:spPr>
            <a:solidFill>
              <a:srgbClr val="E2571B"/>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Sheet1!$D$2:$D$6</c:f>
              <c:numCache>
                <c:formatCode>General</c:formatCode>
                <c:ptCount val="5"/>
                <c:pt idx="0">
                  <c:v>9.428008798092979</c:v>
                </c:pt>
                <c:pt idx="1">
                  <c:v>5.762735270546256</c:v>
                </c:pt>
                <c:pt idx="2">
                  <c:v>4.026930177267981</c:v>
                </c:pt>
                <c:pt idx="3">
                  <c:v>3.991280849773359</c:v>
                </c:pt>
                <c:pt idx="4">
                  <c:v>14.524938938696542</c:v>
                </c:pt>
              </c:numCache>
            </c:numRef>
          </c:val>
        </c:ser>
        <c:ser>
          <c:idx val="3"/>
          <c:order val="3"/>
          <c:tx>
            <c:strRef>
              <c:f>Sheet1!$E$1</c:f>
              <c:strCache>
                <c:ptCount val="1"/>
                <c:pt idx="0">
                  <c:v>Upgrade</c:v>
                </c:pt>
              </c:strCache>
            </c:strRef>
          </c:tx>
          <c:spPr>
            <a:solidFill>
              <a:srgbClr val="F6C9B3"/>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Sheet1!$E$2:$E$6</c:f>
              <c:numCache>
                <c:formatCode>General</c:formatCode>
                <c:ptCount val="5"/>
                <c:pt idx="0">
                  <c:v>0.0</c:v>
                </c:pt>
                <c:pt idx="1">
                  <c:v>0.08044440168973467</c:v>
                </c:pt>
                <c:pt idx="2">
                  <c:v>0.18763887391452067</c:v>
                </c:pt>
                <c:pt idx="3">
                  <c:v>0.34739755916283555</c:v>
                </c:pt>
                <c:pt idx="4">
                  <c:v>14.451227977202091</c:v>
                </c:pt>
              </c:numCache>
            </c:numRef>
          </c:val>
        </c:ser>
        <c:dLbls>
          <c:numFmt formatCode="0" sourceLinked="0"/>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ax val="100.0"/>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900">
          <a:solidFill>
            <a:srgbClr val="4A4F57"/>
          </a:solidFill>
          <a:latin typeface="Noto Sans KR"/>
          <a:ea typeface="Noto Sans KR"/>
          <a:cs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4"/>
          <c:w val="0.96"/>
          <c:h val="0.72"/>
        </c:manualLayout>
      </c:layout>
      <c:barChart>
        <c:barDir val="col"/>
        <c:grouping val="clustered"/>
        <c:ser>
          <c:idx val="0"/>
          <c:order val="0"/>
          <c:tx>
            <c:strRef>
              <c:f>Sheet1!$B$1</c:f>
              <c:strCache>
                <c:ptCount val="1"/>
                <c:pt idx="0">
                  <c:v>Conservative</c:v>
                </c:pt>
              </c:strCache>
            </c:strRef>
          </c:tx>
          <c:spPr>
            <a:solidFill>
              <a:srgbClr val="C9CDD2"/>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0.0</c:v>
                </c:pt>
                <c:pt idx="1">
                  <c:v>0.19343999999999997</c:v>
                </c:pt>
                <c:pt idx="2">
                  <c:v>3.623685</c:v>
                </c:pt>
                <c:pt idx="3">
                  <c:v>13.809490437500001</c:v>
                </c:pt>
                <c:pt idx="4">
                  <c:v>27.79997279062499</c:v>
                </c:pt>
              </c:numCache>
            </c:numRef>
          </c:val>
        </c:ser>
        <c:ser>
          <c:idx val="1"/>
          <c:order val="1"/>
          <c:tx>
            <c:strRef>
              <c:f>Sheet1!$C$1</c:f>
              <c:strCache>
                <c:ptCount val="1"/>
                <c:pt idx="0">
                  <c:v>Base</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0.0</c:v>
                </c:pt>
                <c:pt idx="1">
                  <c:v>0.43418500000000004</c:v>
                </c:pt>
                <c:pt idx="2">
                  <c:v>7.458567499999999</c:v>
                </c:pt>
                <c:pt idx="3">
                  <c:v>32.509254999999996</c:v>
                </c:pt>
                <c:pt idx="4">
                  <c:v>77.576826</c:v>
                </c:pt>
              </c:numCache>
            </c:numRef>
          </c:val>
        </c:ser>
        <c:ser>
          <c:idx val="2"/>
          <c:order val="2"/>
          <c:tx>
            <c:strRef>
              <c:f>Sheet1!$D$1</c:f>
              <c:strCache>
                <c:ptCount val="1"/>
                <c:pt idx="0">
                  <c:v>Upside</c:v>
                </c:pt>
              </c:strCache>
            </c:strRef>
          </c:tx>
          <c:spPr>
            <a:solidFill>
              <a:srgbClr val="E2571B"/>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0.0</c:v>
                </c:pt>
                <c:pt idx="1">
                  <c:v>0.512835</c:v>
                </c:pt>
                <c:pt idx="2">
                  <c:v>9.66977675</c:v>
                </c:pt>
                <c:pt idx="3">
                  <c:v>50.130159665</c:v>
                </c:pt>
                <c:pt idx="4">
                  <c:v>133.9842516452</c:v>
                </c:pt>
              </c:numCache>
            </c:numRef>
          </c:val>
        </c:ser>
        <c:gapWidth val="6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800">
          <a:solidFill>
            <a:srgbClr val="4A4F57"/>
          </a:solidFill>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ARKI Robotics는 주방용 Robot Arm 회사가 아니라 Robot과 주방 공간을 함께 설계하는 Residential Built-in Robotics 회사입니다. 첫 Application은 Kitchen Clean-up이고, 첫 시장은 구축 아파트 Premium Kitchen Remodeling입니다. 오늘 자료는 완성된 미래주방이 아니라, Seed 20억원으로 어떤 Commercial Risk를 어떤 순서로 제거할지에 대한 투자 제안입니다. 모든 수치는 FACT, DERIVED, ASSUMPTION, TARGET으로 구분했고, 현재 실적·계약·고객·Partner는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판단에 필요한 질문은 여섯 가지로 정리했습니다. 이후 모든 슬라이드는 이 중 하나 이상에 답하도록 구성했고, 우측 상단 Q 표시가 해당 질문입니다. 현재 답은 모두 가설이며, 오른쪽 열이 Seed 기간에 이를 사실로 바꾸는 방법입니다. 특히 2번 지불의사와 3번 세대 경제성은 Robot 가격과 BOM에 가장 민감합니다.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있는 것과 앞으로 만들 것을 한 장에서 분리했습니다. 왼쪽은 오늘 기준 실제로 존재하는 Evidence입니다. 공식 통계 정리와 사업·재무 가설 외에는 Prototype, 고객 인터뷰, Partner, 특허 모두 아직 없습니다. 창업자 정보는 입력이 필요합니다. 오른쪽은 Seed 24개월 동안 만들 Evidence이며, 투자 판단은 이 검증 계획의 구체성과 Founder 적합성에 달려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식기세척기, 인덕션, 수납장은 각각 자동화되어 있지만 그 사이를 잇는 물리적 작업은 여전히 사람이 합니다. 식기세척기는 세척을 자동화했지만 투입·인출·수납은 사람 몫입니다. ARKI가 겨냥하는 것은 가전 내부가 아니라 가전과 가전 사이의 Physical Task입니다. 다만 이 Pain이 돈을 낼 만큼 큰지는 아직 검증되지 않았고, Seed 첫 3개월에 30세대 Time-diary로 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Robot이 어려운 이유를 AI 성능만으로 보지 않습니다. 실제 설치 현장에서는 공간, 안전, 설치, 가구, 유지관리가 동시에 문제가 됩니다. 기존 주방에 Robot을 나중에 추가하면 이 모든 변수를 AI가 현장에서 해결해야 합니다. ARKI는 공간의 일부를 구조화해서 Robot이 움직이는 영역과 사람 영역을 나누고, Home Position과 표준 Interface를 미리 만들어 둡니다. 효과의 크기는 아직 수치로 주장하지 않고, Mock-up에서 설치시간과 Task 성공률로 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주택 2,018만호 중 65.8%가 아파트이고, 20년 이상 주택이 56%입니다. 이 숫자는 공식 통계입니다. 제품 표준화 기준은 2Bay·3Bay 같은 Bay 구성이 아니라 주방의 기하학적 형태입니다. Bay는 적용환경 변수로만 씁니다. 주방을 일자형부터 아일랜드형까지 5가지로 나누고, Robot 설치 방식 4가지와 조합해 REMODEL + 11자형 + Rail Type A처럼 제품을 분류합니다.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ARKI의 제품은 다섯 개 층으로 구성됩니다. Robot이 작업하기 쉬운 Kitchen, Robot Module, 주방 Software, 설치 System, 그리고 Care와 소모품입니다. 중요한 것은 역할 분담입니다. 철거, 가구, 전기, 배관 같은 일반 시공은 Partner가 하고, ARKI는 Product Architecture, Robot, Interface, Software, Calibration, Safety QA를 맡습니다. 공사업체가 되지 않기 위한 구조를 처음부터 설계에 반영했습니다.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제품은 완전자율 요리가 아니라 식사 후 정리입니다. 식기를 인식해 집고, 식기세척기에 넣고, 세척이 끝나면 꺼내 수납장에 복귀시키는 흐름입니다. 조리는 온도와 칼, 비정형 재료 때문에 위험과 난이도가 높습니다. 반면 Clean-up은 매 식사마다 반복되고, 식세기와 수납장이라는 고정된 끝점이 있어 표준화가 쉽습니다. 여기서 확보한 집기·놓기 Skill은 V2 조리 보조에서 그대로 재사용합니다. V2와 V3는 Future Concept이며 Seed 범위가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배치의 최우선 요구사항은 거주자 생활동선을 침해하지 않는 것입니다. 바닥 통행영역을 점유하지 않고, 미사용 시 Robot은 Home Position에 들어가 문이 닫힙니다. Robot이 고장 나도 주방은 일반 주방으로 쓸 수 있어야 합니다. 설치 방식은 Rail, Dock, Fold-out, Hybrid 네 가지로 나눴습니다. 가장 중요한 공간 설계 규칙은 식기세척기를 키큰장 안에 허리 높이로 올리는 것입니다. Robot의 Reach가 짧아지고, 사람도 허리를 덜 숙입니다.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3Bay 평면만 보여주지 않기 위해 네 가지 대표 사례를 그렸습니다. 실제 단지 도면이 아니라 개념 평면입니다. A는 구축 59제곱미터 소형 ㄱ자 주방으로 키큰장 Fold-out, B는 구축 84제곱미터 11자 주방으로 상부장 하단 Rail, C는 신축 ㄷ자 주방으로 코너 Dock과 부분 Rail, D는 신축 4Bay 아일랜드 주방으로 벽면 Rail과 Dock입니다. 공통 원칙은 Robot이 벽면 작업대 쪽에서만 일하고, 통로와 아일랜드는 사람 영역으로 남기는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투자자가 가장 먼저 물을 질문은 "집마다 다르면 결국 인테리어 회사 아니냐"입니다. 답은 네 단계 분류 체계입니다. 주방 형태를 분류하고, 설치 방식을 고르고, 표준 모듈을 적용한 뒤, 현장 조정만 남깁니다. Seed 기간에 실제 국내 아파트 주방 평면 30개 이상을 신축·구축, 2·3·4Bay, 평형별로 분석해 Template 3~5개로 묶이는지 확인합니다. 표준 모듈 사용률이 40%에서 80%로 오르면 세대당 Kitchen Module 원가가 약 332만원에서 244만원으로 내려가도록 모델에 연동했습니다. M18에 60% 미만이면 이 Thesis를 재검토합니다.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구축과 신축은 역할이 다릅니다. 구축은 이미 주방 리모델링을 하려는 고객에게 Robot-ready Kitchen을 함께 적용하는 방식입니다. 고객이 철거와 가구 시공을 어차피 하기 때문에 추가 Integration 비용이 작고, 가격·설치·사용성을 직접 검증할 수 있습니다. 신축은 건설사 설계 단계에서 Robot-ready Option을 넣는 방식으로 Project 단위 대량 공급이 가능합니다. 다만 Option 계약에서 입주까지 약 2년이 걸려 5년 재무계획에서 신축 매출은 Y5부터 반영했고, Y5 말 계약 Backlog는 400세대입니다.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Robot-ready Kitchen은 Robot을 같이 사지 않아도 판매되는 독립 제품입니다. 구조체에 정착된 Mount, Rail Interface, 전용 전원과 통신, 식세기 상향 Housing, Robot-friendly 수납이 포함됩니다. 신축에서는 이 Option만 먼저 판매할 수 있고, 입주 후 Robot 구매나 Rental을 붙입니다. Land and Expand 구조입니다. 구축 증분가는 450만원, 원가는 Y3 기준 277만원으로 가정했고, 신축 유상옵션이 분양가의 평균 9.7% 수준이라는 공개 사례가 참고값입니다.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가격은 "향후 검증"으로 두지 않고 세 방향에서 범위를 먼저 계산했습니다. 원가 기준으로는 Y3 BOM 1,150만원에서 목표 마진을 붙이면 Robot은 약 1,640만원, Rental은 월 31만원이 하한입니다. 시장 참고값으로 1X NEO는 2만 달러 또는 월 499달러입니다. 가치 기준으로는 Clean-up 시간 40분, 가사서비스 시간당 1.5만원, 자동화 비중 60%를 가정하면 월 약 18만원입니다. 즉 가사 대체 가치만으로는 원가 기반 Rental 가격을 정당화하기 어렵습니다. 그래서 Premium 주방 Amenity로서의 가치, V2 Task 확장, BOM 절감이 필요하고, WTP 검증이 Seed의 1순위입니다.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세대 기준 경제성입니다. 구축 Premium 주방에 Robot-ready Kitchen과 Robot을 구매로 설치하고 Care에 가입한 세대를 가정했습니다. 5년 매출은 약 2,418만원이고 이 중 설치 시점 매출이 2,020만원으로 84%입니다. Y3 원가 수준에서는 5년 Contribution이 458만원으로 마진 19%에 그칩니다. Robot BOM이 900만원까지 내려가는 Y5 원가에서는 813만원, 34%입니다. 따라서 세대 경제성을 결정하는 것은 소모품 수가 아니라 Robot 가격과 BOM입니다. Rental도 비슷한 Contribution을 만들지만 자산을 누가 보유하느냐가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수익모델은 세 단계입니다. 설치 시점에 Robot-ready Kitchen과 Robot Hardware 매출이 발생하고, 설치기반이 쌓이면서 Rental, Care, 소모품 같은 반복매출이 생깁니다. 이후 Software 기능, Tool, Robot 교체 같은 확장매출이 붙습니다. 한 세대 기준으로 설치 첫해 2,020만원, 이후 매년 약 73만원에서 93만원입니다. Rental은 ARKI가 자산을 계속 보유하지 않도록 Scale 단계에서 렌탈·캐피탈 Partner가 자산 금융을 맡고, ARKI는 제품·Software·Care를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단위 경제성을 네 가지로 나눴습니다. 구매 모델의 설치 시점 Contribution은 Y3에 약 300만원, Y5에 600만원입니다. Rental은 월 33만원 기준 Y3 원가에서 Payback이 39개월로 Rental Partner가 보통 요구하는 36개월을 넘습니다. BOM이 1,059만원 이하로 내려가야 Partner 구조가 성립합니다. Care는 Y3에 마진 23%로 Profit Center가 아니고, 방문 원가가 내려가는 Y5에 44%가 됩니다. 사업가치에 가장 큰 영향을 주는 변수는 고객 지불의사, Robot BOM, Partner 경유 물량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시장은 Top-down TAM이 아니라 세대 수부터 쌓았습니다. 아파트 약 1,328만호 중 연간 주방 교체 세대를 두 가지 방법으로 교차 추정하면 29만에서 30만 세대입니다. 이 중 Premium 10%, 그중 Robot-ready 적용 가능 60%를 가정하면 연 1.8만 세대, 금액으로 약 3,200억원이 구축 SAM입니다. 신축은 연 20만 세대 입주 중 Premium 단지 15%, Option 선택 10%로 연 3천 세대입니다. Base 계획의 Y5 매출 78억원은 SAM 세대의 약 2%입니다. Mass Market 진입은 가정하지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직접판매는 고객 학습과 제품 검증 목적입니다. Y2에 5세대 Home Pilot으로 시작하고, Y3부터 주방가구·인테리어 Partner를 통해 물량을 늘립니다. Base에서 Y5 Partner 경유 Kitchen은 340세대로 직접판매 60세대의 5배 이상입니다. 신축은 Y3 계약, Y5 설치입니다. 매출 구성에서 Kitchen Build와 설치 매출 비중은 Y5에 약 29%이고, 나머지는 Robot과 반복매출입니다. Interior 회사가 아니라 Robotics Product 회사로 가는지 보는 KPI입니다.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Category로 봅니다. 가전사는 가전 내부를 자동화하고, 조리 Robot은 조리에 집중하며, Humanoid는 범용 이동형으로 접근합니다. 1X NEO는 2만 달러 또는 월 499달러에 2026년 출하를 발표했고, LG는 CES 2026에서 식세기를 비우는 CLOiD를 시연했습니다. 이 영역은 이미 큰 회사들이 움직이고 있습니다. ARKI는 범용 Robot과 정면 경쟁하지 않고, 주방 공간과 Robot을 묶는 Integration Layer를 맡습니다. 삼성·LG는 기기 Interface Partner, 가구사는 Module과 Channel Partner, 건설사는 유통, Robot OEM은 공급사로 봅니다. 다만 대기업이 같은 Layer를 직접 할 위험은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Moat를 특허 개수나 AI 데이터만으로 설명하지 않습니다. 일곱 개 층으로 봅니다. 제품 구조, 주방 Template Library, 설치 Standard, Manipulation Skill, 특허와 Know-how, Care 데이터, 그리고 설치기반입니다. 현재는 모두 구축 전입니다. 특허 후보는 10개 Family로 정리했지만 선행기술조사 전이라 등록 가능성을 주장하지 않습니다. Flywheel은 운영 측면입니다. 설치가 늘면 설치·고장 데이터가 쌓이고, Template이 개선되고, 설치시간과 Service 원가가 내려가 Partner가 늘어나는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Roadmap은 일정보다 기업가치가 올라가는 Evidence 중심으로 정리했습니다. 6개월에는 주거동선과 Robot Reach가 양립하는지, 9개월에는 Clean-up Task 신뢰성, 12개월에는 지불의사, 18개월에는 표준 모듈 재사용률, 24개월에는 유료 Pilot과 Partner를 확인합니다. 각 시점에 기준을 못 넘으면 구조를 바꾸거나 범위를 줄이거나 Scale 투자를 보류합니다. 투자자 입장에서는 돈이 끝까지 소진되기 전에 실패를 확인할 수 있는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창업자 정보는 임의로 만들지 않았습니다. 투자 판단에서 가장 중요한 칸이 비어 있다는 점을 그대로 보여드립니다. 필요한 역량은 Robot Manipulation, 주방·건축 Integration, 그리고 고객·Partner 영업입니다. 이 세 가지를 Founding Team이 직접 갖추고 있는지가 Seed 판단의 첫 번째 질문이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 금액은 Seed 20억원입니다. 다만 실제 인건비와 Prototype, Mock-up 공간, 인증 비용을 반영해 24개월 예산을 다시 계산하면 약 25.8억원이 필요합니다. 20억원만으로는 약 19개월입니다. 그래서 TIPS R&amp;D 최대 8억원 연계를 기본 구조로 제안하고, 선정되지 않으면 Seed 증액이나 18개월 시점 Bridge가 필요합니다. 이 자금으로 확인할 것은 오른쪽 일곱 가지 전제입니다. 24개월 후 이 증거가 있으면 Series A에서 Scale 자본을 요청합니다.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본문 숫자의 근거와 계산 과정을 담습니다. 각 부록 번호는 본문에서 참조한 위치입니다.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자료의 모든 숫자는 일곱 가지 Tag 중 하나를 갖습니다. 사실과 가설이 섞이지 않도록 입력 단계부터 Tag를 붙였고, 엑셀 모델의 Inputs 시트에서 전체 목록을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주택 통계는 국가데이터처 2025 인구주택총조사와 국토부 2025년 12월 주택통계를 기준으로 했습니다. 주방 교체 세대 수는 공식 통계가 없어 두 가지 방법으로 교차 추정하고 가정값으로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Kitchen 단독 리모델링 가격은 공식 통계가 없습니다. 그래서 일반과 Premium 가격대는 가정으로 표시했고, 첫 90일 안에 한샘, 리바트, 지역 업체 견적 20건을 모아 대체합니다. 빌트인 가전과 주방가구를 통합하려는 수요는 한샘 실적에서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 BOM은 공개가 부품을 기준으로 추정했습니다. Pilot 단계는 1,600만원, Series A 이후 1,150만원, Y5에 900만원으로 내려간다고 가정했습니다. 가장 큰 항목은 Arm이며, Y5 450만원은 OEM Partner나 전용 Arm 개발이 필요한 공격적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평면 분석은 Seed 첫 3개월의 핵심 과업입니다. 신축 15개, 구축 15개를 평형과 Bay 구성별로 골고루 뽑고, 공개 분양 평면과 동의를 받은 실측을 함께 씁니다. 결과물은 Layout Family, Template, Coverage 비율입니다.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상부장 하단 Rail에 매단 Arm의 Reach를 700mm로 가정하면 작업대 상판과 Sink 바닥까지는 닿지만, 바닥 근처 식세기 하단 Rack까지는 어렵습니다. 그래서 식세기를 키큰장 안에 허리 높이로 올리는 것이 핵심 설계 규칙입니다. 치수는 업계 통상값이며 실측으로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 위 Robot의 안전은 투자자가 반드시 묻는 질문입니다. 원칙은 사람이 있는 Zone 위로 물건을 운반하지 않고, 사람이 Robot Zone에 들어오면 즉시 정지하며, 가반하중과 속도를 낮게 제한하는 것입니다. 2025년 개정된 ISO 10218에 협동 안전 요구사항이 통합되었고, 가정용은 ISO 13482와 KC 전기안전, 전자파, 식품용 기구 기준을 함께 봐야 합니다. 본인증은 Series A 단계로 계획했습니다.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Rail형 설치에서 Robot 하중은 상부장이 아니라 보강 Frame을 거쳐 구조체로 전달되어야 합니다. 동하중과 반복하중을 고려해 Anchor를 설계하고, 구축은 벽체가 철근콘크리트인지, 조적이나 경량벽인지 실측 단계에서 확인합니다. 이 검토 절차 자체가 설치 Standard이자 Partner 교육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Robot 시장은 2025년 이후 빠르게 움직이고 있습니다. 1X는 월 499달러 구독을 내놓았고, Sunday와 LG는 식기세척기 작업을 시연했습니다. ARKI가 같은 가격대에서 선택받으려면 고정 설치형의 신뢰성, 바닥을 차지하지 않는 점, 주방과 일체화된 디자인, 설치와 A/S가 실제로 더 낫다는 것을 증명해야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특허 후보 열 개를 사업 관련성과 선행기술 위험으로 정리했습니다. Rail 일체형 구조는 Moley나 삼성 Bot Chef 같은 선례가 있어 선행기술 위험이 높습니다. 표준 Interface, 자동 Calibration, 식기세척기 Interface가 사업 핵심이면서 상대적으로 위험이 낮을 것으로 보지만, 모두 선행기술조사 후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세대 경제성의 상세 계산입니다. 구매 모델은 Robot 매출이 대부분이고, Rental 모델은 같은 Robot을 60개월 동안 회수합니다. Rental은 잔존가치를 15% 회수한다고 보고 순감가와 금융비용을 원가로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Rental 요금은 원가에서 출발했습니다. Y3 원가 수준에서 감가, 금융, Care, Grip, Reserve를 합치면 월 25.1만원이고 33만원 요금에서 마진은 24%입니다. Payback은 39개월로 36개월을 넘어서, Y3 원가로는 렌탈사가 자산을 사기 어렵습니다. Y5 원가에서는 30개월입니다. Partner가 ASP의 88%에 Robot을 사고 월 27만원을 받으면 연 IRR이 약 13%로 계산되지만, 고객 연체와 중도해지는 반영하지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Care는 단순 Software 구독이 아니라 Robot 수명주기 유지보수 계약입니다. 연 48만원에 정기점검 2회, Calibration, 원격진단, Update, A/S 공임을 포함합니다. Y3에는 방문 원가 때문에 마진이 23%이고, 원격진단으로 방문을 줄이고 지역 밀도가 올라가는 Y5에 44%가 됩니다. 소모품은 억지 Lock-in이 아니라 위생과 Grip 성능, 식품접촉부 교체 관점에서 설계합니다. 교체주기는 실측 전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Base에서 매출은 Y3 7.5억원, Y5 77.6억원이고, 5년 내내 영업적자입니다. Hardware 회사의 일반적인 경로이며 Y5 영업손실은 36억원입니다. Conservative는 지불의사와 BOM 하락이 약해 Y5 Contribution이 거의 0으로, Scale 투자를 보류해야 하는 시나리오입니다. Upside는 가격을 올리지 않고 Partner 물량, 표준화, 설치원가로만 차이를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기준으로 민감도를 봤습니다. 세대 기준으로는 Robot 가격, Robot BOM, Robot-ready 증분가 순서이고, 회사 기준으로는 고객 지불의사, BOM, Partner 경유 물량 순서입니다. 즉 Top 3 Critical Variable은 Customer WTP, Robot BOM, Partner Distribution입니다. 신축 Option 선택률은 5년 안에는 영향이 작은데, 계약에서 설치까지 2년 시차가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초안의 20억원 배분을 실제 비용 구조로 다시 계산했습니다. 가장 큰 차이는 인건비입니다. 초안 8억원은 24개월 기준 평균 4~5명 수준인데, 로봇·비전·기구·주방통합·안전·현장 인력을 고려하면 평균 7.5명이 필요하고 약 12.8억원이 됩니다. 전체로는 약 25.8억원이 필요해 20억원으로는 19개월 정도입니다. 그래서 TIPS 연계를 기본안으로 하고, 안 되면 증액이나 Bridge를 제안합니다.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검증은 인터뷰만으로 끝내지 않습니다. 시간 일지로 Pain의 크기를 재고, Van Westendorp와 Gabor-Granger로 가격 구간을, Conjoint로 구매와 Rental, 기능, 노출 디자인의 상대 가치를 봅니다. 마지막으로 환불 가능한 예약금으로 실제 행동을 확인합니다. 기술 KPI는 현재 수치가 없어 목표만 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투자는 이 일곱 가지 전제를 확인하는 옵션을 사는 것입니다. 현재 Evidence는 모두 없거나 추정 단계이고, 각 전제마다 실패로 판정할 조건을 미리 정했습니다. 특히 지불의사, Template 분류, Robot 원가 개선이 Series A 판단의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리스크마다 투자 후 어떤 증거로 줄일지, 실패하면 무엇을 할지를 연결했습니다. 기술 리스크만이 아니라 공간, 표준화, 가격, 설치·렌탈·서비스 경제성, 채널, 안전, 경쟁까지 포함했습니다.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심사역이 반드시 물을 질문에 대한 답입니다. 답이 약한 항목은 숨기지 않고 본문에 반영했습니다. 대표적으로 가치 기준 가격과 원가 기반 가격의 차이, Rental Payback, Seed 부족분, Founder 정보 공백입니다.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약한 답이 다섯 개 있습니다. Pain의 크기, 총 고객비용, 가구사의 직접 진입, Seed 금액, 그리고 Founder입니다. 이 다섯 개가 Investment Memo의 투자하지 않을 이유와 그대로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Seed 심사역 관점의 점수표입니다. 시장과 접근 방식은 구조가 분명하지만, 고객 수요, 표준화, 유통, 팀은 현재 증거가 없습니다. 그래서 판단은 WATCH입니다. 다섯 가지 증거가 확보되면 INVEST로 바뀔 수 있습니다. Founder 적합성, 실제 크기 Mock-up 시연, 실명 고객의 예약금이나 유료 Pilot 의향, 평면 30개 분석 결과, 실재하는 Partner 협력 합의입니다.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출처는 검색 시점의 보도와 공개 자료입니다. 외부 제출 전에는 국가데이터처와 국토교통부 보도자료 원문으로 다시 확인해야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71A"/>
        </a:solidFill>
        <a:effectLst/>
      </p:bgPr>
    </p:bg>
    <p:spTree>
      <p:nvGrpSpPr>
        <p:cNvPr id="1" name=""/>
        <p:cNvGrpSpPr/>
        <p:nvPr/>
      </p:nvGrpSpPr>
      <p:grpSpPr/>
      <p:sp>
        <p:nvSpPr>
          <p:cNvPr id="2" name="TextBox 1"/>
          <p:cNvSpPr txBox="1"/>
          <p:nvPr/>
        </p:nvSpPr>
        <p:spPr>
          <a:xfrm>
            <a:off x="685800" y="822960"/>
            <a:ext cx="5852160" cy="274320"/>
          </a:xfrm>
          <a:prstGeom prst="rect">
            <a:avLst/>
          </a:prstGeom>
          <a:noFill/>
        </p:spPr>
        <p:txBody>
          <a:bodyPr wrap="square" lIns="0" rIns="0" tIns="0" bIns="0" anchor="t">
            <a:spAutoFit/>
          </a:bodyPr>
          <a:lstStyle/>
          <a:p>
            <a:pPr algn="l">
              <a:lnSpc>
                <a:spcPct val="100000"/>
              </a:lnSpc>
            </a:pPr>
            <a:r>
              <a:rPr sz="1100" b="1">
                <a:solidFill>
                  <a:srgbClr val="EE7434"/>
                </a:solidFill>
                <a:latin typeface="Noto Sans KR"/>
                <a:ea typeface="Noto Sans KR"/>
                <a:cs typeface="Noto Sans KR"/>
              </a:rPr>
              <a:t>SEED INVESTMENT PROPOSAL  ·  2026.10  ·  DRAFT v1</a:t>
            </a:r>
          </a:p>
        </p:txBody>
      </p:sp>
      <p:sp>
        <p:nvSpPr>
          <p:cNvPr id="3" name="TextBox 2"/>
          <p:cNvSpPr txBox="1"/>
          <p:nvPr/>
        </p:nvSpPr>
        <p:spPr>
          <a:xfrm>
            <a:off x="685800" y="1371600"/>
            <a:ext cx="6035040" cy="914400"/>
          </a:xfrm>
          <a:prstGeom prst="rect">
            <a:avLst/>
          </a:prstGeom>
          <a:noFill/>
        </p:spPr>
        <p:txBody>
          <a:bodyPr wrap="square" lIns="0" rIns="0" tIns="0" bIns="0" anchor="t">
            <a:spAutoFit/>
          </a:bodyPr>
          <a:lstStyle/>
          <a:p>
            <a:pPr algn="l">
              <a:lnSpc>
                <a:spcPct val="100000"/>
              </a:lnSpc>
            </a:pPr>
            <a:r>
              <a:rPr sz="4800" b="1">
                <a:solidFill>
                  <a:srgbClr val="F3F3F1"/>
                </a:solidFill>
                <a:latin typeface="Noto Sans KR"/>
                <a:ea typeface="Noto Sans KR"/>
                <a:cs typeface="Noto Sans KR"/>
              </a:rPr>
              <a:t>ARKI Robotics</a:t>
            </a:r>
          </a:p>
        </p:txBody>
      </p:sp>
      <p:sp>
        <p:nvSpPr>
          <p:cNvPr id="4" name="TextBox 3"/>
          <p:cNvSpPr txBox="1"/>
          <p:nvPr/>
        </p:nvSpPr>
        <p:spPr>
          <a:xfrm>
            <a:off x="685800" y="2240280"/>
            <a:ext cx="6035040" cy="365760"/>
          </a:xfrm>
          <a:prstGeom prst="rect">
            <a:avLst/>
          </a:prstGeom>
          <a:noFill/>
        </p:spPr>
        <p:txBody>
          <a:bodyPr wrap="square" lIns="0" rIns="0" tIns="0" bIns="0" anchor="t">
            <a:spAutoFit/>
          </a:bodyPr>
          <a:lstStyle/>
          <a:p>
            <a:pPr algn="l">
              <a:lnSpc>
                <a:spcPct val="100000"/>
              </a:lnSpc>
            </a:pPr>
            <a:r>
              <a:rPr sz="1500" b="0">
                <a:solidFill>
                  <a:srgbClr val="B4B8BE"/>
                </a:solidFill>
                <a:latin typeface="Noto Sans KR"/>
                <a:ea typeface="Noto Sans KR"/>
                <a:cs typeface="Noto Sans KR"/>
              </a:rPr>
              <a:t>아키로보틱스 (가칭)  ·  Architecture + Robotics</a:t>
            </a:r>
          </a:p>
        </p:txBody>
      </p:sp>
      <p:sp>
        <p:nvSpPr>
          <p:cNvPr id="5" name="TextBox 4"/>
          <p:cNvSpPr txBox="1"/>
          <p:nvPr/>
        </p:nvSpPr>
        <p:spPr>
          <a:xfrm>
            <a:off x="685800" y="2880360"/>
            <a:ext cx="6035040" cy="1143000"/>
          </a:xfrm>
          <a:prstGeom prst="rect">
            <a:avLst/>
          </a:prstGeom>
          <a:noFill/>
        </p:spPr>
        <p:txBody>
          <a:bodyPr wrap="square" lIns="0" rIns="0" tIns="0" bIns="0" anchor="t">
            <a:spAutoFit/>
          </a:bodyPr>
          <a:lstStyle/>
          <a:p>
            <a:pPr algn="l">
              <a:lnSpc>
                <a:spcPct val="100000"/>
              </a:lnSpc>
            </a:pPr>
            <a:r>
              <a:rPr sz="3000" b="1">
                <a:solidFill>
                  <a:srgbClr val="F3F3F1"/>
                </a:solidFill>
                <a:latin typeface="Noto Sans KR"/>
                <a:ea typeface="Noto Sans KR"/>
                <a:cs typeface="Noto Sans KR"/>
              </a:rPr>
              <a:t>주거공간 일체형</a:t>
            </a:r>
          </a:p>
          <a:p>
            <a:pPr algn="l">
              <a:lnSpc>
                <a:spcPct val="100000"/>
              </a:lnSpc>
            </a:pPr>
            <a:r>
              <a:rPr sz="3000" b="1">
                <a:solidFill>
                  <a:srgbClr val="F3F3F1"/>
                </a:solidFill>
                <a:latin typeface="Noto Sans KR"/>
                <a:ea typeface="Noto Sans KR"/>
                <a:cs typeface="Noto Sans KR"/>
              </a:rPr>
              <a:t>Robotics System</a:t>
            </a:r>
          </a:p>
        </p:txBody>
      </p:sp>
      <p:cxnSp>
        <p:nvCxnSpPr>
          <p:cNvPr id="6" name="Connector 5"/>
          <p:cNvCxnSpPr/>
          <p:nvPr/>
        </p:nvCxnSpPr>
        <p:spPr>
          <a:xfrm>
            <a:off x="685800" y="4160520"/>
            <a:ext cx="5120640" cy="0"/>
          </a:xfrm>
          <a:prstGeom prst="line">
            <a:avLst/>
          </a:prstGeom>
          <a:ln w="9525">
            <a:solidFill>
              <a:srgbClr val="2C2F34"/>
            </a:solidFill>
          </a:ln>
        </p:spPr>
      </p:cxnSp>
      <p:sp>
        <p:nvSpPr>
          <p:cNvPr id="7" name="TextBox 6"/>
          <p:cNvSpPr txBox="1"/>
          <p:nvPr/>
        </p:nvSpPr>
        <p:spPr>
          <a:xfrm>
            <a:off x="685800" y="4343400"/>
            <a:ext cx="5760720" cy="1188720"/>
          </a:xfrm>
          <a:prstGeom prst="rect">
            <a:avLst/>
          </a:prstGeom>
          <a:noFill/>
        </p:spPr>
        <p:txBody>
          <a:bodyPr wrap="square" lIns="0" rIns="0" tIns="0" bIns="0" anchor="t">
            <a:spAutoFit/>
          </a:bodyPr>
          <a:lstStyle/>
          <a:p>
            <a:pPr algn="l" marL="182880" indent="-182880">
              <a:lnSpc>
                <a:spcPct val="100000"/>
              </a:lnSpc>
              <a:spcAft>
                <a:spcPts val="400"/>
              </a:spcAft>
              <a:buClr>
                <a:srgbClr val="80868D"/>
              </a:buClr>
              <a:buFont typeface="Noto Sans KR"/>
              <a:buChar char="–"/>
            </a:pPr>
            <a:r>
              <a:rPr sz="1200" b="0">
                <a:solidFill>
                  <a:srgbClr val="B4B8BE"/>
                </a:solidFill>
                <a:latin typeface="Noto Sans KR"/>
                <a:ea typeface="Noto Sans KR"/>
                <a:cs typeface="Noto Sans KR"/>
              </a:rPr>
              <a:t>Robot과 Kitchen을 공간 설계 단계에서 함께 구성</a:t>
            </a:r>
          </a:p>
          <a:p>
            <a:pPr algn="l" marL="182880" indent="-182880">
              <a:lnSpc>
                <a:spcPct val="100000"/>
              </a:lnSpc>
              <a:spcAft>
                <a:spcPts val="400"/>
              </a:spcAft>
              <a:buClr>
                <a:srgbClr val="80868D"/>
              </a:buClr>
              <a:buFont typeface="Noto Sans KR"/>
              <a:buChar char="–"/>
            </a:pPr>
            <a:r>
              <a:rPr sz="1200" b="0">
                <a:solidFill>
                  <a:srgbClr val="B4B8BE"/>
                </a:solidFill>
                <a:latin typeface="Noto Sans KR"/>
                <a:ea typeface="Noto Sans KR"/>
                <a:cs typeface="Noto Sans KR"/>
              </a:rPr>
              <a:t>첫 Application: Kitchen Clean-up (식기 이동 · 식세기 연동 · 수납 복귀)</a:t>
            </a:r>
          </a:p>
          <a:p>
            <a:pPr algn="l" marL="182880" indent="-182880">
              <a:lnSpc>
                <a:spcPct val="100000"/>
              </a:lnSpc>
              <a:buClr>
                <a:srgbClr val="80868D"/>
              </a:buClr>
              <a:buFont typeface="Noto Sans KR"/>
              <a:buChar char="–"/>
            </a:pPr>
            <a:r>
              <a:rPr sz="1200" b="0">
                <a:solidFill>
                  <a:srgbClr val="B4B8BE"/>
                </a:solidFill>
                <a:latin typeface="Noto Sans KR"/>
                <a:ea typeface="Noto Sans KR"/>
                <a:cs typeface="Noto Sans KR"/>
              </a:rPr>
              <a:t>구축 Premium Remodeling = Validation  →  신축 Robot-ready Option = Scale</a:t>
            </a:r>
          </a:p>
        </p:txBody>
      </p:sp>
      <p:sp>
        <p:nvSpPr>
          <p:cNvPr id="8" name="TextBox 7"/>
          <p:cNvSpPr txBox="1"/>
          <p:nvPr/>
        </p:nvSpPr>
        <p:spPr>
          <a:xfrm>
            <a:off x="685800" y="5897880"/>
            <a:ext cx="6035040" cy="365760"/>
          </a:xfrm>
          <a:prstGeom prst="rect">
            <a:avLst/>
          </a:prstGeom>
          <a:noFill/>
        </p:spPr>
        <p:txBody>
          <a:bodyPr wrap="square" lIns="0" rIns="0" tIns="0" bIns="0" anchor="t">
            <a:spAutoFit/>
          </a:bodyPr>
          <a:lstStyle/>
          <a:p>
            <a:pPr algn="l">
              <a:lnSpc>
                <a:spcPct val="100000"/>
              </a:lnSpc>
            </a:pPr>
            <a:r>
              <a:rPr sz="900" b="0">
                <a:solidFill>
                  <a:srgbClr val="80868D"/>
                </a:solidFill>
                <a:latin typeface="Noto Sans KR"/>
                <a:ea typeface="Noto Sans KR"/>
                <a:cs typeface="Noto Sans KR"/>
              </a:rPr>
              <a:t>모든 수치: FACT · DERIVED · ASSUMPTION · TARGET 표기  |  실적·계약·고객·Partner 없음 (Concept 단계)</a:t>
            </a:r>
          </a:p>
        </p:txBody>
      </p:sp>
      <p:cxnSp>
        <p:nvCxnSpPr>
          <p:cNvPr id="9" name="Connector 8"/>
          <p:cNvCxnSpPr/>
          <p:nvPr/>
        </p:nvCxnSpPr>
        <p:spPr>
          <a:xfrm>
            <a:off x="7223760" y="5623560"/>
            <a:ext cx="4297680" cy="0"/>
          </a:xfrm>
          <a:prstGeom prst="line">
            <a:avLst/>
          </a:prstGeom>
          <a:ln w="19050">
            <a:solidFill>
              <a:srgbClr val="F3F3F1"/>
            </a:solidFill>
          </a:ln>
        </p:spPr>
      </p:cxnSp>
      <p:cxnSp>
        <p:nvCxnSpPr>
          <p:cNvPr id="10" name="Connector 9"/>
          <p:cNvCxnSpPr/>
          <p:nvPr/>
        </p:nvCxnSpPr>
        <p:spPr>
          <a:xfrm>
            <a:off x="7223760" y="1739118"/>
            <a:ext cx="0" cy="3884442"/>
          </a:xfrm>
          <a:prstGeom prst="line">
            <a:avLst/>
          </a:prstGeom>
          <a:ln w="31750">
            <a:solidFill>
              <a:srgbClr val="F3F3F1"/>
            </a:solidFill>
          </a:ln>
        </p:spPr>
      </p:cxnSp>
      <p:cxnSp>
        <p:nvCxnSpPr>
          <p:cNvPr id="11" name="Connector 10"/>
          <p:cNvCxnSpPr/>
          <p:nvPr/>
        </p:nvCxnSpPr>
        <p:spPr>
          <a:xfrm>
            <a:off x="7223760" y="1739118"/>
            <a:ext cx="4297680" cy="0"/>
          </a:xfrm>
          <a:prstGeom prst="line">
            <a:avLst/>
          </a:prstGeom>
          <a:ln w="9525">
            <a:solidFill>
              <a:srgbClr val="A9AEB5"/>
            </a:solidFill>
          </a:ln>
        </p:spPr>
      </p:cxnSp>
      <p:sp>
        <p:nvSpPr>
          <p:cNvPr id="12" name="Rectangle 11"/>
          <p:cNvSpPr/>
          <p:nvPr/>
        </p:nvSpPr>
        <p:spPr>
          <a:xfrm>
            <a:off x="7223760" y="4218549"/>
            <a:ext cx="991772" cy="1405010"/>
          </a:xfrm>
          <a:prstGeom prst="rect">
            <a:avLst/>
          </a:prstGeom>
          <a:solidFill>
            <a:srgbClr val="2C2F34"/>
          </a:solidFill>
          <a:ln>
            <a:noFill/>
          </a:ln>
        </p:spPr>
        <p:txBody>
          <a:bodyPr rtlCol="0" anchor="ctr"/>
          <a:lstStyle/>
          <a:p>
            <a:pPr algn="ctr"/>
          </a:p>
        </p:txBody>
      </p:sp>
      <p:sp>
        <p:nvSpPr>
          <p:cNvPr id="13" name="Rectangle 12"/>
          <p:cNvSpPr/>
          <p:nvPr/>
        </p:nvSpPr>
        <p:spPr>
          <a:xfrm>
            <a:off x="7223760" y="4168960"/>
            <a:ext cx="1024831" cy="49588"/>
          </a:xfrm>
          <a:prstGeom prst="rect">
            <a:avLst/>
          </a:prstGeom>
          <a:solidFill>
            <a:srgbClr val="F3F3F1"/>
          </a:solidFill>
          <a:ln>
            <a:noFill/>
          </a:ln>
        </p:spPr>
        <p:txBody>
          <a:bodyPr rtlCol="0" anchor="ctr"/>
          <a:lstStyle/>
          <a:p>
            <a:pPr algn="ctr"/>
          </a:p>
        </p:txBody>
      </p:sp>
      <p:sp>
        <p:nvSpPr>
          <p:cNvPr id="14" name="Rectangle 13"/>
          <p:cNvSpPr/>
          <p:nvPr/>
        </p:nvSpPr>
        <p:spPr>
          <a:xfrm>
            <a:off x="7223760" y="1904413"/>
            <a:ext cx="578533" cy="1322363"/>
          </a:xfrm>
          <a:prstGeom prst="rect">
            <a:avLst/>
          </a:prstGeom>
          <a:solidFill>
            <a:srgbClr val="2C2F34"/>
          </a:solidFill>
          <a:ln>
            <a:noFill/>
          </a:ln>
        </p:spPr>
        <p:txBody>
          <a:bodyPr rtlCol="0" anchor="ctr"/>
          <a:lstStyle/>
          <a:p>
            <a:pPr algn="ctr"/>
          </a:p>
        </p:txBody>
      </p:sp>
      <p:sp>
        <p:nvSpPr>
          <p:cNvPr id="15" name="Rectangle 14"/>
          <p:cNvSpPr/>
          <p:nvPr/>
        </p:nvSpPr>
        <p:spPr>
          <a:xfrm>
            <a:off x="7223760" y="3226776"/>
            <a:ext cx="595063" cy="66118"/>
          </a:xfrm>
          <a:prstGeom prst="rect">
            <a:avLst/>
          </a:prstGeom>
          <a:solidFill>
            <a:srgbClr val="E2571B"/>
          </a:solidFill>
          <a:ln>
            <a:noFill/>
          </a:ln>
        </p:spPr>
        <p:txBody>
          <a:bodyPr rtlCol="0" anchor="ctr"/>
          <a:lstStyle/>
          <a:p>
            <a:pPr algn="ctr"/>
          </a:p>
        </p:txBody>
      </p:sp>
      <p:cxnSp>
        <p:nvCxnSpPr>
          <p:cNvPr id="16" name="Connector 15"/>
          <p:cNvCxnSpPr/>
          <p:nvPr/>
        </p:nvCxnSpPr>
        <p:spPr>
          <a:xfrm>
            <a:off x="7521291" y="3292895"/>
            <a:ext cx="132237" cy="247943"/>
          </a:xfrm>
          <a:prstGeom prst="line">
            <a:avLst/>
          </a:prstGeom>
          <a:ln w="50800">
            <a:solidFill>
              <a:srgbClr val="E2571B"/>
            </a:solidFill>
          </a:ln>
        </p:spPr>
      </p:cxnSp>
      <p:cxnSp>
        <p:nvCxnSpPr>
          <p:cNvPr id="17" name="Connector 16"/>
          <p:cNvCxnSpPr/>
          <p:nvPr/>
        </p:nvCxnSpPr>
        <p:spPr>
          <a:xfrm>
            <a:off x="7653528" y="3540838"/>
            <a:ext cx="429768" cy="297531"/>
          </a:xfrm>
          <a:prstGeom prst="line">
            <a:avLst/>
          </a:prstGeom>
          <a:ln w="50800">
            <a:solidFill>
              <a:srgbClr val="E2571B"/>
            </a:solidFill>
          </a:ln>
        </p:spPr>
      </p:cxnSp>
      <p:cxnSp>
        <p:nvCxnSpPr>
          <p:cNvPr id="18" name="Connector 17"/>
          <p:cNvCxnSpPr/>
          <p:nvPr/>
        </p:nvCxnSpPr>
        <p:spPr>
          <a:xfrm>
            <a:off x="8083296" y="3838369"/>
            <a:ext cx="0" cy="247943"/>
          </a:xfrm>
          <a:prstGeom prst="line">
            <a:avLst/>
          </a:prstGeom>
          <a:ln w="50800">
            <a:solidFill>
              <a:srgbClr val="E2571B"/>
            </a:solidFill>
          </a:ln>
        </p:spPr>
      </p:cxnSp>
      <p:sp>
        <p:nvSpPr>
          <p:cNvPr id="19" name="Oval 18"/>
          <p:cNvSpPr/>
          <p:nvPr/>
        </p:nvSpPr>
        <p:spPr>
          <a:xfrm>
            <a:off x="7616952" y="3504262"/>
            <a:ext cx="73152" cy="73152"/>
          </a:xfrm>
          <a:prstGeom prst="ellipse">
            <a:avLst/>
          </a:prstGeom>
          <a:solidFill>
            <a:srgbClr val="F3F3F1"/>
          </a:solidFill>
          <a:ln>
            <a:noFill/>
          </a:ln>
        </p:spPr>
        <p:txBody>
          <a:bodyPr rtlCol="0" anchor="ctr"/>
          <a:lstStyle/>
          <a:p>
            <a:pPr algn="ctr"/>
          </a:p>
        </p:txBody>
      </p:sp>
      <p:sp>
        <p:nvSpPr>
          <p:cNvPr id="20" name="Oval 19"/>
          <p:cNvSpPr/>
          <p:nvPr/>
        </p:nvSpPr>
        <p:spPr>
          <a:xfrm>
            <a:off x="8046720" y="3801793"/>
            <a:ext cx="73152" cy="73152"/>
          </a:xfrm>
          <a:prstGeom prst="ellipse">
            <a:avLst/>
          </a:prstGeom>
          <a:solidFill>
            <a:srgbClr val="F3F3F1"/>
          </a:solidFill>
          <a:ln>
            <a:noFill/>
          </a:ln>
        </p:spPr>
        <p:txBody>
          <a:bodyPr rtlCol="0" anchor="ctr"/>
          <a:lstStyle/>
          <a:p>
            <a:pPr algn="ctr"/>
          </a:p>
        </p:txBody>
      </p:sp>
      <p:sp>
        <p:nvSpPr>
          <p:cNvPr id="21" name="Oval 20"/>
          <p:cNvSpPr/>
          <p:nvPr/>
        </p:nvSpPr>
        <p:spPr>
          <a:xfrm>
            <a:off x="8046720" y="4049736"/>
            <a:ext cx="73152" cy="73152"/>
          </a:xfrm>
          <a:prstGeom prst="ellipse">
            <a:avLst/>
          </a:prstGeom>
          <a:solidFill>
            <a:srgbClr val="F3F3F1"/>
          </a:solidFill>
          <a:ln>
            <a:noFill/>
          </a:ln>
        </p:spPr>
        <p:txBody>
          <a:bodyPr rtlCol="0" anchor="ctr"/>
          <a:lstStyle/>
          <a:p>
            <a:pPr algn="ctr"/>
          </a:p>
        </p:txBody>
      </p:sp>
      <p:sp>
        <p:nvSpPr>
          <p:cNvPr id="22" name="Oval 21"/>
          <p:cNvSpPr/>
          <p:nvPr/>
        </p:nvSpPr>
        <p:spPr>
          <a:xfrm>
            <a:off x="6496460" y="2383770"/>
            <a:ext cx="2314135" cy="2314135"/>
          </a:xfrm>
          <a:prstGeom prst="ellipse">
            <a:avLst/>
          </a:prstGeom>
          <a:noFill/>
          <a:ln w="12700">
            <a:solidFill>
              <a:srgbClr val="E2571B"/>
            </a:solidFill>
            <a:prstDash val="dash"/>
          </a:ln>
        </p:spPr>
        <p:txBody>
          <a:bodyPr rtlCol="0" anchor="ctr"/>
          <a:lstStyle/>
          <a:p>
            <a:pPr algn="ctr"/>
          </a:p>
        </p:txBody>
      </p:sp>
      <p:sp>
        <p:nvSpPr>
          <p:cNvPr id="23" name="Rounded Rectangle 22"/>
          <p:cNvSpPr/>
          <p:nvPr/>
        </p:nvSpPr>
        <p:spPr>
          <a:xfrm>
            <a:off x="9703190" y="3226776"/>
            <a:ext cx="462827" cy="2396783"/>
          </a:xfrm>
          <a:prstGeom prst="roundRect">
            <a:avLst/>
          </a:prstGeom>
          <a:solidFill>
            <a:srgbClr val="4A4F57"/>
          </a:solidFill>
          <a:ln>
            <a:noFill/>
          </a:ln>
        </p:spPr>
        <p:txBody>
          <a:bodyPr rtlCol="0" anchor="ctr"/>
          <a:lstStyle/>
          <a:p>
            <a:pPr algn="ctr"/>
          </a:p>
        </p:txBody>
      </p:sp>
      <p:sp>
        <p:nvSpPr>
          <p:cNvPr id="24" name="Oval 23"/>
          <p:cNvSpPr/>
          <p:nvPr/>
        </p:nvSpPr>
        <p:spPr>
          <a:xfrm>
            <a:off x="9769308" y="2813538"/>
            <a:ext cx="330590" cy="363649"/>
          </a:xfrm>
          <a:prstGeom prst="ellipse">
            <a:avLst/>
          </a:prstGeom>
          <a:solidFill>
            <a:srgbClr val="4A4F57"/>
          </a:solidFill>
          <a:ln>
            <a:noFill/>
          </a:ln>
        </p:spPr>
        <p:txBody>
          <a:bodyPr rtlCol="0" anchor="ctr"/>
          <a:lstStyle/>
          <a:p>
            <a:pPr algn="ctr"/>
          </a:p>
        </p:txBody>
      </p:sp>
      <p:sp>
        <p:nvSpPr>
          <p:cNvPr id="25" name="TextBox 24"/>
          <p:cNvSpPr txBox="1"/>
          <p:nvPr/>
        </p:nvSpPr>
        <p:spPr>
          <a:xfrm>
            <a:off x="8294311" y="4077520"/>
            <a:ext cx="822960" cy="182880"/>
          </a:xfrm>
          <a:prstGeom prst="rect">
            <a:avLst/>
          </a:prstGeom>
          <a:noFill/>
        </p:spPr>
        <p:txBody>
          <a:bodyPr wrap="square" lIns="0" rIns="0" tIns="0" bIns="0" anchor="ctr">
            <a:spAutoFit/>
          </a:bodyPr>
          <a:lstStyle/>
          <a:p>
            <a:pPr algn="l">
              <a:lnSpc>
                <a:spcPct val="100000"/>
              </a:lnSpc>
            </a:pPr>
            <a:r>
              <a:rPr sz="800" b="0">
                <a:solidFill>
                  <a:srgbClr val="A9AEB5"/>
                </a:solidFill>
                <a:latin typeface="Noto Sans KR"/>
                <a:ea typeface="Noto Sans KR"/>
                <a:cs typeface="Noto Sans KR"/>
              </a:rPr>
              <a:t>Counter 850</a:t>
            </a:r>
          </a:p>
        </p:txBody>
      </p:sp>
      <p:sp>
        <p:nvSpPr>
          <p:cNvPr id="26" name="TextBox 25"/>
          <p:cNvSpPr txBox="1"/>
          <p:nvPr/>
        </p:nvSpPr>
        <p:spPr>
          <a:xfrm>
            <a:off x="7864543" y="3135336"/>
            <a:ext cx="128016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Rail 하단 약 1,410</a:t>
            </a:r>
          </a:p>
        </p:txBody>
      </p:sp>
      <p:sp>
        <p:nvSpPr>
          <p:cNvPr id="27" name="TextBox 26"/>
          <p:cNvSpPr txBox="1"/>
          <p:nvPr/>
        </p:nvSpPr>
        <p:spPr>
          <a:xfrm>
            <a:off x="7864543" y="1858693"/>
            <a:ext cx="1371600" cy="182880"/>
          </a:xfrm>
          <a:prstGeom prst="rect">
            <a:avLst/>
          </a:prstGeom>
          <a:noFill/>
        </p:spPr>
        <p:txBody>
          <a:bodyPr wrap="square" lIns="0" rIns="0" tIns="0" bIns="0" anchor="ctr">
            <a:spAutoFit/>
          </a:bodyPr>
          <a:lstStyle/>
          <a:p>
            <a:pPr algn="l">
              <a:lnSpc>
                <a:spcPct val="100000"/>
              </a:lnSpc>
            </a:pPr>
            <a:r>
              <a:rPr sz="800" b="0">
                <a:solidFill>
                  <a:srgbClr val="A9AEB5"/>
                </a:solidFill>
                <a:latin typeface="Noto Sans KR"/>
                <a:ea typeface="Noto Sans KR"/>
                <a:cs typeface="Noto Sans KR"/>
              </a:rPr>
              <a:t>상부장 1,450~2,250</a:t>
            </a:r>
          </a:p>
        </p:txBody>
      </p:sp>
      <p:sp>
        <p:nvSpPr>
          <p:cNvPr id="28" name="TextBox 27"/>
          <p:cNvSpPr txBox="1"/>
          <p:nvPr/>
        </p:nvSpPr>
        <p:spPr>
          <a:xfrm>
            <a:off x="8261955" y="2365482"/>
            <a:ext cx="91440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Reach R700 (가정)</a:t>
            </a:r>
          </a:p>
        </p:txBody>
      </p:sp>
      <p:sp>
        <p:nvSpPr>
          <p:cNvPr id="29" name="TextBox 28"/>
          <p:cNvSpPr txBox="1"/>
          <p:nvPr/>
        </p:nvSpPr>
        <p:spPr>
          <a:xfrm>
            <a:off x="9428870" y="2797008"/>
            <a:ext cx="1097280" cy="182880"/>
          </a:xfrm>
          <a:prstGeom prst="rect">
            <a:avLst/>
          </a:prstGeom>
          <a:noFill/>
        </p:spPr>
        <p:txBody>
          <a:bodyPr wrap="square" lIns="0" rIns="0" tIns="0" bIns="0" anchor="ctr">
            <a:spAutoFit/>
          </a:bodyPr>
          <a:lstStyle/>
          <a:p>
            <a:pPr algn="ctr">
              <a:lnSpc>
                <a:spcPct val="100000"/>
              </a:lnSpc>
            </a:pPr>
            <a:r>
              <a:rPr sz="800" b="0">
                <a:solidFill>
                  <a:srgbClr val="A9AEB5"/>
                </a:solidFill>
                <a:latin typeface="Noto Sans KR"/>
                <a:ea typeface="Noto Sans KR"/>
                <a:cs typeface="Noto Sans KR"/>
              </a:rPr>
              <a:t>Human Zone</a:t>
            </a:r>
          </a:p>
        </p:txBody>
      </p:sp>
      <p:sp>
        <p:nvSpPr>
          <p:cNvPr id="30" name="TextBox 29"/>
          <p:cNvSpPr txBox="1"/>
          <p:nvPr/>
        </p:nvSpPr>
        <p:spPr>
          <a:xfrm>
            <a:off x="7223760" y="1556238"/>
            <a:ext cx="1280160" cy="164592"/>
          </a:xfrm>
          <a:prstGeom prst="rect">
            <a:avLst/>
          </a:prstGeom>
          <a:noFill/>
        </p:spPr>
        <p:txBody>
          <a:bodyPr wrap="square" lIns="0" rIns="0" tIns="0" bIns="0" anchor="ctr">
            <a:spAutoFit/>
          </a:bodyPr>
          <a:lstStyle/>
          <a:p>
            <a:pPr algn="l">
              <a:lnSpc>
                <a:spcPct val="100000"/>
              </a:lnSpc>
            </a:pPr>
            <a:r>
              <a:rPr sz="800" b="0">
                <a:solidFill>
                  <a:srgbClr val="A9AEB5"/>
                </a:solidFill>
                <a:latin typeface="Noto Sans KR"/>
                <a:ea typeface="Noto Sans KR"/>
                <a:cs typeface="Noto Sans KR"/>
              </a:rPr>
              <a:t>천장고 약 2,300~2,400</a:t>
            </a:r>
          </a:p>
        </p:txBody>
      </p:sp>
      <p:sp>
        <p:nvSpPr>
          <p:cNvPr id="31" name="Rectangle 30"/>
          <p:cNvSpPr/>
          <p:nvPr/>
        </p:nvSpPr>
        <p:spPr>
          <a:xfrm>
            <a:off x="7223760" y="5806440"/>
            <a:ext cx="602392" cy="182880"/>
          </a:xfrm>
          <a:prstGeom prst="rect">
            <a:avLst/>
          </a:prstGeom>
          <a:solidFill>
            <a:srgbClr val="FFFFFF"/>
          </a:solidFill>
          <a:ln w="6350">
            <a:solidFill>
              <a:srgbClr val="8C9198"/>
            </a:solidFill>
          </a:ln>
        </p:spPr>
        <p:txBody>
          <a:bodyPr rtlCol="0" anchor="ctr"/>
          <a:lstStyle/>
          <a:p>
            <a:pPr algn="ctr"/>
          </a:p>
        </p:txBody>
      </p:sp>
      <p:sp>
        <p:nvSpPr>
          <p:cNvPr id="32" name="TextBox 31"/>
          <p:cNvSpPr txBox="1"/>
          <p:nvPr/>
        </p:nvSpPr>
        <p:spPr>
          <a:xfrm>
            <a:off x="7223760" y="5806440"/>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33" name="TextBox 32"/>
          <p:cNvSpPr txBox="1"/>
          <p:nvPr/>
        </p:nvSpPr>
        <p:spPr>
          <a:xfrm>
            <a:off x="8321040" y="5788152"/>
            <a:ext cx="3200400" cy="228600"/>
          </a:xfrm>
          <a:prstGeom prst="rect">
            <a:avLst/>
          </a:prstGeom>
          <a:noFill/>
        </p:spPr>
        <p:txBody>
          <a:bodyPr wrap="square" lIns="0" rIns="0" tIns="0" bIns="0" anchor="t">
            <a:spAutoFit/>
          </a:bodyPr>
          <a:lstStyle/>
          <a:p>
            <a:pPr algn="l">
              <a:lnSpc>
                <a:spcPct val="100000"/>
              </a:lnSpc>
            </a:pPr>
            <a:r>
              <a:rPr sz="900" b="0">
                <a:solidFill>
                  <a:srgbClr val="80868D"/>
                </a:solidFill>
                <a:latin typeface="Noto Sans KR"/>
                <a:ea typeface="Noto Sans KR"/>
                <a:cs typeface="Noto Sans KR"/>
              </a:rPr>
              <a:t>Kitchen 단면 · 상부장 하단 Rail · 역설치 Arm (도식)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01  투자 판단 요약</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Q6</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7" name="Rectangle 6"/>
          <p:cNvSpPr/>
          <p:nvPr/>
        </p:nvSpPr>
        <p:spPr>
          <a:xfrm>
            <a:off x="10353751" y="521208"/>
            <a:ext cx="329184" cy="219456"/>
          </a:xfrm>
          <a:prstGeom prst="rect">
            <a:avLst/>
          </a:prstGeom>
          <a:noFill/>
          <a:ln w="6350">
            <a:solidFill>
              <a:srgbClr val="C9CDD2"/>
            </a:solidFill>
          </a:ln>
        </p:spPr>
        <p:txBody>
          <a:bodyPr rtlCol="0" anchor="ctr"/>
          <a:lstStyle/>
          <a:p>
            <a:pPr algn="ctr"/>
          </a:p>
        </p:txBody>
      </p:sp>
      <p:sp>
        <p:nvSpPr>
          <p:cNvPr id="8" name="TextBox 7"/>
          <p:cNvSpPr txBox="1"/>
          <p:nvPr/>
        </p:nvSpPr>
        <p:spPr>
          <a:xfrm>
            <a:off x="10353751"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9" name="Rectangle 8"/>
          <p:cNvSpPr/>
          <p:nvPr/>
        </p:nvSpPr>
        <p:spPr>
          <a:xfrm>
            <a:off x="9969703" y="521208"/>
            <a:ext cx="329184" cy="219456"/>
          </a:xfrm>
          <a:prstGeom prst="rect">
            <a:avLst/>
          </a:prstGeom>
          <a:noFill/>
          <a:ln w="6350">
            <a:solidFill>
              <a:srgbClr val="C9CDD2"/>
            </a:solidFill>
          </a:ln>
        </p:spPr>
        <p:txBody>
          <a:bodyPr rtlCol="0" anchor="ctr"/>
          <a:lstStyle/>
          <a:p>
            <a:pPr algn="ctr"/>
          </a:p>
        </p:txBody>
      </p:sp>
      <p:sp>
        <p:nvSpPr>
          <p:cNvPr id="10" name="TextBox 9"/>
          <p:cNvSpPr txBox="1"/>
          <p:nvPr/>
        </p:nvSpPr>
        <p:spPr>
          <a:xfrm>
            <a:off x="9969703"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Q3</a:t>
            </a:r>
          </a:p>
        </p:txBody>
      </p:sp>
      <p:sp>
        <p:nvSpPr>
          <p:cNvPr id="11" name="Rectangle 10"/>
          <p:cNvSpPr/>
          <p:nvPr/>
        </p:nvSpPr>
        <p:spPr>
          <a:xfrm>
            <a:off x="9585655" y="521208"/>
            <a:ext cx="329184" cy="219456"/>
          </a:xfrm>
          <a:prstGeom prst="rect">
            <a:avLst/>
          </a:prstGeom>
          <a:noFill/>
          <a:ln w="6350">
            <a:solidFill>
              <a:srgbClr val="C9CDD2"/>
            </a:solidFill>
          </a:ln>
        </p:spPr>
        <p:txBody>
          <a:bodyPr rtlCol="0" anchor="ctr"/>
          <a:lstStyle/>
          <a:p>
            <a:pPr algn="ctr"/>
          </a:p>
        </p:txBody>
      </p:sp>
      <p:sp>
        <p:nvSpPr>
          <p:cNvPr id="12" name="TextBox 11"/>
          <p:cNvSpPr txBox="1"/>
          <p:nvPr/>
        </p:nvSpPr>
        <p:spPr>
          <a:xfrm>
            <a:off x="9585655"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Q2</a:t>
            </a:r>
          </a:p>
        </p:txBody>
      </p:sp>
      <p:sp>
        <p:nvSpPr>
          <p:cNvPr id="13" name="Rectangle 12"/>
          <p:cNvSpPr/>
          <p:nvPr/>
        </p:nvSpPr>
        <p:spPr>
          <a:xfrm>
            <a:off x="9201607" y="521208"/>
            <a:ext cx="329184" cy="219456"/>
          </a:xfrm>
          <a:prstGeom prst="rect">
            <a:avLst/>
          </a:prstGeom>
          <a:noFill/>
          <a:ln w="6350">
            <a:solidFill>
              <a:srgbClr val="C9CDD2"/>
            </a:solidFill>
          </a:ln>
        </p:spPr>
        <p:txBody>
          <a:bodyPr rtlCol="0" anchor="ctr"/>
          <a:lstStyle/>
          <a:p>
            <a:pPr algn="ctr"/>
          </a:p>
        </p:txBody>
      </p:sp>
      <p:sp>
        <p:nvSpPr>
          <p:cNvPr id="14" name="TextBox 13"/>
          <p:cNvSpPr txBox="1"/>
          <p:nvPr/>
        </p:nvSpPr>
        <p:spPr>
          <a:xfrm>
            <a:off x="920160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15" name="TextBox 1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Seed 투자 판단을 위한 6개 질문과 현재 답</a:t>
            </a:r>
          </a:p>
        </p:txBody>
      </p:sp>
      <p:sp>
        <p:nvSpPr>
          <p:cNvPr id="16" name="TextBox 1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모든 Slide는 아래 질문 중 하나 이상에 답함 (우측 상단 Q 표시). 현재 답은 가설, Seed 기간에 Evidence로 전환.</a:t>
            </a:r>
          </a:p>
        </p:txBody>
      </p:sp>
      <p:graphicFrame>
        <p:nvGraphicFramePr>
          <p:cNvPr id="17" name="Table 16"/>
          <p:cNvGraphicFramePr>
            <a:graphicFrameLocks noGrp="1"/>
          </p:cNvGraphicFramePr>
          <p:nvPr/>
        </p:nvGraphicFramePr>
        <p:xfrm>
          <a:off x="685800" y="1790567"/>
          <a:ext cx="10817352" cy="3038856"/>
        </p:xfrm>
        <a:graphic>
          <a:graphicData uri="http://schemas.openxmlformats.org/drawingml/2006/table">
            <a:tbl>
              <a:tblPr firstRow="0" bandRow="0">
                <a:tableStyleId>{2D5ABB26-0587-4C30-8999-92F81FD0307C}</a:tableStyleId>
              </a:tblPr>
              <a:tblGrid>
                <a:gridCol w="411480"/>
                <a:gridCol w="2514600"/>
                <a:gridCol w="4572000"/>
                <a:gridCol w="960120"/>
                <a:gridCol w="2359152"/>
              </a:tblGrid>
              <a:tr h="302768">
                <a:tc>
                  <a:txBody>
                    <a:bodyPr wrap="square"/>
                    <a:lstStyle/>
                    <a:p>
                      <a:pPr algn="l">
                        <a:lnSpc>
                          <a:spcPct val="100000"/>
                        </a:lnSpc>
                      </a:pPr>
                      <a:r>
                        <a:rPr sz="10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현재 답 (가설)</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Seed 검증</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Q1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누가 가장 먼저 돈을 내는가?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구축 아파트 Premium Kitchen Remodeling 세대 (철거·가구 신규 시공 예정 세대)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Interview 50명 · 유료 Pilot 3~5세대</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얼마까지 지불할 가능성이 있는가?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증분 450 + Robot 1,490만원 또는 월 33만원 Rental.</a:t>
                      </a:r>
                    </a:p>
                    <a:p>
                      <a:pPr algn="l">
                        <a:lnSpc>
                          <a:spcPct val="100000"/>
                        </a:lnSpc>
                      </a:pPr>
                      <a:r>
                        <a:rPr sz="1000" b="0">
                          <a:solidFill>
                            <a:srgbClr val="15171A"/>
                          </a:solidFill>
                          <a:latin typeface="Noto Sans KR"/>
                          <a:ea typeface="Noto Sans KR"/>
                          <a:cs typeface="Noto Sans KR"/>
                        </a:rPr>
                        <a:t>가치 Anchor 월 11~24만원과 Gap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PSM · Conjoint (n≥300) · 예약금 Test</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 세대에서 회사가 얼마를 버는가?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5년 매출 2,418만원, Lifetime Contribution 458만원 (Y3 원가) → 813만원 (Y5 원가)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BOM · 설치시간 · Service 원가 실측</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집마다 다른 주방을 얼마나 표준화하는가?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Geometry 5종 × Robot Architecture 4종 → Template 3~5개로 주요 평면 Cover 가설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실제 평면 30개 분석 · Standard Module 사용률 65%</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설치대수 증가 시 반복매출·GM이 개선되는가?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매출총이익률 25% (Y3) → 36% (Y5). Recurring 비중은 Y5 4%, 정상상태 약 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Care 방문원가 · Consumables 교체주기 실측</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Seed 이후 어떤 Risk가 제거되는가?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Apartment Fit · 기술 · 표준화 · WTP · 설치/Rental/Service 경제성 · Channel의 8개 Risk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M6~M24 Kill Criteria 5단계</a:t>
                      </a:r>
                    </a:p>
                  </a:txBody>
                  <a:tcPr marL="73152" marR="73152" marT="54864" marB="54864" anchor="t">
                    <a:lnL w="0">
                      <a:noFill/>
                    </a:lnL>
                    <a:lnR w="0">
                      <a:noFill/>
                    </a:lnR>
                    <a:lnT w="0">
                      <a:noFill/>
                    </a:lnT>
                    <a:lnB w="9525">
                      <a:solidFill>
                        <a:srgbClr val="E2E4E7"/>
                      </a:solidFill>
                    </a:lnB>
                    <a:noFill/>
                  </a:tcPr>
                </a:tc>
              </a:tr>
            </a:tbl>
          </a:graphicData>
        </a:graphic>
      </p:graphicFrame>
      <p:sp>
        <p:nvSpPr>
          <p:cNvPr id="18" name="Rectangle 17"/>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19" name="Rectangle 18"/>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20" name="TextBox 19"/>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Seed 20억원 = 완성형 미래주방 개발자금이 아닌, 공간성·기술성·표준화·가격·설치경제성·고객수요·Channel을 검증하는 자본</a:t>
            </a:r>
          </a:p>
        </p:txBody>
      </p:sp>
      <p:sp>
        <p:nvSpPr>
          <p:cNvPr id="21" name="TextBox 2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22" name="TextBox 2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02  Investment Proof</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Q6</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Investment Proof: 현재 있는 것과 계획인 것</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현재 Evidence와 Seed Target을 혼합하지 않음. 존재하지 않는 항목은 "없음"으로 표기.</a:t>
            </a:r>
          </a:p>
        </p:txBody>
      </p:sp>
      <p:sp>
        <p:nvSpPr>
          <p:cNvPr id="7" name="Rectangle 6"/>
          <p:cNvSpPr/>
          <p:nvPr/>
        </p:nvSpPr>
        <p:spPr>
          <a:xfrm>
            <a:off x="685800" y="1790567"/>
            <a:ext cx="5227167" cy="384048"/>
          </a:xfrm>
          <a:prstGeom prst="rect">
            <a:avLst/>
          </a:prstGeom>
          <a:solidFill>
            <a:srgbClr val="15171A"/>
          </a:solidFill>
          <a:ln>
            <a:noFill/>
          </a:ln>
        </p:spPr>
        <p:txBody>
          <a:bodyPr rtlCol="0" anchor="ctr"/>
          <a:lstStyle/>
          <a:p>
            <a:pPr algn="ctr"/>
          </a:p>
        </p:txBody>
      </p:sp>
      <p:sp>
        <p:nvSpPr>
          <p:cNvPr id="8" name="TextBox 7"/>
          <p:cNvSpPr txBox="1"/>
          <p:nvPr/>
        </p:nvSpPr>
        <p:spPr>
          <a:xfrm>
            <a:off x="822960" y="1790567"/>
            <a:ext cx="522716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CURRENT EVIDENCE  (2026.10 기준)</a:t>
            </a:r>
          </a:p>
        </p:txBody>
      </p:sp>
      <p:sp>
        <p:nvSpPr>
          <p:cNvPr id="9" name="Rectangle 8"/>
          <p:cNvSpPr/>
          <p:nvPr/>
        </p:nvSpPr>
        <p:spPr>
          <a:xfrm>
            <a:off x="6278727" y="1790567"/>
            <a:ext cx="5227167" cy="384048"/>
          </a:xfrm>
          <a:prstGeom prst="rect">
            <a:avLst/>
          </a:prstGeom>
          <a:solidFill>
            <a:srgbClr val="E2571B"/>
          </a:solidFill>
          <a:ln>
            <a:noFill/>
          </a:ln>
        </p:spPr>
        <p:txBody>
          <a:bodyPr rtlCol="0" anchor="ctr"/>
          <a:lstStyle/>
          <a:p>
            <a:pPr algn="ctr"/>
          </a:p>
        </p:txBody>
      </p:sp>
      <p:sp>
        <p:nvSpPr>
          <p:cNvPr id="10" name="TextBox 9"/>
          <p:cNvSpPr txBox="1"/>
          <p:nvPr/>
        </p:nvSpPr>
        <p:spPr>
          <a:xfrm>
            <a:off x="6415887" y="1790567"/>
            <a:ext cx="522716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SEED TARGET  (M24까지)</a:t>
            </a:r>
          </a:p>
        </p:txBody>
      </p:sp>
      <p:cxnSp>
        <p:nvCxnSpPr>
          <p:cNvPr id="11" name="Connector 10"/>
          <p:cNvCxnSpPr/>
          <p:nvPr/>
        </p:nvCxnSpPr>
        <p:spPr>
          <a:xfrm>
            <a:off x="685800" y="2640959"/>
            <a:ext cx="5227167" cy="0"/>
          </a:xfrm>
          <a:prstGeom prst="line">
            <a:avLst/>
          </a:prstGeom>
          <a:ln w="9525">
            <a:solidFill>
              <a:srgbClr val="E2E4E7"/>
            </a:solidFill>
          </a:ln>
        </p:spPr>
      </p:cxnSp>
      <p:sp>
        <p:nvSpPr>
          <p:cNvPr id="12" name="TextBox 11"/>
          <p:cNvSpPr txBox="1"/>
          <p:nvPr/>
        </p:nvSpPr>
        <p:spPr>
          <a:xfrm>
            <a:off x="777240" y="2275199"/>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Founder Experience</a:t>
            </a:r>
          </a:p>
        </p:txBody>
      </p:sp>
      <p:sp>
        <p:nvSpPr>
          <p:cNvPr id="13" name="TextBox 12"/>
          <p:cNvSpPr txBox="1"/>
          <p:nvPr/>
        </p:nvSpPr>
        <p:spPr>
          <a:xfrm>
            <a:off x="3246120" y="2275199"/>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[Founder 정보 필요]</a:t>
            </a:r>
          </a:p>
        </p:txBody>
      </p:sp>
      <p:sp>
        <p:nvSpPr>
          <p:cNvPr id="14" name="Rectangle 13"/>
          <p:cNvSpPr/>
          <p:nvPr/>
        </p:nvSpPr>
        <p:spPr>
          <a:xfrm>
            <a:off x="4861407" y="2357495"/>
            <a:ext cx="987750" cy="182880"/>
          </a:xfrm>
          <a:prstGeom prst="rect">
            <a:avLst/>
          </a:prstGeom>
          <a:solidFill>
            <a:srgbClr val="F4F5F6"/>
          </a:solidFill>
          <a:ln w="6350">
            <a:solidFill>
              <a:srgbClr val="C9CDD2"/>
            </a:solidFill>
          </a:ln>
        </p:spPr>
        <p:txBody>
          <a:bodyPr rtlCol="0" anchor="ctr"/>
          <a:lstStyle/>
          <a:p>
            <a:pPr algn="ctr"/>
          </a:p>
        </p:txBody>
      </p:sp>
      <p:sp>
        <p:nvSpPr>
          <p:cNvPr id="15" name="TextBox 14"/>
          <p:cNvSpPr txBox="1"/>
          <p:nvPr/>
        </p:nvSpPr>
        <p:spPr>
          <a:xfrm>
            <a:off x="4861407" y="2357495"/>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cxnSp>
        <p:nvCxnSpPr>
          <p:cNvPr id="16" name="Connector 15"/>
          <p:cNvCxnSpPr/>
          <p:nvPr/>
        </p:nvCxnSpPr>
        <p:spPr>
          <a:xfrm>
            <a:off x="685800" y="3034151"/>
            <a:ext cx="5227167" cy="0"/>
          </a:xfrm>
          <a:prstGeom prst="line">
            <a:avLst/>
          </a:prstGeom>
          <a:ln w="9525">
            <a:solidFill>
              <a:srgbClr val="E2E4E7"/>
            </a:solidFill>
          </a:ln>
        </p:spPr>
      </p:cxnSp>
      <p:sp>
        <p:nvSpPr>
          <p:cNvPr id="17" name="TextBox 16"/>
          <p:cNvSpPr txBox="1"/>
          <p:nvPr/>
        </p:nvSpPr>
        <p:spPr>
          <a:xfrm>
            <a:off x="777240" y="2668391"/>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실제 Kitchen 설계자료 · 평면 분석</a:t>
            </a:r>
          </a:p>
        </p:txBody>
      </p:sp>
      <p:sp>
        <p:nvSpPr>
          <p:cNvPr id="18" name="TextBox 17"/>
          <p:cNvSpPr txBox="1"/>
          <p:nvPr/>
        </p:nvSpPr>
        <p:spPr>
          <a:xfrm>
            <a:off x="3246120" y="2668391"/>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19" name="Rectangle 18"/>
          <p:cNvSpPr/>
          <p:nvPr/>
        </p:nvSpPr>
        <p:spPr>
          <a:xfrm>
            <a:off x="4861407" y="2750687"/>
            <a:ext cx="314960" cy="182880"/>
          </a:xfrm>
          <a:prstGeom prst="rect">
            <a:avLst/>
          </a:prstGeom>
          <a:solidFill>
            <a:srgbClr val="FFFFFF"/>
          </a:solidFill>
          <a:ln w="6350">
            <a:solidFill>
              <a:srgbClr val="E2E4E7"/>
            </a:solidFill>
          </a:ln>
        </p:spPr>
        <p:txBody>
          <a:bodyPr rtlCol="0" anchor="ctr"/>
          <a:lstStyle/>
          <a:p>
            <a:pPr algn="ctr"/>
          </a:p>
        </p:txBody>
      </p:sp>
      <p:sp>
        <p:nvSpPr>
          <p:cNvPr id="20" name="TextBox 19"/>
          <p:cNvSpPr txBox="1"/>
          <p:nvPr/>
        </p:nvSpPr>
        <p:spPr>
          <a:xfrm>
            <a:off x="4861407" y="2750687"/>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21" name="Connector 20"/>
          <p:cNvCxnSpPr/>
          <p:nvPr/>
        </p:nvCxnSpPr>
        <p:spPr>
          <a:xfrm>
            <a:off x="685800" y="3427343"/>
            <a:ext cx="5227167" cy="0"/>
          </a:xfrm>
          <a:prstGeom prst="line">
            <a:avLst/>
          </a:prstGeom>
          <a:ln w="9525">
            <a:solidFill>
              <a:srgbClr val="E2E4E7"/>
            </a:solidFill>
          </a:ln>
        </p:spPr>
      </p:cxnSp>
      <p:sp>
        <p:nvSpPr>
          <p:cNvPr id="22" name="TextBox 21"/>
          <p:cNvSpPr txBox="1"/>
          <p:nvPr/>
        </p:nvSpPr>
        <p:spPr>
          <a:xfrm>
            <a:off x="777240" y="3061583"/>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Prototype · Demo</a:t>
            </a:r>
          </a:p>
        </p:txBody>
      </p:sp>
      <p:sp>
        <p:nvSpPr>
          <p:cNvPr id="23" name="TextBox 22"/>
          <p:cNvSpPr txBox="1"/>
          <p:nvPr/>
        </p:nvSpPr>
        <p:spPr>
          <a:xfrm>
            <a:off x="3246120" y="3061583"/>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24" name="Rectangle 23"/>
          <p:cNvSpPr/>
          <p:nvPr/>
        </p:nvSpPr>
        <p:spPr>
          <a:xfrm>
            <a:off x="4861407" y="3143879"/>
            <a:ext cx="314960" cy="182880"/>
          </a:xfrm>
          <a:prstGeom prst="rect">
            <a:avLst/>
          </a:prstGeom>
          <a:solidFill>
            <a:srgbClr val="FFFFFF"/>
          </a:solidFill>
          <a:ln w="6350">
            <a:solidFill>
              <a:srgbClr val="E2E4E7"/>
            </a:solidFill>
          </a:ln>
        </p:spPr>
        <p:txBody>
          <a:bodyPr rtlCol="0" anchor="ctr"/>
          <a:lstStyle/>
          <a:p>
            <a:pPr algn="ctr"/>
          </a:p>
        </p:txBody>
      </p:sp>
      <p:sp>
        <p:nvSpPr>
          <p:cNvPr id="25" name="TextBox 24"/>
          <p:cNvSpPr txBox="1"/>
          <p:nvPr/>
        </p:nvSpPr>
        <p:spPr>
          <a:xfrm>
            <a:off x="4861407" y="3143879"/>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26" name="Connector 25"/>
          <p:cNvCxnSpPr/>
          <p:nvPr/>
        </p:nvCxnSpPr>
        <p:spPr>
          <a:xfrm>
            <a:off x="685800" y="3820535"/>
            <a:ext cx="5227167" cy="0"/>
          </a:xfrm>
          <a:prstGeom prst="line">
            <a:avLst/>
          </a:prstGeom>
          <a:ln w="9525">
            <a:solidFill>
              <a:srgbClr val="E2E4E7"/>
            </a:solidFill>
          </a:ln>
        </p:spPr>
      </p:cxnSp>
      <p:sp>
        <p:nvSpPr>
          <p:cNvPr id="27" name="TextBox 26"/>
          <p:cNvSpPr txBox="1"/>
          <p:nvPr/>
        </p:nvSpPr>
        <p:spPr>
          <a:xfrm>
            <a:off x="777240" y="3454775"/>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Customer Interview</a:t>
            </a:r>
          </a:p>
        </p:txBody>
      </p:sp>
      <p:sp>
        <p:nvSpPr>
          <p:cNvPr id="28" name="TextBox 27"/>
          <p:cNvSpPr txBox="1"/>
          <p:nvPr/>
        </p:nvSpPr>
        <p:spPr>
          <a:xfrm>
            <a:off x="3246120" y="3454775"/>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29" name="Rectangle 28"/>
          <p:cNvSpPr/>
          <p:nvPr/>
        </p:nvSpPr>
        <p:spPr>
          <a:xfrm>
            <a:off x="4861407" y="3537071"/>
            <a:ext cx="314960" cy="182880"/>
          </a:xfrm>
          <a:prstGeom prst="rect">
            <a:avLst/>
          </a:prstGeom>
          <a:solidFill>
            <a:srgbClr val="FFFFFF"/>
          </a:solidFill>
          <a:ln w="6350">
            <a:solidFill>
              <a:srgbClr val="E2E4E7"/>
            </a:solidFill>
          </a:ln>
        </p:spPr>
        <p:txBody>
          <a:bodyPr rtlCol="0" anchor="ctr"/>
          <a:lstStyle/>
          <a:p>
            <a:pPr algn="ctr"/>
          </a:p>
        </p:txBody>
      </p:sp>
      <p:sp>
        <p:nvSpPr>
          <p:cNvPr id="30" name="TextBox 29"/>
          <p:cNvSpPr txBox="1"/>
          <p:nvPr/>
        </p:nvSpPr>
        <p:spPr>
          <a:xfrm>
            <a:off x="4861407" y="3537071"/>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31" name="Connector 30"/>
          <p:cNvCxnSpPr/>
          <p:nvPr/>
        </p:nvCxnSpPr>
        <p:spPr>
          <a:xfrm>
            <a:off x="685800" y="4213727"/>
            <a:ext cx="5227167" cy="0"/>
          </a:xfrm>
          <a:prstGeom prst="line">
            <a:avLst/>
          </a:prstGeom>
          <a:ln w="9525">
            <a:solidFill>
              <a:srgbClr val="E2E4E7"/>
            </a:solidFill>
          </a:ln>
        </p:spPr>
      </p:cxnSp>
      <p:sp>
        <p:nvSpPr>
          <p:cNvPr id="32" name="TextBox 31"/>
          <p:cNvSpPr txBox="1"/>
          <p:nvPr/>
        </p:nvSpPr>
        <p:spPr>
          <a:xfrm>
            <a:off x="777240" y="3847967"/>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Partner Meeting · LOI</a:t>
            </a:r>
          </a:p>
        </p:txBody>
      </p:sp>
      <p:sp>
        <p:nvSpPr>
          <p:cNvPr id="33" name="TextBox 32"/>
          <p:cNvSpPr txBox="1"/>
          <p:nvPr/>
        </p:nvSpPr>
        <p:spPr>
          <a:xfrm>
            <a:off x="3246120" y="3847967"/>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34" name="Rectangle 33"/>
          <p:cNvSpPr/>
          <p:nvPr/>
        </p:nvSpPr>
        <p:spPr>
          <a:xfrm>
            <a:off x="4861407" y="3930263"/>
            <a:ext cx="314960" cy="182880"/>
          </a:xfrm>
          <a:prstGeom prst="rect">
            <a:avLst/>
          </a:prstGeom>
          <a:solidFill>
            <a:srgbClr val="FFFFFF"/>
          </a:solidFill>
          <a:ln w="6350">
            <a:solidFill>
              <a:srgbClr val="E2E4E7"/>
            </a:solidFill>
          </a:ln>
        </p:spPr>
        <p:txBody>
          <a:bodyPr rtlCol="0" anchor="ctr"/>
          <a:lstStyle/>
          <a:p>
            <a:pPr algn="ctr"/>
          </a:p>
        </p:txBody>
      </p:sp>
      <p:sp>
        <p:nvSpPr>
          <p:cNvPr id="35" name="TextBox 34"/>
          <p:cNvSpPr txBox="1"/>
          <p:nvPr/>
        </p:nvSpPr>
        <p:spPr>
          <a:xfrm>
            <a:off x="4861407" y="3930263"/>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36" name="Connector 35"/>
          <p:cNvCxnSpPr/>
          <p:nvPr/>
        </p:nvCxnSpPr>
        <p:spPr>
          <a:xfrm>
            <a:off x="685800" y="4606919"/>
            <a:ext cx="5227167" cy="0"/>
          </a:xfrm>
          <a:prstGeom prst="line">
            <a:avLst/>
          </a:prstGeom>
          <a:ln w="9525">
            <a:solidFill>
              <a:srgbClr val="E2E4E7"/>
            </a:solidFill>
          </a:ln>
        </p:spPr>
      </p:cxnSp>
      <p:sp>
        <p:nvSpPr>
          <p:cNvPr id="37" name="TextBox 36"/>
          <p:cNvSpPr txBox="1"/>
          <p:nvPr/>
        </p:nvSpPr>
        <p:spPr>
          <a:xfrm>
            <a:off x="777240" y="4241159"/>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Patent</a:t>
            </a:r>
          </a:p>
        </p:txBody>
      </p:sp>
      <p:sp>
        <p:nvSpPr>
          <p:cNvPr id="38" name="TextBox 37"/>
          <p:cNvSpPr txBox="1"/>
          <p:nvPr/>
        </p:nvSpPr>
        <p:spPr>
          <a:xfrm>
            <a:off x="3246120" y="4241159"/>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 (출원 후보 10건 정리, A10)</a:t>
            </a:r>
          </a:p>
        </p:txBody>
      </p:sp>
      <p:sp>
        <p:nvSpPr>
          <p:cNvPr id="39" name="Rectangle 38"/>
          <p:cNvSpPr/>
          <p:nvPr/>
        </p:nvSpPr>
        <p:spPr>
          <a:xfrm>
            <a:off x="4861407" y="4323455"/>
            <a:ext cx="314960" cy="182880"/>
          </a:xfrm>
          <a:prstGeom prst="rect">
            <a:avLst/>
          </a:prstGeom>
          <a:solidFill>
            <a:srgbClr val="FFFFFF"/>
          </a:solidFill>
          <a:ln w="6350">
            <a:solidFill>
              <a:srgbClr val="E2E4E7"/>
            </a:solidFill>
          </a:ln>
        </p:spPr>
        <p:txBody>
          <a:bodyPr rtlCol="0" anchor="ctr"/>
          <a:lstStyle/>
          <a:p>
            <a:pPr algn="ctr"/>
          </a:p>
        </p:txBody>
      </p:sp>
      <p:sp>
        <p:nvSpPr>
          <p:cNvPr id="40" name="TextBox 39"/>
          <p:cNvSpPr txBox="1"/>
          <p:nvPr/>
        </p:nvSpPr>
        <p:spPr>
          <a:xfrm>
            <a:off x="4861407" y="4323455"/>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41" name="Connector 40"/>
          <p:cNvCxnSpPr/>
          <p:nvPr/>
        </p:nvCxnSpPr>
        <p:spPr>
          <a:xfrm>
            <a:off x="685800" y="5000111"/>
            <a:ext cx="5227167" cy="0"/>
          </a:xfrm>
          <a:prstGeom prst="line">
            <a:avLst/>
          </a:prstGeom>
          <a:ln w="9525">
            <a:solidFill>
              <a:srgbClr val="E2E4E7"/>
            </a:solidFill>
          </a:ln>
        </p:spPr>
      </p:cxnSp>
      <p:sp>
        <p:nvSpPr>
          <p:cNvPr id="42" name="TextBox 41"/>
          <p:cNvSpPr txBox="1"/>
          <p:nvPr/>
        </p:nvSpPr>
        <p:spPr>
          <a:xfrm>
            <a:off x="777240" y="4634351"/>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BOM</a:t>
            </a:r>
          </a:p>
        </p:txBody>
      </p:sp>
      <p:sp>
        <p:nvSpPr>
          <p:cNvPr id="43" name="TextBox 42"/>
          <p:cNvSpPr txBox="1"/>
          <p:nvPr/>
        </p:nvSpPr>
        <p:spPr>
          <a:xfrm>
            <a:off x="3246120" y="4634351"/>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공개가 기반 추정만 (A4)</a:t>
            </a:r>
          </a:p>
        </p:txBody>
      </p:sp>
      <p:sp>
        <p:nvSpPr>
          <p:cNvPr id="44" name="Rectangle 43"/>
          <p:cNvSpPr/>
          <p:nvPr/>
        </p:nvSpPr>
        <p:spPr>
          <a:xfrm>
            <a:off x="4861407" y="4716647"/>
            <a:ext cx="796639" cy="182880"/>
          </a:xfrm>
          <a:prstGeom prst="rect">
            <a:avLst/>
          </a:prstGeom>
          <a:solidFill>
            <a:srgbClr val="FBEDE6"/>
          </a:solidFill>
          <a:ln>
            <a:noFill/>
          </a:ln>
        </p:spPr>
        <p:txBody>
          <a:bodyPr rtlCol="0" anchor="ctr"/>
          <a:lstStyle/>
          <a:p>
            <a:pPr algn="ctr"/>
          </a:p>
        </p:txBody>
      </p:sp>
      <p:sp>
        <p:nvSpPr>
          <p:cNvPr id="45" name="TextBox 44"/>
          <p:cNvSpPr txBox="1"/>
          <p:nvPr/>
        </p:nvSpPr>
        <p:spPr>
          <a:xfrm>
            <a:off x="4861407" y="4716647"/>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cxnSp>
        <p:nvCxnSpPr>
          <p:cNvPr id="46" name="Connector 45"/>
          <p:cNvCxnSpPr/>
          <p:nvPr/>
        </p:nvCxnSpPr>
        <p:spPr>
          <a:xfrm>
            <a:off x="685800" y="5393303"/>
            <a:ext cx="5227167" cy="0"/>
          </a:xfrm>
          <a:prstGeom prst="line">
            <a:avLst/>
          </a:prstGeom>
          <a:ln w="9525">
            <a:solidFill>
              <a:srgbClr val="E2E4E7"/>
            </a:solidFill>
          </a:ln>
        </p:spPr>
      </p:cxnSp>
      <p:sp>
        <p:nvSpPr>
          <p:cNvPr id="47" name="TextBox 46"/>
          <p:cNvSpPr txBox="1"/>
          <p:nvPr/>
        </p:nvSpPr>
        <p:spPr>
          <a:xfrm>
            <a:off x="777240" y="5027543"/>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시장 데이터</a:t>
            </a:r>
          </a:p>
        </p:txBody>
      </p:sp>
      <p:sp>
        <p:nvSpPr>
          <p:cNvPr id="48" name="TextBox 47"/>
          <p:cNvSpPr txBox="1"/>
          <p:nvPr/>
        </p:nvSpPr>
        <p:spPr>
          <a:xfrm>
            <a:off x="3246120" y="5027543"/>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공식 통계 정리 (A2, A23)</a:t>
            </a:r>
          </a:p>
        </p:txBody>
      </p:sp>
      <p:sp>
        <p:nvSpPr>
          <p:cNvPr id="49" name="Rectangle 48"/>
          <p:cNvSpPr/>
          <p:nvPr/>
        </p:nvSpPr>
        <p:spPr>
          <a:xfrm>
            <a:off x="4861407" y="5109839"/>
            <a:ext cx="373888" cy="182880"/>
          </a:xfrm>
          <a:prstGeom prst="rect">
            <a:avLst/>
          </a:prstGeom>
          <a:solidFill>
            <a:srgbClr val="15171A"/>
          </a:solidFill>
          <a:ln>
            <a:noFill/>
          </a:ln>
        </p:spPr>
        <p:txBody>
          <a:bodyPr rtlCol="0" anchor="ctr"/>
          <a:lstStyle/>
          <a:p>
            <a:pPr algn="ctr"/>
          </a:p>
        </p:txBody>
      </p:sp>
      <p:sp>
        <p:nvSpPr>
          <p:cNvPr id="50" name="TextBox 49"/>
          <p:cNvSpPr txBox="1"/>
          <p:nvPr/>
        </p:nvSpPr>
        <p:spPr>
          <a:xfrm>
            <a:off x="4861407" y="510983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cxnSp>
        <p:nvCxnSpPr>
          <p:cNvPr id="51" name="Connector 50"/>
          <p:cNvCxnSpPr/>
          <p:nvPr/>
        </p:nvCxnSpPr>
        <p:spPr>
          <a:xfrm>
            <a:off x="685800" y="5786495"/>
            <a:ext cx="5227167" cy="0"/>
          </a:xfrm>
          <a:prstGeom prst="line">
            <a:avLst/>
          </a:prstGeom>
          <a:ln w="9525">
            <a:solidFill>
              <a:srgbClr val="E2E4E7"/>
            </a:solidFill>
          </a:ln>
        </p:spPr>
      </p:cxnSp>
      <p:sp>
        <p:nvSpPr>
          <p:cNvPr id="52" name="TextBox 51"/>
          <p:cNvSpPr txBox="1"/>
          <p:nvPr/>
        </p:nvSpPr>
        <p:spPr>
          <a:xfrm>
            <a:off x="777240" y="5420735"/>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사업·재무 모델</a:t>
            </a:r>
          </a:p>
        </p:txBody>
      </p:sp>
      <p:sp>
        <p:nvSpPr>
          <p:cNvPr id="53" name="TextBox 52"/>
          <p:cNvSpPr txBox="1"/>
          <p:nvPr/>
        </p:nvSpPr>
        <p:spPr>
          <a:xfrm>
            <a:off x="3246120" y="5420735"/>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가설 수립 (본 자료, xlsx)</a:t>
            </a:r>
          </a:p>
        </p:txBody>
      </p:sp>
      <p:sp>
        <p:nvSpPr>
          <p:cNvPr id="54" name="Rectangle 53"/>
          <p:cNvSpPr/>
          <p:nvPr/>
        </p:nvSpPr>
        <p:spPr>
          <a:xfrm>
            <a:off x="4861407" y="5503031"/>
            <a:ext cx="796639" cy="182880"/>
          </a:xfrm>
          <a:prstGeom prst="rect">
            <a:avLst/>
          </a:prstGeom>
          <a:solidFill>
            <a:srgbClr val="FBEDE6"/>
          </a:solidFill>
          <a:ln>
            <a:noFill/>
          </a:ln>
        </p:spPr>
        <p:txBody>
          <a:bodyPr rtlCol="0" anchor="ctr"/>
          <a:lstStyle/>
          <a:p>
            <a:pPr algn="ctr"/>
          </a:p>
        </p:txBody>
      </p:sp>
      <p:sp>
        <p:nvSpPr>
          <p:cNvPr id="55" name="TextBox 54"/>
          <p:cNvSpPr txBox="1"/>
          <p:nvPr/>
        </p:nvSpPr>
        <p:spPr>
          <a:xfrm>
            <a:off x="4861407" y="5503031"/>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cxnSp>
        <p:nvCxnSpPr>
          <p:cNvPr id="56" name="Connector 55"/>
          <p:cNvCxnSpPr/>
          <p:nvPr/>
        </p:nvCxnSpPr>
        <p:spPr>
          <a:xfrm>
            <a:off x="6278727" y="2640959"/>
            <a:ext cx="5227168" cy="0"/>
          </a:xfrm>
          <a:prstGeom prst="line">
            <a:avLst/>
          </a:prstGeom>
          <a:ln w="9525">
            <a:solidFill>
              <a:srgbClr val="E2E4E7"/>
            </a:solidFill>
          </a:ln>
        </p:spPr>
      </p:cxnSp>
      <p:sp>
        <p:nvSpPr>
          <p:cNvPr id="57" name="TextBox 56"/>
          <p:cNvSpPr txBox="1"/>
          <p:nvPr/>
        </p:nvSpPr>
        <p:spPr>
          <a:xfrm>
            <a:off x="6370167" y="2275199"/>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Working Prototype + Full-scale Mock-up 2식</a:t>
            </a:r>
          </a:p>
        </p:txBody>
      </p:sp>
      <p:sp>
        <p:nvSpPr>
          <p:cNvPr id="58" name="TextBox 57"/>
          <p:cNvSpPr txBox="1"/>
          <p:nvPr/>
        </p:nvSpPr>
        <p:spPr>
          <a:xfrm>
            <a:off x="9905695" y="2275199"/>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M6~M12</a:t>
            </a:r>
          </a:p>
        </p:txBody>
      </p:sp>
      <p:sp>
        <p:nvSpPr>
          <p:cNvPr id="59" name="Rectangle 58"/>
          <p:cNvSpPr/>
          <p:nvPr/>
        </p:nvSpPr>
        <p:spPr>
          <a:xfrm>
            <a:off x="10756087" y="2357495"/>
            <a:ext cx="519588" cy="182880"/>
          </a:xfrm>
          <a:prstGeom prst="rect">
            <a:avLst/>
          </a:prstGeom>
          <a:solidFill>
            <a:srgbClr val="E2571B"/>
          </a:solidFill>
          <a:ln>
            <a:noFill/>
          </a:ln>
        </p:spPr>
        <p:txBody>
          <a:bodyPr rtlCol="0" anchor="ctr"/>
          <a:lstStyle/>
          <a:p>
            <a:pPr algn="ctr"/>
          </a:p>
        </p:txBody>
      </p:sp>
      <p:sp>
        <p:nvSpPr>
          <p:cNvPr id="60" name="TextBox 59"/>
          <p:cNvSpPr txBox="1"/>
          <p:nvPr/>
        </p:nvSpPr>
        <p:spPr>
          <a:xfrm>
            <a:off x="10756087" y="2357495"/>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61" name="Connector 60"/>
          <p:cNvCxnSpPr/>
          <p:nvPr/>
        </p:nvCxnSpPr>
        <p:spPr>
          <a:xfrm>
            <a:off x="6278727" y="3034151"/>
            <a:ext cx="5227168" cy="0"/>
          </a:xfrm>
          <a:prstGeom prst="line">
            <a:avLst/>
          </a:prstGeom>
          <a:ln w="9525">
            <a:solidFill>
              <a:srgbClr val="E2E4E7"/>
            </a:solidFill>
          </a:ln>
        </p:spPr>
      </p:cxnSp>
      <p:sp>
        <p:nvSpPr>
          <p:cNvPr id="62" name="TextBox 61"/>
          <p:cNvSpPr txBox="1"/>
          <p:nvPr/>
        </p:nvSpPr>
        <p:spPr>
          <a:xfrm>
            <a:off x="6370167" y="2668391"/>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실제 평면 30개 분석 · Kitchen Template 3~5개</a:t>
            </a:r>
          </a:p>
        </p:txBody>
      </p:sp>
      <p:sp>
        <p:nvSpPr>
          <p:cNvPr id="63" name="TextBox 62"/>
          <p:cNvSpPr txBox="1"/>
          <p:nvPr/>
        </p:nvSpPr>
        <p:spPr>
          <a:xfrm>
            <a:off x="9905695" y="2668391"/>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M3~M12</a:t>
            </a:r>
          </a:p>
        </p:txBody>
      </p:sp>
      <p:sp>
        <p:nvSpPr>
          <p:cNvPr id="64" name="Rectangle 63"/>
          <p:cNvSpPr/>
          <p:nvPr/>
        </p:nvSpPr>
        <p:spPr>
          <a:xfrm>
            <a:off x="10756087" y="2750687"/>
            <a:ext cx="519588" cy="182880"/>
          </a:xfrm>
          <a:prstGeom prst="rect">
            <a:avLst/>
          </a:prstGeom>
          <a:solidFill>
            <a:srgbClr val="E2571B"/>
          </a:solidFill>
          <a:ln>
            <a:noFill/>
          </a:ln>
        </p:spPr>
        <p:txBody>
          <a:bodyPr rtlCol="0" anchor="ctr"/>
          <a:lstStyle/>
          <a:p>
            <a:pPr algn="ctr"/>
          </a:p>
        </p:txBody>
      </p:sp>
      <p:sp>
        <p:nvSpPr>
          <p:cNvPr id="65" name="TextBox 64"/>
          <p:cNvSpPr txBox="1"/>
          <p:nvPr/>
        </p:nvSpPr>
        <p:spPr>
          <a:xfrm>
            <a:off x="10756087" y="275068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66" name="Connector 65"/>
          <p:cNvCxnSpPr/>
          <p:nvPr/>
        </p:nvCxnSpPr>
        <p:spPr>
          <a:xfrm>
            <a:off x="6278727" y="3427343"/>
            <a:ext cx="5227168" cy="0"/>
          </a:xfrm>
          <a:prstGeom prst="line">
            <a:avLst/>
          </a:prstGeom>
          <a:ln w="9525">
            <a:solidFill>
              <a:srgbClr val="E2E4E7"/>
            </a:solidFill>
          </a:ln>
        </p:spPr>
      </p:cxnSp>
      <p:sp>
        <p:nvSpPr>
          <p:cNvPr id="67" name="TextBox 66"/>
          <p:cNvSpPr txBox="1"/>
          <p:nvPr/>
        </p:nvSpPr>
        <p:spPr>
          <a:xfrm>
            <a:off x="6370167" y="3061583"/>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Approved Task 3개 이상 · Clean-up Integrated Demo</a:t>
            </a:r>
          </a:p>
        </p:txBody>
      </p:sp>
      <p:sp>
        <p:nvSpPr>
          <p:cNvPr id="68" name="TextBox 67"/>
          <p:cNvSpPr txBox="1"/>
          <p:nvPr/>
        </p:nvSpPr>
        <p:spPr>
          <a:xfrm>
            <a:off x="9905695" y="3061583"/>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M9~M12</a:t>
            </a:r>
          </a:p>
        </p:txBody>
      </p:sp>
      <p:sp>
        <p:nvSpPr>
          <p:cNvPr id="69" name="Rectangle 68"/>
          <p:cNvSpPr/>
          <p:nvPr/>
        </p:nvSpPr>
        <p:spPr>
          <a:xfrm>
            <a:off x="10756087" y="3143879"/>
            <a:ext cx="519588" cy="182880"/>
          </a:xfrm>
          <a:prstGeom prst="rect">
            <a:avLst/>
          </a:prstGeom>
          <a:solidFill>
            <a:srgbClr val="E2571B"/>
          </a:solidFill>
          <a:ln>
            <a:noFill/>
          </a:ln>
        </p:spPr>
        <p:txBody>
          <a:bodyPr rtlCol="0" anchor="ctr"/>
          <a:lstStyle/>
          <a:p>
            <a:pPr algn="ctr"/>
          </a:p>
        </p:txBody>
      </p:sp>
      <p:sp>
        <p:nvSpPr>
          <p:cNvPr id="70" name="TextBox 69"/>
          <p:cNvSpPr txBox="1"/>
          <p:nvPr/>
        </p:nvSpPr>
        <p:spPr>
          <a:xfrm>
            <a:off x="10756087" y="3143879"/>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71" name="Connector 70"/>
          <p:cNvCxnSpPr/>
          <p:nvPr/>
        </p:nvCxnSpPr>
        <p:spPr>
          <a:xfrm>
            <a:off x="6278727" y="3820535"/>
            <a:ext cx="5227168" cy="0"/>
          </a:xfrm>
          <a:prstGeom prst="line">
            <a:avLst/>
          </a:prstGeom>
          <a:ln w="9525">
            <a:solidFill>
              <a:srgbClr val="E2E4E7"/>
            </a:solidFill>
          </a:ln>
        </p:spPr>
      </p:cxnSp>
      <p:sp>
        <p:nvSpPr>
          <p:cNvPr id="72" name="TextBox 71"/>
          <p:cNvSpPr txBox="1"/>
          <p:nvPr/>
        </p:nvSpPr>
        <p:spPr>
          <a:xfrm>
            <a:off x="6370167" y="3454775"/>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Consumer Interview 50명 · WTP Test (PSM·Conjoint)</a:t>
            </a:r>
          </a:p>
        </p:txBody>
      </p:sp>
      <p:sp>
        <p:nvSpPr>
          <p:cNvPr id="73" name="TextBox 72"/>
          <p:cNvSpPr txBox="1"/>
          <p:nvPr/>
        </p:nvSpPr>
        <p:spPr>
          <a:xfrm>
            <a:off x="9905695" y="3454775"/>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M3~M12</a:t>
            </a:r>
          </a:p>
        </p:txBody>
      </p:sp>
      <p:sp>
        <p:nvSpPr>
          <p:cNvPr id="74" name="Rectangle 73"/>
          <p:cNvSpPr/>
          <p:nvPr/>
        </p:nvSpPr>
        <p:spPr>
          <a:xfrm>
            <a:off x="10756087" y="3537071"/>
            <a:ext cx="519588" cy="182880"/>
          </a:xfrm>
          <a:prstGeom prst="rect">
            <a:avLst/>
          </a:prstGeom>
          <a:solidFill>
            <a:srgbClr val="E2571B"/>
          </a:solidFill>
          <a:ln>
            <a:noFill/>
          </a:ln>
        </p:spPr>
        <p:txBody>
          <a:bodyPr rtlCol="0" anchor="ctr"/>
          <a:lstStyle/>
          <a:p>
            <a:pPr algn="ctr"/>
          </a:p>
        </p:txBody>
      </p:sp>
      <p:sp>
        <p:nvSpPr>
          <p:cNvPr id="75" name="TextBox 74"/>
          <p:cNvSpPr txBox="1"/>
          <p:nvPr/>
        </p:nvSpPr>
        <p:spPr>
          <a:xfrm>
            <a:off x="10756087" y="353707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76" name="Connector 75"/>
          <p:cNvCxnSpPr/>
          <p:nvPr/>
        </p:nvCxnSpPr>
        <p:spPr>
          <a:xfrm>
            <a:off x="6278727" y="4213727"/>
            <a:ext cx="5227168" cy="0"/>
          </a:xfrm>
          <a:prstGeom prst="line">
            <a:avLst/>
          </a:prstGeom>
          <a:ln w="9525">
            <a:solidFill>
              <a:srgbClr val="E2E4E7"/>
            </a:solidFill>
          </a:ln>
        </p:spPr>
      </p:cxnSp>
      <p:sp>
        <p:nvSpPr>
          <p:cNvPr id="77" name="TextBox 76"/>
          <p:cNvSpPr txBox="1"/>
          <p:nvPr/>
        </p:nvSpPr>
        <p:spPr>
          <a:xfrm>
            <a:off x="6370167" y="3847967"/>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Home Pilot 3~5세대 (Paid Pilot 포함)</a:t>
            </a:r>
          </a:p>
        </p:txBody>
      </p:sp>
      <p:sp>
        <p:nvSpPr>
          <p:cNvPr id="78" name="TextBox 77"/>
          <p:cNvSpPr txBox="1"/>
          <p:nvPr/>
        </p:nvSpPr>
        <p:spPr>
          <a:xfrm>
            <a:off x="9905695" y="3847967"/>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79" name="Rectangle 78"/>
          <p:cNvSpPr/>
          <p:nvPr/>
        </p:nvSpPr>
        <p:spPr>
          <a:xfrm>
            <a:off x="10756087" y="3930263"/>
            <a:ext cx="519588" cy="182880"/>
          </a:xfrm>
          <a:prstGeom prst="rect">
            <a:avLst/>
          </a:prstGeom>
          <a:solidFill>
            <a:srgbClr val="E2571B"/>
          </a:solidFill>
          <a:ln>
            <a:noFill/>
          </a:ln>
        </p:spPr>
        <p:txBody>
          <a:bodyPr rtlCol="0" anchor="ctr"/>
          <a:lstStyle/>
          <a:p>
            <a:pPr algn="ctr"/>
          </a:p>
        </p:txBody>
      </p:sp>
      <p:sp>
        <p:nvSpPr>
          <p:cNvPr id="80" name="TextBox 79"/>
          <p:cNvSpPr txBox="1"/>
          <p:nvPr/>
        </p:nvSpPr>
        <p:spPr>
          <a:xfrm>
            <a:off x="10756087" y="3930263"/>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81" name="Connector 80"/>
          <p:cNvCxnSpPr/>
          <p:nvPr/>
        </p:nvCxnSpPr>
        <p:spPr>
          <a:xfrm>
            <a:off x="6278727" y="4606919"/>
            <a:ext cx="5227168" cy="0"/>
          </a:xfrm>
          <a:prstGeom prst="line">
            <a:avLst/>
          </a:prstGeom>
          <a:ln w="9525">
            <a:solidFill>
              <a:srgbClr val="E2E4E7"/>
            </a:solidFill>
          </a:ln>
        </p:spPr>
      </p:cxnSp>
      <p:sp>
        <p:nvSpPr>
          <p:cNvPr id="82" name="TextBox 81"/>
          <p:cNvSpPr txBox="1"/>
          <p:nvPr/>
        </p:nvSpPr>
        <p:spPr>
          <a:xfrm>
            <a:off x="6370167" y="4241159"/>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Validated BOM · 설치비 · 설치시간</a:t>
            </a:r>
          </a:p>
        </p:txBody>
      </p:sp>
      <p:sp>
        <p:nvSpPr>
          <p:cNvPr id="83" name="TextBox 82"/>
          <p:cNvSpPr txBox="1"/>
          <p:nvPr/>
        </p:nvSpPr>
        <p:spPr>
          <a:xfrm>
            <a:off x="9905695" y="4241159"/>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84" name="Rectangle 83"/>
          <p:cNvSpPr/>
          <p:nvPr/>
        </p:nvSpPr>
        <p:spPr>
          <a:xfrm>
            <a:off x="10756087" y="4323455"/>
            <a:ext cx="519588" cy="182880"/>
          </a:xfrm>
          <a:prstGeom prst="rect">
            <a:avLst/>
          </a:prstGeom>
          <a:solidFill>
            <a:srgbClr val="E2571B"/>
          </a:solidFill>
          <a:ln>
            <a:noFill/>
          </a:ln>
        </p:spPr>
        <p:txBody>
          <a:bodyPr rtlCol="0" anchor="ctr"/>
          <a:lstStyle/>
          <a:p>
            <a:pPr algn="ctr"/>
          </a:p>
        </p:txBody>
      </p:sp>
      <p:sp>
        <p:nvSpPr>
          <p:cNvPr id="85" name="TextBox 84"/>
          <p:cNvSpPr txBox="1"/>
          <p:nvPr/>
        </p:nvSpPr>
        <p:spPr>
          <a:xfrm>
            <a:off x="10756087" y="4323455"/>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86" name="Connector 85"/>
          <p:cNvCxnSpPr/>
          <p:nvPr/>
        </p:nvCxnSpPr>
        <p:spPr>
          <a:xfrm>
            <a:off x="6278727" y="5000111"/>
            <a:ext cx="5227168" cy="0"/>
          </a:xfrm>
          <a:prstGeom prst="line">
            <a:avLst/>
          </a:prstGeom>
          <a:ln w="9525">
            <a:solidFill>
              <a:srgbClr val="E2E4E7"/>
            </a:solidFill>
          </a:ln>
        </p:spPr>
      </p:cxnSp>
      <p:sp>
        <p:nvSpPr>
          <p:cNvPr id="87" name="TextBox 86"/>
          <p:cNvSpPr txBox="1"/>
          <p:nvPr/>
        </p:nvSpPr>
        <p:spPr>
          <a:xfrm>
            <a:off x="6370167" y="4634351"/>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Rental · Care · Consumables Economics 실측</a:t>
            </a:r>
          </a:p>
        </p:txBody>
      </p:sp>
      <p:sp>
        <p:nvSpPr>
          <p:cNvPr id="88" name="TextBox 87"/>
          <p:cNvSpPr txBox="1"/>
          <p:nvPr/>
        </p:nvSpPr>
        <p:spPr>
          <a:xfrm>
            <a:off x="9905695" y="4634351"/>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M18~M24</a:t>
            </a:r>
          </a:p>
        </p:txBody>
      </p:sp>
      <p:sp>
        <p:nvSpPr>
          <p:cNvPr id="89" name="Rectangle 88"/>
          <p:cNvSpPr/>
          <p:nvPr/>
        </p:nvSpPr>
        <p:spPr>
          <a:xfrm>
            <a:off x="10756087" y="4716647"/>
            <a:ext cx="519588" cy="182880"/>
          </a:xfrm>
          <a:prstGeom prst="rect">
            <a:avLst/>
          </a:prstGeom>
          <a:solidFill>
            <a:srgbClr val="E2571B"/>
          </a:solidFill>
          <a:ln>
            <a:noFill/>
          </a:ln>
        </p:spPr>
        <p:txBody>
          <a:bodyPr rtlCol="0" anchor="ctr"/>
          <a:lstStyle/>
          <a:p>
            <a:pPr algn="ctr"/>
          </a:p>
        </p:txBody>
      </p:sp>
      <p:sp>
        <p:nvSpPr>
          <p:cNvPr id="90" name="TextBox 89"/>
          <p:cNvSpPr txBox="1"/>
          <p:nvPr/>
        </p:nvSpPr>
        <p:spPr>
          <a:xfrm>
            <a:off x="10756087" y="471664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91" name="Connector 90"/>
          <p:cNvCxnSpPr/>
          <p:nvPr/>
        </p:nvCxnSpPr>
        <p:spPr>
          <a:xfrm>
            <a:off x="6278727" y="5393303"/>
            <a:ext cx="5227168" cy="0"/>
          </a:xfrm>
          <a:prstGeom prst="line">
            <a:avLst/>
          </a:prstGeom>
          <a:ln w="9525">
            <a:solidFill>
              <a:srgbClr val="E2E4E7"/>
            </a:solidFill>
          </a:ln>
        </p:spPr>
      </p:cxnSp>
      <p:sp>
        <p:nvSpPr>
          <p:cNvPr id="92" name="TextBox 91"/>
          <p:cNvSpPr txBox="1"/>
          <p:nvPr/>
        </p:nvSpPr>
        <p:spPr>
          <a:xfrm>
            <a:off x="6370167" y="5027543"/>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Kitchen 가구·Interior Partner Pilot 협의</a:t>
            </a:r>
          </a:p>
        </p:txBody>
      </p:sp>
      <p:sp>
        <p:nvSpPr>
          <p:cNvPr id="93" name="TextBox 92"/>
          <p:cNvSpPr txBox="1"/>
          <p:nvPr/>
        </p:nvSpPr>
        <p:spPr>
          <a:xfrm>
            <a:off x="9905695" y="5027543"/>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94" name="Rectangle 93"/>
          <p:cNvSpPr/>
          <p:nvPr/>
        </p:nvSpPr>
        <p:spPr>
          <a:xfrm>
            <a:off x="10756087" y="5109839"/>
            <a:ext cx="519588" cy="182880"/>
          </a:xfrm>
          <a:prstGeom prst="rect">
            <a:avLst/>
          </a:prstGeom>
          <a:solidFill>
            <a:srgbClr val="E2571B"/>
          </a:solidFill>
          <a:ln>
            <a:noFill/>
          </a:ln>
        </p:spPr>
        <p:txBody>
          <a:bodyPr rtlCol="0" anchor="ctr"/>
          <a:lstStyle/>
          <a:p>
            <a:pPr algn="ctr"/>
          </a:p>
        </p:txBody>
      </p:sp>
      <p:sp>
        <p:nvSpPr>
          <p:cNvPr id="95" name="TextBox 94"/>
          <p:cNvSpPr txBox="1"/>
          <p:nvPr/>
        </p:nvSpPr>
        <p:spPr>
          <a:xfrm>
            <a:off x="10756087" y="5109839"/>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96" name="Connector 95"/>
          <p:cNvCxnSpPr/>
          <p:nvPr/>
        </p:nvCxnSpPr>
        <p:spPr>
          <a:xfrm>
            <a:off x="6278727" y="5786495"/>
            <a:ext cx="5227168" cy="0"/>
          </a:xfrm>
          <a:prstGeom prst="line">
            <a:avLst/>
          </a:prstGeom>
          <a:ln w="9525">
            <a:solidFill>
              <a:srgbClr val="E2E4E7"/>
            </a:solidFill>
          </a:ln>
        </p:spPr>
      </p:cxnSp>
      <p:sp>
        <p:nvSpPr>
          <p:cNvPr id="97" name="TextBox 96"/>
          <p:cNvSpPr txBox="1"/>
          <p:nvPr/>
        </p:nvSpPr>
        <p:spPr>
          <a:xfrm>
            <a:off x="6370167" y="5420735"/>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Patent 출원 5~8건 (선행기술조사 후)</a:t>
            </a:r>
          </a:p>
        </p:txBody>
      </p:sp>
      <p:sp>
        <p:nvSpPr>
          <p:cNvPr id="98" name="TextBox 97"/>
          <p:cNvSpPr txBox="1"/>
          <p:nvPr/>
        </p:nvSpPr>
        <p:spPr>
          <a:xfrm>
            <a:off x="9905695" y="5420735"/>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M3~M18</a:t>
            </a:r>
          </a:p>
        </p:txBody>
      </p:sp>
      <p:sp>
        <p:nvSpPr>
          <p:cNvPr id="99" name="Rectangle 98"/>
          <p:cNvSpPr/>
          <p:nvPr/>
        </p:nvSpPr>
        <p:spPr>
          <a:xfrm>
            <a:off x="10756087" y="5503031"/>
            <a:ext cx="519588" cy="182880"/>
          </a:xfrm>
          <a:prstGeom prst="rect">
            <a:avLst/>
          </a:prstGeom>
          <a:solidFill>
            <a:srgbClr val="E2571B"/>
          </a:solidFill>
          <a:ln>
            <a:noFill/>
          </a:ln>
        </p:spPr>
        <p:txBody>
          <a:bodyPr rtlCol="0" anchor="ctr"/>
          <a:lstStyle/>
          <a:p>
            <a:pPr algn="ctr"/>
          </a:p>
        </p:txBody>
      </p:sp>
      <p:sp>
        <p:nvSpPr>
          <p:cNvPr id="100" name="TextBox 99"/>
          <p:cNvSpPr txBox="1"/>
          <p:nvPr/>
        </p:nvSpPr>
        <p:spPr>
          <a:xfrm>
            <a:off x="10756087" y="550303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101" name="TextBox 100"/>
          <p:cNvSpPr txBox="1"/>
          <p:nvPr/>
        </p:nvSpPr>
        <p:spPr>
          <a:xfrm>
            <a:off x="685800" y="6053328"/>
            <a:ext cx="10820095" cy="202184"/>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판단 포인트: 현재 Evidence는 "공식 시장 통계 + 사업 가설" 수준 → Seed 투자 판단은 ① Founder 적합성 ② 검증 계획의 구체성 ③ Kill Criteria의 명확성에 의존</a:t>
            </a:r>
          </a:p>
        </p:txBody>
      </p:sp>
      <p:sp>
        <p:nvSpPr>
          <p:cNvPr id="102" name="TextBox 10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3" name="TextBox 10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03  Problem</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Q2</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개별 가전 자동화와 Kitchen Workflow의 단절</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가전 내부 공정은 자동화. 가전과 가전 사이의 Physical Task는 여전히 사람 수행.</a:t>
            </a:r>
          </a:p>
        </p:txBody>
      </p:sp>
      <p:sp>
        <p:nvSpPr>
          <p:cNvPr id="9" name="TextBox 8"/>
          <p:cNvSpPr txBox="1"/>
          <p:nvPr/>
        </p:nvSpPr>
        <p:spPr>
          <a:xfrm>
            <a:off x="685800" y="1790567"/>
            <a:ext cx="2331720" cy="29260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Dishwasher</a:t>
            </a:r>
          </a:p>
        </p:txBody>
      </p:sp>
      <p:sp>
        <p:nvSpPr>
          <p:cNvPr id="10" name="Rectangle 9"/>
          <p:cNvSpPr/>
          <p:nvPr/>
        </p:nvSpPr>
        <p:spPr>
          <a:xfrm>
            <a:off x="685800" y="2174615"/>
            <a:ext cx="2331720" cy="566928"/>
          </a:xfrm>
          <a:prstGeom prst="rect">
            <a:avLst/>
          </a:prstGeom>
          <a:solidFill>
            <a:srgbClr val="15171A"/>
          </a:solidFill>
          <a:ln>
            <a:noFill/>
          </a:ln>
        </p:spPr>
        <p:txBody>
          <a:bodyPr rtlCol="0" anchor="ctr"/>
          <a:lstStyle/>
          <a:p>
            <a:pPr algn="ctr"/>
          </a:p>
        </p:txBody>
      </p:sp>
      <p:sp>
        <p:nvSpPr>
          <p:cNvPr id="11" name="TextBox 10"/>
          <p:cNvSpPr txBox="1"/>
          <p:nvPr/>
        </p:nvSpPr>
        <p:spPr>
          <a:xfrm>
            <a:off x="822960" y="2174615"/>
            <a:ext cx="2057400" cy="566928"/>
          </a:xfrm>
          <a:prstGeom prst="rect">
            <a:avLst/>
          </a:prstGeom>
          <a:noFill/>
        </p:spPr>
        <p:txBody>
          <a:bodyPr wrap="square" lIns="0" rIns="0" tIns="0" bIns="0" anchor="ctr">
            <a:spAutoFit/>
          </a:bodyPr>
          <a:lstStyle/>
          <a:p>
            <a:pPr algn="l">
              <a:lnSpc>
                <a:spcPct val="100000"/>
              </a:lnSpc>
            </a:pPr>
            <a:r>
              <a:rPr sz="900" b="0">
                <a:solidFill>
                  <a:srgbClr val="A9AEB5"/>
                </a:solidFill>
                <a:latin typeface="Noto Sans KR"/>
                <a:ea typeface="Noto Sans KR"/>
                <a:cs typeface="Noto Sans KR"/>
              </a:rPr>
              <a:t>가전 자동화  </a:t>
            </a:r>
            <a:r>
              <a:rPr sz="1300" b="1">
                <a:solidFill>
                  <a:srgbClr val="FFFFFF"/>
                </a:solidFill>
                <a:latin typeface="Noto Sans KR"/>
                <a:ea typeface="Noto Sans KR"/>
                <a:cs typeface="Noto Sans KR"/>
              </a:rPr>
              <a:t>세척 · 건조</a:t>
            </a:r>
          </a:p>
        </p:txBody>
      </p:sp>
      <p:sp>
        <p:nvSpPr>
          <p:cNvPr id="12" name="Rectangle 11"/>
          <p:cNvSpPr/>
          <p:nvPr/>
        </p:nvSpPr>
        <p:spPr>
          <a:xfrm>
            <a:off x="685800" y="2851271"/>
            <a:ext cx="2331720" cy="384048"/>
          </a:xfrm>
          <a:prstGeom prst="rect">
            <a:avLst/>
          </a:prstGeom>
          <a:noFill/>
          <a:ln w="12700">
            <a:solidFill>
              <a:srgbClr val="E2571B"/>
            </a:solidFill>
          </a:ln>
        </p:spPr>
        <p:txBody>
          <a:bodyPr rtlCol="0" anchor="ctr"/>
          <a:lstStyle/>
          <a:p>
            <a:pPr algn="ctr"/>
          </a:p>
        </p:txBody>
      </p:sp>
      <p:sp>
        <p:nvSpPr>
          <p:cNvPr id="13" name="TextBox 12"/>
          <p:cNvSpPr txBox="1"/>
          <p:nvPr/>
        </p:nvSpPr>
        <p:spPr>
          <a:xfrm>
            <a:off x="822960" y="28512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식기 투입</a:t>
            </a:r>
          </a:p>
        </p:txBody>
      </p:sp>
      <p:sp>
        <p:nvSpPr>
          <p:cNvPr id="14" name="Rectangle 13"/>
          <p:cNvSpPr/>
          <p:nvPr/>
        </p:nvSpPr>
        <p:spPr>
          <a:xfrm>
            <a:off x="685800" y="3308471"/>
            <a:ext cx="2331720" cy="384048"/>
          </a:xfrm>
          <a:prstGeom prst="rect">
            <a:avLst/>
          </a:prstGeom>
          <a:noFill/>
          <a:ln w="12700">
            <a:solidFill>
              <a:srgbClr val="E2571B"/>
            </a:solidFill>
          </a:ln>
        </p:spPr>
        <p:txBody>
          <a:bodyPr rtlCol="0" anchor="ctr"/>
          <a:lstStyle/>
          <a:p>
            <a:pPr algn="ctr"/>
          </a:p>
        </p:txBody>
      </p:sp>
      <p:sp>
        <p:nvSpPr>
          <p:cNvPr id="15" name="TextBox 14"/>
          <p:cNvSpPr txBox="1"/>
          <p:nvPr/>
        </p:nvSpPr>
        <p:spPr>
          <a:xfrm>
            <a:off x="822960" y="33084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인출</a:t>
            </a:r>
          </a:p>
        </p:txBody>
      </p:sp>
      <p:sp>
        <p:nvSpPr>
          <p:cNvPr id="16" name="Rectangle 15"/>
          <p:cNvSpPr/>
          <p:nvPr/>
        </p:nvSpPr>
        <p:spPr>
          <a:xfrm>
            <a:off x="685800" y="3765671"/>
            <a:ext cx="2331720" cy="384048"/>
          </a:xfrm>
          <a:prstGeom prst="rect">
            <a:avLst/>
          </a:prstGeom>
          <a:noFill/>
          <a:ln w="12700">
            <a:solidFill>
              <a:srgbClr val="E2571B"/>
            </a:solidFill>
          </a:ln>
        </p:spPr>
        <p:txBody>
          <a:bodyPr rtlCol="0" anchor="ctr"/>
          <a:lstStyle/>
          <a:p>
            <a:pPr algn="ctr"/>
          </a:p>
        </p:txBody>
      </p:sp>
      <p:sp>
        <p:nvSpPr>
          <p:cNvPr id="17" name="TextBox 16"/>
          <p:cNvSpPr txBox="1"/>
          <p:nvPr/>
        </p:nvSpPr>
        <p:spPr>
          <a:xfrm>
            <a:off x="822960" y="37656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수납</a:t>
            </a:r>
          </a:p>
        </p:txBody>
      </p:sp>
      <p:sp>
        <p:nvSpPr>
          <p:cNvPr id="18" name="TextBox 17"/>
          <p:cNvSpPr txBox="1"/>
          <p:nvPr/>
        </p:nvSpPr>
        <p:spPr>
          <a:xfrm>
            <a:off x="3246120" y="1790567"/>
            <a:ext cx="2331720" cy="29260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Induction</a:t>
            </a:r>
          </a:p>
        </p:txBody>
      </p:sp>
      <p:sp>
        <p:nvSpPr>
          <p:cNvPr id="19" name="Rectangle 18"/>
          <p:cNvSpPr/>
          <p:nvPr/>
        </p:nvSpPr>
        <p:spPr>
          <a:xfrm>
            <a:off x="3246120" y="2174615"/>
            <a:ext cx="2331720" cy="566928"/>
          </a:xfrm>
          <a:prstGeom prst="rect">
            <a:avLst/>
          </a:prstGeom>
          <a:solidFill>
            <a:srgbClr val="15171A"/>
          </a:solidFill>
          <a:ln>
            <a:noFill/>
          </a:ln>
        </p:spPr>
        <p:txBody>
          <a:bodyPr rtlCol="0" anchor="ctr"/>
          <a:lstStyle/>
          <a:p>
            <a:pPr algn="ctr"/>
          </a:p>
        </p:txBody>
      </p:sp>
      <p:sp>
        <p:nvSpPr>
          <p:cNvPr id="20" name="TextBox 19"/>
          <p:cNvSpPr txBox="1"/>
          <p:nvPr/>
        </p:nvSpPr>
        <p:spPr>
          <a:xfrm>
            <a:off x="3383279" y="2174615"/>
            <a:ext cx="2057400" cy="566928"/>
          </a:xfrm>
          <a:prstGeom prst="rect">
            <a:avLst/>
          </a:prstGeom>
          <a:noFill/>
        </p:spPr>
        <p:txBody>
          <a:bodyPr wrap="square" lIns="0" rIns="0" tIns="0" bIns="0" anchor="ctr">
            <a:spAutoFit/>
          </a:bodyPr>
          <a:lstStyle/>
          <a:p>
            <a:pPr algn="l">
              <a:lnSpc>
                <a:spcPct val="100000"/>
              </a:lnSpc>
            </a:pPr>
            <a:r>
              <a:rPr sz="900" b="0">
                <a:solidFill>
                  <a:srgbClr val="A9AEB5"/>
                </a:solidFill>
                <a:latin typeface="Noto Sans KR"/>
                <a:ea typeface="Noto Sans KR"/>
                <a:cs typeface="Noto Sans KR"/>
              </a:rPr>
              <a:t>가전 자동화  </a:t>
            </a:r>
            <a:r>
              <a:rPr sz="1300" b="1">
                <a:solidFill>
                  <a:srgbClr val="FFFFFF"/>
                </a:solidFill>
                <a:latin typeface="Noto Sans KR"/>
                <a:ea typeface="Noto Sans KR"/>
                <a:cs typeface="Noto Sans KR"/>
              </a:rPr>
              <a:t>가열 · 온도 유지</a:t>
            </a:r>
          </a:p>
        </p:txBody>
      </p:sp>
      <p:sp>
        <p:nvSpPr>
          <p:cNvPr id="21" name="Rectangle 20"/>
          <p:cNvSpPr/>
          <p:nvPr/>
        </p:nvSpPr>
        <p:spPr>
          <a:xfrm>
            <a:off x="3246120" y="2851271"/>
            <a:ext cx="2331720" cy="384048"/>
          </a:xfrm>
          <a:prstGeom prst="rect">
            <a:avLst/>
          </a:prstGeom>
          <a:noFill/>
          <a:ln w="12700">
            <a:solidFill>
              <a:srgbClr val="E2571B"/>
            </a:solidFill>
          </a:ln>
        </p:spPr>
        <p:txBody>
          <a:bodyPr rtlCol="0" anchor="ctr"/>
          <a:lstStyle/>
          <a:p>
            <a:pPr algn="ctr"/>
          </a:p>
        </p:txBody>
      </p:sp>
      <p:sp>
        <p:nvSpPr>
          <p:cNvPr id="22" name="TextBox 21"/>
          <p:cNvSpPr txBox="1"/>
          <p:nvPr/>
        </p:nvSpPr>
        <p:spPr>
          <a:xfrm>
            <a:off x="3383279" y="28512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재료 투입</a:t>
            </a:r>
          </a:p>
        </p:txBody>
      </p:sp>
      <p:sp>
        <p:nvSpPr>
          <p:cNvPr id="23" name="Rectangle 22"/>
          <p:cNvSpPr/>
          <p:nvPr/>
        </p:nvSpPr>
        <p:spPr>
          <a:xfrm>
            <a:off x="3246120" y="3308471"/>
            <a:ext cx="2331720" cy="384048"/>
          </a:xfrm>
          <a:prstGeom prst="rect">
            <a:avLst/>
          </a:prstGeom>
          <a:noFill/>
          <a:ln w="12700">
            <a:solidFill>
              <a:srgbClr val="E2571B"/>
            </a:solidFill>
          </a:ln>
        </p:spPr>
        <p:txBody>
          <a:bodyPr rtlCol="0" anchor="ctr"/>
          <a:lstStyle/>
          <a:p>
            <a:pPr algn="ctr"/>
          </a:p>
        </p:txBody>
      </p:sp>
      <p:sp>
        <p:nvSpPr>
          <p:cNvPr id="24" name="TextBox 23"/>
          <p:cNvSpPr txBox="1"/>
          <p:nvPr/>
        </p:nvSpPr>
        <p:spPr>
          <a:xfrm>
            <a:off x="3383279" y="33084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젓기</a:t>
            </a:r>
          </a:p>
        </p:txBody>
      </p:sp>
      <p:sp>
        <p:nvSpPr>
          <p:cNvPr id="25" name="Rectangle 24"/>
          <p:cNvSpPr/>
          <p:nvPr/>
        </p:nvSpPr>
        <p:spPr>
          <a:xfrm>
            <a:off x="3246120" y="3765671"/>
            <a:ext cx="2331720" cy="384048"/>
          </a:xfrm>
          <a:prstGeom prst="rect">
            <a:avLst/>
          </a:prstGeom>
          <a:noFill/>
          <a:ln w="12700">
            <a:solidFill>
              <a:srgbClr val="E2571B"/>
            </a:solidFill>
          </a:ln>
        </p:spPr>
        <p:txBody>
          <a:bodyPr rtlCol="0" anchor="ctr"/>
          <a:lstStyle/>
          <a:p>
            <a:pPr algn="ctr"/>
          </a:p>
        </p:txBody>
      </p:sp>
      <p:sp>
        <p:nvSpPr>
          <p:cNvPr id="26" name="TextBox 25"/>
          <p:cNvSpPr txBox="1"/>
          <p:nvPr/>
        </p:nvSpPr>
        <p:spPr>
          <a:xfrm>
            <a:off x="3383279" y="37656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뚜껑 조작</a:t>
            </a:r>
          </a:p>
        </p:txBody>
      </p:sp>
      <p:sp>
        <p:nvSpPr>
          <p:cNvPr id="27" name="TextBox 26"/>
          <p:cNvSpPr txBox="1"/>
          <p:nvPr/>
        </p:nvSpPr>
        <p:spPr>
          <a:xfrm>
            <a:off x="5806440" y="1790567"/>
            <a:ext cx="2331720" cy="29260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Storage</a:t>
            </a:r>
          </a:p>
        </p:txBody>
      </p:sp>
      <p:sp>
        <p:nvSpPr>
          <p:cNvPr id="28" name="Rectangle 27"/>
          <p:cNvSpPr/>
          <p:nvPr/>
        </p:nvSpPr>
        <p:spPr>
          <a:xfrm>
            <a:off x="5806440" y="2174615"/>
            <a:ext cx="2331720" cy="566928"/>
          </a:xfrm>
          <a:prstGeom prst="rect">
            <a:avLst/>
          </a:prstGeom>
          <a:solidFill>
            <a:srgbClr val="15171A"/>
          </a:solidFill>
          <a:ln>
            <a:noFill/>
          </a:ln>
        </p:spPr>
        <p:txBody>
          <a:bodyPr rtlCol="0" anchor="ctr"/>
          <a:lstStyle/>
          <a:p>
            <a:pPr algn="ctr"/>
          </a:p>
        </p:txBody>
      </p:sp>
      <p:sp>
        <p:nvSpPr>
          <p:cNvPr id="29" name="TextBox 28"/>
          <p:cNvSpPr txBox="1"/>
          <p:nvPr/>
        </p:nvSpPr>
        <p:spPr>
          <a:xfrm>
            <a:off x="5943600" y="2174615"/>
            <a:ext cx="2057400" cy="566928"/>
          </a:xfrm>
          <a:prstGeom prst="rect">
            <a:avLst/>
          </a:prstGeom>
          <a:noFill/>
        </p:spPr>
        <p:txBody>
          <a:bodyPr wrap="square" lIns="0" rIns="0" tIns="0" bIns="0" anchor="ctr">
            <a:spAutoFit/>
          </a:bodyPr>
          <a:lstStyle/>
          <a:p>
            <a:pPr algn="l">
              <a:lnSpc>
                <a:spcPct val="100000"/>
              </a:lnSpc>
            </a:pPr>
            <a:r>
              <a:rPr sz="900" b="0">
                <a:solidFill>
                  <a:srgbClr val="A9AEB5"/>
                </a:solidFill>
                <a:latin typeface="Noto Sans KR"/>
                <a:ea typeface="Noto Sans KR"/>
                <a:cs typeface="Noto Sans KR"/>
              </a:rPr>
              <a:t>가전 자동화  </a:t>
            </a:r>
            <a:r>
              <a:rPr sz="1300" b="1">
                <a:solidFill>
                  <a:srgbClr val="FFFFFF"/>
                </a:solidFill>
                <a:latin typeface="Noto Sans KR"/>
                <a:ea typeface="Noto Sans KR"/>
                <a:cs typeface="Noto Sans KR"/>
              </a:rPr>
              <a:t>보관</a:t>
            </a:r>
          </a:p>
        </p:txBody>
      </p:sp>
      <p:sp>
        <p:nvSpPr>
          <p:cNvPr id="30" name="Rectangle 29"/>
          <p:cNvSpPr/>
          <p:nvPr/>
        </p:nvSpPr>
        <p:spPr>
          <a:xfrm>
            <a:off x="5806440" y="2851271"/>
            <a:ext cx="2331720" cy="384048"/>
          </a:xfrm>
          <a:prstGeom prst="rect">
            <a:avLst/>
          </a:prstGeom>
          <a:noFill/>
          <a:ln w="12700">
            <a:solidFill>
              <a:srgbClr val="E2571B"/>
            </a:solidFill>
          </a:ln>
        </p:spPr>
        <p:txBody>
          <a:bodyPr rtlCol="0" anchor="ctr"/>
          <a:lstStyle/>
          <a:p>
            <a:pPr algn="ctr"/>
          </a:p>
        </p:txBody>
      </p:sp>
      <p:sp>
        <p:nvSpPr>
          <p:cNvPr id="31" name="TextBox 30"/>
          <p:cNvSpPr txBox="1"/>
          <p:nvPr/>
        </p:nvSpPr>
        <p:spPr>
          <a:xfrm>
            <a:off x="5943600" y="28512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정리</a:t>
            </a:r>
          </a:p>
        </p:txBody>
      </p:sp>
      <p:sp>
        <p:nvSpPr>
          <p:cNvPr id="32" name="Rectangle 31"/>
          <p:cNvSpPr/>
          <p:nvPr/>
        </p:nvSpPr>
        <p:spPr>
          <a:xfrm>
            <a:off x="5806440" y="3308471"/>
            <a:ext cx="2331720" cy="384048"/>
          </a:xfrm>
          <a:prstGeom prst="rect">
            <a:avLst/>
          </a:prstGeom>
          <a:noFill/>
          <a:ln w="12700">
            <a:solidFill>
              <a:srgbClr val="E2571B"/>
            </a:solidFill>
          </a:ln>
        </p:spPr>
        <p:txBody>
          <a:bodyPr rtlCol="0" anchor="ctr"/>
          <a:lstStyle/>
          <a:p>
            <a:pPr algn="ctr"/>
          </a:p>
        </p:txBody>
      </p:sp>
      <p:sp>
        <p:nvSpPr>
          <p:cNvPr id="33" name="TextBox 32"/>
          <p:cNvSpPr txBox="1"/>
          <p:nvPr/>
        </p:nvSpPr>
        <p:spPr>
          <a:xfrm>
            <a:off x="5943600" y="33084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복귀</a:t>
            </a:r>
          </a:p>
        </p:txBody>
      </p:sp>
      <p:sp>
        <p:nvSpPr>
          <p:cNvPr id="34" name="Rectangle 33"/>
          <p:cNvSpPr/>
          <p:nvPr/>
        </p:nvSpPr>
        <p:spPr>
          <a:xfrm>
            <a:off x="5806440" y="3765671"/>
            <a:ext cx="2331720" cy="384048"/>
          </a:xfrm>
          <a:prstGeom prst="rect">
            <a:avLst/>
          </a:prstGeom>
          <a:noFill/>
          <a:ln w="12700">
            <a:solidFill>
              <a:srgbClr val="E2571B"/>
            </a:solidFill>
          </a:ln>
        </p:spPr>
        <p:txBody>
          <a:bodyPr rtlCol="0" anchor="ctr"/>
          <a:lstStyle/>
          <a:p>
            <a:pPr algn="ctr"/>
          </a:p>
        </p:txBody>
      </p:sp>
      <p:sp>
        <p:nvSpPr>
          <p:cNvPr id="35" name="TextBox 34"/>
          <p:cNvSpPr txBox="1"/>
          <p:nvPr/>
        </p:nvSpPr>
        <p:spPr>
          <a:xfrm>
            <a:off x="5943600" y="3765671"/>
            <a:ext cx="2057400" cy="384048"/>
          </a:xfrm>
          <a:prstGeom prst="rect">
            <a:avLst/>
          </a:prstGeom>
          <a:noFill/>
        </p:spPr>
        <p:txBody>
          <a:bodyPr wrap="square" lIns="0" rIns="0" tIns="0" bIns="0" anchor="ctr">
            <a:spAutoFit/>
          </a:bodyPr>
          <a:lstStyle/>
          <a:p>
            <a:pPr algn="l">
              <a:lnSpc>
                <a:spcPct val="100000"/>
              </a:lnSpc>
            </a:pPr>
            <a:r>
              <a:rPr sz="900" b="0">
                <a:solidFill>
                  <a:srgbClr val="E2571B"/>
                </a:solidFill>
                <a:latin typeface="Noto Sans KR"/>
                <a:ea typeface="Noto Sans KR"/>
                <a:cs typeface="Noto Sans KR"/>
              </a:rPr>
              <a:t>사람 수행  </a:t>
            </a:r>
            <a:r>
              <a:rPr sz="1200" b="1">
                <a:solidFill>
                  <a:srgbClr val="15171A"/>
                </a:solidFill>
                <a:latin typeface="Noto Sans KR"/>
                <a:ea typeface="Noto Sans KR"/>
                <a:cs typeface="Noto Sans KR"/>
              </a:rPr>
              <a:t>분류</a:t>
            </a:r>
          </a:p>
        </p:txBody>
      </p:sp>
      <p:sp>
        <p:nvSpPr>
          <p:cNvPr id="36" name="Rectangle 35"/>
          <p:cNvSpPr/>
          <p:nvPr/>
        </p:nvSpPr>
        <p:spPr>
          <a:xfrm>
            <a:off x="8458199" y="1790567"/>
            <a:ext cx="3047695" cy="2395728"/>
          </a:xfrm>
          <a:prstGeom prst="rect">
            <a:avLst/>
          </a:prstGeom>
          <a:solidFill>
            <a:srgbClr val="F4F5F6"/>
          </a:solidFill>
          <a:ln>
            <a:noFill/>
          </a:ln>
        </p:spPr>
        <p:txBody>
          <a:bodyPr rtlCol="0" anchor="ctr"/>
          <a:lstStyle/>
          <a:p>
            <a:pPr algn="ctr"/>
          </a:p>
        </p:txBody>
      </p:sp>
      <p:sp>
        <p:nvSpPr>
          <p:cNvPr id="37" name="TextBox 36"/>
          <p:cNvSpPr txBox="1"/>
          <p:nvPr/>
        </p:nvSpPr>
        <p:spPr>
          <a:xfrm>
            <a:off x="8686799" y="1973447"/>
            <a:ext cx="2590495"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핵심</a:t>
            </a:r>
          </a:p>
        </p:txBody>
      </p:sp>
      <p:sp>
        <p:nvSpPr>
          <p:cNvPr id="38" name="TextBox 37"/>
          <p:cNvSpPr txBox="1"/>
          <p:nvPr/>
        </p:nvSpPr>
        <p:spPr>
          <a:xfrm>
            <a:off x="8686799" y="2247767"/>
            <a:ext cx="2590495" cy="100584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Appliance Automation</a:t>
            </a:r>
          </a:p>
          <a:p>
            <a:pPr algn="l">
              <a:lnSpc>
                <a:spcPct val="100000"/>
              </a:lnSpc>
            </a:pPr>
            <a:r>
              <a:rPr sz="1600" b="1">
                <a:solidFill>
                  <a:srgbClr val="15171A"/>
                </a:solidFill>
                <a:latin typeface="Noto Sans KR"/>
                <a:ea typeface="Noto Sans KR"/>
                <a:cs typeface="Noto Sans KR"/>
              </a:rPr>
              <a:t>≠ Kitchen Workflow Automation</a:t>
            </a:r>
          </a:p>
        </p:txBody>
      </p:sp>
      <p:sp>
        <p:nvSpPr>
          <p:cNvPr id="39" name="TextBox 38"/>
          <p:cNvSpPr txBox="1"/>
          <p:nvPr/>
        </p:nvSpPr>
        <p:spPr>
          <a:xfrm>
            <a:off x="8686799" y="3207887"/>
            <a:ext cx="2590495" cy="86868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100" b="0">
                <a:solidFill>
                  <a:srgbClr val="4A4F57"/>
                </a:solidFill>
                <a:latin typeface="Noto Sans KR"/>
                <a:ea typeface="Noto Sans KR"/>
                <a:cs typeface="Noto Sans KR"/>
              </a:rPr>
              <a:t>ARKI Target: 가전 사이 Physical Task 자동화</a:t>
            </a:r>
          </a:p>
          <a:p>
            <a:pPr algn="l" marL="182880" indent="-182880">
              <a:lnSpc>
                <a:spcPct val="100000"/>
              </a:lnSpc>
              <a:buClr>
                <a:srgbClr val="8C9198"/>
              </a:buClr>
              <a:buFont typeface="Noto Sans KR"/>
              <a:buChar char="–"/>
            </a:pPr>
            <a:r>
              <a:rPr sz="1100" b="0">
                <a:solidFill>
                  <a:srgbClr val="4A4F57"/>
                </a:solidFill>
                <a:latin typeface="Noto Sans KR"/>
                <a:ea typeface="Noto Sans KR"/>
                <a:cs typeface="Noto Sans KR"/>
              </a:rPr>
              <a:t>V1 범위: 식기 이동 · 식세기 연동 · 수납 복귀</a:t>
            </a:r>
          </a:p>
        </p:txBody>
      </p:sp>
      <p:sp>
        <p:nvSpPr>
          <p:cNvPr id="40" name="TextBox 39"/>
          <p:cNvSpPr txBox="1"/>
          <p:nvPr/>
        </p:nvSpPr>
        <p:spPr>
          <a:xfrm>
            <a:off x="685800" y="4488047"/>
            <a:ext cx="54864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Kitchen Clean-up Workflow  (식사 후)</a:t>
            </a:r>
          </a:p>
        </p:txBody>
      </p:sp>
      <p:sp>
        <p:nvSpPr>
          <p:cNvPr id="41" name="Rectangle 40"/>
          <p:cNvSpPr/>
          <p:nvPr/>
        </p:nvSpPr>
        <p:spPr>
          <a:xfrm>
            <a:off x="685800" y="4872095"/>
            <a:ext cx="1920240" cy="502920"/>
          </a:xfrm>
          <a:prstGeom prst="rect">
            <a:avLst/>
          </a:prstGeom>
          <a:solidFill>
            <a:srgbClr val="F4F5F6"/>
          </a:solidFill>
          <a:ln>
            <a:noFill/>
          </a:ln>
        </p:spPr>
        <p:txBody>
          <a:bodyPr rtlCol="0" anchor="ctr"/>
          <a:lstStyle/>
          <a:p>
            <a:pPr algn="ctr"/>
          </a:p>
        </p:txBody>
      </p:sp>
      <p:sp>
        <p:nvSpPr>
          <p:cNvPr id="42" name="TextBox 41"/>
          <p:cNvSpPr txBox="1"/>
          <p:nvPr/>
        </p:nvSpPr>
        <p:spPr>
          <a:xfrm>
            <a:off x="758952" y="4872095"/>
            <a:ext cx="1773936" cy="50292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식탁 / Counter</a:t>
            </a:r>
          </a:p>
        </p:txBody>
      </p:sp>
      <p:cxnSp>
        <p:nvCxnSpPr>
          <p:cNvPr id="43" name="Connector 42"/>
          <p:cNvCxnSpPr/>
          <p:nvPr/>
        </p:nvCxnSpPr>
        <p:spPr>
          <a:xfrm>
            <a:off x="2642616" y="5118983"/>
            <a:ext cx="886968" cy="0"/>
          </a:xfrm>
          <a:prstGeom prst="line">
            <a:avLst/>
          </a:prstGeom>
          <a:ln w="25400">
            <a:solidFill>
              <a:srgbClr val="E2571B"/>
            </a:solidFill>
            <a:tailEnd type="triangle" w="med" len="med"/>
          </a:ln>
        </p:spPr>
      </p:cxnSp>
      <p:sp>
        <p:nvSpPr>
          <p:cNvPr id="44" name="TextBox 43"/>
          <p:cNvSpPr txBox="1"/>
          <p:nvPr/>
        </p:nvSpPr>
        <p:spPr>
          <a:xfrm>
            <a:off x="2606040" y="5439023"/>
            <a:ext cx="960120" cy="228600"/>
          </a:xfrm>
          <a:prstGeom prst="rect">
            <a:avLst/>
          </a:prstGeom>
          <a:noFill/>
        </p:spPr>
        <p:txBody>
          <a:bodyPr wrap="square" lIns="0" rIns="0" tIns="0" bIns="0" anchor="t">
            <a:spAutoFit/>
          </a:bodyPr>
          <a:lstStyle/>
          <a:p>
            <a:pPr algn="ctr">
              <a:lnSpc>
                <a:spcPct val="100000"/>
              </a:lnSpc>
            </a:pPr>
            <a:r>
              <a:rPr sz="900" b="1">
                <a:solidFill>
                  <a:srgbClr val="E2571B"/>
                </a:solidFill>
                <a:latin typeface="Noto Sans KR"/>
                <a:ea typeface="Noto Sans KR"/>
                <a:cs typeface="Noto Sans KR"/>
              </a:rPr>
              <a:t>이동 · 분류</a:t>
            </a:r>
          </a:p>
        </p:txBody>
      </p:sp>
      <p:sp>
        <p:nvSpPr>
          <p:cNvPr id="45" name="Rectangle 44"/>
          <p:cNvSpPr/>
          <p:nvPr/>
        </p:nvSpPr>
        <p:spPr>
          <a:xfrm>
            <a:off x="3566160" y="4872095"/>
            <a:ext cx="1920240" cy="502920"/>
          </a:xfrm>
          <a:prstGeom prst="rect">
            <a:avLst/>
          </a:prstGeom>
          <a:solidFill>
            <a:srgbClr val="F4F5F6"/>
          </a:solidFill>
          <a:ln>
            <a:noFill/>
          </a:ln>
        </p:spPr>
        <p:txBody>
          <a:bodyPr rtlCol="0" anchor="ctr"/>
          <a:lstStyle/>
          <a:p>
            <a:pPr algn="ctr"/>
          </a:p>
        </p:txBody>
      </p:sp>
      <p:sp>
        <p:nvSpPr>
          <p:cNvPr id="46" name="TextBox 45"/>
          <p:cNvSpPr txBox="1"/>
          <p:nvPr/>
        </p:nvSpPr>
        <p:spPr>
          <a:xfrm>
            <a:off x="3639312" y="4872095"/>
            <a:ext cx="1773936" cy="50292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Sink</a:t>
            </a:r>
          </a:p>
        </p:txBody>
      </p:sp>
      <p:cxnSp>
        <p:nvCxnSpPr>
          <p:cNvPr id="47" name="Connector 46"/>
          <p:cNvCxnSpPr/>
          <p:nvPr/>
        </p:nvCxnSpPr>
        <p:spPr>
          <a:xfrm>
            <a:off x="5522976" y="5118983"/>
            <a:ext cx="886968" cy="0"/>
          </a:xfrm>
          <a:prstGeom prst="line">
            <a:avLst/>
          </a:prstGeom>
          <a:ln w="25400">
            <a:solidFill>
              <a:srgbClr val="E2571B"/>
            </a:solidFill>
            <a:tailEnd type="triangle" w="med" len="med"/>
          </a:ln>
        </p:spPr>
      </p:cxnSp>
      <p:sp>
        <p:nvSpPr>
          <p:cNvPr id="48" name="TextBox 47"/>
          <p:cNvSpPr txBox="1"/>
          <p:nvPr/>
        </p:nvSpPr>
        <p:spPr>
          <a:xfrm>
            <a:off x="5486400" y="5439023"/>
            <a:ext cx="960120" cy="228600"/>
          </a:xfrm>
          <a:prstGeom prst="rect">
            <a:avLst/>
          </a:prstGeom>
          <a:noFill/>
        </p:spPr>
        <p:txBody>
          <a:bodyPr wrap="square" lIns="0" rIns="0" tIns="0" bIns="0" anchor="t">
            <a:spAutoFit/>
          </a:bodyPr>
          <a:lstStyle/>
          <a:p>
            <a:pPr algn="ctr">
              <a:lnSpc>
                <a:spcPct val="100000"/>
              </a:lnSpc>
            </a:pPr>
            <a:r>
              <a:rPr sz="900" b="1">
                <a:solidFill>
                  <a:srgbClr val="E2571B"/>
                </a:solidFill>
                <a:latin typeface="Noto Sans KR"/>
                <a:ea typeface="Noto Sans KR"/>
                <a:cs typeface="Noto Sans KR"/>
              </a:rPr>
              <a:t>투입</a:t>
            </a:r>
          </a:p>
        </p:txBody>
      </p:sp>
      <p:sp>
        <p:nvSpPr>
          <p:cNvPr id="49" name="Rectangle 48"/>
          <p:cNvSpPr/>
          <p:nvPr/>
        </p:nvSpPr>
        <p:spPr>
          <a:xfrm>
            <a:off x="6446520" y="4872095"/>
            <a:ext cx="1920240" cy="502920"/>
          </a:xfrm>
          <a:prstGeom prst="rect">
            <a:avLst/>
          </a:prstGeom>
          <a:solidFill>
            <a:srgbClr val="15171A"/>
          </a:solidFill>
          <a:ln>
            <a:noFill/>
          </a:ln>
        </p:spPr>
        <p:txBody>
          <a:bodyPr rtlCol="0" anchor="ctr"/>
          <a:lstStyle/>
          <a:p>
            <a:pPr algn="ctr"/>
          </a:p>
        </p:txBody>
      </p:sp>
      <p:sp>
        <p:nvSpPr>
          <p:cNvPr id="50" name="TextBox 49"/>
          <p:cNvSpPr txBox="1"/>
          <p:nvPr/>
        </p:nvSpPr>
        <p:spPr>
          <a:xfrm>
            <a:off x="6519672" y="4872095"/>
            <a:ext cx="1773936" cy="50292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Dishwasher</a:t>
            </a:r>
          </a:p>
        </p:txBody>
      </p:sp>
      <p:cxnSp>
        <p:nvCxnSpPr>
          <p:cNvPr id="51" name="Connector 50"/>
          <p:cNvCxnSpPr/>
          <p:nvPr/>
        </p:nvCxnSpPr>
        <p:spPr>
          <a:xfrm>
            <a:off x="8403336" y="5118983"/>
            <a:ext cx="886968" cy="0"/>
          </a:xfrm>
          <a:prstGeom prst="line">
            <a:avLst/>
          </a:prstGeom>
          <a:ln w="25400">
            <a:solidFill>
              <a:srgbClr val="E2571B"/>
            </a:solidFill>
            <a:tailEnd type="triangle" w="med" len="med"/>
          </a:ln>
        </p:spPr>
      </p:cxnSp>
      <p:sp>
        <p:nvSpPr>
          <p:cNvPr id="52" name="TextBox 51"/>
          <p:cNvSpPr txBox="1"/>
          <p:nvPr/>
        </p:nvSpPr>
        <p:spPr>
          <a:xfrm>
            <a:off x="8366760" y="5439023"/>
            <a:ext cx="960120" cy="228600"/>
          </a:xfrm>
          <a:prstGeom prst="rect">
            <a:avLst/>
          </a:prstGeom>
          <a:noFill/>
        </p:spPr>
        <p:txBody>
          <a:bodyPr wrap="square" lIns="0" rIns="0" tIns="0" bIns="0" anchor="t">
            <a:spAutoFit/>
          </a:bodyPr>
          <a:lstStyle/>
          <a:p>
            <a:pPr algn="ctr">
              <a:lnSpc>
                <a:spcPct val="100000"/>
              </a:lnSpc>
            </a:pPr>
            <a:r>
              <a:rPr sz="900" b="1">
                <a:solidFill>
                  <a:srgbClr val="E2571B"/>
                </a:solidFill>
                <a:latin typeface="Noto Sans KR"/>
                <a:ea typeface="Noto Sans KR"/>
                <a:cs typeface="Noto Sans KR"/>
              </a:rPr>
              <a:t>인출 · 수납</a:t>
            </a:r>
          </a:p>
        </p:txBody>
      </p:sp>
      <p:sp>
        <p:nvSpPr>
          <p:cNvPr id="53" name="Rectangle 52"/>
          <p:cNvSpPr/>
          <p:nvPr/>
        </p:nvSpPr>
        <p:spPr>
          <a:xfrm>
            <a:off x="9326880" y="4872095"/>
            <a:ext cx="1920240" cy="502920"/>
          </a:xfrm>
          <a:prstGeom prst="rect">
            <a:avLst/>
          </a:prstGeom>
          <a:solidFill>
            <a:srgbClr val="F4F5F6"/>
          </a:solidFill>
          <a:ln>
            <a:noFill/>
          </a:ln>
        </p:spPr>
        <p:txBody>
          <a:bodyPr rtlCol="0" anchor="ctr"/>
          <a:lstStyle/>
          <a:p>
            <a:pPr algn="ctr"/>
          </a:p>
        </p:txBody>
      </p:sp>
      <p:sp>
        <p:nvSpPr>
          <p:cNvPr id="54" name="TextBox 53"/>
          <p:cNvSpPr txBox="1"/>
          <p:nvPr/>
        </p:nvSpPr>
        <p:spPr>
          <a:xfrm>
            <a:off x="9400032" y="4872095"/>
            <a:ext cx="1773936" cy="50292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Storage</a:t>
            </a:r>
          </a:p>
        </p:txBody>
      </p:sp>
      <p:sp>
        <p:nvSpPr>
          <p:cNvPr id="55" name="TextBox 54"/>
          <p:cNvSpPr txBox="1"/>
          <p:nvPr/>
        </p:nvSpPr>
        <p:spPr>
          <a:xfrm>
            <a:off x="685800" y="5768207"/>
            <a:ext cx="10820095" cy="274320"/>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주황 화살표 = 사람이 수행하는 Physical Task (ARKI 자동화 대상)   |   검정 = 가전이 이미 자동화한 공정</a:t>
            </a:r>
          </a:p>
        </p:txBody>
      </p:sp>
      <p:sp>
        <p:nvSpPr>
          <p:cNvPr id="56" name="TextBox 55"/>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Pain 크기는 미검증 (TO BE VALIDATED): Clean-up 소요시간·빈도는 Seed M0~M3 Time-diary 30세대로 측정. 식기세척기 보급률 최신 공식 통계 없음 (2019~2020 업계 추정 10%대, A3).</a:t>
            </a:r>
          </a:p>
        </p:txBody>
      </p:sp>
      <p:sp>
        <p:nvSpPr>
          <p:cNvPr id="57" name="TextBox 5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58" name="TextBox 5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04  Integration 문제</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가정용 Robot의 난이도는 AI보다 Integration에서 발생</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AI에 모든 Complexity를 맡기지 않음. 공간 설계로 Task 조건을 먼저 고정.</a:t>
            </a:r>
          </a:p>
        </p:txBody>
      </p:sp>
      <p:graphicFrame>
        <p:nvGraphicFramePr>
          <p:cNvPr id="7" name="Table 6"/>
          <p:cNvGraphicFramePr>
            <a:graphicFrameLocks noGrp="1"/>
          </p:cNvGraphicFramePr>
          <p:nvPr/>
        </p:nvGraphicFramePr>
        <p:xfrm>
          <a:off x="685800" y="1790567"/>
          <a:ext cx="7223760" cy="2552192"/>
        </p:xfrm>
        <a:graphic>
          <a:graphicData uri="http://schemas.openxmlformats.org/drawingml/2006/table">
            <a:tbl>
              <a:tblPr firstRow="0" bandRow="0">
                <a:tableStyleId>{2D5ABB26-0587-4C30-8999-92F81FD0307C}</a:tableStyleId>
              </a:tblPr>
              <a:tblGrid>
                <a:gridCol w="914400"/>
                <a:gridCol w="2926080"/>
                <a:gridCol w="3383280"/>
              </a:tblGrid>
              <a:tr h="302768">
                <a:tc>
                  <a:txBody>
                    <a:bodyPr wrap="square"/>
                    <a:lstStyle/>
                    <a:p>
                      <a:pPr algn="l">
                        <a:lnSpc>
                          <a:spcPct val="100000"/>
                        </a:lnSpc>
                      </a:pPr>
                      <a:r>
                        <a:rPr sz="1000" b="1">
                          <a:solidFill>
                            <a:srgbClr val="15171A"/>
                          </a:solidFill>
                          <a:latin typeface="Noto Sans KR"/>
                          <a:ea typeface="Noto Sans KR"/>
                          <a:cs typeface="Noto Sans KR"/>
                        </a:rPr>
                        <a:t>변수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기존: 기존 주방 + Robot 추가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ARKI: Robot-ready 설계</a:t>
                      </a:r>
                    </a:p>
                  </a:txBody>
                  <a:tcPr marL="73152" marR="73152" marT="54864" marB="54864" anchor="t">
                    <a:lnL w="0">
                      <a:noFill/>
                    </a:lnL>
                    <a:lnR w="0">
                      <a:noFill/>
                    </a:lnR>
                    <a:lnT w="12700">
                      <a:solidFill>
                        <a:srgbClr val="15171A"/>
                      </a:solidFill>
                    </a:lnT>
                    <a:lnB w="9525">
                      <a:solidFill>
                        <a:srgbClr val="15171A"/>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공간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Reach 불일치 · 동선 침해 · 수납 위치 제각각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Home·Rail 위치 선정 · 식세기 상향 배치 · Robot-friendly 수납</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안전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머리 위 작업 · 사람 근접 · 낙하물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Human Zone / Robot Zone 분리 · Zone 진입 시 정지 · 통로 위 운반 금지</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설치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구조체 정착·전원·통신 현장 대응 · 장시간 Calibration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보강 Frame·전용 회로·통신 사전 시공 · Auto Calibration Target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기본기능 저하 · 도어·서랍 간섭</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고장 시 일반 Kitchen 사용 · 간섭 없는 Garage·Dock</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유지관리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A/S 접근 불가 · 위생 · 소모품 관리 부재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Service Access Panel · 세척 Dock · Care·Consumables 정기 운영</a:t>
                      </a:r>
                    </a:p>
                  </a:txBody>
                  <a:tcPr marL="73152" marR="73152" marT="54864" marB="54864" anchor="t">
                    <a:lnL w="0">
                      <a:noFill/>
                    </a:lnL>
                    <a:lnR w="0">
                      <a:noFill/>
                    </a:lnR>
                    <a:lnT w="0">
                      <a:noFill/>
                    </a:lnT>
                    <a:lnB w="9525">
                      <a:solidFill>
                        <a:srgbClr val="E2E4E7"/>
                      </a:solidFill>
                    </a:lnB>
                    <a:noFill/>
                  </a:tcPr>
                </a:tc>
              </a:tr>
            </a:tbl>
          </a:graphicData>
        </a:graphic>
      </p:graphicFrame>
      <p:sp>
        <p:nvSpPr>
          <p:cNvPr id="8" name="Rectangle 7"/>
          <p:cNvSpPr/>
          <p:nvPr/>
        </p:nvSpPr>
        <p:spPr>
          <a:xfrm>
            <a:off x="8183879" y="1790567"/>
            <a:ext cx="3322015" cy="4069080"/>
          </a:xfrm>
          <a:prstGeom prst="rect">
            <a:avLst/>
          </a:prstGeom>
          <a:solidFill>
            <a:srgbClr val="F4F5F6"/>
          </a:solidFill>
          <a:ln>
            <a:noFill/>
          </a:ln>
        </p:spPr>
        <p:txBody>
          <a:bodyPr rtlCol="0" anchor="ctr"/>
          <a:lstStyle/>
          <a:p>
            <a:pPr algn="ctr"/>
          </a:p>
        </p:txBody>
      </p:sp>
      <p:sp>
        <p:nvSpPr>
          <p:cNvPr id="9" name="TextBox 8"/>
          <p:cNvSpPr txBox="1"/>
          <p:nvPr/>
        </p:nvSpPr>
        <p:spPr>
          <a:xfrm>
            <a:off x="8366759" y="1927727"/>
            <a:ext cx="295625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ARKI 접근</a:t>
            </a:r>
          </a:p>
        </p:txBody>
      </p:sp>
      <p:sp>
        <p:nvSpPr>
          <p:cNvPr id="10" name="TextBox 9"/>
          <p:cNvSpPr txBox="1"/>
          <p:nvPr/>
        </p:nvSpPr>
        <p:spPr>
          <a:xfrm>
            <a:off x="8366759" y="2293487"/>
            <a:ext cx="2956255" cy="1828800"/>
          </a:xfrm>
          <a:prstGeom prst="rect">
            <a:avLst/>
          </a:prstGeom>
          <a:noFill/>
        </p:spPr>
        <p:txBody>
          <a:bodyPr wrap="square" lIns="0" rIns="0" tIns="0" bIns="0" anchor="t">
            <a:spAutoFit/>
          </a:bodyPr>
          <a:lstStyle/>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공간 일부 구조화</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Robot 이동영역 제한 (Rail · Dock)</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Human Zone 분리</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Robot Home Position 확보</a:t>
            </a:r>
          </a:p>
          <a:p>
            <a:pPr algn="l" marL="182880" indent="-182880">
              <a:lnSpc>
                <a:spcPct val="100000"/>
              </a:lnSpc>
              <a:buClr>
                <a:srgbClr val="8C9198"/>
              </a:buClr>
              <a:buFont typeface="Noto Sans KR"/>
              <a:buChar char="–"/>
            </a:pPr>
            <a:r>
              <a:rPr sz="1200" b="0">
                <a:solidFill>
                  <a:srgbClr val="15171A"/>
                </a:solidFill>
                <a:latin typeface="Noto Sans KR"/>
                <a:ea typeface="Noto Sans KR"/>
                <a:cs typeface="Noto Sans KR"/>
              </a:rPr>
              <a:t>표준 Kitchen Interface</a:t>
            </a:r>
          </a:p>
        </p:txBody>
      </p:sp>
      <p:cxnSp>
        <p:nvCxnSpPr>
          <p:cNvPr id="11" name="Connector 10"/>
          <p:cNvCxnSpPr/>
          <p:nvPr/>
        </p:nvCxnSpPr>
        <p:spPr>
          <a:xfrm>
            <a:off x="8366759" y="4168007"/>
            <a:ext cx="2956256" cy="0"/>
          </a:xfrm>
          <a:prstGeom prst="line">
            <a:avLst/>
          </a:prstGeom>
          <a:ln w="9525">
            <a:solidFill>
              <a:srgbClr val="E2E4E7"/>
            </a:solidFill>
          </a:ln>
        </p:spPr>
      </p:cxnSp>
      <p:sp>
        <p:nvSpPr>
          <p:cNvPr id="12" name="TextBox 11"/>
          <p:cNvSpPr txBox="1"/>
          <p:nvPr/>
        </p:nvSpPr>
        <p:spPr>
          <a:xfrm>
            <a:off x="8366759" y="4259447"/>
            <a:ext cx="2956255"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기대 효과 (Mock-up 측정 대상)</a:t>
            </a:r>
          </a:p>
        </p:txBody>
      </p:sp>
      <p:sp>
        <p:nvSpPr>
          <p:cNvPr id="13" name="TextBox 12"/>
          <p:cNvSpPr txBox="1"/>
          <p:nvPr/>
        </p:nvSpPr>
        <p:spPr>
          <a:xfrm>
            <a:off x="8366759" y="4579487"/>
            <a:ext cx="2956255" cy="11887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50" b="0">
                <a:solidFill>
                  <a:srgbClr val="4A4F57"/>
                </a:solidFill>
                <a:latin typeface="Noto Sans KR"/>
                <a:ea typeface="Noto Sans KR"/>
                <a:cs typeface="Noto Sans KR"/>
              </a:rPr>
              <a:t>Robot Task 난이도 · 실패 가능성 감소</a:t>
            </a:r>
          </a:p>
          <a:p>
            <a:pPr algn="l" marL="182880" indent="-182880">
              <a:lnSpc>
                <a:spcPct val="100000"/>
              </a:lnSpc>
              <a:spcAft>
                <a:spcPts val="300"/>
              </a:spcAft>
              <a:buClr>
                <a:srgbClr val="8C9198"/>
              </a:buClr>
              <a:buFont typeface="Noto Sans KR"/>
              <a:buChar char="–"/>
            </a:pPr>
            <a:r>
              <a:rPr sz="1050" b="0">
                <a:solidFill>
                  <a:srgbClr val="4A4F57"/>
                </a:solidFill>
                <a:latin typeface="Noto Sans KR"/>
                <a:ea typeface="Noto Sans KR"/>
                <a:cs typeface="Noto Sans KR"/>
              </a:rPr>
              <a:t>설치 Complexity · 현장 Custom Engineering 감소</a:t>
            </a:r>
          </a:p>
          <a:p>
            <a:pPr algn="l" marL="182880" indent="-182880">
              <a:lnSpc>
                <a:spcPct val="100000"/>
              </a:lnSpc>
              <a:buClr>
                <a:srgbClr val="8C9198"/>
              </a:buClr>
              <a:buFont typeface="Noto Sans KR"/>
              <a:buChar char="–"/>
            </a:pPr>
            <a:r>
              <a:rPr sz="1050" b="0">
                <a:solidFill>
                  <a:srgbClr val="4A4F57"/>
                </a:solidFill>
                <a:latin typeface="Noto Sans KR"/>
                <a:ea typeface="Noto Sans KR"/>
                <a:cs typeface="Noto Sans KR"/>
              </a:rPr>
              <a:t>효과 크기는 수치 주장 없음 → 설치시간·성공률로 측정</a:t>
            </a:r>
          </a:p>
        </p:txBody>
      </p:sp>
      <p:sp>
        <p:nvSpPr>
          <p:cNvPr id="14" name="Rectangle 13"/>
          <p:cNvSpPr/>
          <p:nvPr/>
        </p:nvSpPr>
        <p:spPr>
          <a:xfrm>
            <a:off x="685800" y="5669280"/>
            <a:ext cx="10820095" cy="440131"/>
          </a:xfrm>
          <a:prstGeom prst="rect">
            <a:avLst/>
          </a:prstGeom>
          <a:solidFill>
            <a:srgbClr val="F4F5F6"/>
          </a:solidFill>
          <a:ln>
            <a:noFill/>
          </a:ln>
        </p:spPr>
        <p:txBody>
          <a:bodyPr rtlCol="0" anchor="ctr"/>
          <a:lstStyle/>
          <a:p>
            <a:pPr algn="ctr"/>
          </a:p>
        </p:txBody>
      </p:sp>
      <p:sp>
        <p:nvSpPr>
          <p:cNvPr id="15" name="Rectangle 14"/>
          <p:cNvSpPr/>
          <p:nvPr/>
        </p:nvSpPr>
        <p:spPr>
          <a:xfrm>
            <a:off x="685800" y="5669280"/>
            <a:ext cx="54864" cy="440131"/>
          </a:xfrm>
          <a:prstGeom prst="rect">
            <a:avLst/>
          </a:prstGeom>
          <a:solidFill>
            <a:srgbClr val="E2571B"/>
          </a:solidFill>
          <a:ln>
            <a:noFill/>
          </a:ln>
        </p:spPr>
        <p:txBody>
          <a:bodyPr rtlCol="0" anchor="ctr"/>
          <a:lstStyle/>
          <a:p>
            <a:pPr algn="ctr"/>
          </a:p>
        </p:txBody>
      </p:sp>
      <p:sp>
        <p:nvSpPr>
          <p:cNvPr id="16" name="TextBox 15"/>
          <p:cNvSpPr txBox="1"/>
          <p:nvPr/>
        </p:nvSpPr>
        <p:spPr>
          <a:xfrm>
            <a:off x="886968" y="566928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가정용 Robot의 문제 = AI + 공간 · 안전 · 설치 · 가구 · 유지관리의 Integration 문제  →  ARKI는 Robot과 Kitchen을 함께 설계</a:t>
            </a:r>
          </a:p>
        </p:txBody>
      </p:sp>
      <p:sp>
        <p:nvSpPr>
          <p:cNvPr id="17" name="TextBox 1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8" name="TextBox 1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05  국내 공동주택 적용환경</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적용환경: Bay는 변수, 표준화 기준은 Kitchen Geometry</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한국 공동주택은 신축/구축 · 2/3/4Bay · 다양한 평형이 공존. 제품 분류는 Kitchen Geometry × Robot Installation Architecture.</a:t>
            </a:r>
          </a:p>
        </p:txBody>
      </p:sp>
      <p:sp>
        <p:nvSpPr>
          <p:cNvPr id="9" name="TextBox 8"/>
          <p:cNvSpPr txBox="1"/>
          <p:nvPr/>
        </p:nvSpPr>
        <p:spPr>
          <a:xfrm>
            <a:off x="685800" y="1790567"/>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2,018만호</a:t>
            </a:r>
          </a:p>
        </p:txBody>
      </p:sp>
      <p:sp>
        <p:nvSpPr>
          <p:cNvPr id="10" name="TextBox 9"/>
          <p:cNvSpPr txBox="1"/>
          <p:nvPr/>
        </p:nvSpPr>
        <p:spPr>
          <a:xfrm>
            <a:off x="685800" y="2220335"/>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총주택 (2025.11)</a:t>
            </a:r>
          </a:p>
        </p:txBody>
      </p:sp>
      <p:sp>
        <p:nvSpPr>
          <p:cNvPr id="11" name="Rectangle 10"/>
          <p:cNvSpPr/>
          <p:nvPr/>
        </p:nvSpPr>
        <p:spPr>
          <a:xfrm>
            <a:off x="685800" y="2640959"/>
            <a:ext cx="373888" cy="182880"/>
          </a:xfrm>
          <a:prstGeom prst="rect">
            <a:avLst/>
          </a:prstGeom>
          <a:solidFill>
            <a:srgbClr val="15171A"/>
          </a:solidFill>
          <a:ln>
            <a:noFill/>
          </a:ln>
        </p:spPr>
        <p:txBody>
          <a:bodyPr rtlCol="0" anchor="ctr"/>
          <a:lstStyle/>
          <a:p>
            <a:pPr algn="ctr"/>
          </a:p>
        </p:txBody>
      </p:sp>
      <p:sp>
        <p:nvSpPr>
          <p:cNvPr id="12" name="TextBox 11"/>
          <p:cNvSpPr txBox="1"/>
          <p:nvPr/>
        </p:nvSpPr>
        <p:spPr>
          <a:xfrm>
            <a:off x="685800" y="264095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3" name="TextBox 12"/>
          <p:cNvSpPr txBox="1"/>
          <p:nvPr/>
        </p:nvSpPr>
        <p:spPr>
          <a:xfrm>
            <a:off x="2926080" y="1790567"/>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65.8%</a:t>
            </a:r>
          </a:p>
        </p:txBody>
      </p:sp>
      <p:sp>
        <p:nvSpPr>
          <p:cNvPr id="14" name="TextBox 13"/>
          <p:cNvSpPr txBox="1"/>
          <p:nvPr/>
        </p:nvSpPr>
        <p:spPr>
          <a:xfrm>
            <a:off x="2926080" y="2220335"/>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아파트 비중 → 약 1,328만호</a:t>
            </a:r>
          </a:p>
        </p:txBody>
      </p:sp>
      <p:sp>
        <p:nvSpPr>
          <p:cNvPr id="15" name="Rectangle 14"/>
          <p:cNvSpPr/>
          <p:nvPr/>
        </p:nvSpPr>
        <p:spPr>
          <a:xfrm>
            <a:off x="2926080" y="2640959"/>
            <a:ext cx="373888" cy="182880"/>
          </a:xfrm>
          <a:prstGeom prst="rect">
            <a:avLst/>
          </a:prstGeom>
          <a:solidFill>
            <a:srgbClr val="15171A"/>
          </a:solidFill>
          <a:ln>
            <a:noFill/>
          </a:ln>
        </p:spPr>
        <p:txBody>
          <a:bodyPr rtlCol="0" anchor="ctr"/>
          <a:lstStyle/>
          <a:p>
            <a:pPr algn="ctr"/>
          </a:p>
        </p:txBody>
      </p:sp>
      <p:sp>
        <p:nvSpPr>
          <p:cNvPr id="16" name="TextBox 15"/>
          <p:cNvSpPr txBox="1"/>
          <p:nvPr/>
        </p:nvSpPr>
        <p:spPr>
          <a:xfrm>
            <a:off x="2926080" y="264095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7" name="TextBox 16"/>
          <p:cNvSpPr txBox="1"/>
          <p:nvPr/>
        </p:nvSpPr>
        <p:spPr>
          <a:xfrm>
            <a:off x="685800" y="2997575"/>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56.0%</a:t>
            </a:r>
          </a:p>
        </p:txBody>
      </p:sp>
      <p:sp>
        <p:nvSpPr>
          <p:cNvPr id="18" name="TextBox 17"/>
          <p:cNvSpPr txBox="1"/>
          <p:nvPr/>
        </p:nvSpPr>
        <p:spPr>
          <a:xfrm>
            <a:off x="685800" y="3427343"/>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준공 20년 이상 주택 비중</a:t>
            </a:r>
          </a:p>
        </p:txBody>
      </p:sp>
      <p:sp>
        <p:nvSpPr>
          <p:cNvPr id="19" name="Rectangle 18"/>
          <p:cNvSpPr/>
          <p:nvPr/>
        </p:nvSpPr>
        <p:spPr>
          <a:xfrm>
            <a:off x="685800" y="3847967"/>
            <a:ext cx="373888" cy="182880"/>
          </a:xfrm>
          <a:prstGeom prst="rect">
            <a:avLst/>
          </a:prstGeom>
          <a:solidFill>
            <a:srgbClr val="15171A"/>
          </a:solidFill>
          <a:ln>
            <a:noFill/>
          </a:ln>
        </p:spPr>
        <p:txBody>
          <a:bodyPr rtlCol="0" anchor="ctr"/>
          <a:lstStyle/>
          <a:p>
            <a:pPr algn="ctr"/>
          </a:p>
        </p:txBody>
      </p:sp>
      <p:sp>
        <p:nvSpPr>
          <p:cNvPr id="20" name="TextBox 19"/>
          <p:cNvSpPr txBox="1"/>
          <p:nvPr/>
        </p:nvSpPr>
        <p:spPr>
          <a:xfrm>
            <a:off x="685800" y="3847967"/>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1" name="TextBox 20"/>
          <p:cNvSpPr txBox="1"/>
          <p:nvPr/>
        </p:nvSpPr>
        <p:spPr>
          <a:xfrm>
            <a:off x="2926080" y="2997575"/>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30.6%</a:t>
            </a:r>
          </a:p>
        </p:txBody>
      </p:sp>
      <p:sp>
        <p:nvSpPr>
          <p:cNvPr id="22" name="TextBox 21"/>
          <p:cNvSpPr txBox="1"/>
          <p:nvPr/>
        </p:nvSpPr>
        <p:spPr>
          <a:xfrm>
            <a:off x="2926080" y="3427343"/>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준공 30년 이상 주택 비중</a:t>
            </a:r>
          </a:p>
        </p:txBody>
      </p:sp>
      <p:sp>
        <p:nvSpPr>
          <p:cNvPr id="23" name="Rectangle 22"/>
          <p:cNvSpPr/>
          <p:nvPr/>
        </p:nvSpPr>
        <p:spPr>
          <a:xfrm>
            <a:off x="2926080" y="3847967"/>
            <a:ext cx="373888" cy="182880"/>
          </a:xfrm>
          <a:prstGeom prst="rect">
            <a:avLst/>
          </a:prstGeom>
          <a:solidFill>
            <a:srgbClr val="15171A"/>
          </a:solidFill>
          <a:ln>
            <a:noFill/>
          </a:ln>
        </p:spPr>
        <p:txBody>
          <a:bodyPr rtlCol="0" anchor="ctr"/>
          <a:lstStyle/>
          <a:p>
            <a:pPr algn="ctr"/>
          </a:p>
        </p:txBody>
      </p:sp>
      <p:sp>
        <p:nvSpPr>
          <p:cNvPr id="24" name="TextBox 23"/>
          <p:cNvSpPr txBox="1"/>
          <p:nvPr/>
        </p:nvSpPr>
        <p:spPr>
          <a:xfrm>
            <a:off x="2926080" y="3847967"/>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5" name="TextBox 24"/>
          <p:cNvSpPr txBox="1"/>
          <p:nvPr/>
        </p:nvSpPr>
        <p:spPr>
          <a:xfrm>
            <a:off x="685800" y="4204583"/>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34.2만호</a:t>
            </a:r>
          </a:p>
        </p:txBody>
      </p:sp>
      <p:sp>
        <p:nvSpPr>
          <p:cNvPr id="26" name="TextBox 25"/>
          <p:cNvSpPr txBox="1"/>
          <p:nvPr/>
        </p:nvSpPr>
        <p:spPr>
          <a:xfrm>
            <a:off x="685800" y="4634351"/>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2025 주택 준공 (−17.8%)</a:t>
            </a:r>
          </a:p>
        </p:txBody>
      </p:sp>
      <p:sp>
        <p:nvSpPr>
          <p:cNvPr id="27" name="Rectangle 26"/>
          <p:cNvSpPr/>
          <p:nvPr/>
        </p:nvSpPr>
        <p:spPr>
          <a:xfrm>
            <a:off x="685800" y="5054975"/>
            <a:ext cx="373888" cy="182880"/>
          </a:xfrm>
          <a:prstGeom prst="rect">
            <a:avLst/>
          </a:prstGeom>
          <a:solidFill>
            <a:srgbClr val="15171A"/>
          </a:solidFill>
          <a:ln>
            <a:noFill/>
          </a:ln>
        </p:spPr>
        <p:txBody>
          <a:bodyPr rtlCol="0" anchor="ctr"/>
          <a:lstStyle/>
          <a:p>
            <a:pPr algn="ctr"/>
          </a:p>
        </p:txBody>
      </p:sp>
      <p:sp>
        <p:nvSpPr>
          <p:cNvPr id="28" name="TextBox 27"/>
          <p:cNvSpPr txBox="1"/>
          <p:nvPr/>
        </p:nvSpPr>
        <p:spPr>
          <a:xfrm>
            <a:off x="685800" y="5054975"/>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9" name="TextBox 28"/>
          <p:cNvSpPr txBox="1"/>
          <p:nvPr/>
        </p:nvSpPr>
        <p:spPr>
          <a:xfrm>
            <a:off x="2926080" y="4204583"/>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23.6만 → 18.3만</a:t>
            </a:r>
          </a:p>
        </p:txBody>
      </p:sp>
      <p:sp>
        <p:nvSpPr>
          <p:cNvPr id="30" name="TextBox 29"/>
          <p:cNvSpPr txBox="1"/>
          <p:nvPr/>
        </p:nvSpPr>
        <p:spPr>
          <a:xfrm>
            <a:off x="2926080" y="4634351"/>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아파트 입주 2025 → 2026E</a:t>
            </a:r>
          </a:p>
        </p:txBody>
      </p:sp>
      <p:sp>
        <p:nvSpPr>
          <p:cNvPr id="31" name="Rectangle 30"/>
          <p:cNvSpPr/>
          <p:nvPr/>
        </p:nvSpPr>
        <p:spPr>
          <a:xfrm>
            <a:off x="2926080" y="5054975"/>
            <a:ext cx="373888" cy="182880"/>
          </a:xfrm>
          <a:prstGeom prst="rect">
            <a:avLst/>
          </a:prstGeom>
          <a:solidFill>
            <a:srgbClr val="15171A"/>
          </a:solidFill>
          <a:ln>
            <a:noFill/>
          </a:ln>
        </p:spPr>
        <p:txBody>
          <a:bodyPr rtlCol="0" anchor="ctr"/>
          <a:lstStyle/>
          <a:p>
            <a:pPr algn="ctr"/>
          </a:p>
        </p:txBody>
      </p:sp>
      <p:sp>
        <p:nvSpPr>
          <p:cNvPr id="32" name="TextBox 31"/>
          <p:cNvSpPr txBox="1"/>
          <p:nvPr/>
        </p:nvSpPr>
        <p:spPr>
          <a:xfrm>
            <a:off x="2926080" y="5054975"/>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33" name="TextBox 32"/>
          <p:cNvSpPr txBox="1"/>
          <p:nvPr/>
        </p:nvSpPr>
        <p:spPr>
          <a:xfrm>
            <a:off x="685800" y="5448167"/>
            <a:ext cx="4389120" cy="54864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출처: 국가데이터처 2025 인구주택총조사(2026.7), 국토부 2025.12 주택통계, 부동산114. 1,328만호 = 2,018만 × 65.8% (DERIVED)</a:t>
            </a:r>
          </a:p>
        </p:txBody>
      </p:sp>
      <p:sp>
        <p:nvSpPr>
          <p:cNvPr id="34" name="Rectangle 33"/>
          <p:cNvSpPr/>
          <p:nvPr/>
        </p:nvSpPr>
        <p:spPr>
          <a:xfrm>
            <a:off x="5486400" y="1790567"/>
            <a:ext cx="1854098" cy="411480"/>
          </a:xfrm>
          <a:prstGeom prst="rect">
            <a:avLst/>
          </a:prstGeom>
          <a:solidFill>
            <a:srgbClr val="F4F5F6"/>
          </a:solidFill>
          <a:ln>
            <a:noFill/>
          </a:ln>
        </p:spPr>
        <p:txBody>
          <a:bodyPr rtlCol="0" anchor="ctr"/>
          <a:lstStyle/>
          <a:p>
            <a:pPr algn="ctr"/>
          </a:p>
        </p:txBody>
      </p:sp>
      <p:sp>
        <p:nvSpPr>
          <p:cNvPr id="35" name="TextBox 34"/>
          <p:cNvSpPr txBox="1"/>
          <p:nvPr/>
        </p:nvSpPr>
        <p:spPr>
          <a:xfrm>
            <a:off x="5559552" y="1790567"/>
            <a:ext cx="1707794" cy="4114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적용환경 변수</a:t>
            </a:r>
          </a:p>
        </p:txBody>
      </p:sp>
      <p:sp>
        <p:nvSpPr>
          <p:cNvPr id="36" name="Rectangle 35"/>
          <p:cNvSpPr/>
          <p:nvPr/>
        </p:nvSpPr>
        <p:spPr>
          <a:xfrm>
            <a:off x="5486400" y="2339207"/>
            <a:ext cx="1854098" cy="384048"/>
          </a:xfrm>
          <a:prstGeom prst="rect">
            <a:avLst/>
          </a:prstGeom>
          <a:noFill/>
          <a:ln w="9525">
            <a:solidFill>
              <a:srgbClr val="E2E4E7"/>
            </a:solidFill>
          </a:ln>
        </p:spPr>
        <p:txBody>
          <a:bodyPr rtlCol="0" anchor="ctr"/>
          <a:lstStyle/>
          <a:p>
            <a:pPr algn="ctr"/>
          </a:p>
        </p:txBody>
      </p:sp>
      <p:sp>
        <p:nvSpPr>
          <p:cNvPr id="37" name="TextBox 36"/>
          <p:cNvSpPr txBox="1"/>
          <p:nvPr/>
        </p:nvSpPr>
        <p:spPr>
          <a:xfrm>
            <a:off x="5596128"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신축 / 구축</a:t>
            </a:r>
          </a:p>
        </p:txBody>
      </p:sp>
      <p:sp>
        <p:nvSpPr>
          <p:cNvPr id="38" name="Rectangle 37"/>
          <p:cNvSpPr/>
          <p:nvPr/>
        </p:nvSpPr>
        <p:spPr>
          <a:xfrm>
            <a:off x="5486400" y="2796407"/>
            <a:ext cx="1854098" cy="384048"/>
          </a:xfrm>
          <a:prstGeom prst="rect">
            <a:avLst/>
          </a:prstGeom>
          <a:noFill/>
          <a:ln w="9525">
            <a:solidFill>
              <a:srgbClr val="E2E4E7"/>
            </a:solidFill>
          </a:ln>
        </p:spPr>
        <p:txBody>
          <a:bodyPr rtlCol="0" anchor="ctr"/>
          <a:lstStyle/>
          <a:p>
            <a:pPr algn="ctr"/>
          </a:p>
        </p:txBody>
      </p:sp>
      <p:sp>
        <p:nvSpPr>
          <p:cNvPr id="39" name="TextBox 38"/>
          <p:cNvSpPr txBox="1"/>
          <p:nvPr/>
        </p:nvSpPr>
        <p:spPr>
          <a:xfrm>
            <a:off x="5596128"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2Bay / 3Bay / 4Bay</a:t>
            </a:r>
          </a:p>
        </p:txBody>
      </p:sp>
      <p:sp>
        <p:nvSpPr>
          <p:cNvPr id="40" name="Rectangle 39"/>
          <p:cNvSpPr/>
          <p:nvPr/>
        </p:nvSpPr>
        <p:spPr>
          <a:xfrm>
            <a:off x="5486400" y="3253607"/>
            <a:ext cx="1854098" cy="384048"/>
          </a:xfrm>
          <a:prstGeom prst="rect">
            <a:avLst/>
          </a:prstGeom>
          <a:noFill/>
          <a:ln w="9525">
            <a:solidFill>
              <a:srgbClr val="E2E4E7"/>
            </a:solidFill>
          </a:ln>
        </p:spPr>
        <p:txBody>
          <a:bodyPr rtlCol="0" anchor="ctr"/>
          <a:lstStyle/>
          <a:p>
            <a:pPr algn="ctr"/>
          </a:p>
        </p:txBody>
      </p:sp>
      <p:sp>
        <p:nvSpPr>
          <p:cNvPr id="41" name="TextBox 40"/>
          <p:cNvSpPr txBox="1"/>
          <p:nvPr/>
        </p:nvSpPr>
        <p:spPr>
          <a:xfrm>
            <a:off x="5596128"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59 · 74 · 84 · 101㎡+</a:t>
            </a:r>
          </a:p>
        </p:txBody>
      </p:sp>
      <p:sp>
        <p:nvSpPr>
          <p:cNvPr id="42" name="Rectangle 41"/>
          <p:cNvSpPr/>
          <p:nvPr/>
        </p:nvSpPr>
        <p:spPr>
          <a:xfrm>
            <a:off x="5486400" y="3710807"/>
            <a:ext cx="1854098" cy="384048"/>
          </a:xfrm>
          <a:prstGeom prst="rect">
            <a:avLst/>
          </a:prstGeom>
          <a:noFill/>
          <a:ln w="9525">
            <a:solidFill>
              <a:srgbClr val="E2E4E7"/>
            </a:solidFill>
          </a:ln>
        </p:spPr>
        <p:txBody>
          <a:bodyPr rtlCol="0" anchor="ctr"/>
          <a:lstStyle/>
          <a:p>
            <a:pPr algn="ctr"/>
          </a:p>
        </p:txBody>
      </p:sp>
      <p:sp>
        <p:nvSpPr>
          <p:cNvPr id="43" name="TextBox 42"/>
          <p:cNvSpPr txBox="1"/>
          <p:nvPr/>
        </p:nvSpPr>
        <p:spPr>
          <a:xfrm>
            <a:off x="5596128"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천장고 · 벽체 구조</a:t>
            </a:r>
          </a:p>
        </p:txBody>
      </p:sp>
      <p:cxnSp>
        <p:nvCxnSpPr>
          <p:cNvPr id="44" name="Connector 43"/>
          <p:cNvCxnSpPr/>
          <p:nvPr/>
        </p:nvCxnSpPr>
        <p:spPr>
          <a:xfrm>
            <a:off x="7367930" y="1991735"/>
            <a:ext cx="173736" cy="0"/>
          </a:xfrm>
          <a:prstGeom prst="line">
            <a:avLst/>
          </a:prstGeom>
          <a:ln w="15875">
            <a:solidFill>
              <a:srgbClr val="8C9198"/>
            </a:solidFill>
            <a:tailEnd type="triangle" w="med" len="med"/>
          </a:ln>
        </p:spPr>
      </p:cxnSp>
      <p:sp>
        <p:nvSpPr>
          <p:cNvPr id="45" name="Rectangle 44"/>
          <p:cNvSpPr/>
          <p:nvPr/>
        </p:nvSpPr>
        <p:spPr>
          <a:xfrm>
            <a:off x="7569098" y="1790567"/>
            <a:ext cx="1854098" cy="411480"/>
          </a:xfrm>
          <a:prstGeom prst="rect">
            <a:avLst/>
          </a:prstGeom>
          <a:solidFill>
            <a:srgbClr val="15171A"/>
          </a:solidFill>
          <a:ln>
            <a:noFill/>
          </a:ln>
        </p:spPr>
        <p:txBody>
          <a:bodyPr rtlCol="0" anchor="ctr"/>
          <a:lstStyle/>
          <a:p>
            <a:pPr algn="ctr"/>
          </a:p>
        </p:txBody>
      </p:sp>
      <p:sp>
        <p:nvSpPr>
          <p:cNvPr id="46" name="TextBox 45"/>
          <p:cNvSpPr txBox="1"/>
          <p:nvPr/>
        </p:nvSpPr>
        <p:spPr>
          <a:xfrm>
            <a:off x="7642250" y="1790567"/>
            <a:ext cx="1707794" cy="4114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Kitchen Geometry</a:t>
            </a:r>
          </a:p>
        </p:txBody>
      </p:sp>
      <p:sp>
        <p:nvSpPr>
          <p:cNvPr id="47" name="Rectangle 46"/>
          <p:cNvSpPr/>
          <p:nvPr/>
        </p:nvSpPr>
        <p:spPr>
          <a:xfrm>
            <a:off x="7569098" y="2339207"/>
            <a:ext cx="1854098" cy="384048"/>
          </a:xfrm>
          <a:prstGeom prst="rect">
            <a:avLst/>
          </a:prstGeom>
          <a:noFill/>
          <a:ln w="9525">
            <a:solidFill>
              <a:srgbClr val="E2E4E7"/>
            </a:solidFill>
          </a:ln>
        </p:spPr>
        <p:txBody>
          <a:bodyPr rtlCol="0" anchor="ctr"/>
          <a:lstStyle/>
          <a:p>
            <a:pPr algn="ctr"/>
          </a:p>
        </p:txBody>
      </p:sp>
      <p:sp>
        <p:nvSpPr>
          <p:cNvPr id="48" name="TextBox 47"/>
          <p:cNvSpPr txBox="1"/>
          <p:nvPr/>
        </p:nvSpPr>
        <p:spPr>
          <a:xfrm>
            <a:off x="7678826"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일자형</a:t>
            </a:r>
          </a:p>
        </p:txBody>
      </p:sp>
      <p:sp>
        <p:nvSpPr>
          <p:cNvPr id="49" name="Rectangle 48"/>
          <p:cNvSpPr/>
          <p:nvPr/>
        </p:nvSpPr>
        <p:spPr>
          <a:xfrm>
            <a:off x="7569098" y="2796407"/>
            <a:ext cx="1854098" cy="384048"/>
          </a:xfrm>
          <a:prstGeom prst="rect">
            <a:avLst/>
          </a:prstGeom>
          <a:noFill/>
          <a:ln w="9525">
            <a:solidFill>
              <a:srgbClr val="E2E4E7"/>
            </a:solidFill>
          </a:ln>
        </p:spPr>
        <p:txBody>
          <a:bodyPr rtlCol="0" anchor="ctr"/>
          <a:lstStyle/>
          <a:p>
            <a:pPr algn="ctr"/>
          </a:p>
        </p:txBody>
      </p:sp>
      <p:sp>
        <p:nvSpPr>
          <p:cNvPr id="50" name="TextBox 49"/>
          <p:cNvSpPr txBox="1"/>
          <p:nvPr/>
        </p:nvSpPr>
        <p:spPr>
          <a:xfrm>
            <a:off x="7678826"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11자형</a:t>
            </a:r>
          </a:p>
        </p:txBody>
      </p:sp>
      <p:sp>
        <p:nvSpPr>
          <p:cNvPr id="51" name="Rectangle 50"/>
          <p:cNvSpPr/>
          <p:nvPr/>
        </p:nvSpPr>
        <p:spPr>
          <a:xfrm>
            <a:off x="7569098" y="3253607"/>
            <a:ext cx="1854098" cy="384048"/>
          </a:xfrm>
          <a:prstGeom prst="rect">
            <a:avLst/>
          </a:prstGeom>
          <a:noFill/>
          <a:ln w="9525">
            <a:solidFill>
              <a:srgbClr val="E2E4E7"/>
            </a:solidFill>
          </a:ln>
        </p:spPr>
        <p:txBody>
          <a:bodyPr rtlCol="0" anchor="ctr"/>
          <a:lstStyle/>
          <a:p>
            <a:pPr algn="ctr"/>
          </a:p>
        </p:txBody>
      </p:sp>
      <p:sp>
        <p:nvSpPr>
          <p:cNvPr id="52" name="TextBox 51"/>
          <p:cNvSpPr txBox="1"/>
          <p:nvPr/>
        </p:nvSpPr>
        <p:spPr>
          <a:xfrm>
            <a:off x="7678826"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ㄱ자형</a:t>
            </a:r>
          </a:p>
        </p:txBody>
      </p:sp>
      <p:sp>
        <p:nvSpPr>
          <p:cNvPr id="53" name="Rectangle 52"/>
          <p:cNvSpPr/>
          <p:nvPr/>
        </p:nvSpPr>
        <p:spPr>
          <a:xfrm>
            <a:off x="7569098" y="3710807"/>
            <a:ext cx="1854098" cy="384048"/>
          </a:xfrm>
          <a:prstGeom prst="rect">
            <a:avLst/>
          </a:prstGeom>
          <a:noFill/>
          <a:ln w="9525">
            <a:solidFill>
              <a:srgbClr val="E2E4E7"/>
            </a:solidFill>
          </a:ln>
        </p:spPr>
        <p:txBody>
          <a:bodyPr rtlCol="0" anchor="ctr"/>
          <a:lstStyle/>
          <a:p>
            <a:pPr algn="ctr"/>
          </a:p>
        </p:txBody>
      </p:sp>
      <p:sp>
        <p:nvSpPr>
          <p:cNvPr id="54" name="TextBox 53"/>
          <p:cNvSpPr txBox="1"/>
          <p:nvPr/>
        </p:nvSpPr>
        <p:spPr>
          <a:xfrm>
            <a:off x="7678826"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ㄷ자형</a:t>
            </a:r>
          </a:p>
        </p:txBody>
      </p:sp>
      <p:sp>
        <p:nvSpPr>
          <p:cNvPr id="55" name="Rectangle 54"/>
          <p:cNvSpPr/>
          <p:nvPr/>
        </p:nvSpPr>
        <p:spPr>
          <a:xfrm>
            <a:off x="7569098" y="4168007"/>
            <a:ext cx="1854098" cy="384048"/>
          </a:xfrm>
          <a:prstGeom prst="rect">
            <a:avLst/>
          </a:prstGeom>
          <a:noFill/>
          <a:ln w="9525">
            <a:solidFill>
              <a:srgbClr val="E2E4E7"/>
            </a:solidFill>
          </a:ln>
        </p:spPr>
        <p:txBody>
          <a:bodyPr rtlCol="0" anchor="ctr"/>
          <a:lstStyle/>
          <a:p>
            <a:pPr algn="ctr"/>
          </a:p>
        </p:txBody>
      </p:sp>
      <p:sp>
        <p:nvSpPr>
          <p:cNvPr id="56" name="TextBox 55"/>
          <p:cNvSpPr txBox="1"/>
          <p:nvPr/>
        </p:nvSpPr>
        <p:spPr>
          <a:xfrm>
            <a:off x="7678826" y="41680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Island / 대면형</a:t>
            </a:r>
          </a:p>
        </p:txBody>
      </p:sp>
      <p:cxnSp>
        <p:nvCxnSpPr>
          <p:cNvPr id="57" name="Connector 56"/>
          <p:cNvCxnSpPr/>
          <p:nvPr/>
        </p:nvCxnSpPr>
        <p:spPr>
          <a:xfrm>
            <a:off x="9450628" y="1991735"/>
            <a:ext cx="173736" cy="0"/>
          </a:xfrm>
          <a:prstGeom prst="line">
            <a:avLst/>
          </a:prstGeom>
          <a:ln w="15875">
            <a:solidFill>
              <a:srgbClr val="8C9198"/>
            </a:solidFill>
            <a:tailEnd type="triangle" w="med" len="med"/>
          </a:ln>
        </p:spPr>
      </p:cxnSp>
      <p:sp>
        <p:nvSpPr>
          <p:cNvPr id="58" name="Rectangle 57"/>
          <p:cNvSpPr/>
          <p:nvPr/>
        </p:nvSpPr>
        <p:spPr>
          <a:xfrm>
            <a:off x="9651796" y="1790567"/>
            <a:ext cx="1854098" cy="411480"/>
          </a:xfrm>
          <a:prstGeom prst="rect">
            <a:avLst/>
          </a:prstGeom>
          <a:solidFill>
            <a:srgbClr val="E2571B"/>
          </a:solidFill>
          <a:ln>
            <a:noFill/>
          </a:ln>
        </p:spPr>
        <p:txBody>
          <a:bodyPr rtlCol="0" anchor="ctr"/>
          <a:lstStyle/>
          <a:p>
            <a:pPr algn="ctr"/>
          </a:p>
        </p:txBody>
      </p:sp>
      <p:sp>
        <p:nvSpPr>
          <p:cNvPr id="59" name="TextBox 58"/>
          <p:cNvSpPr txBox="1"/>
          <p:nvPr/>
        </p:nvSpPr>
        <p:spPr>
          <a:xfrm>
            <a:off x="9724948" y="1790567"/>
            <a:ext cx="1707794" cy="4114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Robot Architecture</a:t>
            </a:r>
          </a:p>
        </p:txBody>
      </p:sp>
      <p:sp>
        <p:nvSpPr>
          <p:cNvPr id="60" name="Rectangle 59"/>
          <p:cNvSpPr/>
          <p:nvPr/>
        </p:nvSpPr>
        <p:spPr>
          <a:xfrm>
            <a:off x="9651796" y="2339207"/>
            <a:ext cx="1854098" cy="384048"/>
          </a:xfrm>
          <a:prstGeom prst="rect">
            <a:avLst/>
          </a:prstGeom>
          <a:noFill/>
          <a:ln w="9525">
            <a:solidFill>
              <a:srgbClr val="E2E4E7"/>
            </a:solidFill>
          </a:ln>
        </p:spPr>
        <p:txBody>
          <a:bodyPr rtlCol="0" anchor="ctr"/>
          <a:lstStyle/>
          <a:p>
            <a:pPr algn="ctr"/>
          </a:p>
        </p:txBody>
      </p:sp>
      <p:sp>
        <p:nvSpPr>
          <p:cNvPr id="61" name="TextBox 60"/>
          <p:cNvSpPr txBox="1"/>
          <p:nvPr/>
        </p:nvSpPr>
        <p:spPr>
          <a:xfrm>
            <a:off x="9761524"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Rail Type</a:t>
            </a:r>
          </a:p>
        </p:txBody>
      </p:sp>
      <p:sp>
        <p:nvSpPr>
          <p:cNvPr id="62" name="Rectangle 61"/>
          <p:cNvSpPr/>
          <p:nvPr/>
        </p:nvSpPr>
        <p:spPr>
          <a:xfrm>
            <a:off x="9651796" y="2796407"/>
            <a:ext cx="1854098" cy="384048"/>
          </a:xfrm>
          <a:prstGeom prst="rect">
            <a:avLst/>
          </a:prstGeom>
          <a:noFill/>
          <a:ln w="9525">
            <a:solidFill>
              <a:srgbClr val="E2E4E7"/>
            </a:solidFill>
          </a:ln>
        </p:spPr>
        <p:txBody>
          <a:bodyPr rtlCol="0" anchor="ctr"/>
          <a:lstStyle/>
          <a:p>
            <a:pPr algn="ctr"/>
          </a:p>
        </p:txBody>
      </p:sp>
      <p:sp>
        <p:nvSpPr>
          <p:cNvPr id="63" name="TextBox 62"/>
          <p:cNvSpPr txBox="1"/>
          <p:nvPr/>
        </p:nvSpPr>
        <p:spPr>
          <a:xfrm>
            <a:off x="9761524"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Dock Type</a:t>
            </a:r>
          </a:p>
        </p:txBody>
      </p:sp>
      <p:sp>
        <p:nvSpPr>
          <p:cNvPr id="64" name="Rectangle 63"/>
          <p:cNvSpPr/>
          <p:nvPr/>
        </p:nvSpPr>
        <p:spPr>
          <a:xfrm>
            <a:off x="9651796" y="3253607"/>
            <a:ext cx="1854098" cy="384048"/>
          </a:xfrm>
          <a:prstGeom prst="rect">
            <a:avLst/>
          </a:prstGeom>
          <a:noFill/>
          <a:ln w="9525">
            <a:solidFill>
              <a:srgbClr val="E2E4E7"/>
            </a:solidFill>
          </a:ln>
        </p:spPr>
        <p:txBody>
          <a:bodyPr rtlCol="0" anchor="ctr"/>
          <a:lstStyle/>
          <a:p>
            <a:pPr algn="ctr"/>
          </a:p>
        </p:txBody>
      </p:sp>
      <p:sp>
        <p:nvSpPr>
          <p:cNvPr id="65" name="TextBox 64"/>
          <p:cNvSpPr txBox="1"/>
          <p:nvPr/>
        </p:nvSpPr>
        <p:spPr>
          <a:xfrm>
            <a:off x="9761524"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Fold-out Type</a:t>
            </a:r>
          </a:p>
        </p:txBody>
      </p:sp>
      <p:sp>
        <p:nvSpPr>
          <p:cNvPr id="66" name="Rectangle 65"/>
          <p:cNvSpPr/>
          <p:nvPr/>
        </p:nvSpPr>
        <p:spPr>
          <a:xfrm>
            <a:off x="9651796" y="3710807"/>
            <a:ext cx="1854098" cy="384048"/>
          </a:xfrm>
          <a:prstGeom prst="rect">
            <a:avLst/>
          </a:prstGeom>
          <a:noFill/>
          <a:ln w="9525">
            <a:solidFill>
              <a:srgbClr val="E2E4E7"/>
            </a:solidFill>
          </a:ln>
        </p:spPr>
        <p:txBody>
          <a:bodyPr rtlCol="0" anchor="ctr"/>
          <a:lstStyle/>
          <a:p>
            <a:pPr algn="ctr"/>
          </a:p>
        </p:txBody>
      </p:sp>
      <p:sp>
        <p:nvSpPr>
          <p:cNvPr id="67" name="TextBox 66"/>
          <p:cNvSpPr txBox="1"/>
          <p:nvPr/>
        </p:nvSpPr>
        <p:spPr>
          <a:xfrm>
            <a:off x="9761524"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Hybrid Type</a:t>
            </a:r>
          </a:p>
        </p:txBody>
      </p:sp>
      <p:sp>
        <p:nvSpPr>
          <p:cNvPr id="68" name="TextBox 67"/>
          <p:cNvSpPr txBox="1"/>
          <p:nvPr/>
        </p:nvSpPr>
        <p:spPr>
          <a:xfrm>
            <a:off x="5486400" y="4643495"/>
            <a:ext cx="601949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Product Classification 예시</a:t>
            </a:r>
          </a:p>
        </p:txBody>
      </p:sp>
      <p:sp>
        <p:nvSpPr>
          <p:cNvPr id="69" name="TextBox 68"/>
          <p:cNvSpPr txBox="1"/>
          <p:nvPr/>
        </p:nvSpPr>
        <p:spPr>
          <a:xfrm>
            <a:off x="5486400" y="4945247"/>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REMODEL</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11자형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Rail Type A</a:t>
            </a:r>
          </a:p>
        </p:txBody>
      </p:sp>
      <p:sp>
        <p:nvSpPr>
          <p:cNvPr id="70" name="TextBox 69"/>
          <p:cNvSpPr txBox="1"/>
          <p:nvPr/>
        </p:nvSpPr>
        <p:spPr>
          <a:xfrm>
            <a:off x="5486400" y="5274431"/>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REMODEL</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59㎡ ㄱ자형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Fold-out Type</a:t>
            </a:r>
          </a:p>
        </p:txBody>
      </p:sp>
      <p:sp>
        <p:nvSpPr>
          <p:cNvPr id="71" name="TextBox 70"/>
          <p:cNvSpPr txBox="1"/>
          <p:nvPr/>
        </p:nvSpPr>
        <p:spPr>
          <a:xfrm>
            <a:off x="5486400" y="5603615"/>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NEW</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ㄷ자형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Corner Dock + Partial Rail</a:t>
            </a:r>
          </a:p>
        </p:txBody>
      </p:sp>
      <p:sp>
        <p:nvSpPr>
          <p:cNvPr id="72" name="TextBox 71"/>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Bay는 거실·침실 배치 변수로만 사용. 벽식구조 아파트는 단지 내 동일 평면 Type이 반복 → Template 재사용 근거 (TO BE VALIDATED, 평면 30개 분석으로 확인).</a:t>
            </a:r>
          </a:p>
        </p:txBody>
      </p:sp>
      <p:sp>
        <p:nvSpPr>
          <p:cNvPr id="73" name="TextBox 7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4" name="TextBox 7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06  ARKI Kitchen System</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Q3</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ARKI Kitchen System: Robot과 Kitchen을 하나의 제품체계로 통합</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Arm 단품 판매가 아닌 Robot · Kitchen Furniture · Built-in Module · Installation · Software · Rental · Care · Consumables 통합</a:t>
            </a:r>
          </a:p>
        </p:txBody>
      </p:sp>
      <p:sp>
        <p:nvSpPr>
          <p:cNvPr id="9" name="Rectangle 8"/>
          <p:cNvSpPr/>
          <p:nvPr/>
        </p:nvSpPr>
        <p:spPr>
          <a:xfrm>
            <a:off x="685800" y="1790567"/>
            <a:ext cx="2032345" cy="2514600"/>
          </a:xfrm>
          <a:prstGeom prst="rect">
            <a:avLst/>
          </a:prstGeom>
          <a:solidFill>
            <a:srgbClr val="F4F5F6"/>
          </a:solidFill>
          <a:ln>
            <a:noFill/>
          </a:ln>
        </p:spPr>
        <p:txBody>
          <a:bodyPr rtlCol="0" anchor="ctr"/>
          <a:lstStyle/>
          <a:p>
            <a:pPr algn="ctr"/>
          </a:p>
        </p:txBody>
      </p:sp>
      <p:sp>
        <p:nvSpPr>
          <p:cNvPr id="10" name="Rectangle 9"/>
          <p:cNvSpPr/>
          <p:nvPr/>
        </p:nvSpPr>
        <p:spPr>
          <a:xfrm>
            <a:off x="685800" y="1790567"/>
            <a:ext cx="2032345" cy="45720"/>
          </a:xfrm>
          <a:prstGeom prst="rect">
            <a:avLst/>
          </a:prstGeom>
          <a:solidFill>
            <a:srgbClr val="E2571B"/>
          </a:solidFill>
          <a:ln>
            <a:noFill/>
          </a:ln>
        </p:spPr>
        <p:txBody>
          <a:bodyPr rtlCol="0" anchor="ctr"/>
          <a:lstStyle/>
          <a:p>
            <a:pPr algn="ctr"/>
          </a:p>
        </p:txBody>
      </p:sp>
      <p:sp>
        <p:nvSpPr>
          <p:cNvPr id="11" name="TextBox 10"/>
          <p:cNvSpPr txBox="1"/>
          <p:nvPr/>
        </p:nvSpPr>
        <p:spPr>
          <a:xfrm>
            <a:off x="822960"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Robot-ready Kitchen</a:t>
            </a:r>
          </a:p>
        </p:txBody>
      </p:sp>
      <p:sp>
        <p:nvSpPr>
          <p:cNvPr id="12" name="Rectangle 11"/>
          <p:cNvSpPr/>
          <p:nvPr/>
        </p:nvSpPr>
        <p:spPr>
          <a:xfrm>
            <a:off x="822960" y="2212512"/>
            <a:ext cx="796639" cy="182880"/>
          </a:xfrm>
          <a:prstGeom prst="rect">
            <a:avLst/>
          </a:prstGeom>
          <a:solidFill>
            <a:srgbClr val="FBEDE6"/>
          </a:solidFill>
          <a:ln>
            <a:noFill/>
          </a:ln>
        </p:spPr>
        <p:txBody>
          <a:bodyPr rtlCol="0" anchor="ctr"/>
          <a:lstStyle/>
          <a:p>
            <a:pPr algn="ctr"/>
          </a:p>
        </p:txBody>
      </p:sp>
      <p:sp>
        <p:nvSpPr>
          <p:cNvPr id="13" name="TextBox 12"/>
          <p:cNvSpPr txBox="1"/>
          <p:nvPr/>
        </p:nvSpPr>
        <p:spPr>
          <a:xfrm>
            <a:off x="822960" y="2212512"/>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14" name="TextBox 13"/>
          <p:cNvSpPr txBox="1"/>
          <p:nvPr/>
        </p:nvSpPr>
        <p:spPr>
          <a:xfrm>
            <a:off x="822960"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Robot Mount · Rail Interface · Dock</a:t>
            </a:r>
          </a:p>
          <a:p>
            <a:pPr algn="l">
              <a:lnSpc>
                <a:spcPct val="100000"/>
              </a:lnSpc>
              <a:spcAft>
                <a:spcPts val="200"/>
              </a:spcAft>
            </a:pPr>
            <a:r>
              <a:rPr sz="1050" b="0">
                <a:solidFill>
                  <a:srgbClr val="4A4F57"/>
                </a:solidFill>
                <a:latin typeface="Noto Sans KR"/>
                <a:ea typeface="Noto Sans KR"/>
                <a:cs typeface="Noto Sans KR"/>
              </a:rPr>
              <a:t>전용 전원 · 통신 · Vision 위치</a:t>
            </a:r>
          </a:p>
          <a:p>
            <a:pPr algn="l">
              <a:lnSpc>
                <a:spcPct val="100000"/>
              </a:lnSpc>
              <a:spcAft>
                <a:spcPts val="200"/>
              </a:spcAft>
            </a:pPr>
            <a:r>
              <a:rPr sz="1050" b="0">
                <a:solidFill>
                  <a:srgbClr val="4A4F57"/>
                </a:solidFill>
                <a:latin typeface="Noto Sans KR"/>
                <a:ea typeface="Noto Sans KR"/>
                <a:cs typeface="Noto Sans KR"/>
              </a:rPr>
              <a:t>식세기 상향 Housing</a:t>
            </a:r>
          </a:p>
          <a:p>
            <a:pPr algn="l">
              <a:lnSpc>
                <a:spcPct val="100000"/>
              </a:lnSpc>
            </a:pPr>
            <a:r>
              <a:rPr sz="1050" b="0">
                <a:solidFill>
                  <a:srgbClr val="4A4F57"/>
                </a:solidFill>
                <a:latin typeface="Noto Sans KR"/>
                <a:ea typeface="Noto Sans KR"/>
                <a:cs typeface="Noto Sans KR"/>
              </a:rPr>
              <a:t>Robot-friendly Storage · Service Access</a:t>
            </a:r>
          </a:p>
        </p:txBody>
      </p:sp>
      <p:sp>
        <p:nvSpPr>
          <p:cNvPr id="15" name="Rectangle 14"/>
          <p:cNvSpPr/>
          <p:nvPr/>
        </p:nvSpPr>
        <p:spPr>
          <a:xfrm>
            <a:off x="2882737" y="1790567"/>
            <a:ext cx="2032345" cy="2514600"/>
          </a:xfrm>
          <a:prstGeom prst="rect">
            <a:avLst/>
          </a:prstGeom>
          <a:solidFill>
            <a:srgbClr val="F4F5F6"/>
          </a:solidFill>
          <a:ln>
            <a:noFill/>
          </a:ln>
        </p:spPr>
        <p:txBody>
          <a:bodyPr rtlCol="0" anchor="ctr"/>
          <a:lstStyle/>
          <a:p>
            <a:pPr algn="ctr"/>
          </a:p>
        </p:txBody>
      </p:sp>
      <p:sp>
        <p:nvSpPr>
          <p:cNvPr id="16" name="TextBox 15"/>
          <p:cNvSpPr txBox="1"/>
          <p:nvPr/>
        </p:nvSpPr>
        <p:spPr>
          <a:xfrm>
            <a:off x="3019897"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Robot Module</a:t>
            </a:r>
          </a:p>
        </p:txBody>
      </p:sp>
      <p:sp>
        <p:nvSpPr>
          <p:cNvPr id="17" name="Rectangle 16"/>
          <p:cNvSpPr/>
          <p:nvPr/>
        </p:nvSpPr>
        <p:spPr>
          <a:xfrm>
            <a:off x="3019897" y="2212512"/>
            <a:ext cx="602392" cy="182880"/>
          </a:xfrm>
          <a:prstGeom prst="rect">
            <a:avLst/>
          </a:prstGeom>
          <a:solidFill>
            <a:srgbClr val="FFFFFF"/>
          </a:solidFill>
          <a:ln w="6350">
            <a:solidFill>
              <a:srgbClr val="8C9198"/>
            </a:solidFill>
          </a:ln>
        </p:spPr>
        <p:txBody>
          <a:bodyPr rtlCol="0" anchor="ctr"/>
          <a:lstStyle/>
          <a:p>
            <a:pPr algn="ctr"/>
          </a:p>
        </p:txBody>
      </p:sp>
      <p:sp>
        <p:nvSpPr>
          <p:cNvPr id="18" name="TextBox 17"/>
          <p:cNvSpPr txBox="1"/>
          <p:nvPr/>
        </p:nvSpPr>
        <p:spPr>
          <a:xfrm>
            <a:off x="3019897"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19" name="TextBox 18"/>
          <p:cNvSpPr txBox="1"/>
          <p:nvPr/>
        </p:nvSpPr>
        <p:spPr>
          <a:xfrm>
            <a:off x="3019897"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6축 Arm (가반 3~5kg급)</a:t>
            </a:r>
          </a:p>
          <a:p>
            <a:pPr algn="l">
              <a:lnSpc>
                <a:spcPct val="100000"/>
              </a:lnSpc>
              <a:spcAft>
                <a:spcPts val="200"/>
              </a:spcAft>
            </a:pPr>
            <a:r>
              <a:rPr sz="1050" b="0">
                <a:solidFill>
                  <a:srgbClr val="4A4F57"/>
                </a:solidFill>
                <a:latin typeface="Noto Sans KR"/>
                <a:ea typeface="Noto Sans KR"/>
                <a:cs typeface="Noto Sans KR"/>
              </a:rPr>
              <a:t>Linear Rail · End-effector</a:t>
            </a:r>
          </a:p>
          <a:p>
            <a:pPr algn="l">
              <a:lnSpc>
                <a:spcPct val="100000"/>
              </a:lnSpc>
              <a:spcAft>
                <a:spcPts val="200"/>
              </a:spcAft>
            </a:pPr>
            <a:r>
              <a:rPr sz="1050" b="0">
                <a:solidFill>
                  <a:srgbClr val="4A4F57"/>
                </a:solidFill>
                <a:latin typeface="Noto Sans KR"/>
                <a:ea typeface="Noto Sans KR"/>
                <a:cs typeface="Noto Sans KR"/>
              </a:rPr>
              <a:t>Vision · Safety Sensor</a:t>
            </a:r>
          </a:p>
          <a:p>
            <a:pPr algn="l">
              <a:lnSpc>
                <a:spcPct val="100000"/>
              </a:lnSpc>
            </a:pPr>
            <a:r>
              <a:rPr sz="1050" b="0">
                <a:solidFill>
                  <a:srgbClr val="4A4F57"/>
                </a:solidFill>
                <a:latin typeface="Noto Sans KR"/>
                <a:ea typeface="Noto Sans KR"/>
                <a:cs typeface="Noto Sans KR"/>
              </a:rPr>
              <a:t>Controller · Garage Door</a:t>
            </a:r>
          </a:p>
        </p:txBody>
      </p:sp>
      <p:sp>
        <p:nvSpPr>
          <p:cNvPr id="20" name="Rectangle 19"/>
          <p:cNvSpPr/>
          <p:nvPr/>
        </p:nvSpPr>
        <p:spPr>
          <a:xfrm>
            <a:off x="5079674" y="1790567"/>
            <a:ext cx="2032345" cy="2514600"/>
          </a:xfrm>
          <a:prstGeom prst="rect">
            <a:avLst/>
          </a:prstGeom>
          <a:solidFill>
            <a:srgbClr val="F4F5F6"/>
          </a:solidFill>
          <a:ln>
            <a:noFill/>
          </a:ln>
        </p:spPr>
        <p:txBody>
          <a:bodyPr rtlCol="0" anchor="ctr"/>
          <a:lstStyle/>
          <a:p>
            <a:pPr algn="ctr"/>
          </a:p>
        </p:txBody>
      </p:sp>
      <p:sp>
        <p:nvSpPr>
          <p:cNvPr id="21" name="TextBox 20"/>
          <p:cNvSpPr txBox="1"/>
          <p:nvPr/>
        </p:nvSpPr>
        <p:spPr>
          <a:xfrm>
            <a:off x="5216834"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Kitchen Software</a:t>
            </a:r>
          </a:p>
        </p:txBody>
      </p:sp>
      <p:sp>
        <p:nvSpPr>
          <p:cNvPr id="22" name="Rectangle 21"/>
          <p:cNvSpPr/>
          <p:nvPr/>
        </p:nvSpPr>
        <p:spPr>
          <a:xfrm>
            <a:off x="5216834" y="2212512"/>
            <a:ext cx="602392" cy="182880"/>
          </a:xfrm>
          <a:prstGeom prst="rect">
            <a:avLst/>
          </a:prstGeom>
          <a:solidFill>
            <a:srgbClr val="FFFFFF"/>
          </a:solidFill>
          <a:ln w="6350">
            <a:solidFill>
              <a:srgbClr val="8C9198"/>
            </a:solidFill>
          </a:ln>
        </p:spPr>
        <p:txBody>
          <a:bodyPr rtlCol="0" anchor="ctr"/>
          <a:lstStyle/>
          <a:p>
            <a:pPr algn="ctr"/>
          </a:p>
        </p:txBody>
      </p:sp>
      <p:sp>
        <p:nvSpPr>
          <p:cNvPr id="23" name="TextBox 22"/>
          <p:cNvSpPr txBox="1"/>
          <p:nvPr/>
        </p:nvSpPr>
        <p:spPr>
          <a:xfrm>
            <a:off x="5216834"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4" name="TextBox 23"/>
          <p:cNvSpPr txBox="1"/>
          <p:nvPr/>
        </p:nvSpPr>
        <p:spPr>
          <a:xfrm>
            <a:off x="5216834"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식기 인식 · Task Planner</a:t>
            </a:r>
          </a:p>
          <a:p>
            <a:pPr algn="l">
              <a:lnSpc>
                <a:spcPct val="100000"/>
              </a:lnSpc>
              <a:spcAft>
                <a:spcPts val="200"/>
              </a:spcAft>
            </a:pPr>
            <a:r>
              <a:rPr sz="1050" b="0">
                <a:solidFill>
                  <a:srgbClr val="4A4F57"/>
                </a:solidFill>
                <a:latin typeface="Noto Sans KR"/>
                <a:ea typeface="Noto Sans KR"/>
                <a:cs typeface="Noto Sans KR"/>
              </a:rPr>
              <a:t>식세기 연동 (Loading / Unloading)</a:t>
            </a:r>
          </a:p>
          <a:p>
            <a:pPr algn="l">
              <a:lnSpc>
                <a:spcPct val="100000"/>
              </a:lnSpc>
              <a:spcAft>
                <a:spcPts val="200"/>
              </a:spcAft>
            </a:pPr>
            <a:r>
              <a:rPr sz="1050" b="0">
                <a:solidFill>
                  <a:srgbClr val="4A4F57"/>
                </a:solidFill>
                <a:latin typeface="Noto Sans KR"/>
                <a:ea typeface="Noto Sans KR"/>
                <a:cs typeface="Noto Sans KR"/>
              </a:rPr>
              <a:t>Zone Safety Monitoring</a:t>
            </a:r>
          </a:p>
          <a:p>
            <a:pPr algn="l">
              <a:lnSpc>
                <a:spcPct val="100000"/>
              </a:lnSpc>
            </a:pPr>
            <a:r>
              <a:rPr sz="1050" b="0">
                <a:solidFill>
                  <a:srgbClr val="4A4F57"/>
                </a:solidFill>
                <a:latin typeface="Noto Sans KR"/>
                <a:ea typeface="Noto Sans KR"/>
                <a:cs typeface="Noto Sans KR"/>
              </a:rPr>
              <a:t>원격진단 · Update</a:t>
            </a:r>
          </a:p>
        </p:txBody>
      </p:sp>
      <p:sp>
        <p:nvSpPr>
          <p:cNvPr id="25" name="Rectangle 24"/>
          <p:cNvSpPr/>
          <p:nvPr/>
        </p:nvSpPr>
        <p:spPr>
          <a:xfrm>
            <a:off x="7276612" y="1790567"/>
            <a:ext cx="2032345" cy="2514600"/>
          </a:xfrm>
          <a:prstGeom prst="rect">
            <a:avLst/>
          </a:prstGeom>
          <a:solidFill>
            <a:srgbClr val="F4F5F6"/>
          </a:solidFill>
          <a:ln>
            <a:noFill/>
          </a:ln>
        </p:spPr>
        <p:txBody>
          <a:bodyPr rtlCol="0" anchor="ctr"/>
          <a:lstStyle/>
          <a:p>
            <a:pPr algn="ctr"/>
          </a:p>
        </p:txBody>
      </p:sp>
      <p:sp>
        <p:nvSpPr>
          <p:cNvPr id="26" name="TextBox 25"/>
          <p:cNvSpPr txBox="1"/>
          <p:nvPr/>
        </p:nvSpPr>
        <p:spPr>
          <a:xfrm>
            <a:off x="7413772"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Installation System</a:t>
            </a:r>
          </a:p>
        </p:txBody>
      </p:sp>
      <p:sp>
        <p:nvSpPr>
          <p:cNvPr id="27" name="Rectangle 26"/>
          <p:cNvSpPr/>
          <p:nvPr/>
        </p:nvSpPr>
        <p:spPr>
          <a:xfrm>
            <a:off x="7413772" y="2212512"/>
            <a:ext cx="602392" cy="182880"/>
          </a:xfrm>
          <a:prstGeom prst="rect">
            <a:avLst/>
          </a:prstGeom>
          <a:solidFill>
            <a:srgbClr val="FFFFFF"/>
          </a:solidFill>
          <a:ln w="6350">
            <a:solidFill>
              <a:srgbClr val="8C9198"/>
            </a:solidFill>
          </a:ln>
        </p:spPr>
        <p:txBody>
          <a:bodyPr rtlCol="0" anchor="ctr"/>
          <a:lstStyle/>
          <a:p>
            <a:pPr algn="ctr"/>
          </a:p>
        </p:txBody>
      </p:sp>
      <p:sp>
        <p:nvSpPr>
          <p:cNvPr id="28" name="TextBox 27"/>
          <p:cNvSpPr txBox="1"/>
          <p:nvPr/>
        </p:nvSpPr>
        <p:spPr>
          <a:xfrm>
            <a:off x="7413772"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9" name="TextBox 28"/>
          <p:cNvSpPr txBox="1"/>
          <p:nvPr/>
        </p:nvSpPr>
        <p:spPr>
          <a:xfrm>
            <a:off x="7413772"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Layout Classification</a:t>
            </a:r>
          </a:p>
          <a:p>
            <a:pPr algn="l">
              <a:lnSpc>
                <a:spcPct val="100000"/>
              </a:lnSpc>
              <a:spcAft>
                <a:spcPts val="200"/>
              </a:spcAft>
            </a:pPr>
            <a:r>
              <a:rPr sz="1050" b="0">
                <a:solidFill>
                  <a:srgbClr val="4A4F57"/>
                </a:solidFill>
                <a:latin typeface="Noto Sans KR"/>
                <a:ea typeface="Noto Sans KR"/>
                <a:cs typeface="Noto Sans KR"/>
              </a:rPr>
              <a:t>Standard Module 선택</a:t>
            </a:r>
          </a:p>
          <a:p>
            <a:pPr algn="l">
              <a:lnSpc>
                <a:spcPct val="100000"/>
              </a:lnSpc>
              <a:spcAft>
                <a:spcPts val="200"/>
              </a:spcAft>
            </a:pPr>
            <a:r>
              <a:rPr sz="1050" b="0">
                <a:solidFill>
                  <a:srgbClr val="4A4F57"/>
                </a:solidFill>
                <a:latin typeface="Noto Sans KR"/>
                <a:ea typeface="Noto Sans KR"/>
                <a:cs typeface="Noto Sans KR"/>
              </a:rPr>
              <a:t>Site Adjustment</a:t>
            </a:r>
          </a:p>
          <a:p>
            <a:pPr algn="l">
              <a:lnSpc>
                <a:spcPct val="100000"/>
              </a:lnSpc>
            </a:pPr>
            <a:r>
              <a:rPr sz="1050" b="0">
                <a:solidFill>
                  <a:srgbClr val="4A4F57"/>
                </a:solidFill>
                <a:latin typeface="Noto Sans KR"/>
                <a:ea typeface="Noto Sans KR"/>
                <a:cs typeface="Noto Sans KR"/>
              </a:rPr>
              <a:t>Auto Calibration · Commissioning</a:t>
            </a:r>
          </a:p>
        </p:txBody>
      </p:sp>
      <p:sp>
        <p:nvSpPr>
          <p:cNvPr id="30" name="Rectangle 29"/>
          <p:cNvSpPr/>
          <p:nvPr/>
        </p:nvSpPr>
        <p:spPr>
          <a:xfrm>
            <a:off x="9473549" y="1790567"/>
            <a:ext cx="2032345" cy="2514600"/>
          </a:xfrm>
          <a:prstGeom prst="rect">
            <a:avLst/>
          </a:prstGeom>
          <a:solidFill>
            <a:srgbClr val="F4F5F6"/>
          </a:solidFill>
          <a:ln>
            <a:noFill/>
          </a:ln>
        </p:spPr>
        <p:txBody>
          <a:bodyPr rtlCol="0" anchor="ctr"/>
          <a:lstStyle/>
          <a:p>
            <a:pPr algn="ctr"/>
          </a:p>
        </p:txBody>
      </p:sp>
      <p:sp>
        <p:nvSpPr>
          <p:cNvPr id="31" name="TextBox 30"/>
          <p:cNvSpPr txBox="1"/>
          <p:nvPr/>
        </p:nvSpPr>
        <p:spPr>
          <a:xfrm>
            <a:off x="9610709"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Care · Consumables</a:t>
            </a:r>
          </a:p>
        </p:txBody>
      </p:sp>
      <p:sp>
        <p:nvSpPr>
          <p:cNvPr id="32" name="Rectangle 31"/>
          <p:cNvSpPr/>
          <p:nvPr/>
        </p:nvSpPr>
        <p:spPr>
          <a:xfrm>
            <a:off x="9610709" y="2212512"/>
            <a:ext cx="796639" cy="182880"/>
          </a:xfrm>
          <a:prstGeom prst="rect">
            <a:avLst/>
          </a:prstGeom>
          <a:solidFill>
            <a:srgbClr val="FBEDE6"/>
          </a:solidFill>
          <a:ln>
            <a:noFill/>
          </a:ln>
        </p:spPr>
        <p:txBody>
          <a:bodyPr rtlCol="0" anchor="ctr"/>
          <a:lstStyle/>
          <a:p>
            <a:pPr algn="ctr"/>
          </a:p>
        </p:txBody>
      </p:sp>
      <p:sp>
        <p:nvSpPr>
          <p:cNvPr id="33" name="TextBox 32"/>
          <p:cNvSpPr txBox="1"/>
          <p:nvPr/>
        </p:nvSpPr>
        <p:spPr>
          <a:xfrm>
            <a:off x="9610709" y="2212512"/>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34" name="TextBox 33"/>
          <p:cNvSpPr txBox="1"/>
          <p:nvPr/>
        </p:nvSpPr>
        <p:spPr>
          <a:xfrm>
            <a:off x="9610709"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정기 안전점검 · Calibration</a:t>
            </a:r>
          </a:p>
          <a:p>
            <a:pPr algn="l">
              <a:lnSpc>
                <a:spcPct val="100000"/>
              </a:lnSpc>
              <a:spcAft>
                <a:spcPts val="200"/>
              </a:spcAft>
            </a:pPr>
            <a:r>
              <a:rPr sz="1050" b="0">
                <a:solidFill>
                  <a:srgbClr val="4A4F57"/>
                </a:solidFill>
                <a:latin typeface="Noto Sans KR"/>
                <a:ea typeface="Noto Sans KR"/>
                <a:cs typeface="Noto Sans KR"/>
              </a:rPr>
              <a:t>Remote Diagnosis · A/S</a:t>
            </a:r>
          </a:p>
          <a:p>
            <a:pPr algn="l">
              <a:lnSpc>
                <a:spcPct val="100000"/>
              </a:lnSpc>
            </a:pPr>
            <a:r>
              <a:rPr sz="1050" b="0">
                <a:solidFill>
                  <a:srgbClr val="4A4F57"/>
                </a:solidFill>
                <a:latin typeface="Noto Sans KR"/>
                <a:ea typeface="Noto Sans KR"/>
                <a:cs typeface="Noto Sans KR"/>
              </a:rPr>
              <a:t>Grip · Cleaning · Protection Kit</a:t>
            </a:r>
          </a:p>
        </p:txBody>
      </p:sp>
      <p:sp>
        <p:nvSpPr>
          <p:cNvPr id="35" name="TextBox 34"/>
          <p:cNvSpPr txBox="1"/>
          <p:nvPr/>
        </p:nvSpPr>
        <p:spPr>
          <a:xfrm>
            <a:off x="685800" y="4515479"/>
            <a:ext cx="1082009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역할 분담: 공사업체가 되지 않는 구조</a:t>
            </a:r>
          </a:p>
        </p:txBody>
      </p:sp>
      <p:sp>
        <p:nvSpPr>
          <p:cNvPr id="36" name="Rectangle 35"/>
          <p:cNvSpPr/>
          <p:nvPr/>
        </p:nvSpPr>
        <p:spPr>
          <a:xfrm>
            <a:off x="685800" y="4899527"/>
            <a:ext cx="5272887" cy="960120"/>
          </a:xfrm>
          <a:prstGeom prst="rect">
            <a:avLst/>
          </a:prstGeom>
          <a:solidFill>
            <a:srgbClr val="15171A"/>
          </a:solidFill>
          <a:ln>
            <a:noFill/>
          </a:ln>
        </p:spPr>
        <p:txBody>
          <a:bodyPr rtlCol="0" anchor="ctr"/>
          <a:lstStyle/>
          <a:p>
            <a:pPr algn="ctr"/>
          </a:p>
        </p:txBody>
      </p:sp>
      <p:sp>
        <p:nvSpPr>
          <p:cNvPr id="37" name="TextBox 36"/>
          <p:cNvSpPr txBox="1"/>
          <p:nvPr/>
        </p:nvSpPr>
        <p:spPr>
          <a:xfrm>
            <a:off x="868680" y="4954391"/>
            <a:ext cx="4907127"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ARKI 담당</a:t>
            </a:r>
          </a:p>
        </p:txBody>
      </p:sp>
      <p:sp>
        <p:nvSpPr>
          <p:cNvPr id="38" name="TextBox 37"/>
          <p:cNvSpPr txBox="1"/>
          <p:nvPr/>
        </p:nvSpPr>
        <p:spPr>
          <a:xfrm>
            <a:off x="868680" y="5246999"/>
            <a:ext cx="4907127" cy="594360"/>
          </a:xfrm>
          <a:prstGeom prst="rect">
            <a:avLst/>
          </a:prstGeom>
          <a:noFill/>
        </p:spPr>
        <p:txBody>
          <a:bodyPr wrap="square" lIns="0" rIns="0" tIns="0" bIns="0" anchor="t">
            <a:spAutoFit/>
          </a:bodyPr>
          <a:lstStyle/>
          <a:p>
            <a:pPr algn="l">
              <a:lnSpc>
                <a:spcPct val="100000"/>
              </a:lnSpc>
            </a:pPr>
            <a:r>
              <a:rPr sz="1100" b="0">
                <a:solidFill>
                  <a:srgbClr val="FFFFFF"/>
                </a:solidFill>
                <a:latin typeface="Noto Sans KR"/>
                <a:ea typeface="Noto Sans KR"/>
                <a:cs typeface="Noto Sans KR"/>
              </a:rPr>
              <a:t>Product Architecture · Robot Module · Kitchen Interface · Software · Design Standard · Calibration · Safety QA · Commissioning</a:t>
            </a:r>
          </a:p>
        </p:txBody>
      </p:sp>
      <p:sp>
        <p:nvSpPr>
          <p:cNvPr id="39" name="Rectangle 38"/>
          <p:cNvSpPr/>
          <p:nvPr/>
        </p:nvSpPr>
        <p:spPr>
          <a:xfrm>
            <a:off x="6233007" y="4899527"/>
            <a:ext cx="5272887" cy="960120"/>
          </a:xfrm>
          <a:prstGeom prst="rect">
            <a:avLst/>
          </a:prstGeom>
          <a:solidFill>
            <a:srgbClr val="F4F5F6"/>
          </a:solidFill>
          <a:ln>
            <a:noFill/>
          </a:ln>
        </p:spPr>
        <p:txBody>
          <a:bodyPr rtlCol="0" anchor="ctr"/>
          <a:lstStyle/>
          <a:p>
            <a:pPr algn="ctr"/>
          </a:p>
        </p:txBody>
      </p:sp>
      <p:sp>
        <p:nvSpPr>
          <p:cNvPr id="40" name="TextBox 39"/>
          <p:cNvSpPr txBox="1"/>
          <p:nvPr/>
        </p:nvSpPr>
        <p:spPr>
          <a:xfrm>
            <a:off x="6415887" y="4954391"/>
            <a:ext cx="4907127" cy="274320"/>
          </a:xfrm>
          <a:prstGeom prst="rect">
            <a:avLst/>
          </a:prstGeom>
          <a:noFill/>
        </p:spPr>
        <p:txBody>
          <a:bodyPr wrap="square" lIns="0" rIns="0" tIns="0" bIns="0" anchor="t">
            <a:spAutoFit/>
          </a:bodyPr>
          <a:lstStyle/>
          <a:p>
            <a:pPr algn="l">
              <a:lnSpc>
                <a:spcPct val="100000"/>
              </a:lnSpc>
            </a:pPr>
            <a:r>
              <a:rPr sz="1100" b="1">
                <a:solidFill>
                  <a:srgbClr val="4A4F57"/>
                </a:solidFill>
                <a:latin typeface="Noto Sans KR"/>
                <a:ea typeface="Noto Sans KR"/>
                <a:cs typeface="Noto Sans KR"/>
              </a:rPr>
              <a:t>Partner 담당</a:t>
            </a:r>
          </a:p>
        </p:txBody>
      </p:sp>
      <p:sp>
        <p:nvSpPr>
          <p:cNvPr id="41" name="TextBox 40"/>
          <p:cNvSpPr txBox="1"/>
          <p:nvPr/>
        </p:nvSpPr>
        <p:spPr>
          <a:xfrm>
            <a:off x="6415887" y="5246999"/>
            <a:ext cx="4907127" cy="594360"/>
          </a:xfrm>
          <a:prstGeom prst="rect">
            <a:avLst/>
          </a:prstGeom>
          <a:noFill/>
        </p:spPr>
        <p:txBody>
          <a:bodyPr wrap="square" lIns="0" rIns="0" tIns="0" bIns="0" anchor="t">
            <a:spAutoFit/>
          </a:bodyPr>
          <a:lstStyle/>
          <a:p>
            <a:pPr algn="l">
              <a:lnSpc>
                <a:spcPct val="100000"/>
              </a:lnSpc>
            </a:pPr>
            <a:r>
              <a:rPr sz="1100" b="0">
                <a:solidFill>
                  <a:srgbClr val="15171A"/>
                </a:solidFill>
                <a:latin typeface="Noto Sans KR"/>
                <a:ea typeface="Noto Sans KR"/>
                <a:cs typeface="Noto Sans KR"/>
              </a:rPr>
              <a:t>철거 · 가구 제작/시공 · 전기 · 배관 · 일반 시공  →  장기: Certified Installation Partner</a:t>
            </a:r>
          </a:p>
        </p:txBody>
      </p:sp>
      <p:sp>
        <p:nvSpPr>
          <p:cNvPr id="42" name="TextBox 41"/>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KPI: Installation 매출 비중이 아닌 Robot · Rental · Care · Consumables 매출 비중이 Installed Base와 함께 증가하는지 (16·19장).</a:t>
            </a:r>
          </a:p>
        </p:txBody>
      </p:sp>
      <p:sp>
        <p:nvSpPr>
          <p:cNvPr id="43" name="TextBox 4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44" name="TextBox 4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07  첫 제품</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Q2</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첫 제품: ARKI Kitchen Assist V1 — Kitchen Clean-up</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완전자율 Cooking은 Seed 핵심범위에서 제외. 식기 이동 · 식세기 연동 · 수납 복귀 중심 초기 자동화.</a:t>
            </a:r>
          </a:p>
        </p:txBody>
      </p:sp>
      <p:sp>
        <p:nvSpPr>
          <p:cNvPr id="9" name="Rectangle 8"/>
          <p:cNvSpPr/>
          <p:nvPr/>
        </p:nvSpPr>
        <p:spPr>
          <a:xfrm>
            <a:off x="685800" y="1790567"/>
            <a:ext cx="1612849" cy="566928"/>
          </a:xfrm>
          <a:prstGeom prst="rect">
            <a:avLst/>
          </a:prstGeom>
          <a:solidFill>
            <a:srgbClr val="F4F5F6"/>
          </a:solidFill>
          <a:ln>
            <a:noFill/>
          </a:ln>
        </p:spPr>
        <p:txBody>
          <a:bodyPr rtlCol="0" anchor="ctr"/>
          <a:lstStyle/>
          <a:p>
            <a:pPr algn="ctr"/>
          </a:p>
        </p:txBody>
      </p:sp>
      <p:sp>
        <p:nvSpPr>
          <p:cNvPr id="10" name="TextBox 9"/>
          <p:cNvSpPr txBox="1"/>
          <p:nvPr/>
        </p:nvSpPr>
        <p:spPr>
          <a:xfrm>
            <a:off x="758952"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식기 인식</a:t>
            </a:r>
          </a:p>
        </p:txBody>
      </p:sp>
      <p:cxnSp>
        <p:nvCxnSpPr>
          <p:cNvPr id="11" name="Connector 10"/>
          <p:cNvCxnSpPr/>
          <p:nvPr/>
        </p:nvCxnSpPr>
        <p:spPr>
          <a:xfrm>
            <a:off x="2326081" y="2074031"/>
            <a:ext cx="173736" cy="0"/>
          </a:xfrm>
          <a:prstGeom prst="line">
            <a:avLst/>
          </a:prstGeom>
          <a:ln w="15875">
            <a:solidFill>
              <a:srgbClr val="8C9198"/>
            </a:solidFill>
            <a:tailEnd type="triangle" w="med" len="med"/>
          </a:ln>
        </p:spPr>
      </p:cxnSp>
      <p:sp>
        <p:nvSpPr>
          <p:cNvPr id="12" name="Rectangle 11"/>
          <p:cNvSpPr/>
          <p:nvPr/>
        </p:nvSpPr>
        <p:spPr>
          <a:xfrm>
            <a:off x="2527249" y="1790567"/>
            <a:ext cx="1612849" cy="566928"/>
          </a:xfrm>
          <a:prstGeom prst="rect">
            <a:avLst/>
          </a:prstGeom>
          <a:solidFill>
            <a:srgbClr val="F4F5F6"/>
          </a:solidFill>
          <a:ln>
            <a:noFill/>
          </a:ln>
        </p:spPr>
        <p:txBody>
          <a:bodyPr rtlCol="0" anchor="ctr"/>
          <a:lstStyle/>
          <a:p>
            <a:pPr algn="ctr"/>
          </a:p>
        </p:txBody>
      </p:sp>
      <p:sp>
        <p:nvSpPr>
          <p:cNvPr id="13" name="TextBox 12"/>
          <p:cNvSpPr txBox="1"/>
          <p:nvPr/>
        </p:nvSpPr>
        <p:spPr>
          <a:xfrm>
            <a:off x="2600401"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Pick</a:t>
            </a:r>
          </a:p>
        </p:txBody>
      </p:sp>
      <p:cxnSp>
        <p:nvCxnSpPr>
          <p:cNvPr id="14" name="Connector 13"/>
          <p:cNvCxnSpPr/>
          <p:nvPr/>
        </p:nvCxnSpPr>
        <p:spPr>
          <a:xfrm>
            <a:off x="4167530" y="2074031"/>
            <a:ext cx="173736" cy="0"/>
          </a:xfrm>
          <a:prstGeom prst="line">
            <a:avLst/>
          </a:prstGeom>
          <a:ln w="15875">
            <a:solidFill>
              <a:srgbClr val="8C9198"/>
            </a:solidFill>
            <a:tailEnd type="triangle" w="med" len="med"/>
          </a:ln>
        </p:spPr>
      </p:cxnSp>
      <p:sp>
        <p:nvSpPr>
          <p:cNvPr id="15" name="Rectangle 14"/>
          <p:cNvSpPr/>
          <p:nvPr/>
        </p:nvSpPr>
        <p:spPr>
          <a:xfrm>
            <a:off x="4368698" y="1790567"/>
            <a:ext cx="1612849" cy="566928"/>
          </a:xfrm>
          <a:prstGeom prst="rect">
            <a:avLst/>
          </a:prstGeom>
          <a:solidFill>
            <a:srgbClr val="F4F5F6"/>
          </a:solidFill>
          <a:ln>
            <a:noFill/>
          </a:ln>
        </p:spPr>
        <p:txBody>
          <a:bodyPr rtlCol="0" anchor="ctr"/>
          <a:lstStyle/>
          <a:p>
            <a:pPr algn="ctr"/>
          </a:p>
        </p:txBody>
      </p:sp>
      <p:sp>
        <p:nvSpPr>
          <p:cNvPr id="16" name="TextBox 15"/>
          <p:cNvSpPr txBox="1"/>
          <p:nvPr/>
        </p:nvSpPr>
        <p:spPr>
          <a:xfrm>
            <a:off x="4441850"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Dishwasher</a:t>
            </a:r>
          </a:p>
          <a:p>
            <a:pPr algn="ctr">
              <a:lnSpc>
                <a:spcPct val="100000"/>
              </a:lnSpc>
            </a:pPr>
            <a:r>
              <a:rPr sz="1100" b="1">
                <a:solidFill>
                  <a:srgbClr val="15171A"/>
                </a:solidFill>
                <a:latin typeface="Noto Sans KR"/>
                <a:ea typeface="Noto Sans KR"/>
                <a:cs typeface="Noto Sans KR"/>
              </a:rPr>
              <a:t>Loading</a:t>
            </a:r>
          </a:p>
        </p:txBody>
      </p:sp>
      <p:cxnSp>
        <p:nvCxnSpPr>
          <p:cNvPr id="17" name="Connector 16"/>
          <p:cNvCxnSpPr/>
          <p:nvPr/>
        </p:nvCxnSpPr>
        <p:spPr>
          <a:xfrm>
            <a:off x="6008979" y="2074031"/>
            <a:ext cx="173736" cy="0"/>
          </a:xfrm>
          <a:prstGeom prst="line">
            <a:avLst/>
          </a:prstGeom>
          <a:ln w="15875">
            <a:solidFill>
              <a:srgbClr val="8C9198"/>
            </a:solidFill>
            <a:tailEnd type="triangle" w="med" len="med"/>
          </a:ln>
        </p:spPr>
      </p:cxnSp>
      <p:sp>
        <p:nvSpPr>
          <p:cNvPr id="18" name="Rectangle 17"/>
          <p:cNvSpPr/>
          <p:nvPr/>
        </p:nvSpPr>
        <p:spPr>
          <a:xfrm>
            <a:off x="6210147" y="1790567"/>
            <a:ext cx="1612849" cy="566928"/>
          </a:xfrm>
          <a:prstGeom prst="rect">
            <a:avLst/>
          </a:prstGeom>
          <a:solidFill>
            <a:srgbClr val="15171A"/>
          </a:solidFill>
          <a:ln>
            <a:noFill/>
          </a:ln>
        </p:spPr>
        <p:txBody>
          <a:bodyPr rtlCol="0" anchor="ctr"/>
          <a:lstStyle/>
          <a:p>
            <a:pPr algn="ctr"/>
          </a:p>
        </p:txBody>
      </p:sp>
      <p:sp>
        <p:nvSpPr>
          <p:cNvPr id="19" name="TextBox 18"/>
          <p:cNvSpPr txBox="1"/>
          <p:nvPr/>
        </p:nvSpPr>
        <p:spPr>
          <a:xfrm>
            <a:off x="6283299" y="1790567"/>
            <a:ext cx="1466545" cy="56692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세척 (가전)</a:t>
            </a:r>
          </a:p>
        </p:txBody>
      </p:sp>
      <p:cxnSp>
        <p:nvCxnSpPr>
          <p:cNvPr id="20" name="Connector 19"/>
          <p:cNvCxnSpPr/>
          <p:nvPr/>
        </p:nvCxnSpPr>
        <p:spPr>
          <a:xfrm>
            <a:off x="7850428" y="2074031"/>
            <a:ext cx="173736" cy="0"/>
          </a:xfrm>
          <a:prstGeom prst="line">
            <a:avLst/>
          </a:prstGeom>
          <a:ln w="15875">
            <a:solidFill>
              <a:srgbClr val="8C9198"/>
            </a:solidFill>
            <a:tailEnd type="triangle" w="med" len="med"/>
          </a:ln>
        </p:spPr>
      </p:cxnSp>
      <p:sp>
        <p:nvSpPr>
          <p:cNvPr id="21" name="Rectangle 20"/>
          <p:cNvSpPr/>
          <p:nvPr/>
        </p:nvSpPr>
        <p:spPr>
          <a:xfrm>
            <a:off x="8051596" y="1790567"/>
            <a:ext cx="1612849" cy="566928"/>
          </a:xfrm>
          <a:prstGeom prst="rect">
            <a:avLst/>
          </a:prstGeom>
          <a:solidFill>
            <a:srgbClr val="F4F5F6"/>
          </a:solidFill>
          <a:ln>
            <a:noFill/>
          </a:ln>
        </p:spPr>
        <p:txBody>
          <a:bodyPr rtlCol="0" anchor="ctr"/>
          <a:lstStyle/>
          <a:p>
            <a:pPr algn="ctr"/>
          </a:p>
        </p:txBody>
      </p:sp>
      <p:sp>
        <p:nvSpPr>
          <p:cNvPr id="22" name="TextBox 21"/>
          <p:cNvSpPr txBox="1"/>
          <p:nvPr/>
        </p:nvSpPr>
        <p:spPr>
          <a:xfrm>
            <a:off x="8124748"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Dishwasher</a:t>
            </a:r>
          </a:p>
          <a:p>
            <a:pPr algn="ctr">
              <a:lnSpc>
                <a:spcPct val="100000"/>
              </a:lnSpc>
            </a:pPr>
            <a:r>
              <a:rPr sz="1100" b="1">
                <a:solidFill>
                  <a:srgbClr val="15171A"/>
                </a:solidFill>
                <a:latin typeface="Noto Sans KR"/>
                <a:ea typeface="Noto Sans KR"/>
                <a:cs typeface="Noto Sans KR"/>
              </a:rPr>
              <a:t>Unloading</a:t>
            </a:r>
          </a:p>
        </p:txBody>
      </p:sp>
      <p:cxnSp>
        <p:nvCxnSpPr>
          <p:cNvPr id="23" name="Connector 22"/>
          <p:cNvCxnSpPr/>
          <p:nvPr/>
        </p:nvCxnSpPr>
        <p:spPr>
          <a:xfrm>
            <a:off x="9691878" y="2074031"/>
            <a:ext cx="173736" cy="0"/>
          </a:xfrm>
          <a:prstGeom prst="line">
            <a:avLst/>
          </a:prstGeom>
          <a:ln w="15875">
            <a:solidFill>
              <a:srgbClr val="8C9198"/>
            </a:solidFill>
            <a:tailEnd type="triangle" w="med" len="med"/>
          </a:ln>
        </p:spPr>
      </p:cxnSp>
      <p:sp>
        <p:nvSpPr>
          <p:cNvPr id="24" name="Rectangle 23"/>
          <p:cNvSpPr/>
          <p:nvPr/>
        </p:nvSpPr>
        <p:spPr>
          <a:xfrm>
            <a:off x="9893046" y="1790567"/>
            <a:ext cx="1612849" cy="566928"/>
          </a:xfrm>
          <a:prstGeom prst="rect">
            <a:avLst/>
          </a:prstGeom>
          <a:solidFill>
            <a:srgbClr val="F4F5F6"/>
          </a:solidFill>
          <a:ln>
            <a:noFill/>
          </a:ln>
        </p:spPr>
        <p:txBody>
          <a:bodyPr rtlCol="0" anchor="ctr"/>
          <a:lstStyle/>
          <a:p>
            <a:pPr algn="ctr"/>
          </a:p>
        </p:txBody>
      </p:sp>
      <p:sp>
        <p:nvSpPr>
          <p:cNvPr id="25" name="TextBox 24"/>
          <p:cNvSpPr txBox="1"/>
          <p:nvPr/>
        </p:nvSpPr>
        <p:spPr>
          <a:xfrm>
            <a:off x="9966198"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Storage</a:t>
            </a:r>
          </a:p>
          <a:p>
            <a:pPr algn="ctr">
              <a:lnSpc>
                <a:spcPct val="100000"/>
              </a:lnSpc>
            </a:pPr>
            <a:r>
              <a:rPr sz="1100" b="1">
                <a:solidFill>
                  <a:srgbClr val="15171A"/>
                </a:solidFill>
                <a:latin typeface="Noto Sans KR"/>
                <a:ea typeface="Noto Sans KR"/>
                <a:cs typeface="Noto Sans KR"/>
              </a:rPr>
              <a:t>Return</a:t>
            </a:r>
          </a:p>
        </p:txBody>
      </p:sp>
      <p:sp>
        <p:nvSpPr>
          <p:cNvPr id="26" name="TextBox 25"/>
          <p:cNvSpPr txBox="1"/>
          <p:nvPr/>
        </p:nvSpPr>
        <p:spPr>
          <a:xfrm>
            <a:off x="685800" y="2567807"/>
            <a:ext cx="27432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Approved Task (V1)</a:t>
            </a:r>
          </a:p>
        </p:txBody>
      </p:sp>
      <p:sp>
        <p:nvSpPr>
          <p:cNvPr id="27" name="Rectangle 26"/>
          <p:cNvSpPr/>
          <p:nvPr/>
        </p:nvSpPr>
        <p:spPr>
          <a:xfrm>
            <a:off x="2423160" y="2604383"/>
            <a:ext cx="519588" cy="182880"/>
          </a:xfrm>
          <a:prstGeom prst="rect">
            <a:avLst/>
          </a:prstGeom>
          <a:solidFill>
            <a:srgbClr val="E2571B"/>
          </a:solidFill>
          <a:ln>
            <a:noFill/>
          </a:ln>
        </p:spPr>
        <p:txBody>
          <a:bodyPr rtlCol="0" anchor="ctr"/>
          <a:lstStyle/>
          <a:p>
            <a:pPr algn="ctr"/>
          </a:p>
        </p:txBody>
      </p:sp>
      <p:sp>
        <p:nvSpPr>
          <p:cNvPr id="28" name="TextBox 27"/>
          <p:cNvSpPr txBox="1"/>
          <p:nvPr/>
        </p:nvSpPr>
        <p:spPr>
          <a:xfrm>
            <a:off x="2423160" y="2604383"/>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29" name="TextBox 28"/>
          <p:cNvSpPr txBox="1"/>
          <p:nvPr/>
        </p:nvSpPr>
        <p:spPr>
          <a:xfrm>
            <a:off x="685800" y="2887847"/>
            <a:ext cx="2743200" cy="109728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 Handling</a:t>
            </a:r>
          </a:p>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Dishwasher Loading</a:t>
            </a:r>
          </a:p>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Dishwasher Unloading</a:t>
            </a:r>
          </a:p>
          <a:p>
            <a:pPr algn="l" marL="182880" indent="-182880">
              <a:lnSpc>
                <a:spcPct val="100000"/>
              </a:lnSpc>
              <a:buClr>
                <a:srgbClr val="8C9198"/>
              </a:buClr>
              <a:buFont typeface="Noto Sans KR"/>
              <a:buChar char="–"/>
            </a:pPr>
            <a:r>
              <a:rPr sz="1100" b="0">
                <a:solidFill>
                  <a:srgbClr val="15171A"/>
                </a:solidFill>
                <a:latin typeface="Noto Sans KR"/>
                <a:ea typeface="Noto Sans KR"/>
                <a:cs typeface="Noto Sans KR"/>
              </a:rPr>
              <a:t>Storage Return</a:t>
            </a:r>
          </a:p>
        </p:txBody>
      </p:sp>
      <p:sp>
        <p:nvSpPr>
          <p:cNvPr id="30" name="TextBox 29"/>
          <p:cNvSpPr txBox="1"/>
          <p:nvPr/>
        </p:nvSpPr>
        <p:spPr>
          <a:xfrm>
            <a:off x="3520440" y="2567807"/>
            <a:ext cx="2834640" cy="274320"/>
          </a:xfrm>
          <a:prstGeom prst="rect">
            <a:avLst/>
          </a:prstGeom>
          <a:noFill/>
        </p:spPr>
        <p:txBody>
          <a:bodyPr wrap="square" lIns="0" rIns="0" tIns="0" bIns="0" anchor="t">
            <a:spAutoFit/>
          </a:bodyPr>
          <a:lstStyle/>
          <a:p>
            <a:pPr algn="l">
              <a:lnSpc>
                <a:spcPct val="100000"/>
              </a:lnSpc>
            </a:pPr>
            <a:r>
              <a:rPr sz="1200" b="1">
                <a:solidFill>
                  <a:srgbClr val="4A4F57"/>
                </a:solidFill>
                <a:latin typeface="Noto Sans KR"/>
                <a:ea typeface="Noto Sans KR"/>
                <a:cs typeface="Noto Sans KR"/>
              </a:rPr>
              <a:t>초기 제외</a:t>
            </a:r>
          </a:p>
        </p:txBody>
      </p:sp>
      <p:sp>
        <p:nvSpPr>
          <p:cNvPr id="31" name="TextBox 30"/>
          <p:cNvSpPr txBox="1"/>
          <p:nvPr/>
        </p:nvSpPr>
        <p:spPr>
          <a:xfrm>
            <a:off x="3520440" y="2887847"/>
            <a:ext cx="2834640" cy="118872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Dining Table · Floor</a:t>
            </a:r>
          </a:p>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냉장고 깊은 내부</a:t>
            </a:r>
          </a:p>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고속 칼 작업 · 복합 튀김</a:t>
            </a:r>
          </a:p>
          <a:p>
            <a:pPr algn="l" marL="182880" indent="-182880">
              <a:lnSpc>
                <a:spcPct val="100000"/>
              </a:lnSpc>
              <a:buClr>
                <a:srgbClr val="8C9198"/>
              </a:buClr>
              <a:buFont typeface="Noto Sans KR"/>
              <a:buChar char="–"/>
            </a:pPr>
            <a:r>
              <a:rPr sz="1100" b="0">
                <a:solidFill>
                  <a:srgbClr val="4A4F57"/>
                </a:solidFill>
                <a:latin typeface="Noto Sans KR"/>
                <a:ea typeface="Noto Sans KR"/>
                <a:cs typeface="Noto Sans KR"/>
              </a:rPr>
              <a:t>무거운 팬 장거리 이동</a:t>
            </a:r>
          </a:p>
        </p:txBody>
      </p:sp>
      <p:sp>
        <p:nvSpPr>
          <p:cNvPr id="32" name="TextBox 31"/>
          <p:cNvSpPr txBox="1"/>
          <p:nvPr/>
        </p:nvSpPr>
        <p:spPr>
          <a:xfrm>
            <a:off x="685800" y="4168007"/>
            <a:ext cx="57150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Roadmap</a:t>
            </a:r>
          </a:p>
        </p:txBody>
      </p:sp>
      <p:sp>
        <p:nvSpPr>
          <p:cNvPr id="33" name="Rectangle 32"/>
          <p:cNvSpPr/>
          <p:nvPr/>
        </p:nvSpPr>
        <p:spPr>
          <a:xfrm>
            <a:off x="685800" y="4515479"/>
            <a:ext cx="1783080" cy="1005840"/>
          </a:xfrm>
          <a:prstGeom prst="rect">
            <a:avLst/>
          </a:prstGeom>
          <a:solidFill>
            <a:srgbClr val="E2571B"/>
          </a:solidFill>
          <a:ln>
            <a:noFill/>
          </a:ln>
        </p:spPr>
        <p:txBody>
          <a:bodyPr rtlCol="0" anchor="ctr"/>
          <a:lstStyle/>
          <a:p>
            <a:pPr algn="ctr"/>
          </a:p>
        </p:txBody>
      </p:sp>
      <p:sp>
        <p:nvSpPr>
          <p:cNvPr id="34" name="TextBox 33"/>
          <p:cNvSpPr txBox="1"/>
          <p:nvPr/>
        </p:nvSpPr>
        <p:spPr>
          <a:xfrm>
            <a:off x="795528" y="4579487"/>
            <a:ext cx="1563624" cy="27432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CLEAN · V1</a:t>
            </a:r>
          </a:p>
        </p:txBody>
      </p:sp>
      <p:sp>
        <p:nvSpPr>
          <p:cNvPr id="35" name="TextBox 34"/>
          <p:cNvSpPr txBox="1"/>
          <p:nvPr/>
        </p:nvSpPr>
        <p:spPr>
          <a:xfrm>
            <a:off x="795528" y="4881239"/>
            <a:ext cx="1563624" cy="59436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식기 이동 · 식세기 · 수납</a:t>
            </a:r>
          </a:p>
        </p:txBody>
      </p:sp>
      <p:sp>
        <p:nvSpPr>
          <p:cNvPr id="36" name="Rectangle 35"/>
          <p:cNvSpPr/>
          <p:nvPr/>
        </p:nvSpPr>
        <p:spPr>
          <a:xfrm>
            <a:off x="685800" y="5585327"/>
            <a:ext cx="519588" cy="182880"/>
          </a:xfrm>
          <a:prstGeom prst="rect">
            <a:avLst/>
          </a:prstGeom>
          <a:solidFill>
            <a:srgbClr val="E2571B"/>
          </a:solidFill>
          <a:ln>
            <a:noFill/>
          </a:ln>
        </p:spPr>
        <p:txBody>
          <a:bodyPr rtlCol="0" anchor="ctr"/>
          <a:lstStyle/>
          <a:p>
            <a:pPr algn="ctr"/>
          </a:p>
        </p:txBody>
      </p:sp>
      <p:sp>
        <p:nvSpPr>
          <p:cNvPr id="37" name="TextBox 36"/>
          <p:cNvSpPr txBox="1"/>
          <p:nvPr/>
        </p:nvSpPr>
        <p:spPr>
          <a:xfrm>
            <a:off x="685800" y="558532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38" name="Rectangle 37"/>
          <p:cNvSpPr/>
          <p:nvPr/>
        </p:nvSpPr>
        <p:spPr>
          <a:xfrm>
            <a:off x="2651760" y="4515479"/>
            <a:ext cx="1783080" cy="1005840"/>
          </a:xfrm>
          <a:prstGeom prst="rect">
            <a:avLst/>
          </a:prstGeom>
          <a:solidFill>
            <a:srgbClr val="F4F5F6"/>
          </a:solidFill>
          <a:ln>
            <a:noFill/>
          </a:ln>
        </p:spPr>
        <p:txBody>
          <a:bodyPr rtlCol="0" anchor="ctr"/>
          <a:lstStyle/>
          <a:p>
            <a:pPr algn="ctr"/>
          </a:p>
        </p:txBody>
      </p:sp>
      <p:sp>
        <p:nvSpPr>
          <p:cNvPr id="39" name="TextBox 38"/>
          <p:cNvSpPr txBox="1"/>
          <p:nvPr/>
        </p:nvSpPr>
        <p:spPr>
          <a:xfrm>
            <a:off x="2761488" y="4579487"/>
            <a:ext cx="156362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ASSIST · V2</a:t>
            </a:r>
          </a:p>
        </p:txBody>
      </p:sp>
      <p:sp>
        <p:nvSpPr>
          <p:cNvPr id="40" name="TextBox 39"/>
          <p:cNvSpPr txBox="1"/>
          <p:nvPr/>
        </p:nvSpPr>
        <p:spPr>
          <a:xfrm>
            <a:off x="2761488" y="4881239"/>
            <a:ext cx="1563624" cy="59436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재료 투입 · 저속 젓기 · 뚜껑 · 도구 전달</a:t>
            </a:r>
          </a:p>
        </p:txBody>
      </p:sp>
      <p:sp>
        <p:nvSpPr>
          <p:cNvPr id="41" name="Rectangle 40"/>
          <p:cNvSpPr/>
          <p:nvPr/>
        </p:nvSpPr>
        <p:spPr>
          <a:xfrm>
            <a:off x="2651760" y="5585327"/>
            <a:ext cx="1032160" cy="182880"/>
          </a:xfrm>
          <a:prstGeom prst="rect">
            <a:avLst/>
          </a:prstGeom>
          <a:solidFill>
            <a:srgbClr val="FFFFFF"/>
          </a:solidFill>
          <a:ln w="6350">
            <a:solidFill>
              <a:srgbClr val="C9CDD2"/>
            </a:solidFill>
          </a:ln>
        </p:spPr>
        <p:txBody>
          <a:bodyPr rtlCol="0" anchor="ctr"/>
          <a:lstStyle/>
          <a:p>
            <a:pPr algn="ctr"/>
          </a:p>
        </p:txBody>
      </p:sp>
      <p:sp>
        <p:nvSpPr>
          <p:cNvPr id="42" name="TextBox 41"/>
          <p:cNvSpPr txBox="1"/>
          <p:nvPr/>
        </p:nvSpPr>
        <p:spPr>
          <a:xfrm>
            <a:off x="2651760" y="5585327"/>
            <a:ext cx="10321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FUTURE CONCEPT</a:t>
            </a:r>
          </a:p>
        </p:txBody>
      </p:sp>
      <p:sp>
        <p:nvSpPr>
          <p:cNvPr id="43" name="Rectangle 42"/>
          <p:cNvSpPr/>
          <p:nvPr/>
        </p:nvSpPr>
        <p:spPr>
          <a:xfrm>
            <a:off x="4617720" y="4515479"/>
            <a:ext cx="1783080" cy="1005840"/>
          </a:xfrm>
          <a:prstGeom prst="rect">
            <a:avLst/>
          </a:prstGeom>
          <a:solidFill>
            <a:srgbClr val="F4F5F6"/>
          </a:solidFill>
          <a:ln>
            <a:noFill/>
          </a:ln>
        </p:spPr>
        <p:txBody>
          <a:bodyPr rtlCol="0" anchor="ctr"/>
          <a:lstStyle/>
          <a:p>
            <a:pPr algn="ctr"/>
          </a:p>
        </p:txBody>
      </p:sp>
      <p:sp>
        <p:nvSpPr>
          <p:cNvPr id="44" name="TextBox 43"/>
          <p:cNvSpPr txBox="1"/>
          <p:nvPr/>
        </p:nvSpPr>
        <p:spPr>
          <a:xfrm>
            <a:off x="4727448" y="4579487"/>
            <a:ext cx="156362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COOK · V3</a:t>
            </a:r>
          </a:p>
        </p:txBody>
      </p:sp>
      <p:sp>
        <p:nvSpPr>
          <p:cNvPr id="45" name="TextBox 44"/>
          <p:cNvSpPr txBox="1"/>
          <p:nvPr/>
        </p:nvSpPr>
        <p:spPr>
          <a:xfrm>
            <a:off x="4727448" y="4881239"/>
            <a:ext cx="1563624" cy="59436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다단계 Cooking Workflow</a:t>
            </a:r>
          </a:p>
        </p:txBody>
      </p:sp>
      <p:sp>
        <p:nvSpPr>
          <p:cNvPr id="46" name="Rectangle 45"/>
          <p:cNvSpPr/>
          <p:nvPr/>
        </p:nvSpPr>
        <p:spPr>
          <a:xfrm>
            <a:off x="4617720" y="5585327"/>
            <a:ext cx="1032160" cy="182880"/>
          </a:xfrm>
          <a:prstGeom prst="rect">
            <a:avLst/>
          </a:prstGeom>
          <a:solidFill>
            <a:srgbClr val="FFFFFF"/>
          </a:solidFill>
          <a:ln w="6350">
            <a:solidFill>
              <a:srgbClr val="C9CDD2"/>
            </a:solidFill>
          </a:ln>
        </p:spPr>
        <p:txBody>
          <a:bodyPr rtlCol="0" anchor="ctr"/>
          <a:lstStyle/>
          <a:p>
            <a:pPr algn="ctr"/>
          </a:p>
        </p:txBody>
      </p:sp>
      <p:sp>
        <p:nvSpPr>
          <p:cNvPr id="47" name="TextBox 46"/>
          <p:cNvSpPr txBox="1"/>
          <p:nvPr/>
        </p:nvSpPr>
        <p:spPr>
          <a:xfrm>
            <a:off x="4617720" y="5585327"/>
            <a:ext cx="10321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FUTURE CONCEPT</a:t>
            </a:r>
          </a:p>
        </p:txBody>
      </p:sp>
      <p:sp>
        <p:nvSpPr>
          <p:cNvPr id="48" name="TextBox 47"/>
          <p:cNvSpPr txBox="1"/>
          <p:nvPr/>
        </p:nvSpPr>
        <p:spPr>
          <a:xfrm>
            <a:off x="6720840" y="2567807"/>
            <a:ext cx="478505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왜 Clean-up부터인가  (정성 평가, ASSUMPTION)</a:t>
            </a:r>
          </a:p>
        </p:txBody>
      </p:sp>
      <p:graphicFrame>
        <p:nvGraphicFramePr>
          <p:cNvPr id="49" name="Table 48"/>
          <p:cNvGraphicFramePr>
            <a:graphicFrameLocks noGrp="1"/>
          </p:cNvGraphicFramePr>
          <p:nvPr/>
        </p:nvGraphicFramePr>
        <p:xfrm>
          <a:off x="6720840" y="2915279"/>
          <a:ext cx="4785055" cy="2816858"/>
        </p:xfrm>
        <a:graphic>
          <a:graphicData uri="http://schemas.openxmlformats.org/drawingml/2006/table">
            <a:tbl>
              <a:tblPr firstRow="0" bandRow="0">
                <a:tableStyleId>{2D5ABB26-0587-4C30-8999-92F81FD0307C}</a:tableStyleId>
              </a:tblPr>
              <a:tblGrid>
                <a:gridCol w="1767535"/>
                <a:gridCol w="914400"/>
                <a:gridCol w="1051560"/>
                <a:gridCol w="1051560"/>
              </a:tblGrid>
              <a:tr h="293573">
                <a:tc>
                  <a:txBody>
                    <a:bodyPr wrap="square"/>
                    <a:lstStyle/>
                    <a:p>
                      <a:pPr algn="l">
                        <a:lnSpc>
                          <a:spcPct val="100000"/>
                        </a:lnSpc>
                      </a:pPr>
                      <a:r>
                        <a:rPr sz="950" b="1">
                          <a:solidFill>
                            <a:srgbClr val="15171A"/>
                          </a:solidFill>
                          <a:latin typeface="Noto Sans KR"/>
                          <a:ea typeface="Noto Sans KR"/>
                          <a:cs typeface="Noto Sans KR"/>
                        </a:rPr>
                        <a:t>기준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Clean-up</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Cooking Assist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Full Cooking</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Task 반복빈도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기술 난이도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온도 위험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칼 사용 위험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Task 표준화</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소비자 체감가치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Dishwasher · Storage Integration</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Manipulation Skill 재사용</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r>
            </a:tbl>
          </a:graphicData>
        </a:graphic>
      </p:graphicFrame>
      <p:sp>
        <p:nvSpPr>
          <p:cNvPr id="50" name="TextBox 49"/>
          <p:cNvSpPr txBox="1"/>
          <p:nvPr/>
        </p:nvSpPr>
        <p:spPr>
          <a:xfrm>
            <a:off x="685800" y="6053328"/>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체감가치는 Full Cooking이 가장 높으나 Seed 기간 검증 불가 → 검증 가능한 범위 우선. V2·V3는 FUTURE CONCEPT (Seed 범위 아님).</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52" name="TextBox 5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08  주거공간 Robot 배치 기준</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배치 기준과 Robot Installation Architecture</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핵심 Requirement: 거주자 생활동선 비침해. 초기 Robot Working Zone = Sink · Counter · Dishwasher · Induction · Storage.</a:t>
            </a:r>
          </a:p>
        </p:txBody>
      </p:sp>
      <p:sp>
        <p:nvSpPr>
          <p:cNvPr id="7" name="TextBox 6"/>
          <p:cNvSpPr txBox="1"/>
          <p:nvPr/>
        </p:nvSpPr>
        <p:spPr>
          <a:xfrm>
            <a:off x="685800" y="1790567"/>
            <a:ext cx="4206240"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Product Requirement</a:t>
            </a:r>
          </a:p>
        </p:txBody>
      </p:sp>
      <p:sp>
        <p:nvSpPr>
          <p:cNvPr id="8" name="TextBox 7"/>
          <p:cNvSpPr txBox="1"/>
          <p:nvPr/>
        </p:nvSpPr>
        <p:spPr>
          <a:xfrm>
            <a:off x="685800" y="2174615"/>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01</a:t>
            </a:r>
          </a:p>
        </p:txBody>
      </p:sp>
      <p:sp>
        <p:nvSpPr>
          <p:cNvPr id="9" name="TextBox 8"/>
          <p:cNvSpPr txBox="1"/>
          <p:nvPr/>
        </p:nvSpPr>
        <p:spPr>
          <a:xfrm>
            <a:off x="1097280" y="2174615"/>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바닥 통행영역 점유 최소화</a:t>
            </a:r>
          </a:p>
        </p:txBody>
      </p:sp>
      <p:cxnSp>
        <p:nvCxnSpPr>
          <p:cNvPr id="10" name="Connector 9"/>
          <p:cNvCxnSpPr/>
          <p:nvPr/>
        </p:nvCxnSpPr>
        <p:spPr>
          <a:xfrm>
            <a:off x="685800" y="2576951"/>
            <a:ext cx="4206240" cy="0"/>
          </a:xfrm>
          <a:prstGeom prst="line">
            <a:avLst/>
          </a:prstGeom>
          <a:ln w="9525">
            <a:solidFill>
              <a:srgbClr val="E2E4E7"/>
            </a:solidFill>
          </a:ln>
        </p:spPr>
      </p:cxnSp>
      <p:sp>
        <p:nvSpPr>
          <p:cNvPr id="11" name="TextBox 10"/>
          <p:cNvSpPr txBox="1"/>
          <p:nvPr/>
        </p:nvSpPr>
        <p:spPr>
          <a:xfrm>
            <a:off x="685800" y="2604383"/>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02</a:t>
            </a:r>
          </a:p>
        </p:txBody>
      </p:sp>
      <p:sp>
        <p:nvSpPr>
          <p:cNvPr id="12" name="TextBox 11"/>
          <p:cNvSpPr txBox="1"/>
          <p:nvPr/>
        </p:nvSpPr>
        <p:spPr>
          <a:xfrm>
            <a:off x="1097280" y="2604383"/>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Robot Working Zone / Human Working Zone 분리</a:t>
            </a:r>
          </a:p>
        </p:txBody>
      </p:sp>
      <p:cxnSp>
        <p:nvCxnSpPr>
          <p:cNvPr id="13" name="Connector 12"/>
          <p:cNvCxnSpPr/>
          <p:nvPr/>
        </p:nvCxnSpPr>
        <p:spPr>
          <a:xfrm>
            <a:off x="685800" y="3006719"/>
            <a:ext cx="4206240" cy="0"/>
          </a:xfrm>
          <a:prstGeom prst="line">
            <a:avLst/>
          </a:prstGeom>
          <a:ln w="9525">
            <a:solidFill>
              <a:srgbClr val="E2E4E7"/>
            </a:solidFill>
          </a:ln>
        </p:spPr>
      </p:cxnSp>
      <p:sp>
        <p:nvSpPr>
          <p:cNvPr id="14" name="TextBox 13"/>
          <p:cNvSpPr txBox="1"/>
          <p:nvPr/>
        </p:nvSpPr>
        <p:spPr>
          <a:xfrm>
            <a:off x="685800" y="3034151"/>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03</a:t>
            </a:r>
          </a:p>
        </p:txBody>
      </p:sp>
      <p:sp>
        <p:nvSpPr>
          <p:cNvPr id="15" name="TextBox 14"/>
          <p:cNvSpPr txBox="1"/>
          <p:nvPr/>
        </p:nvSpPr>
        <p:spPr>
          <a:xfrm>
            <a:off x="1097280" y="3034151"/>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Robot Home Position 확보</a:t>
            </a:r>
          </a:p>
        </p:txBody>
      </p:sp>
      <p:cxnSp>
        <p:nvCxnSpPr>
          <p:cNvPr id="16" name="Connector 15"/>
          <p:cNvCxnSpPr/>
          <p:nvPr/>
        </p:nvCxnSpPr>
        <p:spPr>
          <a:xfrm>
            <a:off x="685800" y="3436487"/>
            <a:ext cx="4206240" cy="0"/>
          </a:xfrm>
          <a:prstGeom prst="line">
            <a:avLst/>
          </a:prstGeom>
          <a:ln w="9525">
            <a:solidFill>
              <a:srgbClr val="E2E4E7"/>
            </a:solidFill>
          </a:ln>
        </p:spPr>
      </p:cxnSp>
      <p:sp>
        <p:nvSpPr>
          <p:cNvPr id="17" name="TextBox 16"/>
          <p:cNvSpPr txBox="1"/>
          <p:nvPr/>
        </p:nvSpPr>
        <p:spPr>
          <a:xfrm>
            <a:off x="685800" y="3463919"/>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04</a:t>
            </a:r>
          </a:p>
        </p:txBody>
      </p:sp>
      <p:sp>
        <p:nvSpPr>
          <p:cNvPr id="18" name="TextBox 17"/>
          <p:cNvSpPr txBox="1"/>
          <p:nvPr/>
        </p:nvSpPr>
        <p:spPr>
          <a:xfrm>
            <a:off x="1097280" y="3463919"/>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미사용 시 Fold · Dock · Storage</a:t>
            </a:r>
          </a:p>
        </p:txBody>
      </p:sp>
      <p:cxnSp>
        <p:nvCxnSpPr>
          <p:cNvPr id="19" name="Connector 18"/>
          <p:cNvCxnSpPr/>
          <p:nvPr/>
        </p:nvCxnSpPr>
        <p:spPr>
          <a:xfrm>
            <a:off x="685800" y="3866255"/>
            <a:ext cx="4206240" cy="0"/>
          </a:xfrm>
          <a:prstGeom prst="line">
            <a:avLst/>
          </a:prstGeom>
          <a:ln w="9525">
            <a:solidFill>
              <a:srgbClr val="E2E4E7"/>
            </a:solidFill>
          </a:ln>
        </p:spPr>
      </p:cxnSp>
      <p:sp>
        <p:nvSpPr>
          <p:cNvPr id="20" name="TextBox 19"/>
          <p:cNvSpPr txBox="1"/>
          <p:nvPr/>
        </p:nvSpPr>
        <p:spPr>
          <a:xfrm>
            <a:off x="685800" y="3893687"/>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05</a:t>
            </a:r>
          </a:p>
        </p:txBody>
      </p:sp>
      <p:sp>
        <p:nvSpPr>
          <p:cNvPr id="21" name="TextBox 20"/>
          <p:cNvSpPr txBox="1"/>
          <p:nvPr/>
        </p:nvSpPr>
        <p:spPr>
          <a:xfrm>
            <a:off x="1097280" y="3893687"/>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상부장 · 벽면 · 키큰장 공간 우선 활용</a:t>
            </a:r>
          </a:p>
        </p:txBody>
      </p:sp>
      <p:cxnSp>
        <p:nvCxnSpPr>
          <p:cNvPr id="22" name="Connector 21"/>
          <p:cNvCxnSpPr/>
          <p:nvPr/>
        </p:nvCxnSpPr>
        <p:spPr>
          <a:xfrm>
            <a:off x="685800" y="4296023"/>
            <a:ext cx="4206240" cy="0"/>
          </a:xfrm>
          <a:prstGeom prst="line">
            <a:avLst/>
          </a:prstGeom>
          <a:ln w="9525">
            <a:solidFill>
              <a:srgbClr val="E2E4E7"/>
            </a:solidFill>
          </a:ln>
        </p:spPr>
      </p:cxnSp>
      <p:sp>
        <p:nvSpPr>
          <p:cNvPr id="23" name="TextBox 22"/>
          <p:cNvSpPr txBox="1"/>
          <p:nvPr/>
        </p:nvSpPr>
        <p:spPr>
          <a:xfrm>
            <a:off x="685800" y="4323455"/>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06</a:t>
            </a:r>
          </a:p>
        </p:txBody>
      </p:sp>
      <p:sp>
        <p:nvSpPr>
          <p:cNvPr id="24" name="TextBox 23"/>
          <p:cNvSpPr txBox="1"/>
          <p:nvPr/>
        </p:nvSpPr>
        <p:spPr>
          <a:xfrm>
            <a:off x="1097280" y="4323455"/>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Kitchen 기본기능 유지</a:t>
            </a:r>
          </a:p>
        </p:txBody>
      </p:sp>
      <p:cxnSp>
        <p:nvCxnSpPr>
          <p:cNvPr id="25" name="Connector 24"/>
          <p:cNvCxnSpPr/>
          <p:nvPr/>
        </p:nvCxnSpPr>
        <p:spPr>
          <a:xfrm>
            <a:off x="685800" y="4725791"/>
            <a:ext cx="4206240" cy="0"/>
          </a:xfrm>
          <a:prstGeom prst="line">
            <a:avLst/>
          </a:prstGeom>
          <a:ln w="9525">
            <a:solidFill>
              <a:srgbClr val="E2E4E7"/>
            </a:solidFill>
          </a:ln>
        </p:spPr>
      </p:cxnSp>
      <p:sp>
        <p:nvSpPr>
          <p:cNvPr id="26" name="TextBox 25"/>
          <p:cNvSpPr txBox="1"/>
          <p:nvPr/>
        </p:nvSpPr>
        <p:spPr>
          <a:xfrm>
            <a:off x="685800" y="4753223"/>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07</a:t>
            </a:r>
          </a:p>
        </p:txBody>
      </p:sp>
      <p:sp>
        <p:nvSpPr>
          <p:cNvPr id="27" name="TextBox 26"/>
          <p:cNvSpPr txBox="1"/>
          <p:nvPr/>
        </p:nvSpPr>
        <p:spPr>
          <a:xfrm>
            <a:off x="1097280" y="4753223"/>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Robot 고장 시 일반 Kitchen 사용 가능</a:t>
            </a:r>
          </a:p>
        </p:txBody>
      </p:sp>
      <p:cxnSp>
        <p:nvCxnSpPr>
          <p:cNvPr id="28" name="Connector 27"/>
          <p:cNvCxnSpPr/>
          <p:nvPr/>
        </p:nvCxnSpPr>
        <p:spPr>
          <a:xfrm>
            <a:off x="685800" y="5155559"/>
            <a:ext cx="4206240" cy="0"/>
          </a:xfrm>
          <a:prstGeom prst="line">
            <a:avLst/>
          </a:prstGeom>
          <a:ln w="9525">
            <a:solidFill>
              <a:srgbClr val="E2E4E7"/>
            </a:solidFill>
          </a:ln>
        </p:spPr>
      </p:cxnSp>
      <p:sp>
        <p:nvSpPr>
          <p:cNvPr id="29" name="TextBox 28"/>
          <p:cNvSpPr txBox="1"/>
          <p:nvPr/>
        </p:nvSpPr>
        <p:spPr>
          <a:xfrm>
            <a:off x="685800" y="5182991"/>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08</a:t>
            </a:r>
          </a:p>
        </p:txBody>
      </p:sp>
      <p:sp>
        <p:nvSpPr>
          <p:cNvPr id="30" name="TextBox 29"/>
          <p:cNvSpPr txBox="1"/>
          <p:nvPr/>
        </p:nvSpPr>
        <p:spPr>
          <a:xfrm>
            <a:off x="1097280" y="5182991"/>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Service Access 확보</a:t>
            </a:r>
          </a:p>
        </p:txBody>
      </p:sp>
      <p:cxnSp>
        <p:nvCxnSpPr>
          <p:cNvPr id="31" name="Connector 30"/>
          <p:cNvCxnSpPr/>
          <p:nvPr/>
        </p:nvCxnSpPr>
        <p:spPr>
          <a:xfrm>
            <a:off x="685800" y="5585327"/>
            <a:ext cx="4206240" cy="0"/>
          </a:xfrm>
          <a:prstGeom prst="line">
            <a:avLst/>
          </a:prstGeom>
          <a:ln w="9525">
            <a:solidFill>
              <a:srgbClr val="E2E4E7"/>
            </a:solidFill>
          </a:ln>
        </p:spPr>
      </p:cxnSp>
      <p:sp>
        <p:nvSpPr>
          <p:cNvPr id="32" name="Rectangle 31"/>
          <p:cNvSpPr/>
          <p:nvPr/>
        </p:nvSpPr>
        <p:spPr>
          <a:xfrm>
            <a:off x="5212079" y="1790567"/>
            <a:ext cx="3055467" cy="1600200"/>
          </a:xfrm>
          <a:prstGeom prst="rect">
            <a:avLst/>
          </a:prstGeom>
          <a:solidFill>
            <a:srgbClr val="F4F5F6"/>
          </a:solidFill>
          <a:ln>
            <a:noFill/>
          </a:ln>
        </p:spPr>
        <p:txBody>
          <a:bodyPr rtlCol="0" anchor="ctr"/>
          <a:lstStyle/>
          <a:p>
            <a:pPr algn="ctr"/>
          </a:p>
        </p:txBody>
      </p:sp>
      <p:sp>
        <p:nvSpPr>
          <p:cNvPr id="33" name="Rectangle 32"/>
          <p:cNvSpPr/>
          <p:nvPr/>
        </p:nvSpPr>
        <p:spPr>
          <a:xfrm>
            <a:off x="5212079" y="1790567"/>
            <a:ext cx="54864" cy="1600200"/>
          </a:xfrm>
          <a:prstGeom prst="rect">
            <a:avLst/>
          </a:prstGeom>
          <a:solidFill>
            <a:srgbClr val="E2571B"/>
          </a:solidFill>
          <a:ln>
            <a:noFill/>
          </a:ln>
        </p:spPr>
        <p:txBody>
          <a:bodyPr rtlCol="0" anchor="ctr"/>
          <a:lstStyle/>
          <a:p>
            <a:pPr algn="ctr"/>
          </a:p>
        </p:txBody>
      </p:sp>
      <p:sp>
        <p:nvSpPr>
          <p:cNvPr id="34" name="TextBox 33"/>
          <p:cNvSpPr txBox="1"/>
          <p:nvPr/>
        </p:nvSpPr>
        <p:spPr>
          <a:xfrm>
            <a:off x="5394959" y="1900295"/>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Rail Type</a:t>
            </a:r>
          </a:p>
        </p:txBody>
      </p:sp>
      <p:sp>
        <p:nvSpPr>
          <p:cNvPr id="35" name="TextBox 34"/>
          <p:cNvSpPr txBox="1"/>
          <p:nvPr/>
        </p:nvSpPr>
        <p:spPr>
          <a:xfrm>
            <a:off x="5394959" y="2229479"/>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상부장 하단 Linear Rail + 역설치 Arm</a:t>
            </a:r>
          </a:p>
        </p:txBody>
      </p:sp>
      <p:sp>
        <p:nvSpPr>
          <p:cNvPr id="36" name="TextBox 35"/>
          <p:cNvSpPr txBox="1"/>
          <p:nvPr/>
        </p:nvSpPr>
        <p:spPr>
          <a:xfrm>
            <a:off x="5394959" y="2522087"/>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11자 · 일자형 · 긴 작업대</a:t>
            </a:r>
          </a:p>
        </p:txBody>
      </p:sp>
      <p:sp>
        <p:nvSpPr>
          <p:cNvPr id="37" name="TextBox 36"/>
          <p:cNvSpPr txBox="1"/>
          <p:nvPr/>
        </p:nvSpPr>
        <p:spPr>
          <a:xfrm>
            <a:off x="5394959" y="2796407"/>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바닥 점유 0 · 긴 작업범위 / 과제: 머리 위 안전 · 상부장 보강</a:t>
            </a:r>
          </a:p>
        </p:txBody>
      </p:sp>
      <p:sp>
        <p:nvSpPr>
          <p:cNvPr id="38" name="Rectangle 37"/>
          <p:cNvSpPr/>
          <p:nvPr/>
        </p:nvSpPr>
        <p:spPr>
          <a:xfrm>
            <a:off x="8450427" y="1790567"/>
            <a:ext cx="3055467" cy="1600200"/>
          </a:xfrm>
          <a:prstGeom prst="rect">
            <a:avLst/>
          </a:prstGeom>
          <a:solidFill>
            <a:srgbClr val="F4F5F6"/>
          </a:solidFill>
          <a:ln>
            <a:noFill/>
          </a:ln>
        </p:spPr>
        <p:txBody>
          <a:bodyPr rtlCol="0" anchor="ctr"/>
          <a:lstStyle/>
          <a:p>
            <a:pPr algn="ctr"/>
          </a:p>
        </p:txBody>
      </p:sp>
      <p:sp>
        <p:nvSpPr>
          <p:cNvPr id="39" name="Rectangle 38"/>
          <p:cNvSpPr/>
          <p:nvPr/>
        </p:nvSpPr>
        <p:spPr>
          <a:xfrm>
            <a:off x="8450427" y="1790567"/>
            <a:ext cx="54864" cy="1600200"/>
          </a:xfrm>
          <a:prstGeom prst="rect">
            <a:avLst/>
          </a:prstGeom>
          <a:solidFill>
            <a:srgbClr val="E2571B"/>
          </a:solidFill>
          <a:ln>
            <a:noFill/>
          </a:ln>
        </p:spPr>
        <p:txBody>
          <a:bodyPr rtlCol="0" anchor="ctr"/>
          <a:lstStyle/>
          <a:p>
            <a:pPr algn="ctr"/>
          </a:p>
        </p:txBody>
      </p:sp>
      <p:sp>
        <p:nvSpPr>
          <p:cNvPr id="40" name="TextBox 39"/>
          <p:cNvSpPr txBox="1"/>
          <p:nvPr/>
        </p:nvSpPr>
        <p:spPr>
          <a:xfrm>
            <a:off x="8633307" y="1900295"/>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Dock Type</a:t>
            </a:r>
          </a:p>
        </p:txBody>
      </p:sp>
      <p:sp>
        <p:nvSpPr>
          <p:cNvPr id="41" name="TextBox 40"/>
          <p:cNvSpPr txBox="1"/>
          <p:nvPr/>
        </p:nvSpPr>
        <p:spPr>
          <a:xfrm>
            <a:off x="8633307" y="2229479"/>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코너·키큰장 고정 Dock</a:t>
            </a:r>
          </a:p>
        </p:txBody>
      </p:sp>
      <p:sp>
        <p:nvSpPr>
          <p:cNvPr id="42" name="TextBox 41"/>
          <p:cNvSpPr txBox="1"/>
          <p:nvPr/>
        </p:nvSpPr>
        <p:spPr>
          <a:xfrm>
            <a:off x="8633307" y="2522087"/>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ㄷ자 · ㄱ자 Corner</a:t>
            </a:r>
          </a:p>
        </p:txBody>
      </p:sp>
      <p:sp>
        <p:nvSpPr>
          <p:cNvPr id="43" name="TextBox 42"/>
          <p:cNvSpPr txBox="1"/>
          <p:nvPr/>
        </p:nvSpPr>
        <p:spPr>
          <a:xfrm>
            <a:off x="8633307" y="2796407"/>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구조 단순 · 안전 Zone 명확 / 과제: Reach 한계</a:t>
            </a:r>
          </a:p>
        </p:txBody>
      </p:sp>
      <p:sp>
        <p:nvSpPr>
          <p:cNvPr id="44" name="Rectangle 43"/>
          <p:cNvSpPr/>
          <p:nvPr/>
        </p:nvSpPr>
        <p:spPr>
          <a:xfrm>
            <a:off x="5212079" y="3555359"/>
            <a:ext cx="3055467" cy="1600200"/>
          </a:xfrm>
          <a:prstGeom prst="rect">
            <a:avLst/>
          </a:prstGeom>
          <a:solidFill>
            <a:srgbClr val="F4F5F6"/>
          </a:solidFill>
          <a:ln>
            <a:noFill/>
          </a:ln>
        </p:spPr>
        <p:txBody>
          <a:bodyPr rtlCol="0" anchor="ctr"/>
          <a:lstStyle/>
          <a:p>
            <a:pPr algn="ctr"/>
          </a:p>
        </p:txBody>
      </p:sp>
      <p:sp>
        <p:nvSpPr>
          <p:cNvPr id="45" name="Rectangle 44"/>
          <p:cNvSpPr/>
          <p:nvPr/>
        </p:nvSpPr>
        <p:spPr>
          <a:xfrm>
            <a:off x="5212079" y="3555359"/>
            <a:ext cx="54864" cy="1600200"/>
          </a:xfrm>
          <a:prstGeom prst="rect">
            <a:avLst/>
          </a:prstGeom>
          <a:solidFill>
            <a:srgbClr val="E2571B"/>
          </a:solidFill>
          <a:ln>
            <a:noFill/>
          </a:ln>
        </p:spPr>
        <p:txBody>
          <a:bodyPr rtlCol="0" anchor="ctr"/>
          <a:lstStyle/>
          <a:p>
            <a:pPr algn="ctr"/>
          </a:p>
        </p:txBody>
      </p:sp>
      <p:sp>
        <p:nvSpPr>
          <p:cNvPr id="46" name="TextBox 45"/>
          <p:cNvSpPr txBox="1"/>
          <p:nvPr/>
        </p:nvSpPr>
        <p:spPr>
          <a:xfrm>
            <a:off x="5394959" y="3665087"/>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Fold-out Type</a:t>
            </a:r>
          </a:p>
        </p:txBody>
      </p:sp>
      <p:sp>
        <p:nvSpPr>
          <p:cNvPr id="47" name="TextBox 46"/>
          <p:cNvSpPr txBox="1"/>
          <p:nvPr/>
        </p:nvSpPr>
        <p:spPr>
          <a:xfrm>
            <a:off x="5394959" y="3994271"/>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키큰장 내부 수납 후 전개</a:t>
            </a:r>
          </a:p>
        </p:txBody>
      </p:sp>
      <p:sp>
        <p:nvSpPr>
          <p:cNvPr id="48" name="TextBox 47"/>
          <p:cNvSpPr txBox="1"/>
          <p:nvPr/>
        </p:nvSpPr>
        <p:spPr>
          <a:xfrm>
            <a:off x="5394959" y="4286879"/>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59㎡ Compact</a:t>
            </a:r>
          </a:p>
        </p:txBody>
      </p:sp>
      <p:sp>
        <p:nvSpPr>
          <p:cNvPr id="49" name="TextBox 48"/>
          <p:cNvSpPr txBox="1"/>
          <p:nvPr/>
        </p:nvSpPr>
        <p:spPr>
          <a:xfrm>
            <a:off x="5394959" y="4561199"/>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미사용 시 완전 은폐 / 과제: 전개 기구 · 수납공간 손실</a:t>
            </a:r>
          </a:p>
        </p:txBody>
      </p:sp>
      <p:sp>
        <p:nvSpPr>
          <p:cNvPr id="50" name="Rectangle 49"/>
          <p:cNvSpPr/>
          <p:nvPr/>
        </p:nvSpPr>
        <p:spPr>
          <a:xfrm>
            <a:off x="8450427" y="3555359"/>
            <a:ext cx="3055467" cy="1600200"/>
          </a:xfrm>
          <a:prstGeom prst="rect">
            <a:avLst/>
          </a:prstGeom>
          <a:solidFill>
            <a:srgbClr val="F4F5F6"/>
          </a:solidFill>
          <a:ln>
            <a:noFill/>
          </a:ln>
        </p:spPr>
        <p:txBody>
          <a:bodyPr rtlCol="0" anchor="ctr"/>
          <a:lstStyle/>
          <a:p>
            <a:pPr algn="ctr"/>
          </a:p>
        </p:txBody>
      </p:sp>
      <p:sp>
        <p:nvSpPr>
          <p:cNvPr id="51" name="Rectangle 50"/>
          <p:cNvSpPr/>
          <p:nvPr/>
        </p:nvSpPr>
        <p:spPr>
          <a:xfrm>
            <a:off x="8450427" y="3555359"/>
            <a:ext cx="54864" cy="1600200"/>
          </a:xfrm>
          <a:prstGeom prst="rect">
            <a:avLst/>
          </a:prstGeom>
          <a:solidFill>
            <a:srgbClr val="E2571B"/>
          </a:solidFill>
          <a:ln>
            <a:noFill/>
          </a:ln>
        </p:spPr>
        <p:txBody>
          <a:bodyPr rtlCol="0" anchor="ctr"/>
          <a:lstStyle/>
          <a:p>
            <a:pPr algn="ctr"/>
          </a:p>
        </p:txBody>
      </p:sp>
      <p:sp>
        <p:nvSpPr>
          <p:cNvPr id="52" name="TextBox 51"/>
          <p:cNvSpPr txBox="1"/>
          <p:nvPr/>
        </p:nvSpPr>
        <p:spPr>
          <a:xfrm>
            <a:off x="8633307" y="3665087"/>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Hybrid Type</a:t>
            </a:r>
          </a:p>
        </p:txBody>
      </p:sp>
      <p:sp>
        <p:nvSpPr>
          <p:cNvPr id="53" name="TextBox 52"/>
          <p:cNvSpPr txBox="1"/>
          <p:nvPr/>
        </p:nvSpPr>
        <p:spPr>
          <a:xfrm>
            <a:off x="8633307" y="3994271"/>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Partial Rail + Dock</a:t>
            </a:r>
          </a:p>
        </p:txBody>
      </p:sp>
      <p:sp>
        <p:nvSpPr>
          <p:cNvPr id="54" name="TextBox 53"/>
          <p:cNvSpPr txBox="1"/>
          <p:nvPr/>
        </p:nvSpPr>
        <p:spPr>
          <a:xfrm>
            <a:off x="8633307" y="4286879"/>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Island · 대면형 · 신축 Option</a:t>
            </a:r>
          </a:p>
        </p:txBody>
      </p:sp>
      <p:sp>
        <p:nvSpPr>
          <p:cNvPr id="55" name="TextBox 54"/>
          <p:cNvSpPr txBox="1"/>
          <p:nvPr/>
        </p:nvSpPr>
        <p:spPr>
          <a:xfrm>
            <a:off x="8633307" y="4561199"/>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설계 자유도 / 과제: 부품 수 증가</a:t>
            </a:r>
          </a:p>
        </p:txBody>
      </p:sp>
      <p:sp>
        <p:nvSpPr>
          <p:cNvPr id="56" name="Rectangle 55"/>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57" name="Rectangle 56"/>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58" name="TextBox 57"/>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공간 설계 규칙 #1: 식세기 상향 배치 (키큰장 Housing, Rack 높이 약 450~1,050mm)  →  Robot Reach 단축 + 사람 허리 굽힘 감소 (A6 단면)</a:t>
            </a:r>
          </a:p>
        </p:txBody>
      </p:sp>
      <p:sp>
        <p:nvSpPr>
          <p:cNvPr id="59" name="TextBox 5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60" name="TextBox 5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09  Concept Layout</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대표 Concept Layout: 평형 · Geometry별 Robot Architecture</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CONCEPT LAYOUT — 실제 특정 단지 도면 아님. 치수는 업계 통상 치수 기반 개념값 (실측으로 검증).</a:t>
            </a:r>
          </a:p>
        </p:txBody>
      </p:sp>
      <p:sp>
        <p:nvSpPr>
          <p:cNvPr id="7" name="Rectangle 6"/>
          <p:cNvSpPr/>
          <p:nvPr/>
        </p:nvSpPr>
        <p:spPr>
          <a:xfrm>
            <a:off x="685800" y="1781423"/>
            <a:ext cx="146304" cy="109728"/>
          </a:xfrm>
          <a:prstGeom prst="rect">
            <a:avLst/>
          </a:prstGeom>
          <a:solidFill>
            <a:srgbClr val="E2571B"/>
          </a:solidFill>
          <a:ln>
            <a:noFill/>
          </a:ln>
        </p:spPr>
        <p:txBody>
          <a:bodyPr rtlCol="0" anchor="ctr"/>
          <a:lstStyle/>
          <a:p>
            <a:pPr algn="ctr"/>
          </a:p>
        </p:txBody>
      </p:sp>
      <p:sp>
        <p:nvSpPr>
          <p:cNvPr id="8" name="TextBox 7"/>
          <p:cNvSpPr txBox="1"/>
          <p:nvPr/>
        </p:nvSpPr>
        <p:spPr>
          <a:xfrm>
            <a:off x="932688" y="1744847"/>
            <a:ext cx="722298"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Robot Home</a:t>
            </a:r>
          </a:p>
        </p:txBody>
      </p:sp>
      <p:cxnSp>
        <p:nvCxnSpPr>
          <p:cNvPr id="9" name="Connector 8"/>
          <p:cNvCxnSpPr/>
          <p:nvPr/>
        </p:nvCxnSpPr>
        <p:spPr>
          <a:xfrm>
            <a:off x="1810434" y="1836287"/>
            <a:ext cx="201168" cy="0"/>
          </a:xfrm>
          <a:prstGeom prst="line">
            <a:avLst/>
          </a:prstGeom>
          <a:ln w="38100">
            <a:solidFill>
              <a:srgbClr val="E2571B"/>
            </a:solidFill>
            <a:prstDash val="dash"/>
          </a:ln>
        </p:spPr>
      </p:cxnSp>
      <p:sp>
        <p:nvSpPr>
          <p:cNvPr id="10" name="TextBox 9"/>
          <p:cNvSpPr txBox="1"/>
          <p:nvPr/>
        </p:nvSpPr>
        <p:spPr>
          <a:xfrm>
            <a:off x="2057322" y="1744847"/>
            <a:ext cx="898239"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Rail (상부장 하단)</a:t>
            </a:r>
          </a:p>
        </p:txBody>
      </p:sp>
      <p:sp>
        <p:nvSpPr>
          <p:cNvPr id="11" name="Rectangle 10"/>
          <p:cNvSpPr/>
          <p:nvPr/>
        </p:nvSpPr>
        <p:spPr>
          <a:xfrm>
            <a:off x="3111009" y="1772279"/>
            <a:ext cx="182880" cy="128016"/>
          </a:xfrm>
          <a:prstGeom prst="rect">
            <a:avLst/>
          </a:prstGeom>
          <a:noFill/>
          <a:ln w="12700">
            <a:solidFill>
              <a:srgbClr val="E2571B"/>
            </a:solidFill>
            <a:prstDash val="dash"/>
          </a:ln>
        </p:spPr>
        <p:txBody>
          <a:bodyPr rtlCol="0" anchor="ctr"/>
          <a:lstStyle/>
          <a:p>
            <a:pPr algn="ctr"/>
          </a:p>
        </p:txBody>
      </p:sp>
      <p:sp>
        <p:nvSpPr>
          <p:cNvPr id="12" name="TextBox 11"/>
          <p:cNvSpPr txBox="1"/>
          <p:nvPr/>
        </p:nvSpPr>
        <p:spPr>
          <a:xfrm>
            <a:off x="3357897" y="1744847"/>
            <a:ext cx="620395"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Reach 경계</a:t>
            </a:r>
          </a:p>
        </p:txBody>
      </p:sp>
      <p:sp>
        <p:nvSpPr>
          <p:cNvPr id="13" name="Rectangle 12"/>
          <p:cNvSpPr/>
          <p:nvPr/>
        </p:nvSpPr>
        <p:spPr>
          <a:xfrm>
            <a:off x="4133740" y="1772279"/>
            <a:ext cx="182880" cy="128016"/>
          </a:xfrm>
          <a:prstGeom prst="rect">
            <a:avLst/>
          </a:prstGeom>
          <a:solidFill>
            <a:srgbClr val="F6C9B3">
              <a:alpha val="55000"/>
            </a:srgbClr>
          </a:solidFill>
          <a:ln>
            <a:noFill/>
          </a:ln>
        </p:spPr>
        <p:txBody>
          <a:bodyPr rtlCol="0" anchor="ctr"/>
          <a:lstStyle/>
          <a:p>
            <a:pPr algn="ctr"/>
          </a:p>
        </p:txBody>
      </p:sp>
      <p:sp>
        <p:nvSpPr>
          <p:cNvPr id="14" name="TextBox 13"/>
          <p:cNvSpPr txBox="1"/>
          <p:nvPr/>
        </p:nvSpPr>
        <p:spPr>
          <a:xfrm>
            <a:off x="4380628" y="1744847"/>
            <a:ext cx="1114038"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Robot Working Zone</a:t>
            </a:r>
          </a:p>
        </p:txBody>
      </p:sp>
      <p:sp>
        <p:nvSpPr>
          <p:cNvPr id="15" name="Rectangle 14"/>
          <p:cNvSpPr/>
          <p:nvPr/>
        </p:nvSpPr>
        <p:spPr>
          <a:xfrm>
            <a:off x="5650115" y="1772279"/>
            <a:ext cx="182880" cy="128016"/>
          </a:xfrm>
          <a:prstGeom prst="rect">
            <a:avLst/>
          </a:prstGeom>
          <a:solidFill>
            <a:srgbClr val="C9CDD2">
              <a:alpha val="45000"/>
            </a:srgbClr>
          </a:solidFill>
          <a:ln>
            <a:noFill/>
          </a:ln>
        </p:spPr>
        <p:txBody>
          <a:bodyPr rtlCol="0" anchor="ctr"/>
          <a:lstStyle/>
          <a:p>
            <a:pPr algn="ctr"/>
          </a:p>
        </p:txBody>
      </p:sp>
      <p:sp>
        <p:nvSpPr>
          <p:cNvPr id="16" name="TextBox 15"/>
          <p:cNvSpPr txBox="1"/>
          <p:nvPr/>
        </p:nvSpPr>
        <p:spPr>
          <a:xfrm>
            <a:off x="5897003" y="1744847"/>
            <a:ext cx="1181827"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Human Working Zone</a:t>
            </a:r>
          </a:p>
        </p:txBody>
      </p:sp>
      <p:sp>
        <p:nvSpPr>
          <p:cNvPr id="17" name="Rectangle 16"/>
          <p:cNvSpPr/>
          <p:nvPr/>
        </p:nvSpPr>
        <p:spPr>
          <a:xfrm>
            <a:off x="7234279" y="1772279"/>
            <a:ext cx="182880" cy="128016"/>
          </a:xfrm>
          <a:prstGeom prst="rect">
            <a:avLst/>
          </a:prstGeom>
          <a:pattFill prst="wdDnDiag">
            <a:fgClr>
              <a:srgbClr val="8C9198"/>
            </a:fgClr>
            <a:bgClr>
              <a:srgbClr val="FFFFFF"/>
            </a:bgClr>
          </a:pattFill>
          <a:ln w="6350">
            <a:solidFill>
              <a:srgbClr val="15171A"/>
            </a:solidFill>
          </a:ln>
        </p:spPr>
        <p:txBody>
          <a:bodyPr rtlCol="0" anchor="ctr"/>
          <a:lstStyle/>
          <a:p>
            <a:pPr algn="ctr"/>
          </a:p>
        </p:txBody>
      </p:sp>
      <p:sp>
        <p:nvSpPr>
          <p:cNvPr id="18" name="TextBox 17"/>
          <p:cNvSpPr txBox="1"/>
          <p:nvPr/>
        </p:nvSpPr>
        <p:spPr>
          <a:xfrm>
            <a:off x="7481167" y="1744847"/>
            <a:ext cx="674580"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No-go Zone</a:t>
            </a:r>
          </a:p>
        </p:txBody>
      </p:sp>
      <p:sp>
        <p:nvSpPr>
          <p:cNvPr id="19" name="Rectangle 18"/>
          <p:cNvSpPr/>
          <p:nvPr/>
        </p:nvSpPr>
        <p:spPr>
          <a:xfrm>
            <a:off x="10591495" y="1763135"/>
            <a:ext cx="602392" cy="182880"/>
          </a:xfrm>
          <a:prstGeom prst="rect">
            <a:avLst/>
          </a:prstGeom>
          <a:solidFill>
            <a:srgbClr val="FFFFFF"/>
          </a:solidFill>
          <a:ln w="6350">
            <a:solidFill>
              <a:srgbClr val="8C9198"/>
            </a:solidFill>
          </a:ln>
        </p:spPr>
        <p:txBody>
          <a:bodyPr rtlCol="0" anchor="ctr"/>
          <a:lstStyle/>
          <a:p>
            <a:pPr algn="ctr"/>
          </a:p>
        </p:txBody>
      </p:sp>
      <p:sp>
        <p:nvSpPr>
          <p:cNvPr id="20" name="TextBox 19"/>
          <p:cNvSpPr txBox="1"/>
          <p:nvPr/>
        </p:nvSpPr>
        <p:spPr>
          <a:xfrm>
            <a:off x="10591495" y="1763135"/>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1" name="Rectangle 20"/>
          <p:cNvSpPr/>
          <p:nvPr/>
        </p:nvSpPr>
        <p:spPr>
          <a:xfrm>
            <a:off x="685800" y="2110607"/>
            <a:ext cx="5272887" cy="2057400"/>
          </a:xfrm>
          <a:prstGeom prst="rect">
            <a:avLst/>
          </a:prstGeom>
          <a:noFill/>
          <a:ln w="9525">
            <a:solidFill>
              <a:srgbClr val="E2E4E7"/>
            </a:solidFill>
          </a:ln>
        </p:spPr>
        <p:txBody>
          <a:bodyPr rtlCol="0" anchor="ctr"/>
          <a:lstStyle/>
          <a:p>
            <a:pPr algn="ctr"/>
          </a:p>
        </p:txBody>
      </p:sp>
      <p:sp>
        <p:nvSpPr>
          <p:cNvPr id="22" name="Rectangle 21"/>
          <p:cNvSpPr/>
          <p:nvPr/>
        </p:nvSpPr>
        <p:spPr>
          <a:xfrm>
            <a:off x="1225867" y="2220335"/>
            <a:ext cx="1882521" cy="1673352"/>
          </a:xfrm>
          <a:prstGeom prst="rect">
            <a:avLst/>
          </a:prstGeom>
          <a:solidFill>
            <a:srgbClr val="FFFFFF"/>
          </a:solidFill>
          <a:ln w="6350">
            <a:solidFill>
              <a:srgbClr val="E2E4E7"/>
            </a:solidFill>
          </a:ln>
        </p:spPr>
        <p:txBody>
          <a:bodyPr rtlCol="0" anchor="ctr"/>
          <a:lstStyle/>
          <a:p>
            <a:pPr algn="ctr"/>
          </a:p>
        </p:txBody>
      </p:sp>
      <p:sp>
        <p:nvSpPr>
          <p:cNvPr id="23" name="Rectangle 22"/>
          <p:cNvSpPr/>
          <p:nvPr/>
        </p:nvSpPr>
        <p:spPr>
          <a:xfrm>
            <a:off x="1644205" y="2952427"/>
            <a:ext cx="1045845" cy="941260"/>
          </a:xfrm>
          <a:prstGeom prst="rect">
            <a:avLst/>
          </a:prstGeom>
          <a:solidFill>
            <a:srgbClr val="C9CDD2">
              <a:alpha val="45000"/>
            </a:srgbClr>
          </a:solidFill>
          <a:ln>
            <a:noFill/>
          </a:ln>
        </p:spPr>
        <p:txBody>
          <a:bodyPr rtlCol="0" anchor="ctr"/>
          <a:lstStyle/>
          <a:p>
            <a:pPr algn="ctr"/>
          </a:p>
        </p:txBody>
      </p:sp>
      <p:sp>
        <p:nvSpPr>
          <p:cNvPr id="24" name="Rectangle 23"/>
          <p:cNvSpPr/>
          <p:nvPr/>
        </p:nvSpPr>
        <p:spPr>
          <a:xfrm>
            <a:off x="1644205" y="2220335"/>
            <a:ext cx="1464183" cy="418338"/>
          </a:xfrm>
          <a:prstGeom prst="rect">
            <a:avLst/>
          </a:prstGeom>
          <a:solidFill>
            <a:srgbClr val="F6C9B3">
              <a:alpha val="55000"/>
            </a:srgbClr>
          </a:solidFill>
          <a:ln>
            <a:noFill/>
          </a:ln>
        </p:spPr>
        <p:txBody>
          <a:bodyPr rtlCol="0" anchor="ctr"/>
          <a:lstStyle/>
          <a:p>
            <a:pPr algn="ctr"/>
          </a:p>
        </p:txBody>
      </p:sp>
      <p:sp>
        <p:nvSpPr>
          <p:cNvPr id="25" name="Rectangle 24"/>
          <p:cNvSpPr/>
          <p:nvPr/>
        </p:nvSpPr>
        <p:spPr>
          <a:xfrm>
            <a:off x="2271712" y="2638673"/>
            <a:ext cx="836676" cy="313753"/>
          </a:xfrm>
          <a:prstGeom prst="rect">
            <a:avLst/>
          </a:prstGeom>
          <a:solidFill>
            <a:srgbClr val="F6C9B3">
              <a:alpha val="55000"/>
            </a:srgbClr>
          </a:solidFill>
          <a:ln>
            <a:noFill/>
          </a:ln>
        </p:spPr>
        <p:txBody>
          <a:bodyPr rtlCol="0" anchor="ctr"/>
          <a:lstStyle/>
          <a:p>
            <a:pPr algn="ctr"/>
          </a:p>
        </p:txBody>
      </p:sp>
      <p:sp>
        <p:nvSpPr>
          <p:cNvPr id="26" name="Rectangle 25"/>
          <p:cNvSpPr/>
          <p:nvPr/>
        </p:nvSpPr>
        <p:spPr>
          <a:xfrm>
            <a:off x="1225867" y="2220335"/>
            <a:ext cx="1394460" cy="418338"/>
          </a:xfrm>
          <a:prstGeom prst="rect">
            <a:avLst/>
          </a:prstGeom>
          <a:solidFill>
            <a:srgbClr val="E2E4E7">
              <a:alpha val="85000"/>
            </a:srgbClr>
          </a:solidFill>
          <a:ln>
            <a:noFill/>
          </a:ln>
        </p:spPr>
        <p:txBody>
          <a:bodyPr rtlCol="0" anchor="ctr"/>
          <a:lstStyle/>
          <a:p>
            <a:pPr algn="ctr"/>
          </a:p>
        </p:txBody>
      </p:sp>
      <p:sp>
        <p:nvSpPr>
          <p:cNvPr id="27" name="Rectangle 26"/>
          <p:cNvSpPr/>
          <p:nvPr/>
        </p:nvSpPr>
        <p:spPr>
          <a:xfrm>
            <a:off x="1225867" y="2638673"/>
            <a:ext cx="418338" cy="1045845"/>
          </a:xfrm>
          <a:prstGeom prst="rect">
            <a:avLst/>
          </a:prstGeom>
          <a:solidFill>
            <a:srgbClr val="E2E4E7">
              <a:alpha val="85000"/>
            </a:srgbClr>
          </a:solidFill>
          <a:ln>
            <a:noFill/>
          </a:ln>
        </p:spPr>
        <p:txBody>
          <a:bodyPr rtlCol="0" anchor="ctr"/>
          <a:lstStyle/>
          <a:p>
            <a:pPr algn="ctr"/>
          </a:p>
        </p:txBody>
      </p:sp>
      <p:sp>
        <p:nvSpPr>
          <p:cNvPr id="28" name="Rectangle 27"/>
          <p:cNvSpPr/>
          <p:nvPr/>
        </p:nvSpPr>
        <p:spPr>
          <a:xfrm>
            <a:off x="1644205" y="2220335"/>
            <a:ext cx="557784" cy="390448"/>
          </a:xfrm>
          <a:prstGeom prst="rect">
            <a:avLst/>
          </a:prstGeom>
          <a:solidFill>
            <a:srgbClr val="FFFFFF"/>
          </a:solidFill>
          <a:ln w="6350">
            <a:solidFill>
              <a:srgbClr val="8C9198"/>
            </a:solidFill>
          </a:ln>
        </p:spPr>
        <p:txBody>
          <a:bodyPr rtlCol="0" anchor="ctr"/>
          <a:lstStyle/>
          <a:p>
            <a:pPr algn="ctr"/>
          </a:p>
        </p:txBody>
      </p:sp>
      <p:sp>
        <p:nvSpPr>
          <p:cNvPr id="29" name="TextBox 28"/>
          <p:cNvSpPr txBox="1"/>
          <p:nvPr/>
        </p:nvSpPr>
        <p:spPr>
          <a:xfrm>
            <a:off x="1644205" y="2220335"/>
            <a:ext cx="557784" cy="39044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30" name="Rectangle 29"/>
          <p:cNvSpPr/>
          <p:nvPr/>
        </p:nvSpPr>
        <p:spPr>
          <a:xfrm>
            <a:off x="1225867" y="2708396"/>
            <a:ext cx="390448" cy="418338"/>
          </a:xfrm>
          <a:prstGeom prst="rect">
            <a:avLst/>
          </a:prstGeom>
          <a:solidFill>
            <a:srgbClr val="FFFFFF"/>
          </a:solidFill>
          <a:ln w="6350">
            <a:solidFill>
              <a:srgbClr val="8C9198"/>
            </a:solidFill>
          </a:ln>
        </p:spPr>
        <p:txBody>
          <a:bodyPr rtlCol="0" anchor="ctr"/>
          <a:lstStyle/>
          <a:p>
            <a:pPr algn="ctr"/>
          </a:p>
        </p:txBody>
      </p:sp>
      <p:sp>
        <p:nvSpPr>
          <p:cNvPr id="31" name="TextBox 30"/>
          <p:cNvSpPr txBox="1"/>
          <p:nvPr/>
        </p:nvSpPr>
        <p:spPr>
          <a:xfrm>
            <a:off x="1225867" y="2708396"/>
            <a:ext cx="390448" cy="41833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32" name="Rectangle 31"/>
          <p:cNvSpPr/>
          <p:nvPr/>
        </p:nvSpPr>
        <p:spPr>
          <a:xfrm>
            <a:off x="1225867" y="3196457"/>
            <a:ext cx="390448" cy="488061"/>
          </a:xfrm>
          <a:prstGeom prst="rect">
            <a:avLst/>
          </a:prstGeom>
          <a:solidFill>
            <a:srgbClr val="FFFFFF"/>
          </a:solidFill>
          <a:ln w="6350">
            <a:solidFill>
              <a:srgbClr val="8C9198"/>
            </a:solidFill>
          </a:ln>
        </p:spPr>
        <p:txBody>
          <a:bodyPr rtlCol="0" anchor="ctr"/>
          <a:lstStyle/>
          <a:p>
            <a:pPr algn="ctr"/>
          </a:p>
        </p:txBody>
      </p:sp>
      <p:sp>
        <p:nvSpPr>
          <p:cNvPr id="33" name="TextBox 32"/>
          <p:cNvSpPr txBox="1"/>
          <p:nvPr/>
        </p:nvSpPr>
        <p:spPr>
          <a:xfrm>
            <a:off x="1225867" y="3196457"/>
            <a:ext cx="390448" cy="488061"/>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34" name="Rectangle 33"/>
          <p:cNvSpPr/>
          <p:nvPr/>
        </p:nvSpPr>
        <p:spPr>
          <a:xfrm>
            <a:off x="2620327" y="2220335"/>
            <a:ext cx="488061" cy="418338"/>
          </a:xfrm>
          <a:prstGeom prst="rect">
            <a:avLst/>
          </a:prstGeom>
          <a:solidFill>
            <a:srgbClr val="B9BEC5"/>
          </a:solidFill>
          <a:ln w="6350">
            <a:solidFill>
              <a:srgbClr val="8C9198"/>
            </a:solidFill>
          </a:ln>
        </p:spPr>
        <p:txBody>
          <a:bodyPr rtlCol="0" anchor="ctr"/>
          <a:lstStyle/>
          <a:p>
            <a:pPr algn="ctr"/>
          </a:p>
        </p:txBody>
      </p:sp>
      <p:sp>
        <p:nvSpPr>
          <p:cNvPr id="35" name="TextBox 34"/>
          <p:cNvSpPr txBox="1"/>
          <p:nvPr/>
        </p:nvSpPr>
        <p:spPr>
          <a:xfrm>
            <a:off x="2620327" y="2220335"/>
            <a:ext cx="488061" cy="41833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DW·Home</a:t>
            </a:r>
          </a:p>
        </p:txBody>
      </p:sp>
      <p:sp>
        <p:nvSpPr>
          <p:cNvPr id="36" name="Rectangle 35"/>
          <p:cNvSpPr/>
          <p:nvPr/>
        </p:nvSpPr>
        <p:spPr>
          <a:xfrm>
            <a:off x="2690050" y="3266180"/>
            <a:ext cx="418338" cy="627507"/>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37" name="TextBox 36"/>
          <p:cNvSpPr txBox="1"/>
          <p:nvPr/>
        </p:nvSpPr>
        <p:spPr>
          <a:xfrm>
            <a:off x="2690050" y="3266180"/>
            <a:ext cx="418338" cy="627507"/>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Dining</a:t>
            </a:r>
          </a:p>
          <a:p>
            <a:pPr algn="ctr">
              <a:lnSpc>
                <a:spcPct val="100000"/>
              </a:lnSpc>
            </a:pPr>
            <a:r>
              <a:rPr sz="700" b="1">
                <a:solidFill>
                  <a:srgbClr val="15171A"/>
                </a:solidFill>
                <a:latin typeface="Noto Sans KR"/>
                <a:ea typeface="Noto Sans KR"/>
                <a:cs typeface="Noto Sans KR"/>
              </a:rPr>
              <a:t>No-go</a:t>
            </a:r>
          </a:p>
        </p:txBody>
      </p:sp>
      <p:sp>
        <p:nvSpPr>
          <p:cNvPr id="38" name="Rectangle 37"/>
          <p:cNvSpPr/>
          <p:nvPr/>
        </p:nvSpPr>
        <p:spPr>
          <a:xfrm>
            <a:off x="1653349" y="2229479"/>
            <a:ext cx="1445895" cy="400050"/>
          </a:xfrm>
          <a:prstGeom prst="rect">
            <a:avLst/>
          </a:prstGeom>
          <a:noFill/>
          <a:ln w="12700">
            <a:solidFill>
              <a:srgbClr val="E2571B"/>
            </a:solidFill>
            <a:prstDash val="dash"/>
          </a:ln>
        </p:spPr>
        <p:txBody>
          <a:bodyPr rtlCol="0" anchor="ctr"/>
          <a:lstStyle/>
          <a:p>
            <a:pPr algn="ctr"/>
          </a:p>
        </p:txBody>
      </p:sp>
      <p:sp>
        <p:nvSpPr>
          <p:cNvPr id="39" name="Rectangle 38"/>
          <p:cNvSpPr/>
          <p:nvPr/>
        </p:nvSpPr>
        <p:spPr>
          <a:xfrm>
            <a:off x="2280856" y="2647817"/>
            <a:ext cx="818388" cy="295465"/>
          </a:xfrm>
          <a:prstGeom prst="rect">
            <a:avLst/>
          </a:prstGeom>
          <a:noFill/>
          <a:ln w="12700">
            <a:solidFill>
              <a:srgbClr val="E2571B"/>
            </a:solidFill>
            <a:prstDash val="dash"/>
          </a:ln>
        </p:spPr>
        <p:txBody>
          <a:bodyPr rtlCol="0" anchor="ctr"/>
          <a:lstStyle/>
          <a:p>
            <a:pPr algn="ctr"/>
          </a:p>
        </p:txBody>
      </p:sp>
      <p:sp>
        <p:nvSpPr>
          <p:cNvPr id="40" name="Rectangle 39"/>
          <p:cNvSpPr/>
          <p:nvPr/>
        </p:nvSpPr>
        <p:spPr>
          <a:xfrm>
            <a:off x="2724911" y="2304003"/>
            <a:ext cx="278892" cy="251002"/>
          </a:xfrm>
          <a:prstGeom prst="rect">
            <a:avLst/>
          </a:prstGeom>
          <a:solidFill>
            <a:srgbClr val="E2571B"/>
          </a:solidFill>
          <a:ln>
            <a:noFill/>
          </a:ln>
        </p:spPr>
        <p:txBody>
          <a:bodyPr rtlCol="0" anchor="ctr"/>
          <a:lstStyle/>
          <a:p>
            <a:pPr algn="ctr"/>
          </a:p>
        </p:txBody>
      </p:sp>
      <p:cxnSp>
        <p:nvCxnSpPr>
          <p:cNvPr id="41" name="Connector 40"/>
          <p:cNvCxnSpPr/>
          <p:nvPr/>
        </p:nvCxnSpPr>
        <p:spPr>
          <a:xfrm>
            <a:off x="1225867" y="2220335"/>
            <a:ext cx="1882521" cy="0"/>
          </a:xfrm>
          <a:prstGeom prst="line">
            <a:avLst/>
          </a:prstGeom>
          <a:ln w="38100">
            <a:solidFill>
              <a:srgbClr val="15171A"/>
            </a:solidFill>
          </a:ln>
        </p:spPr>
      </p:cxnSp>
      <p:cxnSp>
        <p:nvCxnSpPr>
          <p:cNvPr id="42" name="Connector 41"/>
          <p:cNvCxnSpPr/>
          <p:nvPr/>
        </p:nvCxnSpPr>
        <p:spPr>
          <a:xfrm>
            <a:off x="1225867" y="2220335"/>
            <a:ext cx="0" cy="1673352"/>
          </a:xfrm>
          <a:prstGeom prst="line">
            <a:avLst/>
          </a:prstGeom>
          <a:ln w="38100">
            <a:solidFill>
              <a:srgbClr val="15171A"/>
            </a:solidFill>
          </a:ln>
        </p:spPr>
      </p:cxnSp>
      <p:sp>
        <p:nvSpPr>
          <p:cNvPr id="43" name="TextBox 42"/>
          <p:cNvSpPr txBox="1"/>
          <p:nvPr/>
        </p:nvSpPr>
        <p:spPr>
          <a:xfrm>
            <a:off x="1225867" y="3911975"/>
            <a:ext cx="1882521"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2,700 × 2,400 mm (Kitchen 영역)</a:t>
            </a:r>
          </a:p>
        </p:txBody>
      </p:sp>
      <p:sp>
        <p:nvSpPr>
          <p:cNvPr id="44" name="TextBox 43"/>
          <p:cNvSpPr txBox="1"/>
          <p:nvPr/>
        </p:nvSpPr>
        <p:spPr>
          <a:xfrm>
            <a:off x="3703320" y="224776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A · 구축 59㎡ Compact (ㄱ자)</a:t>
            </a:r>
          </a:p>
        </p:txBody>
      </p:sp>
      <p:sp>
        <p:nvSpPr>
          <p:cNvPr id="45" name="TextBox 44"/>
          <p:cNvSpPr txBox="1"/>
          <p:nvPr/>
        </p:nvSpPr>
        <p:spPr>
          <a:xfrm>
            <a:off x="3703320" y="279640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Remodeling · Tall Cabinet Fold-out</a:t>
            </a:r>
          </a:p>
        </p:txBody>
      </p:sp>
      <p:sp>
        <p:nvSpPr>
          <p:cNvPr id="46" name="TextBox 45"/>
          <p:cNvSpPr txBox="1"/>
          <p:nvPr/>
        </p:nvSpPr>
        <p:spPr>
          <a:xfrm>
            <a:off x="3703320" y="329932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Robot·식세기 키큰장 통합, 미사용 시 완전 수납</a:t>
            </a:r>
          </a:p>
        </p:txBody>
      </p:sp>
      <p:sp>
        <p:nvSpPr>
          <p:cNvPr id="47" name="Rectangle 46"/>
          <p:cNvSpPr/>
          <p:nvPr/>
        </p:nvSpPr>
        <p:spPr>
          <a:xfrm>
            <a:off x="6233007" y="2110607"/>
            <a:ext cx="5272887" cy="2057400"/>
          </a:xfrm>
          <a:prstGeom prst="rect">
            <a:avLst/>
          </a:prstGeom>
          <a:noFill/>
          <a:ln w="9525">
            <a:solidFill>
              <a:srgbClr val="E2E4E7"/>
            </a:solidFill>
          </a:ln>
        </p:spPr>
        <p:txBody>
          <a:bodyPr rtlCol="0" anchor="ctr"/>
          <a:lstStyle/>
          <a:p>
            <a:pPr algn="ctr"/>
          </a:p>
        </p:txBody>
      </p:sp>
      <p:sp>
        <p:nvSpPr>
          <p:cNvPr id="48" name="Rectangle 47"/>
          <p:cNvSpPr/>
          <p:nvPr/>
        </p:nvSpPr>
        <p:spPr>
          <a:xfrm>
            <a:off x="6652400" y="2220335"/>
            <a:ext cx="2123869" cy="1673352"/>
          </a:xfrm>
          <a:prstGeom prst="rect">
            <a:avLst/>
          </a:prstGeom>
          <a:solidFill>
            <a:srgbClr val="FFFFFF"/>
          </a:solidFill>
          <a:ln w="6350">
            <a:solidFill>
              <a:srgbClr val="E2E4E7"/>
            </a:solidFill>
          </a:ln>
        </p:spPr>
        <p:txBody>
          <a:bodyPr rtlCol="0" anchor="ctr"/>
          <a:lstStyle/>
          <a:p>
            <a:pPr algn="ctr"/>
          </a:p>
        </p:txBody>
      </p:sp>
      <p:sp>
        <p:nvSpPr>
          <p:cNvPr id="49" name="Rectangle 48"/>
          <p:cNvSpPr/>
          <p:nvPr/>
        </p:nvSpPr>
        <p:spPr>
          <a:xfrm>
            <a:off x="6652400" y="2831752"/>
            <a:ext cx="2123869" cy="675776"/>
          </a:xfrm>
          <a:prstGeom prst="rect">
            <a:avLst/>
          </a:prstGeom>
          <a:solidFill>
            <a:srgbClr val="C9CDD2">
              <a:alpha val="45000"/>
            </a:srgbClr>
          </a:solidFill>
          <a:ln>
            <a:noFill/>
          </a:ln>
        </p:spPr>
        <p:txBody>
          <a:bodyPr rtlCol="0" anchor="ctr"/>
          <a:lstStyle/>
          <a:p>
            <a:pPr algn="ctr"/>
          </a:p>
        </p:txBody>
      </p:sp>
      <p:sp>
        <p:nvSpPr>
          <p:cNvPr id="50" name="Rectangle 49"/>
          <p:cNvSpPr/>
          <p:nvPr/>
        </p:nvSpPr>
        <p:spPr>
          <a:xfrm>
            <a:off x="6652400" y="2220335"/>
            <a:ext cx="2123869" cy="611417"/>
          </a:xfrm>
          <a:prstGeom prst="rect">
            <a:avLst/>
          </a:prstGeom>
          <a:solidFill>
            <a:srgbClr val="F6C9B3">
              <a:alpha val="55000"/>
            </a:srgbClr>
          </a:solidFill>
          <a:ln>
            <a:noFill/>
          </a:ln>
        </p:spPr>
        <p:txBody>
          <a:bodyPr rtlCol="0" anchor="ctr"/>
          <a:lstStyle/>
          <a:p>
            <a:pPr algn="ctr"/>
          </a:p>
        </p:txBody>
      </p:sp>
      <p:sp>
        <p:nvSpPr>
          <p:cNvPr id="51" name="Rectangle 50"/>
          <p:cNvSpPr/>
          <p:nvPr/>
        </p:nvSpPr>
        <p:spPr>
          <a:xfrm>
            <a:off x="6652400" y="2220335"/>
            <a:ext cx="2123869" cy="386158"/>
          </a:xfrm>
          <a:prstGeom prst="rect">
            <a:avLst/>
          </a:prstGeom>
          <a:solidFill>
            <a:srgbClr val="E2E4E7">
              <a:alpha val="85000"/>
            </a:srgbClr>
          </a:solidFill>
          <a:ln>
            <a:noFill/>
          </a:ln>
        </p:spPr>
        <p:txBody>
          <a:bodyPr rtlCol="0" anchor="ctr"/>
          <a:lstStyle/>
          <a:p>
            <a:pPr algn="ctr"/>
          </a:p>
        </p:txBody>
      </p:sp>
      <p:sp>
        <p:nvSpPr>
          <p:cNvPr id="52" name="Rectangle 51"/>
          <p:cNvSpPr/>
          <p:nvPr/>
        </p:nvSpPr>
        <p:spPr>
          <a:xfrm>
            <a:off x="6652400" y="3507529"/>
            <a:ext cx="2123869" cy="386158"/>
          </a:xfrm>
          <a:prstGeom prst="rect">
            <a:avLst/>
          </a:prstGeom>
          <a:solidFill>
            <a:srgbClr val="E2E4E7">
              <a:alpha val="85000"/>
            </a:srgbClr>
          </a:solidFill>
          <a:ln>
            <a:noFill/>
          </a:ln>
        </p:spPr>
        <p:txBody>
          <a:bodyPr rtlCol="0" anchor="ctr"/>
          <a:lstStyle/>
          <a:p>
            <a:pPr algn="ctr"/>
          </a:p>
        </p:txBody>
      </p:sp>
      <p:sp>
        <p:nvSpPr>
          <p:cNvPr id="53" name="Rectangle 52"/>
          <p:cNvSpPr/>
          <p:nvPr/>
        </p:nvSpPr>
        <p:spPr>
          <a:xfrm>
            <a:off x="7038558" y="2220335"/>
            <a:ext cx="579237" cy="360414"/>
          </a:xfrm>
          <a:prstGeom prst="rect">
            <a:avLst/>
          </a:prstGeom>
          <a:solidFill>
            <a:srgbClr val="FFFFFF"/>
          </a:solidFill>
          <a:ln w="6350">
            <a:solidFill>
              <a:srgbClr val="8C9198"/>
            </a:solidFill>
          </a:ln>
        </p:spPr>
        <p:txBody>
          <a:bodyPr rtlCol="0" anchor="ctr"/>
          <a:lstStyle/>
          <a:p>
            <a:pPr algn="ctr"/>
          </a:p>
        </p:txBody>
      </p:sp>
      <p:sp>
        <p:nvSpPr>
          <p:cNvPr id="54" name="TextBox 53"/>
          <p:cNvSpPr txBox="1"/>
          <p:nvPr/>
        </p:nvSpPr>
        <p:spPr>
          <a:xfrm>
            <a:off x="7038558" y="2220335"/>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55" name="Rectangle 54"/>
          <p:cNvSpPr/>
          <p:nvPr/>
        </p:nvSpPr>
        <p:spPr>
          <a:xfrm>
            <a:off x="7649975" y="2220335"/>
            <a:ext cx="579237" cy="360414"/>
          </a:xfrm>
          <a:prstGeom prst="rect">
            <a:avLst/>
          </a:prstGeom>
          <a:solidFill>
            <a:srgbClr val="E2E4E7"/>
          </a:solidFill>
          <a:ln w="6350">
            <a:solidFill>
              <a:srgbClr val="8C9198"/>
            </a:solidFill>
          </a:ln>
        </p:spPr>
        <p:txBody>
          <a:bodyPr rtlCol="0" anchor="ctr"/>
          <a:lstStyle/>
          <a:p>
            <a:pPr algn="ctr"/>
          </a:p>
        </p:txBody>
      </p:sp>
      <p:sp>
        <p:nvSpPr>
          <p:cNvPr id="56" name="TextBox 55"/>
          <p:cNvSpPr txBox="1"/>
          <p:nvPr/>
        </p:nvSpPr>
        <p:spPr>
          <a:xfrm>
            <a:off x="7649975" y="2220335"/>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Counter</a:t>
            </a:r>
          </a:p>
        </p:txBody>
      </p:sp>
      <p:sp>
        <p:nvSpPr>
          <p:cNvPr id="57" name="Rectangle 56"/>
          <p:cNvSpPr/>
          <p:nvPr/>
        </p:nvSpPr>
        <p:spPr>
          <a:xfrm>
            <a:off x="8390112" y="2220335"/>
            <a:ext cx="386158" cy="386158"/>
          </a:xfrm>
          <a:prstGeom prst="rect">
            <a:avLst/>
          </a:prstGeom>
          <a:solidFill>
            <a:srgbClr val="B9BEC5"/>
          </a:solidFill>
          <a:ln w="6350">
            <a:solidFill>
              <a:srgbClr val="8C9198"/>
            </a:solidFill>
          </a:ln>
        </p:spPr>
        <p:txBody>
          <a:bodyPr rtlCol="0" anchor="ctr"/>
          <a:lstStyle/>
          <a:p>
            <a:pPr algn="ctr"/>
          </a:p>
        </p:txBody>
      </p:sp>
      <p:sp>
        <p:nvSpPr>
          <p:cNvPr id="58" name="TextBox 57"/>
          <p:cNvSpPr txBox="1"/>
          <p:nvPr/>
        </p:nvSpPr>
        <p:spPr>
          <a:xfrm>
            <a:off x="8390112" y="2220335"/>
            <a:ext cx="386158" cy="38615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59" name="Rectangle 58"/>
          <p:cNvSpPr/>
          <p:nvPr/>
        </p:nvSpPr>
        <p:spPr>
          <a:xfrm>
            <a:off x="6652400" y="2220335"/>
            <a:ext cx="360414" cy="386158"/>
          </a:xfrm>
          <a:prstGeom prst="rect">
            <a:avLst/>
          </a:prstGeom>
          <a:solidFill>
            <a:srgbClr val="B9BEC5"/>
          </a:solidFill>
          <a:ln w="6350">
            <a:solidFill>
              <a:srgbClr val="8C9198"/>
            </a:solidFill>
          </a:ln>
        </p:spPr>
        <p:txBody>
          <a:bodyPr rtlCol="0" anchor="ctr"/>
          <a:lstStyle/>
          <a:p>
            <a:pPr algn="ctr"/>
          </a:p>
        </p:txBody>
      </p:sp>
      <p:sp>
        <p:nvSpPr>
          <p:cNvPr id="60" name="TextBox 59"/>
          <p:cNvSpPr txBox="1"/>
          <p:nvPr/>
        </p:nvSpPr>
        <p:spPr>
          <a:xfrm>
            <a:off x="6652400" y="2220335"/>
            <a:ext cx="360414" cy="38615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Home</a:t>
            </a:r>
          </a:p>
        </p:txBody>
      </p:sp>
      <p:sp>
        <p:nvSpPr>
          <p:cNvPr id="61" name="Rectangle 60"/>
          <p:cNvSpPr/>
          <p:nvPr/>
        </p:nvSpPr>
        <p:spPr>
          <a:xfrm>
            <a:off x="7231637" y="3533273"/>
            <a:ext cx="579237" cy="360414"/>
          </a:xfrm>
          <a:prstGeom prst="rect">
            <a:avLst/>
          </a:prstGeom>
          <a:solidFill>
            <a:srgbClr val="FFFFFF"/>
          </a:solidFill>
          <a:ln w="6350">
            <a:solidFill>
              <a:srgbClr val="8C9198"/>
            </a:solidFill>
          </a:ln>
        </p:spPr>
        <p:txBody>
          <a:bodyPr rtlCol="0" anchor="ctr"/>
          <a:lstStyle/>
          <a:p>
            <a:pPr algn="ctr"/>
          </a:p>
        </p:txBody>
      </p:sp>
      <p:sp>
        <p:nvSpPr>
          <p:cNvPr id="62" name="TextBox 61"/>
          <p:cNvSpPr txBox="1"/>
          <p:nvPr/>
        </p:nvSpPr>
        <p:spPr>
          <a:xfrm>
            <a:off x="7231637" y="3533273"/>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63" name="Rectangle 62"/>
          <p:cNvSpPr/>
          <p:nvPr/>
        </p:nvSpPr>
        <p:spPr>
          <a:xfrm>
            <a:off x="7939594" y="3533273"/>
            <a:ext cx="772316" cy="360414"/>
          </a:xfrm>
          <a:prstGeom prst="rect">
            <a:avLst/>
          </a:prstGeom>
          <a:solidFill>
            <a:srgbClr val="FFFFFF"/>
          </a:solidFill>
          <a:ln w="6350">
            <a:solidFill>
              <a:srgbClr val="8C9198"/>
            </a:solidFill>
          </a:ln>
        </p:spPr>
        <p:txBody>
          <a:bodyPr rtlCol="0" anchor="ctr"/>
          <a:lstStyle/>
          <a:p>
            <a:pPr algn="ctr"/>
          </a:p>
        </p:txBody>
      </p:sp>
      <p:sp>
        <p:nvSpPr>
          <p:cNvPr id="64" name="TextBox 63"/>
          <p:cNvSpPr txBox="1"/>
          <p:nvPr/>
        </p:nvSpPr>
        <p:spPr>
          <a:xfrm>
            <a:off x="7939594" y="3533273"/>
            <a:ext cx="772316"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65" name="Rectangle 64"/>
          <p:cNvSpPr/>
          <p:nvPr/>
        </p:nvSpPr>
        <p:spPr>
          <a:xfrm>
            <a:off x="6652400" y="3507529"/>
            <a:ext cx="514877" cy="386158"/>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66" name="TextBox 65"/>
          <p:cNvSpPr txBox="1"/>
          <p:nvPr/>
        </p:nvSpPr>
        <p:spPr>
          <a:xfrm>
            <a:off x="6652400" y="3507529"/>
            <a:ext cx="514877" cy="386158"/>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No-go</a:t>
            </a:r>
          </a:p>
        </p:txBody>
      </p:sp>
      <p:cxnSp>
        <p:nvCxnSpPr>
          <p:cNvPr id="67" name="Connector 66"/>
          <p:cNvCxnSpPr/>
          <p:nvPr/>
        </p:nvCxnSpPr>
        <p:spPr>
          <a:xfrm>
            <a:off x="6813299" y="2413414"/>
            <a:ext cx="1802072" cy="0"/>
          </a:xfrm>
          <a:prstGeom prst="line">
            <a:avLst/>
          </a:prstGeom>
          <a:ln w="38100">
            <a:solidFill>
              <a:srgbClr val="E2571B"/>
            </a:solidFill>
            <a:prstDash val="dash"/>
          </a:ln>
        </p:spPr>
      </p:cxnSp>
      <p:sp>
        <p:nvSpPr>
          <p:cNvPr id="68" name="Rectangle 67"/>
          <p:cNvSpPr/>
          <p:nvPr/>
        </p:nvSpPr>
        <p:spPr>
          <a:xfrm>
            <a:off x="6661544" y="2229479"/>
            <a:ext cx="2105581" cy="593129"/>
          </a:xfrm>
          <a:prstGeom prst="rect">
            <a:avLst/>
          </a:prstGeom>
          <a:noFill/>
          <a:ln w="12700">
            <a:solidFill>
              <a:srgbClr val="E2571B"/>
            </a:solidFill>
            <a:prstDash val="dash"/>
          </a:ln>
        </p:spPr>
        <p:txBody>
          <a:bodyPr rtlCol="0" anchor="ctr"/>
          <a:lstStyle/>
          <a:p>
            <a:pPr algn="ctr"/>
          </a:p>
        </p:txBody>
      </p:sp>
      <p:sp>
        <p:nvSpPr>
          <p:cNvPr id="69" name="Rectangle 68"/>
          <p:cNvSpPr/>
          <p:nvPr/>
        </p:nvSpPr>
        <p:spPr>
          <a:xfrm>
            <a:off x="6703888" y="2297567"/>
            <a:ext cx="257438" cy="231694"/>
          </a:xfrm>
          <a:prstGeom prst="rect">
            <a:avLst/>
          </a:prstGeom>
          <a:solidFill>
            <a:srgbClr val="E2571B"/>
          </a:solidFill>
          <a:ln>
            <a:noFill/>
          </a:ln>
        </p:spPr>
        <p:txBody>
          <a:bodyPr rtlCol="0" anchor="ctr"/>
          <a:lstStyle/>
          <a:p>
            <a:pPr algn="ctr"/>
          </a:p>
        </p:txBody>
      </p:sp>
      <p:cxnSp>
        <p:nvCxnSpPr>
          <p:cNvPr id="70" name="Connector 69"/>
          <p:cNvCxnSpPr/>
          <p:nvPr/>
        </p:nvCxnSpPr>
        <p:spPr>
          <a:xfrm>
            <a:off x="6652400" y="2220335"/>
            <a:ext cx="2123870" cy="0"/>
          </a:xfrm>
          <a:prstGeom prst="line">
            <a:avLst/>
          </a:prstGeom>
          <a:ln w="38100">
            <a:solidFill>
              <a:srgbClr val="15171A"/>
            </a:solidFill>
          </a:ln>
        </p:spPr>
      </p:cxnSp>
      <p:cxnSp>
        <p:nvCxnSpPr>
          <p:cNvPr id="71" name="Connector 70"/>
          <p:cNvCxnSpPr/>
          <p:nvPr/>
        </p:nvCxnSpPr>
        <p:spPr>
          <a:xfrm>
            <a:off x="6652400" y="3893687"/>
            <a:ext cx="2123870" cy="0"/>
          </a:xfrm>
          <a:prstGeom prst="line">
            <a:avLst/>
          </a:prstGeom>
          <a:ln w="38100">
            <a:solidFill>
              <a:srgbClr val="15171A"/>
            </a:solidFill>
          </a:ln>
        </p:spPr>
      </p:cxnSp>
      <p:sp>
        <p:nvSpPr>
          <p:cNvPr id="72" name="TextBox 71"/>
          <p:cNvSpPr txBox="1"/>
          <p:nvPr/>
        </p:nvSpPr>
        <p:spPr>
          <a:xfrm>
            <a:off x="6652400" y="3911975"/>
            <a:ext cx="2123869"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3,300 × 2,600 mm (Kitchen 영역)</a:t>
            </a:r>
          </a:p>
        </p:txBody>
      </p:sp>
      <p:sp>
        <p:nvSpPr>
          <p:cNvPr id="73" name="TextBox 72"/>
          <p:cNvSpPr txBox="1"/>
          <p:nvPr/>
        </p:nvSpPr>
        <p:spPr>
          <a:xfrm>
            <a:off x="9250527" y="224776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B · 구축 84㎡ 11자</a:t>
            </a:r>
          </a:p>
        </p:txBody>
      </p:sp>
      <p:sp>
        <p:nvSpPr>
          <p:cNvPr id="74" name="TextBox 73"/>
          <p:cNvSpPr txBox="1"/>
          <p:nvPr/>
        </p:nvSpPr>
        <p:spPr>
          <a:xfrm>
            <a:off x="9250527" y="279640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Remodeling · Upper Cabinet Rail</a:t>
            </a:r>
          </a:p>
        </p:txBody>
      </p:sp>
      <p:sp>
        <p:nvSpPr>
          <p:cNvPr id="75" name="TextBox 74"/>
          <p:cNvSpPr txBox="1"/>
          <p:nvPr/>
        </p:nvSpPr>
        <p:spPr>
          <a:xfrm>
            <a:off x="9250527" y="329932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Sink 측 작업대 전체 Rail 커버, IH 측은 Human 우선</a:t>
            </a:r>
          </a:p>
        </p:txBody>
      </p:sp>
      <p:sp>
        <p:nvSpPr>
          <p:cNvPr id="76" name="Rectangle 75"/>
          <p:cNvSpPr/>
          <p:nvPr/>
        </p:nvSpPr>
        <p:spPr>
          <a:xfrm>
            <a:off x="685800" y="4305167"/>
            <a:ext cx="5272887" cy="2057400"/>
          </a:xfrm>
          <a:prstGeom prst="rect">
            <a:avLst/>
          </a:prstGeom>
          <a:noFill/>
          <a:ln w="9525">
            <a:solidFill>
              <a:srgbClr val="E2E4E7"/>
            </a:solidFill>
          </a:ln>
        </p:spPr>
        <p:txBody>
          <a:bodyPr rtlCol="0" anchor="ctr"/>
          <a:lstStyle/>
          <a:p>
            <a:pPr algn="ctr"/>
          </a:p>
        </p:txBody>
      </p:sp>
      <p:sp>
        <p:nvSpPr>
          <p:cNvPr id="77" name="Rectangle 76"/>
          <p:cNvSpPr/>
          <p:nvPr/>
        </p:nvSpPr>
        <p:spPr>
          <a:xfrm>
            <a:off x="1237488" y="4414895"/>
            <a:ext cx="1859280" cy="1673352"/>
          </a:xfrm>
          <a:prstGeom prst="rect">
            <a:avLst/>
          </a:prstGeom>
          <a:solidFill>
            <a:srgbClr val="FFFFFF"/>
          </a:solidFill>
          <a:ln w="6350">
            <a:solidFill>
              <a:srgbClr val="E2E4E7"/>
            </a:solidFill>
          </a:ln>
        </p:spPr>
        <p:txBody>
          <a:bodyPr rtlCol="0" anchor="ctr"/>
          <a:lstStyle/>
          <a:p>
            <a:pPr algn="ctr"/>
          </a:p>
        </p:txBody>
      </p:sp>
      <p:sp>
        <p:nvSpPr>
          <p:cNvPr id="78" name="Rectangle 77"/>
          <p:cNvSpPr/>
          <p:nvPr/>
        </p:nvSpPr>
        <p:spPr>
          <a:xfrm>
            <a:off x="1857248" y="4972679"/>
            <a:ext cx="867664" cy="1115568"/>
          </a:xfrm>
          <a:prstGeom prst="rect">
            <a:avLst/>
          </a:prstGeom>
          <a:solidFill>
            <a:srgbClr val="C9CDD2">
              <a:alpha val="45000"/>
            </a:srgbClr>
          </a:solidFill>
          <a:ln>
            <a:noFill/>
          </a:ln>
        </p:spPr>
        <p:txBody>
          <a:bodyPr rtlCol="0" anchor="ctr"/>
          <a:lstStyle/>
          <a:p>
            <a:pPr algn="ctr"/>
          </a:p>
        </p:txBody>
      </p:sp>
      <p:sp>
        <p:nvSpPr>
          <p:cNvPr id="79" name="Rectangle 78"/>
          <p:cNvSpPr/>
          <p:nvPr/>
        </p:nvSpPr>
        <p:spPr>
          <a:xfrm>
            <a:off x="1237488" y="4414895"/>
            <a:ext cx="1859280" cy="557784"/>
          </a:xfrm>
          <a:prstGeom prst="rect">
            <a:avLst/>
          </a:prstGeom>
          <a:solidFill>
            <a:srgbClr val="F6C9B3">
              <a:alpha val="55000"/>
            </a:srgbClr>
          </a:solidFill>
          <a:ln>
            <a:noFill/>
          </a:ln>
        </p:spPr>
        <p:txBody>
          <a:bodyPr rtlCol="0" anchor="ctr"/>
          <a:lstStyle/>
          <a:p>
            <a:pPr algn="ctr"/>
          </a:p>
        </p:txBody>
      </p:sp>
      <p:sp>
        <p:nvSpPr>
          <p:cNvPr id="80" name="Rectangle 79"/>
          <p:cNvSpPr/>
          <p:nvPr/>
        </p:nvSpPr>
        <p:spPr>
          <a:xfrm>
            <a:off x="1237488" y="4786751"/>
            <a:ext cx="619760" cy="557784"/>
          </a:xfrm>
          <a:prstGeom prst="rect">
            <a:avLst/>
          </a:prstGeom>
          <a:solidFill>
            <a:srgbClr val="F6C9B3">
              <a:alpha val="55000"/>
            </a:srgbClr>
          </a:solidFill>
          <a:ln>
            <a:noFill/>
          </a:ln>
        </p:spPr>
        <p:txBody>
          <a:bodyPr rtlCol="0" anchor="ctr"/>
          <a:lstStyle/>
          <a:p>
            <a:pPr algn="ctr"/>
          </a:p>
        </p:txBody>
      </p:sp>
      <p:sp>
        <p:nvSpPr>
          <p:cNvPr id="81" name="Rectangle 80"/>
          <p:cNvSpPr/>
          <p:nvPr/>
        </p:nvSpPr>
        <p:spPr>
          <a:xfrm>
            <a:off x="1237488" y="4414895"/>
            <a:ext cx="1859280" cy="371856"/>
          </a:xfrm>
          <a:prstGeom prst="rect">
            <a:avLst/>
          </a:prstGeom>
          <a:solidFill>
            <a:srgbClr val="E2E4E7">
              <a:alpha val="85000"/>
            </a:srgbClr>
          </a:solidFill>
          <a:ln>
            <a:noFill/>
          </a:ln>
        </p:spPr>
        <p:txBody>
          <a:bodyPr rtlCol="0" anchor="ctr"/>
          <a:lstStyle/>
          <a:p>
            <a:pPr algn="ctr"/>
          </a:p>
        </p:txBody>
      </p:sp>
      <p:sp>
        <p:nvSpPr>
          <p:cNvPr id="82" name="Rectangle 81"/>
          <p:cNvSpPr/>
          <p:nvPr/>
        </p:nvSpPr>
        <p:spPr>
          <a:xfrm>
            <a:off x="1237488" y="4786751"/>
            <a:ext cx="371856" cy="1115568"/>
          </a:xfrm>
          <a:prstGeom prst="rect">
            <a:avLst/>
          </a:prstGeom>
          <a:solidFill>
            <a:srgbClr val="E2E4E7">
              <a:alpha val="85000"/>
            </a:srgbClr>
          </a:solidFill>
          <a:ln>
            <a:noFill/>
          </a:ln>
        </p:spPr>
        <p:txBody>
          <a:bodyPr rtlCol="0" anchor="ctr"/>
          <a:lstStyle/>
          <a:p>
            <a:pPr algn="ctr"/>
          </a:p>
        </p:txBody>
      </p:sp>
      <p:sp>
        <p:nvSpPr>
          <p:cNvPr id="83" name="Rectangle 82"/>
          <p:cNvSpPr/>
          <p:nvPr/>
        </p:nvSpPr>
        <p:spPr>
          <a:xfrm>
            <a:off x="2724912" y="4786751"/>
            <a:ext cx="371856" cy="929640"/>
          </a:xfrm>
          <a:prstGeom prst="rect">
            <a:avLst/>
          </a:prstGeom>
          <a:solidFill>
            <a:srgbClr val="E2E4E7">
              <a:alpha val="85000"/>
            </a:srgbClr>
          </a:solidFill>
          <a:ln>
            <a:noFill/>
          </a:ln>
        </p:spPr>
        <p:txBody>
          <a:bodyPr rtlCol="0" anchor="ctr"/>
          <a:lstStyle/>
          <a:p>
            <a:pPr algn="ctr"/>
          </a:p>
        </p:txBody>
      </p:sp>
      <p:sp>
        <p:nvSpPr>
          <p:cNvPr id="84" name="Rectangle 83"/>
          <p:cNvSpPr/>
          <p:nvPr/>
        </p:nvSpPr>
        <p:spPr>
          <a:xfrm>
            <a:off x="1237488" y="4414895"/>
            <a:ext cx="371856" cy="371856"/>
          </a:xfrm>
          <a:prstGeom prst="rect">
            <a:avLst/>
          </a:prstGeom>
          <a:solidFill>
            <a:srgbClr val="B9BEC5"/>
          </a:solidFill>
          <a:ln w="6350">
            <a:solidFill>
              <a:srgbClr val="8C9198"/>
            </a:solidFill>
          </a:ln>
        </p:spPr>
        <p:txBody>
          <a:bodyPr rtlCol="0" anchor="ctr"/>
          <a:lstStyle/>
          <a:p>
            <a:pPr algn="ctr"/>
          </a:p>
        </p:txBody>
      </p:sp>
      <p:sp>
        <p:nvSpPr>
          <p:cNvPr id="85" name="TextBox 84"/>
          <p:cNvSpPr txBox="1"/>
          <p:nvPr/>
        </p:nvSpPr>
        <p:spPr>
          <a:xfrm>
            <a:off x="1237488" y="4414895"/>
            <a:ext cx="371856" cy="371856"/>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Dock</a:t>
            </a:r>
          </a:p>
        </p:txBody>
      </p:sp>
      <p:sp>
        <p:nvSpPr>
          <p:cNvPr id="86" name="Rectangle 85"/>
          <p:cNvSpPr/>
          <p:nvPr/>
        </p:nvSpPr>
        <p:spPr>
          <a:xfrm>
            <a:off x="1857248" y="4414895"/>
            <a:ext cx="557784" cy="347065"/>
          </a:xfrm>
          <a:prstGeom prst="rect">
            <a:avLst/>
          </a:prstGeom>
          <a:solidFill>
            <a:srgbClr val="FFFFFF"/>
          </a:solidFill>
          <a:ln w="6350">
            <a:solidFill>
              <a:srgbClr val="8C9198"/>
            </a:solidFill>
          </a:ln>
        </p:spPr>
        <p:txBody>
          <a:bodyPr rtlCol="0" anchor="ctr"/>
          <a:lstStyle/>
          <a:p>
            <a:pPr algn="ctr"/>
          </a:p>
        </p:txBody>
      </p:sp>
      <p:sp>
        <p:nvSpPr>
          <p:cNvPr id="87" name="TextBox 86"/>
          <p:cNvSpPr txBox="1"/>
          <p:nvPr/>
        </p:nvSpPr>
        <p:spPr>
          <a:xfrm>
            <a:off x="1857248" y="4414895"/>
            <a:ext cx="557784" cy="347065"/>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88" name="Rectangle 87"/>
          <p:cNvSpPr/>
          <p:nvPr/>
        </p:nvSpPr>
        <p:spPr>
          <a:xfrm>
            <a:off x="2724912" y="4414895"/>
            <a:ext cx="371856" cy="371856"/>
          </a:xfrm>
          <a:prstGeom prst="rect">
            <a:avLst/>
          </a:prstGeom>
          <a:solidFill>
            <a:srgbClr val="B9BEC5"/>
          </a:solidFill>
          <a:ln w="6350">
            <a:solidFill>
              <a:srgbClr val="8C9198"/>
            </a:solidFill>
          </a:ln>
        </p:spPr>
        <p:txBody>
          <a:bodyPr rtlCol="0" anchor="ctr"/>
          <a:lstStyle/>
          <a:p>
            <a:pPr algn="ctr"/>
          </a:p>
        </p:txBody>
      </p:sp>
      <p:sp>
        <p:nvSpPr>
          <p:cNvPr id="89" name="TextBox 88"/>
          <p:cNvSpPr txBox="1"/>
          <p:nvPr/>
        </p:nvSpPr>
        <p:spPr>
          <a:xfrm>
            <a:off x="2724912" y="4414895"/>
            <a:ext cx="371856" cy="371856"/>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90" name="Rectangle 89"/>
          <p:cNvSpPr/>
          <p:nvPr/>
        </p:nvSpPr>
        <p:spPr>
          <a:xfrm>
            <a:off x="1262278" y="5034655"/>
            <a:ext cx="347065" cy="433832"/>
          </a:xfrm>
          <a:prstGeom prst="rect">
            <a:avLst/>
          </a:prstGeom>
          <a:solidFill>
            <a:srgbClr val="FFFFFF"/>
          </a:solidFill>
          <a:ln w="6350">
            <a:solidFill>
              <a:srgbClr val="8C9198"/>
            </a:solidFill>
          </a:ln>
        </p:spPr>
        <p:txBody>
          <a:bodyPr rtlCol="0" anchor="ctr"/>
          <a:lstStyle/>
          <a:p>
            <a:pPr algn="ctr"/>
          </a:p>
        </p:txBody>
      </p:sp>
      <p:sp>
        <p:nvSpPr>
          <p:cNvPr id="91" name="TextBox 90"/>
          <p:cNvSpPr txBox="1"/>
          <p:nvPr/>
        </p:nvSpPr>
        <p:spPr>
          <a:xfrm>
            <a:off x="1262278" y="5034655"/>
            <a:ext cx="347065" cy="433832"/>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92" name="Rectangle 91"/>
          <p:cNvSpPr/>
          <p:nvPr/>
        </p:nvSpPr>
        <p:spPr>
          <a:xfrm>
            <a:off x="2749702" y="4972679"/>
            <a:ext cx="347065" cy="557784"/>
          </a:xfrm>
          <a:prstGeom prst="rect">
            <a:avLst/>
          </a:prstGeom>
          <a:solidFill>
            <a:srgbClr val="FFFFFF"/>
          </a:solidFill>
          <a:ln w="6350">
            <a:solidFill>
              <a:srgbClr val="8C9198"/>
            </a:solidFill>
          </a:ln>
        </p:spPr>
        <p:txBody>
          <a:bodyPr rtlCol="0" anchor="ctr"/>
          <a:lstStyle/>
          <a:p>
            <a:pPr algn="ctr"/>
          </a:p>
        </p:txBody>
      </p:sp>
      <p:sp>
        <p:nvSpPr>
          <p:cNvPr id="93" name="TextBox 92"/>
          <p:cNvSpPr txBox="1"/>
          <p:nvPr/>
        </p:nvSpPr>
        <p:spPr>
          <a:xfrm>
            <a:off x="2749702" y="4972679"/>
            <a:ext cx="347065" cy="55778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94" name="Rectangle 93"/>
          <p:cNvSpPr/>
          <p:nvPr/>
        </p:nvSpPr>
        <p:spPr>
          <a:xfrm>
            <a:off x="1237488" y="5902319"/>
            <a:ext cx="557784" cy="185928"/>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95" name="TextBox 94"/>
          <p:cNvSpPr txBox="1"/>
          <p:nvPr/>
        </p:nvSpPr>
        <p:spPr>
          <a:xfrm>
            <a:off x="1237488" y="5902319"/>
            <a:ext cx="557784" cy="185928"/>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No-go</a:t>
            </a:r>
          </a:p>
        </p:txBody>
      </p:sp>
      <p:sp>
        <p:nvSpPr>
          <p:cNvPr id="96" name="Rectangle 95"/>
          <p:cNvSpPr/>
          <p:nvPr/>
        </p:nvSpPr>
        <p:spPr>
          <a:xfrm>
            <a:off x="2724912" y="5716391"/>
            <a:ext cx="371856" cy="371856"/>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97" name="TextBox 96"/>
          <p:cNvSpPr txBox="1"/>
          <p:nvPr/>
        </p:nvSpPr>
        <p:spPr>
          <a:xfrm>
            <a:off x="2724912" y="5716391"/>
            <a:ext cx="371856" cy="371856"/>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No-go</a:t>
            </a:r>
          </a:p>
        </p:txBody>
      </p:sp>
      <p:cxnSp>
        <p:nvCxnSpPr>
          <p:cNvPr id="98" name="Connector 97"/>
          <p:cNvCxnSpPr/>
          <p:nvPr/>
        </p:nvCxnSpPr>
        <p:spPr>
          <a:xfrm>
            <a:off x="1609344" y="4600823"/>
            <a:ext cx="1053592" cy="0"/>
          </a:xfrm>
          <a:prstGeom prst="line">
            <a:avLst/>
          </a:prstGeom>
          <a:ln w="38100">
            <a:solidFill>
              <a:srgbClr val="E2571B"/>
            </a:solidFill>
            <a:prstDash val="dash"/>
          </a:ln>
        </p:spPr>
      </p:cxnSp>
      <p:sp>
        <p:nvSpPr>
          <p:cNvPr id="99" name="Rectangle 98"/>
          <p:cNvSpPr/>
          <p:nvPr/>
        </p:nvSpPr>
        <p:spPr>
          <a:xfrm>
            <a:off x="1246632" y="4424039"/>
            <a:ext cx="1840991" cy="539496"/>
          </a:xfrm>
          <a:prstGeom prst="rect">
            <a:avLst/>
          </a:prstGeom>
          <a:noFill/>
          <a:ln w="12700">
            <a:solidFill>
              <a:srgbClr val="E2571B"/>
            </a:solidFill>
            <a:prstDash val="dash"/>
          </a:ln>
        </p:spPr>
        <p:txBody>
          <a:bodyPr rtlCol="0" anchor="ctr"/>
          <a:lstStyle/>
          <a:p>
            <a:pPr algn="ctr"/>
          </a:p>
        </p:txBody>
      </p:sp>
      <p:sp>
        <p:nvSpPr>
          <p:cNvPr id="100" name="Rectangle 99"/>
          <p:cNvSpPr/>
          <p:nvPr/>
        </p:nvSpPr>
        <p:spPr>
          <a:xfrm>
            <a:off x="1246632" y="4795895"/>
            <a:ext cx="601472" cy="539496"/>
          </a:xfrm>
          <a:prstGeom prst="rect">
            <a:avLst/>
          </a:prstGeom>
          <a:noFill/>
          <a:ln w="12700">
            <a:solidFill>
              <a:srgbClr val="E2571B"/>
            </a:solidFill>
            <a:prstDash val="dash"/>
          </a:ln>
        </p:spPr>
        <p:txBody>
          <a:bodyPr rtlCol="0" anchor="ctr"/>
          <a:lstStyle/>
          <a:p>
            <a:pPr algn="ctr"/>
          </a:p>
        </p:txBody>
      </p:sp>
      <p:sp>
        <p:nvSpPr>
          <p:cNvPr id="101" name="Rectangle 100"/>
          <p:cNvSpPr/>
          <p:nvPr/>
        </p:nvSpPr>
        <p:spPr>
          <a:xfrm>
            <a:off x="1299464" y="4489267"/>
            <a:ext cx="247904" cy="223113"/>
          </a:xfrm>
          <a:prstGeom prst="rect">
            <a:avLst/>
          </a:prstGeom>
          <a:solidFill>
            <a:srgbClr val="E2571B"/>
          </a:solidFill>
          <a:ln>
            <a:noFill/>
          </a:ln>
        </p:spPr>
        <p:txBody>
          <a:bodyPr rtlCol="0" anchor="ctr"/>
          <a:lstStyle/>
          <a:p>
            <a:pPr algn="ctr"/>
          </a:p>
        </p:txBody>
      </p:sp>
      <p:cxnSp>
        <p:nvCxnSpPr>
          <p:cNvPr id="102" name="Connector 101"/>
          <p:cNvCxnSpPr/>
          <p:nvPr/>
        </p:nvCxnSpPr>
        <p:spPr>
          <a:xfrm>
            <a:off x="1237488" y="4414895"/>
            <a:ext cx="1859280" cy="0"/>
          </a:xfrm>
          <a:prstGeom prst="line">
            <a:avLst/>
          </a:prstGeom>
          <a:ln w="38100">
            <a:solidFill>
              <a:srgbClr val="15171A"/>
            </a:solidFill>
          </a:ln>
        </p:spPr>
      </p:cxnSp>
      <p:cxnSp>
        <p:nvCxnSpPr>
          <p:cNvPr id="103" name="Connector 102"/>
          <p:cNvCxnSpPr/>
          <p:nvPr/>
        </p:nvCxnSpPr>
        <p:spPr>
          <a:xfrm>
            <a:off x="1237488" y="4414895"/>
            <a:ext cx="0" cy="1673352"/>
          </a:xfrm>
          <a:prstGeom prst="line">
            <a:avLst/>
          </a:prstGeom>
          <a:ln w="38100">
            <a:solidFill>
              <a:srgbClr val="15171A"/>
            </a:solidFill>
          </a:ln>
        </p:spPr>
      </p:cxnSp>
      <p:cxnSp>
        <p:nvCxnSpPr>
          <p:cNvPr id="104" name="Connector 103"/>
          <p:cNvCxnSpPr/>
          <p:nvPr/>
        </p:nvCxnSpPr>
        <p:spPr>
          <a:xfrm>
            <a:off x="3096768" y="4414895"/>
            <a:ext cx="0" cy="1673352"/>
          </a:xfrm>
          <a:prstGeom prst="line">
            <a:avLst/>
          </a:prstGeom>
          <a:ln w="38100">
            <a:solidFill>
              <a:srgbClr val="15171A"/>
            </a:solidFill>
          </a:ln>
        </p:spPr>
      </p:cxnSp>
      <p:sp>
        <p:nvSpPr>
          <p:cNvPr id="105" name="TextBox 104"/>
          <p:cNvSpPr txBox="1"/>
          <p:nvPr/>
        </p:nvSpPr>
        <p:spPr>
          <a:xfrm>
            <a:off x="1237488" y="6106535"/>
            <a:ext cx="1859280"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3,000 × 2,700 mm (Kitchen 영역)</a:t>
            </a:r>
          </a:p>
        </p:txBody>
      </p:sp>
      <p:sp>
        <p:nvSpPr>
          <p:cNvPr id="106" name="TextBox 105"/>
          <p:cNvSpPr txBox="1"/>
          <p:nvPr/>
        </p:nvSpPr>
        <p:spPr>
          <a:xfrm>
            <a:off x="3703320" y="444232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C · 신축 84㎡ ㄷ자</a:t>
            </a:r>
          </a:p>
        </p:txBody>
      </p:sp>
      <p:sp>
        <p:nvSpPr>
          <p:cNvPr id="107" name="TextBox 106"/>
          <p:cNvSpPr txBox="1"/>
          <p:nvPr/>
        </p:nvSpPr>
        <p:spPr>
          <a:xfrm>
            <a:off x="3703320" y="499096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Robot-ready Design · Corner Dock + Partial Rail</a:t>
            </a:r>
          </a:p>
        </p:txBody>
      </p:sp>
      <p:sp>
        <p:nvSpPr>
          <p:cNvPr id="108" name="TextBox 107"/>
          <p:cNvSpPr txBox="1"/>
          <p:nvPr/>
        </p:nvSpPr>
        <p:spPr>
          <a:xfrm>
            <a:off x="3703320" y="549388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코너 Dock 중심 Reach, 출입부 No-go</a:t>
            </a:r>
          </a:p>
        </p:txBody>
      </p:sp>
      <p:sp>
        <p:nvSpPr>
          <p:cNvPr id="109" name="Rectangle 108"/>
          <p:cNvSpPr/>
          <p:nvPr/>
        </p:nvSpPr>
        <p:spPr>
          <a:xfrm>
            <a:off x="6233007" y="4305167"/>
            <a:ext cx="5272887" cy="2057400"/>
          </a:xfrm>
          <a:prstGeom prst="rect">
            <a:avLst/>
          </a:prstGeom>
          <a:noFill/>
          <a:ln w="9525">
            <a:solidFill>
              <a:srgbClr val="E2E4E7"/>
            </a:solidFill>
          </a:ln>
        </p:spPr>
        <p:txBody>
          <a:bodyPr rtlCol="0" anchor="ctr"/>
          <a:lstStyle/>
          <a:p>
            <a:pPr algn="ctr"/>
          </a:p>
        </p:txBody>
      </p:sp>
      <p:sp>
        <p:nvSpPr>
          <p:cNvPr id="110" name="Rectangle 109"/>
          <p:cNvSpPr/>
          <p:nvPr/>
        </p:nvSpPr>
        <p:spPr>
          <a:xfrm>
            <a:off x="6542989" y="4414895"/>
            <a:ext cx="2342692" cy="1673351"/>
          </a:xfrm>
          <a:prstGeom prst="rect">
            <a:avLst/>
          </a:prstGeom>
          <a:solidFill>
            <a:srgbClr val="FFFFFF"/>
          </a:solidFill>
          <a:ln w="6350">
            <a:solidFill>
              <a:srgbClr val="E2E4E7"/>
            </a:solidFill>
          </a:ln>
        </p:spPr>
        <p:txBody>
          <a:bodyPr rtlCol="0" anchor="ctr"/>
          <a:lstStyle/>
          <a:p>
            <a:pPr algn="ctr"/>
          </a:p>
        </p:txBody>
      </p:sp>
      <p:sp>
        <p:nvSpPr>
          <p:cNvPr id="111" name="Rectangle 110"/>
          <p:cNvSpPr/>
          <p:nvPr/>
        </p:nvSpPr>
        <p:spPr>
          <a:xfrm>
            <a:off x="6542989" y="4944790"/>
            <a:ext cx="2342692" cy="362559"/>
          </a:xfrm>
          <a:prstGeom prst="rect">
            <a:avLst/>
          </a:prstGeom>
          <a:solidFill>
            <a:srgbClr val="C9CDD2">
              <a:alpha val="45000"/>
            </a:srgbClr>
          </a:solidFill>
          <a:ln>
            <a:noFill/>
          </a:ln>
        </p:spPr>
        <p:txBody>
          <a:bodyPr rtlCol="0" anchor="ctr"/>
          <a:lstStyle/>
          <a:p>
            <a:pPr algn="ctr"/>
          </a:p>
        </p:txBody>
      </p:sp>
      <p:sp>
        <p:nvSpPr>
          <p:cNvPr id="112" name="Rectangle 111"/>
          <p:cNvSpPr/>
          <p:nvPr/>
        </p:nvSpPr>
        <p:spPr>
          <a:xfrm>
            <a:off x="6542989" y="4414895"/>
            <a:ext cx="2342692" cy="529894"/>
          </a:xfrm>
          <a:prstGeom prst="rect">
            <a:avLst/>
          </a:prstGeom>
          <a:solidFill>
            <a:srgbClr val="F6C9B3">
              <a:alpha val="55000"/>
            </a:srgbClr>
          </a:solidFill>
          <a:ln>
            <a:noFill/>
          </a:ln>
        </p:spPr>
        <p:txBody>
          <a:bodyPr rtlCol="0" anchor="ctr"/>
          <a:lstStyle/>
          <a:p>
            <a:pPr algn="ctr"/>
          </a:p>
        </p:txBody>
      </p:sp>
      <p:sp>
        <p:nvSpPr>
          <p:cNvPr id="113" name="Rectangle 112"/>
          <p:cNvSpPr/>
          <p:nvPr/>
        </p:nvSpPr>
        <p:spPr>
          <a:xfrm>
            <a:off x="6542989" y="4414895"/>
            <a:ext cx="2342692" cy="334670"/>
          </a:xfrm>
          <a:prstGeom prst="rect">
            <a:avLst/>
          </a:prstGeom>
          <a:solidFill>
            <a:srgbClr val="E2E4E7">
              <a:alpha val="85000"/>
            </a:srgbClr>
          </a:solidFill>
          <a:ln>
            <a:noFill/>
          </a:ln>
        </p:spPr>
        <p:txBody>
          <a:bodyPr rtlCol="0" anchor="ctr"/>
          <a:lstStyle/>
          <a:p>
            <a:pPr algn="ctr"/>
          </a:p>
        </p:txBody>
      </p:sp>
      <p:sp>
        <p:nvSpPr>
          <p:cNvPr id="114" name="Rectangle 113"/>
          <p:cNvSpPr/>
          <p:nvPr/>
        </p:nvSpPr>
        <p:spPr>
          <a:xfrm>
            <a:off x="7044994" y="5307350"/>
            <a:ext cx="1338681" cy="502005"/>
          </a:xfrm>
          <a:prstGeom prst="rect">
            <a:avLst/>
          </a:prstGeom>
          <a:solidFill>
            <a:srgbClr val="E2E4E7">
              <a:alpha val="85000"/>
            </a:srgbClr>
          </a:solidFill>
          <a:ln>
            <a:noFill/>
          </a:ln>
        </p:spPr>
        <p:txBody>
          <a:bodyPr rtlCol="0" anchor="ctr"/>
          <a:lstStyle/>
          <a:p>
            <a:pPr algn="ctr"/>
          </a:p>
        </p:txBody>
      </p:sp>
      <p:sp>
        <p:nvSpPr>
          <p:cNvPr id="115" name="Rectangle 114"/>
          <p:cNvSpPr/>
          <p:nvPr/>
        </p:nvSpPr>
        <p:spPr>
          <a:xfrm>
            <a:off x="6933438" y="4414895"/>
            <a:ext cx="502005" cy="312359"/>
          </a:xfrm>
          <a:prstGeom prst="rect">
            <a:avLst/>
          </a:prstGeom>
          <a:solidFill>
            <a:srgbClr val="FFFFFF"/>
          </a:solidFill>
          <a:ln w="6350">
            <a:solidFill>
              <a:srgbClr val="8C9198"/>
            </a:solidFill>
          </a:ln>
        </p:spPr>
        <p:txBody>
          <a:bodyPr rtlCol="0" anchor="ctr"/>
          <a:lstStyle/>
          <a:p>
            <a:pPr algn="ctr"/>
          </a:p>
        </p:txBody>
      </p:sp>
      <p:sp>
        <p:nvSpPr>
          <p:cNvPr id="116" name="TextBox 115"/>
          <p:cNvSpPr txBox="1"/>
          <p:nvPr/>
        </p:nvSpPr>
        <p:spPr>
          <a:xfrm>
            <a:off x="6933438" y="4414895"/>
            <a:ext cx="502005" cy="312359"/>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117" name="Rectangle 116"/>
          <p:cNvSpPr/>
          <p:nvPr/>
        </p:nvSpPr>
        <p:spPr>
          <a:xfrm>
            <a:off x="7491221" y="4414895"/>
            <a:ext cx="669340" cy="312359"/>
          </a:xfrm>
          <a:prstGeom prst="rect">
            <a:avLst/>
          </a:prstGeom>
          <a:solidFill>
            <a:srgbClr val="E2E4E7"/>
          </a:solidFill>
          <a:ln w="6350">
            <a:solidFill>
              <a:srgbClr val="8C9198"/>
            </a:solidFill>
          </a:ln>
        </p:spPr>
        <p:txBody>
          <a:bodyPr rtlCol="0" anchor="ctr"/>
          <a:lstStyle/>
          <a:p>
            <a:pPr algn="ctr"/>
          </a:p>
        </p:txBody>
      </p:sp>
      <p:sp>
        <p:nvSpPr>
          <p:cNvPr id="118" name="TextBox 117"/>
          <p:cNvSpPr txBox="1"/>
          <p:nvPr/>
        </p:nvSpPr>
        <p:spPr>
          <a:xfrm>
            <a:off x="7491221" y="4414895"/>
            <a:ext cx="669340" cy="312359"/>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Counter</a:t>
            </a:r>
          </a:p>
        </p:txBody>
      </p:sp>
      <p:sp>
        <p:nvSpPr>
          <p:cNvPr id="119" name="Rectangle 118"/>
          <p:cNvSpPr/>
          <p:nvPr/>
        </p:nvSpPr>
        <p:spPr>
          <a:xfrm>
            <a:off x="8216341" y="4414895"/>
            <a:ext cx="334670" cy="334670"/>
          </a:xfrm>
          <a:prstGeom prst="rect">
            <a:avLst/>
          </a:prstGeom>
          <a:solidFill>
            <a:srgbClr val="B9BEC5"/>
          </a:solidFill>
          <a:ln w="6350">
            <a:solidFill>
              <a:srgbClr val="8C9198"/>
            </a:solidFill>
          </a:ln>
        </p:spPr>
        <p:txBody>
          <a:bodyPr rtlCol="0" anchor="ctr"/>
          <a:lstStyle/>
          <a:p>
            <a:pPr algn="ctr"/>
          </a:p>
        </p:txBody>
      </p:sp>
      <p:sp>
        <p:nvSpPr>
          <p:cNvPr id="120" name="TextBox 119"/>
          <p:cNvSpPr txBox="1"/>
          <p:nvPr/>
        </p:nvSpPr>
        <p:spPr>
          <a:xfrm>
            <a:off x="8216341"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121" name="Rectangle 120"/>
          <p:cNvSpPr/>
          <p:nvPr/>
        </p:nvSpPr>
        <p:spPr>
          <a:xfrm>
            <a:off x="8551011" y="4414895"/>
            <a:ext cx="334670" cy="334670"/>
          </a:xfrm>
          <a:prstGeom prst="rect">
            <a:avLst/>
          </a:prstGeom>
          <a:solidFill>
            <a:srgbClr val="B9BEC5"/>
          </a:solidFill>
          <a:ln w="6350">
            <a:solidFill>
              <a:srgbClr val="8C9198"/>
            </a:solidFill>
          </a:ln>
        </p:spPr>
        <p:txBody>
          <a:bodyPr rtlCol="0" anchor="ctr"/>
          <a:lstStyle/>
          <a:p>
            <a:pPr algn="ctr"/>
          </a:p>
        </p:txBody>
      </p:sp>
      <p:sp>
        <p:nvSpPr>
          <p:cNvPr id="122" name="TextBox 121"/>
          <p:cNvSpPr txBox="1"/>
          <p:nvPr/>
        </p:nvSpPr>
        <p:spPr>
          <a:xfrm>
            <a:off x="8551011"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Dock</a:t>
            </a:r>
          </a:p>
        </p:txBody>
      </p:sp>
      <p:sp>
        <p:nvSpPr>
          <p:cNvPr id="123" name="Rectangle 122"/>
          <p:cNvSpPr/>
          <p:nvPr/>
        </p:nvSpPr>
        <p:spPr>
          <a:xfrm>
            <a:off x="6542989" y="4414895"/>
            <a:ext cx="334670" cy="334670"/>
          </a:xfrm>
          <a:prstGeom prst="rect">
            <a:avLst/>
          </a:prstGeom>
          <a:solidFill>
            <a:srgbClr val="FFFFFF"/>
          </a:solidFill>
          <a:ln w="6350">
            <a:solidFill>
              <a:srgbClr val="8C9198"/>
            </a:solidFill>
          </a:ln>
        </p:spPr>
        <p:txBody>
          <a:bodyPr rtlCol="0" anchor="ctr"/>
          <a:lstStyle/>
          <a:p>
            <a:pPr algn="ctr"/>
          </a:p>
        </p:txBody>
      </p:sp>
      <p:sp>
        <p:nvSpPr>
          <p:cNvPr id="124" name="TextBox 123"/>
          <p:cNvSpPr txBox="1"/>
          <p:nvPr/>
        </p:nvSpPr>
        <p:spPr>
          <a:xfrm>
            <a:off x="6542989"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125" name="Rectangle 124"/>
          <p:cNvSpPr/>
          <p:nvPr/>
        </p:nvSpPr>
        <p:spPr>
          <a:xfrm>
            <a:off x="7379665" y="5363128"/>
            <a:ext cx="669340" cy="390448"/>
          </a:xfrm>
          <a:prstGeom prst="rect">
            <a:avLst/>
          </a:prstGeom>
          <a:solidFill>
            <a:srgbClr val="FFFFFF"/>
          </a:solidFill>
          <a:ln w="6350">
            <a:solidFill>
              <a:srgbClr val="8C9198"/>
            </a:solidFill>
          </a:ln>
        </p:spPr>
        <p:txBody>
          <a:bodyPr rtlCol="0" anchor="ctr"/>
          <a:lstStyle/>
          <a:p>
            <a:pPr algn="ctr"/>
          </a:p>
        </p:txBody>
      </p:sp>
      <p:sp>
        <p:nvSpPr>
          <p:cNvPr id="126" name="TextBox 125"/>
          <p:cNvSpPr txBox="1"/>
          <p:nvPr/>
        </p:nvSpPr>
        <p:spPr>
          <a:xfrm>
            <a:off x="7379665" y="5363128"/>
            <a:ext cx="669340" cy="39044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Island IH</a:t>
            </a:r>
          </a:p>
        </p:txBody>
      </p:sp>
      <p:sp>
        <p:nvSpPr>
          <p:cNvPr id="127" name="Rectangle 126"/>
          <p:cNvSpPr/>
          <p:nvPr/>
        </p:nvSpPr>
        <p:spPr>
          <a:xfrm>
            <a:off x="7044994" y="5307350"/>
            <a:ext cx="1338681" cy="502005"/>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128" name="TextBox 127"/>
          <p:cNvSpPr txBox="1"/>
          <p:nvPr/>
        </p:nvSpPr>
        <p:spPr>
          <a:xfrm>
            <a:off x="7044994" y="5307350"/>
            <a:ext cx="1338681" cy="502005"/>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Island No-go</a:t>
            </a:r>
          </a:p>
        </p:txBody>
      </p:sp>
      <p:sp>
        <p:nvSpPr>
          <p:cNvPr id="129" name="Rectangle 128"/>
          <p:cNvSpPr/>
          <p:nvPr/>
        </p:nvSpPr>
        <p:spPr>
          <a:xfrm>
            <a:off x="8495233" y="5809355"/>
            <a:ext cx="390448" cy="278892"/>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130" name="TextBox 129"/>
          <p:cNvSpPr txBox="1"/>
          <p:nvPr/>
        </p:nvSpPr>
        <p:spPr>
          <a:xfrm>
            <a:off x="8495233" y="5809355"/>
            <a:ext cx="390448" cy="278892"/>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Dining</a:t>
            </a:r>
          </a:p>
        </p:txBody>
      </p:sp>
      <p:cxnSp>
        <p:nvCxnSpPr>
          <p:cNvPr id="131" name="Connector 130"/>
          <p:cNvCxnSpPr/>
          <p:nvPr/>
        </p:nvCxnSpPr>
        <p:spPr>
          <a:xfrm>
            <a:off x="6710324" y="4582231"/>
            <a:ext cx="1896466" cy="0"/>
          </a:xfrm>
          <a:prstGeom prst="line">
            <a:avLst/>
          </a:prstGeom>
          <a:ln w="38100">
            <a:solidFill>
              <a:srgbClr val="E2571B"/>
            </a:solidFill>
            <a:prstDash val="dash"/>
          </a:ln>
        </p:spPr>
      </p:cxnSp>
      <p:sp>
        <p:nvSpPr>
          <p:cNvPr id="132" name="Rectangle 131"/>
          <p:cNvSpPr/>
          <p:nvPr/>
        </p:nvSpPr>
        <p:spPr>
          <a:xfrm>
            <a:off x="6552133" y="4424039"/>
            <a:ext cx="2324404" cy="511606"/>
          </a:xfrm>
          <a:prstGeom prst="rect">
            <a:avLst/>
          </a:prstGeom>
          <a:noFill/>
          <a:ln w="12700">
            <a:solidFill>
              <a:srgbClr val="E2571B"/>
            </a:solidFill>
            <a:prstDash val="dash"/>
          </a:ln>
        </p:spPr>
        <p:txBody>
          <a:bodyPr rtlCol="0" anchor="ctr"/>
          <a:lstStyle/>
          <a:p>
            <a:pPr algn="ctr"/>
          </a:p>
        </p:txBody>
      </p:sp>
      <p:sp>
        <p:nvSpPr>
          <p:cNvPr id="133" name="Rectangle 132"/>
          <p:cNvSpPr/>
          <p:nvPr/>
        </p:nvSpPr>
        <p:spPr>
          <a:xfrm>
            <a:off x="8606790" y="4481830"/>
            <a:ext cx="223113" cy="200802"/>
          </a:xfrm>
          <a:prstGeom prst="rect">
            <a:avLst/>
          </a:prstGeom>
          <a:solidFill>
            <a:srgbClr val="E2571B"/>
          </a:solidFill>
          <a:ln>
            <a:noFill/>
          </a:ln>
        </p:spPr>
        <p:txBody>
          <a:bodyPr rtlCol="0" anchor="ctr"/>
          <a:lstStyle/>
          <a:p>
            <a:pPr algn="ctr"/>
          </a:p>
        </p:txBody>
      </p:sp>
      <p:cxnSp>
        <p:nvCxnSpPr>
          <p:cNvPr id="134" name="Connector 133"/>
          <p:cNvCxnSpPr/>
          <p:nvPr/>
        </p:nvCxnSpPr>
        <p:spPr>
          <a:xfrm>
            <a:off x="6542989" y="4414895"/>
            <a:ext cx="2342693" cy="0"/>
          </a:xfrm>
          <a:prstGeom prst="line">
            <a:avLst/>
          </a:prstGeom>
          <a:ln w="38100">
            <a:solidFill>
              <a:srgbClr val="15171A"/>
            </a:solidFill>
          </a:ln>
        </p:spPr>
      </p:cxnSp>
      <p:sp>
        <p:nvSpPr>
          <p:cNvPr id="135" name="TextBox 134"/>
          <p:cNvSpPr txBox="1"/>
          <p:nvPr/>
        </p:nvSpPr>
        <p:spPr>
          <a:xfrm>
            <a:off x="6542989" y="6106535"/>
            <a:ext cx="2342692"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4,200 × 3,000 mm (Kitchen 영역)</a:t>
            </a:r>
          </a:p>
        </p:txBody>
      </p:sp>
      <p:sp>
        <p:nvSpPr>
          <p:cNvPr id="136" name="TextBox 135"/>
          <p:cNvSpPr txBox="1"/>
          <p:nvPr/>
        </p:nvSpPr>
        <p:spPr>
          <a:xfrm>
            <a:off x="9250527" y="444232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D · 신축 4Bay Island</a:t>
            </a:r>
          </a:p>
        </p:txBody>
      </p:sp>
      <p:sp>
        <p:nvSpPr>
          <p:cNvPr id="137" name="TextBox 136"/>
          <p:cNvSpPr txBox="1"/>
          <p:nvPr/>
        </p:nvSpPr>
        <p:spPr>
          <a:xfrm>
            <a:off x="9250527" y="499096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Built-in Rail + Dock</a:t>
            </a:r>
          </a:p>
        </p:txBody>
      </p:sp>
      <p:sp>
        <p:nvSpPr>
          <p:cNvPr id="138" name="TextBox 137"/>
          <p:cNvSpPr txBox="1"/>
          <p:nvPr/>
        </p:nvSpPr>
        <p:spPr>
          <a:xfrm>
            <a:off x="9250527" y="549388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벽면 Run만 Robot Zone, Island는 Human 전용</a:t>
            </a:r>
          </a:p>
        </p:txBody>
      </p:sp>
      <p:sp>
        <p:nvSpPr>
          <p:cNvPr id="139" name="TextBox 13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40" name="TextBox 139"/>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DW = 식기세척기 (키큰장 상향 배치) · IH = 인덕션 · Rail = 상부장 하단 (머리 위, 점선)</a:t>
            </a:r>
          </a:p>
        </p:txBody>
      </p:sp>
      <p:sp>
        <p:nvSpPr>
          <p:cNvPr id="141" name="TextBox 14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10  Standardization</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Customization의 Productization</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투자자 질문: "집마다 다른데 결국 Custom Interior Business 아닌가?"  →  4단계 분류로 Custom을 Site Adjustment로 축소</a:t>
            </a:r>
          </a:p>
        </p:txBody>
      </p:sp>
      <p:sp>
        <p:nvSpPr>
          <p:cNvPr id="9" name="Rectangle 8"/>
          <p:cNvSpPr/>
          <p:nvPr/>
        </p:nvSpPr>
        <p:spPr>
          <a:xfrm>
            <a:off x="685800" y="1790567"/>
            <a:ext cx="2499283" cy="640080"/>
          </a:xfrm>
          <a:prstGeom prst="rect">
            <a:avLst/>
          </a:prstGeom>
          <a:solidFill>
            <a:srgbClr val="F4F5F6"/>
          </a:solidFill>
          <a:ln>
            <a:noFill/>
          </a:ln>
        </p:spPr>
        <p:txBody>
          <a:bodyPr rtlCol="0" anchor="ctr"/>
          <a:lstStyle/>
          <a:p>
            <a:pPr algn="ctr"/>
          </a:p>
        </p:txBody>
      </p:sp>
      <p:sp>
        <p:nvSpPr>
          <p:cNvPr id="10" name="TextBox 9"/>
          <p:cNvSpPr txBox="1"/>
          <p:nvPr/>
        </p:nvSpPr>
        <p:spPr>
          <a:xfrm>
            <a:off x="758952"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① Kitchen Layout</a:t>
            </a:r>
          </a:p>
          <a:p>
            <a:pPr algn="ctr">
              <a:lnSpc>
                <a:spcPct val="100000"/>
              </a:lnSpc>
            </a:pPr>
            <a:r>
              <a:rPr sz="1200" b="1">
                <a:solidFill>
                  <a:srgbClr val="15171A"/>
                </a:solidFill>
                <a:latin typeface="Noto Sans KR"/>
                <a:ea typeface="Noto Sans KR"/>
                <a:cs typeface="Noto Sans KR"/>
              </a:rPr>
              <a:t>Classification</a:t>
            </a:r>
          </a:p>
        </p:txBody>
      </p:sp>
      <p:cxnSp>
        <p:nvCxnSpPr>
          <p:cNvPr id="11" name="Connector 10"/>
          <p:cNvCxnSpPr/>
          <p:nvPr/>
        </p:nvCxnSpPr>
        <p:spPr>
          <a:xfrm>
            <a:off x="3212515" y="2110607"/>
            <a:ext cx="219456" cy="0"/>
          </a:xfrm>
          <a:prstGeom prst="line">
            <a:avLst/>
          </a:prstGeom>
          <a:ln w="15875">
            <a:solidFill>
              <a:srgbClr val="8C9198"/>
            </a:solidFill>
            <a:tailEnd type="triangle" w="med" len="med"/>
          </a:ln>
        </p:spPr>
      </p:cxnSp>
      <p:sp>
        <p:nvSpPr>
          <p:cNvPr id="12" name="Rectangle 11"/>
          <p:cNvSpPr/>
          <p:nvPr/>
        </p:nvSpPr>
        <p:spPr>
          <a:xfrm>
            <a:off x="3459403" y="1790567"/>
            <a:ext cx="2499283" cy="640080"/>
          </a:xfrm>
          <a:prstGeom prst="rect">
            <a:avLst/>
          </a:prstGeom>
          <a:solidFill>
            <a:srgbClr val="F4F5F6"/>
          </a:solidFill>
          <a:ln>
            <a:noFill/>
          </a:ln>
        </p:spPr>
        <p:txBody>
          <a:bodyPr rtlCol="0" anchor="ctr"/>
          <a:lstStyle/>
          <a:p>
            <a:pPr algn="ctr"/>
          </a:p>
        </p:txBody>
      </p:sp>
      <p:sp>
        <p:nvSpPr>
          <p:cNvPr id="13" name="TextBox 12"/>
          <p:cNvSpPr txBox="1"/>
          <p:nvPr/>
        </p:nvSpPr>
        <p:spPr>
          <a:xfrm>
            <a:off x="3532555"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② Robot Architecture</a:t>
            </a:r>
          </a:p>
          <a:p>
            <a:pPr algn="ctr">
              <a:lnSpc>
                <a:spcPct val="100000"/>
              </a:lnSpc>
            </a:pPr>
            <a:r>
              <a:rPr sz="1200" b="1">
                <a:solidFill>
                  <a:srgbClr val="15171A"/>
                </a:solidFill>
                <a:latin typeface="Noto Sans KR"/>
                <a:ea typeface="Noto Sans KR"/>
                <a:cs typeface="Noto Sans KR"/>
              </a:rPr>
              <a:t>Selection</a:t>
            </a:r>
          </a:p>
        </p:txBody>
      </p:sp>
      <p:cxnSp>
        <p:nvCxnSpPr>
          <p:cNvPr id="14" name="Connector 13"/>
          <p:cNvCxnSpPr/>
          <p:nvPr/>
        </p:nvCxnSpPr>
        <p:spPr>
          <a:xfrm>
            <a:off x="5986119" y="2110607"/>
            <a:ext cx="219456" cy="0"/>
          </a:xfrm>
          <a:prstGeom prst="line">
            <a:avLst/>
          </a:prstGeom>
          <a:ln w="15875">
            <a:solidFill>
              <a:srgbClr val="8C9198"/>
            </a:solidFill>
            <a:tailEnd type="triangle" w="med" len="med"/>
          </a:ln>
        </p:spPr>
      </p:cxnSp>
      <p:sp>
        <p:nvSpPr>
          <p:cNvPr id="15" name="Rectangle 14"/>
          <p:cNvSpPr/>
          <p:nvPr/>
        </p:nvSpPr>
        <p:spPr>
          <a:xfrm>
            <a:off x="6233007" y="1790567"/>
            <a:ext cx="2499283" cy="640080"/>
          </a:xfrm>
          <a:prstGeom prst="rect">
            <a:avLst/>
          </a:prstGeom>
          <a:solidFill>
            <a:srgbClr val="15171A"/>
          </a:solidFill>
          <a:ln>
            <a:noFill/>
          </a:ln>
        </p:spPr>
        <p:txBody>
          <a:bodyPr rtlCol="0" anchor="ctr"/>
          <a:lstStyle/>
          <a:p>
            <a:pPr algn="ctr"/>
          </a:p>
        </p:txBody>
      </p:sp>
      <p:sp>
        <p:nvSpPr>
          <p:cNvPr id="16" name="TextBox 15"/>
          <p:cNvSpPr txBox="1"/>
          <p:nvPr/>
        </p:nvSpPr>
        <p:spPr>
          <a:xfrm>
            <a:off x="6306159" y="1790567"/>
            <a:ext cx="2352979" cy="6400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③ Standard Module</a:t>
            </a:r>
          </a:p>
          <a:p>
            <a:pPr algn="ctr">
              <a:lnSpc>
                <a:spcPct val="100000"/>
              </a:lnSpc>
            </a:pPr>
            <a:r>
              <a:rPr sz="1200" b="1">
                <a:solidFill>
                  <a:srgbClr val="FFFFFF"/>
                </a:solidFill>
                <a:latin typeface="Noto Sans KR"/>
                <a:ea typeface="Noto Sans KR"/>
                <a:cs typeface="Noto Sans KR"/>
              </a:rPr>
              <a:t>적용</a:t>
            </a:r>
          </a:p>
        </p:txBody>
      </p:sp>
      <p:cxnSp>
        <p:nvCxnSpPr>
          <p:cNvPr id="17" name="Connector 16"/>
          <p:cNvCxnSpPr/>
          <p:nvPr/>
        </p:nvCxnSpPr>
        <p:spPr>
          <a:xfrm>
            <a:off x="8759723" y="2110607"/>
            <a:ext cx="219456" cy="0"/>
          </a:xfrm>
          <a:prstGeom prst="line">
            <a:avLst/>
          </a:prstGeom>
          <a:ln w="15875">
            <a:solidFill>
              <a:srgbClr val="8C9198"/>
            </a:solidFill>
            <a:tailEnd type="triangle" w="med" len="med"/>
          </a:ln>
        </p:spPr>
      </p:cxnSp>
      <p:sp>
        <p:nvSpPr>
          <p:cNvPr id="18" name="Rectangle 17"/>
          <p:cNvSpPr/>
          <p:nvPr/>
        </p:nvSpPr>
        <p:spPr>
          <a:xfrm>
            <a:off x="9006611" y="1790567"/>
            <a:ext cx="2499283" cy="640080"/>
          </a:xfrm>
          <a:prstGeom prst="rect">
            <a:avLst/>
          </a:prstGeom>
          <a:solidFill>
            <a:srgbClr val="FBEDE6"/>
          </a:solidFill>
          <a:ln>
            <a:noFill/>
          </a:ln>
        </p:spPr>
        <p:txBody>
          <a:bodyPr rtlCol="0" anchor="ctr"/>
          <a:lstStyle/>
          <a:p>
            <a:pPr algn="ctr"/>
          </a:p>
        </p:txBody>
      </p:sp>
      <p:sp>
        <p:nvSpPr>
          <p:cNvPr id="19" name="TextBox 18"/>
          <p:cNvSpPr txBox="1"/>
          <p:nvPr/>
        </p:nvSpPr>
        <p:spPr>
          <a:xfrm>
            <a:off x="9079763"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④ Site Adjustment</a:t>
            </a:r>
          </a:p>
          <a:p>
            <a:pPr algn="ctr">
              <a:lnSpc>
                <a:spcPct val="100000"/>
              </a:lnSpc>
            </a:pPr>
            <a:r>
              <a:rPr sz="1200" b="1">
                <a:solidFill>
                  <a:srgbClr val="15171A"/>
                </a:solidFill>
                <a:latin typeface="Noto Sans KR"/>
                <a:ea typeface="Noto Sans KR"/>
                <a:cs typeface="Noto Sans KR"/>
              </a:rPr>
              <a:t>(현장 조정만)</a:t>
            </a:r>
          </a:p>
        </p:txBody>
      </p:sp>
      <p:sp>
        <p:nvSpPr>
          <p:cNvPr id="20" name="TextBox 19"/>
          <p:cNvSpPr txBox="1"/>
          <p:nvPr/>
        </p:nvSpPr>
        <p:spPr>
          <a:xfrm>
            <a:off x="685800" y="2659247"/>
            <a:ext cx="51206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Seed 평면 분석: 실제 국내 Apartment Kitchen 30개 이상</a:t>
            </a:r>
          </a:p>
        </p:txBody>
      </p:sp>
      <p:sp>
        <p:nvSpPr>
          <p:cNvPr id="21" name="Rectangle 20"/>
          <p:cNvSpPr/>
          <p:nvPr/>
        </p:nvSpPr>
        <p:spPr>
          <a:xfrm>
            <a:off x="685800" y="2988431"/>
            <a:ext cx="519588" cy="182880"/>
          </a:xfrm>
          <a:prstGeom prst="rect">
            <a:avLst/>
          </a:prstGeom>
          <a:solidFill>
            <a:srgbClr val="E2571B"/>
          </a:solidFill>
          <a:ln>
            <a:noFill/>
          </a:ln>
        </p:spPr>
        <p:txBody>
          <a:bodyPr rtlCol="0" anchor="ctr"/>
          <a:lstStyle/>
          <a:p>
            <a:pPr algn="ctr"/>
          </a:p>
        </p:txBody>
      </p:sp>
      <p:sp>
        <p:nvSpPr>
          <p:cNvPr id="22" name="TextBox 21"/>
          <p:cNvSpPr txBox="1"/>
          <p:nvPr/>
        </p:nvSpPr>
        <p:spPr>
          <a:xfrm>
            <a:off x="685800" y="298843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graphicFrame>
        <p:nvGraphicFramePr>
          <p:cNvPr id="23" name="Table 22"/>
          <p:cNvGraphicFramePr>
            <a:graphicFrameLocks noGrp="1"/>
          </p:cNvGraphicFramePr>
          <p:nvPr/>
        </p:nvGraphicFramePr>
        <p:xfrm>
          <a:off x="685800" y="3253607"/>
          <a:ext cx="5120640" cy="1513840"/>
        </p:xfrm>
        <a:graphic>
          <a:graphicData uri="http://schemas.openxmlformats.org/drawingml/2006/table">
            <a:tbl>
              <a:tblPr firstRow="0" bandRow="0">
                <a:tableStyleId>{2D5ABB26-0587-4C30-8999-92F81FD0307C}</a:tableStyleId>
              </a:tblPr>
              <a:tblGrid>
                <a:gridCol w="960120"/>
                <a:gridCol w="4160520"/>
              </a:tblGrid>
              <a:tr h="302768">
                <a:tc>
                  <a:txBody>
                    <a:bodyPr wrap="square"/>
                    <a:lstStyle/>
                    <a:p>
                      <a:pPr algn="l">
                        <a:lnSpc>
                          <a:spcPct val="100000"/>
                        </a:lnSpc>
                      </a:pPr>
                      <a:r>
                        <a:rPr sz="1000" b="1">
                          <a:solidFill>
                            <a:srgbClr val="15171A"/>
                          </a:solidFill>
                          <a:latin typeface="Noto Sans KR"/>
                          <a:ea typeface="Noto Sans KR"/>
                          <a:cs typeface="Noto Sans KR"/>
                        </a:rPr>
                        <a:t>표본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신축 15 · 구축 15 / 2Bay · 3Bay · 4Bay / 59 · 74 · 84 · 101㎡+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Geometry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형태 · Sink / 식세기 / IH 위치 · 키큰장 · 상부장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치수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Aisle Width · 천장고 · 상부장 하단 높이 · 벽체 구조</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Home 후보 위치 · Reach Coverage · 동선 간섭</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산출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Layout Family 3~5개 · Template A/B/C · Coverage %</a:t>
                      </a:r>
                    </a:p>
                  </a:txBody>
                  <a:tcPr marL="73152" marR="73152" marT="54864" marB="54864" anchor="t">
                    <a:lnL w="0">
                      <a:noFill/>
                    </a:lnL>
                    <a:lnR w="0">
                      <a:noFill/>
                    </a:lnR>
                    <a:lnT w="0">
                      <a:noFill/>
                    </a:lnT>
                    <a:lnB w="9525">
                      <a:solidFill>
                        <a:srgbClr val="E2E4E7"/>
                      </a:solidFill>
                    </a:lnB>
                    <a:noFill/>
                  </a:tcPr>
                </a:tc>
              </a:tr>
            </a:tbl>
          </a:graphicData>
        </a:graphic>
      </p:graphicFrame>
      <p:sp>
        <p:nvSpPr>
          <p:cNvPr id="24" name="TextBox 23"/>
          <p:cNvSpPr txBox="1"/>
          <p:nvPr/>
        </p:nvSpPr>
        <p:spPr>
          <a:xfrm>
            <a:off x="6126479" y="2659247"/>
            <a:ext cx="53794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Standardization KPI</a:t>
            </a:r>
          </a:p>
        </p:txBody>
      </p:sp>
      <p:sp>
        <p:nvSpPr>
          <p:cNvPr id="25" name="Rectangle 24"/>
          <p:cNvSpPr/>
          <p:nvPr/>
        </p:nvSpPr>
        <p:spPr>
          <a:xfrm>
            <a:off x="7955279" y="2704967"/>
            <a:ext cx="519588" cy="182880"/>
          </a:xfrm>
          <a:prstGeom prst="rect">
            <a:avLst/>
          </a:prstGeom>
          <a:solidFill>
            <a:srgbClr val="E2571B"/>
          </a:solidFill>
          <a:ln>
            <a:noFill/>
          </a:ln>
        </p:spPr>
        <p:txBody>
          <a:bodyPr rtlCol="0" anchor="ctr"/>
          <a:lstStyle/>
          <a:p>
            <a:pPr algn="ctr"/>
          </a:p>
        </p:txBody>
      </p:sp>
      <p:sp>
        <p:nvSpPr>
          <p:cNvPr id="26" name="TextBox 25"/>
          <p:cNvSpPr txBox="1"/>
          <p:nvPr/>
        </p:nvSpPr>
        <p:spPr>
          <a:xfrm>
            <a:off x="7955279" y="270496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graphicFrame>
        <p:nvGraphicFramePr>
          <p:cNvPr id="27" name="Table 26"/>
          <p:cNvGraphicFramePr>
            <a:graphicFrameLocks noGrp="1"/>
          </p:cNvGraphicFramePr>
          <p:nvPr/>
        </p:nvGraphicFramePr>
        <p:xfrm>
          <a:off x="6126479" y="3006719"/>
          <a:ext cx="5379415" cy="2119376"/>
        </p:xfrm>
        <a:graphic>
          <a:graphicData uri="http://schemas.openxmlformats.org/drawingml/2006/table">
            <a:tbl>
              <a:tblPr firstRow="0" bandRow="0">
                <a:tableStyleId>{2D5ABB26-0587-4C30-8999-92F81FD0307C}</a:tableStyleId>
              </a:tblPr>
              <a:tblGrid>
                <a:gridCol w="3017520"/>
                <a:gridCol w="2361895"/>
              </a:tblGrid>
              <a:tr h="302768">
                <a:tc>
                  <a:txBody>
                    <a:bodyPr wrap="square"/>
                    <a:lstStyle/>
                    <a:p>
                      <a:pPr algn="l">
                        <a:lnSpc>
                          <a:spcPct val="100000"/>
                        </a:lnSpc>
                      </a:pPr>
                      <a:r>
                        <a:rPr sz="1000" b="1">
                          <a:solidFill>
                            <a:srgbClr val="15171A"/>
                          </a:solidFill>
                          <a:latin typeface="Noto Sans KR"/>
                          <a:ea typeface="Noto Sans KR"/>
                          <a:cs typeface="Noto Sans KR"/>
                        </a:rPr>
                        <a:t>KPI</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목표 (M24 / 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Layout Family · Robot Architecture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3~5개 · 2~3개</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Standard Module 사용률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50% (Y2) → 65% (Y3) → 80% (Y5)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Design Reuse Ratio · Custom Component Ratio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70% 이상 · 20% 이하 (M24)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Design Lead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5영업일 이하</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Installation Time (Robot Module)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1일 · 2인 이하 (M24)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Calibration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2시간 이하 (M24)</a:t>
                      </a:r>
                    </a:p>
                  </a:txBody>
                  <a:tcPr marL="73152" marR="73152" marT="54864" marB="54864" anchor="t">
                    <a:lnL w="0">
                      <a:noFill/>
                    </a:lnL>
                    <a:lnR w="0">
                      <a:noFill/>
                    </a:lnR>
                    <a:lnT w="0">
                      <a:noFill/>
                    </a:lnT>
                    <a:lnB w="9525">
                      <a:solidFill>
                        <a:srgbClr val="E2E4E7"/>
                      </a:solidFill>
                    </a:lnB>
                    <a:noFill/>
                  </a:tcPr>
                </a:tc>
              </a:tr>
            </a:tbl>
          </a:graphicData>
        </a:graphic>
      </p:graphicFrame>
      <p:sp>
        <p:nvSpPr>
          <p:cNvPr id="28" name="Rectangle 27"/>
          <p:cNvSpPr/>
          <p:nvPr/>
        </p:nvSpPr>
        <p:spPr>
          <a:xfrm>
            <a:off x="685800" y="5623560"/>
            <a:ext cx="10820095" cy="642416"/>
          </a:xfrm>
          <a:prstGeom prst="rect">
            <a:avLst/>
          </a:prstGeom>
          <a:solidFill>
            <a:srgbClr val="F4F5F6"/>
          </a:solidFill>
          <a:ln>
            <a:noFill/>
          </a:ln>
        </p:spPr>
        <p:txBody>
          <a:bodyPr rtlCol="0" anchor="ctr"/>
          <a:lstStyle/>
          <a:p>
            <a:pPr algn="ctr"/>
          </a:p>
        </p:txBody>
      </p:sp>
      <p:sp>
        <p:nvSpPr>
          <p:cNvPr id="29" name="Rectangle 28"/>
          <p:cNvSpPr/>
          <p:nvPr/>
        </p:nvSpPr>
        <p:spPr>
          <a:xfrm>
            <a:off x="685800" y="5623560"/>
            <a:ext cx="54864" cy="642416"/>
          </a:xfrm>
          <a:prstGeom prst="rect">
            <a:avLst/>
          </a:prstGeom>
          <a:solidFill>
            <a:srgbClr val="E2571B"/>
          </a:solidFill>
          <a:ln>
            <a:noFill/>
          </a:ln>
        </p:spPr>
        <p:txBody>
          <a:bodyPr rtlCol="0" anchor="ctr"/>
          <a:lstStyle/>
          <a:p>
            <a:pPr algn="ctr"/>
          </a:p>
        </p:txBody>
      </p:sp>
      <p:sp>
        <p:nvSpPr>
          <p:cNvPr id="30" name="TextBox 29"/>
          <p:cNvSpPr txBox="1"/>
          <p:nvPr/>
        </p:nvSpPr>
        <p:spPr>
          <a:xfrm>
            <a:off x="886968" y="5623560"/>
            <a:ext cx="10527487" cy="64241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모델 연동: Standard Module 사용률 40% → 80% 시 Kitchen Module 원가 332 → 244만원/세대 (DERIVED)  |  Kill Criteria: M18 사용률 60% 미만 시 Productization Thesis 재검토</a:t>
            </a:r>
          </a:p>
        </p:txBody>
      </p:sp>
      <p:sp>
        <p:nvSpPr>
          <p:cNvPr id="31" name="TextBox 3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32" name="TextBox 3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11  신축 / 구축 적용방식</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구축 = Validation Channel, 신축 = Scale Channel</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구축: Kitchen Remodeling 시점에 적용 (초기 고객·가격·설치성 검증). 신축: 설계 단계부터 Robot-ready Option (B2B2C · Project 단위).</a:t>
            </a:r>
          </a:p>
        </p:txBody>
      </p:sp>
      <p:sp>
        <p:nvSpPr>
          <p:cNvPr id="9" name="Rectangle 8"/>
          <p:cNvSpPr/>
          <p:nvPr/>
        </p:nvSpPr>
        <p:spPr>
          <a:xfrm>
            <a:off x="685800" y="1790567"/>
            <a:ext cx="1417320" cy="1417320"/>
          </a:xfrm>
          <a:prstGeom prst="rect">
            <a:avLst/>
          </a:prstGeom>
          <a:solidFill>
            <a:srgbClr val="15171A"/>
          </a:solidFill>
          <a:ln>
            <a:noFill/>
          </a:ln>
        </p:spPr>
        <p:txBody>
          <a:bodyPr rtlCol="0" anchor="ctr"/>
          <a:lstStyle/>
          <a:p>
            <a:pPr algn="ctr"/>
          </a:p>
        </p:txBody>
      </p:sp>
      <p:sp>
        <p:nvSpPr>
          <p:cNvPr id="10" name="TextBox 9"/>
          <p:cNvSpPr txBox="1"/>
          <p:nvPr/>
        </p:nvSpPr>
        <p:spPr>
          <a:xfrm>
            <a:off x="777240" y="1973447"/>
            <a:ext cx="1234440" cy="54864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구축 Apartment</a:t>
            </a:r>
          </a:p>
        </p:txBody>
      </p:sp>
      <p:sp>
        <p:nvSpPr>
          <p:cNvPr id="11" name="TextBox 10"/>
          <p:cNvSpPr txBox="1"/>
          <p:nvPr/>
        </p:nvSpPr>
        <p:spPr>
          <a:xfrm>
            <a:off x="777240" y="2659247"/>
            <a:ext cx="1234440" cy="274320"/>
          </a:xfrm>
          <a:prstGeom prst="rect">
            <a:avLst/>
          </a:prstGeom>
          <a:noFill/>
        </p:spPr>
        <p:txBody>
          <a:bodyPr wrap="square" lIns="0" rIns="0" tIns="0" bIns="0" anchor="t">
            <a:spAutoFit/>
          </a:bodyPr>
          <a:lstStyle/>
          <a:p>
            <a:pPr algn="l">
              <a:lnSpc>
                <a:spcPct val="100000"/>
              </a:lnSpc>
            </a:pPr>
            <a:r>
              <a:rPr sz="1000" b="1">
                <a:solidFill>
                  <a:srgbClr val="FFFFFF"/>
                </a:solidFill>
                <a:latin typeface="Noto Sans KR"/>
                <a:ea typeface="Noto Sans KR"/>
                <a:cs typeface="Noto Sans KR"/>
              </a:rPr>
              <a:t>VALIDATION</a:t>
            </a:r>
          </a:p>
        </p:txBody>
      </p:sp>
      <p:sp>
        <p:nvSpPr>
          <p:cNvPr id="12" name="Rectangle 11"/>
          <p:cNvSpPr/>
          <p:nvPr/>
        </p:nvSpPr>
        <p:spPr>
          <a:xfrm>
            <a:off x="2286000" y="1790567"/>
            <a:ext cx="926896" cy="777240"/>
          </a:xfrm>
          <a:prstGeom prst="rect">
            <a:avLst/>
          </a:prstGeom>
          <a:solidFill>
            <a:srgbClr val="F4F5F6"/>
          </a:solidFill>
          <a:ln>
            <a:noFill/>
          </a:ln>
        </p:spPr>
        <p:txBody>
          <a:bodyPr rtlCol="0" anchor="ctr"/>
          <a:lstStyle/>
          <a:p>
            <a:pPr algn="ctr"/>
          </a:p>
        </p:txBody>
      </p:sp>
      <p:sp>
        <p:nvSpPr>
          <p:cNvPr id="13" name="TextBox 12"/>
          <p:cNvSpPr txBox="1"/>
          <p:nvPr/>
        </p:nvSpPr>
        <p:spPr>
          <a:xfrm>
            <a:off x="2359152"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리모델링 상담</a:t>
            </a:r>
          </a:p>
        </p:txBody>
      </p:sp>
      <p:sp>
        <p:nvSpPr>
          <p:cNvPr id="14" name="Rectangle 13"/>
          <p:cNvSpPr/>
          <p:nvPr/>
        </p:nvSpPr>
        <p:spPr>
          <a:xfrm>
            <a:off x="3322624" y="1790567"/>
            <a:ext cx="926896" cy="777240"/>
          </a:xfrm>
          <a:prstGeom prst="rect">
            <a:avLst/>
          </a:prstGeom>
          <a:solidFill>
            <a:srgbClr val="F4F5F6"/>
          </a:solidFill>
          <a:ln>
            <a:noFill/>
          </a:ln>
        </p:spPr>
        <p:txBody>
          <a:bodyPr rtlCol="0" anchor="ctr"/>
          <a:lstStyle/>
          <a:p>
            <a:pPr algn="ctr"/>
          </a:p>
        </p:txBody>
      </p:sp>
      <p:sp>
        <p:nvSpPr>
          <p:cNvPr id="15" name="TextBox 14"/>
          <p:cNvSpPr txBox="1"/>
          <p:nvPr/>
        </p:nvSpPr>
        <p:spPr>
          <a:xfrm>
            <a:off x="339577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현장 실측</a:t>
            </a:r>
          </a:p>
        </p:txBody>
      </p:sp>
      <p:sp>
        <p:nvSpPr>
          <p:cNvPr id="16" name="Rectangle 15"/>
          <p:cNvSpPr/>
          <p:nvPr/>
        </p:nvSpPr>
        <p:spPr>
          <a:xfrm>
            <a:off x="4359249" y="1790567"/>
            <a:ext cx="926896" cy="777240"/>
          </a:xfrm>
          <a:prstGeom prst="rect">
            <a:avLst/>
          </a:prstGeom>
          <a:solidFill>
            <a:srgbClr val="F4F5F6"/>
          </a:solidFill>
          <a:ln>
            <a:noFill/>
          </a:ln>
        </p:spPr>
        <p:txBody>
          <a:bodyPr rtlCol="0" anchor="ctr"/>
          <a:lstStyle/>
          <a:p>
            <a:pPr algn="ctr"/>
          </a:p>
        </p:txBody>
      </p:sp>
      <p:sp>
        <p:nvSpPr>
          <p:cNvPr id="17" name="TextBox 16"/>
          <p:cNvSpPr txBox="1"/>
          <p:nvPr/>
        </p:nvSpPr>
        <p:spPr>
          <a:xfrm>
            <a:off x="4432401"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Layout 분류</a:t>
            </a:r>
          </a:p>
        </p:txBody>
      </p:sp>
      <p:sp>
        <p:nvSpPr>
          <p:cNvPr id="18" name="Rectangle 17"/>
          <p:cNvSpPr/>
          <p:nvPr/>
        </p:nvSpPr>
        <p:spPr>
          <a:xfrm>
            <a:off x="5395874" y="1790567"/>
            <a:ext cx="926896" cy="777240"/>
          </a:xfrm>
          <a:prstGeom prst="rect">
            <a:avLst/>
          </a:prstGeom>
          <a:solidFill>
            <a:srgbClr val="F4F5F6"/>
          </a:solidFill>
          <a:ln>
            <a:noFill/>
          </a:ln>
        </p:spPr>
        <p:txBody>
          <a:bodyPr rtlCol="0" anchor="ctr"/>
          <a:lstStyle/>
          <a:p>
            <a:pPr algn="ctr"/>
          </a:p>
        </p:txBody>
      </p:sp>
      <p:sp>
        <p:nvSpPr>
          <p:cNvPr id="19" name="TextBox 18"/>
          <p:cNvSpPr txBox="1"/>
          <p:nvPr/>
        </p:nvSpPr>
        <p:spPr>
          <a:xfrm>
            <a:off x="546902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Module 선택</a:t>
            </a:r>
          </a:p>
        </p:txBody>
      </p:sp>
      <p:sp>
        <p:nvSpPr>
          <p:cNvPr id="20" name="Rectangle 19"/>
          <p:cNvSpPr/>
          <p:nvPr/>
        </p:nvSpPr>
        <p:spPr>
          <a:xfrm>
            <a:off x="6432499" y="1790567"/>
            <a:ext cx="926896" cy="777240"/>
          </a:xfrm>
          <a:prstGeom prst="rect">
            <a:avLst/>
          </a:prstGeom>
          <a:solidFill>
            <a:srgbClr val="F4F5F6"/>
          </a:solidFill>
          <a:ln>
            <a:noFill/>
          </a:ln>
        </p:spPr>
        <p:txBody>
          <a:bodyPr rtlCol="0" anchor="ctr"/>
          <a:lstStyle/>
          <a:p>
            <a:pPr algn="ctr"/>
          </a:p>
        </p:txBody>
      </p:sp>
      <p:sp>
        <p:nvSpPr>
          <p:cNvPr id="21" name="TextBox 20"/>
          <p:cNvSpPr txBox="1"/>
          <p:nvPr/>
        </p:nvSpPr>
        <p:spPr>
          <a:xfrm>
            <a:off x="6505651"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Robot-ready 설계</a:t>
            </a:r>
          </a:p>
        </p:txBody>
      </p:sp>
      <p:sp>
        <p:nvSpPr>
          <p:cNvPr id="22" name="Rectangle 21"/>
          <p:cNvSpPr/>
          <p:nvPr/>
        </p:nvSpPr>
        <p:spPr>
          <a:xfrm>
            <a:off x="7469124" y="1790567"/>
            <a:ext cx="926896" cy="777240"/>
          </a:xfrm>
          <a:prstGeom prst="rect">
            <a:avLst/>
          </a:prstGeom>
          <a:solidFill>
            <a:srgbClr val="FBEDE6"/>
          </a:solidFill>
          <a:ln>
            <a:noFill/>
          </a:ln>
        </p:spPr>
        <p:txBody>
          <a:bodyPr rtlCol="0" anchor="ctr"/>
          <a:lstStyle/>
          <a:p>
            <a:pPr algn="ctr"/>
          </a:p>
        </p:txBody>
      </p:sp>
      <p:sp>
        <p:nvSpPr>
          <p:cNvPr id="23" name="TextBox 22"/>
          <p:cNvSpPr txBox="1"/>
          <p:nvPr/>
        </p:nvSpPr>
        <p:spPr>
          <a:xfrm>
            <a:off x="754227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철거·가구 시공</a:t>
            </a:r>
          </a:p>
          <a:p>
            <a:pPr algn="ctr">
              <a:lnSpc>
                <a:spcPct val="100000"/>
              </a:lnSpc>
            </a:pPr>
            <a:r>
              <a:rPr sz="950" b="1">
                <a:solidFill>
                  <a:srgbClr val="15171A"/>
                </a:solidFill>
                <a:latin typeface="Noto Sans KR"/>
                <a:ea typeface="Noto Sans KR"/>
                <a:cs typeface="Noto Sans KR"/>
              </a:rPr>
              <a:t>(Partner)</a:t>
            </a:r>
          </a:p>
        </p:txBody>
      </p:sp>
      <p:sp>
        <p:nvSpPr>
          <p:cNvPr id="24" name="Rectangle 23"/>
          <p:cNvSpPr/>
          <p:nvPr/>
        </p:nvSpPr>
        <p:spPr>
          <a:xfrm>
            <a:off x="8505748" y="1790567"/>
            <a:ext cx="926896" cy="777240"/>
          </a:xfrm>
          <a:prstGeom prst="rect">
            <a:avLst/>
          </a:prstGeom>
          <a:solidFill>
            <a:srgbClr val="F4F5F6"/>
          </a:solidFill>
          <a:ln>
            <a:noFill/>
          </a:ln>
        </p:spPr>
        <p:txBody>
          <a:bodyPr rtlCol="0" anchor="ctr"/>
          <a:lstStyle/>
          <a:p>
            <a:pPr algn="ctr"/>
          </a:p>
        </p:txBody>
      </p:sp>
      <p:sp>
        <p:nvSpPr>
          <p:cNvPr id="25" name="TextBox 24"/>
          <p:cNvSpPr txBox="1"/>
          <p:nvPr/>
        </p:nvSpPr>
        <p:spPr>
          <a:xfrm>
            <a:off x="8578900"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Robot 설치</a:t>
            </a:r>
          </a:p>
        </p:txBody>
      </p:sp>
      <p:sp>
        <p:nvSpPr>
          <p:cNvPr id="26" name="Rectangle 25"/>
          <p:cNvSpPr/>
          <p:nvPr/>
        </p:nvSpPr>
        <p:spPr>
          <a:xfrm>
            <a:off x="9542373" y="1790567"/>
            <a:ext cx="926896" cy="777240"/>
          </a:xfrm>
          <a:prstGeom prst="rect">
            <a:avLst/>
          </a:prstGeom>
          <a:solidFill>
            <a:srgbClr val="F4F5F6"/>
          </a:solidFill>
          <a:ln>
            <a:noFill/>
          </a:ln>
        </p:spPr>
        <p:txBody>
          <a:bodyPr rtlCol="0" anchor="ctr"/>
          <a:lstStyle/>
          <a:p>
            <a:pPr algn="ctr"/>
          </a:p>
        </p:txBody>
      </p:sp>
      <p:sp>
        <p:nvSpPr>
          <p:cNvPr id="27" name="TextBox 26"/>
          <p:cNvSpPr txBox="1"/>
          <p:nvPr/>
        </p:nvSpPr>
        <p:spPr>
          <a:xfrm>
            <a:off x="9615525"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Calibration</a:t>
            </a:r>
          </a:p>
        </p:txBody>
      </p:sp>
      <p:sp>
        <p:nvSpPr>
          <p:cNvPr id="28" name="Rectangle 27"/>
          <p:cNvSpPr/>
          <p:nvPr/>
        </p:nvSpPr>
        <p:spPr>
          <a:xfrm>
            <a:off x="10578998" y="1790567"/>
            <a:ext cx="926896" cy="777240"/>
          </a:xfrm>
          <a:prstGeom prst="rect">
            <a:avLst/>
          </a:prstGeom>
          <a:solidFill>
            <a:srgbClr val="F4F5F6"/>
          </a:solidFill>
          <a:ln>
            <a:noFill/>
          </a:ln>
        </p:spPr>
        <p:txBody>
          <a:bodyPr rtlCol="0" anchor="ctr"/>
          <a:lstStyle/>
          <a:p>
            <a:pPr algn="ctr"/>
          </a:p>
        </p:txBody>
      </p:sp>
      <p:sp>
        <p:nvSpPr>
          <p:cNvPr id="29" name="TextBox 28"/>
          <p:cNvSpPr txBox="1"/>
          <p:nvPr/>
        </p:nvSpPr>
        <p:spPr>
          <a:xfrm>
            <a:off x="10652150"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Safety Check</a:t>
            </a:r>
          </a:p>
        </p:txBody>
      </p:sp>
      <p:sp>
        <p:nvSpPr>
          <p:cNvPr id="30" name="TextBox 29"/>
          <p:cNvSpPr txBox="1"/>
          <p:nvPr/>
        </p:nvSpPr>
        <p:spPr>
          <a:xfrm>
            <a:off x="2286000" y="2686679"/>
            <a:ext cx="9219895"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역할: 초기 고객 확보 · 가격 검증 · 설치성 검증 · 사용성 검증 · Layout Template 축적 · WTP 검증</a:t>
            </a:r>
          </a:p>
        </p:txBody>
      </p:sp>
      <p:sp>
        <p:nvSpPr>
          <p:cNvPr id="31" name="Rectangle 30"/>
          <p:cNvSpPr/>
          <p:nvPr/>
        </p:nvSpPr>
        <p:spPr>
          <a:xfrm>
            <a:off x="685800" y="3482207"/>
            <a:ext cx="1417320" cy="1417320"/>
          </a:xfrm>
          <a:prstGeom prst="rect">
            <a:avLst/>
          </a:prstGeom>
          <a:solidFill>
            <a:srgbClr val="E2571B"/>
          </a:solidFill>
          <a:ln>
            <a:noFill/>
          </a:ln>
        </p:spPr>
        <p:txBody>
          <a:bodyPr rtlCol="0" anchor="ctr"/>
          <a:lstStyle/>
          <a:p>
            <a:pPr algn="ctr"/>
          </a:p>
        </p:txBody>
      </p:sp>
      <p:sp>
        <p:nvSpPr>
          <p:cNvPr id="32" name="TextBox 31"/>
          <p:cNvSpPr txBox="1"/>
          <p:nvPr/>
        </p:nvSpPr>
        <p:spPr>
          <a:xfrm>
            <a:off x="777240" y="3665087"/>
            <a:ext cx="1234440" cy="54864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신축 Apartment</a:t>
            </a:r>
          </a:p>
        </p:txBody>
      </p:sp>
      <p:sp>
        <p:nvSpPr>
          <p:cNvPr id="33" name="TextBox 32"/>
          <p:cNvSpPr txBox="1"/>
          <p:nvPr/>
        </p:nvSpPr>
        <p:spPr>
          <a:xfrm>
            <a:off x="777240" y="4350887"/>
            <a:ext cx="1234440"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SCALE</a:t>
            </a:r>
          </a:p>
        </p:txBody>
      </p:sp>
      <p:sp>
        <p:nvSpPr>
          <p:cNvPr id="34" name="Rectangle 33"/>
          <p:cNvSpPr/>
          <p:nvPr/>
        </p:nvSpPr>
        <p:spPr>
          <a:xfrm>
            <a:off x="2286000" y="3482207"/>
            <a:ext cx="1223075" cy="777240"/>
          </a:xfrm>
          <a:prstGeom prst="rect">
            <a:avLst/>
          </a:prstGeom>
          <a:solidFill>
            <a:srgbClr val="F4F5F6"/>
          </a:solidFill>
          <a:ln>
            <a:noFill/>
          </a:ln>
        </p:spPr>
        <p:txBody>
          <a:bodyPr rtlCol="0" anchor="ctr"/>
          <a:lstStyle/>
          <a:p>
            <a:pPr algn="ctr"/>
          </a:p>
        </p:txBody>
      </p:sp>
      <p:sp>
        <p:nvSpPr>
          <p:cNvPr id="35" name="TextBox 34"/>
          <p:cNvSpPr txBox="1"/>
          <p:nvPr/>
        </p:nvSpPr>
        <p:spPr>
          <a:xfrm>
            <a:off x="2359152"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Developer /</a:t>
            </a:r>
          </a:p>
          <a:p>
            <a:pPr algn="ctr">
              <a:lnSpc>
                <a:spcPct val="100000"/>
              </a:lnSpc>
            </a:pPr>
            <a:r>
              <a:rPr sz="1000" b="1">
                <a:solidFill>
                  <a:srgbClr val="15171A"/>
                </a:solidFill>
                <a:latin typeface="Noto Sans KR"/>
                <a:ea typeface="Noto Sans KR"/>
                <a:cs typeface="Noto Sans KR"/>
              </a:rPr>
              <a:t>건설사</a:t>
            </a:r>
          </a:p>
        </p:txBody>
      </p:sp>
      <p:sp>
        <p:nvSpPr>
          <p:cNvPr id="36" name="Rectangle 35"/>
          <p:cNvSpPr/>
          <p:nvPr/>
        </p:nvSpPr>
        <p:spPr>
          <a:xfrm>
            <a:off x="3618803" y="3482207"/>
            <a:ext cx="1223075" cy="777240"/>
          </a:xfrm>
          <a:prstGeom prst="rect">
            <a:avLst/>
          </a:prstGeom>
          <a:solidFill>
            <a:srgbClr val="F4F5F6"/>
          </a:solidFill>
          <a:ln>
            <a:noFill/>
          </a:ln>
        </p:spPr>
        <p:txBody>
          <a:bodyPr rtlCol="0" anchor="ctr"/>
          <a:lstStyle/>
          <a:p>
            <a:pPr algn="ctr"/>
          </a:p>
        </p:txBody>
      </p:sp>
      <p:sp>
        <p:nvSpPr>
          <p:cNvPr id="37" name="TextBox 36"/>
          <p:cNvSpPr txBox="1"/>
          <p:nvPr/>
        </p:nvSpPr>
        <p:spPr>
          <a:xfrm>
            <a:off x="3691955"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Kitchen Design</a:t>
            </a:r>
          </a:p>
        </p:txBody>
      </p:sp>
      <p:sp>
        <p:nvSpPr>
          <p:cNvPr id="38" name="Rectangle 37"/>
          <p:cNvSpPr/>
          <p:nvPr/>
        </p:nvSpPr>
        <p:spPr>
          <a:xfrm>
            <a:off x="4951606" y="3482207"/>
            <a:ext cx="1223075" cy="777240"/>
          </a:xfrm>
          <a:prstGeom prst="rect">
            <a:avLst/>
          </a:prstGeom>
          <a:solidFill>
            <a:srgbClr val="F4F5F6"/>
          </a:solidFill>
          <a:ln>
            <a:noFill/>
          </a:ln>
        </p:spPr>
        <p:txBody>
          <a:bodyPr rtlCol="0" anchor="ctr"/>
          <a:lstStyle/>
          <a:p>
            <a:pPr algn="ctr"/>
          </a:p>
        </p:txBody>
      </p:sp>
      <p:sp>
        <p:nvSpPr>
          <p:cNvPr id="39" name="TextBox 38"/>
          <p:cNvSpPr txBox="1"/>
          <p:nvPr/>
        </p:nvSpPr>
        <p:spPr>
          <a:xfrm>
            <a:off x="5024758"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ARKI Robot-ready</a:t>
            </a:r>
          </a:p>
          <a:p>
            <a:pPr algn="ctr">
              <a:lnSpc>
                <a:spcPct val="100000"/>
              </a:lnSpc>
            </a:pPr>
            <a:r>
              <a:rPr sz="1000" b="1">
                <a:solidFill>
                  <a:srgbClr val="15171A"/>
                </a:solidFill>
                <a:latin typeface="Noto Sans KR"/>
                <a:ea typeface="Noto Sans KR"/>
                <a:cs typeface="Noto Sans KR"/>
              </a:rPr>
              <a:t>Spec</a:t>
            </a:r>
          </a:p>
        </p:txBody>
      </p:sp>
      <p:sp>
        <p:nvSpPr>
          <p:cNvPr id="40" name="Rectangle 39"/>
          <p:cNvSpPr/>
          <p:nvPr/>
        </p:nvSpPr>
        <p:spPr>
          <a:xfrm>
            <a:off x="6284409" y="3482207"/>
            <a:ext cx="1223075" cy="777240"/>
          </a:xfrm>
          <a:prstGeom prst="rect">
            <a:avLst/>
          </a:prstGeom>
          <a:solidFill>
            <a:srgbClr val="F4F5F6"/>
          </a:solidFill>
          <a:ln>
            <a:noFill/>
          </a:ln>
        </p:spPr>
        <p:txBody>
          <a:bodyPr rtlCol="0" anchor="ctr"/>
          <a:lstStyle/>
          <a:p>
            <a:pPr algn="ctr"/>
          </a:p>
        </p:txBody>
      </p:sp>
      <p:sp>
        <p:nvSpPr>
          <p:cNvPr id="41" name="TextBox 40"/>
          <p:cNvSpPr txBox="1"/>
          <p:nvPr/>
        </p:nvSpPr>
        <p:spPr>
          <a:xfrm>
            <a:off x="6357561"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Kitchen 가구 제작</a:t>
            </a:r>
          </a:p>
        </p:txBody>
      </p:sp>
      <p:sp>
        <p:nvSpPr>
          <p:cNvPr id="42" name="Rectangle 41"/>
          <p:cNvSpPr/>
          <p:nvPr/>
        </p:nvSpPr>
        <p:spPr>
          <a:xfrm>
            <a:off x="7617213" y="3482207"/>
            <a:ext cx="1223075" cy="777240"/>
          </a:xfrm>
          <a:prstGeom prst="rect">
            <a:avLst/>
          </a:prstGeom>
          <a:solidFill>
            <a:srgbClr val="F4F5F6"/>
          </a:solidFill>
          <a:ln>
            <a:noFill/>
          </a:ln>
        </p:spPr>
        <p:txBody>
          <a:bodyPr rtlCol="0" anchor="ctr"/>
          <a:lstStyle/>
          <a:p>
            <a:pPr algn="ctr"/>
          </a:p>
        </p:txBody>
      </p:sp>
      <p:sp>
        <p:nvSpPr>
          <p:cNvPr id="43" name="TextBox 42"/>
          <p:cNvSpPr txBox="1"/>
          <p:nvPr/>
        </p:nvSpPr>
        <p:spPr>
          <a:xfrm>
            <a:off x="7690365"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현장 설치</a:t>
            </a:r>
          </a:p>
        </p:txBody>
      </p:sp>
      <p:sp>
        <p:nvSpPr>
          <p:cNvPr id="44" name="Rectangle 43"/>
          <p:cNvSpPr/>
          <p:nvPr/>
        </p:nvSpPr>
        <p:spPr>
          <a:xfrm>
            <a:off x="8950016" y="3482207"/>
            <a:ext cx="1223075" cy="777240"/>
          </a:xfrm>
          <a:prstGeom prst="rect">
            <a:avLst/>
          </a:prstGeom>
          <a:solidFill>
            <a:srgbClr val="F4F5F6"/>
          </a:solidFill>
          <a:ln>
            <a:noFill/>
          </a:ln>
        </p:spPr>
        <p:txBody>
          <a:bodyPr rtlCol="0" anchor="ctr"/>
          <a:lstStyle/>
          <a:p>
            <a:pPr algn="ctr"/>
          </a:p>
        </p:txBody>
      </p:sp>
      <p:sp>
        <p:nvSpPr>
          <p:cNvPr id="45" name="TextBox 44"/>
          <p:cNvSpPr txBox="1"/>
          <p:nvPr/>
        </p:nvSpPr>
        <p:spPr>
          <a:xfrm>
            <a:off x="9023168"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입주: Robot 선택</a:t>
            </a:r>
          </a:p>
          <a:p>
            <a:pPr algn="ctr">
              <a:lnSpc>
                <a:spcPct val="100000"/>
              </a:lnSpc>
            </a:pPr>
            <a:r>
              <a:rPr sz="1000" b="1">
                <a:solidFill>
                  <a:srgbClr val="15171A"/>
                </a:solidFill>
                <a:latin typeface="Noto Sans KR"/>
                <a:ea typeface="Noto Sans KR"/>
                <a:cs typeface="Noto Sans KR"/>
              </a:rPr>
              <a:t>(구매 / Rental)</a:t>
            </a:r>
          </a:p>
        </p:txBody>
      </p:sp>
      <p:sp>
        <p:nvSpPr>
          <p:cNvPr id="46" name="Rectangle 45"/>
          <p:cNvSpPr/>
          <p:nvPr/>
        </p:nvSpPr>
        <p:spPr>
          <a:xfrm>
            <a:off x="10282819" y="3482207"/>
            <a:ext cx="1223075" cy="777240"/>
          </a:xfrm>
          <a:prstGeom prst="rect">
            <a:avLst/>
          </a:prstGeom>
          <a:solidFill>
            <a:srgbClr val="F4F5F6"/>
          </a:solidFill>
          <a:ln>
            <a:noFill/>
          </a:ln>
        </p:spPr>
        <p:txBody>
          <a:bodyPr rtlCol="0" anchor="ctr"/>
          <a:lstStyle/>
          <a:p>
            <a:pPr algn="ctr"/>
          </a:p>
        </p:txBody>
      </p:sp>
      <p:sp>
        <p:nvSpPr>
          <p:cNvPr id="47" name="TextBox 46"/>
          <p:cNvSpPr txBox="1"/>
          <p:nvPr/>
        </p:nvSpPr>
        <p:spPr>
          <a:xfrm>
            <a:off x="10355971"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Robot-ready 입주 →</a:t>
            </a:r>
          </a:p>
          <a:p>
            <a:pPr algn="ctr">
              <a:lnSpc>
                <a:spcPct val="100000"/>
              </a:lnSpc>
            </a:pPr>
            <a:r>
              <a:rPr sz="1000" b="1">
                <a:solidFill>
                  <a:srgbClr val="15171A"/>
                </a:solidFill>
                <a:latin typeface="Noto Sans KR"/>
                <a:ea typeface="Noto Sans KR"/>
                <a:cs typeface="Noto Sans KR"/>
              </a:rPr>
              <a:t>향후 Attach</a:t>
            </a:r>
          </a:p>
        </p:txBody>
      </p:sp>
      <p:sp>
        <p:nvSpPr>
          <p:cNvPr id="48" name="TextBox 47"/>
          <p:cNvSpPr txBox="1"/>
          <p:nvPr/>
        </p:nvSpPr>
        <p:spPr>
          <a:xfrm>
            <a:off x="2286000" y="4378319"/>
            <a:ext cx="9219895"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역할: 대량 공급 · B2B2C · Project 단위 확장 · Standard Option</a:t>
            </a:r>
          </a:p>
        </p:txBody>
      </p:sp>
      <p:sp>
        <p:nvSpPr>
          <p:cNvPr id="49" name="Rectangle 48"/>
          <p:cNvSpPr/>
          <p:nvPr/>
        </p:nvSpPr>
        <p:spPr>
          <a:xfrm>
            <a:off x="685800" y="5219567"/>
            <a:ext cx="10820095" cy="914400"/>
          </a:xfrm>
          <a:prstGeom prst="rect">
            <a:avLst/>
          </a:prstGeom>
          <a:solidFill>
            <a:srgbClr val="F4F5F6"/>
          </a:solidFill>
          <a:ln>
            <a:noFill/>
          </a:ln>
        </p:spPr>
        <p:txBody>
          <a:bodyPr rtlCol="0" anchor="ctr"/>
          <a:lstStyle/>
          <a:p>
            <a:pPr algn="ctr"/>
          </a:p>
        </p:txBody>
      </p:sp>
      <p:sp>
        <p:nvSpPr>
          <p:cNvPr id="50" name="TextBox 49"/>
          <p:cNvSpPr txBox="1"/>
          <p:nvPr/>
        </p:nvSpPr>
        <p:spPr>
          <a:xfrm>
            <a:off x="868680" y="5311007"/>
            <a:ext cx="10454335" cy="777240"/>
          </a:xfrm>
          <a:prstGeom prst="rect">
            <a:avLst/>
          </a:prstGeom>
          <a:noFill/>
        </p:spPr>
        <p:txBody>
          <a:bodyPr wrap="square" lIns="0" rIns="0" tIns="0" bIns="0" anchor="ctr">
            <a:spAutoFit/>
          </a:bodyPr>
          <a:lstStyle/>
          <a:p>
            <a:pPr algn="l">
              <a:lnSpc>
                <a:spcPct val="100000"/>
              </a:lnSpc>
              <a:spcAft>
                <a:spcPts val="400"/>
              </a:spcAft>
            </a:pPr>
            <a:r>
              <a:rPr sz="1100" b="1">
                <a:solidFill>
                  <a:srgbClr val="E2571B"/>
                </a:solidFill>
                <a:latin typeface="Noto Sans KR"/>
                <a:ea typeface="Noto Sans KR"/>
                <a:cs typeface="Noto Sans KR"/>
              </a:rPr>
              <a:t>Timing  </a:t>
            </a:r>
            <a:r>
              <a:rPr sz="1100" b="0">
                <a:solidFill>
                  <a:srgbClr val="15171A"/>
                </a:solidFill>
                <a:latin typeface="Noto Sans KR"/>
                <a:ea typeface="Noto Sans KR"/>
                <a:cs typeface="Noto Sans KR"/>
              </a:rPr>
              <a:t>신축 Option 계약 → 입주·설치 약 2년 (ASSUMPTION). Base: Y3 1개 · Y4 2개 · Y5 3개 Project 계약 (TARGET) → 5년 내 설치는 Y5 80세대뿐, Y5 말 Backlog 400세대 (DERIVED).</a:t>
            </a:r>
          </a:p>
          <a:p>
            <a:pPr algn="l">
              <a:lnSpc>
                <a:spcPct val="100000"/>
              </a:lnSpc>
            </a:pPr>
            <a:r>
              <a:rPr sz="1100" b="1">
                <a:solidFill>
                  <a:srgbClr val="E2571B"/>
                </a:solidFill>
                <a:latin typeface="Noto Sans KR"/>
                <a:ea typeface="Noto Sans KR"/>
                <a:cs typeface="Noto Sans KR"/>
              </a:rPr>
              <a:t>시사점  </a:t>
            </a:r>
            <a:r>
              <a:rPr sz="1100" b="0">
                <a:solidFill>
                  <a:srgbClr val="15171A"/>
                </a:solidFill>
                <a:latin typeface="Noto Sans KR"/>
                <a:ea typeface="Noto Sans KR"/>
                <a:cs typeface="Noto Sans KR"/>
              </a:rPr>
              <a:t>신축은 Scale Channel이지만 매출 인식이 늦음 → Seed·Series A 기간의 매출·검증은 구축 Remodeling이 담당.</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52" name="TextBox 5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12  Robot-ready Kitchen</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Robot-ready Kitchen: Robot 없이도 판매되는 독립 Product</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Robot-ready 설치 = 미래 Robot Attach 가능 고객 확보 (Land &amp; Expand)</a:t>
            </a:r>
          </a:p>
        </p:txBody>
      </p:sp>
      <p:sp>
        <p:nvSpPr>
          <p:cNvPr id="9" name="TextBox 8"/>
          <p:cNvSpPr txBox="1"/>
          <p:nvPr/>
        </p:nvSpPr>
        <p:spPr>
          <a:xfrm>
            <a:off x="685800" y="1790567"/>
            <a:ext cx="4937760"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포함 요소</a:t>
            </a:r>
          </a:p>
        </p:txBody>
      </p:sp>
      <p:sp>
        <p:nvSpPr>
          <p:cNvPr id="10" name="Rectangle 9"/>
          <p:cNvSpPr/>
          <p:nvPr/>
        </p:nvSpPr>
        <p:spPr>
          <a:xfrm>
            <a:off x="685800" y="2284343"/>
            <a:ext cx="91440" cy="91440"/>
          </a:xfrm>
          <a:prstGeom prst="rect">
            <a:avLst/>
          </a:prstGeom>
          <a:solidFill>
            <a:srgbClr val="E2571B"/>
          </a:solidFill>
          <a:ln>
            <a:noFill/>
          </a:ln>
        </p:spPr>
        <p:txBody>
          <a:bodyPr rtlCol="0" anchor="ctr"/>
          <a:lstStyle/>
          <a:p>
            <a:pPr algn="ctr"/>
          </a:p>
        </p:txBody>
      </p:sp>
      <p:sp>
        <p:nvSpPr>
          <p:cNvPr id="11" name="TextBox 10"/>
          <p:cNvSpPr txBox="1"/>
          <p:nvPr/>
        </p:nvSpPr>
        <p:spPr>
          <a:xfrm>
            <a:off x="868680" y="2174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 Mount (구조체 정착)</a:t>
            </a:r>
          </a:p>
        </p:txBody>
      </p:sp>
      <p:sp>
        <p:nvSpPr>
          <p:cNvPr id="12" name="Rectangle 11"/>
          <p:cNvSpPr/>
          <p:nvPr/>
        </p:nvSpPr>
        <p:spPr>
          <a:xfrm>
            <a:off x="3154680" y="2284343"/>
            <a:ext cx="91440" cy="91440"/>
          </a:xfrm>
          <a:prstGeom prst="rect">
            <a:avLst/>
          </a:prstGeom>
          <a:solidFill>
            <a:srgbClr val="E2571B"/>
          </a:solidFill>
          <a:ln>
            <a:noFill/>
          </a:ln>
        </p:spPr>
        <p:txBody>
          <a:bodyPr rtlCol="0" anchor="ctr"/>
          <a:lstStyle/>
          <a:p>
            <a:pPr algn="ctr"/>
          </a:p>
        </p:txBody>
      </p:sp>
      <p:sp>
        <p:nvSpPr>
          <p:cNvPr id="13" name="TextBox 12"/>
          <p:cNvSpPr txBox="1"/>
          <p:nvPr/>
        </p:nvSpPr>
        <p:spPr>
          <a:xfrm>
            <a:off x="3337560" y="2174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Rail Interface</a:t>
            </a:r>
          </a:p>
        </p:txBody>
      </p:sp>
      <p:sp>
        <p:nvSpPr>
          <p:cNvPr id="14" name="Rectangle 13"/>
          <p:cNvSpPr/>
          <p:nvPr/>
        </p:nvSpPr>
        <p:spPr>
          <a:xfrm>
            <a:off x="685800" y="2741543"/>
            <a:ext cx="91440" cy="91440"/>
          </a:xfrm>
          <a:prstGeom prst="rect">
            <a:avLst/>
          </a:prstGeom>
          <a:solidFill>
            <a:srgbClr val="E2571B"/>
          </a:solidFill>
          <a:ln>
            <a:noFill/>
          </a:ln>
        </p:spPr>
        <p:txBody>
          <a:bodyPr rtlCol="0" anchor="ctr"/>
          <a:lstStyle/>
          <a:p>
            <a:pPr algn="ctr"/>
          </a:p>
        </p:txBody>
      </p:sp>
      <p:sp>
        <p:nvSpPr>
          <p:cNvPr id="15" name="TextBox 14"/>
          <p:cNvSpPr txBox="1"/>
          <p:nvPr/>
        </p:nvSpPr>
        <p:spPr>
          <a:xfrm>
            <a:off x="868680" y="26318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Dock · Robot Garage</a:t>
            </a:r>
          </a:p>
        </p:txBody>
      </p:sp>
      <p:sp>
        <p:nvSpPr>
          <p:cNvPr id="16" name="Rectangle 15"/>
          <p:cNvSpPr/>
          <p:nvPr/>
        </p:nvSpPr>
        <p:spPr>
          <a:xfrm>
            <a:off x="3154680" y="2741543"/>
            <a:ext cx="91440" cy="91440"/>
          </a:xfrm>
          <a:prstGeom prst="rect">
            <a:avLst/>
          </a:prstGeom>
          <a:solidFill>
            <a:srgbClr val="E2571B"/>
          </a:solidFill>
          <a:ln>
            <a:noFill/>
          </a:ln>
        </p:spPr>
        <p:txBody>
          <a:bodyPr rtlCol="0" anchor="ctr"/>
          <a:lstStyle/>
          <a:p>
            <a:pPr algn="ctr"/>
          </a:p>
        </p:txBody>
      </p:sp>
      <p:sp>
        <p:nvSpPr>
          <p:cNvPr id="17" name="TextBox 16"/>
          <p:cNvSpPr txBox="1"/>
          <p:nvPr/>
        </p:nvSpPr>
        <p:spPr>
          <a:xfrm>
            <a:off x="3337560" y="26318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전용 전원 회로</a:t>
            </a:r>
          </a:p>
        </p:txBody>
      </p:sp>
      <p:sp>
        <p:nvSpPr>
          <p:cNvPr id="18" name="Rectangle 17"/>
          <p:cNvSpPr/>
          <p:nvPr/>
        </p:nvSpPr>
        <p:spPr>
          <a:xfrm>
            <a:off x="685800" y="3198743"/>
            <a:ext cx="91440" cy="91440"/>
          </a:xfrm>
          <a:prstGeom prst="rect">
            <a:avLst/>
          </a:prstGeom>
          <a:solidFill>
            <a:srgbClr val="E2571B"/>
          </a:solidFill>
          <a:ln>
            <a:noFill/>
          </a:ln>
        </p:spPr>
        <p:txBody>
          <a:bodyPr rtlCol="0" anchor="ctr"/>
          <a:lstStyle/>
          <a:p>
            <a:pPr algn="ctr"/>
          </a:p>
        </p:txBody>
      </p:sp>
      <p:sp>
        <p:nvSpPr>
          <p:cNvPr id="19" name="TextBox 18"/>
          <p:cNvSpPr txBox="1"/>
          <p:nvPr/>
        </p:nvSpPr>
        <p:spPr>
          <a:xfrm>
            <a:off x="868680" y="30890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통신 (Ethernet / PoE)</a:t>
            </a:r>
          </a:p>
        </p:txBody>
      </p:sp>
      <p:sp>
        <p:nvSpPr>
          <p:cNvPr id="20" name="Rectangle 19"/>
          <p:cNvSpPr/>
          <p:nvPr/>
        </p:nvSpPr>
        <p:spPr>
          <a:xfrm>
            <a:off x="3154680" y="3198743"/>
            <a:ext cx="91440" cy="91440"/>
          </a:xfrm>
          <a:prstGeom prst="rect">
            <a:avLst/>
          </a:prstGeom>
          <a:solidFill>
            <a:srgbClr val="E2571B"/>
          </a:solidFill>
          <a:ln>
            <a:noFill/>
          </a:ln>
        </p:spPr>
        <p:txBody>
          <a:bodyPr rtlCol="0" anchor="ctr"/>
          <a:lstStyle/>
          <a:p>
            <a:pPr algn="ctr"/>
          </a:p>
        </p:txBody>
      </p:sp>
      <p:sp>
        <p:nvSpPr>
          <p:cNvPr id="21" name="TextBox 20"/>
          <p:cNvSpPr txBox="1"/>
          <p:nvPr/>
        </p:nvSpPr>
        <p:spPr>
          <a:xfrm>
            <a:off x="3337560" y="30890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Vision 위치</a:t>
            </a:r>
          </a:p>
        </p:txBody>
      </p:sp>
      <p:sp>
        <p:nvSpPr>
          <p:cNvPr id="22" name="Rectangle 21"/>
          <p:cNvSpPr/>
          <p:nvPr/>
        </p:nvSpPr>
        <p:spPr>
          <a:xfrm>
            <a:off x="685800" y="3655943"/>
            <a:ext cx="91440" cy="91440"/>
          </a:xfrm>
          <a:prstGeom prst="rect">
            <a:avLst/>
          </a:prstGeom>
          <a:solidFill>
            <a:srgbClr val="E2571B"/>
          </a:solidFill>
          <a:ln>
            <a:noFill/>
          </a:ln>
        </p:spPr>
        <p:txBody>
          <a:bodyPr rtlCol="0" anchor="ctr"/>
          <a:lstStyle/>
          <a:p>
            <a:pPr algn="ctr"/>
          </a:p>
        </p:txBody>
      </p:sp>
      <p:sp>
        <p:nvSpPr>
          <p:cNvPr id="23" name="TextBox 22"/>
          <p:cNvSpPr txBox="1"/>
          <p:nvPr/>
        </p:nvSpPr>
        <p:spPr>
          <a:xfrm>
            <a:off x="868680" y="35462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Safety Sensor Interface</a:t>
            </a:r>
          </a:p>
        </p:txBody>
      </p:sp>
      <p:sp>
        <p:nvSpPr>
          <p:cNvPr id="24" name="Rectangle 23"/>
          <p:cNvSpPr/>
          <p:nvPr/>
        </p:nvSpPr>
        <p:spPr>
          <a:xfrm>
            <a:off x="3154680" y="3655943"/>
            <a:ext cx="91440" cy="91440"/>
          </a:xfrm>
          <a:prstGeom prst="rect">
            <a:avLst/>
          </a:prstGeom>
          <a:solidFill>
            <a:srgbClr val="E2571B"/>
          </a:solidFill>
          <a:ln>
            <a:noFill/>
          </a:ln>
        </p:spPr>
        <p:txBody>
          <a:bodyPr rtlCol="0" anchor="ctr"/>
          <a:lstStyle/>
          <a:p>
            <a:pPr algn="ctr"/>
          </a:p>
        </p:txBody>
      </p:sp>
      <p:sp>
        <p:nvSpPr>
          <p:cNvPr id="25" name="TextBox 24"/>
          <p:cNvSpPr txBox="1"/>
          <p:nvPr/>
        </p:nvSpPr>
        <p:spPr>
          <a:xfrm>
            <a:off x="3337560" y="35462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Tool Dock</a:t>
            </a:r>
          </a:p>
        </p:txBody>
      </p:sp>
      <p:sp>
        <p:nvSpPr>
          <p:cNvPr id="26" name="Rectangle 25"/>
          <p:cNvSpPr/>
          <p:nvPr/>
        </p:nvSpPr>
        <p:spPr>
          <a:xfrm>
            <a:off x="685800" y="4113143"/>
            <a:ext cx="91440" cy="91440"/>
          </a:xfrm>
          <a:prstGeom prst="rect">
            <a:avLst/>
          </a:prstGeom>
          <a:solidFill>
            <a:srgbClr val="E2571B"/>
          </a:solidFill>
          <a:ln>
            <a:noFill/>
          </a:ln>
        </p:spPr>
        <p:txBody>
          <a:bodyPr rtlCol="0" anchor="ctr"/>
          <a:lstStyle/>
          <a:p>
            <a:pPr algn="ctr"/>
          </a:p>
        </p:txBody>
      </p:sp>
      <p:sp>
        <p:nvSpPr>
          <p:cNvPr id="27" name="TextBox 26"/>
          <p:cNvSpPr txBox="1"/>
          <p:nvPr/>
        </p:nvSpPr>
        <p:spPr>
          <a:xfrm>
            <a:off x="868680" y="40034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Robot-friendly Storage (표준 Rack)</a:t>
            </a:r>
          </a:p>
        </p:txBody>
      </p:sp>
      <p:sp>
        <p:nvSpPr>
          <p:cNvPr id="28" name="Rectangle 27"/>
          <p:cNvSpPr/>
          <p:nvPr/>
        </p:nvSpPr>
        <p:spPr>
          <a:xfrm>
            <a:off x="3154680" y="4113143"/>
            <a:ext cx="91440" cy="91440"/>
          </a:xfrm>
          <a:prstGeom prst="rect">
            <a:avLst/>
          </a:prstGeom>
          <a:solidFill>
            <a:srgbClr val="E2571B"/>
          </a:solidFill>
          <a:ln>
            <a:noFill/>
          </a:ln>
        </p:spPr>
        <p:txBody>
          <a:bodyPr rtlCol="0" anchor="ctr"/>
          <a:lstStyle/>
          <a:p>
            <a:pPr algn="ctr"/>
          </a:p>
        </p:txBody>
      </p:sp>
      <p:sp>
        <p:nvSpPr>
          <p:cNvPr id="29" name="TextBox 28"/>
          <p:cNvSpPr txBox="1"/>
          <p:nvPr/>
        </p:nvSpPr>
        <p:spPr>
          <a:xfrm>
            <a:off x="3337560" y="40034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Service Access Panel</a:t>
            </a:r>
          </a:p>
        </p:txBody>
      </p:sp>
      <p:sp>
        <p:nvSpPr>
          <p:cNvPr id="30" name="Rectangle 29"/>
          <p:cNvSpPr/>
          <p:nvPr/>
        </p:nvSpPr>
        <p:spPr>
          <a:xfrm>
            <a:off x="685800" y="4570343"/>
            <a:ext cx="91440" cy="91440"/>
          </a:xfrm>
          <a:prstGeom prst="rect">
            <a:avLst/>
          </a:prstGeom>
          <a:solidFill>
            <a:srgbClr val="E2571B"/>
          </a:solidFill>
          <a:ln>
            <a:noFill/>
          </a:ln>
        </p:spPr>
        <p:txBody>
          <a:bodyPr rtlCol="0" anchor="ctr"/>
          <a:lstStyle/>
          <a:p>
            <a:pPr algn="ctr"/>
          </a:p>
        </p:txBody>
      </p:sp>
      <p:sp>
        <p:nvSpPr>
          <p:cNvPr id="31" name="TextBox 30"/>
          <p:cNvSpPr txBox="1"/>
          <p:nvPr/>
        </p:nvSpPr>
        <p:spPr>
          <a:xfrm>
            <a:off x="868680" y="4460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Dishwasher Interface (상향 Housing)</a:t>
            </a:r>
          </a:p>
        </p:txBody>
      </p:sp>
      <p:sp>
        <p:nvSpPr>
          <p:cNvPr id="32" name="TextBox 31"/>
          <p:cNvSpPr txBox="1"/>
          <p:nvPr/>
        </p:nvSpPr>
        <p:spPr>
          <a:xfrm>
            <a:off x="5989320" y="1790567"/>
            <a:ext cx="551657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Land &amp; Expand</a:t>
            </a:r>
          </a:p>
        </p:txBody>
      </p:sp>
      <p:sp>
        <p:nvSpPr>
          <p:cNvPr id="33" name="Rectangle 32"/>
          <p:cNvSpPr/>
          <p:nvPr/>
        </p:nvSpPr>
        <p:spPr>
          <a:xfrm>
            <a:off x="5989320" y="3546215"/>
            <a:ext cx="1310563" cy="914400"/>
          </a:xfrm>
          <a:prstGeom prst="rect">
            <a:avLst/>
          </a:prstGeom>
          <a:solidFill>
            <a:srgbClr val="E2571B"/>
          </a:solidFill>
          <a:ln>
            <a:noFill/>
          </a:ln>
        </p:spPr>
        <p:txBody>
          <a:bodyPr rtlCol="0" anchor="ctr"/>
          <a:lstStyle/>
          <a:p>
            <a:pPr algn="ctr"/>
          </a:p>
        </p:txBody>
      </p:sp>
      <p:sp>
        <p:nvSpPr>
          <p:cNvPr id="34" name="TextBox 33"/>
          <p:cNvSpPr txBox="1"/>
          <p:nvPr/>
        </p:nvSpPr>
        <p:spPr>
          <a:xfrm>
            <a:off x="6080760" y="3619367"/>
            <a:ext cx="1127683"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LAND</a:t>
            </a:r>
          </a:p>
        </p:txBody>
      </p:sp>
      <p:sp>
        <p:nvSpPr>
          <p:cNvPr id="35" name="TextBox 34"/>
          <p:cNvSpPr txBox="1"/>
          <p:nvPr/>
        </p:nvSpPr>
        <p:spPr>
          <a:xfrm>
            <a:off x="6080760" y="3847967"/>
            <a:ext cx="1127683"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Robot-ready Kitchen</a:t>
            </a:r>
          </a:p>
        </p:txBody>
      </p:sp>
      <p:sp>
        <p:nvSpPr>
          <p:cNvPr id="36" name="TextBox 35"/>
          <p:cNvSpPr txBox="1"/>
          <p:nvPr/>
        </p:nvSpPr>
        <p:spPr>
          <a:xfrm>
            <a:off x="6080760"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구축 증분 / 신축 Option</a:t>
            </a:r>
          </a:p>
        </p:txBody>
      </p:sp>
      <p:sp>
        <p:nvSpPr>
          <p:cNvPr id="37" name="Rectangle 36"/>
          <p:cNvSpPr/>
          <p:nvPr/>
        </p:nvSpPr>
        <p:spPr>
          <a:xfrm>
            <a:off x="7391323" y="3089015"/>
            <a:ext cx="1310563" cy="1371600"/>
          </a:xfrm>
          <a:prstGeom prst="rect">
            <a:avLst/>
          </a:prstGeom>
          <a:solidFill>
            <a:srgbClr val="15171A"/>
          </a:solidFill>
          <a:ln>
            <a:noFill/>
          </a:ln>
        </p:spPr>
        <p:txBody>
          <a:bodyPr rtlCol="0" anchor="ctr"/>
          <a:lstStyle/>
          <a:p>
            <a:pPr algn="ctr"/>
          </a:p>
        </p:txBody>
      </p:sp>
      <p:sp>
        <p:nvSpPr>
          <p:cNvPr id="38" name="TextBox 37"/>
          <p:cNvSpPr txBox="1"/>
          <p:nvPr/>
        </p:nvSpPr>
        <p:spPr>
          <a:xfrm>
            <a:off x="7482763" y="3162167"/>
            <a:ext cx="1127683"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EXPAND 1</a:t>
            </a:r>
          </a:p>
        </p:txBody>
      </p:sp>
      <p:sp>
        <p:nvSpPr>
          <p:cNvPr id="39" name="TextBox 38"/>
          <p:cNvSpPr txBox="1"/>
          <p:nvPr/>
        </p:nvSpPr>
        <p:spPr>
          <a:xfrm>
            <a:off x="7482763" y="3390767"/>
            <a:ext cx="1127683"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Robot 구매 · Rental</a:t>
            </a:r>
          </a:p>
        </p:txBody>
      </p:sp>
      <p:sp>
        <p:nvSpPr>
          <p:cNvPr id="40" name="TextBox 39"/>
          <p:cNvSpPr txBox="1"/>
          <p:nvPr/>
        </p:nvSpPr>
        <p:spPr>
          <a:xfrm>
            <a:off x="7482763"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설치 시점 또는 입주 후</a:t>
            </a:r>
          </a:p>
        </p:txBody>
      </p:sp>
      <p:sp>
        <p:nvSpPr>
          <p:cNvPr id="41" name="Rectangle 40"/>
          <p:cNvSpPr/>
          <p:nvPr/>
        </p:nvSpPr>
        <p:spPr>
          <a:xfrm>
            <a:off x="8793327" y="2631815"/>
            <a:ext cx="1310563" cy="1828800"/>
          </a:xfrm>
          <a:prstGeom prst="rect">
            <a:avLst/>
          </a:prstGeom>
          <a:solidFill>
            <a:srgbClr val="F4F5F6"/>
          </a:solidFill>
          <a:ln>
            <a:noFill/>
          </a:ln>
        </p:spPr>
        <p:txBody>
          <a:bodyPr rtlCol="0" anchor="ctr"/>
          <a:lstStyle/>
          <a:p>
            <a:pPr algn="ctr"/>
          </a:p>
        </p:txBody>
      </p:sp>
      <p:sp>
        <p:nvSpPr>
          <p:cNvPr id="42" name="TextBox 41"/>
          <p:cNvSpPr txBox="1"/>
          <p:nvPr/>
        </p:nvSpPr>
        <p:spPr>
          <a:xfrm>
            <a:off x="8884767" y="2704967"/>
            <a:ext cx="1127683" cy="228600"/>
          </a:xfrm>
          <a:prstGeom prst="rect">
            <a:avLst/>
          </a:prstGeom>
          <a:noFill/>
        </p:spPr>
        <p:txBody>
          <a:bodyPr wrap="square" lIns="0" rIns="0" tIns="0" bIns="0" anchor="t">
            <a:spAutoFit/>
          </a:bodyPr>
          <a:lstStyle/>
          <a:p>
            <a:pPr algn="l">
              <a:lnSpc>
                <a:spcPct val="100000"/>
              </a:lnSpc>
            </a:pPr>
            <a:r>
              <a:rPr sz="900" b="1">
                <a:solidFill>
                  <a:srgbClr val="E2571B"/>
                </a:solidFill>
                <a:latin typeface="Noto Sans KR"/>
                <a:ea typeface="Noto Sans KR"/>
                <a:cs typeface="Noto Sans KR"/>
              </a:rPr>
              <a:t>EXPAND 2</a:t>
            </a:r>
          </a:p>
        </p:txBody>
      </p:sp>
      <p:sp>
        <p:nvSpPr>
          <p:cNvPr id="43" name="TextBox 42"/>
          <p:cNvSpPr txBox="1"/>
          <p:nvPr/>
        </p:nvSpPr>
        <p:spPr>
          <a:xfrm>
            <a:off x="8884767" y="2933567"/>
            <a:ext cx="1127683"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Care · Consumables</a:t>
            </a:r>
          </a:p>
        </p:txBody>
      </p:sp>
      <p:sp>
        <p:nvSpPr>
          <p:cNvPr id="44" name="TextBox 43"/>
          <p:cNvSpPr txBox="1"/>
          <p:nvPr/>
        </p:nvSpPr>
        <p:spPr>
          <a:xfrm>
            <a:off x="8884767"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연 단위 반복</a:t>
            </a:r>
          </a:p>
        </p:txBody>
      </p:sp>
      <p:sp>
        <p:nvSpPr>
          <p:cNvPr id="45" name="Rectangle 44"/>
          <p:cNvSpPr/>
          <p:nvPr/>
        </p:nvSpPr>
        <p:spPr>
          <a:xfrm>
            <a:off x="10195331" y="2174615"/>
            <a:ext cx="1310563" cy="2286000"/>
          </a:xfrm>
          <a:prstGeom prst="rect">
            <a:avLst/>
          </a:prstGeom>
          <a:solidFill>
            <a:srgbClr val="F4F5F6"/>
          </a:solidFill>
          <a:ln>
            <a:noFill/>
          </a:ln>
        </p:spPr>
        <p:txBody>
          <a:bodyPr rtlCol="0" anchor="ctr"/>
          <a:lstStyle/>
          <a:p>
            <a:pPr algn="ctr"/>
          </a:p>
        </p:txBody>
      </p:sp>
      <p:sp>
        <p:nvSpPr>
          <p:cNvPr id="46" name="TextBox 45"/>
          <p:cNvSpPr txBox="1"/>
          <p:nvPr/>
        </p:nvSpPr>
        <p:spPr>
          <a:xfrm>
            <a:off x="10286771" y="2247767"/>
            <a:ext cx="1127683" cy="228600"/>
          </a:xfrm>
          <a:prstGeom prst="rect">
            <a:avLst/>
          </a:prstGeom>
          <a:noFill/>
        </p:spPr>
        <p:txBody>
          <a:bodyPr wrap="square" lIns="0" rIns="0" tIns="0" bIns="0" anchor="t">
            <a:spAutoFit/>
          </a:bodyPr>
          <a:lstStyle/>
          <a:p>
            <a:pPr algn="l">
              <a:lnSpc>
                <a:spcPct val="100000"/>
              </a:lnSpc>
            </a:pPr>
            <a:r>
              <a:rPr sz="900" b="1">
                <a:solidFill>
                  <a:srgbClr val="E2571B"/>
                </a:solidFill>
                <a:latin typeface="Noto Sans KR"/>
                <a:ea typeface="Noto Sans KR"/>
                <a:cs typeface="Noto Sans KR"/>
              </a:rPr>
              <a:t>EXPAND 3</a:t>
            </a:r>
          </a:p>
        </p:txBody>
      </p:sp>
      <p:sp>
        <p:nvSpPr>
          <p:cNvPr id="47" name="TextBox 46"/>
          <p:cNvSpPr txBox="1"/>
          <p:nvPr/>
        </p:nvSpPr>
        <p:spPr>
          <a:xfrm>
            <a:off x="10286771" y="2476367"/>
            <a:ext cx="1127683"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Skill · Tool · Upgrade</a:t>
            </a:r>
          </a:p>
        </p:txBody>
      </p:sp>
      <p:sp>
        <p:nvSpPr>
          <p:cNvPr id="48" name="TextBox 47"/>
          <p:cNvSpPr txBox="1"/>
          <p:nvPr/>
        </p:nvSpPr>
        <p:spPr>
          <a:xfrm>
            <a:off x="10286771"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V2 기능 · End-effector · 교체</a:t>
            </a:r>
          </a:p>
        </p:txBody>
      </p:sp>
      <p:sp>
        <p:nvSpPr>
          <p:cNvPr id="49" name="TextBox 48"/>
          <p:cNvSpPr txBox="1"/>
          <p:nvPr/>
        </p:nvSpPr>
        <p:spPr>
          <a:xfrm>
            <a:off x="685800"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450만원</a:t>
            </a:r>
          </a:p>
        </p:txBody>
      </p:sp>
      <p:sp>
        <p:nvSpPr>
          <p:cNvPr id="50" name="TextBox 49"/>
          <p:cNvSpPr txBox="1"/>
          <p:nvPr/>
        </p:nvSpPr>
        <p:spPr>
          <a:xfrm>
            <a:off x="685800"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구축 증분가 (고객가)</a:t>
            </a:r>
          </a:p>
        </p:txBody>
      </p:sp>
      <p:sp>
        <p:nvSpPr>
          <p:cNvPr id="51" name="Rectangle 50"/>
          <p:cNvSpPr/>
          <p:nvPr/>
        </p:nvSpPr>
        <p:spPr>
          <a:xfrm>
            <a:off x="685800" y="5689290"/>
            <a:ext cx="796639" cy="182880"/>
          </a:xfrm>
          <a:prstGeom prst="rect">
            <a:avLst/>
          </a:prstGeom>
          <a:solidFill>
            <a:srgbClr val="FBEDE6"/>
          </a:solidFill>
          <a:ln>
            <a:noFill/>
          </a:ln>
        </p:spPr>
        <p:txBody>
          <a:bodyPr rtlCol="0" anchor="ctr"/>
          <a:lstStyle/>
          <a:p>
            <a:pPr algn="ctr"/>
          </a:p>
        </p:txBody>
      </p:sp>
      <p:sp>
        <p:nvSpPr>
          <p:cNvPr id="52" name="TextBox 51"/>
          <p:cNvSpPr txBox="1"/>
          <p:nvPr/>
        </p:nvSpPr>
        <p:spPr>
          <a:xfrm>
            <a:off x="685800"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53" name="TextBox 52"/>
          <p:cNvSpPr txBox="1"/>
          <p:nvPr/>
        </p:nvSpPr>
        <p:spPr>
          <a:xfrm>
            <a:off x="2849819"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277 → 244만원</a:t>
            </a:r>
          </a:p>
        </p:txBody>
      </p:sp>
      <p:sp>
        <p:nvSpPr>
          <p:cNvPr id="54" name="TextBox 53"/>
          <p:cNvSpPr txBox="1"/>
          <p:nvPr/>
        </p:nvSpPr>
        <p:spPr>
          <a:xfrm>
            <a:off x="2849819"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Kitchen Module 원가 Y3 → Y5</a:t>
            </a:r>
          </a:p>
        </p:txBody>
      </p:sp>
      <p:sp>
        <p:nvSpPr>
          <p:cNvPr id="55" name="Rectangle 54"/>
          <p:cNvSpPr/>
          <p:nvPr/>
        </p:nvSpPr>
        <p:spPr>
          <a:xfrm>
            <a:off x="2849819" y="5689290"/>
            <a:ext cx="563776" cy="182880"/>
          </a:xfrm>
          <a:prstGeom prst="rect">
            <a:avLst/>
          </a:prstGeom>
          <a:solidFill>
            <a:srgbClr val="5C6169"/>
          </a:solidFill>
          <a:ln>
            <a:noFill/>
          </a:ln>
        </p:spPr>
        <p:txBody>
          <a:bodyPr rtlCol="0" anchor="ctr"/>
          <a:lstStyle/>
          <a:p>
            <a:pPr algn="ctr"/>
          </a:p>
        </p:txBody>
      </p:sp>
      <p:sp>
        <p:nvSpPr>
          <p:cNvPr id="56" name="TextBox 55"/>
          <p:cNvSpPr txBox="1"/>
          <p:nvPr/>
        </p:nvSpPr>
        <p:spPr>
          <a:xfrm>
            <a:off x="2849819" y="5689290"/>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57" name="TextBox 56"/>
          <p:cNvSpPr txBox="1"/>
          <p:nvPr/>
        </p:nvSpPr>
        <p:spPr>
          <a:xfrm>
            <a:off x="5013838"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220만원</a:t>
            </a:r>
          </a:p>
        </p:txBody>
      </p:sp>
      <p:sp>
        <p:nvSpPr>
          <p:cNvPr id="58" name="TextBox 57"/>
          <p:cNvSpPr txBox="1"/>
          <p:nvPr/>
        </p:nvSpPr>
        <p:spPr>
          <a:xfrm>
            <a:off x="5013838"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신축 Option 공급가 (원가 130만원)</a:t>
            </a:r>
          </a:p>
        </p:txBody>
      </p:sp>
      <p:sp>
        <p:nvSpPr>
          <p:cNvPr id="59" name="Rectangle 58"/>
          <p:cNvSpPr/>
          <p:nvPr/>
        </p:nvSpPr>
        <p:spPr>
          <a:xfrm>
            <a:off x="5013838" y="5689290"/>
            <a:ext cx="796639" cy="182880"/>
          </a:xfrm>
          <a:prstGeom prst="rect">
            <a:avLst/>
          </a:prstGeom>
          <a:solidFill>
            <a:srgbClr val="FBEDE6"/>
          </a:solidFill>
          <a:ln>
            <a:noFill/>
          </a:ln>
        </p:spPr>
        <p:txBody>
          <a:bodyPr rtlCol="0" anchor="ctr"/>
          <a:lstStyle/>
          <a:p>
            <a:pPr algn="ctr"/>
          </a:p>
        </p:txBody>
      </p:sp>
      <p:sp>
        <p:nvSpPr>
          <p:cNvPr id="60" name="TextBox 59"/>
          <p:cNvSpPr txBox="1"/>
          <p:nvPr/>
        </p:nvSpPr>
        <p:spPr>
          <a:xfrm>
            <a:off x="5013838"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61" name="TextBox 60"/>
          <p:cNvSpPr txBox="1"/>
          <p:nvPr/>
        </p:nvSpPr>
        <p:spPr>
          <a:xfrm>
            <a:off x="7177857"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9.7%</a:t>
            </a:r>
          </a:p>
        </p:txBody>
      </p:sp>
      <p:sp>
        <p:nvSpPr>
          <p:cNvPr id="62" name="TextBox 61"/>
          <p:cNvSpPr txBox="1"/>
          <p:nvPr/>
        </p:nvSpPr>
        <p:spPr>
          <a:xfrm>
            <a:off x="7177857"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신축 유상옵션 비용 / 분양가 (7개 단지 평균)</a:t>
            </a:r>
          </a:p>
        </p:txBody>
      </p:sp>
      <p:sp>
        <p:nvSpPr>
          <p:cNvPr id="63" name="Rectangle 62"/>
          <p:cNvSpPr/>
          <p:nvPr/>
        </p:nvSpPr>
        <p:spPr>
          <a:xfrm>
            <a:off x="7177857" y="5863991"/>
            <a:ext cx="373888" cy="182880"/>
          </a:xfrm>
          <a:prstGeom prst="rect">
            <a:avLst/>
          </a:prstGeom>
          <a:solidFill>
            <a:srgbClr val="15171A"/>
          </a:solidFill>
          <a:ln>
            <a:noFill/>
          </a:ln>
        </p:spPr>
        <p:txBody>
          <a:bodyPr rtlCol="0" anchor="ctr"/>
          <a:lstStyle/>
          <a:p>
            <a:pPr algn="ctr"/>
          </a:p>
        </p:txBody>
      </p:sp>
      <p:sp>
        <p:nvSpPr>
          <p:cNvPr id="64" name="TextBox 63"/>
          <p:cNvSpPr txBox="1"/>
          <p:nvPr/>
        </p:nvSpPr>
        <p:spPr>
          <a:xfrm>
            <a:off x="7177857" y="5863991"/>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65" name="TextBox 64"/>
          <p:cNvSpPr txBox="1"/>
          <p:nvPr/>
        </p:nvSpPr>
        <p:spPr>
          <a:xfrm>
            <a:off x="9341876"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10%/년</a:t>
            </a:r>
          </a:p>
        </p:txBody>
      </p:sp>
      <p:sp>
        <p:nvSpPr>
          <p:cNvPr id="66" name="TextBox 65"/>
          <p:cNvSpPr txBox="1"/>
          <p:nvPr/>
        </p:nvSpPr>
        <p:spPr>
          <a:xfrm>
            <a:off x="9341876"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Robot-ready Only 후속 Attach</a:t>
            </a:r>
          </a:p>
        </p:txBody>
      </p:sp>
      <p:sp>
        <p:nvSpPr>
          <p:cNvPr id="67" name="Rectangle 66"/>
          <p:cNvSpPr/>
          <p:nvPr/>
        </p:nvSpPr>
        <p:spPr>
          <a:xfrm>
            <a:off x="9341876" y="5689290"/>
            <a:ext cx="796639" cy="182880"/>
          </a:xfrm>
          <a:prstGeom prst="rect">
            <a:avLst/>
          </a:prstGeom>
          <a:solidFill>
            <a:srgbClr val="FBEDE6"/>
          </a:solidFill>
          <a:ln>
            <a:noFill/>
          </a:ln>
        </p:spPr>
        <p:txBody>
          <a:bodyPr rtlCol="0" anchor="ctr"/>
          <a:lstStyle/>
          <a:p>
            <a:pPr algn="ctr"/>
          </a:p>
        </p:txBody>
      </p:sp>
      <p:sp>
        <p:nvSpPr>
          <p:cNvPr id="68" name="TextBox 67"/>
          <p:cNvSpPr txBox="1"/>
          <p:nvPr/>
        </p:nvSpPr>
        <p:spPr>
          <a:xfrm>
            <a:off x="9341876"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69" name="TextBox 6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0" name="TextBox 6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13  Pricing Hypothesis</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Q2</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가격 가설: 원가 Floor · 시장 Reference · 가치 Anchor로 Range 설정</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Range를 먼저 계산하고 소비자 WTP로 검증하는 구조. 가격은 VAT 별도, Kitchen Remodeling 공사비는 별도 (시장가).</a:t>
            </a:r>
          </a:p>
        </p:txBody>
      </p:sp>
      <p:sp>
        <p:nvSpPr>
          <p:cNvPr id="7" name="Rectangle 6"/>
          <p:cNvSpPr/>
          <p:nvPr/>
        </p:nvSpPr>
        <p:spPr>
          <a:xfrm>
            <a:off x="685800" y="1790567"/>
            <a:ext cx="3484778" cy="2148840"/>
          </a:xfrm>
          <a:prstGeom prst="rect">
            <a:avLst/>
          </a:prstGeom>
          <a:solidFill>
            <a:srgbClr val="F4F5F6"/>
          </a:solidFill>
          <a:ln>
            <a:noFill/>
          </a:ln>
        </p:spPr>
        <p:txBody>
          <a:bodyPr rtlCol="0" anchor="ctr"/>
          <a:lstStyle/>
          <a:p>
            <a:pPr algn="ctr"/>
          </a:p>
        </p:txBody>
      </p:sp>
      <p:sp>
        <p:nvSpPr>
          <p:cNvPr id="8" name="TextBox 7"/>
          <p:cNvSpPr txBox="1"/>
          <p:nvPr/>
        </p:nvSpPr>
        <p:spPr>
          <a:xfrm>
            <a:off x="850392"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Cost Floor</a:t>
            </a:r>
          </a:p>
        </p:txBody>
      </p:sp>
      <p:sp>
        <p:nvSpPr>
          <p:cNvPr id="9" name="Rectangle 8"/>
          <p:cNvSpPr/>
          <p:nvPr/>
        </p:nvSpPr>
        <p:spPr>
          <a:xfrm>
            <a:off x="3164738" y="1936871"/>
            <a:ext cx="563776" cy="182880"/>
          </a:xfrm>
          <a:prstGeom prst="rect">
            <a:avLst/>
          </a:prstGeom>
          <a:solidFill>
            <a:srgbClr val="5C6169"/>
          </a:solidFill>
          <a:ln>
            <a:noFill/>
          </a:ln>
        </p:spPr>
        <p:txBody>
          <a:bodyPr rtlCol="0" anchor="ctr"/>
          <a:lstStyle/>
          <a:p>
            <a:pPr algn="ctr"/>
          </a:p>
        </p:txBody>
      </p:sp>
      <p:sp>
        <p:nvSpPr>
          <p:cNvPr id="10" name="TextBox 9"/>
          <p:cNvSpPr txBox="1"/>
          <p:nvPr/>
        </p:nvSpPr>
        <p:spPr>
          <a:xfrm>
            <a:off x="3164738" y="1936871"/>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11" name="TextBox 10"/>
          <p:cNvSpPr txBox="1"/>
          <p:nvPr/>
        </p:nvSpPr>
        <p:spPr>
          <a:xfrm>
            <a:off x="850392"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Robot BOM 1,150만원 (Y3) / 900만원 (Y5)</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GM 30% 확보 Robot 가격: 1,643 / 1,286만원</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Rental 마진 20% 확보 월 요금: 31.3 / 24.4만원</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Robot-ready 원가 277만원 → 증분가 450만원 (GM 약 38%)</a:t>
            </a:r>
          </a:p>
        </p:txBody>
      </p:sp>
      <p:sp>
        <p:nvSpPr>
          <p:cNvPr id="12" name="Rectangle 11"/>
          <p:cNvSpPr/>
          <p:nvPr/>
        </p:nvSpPr>
        <p:spPr>
          <a:xfrm>
            <a:off x="4353458" y="1790567"/>
            <a:ext cx="3484778" cy="2148840"/>
          </a:xfrm>
          <a:prstGeom prst="rect">
            <a:avLst/>
          </a:prstGeom>
          <a:solidFill>
            <a:srgbClr val="F4F5F6"/>
          </a:solidFill>
          <a:ln>
            <a:noFill/>
          </a:ln>
        </p:spPr>
        <p:txBody>
          <a:bodyPr rtlCol="0" anchor="ctr"/>
          <a:lstStyle/>
          <a:p>
            <a:pPr algn="ctr"/>
          </a:p>
        </p:txBody>
      </p:sp>
      <p:sp>
        <p:nvSpPr>
          <p:cNvPr id="13" name="TextBox 12"/>
          <p:cNvSpPr txBox="1"/>
          <p:nvPr/>
        </p:nvSpPr>
        <p:spPr>
          <a:xfrm>
            <a:off x="4518050"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Market Reference</a:t>
            </a:r>
          </a:p>
        </p:txBody>
      </p:sp>
      <p:sp>
        <p:nvSpPr>
          <p:cNvPr id="14" name="Rectangle 13"/>
          <p:cNvSpPr/>
          <p:nvPr/>
        </p:nvSpPr>
        <p:spPr>
          <a:xfrm>
            <a:off x="6832396" y="1936871"/>
            <a:ext cx="373888" cy="182880"/>
          </a:xfrm>
          <a:prstGeom prst="rect">
            <a:avLst/>
          </a:prstGeom>
          <a:solidFill>
            <a:srgbClr val="15171A"/>
          </a:solidFill>
          <a:ln>
            <a:noFill/>
          </a:ln>
        </p:spPr>
        <p:txBody>
          <a:bodyPr rtlCol="0" anchor="ctr"/>
          <a:lstStyle/>
          <a:p>
            <a:pPr algn="ctr"/>
          </a:p>
        </p:txBody>
      </p:sp>
      <p:sp>
        <p:nvSpPr>
          <p:cNvPr id="15" name="TextBox 14"/>
          <p:cNvSpPr txBox="1"/>
          <p:nvPr/>
        </p:nvSpPr>
        <p:spPr>
          <a:xfrm>
            <a:off x="6832396" y="1936871"/>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6" name="TextBox 15"/>
          <p:cNvSpPr txBox="1"/>
          <p:nvPr/>
        </p:nvSpPr>
        <p:spPr>
          <a:xfrm>
            <a:off x="4518050"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1X NEO: $20,000 또는 월 $499 (2026 출하)</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Sunday Memo: 양산 시 $10k 미만 목표 (2026 베타)</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Moley Robotic Kitchen: Arm 포함 £248,000</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신축 유상옵션: 분양가의 평균 9.7%</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30평대 전체 리모델링 약 3,000만원 (한샘, 2019)</a:t>
            </a:r>
          </a:p>
        </p:txBody>
      </p:sp>
      <p:sp>
        <p:nvSpPr>
          <p:cNvPr id="17" name="Rectangle 16"/>
          <p:cNvSpPr/>
          <p:nvPr/>
        </p:nvSpPr>
        <p:spPr>
          <a:xfrm>
            <a:off x="8021116" y="1790567"/>
            <a:ext cx="3484778" cy="2148840"/>
          </a:xfrm>
          <a:prstGeom prst="rect">
            <a:avLst/>
          </a:prstGeom>
          <a:solidFill>
            <a:srgbClr val="F4F5F6"/>
          </a:solidFill>
          <a:ln>
            <a:noFill/>
          </a:ln>
        </p:spPr>
        <p:txBody>
          <a:bodyPr rtlCol="0" anchor="ctr"/>
          <a:lstStyle/>
          <a:p>
            <a:pPr algn="ctr"/>
          </a:p>
        </p:txBody>
      </p:sp>
      <p:sp>
        <p:nvSpPr>
          <p:cNvPr id="18" name="TextBox 17"/>
          <p:cNvSpPr txBox="1"/>
          <p:nvPr/>
        </p:nvSpPr>
        <p:spPr>
          <a:xfrm>
            <a:off x="8185708"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Value Anchor</a:t>
            </a:r>
          </a:p>
        </p:txBody>
      </p:sp>
      <p:sp>
        <p:nvSpPr>
          <p:cNvPr id="19" name="Rectangle 18"/>
          <p:cNvSpPr/>
          <p:nvPr/>
        </p:nvSpPr>
        <p:spPr>
          <a:xfrm>
            <a:off x="10500055" y="1936871"/>
            <a:ext cx="563776" cy="182880"/>
          </a:xfrm>
          <a:prstGeom prst="rect">
            <a:avLst/>
          </a:prstGeom>
          <a:solidFill>
            <a:srgbClr val="5C6169"/>
          </a:solidFill>
          <a:ln>
            <a:noFill/>
          </a:ln>
        </p:spPr>
        <p:txBody>
          <a:bodyPr rtlCol="0" anchor="ctr"/>
          <a:lstStyle/>
          <a:p>
            <a:pPr algn="ctr"/>
          </a:p>
        </p:txBody>
      </p:sp>
      <p:sp>
        <p:nvSpPr>
          <p:cNvPr id="20" name="TextBox 19"/>
          <p:cNvSpPr txBox="1"/>
          <p:nvPr/>
        </p:nvSpPr>
        <p:spPr>
          <a:xfrm>
            <a:off x="10500055" y="1936871"/>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21" name="TextBox 20"/>
          <p:cNvSpPr txBox="1"/>
          <p:nvPr/>
        </p:nvSpPr>
        <p:spPr>
          <a:xfrm>
            <a:off x="8185708"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Clean-up 40분/일 (ASSUMPTION) × 30일 = 20시간/월</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가사서비스 1.5만원/h (FACT, 플랫폼 4시간 6만원대)</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V1 자동화 비중 60% (ASSUMPTION)</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 월 18만원 (Range 11~24만원)</a:t>
            </a:r>
          </a:p>
        </p:txBody>
      </p:sp>
      <p:graphicFrame>
        <p:nvGraphicFramePr>
          <p:cNvPr id="22" name="Table 21"/>
          <p:cNvGraphicFramePr>
            <a:graphicFrameLocks noGrp="1"/>
          </p:cNvGraphicFramePr>
          <p:nvPr/>
        </p:nvGraphicFramePr>
        <p:xfrm>
          <a:off x="685800" y="4122287"/>
          <a:ext cx="10817352" cy="908304"/>
        </p:xfrm>
        <a:graphic>
          <a:graphicData uri="http://schemas.openxmlformats.org/drawingml/2006/table">
            <a:tbl>
              <a:tblPr firstRow="0" bandRow="0">
                <a:tableStyleId>{2D5ABB26-0587-4C30-8999-92F81FD0307C}</a:tableStyleId>
              </a:tblPr>
              <a:tblGrid>
                <a:gridCol w="1051560"/>
                <a:gridCol w="2011680"/>
                <a:gridCol w="4434840"/>
                <a:gridCol w="2377440"/>
                <a:gridCol w="941832"/>
              </a:tblGrid>
              <a:tr h="302768">
                <a:tc>
                  <a:txBody>
                    <a:bodyPr wrap="square"/>
                    <a:lstStyle/>
                    <a:p>
                      <a:pPr algn="l">
                        <a:lnSpc>
                          <a:spcPct val="100000"/>
                        </a:lnSpc>
                      </a:pPr>
                      <a:r>
                        <a:rPr sz="1000" b="1">
                          <a:solidFill>
                            <a:srgbClr val="15171A"/>
                          </a:solidFill>
                          <a:latin typeface="Noto Sans KR"/>
                          <a:ea typeface="Noto Sans KR"/>
                          <a:cs typeface="Noto Sans KR"/>
                        </a:rPr>
                        <a:t>모델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고객 기존 지출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ARKI 가격 가설 (Base)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WTP Test Point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구매 모델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공사비 (시장가,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450 + Robot 1,490 + 설치 80 = ARKI 2,020만원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990 / 1,290 / 1,490 / 1,790만원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Rental 모델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공사비 (시장가,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450 + 설치 80 + 월 33만원 × 60개월 (Care Basic·Grip Kit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월 19 / 25 / 29 / 33 / 39만원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bl>
          </a:graphicData>
        </a:graphic>
      </p:graphicFrame>
      <p:sp>
        <p:nvSpPr>
          <p:cNvPr id="23" name="Rectangle 22"/>
          <p:cNvSpPr/>
          <p:nvPr/>
        </p:nvSpPr>
        <p:spPr>
          <a:xfrm>
            <a:off x="685800" y="5532120"/>
            <a:ext cx="10820095" cy="624027"/>
          </a:xfrm>
          <a:prstGeom prst="rect">
            <a:avLst/>
          </a:prstGeom>
          <a:solidFill>
            <a:srgbClr val="F4F5F6"/>
          </a:solidFill>
          <a:ln>
            <a:noFill/>
          </a:ln>
        </p:spPr>
        <p:txBody>
          <a:bodyPr rtlCol="0" anchor="ctr"/>
          <a:lstStyle/>
          <a:p>
            <a:pPr algn="ctr"/>
          </a:p>
        </p:txBody>
      </p:sp>
      <p:sp>
        <p:nvSpPr>
          <p:cNvPr id="24" name="Rectangle 23"/>
          <p:cNvSpPr/>
          <p:nvPr/>
        </p:nvSpPr>
        <p:spPr>
          <a:xfrm>
            <a:off x="685800" y="5532120"/>
            <a:ext cx="54864" cy="624027"/>
          </a:xfrm>
          <a:prstGeom prst="rect">
            <a:avLst/>
          </a:prstGeom>
          <a:solidFill>
            <a:srgbClr val="E2571B"/>
          </a:solidFill>
          <a:ln>
            <a:noFill/>
          </a:ln>
        </p:spPr>
        <p:txBody>
          <a:bodyPr rtlCol="0" anchor="ctr"/>
          <a:lstStyle/>
          <a:p>
            <a:pPr algn="ctr"/>
          </a:p>
        </p:txBody>
      </p:sp>
      <p:sp>
        <p:nvSpPr>
          <p:cNvPr id="25" name="TextBox 24"/>
          <p:cNvSpPr txBox="1"/>
          <p:nvPr/>
        </p:nvSpPr>
        <p:spPr>
          <a:xfrm>
            <a:off x="886968" y="553212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Gap: 가치 Anchor 월 11~24만원 &lt; 원가 기반 Rental 월 24~31만원  →  V1 단일 Task의 가사 대체 가치만으로 가격 정당화 어려움. Premium Amenity 가치 · V2 Task 확장 · BOM 절감 필요 → WTP 검증이 Seed 1순위</a:t>
            </a:r>
          </a:p>
        </p:txBody>
      </p:sp>
      <p:sp>
        <p:nvSpPr>
          <p:cNvPr id="26" name="TextBox 2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27" name="TextBox 2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14  Household Economics</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Q3</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Household Economics: 구축 Premium 1세대가 5년간 만드는 경제적 가치</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구매 모델 · 직접판매 · Care 가입 세대 기준, Software·Tool은 구매율 반영 기대값 (만원). 모든 값 = ASSUMPTION 기반 DERIVED.</a:t>
            </a:r>
          </a:p>
        </p:txBody>
      </p:sp>
      <p:sp>
        <p:nvSpPr>
          <p:cNvPr id="9" name="TextBox 8"/>
          <p:cNvSpPr txBox="1"/>
          <p:nvPr/>
        </p:nvSpPr>
        <p:spPr>
          <a:xfrm>
            <a:off x="685800" y="1772279"/>
            <a:ext cx="5760720" cy="256032"/>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Y3 원가 수준 · 구매 · 5년 (만원)</a:t>
            </a:r>
          </a:p>
        </p:txBody>
      </p:sp>
      <p:sp>
        <p:nvSpPr>
          <p:cNvPr id="10" name="TextBox 9"/>
          <p:cNvSpPr txBox="1"/>
          <p:nvPr/>
        </p:nvSpPr>
        <p:spPr>
          <a:xfrm>
            <a:off x="685800" y="208317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Robot-ready 증분</a:t>
            </a:r>
          </a:p>
        </p:txBody>
      </p:sp>
      <p:sp>
        <p:nvSpPr>
          <p:cNvPr id="11" name="Rectangle 10"/>
          <p:cNvSpPr/>
          <p:nvPr/>
        </p:nvSpPr>
        <p:spPr>
          <a:xfrm>
            <a:off x="2560320" y="2128895"/>
            <a:ext cx="612625" cy="141732"/>
          </a:xfrm>
          <a:prstGeom prst="rect">
            <a:avLst/>
          </a:prstGeom>
          <a:solidFill>
            <a:srgbClr val="15171A"/>
          </a:solidFill>
          <a:ln>
            <a:noFill/>
          </a:ln>
        </p:spPr>
        <p:txBody>
          <a:bodyPr rtlCol="0" anchor="ctr"/>
          <a:lstStyle/>
          <a:p>
            <a:pPr algn="ctr"/>
          </a:p>
        </p:txBody>
      </p:sp>
      <p:sp>
        <p:nvSpPr>
          <p:cNvPr id="12" name="TextBox 11"/>
          <p:cNvSpPr txBox="1"/>
          <p:nvPr/>
        </p:nvSpPr>
        <p:spPr>
          <a:xfrm>
            <a:off x="3218665" y="208317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450</a:t>
            </a:r>
          </a:p>
        </p:txBody>
      </p:sp>
      <p:sp>
        <p:nvSpPr>
          <p:cNvPr id="13" name="TextBox 12"/>
          <p:cNvSpPr txBox="1"/>
          <p:nvPr/>
        </p:nvSpPr>
        <p:spPr>
          <a:xfrm>
            <a:off x="685800" y="2316347"/>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a:t>
            </a:r>
          </a:p>
        </p:txBody>
      </p:sp>
      <p:sp>
        <p:nvSpPr>
          <p:cNvPr id="14" name="Rectangle 13"/>
          <p:cNvSpPr/>
          <p:nvPr/>
        </p:nvSpPr>
        <p:spPr>
          <a:xfrm>
            <a:off x="3172945" y="2362067"/>
            <a:ext cx="2028470" cy="141732"/>
          </a:xfrm>
          <a:prstGeom prst="rect">
            <a:avLst/>
          </a:prstGeom>
          <a:solidFill>
            <a:srgbClr val="15171A"/>
          </a:solidFill>
          <a:ln>
            <a:noFill/>
          </a:ln>
        </p:spPr>
        <p:txBody>
          <a:bodyPr rtlCol="0" anchor="ctr"/>
          <a:lstStyle/>
          <a:p>
            <a:pPr algn="ctr"/>
          </a:p>
        </p:txBody>
      </p:sp>
      <p:sp>
        <p:nvSpPr>
          <p:cNvPr id="15" name="TextBox 14"/>
          <p:cNvSpPr txBox="1"/>
          <p:nvPr/>
        </p:nvSpPr>
        <p:spPr>
          <a:xfrm>
            <a:off x="5247135" y="2316347"/>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1,490</a:t>
            </a:r>
          </a:p>
        </p:txBody>
      </p:sp>
      <p:sp>
        <p:nvSpPr>
          <p:cNvPr id="16" name="TextBox 15"/>
          <p:cNvSpPr txBox="1"/>
          <p:nvPr/>
        </p:nvSpPr>
        <p:spPr>
          <a:xfrm>
            <a:off x="685800" y="254951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설치·Calibration</a:t>
            </a:r>
          </a:p>
        </p:txBody>
      </p:sp>
      <p:sp>
        <p:nvSpPr>
          <p:cNvPr id="17" name="Rectangle 16"/>
          <p:cNvSpPr/>
          <p:nvPr/>
        </p:nvSpPr>
        <p:spPr>
          <a:xfrm>
            <a:off x="5201415" y="2595239"/>
            <a:ext cx="108911" cy="141732"/>
          </a:xfrm>
          <a:prstGeom prst="rect">
            <a:avLst/>
          </a:prstGeom>
          <a:solidFill>
            <a:srgbClr val="15171A"/>
          </a:solidFill>
          <a:ln>
            <a:noFill/>
          </a:ln>
        </p:spPr>
        <p:txBody>
          <a:bodyPr rtlCol="0" anchor="ctr"/>
          <a:lstStyle/>
          <a:p>
            <a:pPr algn="ctr"/>
          </a:p>
        </p:txBody>
      </p:sp>
      <p:sp>
        <p:nvSpPr>
          <p:cNvPr id="18" name="TextBox 17"/>
          <p:cNvSpPr txBox="1"/>
          <p:nvPr/>
        </p:nvSpPr>
        <p:spPr>
          <a:xfrm>
            <a:off x="5356046" y="254951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80</a:t>
            </a:r>
          </a:p>
        </p:txBody>
      </p:sp>
      <p:sp>
        <p:nvSpPr>
          <p:cNvPr id="19" name="TextBox 18"/>
          <p:cNvSpPr txBox="1"/>
          <p:nvPr/>
        </p:nvSpPr>
        <p:spPr>
          <a:xfrm>
            <a:off x="685800" y="278269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Care 5년</a:t>
            </a:r>
          </a:p>
        </p:txBody>
      </p:sp>
      <p:sp>
        <p:nvSpPr>
          <p:cNvPr id="20" name="Rectangle 19"/>
          <p:cNvSpPr/>
          <p:nvPr/>
        </p:nvSpPr>
        <p:spPr>
          <a:xfrm>
            <a:off x="5310326" y="2828411"/>
            <a:ext cx="326733" cy="141732"/>
          </a:xfrm>
          <a:prstGeom prst="rect">
            <a:avLst/>
          </a:prstGeom>
          <a:solidFill>
            <a:srgbClr val="15171A"/>
          </a:solidFill>
          <a:ln>
            <a:noFill/>
          </a:ln>
        </p:spPr>
        <p:txBody>
          <a:bodyPr rtlCol="0" anchor="ctr"/>
          <a:lstStyle/>
          <a:p>
            <a:pPr algn="ctr"/>
          </a:p>
        </p:txBody>
      </p:sp>
      <p:sp>
        <p:nvSpPr>
          <p:cNvPr id="21" name="TextBox 20"/>
          <p:cNvSpPr txBox="1"/>
          <p:nvPr/>
        </p:nvSpPr>
        <p:spPr>
          <a:xfrm>
            <a:off x="5682780" y="278269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240</a:t>
            </a:r>
          </a:p>
        </p:txBody>
      </p:sp>
      <p:sp>
        <p:nvSpPr>
          <p:cNvPr id="22" name="TextBox 21"/>
          <p:cNvSpPr txBox="1"/>
          <p:nvPr/>
        </p:nvSpPr>
        <p:spPr>
          <a:xfrm>
            <a:off x="685800" y="3015863"/>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Consumables 5년</a:t>
            </a:r>
          </a:p>
        </p:txBody>
      </p:sp>
      <p:sp>
        <p:nvSpPr>
          <p:cNvPr id="23" name="Rectangle 22"/>
          <p:cNvSpPr/>
          <p:nvPr/>
        </p:nvSpPr>
        <p:spPr>
          <a:xfrm>
            <a:off x="5637060" y="3061583"/>
            <a:ext cx="171535" cy="141732"/>
          </a:xfrm>
          <a:prstGeom prst="rect">
            <a:avLst/>
          </a:prstGeom>
          <a:solidFill>
            <a:srgbClr val="15171A"/>
          </a:solidFill>
          <a:ln>
            <a:noFill/>
          </a:ln>
        </p:spPr>
        <p:txBody>
          <a:bodyPr rtlCol="0" anchor="ctr"/>
          <a:lstStyle/>
          <a:p>
            <a:pPr algn="ctr"/>
          </a:p>
        </p:txBody>
      </p:sp>
      <p:sp>
        <p:nvSpPr>
          <p:cNvPr id="24" name="TextBox 23"/>
          <p:cNvSpPr txBox="1"/>
          <p:nvPr/>
        </p:nvSpPr>
        <p:spPr>
          <a:xfrm>
            <a:off x="5854315" y="3015863"/>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126</a:t>
            </a:r>
          </a:p>
        </p:txBody>
      </p:sp>
      <p:sp>
        <p:nvSpPr>
          <p:cNvPr id="25" name="TextBox 24"/>
          <p:cNvSpPr txBox="1"/>
          <p:nvPr/>
        </p:nvSpPr>
        <p:spPr>
          <a:xfrm>
            <a:off x="685800" y="324903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Upgrade 기대값</a:t>
            </a:r>
          </a:p>
        </p:txBody>
      </p:sp>
      <p:sp>
        <p:nvSpPr>
          <p:cNvPr id="26" name="Rectangle 25"/>
          <p:cNvSpPr/>
          <p:nvPr/>
        </p:nvSpPr>
        <p:spPr>
          <a:xfrm>
            <a:off x="5808595" y="3294755"/>
            <a:ext cx="43564" cy="141732"/>
          </a:xfrm>
          <a:prstGeom prst="rect">
            <a:avLst/>
          </a:prstGeom>
          <a:solidFill>
            <a:srgbClr val="15171A"/>
          </a:solidFill>
          <a:ln>
            <a:noFill/>
          </a:ln>
        </p:spPr>
        <p:txBody>
          <a:bodyPr rtlCol="0" anchor="ctr"/>
          <a:lstStyle/>
          <a:p>
            <a:pPr algn="ctr"/>
          </a:p>
        </p:txBody>
      </p:sp>
      <p:sp>
        <p:nvSpPr>
          <p:cNvPr id="27" name="TextBox 26"/>
          <p:cNvSpPr txBox="1"/>
          <p:nvPr/>
        </p:nvSpPr>
        <p:spPr>
          <a:xfrm>
            <a:off x="5897880" y="324903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32</a:t>
            </a:r>
          </a:p>
        </p:txBody>
      </p:sp>
      <p:sp>
        <p:nvSpPr>
          <p:cNvPr id="28" name="TextBox 27"/>
          <p:cNvSpPr txBox="1"/>
          <p:nvPr/>
        </p:nvSpPr>
        <p:spPr>
          <a:xfrm>
            <a:off x="685800" y="3482207"/>
            <a:ext cx="1783080" cy="233172"/>
          </a:xfrm>
          <a:prstGeom prst="rect">
            <a:avLst/>
          </a:prstGeom>
          <a:noFill/>
        </p:spPr>
        <p:txBody>
          <a:bodyPr wrap="square" lIns="0" rIns="0" tIns="0" bIns="0" anchor="ctr">
            <a:spAutoFit/>
          </a:bodyPr>
          <a:lstStyle/>
          <a:p>
            <a:pPr algn="r">
              <a:lnSpc>
                <a:spcPct val="100000"/>
              </a:lnSpc>
            </a:pPr>
            <a:r>
              <a:rPr sz="900" b="1">
                <a:solidFill>
                  <a:srgbClr val="15171A"/>
                </a:solidFill>
                <a:latin typeface="Noto Sans KR"/>
                <a:ea typeface="Noto Sans KR"/>
                <a:cs typeface="Noto Sans KR"/>
              </a:rPr>
              <a:t>5년 매출</a:t>
            </a:r>
          </a:p>
        </p:txBody>
      </p:sp>
      <p:sp>
        <p:nvSpPr>
          <p:cNvPr id="29" name="Rectangle 28"/>
          <p:cNvSpPr/>
          <p:nvPr/>
        </p:nvSpPr>
        <p:spPr>
          <a:xfrm>
            <a:off x="2560320" y="3527927"/>
            <a:ext cx="3291839" cy="141732"/>
          </a:xfrm>
          <a:prstGeom prst="rect">
            <a:avLst/>
          </a:prstGeom>
          <a:solidFill>
            <a:srgbClr val="5C6169"/>
          </a:solidFill>
          <a:ln>
            <a:noFill/>
          </a:ln>
        </p:spPr>
        <p:txBody>
          <a:bodyPr rtlCol="0" anchor="ctr"/>
          <a:lstStyle/>
          <a:p>
            <a:pPr algn="ctr"/>
          </a:p>
        </p:txBody>
      </p:sp>
      <p:sp>
        <p:nvSpPr>
          <p:cNvPr id="30" name="TextBox 29"/>
          <p:cNvSpPr txBox="1"/>
          <p:nvPr/>
        </p:nvSpPr>
        <p:spPr>
          <a:xfrm>
            <a:off x="5897880" y="3482207"/>
            <a:ext cx="685800" cy="233172"/>
          </a:xfrm>
          <a:prstGeom prst="rect">
            <a:avLst/>
          </a:prstGeom>
          <a:noFill/>
        </p:spPr>
        <p:txBody>
          <a:bodyPr wrap="square" lIns="0" rIns="0" tIns="0" bIns="0" anchor="ctr">
            <a:spAutoFit/>
          </a:bodyPr>
          <a:lstStyle/>
          <a:p>
            <a:pPr algn="l">
              <a:lnSpc>
                <a:spcPct val="100000"/>
              </a:lnSpc>
            </a:pPr>
            <a:r>
              <a:rPr sz="850" b="1">
                <a:solidFill>
                  <a:srgbClr val="4A4F57"/>
                </a:solidFill>
                <a:latin typeface="Noto Sans KR"/>
                <a:ea typeface="Noto Sans KR"/>
                <a:cs typeface="Noto Sans KR"/>
              </a:rPr>
              <a:t>2,418</a:t>
            </a:r>
          </a:p>
        </p:txBody>
      </p:sp>
      <p:sp>
        <p:nvSpPr>
          <p:cNvPr id="31" name="TextBox 30"/>
          <p:cNvSpPr txBox="1"/>
          <p:nvPr/>
        </p:nvSpPr>
        <p:spPr>
          <a:xfrm>
            <a:off x="685800" y="371537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 BOM</a:t>
            </a:r>
          </a:p>
        </p:txBody>
      </p:sp>
      <p:sp>
        <p:nvSpPr>
          <p:cNvPr id="32" name="Rectangle 31"/>
          <p:cNvSpPr/>
          <p:nvPr/>
        </p:nvSpPr>
        <p:spPr>
          <a:xfrm>
            <a:off x="4286561" y="3761099"/>
            <a:ext cx="1565598" cy="141732"/>
          </a:xfrm>
          <a:prstGeom prst="rect">
            <a:avLst/>
          </a:prstGeom>
          <a:solidFill>
            <a:srgbClr val="C9CDD2"/>
          </a:solidFill>
          <a:ln>
            <a:noFill/>
          </a:ln>
        </p:spPr>
        <p:txBody>
          <a:bodyPr rtlCol="0" anchor="ctr"/>
          <a:lstStyle/>
          <a:p>
            <a:pPr algn="ctr"/>
          </a:p>
        </p:txBody>
      </p:sp>
      <p:sp>
        <p:nvSpPr>
          <p:cNvPr id="33" name="TextBox 32"/>
          <p:cNvSpPr txBox="1"/>
          <p:nvPr/>
        </p:nvSpPr>
        <p:spPr>
          <a:xfrm>
            <a:off x="5897879" y="371537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-1,150</a:t>
            </a:r>
          </a:p>
        </p:txBody>
      </p:sp>
      <p:sp>
        <p:nvSpPr>
          <p:cNvPr id="34" name="TextBox 33"/>
          <p:cNvSpPr txBox="1"/>
          <p:nvPr/>
        </p:nvSpPr>
        <p:spPr>
          <a:xfrm>
            <a:off x="685800" y="394855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Kitchen Module</a:t>
            </a:r>
          </a:p>
        </p:txBody>
      </p:sp>
      <p:sp>
        <p:nvSpPr>
          <p:cNvPr id="35" name="Rectangle 34"/>
          <p:cNvSpPr/>
          <p:nvPr/>
        </p:nvSpPr>
        <p:spPr>
          <a:xfrm>
            <a:off x="3909457" y="3994271"/>
            <a:ext cx="377104" cy="141732"/>
          </a:xfrm>
          <a:prstGeom prst="rect">
            <a:avLst/>
          </a:prstGeom>
          <a:solidFill>
            <a:srgbClr val="C9CDD2"/>
          </a:solidFill>
          <a:ln>
            <a:noFill/>
          </a:ln>
        </p:spPr>
        <p:txBody>
          <a:bodyPr rtlCol="0" anchor="ctr"/>
          <a:lstStyle/>
          <a:p>
            <a:pPr algn="ctr"/>
          </a:p>
        </p:txBody>
      </p:sp>
      <p:sp>
        <p:nvSpPr>
          <p:cNvPr id="36" name="TextBox 35"/>
          <p:cNvSpPr txBox="1"/>
          <p:nvPr/>
        </p:nvSpPr>
        <p:spPr>
          <a:xfrm>
            <a:off x="4332281" y="394855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-277</a:t>
            </a:r>
          </a:p>
        </p:txBody>
      </p:sp>
      <p:sp>
        <p:nvSpPr>
          <p:cNvPr id="37" name="TextBox 36"/>
          <p:cNvSpPr txBox="1"/>
          <p:nvPr/>
        </p:nvSpPr>
        <p:spPr>
          <a:xfrm>
            <a:off x="685800" y="4181723"/>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설치·물류</a:t>
            </a:r>
          </a:p>
        </p:txBody>
      </p:sp>
      <p:sp>
        <p:nvSpPr>
          <p:cNvPr id="38" name="Rectangle 37"/>
          <p:cNvSpPr/>
          <p:nvPr/>
        </p:nvSpPr>
        <p:spPr>
          <a:xfrm>
            <a:off x="3793738" y="4227443"/>
            <a:ext cx="115718" cy="141732"/>
          </a:xfrm>
          <a:prstGeom prst="rect">
            <a:avLst/>
          </a:prstGeom>
          <a:solidFill>
            <a:srgbClr val="C9CDD2"/>
          </a:solidFill>
          <a:ln>
            <a:noFill/>
          </a:ln>
        </p:spPr>
        <p:txBody>
          <a:bodyPr rtlCol="0" anchor="ctr"/>
          <a:lstStyle/>
          <a:p>
            <a:pPr algn="ctr"/>
          </a:p>
        </p:txBody>
      </p:sp>
      <p:sp>
        <p:nvSpPr>
          <p:cNvPr id="39" name="TextBox 38"/>
          <p:cNvSpPr txBox="1"/>
          <p:nvPr/>
        </p:nvSpPr>
        <p:spPr>
          <a:xfrm>
            <a:off x="3955177" y="4181723"/>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-85</a:t>
            </a:r>
          </a:p>
        </p:txBody>
      </p:sp>
      <p:sp>
        <p:nvSpPr>
          <p:cNvPr id="40" name="TextBox 39"/>
          <p:cNvSpPr txBox="1"/>
          <p:nvPr/>
        </p:nvSpPr>
        <p:spPr>
          <a:xfrm>
            <a:off x="685800" y="441489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Warranty</a:t>
            </a:r>
          </a:p>
        </p:txBody>
      </p:sp>
      <p:sp>
        <p:nvSpPr>
          <p:cNvPr id="41" name="Rectangle 40"/>
          <p:cNvSpPr/>
          <p:nvPr/>
        </p:nvSpPr>
        <p:spPr>
          <a:xfrm>
            <a:off x="3712600" y="4460615"/>
            <a:ext cx="81138" cy="141732"/>
          </a:xfrm>
          <a:prstGeom prst="rect">
            <a:avLst/>
          </a:prstGeom>
          <a:solidFill>
            <a:srgbClr val="C9CDD2"/>
          </a:solidFill>
          <a:ln>
            <a:noFill/>
          </a:ln>
        </p:spPr>
        <p:txBody>
          <a:bodyPr rtlCol="0" anchor="ctr"/>
          <a:lstStyle/>
          <a:p>
            <a:pPr algn="ctr"/>
          </a:p>
        </p:txBody>
      </p:sp>
      <p:sp>
        <p:nvSpPr>
          <p:cNvPr id="42" name="TextBox 41"/>
          <p:cNvSpPr txBox="1"/>
          <p:nvPr/>
        </p:nvSpPr>
        <p:spPr>
          <a:xfrm>
            <a:off x="3839458" y="441489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-60</a:t>
            </a:r>
          </a:p>
        </p:txBody>
      </p:sp>
      <p:sp>
        <p:nvSpPr>
          <p:cNvPr id="43" name="TextBox 42"/>
          <p:cNvSpPr txBox="1"/>
          <p:nvPr/>
        </p:nvSpPr>
        <p:spPr>
          <a:xfrm>
            <a:off x="685800" y="4648067"/>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Care 원가</a:t>
            </a:r>
          </a:p>
        </p:txBody>
      </p:sp>
      <p:sp>
        <p:nvSpPr>
          <p:cNvPr id="44" name="Rectangle 43"/>
          <p:cNvSpPr/>
          <p:nvPr/>
        </p:nvSpPr>
        <p:spPr>
          <a:xfrm>
            <a:off x="3462104" y="4693787"/>
            <a:ext cx="250495" cy="141732"/>
          </a:xfrm>
          <a:prstGeom prst="rect">
            <a:avLst/>
          </a:prstGeom>
          <a:solidFill>
            <a:srgbClr val="C9CDD2"/>
          </a:solidFill>
          <a:ln>
            <a:noFill/>
          </a:ln>
        </p:spPr>
        <p:txBody>
          <a:bodyPr rtlCol="0" anchor="ctr"/>
          <a:lstStyle/>
          <a:p>
            <a:pPr algn="ctr"/>
          </a:p>
        </p:txBody>
      </p:sp>
      <p:sp>
        <p:nvSpPr>
          <p:cNvPr id="45" name="TextBox 44"/>
          <p:cNvSpPr txBox="1"/>
          <p:nvPr/>
        </p:nvSpPr>
        <p:spPr>
          <a:xfrm>
            <a:off x="3758320" y="4648067"/>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-184</a:t>
            </a:r>
          </a:p>
        </p:txBody>
      </p:sp>
      <p:sp>
        <p:nvSpPr>
          <p:cNvPr id="46" name="TextBox 45"/>
          <p:cNvSpPr txBox="1"/>
          <p:nvPr/>
        </p:nvSpPr>
        <p:spPr>
          <a:xfrm>
            <a:off x="685800" y="488123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Consumables·Upgrade 원가</a:t>
            </a:r>
          </a:p>
        </p:txBody>
      </p:sp>
      <p:sp>
        <p:nvSpPr>
          <p:cNvPr id="47" name="Rectangle 46"/>
          <p:cNvSpPr/>
          <p:nvPr/>
        </p:nvSpPr>
        <p:spPr>
          <a:xfrm>
            <a:off x="3388181" y="4926959"/>
            <a:ext cx="73923" cy="141732"/>
          </a:xfrm>
          <a:prstGeom prst="rect">
            <a:avLst/>
          </a:prstGeom>
          <a:solidFill>
            <a:srgbClr val="C9CDD2"/>
          </a:solidFill>
          <a:ln>
            <a:noFill/>
          </a:ln>
        </p:spPr>
        <p:txBody>
          <a:bodyPr rtlCol="0" anchor="ctr"/>
          <a:lstStyle/>
          <a:p>
            <a:pPr algn="ctr"/>
          </a:p>
        </p:txBody>
      </p:sp>
      <p:sp>
        <p:nvSpPr>
          <p:cNvPr id="48" name="TextBox 47"/>
          <p:cNvSpPr txBox="1"/>
          <p:nvPr/>
        </p:nvSpPr>
        <p:spPr>
          <a:xfrm>
            <a:off x="3507824" y="488123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-54</a:t>
            </a:r>
          </a:p>
        </p:txBody>
      </p:sp>
      <p:sp>
        <p:nvSpPr>
          <p:cNvPr id="49" name="TextBox 48"/>
          <p:cNvSpPr txBox="1"/>
          <p:nvPr/>
        </p:nvSpPr>
        <p:spPr>
          <a:xfrm>
            <a:off x="685800" y="511441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획득비용 (CAC)</a:t>
            </a:r>
          </a:p>
        </p:txBody>
      </p:sp>
      <p:sp>
        <p:nvSpPr>
          <p:cNvPr id="50" name="Rectangle 49"/>
          <p:cNvSpPr/>
          <p:nvPr/>
        </p:nvSpPr>
        <p:spPr>
          <a:xfrm>
            <a:off x="3183972" y="5160131"/>
            <a:ext cx="204208" cy="141732"/>
          </a:xfrm>
          <a:prstGeom prst="rect">
            <a:avLst/>
          </a:prstGeom>
          <a:solidFill>
            <a:srgbClr val="C9CDD2"/>
          </a:solidFill>
          <a:ln>
            <a:noFill/>
          </a:ln>
        </p:spPr>
        <p:txBody>
          <a:bodyPr rtlCol="0" anchor="ctr"/>
          <a:lstStyle/>
          <a:p>
            <a:pPr algn="ctr"/>
          </a:p>
        </p:txBody>
      </p:sp>
      <p:sp>
        <p:nvSpPr>
          <p:cNvPr id="51" name="TextBox 50"/>
          <p:cNvSpPr txBox="1"/>
          <p:nvPr/>
        </p:nvSpPr>
        <p:spPr>
          <a:xfrm>
            <a:off x="3433901" y="511441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-150</a:t>
            </a:r>
          </a:p>
        </p:txBody>
      </p:sp>
      <p:sp>
        <p:nvSpPr>
          <p:cNvPr id="52" name="TextBox 51"/>
          <p:cNvSpPr txBox="1"/>
          <p:nvPr/>
        </p:nvSpPr>
        <p:spPr>
          <a:xfrm>
            <a:off x="685800" y="5347583"/>
            <a:ext cx="1783080" cy="233172"/>
          </a:xfrm>
          <a:prstGeom prst="rect">
            <a:avLst/>
          </a:prstGeom>
          <a:noFill/>
        </p:spPr>
        <p:txBody>
          <a:bodyPr wrap="square" lIns="0" rIns="0" tIns="0" bIns="0" anchor="ctr">
            <a:spAutoFit/>
          </a:bodyPr>
          <a:lstStyle/>
          <a:p>
            <a:pPr algn="r">
              <a:lnSpc>
                <a:spcPct val="100000"/>
              </a:lnSpc>
            </a:pPr>
            <a:r>
              <a:rPr sz="900" b="1">
                <a:solidFill>
                  <a:srgbClr val="15171A"/>
                </a:solidFill>
                <a:latin typeface="Noto Sans KR"/>
                <a:ea typeface="Noto Sans KR"/>
                <a:cs typeface="Noto Sans KR"/>
              </a:rPr>
              <a:t>Contribution</a:t>
            </a:r>
          </a:p>
        </p:txBody>
      </p:sp>
      <p:sp>
        <p:nvSpPr>
          <p:cNvPr id="53" name="Rectangle 52"/>
          <p:cNvSpPr/>
          <p:nvPr/>
        </p:nvSpPr>
        <p:spPr>
          <a:xfrm>
            <a:off x="2560320" y="5393303"/>
            <a:ext cx="623652" cy="141732"/>
          </a:xfrm>
          <a:prstGeom prst="rect">
            <a:avLst/>
          </a:prstGeom>
          <a:solidFill>
            <a:srgbClr val="E2571B"/>
          </a:solidFill>
          <a:ln>
            <a:noFill/>
          </a:ln>
        </p:spPr>
        <p:txBody>
          <a:bodyPr rtlCol="0" anchor="ctr"/>
          <a:lstStyle/>
          <a:p>
            <a:pPr algn="ctr"/>
          </a:p>
        </p:txBody>
      </p:sp>
      <p:sp>
        <p:nvSpPr>
          <p:cNvPr id="54" name="TextBox 53"/>
          <p:cNvSpPr txBox="1"/>
          <p:nvPr/>
        </p:nvSpPr>
        <p:spPr>
          <a:xfrm>
            <a:off x="3229692" y="5347583"/>
            <a:ext cx="685800" cy="233172"/>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458</a:t>
            </a:r>
          </a:p>
        </p:txBody>
      </p:sp>
      <p:graphicFrame>
        <p:nvGraphicFramePr>
          <p:cNvPr id="55" name="Table 54"/>
          <p:cNvGraphicFramePr>
            <a:graphicFrameLocks noGrp="1"/>
          </p:cNvGraphicFramePr>
          <p:nvPr/>
        </p:nvGraphicFramePr>
        <p:xfrm>
          <a:off x="6766559" y="2064887"/>
          <a:ext cx="4739335" cy="2606040"/>
        </p:xfrm>
        <a:graphic>
          <a:graphicData uri="http://schemas.openxmlformats.org/drawingml/2006/table">
            <a:tbl>
              <a:tblPr firstRow="0" bandRow="0">
                <a:tableStyleId>{2D5ABB26-0587-4C30-8999-92F81FD0307C}</a:tableStyleId>
              </a:tblPr>
              <a:tblGrid>
                <a:gridCol w="1447495"/>
                <a:gridCol w="822960"/>
                <a:gridCol w="822960"/>
                <a:gridCol w="822960"/>
                <a:gridCol w="822960"/>
              </a:tblGrid>
              <a:tr h="302768">
                <a:tc>
                  <a:txBody>
                    <a:bodyPr wrap="square"/>
                    <a:lstStyle/>
                    <a:p>
                      <a:pPr algn="l">
                        <a:lnSpc>
                          <a:spcPct val="100000"/>
                        </a:lnSpc>
                      </a:pPr>
                      <a:r>
                        <a:rPr sz="100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구매 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구매 Y5</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Rental 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Rental 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Year 0 매출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5년 매출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2,418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2,418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2,605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2,605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Recurring 매출 (5년)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2,043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2,043</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5년 매출총이익</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608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963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707</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1,092</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1">
                          <a:solidFill>
                            <a:srgbClr val="15171A"/>
                          </a:solidFill>
                          <a:latin typeface="Noto Sans KR"/>
                          <a:ea typeface="Noto Sans KR"/>
                          <a:cs typeface="Noto Sans KR"/>
                        </a:rPr>
                        <a:t>Lifetime Contribution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458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813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557</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942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Contribution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18.9%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BOM 가정</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r>
            </a:tbl>
          </a:graphicData>
        </a:graphic>
      </p:graphicFrame>
      <p:sp>
        <p:nvSpPr>
          <p:cNvPr id="56" name="TextBox 55"/>
          <p:cNvSpPr txBox="1"/>
          <p:nvPr/>
        </p:nvSpPr>
        <p:spPr>
          <a:xfrm>
            <a:off x="6766559" y="4945247"/>
            <a:ext cx="4739335" cy="82296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50" b="0">
                <a:solidFill>
                  <a:srgbClr val="4A4F57"/>
                </a:solidFill>
                <a:latin typeface="Noto Sans KR"/>
                <a:ea typeface="Noto Sans KR"/>
                <a:cs typeface="Noto Sans KR"/>
              </a:rPr>
              <a:t>Rental: Robot 자산 잔존가치 15% 회수, 금융비용 8% 반영 (ARKI 보유 가정)</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Partner 경유 시 Contribution 약 50만원 감소 (수수료 10%)</a:t>
            </a:r>
          </a:p>
        </p:txBody>
      </p:sp>
      <p:sp>
        <p:nvSpPr>
          <p:cNvPr id="57" name="Rectangle 56"/>
          <p:cNvSpPr/>
          <p:nvPr/>
        </p:nvSpPr>
        <p:spPr>
          <a:xfrm>
            <a:off x="685800" y="5577840"/>
            <a:ext cx="10820095" cy="430936"/>
          </a:xfrm>
          <a:prstGeom prst="rect">
            <a:avLst/>
          </a:prstGeom>
          <a:solidFill>
            <a:srgbClr val="F4F5F6"/>
          </a:solidFill>
          <a:ln>
            <a:noFill/>
          </a:ln>
        </p:spPr>
        <p:txBody>
          <a:bodyPr rtlCol="0" anchor="ctr"/>
          <a:lstStyle/>
          <a:p>
            <a:pPr algn="ctr"/>
          </a:p>
        </p:txBody>
      </p:sp>
      <p:sp>
        <p:nvSpPr>
          <p:cNvPr id="58" name="Rectangle 57"/>
          <p:cNvSpPr/>
          <p:nvPr/>
        </p:nvSpPr>
        <p:spPr>
          <a:xfrm>
            <a:off x="685800" y="5577840"/>
            <a:ext cx="54864" cy="430936"/>
          </a:xfrm>
          <a:prstGeom prst="rect">
            <a:avLst/>
          </a:prstGeom>
          <a:solidFill>
            <a:srgbClr val="E2571B"/>
          </a:solidFill>
          <a:ln>
            <a:noFill/>
          </a:ln>
        </p:spPr>
        <p:txBody>
          <a:bodyPr rtlCol="0" anchor="ctr"/>
          <a:lstStyle/>
          <a:p>
            <a:pPr algn="ctr"/>
          </a:p>
        </p:txBody>
      </p:sp>
      <p:sp>
        <p:nvSpPr>
          <p:cNvPr id="59" name="TextBox 58"/>
          <p:cNvSpPr txBox="1"/>
          <p:nvPr/>
        </p:nvSpPr>
        <p:spPr>
          <a:xfrm>
            <a:off x="886968" y="5577840"/>
            <a:ext cx="10527487" cy="43093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세대 가치의 84%는 설치 시점 매출 → 세대 경제성 = Robot ASP(WTP) × BOM이 결정. Recurring은 5년 366만원으로 보완 역할, 핵심 Value Driver 아님</a:t>
            </a:r>
          </a:p>
        </p:txBody>
      </p:sp>
      <p:sp>
        <p:nvSpPr>
          <p:cNvPr id="60" name="TextBox 5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61" name="TextBox 6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15  Business Model</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Q3</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Business Model: 설치 매출 → 반복 매출 → 확장 매출</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핵심 Revenue Logic: 설치기반(Installed Base) 증가 → Recurring Revenue Base 증가. 모든 가격 = ASSUMPTION.</a:t>
            </a:r>
          </a:p>
        </p:txBody>
      </p:sp>
      <p:sp>
        <p:nvSpPr>
          <p:cNvPr id="9" name="Rectangle 8"/>
          <p:cNvSpPr/>
          <p:nvPr/>
        </p:nvSpPr>
        <p:spPr>
          <a:xfrm>
            <a:off x="685800" y="1790567"/>
            <a:ext cx="3484778" cy="1261872"/>
          </a:xfrm>
          <a:prstGeom prst="rect">
            <a:avLst/>
          </a:prstGeom>
          <a:solidFill>
            <a:srgbClr val="15171A"/>
          </a:solidFill>
          <a:ln>
            <a:noFill/>
          </a:ln>
        </p:spPr>
        <p:txBody>
          <a:bodyPr rtlCol="0" anchor="ctr"/>
          <a:lstStyle/>
          <a:p>
            <a:pPr algn="ctr"/>
          </a:p>
        </p:txBody>
      </p:sp>
      <p:sp>
        <p:nvSpPr>
          <p:cNvPr id="10" name="TextBox 9"/>
          <p:cNvSpPr txBox="1"/>
          <p:nvPr/>
        </p:nvSpPr>
        <p:spPr>
          <a:xfrm>
            <a:off x="850392" y="1882007"/>
            <a:ext cx="3155594"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A. 초기 설치 매출</a:t>
            </a:r>
          </a:p>
        </p:txBody>
      </p:sp>
      <p:sp>
        <p:nvSpPr>
          <p:cNvPr id="11" name="TextBox 10"/>
          <p:cNvSpPr txBox="1"/>
          <p:nvPr/>
        </p:nvSpPr>
        <p:spPr>
          <a:xfrm>
            <a:off x="850392"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Robot-ready Kitchen Build  450만원</a:t>
            </a:r>
          </a:p>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 Hardware  1,490만원</a:t>
            </a:r>
          </a:p>
          <a:p>
            <a:pPr algn="l" marL="182880" indent="-182880">
              <a:lnSpc>
                <a:spcPct val="100000"/>
              </a:lnSpc>
              <a:buClr>
                <a:srgbClr val="FFFFFF"/>
              </a:buClr>
              <a:buFont typeface="Noto Sans KR"/>
              <a:buChar char="–"/>
            </a:pPr>
            <a:r>
              <a:rPr sz="1050" b="0">
                <a:solidFill>
                  <a:srgbClr val="FFFFFF"/>
                </a:solidFill>
                <a:latin typeface="Noto Sans KR"/>
                <a:ea typeface="Noto Sans KR"/>
                <a:cs typeface="Noto Sans KR"/>
              </a:rPr>
              <a:t>설치·Calibration  80만원</a:t>
            </a:r>
          </a:p>
        </p:txBody>
      </p:sp>
      <p:sp>
        <p:nvSpPr>
          <p:cNvPr id="12" name="Rectangle 11"/>
          <p:cNvSpPr/>
          <p:nvPr/>
        </p:nvSpPr>
        <p:spPr>
          <a:xfrm>
            <a:off x="4353458" y="1790567"/>
            <a:ext cx="3484778" cy="1261872"/>
          </a:xfrm>
          <a:prstGeom prst="rect">
            <a:avLst/>
          </a:prstGeom>
          <a:solidFill>
            <a:srgbClr val="E2571B"/>
          </a:solidFill>
          <a:ln>
            <a:noFill/>
          </a:ln>
        </p:spPr>
        <p:txBody>
          <a:bodyPr rtlCol="0" anchor="ctr"/>
          <a:lstStyle/>
          <a:p>
            <a:pPr algn="ctr"/>
          </a:p>
        </p:txBody>
      </p:sp>
      <p:sp>
        <p:nvSpPr>
          <p:cNvPr id="13" name="TextBox 12"/>
          <p:cNvSpPr txBox="1"/>
          <p:nvPr/>
        </p:nvSpPr>
        <p:spPr>
          <a:xfrm>
            <a:off x="4518050" y="1882007"/>
            <a:ext cx="3155594"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B. 반복 매출</a:t>
            </a:r>
          </a:p>
        </p:txBody>
      </p:sp>
      <p:sp>
        <p:nvSpPr>
          <p:cNvPr id="14" name="TextBox 13"/>
          <p:cNvSpPr txBox="1"/>
          <p:nvPr/>
        </p:nvSpPr>
        <p:spPr>
          <a:xfrm>
            <a:off x="4518050"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 Rental  월 33만원 (60개월)</a:t>
            </a:r>
          </a:p>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Care Basic  연 48만원 (Plus 72만원)</a:t>
            </a:r>
          </a:p>
          <a:p>
            <a:pPr algn="l" marL="182880" indent="-182880">
              <a:lnSpc>
                <a:spcPct val="100000"/>
              </a:lnSpc>
              <a:buClr>
                <a:srgbClr val="FFFFFF"/>
              </a:buClr>
              <a:buFont typeface="Noto Sans KR"/>
              <a:buChar char="–"/>
            </a:pPr>
            <a:r>
              <a:rPr sz="1050" b="0">
                <a:solidFill>
                  <a:srgbClr val="FFFFFF"/>
                </a:solidFill>
                <a:latin typeface="Noto Sans KR"/>
                <a:ea typeface="Noto Sans KR"/>
                <a:cs typeface="Noto Sans KR"/>
              </a:rPr>
              <a:t>Consumables  연 36만원 List (구매율 70%)</a:t>
            </a:r>
          </a:p>
        </p:txBody>
      </p:sp>
      <p:sp>
        <p:nvSpPr>
          <p:cNvPr id="15" name="Rectangle 14"/>
          <p:cNvSpPr/>
          <p:nvPr/>
        </p:nvSpPr>
        <p:spPr>
          <a:xfrm>
            <a:off x="8021116" y="1790567"/>
            <a:ext cx="3484778" cy="1261872"/>
          </a:xfrm>
          <a:prstGeom prst="rect">
            <a:avLst/>
          </a:prstGeom>
          <a:solidFill>
            <a:srgbClr val="F4F5F6"/>
          </a:solidFill>
          <a:ln>
            <a:noFill/>
          </a:ln>
        </p:spPr>
        <p:txBody>
          <a:bodyPr rtlCol="0" anchor="ctr"/>
          <a:lstStyle/>
          <a:p>
            <a:pPr algn="ctr"/>
          </a:p>
        </p:txBody>
      </p:sp>
      <p:sp>
        <p:nvSpPr>
          <p:cNvPr id="16" name="TextBox 15"/>
          <p:cNvSpPr txBox="1"/>
          <p:nvPr/>
        </p:nvSpPr>
        <p:spPr>
          <a:xfrm>
            <a:off x="8185708" y="1882007"/>
            <a:ext cx="3155594"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 확장 매출</a:t>
            </a:r>
          </a:p>
        </p:txBody>
      </p:sp>
      <p:sp>
        <p:nvSpPr>
          <p:cNvPr id="17" name="TextBox 16"/>
          <p:cNvSpPr txBox="1"/>
          <p:nvPr/>
        </p:nvSpPr>
        <p:spPr>
          <a:xfrm>
            <a:off x="8185708"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15171A"/>
              </a:buClr>
              <a:buFont typeface="Noto Sans KR"/>
              <a:buChar char="–"/>
            </a:pPr>
            <a:r>
              <a:rPr sz="1050" b="0">
                <a:solidFill>
                  <a:srgbClr val="15171A"/>
                </a:solidFill>
                <a:latin typeface="Noto Sans KR"/>
                <a:ea typeface="Noto Sans KR"/>
                <a:cs typeface="Noto Sans KR"/>
              </a:rPr>
              <a:t>Software Skill  60만원 (V2)</a:t>
            </a:r>
          </a:p>
          <a:p>
            <a:pPr algn="l" marL="182880" indent="-182880">
              <a:lnSpc>
                <a:spcPct val="100000"/>
              </a:lnSpc>
              <a:spcAft>
                <a:spcPts val="100"/>
              </a:spcAft>
              <a:buClr>
                <a:srgbClr val="15171A"/>
              </a:buClr>
              <a:buFont typeface="Noto Sans KR"/>
              <a:buChar char="–"/>
            </a:pPr>
            <a:r>
              <a:rPr sz="1050" b="0">
                <a:solidFill>
                  <a:srgbClr val="15171A"/>
                </a:solidFill>
                <a:latin typeface="Noto Sans KR"/>
                <a:ea typeface="Noto Sans KR"/>
                <a:cs typeface="Noto Sans KR"/>
              </a:rPr>
              <a:t>End-effector · Tool  80만원</a:t>
            </a:r>
          </a:p>
          <a:p>
            <a:pPr algn="l" marL="182880" indent="-182880">
              <a:lnSpc>
                <a:spcPct val="100000"/>
              </a:lnSpc>
              <a:buClr>
                <a:srgbClr val="15171A"/>
              </a:buClr>
              <a:buFont typeface="Noto Sans KR"/>
              <a:buChar char="–"/>
            </a:pPr>
            <a:r>
              <a:rPr sz="1050" b="0">
                <a:solidFill>
                  <a:srgbClr val="15171A"/>
                </a:solidFill>
                <a:latin typeface="Noto Sans KR"/>
                <a:ea typeface="Noto Sans KR"/>
                <a:cs typeface="Noto Sans KR"/>
              </a:rPr>
              <a:t>Robot Upgrade · Replacement (5~7년)</a:t>
            </a:r>
          </a:p>
        </p:txBody>
      </p:sp>
      <p:sp>
        <p:nvSpPr>
          <p:cNvPr id="18" name="TextBox 17"/>
          <p:cNvSpPr txBox="1"/>
          <p:nvPr/>
        </p:nvSpPr>
        <p:spPr>
          <a:xfrm>
            <a:off x="685800" y="3253607"/>
            <a:ext cx="658368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Revenue Timeline — 구매 고객 1세대 (만원, 기대값)</a:t>
            </a:r>
          </a:p>
        </p:txBody>
      </p:sp>
      <p:sp>
        <p:nvSpPr>
          <p:cNvPr id="19" name="Rectangle 18"/>
          <p:cNvSpPr/>
          <p:nvPr/>
        </p:nvSpPr>
        <p:spPr>
          <a:xfrm>
            <a:off x="914400" y="3847967"/>
            <a:ext cx="731520" cy="1417320"/>
          </a:xfrm>
          <a:prstGeom prst="rect">
            <a:avLst/>
          </a:prstGeom>
          <a:solidFill>
            <a:srgbClr val="15171A"/>
          </a:solidFill>
          <a:ln>
            <a:noFill/>
          </a:ln>
        </p:spPr>
        <p:txBody>
          <a:bodyPr rtlCol="0" anchor="ctr"/>
          <a:lstStyle/>
          <a:p>
            <a:pPr algn="ctr"/>
          </a:p>
        </p:txBody>
      </p:sp>
      <p:sp>
        <p:nvSpPr>
          <p:cNvPr id="20" name="TextBox 19"/>
          <p:cNvSpPr txBox="1"/>
          <p:nvPr/>
        </p:nvSpPr>
        <p:spPr>
          <a:xfrm>
            <a:off x="685800" y="3601079"/>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2,020</a:t>
            </a:r>
          </a:p>
        </p:txBody>
      </p:sp>
      <p:sp>
        <p:nvSpPr>
          <p:cNvPr id="21" name="TextBox 20"/>
          <p:cNvSpPr txBox="1"/>
          <p:nvPr/>
        </p:nvSpPr>
        <p:spPr>
          <a:xfrm>
            <a:off x="68580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0</a:t>
            </a:r>
          </a:p>
        </p:txBody>
      </p:sp>
      <p:sp>
        <p:nvSpPr>
          <p:cNvPr id="22" name="TextBox 21"/>
          <p:cNvSpPr txBox="1"/>
          <p:nvPr/>
        </p:nvSpPr>
        <p:spPr>
          <a:xfrm>
            <a:off x="68580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Kitchen · Robot 구매</a:t>
            </a:r>
          </a:p>
          <a:p>
            <a:pPr algn="ctr">
              <a:lnSpc>
                <a:spcPct val="100000"/>
              </a:lnSpc>
            </a:pPr>
            <a:r>
              <a:rPr sz="850" b="0">
                <a:solidFill>
                  <a:srgbClr val="4A4F57"/>
                </a:solidFill>
                <a:latin typeface="Noto Sans KR"/>
                <a:ea typeface="Noto Sans KR"/>
                <a:cs typeface="Noto Sans KR"/>
              </a:rPr>
              <a:t>(또는 Rental Start)</a:t>
            </a:r>
          </a:p>
        </p:txBody>
      </p:sp>
      <p:sp>
        <p:nvSpPr>
          <p:cNvPr id="23" name="Rectangle 22"/>
          <p:cNvSpPr/>
          <p:nvPr/>
        </p:nvSpPr>
        <p:spPr>
          <a:xfrm>
            <a:off x="2240280" y="4957126"/>
            <a:ext cx="731520" cy="308161"/>
          </a:xfrm>
          <a:prstGeom prst="rect">
            <a:avLst/>
          </a:prstGeom>
          <a:solidFill>
            <a:srgbClr val="E2571B"/>
          </a:solidFill>
          <a:ln>
            <a:noFill/>
          </a:ln>
        </p:spPr>
        <p:txBody>
          <a:bodyPr rtlCol="0" anchor="ctr"/>
          <a:lstStyle/>
          <a:p>
            <a:pPr algn="ctr"/>
          </a:p>
        </p:txBody>
      </p:sp>
      <p:sp>
        <p:nvSpPr>
          <p:cNvPr id="24" name="TextBox 23"/>
          <p:cNvSpPr txBox="1"/>
          <p:nvPr/>
        </p:nvSpPr>
        <p:spPr>
          <a:xfrm>
            <a:off x="2011680" y="4710238"/>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73</a:t>
            </a:r>
          </a:p>
        </p:txBody>
      </p:sp>
      <p:sp>
        <p:nvSpPr>
          <p:cNvPr id="25" name="TextBox 24"/>
          <p:cNvSpPr txBox="1"/>
          <p:nvPr/>
        </p:nvSpPr>
        <p:spPr>
          <a:xfrm>
            <a:off x="201168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1</a:t>
            </a:r>
          </a:p>
        </p:txBody>
      </p:sp>
      <p:sp>
        <p:nvSpPr>
          <p:cNvPr id="26" name="TextBox 25"/>
          <p:cNvSpPr txBox="1"/>
          <p:nvPr/>
        </p:nvSpPr>
        <p:spPr>
          <a:xfrm>
            <a:off x="201168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Care · Consumables</a:t>
            </a:r>
          </a:p>
        </p:txBody>
      </p:sp>
      <p:sp>
        <p:nvSpPr>
          <p:cNvPr id="27" name="Rectangle 26"/>
          <p:cNvSpPr/>
          <p:nvPr/>
        </p:nvSpPr>
        <p:spPr>
          <a:xfrm>
            <a:off x="3566160" y="4906607"/>
            <a:ext cx="731520" cy="358680"/>
          </a:xfrm>
          <a:prstGeom prst="rect">
            <a:avLst/>
          </a:prstGeom>
          <a:solidFill>
            <a:srgbClr val="E2571B"/>
          </a:solidFill>
          <a:ln>
            <a:noFill/>
          </a:ln>
        </p:spPr>
        <p:txBody>
          <a:bodyPr rtlCol="0" anchor="ctr"/>
          <a:lstStyle/>
          <a:p>
            <a:pPr algn="ctr"/>
          </a:p>
        </p:txBody>
      </p:sp>
      <p:sp>
        <p:nvSpPr>
          <p:cNvPr id="28" name="TextBox 27"/>
          <p:cNvSpPr txBox="1"/>
          <p:nvPr/>
        </p:nvSpPr>
        <p:spPr>
          <a:xfrm>
            <a:off x="3337560" y="4659719"/>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85</a:t>
            </a:r>
          </a:p>
        </p:txBody>
      </p:sp>
      <p:sp>
        <p:nvSpPr>
          <p:cNvPr id="29" name="TextBox 28"/>
          <p:cNvSpPr txBox="1"/>
          <p:nvPr/>
        </p:nvSpPr>
        <p:spPr>
          <a:xfrm>
            <a:off x="333756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2</a:t>
            </a:r>
          </a:p>
        </p:txBody>
      </p:sp>
      <p:sp>
        <p:nvSpPr>
          <p:cNvPr id="30" name="TextBox 29"/>
          <p:cNvSpPr txBox="1"/>
          <p:nvPr/>
        </p:nvSpPr>
        <p:spPr>
          <a:xfrm>
            <a:off x="333756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 Software Function</a:t>
            </a:r>
          </a:p>
        </p:txBody>
      </p:sp>
      <p:sp>
        <p:nvSpPr>
          <p:cNvPr id="31" name="Rectangle 30"/>
          <p:cNvSpPr/>
          <p:nvPr/>
        </p:nvSpPr>
        <p:spPr>
          <a:xfrm>
            <a:off x="4892040" y="4872928"/>
            <a:ext cx="731520" cy="392359"/>
          </a:xfrm>
          <a:prstGeom prst="rect">
            <a:avLst/>
          </a:prstGeom>
          <a:solidFill>
            <a:srgbClr val="E2571B"/>
          </a:solidFill>
          <a:ln>
            <a:noFill/>
          </a:ln>
        </p:spPr>
        <p:txBody>
          <a:bodyPr rtlCol="0" anchor="ctr"/>
          <a:lstStyle/>
          <a:p>
            <a:pPr algn="ctr"/>
          </a:p>
        </p:txBody>
      </p:sp>
      <p:sp>
        <p:nvSpPr>
          <p:cNvPr id="32" name="TextBox 31"/>
          <p:cNvSpPr txBox="1"/>
          <p:nvPr/>
        </p:nvSpPr>
        <p:spPr>
          <a:xfrm>
            <a:off x="4663440" y="4626040"/>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93</a:t>
            </a:r>
          </a:p>
        </p:txBody>
      </p:sp>
      <p:sp>
        <p:nvSpPr>
          <p:cNvPr id="33" name="TextBox 32"/>
          <p:cNvSpPr txBox="1"/>
          <p:nvPr/>
        </p:nvSpPr>
        <p:spPr>
          <a:xfrm>
            <a:off x="466344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3</a:t>
            </a:r>
          </a:p>
        </p:txBody>
      </p:sp>
      <p:sp>
        <p:nvSpPr>
          <p:cNvPr id="34" name="TextBox 33"/>
          <p:cNvSpPr txBox="1"/>
          <p:nvPr/>
        </p:nvSpPr>
        <p:spPr>
          <a:xfrm>
            <a:off x="466344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 End-effector Upgrade</a:t>
            </a:r>
          </a:p>
        </p:txBody>
      </p:sp>
      <p:sp>
        <p:nvSpPr>
          <p:cNvPr id="35" name="Rectangle 34"/>
          <p:cNvSpPr/>
          <p:nvPr/>
        </p:nvSpPr>
        <p:spPr>
          <a:xfrm>
            <a:off x="6217920" y="4716647"/>
            <a:ext cx="731520" cy="548640"/>
          </a:xfrm>
          <a:prstGeom prst="rect">
            <a:avLst/>
          </a:prstGeom>
          <a:noFill/>
          <a:ln w="12700">
            <a:solidFill>
              <a:srgbClr val="C9CDD2"/>
            </a:solidFill>
            <a:prstDash val="dash"/>
          </a:ln>
        </p:spPr>
        <p:txBody>
          <a:bodyPr rtlCol="0" anchor="ctr"/>
          <a:lstStyle/>
          <a:p>
            <a:pPr algn="ctr"/>
          </a:p>
        </p:txBody>
      </p:sp>
      <p:sp>
        <p:nvSpPr>
          <p:cNvPr id="36" name="TextBox 35"/>
          <p:cNvSpPr txBox="1"/>
          <p:nvPr/>
        </p:nvSpPr>
        <p:spPr>
          <a:xfrm>
            <a:off x="5989320" y="4469759"/>
            <a:ext cx="1188720" cy="228600"/>
          </a:xfrm>
          <a:prstGeom prst="rect">
            <a:avLst/>
          </a:prstGeom>
          <a:noFill/>
        </p:spPr>
        <p:txBody>
          <a:bodyPr wrap="square" lIns="0" rIns="0" tIns="0" bIns="0" anchor="t">
            <a:spAutoFit/>
          </a:bodyPr>
          <a:lstStyle/>
          <a:p>
            <a:pPr algn="ctr">
              <a:lnSpc>
                <a:spcPct val="100000"/>
              </a:lnSpc>
            </a:pPr>
            <a:r>
              <a:rPr sz="1000" b="1">
                <a:solidFill>
                  <a:srgbClr val="8C9198"/>
                </a:solidFill>
                <a:latin typeface="Noto Sans KR"/>
                <a:ea typeface="Noto Sans KR"/>
                <a:cs typeface="Noto Sans KR"/>
              </a:rPr>
              <a:t>옵션</a:t>
            </a:r>
          </a:p>
        </p:txBody>
      </p:sp>
      <p:sp>
        <p:nvSpPr>
          <p:cNvPr id="37" name="TextBox 36"/>
          <p:cNvSpPr txBox="1"/>
          <p:nvPr/>
        </p:nvSpPr>
        <p:spPr>
          <a:xfrm>
            <a:off x="598932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4+</a:t>
            </a:r>
          </a:p>
        </p:txBody>
      </p:sp>
      <p:sp>
        <p:nvSpPr>
          <p:cNvPr id="38" name="TextBox 37"/>
          <p:cNvSpPr txBox="1"/>
          <p:nvPr/>
        </p:nvSpPr>
        <p:spPr>
          <a:xfrm>
            <a:off x="598932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Robot Upgrade</a:t>
            </a:r>
          </a:p>
          <a:p>
            <a:pPr algn="ctr">
              <a:lnSpc>
                <a:spcPct val="100000"/>
              </a:lnSpc>
            </a:pPr>
            <a:r>
              <a:rPr sz="850" b="0">
                <a:solidFill>
                  <a:srgbClr val="4A4F57"/>
                </a:solidFill>
                <a:latin typeface="Noto Sans KR"/>
                <a:ea typeface="Noto Sans KR"/>
                <a:cs typeface="Noto Sans KR"/>
              </a:rPr>
              <a:t>Additional Tool · Skill</a:t>
            </a:r>
          </a:p>
        </p:txBody>
      </p:sp>
      <p:sp>
        <p:nvSpPr>
          <p:cNvPr id="39" name="TextBox 38"/>
          <p:cNvSpPr txBox="1"/>
          <p:nvPr/>
        </p:nvSpPr>
        <p:spPr>
          <a:xfrm>
            <a:off x="685800" y="5996807"/>
            <a:ext cx="6400800" cy="32918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YEAR 1~3 막대는 6배 확대 표시 (Year 0 대비 소액). YEAR 1~3 = Care 48 + Consumables 25.2 (+ 기대값). Robot Upgrade는 Base 재무 미반영.</a:t>
            </a:r>
          </a:p>
        </p:txBody>
      </p:sp>
      <p:sp>
        <p:nvSpPr>
          <p:cNvPr id="40" name="TextBox 39"/>
          <p:cNvSpPr txBox="1"/>
          <p:nvPr/>
        </p:nvSpPr>
        <p:spPr>
          <a:xfrm>
            <a:off x="7452360" y="3253607"/>
            <a:ext cx="405353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Rental 구조 (Scale 단계)</a:t>
            </a:r>
          </a:p>
        </p:txBody>
      </p:sp>
      <p:sp>
        <p:nvSpPr>
          <p:cNvPr id="41" name="Rectangle 40"/>
          <p:cNvSpPr/>
          <p:nvPr/>
        </p:nvSpPr>
        <p:spPr>
          <a:xfrm>
            <a:off x="7452360" y="3619367"/>
            <a:ext cx="4053535" cy="585216"/>
          </a:xfrm>
          <a:prstGeom prst="rect">
            <a:avLst/>
          </a:prstGeom>
          <a:solidFill>
            <a:srgbClr val="E2571B"/>
          </a:solidFill>
          <a:ln>
            <a:noFill/>
          </a:ln>
        </p:spPr>
        <p:txBody>
          <a:bodyPr rtlCol="0" anchor="ctr"/>
          <a:lstStyle/>
          <a:p>
            <a:pPr algn="ctr"/>
          </a:p>
        </p:txBody>
      </p:sp>
      <p:sp>
        <p:nvSpPr>
          <p:cNvPr id="42" name="TextBox 41"/>
          <p:cNvSpPr txBox="1"/>
          <p:nvPr/>
        </p:nvSpPr>
        <p:spPr>
          <a:xfrm>
            <a:off x="7616952" y="3655943"/>
            <a:ext cx="3724351" cy="274320"/>
          </a:xfrm>
          <a:prstGeom prst="rect">
            <a:avLst/>
          </a:prstGeom>
          <a:noFill/>
        </p:spPr>
        <p:txBody>
          <a:bodyPr wrap="square" lIns="0" rIns="0" tIns="0" bIns="0" anchor="t">
            <a:spAutoFit/>
          </a:bodyPr>
          <a:lstStyle/>
          <a:p>
            <a:pPr algn="l">
              <a:lnSpc>
                <a:spcPct val="100000"/>
              </a:lnSpc>
            </a:pPr>
            <a:r>
              <a:rPr sz="1150" b="1">
                <a:solidFill>
                  <a:srgbClr val="FFFFFF"/>
                </a:solidFill>
                <a:latin typeface="Noto Sans KR"/>
                <a:ea typeface="Noto Sans KR"/>
                <a:cs typeface="Noto Sans KR"/>
              </a:rPr>
              <a:t>ARKI</a:t>
            </a:r>
          </a:p>
        </p:txBody>
      </p:sp>
      <p:sp>
        <p:nvSpPr>
          <p:cNvPr id="43" name="TextBox 42"/>
          <p:cNvSpPr txBox="1"/>
          <p:nvPr/>
        </p:nvSpPr>
        <p:spPr>
          <a:xfrm>
            <a:off x="7616952" y="3921119"/>
            <a:ext cx="3724351" cy="256032"/>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Product · Software · Care</a:t>
            </a:r>
          </a:p>
        </p:txBody>
      </p:sp>
      <p:cxnSp>
        <p:nvCxnSpPr>
          <p:cNvPr id="44" name="Connector 43"/>
          <p:cNvCxnSpPr/>
          <p:nvPr/>
        </p:nvCxnSpPr>
        <p:spPr>
          <a:xfrm>
            <a:off x="9479127" y="4222871"/>
            <a:ext cx="0" cy="164592"/>
          </a:xfrm>
          <a:prstGeom prst="line">
            <a:avLst/>
          </a:prstGeom>
          <a:ln w="15875">
            <a:solidFill>
              <a:srgbClr val="8C9198"/>
            </a:solidFill>
            <a:tailEnd type="triangle" w="med" len="med"/>
          </a:ln>
        </p:spPr>
      </p:cxnSp>
      <p:sp>
        <p:nvSpPr>
          <p:cNvPr id="45" name="Rectangle 44"/>
          <p:cNvSpPr/>
          <p:nvPr/>
        </p:nvSpPr>
        <p:spPr>
          <a:xfrm>
            <a:off x="7452360" y="4405751"/>
            <a:ext cx="4053535" cy="585216"/>
          </a:xfrm>
          <a:prstGeom prst="rect">
            <a:avLst/>
          </a:prstGeom>
          <a:solidFill>
            <a:srgbClr val="F4F5F6"/>
          </a:solidFill>
          <a:ln>
            <a:noFill/>
          </a:ln>
        </p:spPr>
        <p:txBody>
          <a:bodyPr rtlCol="0" anchor="ctr"/>
          <a:lstStyle/>
          <a:p>
            <a:pPr algn="ctr"/>
          </a:p>
        </p:txBody>
      </p:sp>
      <p:sp>
        <p:nvSpPr>
          <p:cNvPr id="46" name="TextBox 45"/>
          <p:cNvSpPr txBox="1"/>
          <p:nvPr/>
        </p:nvSpPr>
        <p:spPr>
          <a:xfrm>
            <a:off x="7616952" y="4442327"/>
            <a:ext cx="3724351"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Rental / Capital Partner</a:t>
            </a:r>
          </a:p>
        </p:txBody>
      </p:sp>
      <p:sp>
        <p:nvSpPr>
          <p:cNvPr id="47" name="TextBox 46"/>
          <p:cNvSpPr txBox="1"/>
          <p:nvPr/>
        </p:nvSpPr>
        <p:spPr>
          <a:xfrm>
            <a:off x="7616952" y="4707503"/>
            <a:ext cx="3724351"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Asset Financing (Robot 자산 보유)</a:t>
            </a:r>
          </a:p>
        </p:txBody>
      </p:sp>
      <p:cxnSp>
        <p:nvCxnSpPr>
          <p:cNvPr id="48" name="Connector 47"/>
          <p:cNvCxnSpPr/>
          <p:nvPr/>
        </p:nvCxnSpPr>
        <p:spPr>
          <a:xfrm>
            <a:off x="9479127" y="5009255"/>
            <a:ext cx="0" cy="164592"/>
          </a:xfrm>
          <a:prstGeom prst="line">
            <a:avLst/>
          </a:prstGeom>
          <a:ln w="15875">
            <a:solidFill>
              <a:srgbClr val="8C9198"/>
            </a:solidFill>
            <a:tailEnd type="triangle" w="med" len="med"/>
          </a:ln>
        </p:spPr>
      </p:cxnSp>
      <p:sp>
        <p:nvSpPr>
          <p:cNvPr id="49" name="Rectangle 48"/>
          <p:cNvSpPr/>
          <p:nvPr/>
        </p:nvSpPr>
        <p:spPr>
          <a:xfrm>
            <a:off x="7452360" y="5192135"/>
            <a:ext cx="4053535" cy="585216"/>
          </a:xfrm>
          <a:prstGeom prst="rect">
            <a:avLst/>
          </a:prstGeom>
          <a:solidFill>
            <a:srgbClr val="F4F5F6"/>
          </a:solidFill>
          <a:ln>
            <a:noFill/>
          </a:ln>
        </p:spPr>
        <p:txBody>
          <a:bodyPr rtlCol="0" anchor="ctr"/>
          <a:lstStyle/>
          <a:p>
            <a:pPr algn="ctr"/>
          </a:p>
        </p:txBody>
      </p:sp>
      <p:sp>
        <p:nvSpPr>
          <p:cNvPr id="50" name="TextBox 49"/>
          <p:cNvSpPr txBox="1"/>
          <p:nvPr/>
        </p:nvSpPr>
        <p:spPr>
          <a:xfrm>
            <a:off x="7616952" y="5228711"/>
            <a:ext cx="3724351"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Customer</a:t>
            </a:r>
          </a:p>
        </p:txBody>
      </p:sp>
      <p:sp>
        <p:nvSpPr>
          <p:cNvPr id="51" name="TextBox 50"/>
          <p:cNvSpPr txBox="1"/>
          <p:nvPr/>
        </p:nvSpPr>
        <p:spPr>
          <a:xfrm>
            <a:off x="7616952" y="5493887"/>
            <a:ext cx="3724351"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Monthly Payment</a:t>
            </a:r>
          </a:p>
        </p:txBody>
      </p:sp>
      <p:sp>
        <p:nvSpPr>
          <p:cNvPr id="52" name="TextBox 51"/>
          <p:cNvSpPr txBox="1"/>
          <p:nvPr/>
        </p:nvSpPr>
        <p:spPr>
          <a:xfrm>
            <a:off x="7452360" y="5996807"/>
            <a:ext cx="4053535"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Seed: ARKI 직접 Rental Pilot → Y4부터 Partner가 Robot을 ASP의 88%에 매입, ARKI는 월 6만원 Care·Grip 서비스료 (ASSUMPTION)</a:t>
            </a:r>
          </a:p>
        </p:txBody>
      </p:sp>
      <p:sp>
        <p:nvSpPr>
          <p:cNvPr id="53" name="TextBox 5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54" name="TextBox 5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16  Unit Economics</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Q3</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Unit Economics: BOM과 Route Density가 Margin 결정</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Base 가정. Y3 = Series A 직후 원가 수준, Y5 = 물량·표준화 반영 원가 수준 (만원). 모든 값 DERIVED (from ASSUMPTION).</a:t>
            </a:r>
          </a:p>
        </p:txBody>
      </p:sp>
      <p:sp>
        <p:nvSpPr>
          <p:cNvPr id="9" name="Rectangle 8"/>
          <p:cNvSpPr/>
          <p:nvPr/>
        </p:nvSpPr>
        <p:spPr>
          <a:xfrm>
            <a:off x="685800" y="1790567"/>
            <a:ext cx="3520440" cy="1755648"/>
          </a:xfrm>
          <a:prstGeom prst="rect">
            <a:avLst/>
          </a:prstGeom>
          <a:solidFill>
            <a:srgbClr val="F4F5F6"/>
          </a:solidFill>
          <a:ln>
            <a:noFill/>
          </a:ln>
        </p:spPr>
        <p:txBody>
          <a:bodyPr rtlCol="0" anchor="ctr"/>
          <a:lstStyle/>
          <a:p>
            <a:pPr algn="ctr"/>
          </a:p>
        </p:txBody>
      </p:sp>
      <p:sp>
        <p:nvSpPr>
          <p:cNvPr id="10" name="TextBox 9"/>
          <p:cNvSpPr txBox="1"/>
          <p:nvPr/>
        </p:nvSpPr>
        <p:spPr>
          <a:xfrm>
            <a:off x="822960" y="1882007"/>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PURCHASE</a:t>
            </a:r>
          </a:p>
        </p:txBody>
      </p:sp>
      <p:sp>
        <p:nvSpPr>
          <p:cNvPr id="11" name="TextBox 10"/>
          <p:cNvSpPr txBox="1"/>
          <p:nvPr/>
        </p:nvSpPr>
        <p:spPr>
          <a:xfrm>
            <a:off x="2377440" y="1900295"/>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설치 시점 (Year 0)</a:t>
            </a:r>
          </a:p>
        </p:txBody>
      </p:sp>
      <p:sp>
        <p:nvSpPr>
          <p:cNvPr id="12" name="TextBox 11"/>
          <p:cNvSpPr txBox="1"/>
          <p:nvPr/>
        </p:nvSpPr>
        <p:spPr>
          <a:xfrm>
            <a:off x="2788920" y="2174615"/>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13" name="TextBox 12"/>
          <p:cNvSpPr txBox="1"/>
          <p:nvPr/>
        </p:nvSpPr>
        <p:spPr>
          <a:xfrm>
            <a:off x="3474720" y="2174615"/>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14" name="TextBox 13"/>
          <p:cNvSpPr txBox="1"/>
          <p:nvPr/>
        </p:nvSpPr>
        <p:spPr>
          <a:xfrm>
            <a:off x="822960" y="241235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고객가</a:t>
            </a:r>
          </a:p>
        </p:txBody>
      </p:sp>
      <p:sp>
        <p:nvSpPr>
          <p:cNvPr id="15" name="TextBox 14"/>
          <p:cNvSpPr txBox="1"/>
          <p:nvPr/>
        </p:nvSpPr>
        <p:spPr>
          <a:xfrm>
            <a:off x="2788920" y="241235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2,020</a:t>
            </a:r>
          </a:p>
        </p:txBody>
      </p:sp>
      <p:sp>
        <p:nvSpPr>
          <p:cNvPr id="16" name="TextBox 15"/>
          <p:cNvSpPr txBox="1"/>
          <p:nvPr/>
        </p:nvSpPr>
        <p:spPr>
          <a:xfrm>
            <a:off x="3474720" y="241235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2,020</a:t>
            </a:r>
          </a:p>
        </p:txBody>
      </p:sp>
      <p:sp>
        <p:nvSpPr>
          <p:cNvPr id="17" name="TextBox 16"/>
          <p:cNvSpPr txBox="1"/>
          <p:nvPr/>
        </p:nvSpPr>
        <p:spPr>
          <a:xfrm>
            <a:off x="822960" y="268667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원가 (BOM·Module·설치·CAC 등)</a:t>
            </a:r>
          </a:p>
        </p:txBody>
      </p:sp>
      <p:sp>
        <p:nvSpPr>
          <p:cNvPr id="18" name="TextBox 17"/>
          <p:cNvSpPr txBox="1"/>
          <p:nvPr/>
        </p:nvSpPr>
        <p:spPr>
          <a:xfrm>
            <a:off x="2788920" y="268667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−1,722</a:t>
            </a:r>
          </a:p>
        </p:txBody>
      </p:sp>
      <p:sp>
        <p:nvSpPr>
          <p:cNvPr id="19" name="TextBox 18"/>
          <p:cNvSpPr txBox="1"/>
          <p:nvPr/>
        </p:nvSpPr>
        <p:spPr>
          <a:xfrm>
            <a:off x="3474720" y="268667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−1,417</a:t>
            </a:r>
          </a:p>
        </p:txBody>
      </p:sp>
      <p:sp>
        <p:nvSpPr>
          <p:cNvPr id="20" name="TextBox 19"/>
          <p:cNvSpPr txBox="1"/>
          <p:nvPr/>
        </p:nvSpPr>
        <p:spPr>
          <a:xfrm>
            <a:off x="822960" y="2960999"/>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21" name="TextBox 20"/>
          <p:cNvSpPr txBox="1"/>
          <p:nvPr/>
        </p:nvSpPr>
        <p:spPr>
          <a:xfrm>
            <a:off x="2788920" y="2960999"/>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298</a:t>
            </a:r>
          </a:p>
        </p:txBody>
      </p:sp>
      <p:sp>
        <p:nvSpPr>
          <p:cNvPr id="22" name="TextBox 21"/>
          <p:cNvSpPr txBox="1"/>
          <p:nvPr/>
        </p:nvSpPr>
        <p:spPr>
          <a:xfrm>
            <a:off x="3474720" y="2960999"/>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603</a:t>
            </a:r>
          </a:p>
        </p:txBody>
      </p:sp>
      <p:sp>
        <p:nvSpPr>
          <p:cNvPr id="23" name="TextBox 22"/>
          <p:cNvSpPr txBox="1"/>
          <p:nvPr/>
        </p:nvSpPr>
        <p:spPr>
          <a:xfrm>
            <a:off x="822960" y="323531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24" name="TextBox 23"/>
          <p:cNvSpPr txBox="1"/>
          <p:nvPr/>
        </p:nvSpPr>
        <p:spPr>
          <a:xfrm>
            <a:off x="2788920" y="323531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15%</a:t>
            </a:r>
          </a:p>
        </p:txBody>
      </p:sp>
      <p:sp>
        <p:nvSpPr>
          <p:cNvPr id="25" name="TextBox 24"/>
          <p:cNvSpPr txBox="1"/>
          <p:nvPr/>
        </p:nvSpPr>
        <p:spPr>
          <a:xfrm>
            <a:off x="3474720" y="323531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30%</a:t>
            </a:r>
          </a:p>
        </p:txBody>
      </p:sp>
      <p:sp>
        <p:nvSpPr>
          <p:cNvPr id="26" name="Rectangle 25"/>
          <p:cNvSpPr/>
          <p:nvPr/>
        </p:nvSpPr>
        <p:spPr>
          <a:xfrm>
            <a:off x="4389120" y="1790567"/>
            <a:ext cx="3520440" cy="1755648"/>
          </a:xfrm>
          <a:prstGeom prst="rect">
            <a:avLst/>
          </a:prstGeom>
          <a:solidFill>
            <a:srgbClr val="F4F5F6"/>
          </a:solidFill>
          <a:ln>
            <a:noFill/>
          </a:ln>
        </p:spPr>
        <p:txBody>
          <a:bodyPr rtlCol="0" anchor="ctr"/>
          <a:lstStyle/>
          <a:p>
            <a:pPr algn="ctr"/>
          </a:p>
        </p:txBody>
      </p:sp>
      <p:sp>
        <p:nvSpPr>
          <p:cNvPr id="27" name="TextBox 26"/>
          <p:cNvSpPr txBox="1"/>
          <p:nvPr/>
        </p:nvSpPr>
        <p:spPr>
          <a:xfrm>
            <a:off x="4526280" y="1882007"/>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RENTAL</a:t>
            </a:r>
          </a:p>
        </p:txBody>
      </p:sp>
      <p:sp>
        <p:nvSpPr>
          <p:cNvPr id="28" name="TextBox 27"/>
          <p:cNvSpPr txBox="1"/>
          <p:nvPr/>
        </p:nvSpPr>
        <p:spPr>
          <a:xfrm>
            <a:off x="6080760" y="1900295"/>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월</a:t>
            </a:r>
          </a:p>
        </p:txBody>
      </p:sp>
      <p:sp>
        <p:nvSpPr>
          <p:cNvPr id="29" name="TextBox 28"/>
          <p:cNvSpPr txBox="1"/>
          <p:nvPr/>
        </p:nvSpPr>
        <p:spPr>
          <a:xfrm>
            <a:off x="6492240" y="2174615"/>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30" name="TextBox 29"/>
          <p:cNvSpPr txBox="1"/>
          <p:nvPr/>
        </p:nvSpPr>
        <p:spPr>
          <a:xfrm>
            <a:off x="7178040" y="2174615"/>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31" name="TextBox 30"/>
          <p:cNvSpPr txBox="1"/>
          <p:nvPr/>
        </p:nvSpPr>
        <p:spPr>
          <a:xfrm>
            <a:off x="4526280" y="241235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월 요금</a:t>
            </a:r>
          </a:p>
        </p:txBody>
      </p:sp>
      <p:sp>
        <p:nvSpPr>
          <p:cNvPr id="32" name="TextBox 31"/>
          <p:cNvSpPr txBox="1"/>
          <p:nvPr/>
        </p:nvSpPr>
        <p:spPr>
          <a:xfrm>
            <a:off x="6492240" y="241235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33.0</a:t>
            </a:r>
          </a:p>
        </p:txBody>
      </p:sp>
      <p:sp>
        <p:nvSpPr>
          <p:cNvPr id="33" name="TextBox 32"/>
          <p:cNvSpPr txBox="1"/>
          <p:nvPr/>
        </p:nvSpPr>
        <p:spPr>
          <a:xfrm>
            <a:off x="7178040" y="241235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33.0</a:t>
            </a:r>
          </a:p>
        </p:txBody>
      </p:sp>
      <p:sp>
        <p:nvSpPr>
          <p:cNvPr id="34" name="TextBox 33"/>
          <p:cNvSpPr txBox="1"/>
          <p:nvPr/>
        </p:nvSpPr>
        <p:spPr>
          <a:xfrm>
            <a:off x="4526280" y="268667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감가·금융·Care·Grip·Reserve</a:t>
            </a:r>
          </a:p>
        </p:txBody>
      </p:sp>
      <p:sp>
        <p:nvSpPr>
          <p:cNvPr id="35" name="TextBox 34"/>
          <p:cNvSpPr txBox="1"/>
          <p:nvPr/>
        </p:nvSpPr>
        <p:spPr>
          <a:xfrm>
            <a:off x="6492240" y="268667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−25.1</a:t>
            </a:r>
          </a:p>
        </p:txBody>
      </p:sp>
      <p:sp>
        <p:nvSpPr>
          <p:cNvPr id="36" name="TextBox 35"/>
          <p:cNvSpPr txBox="1"/>
          <p:nvPr/>
        </p:nvSpPr>
        <p:spPr>
          <a:xfrm>
            <a:off x="7178040" y="268667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−19.6</a:t>
            </a:r>
          </a:p>
        </p:txBody>
      </p:sp>
      <p:sp>
        <p:nvSpPr>
          <p:cNvPr id="37" name="TextBox 36"/>
          <p:cNvSpPr txBox="1"/>
          <p:nvPr/>
        </p:nvSpPr>
        <p:spPr>
          <a:xfrm>
            <a:off x="4526280" y="2960999"/>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월 Contribution</a:t>
            </a:r>
          </a:p>
        </p:txBody>
      </p:sp>
      <p:sp>
        <p:nvSpPr>
          <p:cNvPr id="38" name="TextBox 37"/>
          <p:cNvSpPr txBox="1"/>
          <p:nvPr/>
        </p:nvSpPr>
        <p:spPr>
          <a:xfrm>
            <a:off x="6492240" y="2960999"/>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7.9</a:t>
            </a:r>
          </a:p>
        </p:txBody>
      </p:sp>
      <p:sp>
        <p:nvSpPr>
          <p:cNvPr id="39" name="TextBox 38"/>
          <p:cNvSpPr txBox="1"/>
          <p:nvPr/>
        </p:nvSpPr>
        <p:spPr>
          <a:xfrm>
            <a:off x="7178040" y="2960999"/>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13.4</a:t>
            </a:r>
          </a:p>
        </p:txBody>
      </p:sp>
      <p:sp>
        <p:nvSpPr>
          <p:cNvPr id="40" name="TextBox 39"/>
          <p:cNvSpPr txBox="1"/>
          <p:nvPr/>
        </p:nvSpPr>
        <p:spPr>
          <a:xfrm>
            <a:off x="4526280" y="323531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Payback (개월)</a:t>
            </a:r>
          </a:p>
        </p:txBody>
      </p:sp>
      <p:sp>
        <p:nvSpPr>
          <p:cNvPr id="41" name="TextBox 40"/>
          <p:cNvSpPr txBox="1"/>
          <p:nvPr/>
        </p:nvSpPr>
        <p:spPr>
          <a:xfrm>
            <a:off x="6492240" y="323531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39</a:t>
            </a:r>
          </a:p>
        </p:txBody>
      </p:sp>
      <p:sp>
        <p:nvSpPr>
          <p:cNvPr id="42" name="TextBox 41"/>
          <p:cNvSpPr txBox="1"/>
          <p:nvPr/>
        </p:nvSpPr>
        <p:spPr>
          <a:xfrm>
            <a:off x="7178040" y="323531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30</a:t>
            </a:r>
          </a:p>
        </p:txBody>
      </p:sp>
      <p:sp>
        <p:nvSpPr>
          <p:cNvPr id="43" name="Rectangle 42"/>
          <p:cNvSpPr/>
          <p:nvPr/>
        </p:nvSpPr>
        <p:spPr>
          <a:xfrm>
            <a:off x="685800" y="3683375"/>
            <a:ext cx="3520440" cy="1755648"/>
          </a:xfrm>
          <a:prstGeom prst="rect">
            <a:avLst/>
          </a:prstGeom>
          <a:solidFill>
            <a:srgbClr val="F4F5F6"/>
          </a:solidFill>
          <a:ln>
            <a:noFill/>
          </a:ln>
        </p:spPr>
        <p:txBody>
          <a:bodyPr rtlCol="0" anchor="ctr"/>
          <a:lstStyle/>
          <a:p>
            <a:pPr algn="ctr"/>
          </a:p>
        </p:txBody>
      </p:sp>
      <p:sp>
        <p:nvSpPr>
          <p:cNvPr id="44" name="TextBox 43"/>
          <p:cNvSpPr txBox="1"/>
          <p:nvPr/>
        </p:nvSpPr>
        <p:spPr>
          <a:xfrm>
            <a:off x="822960" y="3774815"/>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CARE</a:t>
            </a:r>
          </a:p>
        </p:txBody>
      </p:sp>
      <p:sp>
        <p:nvSpPr>
          <p:cNvPr id="45" name="TextBox 44"/>
          <p:cNvSpPr txBox="1"/>
          <p:nvPr/>
        </p:nvSpPr>
        <p:spPr>
          <a:xfrm>
            <a:off x="2377440" y="3793103"/>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년</a:t>
            </a:r>
          </a:p>
        </p:txBody>
      </p:sp>
      <p:sp>
        <p:nvSpPr>
          <p:cNvPr id="46" name="TextBox 45"/>
          <p:cNvSpPr txBox="1"/>
          <p:nvPr/>
        </p:nvSpPr>
        <p:spPr>
          <a:xfrm>
            <a:off x="2788920" y="4067423"/>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47" name="TextBox 46"/>
          <p:cNvSpPr txBox="1"/>
          <p:nvPr/>
        </p:nvSpPr>
        <p:spPr>
          <a:xfrm>
            <a:off x="3474720" y="4067423"/>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48" name="TextBox 47"/>
          <p:cNvSpPr txBox="1"/>
          <p:nvPr/>
        </p:nvSpPr>
        <p:spPr>
          <a:xfrm>
            <a:off x="822960" y="430516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Care Basic 요금</a:t>
            </a:r>
          </a:p>
        </p:txBody>
      </p:sp>
      <p:sp>
        <p:nvSpPr>
          <p:cNvPr id="49" name="TextBox 48"/>
          <p:cNvSpPr txBox="1"/>
          <p:nvPr/>
        </p:nvSpPr>
        <p:spPr>
          <a:xfrm>
            <a:off x="2788920" y="430516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48</a:t>
            </a:r>
          </a:p>
        </p:txBody>
      </p:sp>
      <p:sp>
        <p:nvSpPr>
          <p:cNvPr id="50" name="TextBox 49"/>
          <p:cNvSpPr txBox="1"/>
          <p:nvPr/>
        </p:nvSpPr>
        <p:spPr>
          <a:xfrm>
            <a:off x="3474720" y="430516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48</a:t>
            </a:r>
          </a:p>
        </p:txBody>
      </p:sp>
      <p:sp>
        <p:nvSpPr>
          <p:cNvPr id="51" name="TextBox 50"/>
          <p:cNvSpPr txBox="1"/>
          <p:nvPr/>
        </p:nvSpPr>
        <p:spPr>
          <a:xfrm>
            <a:off x="822960" y="457948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방문·고장·Cloud 원가</a:t>
            </a:r>
          </a:p>
        </p:txBody>
      </p:sp>
      <p:sp>
        <p:nvSpPr>
          <p:cNvPr id="52" name="TextBox 51"/>
          <p:cNvSpPr txBox="1"/>
          <p:nvPr/>
        </p:nvSpPr>
        <p:spPr>
          <a:xfrm>
            <a:off x="2788920" y="457948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−36.8</a:t>
            </a:r>
          </a:p>
        </p:txBody>
      </p:sp>
      <p:sp>
        <p:nvSpPr>
          <p:cNvPr id="53" name="TextBox 52"/>
          <p:cNvSpPr txBox="1"/>
          <p:nvPr/>
        </p:nvSpPr>
        <p:spPr>
          <a:xfrm>
            <a:off x="3474720" y="457948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−26.8</a:t>
            </a:r>
          </a:p>
        </p:txBody>
      </p:sp>
      <p:sp>
        <p:nvSpPr>
          <p:cNvPr id="54" name="TextBox 53"/>
          <p:cNvSpPr txBox="1"/>
          <p:nvPr/>
        </p:nvSpPr>
        <p:spPr>
          <a:xfrm>
            <a:off x="822960" y="4853807"/>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55" name="TextBox 54"/>
          <p:cNvSpPr txBox="1"/>
          <p:nvPr/>
        </p:nvSpPr>
        <p:spPr>
          <a:xfrm>
            <a:off x="2788920" y="4853807"/>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11.2</a:t>
            </a:r>
          </a:p>
        </p:txBody>
      </p:sp>
      <p:sp>
        <p:nvSpPr>
          <p:cNvPr id="56" name="TextBox 55"/>
          <p:cNvSpPr txBox="1"/>
          <p:nvPr/>
        </p:nvSpPr>
        <p:spPr>
          <a:xfrm>
            <a:off x="3474720" y="4853807"/>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21.2</a:t>
            </a:r>
          </a:p>
        </p:txBody>
      </p:sp>
      <p:sp>
        <p:nvSpPr>
          <p:cNvPr id="57" name="TextBox 56"/>
          <p:cNvSpPr txBox="1"/>
          <p:nvPr/>
        </p:nvSpPr>
        <p:spPr>
          <a:xfrm>
            <a:off x="822960" y="512812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58" name="TextBox 57"/>
          <p:cNvSpPr txBox="1"/>
          <p:nvPr/>
        </p:nvSpPr>
        <p:spPr>
          <a:xfrm>
            <a:off x="2788920" y="512812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23%</a:t>
            </a:r>
          </a:p>
        </p:txBody>
      </p:sp>
      <p:sp>
        <p:nvSpPr>
          <p:cNvPr id="59" name="TextBox 58"/>
          <p:cNvSpPr txBox="1"/>
          <p:nvPr/>
        </p:nvSpPr>
        <p:spPr>
          <a:xfrm>
            <a:off x="3474720" y="512812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44%</a:t>
            </a:r>
          </a:p>
        </p:txBody>
      </p:sp>
      <p:sp>
        <p:nvSpPr>
          <p:cNvPr id="60" name="Rectangle 59"/>
          <p:cNvSpPr/>
          <p:nvPr/>
        </p:nvSpPr>
        <p:spPr>
          <a:xfrm>
            <a:off x="4389120" y="3683375"/>
            <a:ext cx="3520440" cy="1755648"/>
          </a:xfrm>
          <a:prstGeom prst="rect">
            <a:avLst/>
          </a:prstGeom>
          <a:solidFill>
            <a:srgbClr val="F4F5F6"/>
          </a:solidFill>
          <a:ln>
            <a:noFill/>
          </a:ln>
        </p:spPr>
        <p:txBody>
          <a:bodyPr rtlCol="0" anchor="ctr"/>
          <a:lstStyle/>
          <a:p>
            <a:pPr algn="ctr"/>
          </a:p>
        </p:txBody>
      </p:sp>
      <p:sp>
        <p:nvSpPr>
          <p:cNvPr id="61" name="TextBox 60"/>
          <p:cNvSpPr txBox="1"/>
          <p:nvPr/>
        </p:nvSpPr>
        <p:spPr>
          <a:xfrm>
            <a:off x="4526280" y="3774815"/>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CONSUMABLES</a:t>
            </a:r>
          </a:p>
        </p:txBody>
      </p:sp>
      <p:sp>
        <p:nvSpPr>
          <p:cNvPr id="62" name="TextBox 61"/>
          <p:cNvSpPr txBox="1"/>
          <p:nvPr/>
        </p:nvSpPr>
        <p:spPr>
          <a:xfrm>
            <a:off x="6080760" y="3793103"/>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년</a:t>
            </a:r>
          </a:p>
        </p:txBody>
      </p:sp>
      <p:sp>
        <p:nvSpPr>
          <p:cNvPr id="63" name="TextBox 62"/>
          <p:cNvSpPr txBox="1"/>
          <p:nvPr/>
        </p:nvSpPr>
        <p:spPr>
          <a:xfrm>
            <a:off x="6492240" y="4067423"/>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64" name="TextBox 63"/>
          <p:cNvSpPr txBox="1"/>
          <p:nvPr/>
        </p:nvSpPr>
        <p:spPr>
          <a:xfrm>
            <a:off x="7178040" y="4067423"/>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65" name="TextBox 64"/>
          <p:cNvSpPr txBox="1"/>
          <p:nvPr/>
        </p:nvSpPr>
        <p:spPr>
          <a:xfrm>
            <a:off x="4526280" y="430516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매출 (List × 70%)</a:t>
            </a:r>
          </a:p>
        </p:txBody>
      </p:sp>
      <p:sp>
        <p:nvSpPr>
          <p:cNvPr id="66" name="TextBox 65"/>
          <p:cNvSpPr txBox="1"/>
          <p:nvPr/>
        </p:nvSpPr>
        <p:spPr>
          <a:xfrm>
            <a:off x="6492240" y="430516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25.2</a:t>
            </a:r>
          </a:p>
        </p:txBody>
      </p:sp>
      <p:sp>
        <p:nvSpPr>
          <p:cNvPr id="67" name="TextBox 66"/>
          <p:cNvSpPr txBox="1"/>
          <p:nvPr/>
        </p:nvSpPr>
        <p:spPr>
          <a:xfrm>
            <a:off x="7178040" y="430516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25.2</a:t>
            </a:r>
          </a:p>
        </p:txBody>
      </p:sp>
      <p:sp>
        <p:nvSpPr>
          <p:cNvPr id="68" name="TextBox 67"/>
          <p:cNvSpPr txBox="1"/>
          <p:nvPr/>
        </p:nvSpPr>
        <p:spPr>
          <a:xfrm>
            <a:off x="4526280" y="457948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원가 (35%)</a:t>
            </a:r>
          </a:p>
        </p:txBody>
      </p:sp>
      <p:sp>
        <p:nvSpPr>
          <p:cNvPr id="69" name="TextBox 68"/>
          <p:cNvSpPr txBox="1"/>
          <p:nvPr/>
        </p:nvSpPr>
        <p:spPr>
          <a:xfrm>
            <a:off x="6492240" y="457948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−8.8</a:t>
            </a:r>
          </a:p>
        </p:txBody>
      </p:sp>
      <p:sp>
        <p:nvSpPr>
          <p:cNvPr id="70" name="TextBox 69"/>
          <p:cNvSpPr txBox="1"/>
          <p:nvPr/>
        </p:nvSpPr>
        <p:spPr>
          <a:xfrm>
            <a:off x="7178040" y="457948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−8.8</a:t>
            </a:r>
          </a:p>
        </p:txBody>
      </p:sp>
      <p:sp>
        <p:nvSpPr>
          <p:cNvPr id="71" name="TextBox 70"/>
          <p:cNvSpPr txBox="1"/>
          <p:nvPr/>
        </p:nvSpPr>
        <p:spPr>
          <a:xfrm>
            <a:off x="4526280" y="4853807"/>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72" name="TextBox 71"/>
          <p:cNvSpPr txBox="1"/>
          <p:nvPr/>
        </p:nvSpPr>
        <p:spPr>
          <a:xfrm>
            <a:off x="6492240" y="4853807"/>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16.4</a:t>
            </a:r>
          </a:p>
        </p:txBody>
      </p:sp>
      <p:sp>
        <p:nvSpPr>
          <p:cNvPr id="73" name="TextBox 72"/>
          <p:cNvSpPr txBox="1"/>
          <p:nvPr/>
        </p:nvSpPr>
        <p:spPr>
          <a:xfrm>
            <a:off x="7178040" y="4853807"/>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16.4</a:t>
            </a:r>
          </a:p>
        </p:txBody>
      </p:sp>
      <p:sp>
        <p:nvSpPr>
          <p:cNvPr id="74" name="TextBox 73"/>
          <p:cNvSpPr txBox="1"/>
          <p:nvPr/>
        </p:nvSpPr>
        <p:spPr>
          <a:xfrm>
            <a:off x="4526280" y="512812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75" name="TextBox 74"/>
          <p:cNvSpPr txBox="1"/>
          <p:nvPr/>
        </p:nvSpPr>
        <p:spPr>
          <a:xfrm>
            <a:off x="6492240" y="512812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65%</a:t>
            </a:r>
          </a:p>
        </p:txBody>
      </p:sp>
      <p:sp>
        <p:nvSpPr>
          <p:cNvPr id="76" name="TextBox 75"/>
          <p:cNvSpPr txBox="1"/>
          <p:nvPr/>
        </p:nvSpPr>
        <p:spPr>
          <a:xfrm>
            <a:off x="7178040" y="512812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65%</a:t>
            </a:r>
          </a:p>
        </p:txBody>
      </p:sp>
      <p:sp>
        <p:nvSpPr>
          <p:cNvPr id="77" name="TextBox 76"/>
          <p:cNvSpPr txBox="1"/>
          <p:nvPr/>
        </p:nvSpPr>
        <p:spPr>
          <a:xfrm>
            <a:off x="8229600" y="1790567"/>
            <a:ext cx="327629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Sensitivity Top 3 (Y5 Contribution)</a:t>
            </a:r>
          </a:p>
        </p:txBody>
      </p:sp>
      <p:sp>
        <p:nvSpPr>
          <p:cNvPr id="78" name="TextBox 77"/>
          <p:cNvSpPr txBox="1"/>
          <p:nvPr/>
        </p:nvSpPr>
        <p:spPr>
          <a:xfrm>
            <a:off x="8229600" y="2083175"/>
            <a:ext cx="3276295"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Y5 Contribution 20.3억원 · 불리 ↔ 유리 변화 (억원)</a:t>
            </a:r>
          </a:p>
        </p:txBody>
      </p:sp>
      <p:sp>
        <p:nvSpPr>
          <p:cNvPr id="79" name="TextBox 78"/>
          <p:cNvSpPr txBox="1"/>
          <p:nvPr/>
        </p:nvSpPr>
        <p:spPr>
          <a:xfrm>
            <a:off x="8229600" y="25220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Customer WTP (Robot ASP·증분가 ±20%)</a:t>
            </a:r>
          </a:p>
        </p:txBody>
      </p:sp>
      <p:sp>
        <p:nvSpPr>
          <p:cNvPr id="80" name="Rectangle 79"/>
          <p:cNvSpPr/>
          <p:nvPr/>
        </p:nvSpPr>
        <p:spPr>
          <a:xfrm>
            <a:off x="8732519" y="2832983"/>
            <a:ext cx="1135227" cy="274320"/>
          </a:xfrm>
          <a:prstGeom prst="rect">
            <a:avLst/>
          </a:prstGeom>
          <a:solidFill>
            <a:srgbClr val="8C9198"/>
          </a:solidFill>
          <a:ln>
            <a:noFill/>
          </a:ln>
        </p:spPr>
        <p:txBody>
          <a:bodyPr rtlCol="0" anchor="ctr"/>
          <a:lstStyle/>
          <a:p>
            <a:pPr algn="ctr"/>
          </a:p>
        </p:txBody>
      </p:sp>
      <p:sp>
        <p:nvSpPr>
          <p:cNvPr id="81" name="Rectangle 80"/>
          <p:cNvSpPr/>
          <p:nvPr/>
        </p:nvSpPr>
        <p:spPr>
          <a:xfrm>
            <a:off x="9867747" y="2832983"/>
            <a:ext cx="1135227" cy="274320"/>
          </a:xfrm>
          <a:prstGeom prst="rect">
            <a:avLst/>
          </a:prstGeom>
          <a:solidFill>
            <a:srgbClr val="E2571B"/>
          </a:solidFill>
          <a:ln>
            <a:noFill/>
          </a:ln>
        </p:spPr>
        <p:txBody>
          <a:bodyPr rtlCol="0" anchor="ctr"/>
          <a:lstStyle/>
          <a:p>
            <a:pPr algn="ctr"/>
          </a:p>
        </p:txBody>
      </p:sp>
      <p:sp>
        <p:nvSpPr>
          <p:cNvPr id="82" name="TextBox 81"/>
          <p:cNvSpPr txBox="1"/>
          <p:nvPr/>
        </p:nvSpPr>
        <p:spPr>
          <a:xfrm>
            <a:off x="8229599" y="28329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-12.3</a:t>
            </a:r>
          </a:p>
        </p:txBody>
      </p:sp>
      <p:sp>
        <p:nvSpPr>
          <p:cNvPr id="83" name="TextBox 82"/>
          <p:cNvSpPr txBox="1"/>
          <p:nvPr/>
        </p:nvSpPr>
        <p:spPr>
          <a:xfrm>
            <a:off x="11030407" y="28329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+12.3</a:t>
            </a:r>
          </a:p>
        </p:txBody>
      </p:sp>
      <p:sp>
        <p:nvSpPr>
          <p:cNvPr id="84" name="TextBox 83"/>
          <p:cNvSpPr txBox="1"/>
          <p:nvPr/>
        </p:nvSpPr>
        <p:spPr>
          <a:xfrm>
            <a:off x="8229600" y="34364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Robot BOM ±20%</a:t>
            </a:r>
          </a:p>
        </p:txBody>
      </p:sp>
      <p:sp>
        <p:nvSpPr>
          <p:cNvPr id="85" name="Rectangle 84"/>
          <p:cNvSpPr/>
          <p:nvPr/>
        </p:nvSpPr>
        <p:spPr>
          <a:xfrm>
            <a:off x="9260229" y="3747383"/>
            <a:ext cx="607517" cy="274320"/>
          </a:xfrm>
          <a:prstGeom prst="rect">
            <a:avLst/>
          </a:prstGeom>
          <a:solidFill>
            <a:srgbClr val="8C9198"/>
          </a:solidFill>
          <a:ln>
            <a:noFill/>
          </a:ln>
        </p:spPr>
        <p:txBody>
          <a:bodyPr rtlCol="0" anchor="ctr"/>
          <a:lstStyle/>
          <a:p>
            <a:pPr algn="ctr"/>
          </a:p>
        </p:txBody>
      </p:sp>
      <p:sp>
        <p:nvSpPr>
          <p:cNvPr id="86" name="Rectangle 85"/>
          <p:cNvSpPr/>
          <p:nvPr/>
        </p:nvSpPr>
        <p:spPr>
          <a:xfrm>
            <a:off x="9867747" y="3747383"/>
            <a:ext cx="607517" cy="274320"/>
          </a:xfrm>
          <a:prstGeom prst="rect">
            <a:avLst/>
          </a:prstGeom>
          <a:solidFill>
            <a:srgbClr val="E2571B"/>
          </a:solidFill>
          <a:ln>
            <a:noFill/>
          </a:ln>
        </p:spPr>
        <p:txBody>
          <a:bodyPr rtlCol="0" anchor="ctr"/>
          <a:lstStyle/>
          <a:p>
            <a:pPr algn="ctr"/>
          </a:p>
        </p:txBody>
      </p:sp>
      <p:sp>
        <p:nvSpPr>
          <p:cNvPr id="87" name="TextBox 86"/>
          <p:cNvSpPr txBox="1"/>
          <p:nvPr/>
        </p:nvSpPr>
        <p:spPr>
          <a:xfrm>
            <a:off x="8757309" y="37473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-6.6</a:t>
            </a:r>
          </a:p>
        </p:txBody>
      </p:sp>
      <p:sp>
        <p:nvSpPr>
          <p:cNvPr id="88" name="TextBox 87"/>
          <p:cNvSpPr txBox="1"/>
          <p:nvPr/>
        </p:nvSpPr>
        <p:spPr>
          <a:xfrm>
            <a:off x="10502697" y="37473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+6.6</a:t>
            </a:r>
          </a:p>
        </p:txBody>
      </p:sp>
      <p:sp>
        <p:nvSpPr>
          <p:cNvPr id="89" name="TextBox 88"/>
          <p:cNvSpPr txBox="1"/>
          <p:nvPr/>
        </p:nvSpPr>
        <p:spPr>
          <a:xfrm>
            <a:off x="8229600" y="43508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Partner 경유 Kitchen ±30%</a:t>
            </a:r>
          </a:p>
        </p:txBody>
      </p:sp>
      <p:sp>
        <p:nvSpPr>
          <p:cNvPr id="90" name="Rectangle 89"/>
          <p:cNvSpPr/>
          <p:nvPr/>
        </p:nvSpPr>
        <p:spPr>
          <a:xfrm>
            <a:off x="9426196" y="4661783"/>
            <a:ext cx="441550" cy="274320"/>
          </a:xfrm>
          <a:prstGeom prst="rect">
            <a:avLst/>
          </a:prstGeom>
          <a:solidFill>
            <a:srgbClr val="8C9198"/>
          </a:solidFill>
          <a:ln>
            <a:noFill/>
          </a:ln>
        </p:spPr>
        <p:txBody>
          <a:bodyPr rtlCol="0" anchor="ctr"/>
          <a:lstStyle/>
          <a:p>
            <a:pPr algn="ctr"/>
          </a:p>
        </p:txBody>
      </p:sp>
      <p:sp>
        <p:nvSpPr>
          <p:cNvPr id="91" name="Rectangle 90"/>
          <p:cNvSpPr/>
          <p:nvPr/>
        </p:nvSpPr>
        <p:spPr>
          <a:xfrm>
            <a:off x="9867747" y="4661783"/>
            <a:ext cx="441550" cy="274320"/>
          </a:xfrm>
          <a:prstGeom prst="rect">
            <a:avLst/>
          </a:prstGeom>
          <a:solidFill>
            <a:srgbClr val="E2571B"/>
          </a:solidFill>
          <a:ln>
            <a:noFill/>
          </a:ln>
        </p:spPr>
        <p:txBody>
          <a:bodyPr rtlCol="0" anchor="ctr"/>
          <a:lstStyle/>
          <a:p>
            <a:pPr algn="ctr"/>
          </a:p>
        </p:txBody>
      </p:sp>
      <p:sp>
        <p:nvSpPr>
          <p:cNvPr id="92" name="TextBox 91"/>
          <p:cNvSpPr txBox="1"/>
          <p:nvPr/>
        </p:nvSpPr>
        <p:spPr>
          <a:xfrm>
            <a:off x="8923276" y="46617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-4.8</a:t>
            </a:r>
          </a:p>
        </p:txBody>
      </p:sp>
      <p:sp>
        <p:nvSpPr>
          <p:cNvPr id="93" name="TextBox 92"/>
          <p:cNvSpPr txBox="1"/>
          <p:nvPr/>
        </p:nvSpPr>
        <p:spPr>
          <a:xfrm>
            <a:off x="10336730" y="46617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+4.8</a:t>
            </a:r>
          </a:p>
        </p:txBody>
      </p:sp>
      <p:cxnSp>
        <p:nvCxnSpPr>
          <p:cNvPr id="94" name="Connector 93"/>
          <p:cNvCxnSpPr/>
          <p:nvPr/>
        </p:nvCxnSpPr>
        <p:spPr>
          <a:xfrm>
            <a:off x="9867747" y="2750687"/>
            <a:ext cx="0" cy="2514600"/>
          </a:xfrm>
          <a:prstGeom prst="line">
            <a:avLst/>
          </a:prstGeom>
          <a:ln w="9525">
            <a:solidFill>
              <a:srgbClr val="15171A"/>
            </a:solidFill>
          </a:ln>
        </p:spPr>
      </p:cxnSp>
      <p:sp>
        <p:nvSpPr>
          <p:cNvPr id="95" name="TextBox 94"/>
          <p:cNvSpPr txBox="1"/>
          <p:nvPr/>
        </p:nvSpPr>
        <p:spPr>
          <a:xfrm>
            <a:off x="8229600" y="5311007"/>
            <a:ext cx="3276295" cy="365760"/>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전체 10개 변수: A15. 신축 Option 선택률은 5년 내 영향 작음 (설치 Lag).</a:t>
            </a:r>
          </a:p>
        </p:txBody>
      </p:sp>
      <p:sp>
        <p:nvSpPr>
          <p:cNvPr id="96" name="Rectangle 95"/>
          <p:cNvSpPr/>
          <p:nvPr/>
        </p:nvSpPr>
        <p:spPr>
          <a:xfrm>
            <a:off x="685800" y="5623560"/>
            <a:ext cx="10820095" cy="624027"/>
          </a:xfrm>
          <a:prstGeom prst="rect">
            <a:avLst/>
          </a:prstGeom>
          <a:solidFill>
            <a:srgbClr val="F4F5F6"/>
          </a:solidFill>
          <a:ln>
            <a:noFill/>
          </a:ln>
        </p:spPr>
        <p:txBody>
          <a:bodyPr rtlCol="0" anchor="ctr"/>
          <a:lstStyle/>
          <a:p>
            <a:pPr algn="ctr"/>
          </a:p>
        </p:txBody>
      </p:sp>
      <p:sp>
        <p:nvSpPr>
          <p:cNvPr id="97" name="Rectangle 96"/>
          <p:cNvSpPr/>
          <p:nvPr/>
        </p:nvSpPr>
        <p:spPr>
          <a:xfrm>
            <a:off x="685800" y="5623560"/>
            <a:ext cx="54864" cy="624027"/>
          </a:xfrm>
          <a:prstGeom prst="rect">
            <a:avLst/>
          </a:prstGeom>
          <a:solidFill>
            <a:srgbClr val="E2571B"/>
          </a:solidFill>
          <a:ln>
            <a:noFill/>
          </a:ln>
        </p:spPr>
        <p:txBody>
          <a:bodyPr rtlCol="0" anchor="ctr"/>
          <a:lstStyle/>
          <a:p>
            <a:pPr algn="ctr"/>
          </a:p>
        </p:txBody>
      </p:sp>
      <p:sp>
        <p:nvSpPr>
          <p:cNvPr id="98" name="TextBox 97"/>
          <p:cNvSpPr txBox="1"/>
          <p:nvPr/>
        </p:nvSpPr>
        <p:spPr>
          <a:xfrm>
            <a:off x="886968" y="562356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Rental Partner 구조 성립 조건 (DERIVED): Payback ≤ 36개월 → Robot BOM ≤ 약 1,059만원  |  Care Profit Center 조건: 방문원가 9만원 이하 + 원격진단으로 연 1.5회 이하 방문</a:t>
            </a:r>
          </a:p>
        </p:txBody>
      </p:sp>
      <p:sp>
        <p:nvSpPr>
          <p:cNvPr id="99" name="TextBox 9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0" name="TextBox 9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17  Market Sizing · Beachhead</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Market: Premium · 적용가능 세대부터 Bottom-up</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과도한 TAM 배제. 세대 수 × 적용률 × 단가. 핵심 비율(Premium 10% · 적용 60% · Option 10%)은 ASSUMPTION → Seed 기간 검증.</a:t>
            </a:r>
          </a:p>
        </p:txBody>
      </p:sp>
      <p:sp>
        <p:nvSpPr>
          <p:cNvPr id="7" name="TextBox 6"/>
          <p:cNvSpPr txBox="1"/>
          <p:nvPr/>
        </p:nvSpPr>
        <p:spPr>
          <a:xfrm>
            <a:off x="685800" y="1790567"/>
            <a:ext cx="35204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구축 (연간)</a:t>
            </a:r>
          </a:p>
        </p:txBody>
      </p:sp>
      <p:sp>
        <p:nvSpPr>
          <p:cNvPr id="8" name="Rectangle 7"/>
          <p:cNvSpPr/>
          <p:nvPr/>
        </p:nvSpPr>
        <p:spPr>
          <a:xfrm>
            <a:off x="685800" y="2174615"/>
            <a:ext cx="3520440" cy="621792"/>
          </a:xfrm>
          <a:prstGeom prst="rect">
            <a:avLst/>
          </a:prstGeom>
          <a:solidFill>
            <a:srgbClr val="F4F5F6"/>
          </a:solidFill>
          <a:ln>
            <a:noFill/>
          </a:ln>
        </p:spPr>
        <p:txBody>
          <a:bodyPr rtlCol="0" anchor="ctr"/>
          <a:lstStyle/>
          <a:p>
            <a:pPr algn="ctr"/>
          </a:p>
        </p:txBody>
      </p:sp>
      <p:sp>
        <p:nvSpPr>
          <p:cNvPr id="9" name="TextBox 8"/>
          <p:cNvSpPr txBox="1"/>
          <p:nvPr/>
        </p:nvSpPr>
        <p:spPr>
          <a:xfrm>
            <a:off x="795528" y="2202047"/>
            <a:ext cx="242316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133만호</a:t>
            </a:r>
          </a:p>
        </p:txBody>
      </p:sp>
      <p:sp>
        <p:nvSpPr>
          <p:cNvPr id="10" name="TextBox 9"/>
          <p:cNvSpPr txBox="1"/>
          <p:nvPr/>
        </p:nvSpPr>
        <p:spPr>
          <a:xfrm>
            <a:off x="795528" y="2512943"/>
            <a:ext cx="3300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아파트 (2,018만 × 65.8%)</a:t>
            </a:r>
          </a:p>
        </p:txBody>
      </p:sp>
      <p:sp>
        <p:nvSpPr>
          <p:cNvPr id="11" name="Rectangle 10"/>
          <p:cNvSpPr/>
          <p:nvPr/>
        </p:nvSpPr>
        <p:spPr>
          <a:xfrm>
            <a:off x="3291839" y="2247767"/>
            <a:ext cx="509306" cy="164592"/>
          </a:xfrm>
          <a:prstGeom prst="rect">
            <a:avLst/>
          </a:prstGeom>
          <a:solidFill>
            <a:srgbClr val="5C6169"/>
          </a:solidFill>
          <a:ln>
            <a:noFill/>
          </a:ln>
        </p:spPr>
        <p:txBody>
          <a:bodyPr rtlCol="0" anchor="ctr"/>
          <a:lstStyle/>
          <a:p>
            <a:pPr algn="ctr"/>
          </a:p>
        </p:txBody>
      </p:sp>
      <p:sp>
        <p:nvSpPr>
          <p:cNvPr id="12" name="TextBox 11"/>
          <p:cNvSpPr txBox="1"/>
          <p:nvPr/>
        </p:nvSpPr>
        <p:spPr>
          <a:xfrm>
            <a:off x="3291839" y="2247767"/>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13" name="Rectangle 12"/>
          <p:cNvSpPr/>
          <p:nvPr/>
        </p:nvSpPr>
        <p:spPr>
          <a:xfrm>
            <a:off x="685800" y="2887847"/>
            <a:ext cx="3309213" cy="621792"/>
          </a:xfrm>
          <a:prstGeom prst="rect">
            <a:avLst/>
          </a:prstGeom>
          <a:solidFill>
            <a:srgbClr val="ECEDEF"/>
          </a:solidFill>
          <a:ln>
            <a:noFill/>
          </a:ln>
        </p:spPr>
        <p:txBody>
          <a:bodyPr rtlCol="0" anchor="ctr"/>
          <a:lstStyle/>
          <a:p>
            <a:pPr algn="ctr"/>
          </a:p>
        </p:txBody>
      </p:sp>
      <p:sp>
        <p:nvSpPr>
          <p:cNvPr id="14" name="TextBox 13"/>
          <p:cNvSpPr txBox="1"/>
          <p:nvPr/>
        </p:nvSpPr>
        <p:spPr>
          <a:xfrm>
            <a:off x="795528" y="2915279"/>
            <a:ext cx="2211933"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30만 세대/년</a:t>
            </a:r>
          </a:p>
        </p:txBody>
      </p:sp>
      <p:sp>
        <p:nvSpPr>
          <p:cNvPr id="15" name="TextBox 14"/>
          <p:cNvSpPr txBox="1"/>
          <p:nvPr/>
        </p:nvSpPr>
        <p:spPr>
          <a:xfrm>
            <a:off x="795528" y="3226175"/>
            <a:ext cx="3089757"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Kitchen 교체 (교차검증 29.0·30.3만)</a:t>
            </a:r>
          </a:p>
        </p:txBody>
      </p:sp>
      <p:sp>
        <p:nvSpPr>
          <p:cNvPr id="16" name="Rectangle 15"/>
          <p:cNvSpPr/>
          <p:nvPr/>
        </p:nvSpPr>
        <p:spPr>
          <a:xfrm>
            <a:off x="3080613" y="2960999"/>
            <a:ext cx="713061" cy="164592"/>
          </a:xfrm>
          <a:prstGeom prst="rect">
            <a:avLst/>
          </a:prstGeom>
          <a:solidFill>
            <a:srgbClr val="FBEDE6"/>
          </a:solidFill>
          <a:ln>
            <a:noFill/>
          </a:ln>
        </p:spPr>
        <p:txBody>
          <a:bodyPr rtlCol="0" anchor="ctr"/>
          <a:lstStyle/>
          <a:p>
            <a:pPr algn="ctr"/>
          </a:p>
        </p:txBody>
      </p:sp>
      <p:sp>
        <p:nvSpPr>
          <p:cNvPr id="17" name="TextBox 16"/>
          <p:cNvSpPr txBox="1"/>
          <p:nvPr/>
        </p:nvSpPr>
        <p:spPr>
          <a:xfrm>
            <a:off x="3080613" y="2960999"/>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18" name="Rectangle 17"/>
          <p:cNvSpPr/>
          <p:nvPr/>
        </p:nvSpPr>
        <p:spPr>
          <a:xfrm>
            <a:off x="685800" y="3601079"/>
            <a:ext cx="3097987" cy="621792"/>
          </a:xfrm>
          <a:prstGeom prst="rect">
            <a:avLst/>
          </a:prstGeom>
          <a:solidFill>
            <a:srgbClr val="F4F5F6"/>
          </a:solidFill>
          <a:ln>
            <a:noFill/>
          </a:ln>
        </p:spPr>
        <p:txBody>
          <a:bodyPr rtlCol="0" anchor="ctr"/>
          <a:lstStyle/>
          <a:p>
            <a:pPr algn="ctr"/>
          </a:p>
        </p:txBody>
      </p:sp>
      <p:sp>
        <p:nvSpPr>
          <p:cNvPr id="19" name="TextBox 18"/>
          <p:cNvSpPr txBox="1"/>
          <p:nvPr/>
        </p:nvSpPr>
        <p:spPr>
          <a:xfrm>
            <a:off x="795528" y="3628511"/>
            <a:ext cx="2000707"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3만 세대</a:t>
            </a:r>
          </a:p>
        </p:txBody>
      </p:sp>
      <p:sp>
        <p:nvSpPr>
          <p:cNvPr id="20" name="TextBox 19"/>
          <p:cNvSpPr txBox="1"/>
          <p:nvPr/>
        </p:nvSpPr>
        <p:spPr>
          <a:xfrm>
            <a:off x="795528" y="3939407"/>
            <a:ext cx="2878531"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Premium 10%</a:t>
            </a:r>
          </a:p>
        </p:txBody>
      </p:sp>
      <p:sp>
        <p:nvSpPr>
          <p:cNvPr id="21" name="Rectangle 20"/>
          <p:cNvSpPr/>
          <p:nvPr/>
        </p:nvSpPr>
        <p:spPr>
          <a:xfrm>
            <a:off x="2869387" y="3674231"/>
            <a:ext cx="713061" cy="164592"/>
          </a:xfrm>
          <a:prstGeom prst="rect">
            <a:avLst/>
          </a:prstGeom>
          <a:solidFill>
            <a:srgbClr val="FBEDE6"/>
          </a:solidFill>
          <a:ln>
            <a:noFill/>
          </a:ln>
        </p:spPr>
        <p:txBody>
          <a:bodyPr rtlCol="0" anchor="ctr"/>
          <a:lstStyle/>
          <a:p>
            <a:pPr algn="ctr"/>
          </a:p>
        </p:txBody>
      </p:sp>
      <p:sp>
        <p:nvSpPr>
          <p:cNvPr id="22" name="TextBox 21"/>
          <p:cNvSpPr txBox="1"/>
          <p:nvPr/>
        </p:nvSpPr>
        <p:spPr>
          <a:xfrm>
            <a:off x="2869387" y="3674231"/>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23" name="Rectangle 22"/>
          <p:cNvSpPr/>
          <p:nvPr/>
        </p:nvSpPr>
        <p:spPr>
          <a:xfrm>
            <a:off x="685800" y="4314311"/>
            <a:ext cx="2886760" cy="621792"/>
          </a:xfrm>
          <a:prstGeom prst="rect">
            <a:avLst/>
          </a:prstGeom>
          <a:solidFill>
            <a:srgbClr val="ECEDEF"/>
          </a:solidFill>
          <a:ln>
            <a:noFill/>
          </a:ln>
        </p:spPr>
        <p:txBody>
          <a:bodyPr rtlCol="0" anchor="ctr"/>
          <a:lstStyle/>
          <a:p>
            <a:pPr algn="ctr"/>
          </a:p>
        </p:txBody>
      </p:sp>
      <p:sp>
        <p:nvSpPr>
          <p:cNvPr id="24" name="TextBox 23"/>
          <p:cNvSpPr txBox="1"/>
          <p:nvPr/>
        </p:nvSpPr>
        <p:spPr>
          <a:xfrm>
            <a:off x="795528" y="4341743"/>
            <a:ext cx="178948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1.8만 세대</a:t>
            </a:r>
          </a:p>
        </p:txBody>
      </p:sp>
      <p:sp>
        <p:nvSpPr>
          <p:cNvPr id="25" name="TextBox 24"/>
          <p:cNvSpPr txBox="1"/>
          <p:nvPr/>
        </p:nvSpPr>
        <p:spPr>
          <a:xfrm>
            <a:off x="795528" y="4652639"/>
            <a:ext cx="266730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적용 가능 60%</a:t>
            </a:r>
          </a:p>
        </p:txBody>
      </p:sp>
      <p:sp>
        <p:nvSpPr>
          <p:cNvPr id="26" name="Rectangle 25"/>
          <p:cNvSpPr/>
          <p:nvPr/>
        </p:nvSpPr>
        <p:spPr>
          <a:xfrm>
            <a:off x="2658160" y="4387463"/>
            <a:ext cx="713061" cy="164592"/>
          </a:xfrm>
          <a:prstGeom prst="rect">
            <a:avLst/>
          </a:prstGeom>
          <a:solidFill>
            <a:srgbClr val="FBEDE6"/>
          </a:solidFill>
          <a:ln>
            <a:noFill/>
          </a:ln>
        </p:spPr>
        <p:txBody>
          <a:bodyPr rtlCol="0" anchor="ctr"/>
          <a:lstStyle/>
          <a:p>
            <a:pPr algn="ctr"/>
          </a:p>
        </p:txBody>
      </p:sp>
      <p:sp>
        <p:nvSpPr>
          <p:cNvPr id="27" name="TextBox 26"/>
          <p:cNvSpPr txBox="1"/>
          <p:nvPr/>
        </p:nvSpPr>
        <p:spPr>
          <a:xfrm>
            <a:off x="2658160" y="4387463"/>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28" name="Rectangle 27"/>
          <p:cNvSpPr/>
          <p:nvPr/>
        </p:nvSpPr>
        <p:spPr>
          <a:xfrm>
            <a:off x="685800" y="5027543"/>
            <a:ext cx="2675534" cy="621792"/>
          </a:xfrm>
          <a:prstGeom prst="rect">
            <a:avLst/>
          </a:prstGeom>
          <a:solidFill>
            <a:srgbClr val="15171A"/>
          </a:solidFill>
          <a:ln>
            <a:noFill/>
          </a:ln>
        </p:spPr>
        <p:txBody>
          <a:bodyPr rtlCol="0" anchor="ctr"/>
          <a:lstStyle/>
          <a:p>
            <a:pPr algn="ctr"/>
          </a:p>
        </p:txBody>
      </p:sp>
      <p:sp>
        <p:nvSpPr>
          <p:cNvPr id="29" name="TextBox 28"/>
          <p:cNvSpPr txBox="1"/>
          <p:nvPr/>
        </p:nvSpPr>
        <p:spPr>
          <a:xfrm>
            <a:off x="795528" y="5054975"/>
            <a:ext cx="1578254" cy="320040"/>
          </a:xfrm>
          <a:prstGeom prst="rect">
            <a:avLst/>
          </a:prstGeom>
          <a:noFill/>
        </p:spPr>
        <p:txBody>
          <a:bodyPr wrap="square" lIns="0" rIns="0" tIns="0" bIns="0" anchor="t">
            <a:spAutoFit/>
          </a:bodyPr>
          <a:lstStyle/>
          <a:p>
            <a:pPr algn="l">
              <a:lnSpc>
                <a:spcPct val="100000"/>
              </a:lnSpc>
            </a:pPr>
            <a:r>
              <a:rPr sz="1400" b="1">
                <a:solidFill>
                  <a:srgbClr val="FFFFFF"/>
                </a:solidFill>
                <a:latin typeface="Noto Sans KR"/>
                <a:ea typeface="Noto Sans KR"/>
                <a:cs typeface="Noto Sans KR"/>
              </a:rPr>
              <a:t>3,212억원/년</a:t>
            </a:r>
          </a:p>
        </p:txBody>
      </p:sp>
      <p:sp>
        <p:nvSpPr>
          <p:cNvPr id="30" name="TextBox 29"/>
          <p:cNvSpPr txBox="1"/>
          <p:nvPr/>
        </p:nvSpPr>
        <p:spPr>
          <a:xfrm>
            <a:off x="795528" y="5365871"/>
            <a:ext cx="2456078" cy="256032"/>
          </a:xfrm>
          <a:prstGeom prst="rect">
            <a:avLst/>
          </a:prstGeom>
          <a:noFill/>
        </p:spPr>
        <p:txBody>
          <a:bodyPr wrap="square" lIns="0" rIns="0" tIns="0" bIns="0" anchor="t">
            <a:spAutoFit/>
          </a:bodyPr>
          <a:lstStyle/>
          <a:p>
            <a:pPr algn="l">
              <a:lnSpc>
                <a:spcPct val="100000"/>
              </a:lnSpc>
            </a:pPr>
            <a:r>
              <a:rPr sz="900" b="0">
                <a:solidFill>
                  <a:srgbClr val="FFFFFF"/>
                </a:solidFill>
                <a:latin typeface="Noto Sans KR"/>
                <a:ea typeface="Noto Sans KR"/>
                <a:cs typeface="Noto Sans KR"/>
              </a:rPr>
              <a:t>구축 SAM · 단가 1,784만원</a:t>
            </a:r>
          </a:p>
        </p:txBody>
      </p:sp>
      <p:sp>
        <p:nvSpPr>
          <p:cNvPr id="31" name="Rectangle 30"/>
          <p:cNvSpPr/>
          <p:nvPr/>
        </p:nvSpPr>
        <p:spPr>
          <a:xfrm>
            <a:off x="2446934" y="5100695"/>
            <a:ext cx="509306" cy="164592"/>
          </a:xfrm>
          <a:prstGeom prst="rect">
            <a:avLst/>
          </a:prstGeom>
          <a:solidFill>
            <a:srgbClr val="5C6169"/>
          </a:solidFill>
          <a:ln>
            <a:noFill/>
          </a:ln>
        </p:spPr>
        <p:txBody>
          <a:bodyPr rtlCol="0" anchor="ctr"/>
          <a:lstStyle/>
          <a:p>
            <a:pPr algn="ctr"/>
          </a:p>
        </p:txBody>
      </p:sp>
      <p:sp>
        <p:nvSpPr>
          <p:cNvPr id="32" name="TextBox 31"/>
          <p:cNvSpPr txBox="1"/>
          <p:nvPr/>
        </p:nvSpPr>
        <p:spPr>
          <a:xfrm>
            <a:off x="2446934" y="5100695"/>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33" name="TextBox 32"/>
          <p:cNvSpPr txBox="1"/>
          <p:nvPr/>
        </p:nvSpPr>
        <p:spPr>
          <a:xfrm>
            <a:off x="4480559" y="1790567"/>
            <a:ext cx="35204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신축 (연간)</a:t>
            </a:r>
          </a:p>
        </p:txBody>
      </p:sp>
      <p:sp>
        <p:nvSpPr>
          <p:cNvPr id="34" name="Rectangle 33"/>
          <p:cNvSpPr/>
          <p:nvPr/>
        </p:nvSpPr>
        <p:spPr>
          <a:xfrm>
            <a:off x="4480559" y="2174615"/>
            <a:ext cx="3520440" cy="621792"/>
          </a:xfrm>
          <a:prstGeom prst="rect">
            <a:avLst/>
          </a:prstGeom>
          <a:solidFill>
            <a:srgbClr val="F4F5F6"/>
          </a:solidFill>
          <a:ln>
            <a:noFill/>
          </a:ln>
        </p:spPr>
        <p:txBody>
          <a:bodyPr rtlCol="0" anchor="ctr"/>
          <a:lstStyle/>
          <a:p>
            <a:pPr algn="ctr"/>
          </a:p>
        </p:txBody>
      </p:sp>
      <p:sp>
        <p:nvSpPr>
          <p:cNvPr id="35" name="TextBox 34"/>
          <p:cNvSpPr txBox="1"/>
          <p:nvPr/>
        </p:nvSpPr>
        <p:spPr>
          <a:xfrm>
            <a:off x="4590288" y="2202047"/>
            <a:ext cx="242316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20만 세대/년</a:t>
            </a:r>
          </a:p>
        </p:txBody>
      </p:sp>
      <p:sp>
        <p:nvSpPr>
          <p:cNvPr id="36" name="TextBox 35"/>
          <p:cNvSpPr txBox="1"/>
          <p:nvPr/>
        </p:nvSpPr>
        <p:spPr>
          <a:xfrm>
            <a:off x="4590288" y="2512943"/>
            <a:ext cx="3300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아파트 입주 (23.6만·18.3만 평균)</a:t>
            </a:r>
          </a:p>
        </p:txBody>
      </p:sp>
      <p:sp>
        <p:nvSpPr>
          <p:cNvPr id="37" name="Rectangle 36"/>
          <p:cNvSpPr/>
          <p:nvPr/>
        </p:nvSpPr>
        <p:spPr>
          <a:xfrm>
            <a:off x="7086600" y="2247767"/>
            <a:ext cx="509306" cy="164592"/>
          </a:xfrm>
          <a:prstGeom prst="rect">
            <a:avLst/>
          </a:prstGeom>
          <a:solidFill>
            <a:srgbClr val="5C6169"/>
          </a:solidFill>
          <a:ln>
            <a:noFill/>
          </a:ln>
        </p:spPr>
        <p:txBody>
          <a:bodyPr rtlCol="0" anchor="ctr"/>
          <a:lstStyle/>
          <a:p>
            <a:pPr algn="ctr"/>
          </a:p>
        </p:txBody>
      </p:sp>
      <p:sp>
        <p:nvSpPr>
          <p:cNvPr id="38" name="TextBox 37"/>
          <p:cNvSpPr txBox="1"/>
          <p:nvPr/>
        </p:nvSpPr>
        <p:spPr>
          <a:xfrm>
            <a:off x="7086600" y="2247767"/>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39" name="Rectangle 38"/>
          <p:cNvSpPr/>
          <p:nvPr/>
        </p:nvSpPr>
        <p:spPr>
          <a:xfrm>
            <a:off x="4480559" y="2887847"/>
            <a:ext cx="3309213" cy="621792"/>
          </a:xfrm>
          <a:prstGeom prst="rect">
            <a:avLst/>
          </a:prstGeom>
          <a:solidFill>
            <a:srgbClr val="ECEDEF"/>
          </a:solidFill>
          <a:ln>
            <a:noFill/>
          </a:ln>
        </p:spPr>
        <p:txBody>
          <a:bodyPr rtlCol="0" anchor="ctr"/>
          <a:lstStyle/>
          <a:p>
            <a:pPr algn="ctr"/>
          </a:p>
        </p:txBody>
      </p:sp>
      <p:sp>
        <p:nvSpPr>
          <p:cNvPr id="40" name="TextBox 39"/>
          <p:cNvSpPr txBox="1"/>
          <p:nvPr/>
        </p:nvSpPr>
        <p:spPr>
          <a:xfrm>
            <a:off x="4590288" y="2915279"/>
            <a:ext cx="2211933"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3만 세대</a:t>
            </a:r>
          </a:p>
        </p:txBody>
      </p:sp>
      <p:sp>
        <p:nvSpPr>
          <p:cNvPr id="41" name="TextBox 40"/>
          <p:cNvSpPr txBox="1"/>
          <p:nvPr/>
        </p:nvSpPr>
        <p:spPr>
          <a:xfrm>
            <a:off x="4590288" y="3226175"/>
            <a:ext cx="3089757"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Premium 단지 15%</a:t>
            </a:r>
          </a:p>
        </p:txBody>
      </p:sp>
      <p:sp>
        <p:nvSpPr>
          <p:cNvPr id="42" name="Rectangle 41"/>
          <p:cNvSpPr/>
          <p:nvPr/>
        </p:nvSpPr>
        <p:spPr>
          <a:xfrm>
            <a:off x="6875373" y="2960999"/>
            <a:ext cx="713061" cy="164592"/>
          </a:xfrm>
          <a:prstGeom prst="rect">
            <a:avLst/>
          </a:prstGeom>
          <a:solidFill>
            <a:srgbClr val="FBEDE6"/>
          </a:solidFill>
          <a:ln>
            <a:noFill/>
          </a:ln>
        </p:spPr>
        <p:txBody>
          <a:bodyPr rtlCol="0" anchor="ctr"/>
          <a:lstStyle/>
          <a:p>
            <a:pPr algn="ctr"/>
          </a:p>
        </p:txBody>
      </p:sp>
      <p:sp>
        <p:nvSpPr>
          <p:cNvPr id="43" name="TextBox 42"/>
          <p:cNvSpPr txBox="1"/>
          <p:nvPr/>
        </p:nvSpPr>
        <p:spPr>
          <a:xfrm>
            <a:off x="6875373" y="2960999"/>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44" name="Rectangle 43"/>
          <p:cNvSpPr/>
          <p:nvPr/>
        </p:nvSpPr>
        <p:spPr>
          <a:xfrm>
            <a:off x="4480559" y="3601079"/>
            <a:ext cx="3097987" cy="621792"/>
          </a:xfrm>
          <a:prstGeom prst="rect">
            <a:avLst/>
          </a:prstGeom>
          <a:solidFill>
            <a:srgbClr val="F4F5F6"/>
          </a:solidFill>
          <a:ln>
            <a:noFill/>
          </a:ln>
        </p:spPr>
        <p:txBody>
          <a:bodyPr rtlCol="0" anchor="ctr"/>
          <a:lstStyle/>
          <a:p>
            <a:pPr algn="ctr"/>
          </a:p>
        </p:txBody>
      </p:sp>
      <p:sp>
        <p:nvSpPr>
          <p:cNvPr id="45" name="TextBox 44"/>
          <p:cNvSpPr txBox="1"/>
          <p:nvPr/>
        </p:nvSpPr>
        <p:spPr>
          <a:xfrm>
            <a:off x="4590288" y="3628511"/>
            <a:ext cx="2000707"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3,000세대</a:t>
            </a:r>
          </a:p>
        </p:txBody>
      </p:sp>
      <p:sp>
        <p:nvSpPr>
          <p:cNvPr id="46" name="TextBox 45"/>
          <p:cNvSpPr txBox="1"/>
          <p:nvPr/>
        </p:nvSpPr>
        <p:spPr>
          <a:xfrm>
            <a:off x="4590288" y="3939407"/>
            <a:ext cx="2878531"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Option 10%</a:t>
            </a:r>
          </a:p>
        </p:txBody>
      </p:sp>
      <p:sp>
        <p:nvSpPr>
          <p:cNvPr id="47" name="Rectangle 46"/>
          <p:cNvSpPr/>
          <p:nvPr/>
        </p:nvSpPr>
        <p:spPr>
          <a:xfrm>
            <a:off x="6664147" y="3674231"/>
            <a:ext cx="713061" cy="164592"/>
          </a:xfrm>
          <a:prstGeom prst="rect">
            <a:avLst/>
          </a:prstGeom>
          <a:solidFill>
            <a:srgbClr val="FBEDE6"/>
          </a:solidFill>
          <a:ln>
            <a:noFill/>
          </a:ln>
        </p:spPr>
        <p:txBody>
          <a:bodyPr rtlCol="0" anchor="ctr"/>
          <a:lstStyle/>
          <a:p>
            <a:pPr algn="ctr"/>
          </a:p>
        </p:txBody>
      </p:sp>
      <p:sp>
        <p:nvSpPr>
          <p:cNvPr id="48" name="TextBox 47"/>
          <p:cNvSpPr txBox="1"/>
          <p:nvPr/>
        </p:nvSpPr>
        <p:spPr>
          <a:xfrm>
            <a:off x="6664147" y="3674231"/>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49" name="Rectangle 48"/>
          <p:cNvSpPr/>
          <p:nvPr/>
        </p:nvSpPr>
        <p:spPr>
          <a:xfrm>
            <a:off x="4480559" y="4314311"/>
            <a:ext cx="2886760" cy="621792"/>
          </a:xfrm>
          <a:prstGeom prst="rect">
            <a:avLst/>
          </a:prstGeom>
          <a:solidFill>
            <a:srgbClr val="15171A"/>
          </a:solidFill>
          <a:ln>
            <a:noFill/>
          </a:ln>
        </p:spPr>
        <p:txBody>
          <a:bodyPr rtlCol="0" anchor="ctr"/>
          <a:lstStyle/>
          <a:p>
            <a:pPr algn="ctr"/>
          </a:p>
        </p:txBody>
      </p:sp>
      <p:sp>
        <p:nvSpPr>
          <p:cNvPr id="50" name="TextBox 49"/>
          <p:cNvSpPr txBox="1"/>
          <p:nvPr/>
        </p:nvSpPr>
        <p:spPr>
          <a:xfrm>
            <a:off x="4590288" y="4341743"/>
            <a:ext cx="17894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Noto Sans KR"/>
                <a:ea typeface="Noto Sans KR"/>
                <a:cs typeface="Noto Sans KR"/>
              </a:rPr>
              <a:t>184억원/년</a:t>
            </a:r>
          </a:p>
        </p:txBody>
      </p:sp>
      <p:sp>
        <p:nvSpPr>
          <p:cNvPr id="51" name="TextBox 50"/>
          <p:cNvSpPr txBox="1"/>
          <p:nvPr/>
        </p:nvSpPr>
        <p:spPr>
          <a:xfrm>
            <a:off x="4590288" y="4652639"/>
            <a:ext cx="2667304" cy="256032"/>
          </a:xfrm>
          <a:prstGeom prst="rect">
            <a:avLst/>
          </a:prstGeom>
          <a:noFill/>
        </p:spPr>
        <p:txBody>
          <a:bodyPr wrap="square" lIns="0" rIns="0" tIns="0" bIns="0" anchor="t">
            <a:spAutoFit/>
          </a:bodyPr>
          <a:lstStyle/>
          <a:p>
            <a:pPr algn="l">
              <a:lnSpc>
                <a:spcPct val="100000"/>
              </a:lnSpc>
            </a:pPr>
            <a:r>
              <a:rPr sz="900" b="0">
                <a:solidFill>
                  <a:srgbClr val="FFFFFF"/>
                </a:solidFill>
                <a:latin typeface="Noto Sans KR"/>
                <a:ea typeface="Noto Sans KR"/>
                <a:cs typeface="Noto Sans KR"/>
              </a:rPr>
              <a:t>신축 SAM · 단가 612만원</a:t>
            </a:r>
          </a:p>
        </p:txBody>
      </p:sp>
      <p:sp>
        <p:nvSpPr>
          <p:cNvPr id="52" name="Rectangle 51"/>
          <p:cNvSpPr/>
          <p:nvPr/>
        </p:nvSpPr>
        <p:spPr>
          <a:xfrm>
            <a:off x="6452920" y="4387463"/>
            <a:ext cx="509306" cy="164592"/>
          </a:xfrm>
          <a:prstGeom prst="rect">
            <a:avLst/>
          </a:prstGeom>
          <a:solidFill>
            <a:srgbClr val="5C6169"/>
          </a:solidFill>
          <a:ln>
            <a:noFill/>
          </a:ln>
        </p:spPr>
        <p:txBody>
          <a:bodyPr rtlCol="0" anchor="ctr"/>
          <a:lstStyle/>
          <a:p>
            <a:pPr algn="ctr"/>
          </a:p>
        </p:txBody>
      </p:sp>
      <p:sp>
        <p:nvSpPr>
          <p:cNvPr id="53" name="TextBox 52"/>
          <p:cNvSpPr txBox="1"/>
          <p:nvPr/>
        </p:nvSpPr>
        <p:spPr>
          <a:xfrm>
            <a:off x="6452920" y="4387463"/>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54" name="Rectangle 53"/>
          <p:cNvSpPr/>
          <p:nvPr/>
        </p:nvSpPr>
        <p:spPr>
          <a:xfrm>
            <a:off x="8275319" y="1790567"/>
            <a:ext cx="3230575" cy="914400"/>
          </a:xfrm>
          <a:prstGeom prst="rect">
            <a:avLst/>
          </a:prstGeom>
          <a:solidFill>
            <a:srgbClr val="F4F5F6"/>
          </a:solidFill>
          <a:ln>
            <a:noFill/>
          </a:ln>
        </p:spPr>
        <p:txBody>
          <a:bodyPr rtlCol="0" anchor="ctr"/>
          <a:lstStyle/>
          <a:p>
            <a:pPr algn="ctr"/>
          </a:p>
        </p:txBody>
      </p:sp>
      <p:sp>
        <p:nvSpPr>
          <p:cNvPr id="55" name="TextBox 54"/>
          <p:cNvSpPr txBox="1"/>
          <p:nvPr/>
        </p:nvSpPr>
        <p:spPr>
          <a:xfrm>
            <a:off x="8412480" y="1863719"/>
            <a:ext cx="640080"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TAM</a:t>
            </a:r>
          </a:p>
        </p:txBody>
      </p:sp>
      <p:sp>
        <p:nvSpPr>
          <p:cNvPr id="56" name="TextBox 55"/>
          <p:cNvSpPr txBox="1"/>
          <p:nvPr/>
        </p:nvSpPr>
        <p:spPr>
          <a:xfrm>
            <a:off x="9052559" y="1827143"/>
            <a:ext cx="2361895" cy="36576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1.21조원/년</a:t>
            </a:r>
          </a:p>
        </p:txBody>
      </p:sp>
      <p:sp>
        <p:nvSpPr>
          <p:cNvPr id="57" name="TextBox 56"/>
          <p:cNvSpPr txBox="1"/>
          <p:nvPr/>
        </p:nvSpPr>
        <p:spPr>
          <a:xfrm>
            <a:off x="8412480" y="2247767"/>
            <a:ext cx="2956255" cy="41148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Premium 세대 (구축 3만 + 신축 3만) × 전체 패키지 2,020만원</a:t>
            </a:r>
          </a:p>
        </p:txBody>
      </p:sp>
      <p:sp>
        <p:nvSpPr>
          <p:cNvPr id="58" name="Rectangle 57"/>
          <p:cNvSpPr/>
          <p:nvPr/>
        </p:nvSpPr>
        <p:spPr>
          <a:xfrm>
            <a:off x="8275319" y="2814695"/>
            <a:ext cx="3230575" cy="914400"/>
          </a:xfrm>
          <a:prstGeom prst="rect">
            <a:avLst/>
          </a:prstGeom>
          <a:solidFill>
            <a:srgbClr val="F4F5F6"/>
          </a:solidFill>
          <a:ln>
            <a:noFill/>
          </a:ln>
        </p:spPr>
        <p:txBody>
          <a:bodyPr rtlCol="0" anchor="ctr"/>
          <a:lstStyle/>
          <a:p>
            <a:pPr algn="ctr"/>
          </a:p>
        </p:txBody>
      </p:sp>
      <p:sp>
        <p:nvSpPr>
          <p:cNvPr id="59" name="TextBox 58"/>
          <p:cNvSpPr txBox="1"/>
          <p:nvPr/>
        </p:nvSpPr>
        <p:spPr>
          <a:xfrm>
            <a:off x="8412480" y="2887847"/>
            <a:ext cx="640080"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SAM</a:t>
            </a:r>
          </a:p>
        </p:txBody>
      </p:sp>
      <p:sp>
        <p:nvSpPr>
          <p:cNvPr id="60" name="TextBox 59"/>
          <p:cNvSpPr txBox="1"/>
          <p:nvPr/>
        </p:nvSpPr>
        <p:spPr>
          <a:xfrm>
            <a:off x="9052559" y="2851271"/>
            <a:ext cx="2361895" cy="36576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3,396억원/년</a:t>
            </a:r>
          </a:p>
        </p:txBody>
      </p:sp>
      <p:sp>
        <p:nvSpPr>
          <p:cNvPr id="61" name="TextBox 60"/>
          <p:cNvSpPr txBox="1"/>
          <p:nvPr/>
        </p:nvSpPr>
        <p:spPr>
          <a:xfrm>
            <a:off x="8412480" y="3271895"/>
            <a:ext cx="2956255" cy="41148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적용 가능 · Option 선택 세대 × 기대 단가</a:t>
            </a:r>
          </a:p>
        </p:txBody>
      </p:sp>
      <p:sp>
        <p:nvSpPr>
          <p:cNvPr id="62" name="Rectangle 61"/>
          <p:cNvSpPr/>
          <p:nvPr/>
        </p:nvSpPr>
        <p:spPr>
          <a:xfrm>
            <a:off x="8275319" y="3838823"/>
            <a:ext cx="3230575" cy="914400"/>
          </a:xfrm>
          <a:prstGeom prst="rect">
            <a:avLst/>
          </a:prstGeom>
          <a:solidFill>
            <a:srgbClr val="E2571B"/>
          </a:solidFill>
          <a:ln>
            <a:noFill/>
          </a:ln>
        </p:spPr>
        <p:txBody>
          <a:bodyPr rtlCol="0" anchor="ctr"/>
          <a:lstStyle/>
          <a:p>
            <a:pPr algn="ctr"/>
          </a:p>
        </p:txBody>
      </p:sp>
      <p:sp>
        <p:nvSpPr>
          <p:cNvPr id="63" name="TextBox 62"/>
          <p:cNvSpPr txBox="1"/>
          <p:nvPr/>
        </p:nvSpPr>
        <p:spPr>
          <a:xfrm>
            <a:off x="8412480" y="3911975"/>
            <a:ext cx="640080" cy="2743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SOM</a:t>
            </a:r>
          </a:p>
        </p:txBody>
      </p:sp>
      <p:sp>
        <p:nvSpPr>
          <p:cNvPr id="64" name="TextBox 63"/>
          <p:cNvSpPr txBox="1"/>
          <p:nvPr/>
        </p:nvSpPr>
        <p:spPr>
          <a:xfrm>
            <a:off x="9052559" y="3875399"/>
            <a:ext cx="2361895" cy="365760"/>
          </a:xfrm>
          <a:prstGeom prst="rect">
            <a:avLst/>
          </a:prstGeom>
          <a:noFill/>
        </p:spPr>
        <p:txBody>
          <a:bodyPr wrap="square" lIns="0" rIns="0" tIns="0" bIns="0" anchor="t">
            <a:spAutoFit/>
          </a:bodyPr>
          <a:lstStyle/>
          <a:p>
            <a:pPr algn="l">
              <a:lnSpc>
                <a:spcPct val="100000"/>
              </a:lnSpc>
            </a:pPr>
            <a:r>
              <a:rPr sz="1600" b="1">
                <a:solidFill>
                  <a:srgbClr val="FFFFFF"/>
                </a:solidFill>
                <a:latin typeface="Noto Sans KR"/>
                <a:ea typeface="Noto Sans KR"/>
                <a:cs typeface="Noto Sans KR"/>
              </a:rPr>
              <a:t>78억원 (Y5)</a:t>
            </a:r>
          </a:p>
        </p:txBody>
      </p:sp>
      <p:sp>
        <p:nvSpPr>
          <p:cNvPr id="65" name="TextBox 64"/>
          <p:cNvSpPr txBox="1"/>
          <p:nvPr/>
        </p:nvSpPr>
        <p:spPr>
          <a:xfrm>
            <a:off x="8412480" y="4296023"/>
            <a:ext cx="2956255" cy="411480"/>
          </a:xfrm>
          <a:prstGeom prst="rect">
            <a:avLst/>
          </a:prstGeom>
          <a:noFill/>
        </p:spPr>
        <p:txBody>
          <a:bodyPr wrap="square" lIns="0" rIns="0" tIns="0" bIns="0" anchor="t">
            <a:spAutoFit/>
          </a:bodyPr>
          <a:lstStyle/>
          <a:p>
            <a:pPr algn="l">
              <a:lnSpc>
                <a:spcPct val="100000"/>
              </a:lnSpc>
            </a:pPr>
            <a:r>
              <a:rPr sz="850" b="0">
                <a:solidFill>
                  <a:srgbClr val="FFFFFF"/>
                </a:solidFill>
                <a:latin typeface="Noto Sans KR"/>
                <a:ea typeface="Noto Sans KR"/>
                <a:cs typeface="Noto Sans KR"/>
              </a:rPr>
              <a:t>Base Plan Y5 매출 · SAM 세대의 2.3%</a:t>
            </a:r>
          </a:p>
        </p:txBody>
      </p:sp>
      <p:sp>
        <p:nvSpPr>
          <p:cNvPr id="66" name="TextBox 65"/>
          <p:cNvSpPr txBox="1"/>
          <p:nvPr/>
        </p:nvSpPr>
        <p:spPr>
          <a:xfrm>
            <a:off x="8275319" y="4945247"/>
            <a:ext cx="323057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Beachhead 순서</a:t>
            </a:r>
          </a:p>
        </p:txBody>
      </p:sp>
      <p:sp>
        <p:nvSpPr>
          <p:cNvPr id="67" name="TextBox 66"/>
          <p:cNvSpPr txBox="1"/>
          <p:nvPr/>
        </p:nvSpPr>
        <p:spPr>
          <a:xfrm>
            <a:off x="8275319" y="5237855"/>
            <a:ext cx="3230575" cy="1097280"/>
          </a:xfrm>
          <a:prstGeom prst="rect">
            <a:avLst/>
          </a:prstGeom>
          <a:noFill/>
        </p:spPr>
        <p:txBody>
          <a:bodyPr wrap="square" lIns="0" rIns="0" tIns="0" bIns="0" anchor="t">
            <a:spAutoFit/>
          </a:bodyPr>
          <a:lstStyle/>
          <a:p>
            <a:pPr algn="l">
              <a:lnSpc>
                <a:spcPct val="100000"/>
              </a:lnSpc>
              <a:spcAft>
                <a:spcPts val="200"/>
              </a:spcAft>
            </a:pPr>
            <a:r>
              <a:rPr sz="1000" b="0">
                <a:solidFill>
                  <a:srgbClr val="15171A"/>
                </a:solidFill>
                <a:latin typeface="Noto Sans KR"/>
                <a:ea typeface="Noto Sans KR"/>
                <a:cs typeface="Noto Sans KR"/>
              </a:rPr>
              <a:t>① 구축 Premium Kitchen Remodeling</a:t>
            </a:r>
          </a:p>
          <a:p>
            <a:pPr algn="l">
              <a:lnSpc>
                <a:spcPct val="100000"/>
              </a:lnSpc>
              <a:spcAft>
                <a:spcPts val="200"/>
              </a:spcAft>
            </a:pPr>
            <a:r>
              <a:rPr sz="1000" b="0">
                <a:solidFill>
                  <a:srgbClr val="15171A"/>
                </a:solidFill>
                <a:latin typeface="Noto Sans KR"/>
                <a:ea typeface="Noto Sans KR"/>
                <a:cs typeface="Noto Sans KR"/>
              </a:rPr>
              <a:t>② High-end 신축 Option</a:t>
            </a:r>
          </a:p>
          <a:p>
            <a:pPr algn="l">
              <a:lnSpc>
                <a:spcPct val="100000"/>
              </a:lnSpc>
              <a:spcAft>
                <a:spcPts val="200"/>
              </a:spcAft>
            </a:pPr>
            <a:r>
              <a:rPr sz="1000" b="0">
                <a:solidFill>
                  <a:srgbClr val="15171A"/>
                </a:solidFill>
                <a:latin typeface="Noto Sans KR"/>
                <a:ea typeface="Noto Sans KR"/>
                <a:cs typeface="Noto Sans KR"/>
              </a:rPr>
              <a:t>③ Kitchen Furniture Partnership</a:t>
            </a:r>
          </a:p>
          <a:p>
            <a:pPr algn="l">
              <a:lnSpc>
                <a:spcPct val="100000"/>
              </a:lnSpc>
            </a:pPr>
            <a:r>
              <a:rPr sz="1000" b="0">
                <a:solidFill>
                  <a:srgbClr val="15171A"/>
                </a:solidFill>
                <a:latin typeface="Noto Sans KR"/>
                <a:ea typeface="Noto Sans KR"/>
                <a:cs typeface="Noto Sans KR"/>
              </a:rPr>
              <a:t>④ 건설사 Standard Option</a:t>
            </a:r>
          </a:p>
        </p:txBody>
      </p:sp>
      <p:sp>
        <p:nvSpPr>
          <p:cNvPr id="68" name="TextBox 67"/>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Recurring Pool (DERIVED): Installed Robot 1만 대당 Care·Consumables 연 약 69억원 (대당 연 69만원, 구매 60% · Rental 40% 가중). Mass Market 초기 진입 주장 없음.</a:t>
            </a:r>
          </a:p>
        </p:txBody>
      </p:sp>
      <p:sp>
        <p:nvSpPr>
          <p:cNvPr id="69" name="TextBox 6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0" name="TextBox 6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18  GTM · Partner Distribution</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Q1</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GTM: Direct는 학습, Scale은 Partner Distribution</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초기 직접판매 = 고객학습 · Product Validation. Scale = Kitchen Furniture · Interior Partner · Construction Company · Certified Installer.</a:t>
            </a:r>
          </a:p>
        </p:txBody>
      </p:sp>
      <p:sp>
        <p:nvSpPr>
          <p:cNvPr id="9" name="Rectangle 8"/>
          <p:cNvSpPr/>
          <p:nvPr/>
        </p:nvSpPr>
        <p:spPr>
          <a:xfrm>
            <a:off x="685800" y="2595239"/>
            <a:ext cx="2090867" cy="978408"/>
          </a:xfrm>
          <a:prstGeom prst="rect">
            <a:avLst/>
          </a:prstGeom>
          <a:solidFill>
            <a:srgbClr val="15171A"/>
          </a:solidFill>
          <a:ln>
            <a:noFill/>
          </a:ln>
        </p:spPr>
        <p:txBody>
          <a:bodyPr rtlCol="0" anchor="ctr"/>
          <a:lstStyle/>
          <a:p>
            <a:pPr algn="ctr"/>
          </a:p>
        </p:txBody>
      </p:sp>
      <p:sp>
        <p:nvSpPr>
          <p:cNvPr id="10" name="TextBox 9"/>
          <p:cNvSpPr txBox="1"/>
          <p:nvPr/>
        </p:nvSpPr>
        <p:spPr>
          <a:xfrm>
            <a:off x="795528" y="2668391"/>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1</a:t>
            </a:r>
          </a:p>
        </p:txBody>
      </p:sp>
      <p:sp>
        <p:nvSpPr>
          <p:cNvPr id="11" name="TextBox 10"/>
          <p:cNvSpPr txBox="1"/>
          <p:nvPr/>
        </p:nvSpPr>
        <p:spPr>
          <a:xfrm>
            <a:off x="795528" y="2887847"/>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Premium Remodeling</a:t>
            </a:r>
          </a:p>
          <a:p>
            <a:pPr algn="l">
              <a:lnSpc>
                <a:spcPct val="100000"/>
              </a:lnSpc>
            </a:pPr>
            <a:r>
              <a:rPr sz="1100" b="1">
                <a:solidFill>
                  <a:srgbClr val="FFFFFF"/>
                </a:solidFill>
                <a:latin typeface="Noto Sans KR"/>
                <a:ea typeface="Noto Sans KR"/>
                <a:cs typeface="Noto Sans KR"/>
              </a:rPr>
              <a:t>Direct Pilot</a:t>
            </a:r>
          </a:p>
        </p:txBody>
      </p:sp>
      <p:sp>
        <p:nvSpPr>
          <p:cNvPr id="12" name="TextBox 11"/>
          <p:cNvSpPr txBox="1"/>
          <p:nvPr/>
        </p:nvSpPr>
        <p:spPr>
          <a:xfrm>
            <a:off x="795528" y="3418199"/>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Y2 5세대 → Y5 60세대</a:t>
            </a:r>
          </a:p>
        </p:txBody>
      </p:sp>
      <p:sp>
        <p:nvSpPr>
          <p:cNvPr id="13" name="Rectangle 12"/>
          <p:cNvSpPr/>
          <p:nvPr/>
        </p:nvSpPr>
        <p:spPr>
          <a:xfrm>
            <a:off x="2868107" y="2394071"/>
            <a:ext cx="2090867" cy="1179576"/>
          </a:xfrm>
          <a:prstGeom prst="rect">
            <a:avLst/>
          </a:prstGeom>
          <a:solidFill>
            <a:srgbClr val="E2571B"/>
          </a:solidFill>
          <a:ln>
            <a:noFill/>
          </a:ln>
        </p:spPr>
        <p:txBody>
          <a:bodyPr rtlCol="0" anchor="ctr"/>
          <a:lstStyle/>
          <a:p>
            <a:pPr algn="ctr"/>
          </a:p>
        </p:txBody>
      </p:sp>
      <p:sp>
        <p:nvSpPr>
          <p:cNvPr id="14" name="TextBox 13"/>
          <p:cNvSpPr txBox="1"/>
          <p:nvPr/>
        </p:nvSpPr>
        <p:spPr>
          <a:xfrm>
            <a:off x="2977835" y="2467223"/>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2</a:t>
            </a:r>
          </a:p>
        </p:txBody>
      </p:sp>
      <p:sp>
        <p:nvSpPr>
          <p:cNvPr id="15" name="TextBox 14"/>
          <p:cNvSpPr txBox="1"/>
          <p:nvPr/>
        </p:nvSpPr>
        <p:spPr>
          <a:xfrm>
            <a:off x="2977835" y="2686679"/>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Interior · Kitchen</a:t>
            </a:r>
          </a:p>
          <a:p>
            <a:pPr algn="l">
              <a:lnSpc>
                <a:spcPct val="100000"/>
              </a:lnSpc>
            </a:pPr>
            <a:r>
              <a:rPr sz="1100" b="1">
                <a:solidFill>
                  <a:srgbClr val="FFFFFF"/>
                </a:solidFill>
                <a:latin typeface="Noto Sans KR"/>
                <a:ea typeface="Noto Sans KR"/>
                <a:cs typeface="Noto Sans KR"/>
              </a:rPr>
              <a:t>Partner</a:t>
            </a:r>
          </a:p>
        </p:txBody>
      </p:sp>
      <p:sp>
        <p:nvSpPr>
          <p:cNvPr id="16" name="TextBox 15"/>
          <p:cNvSpPr txBox="1"/>
          <p:nvPr/>
        </p:nvSpPr>
        <p:spPr>
          <a:xfrm>
            <a:off x="2977835" y="3217031"/>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Y3 20 → Y5 340세대</a:t>
            </a:r>
          </a:p>
        </p:txBody>
      </p:sp>
      <p:sp>
        <p:nvSpPr>
          <p:cNvPr id="17" name="Rectangle 16"/>
          <p:cNvSpPr/>
          <p:nvPr/>
        </p:nvSpPr>
        <p:spPr>
          <a:xfrm>
            <a:off x="5050414" y="2192903"/>
            <a:ext cx="2090867" cy="1380744"/>
          </a:xfrm>
          <a:prstGeom prst="rect">
            <a:avLst/>
          </a:prstGeom>
          <a:solidFill>
            <a:srgbClr val="E2571B"/>
          </a:solidFill>
          <a:ln>
            <a:noFill/>
          </a:ln>
        </p:spPr>
        <p:txBody>
          <a:bodyPr rtlCol="0" anchor="ctr"/>
          <a:lstStyle/>
          <a:p>
            <a:pPr algn="ctr"/>
          </a:p>
        </p:txBody>
      </p:sp>
      <p:sp>
        <p:nvSpPr>
          <p:cNvPr id="18" name="TextBox 17"/>
          <p:cNvSpPr txBox="1"/>
          <p:nvPr/>
        </p:nvSpPr>
        <p:spPr>
          <a:xfrm>
            <a:off x="5160142" y="2266055"/>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3</a:t>
            </a:r>
          </a:p>
        </p:txBody>
      </p:sp>
      <p:sp>
        <p:nvSpPr>
          <p:cNvPr id="19" name="TextBox 18"/>
          <p:cNvSpPr txBox="1"/>
          <p:nvPr/>
        </p:nvSpPr>
        <p:spPr>
          <a:xfrm>
            <a:off x="5160142" y="2485511"/>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Construction</a:t>
            </a:r>
          </a:p>
          <a:p>
            <a:pPr algn="l">
              <a:lnSpc>
                <a:spcPct val="100000"/>
              </a:lnSpc>
            </a:pPr>
            <a:r>
              <a:rPr sz="1100" b="1">
                <a:solidFill>
                  <a:srgbClr val="FFFFFF"/>
                </a:solidFill>
                <a:latin typeface="Noto Sans KR"/>
                <a:ea typeface="Noto Sans KR"/>
                <a:cs typeface="Noto Sans KR"/>
              </a:rPr>
              <a:t>Company</a:t>
            </a:r>
          </a:p>
        </p:txBody>
      </p:sp>
      <p:sp>
        <p:nvSpPr>
          <p:cNvPr id="20" name="TextBox 19"/>
          <p:cNvSpPr txBox="1"/>
          <p:nvPr/>
        </p:nvSpPr>
        <p:spPr>
          <a:xfrm>
            <a:off x="5160142" y="3015863"/>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Y3 계약 → Y5 80세대 설치</a:t>
            </a:r>
          </a:p>
        </p:txBody>
      </p:sp>
      <p:sp>
        <p:nvSpPr>
          <p:cNvPr id="21" name="Rectangle 20"/>
          <p:cNvSpPr/>
          <p:nvPr/>
        </p:nvSpPr>
        <p:spPr>
          <a:xfrm>
            <a:off x="7232721" y="1991735"/>
            <a:ext cx="2090867" cy="1581912"/>
          </a:xfrm>
          <a:prstGeom prst="rect">
            <a:avLst/>
          </a:prstGeom>
          <a:solidFill>
            <a:srgbClr val="F4F5F6"/>
          </a:solidFill>
          <a:ln>
            <a:noFill/>
          </a:ln>
        </p:spPr>
        <p:txBody>
          <a:bodyPr rtlCol="0" anchor="ctr"/>
          <a:lstStyle/>
          <a:p>
            <a:pPr algn="ctr"/>
          </a:p>
        </p:txBody>
      </p:sp>
      <p:sp>
        <p:nvSpPr>
          <p:cNvPr id="22" name="TextBox 21"/>
          <p:cNvSpPr txBox="1"/>
          <p:nvPr/>
        </p:nvSpPr>
        <p:spPr>
          <a:xfrm>
            <a:off x="7342449" y="2064887"/>
            <a:ext cx="1871411" cy="228600"/>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Stage 4</a:t>
            </a:r>
          </a:p>
        </p:txBody>
      </p:sp>
      <p:sp>
        <p:nvSpPr>
          <p:cNvPr id="23" name="TextBox 22"/>
          <p:cNvSpPr txBox="1"/>
          <p:nvPr/>
        </p:nvSpPr>
        <p:spPr>
          <a:xfrm>
            <a:off x="7342449" y="2284343"/>
            <a:ext cx="1871411"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Certified Installation</a:t>
            </a:r>
          </a:p>
          <a:p>
            <a:pPr algn="l">
              <a:lnSpc>
                <a:spcPct val="100000"/>
              </a:lnSpc>
            </a:pPr>
            <a:r>
              <a:rPr sz="1100" b="1">
                <a:solidFill>
                  <a:srgbClr val="15171A"/>
                </a:solidFill>
                <a:latin typeface="Noto Sans KR"/>
                <a:ea typeface="Noto Sans KR"/>
                <a:cs typeface="Noto Sans KR"/>
              </a:rPr>
              <a:t>Partner</a:t>
            </a:r>
          </a:p>
        </p:txBody>
      </p:sp>
      <p:sp>
        <p:nvSpPr>
          <p:cNvPr id="24" name="TextBox 23"/>
          <p:cNvSpPr txBox="1"/>
          <p:nvPr/>
        </p:nvSpPr>
        <p:spPr>
          <a:xfrm>
            <a:off x="7342449" y="2814695"/>
            <a:ext cx="1871411" cy="27432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Y4~ 교육·인증</a:t>
            </a:r>
          </a:p>
        </p:txBody>
      </p:sp>
      <p:sp>
        <p:nvSpPr>
          <p:cNvPr id="25" name="Rectangle 24"/>
          <p:cNvSpPr/>
          <p:nvPr/>
        </p:nvSpPr>
        <p:spPr>
          <a:xfrm>
            <a:off x="9415028" y="1790567"/>
            <a:ext cx="2090867" cy="1783080"/>
          </a:xfrm>
          <a:prstGeom prst="rect">
            <a:avLst/>
          </a:prstGeom>
          <a:solidFill>
            <a:srgbClr val="F4F5F6"/>
          </a:solidFill>
          <a:ln>
            <a:noFill/>
          </a:ln>
        </p:spPr>
        <p:txBody>
          <a:bodyPr rtlCol="0" anchor="ctr"/>
          <a:lstStyle/>
          <a:p>
            <a:pPr algn="ctr"/>
          </a:p>
        </p:txBody>
      </p:sp>
      <p:sp>
        <p:nvSpPr>
          <p:cNvPr id="26" name="TextBox 25"/>
          <p:cNvSpPr txBox="1"/>
          <p:nvPr/>
        </p:nvSpPr>
        <p:spPr>
          <a:xfrm>
            <a:off x="9524756" y="1863719"/>
            <a:ext cx="1871411" cy="228600"/>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Stage 5</a:t>
            </a:r>
          </a:p>
        </p:txBody>
      </p:sp>
      <p:sp>
        <p:nvSpPr>
          <p:cNvPr id="27" name="TextBox 26"/>
          <p:cNvSpPr txBox="1"/>
          <p:nvPr/>
        </p:nvSpPr>
        <p:spPr>
          <a:xfrm>
            <a:off x="9524756" y="2083175"/>
            <a:ext cx="1871411"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Robot-ready Kitchen</a:t>
            </a:r>
          </a:p>
          <a:p>
            <a:pPr algn="l">
              <a:lnSpc>
                <a:spcPct val="100000"/>
              </a:lnSpc>
            </a:pPr>
            <a:r>
              <a:rPr sz="1100" b="1">
                <a:solidFill>
                  <a:srgbClr val="15171A"/>
                </a:solidFill>
                <a:latin typeface="Noto Sans KR"/>
                <a:ea typeface="Noto Sans KR"/>
                <a:cs typeface="Noto Sans KR"/>
              </a:rPr>
              <a:t>Standard</a:t>
            </a:r>
          </a:p>
        </p:txBody>
      </p:sp>
      <p:sp>
        <p:nvSpPr>
          <p:cNvPr id="28" name="TextBox 27"/>
          <p:cNvSpPr txBox="1"/>
          <p:nvPr/>
        </p:nvSpPr>
        <p:spPr>
          <a:xfrm>
            <a:off x="9524756" y="2613527"/>
            <a:ext cx="1871411" cy="27432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Y6~ (Series B 이후)</a:t>
            </a:r>
          </a:p>
        </p:txBody>
      </p:sp>
      <p:sp>
        <p:nvSpPr>
          <p:cNvPr id="29" name="TextBox 28"/>
          <p:cNvSpPr txBox="1"/>
          <p:nvPr/>
        </p:nvSpPr>
        <p:spPr>
          <a:xfrm>
            <a:off x="685800" y="3665087"/>
            <a:ext cx="64008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Revenue Mix Evolution (Base, %)</a:t>
            </a:r>
          </a:p>
        </p:txBody>
      </p:sp>
      <p:graphicFrame>
        <p:nvGraphicFramePr>
          <p:cNvPr id="30" name="Chart 29"/>
          <p:cNvGraphicFramePr>
            <a:graphicFrameLocks noGrp="1"/>
          </p:cNvGraphicFramePr>
          <p:nvPr/>
        </p:nvGraphicFramePr>
        <p:xfrm>
          <a:off x="685800" y="3939407"/>
          <a:ext cx="6309360" cy="1920240"/>
        </p:xfrm>
        <a:graphic>
          <a:graphicData uri="http://schemas.openxmlformats.org/drawingml/2006/chart">
            <c:chart xmlns:c="http://schemas.openxmlformats.org/drawingml/2006/chart" r:id="rId3"/>
          </a:graphicData>
        </a:graphic>
      </p:graphicFrame>
      <p:sp>
        <p:nvSpPr>
          <p:cNvPr id="31" name="TextBox 30"/>
          <p:cNvSpPr txBox="1"/>
          <p:nvPr/>
        </p:nvSpPr>
        <p:spPr>
          <a:xfrm>
            <a:off x="777605"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Y2</a:t>
            </a:r>
          </a:p>
        </p:txBody>
      </p:sp>
      <p:sp>
        <p:nvSpPr>
          <p:cNvPr id="32" name="TextBox 31"/>
          <p:cNvSpPr txBox="1"/>
          <p:nvPr/>
        </p:nvSpPr>
        <p:spPr>
          <a:xfrm>
            <a:off x="1989002"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Y3</a:t>
            </a:r>
          </a:p>
        </p:txBody>
      </p:sp>
      <p:sp>
        <p:nvSpPr>
          <p:cNvPr id="33" name="TextBox 32"/>
          <p:cNvSpPr txBox="1"/>
          <p:nvPr/>
        </p:nvSpPr>
        <p:spPr>
          <a:xfrm>
            <a:off x="3200400"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Y4</a:t>
            </a:r>
          </a:p>
        </p:txBody>
      </p:sp>
      <p:sp>
        <p:nvSpPr>
          <p:cNvPr id="34" name="TextBox 33"/>
          <p:cNvSpPr txBox="1"/>
          <p:nvPr/>
        </p:nvSpPr>
        <p:spPr>
          <a:xfrm>
            <a:off x="4411797"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Y5</a:t>
            </a:r>
          </a:p>
        </p:txBody>
      </p:sp>
      <p:sp>
        <p:nvSpPr>
          <p:cNvPr id="35" name="TextBox 34"/>
          <p:cNvSpPr txBox="1"/>
          <p:nvPr/>
        </p:nvSpPr>
        <p:spPr>
          <a:xfrm>
            <a:off x="5623194"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정상상태*</a:t>
            </a:r>
          </a:p>
        </p:txBody>
      </p:sp>
      <p:sp>
        <p:nvSpPr>
          <p:cNvPr id="36" name="TextBox 35"/>
          <p:cNvSpPr txBox="1"/>
          <p:nvPr/>
        </p:nvSpPr>
        <p:spPr>
          <a:xfrm>
            <a:off x="685800" y="6152255"/>
            <a:ext cx="6309360" cy="27432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 정상상태 (DERIVED): Installed Base = 연간 설치 × 6, Robot 교체주기 6.5년 · 교체율 30% 가정. Base 재무 5년 범위 밖.</a:t>
            </a:r>
          </a:p>
        </p:txBody>
      </p:sp>
      <p:sp>
        <p:nvSpPr>
          <p:cNvPr id="37" name="Rectangle 36"/>
          <p:cNvSpPr/>
          <p:nvPr/>
        </p:nvSpPr>
        <p:spPr>
          <a:xfrm>
            <a:off x="7360920" y="3665087"/>
            <a:ext cx="4144975" cy="2788920"/>
          </a:xfrm>
          <a:prstGeom prst="rect">
            <a:avLst/>
          </a:prstGeom>
          <a:solidFill>
            <a:srgbClr val="F4F5F6"/>
          </a:solidFill>
          <a:ln>
            <a:noFill/>
          </a:ln>
        </p:spPr>
        <p:txBody>
          <a:bodyPr rtlCol="0" anchor="ctr"/>
          <a:lstStyle/>
          <a:p>
            <a:pPr algn="ctr"/>
          </a:p>
        </p:txBody>
      </p:sp>
      <p:sp>
        <p:nvSpPr>
          <p:cNvPr id="38" name="TextBox 37"/>
          <p:cNvSpPr txBox="1"/>
          <p:nvPr/>
        </p:nvSpPr>
        <p:spPr>
          <a:xfrm>
            <a:off x="7543800" y="3802247"/>
            <a:ext cx="37792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공사업체가 되는 Risk 관리 KPI</a:t>
            </a:r>
          </a:p>
        </p:txBody>
      </p:sp>
      <p:graphicFrame>
        <p:nvGraphicFramePr>
          <p:cNvPr id="39" name="Table 38"/>
          <p:cNvGraphicFramePr>
            <a:graphicFrameLocks noGrp="1"/>
          </p:cNvGraphicFramePr>
          <p:nvPr/>
        </p:nvGraphicFramePr>
        <p:xfrm>
          <a:off x="7543800" y="4168007"/>
          <a:ext cx="3779215" cy="1513840"/>
        </p:xfrm>
        <a:graphic>
          <a:graphicData uri="http://schemas.openxmlformats.org/drawingml/2006/table">
            <a:tbl>
              <a:tblPr firstRow="0" bandRow="0">
                <a:tableStyleId>{2D5ABB26-0587-4C30-8999-92F81FD0307C}</a:tableStyleId>
              </a:tblPr>
              <a:tblGrid>
                <a:gridCol w="2133295"/>
                <a:gridCol w="822960"/>
                <a:gridCol w="822960"/>
              </a:tblGrid>
              <a:tr h="302768">
                <a:tc>
                  <a:txBody>
                    <a:bodyPr wrap="square"/>
                    <a:lstStyle/>
                    <a:p>
                      <a:pPr algn="l">
                        <a:lnSpc>
                          <a:spcPct val="100000"/>
                        </a:lnSpc>
                      </a:pPr>
                      <a:r>
                        <a:rPr sz="1000" b="1">
                          <a:solidFill>
                            <a:srgbClr val="15171A"/>
                          </a:solidFill>
                          <a:latin typeface="Noto Sans KR"/>
                          <a:ea typeface="Noto Sans KR"/>
                          <a:cs typeface="Noto Sans KR"/>
                        </a:rPr>
                        <a:t>KPI (Base)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Build 매출 비중</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29%</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 Recurring + Upgrade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65%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Partner 경유 Kitchen 비중</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Installed Robot (기말)</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565대</a:t>
                      </a:r>
                    </a:p>
                  </a:txBody>
                  <a:tcPr marL="73152" marR="73152" marT="54864" marB="54864" anchor="t">
                    <a:lnL w="0">
                      <a:noFill/>
                    </a:lnL>
                    <a:lnR w="0">
                      <a:noFill/>
                    </a:lnR>
                    <a:lnT w="0">
                      <a:noFill/>
                    </a:lnT>
                    <a:lnB w="9525">
                      <a:solidFill>
                        <a:srgbClr val="E2E4E7"/>
                      </a:solidFill>
                    </a:lnB>
                    <a:noFill/>
                  </a:tcPr>
                </a:tc>
              </a:tr>
            </a:tbl>
          </a:graphicData>
        </a:graphic>
      </p:graphicFrame>
      <p:sp>
        <p:nvSpPr>
          <p:cNvPr id="40" name="TextBox 39"/>
          <p:cNvSpPr txBox="1"/>
          <p:nvPr/>
        </p:nvSpPr>
        <p:spPr>
          <a:xfrm>
            <a:off x="7543800" y="5768207"/>
            <a:ext cx="3779215" cy="64008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목표: Interior Company가 아닌 Robotics Product Company. 철거·가구·전기·배관은 Partner, ARKI는 Module·Calibration·Safety QA·Commissioning.</a:t>
            </a:r>
          </a:p>
        </p:txBody>
      </p:sp>
      <p:sp>
        <p:nvSpPr>
          <p:cNvPr id="41" name="TextBox 4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42" name="TextBox 4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19  Competition</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Rectangle 4"/>
          <p:cNvSpPr/>
          <p:nvPr/>
        </p:nvSpPr>
        <p:spPr>
          <a:xfrm>
            <a:off x="10737799" y="521208"/>
            <a:ext cx="329184" cy="219456"/>
          </a:xfrm>
          <a:prstGeom prst="rect">
            <a:avLst/>
          </a:prstGeom>
          <a:noFill/>
          <a:ln w="6350">
            <a:solidFill>
              <a:srgbClr val="C9CDD2"/>
            </a:solidFill>
          </a:ln>
        </p:spPr>
        <p:txBody>
          <a:bodyPr rtlCol="0" anchor="ctr"/>
          <a:lstStyle/>
          <a:p>
            <a:pPr algn="ctr"/>
          </a:p>
        </p:txBody>
      </p:sp>
      <p:sp>
        <p:nvSpPr>
          <p:cNvPr id="6" name="TextBox 5"/>
          <p:cNvSpPr txBox="1"/>
          <p:nvPr/>
        </p:nvSpPr>
        <p:spPr>
          <a:xfrm>
            <a:off x="10737799"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Q4</a:t>
            </a:r>
          </a:p>
        </p:txBody>
      </p:sp>
      <p:sp>
        <p:nvSpPr>
          <p:cNvPr id="7" name="TextBox 6"/>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경쟁 구도: 모든 Player와 경쟁하지 않는 Integration Layer</a:t>
            </a:r>
          </a:p>
        </p:txBody>
      </p:sp>
      <p:sp>
        <p:nvSpPr>
          <p:cNvPr id="8" name="TextBox 7"/>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Category 기준 비교. 사례는 공개 보도 기준 (FACT, A9 상세). 과장 금지: ARKI 우위는 현재 미검증.</a:t>
            </a:r>
          </a:p>
        </p:txBody>
      </p:sp>
      <p:graphicFrame>
        <p:nvGraphicFramePr>
          <p:cNvPr id="9" name="Table 8"/>
          <p:cNvGraphicFramePr>
            <a:graphicFrameLocks noGrp="1"/>
          </p:cNvGraphicFramePr>
          <p:nvPr/>
        </p:nvGraphicFramePr>
        <p:xfrm>
          <a:off x="685800" y="1790567"/>
          <a:ext cx="6903720" cy="2634943"/>
        </p:xfrm>
        <a:graphic>
          <a:graphicData uri="http://schemas.openxmlformats.org/drawingml/2006/table">
            <a:tbl>
              <a:tblPr firstRow="0" bandRow="0">
                <a:tableStyleId>{2D5ABB26-0587-4C30-8999-92F81FD0307C}</a:tableStyleId>
              </a:tblPr>
              <a:tblGrid>
                <a:gridCol w="1463040"/>
                <a:gridCol w="2331720"/>
                <a:gridCol w="1417320"/>
                <a:gridCol w="1691640"/>
              </a:tblGrid>
              <a:tr h="293573">
                <a:tc>
                  <a:txBody>
                    <a:bodyPr wrap="square"/>
                    <a:lstStyle/>
                    <a:p>
                      <a:pPr algn="l">
                        <a:lnSpc>
                          <a:spcPct val="100000"/>
                        </a:lnSpc>
                      </a:pPr>
                      <a:r>
                        <a:rPr sz="950" b="1">
                          <a:solidFill>
                            <a:srgbClr val="15171A"/>
                          </a:solidFill>
                          <a:latin typeface="Noto Sans KR"/>
                          <a:ea typeface="Noto Sans KR"/>
                          <a:cs typeface="Noto Sans KR"/>
                        </a:rPr>
                        <a:t>Category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대표 사례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현재 접근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ARKI 차이 (가설)</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Kitchen Appliance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 인덕션 · 빌트인 가전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가전 내부 공정 자동화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가전 사이 이동 · 수납 담당</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Dedicated Cooking 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Moley (£248k, 천장 Rail 양팔) · Posha ($1,750)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조리 특화 · 고가 또는 Countertop</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우선 · 공동주택 Built-in</a:t>
                      </a:r>
                    </a:p>
                  </a:txBody>
                  <a:tcPr marL="73152" marR="73152" marT="54864" marB="54864" anchor="t">
                    <a:lnL w="0">
                      <a:noFill/>
                    </a:lnL>
                    <a:lnR w="0">
                      <a:noFill/>
                    </a:lnR>
                    <a:lnT w="0">
                      <a:noFill/>
                    </a:lnT>
                    <a:lnB w="9525">
                      <a:solidFill>
                        <a:srgbClr val="E2E4E7"/>
                      </a:solidFill>
                    </a:lnB>
                    <a:noFill/>
                  </a:tcPr>
                </a:tc>
              </a:tr>
              <a:tr h="642975">
                <a:tc>
                  <a:txBody>
                    <a:bodyPr wrap="square"/>
                    <a:lstStyle/>
                    <a:p>
                      <a:pPr algn="l">
                        <a:lnSpc>
                          <a:spcPct val="100000"/>
                        </a:lnSpc>
                      </a:pPr>
                      <a:r>
                        <a:rPr sz="950" b="0">
                          <a:solidFill>
                            <a:srgbClr val="15171A"/>
                          </a:solidFill>
                          <a:latin typeface="Noto Sans KR"/>
                          <a:ea typeface="Noto Sans KR"/>
                          <a:cs typeface="Noto Sans KR"/>
                        </a:rPr>
                        <a:t>Humanoid / Mobile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1X NEO ($20k · 월 $499) · Sunday Memo (2026 베타) · LG CLOiD (CES 2026)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범용 · 이동형 · 대규모 자본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고정 Rail·Dock으로 Task 조건 고정 · 바닥 점유 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Industrial / Cobot Integration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UR · Doosan · Rainbow 등 + SI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산업·상업 주방 검증된 Arm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주거 공간·가구 Interface 표준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Built-in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Moley · Samsung Bot Chef (CES 2020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공간 일체형 시도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한국 공동주택 Template · 설치 Standard</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TextBox 9"/>
          <p:cNvSpPr txBox="1"/>
          <p:nvPr/>
        </p:nvSpPr>
        <p:spPr>
          <a:xfrm>
            <a:off x="7909560" y="1790567"/>
            <a:ext cx="359633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대기업이 직접 하면?</a:t>
            </a:r>
          </a:p>
        </p:txBody>
      </p:sp>
      <p:sp>
        <p:nvSpPr>
          <p:cNvPr id="11" name="Rectangle 10"/>
          <p:cNvSpPr/>
          <p:nvPr/>
        </p:nvSpPr>
        <p:spPr>
          <a:xfrm>
            <a:off x="7909560" y="2174615"/>
            <a:ext cx="3596335" cy="566928"/>
          </a:xfrm>
          <a:prstGeom prst="rect">
            <a:avLst/>
          </a:prstGeom>
          <a:solidFill>
            <a:srgbClr val="F4F5F6"/>
          </a:solidFill>
          <a:ln>
            <a:noFill/>
          </a:ln>
        </p:spPr>
        <p:txBody>
          <a:bodyPr rtlCol="0" anchor="ctr"/>
          <a:lstStyle/>
          <a:p>
            <a:pPr algn="ctr"/>
          </a:p>
        </p:txBody>
      </p:sp>
      <p:sp>
        <p:nvSpPr>
          <p:cNvPr id="12" name="TextBox 11"/>
          <p:cNvSpPr txBox="1"/>
          <p:nvPr/>
        </p:nvSpPr>
        <p:spPr>
          <a:xfrm>
            <a:off x="8019288" y="2211191"/>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Samsung · LG (Appliance)</a:t>
            </a:r>
          </a:p>
        </p:txBody>
      </p:sp>
      <p:sp>
        <p:nvSpPr>
          <p:cNvPr id="13" name="TextBox 12"/>
          <p:cNvSpPr txBox="1"/>
          <p:nvPr/>
        </p:nvSpPr>
        <p:spPr>
          <a:xfrm>
            <a:off x="8019288" y="2467223"/>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식세기 Door·Rack 연동 API</a:t>
            </a:r>
          </a:p>
        </p:txBody>
      </p:sp>
      <p:sp>
        <p:nvSpPr>
          <p:cNvPr id="14" name="TextBox 13"/>
          <p:cNvSpPr txBox="1"/>
          <p:nvPr/>
        </p:nvSpPr>
        <p:spPr>
          <a:xfrm>
            <a:off x="9959471" y="2174615"/>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Device Interface Partner</a:t>
            </a:r>
          </a:p>
        </p:txBody>
      </p:sp>
      <p:sp>
        <p:nvSpPr>
          <p:cNvPr id="15" name="Rectangle 14"/>
          <p:cNvSpPr/>
          <p:nvPr/>
        </p:nvSpPr>
        <p:spPr>
          <a:xfrm>
            <a:off x="7909560" y="2832983"/>
            <a:ext cx="3596335" cy="566928"/>
          </a:xfrm>
          <a:prstGeom prst="rect">
            <a:avLst/>
          </a:prstGeom>
          <a:solidFill>
            <a:srgbClr val="F4F5F6"/>
          </a:solidFill>
          <a:ln>
            <a:noFill/>
          </a:ln>
        </p:spPr>
        <p:txBody>
          <a:bodyPr rtlCol="0" anchor="ctr"/>
          <a:lstStyle/>
          <a:p>
            <a:pPr algn="ctr"/>
          </a:p>
        </p:txBody>
      </p:sp>
      <p:sp>
        <p:nvSpPr>
          <p:cNvPr id="16" name="TextBox 15"/>
          <p:cNvSpPr txBox="1"/>
          <p:nvPr/>
        </p:nvSpPr>
        <p:spPr>
          <a:xfrm>
            <a:off x="8019288" y="2869559"/>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Kitchen Furniture 기업</a:t>
            </a:r>
          </a:p>
        </p:txBody>
      </p:sp>
      <p:sp>
        <p:nvSpPr>
          <p:cNvPr id="17" name="TextBox 16"/>
          <p:cNvSpPr txBox="1"/>
          <p:nvPr/>
        </p:nvSpPr>
        <p:spPr>
          <a:xfrm>
            <a:off x="8019288" y="3125591"/>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Module 공급</a:t>
            </a:r>
          </a:p>
        </p:txBody>
      </p:sp>
      <p:sp>
        <p:nvSpPr>
          <p:cNvPr id="18" name="TextBox 17"/>
          <p:cNvSpPr txBox="1"/>
          <p:nvPr/>
        </p:nvSpPr>
        <p:spPr>
          <a:xfrm>
            <a:off x="9959471" y="2832983"/>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Module · Channel Partner</a:t>
            </a:r>
          </a:p>
        </p:txBody>
      </p:sp>
      <p:sp>
        <p:nvSpPr>
          <p:cNvPr id="19" name="Rectangle 18"/>
          <p:cNvSpPr/>
          <p:nvPr/>
        </p:nvSpPr>
        <p:spPr>
          <a:xfrm>
            <a:off x="7909560" y="3491351"/>
            <a:ext cx="3596335" cy="566928"/>
          </a:xfrm>
          <a:prstGeom prst="rect">
            <a:avLst/>
          </a:prstGeom>
          <a:solidFill>
            <a:srgbClr val="F4F5F6"/>
          </a:solidFill>
          <a:ln>
            <a:noFill/>
          </a:ln>
        </p:spPr>
        <p:txBody>
          <a:bodyPr rtlCol="0" anchor="ctr"/>
          <a:lstStyle/>
          <a:p>
            <a:pPr algn="ctr"/>
          </a:p>
        </p:txBody>
      </p:sp>
      <p:sp>
        <p:nvSpPr>
          <p:cNvPr id="20" name="TextBox 19"/>
          <p:cNvSpPr txBox="1"/>
          <p:nvPr/>
        </p:nvSpPr>
        <p:spPr>
          <a:xfrm>
            <a:off x="8019288" y="3527927"/>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Construction Company</a:t>
            </a:r>
          </a:p>
        </p:txBody>
      </p:sp>
      <p:sp>
        <p:nvSpPr>
          <p:cNvPr id="21" name="TextBox 20"/>
          <p:cNvSpPr txBox="1"/>
          <p:nvPr/>
        </p:nvSpPr>
        <p:spPr>
          <a:xfrm>
            <a:off x="8019288" y="3783959"/>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Option Spec</a:t>
            </a:r>
          </a:p>
        </p:txBody>
      </p:sp>
      <p:sp>
        <p:nvSpPr>
          <p:cNvPr id="22" name="TextBox 21"/>
          <p:cNvSpPr txBox="1"/>
          <p:nvPr/>
        </p:nvSpPr>
        <p:spPr>
          <a:xfrm>
            <a:off x="9959471" y="3491351"/>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Distribution</a:t>
            </a:r>
          </a:p>
        </p:txBody>
      </p:sp>
      <p:sp>
        <p:nvSpPr>
          <p:cNvPr id="23" name="Rectangle 22"/>
          <p:cNvSpPr/>
          <p:nvPr/>
        </p:nvSpPr>
        <p:spPr>
          <a:xfrm>
            <a:off x="7909560" y="4149719"/>
            <a:ext cx="3596335" cy="566928"/>
          </a:xfrm>
          <a:prstGeom prst="rect">
            <a:avLst/>
          </a:prstGeom>
          <a:solidFill>
            <a:srgbClr val="F4F5F6"/>
          </a:solidFill>
          <a:ln>
            <a:noFill/>
          </a:ln>
        </p:spPr>
        <p:txBody>
          <a:bodyPr rtlCol="0" anchor="ctr"/>
          <a:lstStyle/>
          <a:p>
            <a:pPr algn="ctr"/>
          </a:p>
        </p:txBody>
      </p:sp>
      <p:sp>
        <p:nvSpPr>
          <p:cNvPr id="24" name="TextBox 23"/>
          <p:cNvSpPr txBox="1"/>
          <p:nvPr/>
        </p:nvSpPr>
        <p:spPr>
          <a:xfrm>
            <a:off x="8019288" y="4186295"/>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Robot OEM</a:t>
            </a:r>
          </a:p>
        </p:txBody>
      </p:sp>
      <p:sp>
        <p:nvSpPr>
          <p:cNvPr id="25" name="TextBox 24"/>
          <p:cNvSpPr txBox="1"/>
          <p:nvPr/>
        </p:nvSpPr>
        <p:spPr>
          <a:xfrm>
            <a:off x="8019288" y="4442327"/>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Arm · Actuator 공급</a:t>
            </a:r>
          </a:p>
        </p:txBody>
      </p:sp>
      <p:sp>
        <p:nvSpPr>
          <p:cNvPr id="26" name="TextBox 25"/>
          <p:cNvSpPr txBox="1"/>
          <p:nvPr/>
        </p:nvSpPr>
        <p:spPr>
          <a:xfrm>
            <a:off x="9959471" y="4149719"/>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Supplier / Partner</a:t>
            </a:r>
          </a:p>
        </p:txBody>
      </p:sp>
      <p:sp>
        <p:nvSpPr>
          <p:cNvPr id="27" name="Rectangle 26"/>
          <p:cNvSpPr/>
          <p:nvPr/>
        </p:nvSpPr>
        <p:spPr>
          <a:xfrm>
            <a:off x="7909560" y="4899527"/>
            <a:ext cx="3596335" cy="1024128"/>
          </a:xfrm>
          <a:prstGeom prst="rect">
            <a:avLst/>
          </a:prstGeom>
          <a:solidFill>
            <a:srgbClr val="15171A"/>
          </a:solidFill>
          <a:ln>
            <a:noFill/>
          </a:ln>
        </p:spPr>
        <p:txBody>
          <a:bodyPr rtlCol="0" anchor="ctr"/>
          <a:lstStyle/>
          <a:p>
            <a:pPr algn="ctr"/>
          </a:p>
        </p:txBody>
      </p:sp>
      <p:sp>
        <p:nvSpPr>
          <p:cNvPr id="28" name="TextBox 27"/>
          <p:cNvSpPr txBox="1"/>
          <p:nvPr/>
        </p:nvSpPr>
        <p:spPr>
          <a:xfrm>
            <a:off x="8046720" y="4972679"/>
            <a:ext cx="3322015"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ARKI Core</a:t>
            </a:r>
          </a:p>
        </p:txBody>
      </p:sp>
      <p:sp>
        <p:nvSpPr>
          <p:cNvPr id="29" name="TextBox 28"/>
          <p:cNvSpPr txBox="1"/>
          <p:nvPr/>
        </p:nvSpPr>
        <p:spPr>
          <a:xfrm>
            <a:off x="8046720" y="5246999"/>
            <a:ext cx="3322015" cy="658368"/>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Residential Robot Architecture · Kitchen Standard · Installation Standard · Software · Calibration · Care Network</a:t>
            </a:r>
          </a:p>
        </p:txBody>
      </p:sp>
      <p:sp>
        <p:nvSpPr>
          <p:cNvPr id="30" name="TextBox 29"/>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Risk: 대기업·가구사가 동일 Integration Layer를 직접 개발할 가능성 → 대응은 Template Library·설치 Data·Partner 계약 선점 (21장). 우위 여부는 미검증.</a:t>
            </a:r>
          </a:p>
        </p:txBody>
      </p:sp>
      <p:sp>
        <p:nvSpPr>
          <p:cNvPr id="31" name="TextBox 3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32" name="TextBox 3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20  Moat · IP · Installed Base</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Q5</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Moat: Architecture · Template · 설치 Data · Installed Base</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특허 개수·AI Data만으로 설명하지 않음. 모든 Layer는 현재 구축 전 (TARGET). Patent는 후보 단계 — 선행기술조사 필요, 등록 가능성 주장 없음.</a:t>
            </a:r>
          </a:p>
        </p:txBody>
      </p:sp>
      <p:sp>
        <p:nvSpPr>
          <p:cNvPr id="7" name="Rectangle 6"/>
          <p:cNvSpPr/>
          <p:nvPr/>
        </p:nvSpPr>
        <p:spPr>
          <a:xfrm>
            <a:off x="685800" y="1790567"/>
            <a:ext cx="3840480" cy="475488"/>
          </a:xfrm>
          <a:prstGeom prst="rect">
            <a:avLst/>
          </a:prstGeom>
          <a:solidFill>
            <a:srgbClr val="E2571B"/>
          </a:solidFill>
          <a:ln>
            <a:noFill/>
          </a:ln>
        </p:spPr>
        <p:txBody>
          <a:bodyPr rtlCol="0" anchor="ctr"/>
          <a:lstStyle/>
          <a:p>
            <a:pPr algn="ctr"/>
          </a:p>
        </p:txBody>
      </p:sp>
      <p:sp>
        <p:nvSpPr>
          <p:cNvPr id="8" name="TextBox 7"/>
          <p:cNvSpPr txBox="1"/>
          <p:nvPr/>
        </p:nvSpPr>
        <p:spPr>
          <a:xfrm>
            <a:off x="822960" y="1790567"/>
            <a:ext cx="3474720" cy="475488"/>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L7  Installed Base</a:t>
            </a:r>
          </a:p>
        </p:txBody>
      </p:sp>
      <p:sp>
        <p:nvSpPr>
          <p:cNvPr id="9" name="Rectangle 8"/>
          <p:cNvSpPr/>
          <p:nvPr/>
        </p:nvSpPr>
        <p:spPr>
          <a:xfrm>
            <a:off x="758952" y="2339207"/>
            <a:ext cx="3694176" cy="475488"/>
          </a:xfrm>
          <a:prstGeom prst="rect">
            <a:avLst/>
          </a:prstGeom>
          <a:solidFill>
            <a:srgbClr val="F4F5F6"/>
          </a:solidFill>
          <a:ln>
            <a:noFill/>
          </a:ln>
        </p:spPr>
        <p:txBody>
          <a:bodyPr rtlCol="0" anchor="ctr"/>
          <a:lstStyle/>
          <a:p>
            <a:pPr algn="ctr"/>
          </a:p>
        </p:txBody>
      </p:sp>
      <p:sp>
        <p:nvSpPr>
          <p:cNvPr id="10" name="TextBox 9"/>
          <p:cNvSpPr txBox="1"/>
          <p:nvPr/>
        </p:nvSpPr>
        <p:spPr>
          <a:xfrm>
            <a:off x="896112" y="233920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L6  Care / Service Data</a:t>
            </a:r>
          </a:p>
        </p:txBody>
      </p:sp>
      <p:sp>
        <p:nvSpPr>
          <p:cNvPr id="11" name="Rectangle 10"/>
          <p:cNvSpPr/>
          <p:nvPr/>
        </p:nvSpPr>
        <p:spPr>
          <a:xfrm>
            <a:off x="832104" y="2887847"/>
            <a:ext cx="3547872" cy="475488"/>
          </a:xfrm>
          <a:prstGeom prst="rect">
            <a:avLst/>
          </a:prstGeom>
          <a:solidFill>
            <a:srgbClr val="F4F5F6"/>
          </a:solidFill>
          <a:ln>
            <a:noFill/>
          </a:ln>
        </p:spPr>
        <p:txBody>
          <a:bodyPr rtlCol="0" anchor="ctr"/>
          <a:lstStyle/>
          <a:p>
            <a:pPr algn="ctr"/>
          </a:p>
        </p:txBody>
      </p:sp>
      <p:sp>
        <p:nvSpPr>
          <p:cNvPr id="12" name="TextBox 11"/>
          <p:cNvSpPr txBox="1"/>
          <p:nvPr/>
        </p:nvSpPr>
        <p:spPr>
          <a:xfrm>
            <a:off x="969264" y="288784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L5  Patent / Know-how</a:t>
            </a:r>
          </a:p>
        </p:txBody>
      </p:sp>
      <p:sp>
        <p:nvSpPr>
          <p:cNvPr id="13" name="Rectangle 12"/>
          <p:cNvSpPr/>
          <p:nvPr/>
        </p:nvSpPr>
        <p:spPr>
          <a:xfrm>
            <a:off x="905256" y="3436487"/>
            <a:ext cx="3401568" cy="475488"/>
          </a:xfrm>
          <a:prstGeom prst="rect">
            <a:avLst/>
          </a:prstGeom>
          <a:solidFill>
            <a:srgbClr val="F4F5F6"/>
          </a:solidFill>
          <a:ln>
            <a:noFill/>
          </a:ln>
        </p:spPr>
        <p:txBody>
          <a:bodyPr rtlCol="0" anchor="ctr"/>
          <a:lstStyle/>
          <a:p>
            <a:pPr algn="ctr"/>
          </a:p>
        </p:txBody>
      </p:sp>
      <p:sp>
        <p:nvSpPr>
          <p:cNvPr id="14" name="TextBox 13"/>
          <p:cNvSpPr txBox="1"/>
          <p:nvPr/>
        </p:nvSpPr>
        <p:spPr>
          <a:xfrm>
            <a:off x="1042415" y="343648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L4  Manipulation Skill</a:t>
            </a:r>
          </a:p>
        </p:txBody>
      </p:sp>
      <p:sp>
        <p:nvSpPr>
          <p:cNvPr id="15" name="Rectangle 14"/>
          <p:cNvSpPr/>
          <p:nvPr/>
        </p:nvSpPr>
        <p:spPr>
          <a:xfrm>
            <a:off x="978408" y="3985127"/>
            <a:ext cx="3255264" cy="475488"/>
          </a:xfrm>
          <a:prstGeom prst="rect">
            <a:avLst/>
          </a:prstGeom>
          <a:solidFill>
            <a:srgbClr val="F4F5F6"/>
          </a:solidFill>
          <a:ln>
            <a:noFill/>
          </a:ln>
        </p:spPr>
        <p:txBody>
          <a:bodyPr rtlCol="0" anchor="ctr"/>
          <a:lstStyle/>
          <a:p>
            <a:pPr algn="ctr"/>
          </a:p>
        </p:txBody>
      </p:sp>
      <p:sp>
        <p:nvSpPr>
          <p:cNvPr id="16" name="TextBox 15"/>
          <p:cNvSpPr txBox="1"/>
          <p:nvPr/>
        </p:nvSpPr>
        <p:spPr>
          <a:xfrm>
            <a:off x="1115568" y="398512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L3  Installation Standard</a:t>
            </a:r>
          </a:p>
        </p:txBody>
      </p:sp>
      <p:sp>
        <p:nvSpPr>
          <p:cNvPr id="17" name="Rectangle 16"/>
          <p:cNvSpPr/>
          <p:nvPr/>
        </p:nvSpPr>
        <p:spPr>
          <a:xfrm>
            <a:off x="1051560" y="4533767"/>
            <a:ext cx="3108960" cy="475488"/>
          </a:xfrm>
          <a:prstGeom prst="rect">
            <a:avLst/>
          </a:prstGeom>
          <a:solidFill>
            <a:srgbClr val="F4F5F6"/>
          </a:solidFill>
          <a:ln>
            <a:noFill/>
          </a:ln>
        </p:spPr>
        <p:txBody>
          <a:bodyPr rtlCol="0" anchor="ctr"/>
          <a:lstStyle/>
          <a:p>
            <a:pPr algn="ctr"/>
          </a:p>
        </p:txBody>
      </p:sp>
      <p:sp>
        <p:nvSpPr>
          <p:cNvPr id="18" name="TextBox 17"/>
          <p:cNvSpPr txBox="1"/>
          <p:nvPr/>
        </p:nvSpPr>
        <p:spPr>
          <a:xfrm>
            <a:off x="1188719" y="453376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L2  Kitchen Layout Template Library</a:t>
            </a:r>
          </a:p>
        </p:txBody>
      </p:sp>
      <p:sp>
        <p:nvSpPr>
          <p:cNvPr id="19" name="Rectangle 18"/>
          <p:cNvSpPr/>
          <p:nvPr/>
        </p:nvSpPr>
        <p:spPr>
          <a:xfrm>
            <a:off x="1124712" y="5082407"/>
            <a:ext cx="2962656" cy="475488"/>
          </a:xfrm>
          <a:prstGeom prst="rect">
            <a:avLst/>
          </a:prstGeom>
          <a:solidFill>
            <a:srgbClr val="15171A"/>
          </a:solidFill>
          <a:ln>
            <a:noFill/>
          </a:ln>
        </p:spPr>
        <p:txBody>
          <a:bodyPr rtlCol="0" anchor="ctr"/>
          <a:lstStyle/>
          <a:p>
            <a:pPr algn="ctr"/>
          </a:p>
        </p:txBody>
      </p:sp>
      <p:sp>
        <p:nvSpPr>
          <p:cNvPr id="20" name="TextBox 19"/>
          <p:cNvSpPr txBox="1"/>
          <p:nvPr/>
        </p:nvSpPr>
        <p:spPr>
          <a:xfrm>
            <a:off x="1261872" y="5082407"/>
            <a:ext cx="3474720" cy="475488"/>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L1  Product Architecture</a:t>
            </a:r>
          </a:p>
        </p:txBody>
      </p:sp>
      <p:sp>
        <p:nvSpPr>
          <p:cNvPr id="21" name="TextBox 20"/>
          <p:cNvSpPr txBox="1"/>
          <p:nvPr/>
        </p:nvSpPr>
        <p:spPr>
          <a:xfrm>
            <a:off x="4846320" y="1790567"/>
            <a:ext cx="32918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Patent Family 후보 (A10)</a:t>
            </a:r>
          </a:p>
        </p:txBody>
      </p:sp>
      <p:sp>
        <p:nvSpPr>
          <p:cNvPr id="22" name="TextBox 21"/>
          <p:cNvSpPr txBox="1"/>
          <p:nvPr/>
        </p:nvSpPr>
        <p:spPr>
          <a:xfrm>
            <a:off x="4846320" y="2138039"/>
            <a:ext cx="3291840" cy="3566160"/>
          </a:xfrm>
          <a:prstGeom prst="rect">
            <a:avLst/>
          </a:prstGeom>
          <a:noFill/>
        </p:spPr>
        <p:txBody>
          <a:bodyPr wrap="square" lIns="0" rIns="0" tIns="0" bIns="0" anchor="t">
            <a:spAutoFit/>
          </a:bodyPr>
          <a:lstStyle/>
          <a:p>
            <a:pPr algn="l">
              <a:lnSpc>
                <a:spcPct val="100000"/>
              </a:lnSpc>
              <a:spcAft>
                <a:spcPts val="250"/>
              </a:spcAft>
            </a:pPr>
            <a:r>
              <a:rPr sz="950" b="0">
                <a:solidFill>
                  <a:srgbClr val="4A4F57"/>
                </a:solidFill>
                <a:latin typeface="Noto Sans KR"/>
                <a:ea typeface="Noto Sans KR"/>
                <a:cs typeface="Noto Sans KR"/>
              </a:rPr>
              <a:t>01  주방가구 일체형 Rail · Dock · Storage 구조</a:t>
            </a:r>
          </a:p>
          <a:p>
            <a:pPr algn="l">
              <a:lnSpc>
                <a:spcPct val="100000"/>
              </a:lnSpc>
              <a:spcAft>
                <a:spcPts val="250"/>
              </a:spcAft>
            </a:pPr>
            <a:r>
              <a:rPr sz="950" b="0">
                <a:solidFill>
                  <a:srgbClr val="4A4F57"/>
                </a:solidFill>
                <a:latin typeface="Noto Sans KR"/>
                <a:ea typeface="Noto Sans KR"/>
                <a:cs typeface="Noto Sans KR"/>
              </a:rPr>
              <a:t>02  Robot-ready Kitchen Interface Module</a:t>
            </a:r>
          </a:p>
          <a:p>
            <a:pPr algn="l">
              <a:lnSpc>
                <a:spcPct val="100000"/>
              </a:lnSpc>
              <a:spcAft>
                <a:spcPts val="250"/>
              </a:spcAft>
            </a:pPr>
            <a:r>
              <a:rPr sz="950" b="0">
                <a:solidFill>
                  <a:srgbClr val="4A4F57"/>
                </a:solidFill>
                <a:latin typeface="Noto Sans KR"/>
                <a:ea typeface="Noto Sans KR"/>
                <a:cs typeface="Noto Sans KR"/>
              </a:rPr>
              <a:t>03  Fold / Deploy Robot Storage</a:t>
            </a:r>
          </a:p>
          <a:p>
            <a:pPr algn="l">
              <a:lnSpc>
                <a:spcPct val="100000"/>
              </a:lnSpc>
              <a:spcAft>
                <a:spcPts val="250"/>
              </a:spcAft>
            </a:pPr>
            <a:r>
              <a:rPr sz="950" b="0">
                <a:solidFill>
                  <a:srgbClr val="4A4F57"/>
                </a:solidFill>
                <a:latin typeface="Noto Sans KR"/>
                <a:ea typeface="Noto Sans KR"/>
                <a:cs typeface="Noto Sans KR"/>
              </a:rPr>
              <a:t>04  Human Zone / Robot Zone Safety Control</a:t>
            </a:r>
          </a:p>
          <a:p>
            <a:pPr algn="l">
              <a:lnSpc>
                <a:spcPct val="100000"/>
              </a:lnSpc>
              <a:spcAft>
                <a:spcPts val="250"/>
              </a:spcAft>
            </a:pPr>
            <a:r>
              <a:rPr sz="950" b="0">
                <a:solidFill>
                  <a:srgbClr val="4A4F57"/>
                </a:solidFill>
                <a:latin typeface="Noto Sans KR"/>
                <a:ea typeface="Noto Sans KR"/>
                <a:cs typeface="Noto Sans KR"/>
              </a:rPr>
              <a:t>05  Kitchen End-effector</a:t>
            </a:r>
          </a:p>
          <a:p>
            <a:pPr algn="l">
              <a:lnSpc>
                <a:spcPct val="100000"/>
              </a:lnSpc>
              <a:spcAft>
                <a:spcPts val="250"/>
              </a:spcAft>
            </a:pPr>
            <a:r>
              <a:rPr sz="950" b="0">
                <a:solidFill>
                  <a:srgbClr val="4A4F57"/>
                </a:solidFill>
                <a:latin typeface="Noto Sans KR"/>
                <a:ea typeface="Noto Sans KR"/>
                <a:cs typeface="Noto Sans KR"/>
              </a:rPr>
              <a:t>06  Food-contact Consumable Cartridge</a:t>
            </a:r>
          </a:p>
          <a:p>
            <a:pPr algn="l">
              <a:lnSpc>
                <a:spcPct val="100000"/>
              </a:lnSpc>
              <a:spcAft>
                <a:spcPts val="250"/>
              </a:spcAft>
            </a:pPr>
            <a:r>
              <a:rPr sz="950" b="0">
                <a:solidFill>
                  <a:srgbClr val="4A4F57"/>
                </a:solidFill>
                <a:latin typeface="Noto Sans KR"/>
                <a:ea typeface="Noto Sans KR"/>
                <a:cs typeface="Noto Sans KR"/>
              </a:rPr>
              <a:t>07  Installation Auto Calibration</a:t>
            </a:r>
          </a:p>
          <a:p>
            <a:pPr algn="l">
              <a:lnSpc>
                <a:spcPct val="100000"/>
              </a:lnSpc>
              <a:spcAft>
                <a:spcPts val="250"/>
              </a:spcAft>
            </a:pPr>
            <a:r>
              <a:rPr sz="950" b="0">
                <a:solidFill>
                  <a:srgbClr val="4A4F57"/>
                </a:solidFill>
                <a:latin typeface="Noto Sans KR"/>
                <a:ea typeface="Noto Sans KR"/>
                <a:cs typeface="Noto Sans KR"/>
              </a:rPr>
              <a:t>08  Dishwasher Robot Interface</a:t>
            </a:r>
          </a:p>
          <a:p>
            <a:pPr algn="l">
              <a:lnSpc>
                <a:spcPct val="100000"/>
              </a:lnSpc>
              <a:spcAft>
                <a:spcPts val="250"/>
              </a:spcAft>
            </a:pPr>
            <a:r>
              <a:rPr sz="950" b="0">
                <a:solidFill>
                  <a:srgbClr val="4A4F57"/>
                </a:solidFill>
                <a:latin typeface="Noto Sans KR"/>
                <a:ea typeface="Noto Sans KR"/>
                <a:cs typeface="Noto Sans KR"/>
              </a:rPr>
              <a:t>09  Robot Cleaning / Sanitizing Dock</a:t>
            </a:r>
          </a:p>
          <a:p>
            <a:pPr algn="l">
              <a:lnSpc>
                <a:spcPct val="100000"/>
              </a:lnSpc>
            </a:pPr>
            <a:r>
              <a:rPr sz="950" b="0">
                <a:solidFill>
                  <a:srgbClr val="4A4F57"/>
                </a:solidFill>
                <a:latin typeface="Noto Sans KR"/>
                <a:ea typeface="Noto Sans KR"/>
                <a:cs typeface="Noto Sans KR"/>
              </a:rPr>
              <a:t>10  Layout 기반 Robot Module Selection</a:t>
            </a:r>
          </a:p>
        </p:txBody>
      </p:sp>
      <p:sp>
        <p:nvSpPr>
          <p:cNvPr id="23" name="Rectangle 22"/>
          <p:cNvSpPr/>
          <p:nvPr/>
        </p:nvSpPr>
        <p:spPr>
          <a:xfrm>
            <a:off x="4846320" y="5448167"/>
            <a:ext cx="987750" cy="182880"/>
          </a:xfrm>
          <a:prstGeom prst="rect">
            <a:avLst/>
          </a:prstGeom>
          <a:solidFill>
            <a:srgbClr val="F4F5F6"/>
          </a:solidFill>
          <a:ln w="6350">
            <a:solidFill>
              <a:srgbClr val="C9CDD2"/>
            </a:solidFill>
          </a:ln>
        </p:spPr>
        <p:txBody>
          <a:bodyPr rtlCol="0" anchor="ctr"/>
          <a:lstStyle/>
          <a:p>
            <a:pPr algn="ctr"/>
          </a:p>
        </p:txBody>
      </p:sp>
      <p:sp>
        <p:nvSpPr>
          <p:cNvPr id="24" name="TextBox 23"/>
          <p:cNvSpPr txBox="1"/>
          <p:nvPr/>
        </p:nvSpPr>
        <p:spPr>
          <a:xfrm>
            <a:off x="4846320" y="5448167"/>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sp>
        <p:nvSpPr>
          <p:cNvPr id="25" name="TextBox 24"/>
          <p:cNvSpPr txBox="1"/>
          <p:nvPr/>
        </p:nvSpPr>
        <p:spPr>
          <a:xfrm>
            <a:off x="8412480" y="1790567"/>
            <a:ext cx="30934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Installed Base Flywheel</a:t>
            </a:r>
          </a:p>
        </p:txBody>
      </p:sp>
      <p:sp>
        <p:nvSpPr>
          <p:cNvPr id="26" name="Rectangle 25"/>
          <p:cNvSpPr/>
          <p:nvPr/>
        </p:nvSpPr>
        <p:spPr>
          <a:xfrm>
            <a:off x="9273387" y="2229479"/>
            <a:ext cx="1371600" cy="402336"/>
          </a:xfrm>
          <a:prstGeom prst="rect">
            <a:avLst/>
          </a:prstGeom>
          <a:solidFill>
            <a:srgbClr val="E2571B"/>
          </a:solidFill>
          <a:ln>
            <a:noFill/>
          </a:ln>
        </p:spPr>
        <p:txBody>
          <a:bodyPr rtlCol="0" anchor="ctr"/>
          <a:lstStyle/>
          <a:p>
            <a:pPr algn="ctr"/>
          </a:p>
        </p:txBody>
      </p:sp>
      <p:sp>
        <p:nvSpPr>
          <p:cNvPr id="27" name="TextBox 26"/>
          <p:cNvSpPr txBox="1"/>
          <p:nvPr/>
        </p:nvSpPr>
        <p:spPr>
          <a:xfrm>
            <a:off x="9346539" y="2229479"/>
            <a:ext cx="1225296" cy="402336"/>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Installed Kitchen ↑</a:t>
            </a:r>
          </a:p>
        </p:txBody>
      </p:sp>
      <p:sp>
        <p:nvSpPr>
          <p:cNvPr id="28" name="Rectangle 27"/>
          <p:cNvSpPr/>
          <p:nvPr/>
        </p:nvSpPr>
        <p:spPr>
          <a:xfrm>
            <a:off x="10381492" y="2763115"/>
            <a:ext cx="1371600" cy="402336"/>
          </a:xfrm>
          <a:prstGeom prst="rect">
            <a:avLst/>
          </a:prstGeom>
          <a:solidFill>
            <a:srgbClr val="F4F5F6"/>
          </a:solidFill>
          <a:ln>
            <a:noFill/>
          </a:ln>
        </p:spPr>
        <p:txBody>
          <a:bodyPr rtlCol="0" anchor="ctr"/>
          <a:lstStyle/>
          <a:p>
            <a:pPr algn="ctr"/>
          </a:p>
        </p:txBody>
      </p:sp>
      <p:sp>
        <p:nvSpPr>
          <p:cNvPr id="29" name="TextBox 28"/>
          <p:cNvSpPr txBox="1"/>
          <p:nvPr/>
        </p:nvSpPr>
        <p:spPr>
          <a:xfrm>
            <a:off x="10454644" y="2763115"/>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Installation Data ↑</a:t>
            </a:r>
          </a:p>
        </p:txBody>
      </p:sp>
      <p:sp>
        <p:nvSpPr>
          <p:cNvPr id="30" name="Rectangle 29"/>
          <p:cNvSpPr/>
          <p:nvPr/>
        </p:nvSpPr>
        <p:spPr>
          <a:xfrm>
            <a:off x="10655172" y="3962183"/>
            <a:ext cx="1371600" cy="402336"/>
          </a:xfrm>
          <a:prstGeom prst="rect">
            <a:avLst/>
          </a:prstGeom>
          <a:solidFill>
            <a:srgbClr val="F4F5F6"/>
          </a:solidFill>
          <a:ln>
            <a:noFill/>
          </a:ln>
        </p:spPr>
        <p:txBody>
          <a:bodyPr rtlCol="0" anchor="ctr"/>
          <a:lstStyle/>
          <a:p>
            <a:pPr algn="ctr"/>
          </a:p>
        </p:txBody>
      </p:sp>
      <p:sp>
        <p:nvSpPr>
          <p:cNvPr id="31" name="TextBox 30"/>
          <p:cNvSpPr txBox="1"/>
          <p:nvPr/>
        </p:nvSpPr>
        <p:spPr>
          <a:xfrm>
            <a:off x="10728324" y="3962183"/>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Failure Pattern 축적</a:t>
            </a:r>
          </a:p>
        </p:txBody>
      </p:sp>
      <p:sp>
        <p:nvSpPr>
          <p:cNvPr id="32" name="Rectangle 31"/>
          <p:cNvSpPr/>
          <p:nvPr/>
        </p:nvSpPr>
        <p:spPr>
          <a:xfrm>
            <a:off x="9888339" y="4923761"/>
            <a:ext cx="1371600" cy="402336"/>
          </a:xfrm>
          <a:prstGeom prst="rect">
            <a:avLst/>
          </a:prstGeom>
          <a:solidFill>
            <a:srgbClr val="F4F5F6"/>
          </a:solidFill>
          <a:ln>
            <a:noFill/>
          </a:ln>
        </p:spPr>
        <p:txBody>
          <a:bodyPr rtlCol="0" anchor="ctr"/>
          <a:lstStyle/>
          <a:p>
            <a:pPr algn="ctr"/>
          </a:p>
        </p:txBody>
      </p:sp>
      <p:sp>
        <p:nvSpPr>
          <p:cNvPr id="33" name="TextBox 32"/>
          <p:cNvSpPr txBox="1"/>
          <p:nvPr/>
        </p:nvSpPr>
        <p:spPr>
          <a:xfrm>
            <a:off x="9961491" y="4923761"/>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Template 개선</a:t>
            </a:r>
          </a:p>
        </p:txBody>
      </p:sp>
      <p:sp>
        <p:nvSpPr>
          <p:cNvPr id="34" name="Rectangle 33"/>
          <p:cNvSpPr/>
          <p:nvPr/>
        </p:nvSpPr>
        <p:spPr>
          <a:xfrm>
            <a:off x="8658435" y="4923761"/>
            <a:ext cx="1371600" cy="402336"/>
          </a:xfrm>
          <a:prstGeom prst="rect">
            <a:avLst/>
          </a:prstGeom>
          <a:solidFill>
            <a:srgbClr val="F4F5F6"/>
          </a:solidFill>
          <a:ln>
            <a:noFill/>
          </a:ln>
        </p:spPr>
        <p:txBody>
          <a:bodyPr rtlCol="0" anchor="ctr"/>
          <a:lstStyle/>
          <a:p>
            <a:pPr algn="ctr"/>
          </a:p>
        </p:txBody>
      </p:sp>
      <p:sp>
        <p:nvSpPr>
          <p:cNvPr id="35" name="TextBox 34"/>
          <p:cNvSpPr txBox="1"/>
          <p:nvPr/>
        </p:nvSpPr>
        <p:spPr>
          <a:xfrm>
            <a:off x="8731587" y="4923761"/>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Installation Time ↓</a:t>
            </a:r>
          </a:p>
        </p:txBody>
      </p:sp>
      <p:sp>
        <p:nvSpPr>
          <p:cNvPr id="36" name="Rectangle 35"/>
          <p:cNvSpPr/>
          <p:nvPr/>
        </p:nvSpPr>
        <p:spPr>
          <a:xfrm>
            <a:off x="7891602" y="3962183"/>
            <a:ext cx="1371600" cy="402336"/>
          </a:xfrm>
          <a:prstGeom prst="rect">
            <a:avLst/>
          </a:prstGeom>
          <a:solidFill>
            <a:srgbClr val="F4F5F6"/>
          </a:solidFill>
          <a:ln>
            <a:noFill/>
          </a:ln>
        </p:spPr>
        <p:txBody>
          <a:bodyPr rtlCol="0" anchor="ctr"/>
          <a:lstStyle/>
          <a:p>
            <a:pPr algn="ctr"/>
          </a:p>
        </p:txBody>
      </p:sp>
      <p:sp>
        <p:nvSpPr>
          <p:cNvPr id="37" name="TextBox 36"/>
          <p:cNvSpPr txBox="1"/>
          <p:nvPr/>
        </p:nvSpPr>
        <p:spPr>
          <a:xfrm>
            <a:off x="7964754" y="3962183"/>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Service Cost ↓</a:t>
            </a:r>
          </a:p>
        </p:txBody>
      </p:sp>
      <p:sp>
        <p:nvSpPr>
          <p:cNvPr id="38" name="Rectangle 37"/>
          <p:cNvSpPr/>
          <p:nvPr/>
        </p:nvSpPr>
        <p:spPr>
          <a:xfrm>
            <a:off x="8165282" y="2763115"/>
            <a:ext cx="1371600" cy="402336"/>
          </a:xfrm>
          <a:prstGeom prst="rect">
            <a:avLst/>
          </a:prstGeom>
          <a:solidFill>
            <a:srgbClr val="F4F5F6"/>
          </a:solidFill>
          <a:ln>
            <a:noFill/>
          </a:ln>
        </p:spPr>
        <p:txBody>
          <a:bodyPr rtlCol="0" anchor="ctr"/>
          <a:lstStyle/>
          <a:p>
            <a:pPr algn="ctr"/>
          </a:p>
        </p:txBody>
      </p:sp>
      <p:sp>
        <p:nvSpPr>
          <p:cNvPr id="39" name="TextBox 38"/>
          <p:cNvSpPr txBox="1"/>
          <p:nvPr/>
        </p:nvSpPr>
        <p:spPr>
          <a:xfrm>
            <a:off x="8238434" y="2763115"/>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Partner 확대</a:t>
            </a:r>
          </a:p>
        </p:txBody>
      </p:sp>
      <p:sp>
        <p:nvSpPr>
          <p:cNvPr id="40" name="TextBox 39"/>
          <p:cNvSpPr txBox="1"/>
          <p:nvPr/>
        </p:nvSpPr>
        <p:spPr>
          <a:xfrm>
            <a:off x="9227667" y="3619367"/>
            <a:ext cx="1463040" cy="457200"/>
          </a:xfrm>
          <a:prstGeom prst="rect">
            <a:avLst/>
          </a:prstGeom>
          <a:noFill/>
        </p:spPr>
        <p:txBody>
          <a:bodyPr wrap="square" lIns="0" rIns="0" tIns="0" bIns="0" anchor="t">
            <a:spAutoFit/>
          </a:bodyPr>
          <a:lstStyle/>
          <a:p>
            <a:pPr algn="ctr">
              <a:lnSpc>
                <a:spcPct val="100000"/>
              </a:lnSpc>
            </a:pPr>
            <a:r>
              <a:rPr sz="1000" b="1">
                <a:solidFill>
                  <a:srgbClr val="8C9198"/>
                </a:solidFill>
                <a:latin typeface="Noto Sans KR"/>
                <a:ea typeface="Noto Sans KR"/>
                <a:cs typeface="Noto Sans KR"/>
              </a:rPr>
              <a:t>Operational</a:t>
            </a:r>
          </a:p>
          <a:p>
            <a:pPr algn="ctr">
              <a:lnSpc>
                <a:spcPct val="100000"/>
              </a:lnSpc>
            </a:pPr>
            <a:r>
              <a:rPr sz="1000" b="1">
                <a:solidFill>
                  <a:srgbClr val="8C9198"/>
                </a:solidFill>
                <a:latin typeface="Noto Sans KR"/>
                <a:ea typeface="Noto Sans KR"/>
                <a:cs typeface="Noto Sans KR"/>
              </a:rPr>
              <a:t>Flywheel</a:t>
            </a:r>
          </a:p>
        </p:txBody>
      </p:sp>
      <p:sp>
        <p:nvSpPr>
          <p:cNvPr id="41" name="TextBox 40"/>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차단 효과 가설: 동일 Hardware를 경쟁사가 확보해도 단지별 평면 Template · 설치 시간 Data · Partner 설치 표준은 설치 경험 없이 복제 어려움 (TO BE VALIDATED).</a:t>
            </a:r>
          </a:p>
        </p:txBody>
      </p:sp>
      <p:sp>
        <p:nvSpPr>
          <p:cNvPr id="42" name="TextBox 4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43" name="TextBox 4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21  Roadmap · Milestone</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Q6</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24개월 Investment Milestone과 Kill Criteria</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Roadmap이 아닌 기업가치 상승 Evidence 중심. 기준 미달 시 구조 변경 · 범위 축소 · Scale 보류. 모든 기준 = TARGET.</a:t>
            </a:r>
          </a:p>
        </p:txBody>
      </p:sp>
      <p:sp>
        <p:nvSpPr>
          <p:cNvPr id="7" name="Rectangle 6"/>
          <p:cNvSpPr/>
          <p:nvPr/>
        </p:nvSpPr>
        <p:spPr>
          <a:xfrm>
            <a:off x="685800" y="1790567"/>
            <a:ext cx="2602153" cy="384048"/>
          </a:xfrm>
          <a:prstGeom prst="rect">
            <a:avLst/>
          </a:prstGeom>
          <a:solidFill>
            <a:srgbClr val="15171A"/>
          </a:solidFill>
          <a:ln>
            <a:noFill/>
          </a:ln>
        </p:spPr>
        <p:txBody>
          <a:bodyPr rtlCol="0" anchor="ctr"/>
          <a:lstStyle/>
          <a:p>
            <a:pPr algn="ctr"/>
          </a:p>
        </p:txBody>
      </p:sp>
      <p:sp>
        <p:nvSpPr>
          <p:cNvPr id="8" name="TextBox 7"/>
          <p:cNvSpPr txBox="1"/>
          <p:nvPr/>
        </p:nvSpPr>
        <p:spPr>
          <a:xfrm>
            <a:off x="795528"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M0 ~ M6</a:t>
            </a:r>
          </a:p>
        </p:txBody>
      </p:sp>
      <p:sp>
        <p:nvSpPr>
          <p:cNvPr id="9" name="TextBox 8"/>
          <p:cNvSpPr txBox="1"/>
          <p:nvPr/>
        </p:nvSpPr>
        <p:spPr>
          <a:xfrm>
            <a:off x="731520"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Layout Study (평면 30개)</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84㎡ 중심 Full-scale Mock-up</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Robot Architecture 선정</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Dish Handling Test</a:t>
            </a:r>
          </a:p>
        </p:txBody>
      </p:sp>
      <p:sp>
        <p:nvSpPr>
          <p:cNvPr id="10" name="Rectangle 9"/>
          <p:cNvSpPr/>
          <p:nvPr/>
        </p:nvSpPr>
        <p:spPr>
          <a:xfrm>
            <a:off x="685800" y="3665087"/>
            <a:ext cx="2602153" cy="566928"/>
          </a:xfrm>
          <a:prstGeom prst="rect">
            <a:avLst/>
          </a:prstGeom>
          <a:solidFill>
            <a:srgbClr val="FBEDE6"/>
          </a:solidFill>
          <a:ln>
            <a:noFill/>
          </a:ln>
        </p:spPr>
        <p:txBody>
          <a:bodyPr rtlCol="0" anchor="ctr"/>
          <a:lstStyle/>
          <a:p>
            <a:pPr algn="ctr"/>
          </a:p>
        </p:txBody>
      </p:sp>
      <p:sp>
        <p:nvSpPr>
          <p:cNvPr id="11" name="TextBox 10"/>
          <p:cNvSpPr txBox="1"/>
          <p:nvPr/>
        </p:nvSpPr>
        <p:spPr>
          <a:xfrm>
            <a:off x="795528"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Reach × 동선 양립 확인</a:t>
            </a:r>
          </a:p>
        </p:txBody>
      </p:sp>
      <p:sp>
        <p:nvSpPr>
          <p:cNvPr id="12" name="Rectangle 11"/>
          <p:cNvSpPr/>
          <p:nvPr/>
        </p:nvSpPr>
        <p:spPr>
          <a:xfrm>
            <a:off x="685800" y="4350887"/>
            <a:ext cx="2602153" cy="914400"/>
          </a:xfrm>
          <a:prstGeom prst="rect">
            <a:avLst/>
          </a:prstGeom>
          <a:noFill/>
          <a:ln w="15875">
            <a:solidFill>
              <a:srgbClr val="E2571B"/>
            </a:solidFill>
          </a:ln>
        </p:spPr>
        <p:txBody>
          <a:bodyPr rtlCol="0" anchor="ctr"/>
          <a:lstStyle/>
          <a:p>
            <a:pPr algn="ctr"/>
          </a:p>
        </p:txBody>
      </p:sp>
      <p:sp>
        <p:nvSpPr>
          <p:cNvPr id="13" name="TextBox 12"/>
          <p:cNvSpPr txBox="1"/>
          <p:nvPr/>
        </p:nvSpPr>
        <p:spPr>
          <a:xfrm>
            <a:off x="795528"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M6: 주거동선과 Robot Reach 양립 실패 → Architecture 변경</a:t>
            </a:r>
          </a:p>
        </p:txBody>
      </p:sp>
      <p:sp>
        <p:nvSpPr>
          <p:cNvPr id="14" name="Rectangle 13"/>
          <p:cNvSpPr/>
          <p:nvPr/>
        </p:nvSpPr>
        <p:spPr>
          <a:xfrm>
            <a:off x="3425113" y="1790567"/>
            <a:ext cx="2602153" cy="384048"/>
          </a:xfrm>
          <a:prstGeom prst="rect">
            <a:avLst/>
          </a:prstGeom>
          <a:solidFill>
            <a:srgbClr val="15171A"/>
          </a:solidFill>
          <a:ln>
            <a:noFill/>
          </a:ln>
        </p:spPr>
        <p:txBody>
          <a:bodyPr rtlCol="0" anchor="ctr"/>
          <a:lstStyle/>
          <a:p>
            <a:pPr algn="ctr"/>
          </a:p>
        </p:txBody>
      </p:sp>
      <p:sp>
        <p:nvSpPr>
          <p:cNvPr id="15" name="TextBox 14"/>
          <p:cNvSpPr txBox="1"/>
          <p:nvPr/>
        </p:nvSpPr>
        <p:spPr>
          <a:xfrm>
            <a:off x="3534841"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M6 ~ M12</a:t>
            </a:r>
          </a:p>
        </p:txBody>
      </p:sp>
      <p:sp>
        <p:nvSpPr>
          <p:cNvPr id="16" name="TextBox 15"/>
          <p:cNvSpPr txBox="1"/>
          <p:nvPr/>
        </p:nvSpPr>
        <p:spPr>
          <a:xfrm>
            <a:off x="3470833"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Kitchen Clean-up Demo</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Dishwasher Integration</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Robot-ready Storage · Template Study</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BOM v1 · Consumer Research</a:t>
            </a:r>
          </a:p>
        </p:txBody>
      </p:sp>
      <p:sp>
        <p:nvSpPr>
          <p:cNvPr id="17" name="Rectangle 16"/>
          <p:cNvSpPr/>
          <p:nvPr/>
        </p:nvSpPr>
        <p:spPr>
          <a:xfrm>
            <a:off x="3425113" y="3665087"/>
            <a:ext cx="2602153" cy="566928"/>
          </a:xfrm>
          <a:prstGeom prst="rect">
            <a:avLst/>
          </a:prstGeom>
          <a:solidFill>
            <a:srgbClr val="FBEDE6"/>
          </a:solidFill>
          <a:ln>
            <a:noFill/>
          </a:ln>
        </p:spPr>
        <p:txBody>
          <a:bodyPr rtlCol="0" anchor="ctr"/>
          <a:lstStyle/>
          <a:p>
            <a:pPr algn="ctr"/>
          </a:p>
        </p:txBody>
      </p:sp>
      <p:sp>
        <p:nvSpPr>
          <p:cNvPr id="18" name="TextBox 17"/>
          <p:cNvSpPr txBox="1"/>
          <p:nvPr/>
        </p:nvSpPr>
        <p:spPr>
          <a:xfrm>
            <a:off x="3534841"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Approved Task 3개 · Template 3개</a:t>
            </a:r>
          </a:p>
        </p:txBody>
      </p:sp>
      <p:sp>
        <p:nvSpPr>
          <p:cNvPr id="19" name="Rectangle 18"/>
          <p:cNvSpPr/>
          <p:nvPr/>
        </p:nvSpPr>
        <p:spPr>
          <a:xfrm>
            <a:off x="3425113" y="4350887"/>
            <a:ext cx="2602153" cy="914400"/>
          </a:xfrm>
          <a:prstGeom prst="rect">
            <a:avLst/>
          </a:prstGeom>
          <a:noFill/>
          <a:ln w="15875">
            <a:solidFill>
              <a:srgbClr val="E2571B"/>
            </a:solidFill>
          </a:ln>
        </p:spPr>
        <p:txBody>
          <a:bodyPr rtlCol="0" anchor="ctr"/>
          <a:lstStyle/>
          <a:p>
            <a:pPr algn="ctr"/>
          </a:p>
        </p:txBody>
      </p:sp>
      <p:sp>
        <p:nvSpPr>
          <p:cNvPr id="20" name="TextBox 19"/>
          <p:cNvSpPr txBox="1"/>
          <p:nvPr/>
        </p:nvSpPr>
        <p:spPr>
          <a:xfrm>
            <a:off x="3534841"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M9: Clean-up 성공률 70% 미만 → Task Scope 축소</a:t>
            </a:r>
          </a:p>
          <a:p>
            <a:pPr algn="l">
              <a:lnSpc>
                <a:spcPct val="100000"/>
              </a:lnSpc>
            </a:pPr>
            <a:r>
              <a:rPr sz="950" b="0">
                <a:solidFill>
                  <a:srgbClr val="15171A"/>
                </a:solidFill>
                <a:latin typeface="Noto Sans KR"/>
                <a:ea typeface="Noto Sans KR"/>
                <a:cs typeface="Noto Sans KR"/>
              </a:rPr>
              <a:t>M12: WTP 중앙값 &lt; 목표가 60% → B2C 재검토</a:t>
            </a:r>
          </a:p>
        </p:txBody>
      </p:sp>
      <p:sp>
        <p:nvSpPr>
          <p:cNvPr id="21" name="Rectangle 20"/>
          <p:cNvSpPr/>
          <p:nvPr/>
        </p:nvSpPr>
        <p:spPr>
          <a:xfrm>
            <a:off x="6164427" y="1790567"/>
            <a:ext cx="2602153" cy="384048"/>
          </a:xfrm>
          <a:prstGeom prst="rect">
            <a:avLst/>
          </a:prstGeom>
          <a:solidFill>
            <a:srgbClr val="15171A"/>
          </a:solidFill>
          <a:ln>
            <a:noFill/>
          </a:ln>
        </p:spPr>
        <p:txBody>
          <a:bodyPr rtlCol="0" anchor="ctr"/>
          <a:lstStyle/>
          <a:p>
            <a:pPr algn="ctr"/>
          </a:p>
        </p:txBody>
      </p:sp>
      <p:sp>
        <p:nvSpPr>
          <p:cNvPr id="22" name="TextBox 21"/>
          <p:cNvSpPr txBox="1"/>
          <p:nvPr/>
        </p:nvSpPr>
        <p:spPr>
          <a:xfrm>
            <a:off x="6274155"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M12 ~ M18</a:t>
            </a:r>
          </a:p>
        </p:txBody>
      </p:sp>
      <p:sp>
        <p:nvSpPr>
          <p:cNvPr id="23" name="TextBox 22"/>
          <p:cNvSpPr txBox="1"/>
          <p:nvPr/>
        </p:nvSpPr>
        <p:spPr>
          <a:xfrm>
            <a:off x="6210147"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Real-home Pilot 3~5세대</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Installation Process · Safety</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Price · Rental · Care Economics</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Design Partner</a:t>
            </a:r>
          </a:p>
        </p:txBody>
      </p:sp>
      <p:sp>
        <p:nvSpPr>
          <p:cNvPr id="24" name="Rectangle 23"/>
          <p:cNvSpPr/>
          <p:nvPr/>
        </p:nvSpPr>
        <p:spPr>
          <a:xfrm>
            <a:off x="6164427" y="3665087"/>
            <a:ext cx="2602153" cy="566928"/>
          </a:xfrm>
          <a:prstGeom prst="rect">
            <a:avLst/>
          </a:prstGeom>
          <a:solidFill>
            <a:srgbClr val="FBEDE6"/>
          </a:solidFill>
          <a:ln>
            <a:noFill/>
          </a:ln>
        </p:spPr>
        <p:txBody>
          <a:bodyPr rtlCol="0" anchor="ctr"/>
          <a:lstStyle/>
          <a:p>
            <a:pPr algn="ctr"/>
          </a:p>
        </p:txBody>
      </p:sp>
      <p:sp>
        <p:nvSpPr>
          <p:cNvPr id="25" name="TextBox 24"/>
          <p:cNvSpPr txBox="1"/>
          <p:nvPr/>
        </p:nvSpPr>
        <p:spPr>
          <a:xfrm>
            <a:off x="6274155"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실제 주방 설치 · 설치시간 실측</a:t>
            </a:r>
          </a:p>
        </p:txBody>
      </p:sp>
      <p:sp>
        <p:nvSpPr>
          <p:cNvPr id="26" name="Rectangle 25"/>
          <p:cNvSpPr/>
          <p:nvPr/>
        </p:nvSpPr>
        <p:spPr>
          <a:xfrm>
            <a:off x="6164427" y="4350887"/>
            <a:ext cx="2602153" cy="914400"/>
          </a:xfrm>
          <a:prstGeom prst="rect">
            <a:avLst/>
          </a:prstGeom>
          <a:noFill/>
          <a:ln w="15875">
            <a:solidFill>
              <a:srgbClr val="E2571B"/>
            </a:solidFill>
          </a:ln>
        </p:spPr>
        <p:txBody>
          <a:bodyPr rtlCol="0" anchor="ctr"/>
          <a:lstStyle/>
          <a:p>
            <a:pPr algn="ctr"/>
          </a:p>
        </p:txBody>
      </p:sp>
      <p:sp>
        <p:nvSpPr>
          <p:cNvPr id="27" name="TextBox 26"/>
          <p:cNvSpPr txBox="1"/>
          <p:nvPr/>
        </p:nvSpPr>
        <p:spPr>
          <a:xfrm>
            <a:off x="6274155"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M18: Standard Module 사용률 60% 미만 → Productization 재검토</a:t>
            </a:r>
          </a:p>
        </p:txBody>
      </p:sp>
      <p:sp>
        <p:nvSpPr>
          <p:cNvPr id="28" name="Rectangle 27"/>
          <p:cNvSpPr/>
          <p:nvPr/>
        </p:nvSpPr>
        <p:spPr>
          <a:xfrm>
            <a:off x="8903741" y="1790567"/>
            <a:ext cx="2602153" cy="384048"/>
          </a:xfrm>
          <a:prstGeom prst="rect">
            <a:avLst/>
          </a:prstGeom>
          <a:solidFill>
            <a:srgbClr val="15171A"/>
          </a:solidFill>
          <a:ln>
            <a:noFill/>
          </a:ln>
        </p:spPr>
        <p:txBody>
          <a:bodyPr rtlCol="0" anchor="ctr"/>
          <a:lstStyle/>
          <a:p>
            <a:pPr algn="ctr"/>
          </a:p>
        </p:txBody>
      </p:sp>
      <p:sp>
        <p:nvSpPr>
          <p:cNvPr id="29" name="TextBox 28"/>
          <p:cNvSpPr txBox="1"/>
          <p:nvPr/>
        </p:nvSpPr>
        <p:spPr>
          <a:xfrm>
            <a:off x="9013469"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M18 ~ M24</a:t>
            </a:r>
          </a:p>
        </p:txBody>
      </p:sp>
      <p:sp>
        <p:nvSpPr>
          <p:cNvPr id="30" name="TextBox 29"/>
          <p:cNvSpPr txBox="1"/>
          <p:nvPr/>
        </p:nvSpPr>
        <p:spPr>
          <a:xfrm>
            <a:off x="8949461"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Paid Pilot</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Template Standardization</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설치비 · Service 원가 확정</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Partner Pilot 협의</a:t>
            </a:r>
          </a:p>
        </p:txBody>
      </p:sp>
      <p:sp>
        <p:nvSpPr>
          <p:cNvPr id="31" name="Rectangle 30"/>
          <p:cNvSpPr/>
          <p:nvPr/>
        </p:nvSpPr>
        <p:spPr>
          <a:xfrm>
            <a:off x="8903741" y="3665087"/>
            <a:ext cx="2602153" cy="566928"/>
          </a:xfrm>
          <a:prstGeom prst="rect">
            <a:avLst/>
          </a:prstGeom>
          <a:solidFill>
            <a:srgbClr val="FBEDE6"/>
          </a:solidFill>
          <a:ln>
            <a:noFill/>
          </a:ln>
        </p:spPr>
        <p:txBody>
          <a:bodyPr rtlCol="0" anchor="ctr"/>
          <a:lstStyle/>
          <a:p>
            <a:pPr algn="ctr"/>
          </a:p>
        </p:txBody>
      </p:sp>
      <p:sp>
        <p:nvSpPr>
          <p:cNvPr id="32" name="TextBox 31"/>
          <p:cNvSpPr txBox="1"/>
          <p:nvPr/>
        </p:nvSpPr>
        <p:spPr>
          <a:xfrm>
            <a:off x="9013469"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Series A Evidence Pack</a:t>
            </a:r>
          </a:p>
        </p:txBody>
      </p:sp>
      <p:sp>
        <p:nvSpPr>
          <p:cNvPr id="33" name="Rectangle 32"/>
          <p:cNvSpPr/>
          <p:nvPr/>
        </p:nvSpPr>
        <p:spPr>
          <a:xfrm>
            <a:off x="8903741" y="4350887"/>
            <a:ext cx="2602153" cy="914400"/>
          </a:xfrm>
          <a:prstGeom prst="rect">
            <a:avLst/>
          </a:prstGeom>
          <a:noFill/>
          <a:ln w="15875">
            <a:solidFill>
              <a:srgbClr val="E2571B"/>
            </a:solidFill>
          </a:ln>
        </p:spPr>
        <p:txBody>
          <a:bodyPr rtlCol="0" anchor="ctr"/>
          <a:lstStyle/>
          <a:p>
            <a:pPr algn="ctr"/>
          </a:p>
        </p:txBody>
      </p:sp>
      <p:sp>
        <p:nvSpPr>
          <p:cNvPr id="34" name="TextBox 33"/>
          <p:cNvSpPr txBox="1"/>
          <p:nvPr/>
        </p:nvSpPr>
        <p:spPr>
          <a:xfrm>
            <a:off x="9013469"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M24: Paid Pilot · Partner 확보 실패 → Scale 투자 보류</a:t>
            </a:r>
          </a:p>
        </p:txBody>
      </p:sp>
      <p:sp>
        <p:nvSpPr>
          <p:cNvPr id="35" name="TextBox 34"/>
          <p:cNvSpPr txBox="1"/>
          <p:nvPr/>
        </p:nvSpPr>
        <p:spPr>
          <a:xfrm>
            <a:off x="685800" y="4396607"/>
            <a:ext cx="91440" cy="91440"/>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36" name="Rectangle 35"/>
          <p:cNvSpPr/>
          <p:nvPr/>
        </p:nvSpPr>
        <p:spPr>
          <a:xfrm>
            <a:off x="685800" y="5448167"/>
            <a:ext cx="2834640" cy="685800"/>
          </a:xfrm>
          <a:prstGeom prst="rect">
            <a:avLst/>
          </a:prstGeom>
          <a:solidFill>
            <a:srgbClr val="F4F5F6"/>
          </a:solidFill>
          <a:ln>
            <a:noFill/>
          </a:ln>
        </p:spPr>
        <p:txBody>
          <a:bodyPr rtlCol="0" anchor="ctr"/>
          <a:lstStyle/>
          <a:p>
            <a:pPr algn="ctr"/>
          </a:p>
        </p:txBody>
      </p:sp>
      <p:sp>
        <p:nvSpPr>
          <p:cNvPr id="37" name="TextBox 36"/>
          <p:cNvSpPr txBox="1"/>
          <p:nvPr/>
        </p:nvSpPr>
        <p:spPr>
          <a:xfrm>
            <a:off x="822960" y="5448167"/>
            <a:ext cx="2651760" cy="685800"/>
          </a:xfrm>
          <a:prstGeom prst="rect">
            <a:avLst/>
          </a:prstGeom>
          <a:noFill/>
        </p:spPr>
        <p:txBody>
          <a:bodyPr wrap="square" lIns="0" rIns="0" tIns="0" bIns="0" anchor="ctr">
            <a:spAutoFit/>
          </a:bodyPr>
          <a:lstStyle/>
          <a:p>
            <a:pPr algn="l">
              <a:lnSpc>
                <a:spcPct val="100000"/>
              </a:lnSpc>
            </a:pPr>
            <a:r>
              <a:rPr sz="900" b="1">
                <a:solidFill>
                  <a:srgbClr val="8C9198"/>
                </a:solidFill>
                <a:latin typeface="Noto Sans KR"/>
                <a:ea typeface="Noto Sans KR"/>
                <a:cs typeface="Noto Sans KR"/>
              </a:rPr>
              <a:t>Seed 이전  </a:t>
            </a:r>
            <a:r>
              <a:rPr sz="1100" b="1">
                <a:solidFill>
                  <a:srgbClr val="15171A"/>
                </a:solidFill>
                <a:latin typeface="Noto Sans KR"/>
                <a:ea typeface="Noto Sans KR"/>
                <a:cs typeface="Noto Sans KR"/>
              </a:rPr>
              <a:t>Concept · Business Hypothesis</a:t>
            </a:r>
          </a:p>
        </p:txBody>
      </p:sp>
      <p:cxnSp>
        <p:nvCxnSpPr>
          <p:cNvPr id="38" name="Connector 37"/>
          <p:cNvCxnSpPr/>
          <p:nvPr/>
        </p:nvCxnSpPr>
        <p:spPr>
          <a:xfrm>
            <a:off x="3566160" y="5786495"/>
            <a:ext cx="365760" cy="0"/>
          </a:xfrm>
          <a:prstGeom prst="line">
            <a:avLst/>
          </a:prstGeom>
          <a:ln w="25400">
            <a:solidFill>
              <a:srgbClr val="E2571B"/>
            </a:solidFill>
            <a:tailEnd type="triangle" w="med" len="med"/>
          </a:ln>
        </p:spPr>
      </p:cxnSp>
      <p:sp>
        <p:nvSpPr>
          <p:cNvPr id="39" name="Rectangle 38"/>
          <p:cNvSpPr/>
          <p:nvPr/>
        </p:nvSpPr>
        <p:spPr>
          <a:xfrm>
            <a:off x="3977639" y="5448167"/>
            <a:ext cx="7528255" cy="685800"/>
          </a:xfrm>
          <a:prstGeom prst="rect">
            <a:avLst/>
          </a:prstGeom>
          <a:solidFill>
            <a:srgbClr val="15171A"/>
          </a:solidFill>
          <a:ln>
            <a:noFill/>
          </a:ln>
        </p:spPr>
        <p:txBody>
          <a:bodyPr rtlCol="0" anchor="ctr"/>
          <a:lstStyle/>
          <a:p>
            <a:pPr algn="ctr"/>
          </a:p>
        </p:txBody>
      </p:sp>
      <p:sp>
        <p:nvSpPr>
          <p:cNvPr id="40" name="TextBox 39"/>
          <p:cNvSpPr txBox="1"/>
          <p:nvPr/>
        </p:nvSpPr>
        <p:spPr>
          <a:xfrm>
            <a:off x="4114800" y="5448167"/>
            <a:ext cx="7253935" cy="68580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Seed 이후: Working Product · Real Kitchen Installation · Template Library · Validated WTP / BOM / 설치비 / Service 원가 · Paid Pilot · Partner Validation · Repeatable Installation  →  Series A</a:t>
            </a:r>
          </a:p>
        </p:txBody>
      </p:sp>
      <p:sp>
        <p:nvSpPr>
          <p:cNvPr id="41" name="TextBox 4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42" name="TextBox 4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22  Founder · Team</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Q6</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Founder / Team</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임의 생성 금지 원칙. 확인되지 않은 정보는 [Founder 정보 필요]로 표기. 투자 판단의 최우선 항목.</a:t>
            </a:r>
          </a:p>
        </p:txBody>
      </p:sp>
      <p:graphicFrame>
        <p:nvGraphicFramePr>
          <p:cNvPr id="7" name="Table 6"/>
          <p:cNvGraphicFramePr>
            <a:graphicFrameLocks noGrp="1"/>
          </p:cNvGraphicFramePr>
          <p:nvPr/>
        </p:nvGraphicFramePr>
        <p:xfrm>
          <a:off x="685800" y="1790567"/>
          <a:ext cx="5394960" cy="2495696"/>
        </p:xfrm>
        <a:graphic>
          <a:graphicData uri="http://schemas.openxmlformats.org/drawingml/2006/table">
            <a:tbl>
              <a:tblPr firstRow="0" bandRow="0">
                <a:tableStyleId>{2D5ABB26-0587-4C30-8999-92F81FD0307C}</a:tableStyleId>
              </a:tblPr>
              <a:tblGrid>
                <a:gridCol w="2651760"/>
                <a:gridCol w="2743200"/>
              </a:tblGrid>
              <a:tr h="311962">
                <a:tc>
                  <a:txBody>
                    <a:bodyPr wrap="square"/>
                    <a:lstStyle/>
                    <a:p>
                      <a:pPr algn="l">
                        <a:lnSpc>
                          <a:spcPct val="100000"/>
                        </a:lnSpc>
                      </a:pPr>
                      <a:r>
                        <a:rPr sz="1050" b="1">
                          <a:solidFill>
                            <a:srgbClr val="15171A"/>
                          </a:solidFill>
                          <a:latin typeface="Noto Sans KR"/>
                          <a:ea typeface="Noto Sans KR"/>
                          <a:cs typeface="Noto Sans KR"/>
                        </a:rPr>
                        <a:t>평가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Founder Background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Relevant Engineering Experience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Product Development Experience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Construction / Kitchen Understanding</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Robot Experience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Customer / Partner Network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Full-time Commitment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[Founder 정보 필요]</a:t>
                      </a:r>
                    </a:p>
                  </a:txBody>
                  <a:tcPr marL="73152" marR="73152" marT="54864" marB="54864" anchor="t">
                    <a:lnL w="0">
                      <a:noFill/>
                    </a:lnL>
                    <a:lnR w="0">
                      <a:noFill/>
                    </a:lnR>
                    <a:lnT w="0">
                      <a:noFill/>
                    </a:lnT>
                    <a:lnB w="9525">
                      <a:solidFill>
                        <a:srgbClr val="E2E4E7"/>
                      </a:solidFill>
                    </a:lnB>
                    <a:noFill/>
                  </a:tcPr>
                </a:tc>
              </a:tr>
            </a:tbl>
          </a:graphicData>
        </a:graphic>
      </p:graphicFrame>
      <p:sp>
        <p:nvSpPr>
          <p:cNvPr id="8" name="TextBox 7"/>
          <p:cNvSpPr txBox="1"/>
          <p:nvPr/>
        </p:nvSpPr>
        <p:spPr>
          <a:xfrm>
            <a:off x="6446520" y="1790567"/>
            <a:ext cx="505937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Seed 채용계획 (평균 인원 Y1 6명 → Y2 9명, ASSUMPTION)</a:t>
            </a:r>
          </a:p>
        </p:txBody>
      </p:sp>
      <p:graphicFrame>
        <p:nvGraphicFramePr>
          <p:cNvPr id="9" name="Table 8"/>
          <p:cNvGraphicFramePr>
            <a:graphicFrameLocks noGrp="1"/>
          </p:cNvGraphicFramePr>
          <p:nvPr/>
        </p:nvGraphicFramePr>
        <p:xfrm>
          <a:off x="6446520" y="2138039"/>
          <a:ext cx="5059375" cy="2422144"/>
        </p:xfrm>
        <a:graphic>
          <a:graphicData uri="http://schemas.openxmlformats.org/drawingml/2006/table">
            <a:tbl>
              <a:tblPr firstRow="0" bandRow="0">
                <a:tableStyleId>{2D5ABB26-0587-4C30-8999-92F81FD0307C}</a:tableStyleId>
              </a:tblPr>
              <a:tblGrid>
                <a:gridCol w="4190695"/>
                <a:gridCol w="868680"/>
              </a:tblGrid>
              <a:tr h="302768">
                <a:tc>
                  <a:txBody>
                    <a:bodyPr wrap="square"/>
                    <a:lstStyle/>
                    <a:p>
                      <a:pPr algn="l">
                        <a:lnSpc>
                          <a:spcPct val="100000"/>
                        </a:lnSpc>
                      </a:pPr>
                      <a:r>
                        <a:rPr sz="1000" b="1">
                          <a:solidFill>
                            <a:srgbClr val="15171A"/>
                          </a:solidFill>
                          <a:latin typeface="Noto Sans KR"/>
                          <a:ea typeface="Noto Sans KR"/>
                          <a:cs typeface="Noto Sans KR"/>
                        </a:rPr>
                        <a:t>역할</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Robotics Lead (Manipulation · Control)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Perception / ML Engineer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M0~M3</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Mechatronics (Rail · End-effector · Garage)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M0~M3</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 Architecture Integration (설계·시공 표준)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Embedded · Electrical · Safety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M3~M6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Field / Installation Engineer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M12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BD · Customer Research (Partner)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M6</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TextBox 9"/>
          <p:cNvSpPr txBox="1"/>
          <p:nvPr/>
        </p:nvSpPr>
        <p:spPr>
          <a:xfrm>
            <a:off x="6446520" y="5219567"/>
            <a:ext cx="5059375" cy="6400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Advisor 필요: 주방가구 제조·시공 · 건설사 설계/유상옵션 · Robot 안전인증 (ISO 10218 / ISO 13482 / KC) · 렌탈 금융</a:t>
            </a:r>
          </a:p>
        </p:txBody>
      </p:sp>
      <p:sp>
        <p:nvSpPr>
          <p:cNvPr id="11" name="Rectangle 10"/>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12" name="Rectangle 11"/>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13" name="TextBox 12"/>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Seed 판단 1순위: Robot Manipulation × 주방·건축 Integration × 고객·Partner 영업을 Founding Team이 직접 보유하는가</a:t>
            </a:r>
          </a:p>
        </p:txBody>
      </p:sp>
      <p:sp>
        <p:nvSpPr>
          <p:cNvPr id="14" name="TextBox 1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5" name="TextBox 1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23  Seed Ask</a:t>
            </a:r>
          </a:p>
        </p:txBody>
      </p:sp>
      <p:sp>
        <p:nvSpPr>
          <p:cNvPr id="3" name="Rectangle 2"/>
          <p:cNvSpPr/>
          <p:nvPr/>
        </p:nvSpPr>
        <p:spPr>
          <a:xfrm>
            <a:off x="11121847" y="521208"/>
            <a:ext cx="329184" cy="219456"/>
          </a:xfrm>
          <a:prstGeom prst="rect">
            <a:avLst/>
          </a:prstGeom>
          <a:noFill/>
          <a:ln w="6350">
            <a:solidFill>
              <a:srgbClr val="C9CDD2"/>
            </a:solidFill>
          </a:ln>
        </p:spPr>
        <p:txBody>
          <a:bodyPr rtlCol="0" anchor="ctr"/>
          <a:lstStyle/>
          <a:p>
            <a:pPr algn="ctr"/>
          </a:p>
        </p:txBody>
      </p:sp>
      <p:sp>
        <p:nvSpPr>
          <p:cNvPr id="4" name="TextBox 3"/>
          <p:cNvSpPr txBox="1"/>
          <p:nvPr/>
        </p:nvSpPr>
        <p:spPr>
          <a:xfrm>
            <a:off x="11121847" y="521208"/>
            <a:ext cx="329184" cy="219456"/>
          </a:xfrm>
          <a:prstGeom prst="rect">
            <a:avLst/>
          </a:prstGeom>
          <a:noFill/>
        </p:spPr>
        <p:txBody>
          <a:bodyPr wrap="square" lIns="0" rIns="0" tIns="0" bIns="0" anchor="ctr">
            <a:spAutoFit/>
          </a:bodyPr>
          <a:lstStyle/>
          <a:p>
            <a:pPr algn="ctr">
              <a:lnSpc>
                <a:spcPct val="100000"/>
              </a:lnSpc>
            </a:pPr>
            <a:r>
              <a:rPr sz="900" b="1">
                <a:solidFill>
                  <a:srgbClr val="4A4F57"/>
                </a:solidFill>
                <a:latin typeface="Noto Sans KR"/>
                <a:ea typeface="Noto Sans KR"/>
                <a:cs typeface="Noto Sans KR"/>
              </a:rPr>
              <a:t>Q6</a:t>
            </a:r>
          </a:p>
        </p:txBody>
      </p:sp>
      <p:sp>
        <p:nvSpPr>
          <p:cNvPr id="5" name="TextBox 4"/>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Seed Ask: 20억원 + TIPS 연계, Commercial Risk 제거 자본</a:t>
            </a:r>
          </a:p>
        </p:txBody>
      </p:sp>
      <p:sp>
        <p:nvSpPr>
          <p:cNvPr id="6" name="TextBox 5"/>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Kitchen 완성 X  →  Commercial Risk Reduction O. 사용안은 실제 인건비·Prototype·공간·인증 비용으로 재검증.</a:t>
            </a:r>
          </a:p>
        </p:txBody>
      </p:sp>
      <p:graphicFrame>
        <p:nvGraphicFramePr>
          <p:cNvPr id="7" name="Table 6"/>
          <p:cNvGraphicFramePr>
            <a:graphicFrameLocks noGrp="1"/>
          </p:cNvGraphicFramePr>
          <p:nvPr/>
        </p:nvGraphicFramePr>
        <p:xfrm>
          <a:off x="685800" y="1790567"/>
          <a:ext cx="5669280" cy="2724912"/>
        </p:xfrm>
        <a:graphic>
          <a:graphicData uri="http://schemas.openxmlformats.org/drawingml/2006/table">
            <a:tbl>
              <a:tblPr firstRow="0" bandRow="0">
                <a:tableStyleId>{2D5ABB26-0587-4C30-8999-92F81FD0307C}</a:tableStyleId>
              </a:tblPr>
              <a:tblGrid>
                <a:gridCol w="3840480"/>
                <a:gridCol w="914400"/>
                <a:gridCol w="914400"/>
              </a:tblGrid>
              <a:tr h="302768">
                <a:tc>
                  <a:txBody>
                    <a:bodyPr wrap="square"/>
                    <a:lstStyle/>
                    <a:p>
                      <a:pPr algn="l">
                        <a:lnSpc>
                          <a:spcPct val="100000"/>
                        </a:lnSpc>
                      </a:pPr>
                      <a:r>
                        <a:rPr sz="1000" b="1">
                          <a:solidFill>
                            <a:srgbClr val="15171A"/>
                          </a:solidFill>
                          <a:latin typeface="Noto Sans KR"/>
                          <a:ea typeface="Noto Sans KR"/>
                          <a:cs typeface="Noto Sans KR"/>
                        </a:rPr>
                        <a:t>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Draft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수정안</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Core Development Team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 Kitchen Prototype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Mock-up / Installation Development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Vision / Software / Data</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Pilot / Customer Validation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Safety / Certification / IP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Operations / Contingency</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합계 (24개월)</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20.0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25.8</a:t>
                      </a:r>
                    </a:p>
                  </a:txBody>
                  <a:tcPr marL="73152" marR="73152" marT="54864" marB="54864" anchor="t">
                    <a:lnL w="0">
                      <a:noFill/>
                    </a:lnL>
                    <a:lnR w="0">
                      <a:noFill/>
                    </a:lnR>
                    <a:lnT w="0">
                      <a:noFill/>
                    </a:lnT>
                    <a:lnB w="9525">
                      <a:solidFill>
                        <a:srgbClr val="E2E4E7"/>
                      </a:solidFill>
                    </a:lnB>
                    <a:noFill/>
                  </a:tcPr>
                </a:tc>
              </a:tr>
            </a:tbl>
          </a:graphicData>
        </a:graphic>
      </p:graphicFrame>
      <p:sp>
        <p:nvSpPr>
          <p:cNvPr id="8" name="TextBox 7"/>
          <p:cNvSpPr txBox="1"/>
          <p:nvPr/>
        </p:nvSpPr>
        <p:spPr>
          <a:xfrm>
            <a:off x="685800" y="4808087"/>
            <a:ext cx="5669280" cy="11887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수정안 근거: 평균 인원 6→9명 × 인당 8,500만원, Mock-up 50평 + 2식, Pilot 5세대 손실 반영 (A16)</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부족분 5.8억원 · Seed 단독 Runway 약 19개월</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Plan A: TIPS R&amp;D 최대 8억원 (선정 미확정) · Plan B: Seed 25억원 또는 M18 Bridge</a:t>
            </a:r>
          </a:p>
        </p:txBody>
      </p:sp>
      <p:sp>
        <p:nvSpPr>
          <p:cNvPr id="9" name="TextBox 8"/>
          <p:cNvSpPr txBox="1"/>
          <p:nvPr/>
        </p:nvSpPr>
        <p:spPr>
          <a:xfrm>
            <a:off x="6720840" y="1790567"/>
            <a:ext cx="478505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What Must Be True  →  Series A Evidence</a:t>
            </a:r>
          </a:p>
        </p:txBody>
      </p:sp>
      <p:sp>
        <p:nvSpPr>
          <p:cNvPr id="10" name="Rectangle 9"/>
          <p:cNvSpPr/>
          <p:nvPr/>
        </p:nvSpPr>
        <p:spPr>
          <a:xfrm>
            <a:off x="6720840" y="2229479"/>
            <a:ext cx="292608" cy="292608"/>
          </a:xfrm>
          <a:prstGeom prst="rect">
            <a:avLst/>
          </a:prstGeom>
          <a:noFill/>
          <a:ln w="15875">
            <a:solidFill>
              <a:srgbClr val="E2571B"/>
            </a:solidFill>
          </a:ln>
        </p:spPr>
        <p:txBody>
          <a:bodyPr rtlCol="0" anchor="ctr"/>
          <a:lstStyle/>
          <a:p>
            <a:pPr algn="ctr"/>
          </a:p>
        </p:txBody>
      </p:sp>
      <p:sp>
        <p:nvSpPr>
          <p:cNvPr id="11" name="TextBox 10"/>
          <p:cNvSpPr txBox="1"/>
          <p:nvPr/>
        </p:nvSpPr>
        <p:spPr>
          <a:xfrm>
            <a:off x="6720840" y="22294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1</a:t>
            </a:r>
          </a:p>
        </p:txBody>
      </p:sp>
      <p:sp>
        <p:nvSpPr>
          <p:cNvPr id="12" name="TextBox 11"/>
          <p:cNvSpPr txBox="1"/>
          <p:nvPr/>
        </p:nvSpPr>
        <p:spPr>
          <a:xfrm>
            <a:off x="7132320" y="21746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Remodeling 고객이 Robot Integration Premium을 지불</a:t>
            </a:r>
          </a:p>
        </p:txBody>
      </p:sp>
      <p:sp>
        <p:nvSpPr>
          <p:cNvPr id="13" name="Rectangle 12"/>
          <p:cNvSpPr/>
          <p:nvPr/>
        </p:nvSpPr>
        <p:spPr>
          <a:xfrm>
            <a:off x="6720840" y="2686679"/>
            <a:ext cx="292608" cy="292608"/>
          </a:xfrm>
          <a:prstGeom prst="rect">
            <a:avLst/>
          </a:prstGeom>
          <a:noFill/>
          <a:ln w="15875">
            <a:solidFill>
              <a:srgbClr val="E2571B"/>
            </a:solidFill>
          </a:ln>
        </p:spPr>
        <p:txBody>
          <a:bodyPr rtlCol="0" anchor="ctr"/>
          <a:lstStyle/>
          <a:p>
            <a:pPr algn="ctr"/>
          </a:p>
        </p:txBody>
      </p:sp>
      <p:sp>
        <p:nvSpPr>
          <p:cNvPr id="14" name="TextBox 13"/>
          <p:cNvSpPr txBox="1"/>
          <p:nvPr/>
        </p:nvSpPr>
        <p:spPr>
          <a:xfrm>
            <a:off x="6720840" y="26866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2</a:t>
            </a:r>
          </a:p>
        </p:txBody>
      </p:sp>
      <p:sp>
        <p:nvSpPr>
          <p:cNvPr id="15" name="TextBox 14"/>
          <p:cNvSpPr txBox="1"/>
          <p:nvPr/>
        </p:nvSpPr>
        <p:spPr>
          <a:xfrm>
            <a:off x="7132320" y="26318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주요 Kitchen Layout이 소수 Template으로 분류</a:t>
            </a:r>
          </a:p>
        </p:txBody>
      </p:sp>
      <p:sp>
        <p:nvSpPr>
          <p:cNvPr id="16" name="Rectangle 15"/>
          <p:cNvSpPr/>
          <p:nvPr/>
        </p:nvSpPr>
        <p:spPr>
          <a:xfrm>
            <a:off x="6720840" y="3143879"/>
            <a:ext cx="292608" cy="292608"/>
          </a:xfrm>
          <a:prstGeom prst="rect">
            <a:avLst/>
          </a:prstGeom>
          <a:noFill/>
          <a:ln w="15875">
            <a:solidFill>
              <a:srgbClr val="E2571B"/>
            </a:solidFill>
          </a:ln>
        </p:spPr>
        <p:txBody>
          <a:bodyPr rtlCol="0" anchor="ctr"/>
          <a:lstStyle/>
          <a:p>
            <a:pPr algn="ctr"/>
          </a:p>
        </p:txBody>
      </p:sp>
      <p:sp>
        <p:nvSpPr>
          <p:cNvPr id="17" name="TextBox 16"/>
          <p:cNvSpPr txBox="1"/>
          <p:nvPr/>
        </p:nvSpPr>
        <p:spPr>
          <a:xfrm>
            <a:off x="6720840" y="31438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3</a:t>
            </a:r>
          </a:p>
        </p:txBody>
      </p:sp>
      <p:sp>
        <p:nvSpPr>
          <p:cNvPr id="18" name="TextBox 17"/>
          <p:cNvSpPr txBox="1"/>
          <p:nvPr/>
        </p:nvSpPr>
        <p:spPr>
          <a:xfrm>
            <a:off x="7132320" y="30890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Single Robot Architecture가 반복 설치 가능</a:t>
            </a:r>
          </a:p>
        </p:txBody>
      </p:sp>
      <p:sp>
        <p:nvSpPr>
          <p:cNvPr id="19" name="Rectangle 18"/>
          <p:cNvSpPr/>
          <p:nvPr/>
        </p:nvSpPr>
        <p:spPr>
          <a:xfrm>
            <a:off x="6720840" y="3601079"/>
            <a:ext cx="292608" cy="292608"/>
          </a:xfrm>
          <a:prstGeom prst="rect">
            <a:avLst/>
          </a:prstGeom>
          <a:noFill/>
          <a:ln w="15875">
            <a:solidFill>
              <a:srgbClr val="E2571B"/>
            </a:solidFill>
          </a:ln>
        </p:spPr>
        <p:txBody>
          <a:bodyPr rtlCol="0" anchor="ctr"/>
          <a:lstStyle/>
          <a:p>
            <a:pPr algn="ctr"/>
          </a:p>
        </p:txBody>
      </p:sp>
      <p:sp>
        <p:nvSpPr>
          <p:cNvPr id="20" name="TextBox 19"/>
          <p:cNvSpPr txBox="1"/>
          <p:nvPr/>
        </p:nvSpPr>
        <p:spPr>
          <a:xfrm>
            <a:off x="6720840" y="36010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4</a:t>
            </a:r>
          </a:p>
        </p:txBody>
      </p:sp>
      <p:sp>
        <p:nvSpPr>
          <p:cNvPr id="21" name="TextBox 20"/>
          <p:cNvSpPr txBox="1"/>
          <p:nvPr/>
        </p:nvSpPr>
        <p:spPr>
          <a:xfrm>
            <a:off x="7132320" y="35462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 + Installation GM이 물량과 함께 개선</a:t>
            </a:r>
          </a:p>
        </p:txBody>
      </p:sp>
      <p:sp>
        <p:nvSpPr>
          <p:cNvPr id="22" name="Rectangle 21"/>
          <p:cNvSpPr/>
          <p:nvPr/>
        </p:nvSpPr>
        <p:spPr>
          <a:xfrm>
            <a:off x="6720840" y="4058279"/>
            <a:ext cx="292608" cy="292608"/>
          </a:xfrm>
          <a:prstGeom prst="rect">
            <a:avLst/>
          </a:prstGeom>
          <a:noFill/>
          <a:ln w="15875">
            <a:solidFill>
              <a:srgbClr val="E2571B"/>
            </a:solidFill>
          </a:ln>
        </p:spPr>
        <p:txBody>
          <a:bodyPr rtlCol="0" anchor="ctr"/>
          <a:lstStyle/>
          <a:p>
            <a:pPr algn="ctr"/>
          </a:p>
        </p:txBody>
      </p:sp>
      <p:sp>
        <p:nvSpPr>
          <p:cNvPr id="23" name="TextBox 22"/>
          <p:cNvSpPr txBox="1"/>
          <p:nvPr/>
        </p:nvSpPr>
        <p:spPr>
          <a:xfrm>
            <a:off x="6720840" y="40582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5</a:t>
            </a:r>
          </a:p>
        </p:txBody>
      </p:sp>
      <p:sp>
        <p:nvSpPr>
          <p:cNvPr id="24" name="TextBox 23"/>
          <p:cNvSpPr txBox="1"/>
          <p:nvPr/>
        </p:nvSpPr>
        <p:spPr>
          <a:xfrm>
            <a:off x="7132320" y="40034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Care + Consumables가 실제 반복매출 형성</a:t>
            </a:r>
          </a:p>
        </p:txBody>
      </p:sp>
      <p:sp>
        <p:nvSpPr>
          <p:cNvPr id="25" name="Rectangle 24"/>
          <p:cNvSpPr/>
          <p:nvPr/>
        </p:nvSpPr>
        <p:spPr>
          <a:xfrm>
            <a:off x="6720840" y="4515479"/>
            <a:ext cx="292608" cy="292608"/>
          </a:xfrm>
          <a:prstGeom prst="rect">
            <a:avLst/>
          </a:prstGeom>
          <a:noFill/>
          <a:ln w="15875">
            <a:solidFill>
              <a:srgbClr val="E2571B"/>
            </a:solidFill>
          </a:ln>
        </p:spPr>
        <p:txBody>
          <a:bodyPr rtlCol="0" anchor="ctr"/>
          <a:lstStyle/>
          <a:p>
            <a:pPr algn="ctr"/>
          </a:p>
        </p:txBody>
      </p:sp>
      <p:sp>
        <p:nvSpPr>
          <p:cNvPr id="26" name="TextBox 25"/>
          <p:cNvSpPr txBox="1"/>
          <p:nvPr/>
        </p:nvSpPr>
        <p:spPr>
          <a:xfrm>
            <a:off x="6720840" y="45154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6</a:t>
            </a:r>
          </a:p>
        </p:txBody>
      </p:sp>
      <p:sp>
        <p:nvSpPr>
          <p:cNvPr id="27" name="TextBox 26"/>
          <p:cNvSpPr txBox="1"/>
          <p:nvPr/>
        </p:nvSpPr>
        <p:spPr>
          <a:xfrm>
            <a:off x="7132320" y="44606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Partner Distribution이 Direct보다 빠르게 Scale</a:t>
            </a:r>
          </a:p>
        </p:txBody>
      </p:sp>
      <p:sp>
        <p:nvSpPr>
          <p:cNvPr id="28" name="Rectangle 27"/>
          <p:cNvSpPr/>
          <p:nvPr/>
        </p:nvSpPr>
        <p:spPr>
          <a:xfrm>
            <a:off x="6720840" y="4972679"/>
            <a:ext cx="292608" cy="292608"/>
          </a:xfrm>
          <a:prstGeom prst="rect">
            <a:avLst/>
          </a:prstGeom>
          <a:noFill/>
          <a:ln w="15875">
            <a:solidFill>
              <a:srgbClr val="E2571B"/>
            </a:solidFill>
          </a:ln>
        </p:spPr>
        <p:txBody>
          <a:bodyPr rtlCol="0" anchor="ctr"/>
          <a:lstStyle/>
          <a:p>
            <a:pPr algn="ctr"/>
          </a:p>
        </p:txBody>
      </p:sp>
      <p:sp>
        <p:nvSpPr>
          <p:cNvPr id="29" name="TextBox 28"/>
          <p:cNvSpPr txBox="1"/>
          <p:nvPr/>
        </p:nvSpPr>
        <p:spPr>
          <a:xfrm>
            <a:off x="6720840" y="4972679"/>
            <a:ext cx="292608" cy="292608"/>
          </a:xfrm>
          <a:prstGeom prst="rect">
            <a:avLst/>
          </a:prstGeom>
          <a:noFill/>
        </p:spPr>
        <p:txBody>
          <a:bodyPr wrap="square" lIns="0" rIns="0" tIns="0" bIns="0" anchor="ctr">
            <a:spAutoFit/>
          </a:bodyPr>
          <a:lstStyle/>
          <a:p>
            <a:pPr algn="ctr">
              <a:lnSpc>
                <a:spcPct val="100000"/>
              </a:lnSpc>
            </a:pPr>
            <a:r>
              <a:rPr sz="1000" b="1">
                <a:solidFill>
                  <a:srgbClr val="E2571B"/>
                </a:solidFill>
                <a:latin typeface="Noto Sans KR"/>
                <a:ea typeface="Noto Sans KR"/>
                <a:cs typeface="Noto Sans KR"/>
              </a:rPr>
              <a:t>7</a:t>
            </a:r>
          </a:p>
        </p:txBody>
      </p:sp>
      <p:sp>
        <p:nvSpPr>
          <p:cNvPr id="30" name="TextBox 29"/>
          <p:cNvSpPr txBox="1"/>
          <p:nvPr/>
        </p:nvSpPr>
        <p:spPr>
          <a:xfrm>
            <a:off x="7132320" y="4917815"/>
            <a:ext cx="4373575" cy="41148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Service Cost가 Recurring Revenue를 초과하지 않음</a:t>
            </a:r>
          </a:p>
        </p:txBody>
      </p:sp>
      <p:sp>
        <p:nvSpPr>
          <p:cNvPr id="31" name="Rectangle 30"/>
          <p:cNvSpPr/>
          <p:nvPr/>
        </p:nvSpPr>
        <p:spPr>
          <a:xfrm>
            <a:off x="685800" y="5577840"/>
            <a:ext cx="10820095" cy="430936"/>
          </a:xfrm>
          <a:prstGeom prst="rect">
            <a:avLst/>
          </a:prstGeom>
          <a:solidFill>
            <a:srgbClr val="F4F5F6"/>
          </a:solidFill>
          <a:ln>
            <a:noFill/>
          </a:ln>
        </p:spPr>
        <p:txBody>
          <a:bodyPr rtlCol="0" anchor="ctr"/>
          <a:lstStyle/>
          <a:p>
            <a:pPr algn="ctr"/>
          </a:p>
        </p:txBody>
      </p:sp>
      <p:sp>
        <p:nvSpPr>
          <p:cNvPr id="32" name="Rectangle 31"/>
          <p:cNvSpPr/>
          <p:nvPr/>
        </p:nvSpPr>
        <p:spPr>
          <a:xfrm>
            <a:off x="685800" y="5577840"/>
            <a:ext cx="54864" cy="430936"/>
          </a:xfrm>
          <a:prstGeom prst="rect">
            <a:avLst/>
          </a:prstGeom>
          <a:solidFill>
            <a:srgbClr val="E2571B"/>
          </a:solidFill>
          <a:ln>
            <a:noFill/>
          </a:ln>
        </p:spPr>
        <p:txBody>
          <a:bodyPr rtlCol="0" anchor="ctr"/>
          <a:lstStyle/>
          <a:p>
            <a:pPr algn="ctr"/>
          </a:p>
        </p:txBody>
      </p:sp>
      <p:sp>
        <p:nvSpPr>
          <p:cNvPr id="33" name="TextBox 32"/>
          <p:cNvSpPr txBox="1"/>
          <p:nvPr/>
        </p:nvSpPr>
        <p:spPr>
          <a:xfrm>
            <a:off x="886968" y="5577840"/>
            <a:ext cx="10527487" cy="43093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Series A 규모 (DERIVED): Base Y3~Y4 영업손실 약 67억원 + Buffer → 80~100억원. 손익분기 연 약 1,340세대 (Y5 단가·원가 기준, Y6 이후)</a:t>
            </a:r>
          </a:p>
        </p:txBody>
      </p:sp>
      <p:sp>
        <p:nvSpPr>
          <p:cNvPr id="34" name="TextBox 3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35" name="TextBox 3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Appendix 목차</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본문 수치의 근거 · 계산 · 검증 계획. 재무 수식 모델: ARKI_Robotics_Financial_Model.xlsx</a:t>
            </a:r>
          </a:p>
        </p:txBody>
      </p:sp>
      <p:sp>
        <p:nvSpPr>
          <p:cNvPr id="5" name="TextBox 4"/>
          <p:cNvSpPr txBox="1"/>
          <p:nvPr/>
        </p:nvSpPr>
        <p:spPr>
          <a:xfrm>
            <a:off x="685800" y="1790567"/>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  Number Tag 원칙과 구분표</a:t>
            </a:r>
          </a:p>
        </p:txBody>
      </p:sp>
      <p:cxnSp>
        <p:nvCxnSpPr>
          <p:cNvPr id="6" name="Connector 5"/>
          <p:cNvCxnSpPr/>
          <p:nvPr/>
        </p:nvCxnSpPr>
        <p:spPr>
          <a:xfrm>
            <a:off x="685800" y="2165471"/>
            <a:ext cx="5135727" cy="0"/>
          </a:xfrm>
          <a:prstGeom prst="line">
            <a:avLst/>
          </a:prstGeom>
          <a:ln w="9525">
            <a:solidFill>
              <a:srgbClr val="E2E4E7"/>
            </a:solidFill>
          </a:ln>
        </p:spPr>
      </p:cxnSp>
      <p:sp>
        <p:nvSpPr>
          <p:cNvPr id="7" name="TextBox 6"/>
          <p:cNvSpPr txBox="1"/>
          <p:nvPr/>
        </p:nvSpPr>
        <p:spPr>
          <a:xfrm>
            <a:off x="685800" y="2183759"/>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A2  Housing Data</a:t>
            </a:r>
          </a:p>
        </p:txBody>
      </p:sp>
      <p:cxnSp>
        <p:nvCxnSpPr>
          <p:cNvPr id="8" name="Connector 7"/>
          <p:cNvCxnSpPr/>
          <p:nvPr/>
        </p:nvCxnSpPr>
        <p:spPr>
          <a:xfrm>
            <a:off x="685800" y="2558663"/>
            <a:ext cx="5135727" cy="0"/>
          </a:xfrm>
          <a:prstGeom prst="line">
            <a:avLst/>
          </a:prstGeom>
          <a:ln w="9525">
            <a:solidFill>
              <a:srgbClr val="E2E4E7"/>
            </a:solidFill>
          </a:ln>
        </p:spPr>
      </p:cxnSp>
      <p:sp>
        <p:nvSpPr>
          <p:cNvPr id="9" name="TextBox 8"/>
          <p:cNvSpPr txBox="1"/>
          <p:nvPr/>
        </p:nvSpPr>
        <p:spPr>
          <a:xfrm>
            <a:off x="685800" y="2576951"/>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A3  Kitchen Remodeling 시장 · 가격 Reference</a:t>
            </a:r>
          </a:p>
        </p:txBody>
      </p:sp>
      <p:cxnSp>
        <p:nvCxnSpPr>
          <p:cNvPr id="10" name="Connector 9"/>
          <p:cNvCxnSpPr/>
          <p:nvPr/>
        </p:nvCxnSpPr>
        <p:spPr>
          <a:xfrm>
            <a:off x="685800" y="2951855"/>
            <a:ext cx="5135727" cy="0"/>
          </a:xfrm>
          <a:prstGeom prst="line">
            <a:avLst/>
          </a:prstGeom>
          <a:ln w="9525">
            <a:solidFill>
              <a:srgbClr val="E2E4E7"/>
            </a:solidFill>
          </a:ln>
        </p:spPr>
      </p:cxnSp>
      <p:sp>
        <p:nvSpPr>
          <p:cNvPr id="11" name="TextBox 10"/>
          <p:cNvSpPr txBox="1"/>
          <p:nvPr/>
        </p:nvSpPr>
        <p:spPr>
          <a:xfrm>
            <a:off x="685800" y="2970143"/>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A4  Robot Component Benchmark · BOM</a:t>
            </a:r>
          </a:p>
        </p:txBody>
      </p:sp>
      <p:cxnSp>
        <p:nvCxnSpPr>
          <p:cNvPr id="12" name="Connector 11"/>
          <p:cNvCxnSpPr/>
          <p:nvPr/>
        </p:nvCxnSpPr>
        <p:spPr>
          <a:xfrm>
            <a:off x="685800" y="3345047"/>
            <a:ext cx="5135727" cy="0"/>
          </a:xfrm>
          <a:prstGeom prst="line">
            <a:avLst/>
          </a:prstGeom>
          <a:ln w="9525">
            <a:solidFill>
              <a:srgbClr val="E2E4E7"/>
            </a:solidFill>
          </a:ln>
        </p:spPr>
      </p:cxnSp>
      <p:sp>
        <p:nvSpPr>
          <p:cNvPr id="13" name="TextBox 12"/>
          <p:cNvSpPr txBox="1"/>
          <p:nvPr/>
        </p:nvSpPr>
        <p:spPr>
          <a:xfrm>
            <a:off x="685800" y="3363335"/>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A5  Kitchen Geometry · 평면 30개 분석 계획</a:t>
            </a:r>
          </a:p>
        </p:txBody>
      </p:sp>
      <p:cxnSp>
        <p:nvCxnSpPr>
          <p:cNvPr id="14" name="Connector 13"/>
          <p:cNvCxnSpPr/>
          <p:nvPr/>
        </p:nvCxnSpPr>
        <p:spPr>
          <a:xfrm>
            <a:off x="685800" y="3738239"/>
            <a:ext cx="5135727" cy="0"/>
          </a:xfrm>
          <a:prstGeom prst="line">
            <a:avLst/>
          </a:prstGeom>
          <a:ln w="9525">
            <a:solidFill>
              <a:srgbClr val="E2E4E7"/>
            </a:solidFill>
          </a:ln>
        </p:spPr>
      </p:cxnSp>
      <p:sp>
        <p:nvSpPr>
          <p:cNvPr id="15" name="TextBox 14"/>
          <p:cNvSpPr txBox="1"/>
          <p:nvPr/>
        </p:nvSpPr>
        <p:spPr>
          <a:xfrm>
            <a:off x="685800" y="3756527"/>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A6  Robot Reach · 단면 치수</a:t>
            </a:r>
          </a:p>
        </p:txBody>
      </p:sp>
      <p:cxnSp>
        <p:nvCxnSpPr>
          <p:cNvPr id="16" name="Connector 15"/>
          <p:cNvCxnSpPr/>
          <p:nvPr/>
        </p:nvCxnSpPr>
        <p:spPr>
          <a:xfrm>
            <a:off x="685800" y="4131431"/>
            <a:ext cx="5135727" cy="0"/>
          </a:xfrm>
          <a:prstGeom prst="line">
            <a:avLst/>
          </a:prstGeom>
          <a:ln w="9525">
            <a:solidFill>
              <a:srgbClr val="E2E4E7"/>
            </a:solidFill>
          </a:ln>
        </p:spPr>
      </p:cxnSp>
      <p:sp>
        <p:nvSpPr>
          <p:cNvPr id="17" name="TextBox 16"/>
          <p:cNvSpPr txBox="1"/>
          <p:nvPr/>
        </p:nvSpPr>
        <p:spPr>
          <a:xfrm>
            <a:off x="685800" y="4149719"/>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A7  Safety Architecture · Certification</a:t>
            </a:r>
          </a:p>
        </p:txBody>
      </p:sp>
      <p:cxnSp>
        <p:nvCxnSpPr>
          <p:cNvPr id="18" name="Connector 17"/>
          <p:cNvCxnSpPr/>
          <p:nvPr/>
        </p:nvCxnSpPr>
        <p:spPr>
          <a:xfrm>
            <a:off x="685800" y="4524623"/>
            <a:ext cx="5135727" cy="0"/>
          </a:xfrm>
          <a:prstGeom prst="line">
            <a:avLst/>
          </a:prstGeom>
          <a:ln w="9525">
            <a:solidFill>
              <a:srgbClr val="E2E4E7"/>
            </a:solidFill>
          </a:ln>
        </p:spPr>
      </p:cxnSp>
      <p:sp>
        <p:nvSpPr>
          <p:cNvPr id="19" name="TextBox 18"/>
          <p:cNvSpPr txBox="1"/>
          <p:nvPr/>
        </p:nvSpPr>
        <p:spPr>
          <a:xfrm>
            <a:off x="685800" y="4542911"/>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A8  설치 Architecture (구조체 정착 · 전원 · 통신)</a:t>
            </a:r>
          </a:p>
        </p:txBody>
      </p:sp>
      <p:cxnSp>
        <p:nvCxnSpPr>
          <p:cNvPr id="20" name="Connector 19"/>
          <p:cNvCxnSpPr/>
          <p:nvPr/>
        </p:nvCxnSpPr>
        <p:spPr>
          <a:xfrm>
            <a:off x="685800" y="4917815"/>
            <a:ext cx="5135727" cy="0"/>
          </a:xfrm>
          <a:prstGeom prst="line">
            <a:avLst/>
          </a:prstGeom>
          <a:ln w="9525">
            <a:solidFill>
              <a:srgbClr val="E2E4E7"/>
            </a:solidFill>
          </a:ln>
        </p:spPr>
      </p:cxnSp>
      <p:sp>
        <p:nvSpPr>
          <p:cNvPr id="21" name="TextBox 20"/>
          <p:cNvSpPr txBox="1"/>
          <p:nvPr/>
        </p:nvSpPr>
        <p:spPr>
          <a:xfrm>
            <a:off x="685800" y="4936103"/>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A9  Competition 상세</a:t>
            </a:r>
          </a:p>
        </p:txBody>
      </p:sp>
      <p:cxnSp>
        <p:nvCxnSpPr>
          <p:cNvPr id="22" name="Connector 21"/>
          <p:cNvCxnSpPr/>
          <p:nvPr/>
        </p:nvCxnSpPr>
        <p:spPr>
          <a:xfrm>
            <a:off x="685800" y="5311007"/>
            <a:ext cx="5135727" cy="0"/>
          </a:xfrm>
          <a:prstGeom prst="line">
            <a:avLst/>
          </a:prstGeom>
          <a:ln w="9525">
            <a:solidFill>
              <a:srgbClr val="E2E4E7"/>
            </a:solidFill>
          </a:ln>
        </p:spPr>
      </p:cxnSp>
      <p:sp>
        <p:nvSpPr>
          <p:cNvPr id="23" name="TextBox 22"/>
          <p:cNvSpPr txBox="1"/>
          <p:nvPr/>
        </p:nvSpPr>
        <p:spPr>
          <a:xfrm>
            <a:off x="685800" y="5329295"/>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A10  IP / Patent Portfolio</a:t>
            </a:r>
          </a:p>
        </p:txBody>
      </p:sp>
      <p:cxnSp>
        <p:nvCxnSpPr>
          <p:cNvPr id="24" name="Connector 23"/>
          <p:cNvCxnSpPr/>
          <p:nvPr/>
        </p:nvCxnSpPr>
        <p:spPr>
          <a:xfrm>
            <a:off x="685800" y="5704199"/>
            <a:ext cx="5135727" cy="0"/>
          </a:xfrm>
          <a:prstGeom prst="line">
            <a:avLst/>
          </a:prstGeom>
          <a:ln w="9525">
            <a:solidFill>
              <a:srgbClr val="E2E4E7"/>
            </a:solidFill>
          </a:ln>
        </p:spPr>
      </p:cxnSp>
      <p:sp>
        <p:nvSpPr>
          <p:cNvPr id="25" name="TextBox 24"/>
          <p:cNvSpPr txBox="1"/>
          <p:nvPr/>
        </p:nvSpPr>
        <p:spPr>
          <a:xfrm>
            <a:off x="685800" y="5722487"/>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A11  Household Unit Economics 상세</a:t>
            </a:r>
          </a:p>
        </p:txBody>
      </p:sp>
      <p:cxnSp>
        <p:nvCxnSpPr>
          <p:cNvPr id="26" name="Connector 25"/>
          <p:cNvCxnSpPr/>
          <p:nvPr/>
        </p:nvCxnSpPr>
        <p:spPr>
          <a:xfrm>
            <a:off x="685800" y="6097391"/>
            <a:ext cx="5135727" cy="0"/>
          </a:xfrm>
          <a:prstGeom prst="line">
            <a:avLst/>
          </a:prstGeom>
          <a:ln w="9525">
            <a:solidFill>
              <a:srgbClr val="E2E4E7"/>
            </a:solidFill>
          </a:ln>
        </p:spPr>
      </p:cxnSp>
      <p:sp>
        <p:nvSpPr>
          <p:cNvPr id="27" name="TextBox 26"/>
          <p:cNvSpPr txBox="1"/>
          <p:nvPr/>
        </p:nvSpPr>
        <p:spPr>
          <a:xfrm>
            <a:off x="6095847" y="1790567"/>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A12  Rental Model</a:t>
            </a:r>
          </a:p>
        </p:txBody>
      </p:sp>
      <p:cxnSp>
        <p:nvCxnSpPr>
          <p:cNvPr id="28" name="Connector 27"/>
          <p:cNvCxnSpPr/>
          <p:nvPr/>
        </p:nvCxnSpPr>
        <p:spPr>
          <a:xfrm>
            <a:off x="6095847" y="2165471"/>
            <a:ext cx="5135728" cy="0"/>
          </a:xfrm>
          <a:prstGeom prst="line">
            <a:avLst/>
          </a:prstGeom>
          <a:ln w="9525">
            <a:solidFill>
              <a:srgbClr val="E2E4E7"/>
            </a:solidFill>
          </a:ln>
        </p:spPr>
      </p:cxnSp>
      <p:sp>
        <p:nvSpPr>
          <p:cNvPr id="29" name="TextBox 28"/>
          <p:cNvSpPr txBox="1"/>
          <p:nvPr/>
        </p:nvSpPr>
        <p:spPr>
          <a:xfrm>
            <a:off x="6095847" y="2183759"/>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A13  Care · Consumables Model</a:t>
            </a:r>
          </a:p>
        </p:txBody>
      </p:sp>
      <p:cxnSp>
        <p:nvCxnSpPr>
          <p:cNvPr id="30" name="Connector 29"/>
          <p:cNvCxnSpPr/>
          <p:nvPr/>
        </p:nvCxnSpPr>
        <p:spPr>
          <a:xfrm>
            <a:off x="6095847" y="2558663"/>
            <a:ext cx="5135728" cy="0"/>
          </a:xfrm>
          <a:prstGeom prst="line">
            <a:avLst/>
          </a:prstGeom>
          <a:ln w="9525">
            <a:solidFill>
              <a:srgbClr val="E2E4E7"/>
            </a:solidFill>
          </a:ln>
        </p:spPr>
      </p:cxnSp>
      <p:sp>
        <p:nvSpPr>
          <p:cNvPr id="31" name="TextBox 30"/>
          <p:cNvSpPr txBox="1"/>
          <p:nvPr/>
        </p:nvSpPr>
        <p:spPr>
          <a:xfrm>
            <a:off x="6095847" y="2576951"/>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A14  5-Year Financial Model (3 Scenario)</a:t>
            </a:r>
          </a:p>
        </p:txBody>
      </p:sp>
      <p:cxnSp>
        <p:nvCxnSpPr>
          <p:cNvPr id="32" name="Connector 31"/>
          <p:cNvCxnSpPr/>
          <p:nvPr/>
        </p:nvCxnSpPr>
        <p:spPr>
          <a:xfrm>
            <a:off x="6095847" y="2951855"/>
            <a:ext cx="5135728" cy="0"/>
          </a:xfrm>
          <a:prstGeom prst="line">
            <a:avLst/>
          </a:prstGeom>
          <a:ln w="9525">
            <a:solidFill>
              <a:srgbClr val="E2E4E7"/>
            </a:solidFill>
          </a:ln>
        </p:spPr>
      </p:cxnSp>
      <p:sp>
        <p:nvSpPr>
          <p:cNvPr id="33" name="TextBox 32"/>
          <p:cNvSpPr txBox="1"/>
          <p:nvPr/>
        </p:nvSpPr>
        <p:spPr>
          <a:xfrm>
            <a:off x="6095847" y="2970143"/>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A15  Sensitivity Analysis</a:t>
            </a:r>
          </a:p>
        </p:txBody>
      </p:sp>
      <p:cxnSp>
        <p:nvCxnSpPr>
          <p:cNvPr id="34" name="Connector 33"/>
          <p:cNvCxnSpPr/>
          <p:nvPr/>
        </p:nvCxnSpPr>
        <p:spPr>
          <a:xfrm>
            <a:off x="6095847" y="3345047"/>
            <a:ext cx="5135728" cy="0"/>
          </a:xfrm>
          <a:prstGeom prst="line">
            <a:avLst/>
          </a:prstGeom>
          <a:ln w="9525">
            <a:solidFill>
              <a:srgbClr val="E2E4E7"/>
            </a:solidFill>
          </a:ln>
        </p:spPr>
      </p:cxnSp>
      <p:sp>
        <p:nvSpPr>
          <p:cNvPr id="35" name="TextBox 34"/>
          <p:cNvSpPr txBox="1"/>
          <p:nvPr/>
        </p:nvSpPr>
        <p:spPr>
          <a:xfrm>
            <a:off x="6095847" y="3363335"/>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A16  Seed Use of Funds 검증</a:t>
            </a:r>
          </a:p>
        </p:txBody>
      </p:sp>
      <p:cxnSp>
        <p:nvCxnSpPr>
          <p:cNvPr id="36" name="Connector 35"/>
          <p:cNvCxnSpPr/>
          <p:nvPr/>
        </p:nvCxnSpPr>
        <p:spPr>
          <a:xfrm>
            <a:off x="6095847" y="3738239"/>
            <a:ext cx="5135728" cy="0"/>
          </a:xfrm>
          <a:prstGeom prst="line">
            <a:avLst/>
          </a:prstGeom>
          <a:ln w="9525">
            <a:solidFill>
              <a:srgbClr val="E2E4E7"/>
            </a:solidFill>
          </a:ln>
        </p:spPr>
      </p:cxnSp>
      <p:sp>
        <p:nvSpPr>
          <p:cNvPr id="37" name="TextBox 36"/>
          <p:cNvSpPr txBox="1"/>
          <p:nvPr/>
        </p:nvSpPr>
        <p:spPr>
          <a:xfrm>
            <a:off x="6095847" y="3756527"/>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A17  Customer Validation · 기술 KPI</a:t>
            </a:r>
          </a:p>
        </p:txBody>
      </p:sp>
      <p:cxnSp>
        <p:nvCxnSpPr>
          <p:cNvPr id="38" name="Connector 37"/>
          <p:cNvCxnSpPr/>
          <p:nvPr/>
        </p:nvCxnSpPr>
        <p:spPr>
          <a:xfrm>
            <a:off x="6095847" y="4131431"/>
            <a:ext cx="5135728" cy="0"/>
          </a:xfrm>
          <a:prstGeom prst="line">
            <a:avLst/>
          </a:prstGeom>
          <a:ln w="9525">
            <a:solidFill>
              <a:srgbClr val="E2E4E7"/>
            </a:solidFill>
          </a:ln>
        </p:spPr>
      </p:cxnSp>
      <p:sp>
        <p:nvSpPr>
          <p:cNvPr id="39" name="TextBox 38"/>
          <p:cNvSpPr txBox="1"/>
          <p:nvPr/>
        </p:nvSpPr>
        <p:spPr>
          <a:xfrm>
            <a:off x="6095847" y="4149719"/>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A18  What Must Be True</a:t>
            </a:r>
          </a:p>
        </p:txBody>
      </p:sp>
      <p:cxnSp>
        <p:nvCxnSpPr>
          <p:cNvPr id="40" name="Connector 39"/>
          <p:cNvCxnSpPr/>
          <p:nvPr/>
        </p:nvCxnSpPr>
        <p:spPr>
          <a:xfrm>
            <a:off x="6095847" y="4524623"/>
            <a:ext cx="5135728" cy="0"/>
          </a:xfrm>
          <a:prstGeom prst="line">
            <a:avLst/>
          </a:prstGeom>
          <a:ln w="9525">
            <a:solidFill>
              <a:srgbClr val="E2E4E7"/>
            </a:solidFill>
          </a:ln>
        </p:spPr>
      </p:cxnSp>
      <p:sp>
        <p:nvSpPr>
          <p:cNvPr id="41" name="TextBox 40"/>
          <p:cNvSpPr txBox="1"/>
          <p:nvPr/>
        </p:nvSpPr>
        <p:spPr>
          <a:xfrm>
            <a:off x="6095847" y="4542911"/>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A19  Risk Register</a:t>
            </a:r>
          </a:p>
        </p:txBody>
      </p:sp>
      <p:cxnSp>
        <p:nvCxnSpPr>
          <p:cNvPr id="42" name="Connector 41"/>
          <p:cNvCxnSpPr/>
          <p:nvPr/>
        </p:nvCxnSpPr>
        <p:spPr>
          <a:xfrm>
            <a:off x="6095847" y="4917815"/>
            <a:ext cx="5135728" cy="0"/>
          </a:xfrm>
          <a:prstGeom prst="line">
            <a:avLst/>
          </a:prstGeom>
          <a:ln w="9525">
            <a:solidFill>
              <a:srgbClr val="E2E4E7"/>
            </a:solidFill>
          </a:ln>
        </p:spPr>
      </p:cxnSp>
      <p:sp>
        <p:nvSpPr>
          <p:cNvPr id="43" name="TextBox 42"/>
          <p:cNvSpPr txBox="1"/>
          <p:nvPr/>
        </p:nvSpPr>
        <p:spPr>
          <a:xfrm>
            <a:off x="6095847" y="4936103"/>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A20~21  VC Red-Team Q&amp;A</a:t>
            </a:r>
          </a:p>
        </p:txBody>
      </p:sp>
      <p:cxnSp>
        <p:nvCxnSpPr>
          <p:cNvPr id="44" name="Connector 43"/>
          <p:cNvCxnSpPr/>
          <p:nvPr/>
        </p:nvCxnSpPr>
        <p:spPr>
          <a:xfrm>
            <a:off x="6095847" y="5311007"/>
            <a:ext cx="5135728" cy="0"/>
          </a:xfrm>
          <a:prstGeom prst="line">
            <a:avLst/>
          </a:prstGeom>
          <a:ln w="9525">
            <a:solidFill>
              <a:srgbClr val="E2E4E7"/>
            </a:solidFill>
          </a:ln>
        </p:spPr>
      </p:cxnSp>
      <p:sp>
        <p:nvSpPr>
          <p:cNvPr id="45" name="TextBox 44"/>
          <p:cNvSpPr txBox="1"/>
          <p:nvPr/>
        </p:nvSpPr>
        <p:spPr>
          <a:xfrm>
            <a:off x="6095847" y="5329295"/>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A22  Investment Scorecard · 판단</a:t>
            </a:r>
          </a:p>
        </p:txBody>
      </p:sp>
      <p:cxnSp>
        <p:nvCxnSpPr>
          <p:cNvPr id="46" name="Connector 45"/>
          <p:cNvCxnSpPr/>
          <p:nvPr/>
        </p:nvCxnSpPr>
        <p:spPr>
          <a:xfrm>
            <a:off x="6095847" y="5704199"/>
            <a:ext cx="5135728" cy="0"/>
          </a:xfrm>
          <a:prstGeom prst="line">
            <a:avLst/>
          </a:prstGeom>
          <a:ln w="9525">
            <a:solidFill>
              <a:srgbClr val="E2E4E7"/>
            </a:solidFill>
          </a:ln>
        </p:spPr>
      </p:cxnSp>
      <p:sp>
        <p:nvSpPr>
          <p:cNvPr id="47" name="TextBox 46"/>
          <p:cNvSpPr txBox="1"/>
          <p:nvPr/>
        </p:nvSpPr>
        <p:spPr>
          <a:xfrm>
            <a:off x="6095847" y="5722487"/>
            <a:ext cx="5135727" cy="347472"/>
          </a:xfrm>
          <a:prstGeom prst="rect">
            <a:avLst/>
          </a:prstGeom>
          <a:noFill/>
        </p:spPr>
        <p:txBody>
          <a:bodyPr wrap="square" lIns="0" rIns="0" tIns="0" bIns="0" anchor="ctr">
            <a:spAutoFit/>
          </a:bodyPr>
          <a:lstStyle/>
          <a:p>
            <a:pPr algn="l">
              <a:lnSpc>
                <a:spcPct val="100000"/>
              </a:lnSpc>
            </a:pPr>
            <a:r>
              <a:rPr sz="1200" b="0">
                <a:solidFill>
                  <a:srgbClr val="15171A"/>
                </a:solidFill>
                <a:latin typeface="Noto Sans KR"/>
                <a:ea typeface="Noto Sans KR"/>
                <a:cs typeface="Noto Sans KR"/>
              </a:rPr>
              <a:t>A23  Sources</a:t>
            </a:r>
          </a:p>
        </p:txBody>
      </p:sp>
      <p:cxnSp>
        <p:nvCxnSpPr>
          <p:cNvPr id="48" name="Connector 47"/>
          <p:cNvCxnSpPr/>
          <p:nvPr/>
        </p:nvCxnSpPr>
        <p:spPr>
          <a:xfrm>
            <a:off x="6095847" y="6097391"/>
            <a:ext cx="5135728" cy="0"/>
          </a:xfrm>
          <a:prstGeom prst="line">
            <a:avLst/>
          </a:prstGeom>
          <a:ln w="9525">
            <a:solidFill>
              <a:srgbClr val="E2E4E7"/>
            </a:solidFill>
          </a:ln>
        </p:spPr>
      </p:cxnSp>
      <p:sp>
        <p:nvSpPr>
          <p:cNvPr id="49" name="TextBox 4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50" name="TextBox 4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Number Tag 원칙과 구분표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모든 주요 숫자와 미검증 내용을 7개 Tag로 구분. 전체 입력 목록·Tag·출처: xlsx Inputs 시트, docs/04_Number_Tag_Register.md</a:t>
            </a:r>
          </a:p>
        </p:txBody>
      </p:sp>
      <p:graphicFrame>
        <p:nvGraphicFramePr>
          <p:cNvPr id="5" name="Table 4"/>
          <p:cNvGraphicFramePr>
            <a:graphicFrameLocks noGrp="1"/>
          </p:cNvGraphicFramePr>
          <p:nvPr/>
        </p:nvGraphicFramePr>
        <p:xfrm>
          <a:off x="685800" y="1790567"/>
          <a:ext cx="10817352" cy="2495696"/>
        </p:xfrm>
        <a:graphic>
          <a:graphicData uri="http://schemas.openxmlformats.org/drawingml/2006/table">
            <a:tbl>
              <a:tblPr firstRow="0" bandRow="0">
                <a:tableStyleId>{2D5ABB26-0587-4C30-8999-92F81FD0307C}</a:tableStyleId>
              </a:tblPr>
              <a:tblGrid>
                <a:gridCol w="1325880"/>
                <a:gridCol w="2743200"/>
                <a:gridCol w="5120640"/>
                <a:gridCol w="1627632"/>
              </a:tblGrid>
              <a:tr h="311962">
                <a:tc>
                  <a:txBody>
                    <a:bodyPr wrap="square"/>
                    <a:lstStyle/>
                    <a:p>
                      <a:pPr algn="l">
                        <a:lnSpc>
                          <a:spcPct val="100000"/>
                        </a:lnSpc>
                      </a:pPr>
                      <a:r>
                        <a:rPr sz="10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정의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대표 예시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적용 범위</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공식 통계 또는 공개자료로 확인된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총주택 2,018만호 · 아파트 65.8% · 2025 준공 34.2만호 · 1X NEO $20,000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12개 입력</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FACT를 ARKI가 계산한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아파트 약 1,328만호 · 교체 세대 교차검증 29.0만·30.3만 · 가치 Anchor 월 18만원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계산 시트 전부</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현재 사업가설 (검증 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Robot ASP 1,490만원 · BOM · Rental 월 33만원 · Premium 10% · 적용률 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73개 입력</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Seed 기간 또는 이후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평면 30개 · Template 3~5 · Standard Module 65% · 설치 1일 · Paid Pilot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4개 입력 + KPI</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실물 없는 설계 개념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Concept Layout A~D · 단면 · Robot Module 구성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도면·Diagram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검증 방법이 정해진 미확인 사실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식세기 보급률 · 벽식 단지 평면 반복성 · Founder 정보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본문 각주</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8C9198"/>
                          </a:solidFill>
                          <a:latin typeface="Noto Sans KR"/>
                          <a:ea typeface="Noto Sans KR"/>
                          <a:cs typeface="Noto Sans KR"/>
                        </a:rPr>
                        <a:t>FUTURE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현재 존재하지 않는 제품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V2 ASSIST · V3 COOK · End-effector Tool 확장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Roadmap</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450862"/>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4450862"/>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4450862"/>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금지: 가상 고객 · 가상 계약 · 가상 LOI · 가상 Partner · 가상 매출 · 근거 없는 점유율 · "최초" · Patent 등록 확정 표현</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A2</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Housing Data</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공식 통계는 검색 시점(2026-10-07) 보도 인용 → 외부 제출 전 원문 (국가데이터처·국토부 보도자료) 대조 필요</a:t>
            </a:r>
          </a:p>
        </p:txBody>
      </p:sp>
      <p:graphicFrame>
        <p:nvGraphicFramePr>
          <p:cNvPr id="5" name="Table 4"/>
          <p:cNvGraphicFramePr>
            <a:graphicFrameLocks noGrp="1"/>
          </p:cNvGraphicFramePr>
          <p:nvPr/>
        </p:nvGraphicFramePr>
        <p:xfrm>
          <a:off x="685800" y="1790567"/>
          <a:ext cx="10817352" cy="4119880"/>
        </p:xfrm>
        <a:graphic>
          <a:graphicData uri="http://schemas.openxmlformats.org/drawingml/2006/table">
            <a:tbl>
              <a:tblPr firstRow="0" bandRow="0">
                <a:tableStyleId>{2D5ABB26-0587-4C30-8999-92F81FD0307C}</a:tableStyleId>
              </a:tblPr>
              <a:tblGrid>
                <a:gridCol w="3063240"/>
                <a:gridCol w="2606040"/>
                <a:gridCol w="1143000"/>
                <a:gridCol w="4005072"/>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출처 / 산식</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총주택 (2025.11.1)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2,018.1만호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국가데이터처 2025 인구주택총조사 (2026.7.28)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비중 / 아파트 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65.8% / 약 1,328만호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비중 FACT, 호수는 2,018.1만 × 65.8% (DERIVED)</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준공 20년 이상 / 30년 이상 주택 비중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56.0% / 30.6%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 인구주택총조사</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수 · 20년 이상 아파트 (2023)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1,263만호 · 639만호 (50.7%)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2023 주택총조사 인용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준공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34만2,399호 (−17.8%)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2025.12 주택통계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인허가 · 착공 · 공동주택 분양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37만9,834 · 27만2,685 · 19만8,373호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2025.12 주택통계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인허가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34만6,773가구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주택통계 인용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입주 2025 / 2026 예정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23만6,263 / 18만3,124가구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부동산114 REPS</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매매거래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72.6만호 (10년 평균 88.5만)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KB주택시장리뷰 (부동산원 자료)</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연간 Kitchen 교체 세대 교차검증 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29.0만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20년+ 아파트 639만 ÷ 교체주기 22년 (ASSUMPTION)</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연간 Kitchen 교체 세대 교차검증 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30.3만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매매 72.6만 × 아파트 70% × 교체율 40% + 비거래 10만 (ASSUMPTION)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연간 Kitchen 교체 세대 (설정값)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30만 세대/년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①·② 교차검증 범위 → Seed 기간 Partner 판매 Data로 보정</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A3</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Remodeling 시장 · 가격 Reference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Kitchen 단독 Remodeling 가격의 공식 통계 부재 → 가격가설은 ASSUMPTION, Seed 첫 90일 견적 수집으로 대체</a:t>
            </a:r>
          </a:p>
        </p:txBody>
      </p:sp>
      <p:graphicFrame>
        <p:nvGraphicFramePr>
          <p:cNvPr id="5" name="Table 4"/>
          <p:cNvGraphicFramePr>
            <a:graphicFrameLocks noGrp="1"/>
          </p:cNvGraphicFramePr>
          <p:nvPr/>
        </p:nvGraphicFramePr>
        <p:xfrm>
          <a:off x="685800" y="1790567"/>
          <a:ext cx="10817352" cy="3330448"/>
        </p:xfrm>
        <a:graphic>
          <a:graphicData uri="http://schemas.openxmlformats.org/drawingml/2006/table">
            <a:tbl>
              <a:tblPr firstRow="0" bandRow="0">
                <a:tableStyleId>{2D5ABB26-0587-4C30-8999-92F81FD0307C}</a:tableStyleId>
              </a:tblPr>
              <a:tblGrid>
                <a:gridCol w="3108960"/>
                <a:gridCol w="3291840"/>
                <a:gridCol w="1143000"/>
                <a:gridCol w="3273552"/>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국내 리모델링 시장 (건축물 전체, 비주거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2025년 37조원 → 2030년 44조원 (전망)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한국건설산업연구원 전망치 · 주택 Kitchen 단독 규모 아님</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한샘 리하우스 부문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 1Q 1,147억원 (−4.3%)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분기 실적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프리미엄 Kitchen 시장 구성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90%가 수입 · 고가 맞춤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한샘 발표 인용 보도 (2025.7)</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키친바흐 · 밀레 연계 부엌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+17% (2025.6 기준) · +173% (2024 대비)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회사 발표 인용 보도 — 빌트인 가전 통합 수요 신호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30평대 전체 리모델링 (스타일패키지)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평당 100만원대 → 약 3,000만원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2019 보도 · 가격 시점 오래됨</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신축 유상옵션 비용 / 분양가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평균 9.7% (분양가상한제 7개 단지)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보도 · 옵션 선택 문화 근거</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식기세척기 보급률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10%대 초반 (2019~2020 업계 추정)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최신 공식 통계 확인 안 됨 → 소비자 조사로 확인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단독 교체 가격대: 일반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600~1,500만원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공식 자료 없음 → 90일 내 견적 20건 수집 (TBV)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단독 교체 가격대: Premium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2,000~4,000만원 (빌트인 가전 포함 시 상향)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Beachhead 정의 기준 · 견적으로 검증</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Robot-ready 증분가 / Kitchen 공사비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450만원 / Premium 2,000~4,000만원 → 11~23%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증분 부담률 = WTP 조사 핵심 문항</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285607"/>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285607"/>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285607"/>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Premium Kitchen + 빌트인 가전 통합 수요는 공개 실적으로 확인 (FACT). 단, Robot Integration Premium 지불 여부는 별개 → WTP 조사 필요</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A4</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 Component Benchmark · BOM</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Benchmark = 공개 판매가 (FACT, 환율 1,400원/USD ASSUMPTION). BOM = ASSUMPTION, 재무모델 Base BOM과 합계 일치 (model.py assert).</a:t>
            </a:r>
          </a:p>
        </p:txBody>
      </p:sp>
      <p:graphicFrame>
        <p:nvGraphicFramePr>
          <p:cNvPr id="5" name="Table 4"/>
          <p:cNvGraphicFramePr>
            <a:graphicFrameLocks noGrp="1"/>
          </p:cNvGraphicFramePr>
          <p:nvPr/>
        </p:nvGraphicFramePr>
        <p:xfrm>
          <a:off x="685800" y="1790567"/>
          <a:ext cx="5486400" cy="3285132"/>
        </p:xfrm>
        <a:graphic>
          <a:graphicData uri="http://schemas.openxmlformats.org/drawingml/2006/table">
            <a:tbl>
              <a:tblPr firstRow="0" bandRow="0">
                <a:tableStyleId>{2D5ABB26-0587-4C30-8999-92F81FD0307C}</a:tableStyleId>
              </a:tblPr>
              <a:tblGrid>
                <a:gridCol w="2240280"/>
                <a:gridCol w="1234440"/>
                <a:gridCol w="960120"/>
                <a:gridCol w="1051560"/>
              </a:tblGrid>
              <a:tr h="293573">
                <a:tc>
                  <a:txBody>
                    <a:bodyPr wrap="square"/>
                    <a:lstStyle/>
                    <a:p>
                      <a:pPr algn="l">
                        <a:lnSpc>
                          <a:spcPct val="100000"/>
                        </a:lnSpc>
                      </a:pPr>
                      <a:r>
                        <a:rPr sz="950" b="1">
                          <a:solidFill>
                            <a:srgbClr val="15171A"/>
                          </a:solidFill>
                          <a:latin typeface="Noto Sans KR"/>
                          <a:ea typeface="Noto Sans KR"/>
                          <a:cs typeface="Noto Sans KR"/>
                        </a:rPr>
                        <a:t>Benchmark (FACT)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USD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UR3e (3kg)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$23k~33k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3,220~4,620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유통가</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Doosan E0509 (5kg)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약 $22k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3,080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Aggregator</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xArm 6 (5kg, 700mm)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$8,399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1,176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RobotShop</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FAIRINO FR5 (5kg, 922mm)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$6,999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Lite 6 (0.6kg)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$4,482 (Kit)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627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가반 부족</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Robotiq 2F-85 / OnRobot RG2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$4,999 / 약 $3,200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700 / 448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Robotiq Fingertip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$175~195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24~27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Consumable 참고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Orbbec Gemini 335 / RealSense D405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$384~400 / $514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54 / 72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Piab Food-grade Cup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FDA 21 CFR 177.2600</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446520" y="1790567"/>
          <a:ext cx="5059375" cy="3110431"/>
        </p:xfrm>
        <a:graphic>
          <a:graphicData uri="http://schemas.openxmlformats.org/drawingml/2006/table">
            <a:tbl>
              <a:tblPr firstRow="0" bandRow="0">
                <a:tableStyleId>{2D5ABB26-0587-4C30-8999-92F81FD0307C}</a:tableStyleId>
              </a:tblPr>
              <a:tblGrid>
                <a:gridCol w="3001975"/>
                <a:gridCol w="685800"/>
                <a:gridCol w="685800"/>
                <a:gridCol w="685800"/>
              </a:tblGrid>
              <a:tr h="293573">
                <a:tc>
                  <a:txBody>
                    <a:bodyPr wrap="square"/>
                    <a:lstStyle/>
                    <a:p>
                      <a:pPr algn="l">
                        <a:lnSpc>
                          <a:spcPct val="100000"/>
                        </a:lnSpc>
                      </a:pPr>
                      <a:r>
                        <a:rPr sz="950" b="1">
                          <a:solidFill>
                            <a:srgbClr val="15171A"/>
                          </a:solidFill>
                          <a:latin typeface="Noto Sans KR"/>
                          <a:ea typeface="Noto Sans KR"/>
                          <a:cs typeface="Noto Sans KR"/>
                        </a:rPr>
                        <a:t>BOM (ASSUMPTION, 만원/대)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Pilot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6축 Arm (가반 3~5kg, Controller 포함)</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Linear Rail · Carriage · Servo (2.4~3.6m)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End-effector Set (Gripper + Suction + Tool Changer)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Vision (Depth Camera 2대 + Mount)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Compute (Edge GPU)</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(Zone Sensor·Safety Controller)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Garage Door · Harness · Enclosure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조립·시험 (Pilot은 Opex 인건비 처리)</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 (재무모델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532120"/>
            <a:ext cx="10820095" cy="421741"/>
          </a:xfrm>
          <a:prstGeom prst="rect">
            <a:avLst/>
          </a:prstGeom>
          <a:solidFill>
            <a:srgbClr val="F4F5F6"/>
          </a:solidFill>
          <a:ln>
            <a:noFill/>
          </a:ln>
        </p:spPr>
        <p:txBody>
          <a:bodyPr rtlCol="0" anchor="ctr"/>
          <a:lstStyle/>
          <a:p>
            <a:pPr algn="ctr"/>
          </a:p>
        </p:txBody>
      </p:sp>
      <p:sp>
        <p:nvSpPr>
          <p:cNvPr id="8" name="Rectangle 7"/>
          <p:cNvSpPr/>
          <p:nvPr/>
        </p:nvSpPr>
        <p:spPr>
          <a:xfrm>
            <a:off x="685800" y="5532120"/>
            <a:ext cx="54864" cy="421741"/>
          </a:xfrm>
          <a:prstGeom prst="rect">
            <a:avLst/>
          </a:prstGeom>
          <a:solidFill>
            <a:srgbClr val="E2571B"/>
          </a:solidFill>
          <a:ln>
            <a:noFill/>
          </a:ln>
        </p:spPr>
        <p:txBody>
          <a:bodyPr rtlCol="0" anchor="ctr"/>
          <a:lstStyle/>
          <a:p>
            <a:pPr algn="ctr"/>
          </a:p>
        </p:txBody>
      </p:sp>
      <p:sp>
        <p:nvSpPr>
          <p:cNvPr id="9" name="TextBox 8"/>
          <p:cNvSpPr txBox="1"/>
          <p:nvPr/>
        </p:nvSpPr>
        <p:spPr>
          <a:xfrm>
            <a:off x="886968" y="553212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BOM 하락 경로 = 수량 + Arm OEM Partner (국산·중국산 Cobot) + 전용 경량 Arm (Series A 이후). Y5 Arm 450만원은 공격적 가정 → Sensitivity 2순위 변수 (A15)</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A5</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Geometry · 평면 30개 분석 계획</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표본 = TARGET. 자료: 입주자모집공고 평면 (공개) + 리모델링 상담 고객 동의 실측. 특정 단지 도면은 공개 자료 범위에서만 사용.</a:t>
            </a:r>
          </a:p>
        </p:txBody>
      </p:sp>
      <p:graphicFrame>
        <p:nvGraphicFramePr>
          <p:cNvPr id="5" name="Table 4"/>
          <p:cNvGraphicFramePr>
            <a:graphicFrameLocks noGrp="1"/>
          </p:cNvGraphicFramePr>
          <p:nvPr/>
        </p:nvGraphicFramePr>
        <p:xfrm>
          <a:off x="685800" y="1790567"/>
          <a:ext cx="4846320" cy="2183734"/>
        </p:xfrm>
        <a:graphic>
          <a:graphicData uri="http://schemas.openxmlformats.org/drawingml/2006/table">
            <a:tbl>
              <a:tblPr firstRow="0" bandRow="0">
                <a:tableStyleId>{2D5ABB26-0587-4C30-8999-92F81FD0307C}</a:tableStyleId>
              </a:tblPr>
              <a:tblGrid>
                <a:gridCol w="1280160"/>
                <a:gridCol w="685800"/>
                <a:gridCol w="685800"/>
                <a:gridCol w="685800"/>
                <a:gridCol w="822960"/>
                <a:gridCol w="685800"/>
              </a:tblGrid>
              <a:tr h="311962">
                <a:tc>
                  <a:txBody>
                    <a:bodyPr wrap="square"/>
                    <a:lstStyle/>
                    <a:p>
                      <a:pPr algn="l">
                        <a:lnSpc>
                          <a:spcPct val="100000"/>
                        </a:lnSpc>
                      </a:pPr>
                      <a:r>
                        <a:rPr sz="10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59㎡</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74㎡</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84㎡</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101㎡+</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계</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2Bay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3Bay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4Bay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3Bay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4Bay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1">
                          <a:solidFill>
                            <a:srgbClr val="15171A"/>
                          </a:solidFill>
                          <a:latin typeface="Noto Sans KR"/>
                          <a:ea typeface="Noto Sans KR"/>
                          <a:cs typeface="Noto Sans KR"/>
                        </a:rPr>
                        <a:t>합계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12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E2571B"/>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122287"/>
            <a:ext cx="519588" cy="182880"/>
          </a:xfrm>
          <a:prstGeom prst="rect">
            <a:avLst/>
          </a:prstGeom>
          <a:solidFill>
            <a:srgbClr val="E2571B"/>
          </a:solidFill>
          <a:ln>
            <a:noFill/>
          </a:ln>
        </p:spPr>
        <p:txBody>
          <a:bodyPr rtlCol="0" anchor="ctr"/>
          <a:lstStyle/>
          <a:p>
            <a:pPr algn="ctr"/>
          </a:p>
        </p:txBody>
      </p:sp>
      <p:sp>
        <p:nvSpPr>
          <p:cNvPr id="7" name="TextBox 6"/>
          <p:cNvSpPr txBox="1"/>
          <p:nvPr/>
        </p:nvSpPr>
        <p:spPr>
          <a:xfrm>
            <a:off x="685800" y="412228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8" name="TextBox 7"/>
          <p:cNvSpPr txBox="1"/>
          <p:nvPr/>
        </p:nvSpPr>
        <p:spPr>
          <a:xfrm>
            <a:off x="685800" y="4396607"/>
            <a:ext cx="4846320" cy="109728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84㎡ 비중 확대: 국민평형 · Mock-up 기준</a:t>
            </a:r>
          </a:p>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구축은 1990~2000년대 준공 판상형 중심 (교체 수요)</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신축은 4Bay · 대면형 · Island 포함</a:t>
            </a:r>
          </a:p>
        </p:txBody>
      </p:sp>
      <p:graphicFrame>
        <p:nvGraphicFramePr>
          <p:cNvPr id="9" name="Table 8"/>
          <p:cNvGraphicFramePr>
            <a:graphicFrameLocks noGrp="1"/>
          </p:cNvGraphicFramePr>
          <p:nvPr/>
        </p:nvGraphicFramePr>
        <p:xfrm>
          <a:off x="5852159" y="1790567"/>
          <a:ext cx="5653735" cy="2303272"/>
        </p:xfrm>
        <a:graphic>
          <a:graphicData uri="http://schemas.openxmlformats.org/drawingml/2006/table">
            <a:tbl>
              <a:tblPr firstRow="0" bandRow="0">
                <a:tableStyleId>{2D5ABB26-0587-4C30-8999-92F81FD0307C}</a:tableStyleId>
              </a:tblPr>
              <a:tblGrid>
                <a:gridCol w="1417320"/>
                <a:gridCol w="4236415"/>
              </a:tblGrid>
              <a:tr h="302768">
                <a:tc>
                  <a:txBody>
                    <a:bodyPr wrap="square"/>
                    <a:lstStyle/>
                    <a:p>
                      <a:pPr algn="l">
                        <a:lnSpc>
                          <a:spcPct val="100000"/>
                        </a:lnSpc>
                      </a:pPr>
                      <a:r>
                        <a:rPr sz="1000" b="1">
                          <a:solidFill>
                            <a:srgbClr val="15171A"/>
                          </a:solidFill>
                          <a:latin typeface="Noto Sans KR"/>
                          <a:ea typeface="Noto Sans KR"/>
                          <a:cs typeface="Noto Sans KR"/>
                        </a:rPr>
                        <a:t>분석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Kitchen Geometry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일자 / 11자 / ㄱ자 / ㄷ자 / Island · 대면형</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설비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Sink · 식세기 · IH · 냉장고 · 키큰장 · 상부장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치수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Run 길이 · Aisle Width · 상부장 하단 높이 · 천장고</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구조 제약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벽체 구조 (RC 벽식 / 조적 / 경량) · 배관 Shaft · 창호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Home 후보 · Reach Coverage (Sink·식세기·수납) · 동선 간섭</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1">
                          <a:solidFill>
                            <a:srgbClr val="15171A"/>
                          </a:solidFill>
                          <a:latin typeface="Noto Sans KR"/>
                          <a:ea typeface="Noto Sans KR"/>
                          <a:cs typeface="Noto Sans KR"/>
                        </a:rPr>
                        <a:t>산출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Layout Family 3~5 · Template A/B/C · Template별 Coverage % · Site Adjustment 항목</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Rectangle 9"/>
          <p:cNvSpPr/>
          <p:nvPr/>
        </p:nvSpPr>
        <p:spPr>
          <a:xfrm>
            <a:off x="685800" y="5440680"/>
            <a:ext cx="10820095" cy="624027"/>
          </a:xfrm>
          <a:prstGeom prst="rect">
            <a:avLst/>
          </a:prstGeom>
          <a:solidFill>
            <a:srgbClr val="F4F5F6"/>
          </a:solidFill>
          <a:ln>
            <a:noFill/>
          </a:ln>
        </p:spPr>
        <p:txBody>
          <a:bodyPr rtlCol="0" anchor="ctr"/>
          <a:lstStyle/>
          <a:p>
            <a:pPr algn="ctr"/>
          </a:p>
        </p:txBody>
      </p:sp>
      <p:sp>
        <p:nvSpPr>
          <p:cNvPr id="11" name="Rectangle 10"/>
          <p:cNvSpPr/>
          <p:nvPr/>
        </p:nvSpPr>
        <p:spPr>
          <a:xfrm>
            <a:off x="685800" y="5440680"/>
            <a:ext cx="54864" cy="624027"/>
          </a:xfrm>
          <a:prstGeom prst="rect">
            <a:avLst/>
          </a:prstGeom>
          <a:solidFill>
            <a:srgbClr val="E2571B"/>
          </a:solidFill>
          <a:ln>
            <a:noFill/>
          </a:ln>
        </p:spPr>
        <p:txBody>
          <a:bodyPr rtlCol="0" anchor="ctr"/>
          <a:lstStyle/>
          <a:p>
            <a:pPr algn="ctr"/>
          </a:p>
        </p:txBody>
      </p:sp>
      <p:sp>
        <p:nvSpPr>
          <p:cNvPr id="12" name="TextBox 11"/>
          <p:cNvSpPr txBox="1"/>
          <p:nvPr/>
        </p:nvSpPr>
        <p:spPr>
          <a:xfrm>
            <a:off x="886968" y="544068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성공 기준 (TARGET): 상위 3개 Template이 표본의 70% 이상 Cover · Template당 Site Adjustment 항목 5개 이하  |  실패 시: Architecture 수 확대 또는 Beachhead 평형 축소</a:t>
            </a:r>
          </a:p>
        </p:txBody>
      </p:sp>
      <p:sp>
        <p:nvSpPr>
          <p:cNvPr id="13" name="TextBox 1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4" name="TextBox 1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A6</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 Reach · 단면 치수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CONCEPT 단면. 치수는 국내 Kitchen 통상 치수 기반 개념값 → 평면 30개 실측으로 검증 (TBV).</a:t>
            </a:r>
          </a:p>
        </p:txBody>
      </p:sp>
      <p:cxnSp>
        <p:nvCxnSpPr>
          <p:cNvPr id="5" name="Connector 4"/>
          <p:cNvCxnSpPr/>
          <p:nvPr/>
        </p:nvCxnSpPr>
        <p:spPr>
          <a:xfrm>
            <a:off x="1371600" y="5722487"/>
            <a:ext cx="4160520" cy="0"/>
          </a:xfrm>
          <a:prstGeom prst="line">
            <a:avLst/>
          </a:prstGeom>
          <a:ln w="19050">
            <a:solidFill>
              <a:srgbClr val="15171A"/>
            </a:solidFill>
          </a:ln>
        </p:spPr>
      </p:cxnSp>
      <p:cxnSp>
        <p:nvCxnSpPr>
          <p:cNvPr id="6" name="Connector 5"/>
          <p:cNvCxnSpPr/>
          <p:nvPr/>
        </p:nvCxnSpPr>
        <p:spPr>
          <a:xfrm>
            <a:off x="1371600" y="1962017"/>
            <a:ext cx="0" cy="3760470"/>
          </a:xfrm>
          <a:prstGeom prst="line">
            <a:avLst/>
          </a:prstGeom>
          <a:ln w="31750">
            <a:solidFill>
              <a:srgbClr val="15171A"/>
            </a:solidFill>
          </a:ln>
        </p:spPr>
      </p:cxnSp>
      <p:cxnSp>
        <p:nvCxnSpPr>
          <p:cNvPr id="7" name="Connector 6"/>
          <p:cNvCxnSpPr/>
          <p:nvPr/>
        </p:nvCxnSpPr>
        <p:spPr>
          <a:xfrm>
            <a:off x="1371600" y="1962017"/>
            <a:ext cx="4160520" cy="0"/>
          </a:xfrm>
          <a:prstGeom prst="line">
            <a:avLst/>
          </a:prstGeom>
          <a:ln w="9525">
            <a:solidFill>
              <a:srgbClr val="8C9198"/>
            </a:solidFill>
          </a:ln>
        </p:spPr>
      </p:cxnSp>
      <p:sp>
        <p:nvSpPr>
          <p:cNvPr id="8" name="Rectangle 7"/>
          <p:cNvSpPr/>
          <p:nvPr/>
        </p:nvSpPr>
        <p:spPr>
          <a:xfrm>
            <a:off x="1371600" y="4362317"/>
            <a:ext cx="960120" cy="1360170"/>
          </a:xfrm>
          <a:prstGeom prst="rect">
            <a:avLst/>
          </a:prstGeom>
          <a:solidFill>
            <a:srgbClr val="E2E4E7"/>
          </a:solidFill>
          <a:ln>
            <a:noFill/>
          </a:ln>
        </p:spPr>
        <p:txBody>
          <a:bodyPr rtlCol="0" anchor="ctr"/>
          <a:lstStyle/>
          <a:p>
            <a:pPr algn="ctr"/>
          </a:p>
        </p:txBody>
      </p:sp>
      <p:sp>
        <p:nvSpPr>
          <p:cNvPr id="9" name="Rectangle 8"/>
          <p:cNvSpPr/>
          <p:nvPr/>
        </p:nvSpPr>
        <p:spPr>
          <a:xfrm>
            <a:off x="1371600" y="4314311"/>
            <a:ext cx="992124" cy="48006"/>
          </a:xfrm>
          <a:prstGeom prst="rect">
            <a:avLst/>
          </a:prstGeom>
          <a:solidFill>
            <a:srgbClr val="15171A"/>
          </a:solidFill>
          <a:ln>
            <a:noFill/>
          </a:ln>
        </p:spPr>
        <p:txBody>
          <a:bodyPr rtlCol="0" anchor="ctr"/>
          <a:lstStyle/>
          <a:p>
            <a:pPr algn="ctr"/>
          </a:p>
        </p:txBody>
      </p:sp>
      <p:sp>
        <p:nvSpPr>
          <p:cNvPr id="10" name="Rectangle 9"/>
          <p:cNvSpPr/>
          <p:nvPr/>
        </p:nvSpPr>
        <p:spPr>
          <a:xfrm>
            <a:off x="1371600" y="2122037"/>
            <a:ext cx="560070" cy="1280160"/>
          </a:xfrm>
          <a:prstGeom prst="rect">
            <a:avLst/>
          </a:prstGeom>
          <a:solidFill>
            <a:srgbClr val="E2E4E7"/>
          </a:solidFill>
          <a:ln>
            <a:noFill/>
          </a:ln>
        </p:spPr>
        <p:txBody>
          <a:bodyPr rtlCol="0" anchor="ctr"/>
          <a:lstStyle/>
          <a:p>
            <a:pPr algn="ctr"/>
          </a:p>
        </p:txBody>
      </p:sp>
      <p:sp>
        <p:nvSpPr>
          <p:cNvPr id="11" name="Rectangle 10"/>
          <p:cNvSpPr/>
          <p:nvPr/>
        </p:nvSpPr>
        <p:spPr>
          <a:xfrm>
            <a:off x="1371600" y="3402197"/>
            <a:ext cx="576072" cy="64008"/>
          </a:xfrm>
          <a:prstGeom prst="rect">
            <a:avLst/>
          </a:prstGeom>
          <a:solidFill>
            <a:srgbClr val="E2571B"/>
          </a:solidFill>
          <a:ln>
            <a:noFill/>
          </a:ln>
        </p:spPr>
        <p:txBody>
          <a:bodyPr rtlCol="0" anchor="ctr"/>
          <a:lstStyle/>
          <a:p>
            <a:pPr algn="ctr"/>
          </a:p>
        </p:txBody>
      </p:sp>
      <p:cxnSp>
        <p:nvCxnSpPr>
          <p:cNvPr id="12" name="Connector 11"/>
          <p:cNvCxnSpPr/>
          <p:nvPr/>
        </p:nvCxnSpPr>
        <p:spPr>
          <a:xfrm>
            <a:off x="1659636" y="3466205"/>
            <a:ext cx="128016" cy="240030"/>
          </a:xfrm>
          <a:prstGeom prst="line">
            <a:avLst/>
          </a:prstGeom>
          <a:ln w="50800">
            <a:solidFill>
              <a:srgbClr val="E2571B"/>
            </a:solidFill>
          </a:ln>
        </p:spPr>
      </p:cxnSp>
      <p:cxnSp>
        <p:nvCxnSpPr>
          <p:cNvPr id="13" name="Connector 12"/>
          <p:cNvCxnSpPr/>
          <p:nvPr/>
        </p:nvCxnSpPr>
        <p:spPr>
          <a:xfrm>
            <a:off x="1787652" y="3706235"/>
            <a:ext cx="416052" cy="288036"/>
          </a:xfrm>
          <a:prstGeom prst="line">
            <a:avLst/>
          </a:prstGeom>
          <a:ln w="50800">
            <a:solidFill>
              <a:srgbClr val="E2571B"/>
            </a:solidFill>
          </a:ln>
        </p:spPr>
      </p:cxnSp>
      <p:cxnSp>
        <p:nvCxnSpPr>
          <p:cNvPr id="14" name="Connector 13"/>
          <p:cNvCxnSpPr/>
          <p:nvPr/>
        </p:nvCxnSpPr>
        <p:spPr>
          <a:xfrm>
            <a:off x="2203704" y="3994271"/>
            <a:ext cx="0" cy="240030"/>
          </a:xfrm>
          <a:prstGeom prst="line">
            <a:avLst/>
          </a:prstGeom>
          <a:ln w="50800">
            <a:solidFill>
              <a:srgbClr val="E2571B"/>
            </a:solidFill>
          </a:ln>
        </p:spPr>
      </p:cxnSp>
      <p:sp>
        <p:nvSpPr>
          <p:cNvPr id="15" name="Oval 14"/>
          <p:cNvSpPr/>
          <p:nvPr/>
        </p:nvSpPr>
        <p:spPr>
          <a:xfrm>
            <a:off x="1751076" y="3669659"/>
            <a:ext cx="73152" cy="73152"/>
          </a:xfrm>
          <a:prstGeom prst="ellipse">
            <a:avLst/>
          </a:prstGeom>
          <a:solidFill>
            <a:srgbClr val="15171A"/>
          </a:solidFill>
          <a:ln>
            <a:noFill/>
          </a:ln>
        </p:spPr>
        <p:txBody>
          <a:bodyPr rtlCol="0" anchor="ctr"/>
          <a:lstStyle/>
          <a:p>
            <a:pPr algn="ctr"/>
          </a:p>
        </p:txBody>
      </p:sp>
      <p:sp>
        <p:nvSpPr>
          <p:cNvPr id="16" name="Oval 15"/>
          <p:cNvSpPr/>
          <p:nvPr/>
        </p:nvSpPr>
        <p:spPr>
          <a:xfrm>
            <a:off x="2167128" y="3957695"/>
            <a:ext cx="73152" cy="73152"/>
          </a:xfrm>
          <a:prstGeom prst="ellipse">
            <a:avLst/>
          </a:prstGeom>
          <a:solidFill>
            <a:srgbClr val="15171A"/>
          </a:solidFill>
          <a:ln>
            <a:noFill/>
          </a:ln>
        </p:spPr>
        <p:txBody>
          <a:bodyPr rtlCol="0" anchor="ctr"/>
          <a:lstStyle/>
          <a:p>
            <a:pPr algn="ctr"/>
          </a:p>
        </p:txBody>
      </p:sp>
      <p:sp>
        <p:nvSpPr>
          <p:cNvPr id="17" name="Oval 16"/>
          <p:cNvSpPr/>
          <p:nvPr/>
        </p:nvSpPr>
        <p:spPr>
          <a:xfrm>
            <a:off x="2167128" y="4197725"/>
            <a:ext cx="73152" cy="73152"/>
          </a:xfrm>
          <a:prstGeom prst="ellipse">
            <a:avLst/>
          </a:prstGeom>
          <a:solidFill>
            <a:srgbClr val="15171A"/>
          </a:solidFill>
          <a:ln>
            <a:noFill/>
          </a:ln>
        </p:spPr>
        <p:txBody>
          <a:bodyPr rtlCol="0" anchor="ctr"/>
          <a:lstStyle/>
          <a:p>
            <a:pPr algn="ctr"/>
          </a:p>
        </p:txBody>
      </p:sp>
      <p:sp>
        <p:nvSpPr>
          <p:cNvPr id="18" name="Oval 17"/>
          <p:cNvSpPr/>
          <p:nvPr/>
        </p:nvSpPr>
        <p:spPr>
          <a:xfrm>
            <a:off x="667512" y="2586095"/>
            <a:ext cx="2240280" cy="2240280"/>
          </a:xfrm>
          <a:prstGeom prst="ellipse">
            <a:avLst/>
          </a:prstGeom>
          <a:noFill/>
          <a:ln w="12700">
            <a:solidFill>
              <a:srgbClr val="E2571B"/>
            </a:solidFill>
            <a:prstDash val="dash"/>
          </a:ln>
        </p:spPr>
        <p:txBody>
          <a:bodyPr rtlCol="0" anchor="ctr"/>
          <a:lstStyle/>
          <a:p>
            <a:pPr algn="ctr"/>
          </a:p>
        </p:txBody>
      </p:sp>
      <p:sp>
        <p:nvSpPr>
          <p:cNvPr id="19" name="Rounded Rectangle 18"/>
          <p:cNvSpPr/>
          <p:nvPr/>
        </p:nvSpPr>
        <p:spPr>
          <a:xfrm>
            <a:off x="3771900" y="3402197"/>
            <a:ext cx="448056" cy="2320290"/>
          </a:xfrm>
          <a:prstGeom prst="roundRect">
            <a:avLst/>
          </a:prstGeom>
          <a:solidFill>
            <a:srgbClr val="C9CDD2"/>
          </a:solidFill>
          <a:ln>
            <a:noFill/>
          </a:ln>
        </p:spPr>
        <p:txBody>
          <a:bodyPr rtlCol="0" anchor="ctr"/>
          <a:lstStyle/>
          <a:p>
            <a:pPr algn="ctr"/>
          </a:p>
        </p:txBody>
      </p:sp>
      <p:sp>
        <p:nvSpPr>
          <p:cNvPr id="20" name="Oval 19"/>
          <p:cNvSpPr/>
          <p:nvPr/>
        </p:nvSpPr>
        <p:spPr>
          <a:xfrm>
            <a:off x="3835908" y="3002147"/>
            <a:ext cx="320040" cy="352044"/>
          </a:xfrm>
          <a:prstGeom prst="ellipse">
            <a:avLst/>
          </a:prstGeom>
          <a:solidFill>
            <a:srgbClr val="C9CDD2"/>
          </a:solidFill>
          <a:ln>
            <a:noFill/>
          </a:ln>
        </p:spPr>
        <p:txBody>
          <a:bodyPr rtlCol="0" anchor="ctr"/>
          <a:lstStyle/>
          <a:p>
            <a:pPr algn="ctr"/>
          </a:p>
        </p:txBody>
      </p:sp>
      <p:sp>
        <p:nvSpPr>
          <p:cNvPr id="21" name="TextBox 20"/>
          <p:cNvSpPr txBox="1"/>
          <p:nvPr/>
        </p:nvSpPr>
        <p:spPr>
          <a:xfrm>
            <a:off x="2409444" y="4222871"/>
            <a:ext cx="822960" cy="182880"/>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Counter 850</a:t>
            </a:r>
          </a:p>
        </p:txBody>
      </p:sp>
      <p:sp>
        <p:nvSpPr>
          <p:cNvPr id="22" name="TextBox 21"/>
          <p:cNvSpPr txBox="1"/>
          <p:nvPr/>
        </p:nvSpPr>
        <p:spPr>
          <a:xfrm>
            <a:off x="1993391" y="3310757"/>
            <a:ext cx="128016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Rail 하단 약 1,410</a:t>
            </a:r>
          </a:p>
        </p:txBody>
      </p:sp>
      <p:sp>
        <p:nvSpPr>
          <p:cNvPr id="23" name="TextBox 22"/>
          <p:cNvSpPr txBox="1"/>
          <p:nvPr/>
        </p:nvSpPr>
        <p:spPr>
          <a:xfrm>
            <a:off x="1993391" y="2076317"/>
            <a:ext cx="1371600" cy="182880"/>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상부장 1,450~2,250</a:t>
            </a:r>
          </a:p>
        </p:txBody>
      </p:sp>
      <p:sp>
        <p:nvSpPr>
          <p:cNvPr id="24" name="TextBox 23"/>
          <p:cNvSpPr txBox="1"/>
          <p:nvPr/>
        </p:nvSpPr>
        <p:spPr>
          <a:xfrm>
            <a:off x="2359151" y="2567807"/>
            <a:ext cx="91440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Reach R700 (가정)</a:t>
            </a:r>
          </a:p>
        </p:txBody>
      </p:sp>
      <p:sp>
        <p:nvSpPr>
          <p:cNvPr id="25" name="TextBox 24"/>
          <p:cNvSpPr txBox="1"/>
          <p:nvPr/>
        </p:nvSpPr>
        <p:spPr>
          <a:xfrm>
            <a:off x="3497580" y="2972429"/>
            <a:ext cx="1097280" cy="182880"/>
          </a:xfrm>
          <a:prstGeom prst="rect">
            <a:avLst/>
          </a:prstGeom>
          <a:noFill/>
        </p:spPr>
        <p:txBody>
          <a:bodyPr wrap="square" lIns="0" rIns="0" tIns="0" bIns="0" anchor="ctr">
            <a:spAutoFit/>
          </a:bodyPr>
          <a:lstStyle/>
          <a:p>
            <a:pPr algn="ctr">
              <a:lnSpc>
                <a:spcPct val="100000"/>
              </a:lnSpc>
            </a:pPr>
            <a:r>
              <a:rPr sz="800" b="0">
                <a:solidFill>
                  <a:srgbClr val="8C9198"/>
                </a:solidFill>
                <a:latin typeface="Noto Sans KR"/>
                <a:ea typeface="Noto Sans KR"/>
                <a:cs typeface="Noto Sans KR"/>
              </a:rPr>
              <a:t>Human Zone</a:t>
            </a:r>
          </a:p>
        </p:txBody>
      </p:sp>
      <p:sp>
        <p:nvSpPr>
          <p:cNvPr id="26" name="TextBox 25"/>
          <p:cNvSpPr txBox="1"/>
          <p:nvPr/>
        </p:nvSpPr>
        <p:spPr>
          <a:xfrm>
            <a:off x="1371600" y="1779137"/>
            <a:ext cx="1280160" cy="164592"/>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천장고 약 2,300~2,400</a:t>
            </a:r>
          </a:p>
        </p:txBody>
      </p:sp>
      <p:sp>
        <p:nvSpPr>
          <p:cNvPr id="27" name="Rectangle 26"/>
          <p:cNvSpPr/>
          <p:nvPr/>
        </p:nvSpPr>
        <p:spPr>
          <a:xfrm>
            <a:off x="685800" y="5859647"/>
            <a:ext cx="602392" cy="182880"/>
          </a:xfrm>
          <a:prstGeom prst="rect">
            <a:avLst/>
          </a:prstGeom>
          <a:solidFill>
            <a:srgbClr val="FFFFFF"/>
          </a:solidFill>
          <a:ln w="6350">
            <a:solidFill>
              <a:srgbClr val="8C9198"/>
            </a:solidFill>
          </a:ln>
        </p:spPr>
        <p:txBody>
          <a:bodyPr rtlCol="0" anchor="ctr"/>
          <a:lstStyle/>
          <a:p>
            <a:pPr algn="ctr"/>
          </a:p>
        </p:txBody>
      </p:sp>
      <p:sp>
        <p:nvSpPr>
          <p:cNvPr id="28" name="TextBox 27"/>
          <p:cNvSpPr txBox="1"/>
          <p:nvPr/>
        </p:nvSpPr>
        <p:spPr>
          <a:xfrm>
            <a:off x="685800" y="5859647"/>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graphicFrame>
        <p:nvGraphicFramePr>
          <p:cNvPr id="29" name="Table 28"/>
          <p:cNvGraphicFramePr>
            <a:graphicFrameLocks noGrp="1"/>
          </p:cNvGraphicFramePr>
          <p:nvPr/>
        </p:nvGraphicFramePr>
        <p:xfrm>
          <a:off x="6172200" y="1790567"/>
          <a:ext cx="5333695" cy="3027680"/>
        </p:xfrm>
        <a:graphic>
          <a:graphicData uri="http://schemas.openxmlformats.org/drawingml/2006/table">
            <a:tbl>
              <a:tblPr firstRow="0" bandRow="0">
                <a:tableStyleId>{2D5ABB26-0587-4C30-8999-92F81FD0307C}</a:tableStyleId>
              </a:tblPr>
              <a:tblGrid>
                <a:gridCol w="2103120"/>
                <a:gridCol w="2179015"/>
                <a:gridCol w="1051560"/>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작업대 높이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850mm (통상)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상부장 하단 / 상단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1,450 / 2,250mm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천장고 (구축)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2,300~2,400mm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통로 (11자형 Aisle)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900~1,200mm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Arm Reach (5kg급)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700mm (xArm 6) · 922mm (FR5)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가반하중 요구 (EE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1.5kg 이상 (접시·국그릇)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식세기 Rack 높이 (상향 배치)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450~1,050mm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Sink 바닥 깊이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상판 −200~250mm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통로 위 운반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금지 (사람 존재 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bl>
          </a:graphicData>
        </a:graphic>
      </p:graphicFrame>
      <p:sp>
        <p:nvSpPr>
          <p:cNvPr id="30" name="Rectangle 29"/>
          <p:cNvSpPr/>
          <p:nvPr/>
        </p:nvSpPr>
        <p:spPr>
          <a:xfrm>
            <a:off x="6172200" y="5257800"/>
            <a:ext cx="5333695" cy="605637"/>
          </a:xfrm>
          <a:prstGeom prst="rect">
            <a:avLst/>
          </a:prstGeom>
          <a:solidFill>
            <a:srgbClr val="F4F5F6"/>
          </a:solidFill>
          <a:ln>
            <a:noFill/>
          </a:ln>
        </p:spPr>
        <p:txBody>
          <a:bodyPr rtlCol="0" anchor="ctr"/>
          <a:lstStyle/>
          <a:p>
            <a:pPr algn="ctr"/>
          </a:p>
        </p:txBody>
      </p:sp>
      <p:sp>
        <p:nvSpPr>
          <p:cNvPr id="31" name="Rectangle 30"/>
          <p:cNvSpPr/>
          <p:nvPr/>
        </p:nvSpPr>
        <p:spPr>
          <a:xfrm>
            <a:off x="6172200" y="5257800"/>
            <a:ext cx="54864" cy="605637"/>
          </a:xfrm>
          <a:prstGeom prst="rect">
            <a:avLst/>
          </a:prstGeom>
          <a:solidFill>
            <a:srgbClr val="E2571B"/>
          </a:solidFill>
          <a:ln>
            <a:noFill/>
          </a:ln>
        </p:spPr>
        <p:txBody>
          <a:bodyPr rtlCol="0" anchor="ctr"/>
          <a:lstStyle/>
          <a:p>
            <a:pPr algn="ctr"/>
          </a:p>
        </p:txBody>
      </p:sp>
      <p:sp>
        <p:nvSpPr>
          <p:cNvPr id="32" name="TextBox 31"/>
          <p:cNvSpPr txBox="1"/>
          <p:nvPr/>
        </p:nvSpPr>
        <p:spPr>
          <a:xfrm>
            <a:off x="6373368" y="5257800"/>
            <a:ext cx="50410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바닥형 식세기 하단 Rack (약 150~300mm)은 역설치 Arm Reach 밖 → 식세기 상향 배치 또는 Z축 Lift 필요</a:t>
            </a:r>
          </a:p>
        </p:txBody>
      </p:sp>
      <p:sp>
        <p:nvSpPr>
          <p:cNvPr id="33" name="TextBox 3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34" name="TextBox 3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A7</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Safety Architecture · Certification</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원칙: 사람 위 운반 금지 · Zone 진입 시 정지 · 저속 · 저가반 · 고장 시 일반 Kitchen. 인증 경로는 전문기관 사전상담으로 확정 (TBV).</a:t>
            </a:r>
          </a:p>
        </p:txBody>
      </p:sp>
      <p:graphicFrame>
        <p:nvGraphicFramePr>
          <p:cNvPr id="5" name="Table 4"/>
          <p:cNvGraphicFramePr>
            <a:graphicFrameLocks noGrp="1"/>
          </p:cNvGraphicFramePr>
          <p:nvPr/>
        </p:nvGraphicFramePr>
        <p:xfrm>
          <a:off x="685800" y="1790567"/>
          <a:ext cx="5577839" cy="2422144"/>
        </p:xfrm>
        <a:graphic>
          <a:graphicData uri="http://schemas.openxmlformats.org/drawingml/2006/table">
            <a:tbl>
              <a:tblPr firstRow="0" bandRow="0">
                <a:tableStyleId>{2D5ABB26-0587-4C30-8999-92F81FD0307C}</a:tableStyleId>
              </a:tblPr>
              <a:tblGrid>
                <a:gridCol w="1280160"/>
                <a:gridCol w="4297679"/>
              </a:tblGrid>
              <a:tr h="302768">
                <a:tc>
                  <a:txBody>
                    <a:bodyPr wrap="square"/>
                    <a:lstStyle/>
                    <a:p>
                      <a:pPr algn="l">
                        <a:lnSpc>
                          <a:spcPct val="100000"/>
                        </a:lnSpc>
                      </a:pPr>
                      <a:r>
                        <a:rPr sz="1000" b="1">
                          <a:solidFill>
                            <a:srgbClr val="15171A"/>
                          </a:solidFill>
                          <a:latin typeface="Noto Sans KR"/>
                          <a:ea typeface="Noto Sans KR"/>
                          <a:cs typeface="Noto Sans KR"/>
                        </a:rPr>
                        <a:t>기능</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Concept 설계</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Zone 분리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 Human / No-go Zone 고정 · Rail 이동범위 기계적 Stopper</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Zone 감시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ToF·Radar Zone Sensor → Human 진입 시 Safety-rated Monitored Stop</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속도·힘 제한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Human 근접 시 저속 · PFL (Power &amp; Force Limiting)</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Payload 제한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V1 운반 1.5kg 이하 · 칼·뜨거운 용기 제외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낙하 대응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Grip Loss 감지 · 통로 위 운반 금지 · Counter 위 저고도 이동</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Fail-safe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정전·고장 시 Garage 복귀 또는 정지 · 수동 해제 · 일반 Kitchen 사용 유지</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접근 제어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Child Lock · Garage Door Interlock · 원격 정지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945247"/>
            <a:ext cx="602392" cy="182880"/>
          </a:xfrm>
          <a:prstGeom prst="rect">
            <a:avLst/>
          </a:prstGeom>
          <a:solidFill>
            <a:srgbClr val="FFFFFF"/>
          </a:solidFill>
          <a:ln w="6350">
            <a:solidFill>
              <a:srgbClr val="8C9198"/>
            </a:solidFill>
          </a:ln>
        </p:spPr>
        <p:txBody>
          <a:bodyPr rtlCol="0" anchor="ctr"/>
          <a:lstStyle/>
          <a:p>
            <a:pPr algn="ctr"/>
          </a:p>
        </p:txBody>
      </p:sp>
      <p:sp>
        <p:nvSpPr>
          <p:cNvPr id="7" name="TextBox 6"/>
          <p:cNvSpPr txBox="1"/>
          <p:nvPr/>
        </p:nvSpPr>
        <p:spPr>
          <a:xfrm>
            <a:off x="685800" y="4945247"/>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graphicFrame>
        <p:nvGraphicFramePr>
          <p:cNvPr id="8" name="Table 7"/>
          <p:cNvGraphicFramePr>
            <a:graphicFrameLocks noGrp="1"/>
          </p:cNvGraphicFramePr>
          <p:nvPr/>
        </p:nvGraphicFramePr>
        <p:xfrm>
          <a:off x="6537959" y="1790567"/>
          <a:ext cx="4967935" cy="2404413"/>
        </p:xfrm>
        <a:graphic>
          <a:graphicData uri="http://schemas.openxmlformats.org/drawingml/2006/table">
            <a:tbl>
              <a:tblPr firstRow="0" bandRow="0">
                <a:tableStyleId>{2D5ABB26-0587-4C30-8999-92F81FD0307C}</a:tableStyleId>
              </a:tblPr>
              <a:tblGrid>
                <a:gridCol w="1417320"/>
                <a:gridCol w="2453335"/>
                <a:gridCol w="1097280"/>
              </a:tblGrid>
              <a:tr h="293573">
                <a:tc>
                  <a:txBody>
                    <a:bodyPr wrap="square"/>
                    <a:lstStyle/>
                    <a:p>
                      <a:pPr algn="l">
                        <a:lnSpc>
                          <a:spcPct val="100000"/>
                        </a:lnSpc>
                      </a:pPr>
                      <a:r>
                        <a:rPr sz="950" b="1">
                          <a:solidFill>
                            <a:srgbClr val="15171A"/>
                          </a:solidFill>
                          <a:latin typeface="Noto Sans KR"/>
                          <a:ea typeface="Noto Sans KR"/>
                          <a:cs typeface="Noto Sans KR"/>
                        </a:rPr>
                        <a:t>표준 · 인증</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ISO 10218-1/-2:2025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로봇·Robot 응용 안전. TS 15066 협동 요구 통합 (2025.2)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Seed: 설계 기준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ISO 13482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Personal Care Robot 안전 (국내 인증 사례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적용성 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IEC 60335-1 / KC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전기기기 안전 · 전기용품안전관리법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본인증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KC 전자파 (EMC)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전파법 적합성평가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본인증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ISO 13849-1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안전기능 PL (목표 PL d, 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Seed: 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식품용 기구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식품접촉 Tip·Pad 재질 (식약처 기준 및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Seed: 재질 선정</a:t>
                      </a:r>
                    </a:p>
                  </a:txBody>
                  <a:tcPr marL="73152" marR="73152" marT="54864" marB="54864" anchor="t">
                    <a:lnL w="0">
                      <a:noFill/>
                    </a:lnL>
                    <a:lnR w="0">
                      <a:noFill/>
                    </a:lnR>
                    <a:lnT w="0">
                      <a:noFill/>
                    </a:lnT>
                    <a:lnB w="9525">
                      <a:solidFill>
                        <a:srgbClr val="E2E4E7"/>
                      </a:solidFill>
                    </a:lnB>
                    <a:noFill/>
                  </a:tcPr>
                </a:tc>
              </a:tr>
            </a:tbl>
          </a:graphicData>
        </a:graphic>
      </p:graphicFrame>
      <p:sp>
        <p:nvSpPr>
          <p:cNvPr id="9" name="Rectangle 8"/>
          <p:cNvSpPr/>
          <p:nvPr/>
        </p:nvSpPr>
        <p:spPr>
          <a:xfrm>
            <a:off x="685800" y="5440680"/>
            <a:ext cx="10820095" cy="421741"/>
          </a:xfrm>
          <a:prstGeom prst="rect">
            <a:avLst/>
          </a:prstGeom>
          <a:solidFill>
            <a:srgbClr val="F4F5F6"/>
          </a:solidFill>
          <a:ln>
            <a:noFill/>
          </a:ln>
        </p:spPr>
        <p:txBody>
          <a:bodyPr rtlCol="0" anchor="ctr"/>
          <a:lstStyle/>
          <a:p>
            <a:pPr algn="ctr"/>
          </a:p>
        </p:txBody>
      </p:sp>
      <p:sp>
        <p:nvSpPr>
          <p:cNvPr id="10" name="Rectangle 9"/>
          <p:cNvSpPr/>
          <p:nvPr/>
        </p:nvSpPr>
        <p:spPr>
          <a:xfrm>
            <a:off x="685800" y="5440680"/>
            <a:ext cx="54864" cy="421741"/>
          </a:xfrm>
          <a:prstGeom prst="rect">
            <a:avLst/>
          </a:prstGeom>
          <a:solidFill>
            <a:srgbClr val="E2571B"/>
          </a:solidFill>
          <a:ln>
            <a:noFill/>
          </a:ln>
        </p:spPr>
        <p:txBody>
          <a:bodyPr rtlCol="0" anchor="ctr"/>
          <a:lstStyle/>
          <a:p>
            <a:pPr algn="ctr"/>
          </a:p>
        </p:txBody>
      </p:sp>
      <p:sp>
        <p:nvSpPr>
          <p:cNvPr id="11" name="TextBox 10"/>
          <p:cNvSpPr txBox="1"/>
          <p:nvPr/>
        </p:nvSpPr>
        <p:spPr>
          <a:xfrm>
            <a:off x="886968" y="544068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Seed 범위: Risk Assessment · 설계 기준 적용 · 예비시험 (비용 ASSUMPTION 0.7억원 내외)  |  본인증: Series A (A16). 인증기간이 Launch 일정 Risk</a:t>
            </a:r>
          </a:p>
        </p:txBody>
      </p:sp>
      <p:sp>
        <p:nvSpPr>
          <p:cNvPr id="12" name="TextBox 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3" name="TextBox 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A8</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설치 Architecture: 구조체 정착 · 전원 · 통신</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하중은 가구가 아닌 구조체로 전달. 구축은 벽체 유형 실측 확인이 설치 가능 여부의 1차 Gate (Robot-ready 적용 가능률 60% 가정의 근거 항목).</a:t>
            </a:r>
          </a:p>
        </p:txBody>
      </p:sp>
      <p:sp>
        <p:nvSpPr>
          <p:cNvPr id="5" name="Rectangle 4"/>
          <p:cNvSpPr/>
          <p:nvPr/>
        </p:nvSpPr>
        <p:spPr>
          <a:xfrm>
            <a:off x="685800" y="1790567"/>
            <a:ext cx="1944563" cy="685800"/>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Arm · Payload</a:t>
            </a:r>
          </a:p>
          <a:p>
            <a:pPr algn="ctr">
              <a:lnSpc>
                <a:spcPct val="100000"/>
              </a:lnSpc>
            </a:pPr>
            <a:r>
              <a:rPr sz="1100" b="1">
                <a:solidFill>
                  <a:srgbClr val="15171A"/>
                </a:solidFill>
                <a:latin typeface="Noto Sans KR"/>
                <a:ea typeface="Noto Sans KR"/>
                <a:cs typeface="Noto Sans KR"/>
              </a:rPr>
              <a:t>(동하중 포함)</a:t>
            </a:r>
          </a:p>
        </p:txBody>
      </p:sp>
      <p:cxnSp>
        <p:nvCxnSpPr>
          <p:cNvPr id="7" name="Connector 6"/>
          <p:cNvCxnSpPr/>
          <p:nvPr/>
        </p:nvCxnSpPr>
        <p:spPr>
          <a:xfrm>
            <a:off x="2657795" y="2133467"/>
            <a:ext cx="219456" cy="0"/>
          </a:xfrm>
          <a:prstGeom prst="line">
            <a:avLst/>
          </a:prstGeom>
          <a:ln w="15875">
            <a:solidFill>
              <a:srgbClr val="8C9198"/>
            </a:solidFill>
            <a:tailEnd type="triangle" w="med" len="med"/>
          </a:ln>
        </p:spPr>
      </p:cxnSp>
      <p:sp>
        <p:nvSpPr>
          <p:cNvPr id="8" name="Rectangle 7"/>
          <p:cNvSpPr/>
          <p:nvPr/>
        </p:nvSpPr>
        <p:spPr>
          <a:xfrm>
            <a:off x="2904683" y="1790567"/>
            <a:ext cx="1944563" cy="685800"/>
          </a:xfrm>
          <a:prstGeom prst="rect">
            <a:avLst/>
          </a:prstGeom>
          <a:solidFill>
            <a:srgbClr val="F4F5F6"/>
          </a:solidFill>
          <a:ln>
            <a:noFill/>
          </a:ln>
        </p:spPr>
        <p:txBody>
          <a:bodyPr rtlCol="0" anchor="ctr"/>
          <a:lstStyle/>
          <a:p>
            <a:pPr algn="ctr"/>
          </a:p>
        </p:txBody>
      </p:sp>
      <p:sp>
        <p:nvSpPr>
          <p:cNvPr id="9" name="TextBox 8"/>
          <p:cNvSpPr txBox="1"/>
          <p:nvPr/>
        </p:nvSpPr>
        <p:spPr>
          <a:xfrm>
            <a:off x="2977835"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Carriage</a:t>
            </a:r>
          </a:p>
          <a:p>
            <a:pPr algn="ctr">
              <a:lnSpc>
                <a:spcPct val="100000"/>
              </a:lnSpc>
            </a:pPr>
            <a:r>
              <a:rPr sz="1100" b="1">
                <a:solidFill>
                  <a:srgbClr val="15171A"/>
                </a:solidFill>
                <a:latin typeface="Noto Sans KR"/>
                <a:ea typeface="Noto Sans KR"/>
                <a:cs typeface="Noto Sans KR"/>
              </a:rPr>
              <a:t>· Rail</a:t>
            </a:r>
          </a:p>
        </p:txBody>
      </p:sp>
      <p:cxnSp>
        <p:nvCxnSpPr>
          <p:cNvPr id="10" name="Connector 9"/>
          <p:cNvCxnSpPr/>
          <p:nvPr/>
        </p:nvCxnSpPr>
        <p:spPr>
          <a:xfrm>
            <a:off x="4876678" y="2133467"/>
            <a:ext cx="219456" cy="0"/>
          </a:xfrm>
          <a:prstGeom prst="line">
            <a:avLst/>
          </a:prstGeom>
          <a:ln w="15875">
            <a:solidFill>
              <a:srgbClr val="8C9198"/>
            </a:solidFill>
            <a:tailEnd type="triangle" w="med" len="med"/>
          </a:ln>
        </p:spPr>
      </p:cxnSp>
      <p:sp>
        <p:nvSpPr>
          <p:cNvPr id="11" name="Rectangle 10"/>
          <p:cNvSpPr/>
          <p:nvPr/>
        </p:nvSpPr>
        <p:spPr>
          <a:xfrm>
            <a:off x="5123566" y="1790567"/>
            <a:ext cx="1944563" cy="685800"/>
          </a:xfrm>
          <a:prstGeom prst="rect">
            <a:avLst/>
          </a:prstGeom>
          <a:solidFill>
            <a:srgbClr val="15171A"/>
          </a:solidFill>
          <a:ln>
            <a:noFill/>
          </a:ln>
        </p:spPr>
        <p:txBody>
          <a:bodyPr rtlCol="0" anchor="ctr"/>
          <a:lstStyle/>
          <a:p>
            <a:pPr algn="ctr"/>
          </a:p>
        </p:txBody>
      </p:sp>
      <p:sp>
        <p:nvSpPr>
          <p:cNvPr id="12" name="TextBox 11"/>
          <p:cNvSpPr txBox="1"/>
          <p:nvPr/>
        </p:nvSpPr>
        <p:spPr>
          <a:xfrm>
            <a:off x="5196718" y="1790567"/>
            <a:ext cx="1798259" cy="685800"/>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보강 Steel</a:t>
            </a:r>
          </a:p>
          <a:p>
            <a:pPr algn="ctr">
              <a:lnSpc>
                <a:spcPct val="100000"/>
              </a:lnSpc>
            </a:pPr>
            <a:r>
              <a:rPr sz="1100" b="1">
                <a:solidFill>
                  <a:srgbClr val="FFFFFF"/>
                </a:solidFill>
                <a:latin typeface="Noto Sans KR"/>
                <a:ea typeface="Noto Sans KR"/>
                <a:cs typeface="Noto Sans KR"/>
              </a:rPr>
              <a:t>Frame</a:t>
            </a:r>
          </a:p>
        </p:txBody>
      </p:sp>
      <p:cxnSp>
        <p:nvCxnSpPr>
          <p:cNvPr id="13" name="Connector 12"/>
          <p:cNvCxnSpPr/>
          <p:nvPr/>
        </p:nvCxnSpPr>
        <p:spPr>
          <a:xfrm>
            <a:off x="7095561" y="2133467"/>
            <a:ext cx="219456" cy="0"/>
          </a:xfrm>
          <a:prstGeom prst="line">
            <a:avLst/>
          </a:prstGeom>
          <a:ln w="15875">
            <a:solidFill>
              <a:srgbClr val="8C9198"/>
            </a:solidFill>
            <a:tailEnd type="triangle" w="med" len="med"/>
          </a:ln>
        </p:spPr>
      </p:cxnSp>
      <p:sp>
        <p:nvSpPr>
          <p:cNvPr id="14" name="Rectangle 13"/>
          <p:cNvSpPr/>
          <p:nvPr/>
        </p:nvSpPr>
        <p:spPr>
          <a:xfrm>
            <a:off x="7342449" y="1790567"/>
            <a:ext cx="1944563" cy="685800"/>
          </a:xfrm>
          <a:prstGeom prst="rect">
            <a:avLst/>
          </a:prstGeom>
          <a:solidFill>
            <a:srgbClr val="15171A"/>
          </a:solidFill>
          <a:ln>
            <a:noFill/>
          </a:ln>
        </p:spPr>
        <p:txBody>
          <a:bodyPr rtlCol="0" anchor="ctr"/>
          <a:lstStyle/>
          <a:p>
            <a:pPr algn="ctr"/>
          </a:p>
        </p:txBody>
      </p:sp>
      <p:sp>
        <p:nvSpPr>
          <p:cNvPr id="15" name="TextBox 14"/>
          <p:cNvSpPr txBox="1"/>
          <p:nvPr/>
        </p:nvSpPr>
        <p:spPr>
          <a:xfrm>
            <a:off x="7415601" y="1790567"/>
            <a:ext cx="1798259" cy="685800"/>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Post-installed</a:t>
            </a:r>
          </a:p>
          <a:p>
            <a:pPr algn="ctr">
              <a:lnSpc>
                <a:spcPct val="100000"/>
              </a:lnSpc>
            </a:pPr>
            <a:r>
              <a:rPr sz="1100" b="1">
                <a:solidFill>
                  <a:srgbClr val="FFFFFF"/>
                </a:solidFill>
                <a:latin typeface="Noto Sans KR"/>
                <a:ea typeface="Noto Sans KR"/>
                <a:cs typeface="Noto Sans KR"/>
              </a:rPr>
              <a:t>Anchor</a:t>
            </a:r>
          </a:p>
        </p:txBody>
      </p:sp>
      <p:cxnSp>
        <p:nvCxnSpPr>
          <p:cNvPr id="16" name="Connector 15"/>
          <p:cNvCxnSpPr/>
          <p:nvPr/>
        </p:nvCxnSpPr>
        <p:spPr>
          <a:xfrm>
            <a:off x="9314444" y="2133467"/>
            <a:ext cx="219456" cy="0"/>
          </a:xfrm>
          <a:prstGeom prst="line">
            <a:avLst/>
          </a:prstGeom>
          <a:ln w="15875">
            <a:solidFill>
              <a:srgbClr val="8C9198"/>
            </a:solidFill>
            <a:tailEnd type="triangle" w="med" len="med"/>
          </a:ln>
        </p:spPr>
      </p:cxnSp>
      <p:sp>
        <p:nvSpPr>
          <p:cNvPr id="17" name="Rectangle 16"/>
          <p:cNvSpPr/>
          <p:nvPr/>
        </p:nvSpPr>
        <p:spPr>
          <a:xfrm>
            <a:off x="9561332" y="1790567"/>
            <a:ext cx="1944563" cy="685800"/>
          </a:xfrm>
          <a:prstGeom prst="rect">
            <a:avLst/>
          </a:prstGeom>
          <a:solidFill>
            <a:srgbClr val="FBEDE6"/>
          </a:solidFill>
          <a:ln>
            <a:noFill/>
          </a:ln>
        </p:spPr>
        <p:txBody>
          <a:bodyPr rtlCol="0" anchor="ctr"/>
          <a:lstStyle/>
          <a:p>
            <a:pPr algn="ctr"/>
          </a:p>
        </p:txBody>
      </p:sp>
      <p:sp>
        <p:nvSpPr>
          <p:cNvPr id="18" name="TextBox 17"/>
          <p:cNvSpPr txBox="1"/>
          <p:nvPr/>
        </p:nvSpPr>
        <p:spPr>
          <a:xfrm>
            <a:off x="9634484"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RC 벽체 ·</a:t>
            </a:r>
          </a:p>
          <a:p>
            <a:pPr algn="ctr">
              <a:lnSpc>
                <a:spcPct val="100000"/>
              </a:lnSpc>
            </a:pPr>
            <a:r>
              <a:rPr sz="1100" b="1">
                <a:solidFill>
                  <a:srgbClr val="15171A"/>
                </a:solidFill>
                <a:latin typeface="Noto Sans KR"/>
                <a:ea typeface="Noto Sans KR"/>
                <a:cs typeface="Noto Sans KR"/>
              </a:rPr>
              <a:t>슬래브</a:t>
            </a:r>
          </a:p>
        </p:txBody>
      </p:sp>
      <p:graphicFrame>
        <p:nvGraphicFramePr>
          <p:cNvPr id="19" name="Table 18"/>
          <p:cNvGraphicFramePr>
            <a:graphicFrameLocks noGrp="1"/>
          </p:cNvGraphicFramePr>
          <p:nvPr/>
        </p:nvGraphicFramePr>
        <p:xfrm>
          <a:off x="685800" y="2704967"/>
          <a:ext cx="10817351" cy="2119376"/>
        </p:xfrm>
        <a:graphic>
          <a:graphicData uri="http://schemas.openxmlformats.org/drawingml/2006/table">
            <a:tbl>
              <a:tblPr firstRow="0" bandRow="0">
                <a:tableStyleId>{2D5ABB26-0587-4C30-8999-92F81FD0307C}</a:tableStyleId>
              </a:tblPr>
              <a:tblGrid>
                <a:gridCol w="1097280"/>
                <a:gridCol w="4846320"/>
                <a:gridCol w="3749039"/>
                <a:gridCol w="1124712"/>
              </a:tblGrid>
              <a:tr h="302768">
                <a:tc>
                  <a:txBody>
                    <a:bodyPr wrap="square"/>
                    <a:lstStyle/>
                    <a:p>
                      <a:pPr algn="l">
                        <a:lnSpc>
                          <a:spcPct val="100000"/>
                        </a:lnSpc>
                      </a:pPr>
                      <a:r>
                        <a:rPr sz="1000" b="1">
                          <a:solidFill>
                            <a:srgbClr val="15171A"/>
                          </a:solidFill>
                          <a:latin typeface="Noto Sans KR"/>
                          <a:ea typeface="Noto Sans KR"/>
                          <a:cs typeface="Noto Sans KR"/>
                        </a:rPr>
                        <a:t>검토</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기준 · 방법</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구조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설계하중 = (Arm + Carriage + Payload) × 동적계수 · 피로 (반복 이동)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콘크리트용 앵커 설계기준 (KDS 14 20 54) · ACI 318 Ch.17 참조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벽체 유형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RC 벽식 → 직접 정착 / 조적·경량벽 → 바닥·천장 지지 Frame 또는 Dock Type 전환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실측 단계 판정 · 내력벽 손상 금지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처짐·진동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Rail 처짐 · 공진 → 위치정밀도 · 소음 영향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Mock-up 계측 (가속도·변위)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전기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전용 회로 · 누전차단 · Garage 내 전원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전기설비규정 (KEC) 기준 시공 (Partner)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통신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유선 Ethernet / PoE + Wi-Fi 보조 · 원격진단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세대 내 통신 단자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설비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식세기 상향 Housing 급·배수 · 환기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배관 Partner 시공</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bl>
          </a:graphicData>
        </a:graphic>
      </p:graphicFrame>
      <p:sp>
        <p:nvSpPr>
          <p:cNvPr id="20" name="Rectangle 19"/>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21" name="Rectangle 20"/>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22" name="TextBox 21"/>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설치 순서 (TARGET): 실측 · 벽체 판정 → Partner 철거·가구·전기 → ARKI Frame·Rail → Robot 장착 → Auto Calibration → Safety Check → 인수  |  Robot Module 설치 1일 · 2인 (M24)</a:t>
            </a:r>
          </a:p>
        </p:txBody>
      </p:sp>
      <p:sp>
        <p:nvSpPr>
          <p:cNvPr id="23" name="TextBox 2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24" name="TextBox 2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A9</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Competition 상세</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공개 보도 기준 (A23 Sources). 성능 비교는 공개 Data 부재로 하지 않음. "최초 · 압도적" 주장 없음.</a:t>
            </a:r>
          </a:p>
        </p:txBody>
      </p:sp>
      <p:graphicFrame>
        <p:nvGraphicFramePr>
          <p:cNvPr id="5" name="Table 4"/>
          <p:cNvGraphicFramePr>
            <a:graphicFrameLocks noGrp="1"/>
          </p:cNvGraphicFramePr>
          <p:nvPr/>
        </p:nvGraphicFramePr>
        <p:xfrm>
          <a:off x="685800" y="1790567"/>
          <a:ext cx="10817352" cy="3697577"/>
        </p:xfrm>
        <a:graphic>
          <a:graphicData uri="http://schemas.openxmlformats.org/drawingml/2006/table">
            <a:tbl>
              <a:tblPr firstRow="0" bandRow="0">
                <a:tableStyleId>{2D5ABB26-0587-4C30-8999-92F81FD0307C}</a:tableStyleId>
              </a:tblPr>
              <a:tblGrid>
                <a:gridCol w="2377440"/>
                <a:gridCol w="1783080"/>
                <a:gridCol w="3063240"/>
                <a:gridCol w="2514600"/>
                <a:gridCol w="1078992"/>
              </a:tblGrid>
              <a:tr h="293573">
                <a:tc>
                  <a:txBody>
                    <a:bodyPr wrap="square"/>
                    <a:lstStyle/>
                    <a:p>
                      <a:pPr algn="l">
                        <a:lnSpc>
                          <a:spcPct val="100000"/>
                        </a:lnSpc>
                      </a:pPr>
                      <a:r>
                        <a:rPr sz="950" b="1">
                          <a:solidFill>
                            <a:srgbClr val="15171A"/>
                          </a:solidFill>
                          <a:latin typeface="Noto Sans KR"/>
                          <a:ea typeface="Noto Sans KR"/>
                          <a:cs typeface="Noto Sans KR"/>
                        </a:rPr>
                        <a:t>Player</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Category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가격 · 상태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접근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1X NEO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$20,000 또는 월 $499 (최소 6개월) · 2026 출하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원격조종 학습 병행 · 범용 가사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Sunday Robotics Memo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Wheeled Mobile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2026 베타 약 50가구 · 양산 $10k 미만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적재·테이블 정리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LG CLOiD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Wheeled 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2026 공개 · 가격 미공개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비우기·세탁 시연 · LG 가전 연동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Figure 03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가격 미공개 (RaaS 언급)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가사 시연 (빨래·설거지)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Tesla Optimus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소비자 목표 $20~30k · 2027 전후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범용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Handy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Mobile Manipulator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2021 Concept · 출시 미공개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정리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Moley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Arm 포함 £248,000 / 제외 £128~140k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천장 Rail 양팔 · 조리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Chef</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2020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Rail 양팔 조리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Posha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Countertop Cooking</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$1,750 (선주문 $1,500) + 월 $15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자동 투입·젓기 조리기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국내 Food-tech (로보아르테 · 웨이브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Commercial Cobot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상업 주방 · 매장 자동화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아님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ARKI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Kitchen Integration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Concept 단계 · 실적 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 공동주택 Template · 설치 Standard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652739"/>
            <a:ext cx="10820095" cy="660806"/>
          </a:xfrm>
          <a:prstGeom prst="rect">
            <a:avLst/>
          </a:prstGeom>
          <a:solidFill>
            <a:srgbClr val="F4F5F6"/>
          </a:solidFill>
          <a:ln>
            <a:noFill/>
          </a:ln>
        </p:spPr>
        <p:txBody>
          <a:bodyPr rtlCol="0" anchor="ctr"/>
          <a:lstStyle/>
          <a:p>
            <a:pPr algn="ctr"/>
          </a:p>
        </p:txBody>
      </p:sp>
      <p:sp>
        <p:nvSpPr>
          <p:cNvPr id="7" name="Rectangle 6"/>
          <p:cNvSpPr/>
          <p:nvPr/>
        </p:nvSpPr>
        <p:spPr>
          <a:xfrm>
            <a:off x="685800" y="5652739"/>
            <a:ext cx="54864" cy="660806"/>
          </a:xfrm>
          <a:prstGeom prst="rect">
            <a:avLst/>
          </a:prstGeom>
          <a:solidFill>
            <a:srgbClr val="E2571B"/>
          </a:solidFill>
          <a:ln>
            <a:noFill/>
          </a:ln>
        </p:spPr>
        <p:txBody>
          <a:bodyPr rtlCol="0" anchor="ctr"/>
          <a:lstStyle/>
          <a:p>
            <a:pPr algn="ctr"/>
          </a:p>
        </p:txBody>
      </p:sp>
      <p:sp>
        <p:nvSpPr>
          <p:cNvPr id="8" name="TextBox 7"/>
          <p:cNvSpPr txBox="1"/>
          <p:nvPr/>
        </p:nvSpPr>
        <p:spPr>
          <a:xfrm>
            <a:off x="886968" y="5652739"/>
            <a:ext cx="10527487" cy="660806"/>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시사점: 범용 Mobile·Humanoid가 월 $499 수준 구독가를 제시 → ARKI는 고정 설치형의 신뢰성 · 바닥 점유 0 · Kitchen 일체 디자인 · 설치·A/S로 차별화해야 함 (미검증)</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A10</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IP / Patent Portfolio 후보 (10 Family)</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등록 가능성 주장 없음. Seed M3까지 선행기술조사 (KIPRIS · USPTO · EPO) → 5~8건 출원 우선순위 결정. 전체 = TBV</a:t>
            </a:r>
          </a:p>
        </p:txBody>
      </p:sp>
      <p:graphicFrame>
        <p:nvGraphicFramePr>
          <p:cNvPr id="5" name="Table 4"/>
          <p:cNvGraphicFramePr>
            <a:graphicFrameLocks noGrp="1"/>
          </p:cNvGraphicFramePr>
          <p:nvPr/>
        </p:nvGraphicFramePr>
        <p:xfrm>
          <a:off x="685800" y="1790567"/>
          <a:ext cx="10817352" cy="3578705"/>
        </p:xfrm>
        <a:graphic>
          <a:graphicData uri="http://schemas.openxmlformats.org/drawingml/2006/table">
            <a:tbl>
              <a:tblPr firstRow="0" bandRow="0">
                <a:tableStyleId>{2D5ABB26-0587-4C30-8999-92F81FD0307C}</a:tableStyleId>
              </a:tblPr>
              <a:tblGrid>
                <a:gridCol w="320040"/>
                <a:gridCol w="2514600"/>
                <a:gridCol w="3017520"/>
                <a:gridCol w="1508760"/>
                <a:gridCol w="3456432"/>
              </a:tblGrid>
              <a:tr h="293573">
                <a:tc>
                  <a:txBody>
                    <a:bodyPr wrap="square"/>
                    <a:lstStyle/>
                    <a:p>
                      <a:pPr algn="l">
                        <a:lnSpc>
                          <a:spcPct val="100000"/>
                        </a:lnSpc>
                      </a:pPr>
                      <a:r>
                        <a:rPr sz="95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Family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Protectable Core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Business Relevance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Prior Art Risk (선행기술조사 필요)</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주방가구 일체형 Robot Rail · Dock · Storage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Rail + Garage 일체 구조 · 하중 전달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(모든 Rail형)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 천장 Rail 로봇주방 (Moley) · Under-cabinet Rail (Bot Chef)</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Robot-ready Kitchen Interface Module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표준 Mount · 전원 · 통신 · Sensor Interface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(Land 상품)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가구 Interface · 가전 Built-in 규격</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Fold / Deploy Robot Storage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키큰장 내 수납·전개 기구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(Compact)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가전 Lift · 수납형 Robot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 / Robot Zone Safety Control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 Zone Map 기반 정지·감속 Logic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 산업 SSM · 협동 Robot 안전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Kitchen End-effector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형상 (밥공기·국그릇) 대응 Gripper·Suction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식품 Gripper</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Food-contact Consumable Cartridge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교체형 Tip · Pad 체결 구조 · 교체주기 인식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(반복매출)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교체형 Gripper Pad</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Installation Auto Calibration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 후 Target 기반 자동 좌표 보정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(설치시간)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Robot Calibration 일반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Dishwasher Robot Interface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Door · Rack 위치 표준 · 상향 Housing 연동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가전사 Robot 연동 특허 가능성</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 Cleaning / Sanitizing Dock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Garage 내 EE 세척·건조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(위생)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낮음~중간</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Layout 기반 Robot Module Selection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평면 분류 → Architecture·Module 자동 선택 Software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(표준화)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낮음~중간 — 설계 자동화 SW</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533867"/>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533867"/>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533867"/>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출원 우선순위 가설: ② Interface Module · ⑦ Auto Calibration · ⑧ Dishwasher Interface — 사업 핵심이면서 선행 위험이 상대적으로 낮을 것으로 추정 (TBV)</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A11</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Household Unit Economics 상세 (1세대 · 5년 · 만원)</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구축 Premium · 직접판매 · Base. Y3/Y5 = 해당 연도 원가 수준을 5년 적용. 전부 DERIVED (from ASSUMPTION). xlsx Household 시트와 동일.</a:t>
            </a:r>
          </a:p>
        </p:txBody>
      </p:sp>
      <p:graphicFrame>
        <p:nvGraphicFramePr>
          <p:cNvPr id="5" name="Table 4"/>
          <p:cNvGraphicFramePr>
            <a:graphicFrameLocks noGrp="1"/>
          </p:cNvGraphicFramePr>
          <p:nvPr/>
        </p:nvGraphicFramePr>
        <p:xfrm>
          <a:off x="685800" y="1790567"/>
          <a:ext cx="10817352" cy="3966660"/>
        </p:xfrm>
        <a:graphic>
          <a:graphicData uri="http://schemas.openxmlformats.org/drawingml/2006/table">
            <a:tbl>
              <a:tblPr firstRow="0" bandRow="0">
                <a:tableStyleId>{2D5ABB26-0587-4C30-8999-92F81FD0307C}</a:tableStyleId>
              </a:tblPr>
              <a:tblGrid>
                <a:gridCol w="4023360"/>
                <a:gridCol w="1691640"/>
                <a:gridCol w="1691640"/>
                <a:gridCol w="1691640"/>
                <a:gridCol w="1719072"/>
              </a:tblGrid>
              <a:tr h="220370">
                <a:tc>
                  <a:txBody>
                    <a:bodyPr wrap="square"/>
                    <a:lstStyle/>
                    <a:p>
                      <a:pPr algn="l">
                        <a:lnSpc>
                          <a:spcPct val="100000"/>
                        </a:lnSpc>
                      </a:pPr>
                      <a:r>
                        <a:rPr sz="90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구매 Y3</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구매 Y5</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Rental Y3</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Rental Y5</a:t>
                      </a:r>
                    </a:p>
                  </a:txBody>
                  <a:tcPr marL="73152" marR="73152" marT="22860" marB="22860" anchor="t">
                    <a:lnL w="0">
                      <a:noFill/>
                    </a:lnL>
                    <a:lnR w="0">
                      <a:noFill/>
                    </a:lnR>
                    <a:lnT w="12700">
                      <a:solidFill>
                        <a:srgbClr val="15171A"/>
                      </a:solidFill>
                    </a:lnT>
                    <a:lnB w="9525">
                      <a:solidFill>
                        <a:srgbClr val="15171A"/>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Robot-ready Kitchen 증분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설치·Calibration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 (구매)</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1,490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1,490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Rental 60개월</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Care Basic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Consumables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Software · Tool (기대값)</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5년 매출</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Kitchen Module 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 BOM (Rental: 순감가)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900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978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765</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Rental 금융비용</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207</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설치·물류·Warranty</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145</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131</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99</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Care 원가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Consumables·Upgrade 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획득비용 (CAC)</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Lifetime Contribution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458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813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557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942</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Contribution Margin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18.9%</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33.6%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21.4%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36.2%</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A12</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Rental Model: 월 요금 Build-up · Payback · Partner 구조</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Rental = 초기부담 감소 수단. ARKI의 장기 자산보유 지양 → Seed는 직접 Pilot, Scale은 Rental / Capital Partner. 전부 DERIVED (from ASSUMPTION).</a:t>
            </a:r>
          </a:p>
        </p:txBody>
      </p:sp>
      <p:graphicFrame>
        <p:nvGraphicFramePr>
          <p:cNvPr id="5" name="Table 4"/>
          <p:cNvGraphicFramePr>
            <a:graphicFrameLocks noGrp="1"/>
          </p:cNvGraphicFramePr>
          <p:nvPr/>
        </p:nvGraphicFramePr>
        <p:xfrm>
          <a:off x="685800" y="1790567"/>
          <a:ext cx="5669280" cy="3633216"/>
        </p:xfrm>
        <a:graphic>
          <a:graphicData uri="http://schemas.openxmlformats.org/drawingml/2006/table">
            <a:tbl>
              <a:tblPr firstRow="0" bandRow="0">
                <a:tableStyleId>{2D5ABB26-0587-4C30-8999-92F81FD0307C}</a:tableStyleId>
              </a:tblPr>
              <a:tblGrid>
                <a:gridCol w="3657600"/>
                <a:gridCol w="1005840"/>
                <a:gridCol w="1005840"/>
              </a:tblGrid>
              <a:tr h="302768">
                <a:tc>
                  <a:txBody>
                    <a:bodyPr wrap="square"/>
                    <a:lstStyle/>
                    <a:p>
                      <a:pPr algn="l">
                        <a:lnSpc>
                          <a:spcPct val="100000"/>
                        </a:lnSpc>
                      </a:pPr>
                      <a:r>
                        <a:rPr sz="1000" b="1">
                          <a:solidFill>
                            <a:srgbClr val="15171A"/>
                          </a:solidFill>
                          <a:latin typeface="Noto Sans KR"/>
                          <a:ea typeface="Noto Sans KR"/>
                          <a:cs typeface="Noto Sans KR"/>
                        </a:rPr>
                        <a:t>만원 / 월 (Robot 1대)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 원가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 원가</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감가 (BOM × 85% ÷ 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16.3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금융비용 (평균잔액 × 8%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Care 원가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Grip Kit 원가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Failure Reserve (BOM × 4% ÷ 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월 원가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25.1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19.6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월 요금 (가정)</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월 Contribution ·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7.9 · 24%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13.4 · 41%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마진 20% 확보 요금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31.3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Payback (개월)</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39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36개월 Payback 최대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1,059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1,089</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675120" y="1790567"/>
            <a:ext cx="4830775" cy="1920240"/>
          </a:xfrm>
          <a:prstGeom prst="rect">
            <a:avLst/>
          </a:prstGeom>
          <a:solidFill>
            <a:srgbClr val="F4F5F6"/>
          </a:solidFill>
          <a:ln>
            <a:noFill/>
          </a:ln>
        </p:spPr>
        <p:txBody>
          <a:bodyPr rtlCol="0" anchor="ctr"/>
          <a:lstStyle/>
          <a:p>
            <a:pPr algn="ctr"/>
          </a:p>
        </p:txBody>
      </p:sp>
      <p:sp>
        <p:nvSpPr>
          <p:cNvPr id="7" name="TextBox 6"/>
          <p:cNvSpPr txBox="1"/>
          <p:nvPr/>
        </p:nvSpPr>
        <p:spPr>
          <a:xfrm>
            <a:off x="6858000" y="1900295"/>
            <a:ext cx="44650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Rental Partner 경제성 (Base, Y4~)</a:t>
            </a:r>
          </a:p>
        </p:txBody>
      </p:sp>
      <p:sp>
        <p:nvSpPr>
          <p:cNvPr id="8" name="TextBox 7"/>
          <p:cNvSpPr txBox="1"/>
          <p:nvPr/>
        </p:nvSpPr>
        <p:spPr>
          <a:xfrm>
            <a:off x="6858000" y="2247767"/>
            <a:ext cx="4465015" cy="14173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Robot 매입가: ASP × 88% = 1,311만원</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월 순유입: 요금 33 − ARKI 서비스료 6 = 27만원 × 60개월</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잔존가치 15% = 197만원 → 연 IRR 약 13.1% (연체·해지 미반영)</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Conservative (월 29만원): IRR 약 12.4%</a:t>
            </a:r>
          </a:p>
        </p:txBody>
      </p:sp>
      <p:sp>
        <p:nvSpPr>
          <p:cNvPr id="9" name="Rectangle 8"/>
          <p:cNvSpPr/>
          <p:nvPr/>
        </p:nvSpPr>
        <p:spPr>
          <a:xfrm>
            <a:off x="10591495" y="1927727"/>
            <a:ext cx="563776" cy="182880"/>
          </a:xfrm>
          <a:prstGeom prst="rect">
            <a:avLst/>
          </a:prstGeom>
          <a:solidFill>
            <a:srgbClr val="5C6169"/>
          </a:solidFill>
          <a:ln>
            <a:noFill/>
          </a:ln>
        </p:spPr>
        <p:txBody>
          <a:bodyPr rtlCol="0" anchor="ctr"/>
          <a:lstStyle/>
          <a:p>
            <a:pPr algn="ctr"/>
          </a:p>
        </p:txBody>
      </p:sp>
      <p:sp>
        <p:nvSpPr>
          <p:cNvPr id="10" name="TextBox 9"/>
          <p:cNvSpPr txBox="1"/>
          <p:nvPr/>
        </p:nvSpPr>
        <p:spPr>
          <a:xfrm>
            <a:off x="10591495" y="1927727"/>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graphicFrame>
        <p:nvGraphicFramePr>
          <p:cNvPr id="11" name="Table 10"/>
          <p:cNvGraphicFramePr>
            <a:graphicFrameLocks noGrp="1"/>
          </p:cNvGraphicFramePr>
          <p:nvPr/>
        </p:nvGraphicFramePr>
        <p:xfrm>
          <a:off x="6675120" y="3893687"/>
          <a:ext cx="4830775" cy="1230121"/>
        </p:xfrm>
        <a:graphic>
          <a:graphicData uri="http://schemas.openxmlformats.org/drawingml/2006/table">
            <a:tbl>
              <a:tblPr firstRow="0" bandRow="0">
                <a:tableStyleId>{2D5ABB26-0587-4C30-8999-92F81FD0307C}</a:tableStyleId>
              </a:tblPr>
              <a:tblGrid>
                <a:gridCol w="1051560"/>
                <a:gridCol w="2224735"/>
                <a:gridCol w="1554480"/>
              </a:tblGrid>
              <a:tr h="293573">
                <a:tc>
                  <a:txBody>
                    <a:bodyPr wrap="square"/>
                    <a:lstStyle/>
                    <a:p>
                      <a:pPr algn="l">
                        <a:lnSpc>
                          <a:spcPct val="100000"/>
                        </a:lnSpc>
                      </a:pPr>
                      <a:r>
                        <a:rPr sz="950" b="1">
                          <a:solidFill>
                            <a:srgbClr val="15171A"/>
                          </a:solidFill>
                          <a:latin typeface="Noto Sans KR"/>
                          <a:ea typeface="Noto Sans KR"/>
                          <a:cs typeface="Noto Sans KR"/>
                        </a:rPr>
                        <a:t>단계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구조</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목적</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Seed (Y1~Y3)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ARKI 직접 Rental Pilot (소량) · 자산 = Opex·Capex</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요금·해지율·A/S 실측</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Scale (Y4~)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Rental / Capital Partner가 자산 보유 · ARKI는 Product·Software·Care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ARKI Balance Sheet 경량화</a:t>
                      </a:r>
                    </a:p>
                  </a:txBody>
                  <a:tcPr marL="73152" marR="73152" marT="54864" marB="54864" anchor="t">
                    <a:lnL w="0">
                      <a:noFill/>
                    </a:lnL>
                    <a:lnR w="0">
                      <a:noFill/>
                    </a:lnR>
                    <a:lnT w="0">
                      <a:noFill/>
                    </a:lnT>
                    <a:lnB w="9525">
                      <a:solidFill>
                        <a:srgbClr val="E2E4E7"/>
                      </a:solidFill>
                    </a:lnB>
                    <a:noFill/>
                  </a:tcPr>
                </a:tc>
              </a:tr>
            </a:tbl>
          </a:graphicData>
        </a:graphic>
      </p:graphicFrame>
      <p:sp>
        <p:nvSpPr>
          <p:cNvPr id="12" name="Rectangle 11"/>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13" name="Rectangle 12"/>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14" name="TextBox 13"/>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결론: Rental은 Y3 원가에서 Payback 39개월로 Partner 허들(36개월) 미달 → BOM ≤ 1,059만원 달성 전까지 Rental은 Pilot 규모로 제한. Conservative 요금(월 29만원) 시 Y3 Payback 53개월</a:t>
            </a:r>
          </a:p>
        </p:txBody>
      </p:sp>
      <p:sp>
        <p:nvSpPr>
          <p:cNvPr id="15" name="TextBox 1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6" name="TextBox 1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A13</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Care · Consumables Model</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Care = Robot Lifecycle Maintenance Contract (Software 구독 아님). Consumables = 위생 · 마모 · Grip 성능 · 식품접촉부 교체 · 안전 유지 목적.</a:t>
            </a:r>
          </a:p>
        </p:txBody>
      </p:sp>
      <p:graphicFrame>
        <p:nvGraphicFramePr>
          <p:cNvPr id="5" name="Table 4"/>
          <p:cNvGraphicFramePr>
            <a:graphicFrameLocks noGrp="1"/>
          </p:cNvGraphicFramePr>
          <p:nvPr/>
        </p:nvGraphicFramePr>
        <p:xfrm>
          <a:off x="685800" y="1790567"/>
          <a:ext cx="5029200" cy="2405072"/>
        </p:xfrm>
        <a:graphic>
          <a:graphicData uri="http://schemas.openxmlformats.org/drawingml/2006/table">
            <a:tbl>
              <a:tblPr firstRow="0" bandRow="0">
                <a:tableStyleId>{2D5ABB26-0587-4C30-8999-92F81FD0307C}</a:tableStyleId>
              </a:tblPr>
              <a:tblGrid>
                <a:gridCol w="2377440"/>
                <a:gridCol w="868680"/>
                <a:gridCol w="868680"/>
                <a:gridCol w="914400"/>
              </a:tblGrid>
              <a:tr h="302768">
                <a:tc>
                  <a:txBody>
                    <a:bodyPr wrap="square"/>
                    <a:lstStyle/>
                    <a:p>
                      <a:pPr algn="l">
                        <a:lnSpc>
                          <a:spcPct val="100000"/>
                        </a:lnSpc>
                      </a:pPr>
                      <a:r>
                        <a:rPr sz="1000" b="1">
                          <a:solidFill>
                            <a:srgbClr val="15171A"/>
                          </a:solidFill>
                          <a:latin typeface="Noto Sans KR"/>
                          <a:ea typeface="Noto Sans KR"/>
                          <a:cs typeface="Noto Sans KR"/>
                        </a:rPr>
                        <a:t>Care (만원/대·년)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Care Basic 연 요금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정기 방문 (횟수 × 원가)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고장 방문 (0.6회 × 18만원)</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Cloud · Software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Care Contribution ·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11.2 · 23%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21.2 · 44%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4305167"/>
            <a:ext cx="5029200" cy="118872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00" b="0">
                <a:solidFill>
                  <a:srgbClr val="4A4F57"/>
                </a:solidFill>
                <a:latin typeface="Noto Sans KR"/>
                <a:ea typeface="Noto Sans KR"/>
                <a:cs typeface="Noto Sans KR"/>
              </a:rPr>
              <a:t>포함: 정기 안전점검 · Calibration · Remote Diagnosis · Joint / Rail / Vision 상태 · Consumables Check · Software Update · A/S</a:t>
            </a:r>
          </a:p>
          <a:p>
            <a:pPr algn="l" marL="182880" indent="-182880">
              <a:lnSpc>
                <a:spcPct val="100000"/>
              </a:lnSpc>
              <a:spcAft>
                <a:spcPts val="200"/>
              </a:spcAft>
              <a:buClr>
                <a:srgbClr val="8C9198"/>
              </a:buClr>
              <a:buFont typeface="Noto Sans KR"/>
              <a:buChar char="–"/>
            </a:pPr>
            <a:r>
              <a:rPr sz="900" b="0">
                <a:solidFill>
                  <a:srgbClr val="4A4F57"/>
                </a:solidFill>
                <a:latin typeface="Noto Sans KR"/>
                <a:ea typeface="Noto Sans KR"/>
                <a:cs typeface="Noto Sans KR"/>
              </a:rPr>
              <a:t>참고: 가전 A/S 출장비 2.8만원 (삼성·LG 2026, 소비자 부과분, FACT) ≠ ARKI 실제 방문 원가</a:t>
            </a:r>
          </a:p>
          <a:p>
            <a:pPr algn="l" marL="182880" indent="-182880">
              <a:lnSpc>
                <a:spcPct val="100000"/>
              </a:lnSpc>
              <a:buClr>
                <a:srgbClr val="8C9198"/>
              </a:buClr>
              <a:buFont typeface="Noto Sans KR"/>
              <a:buChar char="–"/>
            </a:pPr>
            <a:r>
              <a:rPr sz="900" b="0">
                <a:solidFill>
                  <a:srgbClr val="4A4F57"/>
                </a:solidFill>
                <a:latin typeface="Noto Sans KR"/>
                <a:ea typeface="Noto Sans KR"/>
                <a:cs typeface="Noto Sans KR"/>
              </a:rPr>
              <a:t>Care Plus 연 72만원 = Kit 정기교체 포함 (Base 재무 미반영)</a:t>
            </a:r>
          </a:p>
        </p:txBody>
      </p:sp>
      <p:graphicFrame>
        <p:nvGraphicFramePr>
          <p:cNvPr id="7" name="Table 6"/>
          <p:cNvGraphicFramePr>
            <a:graphicFrameLocks noGrp="1"/>
          </p:cNvGraphicFramePr>
          <p:nvPr/>
        </p:nvGraphicFramePr>
        <p:xfrm>
          <a:off x="5989320" y="1790567"/>
          <a:ext cx="5516575" cy="2110840"/>
        </p:xfrm>
        <a:graphic>
          <a:graphicData uri="http://schemas.openxmlformats.org/drawingml/2006/table">
            <a:tbl>
              <a:tblPr firstRow="0" bandRow="0">
                <a:tableStyleId>{2D5ABB26-0587-4C30-8999-92F81FD0307C}</a:tableStyleId>
              </a:tblPr>
              <a:tblGrid>
                <a:gridCol w="1097280"/>
                <a:gridCol w="2361895"/>
                <a:gridCol w="640080"/>
                <a:gridCol w="594360"/>
                <a:gridCol w="822960"/>
              </a:tblGrid>
              <a:tr h="293573">
                <a:tc>
                  <a:txBody>
                    <a:bodyPr wrap="square"/>
                    <a:lstStyle/>
                    <a:p>
                      <a:pPr algn="l">
                        <a:lnSpc>
                          <a:spcPct val="100000"/>
                        </a:lnSpc>
                      </a:pPr>
                      <a:r>
                        <a:rPr sz="950" b="1">
                          <a:solidFill>
                            <a:srgbClr val="15171A"/>
                          </a:solidFill>
                          <a:latin typeface="Noto Sans KR"/>
                          <a:ea typeface="Noto Sans KR"/>
                          <a:cs typeface="Noto Sans KR"/>
                        </a:rPr>
                        <a:t>Kit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구성</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주기</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연 List</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Grip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Finger Pad · Food-contact Tip · Suction Cup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분기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Cleaning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Brush · Wiper · Cleaning Pad</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분기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Protection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Sensor Cover · Sleeve · Seal</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반기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 (List)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36.0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1">
                          <a:solidFill>
                            <a:srgbClr val="15171A"/>
                          </a:solidFill>
                          <a:latin typeface="Noto Sans KR"/>
                          <a:ea typeface="Noto Sans KR"/>
                          <a:cs typeface="Noto Sans KR"/>
                        </a:rPr>
                        <a:t>구매율 70% 적용 매출 · 원가 35%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25.2 · 8.8</a:t>
                      </a:r>
                    </a:p>
                  </a:txBody>
                  <a:tcPr marL="73152" marR="73152" marT="54864" marB="54864" anchor="t">
                    <a:lnL w="0">
                      <a:noFill/>
                    </a:lnL>
                    <a:lnR w="0">
                      <a:noFill/>
                    </a:lnR>
                    <a:lnT w="0">
                      <a:noFill/>
                    </a:lnT>
                    <a:lnB w="9525">
                      <a:solidFill>
                        <a:srgbClr val="E2E4E7"/>
                      </a:solidFill>
                    </a:lnB>
                    <a:noFill/>
                  </a:tcPr>
                </a:tc>
              </a:tr>
            </a:tbl>
          </a:graphicData>
        </a:graphic>
      </p:graphicFrame>
      <p:sp>
        <p:nvSpPr>
          <p:cNvPr id="8" name="Rectangle 7"/>
          <p:cNvSpPr/>
          <p:nvPr/>
        </p:nvSpPr>
        <p:spPr>
          <a:xfrm>
            <a:off x="5989320" y="3893687"/>
            <a:ext cx="796639" cy="182880"/>
          </a:xfrm>
          <a:prstGeom prst="rect">
            <a:avLst/>
          </a:prstGeom>
          <a:solidFill>
            <a:srgbClr val="FBEDE6"/>
          </a:solidFill>
          <a:ln>
            <a:noFill/>
          </a:ln>
        </p:spPr>
        <p:txBody>
          <a:bodyPr rtlCol="0" anchor="ctr"/>
          <a:lstStyle/>
          <a:p>
            <a:pPr algn="ctr"/>
          </a:p>
        </p:txBody>
      </p:sp>
      <p:sp>
        <p:nvSpPr>
          <p:cNvPr id="9" name="TextBox 8"/>
          <p:cNvSpPr txBox="1"/>
          <p:nvPr/>
        </p:nvSpPr>
        <p:spPr>
          <a:xfrm>
            <a:off x="5989320" y="3893687"/>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10" name="TextBox 9"/>
          <p:cNvSpPr txBox="1"/>
          <p:nvPr/>
        </p:nvSpPr>
        <p:spPr>
          <a:xfrm>
            <a:off x="5989320" y="4168007"/>
            <a:ext cx="5516575" cy="109728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950" b="0">
                <a:solidFill>
                  <a:srgbClr val="4A4F57"/>
                </a:solidFill>
                <a:latin typeface="Noto Sans KR"/>
                <a:ea typeface="Noto Sans KR"/>
                <a:cs typeface="Noto Sans KR"/>
              </a:rPr>
              <a:t>검증 KPI: Replacement Cycle · Cost per Kit · 연 Consumables 매출/Robot · Gross Margin · Care Attach Rate</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부품 원가 참고: Robotiq Fingertip $175~195, Food-grade Cup £7~20 (FACT) → 자체 설계로 원가 35% 목표</a:t>
            </a:r>
          </a:p>
        </p:txBody>
      </p:sp>
      <p:sp>
        <p:nvSpPr>
          <p:cNvPr id="11" name="Rectangle 10"/>
          <p:cNvSpPr/>
          <p:nvPr/>
        </p:nvSpPr>
        <p:spPr>
          <a:xfrm>
            <a:off x="685800" y="5440680"/>
            <a:ext cx="10820095" cy="412546"/>
          </a:xfrm>
          <a:prstGeom prst="rect">
            <a:avLst/>
          </a:prstGeom>
          <a:solidFill>
            <a:srgbClr val="F4F5F6"/>
          </a:solidFill>
          <a:ln>
            <a:noFill/>
          </a:ln>
        </p:spPr>
        <p:txBody>
          <a:bodyPr rtlCol="0" anchor="ctr"/>
          <a:lstStyle/>
          <a:p>
            <a:pPr algn="ctr"/>
          </a:p>
        </p:txBody>
      </p:sp>
      <p:sp>
        <p:nvSpPr>
          <p:cNvPr id="12" name="Rectangle 11"/>
          <p:cNvSpPr/>
          <p:nvPr/>
        </p:nvSpPr>
        <p:spPr>
          <a:xfrm>
            <a:off x="685800" y="5440680"/>
            <a:ext cx="54864" cy="412546"/>
          </a:xfrm>
          <a:prstGeom prst="rect">
            <a:avLst/>
          </a:prstGeom>
          <a:solidFill>
            <a:srgbClr val="E2571B"/>
          </a:solidFill>
          <a:ln>
            <a:noFill/>
          </a:ln>
        </p:spPr>
        <p:txBody>
          <a:bodyPr rtlCol="0" anchor="ctr"/>
          <a:lstStyle/>
          <a:p>
            <a:pPr algn="ctr"/>
          </a:p>
        </p:txBody>
      </p:sp>
      <p:sp>
        <p:nvSpPr>
          <p:cNvPr id="13" name="TextBox 12"/>
          <p:cNvSpPr txBox="1"/>
          <p:nvPr/>
        </p:nvSpPr>
        <p:spPr>
          <a:xfrm>
            <a:off x="886968" y="544068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Care는 Y3에 Profit Center 아님 (Margin 23%) → 원격진단으로 방문 1.5회 이하 · Route Density로 방문원가 9만원 이하 달성 시 Y5 Margin 44% (TARGET 경로)</a:t>
            </a:r>
          </a:p>
        </p:txBody>
      </p:sp>
      <p:sp>
        <p:nvSpPr>
          <p:cNvPr id="14" name="TextBox 1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5" name="TextBox 1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A14</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5-Year Financial Model (3 Scenario)</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Bottom-up Driver: Kitchen · Robot · Robot-ready Only · Rental · Care / Consumables Installed Base · Upgrade. 억원. 상세 수식: xlsx FM 시트. 전부 DERIVED (from ASSUMPTION · TARGET).</a:t>
            </a:r>
          </a:p>
        </p:txBody>
      </p:sp>
      <p:graphicFrame>
        <p:nvGraphicFramePr>
          <p:cNvPr id="5" name="Table 4"/>
          <p:cNvGraphicFramePr>
            <a:graphicFrameLocks noGrp="1"/>
          </p:cNvGraphicFramePr>
          <p:nvPr/>
        </p:nvGraphicFramePr>
        <p:xfrm>
          <a:off x="685800" y="2029632"/>
          <a:ext cx="6766560" cy="3221426"/>
        </p:xfrm>
        <a:graphic>
          <a:graphicData uri="http://schemas.openxmlformats.org/drawingml/2006/table">
            <a:tbl>
              <a:tblPr firstRow="0" bandRow="0">
                <a:tableStyleId>{2D5ABB26-0587-4C30-8999-92F81FD0307C}</a:tableStyleId>
              </a:tblPr>
              <a:tblGrid>
                <a:gridCol w="2194560"/>
                <a:gridCol w="914400"/>
                <a:gridCol w="914400"/>
                <a:gridCol w="914400"/>
                <a:gridCol w="914400"/>
                <a:gridCol w="914400"/>
              </a:tblGrid>
              <a:tr h="247802">
                <a:tc>
                  <a:txBody>
                    <a:bodyPr wrap="square"/>
                    <a:lstStyle/>
                    <a:p>
                      <a:pPr algn="l">
                        <a:lnSpc>
                          <a:spcPct val="100000"/>
                        </a:lnSpc>
                      </a:pPr>
                      <a:r>
                        <a:rPr sz="900" b="1">
                          <a:solidFill>
                            <a:srgbClr val="15171A"/>
                          </a:solidFill>
                          <a:latin typeface="Noto Sans KR"/>
                          <a:ea typeface="Noto Sans KR"/>
                          <a:cs typeface="Noto Sans KR"/>
                        </a:rPr>
                        <a:t>Base (억원)</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Y1</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Y2</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36576" marB="36576" anchor="t">
                    <a:lnL w="0">
                      <a:noFill/>
                    </a:lnL>
                    <a:lnR w="0">
                      <a:noFill/>
                    </a:lnR>
                    <a:lnT w="12700">
                      <a:solidFill>
                        <a:srgbClr val="15171A"/>
                      </a:solidFill>
                    </a:lnT>
                    <a:lnB w="9525">
                      <a:solidFill>
                        <a:srgbClr val="15171A"/>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Kitchen Build + 설치</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22.7</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Robot Hardware</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51.5</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Rental + Care + Consumables</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3.1</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Upgrade</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1">
                          <a:solidFill>
                            <a:srgbClr val="15171A"/>
                          </a:solidFill>
                          <a:latin typeface="Noto Sans KR"/>
                          <a:ea typeface="Noto Sans KR"/>
                          <a:cs typeface="Noto Sans KR"/>
                        </a:rPr>
                        <a:t>매출</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0.4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7.5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32.5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77.6</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매출총이익</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27.9</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매출총이익률</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Contribution (채널비용 후)</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Opex</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43.9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56.7</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1">
                          <a:solidFill>
                            <a:srgbClr val="15171A"/>
                          </a:solidFill>
                          <a:latin typeface="Noto Sans KR"/>
                          <a:ea typeface="Noto Sans KR"/>
                          <a:cs typeface="Noto Sans KR"/>
                        </a:rPr>
                        <a:t>영업이익 (근사)</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-13.3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-29.7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-37.5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-36.4</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Kitchen · Robot 설치</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 · 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 · 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50 · 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180 · 154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480 · 363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Installed Robot (기말)</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565</a:t>
                      </a:r>
                    </a:p>
                  </a:txBody>
                  <a:tcPr marL="73152" marR="73152" marT="36576" marB="36576" anchor="t">
                    <a:lnL w="0">
                      <a:noFill/>
                    </a:lnL>
                    <a:lnR w="0">
                      <a:noFill/>
                    </a:lnR>
                    <a:lnT w="0">
                      <a:noFill/>
                    </a:lnT>
                    <a:lnB w="9525">
                      <a:solidFill>
                        <a:srgbClr val="E2E4E7"/>
                      </a:solidFill>
                    </a:lnB>
                    <a:noFill/>
                  </a:tcPr>
                </a:tc>
              </a:tr>
            </a:tbl>
          </a:graphicData>
        </a:graphic>
      </p:graphicFrame>
      <p:graphicFrame>
        <p:nvGraphicFramePr>
          <p:cNvPr id="6" name="Chart 5"/>
          <p:cNvGraphicFramePr>
            <a:graphicFrameLocks noGrp="1"/>
          </p:cNvGraphicFramePr>
          <p:nvPr/>
        </p:nvGraphicFramePr>
        <p:xfrm>
          <a:off x="7726680" y="2029632"/>
          <a:ext cx="3779215" cy="2011680"/>
        </p:xfrm>
        <a:graphic>
          <a:graphicData uri="http://schemas.openxmlformats.org/drawingml/2006/chart">
            <c:chart xmlns:c="http://schemas.openxmlformats.org/drawingml/2006/chart" r:id="rId3"/>
          </a:graphicData>
        </a:graphic>
      </p:graphicFrame>
      <p:sp>
        <p:nvSpPr>
          <p:cNvPr id="7" name="TextBox 6"/>
          <p:cNvSpPr txBox="1"/>
          <p:nvPr/>
        </p:nvSpPr>
        <p:spPr>
          <a:xfrm>
            <a:off x="7524988"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Y1</a:t>
            </a:r>
          </a:p>
        </p:txBody>
      </p:sp>
      <p:sp>
        <p:nvSpPr>
          <p:cNvPr id="8" name="TextBox 7"/>
          <p:cNvSpPr txBox="1"/>
          <p:nvPr/>
        </p:nvSpPr>
        <p:spPr>
          <a:xfrm>
            <a:off x="8250598"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Y2</a:t>
            </a:r>
          </a:p>
        </p:txBody>
      </p:sp>
      <p:sp>
        <p:nvSpPr>
          <p:cNvPr id="9" name="TextBox 8"/>
          <p:cNvSpPr txBox="1"/>
          <p:nvPr/>
        </p:nvSpPr>
        <p:spPr>
          <a:xfrm>
            <a:off x="8976207"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Y3</a:t>
            </a:r>
          </a:p>
        </p:txBody>
      </p:sp>
      <p:sp>
        <p:nvSpPr>
          <p:cNvPr id="10" name="TextBox 9"/>
          <p:cNvSpPr txBox="1"/>
          <p:nvPr/>
        </p:nvSpPr>
        <p:spPr>
          <a:xfrm>
            <a:off x="9701816"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Y4</a:t>
            </a:r>
          </a:p>
        </p:txBody>
      </p:sp>
      <p:sp>
        <p:nvSpPr>
          <p:cNvPr id="11" name="TextBox 10"/>
          <p:cNvSpPr txBox="1"/>
          <p:nvPr/>
        </p:nvSpPr>
        <p:spPr>
          <a:xfrm>
            <a:off x="10427426"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Y5</a:t>
            </a:r>
          </a:p>
        </p:txBody>
      </p:sp>
      <p:graphicFrame>
        <p:nvGraphicFramePr>
          <p:cNvPr id="12" name="Table 11"/>
          <p:cNvGraphicFramePr>
            <a:graphicFrameLocks noGrp="1"/>
          </p:cNvGraphicFramePr>
          <p:nvPr/>
        </p:nvGraphicFramePr>
        <p:xfrm>
          <a:off x="7726680" y="4224192"/>
          <a:ext cx="3779215" cy="1137512"/>
        </p:xfrm>
        <a:graphic>
          <a:graphicData uri="http://schemas.openxmlformats.org/drawingml/2006/table">
            <a:tbl>
              <a:tblPr firstRow="0" bandRow="0">
                <a:tableStyleId>{2D5ABB26-0587-4C30-8999-92F81FD0307C}</a:tableStyleId>
              </a:tblPr>
              <a:tblGrid>
                <a:gridCol w="1051560"/>
                <a:gridCol w="640080"/>
                <a:gridCol w="685800"/>
                <a:gridCol w="685800"/>
                <a:gridCol w="715975"/>
              </a:tblGrid>
              <a:tr h="284378">
                <a:tc>
                  <a:txBody>
                    <a:bodyPr wrap="square"/>
                    <a:lstStyle/>
                    <a:p>
                      <a:pPr algn="l">
                        <a:lnSpc>
                          <a:spcPct val="100000"/>
                        </a:lnSpc>
                      </a:pPr>
                      <a:r>
                        <a:rPr sz="900" b="1">
                          <a:solidFill>
                            <a:srgbClr val="15171A"/>
                          </a:solidFill>
                          <a:latin typeface="Noto Sans KR"/>
                          <a:ea typeface="Noto Sans KR"/>
                          <a:cs typeface="Noto Sans KR"/>
                        </a:rPr>
                        <a:t>Y5 (억원)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매출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Contrib.</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영업이익</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누적현금</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Conservative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-156.0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Base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77.6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-128.0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Upside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-96.6</a:t>
                      </a:r>
                    </a:p>
                  </a:txBody>
                  <a:tcPr marL="73152" marR="73152" marT="54864" marB="54864" anchor="t">
                    <a:lnL w="0">
                      <a:noFill/>
                    </a:lnL>
                    <a:lnR w="0">
                      <a:noFill/>
                    </a:lnR>
                    <a:lnT w="0">
                      <a:noFill/>
                    </a:lnT>
                    <a:lnB w="9525">
                      <a:solidFill>
                        <a:srgbClr val="E2E4E7"/>
                      </a:solidFill>
                    </a:lnB>
                    <a:noFill/>
                  </a:tcPr>
                </a:tc>
              </a:tr>
            </a:tbl>
          </a:graphicData>
        </a:graphic>
      </p:graphicFrame>
      <p:sp>
        <p:nvSpPr>
          <p:cNvPr id="13" name="TextBox 12"/>
          <p:cNvSpPr txBox="1"/>
          <p:nvPr/>
        </p:nvSpPr>
        <p:spPr>
          <a:xfrm>
            <a:off x="7726680" y="5367192"/>
            <a:ext cx="3779215" cy="36576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누적현금 = 5년 누적 영업현금흐름 최저점 (투자유치 전, Rental 자산 포함)</a:t>
            </a:r>
          </a:p>
        </p:txBody>
      </p:sp>
      <p:sp>
        <p:nvSpPr>
          <p:cNvPr id="14" name="Rectangle 13"/>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15" name="Rectangle 14"/>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16" name="TextBox 15"/>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Upside = 가격 동일, Partner 물량 · 표준화 · 설치원가 · Installed Base 차이. Conservative = WTP·BOM 하락 미달 → Y5 Contribution ≈ 0 → Scale 투자 보류 시나리오 (Kill Criteria M24)</a:t>
            </a:r>
          </a:p>
        </p:txBody>
      </p:sp>
      <p:sp>
        <p:nvSpPr>
          <p:cNvPr id="17" name="TextBox 1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8" name="TextBox 1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A15</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Sensitivity Analysis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Top 3 Critical Variable = Customer WTP · Robot BOM · Partner Distribution. 회색 = 불리, 주황 = 유리. 전부 DERIVED.</a:t>
            </a:r>
          </a:p>
        </p:txBody>
      </p:sp>
      <p:sp>
        <p:nvSpPr>
          <p:cNvPr id="5" name="TextBox 4"/>
          <p:cNvSpPr txBox="1"/>
          <p:nvPr/>
        </p:nvSpPr>
        <p:spPr>
          <a:xfrm>
            <a:off x="685800" y="1790567"/>
            <a:ext cx="522716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세대 5년 Lifetime Contribution (구매·Y3 원가)</a:t>
            </a:r>
          </a:p>
        </p:txBody>
      </p:sp>
      <p:sp>
        <p:nvSpPr>
          <p:cNvPr id="6" name="TextBox 5"/>
          <p:cNvSpPr txBox="1"/>
          <p:nvPr/>
        </p:nvSpPr>
        <p:spPr>
          <a:xfrm>
            <a:off x="685800" y="2083175"/>
            <a:ext cx="5227167"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458만원 · 변화 (만원)</a:t>
            </a:r>
          </a:p>
        </p:txBody>
      </p:sp>
      <p:sp>
        <p:nvSpPr>
          <p:cNvPr id="7" name="TextBox 6"/>
          <p:cNvSpPr txBox="1"/>
          <p:nvPr/>
        </p:nvSpPr>
        <p:spPr>
          <a:xfrm>
            <a:off x="685800" y="2476367"/>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ASP (WTP) ±20%</a:t>
            </a:r>
          </a:p>
        </p:txBody>
      </p:sp>
      <p:sp>
        <p:nvSpPr>
          <p:cNvPr id="8" name="Rectangle 7"/>
          <p:cNvSpPr/>
          <p:nvPr/>
        </p:nvSpPr>
        <p:spPr>
          <a:xfrm>
            <a:off x="3383280" y="2549519"/>
            <a:ext cx="1036243" cy="182879"/>
          </a:xfrm>
          <a:prstGeom prst="rect">
            <a:avLst/>
          </a:prstGeom>
          <a:solidFill>
            <a:srgbClr val="8C9198"/>
          </a:solidFill>
          <a:ln>
            <a:noFill/>
          </a:ln>
        </p:spPr>
        <p:txBody>
          <a:bodyPr rtlCol="0" anchor="ctr"/>
          <a:lstStyle/>
          <a:p>
            <a:pPr algn="ctr"/>
          </a:p>
        </p:txBody>
      </p:sp>
      <p:sp>
        <p:nvSpPr>
          <p:cNvPr id="9" name="Rectangle 8"/>
          <p:cNvSpPr/>
          <p:nvPr/>
        </p:nvSpPr>
        <p:spPr>
          <a:xfrm>
            <a:off x="4419523" y="2549519"/>
            <a:ext cx="1036243" cy="182879"/>
          </a:xfrm>
          <a:prstGeom prst="rect">
            <a:avLst/>
          </a:prstGeom>
          <a:solidFill>
            <a:srgbClr val="E2571B"/>
          </a:solidFill>
          <a:ln>
            <a:noFill/>
          </a:ln>
        </p:spPr>
        <p:txBody>
          <a:bodyPr rtlCol="0" anchor="ctr"/>
          <a:lstStyle/>
          <a:p>
            <a:pPr algn="ctr"/>
          </a:p>
        </p:txBody>
      </p:sp>
      <p:sp>
        <p:nvSpPr>
          <p:cNvPr id="10" name="TextBox 9"/>
          <p:cNvSpPr txBox="1"/>
          <p:nvPr/>
        </p:nvSpPr>
        <p:spPr>
          <a:xfrm>
            <a:off x="2926080" y="247636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-286</a:t>
            </a:r>
          </a:p>
        </p:txBody>
      </p:sp>
      <p:sp>
        <p:nvSpPr>
          <p:cNvPr id="11" name="TextBox 10"/>
          <p:cNvSpPr txBox="1"/>
          <p:nvPr/>
        </p:nvSpPr>
        <p:spPr>
          <a:xfrm>
            <a:off x="5483199" y="247636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+286</a:t>
            </a:r>
          </a:p>
        </p:txBody>
      </p:sp>
      <p:sp>
        <p:nvSpPr>
          <p:cNvPr id="12" name="TextBox 11"/>
          <p:cNvSpPr txBox="1"/>
          <p:nvPr/>
        </p:nvSpPr>
        <p:spPr>
          <a:xfrm>
            <a:off x="685800" y="2805551"/>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BOM ±20%</a:t>
            </a:r>
          </a:p>
        </p:txBody>
      </p:sp>
      <p:sp>
        <p:nvSpPr>
          <p:cNvPr id="13" name="Rectangle 12"/>
          <p:cNvSpPr/>
          <p:nvPr/>
        </p:nvSpPr>
        <p:spPr>
          <a:xfrm>
            <a:off x="3586413" y="2878703"/>
            <a:ext cx="833109" cy="182879"/>
          </a:xfrm>
          <a:prstGeom prst="rect">
            <a:avLst/>
          </a:prstGeom>
          <a:solidFill>
            <a:srgbClr val="8C9198"/>
          </a:solidFill>
          <a:ln>
            <a:noFill/>
          </a:ln>
        </p:spPr>
        <p:txBody>
          <a:bodyPr rtlCol="0" anchor="ctr"/>
          <a:lstStyle/>
          <a:p>
            <a:pPr algn="ctr"/>
          </a:p>
        </p:txBody>
      </p:sp>
      <p:sp>
        <p:nvSpPr>
          <p:cNvPr id="14" name="Rectangle 13"/>
          <p:cNvSpPr/>
          <p:nvPr/>
        </p:nvSpPr>
        <p:spPr>
          <a:xfrm>
            <a:off x="4419523" y="2878703"/>
            <a:ext cx="833109" cy="182879"/>
          </a:xfrm>
          <a:prstGeom prst="rect">
            <a:avLst/>
          </a:prstGeom>
          <a:solidFill>
            <a:srgbClr val="E2571B"/>
          </a:solidFill>
          <a:ln>
            <a:noFill/>
          </a:ln>
        </p:spPr>
        <p:txBody>
          <a:bodyPr rtlCol="0" anchor="ctr"/>
          <a:lstStyle/>
          <a:p>
            <a:pPr algn="ctr"/>
          </a:p>
        </p:txBody>
      </p:sp>
      <p:sp>
        <p:nvSpPr>
          <p:cNvPr id="15" name="TextBox 14"/>
          <p:cNvSpPr txBox="1"/>
          <p:nvPr/>
        </p:nvSpPr>
        <p:spPr>
          <a:xfrm>
            <a:off x="3129213" y="280555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-230</a:t>
            </a:r>
          </a:p>
        </p:txBody>
      </p:sp>
      <p:sp>
        <p:nvSpPr>
          <p:cNvPr id="16" name="TextBox 15"/>
          <p:cNvSpPr txBox="1"/>
          <p:nvPr/>
        </p:nvSpPr>
        <p:spPr>
          <a:xfrm>
            <a:off x="5280065" y="280555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+230</a:t>
            </a:r>
          </a:p>
        </p:txBody>
      </p:sp>
      <p:sp>
        <p:nvSpPr>
          <p:cNvPr id="17" name="TextBox 16"/>
          <p:cNvSpPr txBox="1"/>
          <p:nvPr/>
        </p:nvSpPr>
        <p:spPr>
          <a:xfrm>
            <a:off x="685800" y="3134735"/>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Robot-ready 증분가 ±20%</a:t>
            </a:r>
          </a:p>
        </p:txBody>
      </p:sp>
      <p:sp>
        <p:nvSpPr>
          <p:cNvPr id="18" name="Rectangle 17"/>
          <p:cNvSpPr/>
          <p:nvPr/>
        </p:nvSpPr>
        <p:spPr>
          <a:xfrm>
            <a:off x="4093524" y="3207887"/>
            <a:ext cx="325999" cy="182879"/>
          </a:xfrm>
          <a:prstGeom prst="rect">
            <a:avLst/>
          </a:prstGeom>
          <a:solidFill>
            <a:srgbClr val="8C9198"/>
          </a:solidFill>
          <a:ln>
            <a:noFill/>
          </a:ln>
        </p:spPr>
        <p:txBody>
          <a:bodyPr rtlCol="0" anchor="ctr"/>
          <a:lstStyle/>
          <a:p>
            <a:pPr algn="ctr"/>
          </a:p>
        </p:txBody>
      </p:sp>
      <p:sp>
        <p:nvSpPr>
          <p:cNvPr id="19" name="Rectangle 18"/>
          <p:cNvSpPr/>
          <p:nvPr/>
        </p:nvSpPr>
        <p:spPr>
          <a:xfrm>
            <a:off x="4419523" y="3207887"/>
            <a:ext cx="325999" cy="182879"/>
          </a:xfrm>
          <a:prstGeom prst="rect">
            <a:avLst/>
          </a:prstGeom>
          <a:solidFill>
            <a:srgbClr val="E2571B"/>
          </a:solidFill>
          <a:ln>
            <a:noFill/>
          </a:ln>
        </p:spPr>
        <p:txBody>
          <a:bodyPr rtlCol="0" anchor="ctr"/>
          <a:lstStyle/>
          <a:p>
            <a:pPr algn="ctr"/>
          </a:p>
        </p:txBody>
      </p:sp>
      <p:sp>
        <p:nvSpPr>
          <p:cNvPr id="20" name="TextBox 19"/>
          <p:cNvSpPr txBox="1"/>
          <p:nvPr/>
        </p:nvSpPr>
        <p:spPr>
          <a:xfrm>
            <a:off x="3636324" y="313473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-90</a:t>
            </a:r>
          </a:p>
        </p:txBody>
      </p:sp>
      <p:sp>
        <p:nvSpPr>
          <p:cNvPr id="21" name="TextBox 20"/>
          <p:cNvSpPr txBox="1"/>
          <p:nvPr/>
        </p:nvSpPr>
        <p:spPr>
          <a:xfrm>
            <a:off x="4772955" y="313473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+90</a:t>
            </a:r>
          </a:p>
        </p:txBody>
      </p:sp>
      <p:sp>
        <p:nvSpPr>
          <p:cNvPr id="22" name="TextBox 21"/>
          <p:cNvSpPr txBox="1"/>
          <p:nvPr/>
        </p:nvSpPr>
        <p:spPr>
          <a:xfrm>
            <a:off x="685800" y="346391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직접판매 획득비용 ±50%</a:t>
            </a:r>
          </a:p>
        </p:txBody>
      </p:sp>
      <p:sp>
        <p:nvSpPr>
          <p:cNvPr id="23" name="Rectangle 22"/>
          <p:cNvSpPr/>
          <p:nvPr/>
        </p:nvSpPr>
        <p:spPr>
          <a:xfrm>
            <a:off x="4147857" y="3537071"/>
            <a:ext cx="271666" cy="182879"/>
          </a:xfrm>
          <a:prstGeom prst="rect">
            <a:avLst/>
          </a:prstGeom>
          <a:solidFill>
            <a:srgbClr val="8C9198"/>
          </a:solidFill>
          <a:ln>
            <a:noFill/>
          </a:ln>
        </p:spPr>
        <p:txBody>
          <a:bodyPr rtlCol="0" anchor="ctr"/>
          <a:lstStyle/>
          <a:p>
            <a:pPr algn="ctr"/>
          </a:p>
        </p:txBody>
      </p:sp>
      <p:sp>
        <p:nvSpPr>
          <p:cNvPr id="24" name="Rectangle 23"/>
          <p:cNvSpPr/>
          <p:nvPr/>
        </p:nvSpPr>
        <p:spPr>
          <a:xfrm>
            <a:off x="4419523" y="3537071"/>
            <a:ext cx="271666" cy="182879"/>
          </a:xfrm>
          <a:prstGeom prst="rect">
            <a:avLst/>
          </a:prstGeom>
          <a:solidFill>
            <a:srgbClr val="F6C9B3"/>
          </a:solidFill>
          <a:ln>
            <a:noFill/>
          </a:ln>
        </p:spPr>
        <p:txBody>
          <a:bodyPr rtlCol="0" anchor="ctr"/>
          <a:lstStyle/>
          <a:p>
            <a:pPr algn="ctr"/>
          </a:p>
        </p:txBody>
      </p:sp>
      <p:sp>
        <p:nvSpPr>
          <p:cNvPr id="25" name="TextBox 24"/>
          <p:cNvSpPr txBox="1"/>
          <p:nvPr/>
        </p:nvSpPr>
        <p:spPr>
          <a:xfrm>
            <a:off x="3690657" y="346391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-75</a:t>
            </a:r>
          </a:p>
        </p:txBody>
      </p:sp>
      <p:sp>
        <p:nvSpPr>
          <p:cNvPr id="26" name="TextBox 25"/>
          <p:cNvSpPr txBox="1"/>
          <p:nvPr/>
        </p:nvSpPr>
        <p:spPr>
          <a:xfrm>
            <a:off x="4718622" y="346391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+75</a:t>
            </a:r>
          </a:p>
        </p:txBody>
      </p:sp>
      <p:sp>
        <p:nvSpPr>
          <p:cNvPr id="27" name="TextBox 26"/>
          <p:cNvSpPr txBox="1"/>
          <p:nvPr/>
        </p:nvSpPr>
        <p:spPr>
          <a:xfrm>
            <a:off x="685800" y="379310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Failure Rate 0.3 ↔ 1.2회</a:t>
            </a:r>
          </a:p>
        </p:txBody>
      </p:sp>
      <p:sp>
        <p:nvSpPr>
          <p:cNvPr id="28" name="Rectangle 27"/>
          <p:cNvSpPr/>
          <p:nvPr/>
        </p:nvSpPr>
        <p:spPr>
          <a:xfrm>
            <a:off x="4115982" y="3866255"/>
            <a:ext cx="303541" cy="182879"/>
          </a:xfrm>
          <a:prstGeom prst="rect">
            <a:avLst/>
          </a:prstGeom>
          <a:solidFill>
            <a:srgbClr val="8C9198"/>
          </a:solidFill>
          <a:ln>
            <a:noFill/>
          </a:ln>
        </p:spPr>
        <p:txBody>
          <a:bodyPr rtlCol="0" anchor="ctr"/>
          <a:lstStyle/>
          <a:p>
            <a:pPr algn="ctr"/>
          </a:p>
        </p:txBody>
      </p:sp>
      <p:sp>
        <p:nvSpPr>
          <p:cNvPr id="29" name="Rectangle 28"/>
          <p:cNvSpPr/>
          <p:nvPr/>
        </p:nvSpPr>
        <p:spPr>
          <a:xfrm>
            <a:off x="4419523" y="3866255"/>
            <a:ext cx="178756" cy="182879"/>
          </a:xfrm>
          <a:prstGeom prst="rect">
            <a:avLst/>
          </a:prstGeom>
          <a:solidFill>
            <a:srgbClr val="F6C9B3"/>
          </a:solidFill>
          <a:ln>
            <a:noFill/>
          </a:ln>
        </p:spPr>
        <p:txBody>
          <a:bodyPr rtlCol="0" anchor="ctr"/>
          <a:lstStyle/>
          <a:p>
            <a:pPr algn="ctr"/>
          </a:p>
        </p:txBody>
      </p:sp>
      <p:sp>
        <p:nvSpPr>
          <p:cNvPr id="30" name="TextBox 29"/>
          <p:cNvSpPr txBox="1"/>
          <p:nvPr/>
        </p:nvSpPr>
        <p:spPr>
          <a:xfrm>
            <a:off x="3658782" y="379310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-84</a:t>
            </a:r>
          </a:p>
        </p:txBody>
      </p:sp>
      <p:sp>
        <p:nvSpPr>
          <p:cNvPr id="31" name="TextBox 30"/>
          <p:cNvSpPr txBox="1"/>
          <p:nvPr/>
        </p:nvSpPr>
        <p:spPr>
          <a:xfrm>
            <a:off x="4625712" y="379310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+49</a:t>
            </a:r>
          </a:p>
        </p:txBody>
      </p:sp>
      <p:sp>
        <p:nvSpPr>
          <p:cNvPr id="32" name="TextBox 31"/>
          <p:cNvSpPr txBox="1"/>
          <p:nvPr/>
        </p:nvSpPr>
        <p:spPr>
          <a:xfrm>
            <a:off x="685800" y="4122287"/>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Care 요금 ±20%</a:t>
            </a:r>
          </a:p>
        </p:txBody>
      </p:sp>
      <p:sp>
        <p:nvSpPr>
          <p:cNvPr id="33" name="Rectangle 32"/>
          <p:cNvSpPr/>
          <p:nvPr/>
        </p:nvSpPr>
        <p:spPr>
          <a:xfrm>
            <a:off x="4245657" y="4195439"/>
            <a:ext cx="173866" cy="182879"/>
          </a:xfrm>
          <a:prstGeom prst="rect">
            <a:avLst/>
          </a:prstGeom>
          <a:solidFill>
            <a:srgbClr val="8C9198"/>
          </a:solidFill>
          <a:ln>
            <a:noFill/>
          </a:ln>
        </p:spPr>
        <p:txBody>
          <a:bodyPr rtlCol="0" anchor="ctr"/>
          <a:lstStyle/>
          <a:p>
            <a:pPr algn="ctr"/>
          </a:p>
        </p:txBody>
      </p:sp>
      <p:sp>
        <p:nvSpPr>
          <p:cNvPr id="34" name="Rectangle 33"/>
          <p:cNvSpPr/>
          <p:nvPr/>
        </p:nvSpPr>
        <p:spPr>
          <a:xfrm>
            <a:off x="4419523" y="4195439"/>
            <a:ext cx="173866" cy="182879"/>
          </a:xfrm>
          <a:prstGeom prst="rect">
            <a:avLst/>
          </a:prstGeom>
          <a:solidFill>
            <a:srgbClr val="F6C9B3"/>
          </a:solidFill>
          <a:ln>
            <a:noFill/>
          </a:ln>
        </p:spPr>
        <p:txBody>
          <a:bodyPr rtlCol="0" anchor="ctr"/>
          <a:lstStyle/>
          <a:p>
            <a:pPr algn="ctr"/>
          </a:p>
        </p:txBody>
      </p:sp>
      <p:sp>
        <p:nvSpPr>
          <p:cNvPr id="35" name="TextBox 34"/>
          <p:cNvSpPr txBox="1"/>
          <p:nvPr/>
        </p:nvSpPr>
        <p:spPr>
          <a:xfrm>
            <a:off x="3788457" y="412228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-48</a:t>
            </a:r>
          </a:p>
        </p:txBody>
      </p:sp>
      <p:sp>
        <p:nvSpPr>
          <p:cNvPr id="36" name="TextBox 35"/>
          <p:cNvSpPr txBox="1"/>
          <p:nvPr/>
        </p:nvSpPr>
        <p:spPr>
          <a:xfrm>
            <a:off x="4620822" y="412228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+48</a:t>
            </a:r>
          </a:p>
        </p:txBody>
      </p:sp>
      <p:sp>
        <p:nvSpPr>
          <p:cNvPr id="37" name="TextBox 36"/>
          <p:cNvSpPr txBox="1"/>
          <p:nvPr/>
        </p:nvSpPr>
        <p:spPr>
          <a:xfrm>
            <a:off x="685800" y="4451471"/>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방문 원가 ±30%</a:t>
            </a:r>
          </a:p>
        </p:txBody>
      </p:sp>
      <p:sp>
        <p:nvSpPr>
          <p:cNvPr id="38" name="Rectangle 37"/>
          <p:cNvSpPr/>
          <p:nvPr/>
        </p:nvSpPr>
        <p:spPr>
          <a:xfrm>
            <a:off x="4299990" y="4524623"/>
            <a:ext cx="119533" cy="182879"/>
          </a:xfrm>
          <a:prstGeom prst="rect">
            <a:avLst/>
          </a:prstGeom>
          <a:solidFill>
            <a:srgbClr val="8C9198"/>
          </a:solidFill>
          <a:ln>
            <a:noFill/>
          </a:ln>
        </p:spPr>
        <p:txBody>
          <a:bodyPr rtlCol="0" anchor="ctr"/>
          <a:lstStyle/>
          <a:p>
            <a:pPr algn="ctr"/>
          </a:p>
        </p:txBody>
      </p:sp>
      <p:sp>
        <p:nvSpPr>
          <p:cNvPr id="39" name="Rectangle 38"/>
          <p:cNvSpPr/>
          <p:nvPr/>
        </p:nvSpPr>
        <p:spPr>
          <a:xfrm>
            <a:off x="4419523" y="4524623"/>
            <a:ext cx="119533" cy="182879"/>
          </a:xfrm>
          <a:prstGeom prst="rect">
            <a:avLst/>
          </a:prstGeom>
          <a:solidFill>
            <a:srgbClr val="F6C9B3"/>
          </a:solidFill>
          <a:ln>
            <a:noFill/>
          </a:ln>
        </p:spPr>
        <p:txBody>
          <a:bodyPr rtlCol="0" anchor="ctr"/>
          <a:lstStyle/>
          <a:p>
            <a:pPr algn="ctr"/>
          </a:p>
        </p:txBody>
      </p:sp>
      <p:sp>
        <p:nvSpPr>
          <p:cNvPr id="40" name="TextBox 39"/>
          <p:cNvSpPr txBox="1"/>
          <p:nvPr/>
        </p:nvSpPr>
        <p:spPr>
          <a:xfrm>
            <a:off x="3842790" y="445147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-33</a:t>
            </a:r>
          </a:p>
        </p:txBody>
      </p:sp>
      <p:sp>
        <p:nvSpPr>
          <p:cNvPr id="41" name="TextBox 40"/>
          <p:cNvSpPr txBox="1"/>
          <p:nvPr/>
        </p:nvSpPr>
        <p:spPr>
          <a:xfrm>
            <a:off x="4566488" y="445147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+33</a:t>
            </a:r>
          </a:p>
        </p:txBody>
      </p:sp>
      <p:sp>
        <p:nvSpPr>
          <p:cNvPr id="42" name="TextBox 41"/>
          <p:cNvSpPr txBox="1"/>
          <p:nvPr/>
        </p:nvSpPr>
        <p:spPr>
          <a:xfrm>
            <a:off x="685800" y="4780655"/>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Standard Module 사용률 -15pp/+15pp</a:t>
            </a:r>
          </a:p>
        </p:txBody>
      </p:sp>
      <p:sp>
        <p:nvSpPr>
          <p:cNvPr id="43" name="Rectangle 42"/>
          <p:cNvSpPr/>
          <p:nvPr/>
        </p:nvSpPr>
        <p:spPr>
          <a:xfrm>
            <a:off x="4299990" y="4853807"/>
            <a:ext cx="119533" cy="182879"/>
          </a:xfrm>
          <a:prstGeom prst="rect">
            <a:avLst/>
          </a:prstGeom>
          <a:solidFill>
            <a:srgbClr val="8C9198"/>
          </a:solidFill>
          <a:ln>
            <a:noFill/>
          </a:ln>
        </p:spPr>
        <p:txBody>
          <a:bodyPr rtlCol="0" anchor="ctr"/>
          <a:lstStyle/>
          <a:p>
            <a:pPr algn="ctr"/>
          </a:p>
        </p:txBody>
      </p:sp>
      <p:sp>
        <p:nvSpPr>
          <p:cNvPr id="44" name="Rectangle 43"/>
          <p:cNvSpPr/>
          <p:nvPr/>
        </p:nvSpPr>
        <p:spPr>
          <a:xfrm>
            <a:off x="4419523" y="4853807"/>
            <a:ext cx="119533" cy="182879"/>
          </a:xfrm>
          <a:prstGeom prst="rect">
            <a:avLst/>
          </a:prstGeom>
          <a:solidFill>
            <a:srgbClr val="F6C9B3"/>
          </a:solidFill>
          <a:ln>
            <a:noFill/>
          </a:ln>
        </p:spPr>
        <p:txBody>
          <a:bodyPr rtlCol="0" anchor="ctr"/>
          <a:lstStyle/>
          <a:p>
            <a:pPr algn="ctr"/>
          </a:p>
        </p:txBody>
      </p:sp>
      <p:sp>
        <p:nvSpPr>
          <p:cNvPr id="45" name="TextBox 44"/>
          <p:cNvSpPr txBox="1"/>
          <p:nvPr/>
        </p:nvSpPr>
        <p:spPr>
          <a:xfrm>
            <a:off x="3842790" y="478065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-33</a:t>
            </a:r>
          </a:p>
        </p:txBody>
      </p:sp>
      <p:sp>
        <p:nvSpPr>
          <p:cNvPr id="46" name="TextBox 45"/>
          <p:cNvSpPr txBox="1"/>
          <p:nvPr/>
        </p:nvSpPr>
        <p:spPr>
          <a:xfrm>
            <a:off x="4566488" y="478065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+33</a:t>
            </a:r>
          </a:p>
        </p:txBody>
      </p:sp>
      <p:sp>
        <p:nvSpPr>
          <p:cNvPr id="47" name="TextBox 46"/>
          <p:cNvSpPr txBox="1"/>
          <p:nvPr/>
        </p:nvSpPr>
        <p:spPr>
          <a:xfrm>
            <a:off x="685800" y="510983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설치 원가 ±50%</a:t>
            </a:r>
          </a:p>
        </p:txBody>
      </p:sp>
      <p:sp>
        <p:nvSpPr>
          <p:cNvPr id="48" name="Rectangle 47"/>
          <p:cNvSpPr/>
          <p:nvPr/>
        </p:nvSpPr>
        <p:spPr>
          <a:xfrm>
            <a:off x="4310857" y="5182991"/>
            <a:ext cx="108666" cy="182879"/>
          </a:xfrm>
          <a:prstGeom prst="rect">
            <a:avLst/>
          </a:prstGeom>
          <a:solidFill>
            <a:srgbClr val="8C9198"/>
          </a:solidFill>
          <a:ln>
            <a:noFill/>
          </a:ln>
        </p:spPr>
        <p:txBody>
          <a:bodyPr rtlCol="0" anchor="ctr"/>
          <a:lstStyle/>
          <a:p>
            <a:pPr algn="ctr"/>
          </a:p>
        </p:txBody>
      </p:sp>
      <p:sp>
        <p:nvSpPr>
          <p:cNvPr id="49" name="Rectangle 48"/>
          <p:cNvSpPr/>
          <p:nvPr/>
        </p:nvSpPr>
        <p:spPr>
          <a:xfrm>
            <a:off x="4419523" y="5182991"/>
            <a:ext cx="108666" cy="182879"/>
          </a:xfrm>
          <a:prstGeom prst="rect">
            <a:avLst/>
          </a:prstGeom>
          <a:solidFill>
            <a:srgbClr val="F6C9B3"/>
          </a:solidFill>
          <a:ln>
            <a:noFill/>
          </a:ln>
        </p:spPr>
        <p:txBody>
          <a:bodyPr rtlCol="0" anchor="ctr"/>
          <a:lstStyle/>
          <a:p>
            <a:pPr algn="ctr"/>
          </a:p>
        </p:txBody>
      </p:sp>
      <p:sp>
        <p:nvSpPr>
          <p:cNvPr id="50" name="TextBox 49"/>
          <p:cNvSpPr txBox="1"/>
          <p:nvPr/>
        </p:nvSpPr>
        <p:spPr>
          <a:xfrm>
            <a:off x="3853657" y="510983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-30</a:t>
            </a:r>
          </a:p>
        </p:txBody>
      </p:sp>
      <p:sp>
        <p:nvSpPr>
          <p:cNvPr id="51" name="TextBox 50"/>
          <p:cNvSpPr txBox="1"/>
          <p:nvPr/>
        </p:nvSpPr>
        <p:spPr>
          <a:xfrm>
            <a:off x="4555622" y="510983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+30</a:t>
            </a:r>
          </a:p>
        </p:txBody>
      </p:sp>
      <p:sp>
        <p:nvSpPr>
          <p:cNvPr id="52" name="TextBox 51"/>
          <p:cNvSpPr txBox="1"/>
          <p:nvPr/>
        </p:nvSpPr>
        <p:spPr>
          <a:xfrm>
            <a:off x="685800" y="543902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Consumables 구매율 50% ↔ 90%</a:t>
            </a:r>
          </a:p>
        </p:txBody>
      </p:sp>
      <p:sp>
        <p:nvSpPr>
          <p:cNvPr id="53" name="Rectangle 52"/>
          <p:cNvSpPr/>
          <p:nvPr/>
        </p:nvSpPr>
        <p:spPr>
          <a:xfrm>
            <a:off x="4334763" y="5512175"/>
            <a:ext cx="84759" cy="182879"/>
          </a:xfrm>
          <a:prstGeom prst="rect">
            <a:avLst/>
          </a:prstGeom>
          <a:solidFill>
            <a:srgbClr val="8C9198"/>
          </a:solidFill>
          <a:ln>
            <a:noFill/>
          </a:ln>
        </p:spPr>
        <p:txBody>
          <a:bodyPr rtlCol="0" anchor="ctr"/>
          <a:lstStyle/>
          <a:p>
            <a:pPr algn="ctr"/>
          </a:p>
        </p:txBody>
      </p:sp>
      <p:sp>
        <p:nvSpPr>
          <p:cNvPr id="54" name="Rectangle 53"/>
          <p:cNvSpPr/>
          <p:nvPr/>
        </p:nvSpPr>
        <p:spPr>
          <a:xfrm>
            <a:off x="4419523" y="5512175"/>
            <a:ext cx="84759" cy="182879"/>
          </a:xfrm>
          <a:prstGeom prst="rect">
            <a:avLst/>
          </a:prstGeom>
          <a:solidFill>
            <a:srgbClr val="F6C9B3"/>
          </a:solidFill>
          <a:ln>
            <a:noFill/>
          </a:ln>
        </p:spPr>
        <p:txBody>
          <a:bodyPr rtlCol="0" anchor="ctr"/>
          <a:lstStyle/>
          <a:p>
            <a:pPr algn="ctr"/>
          </a:p>
        </p:txBody>
      </p:sp>
      <p:sp>
        <p:nvSpPr>
          <p:cNvPr id="55" name="TextBox 54"/>
          <p:cNvSpPr txBox="1"/>
          <p:nvPr/>
        </p:nvSpPr>
        <p:spPr>
          <a:xfrm>
            <a:off x="3877563" y="543902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-23</a:t>
            </a:r>
          </a:p>
        </p:txBody>
      </p:sp>
      <p:sp>
        <p:nvSpPr>
          <p:cNvPr id="56" name="TextBox 55"/>
          <p:cNvSpPr txBox="1"/>
          <p:nvPr/>
        </p:nvSpPr>
        <p:spPr>
          <a:xfrm>
            <a:off x="4531715" y="543902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+23</a:t>
            </a:r>
          </a:p>
        </p:txBody>
      </p:sp>
      <p:cxnSp>
        <p:nvCxnSpPr>
          <p:cNvPr id="57" name="Connector 56"/>
          <p:cNvCxnSpPr/>
          <p:nvPr/>
        </p:nvCxnSpPr>
        <p:spPr>
          <a:xfrm>
            <a:off x="4419523" y="2448935"/>
            <a:ext cx="0" cy="3346704"/>
          </a:xfrm>
          <a:prstGeom prst="line">
            <a:avLst/>
          </a:prstGeom>
          <a:ln w="9525">
            <a:solidFill>
              <a:srgbClr val="15171A"/>
            </a:solidFill>
          </a:ln>
        </p:spPr>
      </p:cxnSp>
      <p:sp>
        <p:nvSpPr>
          <p:cNvPr id="58" name="TextBox 57"/>
          <p:cNvSpPr txBox="1"/>
          <p:nvPr/>
        </p:nvSpPr>
        <p:spPr>
          <a:xfrm>
            <a:off x="6278727" y="1790567"/>
            <a:ext cx="522716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회사 Y5 Contribution (Base)</a:t>
            </a:r>
          </a:p>
        </p:txBody>
      </p:sp>
      <p:sp>
        <p:nvSpPr>
          <p:cNvPr id="59" name="TextBox 58"/>
          <p:cNvSpPr txBox="1"/>
          <p:nvPr/>
        </p:nvSpPr>
        <p:spPr>
          <a:xfrm>
            <a:off x="6278727" y="2083175"/>
            <a:ext cx="5227167"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20.3억원 · 변화 (억원)</a:t>
            </a:r>
          </a:p>
        </p:txBody>
      </p:sp>
      <p:sp>
        <p:nvSpPr>
          <p:cNvPr id="60" name="TextBox 59"/>
          <p:cNvSpPr txBox="1"/>
          <p:nvPr/>
        </p:nvSpPr>
        <p:spPr>
          <a:xfrm>
            <a:off x="6278727" y="2476367"/>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Customer WTP (Robot ASP·증분가 ±20%)</a:t>
            </a:r>
          </a:p>
        </p:txBody>
      </p:sp>
      <p:sp>
        <p:nvSpPr>
          <p:cNvPr id="61" name="Rectangle 60"/>
          <p:cNvSpPr/>
          <p:nvPr/>
        </p:nvSpPr>
        <p:spPr>
          <a:xfrm>
            <a:off x="8976207" y="2549519"/>
            <a:ext cx="1036243" cy="182879"/>
          </a:xfrm>
          <a:prstGeom prst="rect">
            <a:avLst/>
          </a:prstGeom>
          <a:solidFill>
            <a:srgbClr val="8C9198"/>
          </a:solidFill>
          <a:ln>
            <a:noFill/>
          </a:ln>
        </p:spPr>
        <p:txBody>
          <a:bodyPr rtlCol="0" anchor="ctr"/>
          <a:lstStyle/>
          <a:p>
            <a:pPr algn="ctr"/>
          </a:p>
        </p:txBody>
      </p:sp>
      <p:sp>
        <p:nvSpPr>
          <p:cNvPr id="62" name="Rectangle 61"/>
          <p:cNvSpPr/>
          <p:nvPr/>
        </p:nvSpPr>
        <p:spPr>
          <a:xfrm>
            <a:off x="10012451" y="2549519"/>
            <a:ext cx="1036243" cy="182879"/>
          </a:xfrm>
          <a:prstGeom prst="rect">
            <a:avLst/>
          </a:prstGeom>
          <a:solidFill>
            <a:srgbClr val="E2571B"/>
          </a:solidFill>
          <a:ln>
            <a:noFill/>
          </a:ln>
        </p:spPr>
        <p:txBody>
          <a:bodyPr rtlCol="0" anchor="ctr"/>
          <a:lstStyle/>
          <a:p>
            <a:pPr algn="ctr"/>
          </a:p>
        </p:txBody>
      </p:sp>
      <p:sp>
        <p:nvSpPr>
          <p:cNvPr id="63" name="TextBox 62"/>
          <p:cNvSpPr txBox="1"/>
          <p:nvPr/>
        </p:nvSpPr>
        <p:spPr>
          <a:xfrm>
            <a:off x="8519007" y="247636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-12.3</a:t>
            </a:r>
          </a:p>
        </p:txBody>
      </p:sp>
      <p:sp>
        <p:nvSpPr>
          <p:cNvPr id="64" name="TextBox 63"/>
          <p:cNvSpPr txBox="1"/>
          <p:nvPr/>
        </p:nvSpPr>
        <p:spPr>
          <a:xfrm>
            <a:off x="11076127" y="247636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+12.3</a:t>
            </a:r>
          </a:p>
        </p:txBody>
      </p:sp>
      <p:sp>
        <p:nvSpPr>
          <p:cNvPr id="65" name="TextBox 64"/>
          <p:cNvSpPr txBox="1"/>
          <p:nvPr/>
        </p:nvSpPr>
        <p:spPr>
          <a:xfrm>
            <a:off x="6278727" y="2805551"/>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BOM ±20%</a:t>
            </a:r>
          </a:p>
        </p:txBody>
      </p:sp>
      <p:sp>
        <p:nvSpPr>
          <p:cNvPr id="66" name="Rectangle 65"/>
          <p:cNvSpPr/>
          <p:nvPr/>
        </p:nvSpPr>
        <p:spPr>
          <a:xfrm>
            <a:off x="9457904" y="2878703"/>
            <a:ext cx="554546" cy="182879"/>
          </a:xfrm>
          <a:prstGeom prst="rect">
            <a:avLst/>
          </a:prstGeom>
          <a:solidFill>
            <a:srgbClr val="8C9198"/>
          </a:solidFill>
          <a:ln>
            <a:noFill/>
          </a:ln>
        </p:spPr>
        <p:txBody>
          <a:bodyPr rtlCol="0" anchor="ctr"/>
          <a:lstStyle/>
          <a:p>
            <a:pPr algn="ctr"/>
          </a:p>
        </p:txBody>
      </p:sp>
      <p:sp>
        <p:nvSpPr>
          <p:cNvPr id="67" name="Rectangle 66"/>
          <p:cNvSpPr/>
          <p:nvPr/>
        </p:nvSpPr>
        <p:spPr>
          <a:xfrm>
            <a:off x="10012451" y="2878703"/>
            <a:ext cx="554546" cy="182879"/>
          </a:xfrm>
          <a:prstGeom prst="rect">
            <a:avLst/>
          </a:prstGeom>
          <a:solidFill>
            <a:srgbClr val="E2571B"/>
          </a:solidFill>
          <a:ln>
            <a:noFill/>
          </a:ln>
        </p:spPr>
        <p:txBody>
          <a:bodyPr rtlCol="0" anchor="ctr"/>
          <a:lstStyle/>
          <a:p>
            <a:pPr algn="ctr"/>
          </a:p>
        </p:txBody>
      </p:sp>
      <p:sp>
        <p:nvSpPr>
          <p:cNvPr id="68" name="TextBox 67"/>
          <p:cNvSpPr txBox="1"/>
          <p:nvPr/>
        </p:nvSpPr>
        <p:spPr>
          <a:xfrm>
            <a:off x="9000704" y="280555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-6.6</a:t>
            </a:r>
          </a:p>
        </p:txBody>
      </p:sp>
      <p:sp>
        <p:nvSpPr>
          <p:cNvPr id="69" name="TextBox 68"/>
          <p:cNvSpPr txBox="1"/>
          <p:nvPr/>
        </p:nvSpPr>
        <p:spPr>
          <a:xfrm>
            <a:off x="10594430" y="280555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+6.6</a:t>
            </a:r>
          </a:p>
        </p:txBody>
      </p:sp>
      <p:sp>
        <p:nvSpPr>
          <p:cNvPr id="70" name="TextBox 69"/>
          <p:cNvSpPr txBox="1"/>
          <p:nvPr/>
        </p:nvSpPr>
        <p:spPr>
          <a:xfrm>
            <a:off x="6278727" y="3134735"/>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Partner 경유 Kitchen ±30%</a:t>
            </a:r>
          </a:p>
        </p:txBody>
      </p:sp>
      <p:sp>
        <p:nvSpPr>
          <p:cNvPr id="71" name="Rectangle 70"/>
          <p:cNvSpPr/>
          <p:nvPr/>
        </p:nvSpPr>
        <p:spPr>
          <a:xfrm>
            <a:off x="9609400" y="3207887"/>
            <a:ext cx="403050" cy="182879"/>
          </a:xfrm>
          <a:prstGeom prst="rect">
            <a:avLst/>
          </a:prstGeom>
          <a:solidFill>
            <a:srgbClr val="8C9198"/>
          </a:solidFill>
          <a:ln>
            <a:noFill/>
          </a:ln>
        </p:spPr>
        <p:txBody>
          <a:bodyPr rtlCol="0" anchor="ctr"/>
          <a:lstStyle/>
          <a:p>
            <a:pPr algn="ctr"/>
          </a:p>
        </p:txBody>
      </p:sp>
      <p:sp>
        <p:nvSpPr>
          <p:cNvPr id="72" name="Rectangle 71"/>
          <p:cNvSpPr/>
          <p:nvPr/>
        </p:nvSpPr>
        <p:spPr>
          <a:xfrm>
            <a:off x="10012451" y="3207887"/>
            <a:ext cx="403050" cy="182879"/>
          </a:xfrm>
          <a:prstGeom prst="rect">
            <a:avLst/>
          </a:prstGeom>
          <a:solidFill>
            <a:srgbClr val="E2571B"/>
          </a:solidFill>
          <a:ln>
            <a:noFill/>
          </a:ln>
        </p:spPr>
        <p:txBody>
          <a:bodyPr rtlCol="0" anchor="ctr"/>
          <a:lstStyle/>
          <a:p>
            <a:pPr algn="ctr"/>
          </a:p>
        </p:txBody>
      </p:sp>
      <p:sp>
        <p:nvSpPr>
          <p:cNvPr id="73" name="TextBox 72"/>
          <p:cNvSpPr txBox="1"/>
          <p:nvPr/>
        </p:nvSpPr>
        <p:spPr>
          <a:xfrm>
            <a:off x="9152200" y="313473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-4.8</a:t>
            </a:r>
          </a:p>
        </p:txBody>
      </p:sp>
      <p:sp>
        <p:nvSpPr>
          <p:cNvPr id="74" name="TextBox 73"/>
          <p:cNvSpPr txBox="1"/>
          <p:nvPr/>
        </p:nvSpPr>
        <p:spPr>
          <a:xfrm>
            <a:off x="10442933" y="313473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+4.8</a:t>
            </a:r>
          </a:p>
        </p:txBody>
      </p:sp>
      <p:sp>
        <p:nvSpPr>
          <p:cNvPr id="75" name="TextBox 74"/>
          <p:cNvSpPr txBox="1"/>
          <p:nvPr/>
        </p:nvSpPr>
        <p:spPr>
          <a:xfrm>
            <a:off x="6278727" y="346391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Robot Attach Rate 65% ↔ 95%</a:t>
            </a:r>
          </a:p>
        </p:txBody>
      </p:sp>
      <p:sp>
        <p:nvSpPr>
          <p:cNvPr id="76" name="Rectangle 75"/>
          <p:cNvSpPr/>
          <p:nvPr/>
        </p:nvSpPr>
        <p:spPr>
          <a:xfrm>
            <a:off x="9749190" y="3537071"/>
            <a:ext cx="263261" cy="182879"/>
          </a:xfrm>
          <a:prstGeom prst="rect">
            <a:avLst/>
          </a:prstGeom>
          <a:solidFill>
            <a:srgbClr val="8C9198"/>
          </a:solidFill>
          <a:ln>
            <a:noFill/>
          </a:ln>
        </p:spPr>
        <p:txBody>
          <a:bodyPr rtlCol="0" anchor="ctr"/>
          <a:lstStyle/>
          <a:p>
            <a:pPr algn="ctr"/>
          </a:p>
        </p:txBody>
      </p:sp>
      <p:sp>
        <p:nvSpPr>
          <p:cNvPr id="77" name="Rectangle 76"/>
          <p:cNvSpPr/>
          <p:nvPr/>
        </p:nvSpPr>
        <p:spPr>
          <a:xfrm>
            <a:off x="10012451" y="3537071"/>
            <a:ext cx="131630" cy="182879"/>
          </a:xfrm>
          <a:prstGeom prst="rect">
            <a:avLst/>
          </a:prstGeom>
          <a:solidFill>
            <a:srgbClr val="F6C9B3"/>
          </a:solidFill>
          <a:ln>
            <a:noFill/>
          </a:ln>
        </p:spPr>
        <p:txBody>
          <a:bodyPr rtlCol="0" anchor="ctr"/>
          <a:lstStyle/>
          <a:p>
            <a:pPr algn="ctr"/>
          </a:p>
        </p:txBody>
      </p:sp>
      <p:sp>
        <p:nvSpPr>
          <p:cNvPr id="78" name="TextBox 77"/>
          <p:cNvSpPr txBox="1"/>
          <p:nvPr/>
        </p:nvSpPr>
        <p:spPr>
          <a:xfrm>
            <a:off x="9291990" y="346391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-3.1</a:t>
            </a:r>
          </a:p>
        </p:txBody>
      </p:sp>
      <p:sp>
        <p:nvSpPr>
          <p:cNvPr id="79" name="TextBox 78"/>
          <p:cNvSpPr txBox="1"/>
          <p:nvPr/>
        </p:nvSpPr>
        <p:spPr>
          <a:xfrm>
            <a:off x="10171513" y="346391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+1.6</a:t>
            </a:r>
          </a:p>
        </p:txBody>
      </p:sp>
      <p:sp>
        <p:nvSpPr>
          <p:cNvPr id="80" name="TextBox 79"/>
          <p:cNvSpPr txBox="1"/>
          <p:nvPr/>
        </p:nvSpPr>
        <p:spPr>
          <a:xfrm>
            <a:off x="6278727" y="379310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Failure Rate 0.3 ↔ 1.2회</a:t>
            </a:r>
          </a:p>
        </p:txBody>
      </p:sp>
      <p:sp>
        <p:nvSpPr>
          <p:cNvPr id="81" name="Rectangle 80"/>
          <p:cNvSpPr/>
          <p:nvPr/>
        </p:nvSpPr>
        <p:spPr>
          <a:xfrm>
            <a:off x="9897434" y="3866255"/>
            <a:ext cx="115016" cy="182879"/>
          </a:xfrm>
          <a:prstGeom prst="rect">
            <a:avLst/>
          </a:prstGeom>
          <a:solidFill>
            <a:srgbClr val="8C9198"/>
          </a:solidFill>
          <a:ln>
            <a:noFill/>
          </a:ln>
        </p:spPr>
        <p:txBody>
          <a:bodyPr rtlCol="0" anchor="ctr"/>
          <a:lstStyle/>
          <a:p>
            <a:pPr algn="ctr"/>
          </a:p>
        </p:txBody>
      </p:sp>
      <p:sp>
        <p:nvSpPr>
          <p:cNvPr id="82" name="Rectangle 81"/>
          <p:cNvSpPr/>
          <p:nvPr/>
        </p:nvSpPr>
        <p:spPr>
          <a:xfrm>
            <a:off x="10012451" y="3866255"/>
            <a:ext cx="79169" cy="182879"/>
          </a:xfrm>
          <a:prstGeom prst="rect">
            <a:avLst/>
          </a:prstGeom>
          <a:solidFill>
            <a:srgbClr val="F6C9B3"/>
          </a:solidFill>
          <a:ln>
            <a:noFill/>
          </a:ln>
        </p:spPr>
        <p:txBody>
          <a:bodyPr rtlCol="0" anchor="ctr"/>
          <a:lstStyle/>
          <a:p>
            <a:pPr algn="ctr"/>
          </a:p>
        </p:txBody>
      </p:sp>
      <p:sp>
        <p:nvSpPr>
          <p:cNvPr id="83" name="TextBox 82"/>
          <p:cNvSpPr txBox="1"/>
          <p:nvPr/>
        </p:nvSpPr>
        <p:spPr>
          <a:xfrm>
            <a:off x="9440234" y="379310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-1.4</a:t>
            </a:r>
          </a:p>
        </p:txBody>
      </p:sp>
      <p:sp>
        <p:nvSpPr>
          <p:cNvPr id="84" name="TextBox 83"/>
          <p:cNvSpPr txBox="1"/>
          <p:nvPr/>
        </p:nvSpPr>
        <p:spPr>
          <a:xfrm>
            <a:off x="10119052" y="379310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+0.9</a:t>
            </a:r>
          </a:p>
        </p:txBody>
      </p:sp>
      <p:sp>
        <p:nvSpPr>
          <p:cNvPr id="85" name="TextBox 84"/>
          <p:cNvSpPr txBox="1"/>
          <p:nvPr/>
        </p:nvSpPr>
        <p:spPr>
          <a:xfrm>
            <a:off x="6278727" y="4122287"/>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Rental 비중 20% ↔ 60%</a:t>
            </a:r>
          </a:p>
        </p:txBody>
      </p:sp>
      <p:sp>
        <p:nvSpPr>
          <p:cNvPr id="86" name="Rectangle 85"/>
          <p:cNvSpPr/>
          <p:nvPr/>
        </p:nvSpPr>
        <p:spPr>
          <a:xfrm>
            <a:off x="9916554" y="4195439"/>
            <a:ext cx="95897" cy="182879"/>
          </a:xfrm>
          <a:prstGeom prst="rect">
            <a:avLst/>
          </a:prstGeom>
          <a:solidFill>
            <a:srgbClr val="8C9198"/>
          </a:solidFill>
          <a:ln>
            <a:noFill/>
          </a:ln>
        </p:spPr>
        <p:txBody>
          <a:bodyPr rtlCol="0" anchor="ctr"/>
          <a:lstStyle/>
          <a:p>
            <a:pPr algn="ctr"/>
          </a:p>
        </p:txBody>
      </p:sp>
      <p:sp>
        <p:nvSpPr>
          <p:cNvPr id="87" name="Rectangle 86"/>
          <p:cNvSpPr/>
          <p:nvPr/>
        </p:nvSpPr>
        <p:spPr>
          <a:xfrm>
            <a:off x="10012451" y="4195439"/>
            <a:ext cx="95897" cy="182879"/>
          </a:xfrm>
          <a:prstGeom prst="rect">
            <a:avLst/>
          </a:prstGeom>
          <a:solidFill>
            <a:srgbClr val="F6C9B3"/>
          </a:solidFill>
          <a:ln>
            <a:noFill/>
          </a:ln>
        </p:spPr>
        <p:txBody>
          <a:bodyPr rtlCol="0" anchor="ctr"/>
          <a:lstStyle/>
          <a:p>
            <a:pPr algn="ctr"/>
          </a:p>
        </p:txBody>
      </p:sp>
      <p:sp>
        <p:nvSpPr>
          <p:cNvPr id="88" name="TextBox 87"/>
          <p:cNvSpPr txBox="1"/>
          <p:nvPr/>
        </p:nvSpPr>
        <p:spPr>
          <a:xfrm>
            <a:off x="9459354" y="412228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-1.1</a:t>
            </a:r>
          </a:p>
        </p:txBody>
      </p:sp>
      <p:sp>
        <p:nvSpPr>
          <p:cNvPr id="89" name="TextBox 88"/>
          <p:cNvSpPr txBox="1"/>
          <p:nvPr/>
        </p:nvSpPr>
        <p:spPr>
          <a:xfrm>
            <a:off x="10135780" y="412228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+1.1</a:t>
            </a:r>
          </a:p>
        </p:txBody>
      </p:sp>
      <p:sp>
        <p:nvSpPr>
          <p:cNvPr id="90" name="TextBox 89"/>
          <p:cNvSpPr txBox="1"/>
          <p:nvPr/>
        </p:nvSpPr>
        <p:spPr>
          <a:xfrm>
            <a:off x="6278727" y="4451471"/>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Standard Module 사용률 -15pp/+10pp</a:t>
            </a:r>
          </a:p>
        </p:txBody>
      </p:sp>
      <p:sp>
        <p:nvSpPr>
          <p:cNvPr id="91" name="Rectangle 90"/>
          <p:cNvSpPr/>
          <p:nvPr/>
        </p:nvSpPr>
        <p:spPr>
          <a:xfrm>
            <a:off x="9901508" y="4524623"/>
            <a:ext cx="110942" cy="182879"/>
          </a:xfrm>
          <a:prstGeom prst="rect">
            <a:avLst/>
          </a:prstGeom>
          <a:solidFill>
            <a:srgbClr val="8C9198"/>
          </a:solidFill>
          <a:ln>
            <a:noFill/>
          </a:ln>
        </p:spPr>
        <p:txBody>
          <a:bodyPr rtlCol="0" anchor="ctr"/>
          <a:lstStyle/>
          <a:p>
            <a:pPr algn="ctr"/>
          </a:p>
        </p:txBody>
      </p:sp>
      <p:sp>
        <p:nvSpPr>
          <p:cNvPr id="92" name="Rectangle 91"/>
          <p:cNvSpPr/>
          <p:nvPr/>
        </p:nvSpPr>
        <p:spPr>
          <a:xfrm>
            <a:off x="10012451" y="4524623"/>
            <a:ext cx="73961" cy="182879"/>
          </a:xfrm>
          <a:prstGeom prst="rect">
            <a:avLst/>
          </a:prstGeom>
          <a:solidFill>
            <a:srgbClr val="F6C9B3"/>
          </a:solidFill>
          <a:ln>
            <a:noFill/>
          </a:ln>
        </p:spPr>
        <p:txBody>
          <a:bodyPr rtlCol="0" anchor="ctr"/>
          <a:lstStyle/>
          <a:p>
            <a:pPr algn="ctr"/>
          </a:p>
        </p:txBody>
      </p:sp>
      <p:sp>
        <p:nvSpPr>
          <p:cNvPr id="93" name="TextBox 92"/>
          <p:cNvSpPr txBox="1"/>
          <p:nvPr/>
        </p:nvSpPr>
        <p:spPr>
          <a:xfrm>
            <a:off x="9444308" y="445147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-1.3</a:t>
            </a:r>
          </a:p>
        </p:txBody>
      </p:sp>
      <p:sp>
        <p:nvSpPr>
          <p:cNvPr id="94" name="TextBox 93"/>
          <p:cNvSpPr txBox="1"/>
          <p:nvPr/>
        </p:nvSpPr>
        <p:spPr>
          <a:xfrm>
            <a:off x="10113845" y="445147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+0.9</a:t>
            </a:r>
          </a:p>
        </p:txBody>
      </p:sp>
      <p:sp>
        <p:nvSpPr>
          <p:cNvPr id="95" name="TextBox 94"/>
          <p:cNvSpPr txBox="1"/>
          <p:nvPr/>
        </p:nvSpPr>
        <p:spPr>
          <a:xfrm>
            <a:off x="6278727" y="4780655"/>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신축 Option 선택률 5% ↔ 15%</a:t>
            </a:r>
          </a:p>
        </p:txBody>
      </p:sp>
      <p:sp>
        <p:nvSpPr>
          <p:cNvPr id="96" name="Rectangle 95"/>
          <p:cNvSpPr/>
          <p:nvPr/>
        </p:nvSpPr>
        <p:spPr>
          <a:xfrm>
            <a:off x="9946681" y="4853807"/>
            <a:ext cx="65769" cy="182879"/>
          </a:xfrm>
          <a:prstGeom prst="rect">
            <a:avLst/>
          </a:prstGeom>
          <a:solidFill>
            <a:srgbClr val="8C9198"/>
          </a:solidFill>
          <a:ln>
            <a:noFill/>
          </a:ln>
        </p:spPr>
        <p:txBody>
          <a:bodyPr rtlCol="0" anchor="ctr"/>
          <a:lstStyle/>
          <a:p>
            <a:pPr algn="ctr"/>
          </a:p>
        </p:txBody>
      </p:sp>
      <p:sp>
        <p:nvSpPr>
          <p:cNvPr id="97" name="Rectangle 96"/>
          <p:cNvSpPr/>
          <p:nvPr/>
        </p:nvSpPr>
        <p:spPr>
          <a:xfrm>
            <a:off x="10012451" y="4853807"/>
            <a:ext cx="65769" cy="182879"/>
          </a:xfrm>
          <a:prstGeom prst="rect">
            <a:avLst/>
          </a:prstGeom>
          <a:solidFill>
            <a:srgbClr val="F6C9B3"/>
          </a:solidFill>
          <a:ln>
            <a:noFill/>
          </a:ln>
        </p:spPr>
        <p:txBody>
          <a:bodyPr rtlCol="0" anchor="ctr"/>
          <a:lstStyle/>
          <a:p>
            <a:pPr algn="ctr"/>
          </a:p>
        </p:txBody>
      </p:sp>
      <p:sp>
        <p:nvSpPr>
          <p:cNvPr id="98" name="TextBox 97"/>
          <p:cNvSpPr txBox="1"/>
          <p:nvPr/>
        </p:nvSpPr>
        <p:spPr>
          <a:xfrm>
            <a:off x="9489481" y="478065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-0.8</a:t>
            </a:r>
          </a:p>
        </p:txBody>
      </p:sp>
      <p:sp>
        <p:nvSpPr>
          <p:cNvPr id="99" name="TextBox 98"/>
          <p:cNvSpPr txBox="1"/>
          <p:nvPr/>
        </p:nvSpPr>
        <p:spPr>
          <a:xfrm>
            <a:off x="10105652" y="478065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+0.8</a:t>
            </a:r>
          </a:p>
        </p:txBody>
      </p:sp>
      <p:sp>
        <p:nvSpPr>
          <p:cNvPr id="100" name="TextBox 99"/>
          <p:cNvSpPr txBox="1"/>
          <p:nvPr/>
        </p:nvSpPr>
        <p:spPr>
          <a:xfrm>
            <a:off x="6278727" y="510983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설치 원가 ±50%</a:t>
            </a:r>
          </a:p>
        </p:txBody>
      </p:sp>
      <p:sp>
        <p:nvSpPr>
          <p:cNvPr id="101" name="Rectangle 100"/>
          <p:cNvSpPr/>
          <p:nvPr/>
        </p:nvSpPr>
        <p:spPr>
          <a:xfrm>
            <a:off x="9954423" y="5182991"/>
            <a:ext cx="58027" cy="182879"/>
          </a:xfrm>
          <a:prstGeom prst="rect">
            <a:avLst/>
          </a:prstGeom>
          <a:solidFill>
            <a:srgbClr val="8C9198"/>
          </a:solidFill>
          <a:ln>
            <a:noFill/>
          </a:ln>
        </p:spPr>
        <p:txBody>
          <a:bodyPr rtlCol="0" anchor="ctr"/>
          <a:lstStyle/>
          <a:p>
            <a:pPr algn="ctr"/>
          </a:p>
        </p:txBody>
      </p:sp>
      <p:sp>
        <p:nvSpPr>
          <p:cNvPr id="102" name="Rectangle 101"/>
          <p:cNvSpPr/>
          <p:nvPr/>
        </p:nvSpPr>
        <p:spPr>
          <a:xfrm>
            <a:off x="10012451" y="5182991"/>
            <a:ext cx="58027" cy="182879"/>
          </a:xfrm>
          <a:prstGeom prst="rect">
            <a:avLst/>
          </a:prstGeom>
          <a:solidFill>
            <a:srgbClr val="F6C9B3"/>
          </a:solidFill>
          <a:ln>
            <a:noFill/>
          </a:ln>
        </p:spPr>
        <p:txBody>
          <a:bodyPr rtlCol="0" anchor="ctr"/>
          <a:lstStyle/>
          <a:p>
            <a:pPr algn="ctr"/>
          </a:p>
        </p:txBody>
      </p:sp>
      <p:sp>
        <p:nvSpPr>
          <p:cNvPr id="103" name="TextBox 102"/>
          <p:cNvSpPr txBox="1"/>
          <p:nvPr/>
        </p:nvSpPr>
        <p:spPr>
          <a:xfrm>
            <a:off x="9497223" y="510983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-0.7</a:t>
            </a:r>
          </a:p>
        </p:txBody>
      </p:sp>
      <p:sp>
        <p:nvSpPr>
          <p:cNvPr id="104" name="TextBox 103"/>
          <p:cNvSpPr txBox="1"/>
          <p:nvPr/>
        </p:nvSpPr>
        <p:spPr>
          <a:xfrm>
            <a:off x="10097910" y="510983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+0.7</a:t>
            </a:r>
          </a:p>
        </p:txBody>
      </p:sp>
      <p:sp>
        <p:nvSpPr>
          <p:cNvPr id="105" name="TextBox 104"/>
          <p:cNvSpPr txBox="1"/>
          <p:nvPr/>
        </p:nvSpPr>
        <p:spPr>
          <a:xfrm>
            <a:off x="6278727" y="543902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Service 원가 (방문) ±30%</a:t>
            </a:r>
          </a:p>
        </p:txBody>
      </p:sp>
      <p:sp>
        <p:nvSpPr>
          <p:cNvPr id="106" name="Rectangle 105"/>
          <p:cNvSpPr/>
          <p:nvPr/>
        </p:nvSpPr>
        <p:spPr>
          <a:xfrm>
            <a:off x="10002993" y="5512175"/>
            <a:ext cx="9457" cy="182879"/>
          </a:xfrm>
          <a:prstGeom prst="rect">
            <a:avLst/>
          </a:prstGeom>
          <a:solidFill>
            <a:srgbClr val="8C9198"/>
          </a:solidFill>
          <a:ln>
            <a:noFill/>
          </a:ln>
        </p:spPr>
        <p:txBody>
          <a:bodyPr rtlCol="0" anchor="ctr"/>
          <a:lstStyle/>
          <a:p>
            <a:pPr algn="ctr"/>
          </a:p>
        </p:txBody>
      </p:sp>
      <p:sp>
        <p:nvSpPr>
          <p:cNvPr id="107" name="Rectangle 106"/>
          <p:cNvSpPr/>
          <p:nvPr/>
        </p:nvSpPr>
        <p:spPr>
          <a:xfrm>
            <a:off x="10012451" y="5512175"/>
            <a:ext cx="9457" cy="182879"/>
          </a:xfrm>
          <a:prstGeom prst="rect">
            <a:avLst/>
          </a:prstGeom>
          <a:solidFill>
            <a:srgbClr val="F6C9B3"/>
          </a:solidFill>
          <a:ln>
            <a:noFill/>
          </a:ln>
        </p:spPr>
        <p:txBody>
          <a:bodyPr rtlCol="0" anchor="ctr"/>
          <a:lstStyle/>
          <a:p>
            <a:pPr algn="ctr"/>
          </a:p>
        </p:txBody>
      </p:sp>
      <p:sp>
        <p:nvSpPr>
          <p:cNvPr id="108" name="TextBox 107"/>
          <p:cNvSpPr txBox="1"/>
          <p:nvPr/>
        </p:nvSpPr>
        <p:spPr>
          <a:xfrm>
            <a:off x="9545793" y="543902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-0.1</a:t>
            </a:r>
          </a:p>
        </p:txBody>
      </p:sp>
      <p:sp>
        <p:nvSpPr>
          <p:cNvPr id="109" name="TextBox 108"/>
          <p:cNvSpPr txBox="1"/>
          <p:nvPr/>
        </p:nvSpPr>
        <p:spPr>
          <a:xfrm>
            <a:off x="10049341" y="543902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+0.1</a:t>
            </a:r>
          </a:p>
        </p:txBody>
      </p:sp>
      <p:cxnSp>
        <p:nvCxnSpPr>
          <p:cNvPr id="110" name="Connector 109"/>
          <p:cNvCxnSpPr/>
          <p:nvPr/>
        </p:nvCxnSpPr>
        <p:spPr>
          <a:xfrm>
            <a:off x="10012451" y="2448935"/>
            <a:ext cx="0" cy="3346704"/>
          </a:xfrm>
          <a:prstGeom prst="line">
            <a:avLst/>
          </a:prstGeom>
          <a:ln w="9525">
            <a:solidFill>
              <a:srgbClr val="15171A"/>
            </a:solidFill>
          </a:ln>
        </p:spPr>
      </p:cxnSp>
      <p:sp>
        <p:nvSpPr>
          <p:cNvPr id="111" name="TextBox 110"/>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Robot Attach Rate · Standard Module 사용률 · Failure Rate는 중위권. Rental 비중은 P&amp;L보다 현금(자산) 영향이 큼 (A12). 회사 기준 민감도는 model.py 산출 (xlsx Sensitivity 하단 정적 표).</a:t>
            </a:r>
          </a:p>
        </p:txBody>
      </p:sp>
      <p:sp>
        <p:nvSpPr>
          <p:cNvPr id="112" name="TextBox 1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13" name="TextBox 1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A16</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Seed Use of Funds 검증 (24개월)</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수정안 = 재무모델 Base Y1+Y2 (xlsx Use_of_Funds 시트 연동). 인당 연 8,500만원 = 평균 연봉 약 7,100만원 × 1.2 (4대보험·퇴직급여) ASSUMPTION.</a:t>
            </a:r>
          </a:p>
        </p:txBody>
      </p:sp>
      <p:graphicFrame>
        <p:nvGraphicFramePr>
          <p:cNvPr id="5" name="Table 4"/>
          <p:cNvGraphicFramePr>
            <a:graphicFrameLocks noGrp="1"/>
          </p:cNvGraphicFramePr>
          <p:nvPr/>
        </p:nvGraphicFramePr>
        <p:xfrm>
          <a:off x="685800" y="1790567"/>
          <a:ext cx="6949439" cy="2642157"/>
        </p:xfrm>
        <a:graphic>
          <a:graphicData uri="http://schemas.openxmlformats.org/drawingml/2006/table">
            <a:tbl>
              <a:tblPr firstRow="0" bandRow="0">
                <a:tableStyleId>{2D5ABB26-0587-4C30-8999-92F81FD0307C}</a:tableStyleId>
              </a:tblPr>
              <a:tblGrid>
                <a:gridCol w="2103120"/>
                <a:gridCol w="685800"/>
                <a:gridCol w="777240"/>
                <a:gridCol w="3383279"/>
              </a:tblGrid>
              <a:tr h="293573">
                <a:tc>
                  <a:txBody>
                    <a:bodyPr wrap="square"/>
                    <a:lstStyle/>
                    <a:p>
                      <a:pPr algn="l">
                        <a:lnSpc>
                          <a:spcPct val="100000"/>
                        </a:lnSpc>
                      </a:pPr>
                      <a:r>
                        <a:rPr sz="950" b="1">
                          <a:solidFill>
                            <a:srgbClr val="15171A"/>
                          </a:solidFill>
                          <a:latin typeface="Noto Sans KR"/>
                          <a:ea typeface="Noto Sans KR"/>
                          <a:cs typeface="Noto Sans KR"/>
                        </a:rPr>
                        <a:t>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Draft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수정안</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근거</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Core Development Team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평균 7.5명 × 2년 × 8,500만원</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 / Kitchen Prototype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Arm 3~4대 · Rail 2식 · EE 반복 (BOM A4)</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Mock-up / Installation Dev.</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50평 임차 24개월 + Full-scale Mock-up 2식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Vision / Software / Data</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GPU · Cloud · Data 수집·Annotation</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Pilot / Customer Validation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Interview·Conjoint + Pilot 5세대 손실 + Marketing</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 Certification / IP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예비시험 · Risk Assessment · 출원 5~8건</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Operations / Contingency</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G&amp;A 1.8 + Contingency 10%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20.0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25.8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7909560" y="1790567"/>
            <a:ext cx="3596335" cy="3657600"/>
          </a:xfrm>
          <a:prstGeom prst="rect">
            <a:avLst/>
          </a:prstGeom>
          <a:solidFill>
            <a:srgbClr val="F4F5F6"/>
          </a:solidFill>
          <a:ln>
            <a:noFill/>
          </a:ln>
        </p:spPr>
        <p:txBody>
          <a:bodyPr rtlCol="0" anchor="ctr"/>
          <a:lstStyle/>
          <a:p>
            <a:pPr algn="ctr"/>
          </a:p>
        </p:txBody>
      </p:sp>
      <p:sp>
        <p:nvSpPr>
          <p:cNvPr id="7" name="TextBox 6"/>
          <p:cNvSpPr txBox="1"/>
          <p:nvPr/>
        </p:nvSpPr>
        <p:spPr>
          <a:xfrm>
            <a:off x="8074152" y="1900295"/>
            <a:ext cx="3267151"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판단</a:t>
            </a:r>
          </a:p>
        </p:txBody>
      </p:sp>
      <p:sp>
        <p:nvSpPr>
          <p:cNvPr id="8" name="TextBox 7"/>
          <p:cNvSpPr txBox="1"/>
          <p:nvPr/>
        </p:nvSpPr>
        <p:spPr>
          <a:xfrm>
            <a:off x="8074152" y="2247767"/>
            <a:ext cx="3267151" cy="3154680"/>
          </a:xfrm>
          <a:prstGeom prst="rect">
            <a:avLst/>
          </a:prstGeom>
          <a:noFill/>
        </p:spPr>
        <p:txBody>
          <a:bodyPr wrap="square" lIns="0" rIns="0" tIns="0" bIns="0" anchor="t">
            <a:spAutoFit/>
          </a:bodyPr>
          <a:lstStyle/>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20억원 단독: 약 18.6개월 → 24개월 Milestone 미달 Risk</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Plan A: Seed 20억 + TIPS R&amp;D 최대 8억 = 28억 (여유 2.2억). TIPS 선정은 미확정</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Plan B: Seed 25억 또는 M18 Bridge (M12 Evidence 기반)</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절감 옵션: Arm 구매형 Prototype · Mock-up 공간 공유 · 채용 3개월 순연 (−2~3억, 일정 Risk 증가)</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Draft 8억 인건비 = 평균 4.7명 수준 → Robot·Vision·기구·주방통합·안전·현장 동시 수행 불가</a:t>
            </a:r>
          </a:p>
        </p:txBody>
      </p:sp>
      <p:sp>
        <p:nvSpPr>
          <p:cNvPr id="9" name="Rectangle 8"/>
          <p:cNvSpPr/>
          <p:nvPr/>
        </p:nvSpPr>
        <p:spPr>
          <a:xfrm>
            <a:off x="685800" y="5486400"/>
            <a:ext cx="10820095" cy="412546"/>
          </a:xfrm>
          <a:prstGeom prst="rect">
            <a:avLst/>
          </a:prstGeom>
          <a:solidFill>
            <a:srgbClr val="F4F5F6"/>
          </a:solidFill>
          <a:ln>
            <a:noFill/>
          </a:ln>
        </p:spPr>
        <p:txBody>
          <a:bodyPr rtlCol="0" anchor="ctr"/>
          <a:lstStyle/>
          <a:p>
            <a:pPr algn="ctr"/>
          </a:p>
        </p:txBody>
      </p:sp>
      <p:sp>
        <p:nvSpPr>
          <p:cNvPr id="10" name="Rectangle 9"/>
          <p:cNvSpPr/>
          <p:nvPr/>
        </p:nvSpPr>
        <p:spPr>
          <a:xfrm>
            <a:off x="685800" y="5486400"/>
            <a:ext cx="54864" cy="412546"/>
          </a:xfrm>
          <a:prstGeom prst="rect">
            <a:avLst/>
          </a:prstGeom>
          <a:solidFill>
            <a:srgbClr val="E2571B"/>
          </a:solidFill>
          <a:ln>
            <a:noFill/>
          </a:ln>
        </p:spPr>
        <p:txBody>
          <a:bodyPr rtlCol="0" anchor="ctr"/>
          <a:lstStyle/>
          <a:p>
            <a:pPr algn="ctr"/>
          </a:p>
        </p:txBody>
      </p:sp>
      <p:sp>
        <p:nvSpPr>
          <p:cNvPr id="11" name="TextBox 10"/>
          <p:cNvSpPr txBox="1"/>
          <p:nvPr/>
        </p:nvSpPr>
        <p:spPr>
          <a:xfrm>
            <a:off x="886968" y="54864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결론: 20억원은 '과다'가 아니라 24개월 기준 약 5.8억원 부족 → TIPS 연계를 기본 구조로, 미선정 시 25억원 또는 Bridge. 인증 본비용은 Series A로 이연</a:t>
            </a:r>
          </a:p>
        </p:txBody>
      </p:sp>
      <p:sp>
        <p:nvSpPr>
          <p:cNvPr id="12" name="TextBox 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3" name="TextBox 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A17</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Customer Validation · 기술 KPI</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현재 측정값 없음 → 모두 TARGET. 고객검증은 "말"이 아닌 "행동"(예약금·유료 Pilot)으로 종결.</a:t>
            </a:r>
          </a:p>
        </p:txBody>
      </p:sp>
      <p:graphicFrame>
        <p:nvGraphicFramePr>
          <p:cNvPr id="5" name="Table 4"/>
          <p:cNvGraphicFramePr>
            <a:graphicFrameLocks noGrp="1"/>
          </p:cNvGraphicFramePr>
          <p:nvPr/>
        </p:nvGraphicFramePr>
        <p:xfrm>
          <a:off x="685800" y="1790567"/>
          <a:ext cx="5760720" cy="2487164"/>
        </p:xfrm>
        <a:graphic>
          <a:graphicData uri="http://schemas.openxmlformats.org/drawingml/2006/table">
            <a:tbl>
              <a:tblPr firstRow="0" bandRow="0">
                <a:tableStyleId>{2D5ABB26-0587-4C30-8999-92F81FD0307C}</a:tableStyleId>
              </a:tblPr>
              <a:tblGrid>
                <a:gridCol w="1280160"/>
                <a:gridCol w="1645920"/>
                <a:gridCol w="2103120"/>
                <a:gridCol w="731520"/>
              </a:tblGrid>
              <a:tr h="284378">
                <a:tc>
                  <a:txBody>
                    <a:bodyPr wrap="square"/>
                    <a:lstStyle/>
                    <a:p>
                      <a:pPr algn="l">
                        <a:lnSpc>
                          <a:spcPct val="100000"/>
                        </a:lnSpc>
                      </a:pPr>
                      <a:r>
                        <a:rPr sz="900" b="1">
                          <a:solidFill>
                            <a:srgbClr val="15171A"/>
                          </a:solidFill>
                          <a:latin typeface="Noto Sans KR"/>
                          <a:ea typeface="Noto Sans KR"/>
                          <a:cs typeface="Noto Sans KR"/>
                        </a:rPr>
                        <a:t>방법</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표본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확인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Time-diary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30세대 · 7일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Clean-up 빈도·시간 · Pain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M0~M3</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Interview</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50명 (Premium 상담 30 · 최근 시공 10 · 신축 계약 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Pain · 수용성 · 안전·소음·디자인 우려 · 구매 vs Rental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M1~M4</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PSM + Gabor-Granger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n≥300 (Panel)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가격 · Rental 월 요금 · Care 요금 Range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M4~M6</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Choice-based Conjoint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n≥300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가격 × Task 범위 × 노출/은폐 × 소음 × 설치일수 × 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M6~M9</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Smoke Test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Mock-up Demo 방문자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환불가능 예약금 전환율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M9~M12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Paid Pilot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3~5세대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실제 결제 · 사용 Log · 해지 의향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M12~M24</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720840" y="1790567"/>
          <a:ext cx="4785055" cy="2724908"/>
        </p:xfrm>
        <a:graphic>
          <a:graphicData uri="http://schemas.openxmlformats.org/drawingml/2006/table">
            <a:tbl>
              <a:tblPr firstRow="0" bandRow="0">
                <a:tableStyleId>{2D5ABB26-0587-4C30-8999-92F81FD0307C}</a:tableStyleId>
              </a:tblPr>
              <a:tblGrid>
                <a:gridCol w="2590495"/>
                <a:gridCol w="1051560"/>
                <a:gridCol w="1143000"/>
              </a:tblGrid>
              <a:tr h="284378">
                <a:tc>
                  <a:txBody>
                    <a:bodyPr wrap="square"/>
                    <a:lstStyle/>
                    <a:p>
                      <a:pPr algn="l">
                        <a:lnSpc>
                          <a:spcPct val="100000"/>
                        </a:lnSpc>
                      </a:pPr>
                      <a:r>
                        <a:rPr sz="900" b="1">
                          <a:solidFill>
                            <a:srgbClr val="15171A"/>
                          </a:solidFill>
                          <a:latin typeface="Noto Sans KR"/>
                          <a:ea typeface="Noto Sans KR"/>
                          <a:cs typeface="Noto Sans KR"/>
                        </a:rPr>
                        <a:t>기술 KPI (TARGET)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M12 Mock-up</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M24 Real Home</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Task Success Rate (Approved Task)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85%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95%</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Cycle Time (식기 1개 Pick→Place)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25초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15초</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Human Intervention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20개당 1회 이하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100개당 1회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Object Coverage (표준 한식 식기)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Recovery Rate (Grasp 실패 자동복구)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Noise (1m)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55dB(A) 이하</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Safety Stop (Zone 진입)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100% 정지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100% · 오정지 1일 1회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Calibration · Installation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2시간 · 1일 2인</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486400"/>
            <a:ext cx="10820095" cy="412546"/>
          </a:xfrm>
          <a:prstGeom prst="rect">
            <a:avLst/>
          </a:prstGeom>
          <a:solidFill>
            <a:srgbClr val="F4F5F6"/>
          </a:solidFill>
          <a:ln>
            <a:noFill/>
          </a:ln>
        </p:spPr>
        <p:txBody>
          <a:bodyPr rtlCol="0" anchor="ctr"/>
          <a:lstStyle/>
          <a:p>
            <a:pPr algn="ctr"/>
          </a:p>
        </p:txBody>
      </p:sp>
      <p:sp>
        <p:nvSpPr>
          <p:cNvPr id="8" name="Rectangle 7"/>
          <p:cNvSpPr/>
          <p:nvPr/>
        </p:nvSpPr>
        <p:spPr>
          <a:xfrm>
            <a:off x="685800" y="5486400"/>
            <a:ext cx="54864" cy="412546"/>
          </a:xfrm>
          <a:prstGeom prst="rect">
            <a:avLst/>
          </a:prstGeom>
          <a:solidFill>
            <a:srgbClr val="E2571B"/>
          </a:solidFill>
          <a:ln>
            <a:noFill/>
          </a:ln>
        </p:spPr>
        <p:txBody>
          <a:bodyPr rtlCol="0" anchor="ctr"/>
          <a:lstStyle/>
          <a:p>
            <a:pPr algn="ctr"/>
          </a:p>
        </p:txBody>
      </p:sp>
      <p:sp>
        <p:nvSpPr>
          <p:cNvPr id="9" name="TextBox 8"/>
          <p:cNvSpPr txBox="1"/>
          <p:nvPr/>
        </p:nvSpPr>
        <p:spPr>
          <a:xfrm>
            <a:off x="886968" y="54864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Kill 연동: M9 성공률 70% 미만 → Task Scope 축소 (Unloading·Storage 우선)  |  M12 WTP 중앙값이 목표가의 60% 미만 → B2C 재검토 (신축 B2B2C·Rental 중심)</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A18</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What Must Be True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7개 전제가 모두 성립해야 Built-in Residential Robotics Platform으로 Scale 가능. 현재 Evidence는 전부 "없음" 또는 추정.</a:t>
            </a:r>
          </a:p>
        </p:txBody>
      </p:sp>
      <p:graphicFrame>
        <p:nvGraphicFramePr>
          <p:cNvPr id="5" name="Table 4"/>
          <p:cNvGraphicFramePr>
            <a:graphicFrameLocks noGrp="1"/>
          </p:cNvGraphicFramePr>
          <p:nvPr/>
        </p:nvGraphicFramePr>
        <p:xfrm>
          <a:off x="685800" y="1790567"/>
          <a:ext cx="10817352" cy="2348584"/>
        </p:xfrm>
        <a:graphic>
          <a:graphicData uri="http://schemas.openxmlformats.org/drawingml/2006/table">
            <a:tbl>
              <a:tblPr firstRow="0" bandRow="0">
                <a:tableStyleId>{2D5ABB26-0587-4C30-8999-92F81FD0307C}</a:tableStyleId>
              </a:tblPr>
              <a:tblGrid>
                <a:gridCol w="3703320"/>
                <a:gridCol w="2148840"/>
                <a:gridCol w="2560320"/>
                <a:gridCol w="2404872"/>
              </a:tblGrid>
              <a:tr h="293573">
                <a:tc>
                  <a:txBody>
                    <a:bodyPr wrap="square"/>
                    <a:lstStyle/>
                    <a:p>
                      <a:pPr algn="l">
                        <a:lnSpc>
                          <a:spcPct val="100000"/>
                        </a:lnSpc>
                      </a:pPr>
                      <a:r>
                        <a:rPr sz="950" b="1">
                          <a:solidFill>
                            <a:srgbClr val="15171A"/>
                          </a:solidFill>
                          <a:latin typeface="Noto Sans KR"/>
                          <a:ea typeface="Noto Sans KR"/>
                          <a:cs typeface="Noto Sans KR"/>
                        </a:rPr>
                        <a:t>전제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현재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향후 검증 (Seed)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Failure Condition</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  Remodeling 고객이 Robot Integration Premium 지불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(가격 가설만)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PSM·Conjoint · 예약금 · Paid Pilot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WTP 중앙값 &lt; 목표가 60% (M12)</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2  주요 Kitchen Layout이 소수 Template으로 분류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(통상 치수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평면 30개 · Template Coverage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상위 3개 Template Cover &lt; 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3  Single Robot Architecture 반복 설치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Mock-up 2식 · Home Pilot 설치시간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세대별 Custom 설계 필요 · 설치 &gt; 2일</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4  Robot + Installation GM 개선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부품 공개가 기반 BOM 추정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v2 견적 · 설치원가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Y3 BOM &gt; 1,300만원 전망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5  Care + Consumables 반복매출 형성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Pilot 세대 Care 가입 · Kit 교체주기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Care 가입 &lt; 40% · 교체주기 &gt; 2배</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  Partner Distribution이 Direct보다 빠르게 Scale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(가상 Partner 미기재)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Partner Pilot 시공 · 수수료 조건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M24 Partner Pilot 0건</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7  Service Cost ≤ Recurring Revenue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방문원가·고장률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 원가 &gt; Care 요금 (Y3 원가 기준)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303745"/>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4303745"/>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4303745"/>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Seed 투자 = 7개 전제를 24개월 안에 확인하는 Option 매입. 1·2·4번이 Series A 판단의 핵심 (Sensitivity Top 변수와 일치)</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A19</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Risk Register: Risk → 투자 후 Evidence → Kill Criteria</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Seed Capital의 목적 = Commercial Risk Reduction. 각 Risk를 측정 가능한 Evidence와 판단 시점에 연결.</a:t>
            </a:r>
          </a:p>
        </p:txBody>
      </p:sp>
      <p:graphicFrame>
        <p:nvGraphicFramePr>
          <p:cNvPr id="5" name="Table 4"/>
          <p:cNvGraphicFramePr>
            <a:graphicFrameLocks noGrp="1"/>
          </p:cNvGraphicFramePr>
          <p:nvPr/>
        </p:nvGraphicFramePr>
        <p:xfrm>
          <a:off x="685800" y="1790567"/>
          <a:ext cx="10817352" cy="3229303"/>
        </p:xfrm>
        <a:graphic>
          <a:graphicData uri="http://schemas.openxmlformats.org/drawingml/2006/table">
            <a:tbl>
              <a:tblPr firstRow="0" bandRow="0">
                <a:tableStyleId>{2D5ABB26-0587-4C30-8999-92F81FD0307C}</a:tableStyleId>
              </a:tblPr>
              <a:tblGrid>
                <a:gridCol w="1920240"/>
                <a:gridCol w="3017520"/>
                <a:gridCol w="2971800"/>
                <a:gridCol w="2907792"/>
              </a:tblGrid>
              <a:tr h="293573">
                <a:tc>
                  <a:txBody>
                    <a:bodyPr wrap="square"/>
                    <a:lstStyle/>
                    <a:p>
                      <a:pPr algn="l">
                        <a:lnSpc>
                          <a:spcPct val="100000"/>
                        </a:lnSpc>
                      </a:pPr>
                      <a:r>
                        <a:rPr sz="950" b="1">
                          <a:solidFill>
                            <a:srgbClr val="15171A"/>
                          </a:solidFill>
                          <a:latin typeface="Noto Sans KR"/>
                          <a:ea typeface="Noto Sans KR"/>
                          <a:cs typeface="Noto Sans KR"/>
                        </a:rPr>
                        <a:t>Risk</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투자 후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Kill · 대응</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Apartment Fit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동선·Reach 양립 · 벽체 구조 · 천장고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Mock-up · 평면 30개 · 벽체 판정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M6 Architecture 변경</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Technology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신뢰성 · 한식 식기 다양성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성공률 · 개입 · Recovery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M9 Scope 축소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Standardization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Custom 설계 비중 과다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Standard Module 사용률 · Reuse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M18 Thesis 재검토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Customer WTP</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 Premium 지불 거부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PSM · Conjoint · 예약금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M12 B2C 재검토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Installation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설치시간 · 현장 변수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설치·Calibration 시간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M18 원가 기준 미달 시 Template 재설계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Rental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Payback &gt; 36개월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절감 · 요금 Test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&gt; 1,060만원 시 Rental Pilot 한정</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Service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방문원가 &gt; Care 요금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방문·고장 실측 · 원격진단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Care 요금·구성 재설계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Channel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Partner 확보 실패 · 공사업체화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Partner Pilot · 역할 분담 계약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M24 Scale 보류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 인증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머리 위 작업 사고 · 인증 지연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Risk Assessment · 예비시험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사고 0 · 인증 일정 Series A 계획 반영</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Competition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대기업·Humanoid 저가 구독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Template·설치 Data · Partner 선점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차별화 미입증 시 B2B Module 공급으로 전환 검토</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A20</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VC Red-Team Q&amp;A (1/2)</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Seed 심사역 관점 재검토. 답이 약한 항목은 본문 수정 반영 (가치 Gap · Rental Payback · Seed 부족분 · Founder 공백 명시).</a:t>
            </a:r>
          </a:p>
        </p:txBody>
      </p:sp>
      <p:graphicFrame>
        <p:nvGraphicFramePr>
          <p:cNvPr id="5" name="Table 4"/>
          <p:cNvGraphicFramePr>
            <a:graphicFrameLocks noGrp="1"/>
          </p:cNvGraphicFramePr>
          <p:nvPr/>
        </p:nvGraphicFramePr>
        <p:xfrm>
          <a:off x="685800" y="1790567"/>
          <a:ext cx="10817352" cy="3981292"/>
        </p:xfrm>
        <a:graphic>
          <a:graphicData uri="http://schemas.openxmlformats.org/drawingml/2006/table">
            <a:tbl>
              <a:tblPr firstRow="0" bandRow="0">
                <a:tableStyleId>{2D5ABB26-0587-4C30-8999-92F81FD0307C}</a:tableStyleId>
              </a:tblPr>
              <a:tblGrid>
                <a:gridCol w="320040"/>
                <a:gridCol w="2743200"/>
                <a:gridCol w="7754112"/>
              </a:tblGrid>
              <a:tr h="284378">
                <a:tc>
                  <a:txBody>
                    <a:bodyPr wrap="square"/>
                    <a:lstStyle/>
                    <a:p>
                      <a:pPr algn="l">
                        <a:lnSpc>
                          <a:spcPct val="100000"/>
                        </a:lnSpc>
                      </a:pPr>
                      <a:r>
                        <a:rPr sz="9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답 (근거 위치)</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Robot Arm인가?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식기 형상·위치가 매번 다름 → 고정 기구로 불가. 단, Arm 범위는 Rail·Dock으로 제한해 범용성보다 신뢰성 우선 (09장).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기존 Appliance로 해결 불가능한가?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가전은 내부 공정만 자동화. 식탁→식세기→수납 이동은 가전 경계 밖 (04장). 가전사 확장 가능성은 Risk로 인정.</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Kitchen Clean-up인가?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매 식사 반복 · 열·칼 위험 없음 · 식세기·수납이라는 고정 끝점 → 표준화 용이. 체감가치는 Cooking보다 낮음 (08장).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돈을 낼 만큼의 Pain인가?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미검증. 가치 Anchor 월 11~24만원 &lt; 원가 기반 Rental 24~31만원 → Gap 존재. Time-diary·WTP로 M12 판정 (14장).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가격은 얼마인가?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1,490만원 (Test 990~1,790). Y3 BOM 1,150만원 → GM 23% (A4·A11).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Remodeling 포함 총 고객비용은?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Kitchen 공사비 (Premium 2,000~4,000만원, ASSUMPTION) + ARKI 2,020만원. 증분 부담 큼 → Rental·신축 Option 병행 (14장).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Rental은 얼마여야 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원가 기반 마진 20% 요금: Y3 31만원 · Y5 24만원. 가설 33만원. Partner Payback 36개월 위해 BOM ≤ 1,060만원 (A12).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Care는 왜 필요한가?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Calibration·Rail·Vision 점검과 위생 관리가 안전·성능 유지 조건. Software 구독 아님 (A13).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Consumables는 실제로 얼마나?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연 36만원 List, 구매율 70% → 25만원. 교체주기 미실측 (A13).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고장 시 Kitchen 사용 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Requirement: Garage 복귀·수동 해제·일반 Kitchen 기능 유지 (09장 #07, A7).</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머리 위 Robot은 안전한가?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사람 위 운반 금지 · Zone 진입 정지 · 1.5kg 이하 · ISO 10218:2025 · 13482 검토. 인증은 Series A (A7).</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집마다 다른데 표준화 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4단계 분류 + 평면 30개로 M12 판정, Standard Module 60% 미만 시 재검토 (11장).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Bay보다 Geometry가 중요한가?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설치는 주방 Run·설비 위치·Aisle이 결정, Bay는 거실·침실 배치 변수 (06장).</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A20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A21</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VC Red-Team Q&amp;A (2/2)</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약한 답: 4 (Pain) · 6 (총 고객비용) · 18 (가구사 직접 진입) · 23 (자금) · 25 (Founder) → Investment Memo의 Reasons Not to Invest</a:t>
            </a:r>
          </a:p>
        </p:txBody>
      </p:sp>
      <p:graphicFrame>
        <p:nvGraphicFramePr>
          <p:cNvPr id="5" name="Table 4"/>
          <p:cNvGraphicFramePr>
            <a:graphicFrameLocks noGrp="1"/>
          </p:cNvGraphicFramePr>
          <p:nvPr/>
        </p:nvGraphicFramePr>
        <p:xfrm>
          <a:off x="685800" y="1790567"/>
          <a:ext cx="10817352" cy="3696914"/>
        </p:xfrm>
        <a:graphic>
          <a:graphicData uri="http://schemas.openxmlformats.org/drawingml/2006/table">
            <a:tbl>
              <a:tblPr firstRow="0" bandRow="0">
                <a:tableStyleId>{2D5ABB26-0587-4C30-8999-92F81FD0307C}</a:tableStyleId>
              </a:tblPr>
              <a:tblGrid>
                <a:gridCol w="320040"/>
                <a:gridCol w="2743200"/>
                <a:gridCol w="7754112"/>
              </a:tblGrid>
              <a:tr h="284378">
                <a:tc>
                  <a:txBody>
                    <a:bodyPr wrap="square"/>
                    <a:lstStyle/>
                    <a:p>
                      <a:pPr algn="l">
                        <a:lnSpc>
                          <a:spcPct val="100000"/>
                        </a:lnSpc>
                      </a:pPr>
                      <a:r>
                        <a:rPr sz="9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답 (근거 위치)</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공사업체가 되는 것 아닌가?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철거·가구·전기·배관 = Partner. ARKI = Module·Calibration·Safety QA. KPI: Build 비중 Y5 29% (19장).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구축부터인가?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이미 철거·시공하는 고객 → 추가 Integration 비용 최소 · 가격·설치 직접 검증 · 신축은 2년 Lag (12장).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신축이 Scale Channel인가?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Project당 수백 세대 · 설계 단계 표준 Spec · 유상옵션 관행 (분양가 9.7%). 단, 매출 인식 지연 (12장).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건설사가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건설사는 Robot·SW·A/S 운영 역량보다 유통 역할. ARKI Spec을 Option으로 채택하는 Distribution 관계 (20장).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Kitchen Furniture 회사가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가장 현실적 위협. Module·Channel Partner로 협력하되 Template·설치 Data·Calibration SW로 차별 (미검증).</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OEM이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OEM은 Arm 판매가 목적, 주거 설치·A/S·가구 Interface는 비핵심 → Supplier 관계 (20장).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 Asset 부담은?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Seed는 소량 Pilot만 ARKI 보유. Y4부터 Rental Partner가 자산 보유, Partner IRR 약 13% (연체 미반영, A12).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 비용은?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Y3 Robot당 연 36.8만원 (방문 2회 × 11만원 + 고장 0.6회) → Y5 26.8만원 (A13).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Care가 Profit Center가 될 수 있는가?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Y3 Margin 23% → 아님. 방문 1.5회 이하·원가 9만원 이하에서 Y5 44%. Route Density 의존.</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20억원이 충분한가?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아니오. 24개월 수정안 약 25.8억원 → TIPS 8억 연계 또는 25억원 / M18 Bridge (A16).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24개월 후 Series A Evidence는?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Paid Pilot · WTP · BOM ≤ 1,150만원 경로 · Template 3개 70% Cover · 설치 1일 · Partner Pilot (22장).</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Founder가 왜 적합한가?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 정보 필요] — 현재 답할 수 없음. 투자 판단 1순위 공백 (23장).</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A21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A22</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Investment Scorecard · Seed 판단</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점수 1~5 (5 = 강한 Evidence). 현재 = 2026.10 · Target = M24. 본 판단은 자료 작성자의 Red-Team 의견.</a:t>
            </a:r>
          </a:p>
        </p:txBody>
      </p:sp>
      <p:sp>
        <p:nvSpPr>
          <p:cNvPr id="5" name="TextBox 4"/>
          <p:cNvSpPr txBox="1"/>
          <p:nvPr/>
        </p:nvSpPr>
        <p:spPr>
          <a:xfrm>
            <a:off x="685800" y="1790567"/>
            <a:ext cx="155448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항목</a:t>
            </a:r>
          </a:p>
        </p:txBody>
      </p:sp>
      <p:sp>
        <p:nvSpPr>
          <p:cNvPr id="6" name="TextBox 5"/>
          <p:cNvSpPr txBox="1"/>
          <p:nvPr/>
        </p:nvSpPr>
        <p:spPr>
          <a:xfrm>
            <a:off x="2286000" y="1790567"/>
            <a:ext cx="146304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현재 → Target</a:t>
            </a:r>
          </a:p>
        </p:txBody>
      </p:sp>
      <p:sp>
        <p:nvSpPr>
          <p:cNvPr id="7" name="TextBox 6"/>
          <p:cNvSpPr txBox="1"/>
          <p:nvPr/>
        </p:nvSpPr>
        <p:spPr>
          <a:xfrm>
            <a:off x="3840480" y="1790567"/>
            <a:ext cx="388620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핵심 Evidence</a:t>
            </a:r>
          </a:p>
        </p:txBody>
      </p:sp>
      <p:cxnSp>
        <p:nvCxnSpPr>
          <p:cNvPr id="8" name="Connector 7"/>
          <p:cNvCxnSpPr/>
          <p:nvPr/>
        </p:nvCxnSpPr>
        <p:spPr>
          <a:xfrm>
            <a:off x="685800" y="2064887"/>
            <a:ext cx="7040879" cy="0"/>
          </a:xfrm>
          <a:prstGeom prst="line">
            <a:avLst/>
          </a:prstGeom>
          <a:ln w="9525">
            <a:solidFill>
              <a:srgbClr val="15171A"/>
            </a:solidFill>
          </a:ln>
        </p:spPr>
      </p:cxnSp>
      <p:sp>
        <p:nvSpPr>
          <p:cNvPr id="9" name="TextBox 8"/>
          <p:cNvSpPr txBox="1"/>
          <p:nvPr/>
        </p:nvSpPr>
        <p:spPr>
          <a:xfrm>
            <a:off x="685800" y="2119751"/>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Market</a:t>
            </a:r>
          </a:p>
        </p:txBody>
      </p:sp>
      <p:sp>
        <p:nvSpPr>
          <p:cNvPr id="10" name="Rectangle 9"/>
          <p:cNvSpPr/>
          <p:nvPr/>
        </p:nvSpPr>
        <p:spPr>
          <a:xfrm>
            <a:off x="2286000" y="2211191"/>
            <a:ext cx="219456" cy="164592"/>
          </a:xfrm>
          <a:prstGeom prst="rect">
            <a:avLst/>
          </a:prstGeom>
          <a:solidFill>
            <a:srgbClr val="15171A"/>
          </a:solidFill>
          <a:ln>
            <a:noFill/>
          </a:ln>
        </p:spPr>
        <p:txBody>
          <a:bodyPr rtlCol="0" anchor="ctr"/>
          <a:lstStyle/>
          <a:p>
            <a:pPr algn="ctr"/>
          </a:p>
        </p:txBody>
      </p:sp>
      <p:sp>
        <p:nvSpPr>
          <p:cNvPr id="11" name="Rectangle 10"/>
          <p:cNvSpPr/>
          <p:nvPr/>
        </p:nvSpPr>
        <p:spPr>
          <a:xfrm>
            <a:off x="2560320" y="2211191"/>
            <a:ext cx="219456" cy="164592"/>
          </a:xfrm>
          <a:prstGeom prst="rect">
            <a:avLst/>
          </a:prstGeom>
          <a:solidFill>
            <a:srgbClr val="15171A"/>
          </a:solidFill>
          <a:ln>
            <a:noFill/>
          </a:ln>
        </p:spPr>
        <p:txBody>
          <a:bodyPr rtlCol="0" anchor="ctr"/>
          <a:lstStyle/>
          <a:p>
            <a:pPr algn="ctr"/>
          </a:p>
        </p:txBody>
      </p:sp>
      <p:sp>
        <p:nvSpPr>
          <p:cNvPr id="12" name="Rectangle 11"/>
          <p:cNvSpPr/>
          <p:nvPr/>
        </p:nvSpPr>
        <p:spPr>
          <a:xfrm>
            <a:off x="2834640" y="2211191"/>
            <a:ext cx="219456" cy="164592"/>
          </a:xfrm>
          <a:prstGeom prst="rect">
            <a:avLst/>
          </a:prstGeom>
          <a:solidFill>
            <a:srgbClr val="15171A"/>
          </a:solidFill>
          <a:ln>
            <a:noFill/>
          </a:ln>
        </p:spPr>
        <p:txBody>
          <a:bodyPr rtlCol="0" anchor="ctr"/>
          <a:lstStyle/>
          <a:p>
            <a:pPr algn="ctr"/>
          </a:p>
        </p:txBody>
      </p:sp>
      <p:sp>
        <p:nvSpPr>
          <p:cNvPr id="13" name="Rectangle 12"/>
          <p:cNvSpPr/>
          <p:nvPr/>
        </p:nvSpPr>
        <p:spPr>
          <a:xfrm>
            <a:off x="3108960" y="2211191"/>
            <a:ext cx="219456" cy="164592"/>
          </a:xfrm>
          <a:prstGeom prst="rect">
            <a:avLst/>
          </a:prstGeom>
          <a:solidFill>
            <a:srgbClr val="FBEDE6"/>
          </a:solidFill>
          <a:ln>
            <a:noFill/>
          </a:ln>
        </p:spPr>
        <p:txBody>
          <a:bodyPr rtlCol="0" anchor="ctr"/>
          <a:lstStyle/>
          <a:p>
            <a:pPr algn="ctr"/>
          </a:p>
        </p:txBody>
      </p:sp>
      <p:sp>
        <p:nvSpPr>
          <p:cNvPr id="14" name="Rectangle 13"/>
          <p:cNvSpPr/>
          <p:nvPr/>
        </p:nvSpPr>
        <p:spPr>
          <a:xfrm>
            <a:off x="3383280" y="2211191"/>
            <a:ext cx="219456" cy="164592"/>
          </a:xfrm>
          <a:prstGeom prst="rect">
            <a:avLst/>
          </a:prstGeom>
          <a:solidFill>
            <a:srgbClr val="F4F5F6"/>
          </a:solidFill>
          <a:ln>
            <a:noFill/>
          </a:ln>
        </p:spPr>
        <p:txBody>
          <a:bodyPr rtlCol="0" anchor="ctr"/>
          <a:lstStyle/>
          <a:p>
            <a:pPr algn="ctr"/>
          </a:p>
        </p:txBody>
      </p:sp>
      <p:sp>
        <p:nvSpPr>
          <p:cNvPr id="15" name="TextBox 14"/>
          <p:cNvSpPr txBox="1"/>
          <p:nvPr/>
        </p:nvSpPr>
        <p:spPr>
          <a:xfrm>
            <a:off x="3703320" y="2119751"/>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16" name="TextBox 15"/>
          <p:cNvSpPr txBox="1"/>
          <p:nvPr/>
        </p:nvSpPr>
        <p:spPr>
          <a:xfrm>
            <a:off x="3840480" y="2119751"/>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공식 통계로 Stock·공급 확인. SAM 비율(Premium·적용·Option)은 가정</a:t>
            </a:r>
          </a:p>
        </p:txBody>
      </p:sp>
      <p:cxnSp>
        <p:nvCxnSpPr>
          <p:cNvPr id="17" name="Connector 16"/>
          <p:cNvCxnSpPr/>
          <p:nvPr/>
        </p:nvCxnSpPr>
        <p:spPr>
          <a:xfrm>
            <a:off x="685800" y="2448935"/>
            <a:ext cx="7040879" cy="0"/>
          </a:xfrm>
          <a:prstGeom prst="line">
            <a:avLst/>
          </a:prstGeom>
          <a:ln w="9525">
            <a:solidFill>
              <a:srgbClr val="E2E4E7"/>
            </a:solidFill>
          </a:ln>
        </p:spPr>
      </p:cxnSp>
      <p:sp>
        <p:nvSpPr>
          <p:cNvPr id="18" name="TextBox 17"/>
          <p:cNvSpPr txBox="1"/>
          <p:nvPr/>
        </p:nvSpPr>
        <p:spPr>
          <a:xfrm>
            <a:off x="685800" y="2458079"/>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Product</a:t>
            </a:r>
          </a:p>
        </p:txBody>
      </p:sp>
      <p:sp>
        <p:nvSpPr>
          <p:cNvPr id="19" name="Rectangle 18"/>
          <p:cNvSpPr/>
          <p:nvPr/>
        </p:nvSpPr>
        <p:spPr>
          <a:xfrm>
            <a:off x="2286000" y="2549519"/>
            <a:ext cx="219456" cy="164592"/>
          </a:xfrm>
          <a:prstGeom prst="rect">
            <a:avLst/>
          </a:prstGeom>
          <a:solidFill>
            <a:srgbClr val="15171A"/>
          </a:solidFill>
          <a:ln>
            <a:noFill/>
          </a:ln>
        </p:spPr>
        <p:txBody>
          <a:bodyPr rtlCol="0" anchor="ctr"/>
          <a:lstStyle/>
          <a:p>
            <a:pPr algn="ctr"/>
          </a:p>
        </p:txBody>
      </p:sp>
      <p:sp>
        <p:nvSpPr>
          <p:cNvPr id="20" name="Rectangle 19"/>
          <p:cNvSpPr/>
          <p:nvPr/>
        </p:nvSpPr>
        <p:spPr>
          <a:xfrm>
            <a:off x="2560320" y="2549519"/>
            <a:ext cx="219456" cy="164592"/>
          </a:xfrm>
          <a:prstGeom prst="rect">
            <a:avLst/>
          </a:prstGeom>
          <a:solidFill>
            <a:srgbClr val="15171A"/>
          </a:solidFill>
          <a:ln>
            <a:noFill/>
          </a:ln>
        </p:spPr>
        <p:txBody>
          <a:bodyPr rtlCol="0" anchor="ctr"/>
          <a:lstStyle/>
          <a:p>
            <a:pPr algn="ctr"/>
          </a:p>
        </p:txBody>
      </p:sp>
      <p:sp>
        <p:nvSpPr>
          <p:cNvPr id="21" name="Rectangle 20"/>
          <p:cNvSpPr/>
          <p:nvPr/>
        </p:nvSpPr>
        <p:spPr>
          <a:xfrm>
            <a:off x="2834640" y="2549519"/>
            <a:ext cx="219456" cy="164592"/>
          </a:xfrm>
          <a:prstGeom prst="rect">
            <a:avLst/>
          </a:prstGeom>
          <a:solidFill>
            <a:srgbClr val="FBEDE6"/>
          </a:solidFill>
          <a:ln>
            <a:noFill/>
          </a:ln>
        </p:spPr>
        <p:txBody>
          <a:bodyPr rtlCol="0" anchor="ctr"/>
          <a:lstStyle/>
          <a:p>
            <a:pPr algn="ctr"/>
          </a:p>
        </p:txBody>
      </p:sp>
      <p:sp>
        <p:nvSpPr>
          <p:cNvPr id="22" name="Rectangle 21"/>
          <p:cNvSpPr/>
          <p:nvPr/>
        </p:nvSpPr>
        <p:spPr>
          <a:xfrm>
            <a:off x="3108960" y="2549519"/>
            <a:ext cx="219456" cy="164592"/>
          </a:xfrm>
          <a:prstGeom prst="rect">
            <a:avLst/>
          </a:prstGeom>
          <a:solidFill>
            <a:srgbClr val="FBEDE6"/>
          </a:solidFill>
          <a:ln>
            <a:noFill/>
          </a:ln>
        </p:spPr>
        <p:txBody>
          <a:bodyPr rtlCol="0" anchor="ctr"/>
          <a:lstStyle/>
          <a:p>
            <a:pPr algn="ctr"/>
          </a:p>
        </p:txBody>
      </p:sp>
      <p:sp>
        <p:nvSpPr>
          <p:cNvPr id="23" name="Rectangle 22"/>
          <p:cNvSpPr/>
          <p:nvPr/>
        </p:nvSpPr>
        <p:spPr>
          <a:xfrm>
            <a:off x="3383280" y="2549519"/>
            <a:ext cx="219456" cy="164592"/>
          </a:xfrm>
          <a:prstGeom prst="rect">
            <a:avLst/>
          </a:prstGeom>
          <a:solidFill>
            <a:srgbClr val="F4F5F6"/>
          </a:solidFill>
          <a:ln>
            <a:noFill/>
          </a:ln>
        </p:spPr>
        <p:txBody>
          <a:bodyPr rtlCol="0" anchor="ctr"/>
          <a:lstStyle/>
          <a:p>
            <a:pPr algn="ctr"/>
          </a:p>
        </p:txBody>
      </p:sp>
      <p:sp>
        <p:nvSpPr>
          <p:cNvPr id="24" name="TextBox 23"/>
          <p:cNvSpPr txBox="1"/>
          <p:nvPr/>
        </p:nvSpPr>
        <p:spPr>
          <a:xfrm>
            <a:off x="3703320" y="2458079"/>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25" name="TextBox 24"/>
          <p:cNvSpPr txBox="1"/>
          <p:nvPr/>
        </p:nvSpPr>
        <p:spPr>
          <a:xfrm>
            <a:off x="3840480" y="2458079"/>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Concept 정의 명확. 실물·Mock-up 없음</a:t>
            </a:r>
          </a:p>
        </p:txBody>
      </p:sp>
      <p:cxnSp>
        <p:nvCxnSpPr>
          <p:cNvPr id="26" name="Connector 25"/>
          <p:cNvCxnSpPr/>
          <p:nvPr/>
        </p:nvCxnSpPr>
        <p:spPr>
          <a:xfrm>
            <a:off x="685800" y="2787263"/>
            <a:ext cx="7040879" cy="0"/>
          </a:xfrm>
          <a:prstGeom prst="line">
            <a:avLst/>
          </a:prstGeom>
          <a:ln w="9525">
            <a:solidFill>
              <a:srgbClr val="E2E4E7"/>
            </a:solidFill>
          </a:ln>
        </p:spPr>
      </p:cxnSp>
      <p:sp>
        <p:nvSpPr>
          <p:cNvPr id="27" name="TextBox 26"/>
          <p:cNvSpPr txBox="1"/>
          <p:nvPr/>
        </p:nvSpPr>
        <p:spPr>
          <a:xfrm>
            <a:off x="685800" y="2796407"/>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Technology</a:t>
            </a:r>
          </a:p>
        </p:txBody>
      </p:sp>
      <p:sp>
        <p:nvSpPr>
          <p:cNvPr id="28" name="Rectangle 27"/>
          <p:cNvSpPr/>
          <p:nvPr/>
        </p:nvSpPr>
        <p:spPr>
          <a:xfrm>
            <a:off x="2286000" y="2887847"/>
            <a:ext cx="219456" cy="164592"/>
          </a:xfrm>
          <a:prstGeom prst="rect">
            <a:avLst/>
          </a:prstGeom>
          <a:solidFill>
            <a:srgbClr val="15171A"/>
          </a:solidFill>
          <a:ln>
            <a:noFill/>
          </a:ln>
        </p:spPr>
        <p:txBody>
          <a:bodyPr rtlCol="0" anchor="ctr"/>
          <a:lstStyle/>
          <a:p>
            <a:pPr algn="ctr"/>
          </a:p>
        </p:txBody>
      </p:sp>
      <p:sp>
        <p:nvSpPr>
          <p:cNvPr id="29" name="Rectangle 28"/>
          <p:cNvSpPr/>
          <p:nvPr/>
        </p:nvSpPr>
        <p:spPr>
          <a:xfrm>
            <a:off x="2560320" y="2887847"/>
            <a:ext cx="219456" cy="164592"/>
          </a:xfrm>
          <a:prstGeom prst="rect">
            <a:avLst/>
          </a:prstGeom>
          <a:solidFill>
            <a:srgbClr val="15171A"/>
          </a:solidFill>
          <a:ln>
            <a:noFill/>
          </a:ln>
        </p:spPr>
        <p:txBody>
          <a:bodyPr rtlCol="0" anchor="ctr"/>
          <a:lstStyle/>
          <a:p>
            <a:pPr algn="ctr"/>
          </a:p>
        </p:txBody>
      </p:sp>
      <p:sp>
        <p:nvSpPr>
          <p:cNvPr id="30" name="Rectangle 29"/>
          <p:cNvSpPr/>
          <p:nvPr/>
        </p:nvSpPr>
        <p:spPr>
          <a:xfrm>
            <a:off x="2834640" y="2887847"/>
            <a:ext cx="219456" cy="164592"/>
          </a:xfrm>
          <a:prstGeom prst="rect">
            <a:avLst/>
          </a:prstGeom>
          <a:solidFill>
            <a:srgbClr val="FBEDE6"/>
          </a:solidFill>
          <a:ln>
            <a:noFill/>
          </a:ln>
        </p:spPr>
        <p:txBody>
          <a:bodyPr rtlCol="0" anchor="ctr"/>
          <a:lstStyle/>
          <a:p>
            <a:pPr algn="ctr"/>
          </a:p>
        </p:txBody>
      </p:sp>
      <p:sp>
        <p:nvSpPr>
          <p:cNvPr id="31" name="Rectangle 30"/>
          <p:cNvSpPr/>
          <p:nvPr/>
        </p:nvSpPr>
        <p:spPr>
          <a:xfrm>
            <a:off x="3108960" y="2887847"/>
            <a:ext cx="219456" cy="164592"/>
          </a:xfrm>
          <a:prstGeom prst="rect">
            <a:avLst/>
          </a:prstGeom>
          <a:solidFill>
            <a:srgbClr val="FBEDE6"/>
          </a:solidFill>
          <a:ln>
            <a:noFill/>
          </a:ln>
        </p:spPr>
        <p:txBody>
          <a:bodyPr rtlCol="0" anchor="ctr"/>
          <a:lstStyle/>
          <a:p>
            <a:pPr algn="ctr"/>
          </a:p>
        </p:txBody>
      </p:sp>
      <p:sp>
        <p:nvSpPr>
          <p:cNvPr id="32" name="Rectangle 31"/>
          <p:cNvSpPr/>
          <p:nvPr/>
        </p:nvSpPr>
        <p:spPr>
          <a:xfrm>
            <a:off x="3383280" y="2887847"/>
            <a:ext cx="219456" cy="164592"/>
          </a:xfrm>
          <a:prstGeom prst="rect">
            <a:avLst/>
          </a:prstGeom>
          <a:solidFill>
            <a:srgbClr val="F4F5F6"/>
          </a:solidFill>
          <a:ln>
            <a:noFill/>
          </a:ln>
        </p:spPr>
        <p:txBody>
          <a:bodyPr rtlCol="0" anchor="ctr"/>
          <a:lstStyle/>
          <a:p>
            <a:pPr algn="ctr"/>
          </a:p>
        </p:txBody>
      </p:sp>
      <p:sp>
        <p:nvSpPr>
          <p:cNvPr id="33" name="TextBox 32"/>
          <p:cNvSpPr txBox="1"/>
          <p:nvPr/>
        </p:nvSpPr>
        <p:spPr>
          <a:xfrm>
            <a:off x="3703320" y="2796407"/>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34" name="TextBox 33"/>
          <p:cNvSpPr txBox="1"/>
          <p:nvPr/>
        </p:nvSpPr>
        <p:spPr>
          <a:xfrm>
            <a:off x="3840480" y="2796407"/>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Cobot·Vision 부품은 상용. 가정 주방 Clean-up 신뢰성 미검증</a:t>
            </a:r>
          </a:p>
        </p:txBody>
      </p:sp>
      <p:cxnSp>
        <p:nvCxnSpPr>
          <p:cNvPr id="35" name="Connector 34"/>
          <p:cNvCxnSpPr/>
          <p:nvPr/>
        </p:nvCxnSpPr>
        <p:spPr>
          <a:xfrm>
            <a:off x="685800" y="3125591"/>
            <a:ext cx="7040879" cy="0"/>
          </a:xfrm>
          <a:prstGeom prst="line">
            <a:avLst/>
          </a:prstGeom>
          <a:ln w="9525">
            <a:solidFill>
              <a:srgbClr val="E2E4E7"/>
            </a:solidFill>
          </a:ln>
        </p:spPr>
      </p:cxnSp>
      <p:sp>
        <p:nvSpPr>
          <p:cNvPr id="36" name="TextBox 35"/>
          <p:cNvSpPr txBox="1"/>
          <p:nvPr/>
        </p:nvSpPr>
        <p:spPr>
          <a:xfrm>
            <a:off x="685800" y="3134735"/>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Customer Demand</a:t>
            </a:r>
          </a:p>
        </p:txBody>
      </p:sp>
      <p:sp>
        <p:nvSpPr>
          <p:cNvPr id="37" name="Rectangle 36"/>
          <p:cNvSpPr/>
          <p:nvPr/>
        </p:nvSpPr>
        <p:spPr>
          <a:xfrm>
            <a:off x="2286000" y="3226175"/>
            <a:ext cx="219456" cy="164592"/>
          </a:xfrm>
          <a:prstGeom prst="rect">
            <a:avLst/>
          </a:prstGeom>
          <a:solidFill>
            <a:srgbClr val="15171A"/>
          </a:solidFill>
          <a:ln>
            <a:noFill/>
          </a:ln>
        </p:spPr>
        <p:txBody>
          <a:bodyPr rtlCol="0" anchor="ctr"/>
          <a:lstStyle/>
          <a:p>
            <a:pPr algn="ctr"/>
          </a:p>
        </p:txBody>
      </p:sp>
      <p:sp>
        <p:nvSpPr>
          <p:cNvPr id="38" name="Rectangle 37"/>
          <p:cNvSpPr/>
          <p:nvPr/>
        </p:nvSpPr>
        <p:spPr>
          <a:xfrm>
            <a:off x="2560320" y="3226175"/>
            <a:ext cx="219456" cy="164592"/>
          </a:xfrm>
          <a:prstGeom prst="rect">
            <a:avLst/>
          </a:prstGeom>
          <a:solidFill>
            <a:srgbClr val="FBEDE6"/>
          </a:solidFill>
          <a:ln>
            <a:noFill/>
          </a:ln>
        </p:spPr>
        <p:txBody>
          <a:bodyPr rtlCol="0" anchor="ctr"/>
          <a:lstStyle/>
          <a:p>
            <a:pPr algn="ctr"/>
          </a:p>
        </p:txBody>
      </p:sp>
      <p:sp>
        <p:nvSpPr>
          <p:cNvPr id="39" name="Rectangle 38"/>
          <p:cNvSpPr/>
          <p:nvPr/>
        </p:nvSpPr>
        <p:spPr>
          <a:xfrm>
            <a:off x="2834640" y="3226175"/>
            <a:ext cx="219456" cy="164592"/>
          </a:xfrm>
          <a:prstGeom prst="rect">
            <a:avLst/>
          </a:prstGeom>
          <a:solidFill>
            <a:srgbClr val="FBEDE6"/>
          </a:solidFill>
          <a:ln>
            <a:noFill/>
          </a:ln>
        </p:spPr>
        <p:txBody>
          <a:bodyPr rtlCol="0" anchor="ctr"/>
          <a:lstStyle/>
          <a:p>
            <a:pPr algn="ctr"/>
          </a:p>
        </p:txBody>
      </p:sp>
      <p:sp>
        <p:nvSpPr>
          <p:cNvPr id="40" name="Rectangle 39"/>
          <p:cNvSpPr/>
          <p:nvPr/>
        </p:nvSpPr>
        <p:spPr>
          <a:xfrm>
            <a:off x="3108960" y="3226175"/>
            <a:ext cx="219456" cy="164592"/>
          </a:xfrm>
          <a:prstGeom prst="rect">
            <a:avLst/>
          </a:prstGeom>
          <a:solidFill>
            <a:srgbClr val="FBEDE6"/>
          </a:solidFill>
          <a:ln>
            <a:noFill/>
          </a:ln>
        </p:spPr>
        <p:txBody>
          <a:bodyPr rtlCol="0" anchor="ctr"/>
          <a:lstStyle/>
          <a:p>
            <a:pPr algn="ctr"/>
          </a:p>
        </p:txBody>
      </p:sp>
      <p:sp>
        <p:nvSpPr>
          <p:cNvPr id="41" name="Rectangle 40"/>
          <p:cNvSpPr/>
          <p:nvPr/>
        </p:nvSpPr>
        <p:spPr>
          <a:xfrm>
            <a:off x="3383280" y="3226175"/>
            <a:ext cx="219456" cy="164592"/>
          </a:xfrm>
          <a:prstGeom prst="rect">
            <a:avLst/>
          </a:prstGeom>
          <a:solidFill>
            <a:srgbClr val="F4F5F6"/>
          </a:solidFill>
          <a:ln>
            <a:noFill/>
          </a:ln>
        </p:spPr>
        <p:txBody>
          <a:bodyPr rtlCol="0" anchor="ctr"/>
          <a:lstStyle/>
          <a:p>
            <a:pPr algn="ctr"/>
          </a:p>
        </p:txBody>
      </p:sp>
      <p:sp>
        <p:nvSpPr>
          <p:cNvPr id="42" name="TextBox 41"/>
          <p:cNvSpPr txBox="1"/>
          <p:nvPr/>
        </p:nvSpPr>
        <p:spPr>
          <a:xfrm>
            <a:off x="3703320" y="3134735"/>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43" name="TextBox 42"/>
          <p:cNvSpPr txBox="1"/>
          <p:nvPr/>
        </p:nvSpPr>
        <p:spPr>
          <a:xfrm>
            <a:off x="3840480" y="3134735"/>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Interview·WTP·예약 없음. 가치 Anchor &lt; 원가 Gap</a:t>
            </a:r>
          </a:p>
        </p:txBody>
      </p:sp>
      <p:cxnSp>
        <p:nvCxnSpPr>
          <p:cNvPr id="44" name="Connector 43"/>
          <p:cNvCxnSpPr/>
          <p:nvPr/>
        </p:nvCxnSpPr>
        <p:spPr>
          <a:xfrm>
            <a:off x="685800" y="3463919"/>
            <a:ext cx="7040879" cy="0"/>
          </a:xfrm>
          <a:prstGeom prst="line">
            <a:avLst/>
          </a:prstGeom>
          <a:ln w="9525">
            <a:solidFill>
              <a:srgbClr val="E2E4E7"/>
            </a:solidFill>
          </a:ln>
        </p:spPr>
      </p:cxnSp>
      <p:sp>
        <p:nvSpPr>
          <p:cNvPr id="45" name="TextBox 44"/>
          <p:cNvSpPr txBox="1"/>
          <p:nvPr/>
        </p:nvSpPr>
        <p:spPr>
          <a:xfrm>
            <a:off x="685800" y="3473063"/>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Standardization</a:t>
            </a:r>
          </a:p>
        </p:txBody>
      </p:sp>
      <p:sp>
        <p:nvSpPr>
          <p:cNvPr id="46" name="Rectangle 45"/>
          <p:cNvSpPr/>
          <p:nvPr/>
        </p:nvSpPr>
        <p:spPr>
          <a:xfrm>
            <a:off x="2286000" y="3564503"/>
            <a:ext cx="219456" cy="164592"/>
          </a:xfrm>
          <a:prstGeom prst="rect">
            <a:avLst/>
          </a:prstGeom>
          <a:solidFill>
            <a:srgbClr val="15171A"/>
          </a:solidFill>
          <a:ln>
            <a:noFill/>
          </a:ln>
        </p:spPr>
        <p:txBody>
          <a:bodyPr rtlCol="0" anchor="ctr"/>
          <a:lstStyle/>
          <a:p>
            <a:pPr algn="ctr"/>
          </a:p>
        </p:txBody>
      </p:sp>
      <p:sp>
        <p:nvSpPr>
          <p:cNvPr id="47" name="Rectangle 46"/>
          <p:cNvSpPr/>
          <p:nvPr/>
        </p:nvSpPr>
        <p:spPr>
          <a:xfrm>
            <a:off x="2560320" y="3564503"/>
            <a:ext cx="219456" cy="164592"/>
          </a:xfrm>
          <a:prstGeom prst="rect">
            <a:avLst/>
          </a:prstGeom>
          <a:solidFill>
            <a:srgbClr val="FBEDE6"/>
          </a:solidFill>
          <a:ln>
            <a:noFill/>
          </a:ln>
        </p:spPr>
        <p:txBody>
          <a:bodyPr rtlCol="0" anchor="ctr"/>
          <a:lstStyle/>
          <a:p>
            <a:pPr algn="ctr"/>
          </a:p>
        </p:txBody>
      </p:sp>
      <p:sp>
        <p:nvSpPr>
          <p:cNvPr id="48" name="Rectangle 47"/>
          <p:cNvSpPr/>
          <p:nvPr/>
        </p:nvSpPr>
        <p:spPr>
          <a:xfrm>
            <a:off x="2834640" y="3564503"/>
            <a:ext cx="219456" cy="164592"/>
          </a:xfrm>
          <a:prstGeom prst="rect">
            <a:avLst/>
          </a:prstGeom>
          <a:solidFill>
            <a:srgbClr val="FBEDE6"/>
          </a:solidFill>
          <a:ln>
            <a:noFill/>
          </a:ln>
        </p:spPr>
        <p:txBody>
          <a:bodyPr rtlCol="0" anchor="ctr"/>
          <a:lstStyle/>
          <a:p>
            <a:pPr algn="ctr"/>
          </a:p>
        </p:txBody>
      </p:sp>
      <p:sp>
        <p:nvSpPr>
          <p:cNvPr id="49" name="Rectangle 48"/>
          <p:cNvSpPr/>
          <p:nvPr/>
        </p:nvSpPr>
        <p:spPr>
          <a:xfrm>
            <a:off x="3108960" y="3564503"/>
            <a:ext cx="219456" cy="164592"/>
          </a:xfrm>
          <a:prstGeom prst="rect">
            <a:avLst/>
          </a:prstGeom>
          <a:solidFill>
            <a:srgbClr val="FBEDE6"/>
          </a:solidFill>
          <a:ln>
            <a:noFill/>
          </a:ln>
        </p:spPr>
        <p:txBody>
          <a:bodyPr rtlCol="0" anchor="ctr"/>
          <a:lstStyle/>
          <a:p>
            <a:pPr algn="ctr"/>
          </a:p>
        </p:txBody>
      </p:sp>
      <p:sp>
        <p:nvSpPr>
          <p:cNvPr id="50" name="Rectangle 49"/>
          <p:cNvSpPr/>
          <p:nvPr/>
        </p:nvSpPr>
        <p:spPr>
          <a:xfrm>
            <a:off x="3383280" y="3564503"/>
            <a:ext cx="219456" cy="164592"/>
          </a:xfrm>
          <a:prstGeom prst="rect">
            <a:avLst/>
          </a:prstGeom>
          <a:solidFill>
            <a:srgbClr val="F4F5F6"/>
          </a:solidFill>
          <a:ln>
            <a:noFill/>
          </a:ln>
        </p:spPr>
        <p:txBody>
          <a:bodyPr rtlCol="0" anchor="ctr"/>
          <a:lstStyle/>
          <a:p>
            <a:pPr algn="ctr"/>
          </a:p>
        </p:txBody>
      </p:sp>
      <p:sp>
        <p:nvSpPr>
          <p:cNvPr id="51" name="TextBox 50"/>
          <p:cNvSpPr txBox="1"/>
          <p:nvPr/>
        </p:nvSpPr>
        <p:spPr>
          <a:xfrm>
            <a:off x="3703320" y="3473063"/>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52" name="TextBox 51"/>
          <p:cNvSpPr txBox="1"/>
          <p:nvPr/>
        </p:nvSpPr>
        <p:spPr>
          <a:xfrm>
            <a:off x="3840480" y="3473063"/>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평면 분석 없음. 분류 체계만 존재</a:t>
            </a:r>
          </a:p>
        </p:txBody>
      </p:sp>
      <p:cxnSp>
        <p:nvCxnSpPr>
          <p:cNvPr id="53" name="Connector 52"/>
          <p:cNvCxnSpPr/>
          <p:nvPr/>
        </p:nvCxnSpPr>
        <p:spPr>
          <a:xfrm>
            <a:off x="685800" y="3802247"/>
            <a:ext cx="7040879" cy="0"/>
          </a:xfrm>
          <a:prstGeom prst="line">
            <a:avLst/>
          </a:prstGeom>
          <a:ln w="9525">
            <a:solidFill>
              <a:srgbClr val="E2E4E7"/>
            </a:solidFill>
          </a:ln>
        </p:spPr>
      </p:cxnSp>
      <p:sp>
        <p:nvSpPr>
          <p:cNvPr id="54" name="TextBox 53"/>
          <p:cNvSpPr txBox="1"/>
          <p:nvPr/>
        </p:nvSpPr>
        <p:spPr>
          <a:xfrm>
            <a:off x="685800" y="3811391"/>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Unit Economics</a:t>
            </a:r>
          </a:p>
        </p:txBody>
      </p:sp>
      <p:sp>
        <p:nvSpPr>
          <p:cNvPr id="55" name="Rectangle 54"/>
          <p:cNvSpPr/>
          <p:nvPr/>
        </p:nvSpPr>
        <p:spPr>
          <a:xfrm>
            <a:off x="2286000" y="3902831"/>
            <a:ext cx="219456" cy="164592"/>
          </a:xfrm>
          <a:prstGeom prst="rect">
            <a:avLst/>
          </a:prstGeom>
          <a:solidFill>
            <a:srgbClr val="15171A"/>
          </a:solidFill>
          <a:ln>
            <a:noFill/>
          </a:ln>
        </p:spPr>
        <p:txBody>
          <a:bodyPr rtlCol="0" anchor="ctr"/>
          <a:lstStyle/>
          <a:p>
            <a:pPr algn="ctr"/>
          </a:p>
        </p:txBody>
      </p:sp>
      <p:sp>
        <p:nvSpPr>
          <p:cNvPr id="56" name="Rectangle 55"/>
          <p:cNvSpPr/>
          <p:nvPr/>
        </p:nvSpPr>
        <p:spPr>
          <a:xfrm>
            <a:off x="2560320" y="3902831"/>
            <a:ext cx="219456" cy="164592"/>
          </a:xfrm>
          <a:prstGeom prst="rect">
            <a:avLst/>
          </a:prstGeom>
          <a:solidFill>
            <a:srgbClr val="15171A"/>
          </a:solidFill>
          <a:ln>
            <a:noFill/>
          </a:ln>
        </p:spPr>
        <p:txBody>
          <a:bodyPr rtlCol="0" anchor="ctr"/>
          <a:lstStyle/>
          <a:p>
            <a:pPr algn="ctr"/>
          </a:p>
        </p:txBody>
      </p:sp>
      <p:sp>
        <p:nvSpPr>
          <p:cNvPr id="57" name="Rectangle 56"/>
          <p:cNvSpPr/>
          <p:nvPr/>
        </p:nvSpPr>
        <p:spPr>
          <a:xfrm>
            <a:off x="2834640" y="3902831"/>
            <a:ext cx="219456" cy="164592"/>
          </a:xfrm>
          <a:prstGeom prst="rect">
            <a:avLst/>
          </a:prstGeom>
          <a:solidFill>
            <a:srgbClr val="FBEDE6"/>
          </a:solidFill>
          <a:ln>
            <a:noFill/>
          </a:ln>
        </p:spPr>
        <p:txBody>
          <a:bodyPr rtlCol="0" anchor="ctr"/>
          <a:lstStyle/>
          <a:p>
            <a:pPr algn="ctr"/>
          </a:p>
        </p:txBody>
      </p:sp>
      <p:sp>
        <p:nvSpPr>
          <p:cNvPr id="58" name="Rectangle 57"/>
          <p:cNvSpPr/>
          <p:nvPr/>
        </p:nvSpPr>
        <p:spPr>
          <a:xfrm>
            <a:off x="3108960" y="3902831"/>
            <a:ext cx="219456" cy="164592"/>
          </a:xfrm>
          <a:prstGeom prst="rect">
            <a:avLst/>
          </a:prstGeom>
          <a:solidFill>
            <a:srgbClr val="F4F5F6"/>
          </a:solidFill>
          <a:ln>
            <a:noFill/>
          </a:ln>
        </p:spPr>
        <p:txBody>
          <a:bodyPr rtlCol="0" anchor="ctr"/>
          <a:lstStyle/>
          <a:p>
            <a:pPr algn="ctr"/>
          </a:p>
        </p:txBody>
      </p:sp>
      <p:sp>
        <p:nvSpPr>
          <p:cNvPr id="59" name="Rectangle 58"/>
          <p:cNvSpPr/>
          <p:nvPr/>
        </p:nvSpPr>
        <p:spPr>
          <a:xfrm>
            <a:off x="3383280" y="3902831"/>
            <a:ext cx="219456" cy="164592"/>
          </a:xfrm>
          <a:prstGeom prst="rect">
            <a:avLst/>
          </a:prstGeom>
          <a:solidFill>
            <a:srgbClr val="F4F5F6"/>
          </a:solidFill>
          <a:ln>
            <a:noFill/>
          </a:ln>
        </p:spPr>
        <p:txBody>
          <a:bodyPr rtlCol="0" anchor="ctr"/>
          <a:lstStyle/>
          <a:p>
            <a:pPr algn="ctr"/>
          </a:p>
        </p:txBody>
      </p:sp>
      <p:sp>
        <p:nvSpPr>
          <p:cNvPr id="60" name="TextBox 59"/>
          <p:cNvSpPr txBox="1"/>
          <p:nvPr/>
        </p:nvSpPr>
        <p:spPr>
          <a:xfrm>
            <a:off x="3703320" y="3811391"/>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61" name="TextBox 60"/>
          <p:cNvSpPr txBox="1"/>
          <p:nvPr/>
        </p:nvSpPr>
        <p:spPr>
          <a:xfrm>
            <a:off x="3840480" y="3811391"/>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Y3 세대 CM 19% · Y5 34% (가정). BOM 의존</a:t>
            </a:r>
          </a:p>
        </p:txBody>
      </p:sp>
      <p:cxnSp>
        <p:nvCxnSpPr>
          <p:cNvPr id="62" name="Connector 61"/>
          <p:cNvCxnSpPr/>
          <p:nvPr/>
        </p:nvCxnSpPr>
        <p:spPr>
          <a:xfrm>
            <a:off x="685800" y="4140575"/>
            <a:ext cx="7040879" cy="0"/>
          </a:xfrm>
          <a:prstGeom prst="line">
            <a:avLst/>
          </a:prstGeom>
          <a:ln w="9525">
            <a:solidFill>
              <a:srgbClr val="E2E4E7"/>
            </a:solidFill>
          </a:ln>
        </p:spPr>
      </p:cxnSp>
      <p:sp>
        <p:nvSpPr>
          <p:cNvPr id="63" name="TextBox 62"/>
          <p:cNvSpPr txBox="1"/>
          <p:nvPr/>
        </p:nvSpPr>
        <p:spPr>
          <a:xfrm>
            <a:off x="685800" y="4149719"/>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Recurring Revenue</a:t>
            </a:r>
          </a:p>
        </p:txBody>
      </p:sp>
      <p:sp>
        <p:nvSpPr>
          <p:cNvPr id="64" name="Rectangle 63"/>
          <p:cNvSpPr/>
          <p:nvPr/>
        </p:nvSpPr>
        <p:spPr>
          <a:xfrm>
            <a:off x="2286000" y="4241159"/>
            <a:ext cx="219456" cy="164592"/>
          </a:xfrm>
          <a:prstGeom prst="rect">
            <a:avLst/>
          </a:prstGeom>
          <a:solidFill>
            <a:srgbClr val="15171A"/>
          </a:solidFill>
          <a:ln>
            <a:noFill/>
          </a:ln>
        </p:spPr>
        <p:txBody>
          <a:bodyPr rtlCol="0" anchor="ctr"/>
          <a:lstStyle/>
          <a:p>
            <a:pPr algn="ctr"/>
          </a:p>
        </p:txBody>
      </p:sp>
      <p:sp>
        <p:nvSpPr>
          <p:cNvPr id="65" name="Rectangle 64"/>
          <p:cNvSpPr/>
          <p:nvPr/>
        </p:nvSpPr>
        <p:spPr>
          <a:xfrm>
            <a:off x="2560320" y="4241159"/>
            <a:ext cx="219456" cy="164592"/>
          </a:xfrm>
          <a:prstGeom prst="rect">
            <a:avLst/>
          </a:prstGeom>
          <a:solidFill>
            <a:srgbClr val="15171A"/>
          </a:solidFill>
          <a:ln>
            <a:noFill/>
          </a:ln>
        </p:spPr>
        <p:txBody>
          <a:bodyPr rtlCol="0" anchor="ctr"/>
          <a:lstStyle/>
          <a:p>
            <a:pPr algn="ctr"/>
          </a:p>
        </p:txBody>
      </p:sp>
      <p:sp>
        <p:nvSpPr>
          <p:cNvPr id="66" name="Rectangle 65"/>
          <p:cNvSpPr/>
          <p:nvPr/>
        </p:nvSpPr>
        <p:spPr>
          <a:xfrm>
            <a:off x="2834640" y="4241159"/>
            <a:ext cx="219456" cy="164592"/>
          </a:xfrm>
          <a:prstGeom prst="rect">
            <a:avLst/>
          </a:prstGeom>
          <a:solidFill>
            <a:srgbClr val="FBEDE6"/>
          </a:solidFill>
          <a:ln>
            <a:noFill/>
          </a:ln>
        </p:spPr>
        <p:txBody>
          <a:bodyPr rtlCol="0" anchor="ctr"/>
          <a:lstStyle/>
          <a:p>
            <a:pPr algn="ctr"/>
          </a:p>
        </p:txBody>
      </p:sp>
      <p:sp>
        <p:nvSpPr>
          <p:cNvPr id="67" name="Rectangle 66"/>
          <p:cNvSpPr/>
          <p:nvPr/>
        </p:nvSpPr>
        <p:spPr>
          <a:xfrm>
            <a:off x="3108960" y="4241159"/>
            <a:ext cx="219456" cy="164592"/>
          </a:xfrm>
          <a:prstGeom prst="rect">
            <a:avLst/>
          </a:prstGeom>
          <a:solidFill>
            <a:srgbClr val="F4F5F6"/>
          </a:solidFill>
          <a:ln>
            <a:noFill/>
          </a:ln>
        </p:spPr>
        <p:txBody>
          <a:bodyPr rtlCol="0" anchor="ctr"/>
          <a:lstStyle/>
          <a:p>
            <a:pPr algn="ctr"/>
          </a:p>
        </p:txBody>
      </p:sp>
      <p:sp>
        <p:nvSpPr>
          <p:cNvPr id="68" name="Rectangle 67"/>
          <p:cNvSpPr/>
          <p:nvPr/>
        </p:nvSpPr>
        <p:spPr>
          <a:xfrm>
            <a:off x="3383280" y="4241159"/>
            <a:ext cx="219456" cy="164592"/>
          </a:xfrm>
          <a:prstGeom prst="rect">
            <a:avLst/>
          </a:prstGeom>
          <a:solidFill>
            <a:srgbClr val="F4F5F6"/>
          </a:solidFill>
          <a:ln>
            <a:noFill/>
          </a:ln>
        </p:spPr>
        <p:txBody>
          <a:bodyPr rtlCol="0" anchor="ctr"/>
          <a:lstStyle/>
          <a:p>
            <a:pPr algn="ctr"/>
          </a:p>
        </p:txBody>
      </p:sp>
      <p:sp>
        <p:nvSpPr>
          <p:cNvPr id="69" name="TextBox 68"/>
          <p:cNvSpPr txBox="1"/>
          <p:nvPr/>
        </p:nvSpPr>
        <p:spPr>
          <a:xfrm>
            <a:off x="3703320" y="4149719"/>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70" name="TextBox 69"/>
          <p:cNvSpPr txBox="1"/>
          <p:nvPr/>
        </p:nvSpPr>
        <p:spPr>
          <a:xfrm>
            <a:off x="3840480" y="4149719"/>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구조 설계됨. 비중 Y5 4% · 정상상태 약 15%</a:t>
            </a:r>
          </a:p>
        </p:txBody>
      </p:sp>
      <p:cxnSp>
        <p:nvCxnSpPr>
          <p:cNvPr id="71" name="Connector 70"/>
          <p:cNvCxnSpPr/>
          <p:nvPr/>
        </p:nvCxnSpPr>
        <p:spPr>
          <a:xfrm>
            <a:off x="685800" y="4478903"/>
            <a:ext cx="7040879" cy="0"/>
          </a:xfrm>
          <a:prstGeom prst="line">
            <a:avLst/>
          </a:prstGeom>
          <a:ln w="9525">
            <a:solidFill>
              <a:srgbClr val="E2E4E7"/>
            </a:solidFill>
          </a:ln>
        </p:spPr>
      </p:cxnSp>
      <p:sp>
        <p:nvSpPr>
          <p:cNvPr id="72" name="TextBox 71"/>
          <p:cNvSpPr txBox="1"/>
          <p:nvPr/>
        </p:nvSpPr>
        <p:spPr>
          <a:xfrm>
            <a:off x="685800" y="4488047"/>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Distribution</a:t>
            </a:r>
          </a:p>
        </p:txBody>
      </p:sp>
      <p:sp>
        <p:nvSpPr>
          <p:cNvPr id="73" name="Rectangle 72"/>
          <p:cNvSpPr/>
          <p:nvPr/>
        </p:nvSpPr>
        <p:spPr>
          <a:xfrm>
            <a:off x="2286000" y="4579487"/>
            <a:ext cx="219456" cy="164592"/>
          </a:xfrm>
          <a:prstGeom prst="rect">
            <a:avLst/>
          </a:prstGeom>
          <a:solidFill>
            <a:srgbClr val="15171A"/>
          </a:solidFill>
          <a:ln>
            <a:noFill/>
          </a:ln>
        </p:spPr>
        <p:txBody>
          <a:bodyPr rtlCol="0" anchor="ctr"/>
          <a:lstStyle/>
          <a:p>
            <a:pPr algn="ctr"/>
          </a:p>
        </p:txBody>
      </p:sp>
      <p:sp>
        <p:nvSpPr>
          <p:cNvPr id="74" name="Rectangle 73"/>
          <p:cNvSpPr/>
          <p:nvPr/>
        </p:nvSpPr>
        <p:spPr>
          <a:xfrm>
            <a:off x="2560320" y="4579487"/>
            <a:ext cx="219456" cy="164592"/>
          </a:xfrm>
          <a:prstGeom prst="rect">
            <a:avLst/>
          </a:prstGeom>
          <a:solidFill>
            <a:srgbClr val="FBEDE6"/>
          </a:solidFill>
          <a:ln>
            <a:noFill/>
          </a:ln>
        </p:spPr>
        <p:txBody>
          <a:bodyPr rtlCol="0" anchor="ctr"/>
          <a:lstStyle/>
          <a:p>
            <a:pPr algn="ctr"/>
          </a:p>
        </p:txBody>
      </p:sp>
      <p:sp>
        <p:nvSpPr>
          <p:cNvPr id="75" name="Rectangle 74"/>
          <p:cNvSpPr/>
          <p:nvPr/>
        </p:nvSpPr>
        <p:spPr>
          <a:xfrm>
            <a:off x="2834640" y="4579487"/>
            <a:ext cx="219456" cy="164592"/>
          </a:xfrm>
          <a:prstGeom prst="rect">
            <a:avLst/>
          </a:prstGeom>
          <a:solidFill>
            <a:srgbClr val="FBEDE6"/>
          </a:solidFill>
          <a:ln>
            <a:noFill/>
          </a:ln>
        </p:spPr>
        <p:txBody>
          <a:bodyPr rtlCol="0" anchor="ctr"/>
          <a:lstStyle/>
          <a:p>
            <a:pPr algn="ctr"/>
          </a:p>
        </p:txBody>
      </p:sp>
      <p:sp>
        <p:nvSpPr>
          <p:cNvPr id="76" name="Rectangle 75"/>
          <p:cNvSpPr/>
          <p:nvPr/>
        </p:nvSpPr>
        <p:spPr>
          <a:xfrm>
            <a:off x="3108960" y="4579487"/>
            <a:ext cx="219456" cy="164592"/>
          </a:xfrm>
          <a:prstGeom prst="rect">
            <a:avLst/>
          </a:prstGeom>
          <a:solidFill>
            <a:srgbClr val="F4F5F6"/>
          </a:solidFill>
          <a:ln>
            <a:noFill/>
          </a:ln>
        </p:spPr>
        <p:txBody>
          <a:bodyPr rtlCol="0" anchor="ctr"/>
          <a:lstStyle/>
          <a:p>
            <a:pPr algn="ctr"/>
          </a:p>
        </p:txBody>
      </p:sp>
      <p:sp>
        <p:nvSpPr>
          <p:cNvPr id="77" name="Rectangle 76"/>
          <p:cNvSpPr/>
          <p:nvPr/>
        </p:nvSpPr>
        <p:spPr>
          <a:xfrm>
            <a:off x="3383280" y="4579487"/>
            <a:ext cx="219456" cy="164592"/>
          </a:xfrm>
          <a:prstGeom prst="rect">
            <a:avLst/>
          </a:prstGeom>
          <a:solidFill>
            <a:srgbClr val="F4F5F6"/>
          </a:solidFill>
          <a:ln>
            <a:noFill/>
          </a:ln>
        </p:spPr>
        <p:txBody>
          <a:bodyPr rtlCol="0" anchor="ctr"/>
          <a:lstStyle/>
          <a:p>
            <a:pPr algn="ctr"/>
          </a:p>
        </p:txBody>
      </p:sp>
      <p:sp>
        <p:nvSpPr>
          <p:cNvPr id="78" name="TextBox 77"/>
          <p:cNvSpPr txBox="1"/>
          <p:nvPr/>
        </p:nvSpPr>
        <p:spPr>
          <a:xfrm>
            <a:off x="3703320" y="4488047"/>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79" name="TextBox 78"/>
          <p:cNvSpPr txBox="1"/>
          <p:nvPr/>
        </p:nvSpPr>
        <p:spPr>
          <a:xfrm>
            <a:off x="3840480" y="4488047"/>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Partner 접촉 없음. Partner 역할·수수료 구조만 설계</a:t>
            </a:r>
          </a:p>
        </p:txBody>
      </p:sp>
      <p:cxnSp>
        <p:nvCxnSpPr>
          <p:cNvPr id="80" name="Connector 79"/>
          <p:cNvCxnSpPr/>
          <p:nvPr/>
        </p:nvCxnSpPr>
        <p:spPr>
          <a:xfrm>
            <a:off x="685800" y="4817231"/>
            <a:ext cx="7040879" cy="0"/>
          </a:xfrm>
          <a:prstGeom prst="line">
            <a:avLst/>
          </a:prstGeom>
          <a:ln w="9525">
            <a:solidFill>
              <a:srgbClr val="E2E4E7"/>
            </a:solidFill>
          </a:ln>
        </p:spPr>
      </p:cxnSp>
      <p:sp>
        <p:nvSpPr>
          <p:cNvPr id="81" name="TextBox 80"/>
          <p:cNvSpPr txBox="1"/>
          <p:nvPr/>
        </p:nvSpPr>
        <p:spPr>
          <a:xfrm>
            <a:off x="685800" y="4826375"/>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Team</a:t>
            </a:r>
          </a:p>
        </p:txBody>
      </p:sp>
      <p:sp>
        <p:nvSpPr>
          <p:cNvPr id="82" name="Rectangle 81"/>
          <p:cNvSpPr/>
          <p:nvPr/>
        </p:nvSpPr>
        <p:spPr>
          <a:xfrm>
            <a:off x="2286000" y="4917815"/>
            <a:ext cx="219456" cy="164592"/>
          </a:xfrm>
          <a:prstGeom prst="rect">
            <a:avLst/>
          </a:prstGeom>
          <a:solidFill>
            <a:srgbClr val="15171A"/>
          </a:solidFill>
          <a:ln>
            <a:noFill/>
          </a:ln>
        </p:spPr>
        <p:txBody>
          <a:bodyPr rtlCol="0" anchor="ctr"/>
          <a:lstStyle/>
          <a:p>
            <a:pPr algn="ctr"/>
          </a:p>
        </p:txBody>
      </p:sp>
      <p:sp>
        <p:nvSpPr>
          <p:cNvPr id="83" name="Rectangle 82"/>
          <p:cNvSpPr/>
          <p:nvPr/>
        </p:nvSpPr>
        <p:spPr>
          <a:xfrm>
            <a:off x="2560320" y="4917815"/>
            <a:ext cx="219456" cy="164592"/>
          </a:xfrm>
          <a:prstGeom prst="rect">
            <a:avLst/>
          </a:prstGeom>
          <a:solidFill>
            <a:srgbClr val="F4F5F6"/>
          </a:solidFill>
          <a:ln>
            <a:noFill/>
          </a:ln>
        </p:spPr>
        <p:txBody>
          <a:bodyPr rtlCol="0" anchor="ctr"/>
          <a:lstStyle/>
          <a:p>
            <a:pPr algn="ctr"/>
          </a:p>
        </p:txBody>
      </p:sp>
      <p:sp>
        <p:nvSpPr>
          <p:cNvPr id="84" name="Rectangle 83"/>
          <p:cNvSpPr/>
          <p:nvPr/>
        </p:nvSpPr>
        <p:spPr>
          <a:xfrm>
            <a:off x="2834640" y="4917815"/>
            <a:ext cx="219456" cy="164592"/>
          </a:xfrm>
          <a:prstGeom prst="rect">
            <a:avLst/>
          </a:prstGeom>
          <a:solidFill>
            <a:srgbClr val="F4F5F6"/>
          </a:solidFill>
          <a:ln>
            <a:noFill/>
          </a:ln>
        </p:spPr>
        <p:txBody>
          <a:bodyPr rtlCol="0" anchor="ctr"/>
          <a:lstStyle/>
          <a:p>
            <a:pPr algn="ctr"/>
          </a:p>
        </p:txBody>
      </p:sp>
      <p:sp>
        <p:nvSpPr>
          <p:cNvPr id="85" name="Rectangle 84"/>
          <p:cNvSpPr/>
          <p:nvPr/>
        </p:nvSpPr>
        <p:spPr>
          <a:xfrm>
            <a:off x="3108960" y="4917815"/>
            <a:ext cx="219456" cy="164592"/>
          </a:xfrm>
          <a:prstGeom prst="rect">
            <a:avLst/>
          </a:prstGeom>
          <a:solidFill>
            <a:srgbClr val="F4F5F6"/>
          </a:solidFill>
          <a:ln>
            <a:noFill/>
          </a:ln>
        </p:spPr>
        <p:txBody>
          <a:bodyPr rtlCol="0" anchor="ctr"/>
          <a:lstStyle/>
          <a:p>
            <a:pPr algn="ctr"/>
          </a:p>
        </p:txBody>
      </p:sp>
      <p:sp>
        <p:nvSpPr>
          <p:cNvPr id="86" name="Rectangle 85"/>
          <p:cNvSpPr/>
          <p:nvPr/>
        </p:nvSpPr>
        <p:spPr>
          <a:xfrm>
            <a:off x="3383280" y="4917815"/>
            <a:ext cx="219456" cy="164592"/>
          </a:xfrm>
          <a:prstGeom prst="rect">
            <a:avLst/>
          </a:prstGeom>
          <a:solidFill>
            <a:srgbClr val="F4F5F6"/>
          </a:solidFill>
          <a:ln>
            <a:noFill/>
          </a:ln>
        </p:spPr>
        <p:txBody>
          <a:bodyPr rtlCol="0" anchor="ctr"/>
          <a:lstStyle/>
          <a:p>
            <a:pPr algn="ctr"/>
          </a:p>
        </p:txBody>
      </p:sp>
      <p:sp>
        <p:nvSpPr>
          <p:cNvPr id="87" name="TextBox 86"/>
          <p:cNvSpPr txBox="1"/>
          <p:nvPr/>
        </p:nvSpPr>
        <p:spPr>
          <a:xfrm>
            <a:off x="3703320" y="4826375"/>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88" name="TextBox 87"/>
          <p:cNvSpPr txBox="1"/>
          <p:nvPr/>
        </p:nvSpPr>
        <p:spPr>
          <a:xfrm>
            <a:off x="3840480" y="4826375"/>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[Founder 정보 필요] — 평가 불가</a:t>
            </a:r>
          </a:p>
        </p:txBody>
      </p:sp>
      <p:cxnSp>
        <p:nvCxnSpPr>
          <p:cNvPr id="89" name="Connector 88"/>
          <p:cNvCxnSpPr/>
          <p:nvPr/>
        </p:nvCxnSpPr>
        <p:spPr>
          <a:xfrm>
            <a:off x="685800" y="5155559"/>
            <a:ext cx="7040879" cy="0"/>
          </a:xfrm>
          <a:prstGeom prst="line">
            <a:avLst/>
          </a:prstGeom>
          <a:ln w="9525">
            <a:solidFill>
              <a:srgbClr val="E2E4E7"/>
            </a:solidFill>
          </a:ln>
        </p:spPr>
      </p:cxnSp>
      <p:sp>
        <p:nvSpPr>
          <p:cNvPr id="90" name="TextBox 89"/>
          <p:cNvSpPr txBox="1"/>
          <p:nvPr/>
        </p:nvSpPr>
        <p:spPr>
          <a:xfrm>
            <a:off x="685800" y="5164703"/>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Capital Efficiency</a:t>
            </a:r>
          </a:p>
        </p:txBody>
      </p:sp>
      <p:sp>
        <p:nvSpPr>
          <p:cNvPr id="91" name="Rectangle 90"/>
          <p:cNvSpPr/>
          <p:nvPr/>
        </p:nvSpPr>
        <p:spPr>
          <a:xfrm>
            <a:off x="2286000" y="5256143"/>
            <a:ext cx="219456" cy="164592"/>
          </a:xfrm>
          <a:prstGeom prst="rect">
            <a:avLst/>
          </a:prstGeom>
          <a:solidFill>
            <a:srgbClr val="15171A"/>
          </a:solidFill>
          <a:ln>
            <a:noFill/>
          </a:ln>
        </p:spPr>
        <p:txBody>
          <a:bodyPr rtlCol="0" anchor="ctr"/>
          <a:lstStyle/>
          <a:p>
            <a:pPr algn="ctr"/>
          </a:p>
        </p:txBody>
      </p:sp>
      <p:sp>
        <p:nvSpPr>
          <p:cNvPr id="92" name="Rectangle 91"/>
          <p:cNvSpPr/>
          <p:nvPr/>
        </p:nvSpPr>
        <p:spPr>
          <a:xfrm>
            <a:off x="2560320" y="5256143"/>
            <a:ext cx="219456" cy="164592"/>
          </a:xfrm>
          <a:prstGeom prst="rect">
            <a:avLst/>
          </a:prstGeom>
          <a:solidFill>
            <a:srgbClr val="15171A"/>
          </a:solidFill>
          <a:ln>
            <a:noFill/>
          </a:ln>
        </p:spPr>
        <p:txBody>
          <a:bodyPr rtlCol="0" anchor="ctr"/>
          <a:lstStyle/>
          <a:p>
            <a:pPr algn="ctr"/>
          </a:p>
        </p:txBody>
      </p:sp>
      <p:sp>
        <p:nvSpPr>
          <p:cNvPr id="93" name="Rectangle 92"/>
          <p:cNvSpPr/>
          <p:nvPr/>
        </p:nvSpPr>
        <p:spPr>
          <a:xfrm>
            <a:off x="2834640" y="5256143"/>
            <a:ext cx="219456" cy="164592"/>
          </a:xfrm>
          <a:prstGeom prst="rect">
            <a:avLst/>
          </a:prstGeom>
          <a:solidFill>
            <a:srgbClr val="FBEDE6"/>
          </a:solidFill>
          <a:ln>
            <a:noFill/>
          </a:ln>
        </p:spPr>
        <p:txBody>
          <a:bodyPr rtlCol="0" anchor="ctr"/>
          <a:lstStyle/>
          <a:p>
            <a:pPr algn="ctr"/>
          </a:p>
        </p:txBody>
      </p:sp>
      <p:sp>
        <p:nvSpPr>
          <p:cNvPr id="94" name="Rectangle 93"/>
          <p:cNvSpPr/>
          <p:nvPr/>
        </p:nvSpPr>
        <p:spPr>
          <a:xfrm>
            <a:off x="3108960" y="5256143"/>
            <a:ext cx="219456" cy="164592"/>
          </a:xfrm>
          <a:prstGeom prst="rect">
            <a:avLst/>
          </a:prstGeom>
          <a:solidFill>
            <a:srgbClr val="F4F5F6"/>
          </a:solidFill>
          <a:ln>
            <a:noFill/>
          </a:ln>
        </p:spPr>
        <p:txBody>
          <a:bodyPr rtlCol="0" anchor="ctr"/>
          <a:lstStyle/>
          <a:p>
            <a:pPr algn="ctr"/>
          </a:p>
        </p:txBody>
      </p:sp>
      <p:sp>
        <p:nvSpPr>
          <p:cNvPr id="95" name="Rectangle 94"/>
          <p:cNvSpPr/>
          <p:nvPr/>
        </p:nvSpPr>
        <p:spPr>
          <a:xfrm>
            <a:off x="3383280" y="5256143"/>
            <a:ext cx="219456" cy="164592"/>
          </a:xfrm>
          <a:prstGeom prst="rect">
            <a:avLst/>
          </a:prstGeom>
          <a:solidFill>
            <a:srgbClr val="F4F5F6"/>
          </a:solidFill>
          <a:ln>
            <a:noFill/>
          </a:ln>
        </p:spPr>
        <p:txBody>
          <a:bodyPr rtlCol="0" anchor="ctr"/>
          <a:lstStyle/>
          <a:p>
            <a:pPr algn="ctr"/>
          </a:p>
        </p:txBody>
      </p:sp>
      <p:sp>
        <p:nvSpPr>
          <p:cNvPr id="96" name="TextBox 95"/>
          <p:cNvSpPr txBox="1"/>
          <p:nvPr/>
        </p:nvSpPr>
        <p:spPr>
          <a:xfrm>
            <a:off x="3703320" y="5164703"/>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97" name="TextBox 96"/>
          <p:cNvSpPr txBox="1"/>
          <p:nvPr/>
        </p:nvSpPr>
        <p:spPr>
          <a:xfrm>
            <a:off x="3840480" y="5164703"/>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20억 단독 약 19개월. 5년 누적 현금소요 약 128억 (Base)</a:t>
            </a:r>
          </a:p>
        </p:txBody>
      </p:sp>
      <p:cxnSp>
        <p:nvCxnSpPr>
          <p:cNvPr id="98" name="Connector 97"/>
          <p:cNvCxnSpPr/>
          <p:nvPr/>
        </p:nvCxnSpPr>
        <p:spPr>
          <a:xfrm>
            <a:off x="685800" y="5493887"/>
            <a:ext cx="7040879" cy="0"/>
          </a:xfrm>
          <a:prstGeom prst="line">
            <a:avLst/>
          </a:prstGeom>
          <a:ln w="9525">
            <a:solidFill>
              <a:srgbClr val="E2E4E7"/>
            </a:solidFill>
          </a:ln>
        </p:spPr>
      </p:cxnSp>
      <p:sp>
        <p:nvSpPr>
          <p:cNvPr id="99" name="TextBox 98"/>
          <p:cNvSpPr txBox="1"/>
          <p:nvPr/>
        </p:nvSpPr>
        <p:spPr>
          <a:xfrm>
            <a:off x="685800" y="5521319"/>
            <a:ext cx="7040880" cy="27432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 현재 점수   ■ 24개월 Target 증분 (연주황)   Team은 정보 부재로 Target 미설정</a:t>
            </a:r>
          </a:p>
        </p:txBody>
      </p:sp>
      <p:sp>
        <p:nvSpPr>
          <p:cNvPr id="100" name="Rectangle 99"/>
          <p:cNvSpPr/>
          <p:nvPr/>
        </p:nvSpPr>
        <p:spPr>
          <a:xfrm>
            <a:off x="8001000" y="1790567"/>
            <a:ext cx="3504895" cy="868680"/>
          </a:xfrm>
          <a:prstGeom prst="rect">
            <a:avLst/>
          </a:prstGeom>
          <a:solidFill>
            <a:srgbClr val="15171A"/>
          </a:solidFill>
          <a:ln>
            <a:noFill/>
          </a:ln>
        </p:spPr>
        <p:txBody>
          <a:bodyPr rtlCol="0" anchor="ctr"/>
          <a:lstStyle/>
          <a:p>
            <a:pPr algn="ctr"/>
          </a:p>
        </p:txBody>
      </p:sp>
      <p:sp>
        <p:nvSpPr>
          <p:cNvPr id="101" name="TextBox 100"/>
          <p:cNvSpPr txBox="1"/>
          <p:nvPr/>
        </p:nvSpPr>
        <p:spPr>
          <a:xfrm>
            <a:off x="8183879" y="1845431"/>
            <a:ext cx="3139135" cy="274320"/>
          </a:xfrm>
          <a:prstGeom prst="rect">
            <a:avLst/>
          </a:prstGeom>
          <a:noFill/>
        </p:spPr>
        <p:txBody>
          <a:bodyPr wrap="square" lIns="0" rIns="0" tIns="0" bIns="0" anchor="t">
            <a:spAutoFit/>
          </a:bodyPr>
          <a:lstStyle/>
          <a:p>
            <a:pPr algn="l">
              <a:lnSpc>
                <a:spcPct val="100000"/>
              </a:lnSpc>
            </a:pPr>
            <a:r>
              <a:rPr sz="1000" b="1">
                <a:solidFill>
                  <a:srgbClr val="A9AEB5"/>
                </a:solidFill>
                <a:latin typeface="Noto Sans KR"/>
                <a:ea typeface="Noto Sans KR"/>
                <a:cs typeface="Noto Sans KR"/>
              </a:rPr>
              <a:t>SEED VC 판단</a:t>
            </a:r>
          </a:p>
        </p:txBody>
      </p:sp>
      <p:sp>
        <p:nvSpPr>
          <p:cNvPr id="102" name="TextBox 101"/>
          <p:cNvSpPr txBox="1"/>
          <p:nvPr/>
        </p:nvSpPr>
        <p:spPr>
          <a:xfrm>
            <a:off x="8183879" y="2092319"/>
            <a:ext cx="3139135" cy="502920"/>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WATCH</a:t>
            </a:r>
          </a:p>
        </p:txBody>
      </p:sp>
      <p:sp>
        <p:nvSpPr>
          <p:cNvPr id="103" name="TextBox 102"/>
          <p:cNvSpPr txBox="1"/>
          <p:nvPr/>
        </p:nvSpPr>
        <p:spPr>
          <a:xfrm>
            <a:off x="9738360" y="2174615"/>
            <a:ext cx="1584655" cy="411480"/>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현재 17/50 → Target 33/50</a:t>
            </a:r>
          </a:p>
        </p:txBody>
      </p:sp>
      <p:sp>
        <p:nvSpPr>
          <p:cNvPr id="104" name="TextBox 103"/>
          <p:cNvSpPr txBox="1"/>
          <p:nvPr/>
        </p:nvSpPr>
        <p:spPr>
          <a:xfrm>
            <a:off x="8001000" y="2796407"/>
            <a:ext cx="3504895"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INVEST 전환 조건 (최대 5개)</a:t>
            </a:r>
          </a:p>
        </p:txBody>
      </p:sp>
      <p:sp>
        <p:nvSpPr>
          <p:cNvPr id="105" name="TextBox 104"/>
          <p:cNvSpPr txBox="1"/>
          <p:nvPr/>
        </p:nvSpPr>
        <p:spPr>
          <a:xfrm>
            <a:off x="8001000" y="308901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1</a:t>
            </a:r>
          </a:p>
        </p:txBody>
      </p:sp>
      <p:sp>
        <p:nvSpPr>
          <p:cNvPr id="106" name="TextBox 105"/>
          <p:cNvSpPr txBox="1"/>
          <p:nvPr/>
        </p:nvSpPr>
        <p:spPr>
          <a:xfrm>
            <a:off x="8293608" y="308901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Founder: Robot Manipulation × 주방·건축 Integration 역량 보유 Full-time 2인 이상</a:t>
            </a:r>
          </a:p>
        </p:txBody>
      </p:sp>
      <p:sp>
        <p:nvSpPr>
          <p:cNvPr id="107" name="TextBox 106"/>
          <p:cNvSpPr txBox="1"/>
          <p:nvPr/>
        </p:nvSpPr>
        <p:spPr>
          <a:xfrm>
            <a:off x="8001000" y="359193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2</a:t>
            </a:r>
          </a:p>
        </p:txBody>
      </p:sp>
      <p:sp>
        <p:nvSpPr>
          <p:cNvPr id="108" name="TextBox 107"/>
          <p:cNvSpPr txBox="1"/>
          <p:nvPr/>
        </p:nvSpPr>
        <p:spPr>
          <a:xfrm>
            <a:off x="8293608" y="359193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Mock-up: 실제 크기 주방에서 식기 → 식세기 Loading 연속 시연 (영상 + 성공률 Log)</a:t>
            </a:r>
          </a:p>
        </p:txBody>
      </p:sp>
      <p:sp>
        <p:nvSpPr>
          <p:cNvPr id="109" name="TextBox 108"/>
          <p:cNvSpPr txBox="1"/>
          <p:nvPr/>
        </p:nvSpPr>
        <p:spPr>
          <a:xfrm>
            <a:off x="8001000" y="409485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3</a:t>
            </a:r>
          </a:p>
        </p:txBody>
      </p:sp>
      <p:sp>
        <p:nvSpPr>
          <p:cNvPr id="110" name="TextBox 109"/>
          <p:cNvSpPr txBox="1"/>
          <p:nvPr/>
        </p:nvSpPr>
        <p:spPr>
          <a:xfrm>
            <a:off x="8293608" y="409485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WTP 신호: Premium 상담 고객 30명 Interview + 실명 예약금 또는 유료 Pilot 의향 3건 이상</a:t>
            </a:r>
          </a:p>
        </p:txBody>
      </p:sp>
      <p:sp>
        <p:nvSpPr>
          <p:cNvPr id="111" name="TextBox 110"/>
          <p:cNvSpPr txBox="1"/>
          <p:nvPr/>
        </p:nvSpPr>
        <p:spPr>
          <a:xfrm>
            <a:off x="8001000" y="459777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4</a:t>
            </a:r>
          </a:p>
        </p:txBody>
      </p:sp>
      <p:sp>
        <p:nvSpPr>
          <p:cNvPr id="112" name="TextBox 111"/>
          <p:cNvSpPr txBox="1"/>
          <p:nvPr/>
        </p:nvSpPr>
        <p:spPr>
          <a:xfrm>
            <a:off x="8293608" y="459777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표준화 신호: 실제 평면 30개 중 상위 3개 Template이 70% 이상 Cover</a:t>
            </a:r>
          </a:p>
        </p:txBody>
      </p:sp>
      <p:sp>
        <p:nvSpPr>
          <p:cNvPr id="113" name="TextBox 112"/>
          <p:cNvSpPr txBox="1"/>
          <p:nvPr/>
        </p:nvSpPr>
        <p:spPr>
          <a:xfrm>
            <a:off x="8001000" y="510069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5</a:t>
            </a:r>
          </a:p>
        </p:txBody>
      </p:sp>
      <p:sp>
        <p:nvSpPr>
          <p:cNvPr id="114" name="TextBox 113"/>
          <p:cNvSpPr txBox="1"/>
          <p:nvPr/>
        </p:nvSpPr>
        <p:spPr>
          <a:xfrm>
            <a:off x="8293608" y="510069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Channel 신호: 주방가구·Interior 사업자 1곳과 Pilot 시공 협력 합의 (실재)</a:t>
            </a:r>
          </a:p>
        </p:txBody>
      </p:sp>
      <p:sp>
        <p:nvSpPr>
          <p:cNvPr id="115" name="Rectangle 114"/>
          <p:cNvSpPr/>
          <p:nvPr/>
        </p:nvSpPr>
        <p:spPr>
          <a:xfrm>
            <a:off x="685800" y="5715000"/>
            <a:ext cx="10820095" cy="412546"/>
          </a:xfrm>
          <a:prstGeom prst="rect">
            <a:avLst/>
          </a:prstGeom>
          <a:solidFill>
            <a:srgbClr val="F4F5F6"/>
          </a:solidFill>
          <a:ln>
            <a:noFill/>
          </a:ln>
        </p:spPr>
        <p:txBody>
          <a:bodyPr rtlCol="0" anchor="ctr"/>
          <a:lstStyle/>
          <a:p>
            <a:pPr algn="ctr"/>
          </a:p>
        </p:txBody>
      </p:sp>
      <p:sp>
        <p:nvSpPr>
          <p:cNvPr id="116" name="Rectangle 115"/>
          <p:cNvSpPr/>
          <p:nvPr/>
        </p:nvSpPr>
        <p:spPr>
          <a:xfrm>
            <a:off x="685800" y="5715000"/>
            <a:ext cx="54864" cy="412546"/>
          </a:xfrm>
          <a:prstGeom prst="rect">
            <a:avLst/>
          </a:prstGeom>
          <a:solidFill>
            <a:srgbClr val="E2571B"/>
          </a:solidFill>
          <a:ln>
            <a:noFill/>
          </a:ln>
        </p:spPr>
        <p:txBody>
          <a:bodyPr rtlCol="0" anchor="ctr"/>
          <a:lstStyle/>
          <a:p>
            <a:pPr algn="ctr"/>
          </a:p>
        </p:txBody>
      </p:sp>
      <p:sp>
        <p:nvSpPr>
          <p:cNvPr id="117" name="TextBox 116"/>
          <p:cNvSpPr txBox="1"/>
          <p:nvPr/>
        </p:nvSpPr>
        <p:spPr>
          <a:xfrm>
            <a:off x="886968" y="57150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판단 근거: 진입 방식(구축 Validation → 신축 Scale)·Kill Criteria·BM 구조는 명확. 그러나 Founder·고객·표준화·Channel Evidence가 모두 공백 → 현 시점 20억원 집행 근거 부족</a:t>
            </a:r>
          </a:p>
        </p:txBody>
      </p:sp>
      <p:sp>
        <p:nvSpPr>
          <p:cNvPr id="118" name="TextBox 11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119" name="TextBox 11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A22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APPENDIX A23</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 · 검색 결과 기준. 외부 제출 전 원문 대조 필요. 전체 URL: docs/03_Market_Data_and_Sources.md · xlsx Sources 시트</a:t>
            </a:r>
          </a:p>
        </p:txBody>
      </p:sp>
      <p:sp>
        <p:nvSpPr>
          <p:cNvPr id="5" name="TextBox 4"/>
          <p:cNvSpPr txBox="1"/>
          <p:nvPr/>
        </p:nvSpPr>
        <p:spPr>
          <a:xfrm>
            <a:off x="685800" y="1790567"/>
            <a:ext cx="5272887" cy="4572000"/>
          </a:xfrm>
          <a:prstGeom prst="rect">
            <a:avLst/>
          </a:prstGeom>
          <a:noFill/>
        </p:spPr>
        <p:txBody>
          <a:bodyPr wrap="square" lIns="0" rIns="0" tIns="0" bIns="0" anchor="t">
            <a:spAutoFit/>
          </a:bodyPr>
          <a:lstStyle/>
          <a:p>
            <a:pPr algn="l">
              <a:lnSpc>
                <a:spcPct val="100000"/>
              </a:lnSpc>
              <a:spcAft>
                <a:spcPts val="400"/>
              </a:spcAft>
            </a:pPr>
            <a:r>
              <a:rPr sz="850" b="0">
                <a:solidFill>
                  <a:srgbClr val="4A4F57"/>
                </a:solidFill>
                <a:latin typeface="Noto Sans KR"/>
                <a:ea typeface="Noto Sans KR"/>
                <a:cs typeface="Noto Sans KR"/>
              </a:rPr>
              <a:t>[S1] 총주택 / 아파트 비중 / 준공 20년·30년 이상 비중 / 미거주 주택 — 국가데이터처, 2025 인구주택총조사 결과 (2026.7.28 발표) · newsis.com, fnnews.com</a:t>
            </a:r>
          </a:p>
          <a:p>
            <a:pPr algn="l">
              <a:lnSpc>
                <a:spcPct val="100000"/>
              </a:lnSpc>
              <a:spcAft>
                <a:spcPts val="400"/>
              </a:spcAft>
            </a:pPr>
            <a:r>
              <a:rPr sz="850" b="0">
                <a:solidFill>
                  <a:srgbClr val="4A4F57"/>
                </a:solidFill>
                <a:latin typeface="Noto Sans KR"/>
                <a:ea typeface="Noto Sans KR"/>
                <a:cs typeface="Noto Sans KR"/>
              </a:rPr>
              <a:t>[S2] 아파트 수 / 준공 20년 이상 아파트 (2023) — 통계청 주택총조사 인용 · smarttoday.co.kr</a:t>
            </a:r>
          </a:p>
          <a:p>
            <a:pPr algn="l">
              <a:lnSpc>
                <a:spcPct val="100000"/>
              </a:lnSpc>
              <a:spcAft>
                <a:spcPts val="400"/>
              </a:spcAft>
            </a:pPr>
            <a:r>
              <a:rPr sz="850" b="0">
                <a:solidFill>
                  <a:srgbClr val="4A4F57"/>
                </a:solidFill>
                <a:latin typeface="Noto Sans KR"/>
                <a:ea typeface="Noto Sans KR"/>
                <a:cs typeface="Noto Sans KR"/>
              </a:rPr>
              <a:t>[S3] 2025 주택 준공 / 인허가 / 착공 / 공동주택 분양 — 국토교통부, '25년 12월 주택통계 (2026.1.30) · korea.kr, m-economynews.com</a:t>
            </a:r>
          </a:p>
          <a:p>
            <a:pPr algn="l">
              <a:lnSpc>
                <a:spcPct val="100000"/>
              </a:lnSpc>
              <a:spcAft>
                <a:spcPts val="400"/>
              </a:spcAft>
            </a:pPr>
            <a:r>
              <a:rPr sz="850" b="0">
                <a:solidFill>
                  <a:srgbClr val="4A4F57"/>
                </a:solidFill>
                <a:latin typeface="Noto Sans KR"/>
                <a:ea typeface="Noto Sans KR"/>
                <a:cs typeface="Noto Sans KR"/>
              </a:rPr>
              <a:t>[S4] 아파트 인허가 (2025) — 국토교통부 주택통계 인용 · newsis.com</a:t>
            </a:r>
          </a:p>
          <a:p>
            <a:pPr algn="l">
              <a:lnSpc>
                <a:spcPct val="100000"/>
              </a:lnSpc>
              <a:spcAft>
                <a:spcPts val="400"/>
              </a:spcAft>
            </a:pPr>
            <a:r>
              <a:rPr sz="850" b="0">
                <a:solidFill>
                  <a:srgbClr val="4A4F57"/>
                </a:solidFill>
                <a:latin typeface="Noto Sans KR"/>
                <a:ea typeface="Noto Sans KR"/>
                <a:cs typeface="Noto Sans KR"/>
              </a:rPr>
              <a:t>[S5] 아파트 입주 물량 — v.daum.net</a:t>
            </a:r>
          </a:p>
          <a:p>
            <a:pPr algn="l">
              <a:lnSpc>
                <a:spcPct val="100000"/>
              </a:lnSpc>
              <a:spcAft>
                <a:spcPts val="400"/>
              </a:spcAft>
            </a:pPr>
            <a:r>
              <a:rPr sz="850" b="0">
                <a:solidFill>
                  <a:srgbClr val="4A4F57"/>
                </a:solidFill>
                <a:latin typeface="Noto Sans KR"/>
                <a:ea typeface="Noto Sans KR"/>
                <a:cs typeface="Noto Sans KR"/>
              </a:rPr>
              <a:t>[S6] 주택 매매거래 (2025) — KB주택시장리뷰 2026년 2월호 · kbthink.com</a:t>
            </a:r>
          </a:p>
          <a:p>
            <a:pPr algn="l">
              <a:lnSpc>
                <a:spcPct val="100000"/>
              </a:lnSpc>
              <a:spcAft>
                <a:spcPts val="400"/>
              </a:spcAft>
            </a:pPr>
            <a:r>
              <a:rPr sz="850" b="0">
                <a:solidFill>
                  <a:srgbClr val="4A4F57"/>
                </a:solidFill>
                <a:latin typeface="Noto Sans KR"/>
                <a:ea typeface="Noto Sans KR"/>
                <a:cs typeface="Noto Sans KR"/>
              </a:rPr>
              <a:t>[S7] 국내 리모델링 시장 전망 (건축물 전체, 비주거 포함) — ekn.kr</a:t>
            </a:r>
          </a:p>
          <a:p>
            <a:pPr algn="l">
              <a:lnSpc>
                <a:spcPct val="100000"/>
              </a:lnSpc>
              <a:spcAft>
                <a:spcPts val="400"/>
              </a:spcAft>
            </a:pPr>
            <a:r>
              <a:rPr sz="850" b="0">
                <a:solidFill>
                  <a:srgbClr val="4A4F57"/>
                </a:solidFill>
                <a:latin typeface="Noto Sans KR"/>
                <a:ea typeface="Noto Sans KR"/>
                <a:cs typeface="Noto Sans KR"/>
              </a:rPr>
              <a:t>[S8] 한샘 리하우스 스타일패키지 (전체 리모델링) — dailian.co.kr</a:t>
            </a:r>
          </a:p>
          <a:p>
            <a:pPr algn="l">
              <a:lnSpc>
                <a:spcPct val="100000"/>
              </a:lnSpc>
              <a:spcAft>
                <a:spcPts val="400"/>
              </a:spcAft>
            </a:pPr>
            <a:r>
              <a:rPr sz="850" b="0">
                <a:solidFill>
                  <a:srgbClr val="4A4F57"/>
                </a:solidFill>
                <a:latin typeface="Noto Sans KR"/>
                <a:ea typeface="Noto Sans KR"/>
                <a:cs typeface="Noto Sans KR"/>
              </a:rPr>
              <a:t>[S9] 프리미엄 Kitchen 동향 (한샘 키친바흐·빌트인 가전 연계) — heraldk.com</a:t>
            </a:r>
          </a:p>
          <a:p>
            <a:pPr algn="l">
              <a:lnSpc>
                <a:spcPct val="100000"/>
              </a:lnSpc>
              <a:spcAft>
                <a:spcPts val="400"/>
              </a:spcAft>
            </a:pPr>
            <a:r>
              <a:rPr sz="850" b="0">
                <a:solidFill>
                  <a:srgbClr val="4A4F57"/>
                </a:solidFill>
                <a:latin typeface="Noto Sans KR"/>
                <a:ea typeface="Noto Sans KR"/>
                <a:cs typeface="Noto Sans KR"/>
              </a:rPr>
              <a:t>[S10] 한샘 리하우스 부문 매출 — newstomato.com</a:t>
            </a:r>
          </a:p>
          <a:p>
            <a:pPr algn="l">
              <a:lnSpc>
                <a:spcPct val="100000"/>
              </a:lnSpc>
              <a:spcAft>
                <a:spcPts val="400"/>
              </a:spcAft>
            </a:pPr>
            <a:r>
              <a:rPr sz="850" b="0">
                <a:solidFill>
                  <a:srgbClr val="4A4F57"/>
                </a:solidFill>
                <a:latin typeface="Noto Sans KR"/>
                <a:ea typeface="Noto Sans KR"/>
                <a:cs typeface="Noto Sans KR"/>
              </a:rPr>
              <a:t>[S11] 신축 유상옵션 비용 비중 — etoday.co.kr</a:t>
            </a:r>
          </a:p>
          <a:p>
            <a:pPr algn="l">
              <a:lnSpc>
                <a:spcPct val="100000"/>
              </a:lnSpc>
              <a:spcAft>
                <a:spcPts val="400"/>
              </a:spcAft>
            </a:pPr>
            <a:r>
              <a:rPr sz="850" b="0">
                <a:solidFill>
                  <a:srgbClr val="4A4F57"/>
                </a:solidFill>
                <a:latin typeface="Noto Sans KR"/>
                <a:ea typeface="Noto Sans KR"/>
                <a:cs typeface="Noto Sans KR"/>
              </a:rPr>
              <a:t>[S12] 코웨이 실적·렌탈 계정 — news.bizwatch.co.kr, dealsite.co.kr</a:t>
            </a:r>
          </a:p>
          <a:p>
            <a:pPr algn="l">
              <a:lnSpc>
                <a:spcPct val="100000"/>
              </a:lnSpc>
              <a:spcAft>
                <a:spcPts val="400"/>
              </a:spcAft>
            </a:pPr>
            <a:r>
              <a:rPr sz="850" b="0">
                <a:solidFill>
                  <a:srgbClr val="4A4F57"/>
                </a:solidFill>
                <a:latin typeface="Noto Sans KR"/>
                <a:ea typeface="Noto Sans KR"/>
                <a:cs typeface="Noto Sans KR"/>
              </a:rPr>
              <a:t>[S13] 가전 A/S 출장비 (소비자 부과분) — biz.sbs.co.kr</a:t>
            </a:r>
          </a:p>
          <a:p>
            <a:pPr algn="l">
              <a:lnSpc>
                <a:spcPct val="100000"/>
              </a:lnSpc>
              <a:spcAft>
                <a:spcPts val="400"/>
              </a:spcAft>
            </a:pPr>
            <a:r>
              <a:rPr sz="850" b="0">
                <a:solidFill>
                  <a:srgbClr val="4A4F57"/>
                </a:solidFill>
                <a:latin typeface="Noto Sans KR"/>
                <a:ea typeface="Noto Sans KR"/>
                <a:cs typeface="Noto Sans KR"/>
              </a:rPr>
              <a:t>[S14] 가사서비스 요금 — apps.apple.com, activpayroll.com</a:t>
            </a:r>
          </a:p>
          <a:p>
            <a:pPr algn="l">
              <a:lnSpc>
                <a:spcPct val="100000"/>
              </a:lnSpc>
              <a:spcAft>
                <a:spcPts val="400"/>
              </a:spcAft>
            </a:pPr>
            <a:r>
              <a:rPr sz="850" b="0">
                <a:solidFill>
                  <a:srgbClr val="4A4F57"/>
                </a:solidFill>
                <a:latin typeface="Noto Sans KR"/>
                <a:ea typeface="Noto Sans KR"/>
                <a:cs typeface="Noto Sans KR"/>
              </a:rPr>
              <a:t>[S15] 협동로봇 가격 (Arm + Controller) — standardbots.com, robotomated.com</a:t>
            </a:r>
          </a:p>
          <a:p>
            <a:pPr algn="l">
              <a:lnSpc>
                <a:spcPct val="100000"/>
              </a:lnSpc>
            </a:pPr>
            <a:r>
              <a:rPr sz="850" b="0">
                <a:solidFill>
                  <a:srgbClr val="4A4F57"/>
                </a:solidFill>
                <a:latin typeface="Noto Sans KR"/>
                <a:ea typeface="Noto Sans KR"/>
                <a:cs typeface="Noto Sans KR"/>
              </a:rPr>
              <a:t>[S16] Gripper / Fingertip / Food-grade Suction Cup — qviro.com, roboticscenter.ai</a:t>
            </a:r>
          </a:p>
        </p:txBody>
      </p:sp>
      <p:sp>
        <p:nvSpPr>
          <p:cNvPr id="6" name="TextBox 5"/>
          <p:cNvSpPr txBox="1"/>
          <p:nvPr/>
        </p:nvSpPr>
        <p:spPr>
          <a:xfrm>
            <a:off x="6233007" y="1790567"/>
            <a:ext cx="5272887" cy="4572000"/>
          </a:xfrm>
          <a:prstGeom prst="rect">
            <a:avLst/>
          </a:prstGeom>
          <a:noFill/>
        </p:spPr>
        <p:txBody>
          <a:bodyPr wrap="square" lIns="0" rIns="0" tIns="0" bIns="0" anchor="t">
            <a:spAutoFit/>
          </a:bodyPr>
          <a:lstStyle/>
          <a:p>
            <a:pPr algn="l">
              <a:lnSpc>
                <a:spcPct val="100000"/>
              </a:lnSpc>
              <a:spcAft>
                <a:spcPts val="400"/>
              </a:spcAft>
            </a:pPr>
            <a:r>
              <a:rPr sz="850" b="0">
                <a:solidFill>
                  <a:srgbClr val="4A4F57"/>
                </a:solidFill>
                <a:latin typeface="Noto Sans KR"/>
                <a:ea typeface="Noto Sans KR"/>
                <a:cs typeface="Noto Sans KR"/>
              </a:rPr>
              <a:t>[S17] Depth Camera — openelab.com, knoxlabs.com</a:t>
            </a:r>
          </a:p>
          <a:p>
            <a:pPr algn="l">
              <a:lnSpc>
                <a:spcPct val="100000"/>
              </a:lnSpc>
              <a:spcAft>
                <a:spcPts val="400"/>
              </a:spcAft>
            </a:pPr>
            <a:r>
              <a:rPr sz="850" b="0">
                <a:solidFill>
                  <a:srgbClr val="4A4F57"/>
                </a:solidFill>
                <a:latin typeface="Noto Sans KR"/>
                <a:ea typeface="Noto Sans KR"/>
                <a:cs typeface="Noto Sans KR"/>
              </a:rPr>
              <a:t>[S18] Linear Module (소형) — qviro.com</a:t>
            </a:r>
          </a:p>
          <a:p>
            <a:pPr algn="l">
              <a:lnSpc>
                <a:spcPct val="100000"/>
              </a:lnSpc>
              <a:spcAft>
                <a:spcPts val="400"/>
              </a:spcAft>
            </a:pPr>
            <a:r>
              <a:rPr sz="850" b="0">
                <a:solidFill>
                  <a:srgbClr val="4A4F57"/>
                </a:solidFill>
                <a:latin typeface="Noto Sans KR"/>
                <a:ea typeface="Noto Sans KR"/>
                <a:cs typeface="Noto Sans KR"/>
              </a:rPr>
              <a:t>[S19] 1X NEO (가정용 Humanoid) — fastcompany.com</a:t>
            </a:r>
          </a:p>
          <a:p>
            <a:pPr algn="l">
              <a:lnSpc>
                <a:spcPct val="100000"/>
              </a:lnSpc>
              <a:spcAft>
                <a:spcPts val="400"/>
              </a:spcAft>
            </a:pPr>
            <a:r>
              <a:rPr sz="850" b="0">
                <a:solidFill>
                  <a:srgbClr val="4A4F57"/>
                </a:solidFill>
                <a:latin typeface="Noto Sans KR"/>
                <a:ea typeface="Noto Sans KR"/>
                <a:cs typeface="Noto Sans KR"/>
              </a:rPr>
              <a:t>[S20] Sunday Robotics Memo — euronews.com, sacra.com</a:t>
            </a:r>
          </a:p>
          <a:p>
            <a:pPr algn="l">
              <a:lnSpc>
                <a:spcPct val="100000"/>
              </a:lnSpc>
              <a:spcAft>
                <a:spcPts val="400"/>
              </a:spcAft>
            </a:pPr>
            <a:r>
              <a:rPr sz="850" b="0">
                <a:solidFill>
                  <a:srgbClr val="4A4F57"/>
                </a:solidFill>
                <a:latin typeface="Noto Sans KR"/>
                <a:ea typeface="Noto Sans KR"/>
                <a:cs typeface="Noto Sans KR"/>
              </a:rPr>
              <a:t>[S21] LG CLOiD — dezeen.com</a:t>
            </a:r>
          </a:p>
          <a:p>
            <a:pPr algn="l">
              <a:lnSpc>
                <a:spcPct val="100000"/>
              </a:lnSpc>
              <a:spcAft>
                <a:spcPts val="400"/>
              </a:spcAft>
            </a:pPr>
            <a:r>
              <a:rPr sz="850" b="0">
                <a:solidFill>
                  <a:srgbClr val="4A4F57"/>
                </a:solidFill>
                <a:latin typeface="Noto Sans KR"/>
                <a:ea typeface="Noto Sans KR"/>
                <a:cs typeface="Noto Sans KR"/>
              </a:rPr>
              <a:t>[S22] Samsung Bot Handy — sammobile.com</a:t>
            </a:r>
          </a:p>
          <a:p>
            <a:pPr algn="l">
              <a:lnSpc>
                <a:spcPct val="100000"/>
              </a:lnSpc>
              <a:spcAft>
                <a:spcPts val="400"/>
              </a:spcAft>
            </a:pPr>
            <a:r>
              <a:rPr sz="850" b="0">
                <a:solidFill>
                  <a:srgbClr val="4A4F57"/>
                </a:solidFill>
                <a:latin typeface="Noto Sans KR"/>
                <a:ea typeface="Noto Sans KR"/>
                <a:cs typeface="Noto Sans KR"/>
              </a:rPr>
              <a:t>[S23] Moley Robotic Kitchen — thespoon.tech</a:t>
            </a:r>
          </a:p>
          <a:p>
            <a:pPr algn="l">
              <a:lnSpc>
                <a:spcPct val="100000"/>
              </a:lnSpc>
              <a:spcAft>
                <a:spcPts val="400"/>
              </a:spcAft>
            </a:pPr>
            <a:r>
              <a:rPr sz="850" b="0">
                <a:solidFill>
                  <a:srgbClr val="4A4F57"/>
                </a:solidFill>
                <a:latin typeface="Noto Sans KR"/>
                <a:ea typeface="Noto Sans KR"/>
                <a:cs typeface="Noto Sans KR"/>
              </a:rPr>
              <a:t>[S24] Posha (Countertop Cooking Robot) — techcrunch.com</a:t>
            </a:r>
          </a:p>
          <a:p>
            <a:pPr algn="l">
              <a:lnSpc>
                <a:spcPct val="100000"/>
              </a:lnSpc>
              <a:spcAft>
                <a:spcPts val="400"/>
              </a:spcAft>
            </a:pPr>
            <a:r>
              <a:rPr sz="850" b="0">
                <a:solidFill>
                  <a:srgbClr val="4A4F57"/>
                </a:solidFill>
                <a:latin typeface="Noto Sans KR"/>
                <a:ea typeface="Noto Sans KR"/>
                <a:cs typeface="Noto Sans KR"/>
              </a:rPr>
              <a:t>[S25] Tesla Optimus / Figure 03 — notebookcheck.net, getcoai.com</a:t>
            </a:r>
          </a:p>
          <a:p>
            <a:pPr algn="l">
              <a:lnSpc>
                <a:spcPct val="100000"/>
              </a:lnSpc>
              <a:spcAft>
                <a:spcPts val="400"/>
              </a:spcAft>
            </a:pPr>
            <a:r>
              <a:rPr sz="850" b="0">
                <a:solidFill>
                  <a:srgbClr val="4A4F57"/>
                </a:solidFill>
                <a:latin typeface="Noto Sans KR"/>
                <a:ea typeface="Noto Sans KR"/>
                <a:cs typeface="Noto Sans KR"/>
              </a:rPr>
              <a:t>[S26] IFR World Robotics 2025 — Service Robots — ifr.org</a:t>
            </a:r>
          </a:p>
          <a:p>
            <a:pPr algn="l">
              <a:lnSpc>
                <a:spcPct val="100000"/>
              </a:lnSpc>
              <a:spcAft>
                <a:spcPts val="400"/>
              </a:spcAft>
            </a:pPr>
            <a:r>
              <a:rPr sz="850" b="0">
                <a:solidFill>
                  <a:srgbClr val="4A4F57"/>
                </a:solidFill>
                <a:latin typeface="Noto Sans KR"/>
                <a:ea typeface="Noto Sans KR"/>
                <a:cs typeface="Noto Sans KR"/>
              </a:rPr>
              <a:t>[S27] Robot Density (IFR World Robotics 2024) — koreaherald.com</a:t>
            </a:r>
          </a:p>
          <a:p>
            <a:pPr algn="l">
              <a:lnSpc>
                <a:spcPct val="100000"/>
              </a:lnSpc>
              <a:spcAft>
                <a:spcPts val="400"/>
              </a:spcAft>
            </a:pPr>
            <a:r>
              <a:rPr sz="850" b="0">
                <a:solidFill>
                  <a:srgbClr val="4A4F57"/>
                </a:solidFill>
                <a:latin typeface="Noto Sans KR"/>
                <a:ea typeface="Noto Sans KR"/>
                <a:cs typeface="Noto Sans KR"/>
              </a:rPr>
              <a:t>[S28] ISO 10218-1/-2:2025 — sick.com, evsint.com</a:t>
            </a:r>
          </a:p>
          <a:p>
            <a:pPr algn="l">
              <a:lnSpc>
                <a:spcPct val="100000"/>
              </a:lnSpc>
              <a:spcAft>
                <a:spcPts val="400"/>
              </a:spcAft>
            </a:pPr>
            <a:r>
              <a:rPr sz="850" b="0">
                <a:solidFill>
                  <a:srgbClr val="4A4F57"/>
                </a:solidFill>
                <a:latin typeface="Noto Sans KR"/>
                <a:ea typeface="Noto Sans KR"/>
                <a:cs typeface="Noto Sans KR"/>
              </a:rPr>
              <a:t>[S29] TIPS 2026 — unicornfactory.co.kr, venturesquare.net</a:t>
            </a:r>
          </a:p>
          <a:p>
            <a:pPr algn="l">
              <a:lnSpc>
                <a:spcPct val="100000"/>
              </a:lnSpc>
              <a:spcAft>
                <a:spcPts val="400"/>
              </a:spcAft>
            </a:pPr>
            <a:r>
              <a:rPr sz="850" b="0">
                <a:solidFill>
                  <a:srgbClr val="4A4F57"/>
                </a:solidFill>
                <a:latin typeface="Noto Sans KR"/>
                <a:ea typeface="Noto Sans KR"/>
                <a:cs typeface="Noto Sans KR"/>
              </a:rPr>
              <a:t>[S30] 식기세척기 보급률 — etoday.co.kr</a:t>
            </a:r>
          </a:p>
          <a:p>
            <a:pPr algn="l">
              <a:lnSpc>
                <a:spcPct val="100000"/>
              </a:lnSpc>
              <a:spcAft>
                <a:spcPts val="400"/>
              </a:spcAft>
            </a:pPr>
            <a:r>
              <a:rPr sz="850" b="0">
                <a:solidFill>
                  <a:srgbClr val="4A4F57"/>
                </a:solidFill>
                <a:latin typeface="Noto Sans KR"/>
                <a:ea typeface="Noto Sans KR"/>
                <a:cs typeface="Noto Sans KR"/>
              </a:rPr>
              <a:t>[S31] ISO 13482 (Personal Care Robot) 국내 인증 사례 — yujinrobot.com</a:t>
            </a:r>
          </a:p>
          <a:p>
            <a:pPr algn="l">
              <a:lnSpc>
                <a:spcPct val="100000"/>
              </a:lnSpc>
            </a:pPr>
            <a:r>
              <a:rPr sz="850" b="0">
                <a:solidFill>
                  <a:srgbClr val="4A4F57"/>
                </a:solidFill>
                <a:latin typeface="Noto Sans KR"/>
                <a:ea typeface="Noto Sans KR"/>
                <a:cs typeface="Noto Sans KR"/>
              </a:rPr>
              <a:t>[S32] 가정용 로봇 인증 동향 — news.mtn.co.kr</a:t>
            </a:r>
          </a:p>
        </p:txBody>
      </p:sp>
      <p:sp>
        <p:nvSpPr>
          <p:cNvPr id="7" name="TextBox 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Seed Investment Proposal  ·  Draft v1</a:t>
            </a:r>
          </a:p>
        </p:txBody>
      </p:sp>
      <p:sp>
        <p:nvSpPr>
          <p:cNvPr id="8" name="TextBox 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Noto Sans KR"/>
        <a:ea typeface="Noto Sans KR"/>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KR"/>
        <a:ea typeface="Noto Sans KR"/>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ARKI Robotics — Seed Investment Proposal (Draft v1)</dc:title>
  <dc:subject>주거공간 일체형 Robotics System · Kitchen Clean-up · 구축 Validation / 신축 Scale</dc:subject>
  <dc:creator>ARKI Robotics (가칭)</dc:creator>
  <cp:keywords/>
  <dc:description>generated using python-pptx</dc:description>
  <cp:lastModifiedBy/>
  <cp:revision>1</cp:revision>
  <dcterms:created xsi:type="dcterms:W3CDTF">2026-10-07T09:00:00Z</dcterms:created>
  <dcterms:modified xsi:type="dcterms:W3CDTF">2026-10-07T09:00:00Z</dcterms:modified>
  <cp:category/>
</cp:coreProperties>
</file>